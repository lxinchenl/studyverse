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515" r:id="rId2"/>
    <p:sldId id="519" r:id="rId3"/>
    <p:sldId id="516" r:id="rId4"/>
    <p:sldId id="455" r:id="rId5"/>
    <p:sldId id="456" r:id="rId6"/>
    <p:sldId id="593" r:id="rId7"/>
    <p:sldId id="594" r:id="rId8"/>
    <p:sldId id="595" r:id="rId9"/>
    <p:sldId id="513" r:id="rId10"/>
    <p:sldId id="597" r:id="rId11"/>
    <p:sldId id="598" r:id="rId12"/>
    <p:sldId id="599" r:id="rId13"/>
    <p:sldId id="586" r:id="rId14"/>
    <p:sldId id="587" r:id="rId15"/>
    <p:sldId id="458" r:id="rId16"/>
    <p:sldId id="514" r:id="rId17"/>
    <p:sldId id="580" r:id="rId18"/>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A20070"/>
    <a:srgbClr val="004A48"/>
    <a:srgbClr val="FFCCCC"/>
    <a:srgbClr val="FFFF99"/>
    <a:srgbClr val="BDDEFF"/>
    <a:srgbClr val="0000FF"/>
    <a:srgbClr val="47A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11" autoAdjust="0"/>
    <p:restoredTop sz="91011" autoAdjust="0"/>
  </p:normalViewPr>
  <p:slideViewPr>
    <p:cSldViewPr>
      <p:cViewPr varScale="1">
        <p:scale>
          <a:sx n="119" d="100"/>
          <a:sy n="119" d="100"/>
        </p:scale>
        <p:origin x="1596" y="76"/>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zh-CN" altLang="en-US"/>
          </a:p>
        </p:txBody>
      </p:sp>
      <p:sp>
        <p:nvSpPr>
          <p:cNvPr id="107523" name="Rectangle 3"/>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lgn="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4"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defRPr kumimoji="1" sz="1200">
                <a:solidFill>
                  <a:schemeClr val="tx2"/>
                </a:solidFill>
                <a:latin typeface="Times New Roman" panose="02020603050405020304" pitchFamily="18" charset="0"/>
                <a:ea typeface="宋体" panose="02010600030101010101" pitchFamily="2" charset="-122"/>
              </a:defRPr>
            </a:lvl1pPr>
          </a:lstStyle>
          <a:p>
            <a:endParaRPr lang="en-US" altLang="zh-CN"/>
          </a:p>
        </p:txBody>
      </p:sp>
      <p:sp>
        <p:nvSpPr>
          <p:cNvPr id="107525" name="Rectangle 5"/>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a:defRPr kumimoji="1" sz="1200">
                <a:solidFill>
                  <a:schemeClr val="tx2"/>
                </a:solidFill>
                <a:latin typeface="Times New Roman" panose="02020603050405020304" pitchFamily="18" charset="0"/>
                <a:ea typeface="宋体" panose="02010600030101010101" pitchFamily="2" charset="-122"/>
              </a:defRPr>
            </a:lvl1pPr>
          </a:lstStyle>
          <a:p>
            <a:fld id="{81F34E7B-BFB4-44CE-A0BF-FBB2338C9E1D}"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ea typeface="宋体" panose="02010600030101010101" pitchFamily="2" charset="-122"/>
              </a:defRPr>
            </a:lvl1pPr>
          </a:lstStyle>
          <a:p>
            <a:endParaRPr lang="zh-CN" altLang="en-US"/>
          </a:p>
        </p:txBody>
      </p:sp>
      <p:sp>
        <p:nvSpPr>
          <p:cNvPr id="353283" name="Rectangle 3"/>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4"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3285" name="Rectangle 5"/>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ea typeface="宋体" panose="02010600030101010101" pitchFamily="2" charset="-122"/>
              </a:defRPr>
            </a:lvl1pPr>
          </a:lstStyle>
          <a:p>
            <a:endParaRPr lang="en-US" altLang="zh-CN"/>
          </a:p>
        </p:txBody>
      </p:sp>
      <p:sp>
        <p:nvSpPr>
          <p:cNvPr id="353287" name="Rectangle 7"/>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ea typeface="宋体" panose="02010600030101010101" pitchFamily="2" charset="-122"/>
              </a:defRPr>
            </a:lvl1pPr>
          </a:lstStyle>
          <a:p>
            <a:fld id="{BC489903-EA7E-4C07-BBCF-1CF22C377013}"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2A056C2-D480-4D84-8506-DFC126FA40CB}" type="slidenum">
              <a:rPr lang="zh-CN" altLang="en-US"/>
              <a:t>1</a:t>
            </a:fld>
            <a:endParaRPr lang="en-US" altLang="zh-CN"/>
          </a:p>
        </p:txBody>
      </p:sp>
      <p:sp>
        <p:nvSpPr>
          <p:cNvPr id="399362" name="Rectangle 2"/>
          <p:cNvSpPr>
            <a:spLocks noGrp="1" noRot="1" noChangeAspect="1" noChangeArrowheads="1" noTextEdit="1"/>
          </p:cNvSpPr>
          <p:nvPr>
            <p:ph type="sldImg"/>
          </p:nvPr>
        </p:nvSpPr>
        <p:spPr/>
      </p:sp>
      <p:sp>
        <p:nvSpPr>
          <p:cNvPr id="39936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BA9FD1C-6472-42B9-8B7D-B3E3D813FF3D}" type="slidenum">
              <a:rPr lang="zh-CN" altLang="en-US"/>
              <a:t>2</a:t>
            </a:fld>
            <a:endParaRPr lang="en-US" altLang="zh-CN"/>
          </a:p>
        </p:txBody>
      </p:sp>
      <p:sp>
        <p:nvSpPr>
          <p:cNvPr id="492546" name="Rectangle 2"/>
          <p:cNvSpPr>
            <a:spLocks noGrp="1" noRot="1" noChangeAspect="1" noChangeArrowheads="1" noTextEdit="1"/>
          </p:cNvSpPr>
          <p:nvPr>
            <p:ph type="sldImg"/>
          </p:nvPr>
        </p:nvSpPr>
        <p:spPr/>
      </p:sp>
      <p:sp>
        <p:nvSpPr>
          <p:cNvPr id="492547" name="Rectangle 3"/>
          <p:cNvSpPr>
            <a:spLocks noGrp="1" noChangeArrowheads="1"/>
          </p:cNvSpPr>
          <p:nvPr>
            <p:ph type="body" idx="1"/>
          </p:nvPr>
        </p:nvSpPr>
        <p:spPr/>
        <p:txBody>
          <a:bodyPr/>
          <a:lstStyle/>
          <a:p>
            <a:pPr>
              <a:lnSpc>
                <a:spcPct val="125000"/>
              </a:lnSpc>
              <a:spcBef>
                <a:spcPct val="0"/>
              </a:spcBef>
            </a:pPr>
            <a:r>
              <a:rPr lang="zh-CN" altLang="en-US">
                <a:solidFill>
                  <a:srgbClr val="660033"/>
                </a:solidFill>
                <a:ea typeface="华文新魏" panose="02010800040101010101" pitchFamily="2" charset="-122"/>
              </a:rPr>
              <a:t>数据库应用系统</a:t>
            </a:r>
            <a:r>
              <a:rPr lang="zh-CN" altLang="en-US">
                <a:ea typeface="楷体_GB2312" pitchFamily="49" charset="-122"/>
              </a:rPr>
              <a:t>运行时会受到来自各方面的干扰和破坏，比如硬件故障、软件错误、数据库管理员的误操作、</a:t>
            </a:r>
            <a:r>
              <a:rPr lang="zh-CN" altLang="en-US">
                <a:latin typeface="Arial" panose="020B0604020202020204" pitchFamily="34" charset="0"/>
                <a:ea typeface="楷体_GB2312" pitchFamily="49" charset="-122"/>
              </a:rPr>
              <a:t>“</a:t>
            </a:r>
            <a:r>
              <a:rPr lang="zh-CN" altLang="en-US">
                <a:ea typeface="楷体_GB2312" pitchFamily="49" charset="-122"/>
              </a:rPr>
              <a:t>黑客</a:t>
            </a:r>
            <a:r>
              <a:rPr lang="zh-CN" altLang="en-US">
                <a:latin typeface="Arial" panose="020B0604020202020204" pitchFamily="34" charset="0"/>
                <a:ea typeface="楷体_GB2312" pitchFamily="49" charset="-122"/>
              </a:rPr>
              <a:t>”</a:t>
            </a:r>
            <a:r>
              <a:rPr lang="zh-CN" altLang="en-US">
                <a:ea typeface="楷体_GB2312" pitchFamily="49" charset="-122"/>
              </a:rPr>
              <a:t>攻击、病毒破坏等。</a:t>
            </a:r>
            <a:r>
              <a:rPr lang="zh-CN" altLang="en-US" b="1"/>
              <a:t>  </a:t>
            </a:r>
          </a:p>
          <a:p>
            <a:pPr>
              <a:lnSpc>
                <a:spcPct val="125000"/>
              </a:lnSpc>
              <a:spcBef>
                <a:spcPct val="0"/>
              </a:spcBef>
            </a:pPr>
            <a:r>
              <a:rPr lang="zh-CN" altLang="en-US">
                <a:solidFill>
                  <a:srgbClr val="660033"/>
                </a:solidFill>
                <a:ea typeface="华文新魏" panose="02010800040101010101" pitchFamily="2" charset="-122"/>
              </a:rPr>
              <a:t>数据库保护</a:t>
            </a:r>
            <a:r>
              <a:rPr lang="zh-CN" altLang="en-US">
                <a:ea typeface="楷体_GB2312" pitchFamily="49" charset="-122"/>
              </a:rPr>
              <a:t>介绍数据库管理系统为保护数据库中数据的安全而采取的据保措施和技术。</a:t>
            </a:r>
            <a:r>
              <a:rPr lang="zh-CN" altLang="en-US">
                <a:solidFill>
                  <a:srgbClr val="800080"/>
                </a:solidFill>
                <a:ea typeface="黑体" panose="02010609060101010101" pitchFamily="49" charset="-122"/>
              </a:rPr>
              <a:t>比如，</a:t>
            </a:r>
            <a:r>
              <a:rPr lang="zh-CN" altLang="en-US">
                <a:ea typeface="楷体_GB2312" pitchFamily="49" charset="-122"/>
              </a:rPr>
              <a:t>事务管理、安全性和完整性控制、数据恢复、并发控制等。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DF54218-DFF9-4191-8FEE-4218B9BB89D8}" type="slidenum">
              <a:rPr lang="zh-CN" altLang="en-US"/>
              <a:t>3</a:t>
            </a:fld>
            <a:endParaRPr lang="en-US" altLang="zh-CN"/>
          </a:p>
        </p:txBody>
      </p:sp>
      <p:sp>
        <p:nvSpPr>
          <p:cNvPr id="485378" name="Rectangle 2"/>
          <p:cNvSpPr>
            <a:spLocks noGrp="1" noRot="1" noChangeAspect="1" noChangeArrowheads="1" noTextEdit="1"/>
          </p:cNvSpPr>
          <p:nvPr>
            <p:ph type="sldImg"/>
          </p:nvPr>
        </p:nvSpPr>
        <p:spPr/>
      </p:sp>
      <p:sp>
        <p:nvSpPr>
          <p:cNvPr id="485379" name="Rectangle 3"/>
          <p:cNvSpPr>
            <a:spLocks noGrp="1" noChangeArrowheads="1"/>
          </p:cNvSpPr>
          <p:nvPr>
            <p:ph type="body" idx="1"/>
          </p:nvPr>
        </p:nvSpPr>
        <p:spPr/>
        <p:txBody>
          <a:bodyPr/>
          <a:lstStyle/>
          <a:p>
            <a:r>
              <a:rPr lang="zh-CN" altLang="en-US"/>
              <a:t>在数据库系统中，系统是怎样运行的呢？它所运行的主体是一条一条语句，还是为完成某任务的一系列操作的汇集呢？</a:t>
            </a:r>
          </a:p>
          <a:p>
            <a:r>
              <a:rPr lang="zh-CN" altLang="en-US"/>
              <a:t>我们称在数据库系统中，运行的主要内容是事务。</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B99322D-917D-4FD9-AB7E-40F170C23220}" type="slidenum">
              <a:rPr lang="zh-CN" altLang="en-US"/>
              <a:t>17</a:t>
            </a:fld>
            <a:endParaRPr lang="en-US" altLang="zh-CN"/>
          </a:p>
        </p:txBody>
      </p:sp>
      <p:sp>
        <p:nvSpPr>
          <p:cNvPr id="471042" name="Rectangle 2"/>
          <p:cNvSpPr>
            <a:spLocks noGrp="1" noRot="1" noChangeAspect="1" noChangeArrowheads="1" noTextEdit="1"/>
          </p:cNvSpPr>
          <p:nvPr>
            <p:ph type="sldImg"/>
          </p:nvPr>
        </p:nvSpPr>
        <p:spPr/>
      </p:sp>
      <p:sp>
        <p:nvSpPr>
          <p:cNvPr id="471043"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397314" name="Group 2"/>
          <p:cNvGrpSpPr/>
          <p:nvPr/>
        </p:nvGrpSpPr>
        <p:grpSpPr bwMode="auto">
          <a:xfrm>
            <a:off x="0" y="2438400"/>
            <a:ext cx="9009063" cy="1052513"/>
            <a:chOff x="0" y="1536"/>
            <a:chExt cx="5675" cy="663"/>
          </a:xfrm>
        </p:grpSpPr>
        <p:grpSp>
          <p:nvGrpSpPr>
            <p:cNvPr id="397315" name="Group 3"/>
            <p:cNvGrpSpPr/>
            <p:nvPr/>
          </p:nvGrpSpPr>
          <p:grpSpPr bwMode="auto">
            <a:xfrm>
              <a:off x="183" y="1604"/>
              <a:ext cx="448" cy="299"/>
              <a:chOff x="720" y="336"/>
              <a:chExt cx="624" cy="432"/>
            </a:xfrm>
          </p:grpSpPr>
          <p:sp>
            <p:nvSpPr>
              <p:cNvPr id="397316"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17"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97318" name="Group 6"/>
            <p:cNvGrpSpPr/>
            <p:nvPr/>
          </p:nvGrpSpPr>
          <p:grpSpPr bwMode="auto">
            <a:xfrm>
              <a:off x="261" y="1870"/>
              <a:ext cx="465" cy="299"/>
              <a:chOff x="912" y="2640"/>
              <a:chExt cx="672" cy="432"/>
            </a:xfrm>
          </p:grpSpPr>
          <p:sp>
            <p:nvSpPr>
              <p:cNvPr id="397319"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0"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1"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2"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3"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7324" name="Rectangle 12"/>
          <p:cNvSpPr>
            <a:spLocks noGrp="1" noChangeArrowheads="1"/>
          </p:cNvSpPr>
          <p:nvPr>
            <p:ph type="ctrTitle"/>
          </p:nvPr>
        </p:nvSpPr>
        <p:spPr>
          <a:xfrm>
            <a:off x="827088" y="1676400"/>
            <a:ext cx="8137525" cy="1462088"/>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397325" name="Rectangle 13"/>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397326"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397327"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397328"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8FB73130-3046-425F-8362-A9485E50BAFE}" type="slidenum">
              <a:rPr lang="zh-CN" altLang="en-US"/>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97324"/>
                                        </p:tgtEl>
                                        <p:attrNameLst>
                                          <p:attrName>style.visibility</p:attrName>
                                        </p:attrNameLst>
                                      </p:cBhvr>
                                      <p:to>
                                        <p:strVal val="visible"/>
                                      </p:to>
                                    </p:set>
                                    <p:animEffect transition="in" filter="plus(in)">
                                      <p:cBhvr>
                                        <p:cTn id="7" dur="1000"/>
                                        <p:tgtEl>
                                          <p:spTgt spid="397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24"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F3A0108-D3B2-4325-8C8C-3122F94DB4DB}"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6CA70EC-535F-44DA-8ED3-19AAE9393522}"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0F2C8DF-DAEB-48AD-8D22-6455989B92EC}"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BBF5F480-0C97-497E-B636-E5CEE4743543}"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3BD5C59D-33A2-4185-8A76-F7DD0053BFD3}"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65BAF9AA-6F22-444B-9E9A-787B6E4C3DA6}"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116B323-E480-4563-8469-A6F74E7B1E5F}"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2384EDE-8073-408B-8F4B-121F007EB0AF}"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518B3DC-66A2-4955-9FD1-8069EA36F06A}"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D4F06F8-53D3-40F2-B5D8-EE9AAFA6A127}"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6290" name="Rectangle 2"/>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1" name="Rectangle 3"/>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2" name="Rectangle 4"/>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3" name="Rectangle 5"/>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4" name="Rectangle 6"/>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5" name="Rectangle 7"/>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6" name="Rectangle 8"/>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a typeface="宋体" panose="02010600030101010101" pitchFamily="2" charset="-122"/>
            </a:endParaRPr>
          </a:p>
        </p:txBody>
      </p:sp>
      <p:sp>
        <p:nvSpPr>
          <p:cNvPr id="396297" name="Rectangle 9"/>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396298" name="Rectangle 10"/>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96299"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atin typeface="+mn-lt"/>
                <a:ea typeface="+mn-ea"/>
              </a:defRPr>
            </a:lvl1pPr>
          </a:lstStyle>
          <a:p>
            <a:endParaRPr lang="en-US" altLang="zh-CN"/>
          </a:p>
        </p:txBody>
      </p:sp>
      <p:sp>
        <p:nvSpPr>
          <p:cNvPr id="396300"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atin typeface="+mn-lt"/>
                <a:ea typeface="+mn-ea"/>
              </a:defRPr>
            </a:lvl1pPr>
          </a:lstStyle>
          <a:p>
            <a:endParaRPr lang="en-US" altLang="zh-CN"/>
          </a:p>
        </p:txBody>
      </p:sp>
      <p:sp>
        <p:nvSpPr>
          <p:cNvPr id="396301"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atin typeface="+mn-lt"/>
                <a:ea typeface="+mn-ea"/>
              </a:defRPr>
            </a:lvl1pPr>
          </a:lstStyle>
          <a:p>
            <a:fld id="{6873AA00-4AD1-49A9-9CDF-DCB2C78CF3AA}"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6298">
                                            <p:txEl>
                                              <p:pRg st="0" end="0"/>
                                            </p:txEl>
                                          </p:spTgt>
                                        </p:tgtEl>
                                        <p:attrNameLst>
                                          <p:attrName>style.visibility</p:attrName>
                                        </p:attrNameLst>
                                      </p:cBhvr>
                                      <p:to>
                                        <p:strVal val="visible"/>
                                      </p:to>
                                    </p:set>
                                    <p:animEffect transition="in" filter="wipe(left)">
                                      <p:cBhvr>
                                        <p:cTn id="7" dur="1000"/>
                                        <p:tgtEl>
                                          <p:spTgt spid="396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6298">
                                            <p:txEl>
                                              <p:pRg st="1" end="1"/>
                                            </p:txEl>
                                          </p:spTgt>
                                        </p:tgtEl>
                                        <p:attrNameLst>
                                          <p:attrName>style.visibility</p:attrName>
                                        </p:attrNameLst>
                                      </p:cBhvr>
                                      <p:to>
                                        <p:strVal val="visible"/>
                                      </p:to>
                                    </p:set>
                                    <p:animEffect transition="in" filter="wipe(left)">
                                      <p:cBhvr>
                                        <p:cTn id="12" dur="1000"/>
                                        <p:tgtEl>
                                          <p:spTgt spid="396298">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96298">
                                            <p:txEl>
                                              <p:pRg st="2" end="2"/>
                                            </p:txEl>
                                          </p:spTgt>
                                        </p:tgtEl>
                                        <p:attrNameLst>
                                          <p:attrName>style.visibility</p:attrName>
                                        </p:attrNameLst>
                                      </p:cBhvr>
                                      <p:to>
                                        <p:strVal val="visible"/>
                                      </p:to>
                                    </p:set>
                                    <p:animEffect transition="in" filter="wipe(left)">
                                      <p:cBhvr>
                                        <p:cTn id="15" dur="1000"/>
                                        <p:tgtEl>
                                          <p:spTgt spid="396298">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96298">
                                            <p:txEl>
                                              <p:pRg st="3" end="3"/>
                                            </p:txEl>
                                          </p:spTgt>
                                        </p:tgtEl>
                                        <p:attrNameLst>
                                          <p:attrName>style.visibility</p:attrName>
                                        </p:attrNameLst>
                                      </p:cBhvr>
                                      <p:to>
                                        <p:strVal val="visible"/>
                                      </p:to>
                                    </p:set>
                                    <p:animEffect transition="in" filter="wipe(left)">
                                      <p:cBhvr>
                                        <p:cTn id="18" dur="1000"/>
                                        <p:tgtEl>
                                          <p:spTgt spid="396298">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6298">
                                            <p:txEl>
                                              <p:pRg st="4" end="4"/>
                                            </p:txEl>
                                          </p:spTgt>
                                        </p:tgtEl>
                                        <p:attrNameLst>
                                          <p:attrName>style.visibility</p:attrName>
                                        </p:attrNameLst>
                                      </p:cBhvr>
                                      <p:to>
                                        <p:strVal val="visible"/>
                                      </p:to>
                                    </p:set>
                                    <p:animEffect transition="in" filter="wipe(left)">
                                      <p:cBhvr>
                                        <p:cTn id="21" dur="1000"/>
                                        <p:tgtEl>
                                          <p:spTgt spid="396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8" grpId="0" build="p">
        <p:tmplLst>
          <p:tmpl lvl="1">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96298"/>
                        </p:tgtEl>
                        <p:attrNameLst>
                          <p:attrName>style.visibility</p:attrName>
                        </p:attrNameLst>
                      </p:cBhvr>
                      <p:to>
                        <p:strVal val="visible"/>
                      </p:to>
                    </p:set>
                    <p:animEffect transition="in" filter="wipe(left)">
                      <p:cBhvr>
                        <p:cTn dur="1000"/>
                        <p:tgtEl>
                          <p:spTgt spid="396298"/>
                        </p:tgtEl>
                      </p:cBhvr>
                    </p:animEffect>
                  </p:childTnLst>
                </p:cTn>
              </p:par>
            </p:tnLst>
          </p:tmpl>
        </p:tmplLst>
      </p:bldP>
    </p:bldLst>
  </p:timing>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effectLst>
            <a:outerShdw dist="17961" dir="2700000" algn="ctr" rotWithShape="0">
              <a:schemeClr val="tx1"/>
            </a:outerShdw>
          </a:effectLst>
        </p:spPr>
        <p:txBody>
          <a:bodyPr/>
          <a:lstStyle/>
          <a:p>
            <a:r>
              <a:rPr lang="zh-CN" altLang="en-US" dirty="0">
                <a:effectLst/>
              </a:rPr>
              <a:t>第</a:t>
            </a:r>
            <a:r>
              <a:rPr lang="en-US" altLang="zh-CN" dirty="0">
                <a:effectLst/>
              </a:rPr>
              <a:t>10</a:t>
            </a:r>
            <a:r>
              <a:rPr lang="zh-CN" altLang="en-US" dirty="0">
                <a:effectLst/>
              </a:rPr>
              <a:t>章  数据库保护技术</a:t>
            </a:r>
            <a:endParaRPr lang="en-US" altLang="zh-CN" dirty="0">
              <a:effectLst/>
            </a:endParaRPr>
          </a:p>
        </p:txBody>
      </p:sp>
      <p:sp>
        <p:nvSpPr>
          <p:cNvPr id="398340" name="Rectangle 4"/>
          <p:cNvSpPr>
            <a:spLocks noChangeArrowheads="1"/>
          </p:cNvSpPr>
          <p:nvPr/>
        </p:nvSpPr>
        <p:spPr bwMode="auto">
          <a:xfrm>
            <a:off x="107950" y="80963"/>
            <a:ext cx="4103688"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ndParaRPr>
          </a:p>
        </p:txBody>
      </p:sp>
      <p:sp>
        <p:nvSpPr>
          <p:cNvPr id="398342" name="Rectangle 6"/>
          <p:cNvSpPr>
            <a:spLocks noChangeArrowheads="1"/>
          </p:cNvSpPr>
          <p:nvPr/>
        </p:nvSpPr>
        <p:spPr bwMode="auto">
          <a:xfrm>
            <a:off x="1474788" y="3357563"/>
            <a:ext cx="59055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ctr">
              <a:lnSpc>
                <a:spcPct val="120000"/>
              </a:lnSpc>
              <a:spcBef>
                <a:spcPct val="20000"/>
              </a:spcBef>
              <a:buClr>
                <a:schemeClr val="hlink"/>
              </a:buClr>
              <a:buSzPct val="55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ctr">
              <a:lnSpc>
                <a:spcPct val="120000"/>
              </a:lnSpc>
              <a:spcBef>
                <a:spcPct val="20000"/>
              </a:spcBef>
              <a:buClr>
                <a:schemeClr val="folHlink"/>
              </a:buClr>
              <a:buSzPct val="5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ctr">
              <a:lnSpc>
                <a:spcPct val="120000"/>
              </a:lnSpc>
              <a:spcBef>
                <a:spcPct val="20000"/>
              </a:spcBef>
              <a:buClr>
                <a:schemeClr val="accent2"/>
              </a:buClr>
              <a:buSzPct val="55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ctr">
              <a:lnSpc>
                <a:spcPct val="120000"/>
              </a:lnSpc>
              <a:spcBef>
                <a:spcPct val="20000"/>
              </a:spcBef>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00000"/>
              </a:lnSpc>
              <a:spcBef>
                <a:spcPct val="0"/>
              </a:spcBef>
              <a:buClrTx/>
              <a:buSzTx/>
              <a:buFontTx/>
              <a:buNone/>
            </a:pPr>
            <a:r>
              <a:rPr lang="zh-CN" altLang="en-US" sz="4000">
                <a:solidFill>
                  <a:srgbClr val="003366"/>
                </a:solidFill>
                <a:latin typeface="华文新魏" panose="02010800040101010101" pitchFamily="2" charset="-122"/>
                <a:ea typeface="华文新魏" panose="02010800040101010101" pitchFamily="2" charset="-122"/>
              </a:rPr>
              <a:t>（第一讲）</a:t>
            </a:r>
          </a:p>
        </p:txBody>
      </p:sp>
    </p:spTree>
  </p:cSld>
  <p:clrMapOvr>
    <a:masterClrMapping/>
  </p:clrMapOvr>
  <mc:AlternateContent xmlns:mc="http://schemas.openxmlformats.org/markup-compatibility/2006" xmlns:p14="http://schemas.microsoft.com/office/powerpoint/2010/main">
    <mc:Choice Requires="p14">
      <p:transition spd="slow" p14:dur="2000" advTm="3557"/>
    </mc:Choice>
    <mc:Fallback xmlns="">
      <p:transition spd="slow" advTm="35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box(out)">
                                      <p:cBhvr>
                                        <p:cTn id="7" dur="1000"/>
                                        <p:tgtEl>
                                          <p:spTgt spid="398340"/>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398338"/>
                                        </p:tgtEl>
                                        <p:attrNameLst>
                                          <p:attrName>style.visibility</p:attrName>
                                        </p:attrNameLst>
                                      </p:cBhvr>
                                      <p:to>
                                        <p:strVal val="visible"/>
                                      </p:to>
                                    </p:set>
                                    <p:animEffect transition="in" filter="plus(in)">
                                      <p:cBhvr>
                                        <p:cTn id="11" dur="1000"/>
                                        <p:tgtEl>
                                          <p:spTgt spid="398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p:bldP spid="398340"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05536" name="Group 32"/>
          <p:cNvGrpSpPr/>
          <p:nvPr/>
        </p:nvGrpSpPr>
        <p:grpSpPr bwMode="auto">
          <a:xfrm>
            <a:off x="2555875" y="835025"/>
            <a:ext cx="3455988" cy="1658938"/>
            <a:chOff x="1610" y="622"/>
            <a:chExt cx="2177" cy="1045"/>
          </a:xfrm>
        </p:grpSpPr>
        <p:sp>
          <p:nvSpPr>
            <p:cNvPr id="2" name="AutoShape 28"/>
            <p:cNvSpPr>
              <a:spLocks noChangeArrowheads="1"/>
            </p:cNvSpPr>
            <p:nvPr/>
          </p:nvSpPr>
          <p:spPr bwMode="gray">
            <a:xfrm rot="21596347" flipV="1">
              <a:off x="1610" y="622"/>
              <a:ext cx="2177" cy="1045"/>
            </a:xfrm>
            <a:prstGeom prst="triangle">
              <a:avLst>
                <a:gd name="adj" fmla="val 50000"/>
              </a:avLst>
            </a:prstGeom>
            <a:gradFill rotWithShape="1">
              <a:gsLst>
                <a:gs pos="0">
                  <a:srgbClr val="C39BFF"/>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p>
              <a:pPr>
                <a:defRPr/>
              </a:pPr>
              <a:endParaRPr lang="zh-CN" altLang="en-US">
                <a:ea typeface="宋体" panose="02010600030101010101" pitchFamily="2" charset="-122"/>
              </a:endParaRPr>
            </a:p>
          </p:txBody>
        </p:sp>
        <p:sp>
          <p:nvSpPr>
            <p:cNvPr id="405531" name="Rectangle 27"/>
            <p:cNvSpPr>
              <a:spLocks noChangeArrowheads="1"/>
            </p:cNvSpPr>
            <p:nvPr/>
          </p:nvSpPr>
          <p:spPr bwMode="auto">
            <a:xfrm>
              <a:off x="2063" y="660"/>
              <a:ext cx="1361"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800" b="1">
                  <a:effectLst>
                    <a:outerShdw blurRad="38100" dist="38100" dir="2700000" algn="tl">
                      <a:srgbClr val="C0C0C0"/>
                    </a:outerShdw>
                  </a:effectLst>
                </a:rPr>
                <a:t>数据库管</a:t>
              </a:r>
            </a:p>
            <a:p>
              <a:pPr algn="ctr"/>
              <a:r>
                <a:rPr lang="zh-CN" altLang="en-US" sz="2800" b="1">
                  <a:effectLst>
                    <a:outerShdw blurRad="38100" dist="38100" dir="2700000" algn="tl">
                      <a:srgbClr val="C0C0C0"/>
                    </a:outerShdw>
                  </a:effectLst>
                </a:rPr>
                <a:t>理员的误</a:t>
              </a:r>
            </a:p>
            <a:p>
              <a:pPr algn="ctr"/>
              <a:r>
                <a:rPr lang="zh-CN" altLang="en-US" sz="2800" b="1">
                  <a:effectLst>
                    <a:outerShdw blurRad="38100" dist="38100" dir="2700000" algn="tl">
                      <a:srgbClr val="C0C0C0"/>
                    </a:outerShdw>
                  </a:effectLst>
                </a:rPr>
                <a:t>操作</a:t>
              </a:r>
            </a:p>
          </p:txBody>
        </p:sp>
      </p:grpSp>
      <p:sp>
        <p:nvSpPr>
          <p:cNvPr id="405508" name="Rectangle 4"/>
          <p:cNvSpPr>
            <a:spLocks noGrp="1" noChangeArrowheads="1"/>
          </p:cNvSpPr>
          <p:nvPr>
            <p:ph type="title"/>
          </p:nvPr>
        </p:nvSpPr>
        <p:spPr/>
        <p:txBody>
          <a:bodyPr/>
          <a:lstStyle/>
          <a:p>
            <a:endParaRPr lang="zh-CN" altLang="en-US"/>
          </a:p>
        </p:txBody>
      </p:sp>
      <p:sp>
        <p:nvSpPr>
          <p:cNvPr id="405509" name="AutoShape 5"/>
          <p:cNvSpPr>
            <a:spLocks noChangeArrowheads="1"/>
          </p:cNvSpPr>
          <p:nvPr/>
        </p:nvSpPr>
        <p:spPr bwMode="auto">
          <a:xfrm>
            <a:off x="1476375" y="260350"/>
            <a:ext cx="1008063" cy="647700"/>
          </a:xfrm>
          <a:prstGeom prst="horizontalScroll">
            <a:avLst>
              <a:gd name="adj" fmla="val 12500"/>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a:solidFill>
                  <a:srgbClr val="660033"/>
                </a:solidFill>
                <a:ea typeface="隶书" panose="02010509060101010101" pitchFamily="49" charset="-122"/>
              </a:rPr>
              <a:t>引入</a:t>
            </a:r>
          </a:p>
        </p:txBody>
      </p:sp>
      <p:grpSp>
        <p:nvGrpSpPr>
          <p:cNvPr id="405516" name="Group 22"/>
          <p:cNvGrpSpPr/>
          <p:nvPr/>
        </p:nvGrpSpPr>
        <p:grpSpPr bwMode="auto">
          <a:xfrm>
            <a:off x="3130550" y="2493963"/>
            <a:ext cx="2378075" cy="2425700"/>
            <a:chOff x="0" y="0"/>
            <a:chExt cx="1358" cy="1358"/>
          </a:xfrm>
        </p:grpSpPr>
        <p:sp>
          <p:nvSpPr>
            <p:cNvPr id="170007" name="Oval 23"/>
            <p:cNvSpPr>
              <a:spLocks noChangeArrowheads="1"/>
            </p:cNvSpPr>
            <p:nvPr/>
          </p:nvSpPr>
          <p:spPr bwMode="auto">
            <a:xfrm>
              <a:off x="0" y="0"/>
              <a:ext cx="1358" cy="1358"/>
            </a:xfrm>
            <a:prstGeom prst="ellipse">
              <a:avLst/>
            </a:prstGeom>
            <a:gradFill rotWithShape="1">
              <a:gsLst>
                <a:gs pos="0">
                  <a:srgbClr val="E9E9F4"/>
                </a:gs>
                <a:gs pos="100000">
                  <a:srgbClr val="333399"/>
                </a:gs>
              </a:gsLst>
              <a:lin ang="2700000" scaled="1"/>
            </a:gradFill>
            <a:ln w="38100">
              <a:solidFill>
                <a:srgbClr val="F8F8F8"/>
              </a:solidFill>
              <a:round/>
            </a:ln>
            <a:effectLst>
              <a:outerShdw dist="81320" dir="3080412" algn="ctr" rotWithShape="0">
                <a:srgbClr val="5F5F5F">
                  <a:alpha val="50000"/>
                </a:srgbClr>
              </a:outerShdw>
            </a:effectLst>
          </p:spPr>
          <p:txBody>
            <a:bodyPr wrap="none" anchor="ctr"/>
            <a:lstStyle/>
            <a:p>
              <a:pPr>
                <a:defRPr/>
              </a:pPr>
              <a:endParaRPr lang="zh-CN" altLang="en-US">
                <a:ea typeface="宋体" panose="02010600030101010101" pitchFamily="2" charset="-122"/>
              </a:endParaRPr>
            </a:p>
          </p:txBody>
        </p:sp>
        <p:sp>
          <p:nvSpPr>
            <p:cNvPr id="170008" name="Oval 24"/>
            <p:cNvSpPr>
              <a:spLocks noChangeArrowheads="1"/>
            </p:cNvSpPr>
            <p:nvPr/>
          </p:nvSpPr>
          <p:spPr bwMode="auto">
            <a:xfrm>
              <a:off x="56" y="53"/>
              <a:ext cx="1245" cy="1246"/>
            </a:xfrm>
            <a:prstGeom prst="ellipse">
              <a:avLst/>
            </a:prstGeom>
            <a:gradFill rotWithShape="1">
              <a:gsLst>
                <a:gs pos="0">
                  <a:srgbClr val="262671"/>
                </a:gs>
                <a:gs pos="100000">
                  <a:srgbClr val="333399"/>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a:defRPr/>
              </a:pPr>
              <a:endParaRPr lang="zh-CN" altLang="en-US">
                <a:ea typeface="宋体" panose="02010600030101010101" pitchFamily="2" charset="-122"/>
              </a:endParaRPr>
            </a:p>
          </p:txBody>
        </p:sp>
        <p:sp>
          <p:nvSpPr>
            <p:cNvPr id="170009" name="Oval 25"/>
            <p:cNvSpPr>
              <a:spLocks noChangeArrowheads="1"/>
            </p:cNvSpPr>
            <p:nvPr/>
          </p:nvSpPr>
          <p:spPr bwMode="auto">
            <a:xfrm>
              <a:off x="286" y="291"/>
              <a:ext cx="797" cy="798"/>
            </a:xfrm>
            <a:prstGeom prst="ellipse">
              <a:avLst/>
            </a:prstGeom>
            <a:gradFill rotWithShape="1">
              <a:gsLst>
                <a:gs pos="0">
                  <a:srgbClr val="CBCBE5"/>
                </a:gs>
                <a:gs pos="100000">
                  <a:srgbClr val="333399"/>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000000">
                        <a:alpha val="50000"/>
                      </a:srgbClr>
                    </a:outerShdw>
                  </a:effectLst>
                </a14:hiddenEffects>
              </a:ext>
            </a:extLst>
          </p:spPr>
          <p:txBody>
            <a:bodyPr wrap="none" anchor="ctr"/>
            <a:lstStyle/>
            <a:p>
              <a:pPr>
                <a:defRPr/>
              </a:pPr>
              <a:endParaRPr lang="zh-CN" altLang="en-US">
                <a:ea typeface="宋体" panose="02010600030101010101" pitchFamily="2" charset="-122"/>
              </a:endParaRPr>
            </a:p>
          </p:txBody>
        </p:sp>
      </p:grpSp>
      <p:sp>
        <p:nvSpPr>
          <p:cNvPr id="405520" name="Text Box 32"/>
          <p:cNvSpPr txBox="1">
            <a:spLocks noChangeArrowheads="1"/>
          </p:cNvSpPr>
          <p:nvPr/>
        </p:nvSpPr>
        <p:spPr bwMode="auto">
          <a:xfrm>
            <a:off x="3419475" y="3132138"/>
            <a:ext cx="1873250" cy="1066800"/>
          </a:xfrm>
          <a:prstGeom prst="rect">
            <a:avLst/>
          </a:prstGeom>
          <a:noFill/>
          <a:ln>
            <a:noFill/>
          </a:ln>
          <a:effectLst>
            <a:outerShdw dist="28398" dir="1593903" algn="ctr" rotWithShape="0">
              <a:srgbClr val="1C1C1C"/>
            </a:outerShdw>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FFFF00"/>
                </a:solidFill>
                <a:latin typeface="Arial" panose="020B0604020202020204" pitchFamily="34" charset="0"/>
                <a:ea typeface="华文中宋" panose="02010600040101010101" pitchFamily="2" charset="-122"/>
                <a:cs typeface="Arial" panose="020B0604020202020204" pitchFamily="34" charset="0"/>
              </a:rPr>
              <a:t>数据库</a:t>
            </a:r>
          </a:p>
          <a:p>
            <a:pPr algn="ctr"/>
            <a:r>
              <a:rPr kumimoji="0" lang="zh-CN" altLang="en-US" sz="3200" b="1">
                <a:solidFill>
                  <a:srgbClr val="FFFF00"/>
                </a:solidFill>
                <a:latin typeface="Arial" panose="020B0604020202020204" pitchFamily="34" charset="0"/>
                <a:ea typeface="华文中宋" panose="02010600040101010101" pitchFamily="2" charset="-122"/>
                <a:cs typeface="Arial" panose="020B0604020202020204" pitchFamily="34" charset="0"/>
              </a:rPr>
              <a:t>应用系统</a:t>
            </a:r>
            <a:endParaRPr kumimoji="0" lang="zh-CN" altLang="zh-CN" sz="3200" b="1">
              <a:solidFill>
                <a:srgbClr val="FFFF00"/>
              </a:solidFill>
              <a:latin typeface="Arial" panose="020B0604020202020204" pitchFamily="34" charset="0"/>
              <a:ea typeface="华文中宋" panose="02010600040101010101" pitchFamily="2" charset="-122"/>
              <a:cs typeface="Arial" panose="020B0604020202020204" pitchFamily="34" charset="0"/>
            </a:endParaRPr>
          </a:p>
        </p:txBody>
      </p:sp>
      <p:grpSp>
        <p:nvGrpSpPr>
          <p:cNvPr id="405534" name="Group 30"/>
          <p:cNvGrpSpPr/>
          <p:nvPr/>
        </p:nvGrpSpPr>
        <p:grpSpPr bwMode="auto">
          <a:xfrm>
            <a:off x="798513" y="2779713"/>
            <a:ext cx="2336800" cy="1441450"/>
            <a:chOff x="503" y="1847"/>
            <a:chExt cx="1472" cy="908"/>
          </a:xfrm>
        </p:grpSpPr>
        <p:sp>
          <p:nvSpPr>
            <p:cNvPr id="3" name="AutoShape 28"/>
            <p:cNvSpPr>
              <a:spLocks noChangeArrowheads="1"/>
            </p:cNvSpPr>
            <p:nvPr/>
          </p:nvSpPr>
          <p:spPr bwMode="gray">
            <a:xfrm rot="16200000" flipV="1">
              <a:off x="817" y="1597"/>
              <a:ext cx="908" cy="1408"/>
            </a:xfrm>
            <a:prstGeom prst="triangle">
              <a:avLst>
                <a:gd name="adj" fmla="val 50000"/>
              </a:avLst>
            </a:prstGeom>
            <a:gradFill rotWithShape="1">
              <a:gsLst>
                <a:gs pos="0">
                  <a:srgbClr val="4EA7EA"/>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anchor="ctr"/>
            <a:lstStyle/>
            <a:p>
              <a:pPr>
                <a:defRPr/>
              </a:pPr>
              <a:endParaRPr lang="zh-CN" altLang="en-US">
                <a:ea typeface="宋体" panose="02010600030101010101" pitchFamily="2" charset="-122"/>
              </a:endParaRPr>
            </a:p>
          </p:txBody>
        </p:sp>
        <p:sp>
          <p:nvSpPr>
            <p:cNvPr id="405523" name="Rectangle 19"/>
            <p:cNvSpPr>
              <a:spLocks noChangeArrowheads="1"/>
            </p:cNvSpPr>
            <p:nvPr/>
          </p:nvSpPr>
          <p:spPr bwMode="auto">
            <a:xfrm>
              <a:off x="503" y="2120"/>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ffectLst>
                    <a:outerShdw blurRad="38100" dist="38100" dir="2700000" algn="tl">
                      <a:srgbClr val="C0C0C0"/>
                    </a:outerShdw>
                  </a:effectLst>
                </a:rPr>
                <a:t>硬件故障</a:t>
              </a:r>
            </a:p>
          </p:txBody>
        </p:sp>
      </p:grpSp>
      <p:grpSp>
        <p:nvGrpSpPr>
          <p:cNvPr id="405535" name="Group 31"/>
          <p:cNvGrpSpPr/>
          <p:nvPr/>
        </p:nvGrpSpPr>
        <p:grpSpPr bwMode="auto">
          <a:xfrm>
            <a:off x="2193925" y="4506913"/>
            <a:ext cx="1657350" cy="2235200"/>
            <a:chOff x="1382" y="2935"/>
            <a:chExt cx="1044" cy="1408"/>
          </a:xfrm>
        </p:grpSpPr>
        <p:sp>
          <p:nvSpPr>
            <p:cNvPr id="4" name="AutoShape 28"/>
            <p:cNvSpPr>
              <a:spLocks noChangeArrowheads="1"/>
            </p:cNvSpPr>
            <p:nvPr/>
          </p:nvSpPr>
          <p:spPr bwMode="gray">
            <a:xfrm rot="13181864" flipV="1">
              <a:off x="1382" y="2935"/>
              <a:ext cx="1044" cy="1408"/>
            </a:xfrm>
            <a:prstGeom prst="triangle">
              <a:avLst>
                <a:gd name="adj" fmla="val 50000"/>
              </a:avLst>
            </a:prstGeom>
            <a:gradFill rotWithShape="1">
              <a:gsLst>
                <a:gs pos="0">
                  <a:srgbClr val="C39BFF"/>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endParaRPr lang="zh-CN" altLang="en-US">
                <a:ea typeface="宋体" panose="02010600030101010101" pitchFamily="2" charset="-122"/>
              </a:endParaRPr>
            </a:p>
          </p:txBody>
        </p:sp>
        <p:sp>
          <p:nvSpPr>
            <p:cNvPr id="405525" name="Rectangle 21"/>
            <p:cNvSpPr>
              <a:spLocks noChangeArrowheads="1"/>
            </p:cNvSpPr>
            <p:nvPr/>
          </p:nvSpPr>
          <p:spPr bwMode="auto">
            <a:xfrm rot="-3020631">
              <a:off x="1273" y="3562"/>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ffectLst>
                    <a:outerShdw blurRad="38100" dist="38100" dir="2700000" algn="tl">
                      <a:srgbClr val="C0C0C0"/>
                    </a:outerShdw>
                  </a:effectLst>
                </a:rPr>
                <a:t>软件错误</a:t>
              </a:r>
            </a:p>
          </p:txBody>
        </p:sp>
      </p:grpSp>
      <p:grpSp>
        <p:nvGrpSpPr>
          <p:cNvPr id="405537" name="Group 33"/>
          <p:cNvGrpSpPr/>
          <p:nvPr/>
        </p:nvGrpSpPr>
        <p:grpSpPr bwMode="auto">
          <a:xfrm>
            <a:off x="5292725" y="4221163"/>
            <a:ext cx="1441450" cy="2235200"/>
            <a:chOff x="3334" y="2755"/>
            <a:chExt cx="908" cy="1408"/>
          </a:xfrm>
        </p:grpSpPr>
        <p:sp>
          <p:nvSpPr>
            <p:cNvPr id="5" name="AutoShape 28"/>
            <p:cNvSpPr>
              <a:spLocks noChangeArrowheads="1"/>
            </p:cNvSpPr>
            <p:nvPr/>
          </p:nvSpPr>
          <p:spPr bwMode="gray">
            <a:xfrm rot="8340189" flipV="1">
              <a:off x="3334" y="2755"/>
              <a:ext cx="908" cy="1408"/>
            </a:xfrm>
            <a:prstGeom prst="triangle">
              <a:avLst>
                <a:gd name="adj" fmla="val 50000"/>
              </a:avLst>
            </a:prstGeom>
            <a:gradFill rotWithShape="1">
              <a:gsLst>
                <a:gs pos="0">
                  <a:srgbClr val="4EA7EA"/>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defRPr/>
              </a:pPr>
              <a:endParaRPr lang="zh-CN" altLang="en-US">
                <a:ea typeface="宋体" panose="02010600030101010101" pitchFamily="2" charset="-122"/>
              </a:endParaRPr>
            </a:p>
          </p:txBody>
        </p:sp>
        <p:sp>
          <p:nvSpPr>
            <p:cNvPr id="405527" name="Rectangle 23"/>
            <p:cNvSpPr>
              <a:spLocks noChangeArrowheads="1"/>
            </p:cNvSpPr>
            <p:nvPr/>
          </p:nvSpPr>
          <p:spPr bwMode="auto">
            <a:xfrm rot="-7859409">
              <a:off x="3354" y="3460"/>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ffectLst>
                    <a:outerShdw blurRad="38100" dist="38100" dir="2700000" algn="tl">
                      <a:srgbClr val="C0C0C0"/>
                    </a:outerShdw>
                  </a:effectLst>
                </a:rPr>
                <a:t>黑客攻击</a:t>
              </a:r>
            </a:p>
          </p:txBody>
        </p:sp>
      </p:grpSp>
      <p:grpSp>
        <p:nvGrpSpPr>
          <p:cNvPr id="405538" name="Group 34"/>
          <p:cNvGrpSpPr/>
          <p:nvPr/>
        </p:nvGrpSpPr>
        <p:grpSpPr bwMode="auto">
          <a:xfrm>
            <a:off x="5465763" y="2636838"/>
            <a:ext cx="2274887" cy="1441450"/>
            <a:chOff x="3443" y="1757"/>
            <a:chExt cx="1433" cy="908"/>
          </a:xfrm>
        </p:grpSpPr>
        <p:sp>
          <p:nvSpPr>
            <p:cNvPr id="226332" name="AutoShape 28"/>
            <p:cNvSpPr>
              <a:spLocks noChangeArrowheads="1"/>
            </p:cNvSpPr>
            <p:nvPr/>
          </p:nvSpPr>
          <p:spPr bwMode="gray">
            <a:xfrm rot="5400000" flipH="1" flipV="1">
              <a:off x="3693" y="1507"/>
              <a:ext cx="908" cy="1408"/>
            </a:xfrm>
            <a:prstGeom prst="triangle">
              <a:avLst>
                <a:gd name="adj" fmla="val 50000"/>
              </a:avLst>
            </a:prstGeom>
            <a:gradFill rotWithShape="1">
              <a:gsLst>
                <a:gs pos="0">
                  <a:srgbClr val="93C052"/>
                </a:gs>
                <a:gs pos="100000">
                  <a:srgbClr val="FFFF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p>
              <a:pPr>
                <a:defRPr/>
              </a:pPr>
              <a:endParaRPr lang="zh-CN" altLang="en-US">
                <a:ea typeface="宋体" panose="02010600030101010101" pitchFamily="2" charset="-122"/>
              </a:endParaRPr>
            </a:p>
          </p:txBody>
        </p:sp>
        <p:sp>
          <p:nvSpPr>
            <p:cNvPr id="405533" name="Rectangle 29"/>
            <p:cNvSpPr>
              <a:spLocks noChangeArrowheads="1"/>
            </p:cNvSpPr>
            <p:nvPr/>
          </p:nvSpPr>
          <p:spPr bwMode="auto">
            <a:xfrm flipH="1">
              <a:off x="3860" y="2030"/>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effectLst>
                    <a:outerShdw blurRad="38100" dist="38100" dir="2700000" algn="tl">
                      <a:srgbClr val="C0C0C0"/>
                    </a:outerShdw>
                  </a:effectLst>
                </a:rPr>
                <a:t>病毒破坏</a:t>
              </a:r>
            </a:p>
          </p:txBody>
        </p:sp>
      </p:grpSp>
      <p:sp>
        <p:nvSpPr>
          <p:cNvPr id="173059" name="AutoShape 3"/>
          <p:cNvSpPr>
            <a:spLocks noChangeArrowheads="1"/>
          </p:cNvSpPr>
          <p:nvPr/>
        </p:nvSpPr>
        <p:spPr bwMode="auto">
          <a:xfrm rot="5400000">
            <a:off x="4140201" y="5146675"/>
            <a:ext cx="792162" cy="503237"/>
          </a:xfrm>
          <a:prstGeom prst="rightArrow">
            <a:avLst>
              <a:gd name="adj1" fmla="val 35167"/>
              <a:gd name="adj2" fmla="val 63745"/>
            </a:avLst>
          </a:prstGeom>
          <a:gradFill rotWithShape="1">
            <a:gsLst>
              <a:gs pos="0">
                <a:srgbClr val="000000">
                  <a:alpha val="0"/>
                </a:srgbClr>
              </a:gs>
              <a:gs pos="100000">
                <a:schemeClr val="tx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vert="eaVert" wrap="none" anchor="ctr"/>
          <a:lstStyle/>
          <a:p>
            <a:pPr>
              <a:defRPr/>
            </a:pPr>
            <a:endParaRPr lang="zh-CN" altLang="en-US">
              <a:ea typeface="宋体" panose="02010600030101010101" pitchFamily="2" charset="-122"/>
            </a:endParaRPr>
          </a:p>
        </p:txBody>
      </p:sp>
      <p:sp>
        <p:nvSpPr>
          <p:cNvPr id="173060" name="AutoShape 4"/>
          <p:cNvSpPr>
            <a:spLocks noChangeArrowheads="1"/>
          </p:cNvSpPr>
          <p:nvPr/>
        </p:nvSpPr>
        <p:spPr bwMode="auto">
          <a:xfrm rot="7993445">
            <a:off x="2739232" y="4660106"/>
            <a:ext cx="838200" cy="509587"/>
          </a:xfrm>
          <a:prstGeom prst="rightArrow">
            <a:avLst>
              <a:gd name="adj1" fmla="val 35167"/>
              <a:gd name="adj2" fmla="val 66609"/>
            </a:avLst>
          </a:prstGeom>
          <a:gradFill rotWithShape="1">
            <a:gsLst>
              <a:gs pos="0">
                <a:srgbClr val="000000">
                  <a:alpha val="0"/>
                </a:srgbClr>
              </a:gs>
              <a:gs pos="100000">
                <a:schemeClr val="tx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vert="eaVert" wrap="none" anchor="ctr"/>
          <a:lstStyle/>
          <a:p>
            <a:pPr>
              <a:defRPr/>
            </a:pPr>
            <a:endParaRPr lang="zh-CN" altLang="en-US">
              <a:ea typeface="宋体" panose="02010600030101010101" pitchFamily="2" charset="-122"/>
            </a:endParaRPr>
          </a:p>
        </p:txBody>
      </p:sp>
      <p:sp>
        <p:nvSpPr>
          <p:cNvPr id="173061" name="AutoShape 5"/>
          <p:cNvSpPr>
            <a:spLocks noChangeArrowheads="1"/>
          </p:cNvSpPr>
          <p:nvPr/>
        </p:nvSpPr>
        <p:spPr bwMode="auto">
          <a:xfrm rot="1714288" flipV="1">
            <a:off x="5219700" y="4549775"/>
            <a:ext cx="835025" cy="527050"/>
          </a:xfrm>
          <a:prstGeom prst="rightArrow">
            <a:avLst>
              <a:gd name="adj1" fmla="val 35167"/>
              <a:gd name="adj2" fmla="val 64158"/>
            </a:avLst>
          </a:prstGeom>
          <a:gradFill rotWithShape="1">
            <a:gsLst>
              <a:gs pos="0">
                <a:srgbClr val="000000">
                  <a:alpha val="0"/>
                </a:srgbClr>
              </a:gs>
              <a:gs pos="100000">
                <a:schemeClr val="tx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a:defRPr/>
            </a:pPr>
            <a:endParaRPr lang="zh-CN" altLang="en-US">
              <a:ea typeface="宋体" panose="02010600030101010101" pitchFamily="2" charset="-122"/>
            </a:endParaRPr>
          </a:p>
        </p:txBody>
      </p:sp>
      <p:sp>
        <p:nvSpPr>
          <p:cNvPr id="173063" name="AutoShape 7"/>
          <p:cNvSpPr>
            <a:spLocks noChangeArrowheads="1"/>
          </p:cNvSpPr>
          <p:nvPr/>
        </p:nvSpPr>
        <p:spPr bwMode="auto">
          <a:xfrm>
            <a:off x="5651500" y="3492500"/>
            <a:ext cx="863600" cy="576263"/>
          </a:xfrm>
          <a:prstGeom prst="rightArrow">
            <a:avLst>
              <a:gd name="adj1" fmla="val 35167"/>
              <a:gd name="adj2" fmla="val 111109"/>
            </a:avLst>
          </a:prstGeom>
          <a:gradFill rotWithShape="1">
            <a:gsLst>
              <a:gs pos="0">
                <a:schemeClr val="tx2">
                  <a:gamma/>
                  <a:shade val="89020"/>
                  <a:invGamma/>
                  <a:alpha val="0"/>
                </a:schemeClr>
              </a:gs>
              <a:gs pos="100000">
                <a:schemeClr val="tx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defRPr/>
            </a:pPr>
            <a:endParaRPr lang="zh-CN" altLang="en-US">
              <a:ea typeface="宋体" panose="02010600030101010101" pitchFamily="2" charset="-122"/>
            </a:endParaRPr>
          </a:p>
        </p:txBody>
      </p:sp>
      <p:sp>
        <p:nvSpPr>
          <p:cNvPr id="173064" name="AutoShape 8"/>
          <p:cNvSpPr>
            <a:spLocks noChangeArrowheads="1"/>
          </p:cNvSpPr>
          <p:nvPr/>
        </p:nvSpPr>
        <p:spPr bwMode="auto">
          <a:xfrm rot="10800000">
            <a:off x="2268538" y="3421063"/>
            <a:ext cx="760412" cy="504825"/>
          </a:xfrm>
          <a:prstGeom prst="rightArrow">
            <a:avLst>
              <a:gd name="adj1" fmla="val 35167"/>
              <a:gd name="adj2" fmla="val 60998"/>
            </a:avLst>
          </a:prstGeom>
          <a:gradFill rotWithShape="1">
            <a:gsLst>
              <a:gs pos="0">
                <a:srgbClr val="000000">
                  <a:alpha val="0"/>
                </a:srgbClr>
              </a:gs>
              <a:gs pos="100000">
                <a:schemeClr val="tx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a:defRPr/>
            </a:pPr>
            <a:endParaRPr lang="zh-CN" altLang="en-US">
              <a:ea typeface="宋体" panose="02010600030101010101" pitchFamily="2" charset="-122"/>
            </a:endParaRPr>
          </a:p>
        </p:txBody>
      </p:sp>
      <p:sp>
        <p:nvSpPr>
          <p:cNvPr id="405556" name="Oval 9"/>
          <p:cNvSpPr>
            <a:spLocks noChangeArrowheads="1"/>
          </p:cNvSpPr>
          <p:nvPr/>
        </p:nvSpPr>
        <p:spPr bwMode="auto">
          <a:xfrm>
            <a:off x="2198688" y="1547813"/>
            <a:ext cx="4318000" cy="4318000"/>
          </a:xfrm>
          <a:prstGeom prst="ellipse">
            <a:avLst/>
          </a:prstGeom>
          <a:noFill/>
          <a:ln w="38100">
            <a:solidFill>
              <a:srgbClr val="808080"/>
            </a:solidFill>
            <a:rou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05557" name="WordArt 53"/>
          <p:cNvSpPr>
            <a:spLocks noChangeArrowheads="1" noChangeShapeType="1" noTextEdit="1"/>
          </p:cNvSpPr>
          <p:nvPr/>
        </p:nvSpPr>
        <p:spPr bwMode="auto">
          <a:xfrm>
            <a:off x="2843213" y="2054225"/>
            <a:ext cx="3024187" cy="2374900"/>
          </a:xfrm>
          <a:prstGeom prst="rect">
            <a:avLst/>
          </a:prstGeom>
          <a:extLst>
            <a:ext uri="{AF507438-7753-43E0-B8FC-AC1667EBCBE1}">
              <a14:hiddenEffects xmlns:a14="http://schemas.microsoft.com/office/drawing/2010/main">
                <a:effectLst/>
              </a14:hiddenEffects>
            </a:ext>
          </a:extLst>
        </p:spPr>
        <p:txBody>
          <a:bodyPr spcFirstLastPara="1" wrap="none" fromWordArt="1">
            <a:prstTxWarp prst="textArchUp">
              <a:avLst>
                <a:gd name="adj" fmla="val 10800000"/>
              </a:avLst>
            </a:prstTxWarp>
          </a:bodyPr>
          <a:lstStyle/>
          <a:p>
            <a:pPr algn="ctr"/>
            <a:r>
              <a:rPr lang="zh-CN" altLang="en-US" sz="3600" kern="10">
                <a:ln w="9525" cap="sq">
                  <a:solidFill>
                    <a:srgbClr val="800080"/>
                  </a:solidFill>
                  <a:round/>
                  <a:headEnd type="none" w="sm" len="sm"/>
                  <a:tailEnd type="none" w="sm" len="sm"/>
                </a:ln>
                <a:solidFill>
                  <a:srgbClr val="800080"/>
                </a:solidFill>
                <a:latin typeface="隶书" panose="02010509060101010101" pitchFamily="49" charset="-122"/>
                <a:ea typeface="隶书" panose="02010509060101010101" pitchFamily="49" charset="-122"/>
              </a:rPr>
              <a:t>数据库保护技术</a:t>
            </a:r>
          </a:p>
        </p:txBody>
      </p:sp>
      <p:sp>
        <p:nvSpPr>
          <p:cNvPr id="173077" name="AutoShape 21"/>
          <p:cNvSpPr>
            <a:spLocks noChangeArrowheads="1"/>
          </p:cNvSpPr>
          <p:nvPr/>
        </p:nvSpPr>
        <p:spPr bwMode="auto">
          <a:xfrm>
            <a:off x="395288" y="3205163"/>
            <a:ext cx="1812925" cy="792162"/>
          </a:xfrm>
          <a:prstGeom prst="roundRect">
            <a:avLst>
              <a:gd name="adj" fmla="val 16667"/>
            </a:avLst>
          </a:prstGeom>
          <a:gradFill rotWithShape="1">
            <a:gsLst>
              <a:gs pos="0">
                <a:srgbClr val="009999"/>
              </a:gs>
              <a:gs pos="100000">
                <a:srgbClr val="004747"/>
              </a:gs>
            </a:gsLst>
            <a:lin ang="0" scaled="1"/>
          </a:gradFill>
          <a:ln w="28575">
            <a:solidFill>
              <a:srgbClr val="FEFEFE"/>
            </a:solidFill>
            <a:round/>
          </a:ln>
          <a:effectLst>
            <a:outerShdw dist="107763"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rPr>
              <a:t>事务管理</a:t>
            </a:r>
            <a:endParaRPr kumimoji="0" lang="zh-CN" altLang="zh-CN"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173079" name="AutoShape 23"/>
          <p:cNvSpPr>
            <a:spLocks noChangeArrowheads="1"/>
          </p:cNvSpPr>
          <p:nvPr/>
        </p:nvSpPr>
        <p:spPr bwMode="auto">
          <a:xfrm>
            <a:off x="1281113" y="5221288"/>
            <a:ext cx="1562100" cy="719137"/>
          </a:xfrm>
          <a:prstGeom prst="roundRect">
            <a:avLst>
              <a:gd name="adj" fmla="val 16667"/>
            </a:avLst>
          </a:prstGeom>
          <a:gradFill rotWithShape="1">
            <a:gsLst>
              <a:gs pos="0">
                <a:srgbClr val="99CC00"/>
              </a:gs>
              <a:gs pos="100000">
                <a:srgbClr val="475E00"/>
              </a:gs>
            </a:gsLst>
            <a:lin ang="0" scaled="1"/>
          </a:gradFill>
          <a:ln w="28575">
            <a:solidFill>
              <a:srgbClr val="FEFEFE"/>
            </a:solidFill>
            <a:round/>
          </a:ln>
          <a:effectLst>
            <a:outerShdw dist="107763"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rPr>
              <a:t>安全性</a:t>
            </a:r>
            <a:endParaRPr kumimoji="0" lang="zh-CN" altLang="zh-CN"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6" name="AutoShape 21"/>
          <p:cNvSpPr>
            <a:spLocks noChangeArrowheads="1"/>
          </p:cNvSpPr>
          <p:nvPr/>
        </p:nvSpPr>
        <p:spPr bwMode="auto">
          <a:xfrm>
            <a:off x="3492500" y="5805488"/>
            <a:ext cx="2016125" cy="792162"/>
          </a:xfrm>
          <a:prstGeom prst="roundRect">
            <a:avLst>
              <a:gd name="adj" fmla="val 16667"/>
            </a:avLst>
          </a:prstGeom>
          <a:gradFill rotWithShape="1">
            <a:gsLst>
              <a:gs pos="0">
                <a:srgbClr val="009999"/>
              </a:gs>
              <a:gs pos="100000">
                <a:srgbClr val="004747"/>
              </a:gs>
            </a:gsLst>
            <a:lin ang="0" scaled="1"/>
          </a:gradFill>
          <a:ln w="28575">
            <a:solidFill>
              <a:srgbClr val="FEFEFE"/>
            </a:solidFill>
            <a:round/>
          </a:ln>
          <a:effectLst>
            <a:outerShdw dist="107763"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rPr>
              <a:t>完整性控制</a:t>
            </a:r>
            <a:endParaRPr kumimoji="0" lang="zh-CN" altLang="zh-CN"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7" name="AutoShape 23"/>
          <p:cNvSpPr>
            <a:spLocks noChangeArrowheads="1"/>
          </p:cNvSpPr>
          <p:nvPr/>
        </p:nvSpPr>
        <p:spPr bwMode="auto">
          <a:xfrm>
            <a:off x="6011863" y="5078413"/>
            <a:ext cx="1800225" cy="719137"/>
          </a:xfrm>
          <a:prstGeom prst="roundRect">
            <a:avLst>
              <a:gd name="adj" fmla="val 16667"/>
            </a:avLst>
          </a:prstGeom>
          <a:gradFill rotWithShape="1">
            <a:gsLst>
              <a:gs pos="0">
                <a:srgbClr val="99CC00"/>
              </a:gs>
              <a:gs pos="100000">
                <a:srgbClr val="475E00"/>
              </a:gs>
            </a:gsLst>
            <a:lin ang="0" scaled="1"/>
          </a:gradFill>
          <a:ln w="28575">
            <a:solidFill>
              <a:srgbClr val="FEFEFE"/>
            </a:solidFill>
            <a:round/>
          </a:ln>
          <a:effectLst>
            <a:outerShdw dist="107763"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rPr>
              <a:t>数据恢复</a:t>
            </a:r>
            <a:endParaRPr kumimoji="0" lang="zh-CN" altLang="zh-CN"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8" name="AutoShape 23"/>
          <p:cNvSpPr>
            <a:spLocks noChangeArrowheads="1"/>
          </p:cNvSpPr>
          <p:nvPr/>
        </p:nvSpPr>
        <p:spPr bwMode="auto">
          <a:xfrm>
            <a:off x="6588125" y="3348038"/>
            <a:ext cx="1800225" cy="719137"/>
          </a:xfrm>
          <a:prstGeom prst="roundRect">
            <a:avLst>
              <a:gd name="adj" fmla="val 16667"/>
            </a:avLst>
          </a:prstGeom>
          <a:gradFill rotWithShape="1">
            <a:gsLst>
              <a:gs pos="0">
                <a:srgbClr val="009999"/>
              </a:gs>
              <a:gs pos="100000">
                <a:srgbClr val="004747"/>
              </a:gs>
            </a:gsLst>
            <a:lin ang="0" scaled="1"/>
          </a:gradFill>
          <a:ln w="28575" algn="ctr">
            <a:solidFill>
              <a:srgbClr val="FEFEFE"/>
            </a:solidFill>
            <a:round/>
          </a:ln>
          <a:effectLst>
            <a:outerShdw dist="107763" dir="2700000" algn="ctr" rotWithShape="0">
              <a:srgbClr val="000000">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rPr>
              <a:t>并发控制</a:t>
            </a:r>
            <a:endParaRPr kumimoji="0" lang="zh-CN" altLang="zh-CN" sz="2800" b="1">
              <a:solidFill>
                <a:srgbClr val="FEFEFE"/>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989"/>
    </mc:Choice>
    <mc:Fallback xmlns="">
      <p:transition spd="slow" advTm="3398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405516"/>
                                        </p:tgtEl>
                                        <p:attrNameLst>
                                          <p:attrName>style.visibility</p:attrName>
                                        </p:attrNameLst>
                                      </p:cBhvr>
                                      <p:to>
                                        <p:strVal val="visible"/>
                                      </p:to>
                                    </p:set>
                                    <p:animScale>
                                      <p:cBhvr>
                                        <p:cTn id="7" dur="1000" decel="50000" fill="hold">
                                          <p:stCondLst>
                                            <p:cond delay="0"/>
                                          </p:stCondLst>
                                        </p:cTn>
                                        <p:tgtEl>
                                          <p:spTgt spid="4055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05516"/>
                                        </p:tgtEl>
                                        <p:attrNameLst>
                                          <p:attrName>ppt_x</p:attrName>
                                          <p:attrName>ppt_y</p:attrName>
                                        </p:attrNameLst>
                                      </p:cBhvr>
                                    </p:animMotion>
                                    <p:animEffect transition="in" filter="fade">
                                      <p:cBhvr>
                                        <p:cTn id="9" dur="1000"/>
                                        <p:tgtEl>
                                          <p:spTgt spid="405516"/>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405520"/>
                                        </p:tgtEl>
                                        <p:attrNameLst>
                                          <p:attrName>style.visibility</p:attrName>
                                        </p:attrNameLst>
                                      </p:cBhvr>
                                      <p:to>
                                        <p:strVal val="visible"/>
                                      </p:to>
                                    </p:set>
                                    <p:anim calcmode="lin" valueType="num">
                                      <p:cBhvr>
                                        <p:cTn id="13" dur="500" fill="hold"/>
                                        <p:tgtEl>
                                          <p:spTgt spid="405520"/>
                                        </p:tgtEl>
                                        <p:attrNameLst>
                                          <p:attrName>ppt_w</p:attrName>
                                        </p:attrNameLst>
                                      </p:cBhvr>
                                      <p:tavLst>
                                        <p:tav tm="0">
                                          <p:val>
                                            <p:fltVal val="0"/>
                                          </p:val>
                                        </p:tav>
                                        <p:tav tm="100000">
                                          <p:val>
                                            <p:strVal val="#ppt_w"/>
                                          </p:val>
                                        </p:tav>
                                      </p:tavLst>
                                    </p:anim>
                                    <p:anim calcmode="lin" valueType="num">
                                      <p:cBhvr>
                                        <p:cTn id="14" dur="500" fill="hold"/>
                                        <p:tgtEl>
                                          <p:spTgt spid="405520"/>
                                        </p:tgtEl>
                                        <p:attrNameLst>
                                          <p:attrName>ppt_h</p:attrName>
                                        </p:attrNameLst>
                                      </p:cBhvr>
                                      <p:tavLst>
                                        <p:tav tm="0">
                                          <p:val>
                                            <p:fltVal val="0"/>
                                          </p:val>
                                        </p:tav>
                                        <p:tav tm="100000">
                                          <p:val>
                                            <p:strVal val="#ppt_h"/>
                                          </p:val>
                                        </p:tav>
                                      </p:tavLst>
                                    </p:anim>
                                    <p:animEffect transition="in" filter="fade">
                                      <p:cBhvr>
                                        <p:cTn id="15" dur="500"/>
                                        <p:tgtEl>
                                          <p:spTgt spid="40552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405534"/>
                                        </p:tgtEl>
                                        <p:attrNameLst>
                                          <p:attrName>style.visibility</p:attrName>
                                        </p:attrNameLst>
                                      </p:cBhvr>
                                      <p:to>
                                        <p:strVal val="visible"/>
                                      </p:to>
                                    </p:set>
                                    <p:anim calcmode="lin" valueType="num">
                                      <p:cBhvr additive="base">
                                        <p:cTn id="20" dur="500" fill="hold"/>
                                        <p:tgtEl>
                                          <p:spTgt spid="405534"/>
                                        </p:tgtEl>
                                        <p:attrNameLst>
                                          <p:attrName>ppt_x</p:attrName>
                                        </p:attrNameLst>
                                      </p:cBhvr>
                                      <p:tavLst>
                                        <p:tav tm="0">
                                          <p:val>
                                            <p:strVal val="0-#ppt_w/2"/>
                                          </p:val>
                                        </p:tav>
                                        <p:tav tm="100000">
                                          <p:val>
                                            <p:strVal val="#ppt_x"/>
                                          </p:val>
                                        </p:tav>
                                      </p:tavLst>
                                    </p:anim>
                                    <p:anim calcmode="lin" valueType="num">
                                      <p:cBhvr additive="base">
                                        <p:cTn id="21" dur="500" fill="hold"/>
                                        <p:tgtEl>
                                          <p:spTgt spid="405534"/>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 presetClass="entr" presetSubtype="12" fill="hold" nodeType="afterEffect">
                                  <p:stCondLst>
                                    <p:cond delay="1000"/>
                                  </p:stCondLst>
                                  <p:childTnLst>
                                    <p:set>
                                      <p:cBhvr>
                                        <p:cTn id="24" dur="1" fill="hold">
                                          <p:stCondLst>
                                            <p:cond delay="0"/>
                                          </p:stCondLst>
                                        </p:cTn>
                                        <p:tgtEl>
                                          <p:spTgt spid="405535"/>
                                        </p:tgtEl>
                                        <p:attrNameLst>
                                          <p:attrName>style.visibility</p:attrName>
                                        </p:attrNameLst>
                                      </p:cBhvr>
                                      <p:to>
                                        <p:strVal val="visible"/>
                                      </p:to>
                                    </p:set>
                                    <p:anim calcmode="lin" valueType="num">
                                      <p:cBhvr additive="base">
                                        <p:cTn id="25" dur="500" fill="hold"/>
                                        <p:tgtEl>
                                          <p:spTgt spid="405535"/>
                                        </p:tgtEl>
                                        <p:attrNameLst>
                                          <p:attrName>ppt_x</p:attrName>
                                        </p:attrNameLst>
                                      </p:cBhvr>
                                      <p:tavLst>
                                        <p:tav tm="0">
                                          <p:val>
                                            <p:strVal val="0-#ppt_w/2"/>
                                          </p:val>
                                        </p:tav>
                                        <p:tav tm="100000">
                                          <p:val>
                                            <p:strVal val="#ppt_x"/>
                                          </p:val>
                                        </p:tav>
                                      </p:tavLst>
                                    </p:anim>
                                    <p:anim calcmode="lin" valueType="num">
                                      <p:cBhvr additive="base">
                                        <p:cTn id="26" dur="500" fill="hold"/>
                                        <p:tgtEl>
                                          <p:spTgt spid="405535"/>
                                        </p:tgtEl>
                                        <p:attrNameLst>
                                          <p:attrName>ppt_y</p:attrName>
                                        </p:attrNameLst>
                                      </p:cBhvr>
                                      <p:tavLst>
                                        <p:tav tm="0">
                                          <p:val>
                                            <p:strVal val="1+#ppt_h/2"/>
                                          </p:val>
                                        </p:tav>
                                        <p:tav tm="100000">
                                          <p:val>
                                            <p:strVal val="#ppt_y"/>
                                          </p:val>
                                        </p:tav>
                                      </p:tavLst>
                                    </p:anim>
                                  </p:childTnLst>
                                </p:cTn>
                              </p:par>
                            </p:childTnLst>
                          </p:cTn>
                        </p:par>
                        <p:par>
                          <p:cTn id="27" fill="hold">
                            <p:stCondLst>
                              <p:cond delay="2000"/>
                            </p:stCondLst>
                            <p:childTnLst>
                              <p:par>
                                <p:cTn id="28" presetID="2" presetClass="entr" presetSubtype="1" fill="hold" nodeType="afterEffect">
                                  <p:stCondLst>
                                    <p:cond delay="1000"/>
                                  </p:stCondLst>
                                  <p:childTnLst>
                                    <p:set>
                                      <p:cBhvr>
                                        <p:cTn id="29" dur="1" fill="hold">
                                          <p:stCondLst>
                                            <p:cond delay="0"/>
                                          </p:stCondLst>
                                        </p:cTn>
                                        <p:tgtEl>
                                          <p:spTgt spid="405536"/>
                                        </p:tgtEl>
                                        <p:attrNameLst>
                                          <p:attrName>style.visibility</p:attrName>
                                        </p:attrNameLst>
                                      </p:cBhvr>
                                      <p:to>
                                        <p:strVal val="visible"/>
                                      </p:to>
                                    </p:set>
                                    <p:anim calcmode="lin" valueType="num">
                                      <p:cBhvr additive="base">
                                        <p:cTn id="30" dur="500" fill="hold"/>
                                        <p:tgtEl>
                                          <p:spTgt spid="405536"/>
                                        </p:tgtEl>
                                        <p:attrNameLst>
                                          <p:attrName>ppt_x</p:attrName>
                                        </p:attrNameLst>
                                      </p:cBhvr>
                                      <p:tavLst>
                                        <p:tav tm="0">
                                          <p:val>
                                            <p:strVal val="#ppt_x"/>
                                          </p:val>
                                        </p:tav>
                                        <p:tav tm="100000">
                                          <p:val>
                                            <p:strVal val="#ppt_x"/>
                                          </p:val>
                                        </p:tav>
                                      </p:tavLst>
                                    </p:anim>
                                    <p:anim calcmode="lin" valueType="num">
                                      <p:cBhvr additive="base">
                                        <p:cTn id="31" dur="500" fill="hold"/>
                                        <p:tgtEl>
                                          <p:spTgt spid="405536"/>
                                        </p:tgtEl>
                                        <p:attrNameLst>
                                          <p:attrName>ppt_y</p:attrName>
                                        </p:attrNameLst>
                                      </p:cBhvr>
                                      <p:tavLst>
                                        <p:tav tm="0">
                                          <p:val>
                                            <p:strVal val="0-#ppt_h/2"/>
                                          </p:val>
                                        </p:tav>
                                        <p:tav tm="100000">
                                          <p:val>
                                            <p:strVal val="#ppt_y"/>
                                          </p:val>
                                        </p:tav>
                                      </p:tavLst>
                                    </p:anim>
                                  </p:childTnLst>
                                </p:cTn>
                              </p:par>
                            </p:childTnLst>
                          </p:cTn>
                        </p:par>
                        <p:par>
                          <p:cTn id="32" fill="hold">
                            <p:stCondLst>
                              <p:cond delay="3500"/>
                            </p:stCondLst>
                            <p:childTnLst>
                              <p:par>
                                <p:cTn id="33" presetID="2" presetClass="entr" presetSubtype="6" fill="hold" nodeType="afterEffect">
                                  <p:stCondLst>
                                    <p:cond delay="1000"/>
                                  </p:stCondLst>
                                  <p:childTnLst>
                                    <p:set>
                                      <p:cBhvr>
                                        <p:cTn id="34" dur="1" fill="hold">
                                          <p:stCondLst>
                                            <p:cond delay="0"/>
                                          </p:stCondLst>
                                        </p:cTn>
                                        <p:tgtEl>
                                          <p:spTgt spid="405537"/>
                                        </p:tgtEl>
                                        <p:attrNameLst>
                                          <p:attrName>style.visibility</p:attrName>
                                        </p:attrNameLst>
                                      </p:cBhvr>
                                      <p:to>
                                        <p:strVal val="visible"/>
                                      </p:to>
                                    </p:set>
                                    <p:anim calcmode="lin" valueType="num">
                                      <p:cBhvr additive="base">
                                        <p:cTn id="35" dur="500" fill="hold"/>
                                        <p:tgtEl>
                                          <p:spTgt spid="405537"/>
                                        </p:tgtEl>
                                        <p:attrNameLst>
                                          <p:attrName>ppt_x</p:attrName>
                                        </p:attrNameLst>
                                      </p:cBhvr>
                                      <p:tavLst>
                                        <p:tav tm="0">
                                          <p:val>
                                            <p:strVal val="1+#ppt_w/2"/>
                                          </p:val>
                                        </p:tav>
                                        <p:tav tm="100000">
                                          <p:val>
                                            <p:strVal val="#ppt_x"/>
                                          </p:val>
                                        </p:tav>
                                      </p:tavLst>
                                    </p:anim>
                                    <p:anim calcmode="lin" valueType="num">
                                      <p:cBhvr additive="base">
                                        <p:cTn id="36" dur="500" fill="hold"/>
                                        <p:tgtEl>
                                          <p:spTgt spid="405537"/>
                                        </p:tgtEl>
                                        <p:attrNameLst>
                                          <p:attrName>ppt_y</p:attrName>
                                        </p:attrNameLst>
                                      </p:cBhvr>
                                      <p:tavLst>
                                        <p:tav tm="0">
                                          <p:val>
                                            <p:strVal val="1+#ppt_h/2"/>
                                          </p:val>
                                        </p:tav>
                                        <p:tav tm="100000">
                                          <p:val>
                                            <p:strVal val="#ppt_y"/>
                                          </p:val>
                                        </p:tav>
                                      </p:tavLst>
                                    </p:anim>
                                  </p:childTnLst>
                                </p:cTn>
                              </p:par>
                            </p:childTnLst>
                          </p:cTn>
                        </p:par>
                        <p:par>
                          <p:cTn id="37" fill="hold">
                            <p:stCondLst>
                              <p:cond delay="5000"/>
                            </p:stCondLst>
                            <p:childTnLst>
                              <p:par>
                                <p:cTn id="38" presetID="2" presetClass="entr" presetSubtype="2" fill="hold" nodeType="afterEffect">
                                  <p:stCondLst>
                                    <p:cond delay="1000"/>
                                  </p:stCondLst>
                                  <p:childTnLst>
                                    <p:set>
                                      <p:cBhvr>
                                        <p:cTn id="39" dur="1" fill="hold">
                                          <p:stCondLst>
                                            <p:cond delay="0"/>
                                          </p:stCondLst>
                                        </p:cTn>
                                        <p:tgtEl>
                                          <p:spTgt spid="405538"/>
                                        </p:tgtEl>
                                        <p:attrNameLst>
                                          <p:attrName>style.visibility</p:attrName>
                                        </p:attrNameLst>
                                      </p:cBhvr>
                                      <p:to>
                                        <p:strVal val="visible"/>
                                      </p:to>
                                    </p:set>
                                    <p:anim calcmode="lin" valueType="num">
                                      <p:cBhvr additive="base">
                                        <p:cTn id="40" dur="500" fill="hold"/>
                                        <p:tgtEl>
                                          <p:spTgt spid="405538"/>
                                        </p:tgtEl>
                                        <p:attrNameLst>
                                          <p:attrName>ppt_x</p:attrName>
                                        </p:attrNameLst>
                                      </p:cBhvr>
                                      <p:tavLst>
                                        <p:tav tm="0">
                                          <p:val>
                                            <p:strVal val="1+#ppt_w/2"/>
                                          </p:val>
                                        </p:tav>
                                        <p:tav tm="100000">
                                          <p:val>
                                            <p:strVal val="#ppt_x"/>
                                          </p:val>
                                        </p:tav>
                                      </p:tavLst>
                                    </p:anim>
                                    <p:anim calcmode="lin" valueType="num">
                                      <p:cBhvr additive="base">
                                        <p:cTn id="41" dur="500" fill="hold"/>
                                        <p:tgtEl>
                                          <p:spTgt spid="405538"/>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5" presetClass="exit" presetSubtype="0" fill="hold" nodeType="clickEffect">
                                  <p:stCondLst>
                                    <p:cond delay="0"/>
                                  </p:stCondLst>
                                  <p:childTnLst>
                                    <p:anim calcmode="lin" valueType="num">
                                      <p:cBhvr>
                                        <p:cTn id="45" dur="1000"/>
                                        <p:tgtEl>
                                          <p:spTgt spid="405534"/>
                                        </p:tgtEl>
                                        <p:attrNameLst>
                                          <p:attrName>ppt_w</p:attrName>
                                        </p:attrNameLst>
                                      </p:cBhvr>
                                      <p:tavLst>
                                        <p:tav tm="0">
                                          <p:val>
                                            <p:strVal val="ppt_w"/>
                                          </p:val>
                                        </p:tav>
                                        <p:tav tm="100000">
                                          <p:val>
                                            <p:fltVal val="0"/>
                                          </p:val>
                                        </p:tav>
                                      </p:tavLst>
                                    </p:anim>
                                    <p:anim calcmode="lin" valueType="num">
                                      <p:cBhvr>
                                        <p:cTn id="46" dur="1000"/>
                                        <p:tgtEl>
                                          <p:spTgt spid="405534"/>
                                        </p:tgtEl>
                                        <p:attrNameLst>
                                          <p:attrName>ppt_h</p:attrName>
                                        </p:attrNameLst>
                                      </p:cBhvr>
                                      <p:tavLst>
                                        <p:tav tm="0">
                                          <p:val>
                                            <p:strVal val="ppt_h"/>
                                          </p:val>
                                        </p:tav>
                                        <p:tav tm="100000">
                                          <p:val>
                                            <p:fltVal val="0"/>
                                          </p:val>
                                        </p:tav>
                                      </p:tavLst>
                                    </p:anim>
                                    <p:anim calcmode="lin" valueType="num">
                                      <p:cBhvr>
                                        <p:cTn id="47" dur="1000"/>
                                        <p:tgtEl>
                                          <p:spTgt spid="405534"/>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48" dur="1000"/>
                                        <p:tgtEl>
                                          <p:spTgt spid="405534"/>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9" dur="1" fill="hold">
                                          <p:stCondLst>
                                            <p:cond delay="999"/>
                                          </p:stCondLst>
                                        </p:cTn>
                                        <p:tgtEl>
                                          <p:spTgt spid="405534"/>
                                        </p:tgtEl>
                                        <p:attrNameLst>
                                          <p:attrName>style.visibility</p:attrName>
                                        </p:attrNameLst>
                                      </p:cBhvr>
                                      <p:to>
                                        <p:strVal val="hidden"/>
                                      </p:to>
                                    </p:set>
                                  </p:childTnLst>
                                </p:cTn>
                              </p:par>
                              <p:par>
                                <p:cTn id="50" presetID="15" presetClass="exit" presetSubtype="0" fill="hold" nodeType="withEffect">
                                  <p:stCondLst>
                                    <p:cond delay="0"/>
                                  </p:stCondLst>
                                  <p:childTnLst>
                                    <p:anim calcmode="lin" valueType="num">
                                      <p:cBhvr>
                                        <p:cTn id="51" dur="1000"/>
                                        <p:tgtEl>
                                          <p:spTgt spid="405535"/>
                                        </p:tgtEl>
                                        <p:attrNameLst>
                                          <p:attrName>ppt_w</p:attrName>
                                        </p:attrNameLst>
                                      </p:cBhvr>
                                      <p:tavLst>
                                        <p:tav tm="0">
                                          <p:val>
                                            <p:strVal val="ppt_w"/>
                                          </p:val>
                                        </p:tav>
                                        <p:tav tm="100000">
                                          <p:val>
                                            <p:fltVal val="0"/>
                                          </p:val>
                                        </p:tav>
                                      </p:tavLst>
                                    </p:anim>
                                    <p:anim calcmode="lin" valueType="num">
                                      <p:cBhvr>
                                        <p:cTn id="52" dur="1000"/>
                                        <p:tgtEl>
                                          <p:spTgt spid="405535"/>
                                        </p:tgtEl>
                                        <p:attrNameLst>
                                          <p:attrName>ppt_h</p:attrName>
                                        </p:attrNameLst>
                                      </p:cBhvr>
                                      <p:tavLst>
                                        <p:tav tm="0">
                                          <p:val>
                                            <p:strVal val="ppt_h"/>
                                          </p:val>
                                        </p:tav>
                                        <p:tav tm="100000">
                                          <p:val>
                                            <p:fltVal val="0"/>
                                          </p:val>
                                        </p:tav>
                                      </p:tavLst>
                                    </p:anim>
                                    <p:anim calcmode="lin" valueType="num">
                                      <p:cBhvr>
                                        <p:cTn id="53" dur="1000"/>
                                        <p:tgtEl>
                                          <p:spTgt spid="405535"/>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54" dur="1000"/>
                                        <p:tgtEl>
                                          <p:spTgt spid="405535"/>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55" dur="1" fill="hold">
                                          <p:stCondLst>
                                            <p:cond delay="999"/>
                                          </p:stCondLst>
                                        </p:cTn>
                                        <p:tgtEl>
                                          <p:spTgt spid="405535"/>
                                        </p:tgtEl>
                                        <p:attrNameLst>
                                          <p:attrName>style.visibility</p:attrName>
                                        </p:attrNameLst>
                                      </p:cBhvr>
                                      <p:to>
                                        <p:strVal val="hidden"/>
                                      </p:to>
                                    </p:set>
                                  </p:childTnLst>
                                </p:cTn>
                              </p:par>
                              <p:par>
                                <p:cTn id="56" presetID="15" presetClass="exit" presetSubtype="0" fill="hold" nodeType="withEffect">
                                  <p:stCondLst>
                                    <p:cond delay="0"/>
                                  </p:stCondLst>
                                  <p:childTnLst>
                                    <p:anim calcmode="lin" valueType="num">
                                      <p:cBhvr>
                                        <p:cTn id="57" dur="1000"/>
                                        <p:tgtEl>
                                          <p:spTgt spid="405537"/>
                                        </p:tgtEl>
                                        <p:attrNameLst>
                                          <p:attrName>ppt_w</p:attrName>
                                        </p:attrNameLst>
                                      </p:cBhvr>
                                      <p:tavLst>
                                        <p:tav tm="0">
                                          <p:val>
                                            <p:strVal val="ppt_w"/>
                                          </p:val>
                                        </p:tav>
                                        <p:tav tm="100000">
                                          <p:val>
                                            <p:fltVal val="0"/>
                                          </p:val>
                                        </p:tav>
                                      </p:tavLst>
                                    </p:anim>
                                    <p:anim calcmode="lin" valueType="num">
                                      <p:cBhvr>
                                        <p:cTn id="58" dur="1000"/>
                                        <p:tgtEl>
                                          <p:spTgt spid="405537"/>
                                        </p:tgtEl>
                                        <p:attrNameLst>
                                          <p:attrName>ppt_h</p:attrName>
                                        </p:attrNameLst>
                                      </p:cBhvr>
                                      <p:tavLst>
                                        <p:tav tm="0">
                                          <p:val>
                                            <p:strVal val="ppt_h"/>
                                          </p:val>
                                        </p:tav>
                                        <p:tav tm="100000">
                                          <p:val>
                                            <p:fltVal val="0"/>
                                          </p:val>
                                        </p:tav>
                                      </p:tavLst>
                                    </p:anim>
                                    <p:anim calcmode="lin" valueType="num">
                                      <p:cBhvr>
                                        <p:cTn id="59" dur="1000"/>
                                        <p:tgtEl>
                                          <p:spTgt spid="405537"/>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60" dur="1000"/>
                                        <p:tgtEl>
                                          <p:spTgt spid="405537"/>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61" dur="1" fill="hold">
                                          <p:stCondLst>
                                            <p:cond delay="999"/>
                                          </p:stCondLst>
                                        </p:cTn>
                                        <p:tgtEl>
                                          <p:spTgt spid="405537"/>
                                        </p:tgtEl>
                                        <p:attrNameLst>
                                          <p:attrName>style.visibility</p:attrName>
                                        </p:attrNameLst>
                                      </p:cBhvr>
                                      <p:to>
                                        <p:strVal val="hidden"/>
                                      </p:to>
                                    </p:set>
                                  </p:childTnLst>
                                </p:cTn>
                              </p:par>
                              <p:par>
                                <p:cTn id="62" presetID="15" presetClass="exit" presetSubtype="0" fill="hold" nodeType="withEffect">
                                  <p:stCondLst>
                                    <p:cond delay="0"/>
                                  </p:stCondLst>
                                  <p:childTnLst>
                                    <p:anim calcmode="lin" valueType="num">
                                      <p:cBhvr>
                                        <p:cTn id="63" dur="1000"/>
                                        <p:tgtEl>
                                          <p:spTgt spid="405538"/>
                                        </p:tgtEl>
                                        <p:attrNameLst>
                                          <p:attrName>ppt_w</p:attrName>
                                        </p:attrNameLst>
                                      </p:cBhvr>
                                      <p:tavLst>
                                        <p:tav tm="0">
                                          <p:val>
                                            <p:strVal val="ppt_w"/>
                                          </p:val>
                                        </p:tav>
                                        <p:tav tm="100000">
                                          <p:val>
                                            <p:fltVal val="0"/>
                                          </p:val>
                                        </p:tav>
                                      </p:tavLst>
                                    </p:anim>
                                    <p:anim calcmode="lin" valueType="num">
                                      <p:cBhvr>
                                        <p:cTn id="64" dur="1000"/>
                                        <p:tgtEl>
                                          <p:spTgt spid="405538"/>
                                        </p:tgtEl>
                                        <p:attrNameLst>
                                          <p:attrName>ppt_h</p:attrName>
                                        </p:attrNameLst>
                                      </p:cBhvr>
                                      <p:tavLst>
                                        <p:tav tm="0">
                                          <p:val>
                                            <p:strVal val="ppt_h"/>
                                          </p:val>
                                        </p:tav>
                                        <p:tav tm="100000">
                                          <p:val>
                                            <p:fltVal val="0"/>
                                          </p:val>
                                        </p:tav>
                                      </p:tavLst>
                                    </p:anim>
                                    <p:anim calcmode="lin" valueType="num">
                                      <p:cBhvr>
                                        <p:cTn id="65" dur="1000"/>
                                        <p:tgtEl>
                                          <p:spTgt spid="405538"/>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66" dur="1000"/>
                                        <p:tgtEl>
                                          <p:spTgt spid="405538"/>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67" dur="1" fill="hold">
                                          <p:stCondLst>
                                            <p:cond delay="999"/>
                                          </p:stCondLst>
                                        </p:cTn>
                                        <p:tgtEl>
                                          <p:spTgt spid="405538"/>
                                        </p:tgtEl>
                                        <p:attrNameLst>
                                          <p:attrName>style.visibility</p:attrName>
                                        </p:attrNameLst>
                                      </p:cBhvr>
                                      <p:to>
                                        <p:strVal val="hidden"/>
                                      </p:to>
                                    </p:set>
                                  </p:childTnLst>
                                </p:cTn>
                              </p:par>
                              <p:par>
                                <p:cTn id="68" presetID="15" presetClass="exit" presetSubtype="0" fill="hold" nodeType="withEffect">
                                  <p:stCondLst>
                                    <p:cond delay="0"/>
                                  </p:stCondLst>
                                  <p:childTnLst>
                                    <p:anim calcmode="lin" valueType="num">
                                      <p:cBhvr>
                                        <p:cTn id="69" dur="1000"/>
                                        <p:tgtEl>
                                          <p:spTgt spid="405536"/>
                                        </p:tgtEl>
                                        <p:attrNameLst>
                                          <p:attrName>ppt_w</p:attrName>
                                        </p:attrNameLst>
                                      </p:cBhvr>
                                      <p:tavLst>
                                        <p:tav tm="0">
                                          <p:val>
                                            <p:strVal val="ppt_w"/>
                                          </p:val>
                                        </p:tav>
                                        <p:tav tm="100000">
                                          <p:val>
                                            <p:fltVal val="0"/>
                                          </p:val>
                                        </p:tav>
                                      </p:tavLst>
                                    </p:anim>
                                    <p:anim calcmode="lin" valueType="num">
                                      <p:cBhvr>
                                        <p:cTn id="70" dur="1000"/>
                                        <p:tgtEl>
                                          <p:spTgt spid="405536"/>
                                        </p:tgtEl>
                                        <p:attrNameLst>
                                          <p:attrName>ppt_h</p:attrName>
                                        </p:attrNameLst>
                                      </p:cBhvr>
                                      <p:tavLst>
                                        <p:tav tm="0">
                                          <p:val>
                                            <p:strVal val="ppt_h"/>
                                          </p:val>
                                        </p:tav>
                                        <p:tav tm="100000">
                                          <p:val>
                                            <p:fltVal val="0"/>
                                          </p:val>
                                        </p:tav>
                                      </p:tavLst>
                                    </p:anim>
                                    <p:anim calcmode="lin" valueType="num">
                                      <p:cBhvr>
                                        <p:cTn id="71" dur="1000"/>
                                        <p:tgtEl>
                                          <p:spTgt spid="405536"/>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72" dur="1000"/>
                                        <p:tgtEl>
                                          <p:spTgt spid="405536"/>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73" dur="1" fill="hold">
                                          <p:stCondLst>
                                            <p:cond delay="999"/>
                                          </p:stCondLst>
                                        </p:cTn>
                                        <p:tgtEl>
                                          <p:spTgt spid="405536"/>
                                        </p:tgtEl>
                                        <p:attrNameLst>
                                          <p:attrName>style.visibility</p:attrName>
                                        </p:attrNameLst>
                                      </p:cBhvr>
                                      <p:to>
                                        <p:strVal val="hidden"/>
                                      </p:to>
                                    </p:set>
                                  </p:childTnLst>
                                </p:cTn>
                              </p:par>
                            </p:childTnLst>
                          </p:cTn>
                        </p:par>
                        <p:par>
                          <p:cTn id="74" fill="hold">
                            <p:stCondLst>
                              <p:cond delay="1000"/>
                            </p:stCondLst>
                            <p:childTnLst>
                              <p:par>
                                <p:cTn id="75" presetID="53" presetClass="entr" presetSubtype="16" fill="hold" grpId="0" nodeType="afterEffect">
                                  <p:stCondLst>
                                    <p:cond delay="0"/>
                                  </p:stCondLst>
                                  <p:childTnLst>
                                    <p:set>
                                      <p:cBhvr>
                                        <p:cTn id="76" dur="1" fill="hold">
                                          <p:stCondLst>
                                            <p:cond delay="0"/>
                                          </p:stCondLst>
                                        </p:cTn>
                                        <p:tgtEl>
                                          <p:spTgt spid="405556"/>
                                        </p:tgtEl>
                                        <p:attrNameLst>
                                          <p:attrName>style.visibility</p:attrName>
                                        </p:attrNameLst>
                                      </p:cBhvr>
                                      <p:to>
                                        <p:strVal val="visible"/>
                                      </p:to>
                                    </p:set>
                                    <p:anim calcmode="lin" valueType="num">
                                      <p:cBhvr>
                                        <p:cTn id="77" dur="500" fill="hold"/>
                                        <p:tgtEl>
                                          <p:spTgt spid="405556"/>
                                        </p:tgtEl>
                                        <p:attrNameLst>
                                          <p:attrName>ppt_w</p:attrName>
                                        </p:attrNameLst>
                                      </p:cBhvr>
                                      <p:tavLst>
                                        <p:tav tm="0">
                                          <p:val>
                                            <p:fltVal val="0"/>
                                          </p:val>
                                        </p:tav>
                                        <p:tav tm="100000">
                                          <p:val>
                                            <p:strVal val="#ppt_w"/>
                                          </p:val>
                                        </p:tav>
                                      </p:tavLst>
                                    </p:anim>
                                    <p:anim calcmode="lin" valueType="num">
                                      <p:cBhvr>
                                        <p:cTn id="78" dur="500" fill="hold"/>
                                        <p:tgtEl>
                                          <p:spTgt spid="405556"/>
                                        </p:tgtEl>
                                        <p:attrNameLst>
                                          <p:attrName>ppt_h</p:attrName>
                                        </p:attrNameLst>
                                      </p:cBhvr>
                                      <p:tavLst>
                                        <p:tav tm="0">
                                          <p:val>
                                            <p:fltVal val="0"/>
                                          </p:val>
                                        </p:tav>
                                        <p:tav tm="100000">
                                          <p:val>
                                            <p:strVal val="#ppt_h"/>
                                          </p:val>
                                        </p:tav>
                                      </p:tavLst>
                                    </p:anim>
                                    <p:animEffect transition="in" filter="fade">
                                      <p:cBhvr>
                                        <p:cTn id="79" dur="500"/>
                                        <p:tgtEl>
                                          <p:spTgt spid="40555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405557"/>
                                        </p:tgtEl>
                                        <p:attrNameLst>
                                          <p:attrName>style.visibility</p:attrName>
                                        </p:attrNameLst>
                                      </p:cBhvr>
                                      <p:to>
                                        <p:strVal val="visible"/>
                                      </p:to>
                                    </p:set>
                                    <p:animEffect transition="in" filter="wipe(left)">
                                      <p:cBhvr>
                                        <p:cTn id="84" dur="500"/>
                                        <p:tgtEl>
                                          <p:spTgt spid="40555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2" fill="hold" grpId="0" nodeType="clickEffect">
                                  <p:stCondLst>
                                    <p:cond delay="0"/>
                                  </p:stCondLst>
                                  <p:childTnLst>
                                    <p:set>
                                      <p:cBhvr>
                                        <p:cTn id="88" dur="1" fill="hold">
                                          <p:stCondLst>
                                            <p:cond delay="0"/>
                                          </p:stCondLst>
                                        </p:cTn>
                                        <p:tgtEl>
                                          <p:spTgt spid="173064"/>
                                        </p:tgtEl>
                                        <p:attrNameLst>
                                          <p:attrName>style.visibility</p:attrName>
                                        </p:attrNameLst>
                                      </p:cBhvr>
                                      <p:to>
                                        <p:strVal val="visible"/>
                                      </p:to>
                                    </p:set>
                                    <p:animEffect transition="in" filter="wipe(right)">
                                      <p:cBhvr>
                                        <p:cTn id="89" dur="500"/>
                                        <p:tgtEl>
                                          <p:spTgt spid="173064"/>
                                        </p:tgtEl>
                                      </p:cBhvr>
                                    </p:animEffect>
                                  </p:childTnLst>
                                </p:cTn>
                              </p:par>
                            </p:childTnLst>
                          </p:cTn>
                        </p:par>
                        <p:par>
                          <p:cTn id="90" fill="hold">
                            <p:stCondLst>
                              <p:cond delay="500"/>
                            </p:stCondLst>
                            <p:childTnLst>
                              <p:par>
                                <p:cTn id="91" presetID="22" presetClass="entr" presetSubtype="2" fill="hold" grpId="0" nodeType="afterEffect">
                                  <p:stCondLst>
                                    <p:cond delay="0"/>
                                  </p:stCondLst>
                                  <p:childTnLst>
                                    <p:set>
                                      <p:cBhvr>
                                        <p:cTn id="92" dur="1" fill="hold">
                                          <p:stCondLst>
                                            <p:cond delay="0"/>
                                          </p:stCondLst>
                                        </p:cTn>
                                        <p:tgtEl>
                                          <p:spTgt spid="173077"/>
                                        </p:tgtEl>
                                        <p:attrNameLst>
                                          <p:attrName>style.visibility</p:attrName>
                                        </p:attrNameLst>
                                      </p:cBhvr>
                                      <p:to>
                                        <p:strVal val="visible"/>
                                      </p:to>
                                    </p:set>
                                    <p:animEffect transition="in" filter="wipe(right)">
                                      <p:cBhvr>
                                        <p:cTn id="93" dur="500"/>
                                        <p:tgtEl>
                                          <p:spTgt spid="17307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173060"/>
                                        </p:tgtEl>
                                        <p:attrNameLst>
                                          <p:attrName>style.visibility</p:attrName>
                                        </p:attrNameLst>
                                      </p:cBhvr>
                                      <p:to>
                                        <p:strVal val="visible"/>
                                      </p:to>
                                    </p:set>
                                    <p:animEffect transition="in" filter="wipe(up)">
                                      <p:cBhvr>
                                        <p:cTn id="98" dur="500"/>
                                        <p:tgtEl>
                                          <p:spTgt spid="173060"/>
                                        </p:tgtEl>
                                      </p:cBhvr>
                                    </p:animEffect>
                                  </p:childTnLst>
                                </p:cTn>
                              </p:par>
                            </p:childTnLst>
                          </p:cTn>
                        </p:par>
                        <p:par>
                          <p:cTn id="99" fill="hold">
                            <p:stCondLst>
                              <p:cond delay="500"/>
                            </p:stCondLst>
                            <p:childTnLst>
                              <p:par>
                                <p:cTn id="100" presetID="22" presetClass="entr" presetSubtype="1" fill="hold" grpId="0" nodeType="afterEffect">
                                  <p:stCondLst>
                                    <p:cond delay="0"/>
                                  </p:stCondLst>
                                  <p:childTnLst>
                                    <p:set>
                                      <p:cBhvr>
                                        <p:cTn id="101" dur="1" fill="hold">
                                          <p:stCondLst>
                                            <p:cond delay="0"/>
                                          </p:stCondLst>
                                        </p:cTn>
                                        <p:tgtEl>
                                          <p:spTgt spid="173079"/>
                                        </p:tgtEl>
                                        <p:attrNameLst>
                                          <p:attrName>style.visibility</p:attrName>
                                        </p:attrNameLst>
                                      </p:cBhvr>
                                      <p:to>
                                        <p:strVal val="visible"/>
                                      </p:to>
                                    </p:set>
                                    <p:animEffect transition="in" filter="wipe(up)">
                                      <p:cBhvr>
                                        <p:cTn id="102" dur="500"/>
                                        <p:tgtEl>
                                          <p:spTgt spid="17307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173059"/>
                                        </p:tgtEl>
                                        <p:attrNameLst>
                                          <p:attrName>style.visibility</p:attrName>
                                        </p:attrNameLst>
                                      </p:cBhvr>
                                      <p:to>
                                        <p:strVal val="visible"/>
                                      </p:to>
                                    </p:set>
                                    <p:animEffect transition="in" filter="wipe(up)">
                                      <p:cBhvr>
                                        <p:cTn id="107" dur="500"/>
                                        <p:tgtEl>
                                          <p:spTgt spid="173059"/>
                                        </p:tgtEl>
                                      </p:cBhvr>
                                    </p:animEffect>
                                  </p:childTnLst>
                                </p:cTn>
                              </p:par>
                            </p:childTnLst>
                          </p:cTn>
                        </p:par>
                        <p:par>
                          <p:cTn id="108" fill="hold">
                            <p:stCondLst>
                              <p:cond delay="500"/>
                            </p:stCondLst>
                            <p:childTnLst>
                              <p:par>
                                <p:cTn id="109" presetID="22" presetClass="entr" presetSubtype="1" fill="hold" grpId="0" nodeType="afterEffect">
                                  <p:stCondLst>
                                    <p:cond delay="0"/>
                                  </p:stCondLst>
                                  <p:childTnLst>
                                    <p:set>
                                      <p:cBhvr>
                                        <p:cTn id="110" dur="1" fill="hold">
                                          <p:stCondLst>
                                            <p:cond delay="0"/>
                                          </p:stCondLst>
                                        </p:cTn>
                                        <p:tgtEl>
                                          <p:spTgt spid="6"/>
                                        </p:tgtEl>
                                        <p:attrNameLst>
                                          <p:attrName>style.visibility</p:attrName>
                                        </p:attrNameLst>
                                      </p:cBhvr>
                                      <p:to>
                                        <p:strVal val="visible"/>
                                      </p:to>
                                    </p:set>
                                    <p:animEffect transition="in" filter="wipe(up)">
                                      <p:cBhvr>
                                        <p:cTn id="111" dur="500"/>
                                        <p:tgtEl>
                                          <p:spTgt spid="6"/>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73061"/>
                                        </p:tgtEl>
                                        <p:attrNameLst>
                                          <p:attrName>style.visibility</p:attrName>
                                        </p:attrNameLst>
                                      </p:cBhvr>
                                      <p:to>
                                        <p:strVal val="visible"/>
                                      </p:to>
                                    </p:set>
                                    <p:animEffect transition="in" filter="wipe(left)">
                                      <p:cBhvr>
                                        <p:cTn id="116" dur="500"/>
                                        <p:tgtEl>
                                          <p:spTgt spid="173061"/>
                                        </p:tgtEl>
                                      </p:cBhvr>
                                    </p:animEffect>
                                  </p:childTnLst>
                                </p:cTn>
                              </p:par>
                            </p:childTnLst>
                          </p:cTn>
                        </p:par>
                        <p:par>
                          <p:cTn id="117" fill="hold">
                            <p:stCondLst>
                              <p:cond delay="500"/>
                            </p:stCondLst>
                            <p:childTnLst>
                              <p:par>
                                <p:cTn id="118" presetID="22" presetClass="entr" presetSubtype="8" fill="hold" grpId="0" nodeType="afterEffect">
                                  <p:stCondLst>
                                    <p:cond delay="0"/>
                                  </p:stCondLst>
                                  <p:childTnLst>
                                    <p:set>
                                      <p:cBhvr>
                                        <p:cTn id="119" dur="1" fill="hold">
                                          <p:stCondLst>
                                            <p:cond delay="0"/>
                                          </p:stCondLst>
                                        </p:cTn>
                                        <p:tgtEl>
                                          <p:spTgt spid="7"/>
                                        </p:tgtEl>
                                        <p:attrNameLst>
                                          <p:attrName>style.visibility</p:attrName>
                                        </p:attrNameLst>
                                      </p:cBhvr>
                                      <p:to>
                                        <p:strVal val="visible"/>
                                      </p:to>
                                    </p:set>
                                    <p:animEffect transition="in" filter="wipe(left)">
                                      <p:cBhvr>
                                        <p:cTn id="120" dur="500"/>
                                        <p:tgtEl>
                                          <p:spTgt spid="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73063"/>
                                        </p:tgtEl>
                                        <p:attrNameLst>
                                          <p:attrName>style.visibility</p:attrName>
                                        </p:attrNameLst>
                                      </p:cBhvr>
                                      <p:to>
                                        <p:strVal val="visible"/>
                                      </p:to>
                                    </p:set>
                                    <p:animEffect transition="in" filter="wipe(left)">
                                      <p:cBhvr>
                                        <p:cTn id="125" dur="500"/>
                                        <p:tgtEl>
                                          <p:spTgt spid="173063"/>
                                        </p:tgtEl>
                                      </p:cBhvr>
                                    </p:animEffect>
                                  </p:childTnLst>
                                </p:cTn>
                              </p:par>
                            </p:childTnLst>
                          </p:cTn>
                        </p:par>
                        <p:par>
                          <p:cTn id="126" fill="hold">
                            <p:stCondLst>
                              <p:cond delay="500"/>
                            </p:stCondLst>
                            <p:childTnLst>
                              <p:par>
                                <p:cTn id="127" presetID="22" presetClass="entr" presetSubtype="8" fill="hold" grpId="0" nodeType="afterEffect">
                                  <p:stCondLst>
                                    <p:cond delay="0"/>
                                  </p:stCondLst>
                                  <p:childTnLst>
                                    <p:set>
                                      <p:cBhvr>
                                        <p:cTn id="128" dur="1" fill="hold">
                                          <p:stCondLst>
                                            <p:cond delay="0"/>
                                          </p:stCondLst>
                                        </p:cTn>
                                        <p:tgtEl>
                                          <p:spTgt spid="8"/>
                                        </p:tgtEl>
                                        <p:attrNameLst>
                                          <p:attrName>style.visibility</p:attrName>
                                        </p:attrNameLst>
                                      </p:cBhvr>
                                      <p:to>
                                        <p:strVal val="visible"/>
                                      </p:to>
                                    </p:set>
                                    <p:animEffect transition="in" filter="wipe(left)">
                                      <p:cBhvr>
                                        <p:cTn id="1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20" grpId="0"/>
      <p:bldP spid="173059" grpId="0" animBg="1"/>
      <p:bldP spid="173060" grpId="0" animBg="1"/>
      <p:bldP spid="173061" grpId="0" animBg="1"/>
      <p:bldP spid="173063" grpId="0" animBg="1"/>
      <p:bldP spid="173064" grpId="0" animBg="1"/>
      <p:bldP spid="405556" grpId="0" animBg="1"/>
      <p:bldP spid="173077" grpId="0" animBg="1"/>
      <p:bldP spid="173079"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p:cNvSpPr>
            <a:spLocks noGrp="1" noChangeArrowheads="1"/>
          </p:cNvSpPr>
          <p:nvPr>
            <p:ph type="ctrTitle"/>
          </p:nvPr>
        </p:nvSpPr>
        <p:spPr/>
        <p:txBody>
          <a:bodyPr/>
          <a:lstStyle/>
          <a:p>
            <a:r>
              <a:rPr lang="en-US" altLang="zh-CN"/>
              <a:t>10.1  </a:t>
            </a:r>
            <a:r>
              <a:rPr lang="zh-CN" altLang="en-US"/>
              <a:t>事务机制</a:t>
            </a:r>
            <a:endParaRPr lang="en-US" altLang="zh-CN"/>
          </a:p>
        </p:txBody>
      </p:sp>
      <p:sp>
        <p:nvSpPr>
          <p:cNvPr id="402435" name="Rectangle 3"/>
          <p:cNvSpPr>
            <a:spLocks noGrp="1" noChangeArrowheads="1"/>
          </p:cNvSpPr>
          <p:nvPr>
            <p:ph type="subTitle" idx="1"/>
          </p:nvPr>
        </p:nvSpPr>
        <p:spPr>
          <a:xfrm>
            <a:off x="1474788" y="3140075"/>
            <a:ext cx="5905500" cy="792163"/>
          </a:xfrm>
        </p:spPr>
        <p:txBody>
          <a:bodyPr/>
          <a:lstStyle/>
          <a:p>
            <a:endParaRPr lang="zh-CN" altLang="en-US"/>
          </a:p>
        </p:txBody>
      </p:sp>
      <p:sp>
        <p:nvSpPr>
          <p:cNvPr id="402436" name="Rectangle 4"/>
          <p:cNvSpPr>
            <a:spLocks noChangeArrowheads="1"/>
          </p:cNvSpPr>
          <p:nvPr/>
        </p:nvSpPr>
        <p:spPr bwMode="auto">
          <a:xfrm>
            <a:off x="71438" y="80963"/>
            <a:ext cx="46450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800" b="1">
                <a:solidFill>
                  <a:srgbClr val="993300"/>
                </a:solidFill>
                <a:effectLst>
                  <a:outerShdw blurRad="38100" dist="38100" dir="2700000" algn="tl">
                    <a:srgbClr val="000000"/>
                  </a:outerShdw>
                </a:effectLst>
                <a:ea typeface="隶书" panose="02010509060101010101" pitchFamily="49" charset="-122"/>
              </a:rPr>
              <a:t>第</a:t>
            </a:r>
            <a:r>
              <a:rPr lang="en-US" altLang="zh-CN" sz="2800" b="1">
                <a:solidFill>
                  <a:srgbClr val="993300"/>
                </a:solidFill>
                <a:effectLst>
                  <a:outerShdw blurRad="38100" dist="38100" dir="2700000" algn="tl">
                    <a:srgbClr val="000000"/>
                  </a:outerShdw>
                </a:effectLst>
                <a:ea typeface="隶书" panose="02010509060101010101" pitchFamily="49" charset="-122"/>
              </a:rPr>
              <a:t>10</a:t>
            </a:r>
            <a:r>
              <a:rPr lang="zh-CN" altLang="en-US" sz="2800" b="1">
                <a:solidFill>
                  <a:srgbClr val="993300"/>
                </a:solidFill>
                <a:effectLst>
                  <a:outerShdw blurRad="38100" dist="38100" dir="2700000" algn="tl">
                    <a:srgbClr val="000000"/>
                  </a:outerShdw>
                </a:effectLst>
                <a:ea typeface="隶书" panose="02010509060101010101" pitchFamily="49" charset="-122"/>
              </a:rPr>
              <a:t>章  数据库保护技术</a:t>
            </a:r>
          </a:p>
        </p:txBody>
      </p:sp>
    </p:spTree>
  </p:cSld>
  <p:clrMapOvr>
    <a:masterClrMapping/>
  </p:clrMapOvr>
  <p:transition advTm="786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02436"/>
                                        </p:tgtEl>
                                        <p:attrNameLst>
                                          <p:attrName>style.visibility</p:attrName>
                                        </p:attrNameLst>
                                      </p:cBhvr>
                                      <p:to>
                                        <p:strVal val="visible"/>
                                      </p:to>
                                    </p:set>
                                    <p:animEffect transition="in" filter="box(out)">
                                      <p:cBhvr>
                                        <p:cTn id="7" dur="1000"/>
                                        <p:tgtEl>
                                          <p:spTgt spid="402436"/>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402434"/>
                                        </p:tgtEl>
                                        <p:attrNameLst>
                                          <p:attrName>style.visibility</p:attrName>
                                        </p:attrNameLst>
                                      </p:cBhvr>
                                      <p:to>
                                        <p:strVal val="visible"/>
                                      </p:to>
                                    </p:set>
                                    <p:animEffect transition="in" filter="plus(in)">
                                      <p:cBhvr>
                                        <p:cTn id="11" dur="1000"/>
                                        <p:tgtEl>
                                          <p:spTgt spid="402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4" grpId="0"/>
      <p:bldP spid="4024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8" name="Rectangle 4"/>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一、事务的概念及其特性</a:t>
            </a:r>
            <a:endParaRPr lang="en-US" altLang="zh-CN" sz="3200">
              <a:latin typeface="仿宋_GB2312" pitchFamily="49" charset="-122"/>
              <a:ea typeface="幼圆" panose="02010509060101010101" pitchFamily="49" charset="-122"/>
            </a:endParaRPr>
          </a:p>
        </p:txBody>
      </p:sp>
      <p:sp>
        <p:nvSpPr>
          <p:cNvPr id="262152" name="AutoShape 13"/>
          <p:cNvSpPr>
            <a:spLocks noChangeArrowheads="1"/>
          </p:cNvSpPr>
          <p:nvPr/>
        </p:nvSpPr>
        <p:spPr bwMode="auto">
          <a:xfrm>
            <a:off x="801688" y="1762125"/>
            <a:ext cx="7370762" cy="3971925"/>
          </a:xfrm>
          <a:prstGeom prst="roundRect">
            <a:avLst>
              <a:gd name="adj" fmla="val 4639"/>
            </a:avLst>
          </a:prstGeom>
          <a:gradFill rotWithShape="1">
            <a:gsLst>
              <a:gs pos="0">
                <a:srgbClr val="FDFDFD"/>
              </a:gs>
              <a:gs pos="100000">
                <a:srgbClr val="D7D7D7"/>
              </a:gs>
            </a:gsLst>
            <a:lin ang="5400000" scaled="1"/>
          </a:gradFill>
          <a:ln w="19050">
            <a:solidFill>
              <a:srgbClr val="C0C0C0"/>
            </a:solidFill>
            <a:round/>
          </a:ln>
          <a:effectLst>
            <a:outerShdw dist="53882" dir="2700000" algn="ctr" rotWithShape="0">
              <a:srgbClr val="292929">
                <a:alpha val="50000"/>
              </a:srgbClr>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nvGrpSpPr>
          <p:cNvPr id="262153" name="Group 9"/>
          <p:cNvGrpSpPr/>
          <p:nvPr/>
        </p:nvGrpSpPr>
        <p:grpSpPr bwMode="auto">
          <a:xfrm>
            <a:off x="1042988" y="1412875"/>
            <a:ext cx="3816350" cy="720725"/>
            <a:chOff x="657" y="1117"/>
            <a:chExt cx="1859" cy="392"/>
          </a:xfrm>
        </p:grpSpPr>
        <p:sp>
          <p:nvSpPr>
            <p:cNvPr id="262154" name="AutoShape 14"/>
            <p:cNvSpPr>
              <a:spLocks noChangeArrowheads="1"/>
            </p:cNvSpPr>
            <p:nvPr/>
          </p:nvSpPr>
          <p:spPr bwMode="auto">
            <a:xfrm>
              <a:off x="657" y="1117"/>
              <a:ext cx="1859" cy="392"/>
            </a:xfrm>
            <a:prstGeom prst="roundRect">
              <a:avLst>
                <a:gd name="adj" fmla="val 16667"/>
              </a:avLst>
            </a:prstGeom>
            <a:solidFill>
              <a:srgbClr val="009999"/>
            </a:solidFill>
            <a:ln w="38100">
              <a:solidFill>
                <a:srgbClr val="FFFFFF">
                  <a:alpha val="69019"/>
                </a:srgbClr>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62155" name="AutoShape 15"/>
            <p:cNvSpPr>
              <a:spLocks noChangeArrowheads="1"/>
            </p:cNvSpPr>
            <p:nvPr/>
          </p:nvSpPr>
          <p:spPr bwMode="auto">
            <a:xfrm>
              <a:off x="680" y="1129"/>
              <a:ext cx="1791" cy="124"/>
            </a:xfrm>
            <a:prstGeom prst="roundRect">
              <a:avLst>
                <a:gd name="adj" fmla="val 28356"/>
              </a:avLst>
            </a:prstGeom>
            <a:gradFill rotWithShape="1">
              <a:gsLst>
                <a:gs pos="0">
                  <a:srgbClr val="FFFFFF">
                    <a:alpha val="70000"/>
                  </a:srgbClr>
                </a:gs>
                <a:gs pos="100000">
                  <a:srgbClr val="009999">
                    <a:alpha val="7000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62156" name="Rectangle 16"/>
            <p:cNvSpPr>
              <a:spLocks noChangeArrowheads="1"/>
            </p:cNvSpPr>
            <p:nvPr/>
          </p:nvSpPr>
          <p:spPr bwMode="auto">
            <a:xfrm>
              <a:off x="703" y="1162"/>
              <a:ext cx="1768" cy="31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FFFF99"/>
                  </a:solidFill>
                  <a:effectLst>
                    <a:outerShdw blurRad="38100" dist="38100" dir="2700000" algn="tl">
                      <a:srgbClr val="C0C0C0"/>
                    </a:outerShdw>
                  </a:effectLst>
                  <a:latin typeface="Tahoma" panose="020B0604030504040204" pitchFamily="34" charset="0"/>
                  <a:ea typeface="华文中宋" panose="02010600040101010101" pitchFamily="2" charset="-122"/>
                </a:rPr>
                <a:t>事务的基本概念</a:t>
              </a:r>
              <a:endParaRPr kumimoji="0" lang="zh-CN" altLang="zh-CN" sz="3200" b="1">
                <a:solidFill>
                  <a:srgbClr val="FFFF99"/>
                </a:solidFill>
                <a:effectLst>
                  <a:outerShdw blurRad="38100" dist="38100" dir="2700000" algn="tl">
                    <a:srgbClr val="C0C0C0"/>
                  </a:outerShdw>
                </a:effectLst>
                <a:latin typeface="Tahoma" panose="020B0604030504040204" pitchFamily="34" charset="0"/>
                <a:ea typeface="华文中宋" panose="02010600040101010101" pitchFamily="2" charset="-122"/>
              </a:endParaRPr>
            </a:p>
          </p:txBody>
        </p:sp>
      </p:grpSp>
      <p:sp>
        <p:nvSpPr>
          <p:cNvPr id="262157" name="Text Box 18"/>
          <p:cNvSpPr txBox="1">
            <a:spLocks noChangeArrowheads="1"/>
          </p:cNvSpPr>
          <p:nvPr/>
        </p:nvSpPr>
        <p:spPr bwMode="auto">
          <a:xfrm>
            <a:off x="946150" y="2430463"/>
            <a:ext cx="7154863" cy="25717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20000"/>
              </a:lnSpc>
              <a:spcBef>
                <a:spcPct val="50000"/>
              </a:spcBef>
            </a:pPr>
            <a:r>
              <a:rPr kumimoji="0" lang="zh-CN" altLang="en-US" sz="2800" b="1">
                <a:effectLst>
                  <a:outerShdw blurRad="38100" dist="38100" dir="2700000" algn="tl">
                    <a:srgbClr val="C0C0C0"/>
                  </a:outerShdw>
                </a:effectLst>
                <a:latin typeface="Tahoma" panose="020B0604030504040204" pitchFamily="34" charset="0"/>
                <a:ea typeface="楷体_GB2312" pitchFamily="49" charset="-122"/>
              </a:rPr>
              <a:t>        </a:t>
            </a:r>
            <a:r>
              <a:rPr kumimoji="0" lang="zh-CN" altLang="zh-CN" sz="2800" b="1">
                <a:effectLst>
                  <a:outerShdw blurRad="38100" dist="38100" dir="2700000" algn="tl">
                    <a:srgbClr val="C0C0C0"/>
                  </a:outerShdw>
                </a:effectLst>
                <a:latin typeface="Tahoma" panose="020B0604030504040204" pitchFamily="34" charset="0"/>
                <a:ea typeface="楷体_GB2312" pitchFamily="49" charset="-122"/>
              </a:rPr>
              <a:t>形成一个逻辑工作单位的数据库SQL操作语句序列，称为</a:t>
            </a:r>
            <a:r>
              <a:rPr kumimoji="0" lang="zh-CN" altLang="zh-CN" sz="2800" b="1">
                <a:effectLst>
                  <a:outerShdw blurRad="38100" dist="38100" dir="2700000" algn="tl">
                    <a:srgbClr val="C0C0C0"/>
                  </a:outerShdw>
                </a:effectLst>
                <a:latin typeface="Arial" panose="020B0604020202020204" pitchFamily="34" charset="0"/>
                <a:ea typeface="楷体_GB2312" pitchFamily="49" charset="-122"/>
              </a:rPr>
              <a:t>“</a:t>
            </a:r>
            <a:r>
              <a:rPr kumimoji="0" lang="zh-CN" altLang="zh-CN" sz="2800" b="1">
                <a:effectLst>
                  <a:outerShdw blurRad="38100" dist="38100" dir="2700000" algn="tl">
                    <a:srgbClr val="C0C0C0"/>
                  </a:outerShdw>
                </a:effectLst>
                <a:latin typeface="Tahoma" panose="020B0604030504040204" pitchFamily="34" charset="0"/>
                <a:ea typeface="楷体_GB2312" pitchFamily="49" charset="-122"/>
              </a:rPr>
              <a:t>事务</a:t>
            </a:r>
            <a:r>
              <a:rPr kumimoji="0" lang="zh-CN" altLang="zh-CN" sz="2800" b="1">
                <a:effectLst>
                  <a:outerShdw blurRad="38100" dist="38100" dir="2700000" algn="tl">
                    <a:srgbClr val="C0C0C0"/>
                  </a:outerShdw>
                </a:effectLst>
                <a:latin typeface="Arial" panose="020B0604020202020204" pitchFamily="34" charset="0"/>
                <a:ea typeface="楷体_GB2312" pitchFamily="49" charset="-122"/>
              </a:rPr>
              <a:t>”</a:t>
            </a:r>
            <a:r>
              <a:rPr kumimoji="0" lang="zh-CN" altLang="zh-CN" sz="2800" b="1">
                <a:effectLst>
                  <a:outerShdw blurRad="38100" dist="38100" dir="2700000" algn="tl">
                    <a:srgbClr val="C0C0C0"/>
                  </a:outerShdw>
                </a:effectLst>
                <a:latin typeface="Tahoma" panose="020B0604030504040204" pitchFamily="34" charset="0"/>
                <a:ea typeface="楷体_GB2312" pitchFamily="49" charset="-122"/>
              </a:rPr>
              <a:t>。</a:t>
            </a:r>
            <a:endParaRPr kumimoji="0" lang="zh-CN" altLang="en-US" sz="2800" b="1">
              <a:effectLst>
                <a:outerShdw blurRad="38100" dist="38100" dir="2700000" algn="tl">
                  <a:srgbClr val="C0C0C0"/>
                </a:outerShdw>
              </a:effectLst>
              <a:latin typeface="Tahoma" panose="020B0604030504040204" pitchFamily="34" charset="0"/>
              <a:ea typeface="楷体_GB2312" pitchFamily="49" charset="-122"/>
            </a:endParaRPr>
          </a:p>
          <a:p>
            <a:pPr eaLnBrk="0" hangingPunct="0">
              <a:lnSpc>
                <a:spcPct val="120000"/>
              </a:lnSpc>
              <a:spcBef>
                <a:spcPct val="50000"/>
              </a:spcBef>
            </a:pPr>
            <a:r>
              <a:rPr kumimoji="0" lang="zh-CN" altLang="zh-CN" sz="2800" b="1">
                <a:effectLst>
                  <a:outerShdw blurRad="38100" dist="38100" dir="2700000" algn="tl">
                    <a:srgbClr val="C0C0C0"/>
                  </a:outerShdw>
                </a:effectLst>
                <a:latin typeface="Tahoma" panose="020B0604030504040204" pitchFamily="34" charset="0"/>
                <a:ea typeface="楷体_GB2312" pitchFamily="49" charset="-122"/>
              </a:rPr>
              <a:t> ①不可分割的工作单位</a:t>
            </a:r>
          </a:p>
          <a:p>
            <a:pPr eaLnBrk="0" hangingPunct="0">
              <a:lnSpc>
                <a:spcPct val="120000"/>
              </a:lnSpc>
              <a:spcBef>
                <a:spcPct val="50000"/>
              </a:spcBef>
            </a:pPr>
            <a:r>
              <a:rPr kumimoji="0" lang="zh-CN" altLang="zh-CN" sz="2800" b="1">
                <a:effectLst>
                  <a:outerShdw blurRad="38100" dist="38100" dir="2700000" algn="tl">
                    <a:srgbClr val="C0C0C0"/>
                  </a:outerShdw>
                </a:effectLst>
                <a:latin typeface="Tahoma" panose="020B0604030504040204" pitchFamily="34" charset="0"/>
                <a:ea typeface="楷体_GB2312" pitchFamily="49" charset="-122"/>
              </a:rPr>
              <a:t> ②DBS的主要意图就是执行事务</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005"/>
    </mc:Choice>
    <mc:Fallback xmlns="">
      <p:transition spd="slow" advTm="280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62153"/>
                                        </p:tgtEl>
                                        <p:attrNameLst>
                                          <p:attrName>style.visibility</p:attrName>
                                        </p:attrNameLst>
                                      </p:cBhvr>
                                      <p:to>
                                        <p:strVal val="visible"/>
                                      </p:to>
                                    </p:set>
                                    <p:animScale>
                                      <p:cBhvr>
                                        <p:cTn id="7" dur="1000" decel="50000" fill="hold">
                                          <p:stCondLst>
                                            <p:cond delay="0"/>
                                          </p:stCondLst>
                                        </p:cTn>
                                        <p:tgtEl>
                                          <p:spTgt spid="26215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62153"/>
                                        </p:tgtEl>
                                        <p:attrNameLst>
                                          <p:attrName>ppt_x</p:attrName>
                                          <p:attrName>ppt_y</p:attrName>
                                        </p:attrNameLst>
                                      </p:cBhvr>
                                    </p:animMotion>
                                    <p:animEffect transition="in" filter="fade">
                                      <p:cBhvr>
                                        <p:cTn id="9" dur="1000"/>
                                        <p:tgtEl>
                                          <p:spTgt spid="262153"/>
                                        </p:tgtEl>
                                      </p:cBhvr>
                                    </p:animEffect>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262152"/>
                                        </p:tgtEl>
                                        <p:attrNameLst>
                                          <p:attrName>style.visibility</p:attrName>
                                        </p:attrNameLst>
                                      </p:cBhvr>
                                      <p:to>
                                        <p:strVal val="visible"/>
                                      </p:to>
                                    </p:set>
                                    <p:animEffect transition="in" filter="wipe(up)">
                                      <p:cBhvr>
                                        <p:cTn id="13" dur="1000"/>
                                        <p:tgtEl>
                                          <p:spTgt spid="262152"/>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62157">
                                            <p:txEl>
                                              <p:pRg st="0" end="0"/>
                                            </p:txEl>
                                          </p:spTgt>
                                        </p:tgtEl>
                                        <p:attrNameLst>
                                          <p:attrName>style.visibility</p:attrName>
                                        </p:attrNameLst>
                                      </p:cBhvr>
                                      <p:to>
                                        <p:strVal val="visible"/>
                                      </p:to>
                                    </p:set>
                                    <p:anim calcmode="discrete" valueType="clr">
                                      <p:cBhvr override="childStyle">
                                        <p:cTn id="18" dur="80"/>
                                        <p:tgtEl>
                                          <p:spTgt spid="26215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62157">
                                            <p:txEl>
                                              <p:pRg st="0" end="0"/>
                                            </p:txEl>
                                          </p:spTgt>
                                        </p:tgtEl>
                                        <p:attrNameLst>
                                          <p:attrName>fillcolor</p:attrName>
                                        </p:attrNameLst>
                                      </p:cBhvr>
                                      <p:tavLst>
                                        <p:tav tm="0">
                                          <p:val>
                                            <p:clrVal>
                                              <a:schemeClr val="accent2"/>
                                            </p:clrVal>
                                          </p:val>
                                        </p:tav>
                                        <p:tav tm="50000">
                                          <p:val>
                                            <p:clrVal>
                                              <a:schemeClr val="hlink"/>
                                            </p:clrVal>
                                          </p:val>
                                        </p:tav>
                                      </p:tavLst>
                                    </p:anim>
                                    <p:set>
                                      <p:cBhvr>
                                        <p:cTn id="20" dur="80"/>
                                        <p:tgtEl>
                                          <p:spTgt spid="262157">
                                            <p:txEl>
                                              <p:pRg st="0" end="0"/>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grpId="0" nodeType="clickEffect">
                                  <p:stCondLst>
                                    <p:cond delay="0"/>
                                  </p:stCondLst>
                                  <p:iterate type="lt">
                                    <p:tmPct val="50000"/>
                                  </p:iterate>
                                  <p:childTnLst>
                                    <p:set>
                                      <p:cBhvr>
                                        <p:cTn id="24" dur="1" fill="hold">
                                          <p:stCondLst>
                                            <p:cond delay="0"/>
                                          </p:stCondLst>
                                        </p:cTn>
                                        <p:tgtEl>
                                          <p:spTgt spid="262157">
                                            <p:txEl>
                                              <p:pRg st="1" end="1"/>
                                            </p:txEl>
                                          </p:spTgt>
                                        </p:tgtEl>
                                        <p:attrNameLst>
                                          <p:attrName>style.visibility</p:attrName>
                                        </p:attrNameLst>
                                      </p:cBhvr>
                                      <p:to>
                                        <p:strVal val="visible"/>
                                      </p:to>
                                    </p:set>
                                    <p:anim calcmode="discrete" valueType="clr">
                                      <p:cBhvr override="childStyle">
                                        <p:cTn id="25" dur="80"/>
                                        <p:tgtEl>
                                          <p:spTgt spid="26215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262157">
                                            <p:txEl>
                                              <p:pRg st="1" end="1"/>
                                            </p:txEl>
                                          </p:spTgt>
                                        </p:tgtEl>
                                        <p:attrNameLst>
                                          <p:attrName>fillcolor</p:attrName>
                                        </p:attrNameLst>
                                      </p:cBhvr>
                                      <p:tavLst>
                                        <p:tav tm="0">
                                          <p:val>
                                            <p:clrVal>
                                              <a:schemeClr val="accent2"/>
                                            </p:clrVal>
                                          </p:val>
                                        </p:tav>
                                        <p:tav tm="50000">
                                          <p:val>
                                            <p:clrVal>
                                              <a:schemeClr val="hlink"/>
                                            </p:clrVal>
                                          </p:val>
                                        </p:tav>
                                      </p:tavLst>
                                    </p:anim>
                                    <p:set>
                                      <p:cBhvr>
                                        <p:cTn id="27" dur="80"/>
                                        <p:tgtEl>
                                          <p:spTgt spid="262157">
                                            <p:txEl>
                                              <p:pRg st="1" end="1"/>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262157">
                                            <p:txEl>
                                              <p:pRg st="2" end="2"/>
                                            </p:txEl>
                                          </p:spTgt>
                                        </p:tgtEl>
                                        <p:attrNameLst>
                                          <p:attrName>style.visibility</p:attrName>
                                        </p:attrNameLst>
                                      </p:cBhvr>
                                      <p:to>
                                        <p:strVal val="visible"/>
                                      </p:to>
                                    </p:set>
                                    <p:anim calcmode="discrete" valueType="clr">
                                      <p:cBhvr override="childStyle">
                                        <p:cTn id="32" dur="80"/>
                                        <p:tgtEl>
                                          <p:spTgt spid="26215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262157">
                                            <p:txEl>
                                              <p:pRg st="2" end="2"/>
                                            </p:txEl>
                                          </p:spTgt>
                                        </p:tgtEl>
                                        <p:attrNameLst>
                                          <p:attrName>fillcolor</p:attrName>
                                        </p:attrNameLst>
                                      </p:cBhvr>
                                      <p:tavLst>
                                        <p:tav tm="0">
                                          <p:val>
                                            <p:clrVal>
                                              <a:schemeClr val="accent2"/>
                                            </p:clrVal>
                                          </p:val>
                                        </p:tav>
                                        <p:tav tm="50000">
                                          <p:val>
                                            <p:clrVal>
                                              <a:schemeClr val="hlink"/>
                                            </p:clrVal>
                                          </p:val>
                                        </p:tav>
                                      </p:tavLst>
                                    </p:anim>
                                    <p:set>
                                      <p:cBhvr>
                                        <p:cTn id="34" dur="80"/>
                                        <p:tgtEl>
                                          <p:spTgt spid="262157">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2" grpId="0" animBg="1"/>
      <p:bldP spid="26215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2" name="Rectangle 4"/>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一、事务的概念及其特性</a:t>
            </a:r>
          </a:p>
        </p:txBody>
      </p:sp>
      <p:grpSp>
        <p:nvGrpSpPr>
          <p:cNvPr id="263178" name="Group 10"/>
          <p:cNvGrpSpPr/>
          <p:nvPr/>
        </p:nvGrpSpPr>
        <p:grpSpPr bwMode="auto">
          <a:xfrm>
            <a:off x="684213" y="1341438"/>
            <a:ext cx="3887787" cy="792162"/>
            <a:chOff x="3242" y="1117"/>
            <a:chExt cx="1906" cy="408"/>
          </a:xfrm>
        </p:grpSpPr>
        <p:grpSp>
          <p:nvGrpSpPr>
            <p:cNvPr id="263179" name="Group 5"/>
            <p:cNvGrpSpPr/>
            <p:nvPr/>
          </p:nvGrpSpPr>
          <p:grpSpPr bwMode="auto">
            <a:xfrm>
              <a:off x="3242" y="1117"/>
              <a:ext cx="1906" cy="408"/>
              <a:chOff x="0" y="0"/>
              <a:chExt cx="1484" cy="330"/>
            </a:xfrm>
          </p:grpSpPr>
          <p:sp>
            <p:nvSpPr>
              <p:cNvPr id="263180" name="AutoShape 6"/>
              <p:cNvSpPr>
                <a:spLocks noChangeArrowheads="1"/>
              </p:cNvSpPr>
              <p:nvPr/>
            </p:nvSpPr>
            <p:spPr bwMode="auto">
              <a:xfrm>
                <a:off x="0" y="0"/>
                <a:ext cx="1484" cy="330"/>
              </a:xfrm>
              <a:prstGeom prst="roundRect">
                <a:avLst>
                  <a:gd name="adj" fmla="val 16667"/>
                </a:avLst>
              </a:prstGeom>
              <a:solidFill>
                <a:srgbClr val="FFFF66"/>
              </a:solidFill>
              <a:ln w="38100">
                <a:solidFill>
                  <a:srgbClr val="FFFFFF">
                    <a:alpha val="69019"/>
                  </a:srgbClr>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63181" name="AutoShape 7"/>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FFFF66">
                      <a:alpha val="7000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263182" name="Rectangle 16"/>
            <p:cNvSpPr>
              <a:spLocks noChangeArrowheads="1"/>
            </p:cNvSpPr>
            <p:nvPr/>
          </p:nvSpPr>
          <p:spPr bwMode="auto">
            <a:xfrm>
              <a:off x="3289" y="1162"/>
              <a:ext cx="1768" cy="29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事务的</a:t>
              </a:r>
              <a:r>
                <a:rPr kumimoji="0" lang="en-US"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ACID</a:t>
              </a: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特性</a:t>
              </a:r>
              <a:endParaRPr kumimoji="0" lang="zh-CN"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endParaRPr>
            </a:p>
          </p:txBody>
        </p:sp>
      </p:grpSp>
      <p:sp>
        <p:nvSpPr>
          <p:cNvPr id="263187" name="Rectangle 19"/>
          <p:cNvSpPr>
            <a:spLocks noChangeArrowheads="1"/>
          </p:cNvSpPr>
          <p:nvPr/>
        </p:nvSpPr>
        <p:spPr bwMode="auto">
          <a:xfrm>
            <a:off x="684213" y="2349500"/>
            <a:ext cx="19510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、原子性</a:t>
            </a:r>
          </a:p>
        </p:txBody>
      </p:sp>
      <p:sp>
        <p:nvSpPr>
          <p:cNvPr id="263188" name="AutoShape 4"/>
          <p:cNvSpPr>
            <a:spLocks noChangeArrowheads="1"/>
          </p:cNvSpPr>
          <p:nvPr/>
        </p:nvSpPr>
        <p:spPr bwMode="auto">
          <a:xfrm>
            <a:off x="1403350" y="5229225"/>
            <a:ext cx="6551613" cy="865188"/>
          </a:xfrm>
          <a:prstGeom prst="roundRect">
            <a:avLst>
              <a:gd name="adj" fmla="val 7861"/>
            </a:avLst>
          </a:prstGeom>
          <a:solidFill>
            <a:srgbClr val="333399">
              <a:alpha val="29803"/>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7800A2"/>
                </a:solidFill>
                <a:effectLst>
                  <a:outerShdw blurRad="38100" dist="38100" dir="2700000" algn="tl">
                    <a:srgbClr val="000000"/>
                  </a:outerShdw>
                </a:effectLst>
                <a:latin typeface="华文中宋" panose="02010600040101010101" pitchFamily="2" charset="-122"/>
                <a:ea typeface="华文中宋" panose="02010600040101010101" pitchFamily="2" charset="-122"/>
                <a:cs typeface="Times New Roman" panose="02020603050405020304" pitchFamily="18" charset="0"/>
              </a:rPr>
              <a:t>实现：</a:t>
            </a:r>
            <a:r>
              <a:rPr kumimoji="0" lang="en-US" altLang="zh-CN" sz="2800" b="1">
                <a:effectLst>
                  <a:outerShdw blurRad="38100" dist="38100" dir="2700000" algn="tl">
                    <a:srgbClr val="FFFFFF"/>
                  </a:outerShdw>
                </a:effectLst>
                <a:latin typeface="华文中宋" panose="02010600040101010101" pitchFamily="2" charset="-122"/>
                <a:ea typeface="华文中宋" panose="02010600040101010101" pitchFamily="2" charset="-122"/>
                <a:cs typeface="Times New Roman" panose="02020603050405020304" pitchFamily="18" charset="0"/>
              </a:rPr>
              <a:t>DBMS</a:t>
            </a:r>
            <a:r>
              <a:rPr kumimoji="0" lang="zh-CN" altLang="en-US" sz="2800" b="1">
                <a:effectLst>
                  <a:outerShdw blurRad="38100" dist="38100" dir="2700000" algn="tl">
                    <a:srgbClr val="FFFFFF"/>
                  </a:outerShdw>
                </a:effectLst>
                <a:latin typeface="华文中宋" panose="02010600040101010101" pitchFamily="2" charset="-122"/>
                <a:ea typeface="华文中宋" panose="02010600040101010101" pitchFamily="2" charset="-122"/>
                <a:cs typeface="Times New Roman" panose="02020603050405020304" pitchFamily="18" charset="0"/>
              </a:rPr>
              <a:t>的事务管理子系统</a:t>
            </a:r>
          </a:p>
        </p:txBody>
      </p:sp>
      <p:sp>
        <p:nvSpPr>
          <p:cNvPr id="263189" name="AutoShape 21"/>
          <p:cNvSpPr>
            <a:spLocks noChangeArrowheads="1"/>
          </p:cNvSpPr>
          <p:nvPr/>
        </p:nvSpPr>
        <p:spPr bwMode="auto">
          <a:xfrm>
            <a:off x="757238" y="2997200"/>
            <a:ext cx="7775575" cy="20161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pPr>
            <a:r>
              <a:rPr lang="zh-CN" altLang="en-US" sz="2800" b="1">
                <a:effectLst>
                  <a:outerShdw blurRad="38100" dist="38100" dir="2700000" algn="tl">
                    <a:srgbClr val="C0C0C0"/>
                  </a:outerShdw>
                </a:effectLst>
                <a:latin typeface="Tahoma" panose="020B0604030504040204" pitchFamily="34" charset="0"/>
              </a:rPr>
              <a:t>        一个事务中所有对数据库的操作，</a:t>
            </a:r>
            <a:r>
              <a:rPr lang="zh-CN" altLang="en-US" sz="2800" b="1">
                <a:solidFill>
                  <a:srgbClr val="FF095B"/>
                </a:solidFill>
                <a:effectLst>
                  <a:outerShdw blurRad="38100" dist="38100" dir="2700000" algn="tl">
                    <a:srgbClr val="C0C0C0"/>
                  </a:outerShdw>
                </a:effectLst>
                <a:latin typeface="Tahoma" panose="020B0604030504040204" pitchFamily="34" charset="0"/>
              </a:rPr>
              <a:t>是一个不可分割的操作序列</a:t>
            </a:r>
            <a:r>
              <a:rPr lang="zh-CN" altLang="en-US" sz="2800" b="1">
                <a:effectLst>
                  <a:outerShdw blurRad="38100" dist="38100" dir="2700000" algn="tl">
                    <a:srgbClr val="C0C0C0"/>
                  </a:outerShdw>
                </a:effectLst>
                <a:latin typeface="Tahoma" panose="020B0604030504040204" pitchFamily="34" charset="0"/>
              </a:rPr>
              <a:t>。这些操作要么全部执行，要么什么也不做。</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385"/>
    </mc:Choice>
    <mc:Fallback xmlns="">
      <p:transition spd="slow" advTm="5938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63178"/>
                                        </p:tgtEl>
                                        <p:attrNameLst>
                                          <p:attrName>style.visibility</p:attrName>
                                        </p:attrNameLst>
                                      </p:cBhvr>
                                      <p:to>
                                        <p:strVal val="visible"/>
                                      </p:to>
                                    </p:set>
                                    <p:animScale>
                                      <p:cBhvr>
                                        <p:cTn id="7" dur="1000" decel="50000" fill="hold">
                                          <p:stCondLst>
                                            <p:cond delay="0"/>
                                          </p:stCondLst>
                                        </p:cTn>
                                        <p:tgtEl>
                                          <p:spTgt spid="26317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63178"/>
                                        </p:tgtEl>
                                        <p:attrNameLst>
                                          <p:attrName>ppt_x</p:attrName>
                                          <p:attrName>ppt_y</p:attrName>
                                        </p:attrNameLst>
                                      </p:cBhvr>
                                    </p:animMotion>
                                    <p:animEffect transition="in" filter="fade">
                                      <p:cBhvr>
                                        <p:cTn id="9" dur="1000"/>
                                        <p:tgtEl>
                                          <p:spTgt spid="26317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63187"/>
                                        </p:tgtEl>
                                        <p:attrNameLst>
                                          <p:attrName>style.visibility</p:attrName>
                                        </p:attrNameLst>
                                      </p:cBhvr>
                                      <p:to>
                                        <p:strVal val="visible"/>
                                      </p:to>
                                    </p:set>
                                    <p:animEffect transition="in" filter="wipe(left)">
                                      <p:cBhvr>
                                        <p:cTn id="14" dur="500"/>
                                        <p:tgtEl>
                                          <p:spTgt spid="26318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63189"/>
                                        </p:tgtEl>
                                        <p:attrNameLst>
                                          <p:attrName>style.visibility</p:attrName>
                                        </p:attrNameLst>
                                      </p:cBhvr>
                                      <p:to>
                                        <p:strVal val="visible"/>
                                      </p:to>
                                    </p:set>
                                    <p:animEffect transition="in" filter="fade">
                                      <p:cBhvr>
                                        <p:cTn id="19" dur="1000"/>
                                        <p:tgtEl>
                                          <p:spTgt spid="263189"/>
                                        </p:tgtEl>
                                      </p:cBhvr>
                                    </p:animEffect>
                                    <p:anim calcmode="lin" valueType="num">
                                      <p:cBhvr>
                                        <p:cTn id="20" dur="1000" fill="hold"/>
                                        <p:tgtEl>
                                          <p:spTgt spid="263189"/>
                                        </p:tgtEl>
                                        <p:attrNameLst>
                                          <p:attrName>ppt_x</p:attrName>
                                        </p:attrNameLst>
                                      </p:cBhvr>
                                      <p:tavLst>
                                        <p:tav tm="0">
                                          <p:val>
                                            <p:strVal val="#ppt_x"/>
                                          </p:val>
                                        </p:tav>
                                        <p:tav tm="100000">
                                          <p:val>
                                            <p:strVal val="#ppt_x"/>
                                          </p:val>
                                        </p:tav>
                                      </p:tavLst>
                                    </p:anim>
                                    <p:anim calcmode="lin" valueType="num">
                                      <p:cBhvr>
                                        <p:cTn id="21" dur="1000" fill="hold"/>
                                        <p:tgtEl>
                                          <p:spTgt spid="26318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63188"/>
                                        </p:tgtEl>
                                        <p:attrNameLst>
                                          <p:attrName>style.visibility</p:attrName>
                                        </p:attrNameLst>
                                      </p:cBhvr>
                                      <p:to>
                                        <p:strVal val="visible"/>
                                      </p:to>
                                    </p:set>
                                    <p:animEffect transition="in" filter="slide(fromLeft)">
                                      <p:cBhvr>
                                        <p:cTn id="26" dur="500"/>
                                        <p:tgtEl>
                                          <p:spTgt spid="26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87" grpId="0"/>
      <p:bldP spid="263188" grpId="0" animBg="1"/>
      <p:bldP spid="2631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一、事务的概念及其特性</a:t>
            </a:r>
          </a:p>
        </p:txBody>
      </p:sp>
      <p:grpSp>
        <p:nvGrpSpPr>
          <p:cNvPr id="495619" name="Group 3"/>
          <p:cNvGrpSpPr/>
          <p:nvPr/>
        </p:nvGrpSpPr>
        <p:grpSpPr bwMode="auto">
          <a:xfrm>
            <a:off x="684213" y="1341438"/>
            <a:ext cx="3887787" cy="792162"/>
            <a:chOff x="3242" y="1117"/>
            <a:chExt cx="1906" cy="408"/>
          </a:xfrm>
        </p:grpSpPr>
        <p:grpSp>
          <p:nvGrpSpPr>
            <p:cNvPr id="495620" name="Group 5"/>
            <p:cNvGrpSpPr/>
            <p:nvPr/>
          </p:nvGrpSpPr>
          <p:grpSpPr bwMode="auto">
            <a:xfrm>
              <a:off x="3242" y="1117"/>
              <a:ext cx="1906" cy="408"/>
              <a:chOff x="0" y="0"/>
              <a:chExt cx="1484" cy="330"/>
            </a:xfrm>
          </p:grpSpPr>
          <p:sp>
            <p:nvSpPr>
              <p:cNvPr id="495621" name="AutoShape 6"/>
              <p:cNvSpPr>
                <a:spLocks noChangeArrowheads="1"/>
              </p:cNvSpPr>
              <p:nvPr/>
            </p:nvSpPr>
            <p:spPr bwMode="auto">
              <a:xfrm>
                <a:off x="0" y="0"/>
                <a:ext cx="1484" cy="330"/>
              </a:xfrm>
              <a:prstGeom prst="roundRect">
                <a:avLst>
                  <a:gd name="adj" fmla="val 16667"/>
                </a:avLst>
              </a:prstGeom>
              <a:solidFill>
                <a:srgbClr val="FFFF66"/>
              </a:solidFill>
              <a:ln w="38100">
                <a:solidFill>
                  <a:srgbClr val="FFFFFF">
                    <a:alpha val="69019"/>
                  </a:srgbClr>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5622" name="AutoShape 7"/>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FFFF66">
                      <a:alpha val="7000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495623" name="Rectangle 16"/>
            <p:cNvSpPr>
              <a:spLocks noChangeArrowheads="1"/>
            </p:cNvSpPr>
            <p:nvPr/>
          </p:nvSpPr>
          <p:spPr bwMode="auto">
            <a:xfrm>
              <a:off x="3289" y="1162"/>
              <a:ext cx="1768" cy="29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事务的</a:t>
              </a:r>
              <a:r>
                <a:rPr kumimoji="0" lang="en-US"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ACID</a:t>
              </a: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特性</a:t>
              </a:r>
              <a:endParaRPr kumimoji="0" lang="zh-CN"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endParaRPr>
            </a:p>
          </p:txBody>
        </p:sp>
      </p:grpSp>
      <p:sp>
        <p:nvSpPr>
          <p:cNvPr id="495624" name="Rectangle 8"/>
          <p:cNvSpPr>
            <a:spLocks noChangeArrowheads="1"/>
          </p:cNvSpPr>
          <p:nvPr/>
        </p:nvSpPr>
        <p:spPr bwMode="auto">
          <a:xfrm>
            <a:off x="684213" y="2205038"/>
            <a:ext cx="19510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2、一致性</a:t>
            </a:r>
            <a:endPar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endParaRPr>
          </a:p>
        </p:txBody>
      </p:sp>
      <p:sp>
        <p:nvSpPr>
          <p:cNvPr id="495625" name="AutoShape 4"/>
          <p:cNvSpPr>
            <a:spLocks noChangeArrowheads="1"/>
          </p:cNvSpPr>
          <p:nvPr/>
        </p:nvSpPr>
        <p:spPr bwMode="auto">
          <a:xfrm>
            <a:off x="1908175" y="5443538"/>
            <a:ext cx="5688013" cy="865187"/>
          </a:xfrm>
          <a:prstGeom prst="roundRect">
            <a:avLst>
              <a:gd name="adj" fmla="val 7861"/>
            </a:avLst>
          </a:prstGeom>
          <a:solidFill>
            <a:srgbClr val="333399">
              <a:alpha val="30000"/>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7800A2"/>
                </a:solidFill>
                <a:effectLst>
                  <a:outerShdw blurRad="38100" dist="38100" dir="2700000" algn="tl">
                    <a:srgbClr val="000000"/>
                  </a:outerShdw>
                </a:effectLst>
                <a:latin typeface="Arial" panose="020B0604020202020204" pitchFamily="34" charset="0"/>
                <a:ea typeface="华文中宋" panose="02010600040101010101" pitchFamily="2" charset="-122"/>
                <a:cs typeface="Times New Roman" panose="02020603050405020304" pitchFamily="18" charset="0"/>
              </a:rPr>
              <a:t>实现：</a:t>
            </a:r>
            <a:r>
              <a:rPr kumimoji="0" lang="zh-CN" altLang="en-US" sz="2800" b="1">
                <a:effectLst>
                  <a:outerShdw blurRad="38100" dist="38100" dir="2700000" algn="tl">
                    <a:srgbClr val="FFFFFF"/>
                  </a:outerShdw>
                </a:effectLst>
                <a:latin typeface="Arial" panose="020B0604020202020204" pitchFamily="34" charset="0"/>
                <a:ea typeface="华文中宋" panose="02010600040101010101" pitchFamily="2" charset="-122"/>
                <a:cs typeface="Times New Roman" panose="02020603050405020304" pitchFamily="18" charset="0"/>
              </a:rPr>
              <a:t>完整性控制子系统</a:t>
            </a:r>
          </a:p>
        </p:txBody>
      </p:sp>
      <p:sp>
        <p:nvSpPr>
          <p:cNvPr id="495626" name="AutoShape 10"/>
          <p:cNvSpPr>
            <a:spLocks noChangeArrowheads="1"/>
          </p:cNvSpPr>
          <p:nvPr/>
        </p:nvSpPr>
        <p:spPr bwMode="auto">
          <a:xfrm>
            <a:off x="757238" y="2852738"/>
            <a:ext cx="7775575" cy="2305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pPr>
            <a:r>
              <a:rPr lang="zh-CN" altLang="en-US" sz="2800" b="1">
                <a:effectLst>
                  <a:outerShdw blurRad="38100" dist="38100" dir="2700000" algn="tl">
                    <a:srgbClr val="C0C0C0"/>
                  </a:outerShdw>
                </a:effectLst>
                <a:latin typeface="Tahoma" panose="020B0604030504040204" pitchFamily="34" charset="0"/>
              </a:rPr>
              <a:t>        一致性表示无论数据库系统中的事务执行成功与否，无论系统处于何种状态，都能</a:t>
            </a:r>
            <a:r>
              <a:rPr lang="zh-CN" altLang="en-US" sz="2800" b="1">
                <a:solidFill>
                  <a:srgbClr val="FF095B"/>
                </a:solidFill>
                <a:effectLst>
                  <a:outerShdw blurRad="38100" dist="38100" dir="2700000" algn="tl">
                    <a:srgbClr val="C0C0C0"/>
                  </a:outerShdw>
                </a:effectLst>
                <a:latin typeface="Tahoma" panose="020B0604030504040204" pitchFamily="34" charset="0"/>
              </a:rPr>
              <a:t>保证数据库中的数据始终处于一致状态</a:t>
            </a:r>
            <a:r>
              <a:rPr lang="zh-CN" altLang="en-US" sz="2800" b="1">
                <a:effectLst>
                  <a:outerShdw blurRad="38100" dist="38100" dir="2700000" algn="tl">
                    <a:srgbClr val="C0C0C0"/>
                  </a:outerShdw>
                </a:effectLst>
                <a:latin typeface="Tahoma" panose="020B0604030504040204" pitchFamily="34" charset="0"/>
              </a:rPr>
              <a:t>。即数据库中的数据始终保持正确的状态。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466"/>
    </mc:Choice>
    <mc:Fallback xmlns="">
      <p:transition spd="slow" advTm="274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5624"/>
                                        </p:tgtEl>
                                        <p:attrNameLst>
                                          <p:attrName>style.visibility</p:attrName>
                                        </p:attrNameLst>
                                      </p:cBhvr>
                                      <p:to>
                                        <p:strVal val="visible"/>
                                      </p:to>
                                    </p:set>
                                    <p:animEffect transition="in" filter="wipe(left)">
                                      <p:cBhvr>
                                        <p:cTn id="7" dur="500"/>
                                        <p:tgtEl>
                                          <p:spTgt spid="49562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95626"/>
                                        </p:tgtEl>
                                        <p:attrNameLst>
                                          <p:attrName>style.visibility</p:attrName>
                                        </p:attrNameLst>
                                      </p:cBhvr>
                                      <p:to>
                                        <p:strVal val="visible"/>
                                      </p:to>
                                    </p:set>
                                    <p:animEffect transition="in" filter="fade">
                                      <p:cBhvr>
                                        <p:cTn id="12" dur="1000"/>
                                        <p:tgtEl>
                                          <p:spTgt spid="495626"/>
                                        </p:tgtEl>
                                      </p:cBhvr>
                                    </p:animEffect>
                                    <p:anim calcmode="lin" valueType="num">
                                      <p:cBhvr>
                                        <p:cTn id="13" dur="1000" fill="hold"/>
                                        <p:tgtEl>
                                          <p:spTgt spid="495626"/>
                                        </p:tgtEl>
                                        <p:attrNameLst>
                                          <p:attrName>ppt_x</p:attrName>
                                        </p:attrNameLst>
                                      </p:cBhvr>
                                      <p:tavLst>
                                        <p:tav tm="0">
                                          <p:val>
                                            <p:strVal val="#ppt_x"/>
                                          </p:val>
                                        </p:tav>
                                        <p:tav tm="100000">
                                          <p:val>
                                            <p:strVal val="#ppt_x"/>
                                          </p:val>
                                        </p:tav>
                                      </p:tavLst>
                                    </p:anim>
                                    <p:anim calcmode="lin" valueType="num">
                                      <p:cBhvr>
                                        <p:cTn id="14" dur="1000" fill="hold"/>
                                        <p:tgtEl>
                                          <p:spTgt spid="49562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95625"/>
                                        </p:tgtEl>
                                        <p:attrNameLst>
                                          <p:attrName>style.visibility</p:attrName>
                                        </p:attrNameLst>
                                      </p:cBhvr>
                                      <p:to>
                                        <p:strVal val="visible"/>
                                      </p:to>
                                    </p:set>
                                    <p:animEffect transition="in" filter="slide(fromLeft)">
                                      <p:cBhvr>
                                        <p:cTn id="19" dur="500"/>
                                        <p:tgtEl>
                                          <p:spTgt spid="495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24" grpId="0"/>
      <p:bldP spid="495625" grpId="0" animBg="1"/>
      <p:bldP spid="4956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一、事务的概念及其特性</a:t>
            </a:r>
          </a:p>
        </p:txBody>
      </p:sp>
      <p:grpSp>
        <p:nvGrpSpPr>
          <p:cNvPr id="496643" name="Group 3"/>
          <p:cNvGrpSpPr/>
          <p:nvPr/>
        </p:nvGrpSpPr>
        <p:grpSpPr bwMode="auto">
          <a:xfrm>
            <a:off x="684213" y="1341438"/>
            <a:ext cx="3887787" cy="792162"/>
            <a:chOff x="3242" y="1117"/>
            <a:chExt cx="1906" cy="408"/>
          </a:xfrm>
        </p:grpSpPr>
        <p:grpSp>
          <p:nvGrpSpPr>
            <p:cNvPr id="496644" name="Group 5"/>
            <p:cNvGrpSpPr/>
            <p:nvPr/>
          </p:nvGrpSpPr>
          <p:grpSpPr bwMode="auto">
            <a:xfrm>
              <a:off x="3242" y="1117"/>
              <a:ext cx="1906" cy="408"/>
              <a:chOff x="0" y="0"/>
              <a:chExt cx="1484" cy="330"/>
            </a:xfrm>
          </p:grpSpPr>
          <p:sp>
            <p:nvSpPr>
              <p:cNvPr id="496645" name="AutoShape 6"/>
              <p:cNvSpPr>
                <a:spLocks noChangeArrowheads="1"/>
              </p:cNvSpPr>
              <p:nvPr/>
            </p:nvSpPr>
            <p:spPr bwMode="auto">
              <a:xfrm>
                <a:off x="0" y="0"/>
                <a:ext cx="1484" cy="330"/>
              </a:xfrm>
              <a:prstGeom prst="roundRect">
                <a:avLst>
                  <a:gd name="adj" fmla="val 16667"/>
                </a:avLst>
              </a:prstGeom>
              <a:solidFill>
                <a:srgbClr val="FFFF66"/>
              </a:solidFill>
              <a:ln w="38100">
                <a:solidFill>
                  <a:srgbClr val="FFFFFF">
                    <a:alpha val="69019"/>
                  </a:srgbClr>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6646" name="AutoShape 7"/>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FFFF66">
                      <a:alpha val="7000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496647" name="Rectangle 16"/>
            <p:cNvSpPr>
              <a:spLocks noChangeArrowheads="1"/>
            </p:cNvSpPr>
            <p:nvPr/>
          </p:nvSpPr>
          <p:spPr bwMode="auto">
            <a:xfrm>
              <a:off x="3289" y="1162"/>
              <a:ext cx="1768" cy="29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事务的</a:t>
              </a:r>
              <a:r>
                <a:rPr kumimoji="0" lang="en-US"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ACID</a:t>
              </a: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特性</a:t>
              </a:r>
              <a:endParaRPr kumimoji="0" lang="zh-CN"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endParaRPr>
            </a:p>
          </p:txBody>
        </p:sp>
      </p:grpSp>
      <p:sp>
        <p:nvSpPr>
          <p:cNvPr id="496648" name="Rectangle 8"/>
          <p:cNvSpPr>
            <a:spLocks noChangeArrowheads="1"/>
          </p:cNvSpPr>
          <p:nvPr/>
        </p:nvSpPr>
        <p:spPr bwMode="auto">
          <a:xfrm>
            <a:off x="684213" y="2205038"/>
            <a:ext cx="19510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3、隔离性</a:t>
            </a:r>
            <a:endPar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endParaRPr>
          </a:p>
        </p:txBody>
      </p:sp>
      <p:sp>
        <p:nvSpPr>
          <p:cNvPr id="496649" name="AutoShape 4"/>
          <p:cNvSpPr>
            <a:spLocks noChangeArrowheads="1"/>
          </p:cNvSpPr>
          <p:nvPr/>
        </p:nvSpPr>
        <p:spPr bwMode="auto">
          <a:xfrm>
            <a:off x="1476375" y="5445125"/>
            <a:ext cx="6480175" cy="863600"/>
          </a:xfrm>
          <a:prstGeom prst="roundRect">
            <a:avLst>
              <a:gd name="adj" fmla="val 7861"/>
            </a:avLst>
          </a:prstGeom>
          <a:solidFill>
            <a:srgbClr val="333399">
              <a:alpha val="30000"/>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7800A2"/>
                </a:solidFill>
                <a:effectLst>
                  <a:outerShdw blurRad="38100" dist="38100" dir="2700000" algn="tl">
                    <a:srgbClr val="000000"/>
                  </a:outerShdw>
                </a:effectLst>
                <a:latin typeface="Arial" panose="020B0604020202020204" pitchFamily="34" charset="0"/>
                <a:ea typeface="华文中宋" panose="02010600040101010101" pitchFamily="2" charset="-122"/>
                <a:cs typeface="Times New Roman" panose="02020603050405020304" pitchFamily="18" charset="0"/>
              </a:rPr>
              <a:t>实现：</a:t>
            </a:r>
            <a:r>
              <a:rPr kumimoji="0" lang="en-US" altLang="zh-CN" sz="2800" b="1">
                <a:effectLst>
                  <a:outerShdw blurRad="38100" dist="38100" dir="2700000" algn="tl">
                    <a:srgbClr val="FFFFFF"/>
                  </a:outerShdw>
                </a:effectLst>
                <a:latin typeface="Arial" panose="020B0604020202020204" pitchFamily="34" charset="0"/>
                <a:ea typeface="华文中宋" panose="02010600040101010101" pitchFamily="2" charset="-122"/>
                <a:cs typeface="Times New Roman" panose="02020603050405020304" pitchFamily="18" charset="0"/>
              </a:rPr>
              <a:t>DBMS</a:t>
            </a:r>
            <a:r>
              <a:rPr kumimoji="0" lang="zh-CN" altLang="en-US" sz="2800" b="1">
                <a:effectLst>
                  <a:outerShdw blurRad="38100" dist="38100" dir="2700000" algn="tl">
                    <a:srgbClr val="FFFFFF"/>
                  </a:outerShdw>
                </a:effectLst>
                <a:latin typeface="Arial" panose="020B0604020202020204" pitchFamily="34" charset="0"/>
                <a:ea typeface="华文中宋" panose="02010600040101010101" pitchFamily="2" charset="-122"/>
                <a:cs typeface="Times New Roman" panose="02020603050405020304" pitchFamily="18" charset="0"/>
              </a:rPr>
              <a:t>的并发控制子系统</a:t>
            </a:r>
          </a:p>
        </p:txBody>
      </p:sp>
      <p:sp>
        <p:nvSpPr>
          <p:cNvPr id="496650" name="AutoShape 10"/>
          <p:cNvSpPr>
            <a:spLocks noChangeArrowheads="1"/>
          </p:cNvSpPr>
          <p:nvPr/>
        </p:nvSpPr>
        <p:spPr bwMode="auto">
          <a:xfrm>
            <a:off x="611188" y="2852738"/>
            <a:ext cx="8064500" cy="2305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pPr>
            <a:r>
              <a:rPr lang="zh-CN" altLang="en-US" sz="2800" b="1">
                <a:effectLst>
                  <a:outerShdw blurRad="38100" dist="38100" dir="2700000" algn="tl">
                    <a:srgbClr val="C0C0C0"/>
                  </a:outerShdw>
                </a:effectLst>
                <a:latin typeface="Tahoma" panose="020B0604030504040204" pitchFamily="34" charset="0"/>
              </a:rPr>
              <a:t>        一个事务的执行不能被其他事务干扰，它的内部的操作及使用的数据对其它并发事务是隔离的，并发执行的各个事务之间可以同时运行而互不影响，如同在单用户环境下执行一样。</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546"/>
    </mc:Choice>
    <mc:Fallback xmlns="">
      <p:transition spd="slow" advTm="315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6648"/>
                                        </p:tgtEl>
                                        <p:attrNameLst>
                                          <p:attrName>style.visibility</p:attrName>
                                        </p:attrNameLst>
                                      </p:cBhvr>
                                      <p:to>
                                        <p:strVal val="visible"/>
                                      </p:to>
                                    </p:set>
                                    <p:animEffect transition="in" filter="wipe(left)">
                                      <p:cBhvr>
                                        <p:cTn id="7" dur="500"/>
                                        <p:tgtEl>
                                          <p:spTgt spid="49664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96650"/>
                                        </p:tgtEl>
                                        <p:attrNameLst>
                                          <p:attrName>style.visibility</p:attrName>
                                        </p:attrNameLst>
                                      </p:cBhvr>
                                      <p:to>
                                        <p:strVal val="visible"/>
                                      </p:to>
                                    </p:set>
                                    <p:animEffect transition="in" filter="fade">
                                      <p:cBhvr>
                                        <p:cTn id="12" dur="1000"/>
                                        <p:tgtEl>
                                          <p:spTgt spid="496650"/>
                                        </p:tgtEl>
                                      </p:cBhvr>
                                    </p:animEffect>
                                    <p:anim calcmode="lin" valueType="num">
                                      <p:cBhvr>
                                        <p:cTn id="13" dur="1000" fill="hold"/>
                                        <p:tgtEl>
                                          <p:spTgt spid="496650"/>
                                        </p:tgtEl>
                                        <p:attrNameLst>
                                          <p:attrName>ppt_x</p:attrName>
                                        </p:attrNameLst>
                                      </p:cBhvr>
                                      <p:tavLst>
                                        <p:tav tm="0">
                                          <p:val>
                                            <p:strVal val="#ppt_x"/>
                                          </p:val>
                                        </p:tav>
                                        <p:tav tm="100000">
                                          <p:val>
                                            <p:strVal val="#ppt_x"/>
                                          </p:val>
                                        </p:tav>
                                      </p:tavLst>
                                    </p:anim>
                                    <p:anim calcmode="lin" valueType="num">
                                      <p:cBhvr>
                                        <p:cTn id="14" dur="1000" fill="hold"/>
                                        <p:tgtEl>
                                          <p:spTgt spid="49665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96649"/>
                                        </p:tgtEl>
                                        <p:attrNameLst>
                                          <p:attrName>style.visibility</p:attrName>
                                        </p:attrNameLst>
                                      </p:cBhvr>
                                      <p:to>
                                        <p:strVal val="visible"/>
                                      </p:to>
                                    </p:set>
                                    <p:animEffect transition="in" filter="slide(fromLeft)">
                                      <p:cBhvr>
                                        <p:cTn id="19" dur="500"/>
                                        <p:tgtEl>
                                          <p:spTgt spid="496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8" grpId="0"/>
      <p:bldP spid="496649" grpId="0" animBg="1"/>
      <p:bldP spid="4966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一、事务的概念及其特性</a:t>
            </a:r>
          </a:p>
        </p:txBody>
      </p:sp>
      <p:grpSp>
        <p:nvGrpSpPr>
          <p:cNvPr id="497667" name="Group 3"/>
          <p:cNvGrpSpPr/>
          <p:nvPr/>
        </p:nvGrpSpPr>
        <p:grpSpPr bwMode="auto">
          <a:xfrm>
            <a:off x="684213" y="1341438"/>
            <a:ext cx="3887787" cy="792162"/>
            <a:chOff x="3242" y="1117"/>
            <a:chExt cx="1906" cy="408"/>
          </a:xfrm>
        </p:grpSpPr>
        <p:grpSp>
          <p:nvGrpSpPr>
            <p:cNvPr id="497668" name="Group 5"/>
            <p:cNvGrpSpPr/>
            <p:nvPr/>
          </p:nvGrpSpPr>
          <p:grpSpPr bwMode="auto">
            <a:xfrm>
              <a:off x="3242" y="1117"/>
              <a:ext cx="1906" cy="408"/>
              <a:chOff x="0" y="0"/>
              <a:chExt cx="1484" cy="330"/>
            </a:xfrm>
          </p:grpSpPr>
          <p:sp>
            <p:nvSpPr>
              <p:cNvPr id="497669" name="AutoShape 6"/>
              <p:cNvSpPr>
                <a:spLocks noChangeArrowheads="1"/>
              </p:cNvSpPr>
              <p:nvPr/>
            </p:nvSpPr>
            <p:spPr bwMode="auto">
              <a:xfrm>
                <a:off x="0" y="0"/>
                <a:ext cx="1484" cy="330"/>
              </a:xfrm>
              <a:prstGeom prst="roundRect">
                <a:avLst>
                  <a:gd name="adj" fmla="val 16667"/>
                </a:avLst>
              </a:prstGeom>
              <a:solidFill>
                <a:srgbClr val="FFFF66"/>
              </a:solidFill>
              <a:ln w="38100">
                <a:solidFill>
                  <a:srgbClr val="FFFFFF">
                    <a:alpha val="69019"/>
                  </a:srgbClr>
                </a:solidFill>
                <a:round/>
              </a:ln>
              <a:effectLst/>
              <a:extLst>
                <a:ext uri="{AF507438-7753-43E0-B8FC-AC1667EBCBE1}">
                  <a14:hiddenEffects xmlns:a14="http://schemas.microsoft.com/office/drawing/2010/main">
                    <a:effectLst>
                      <a:outerShdw dist="35921" dir="2700000" algn="ctr" rotWithShape="0">
                        <a:schemeClr val="tx2">
                          <a:alpha val="50000"/>
                        </a:schemeClr>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497670" name="AutoShape 7"/>
              <p:cNvSpPr>
                <a:spLocks noChangeArrowheads="1"/>
              </p:cNvSpPr>
              <p:nvPr/>
            </p:nvSpPr>
            <p:spPr bwMode="auto">
              <a:xfrm>
                <a:off x="23" y="20"/>
                <a:ext cx="1432" cy="134"/>
              </a:xfrm>
              <a:prstGeom prst="roundRect">
                <a:avLst>
                  <a:gd name="adj" fmla="val 28356"/>
                </a:avLst>
              </a:prstGeom>
              <a:gradFill rotWithShape="1">
                <a:gsLst>
                  <a:gs pos="0">
                    <a:srgbClr val="FFFFFF">
                      <a:alpha val="70000"/>
                    </a:srgbClr>
                  </a:gs>
                  <a:gs pos="100000">
                    <a:srgbClr val="FFFF66">
                      <a:alpha val="7000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sp>
          <p:nvSpPr>
            <p:cNvPr id="497671" name="Rectangle 16"/>
            <p:cNvSpPr>
              <a:spLocks noChangeArrowheads="1"/>
            </p:cNvSpPr>
            <p:nvPr/>
          </p:nvSpPr>
          <p:spPr bwMode="auto">
            <a:xfrm>
              <a:off x="3289" y="1162"/>
              <a:ext cx="1768" cy="298"/>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6969B4"/>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事务的</a:t>
              </a:r>
              <a:r>
                <a:rPr kumimoji="0" lang="en-US"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ACID</a:t>
              </a:r>
              <a:r>
                <a:rPr kumimoji="0" lang="zh-CN" altLang="en-US"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rPr>
                <a:t>特性</a:t>
              </a:r>
              <a:endParaRPr kumimoji="0" lang="zh-CN" altLang="zh-CN" sz="3200" b="1">
                <a:solidFill>
                  <a:schemeClr val="tx2"/>
                </a:solidFill>
                <a:effectLst>
                  <a:outerShdw blurRad="38100" dist="38100" dir="2700000" algn="tl">
                    <a:srgbClr val="C0C0C0"/>
                  </a:outerShdw>
                </a:effectLst>
                <a:latin typeface="Tahoma" panose="020B0604030504040204" pitchFamily="34" charset="0"/>
                <a:ea typeface="华文中宋" panose="02010600040101010101" pitchFamily="2" charset="-122"/>
              </a:endParaRPr>
            </a:p>
          </p:txBody>
        </p:sp>
      </p:grpSp>
      <p:sp>
        <p:nvSpPr>
          <p:cNvPr id="497672" name="Rectangle 8"/>
          <p:cNvSpPr>
            <a:spLocks noChangeArrowheads="1"/>
          </p:cNvSpPr>
          <p:nvPr/>
        </p:nvSpPr>
        <p:spPr bwMode="auto">
          <a:xfrm>
            <a:off x="684213" y="2205038"/>
            <a:ext cx="19510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4、</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永</a:t>
            </a:r>
            <a:r>
              <a:rPr lang="en-US"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久性</a:t>
            </a:r>
            <a:endPar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endParaRPr>
          </a:p>
        </p:txBody>
      </p:sp>
      <p:sp>
        <p:nvSpPr>
          <p:cNvPr id="497673" name="AutoShape 4"/>
          <p:cNvSpPr>
            <a:spLocks noChangeArrowheads="1"/>
          </p:cNvSpPr>
          <p:nvPr/>
        </p:nvSpPr>
        <p:spPr bwMode="auto">
          <a:xfrm>
            <a:off x="1476375" y="5445125"/>
            <a:ext cx="6480175" cy="863600"/>
          </a:xfrm>
          <a:prstGeom prst="roundRect">
            <a:avLst>
              <a:gd name="adj" fmla="val 7861"/>
            </a:avLst>
          </a:prstGeom>
          <a:solidFill>
            <a:srgbClr val="333399">
              <a:alpha val="30000"/>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3200" b="1">
                <a:solidFill>
                  <a:srgbClr val="7800A2"/>
                </a:solidFill>
                <a:effectLst>
                  <a:outerShdw blurRad="38100" dist="38100" dir="2700000" algn="tl">
                    <a:srgbClr val="000000"/>
                  </a:outerShdw>
                </a:effectLst>
                <a:latin typeface="Arial" panose="020B0604020202020204" pitchFamily="34" charset="0"/>
                <a:ea typeface="华文中宋" panose="02010600040101010101" pitchFamily="2" charset="-122"/>
                <a:cs typeface="Times New Roman" panose="02020603050405020304" pitchFamily="18" charset="0"/>
              </a:rPr>
              <a:t>实现：</a:t>
            </a:r>
            <a:r>
              <a:rPr kumimoji="0" lang="en-US" altLang="zh-CN" sz="2800" b="1">
                <a:effectLst>
                  <a:outerShdw blurRad="38100" dist="38100" dir="2700000" algn="tl">
                    <a:srgbClr val="FFFFFF"/>
                  </a:outerShdw>
                </a:effectLst>
                <a:latin typeface="Arial" panose="020B0604020202020204" pitchFamily="34" charset="0"/>
                <a:ea typeface="华文中宋" panose="02010600040101010101" pitchFamily="2" charset="-122"/>
                <a:cs typeface="Times New Roman" panose="02020603050405020304" pitchFamily="18" charset="0"/>
              </a:rPr>
              <a:t>DBMS</a:t>
            </a:r>
            <a:r>
              <a:rPr kumimoji="0" lang="zh-CN" altLang="en-US" sz="2800" b="1">
                <a:effectLst>
                  <a:outerShdw blurRad="38100" dist="38100" dir="2700000" algn="tl">
                    <a:srgbClr val="FFFFFF"/>
                  </a:outerShdw>
                </a:effectLst>
                <a:latin typeface="Arial" panose="020B0604020202020204" pitchFamily="34" charset="0"/>
                <a:ea typeface="华文中宋" panose="02010600040101010101" pitchFamily="2" charset="-122"/>
                <a:cs typeface="Times New Roman" panose="02020603050405020304" pitchFamily="18" charset="0"/>
              </a:rPr>
              <a:t>的恢复管理子系统</a:t>
            </a:r>
          </a:p>
        </p:txBody>
      </p:sp>
      <p:sp>
        <p:nvSpPr>
          <p:cNvPr id="497674" name="AutoShape 10"/>
          <p:cNvSpPr>
            <a:spLocks noChangeArrowheads="1"/>
          </p:cNvSpPr>
          <p:nvPr/>
        </p:nvSpPr>
        <p:spPr bwMode="auto">
          <a:xfrm>
            <a:off x="611188" y="2852738"/>
            <a:ext cx="8064500" cy="2305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pPr>
            <a:r>
              <a:rPr lang="zh-CN" altLang="en-US" sz="2800" b="1">
                <a:latin typeface="楷体_GB2312" pitchFamily="49" charset="-122"/>
              </a:rPr>
              <a:t>    一个事务一旦完成全部操作后，提交结果，它</a:t>
            </a:r>
            <a:r>
              <a:rPr lang="zh-CN" altLang="en-US" sz="2800" b="1">
                <a:solidFill>
                  <a:srgbClr val="003399"/>
                </a:solidFill>
                <a:latin typeface="楷体_GB2312" pitchFamily="49" charset="-122"/>
              </a:rPr>
              <a:t>对数据库的所有改变应持久地反映在数据库中</a:t>
            </a:r>
            <a:r>
              <a:rPr lang="zh-CN" altLang="en-US" sz="2800" b="1">
                <a:latin typeface="楷体_GB2312" pitchFamily="49" charset="-122"/>
              </a:rPr>
              <a:t>。即使以后系统发生故障，也应保留这个事务执行的结果。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802"/>
    </mc:Choice>
    <mc:Fallback xmlns="">
      <p:transition spd="slow" advTm="278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7672"/>
                                        </p:tgtEl>
                                        <p:attrNameLst>
                                          <p:attrName>style.visibility</p:attrName>
                                        </p:attrNameLst>
                                      </p:cBhvr>
                                      <p:to>
                                        <p:strVal val="visible"/>
                                      </p:to>
                                    </p:set>
                                    <p:animEffect transition="in" filter="wipe(left)">
                                      <p:cBhvr>
                                        <p:cTn id="7" dur="500"/>
                                        <p:tgtEl>
                                          <p:spTgt spid="49767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97674"/>
                                        </p:tgtEl>
                                        <p:attrNameLst>
                                          <p:attrName>style.visibility</p:attrName>
                                        </p:attrNameLst>
                                      </p:cBhvr>
                                      <p:to>
                                        <p:strVal val="visible"/>
                                      </p:to>
                                    </p:set>
                                    <p:animEffect transition="in" filter="fade">
                                      <p:cBhvr>
                                        <p:cTn id="12" dur="1000"/>
                                        <p:tgtEl>
                                          <p:spTgt spid="497674"/>
                                        </p:tgtEl>
                                      </p:cBhvr>
                                    </p:animEffect>
                                    <p:anim calcmode="lin" valueType="num">
                                      <p:cBhvr>
                                        <p:cTn id="13" dur="1000" fill="hold"/>
                                        <p:tgtEl>
                                          <p:spTgt spid="497674"/>
                                        </p:tgtEl>
                                        <p:attrNameLst>
                                          <p:attrName>ppt_x</p:attrName>
                                        </p:attrNameLst>
                                      </p:cBhvr>
                                      <p:tavLst>
                                        <p:tav tm="0">
                                          <p:val>
                                            <p:strVal val="#ppt_x"/>
                                          </p:val>
                                        </p:tav>
                                        <p:tav tm="100000">
                                          <p:val>
                                            <p:strVal val="#ppt_x"/>
                                          </p:val>
                                        </p:tav>
                                      </p:tavLst>
                                    </p:anim>
                                    <p:anim calcmode="lin" valueType="num">
                                      <p:cBhvr>
                                        <p:cTn id="14" dur="1000" fill="hold"/>
                                        <p:tgtEl>
                                          <p:spTgt spid="49767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97673"/>
                                        </p:tgtEl>
                                        <p:attrNameLst>
                                          <p:attrName>style.visibility</p:attrName>
                                        </p:attrNameLst>
                                      </p:cBhvr>
                                      <p:to>
                                        <p:strVal val="visible"/>
                                      </p:to>
                                    </p:set>
                                    <p:animEffect transition="in" filter="slide(fromLeft)">
                                      <p:cBhvr>
                                        <p:cTn id="19" dur="500"/>
                                        <p:tgtEl>
                                          <p:spTgt spid="497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72" grpId="0"/>
      <p:bldP spid="497673" grpId="0" animBg="1"/>
      <p:bldP spid="49767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
        <p:nvSpPr>
          <p:cNvPr id="388102" name="Rectangle 6"/>
          <p:cNvSpPr>
            <a:spLocks noChangeArrowheads="1"/>
          </p:cNvSpPr>
          <p:nvPr/>
        </p:nvSpPr>
        <p:spPr bwMode="auto">
          <a:xfrm>
            <a:off x="755650" y="1196975"/>
            <a:ext cx="6192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1</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、显式事务</a:t>
            </a:r>
          </a:p>
        </p:txBody>
      </p:sp>
      <p:sp>
        <p:nvSpPr>
          <p:cNvPr id="388103" name="AutoShape 7"/>
          <p:cNvSpPr>
            <a:spLocks noChangeArrowheads="1"/>
          </p:cNvSpPr>
          <p:nvPr/>
        </p:nvSpPr>
        <p:spPr bwMode="auto">
          <a:xfrm>
            <a:off x="611188" y="2132013"/>
            <a:ext cx="8064500" cy="2305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t>    开始事务： </a:t>
            </a:r>
            <a:r>
              <a:rPr lang="en-US" altLang="zh-CN" sz="2800" b="1">
                <a:solidFill>
                  <a:schemeClr val="folHlink"/>
                </a:solidFill>
              </a:rPr>
              <a:t>BEGIN TRANSACTION</a:t>
            </a:r>
          </a:p>
          <a:p>
            <a:pPr algn="just">
              <a:lnSpc>
                <a:spcPct val="120000"/>
              </a:lnSpc>
              <a:spcBef>
                <a:spcPct val="20000"/>
              </a:spcBef>
              <a:buClr>
                <a:schemeClr val="folHlink"/>
              </a:buClr>
              <a:buSzPct val="60000"/>
              <a:buFont typeface="Wingdings" panose="05000000000000000000" pitchFamily="2" charset="2"/>
              <a:buNone/>
            </a:pPr>
            <a:r>
              <a:rPr lang="zh-CN" altLang="en-US" sz="2800" b="1"/>
              <a:t>    成功执行： </a:t>
            </a:r>
            <a:r>
              <a:rPr lang="en-US" altLang="zh-CN" sz="2800" b="1">
                <a:solidFill>
                  <a:schemeClr val="folHlink"/>
                </a:solidFill>
              </a:rPr>
              <a:t>COMMIT TRANSACTION</a:t>
            </a:r>
          </a:p>
          <a:p>
            <a:pPr algn="just">
              <a:lnSpc>
                <a:spcPct val="120000"/>
              </a:lnSpc>
              <a:spcBef>
                <a:spcPct val="20000"/>
              </a:spcBef>
              <a:buClr>
                <a:schemeClr val="folHlink"/>
              </a:buClr>
              <a:buSzPct val="60000"/>
              <a:buFont typeface="Wingdings" panose="05000000000000000000" pitchFamily="2" charset="2"/>
              <a:buNone/>
            </a:pPr>
            <a:r>
              <a:rPr lang="zh-CN" altLang="en-US" sz="2800" b="1"/>
              <a:t>　不成功执行：</a:t>
            </a:r>
            <a:r>
              <a:rPr lang="en-US" altLang="zh-CN" sz="2800" b="1">
                <a:solidFill>
                  <a:srgbClr val="FF0066"/>
                </a:solidFill>
              </a:rPr>
              <a:t>ROLLBACK TRANSACTION</a:t>
            </a:r>
          </a:p>
        </p:txBody>
      </p:sp>
      <p:pic>
        <p:nvPicPr>
          <p:cNvPr id="388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125538"/>
            <a:ext cx="8151813" cy="548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6890"/>
    </mc:Choice>
    <mc:Fallback xmlns="">
      <p:transition spd="slow" advTm="1368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8102"/>
                                        </p:tgtEl>
                                        <p:attrNameLst>
                                          <p:attrName>style.visibility</p:attrName>
                                        </p:attrNameLst>
                                      </p:cBhvr>
                                      <p:to>
                                        <p:strVal val="visible"/>
                                      </p:to>
                                    </p:set>
                                    <p:animEffect transition="in" filter="wipe(left)">
                                      <p:cBhvr>
                                        <p:cTn id="7" dur="500"/>
                                        <p:tgtEl>
                                          <p:spTgt spid="38810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88103">
                                            <p:bg/>
                                          </p:spTgt>
                                        </p:tgtEl>
                                        <p:attrNameLst>
                                          <p:attrName>style.visibility</p:attrName>
                                        </p:attrNameLst>
                                      </p:cBhvr>
                                      <p:to>
                                        <p:strVal val="visible"/>
                                      </p:to>
                                    </p:set>
                                    <p:animEffect transition="in" filter="fade">
                                      <p:cBhvr>
                                        <p:cTn id="12" dur="500"/>
                                        <p:tgtEl>
                                          <p:spTgt spid="388103">
                                            <p:bg/>
                                          </p:spTgt>
                                        </p:tgtEl>
                                      </p:cBhvr>
                                    </p:animEffect>
                                    <p:anim calcmode="lin" valueType="num">
                                      <p:cBhvr>
                                        <p:cTn id="13" dur="500" fill="hold"/>
                                        <p:tgtEl>
                                          <p:spTgt spid="388103">
                                            <p:bg/>
                                          </p:spTgt>
                                        </p:tgtEl>
                                        <p:attrNameLst>
                                          <p:attrName>ppt_x</p:attrName>
                                        </p:attrNameLst>
                                      </p:cBhvr>
                                      <p:tavLst>
                                        <p:tav tm="0">
                                          <p:val>
                                            <p:strVal val="#ppt_x"/>
                                          </p:val>
                                        </p:tav>
                                        <p:tav tm="100000">
                                          <p:val>
                                            <p:strVal val="#ppt_x"/>
                                          </p:val>
                                        </p:tav>
                                      </p:tavLst>
                                    </p:anim>
                                    <p:anim calcmode="lin" valueType="num">
                                      <p:cBhvr>
                                        <p:cTn id="14" dur="500" fill="hold"/>
                                        <p:tgtEl>
                                          <p:spTgt spid="388103">
                                            <p:bg/>
                                          </p:spTgt>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388103">
                                            <p:txEl>
                                              <p:pRg st="0" end="0"/>
                                            </p:txEl>
                                          </p:spTgt>
                                        </p:tgtEl>
                                        <p:attrNameLst>
                                          <p:attrName>style.visibility</p:attrName>
                                        </p:attrNameLst>
                                      </p:cBhvr>
                                      <p:to>
                                        <p:strVal val="visible"/>
                                      </p:to>
                                    </p:set>
                                    <p:animEffect transition="in" filter="fade">
                                      <p:cBhvr>
                                        <p:cTn id="18" dur="500"/>
                                        <p:tgtEl>
                                          <p:spTgt spid="388103">
                                            <p:txEl>
                                              <p:pRg st="0" end="0"/>
                                            </p:txEl>
                                          </p:spTgt>
                                        </p:tgtEl>
                                      </p:cBhvr>
                                    </p:animEffect>
                                    <p:anim calcmode="lin" valueType="num">
                                      <p:cBhvr>
                                        <p:cTn id="19" dur="500" fill="hold"/>
                                        <p:tgtEl>
                                          <p:spTgt spid="388103">
                                            <p:txEl>
                                              <p:pRg st="0" end="0"/>
                                            </p:txEl>
                                          </p:spTgt>
                                        </p:tgtEl>
                                        <p:attrNameLst>
                                          <p:attrName>ppt_x</p:attrName>
                                        </p:attrNameLst>
                                      </p:cBhvr>
                                      <p:tavLst>
                                        <p:tav tm="0">
                                          <p:val>
                                            <p:strVal val="#ppt_x"/>
                                          </p:val>
                                        </p:tav>
                                        <p:tav tm="100000">
                                          <p:val>
                                            <p:strVal val="#ppt_x"/>
                                          </p:val>
                                        </p:tav>
                                      </p:tavLst>
                                    </p:anim>
                                    <p:anim calcmode="lin" valueType="num">
                                      <p:cBhvr>
                                        <p:cTn id="20" dur="500" fill="hold"/>
                                        <p:tgtEl>
                                          <p:spTgt spid="3881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88103">
                                            <p:txEl>
                                              <p:pRg st="1" end="1"/>
                                            </p:txEl>
                                          </p:spTgt>
                                        </p:tgtEl>
                                        <p:attrNameLst>
                                          <p:attrName>style.visibility</p:attrName>
                                        </p:attrNameLst>
                                      </p:cBhvr>
                                      <p:to>
                                        <p:strVal val="visible"/>
                                      </p:to>
                                    </p:set>
                                    <p:animEffect transition="in" filter="fade">
                                      <p:cBhvr>
                                        <p:cTn id="25" dur="500"/>
                                        <p:tgtEl>
                                          <p:spTgt spid="388103">
                                            <p:txEl>
                                              <p:pRg st="1" end="1"/>
                                            </p:txEl>
                                          </p:spTgt>
                                        </p:tgtEl>
                                      </p:cBhvr>
                                    </p:animEffect>
                                    <p:anim calcmode="lin" valueType="num">
                                      <p:cBhvr>
                                        <p:cTn id="26" dur="500" fill="hold"/>
                                        <p:tgtEl>
                                          <p:spTgt spid="388103">
                                            <p:txEl>
                                              <p:pRg st="1" end="1"/>
                                            </p:txEl>
                                          </p:spTgt>
                                        </p:tgtEl>
                                        <p:attrNameLst>
                                          <p:attrName>ppt_x</p:attrName>
                                        </p:attrNameLst>
                                      </p:cBhvr>
                                      <p:tavLst>
                                        <p:tav tm="0">
                                          <p:val>
                                            <p:strVal val="#ppt_x"/>
                                          </p:val>
                                        </p:tav>
                                        <p:tav tm="100000">
                                          <p:val>
                                            <p:strVal val="#ppt_x"/>
                                          </p:val>
                                        </p:tav>
                                      </p:tavLst>
                                    </p:anim>
                                    <p:anim calcmode="lin" valueType="num">
                                      <p:cBhvr>
                                        <p:cTn id="27" dur="500" fill="hold"/>
                                        <p:tgtEl>
                                          <p:spTgt spid="3881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88103">
                                            <p:txEl>
                                              <p:pRg st="2" end="2"/>
                                            </p:txEl>
                                          </p:spTgt>
                                        </p:tgtEl>
                                        <p:attrNameLst>
                                          <p:attrName>style.visibility</p:attrName>
                                        </p:attrNameLst>
                                      </p:cBhvr>
                                      <p:to>
                                        <p:strVal val="visible"/>
                                      </p:to>
                                    </p:set>
                                    <p:animEffect transition="in" filter="fade">
                                      <p:cBhvr>
                                        <p:cTn id="32" dur="500"/>
                                        <p:tgtEl>
                                          <p:spTgt spid="388103">
                                            <p:txEl>
                                              <p:pRg st="2" end="2"/>
                                            </p:txEl>
                                          </p:spTgt>
                                        </p:tgtEl>
                                      </p:cBhvr>
                                    </p:animEffect>
                                    <p:anim calcmode="lin" valueType="num">
                                      <p:cBhvr>
                                        <p:cTn id="33" dur="500" fill="hold"/>
                                        <p:tgtEl>
                                          <p:spTgt spid="388103">
                                            <p:txEl>
                                              <p:pRg st="2" end="2"/>
                                            </p:txEl>
                                          </p:spTgt>
                                        </p:tgtEl>
                                        <p:attrNameLst>
                                          <p:attrName>ppt_x</p:attrName>
                                        </p:attrNameLst>
                                      </p:cBhvr>
                                      <p:tavLst>
                                        <p:tav tm="0">
                                          <p:val>
                                            <p:strVal val="#ppt_x"/>
                                          </p:val>
                                        </p:tav>
                                        <p:tav tm="100000">
                                          <p:val>
                                            <p:strVal val="#ppt_x"/>
                                          </p:val>
                                        </p:tav>
                                      </p:tavLst>
                                    </p:anim>
                                    <p:anim calcmode="lin" valueType="num">
                                      <p:cBhvr>
                                        <p:cTn id="34" dur="500" fill="hold"/>
                                        <p:tgtEl>
                                          <p:spTgt spid="3881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88104"/>
                                        </p:tgtEl>
                                        <p:attrNameLst>
                                          <p:attrName>style.visibility</p:attrName>
                                        </p:attrNameLst>
                                      </p:cBhvr>
                                      <p:to>
                                        <p:strVal val="visible"/>
                                      </p:to>
                                    </p:set>
                                    <p:animEffect transition="in" filter="fade">
                                      <p:cBhvr>
                                        <p:cTn id="39" dur="1000"/>
                                        <p:tgtEl>
                                          <p:spTgt spid="388104"/>
                                        </p:tgtEl>
                                      </p:cBhvr>
                                    </p:animEffect>
                                    <p:anim calcmode="lin" valueType="num">
                                      <p:cBhvr>
                                        <p:cTn id="40" dur="1000" fill="hold"/>
                                        <p:tgtEl>
                                          <p:spTgt spid="388104"/>
                                        </p:tgtEl>
                                        <p:attrNameLst>
                                          <p:attrName>ppt_x</p:attrName>
                                        </p:attrNameLst>
                                      </p:cBhvr>
                                      <p:tavLst>
                                        <p:tav tm="0">
                                          <p:val>
                                            <p:strVal val="#ppt_x"/>
                                          </p:val>
                                        </p:tav>
                                        <p:tav tm="100000">
                                          <p:val>
                                            <p:strVal val="#ppt_x"/>
                                          </p:val>
                                        </p:tav>
                                      </p:tavLst>
                                    </p:anim>
                                    <p:anim calcmode="lin" valueType="num">
                                      <p:cBhvr>
                                        <p:cTn id="41" dur="1000" fill="hold"/>
                                        <p:tgtEl>
                                          <p:spTgt spid="388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2" grpId="0"/>
      <p:bldP spid="388103"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
        <p:nvSpPr>
          <p:cNvPr id="500739" name="Rectangle 3"/>
          <p:cNvSpPr>
            <a:spLocks noChangeArrowheads="1"/>
          </p:cNvSpPr>
          <p:nvPr/>
        </p:nvSpPr>
        <p:spPr bwMode="auto">
          <a:xfrm>
            <a:off x="755650" y="1196975"/>
            <a:ext cx="6192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2</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、隐式事务</a:t>
            </a:r>
          </a:p>
        </p:txBody>
      </p:sp>
      <p:sp>
        <p:nvSpPr>
          <p:cNvPr id="500740" name="AutoShape 4"/>
          <p:cNvSpPr>
            <a:spLocks noChangeArrowheads="1"/>
          </p:cNvSpPr>
          <p:nvPr/>
        </p:nvSpPr>
        <p:spPr bwMode="auto">
          <a:xfrm>
            <a:off x="611188" y="2132013"/>
            <a:ext cx="8064500" cy="2089150"/>
          </a:xfrm>
          <a:prstGeom prst="roundRect">
            <a:avLst>
              <a:gd name="adj" fmla="val 9130"/>
            </a:avLst>
          </a:prstGeom>
          <a:solidFill>
            <a:schemeClr val="bg1"/>
          </a:solidFill>
          <a:ln w="38100" algn="ctr">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t>        隐式事务指在前一个事务完成时新事务隐式启动，但每个事务仍以</a:t>
            </a:r>
            <a:r>
              <a:rPr lang="en-US" altLang="zh-CN" sz="2800" b="1"/>
              <a:t>COMMIT </a:t>
            </a:r>
            <a:r>
              <a:rPr lang="zh-CN" altLang="en-US" sz="2800" b="1"/>
              <a:t>或</a:t>
            </a:r>
            <a:r>
              <a:rPr lang="en-US" altLang="zh-CN" sz="2800" b="1"/>
              <a:t>ROLLBACK </a:t>
            </a:r>
            <a:r>
              <a:rPr lang="zh-CN" altLang="en-US" sz="2800" b="1"/>
              <a:t>语句显式结束。</a:t>
            </a:r>
            <a:endParaRPr lang="en-US" altLang="zh-CN" sz="2800" b="1"/>
          </a:p>
        </p:txBody>
      </p:sp>
      <p:pic>
        <p:nvPicPr>
          <p:cNvPr id="50074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981075"/>
            <a:ext cx="8496300" cy="57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8739"/>
    </mc:Choice>
    <mc:Fallback xmlns="">
      <p:transition spd="slow" advTm="6873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0739"/>
                                        </p:tgtEl>
                                        <p:attrNameLst>
                                          <p:attrName>style.visibility</p:attrName>
                                        </p:attrNameLst>
                                      </p:cBhvr>
                                      <p:to>
                                        <p:strVal val="visible"/>
                                      </p:to>
                                    </p:set>
                                    <p:animEffect transition="in" filter="wipe(left)">
                                      <p:cBhvr>
                                        <p:cTn id="7" dur="500"/>
                                        <p:tgtEl>
                                          <p:spTgt spid="50073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00740">
                                            <p:bg/>
                                          </p:spTgt>
                                        </p:tgtEl>
                                        <p:attrNameLst>
                                          <p:attrName>style.visibility</p:attrName>
                                        </p:attrNameLst>
                                      </p:cBhvr>
                                      <p:to>
                                        <p:strVal val="visible"/>
                                      </p:to>
                                    </p:set>
                                    <p:animEffect transition="in" filter="fade">
                                      <p:cBhvr>
                                        <p:cTn id="12" dur="500"/>
                                        <p:tgtEl>
                                          <p:spTgt spid="500740">
                                            <p:bg/>
                                          </p:spTgt>
                                        </p:tgtEl>
                                      </p:cBhvr>
                                    </p:animEffect>
                                    <p:anim calcmode="lin" valueType="num">
                                      <p:cBhvr>
                                        <p:cTn id="13" dur="500" fill="hold"/>
                                        <p:tgtEl>
                                          <p:spTgt spid="500740">
                                            <p:bg/>
                                          </p:spTgt>
                                        </p:tgtEl>
                                        <p:attrNameLst>
                                          <p:attrName>ppt_x</p:attrName>
                                        </p:attrNameLst>
                                      </p:cBhvr>
                                      <p:tavLst>
                                        <p:tav tm="0">
                                          <p:val>
                                            <p:strVal val="#ppt_x"/>
                                          </p:val>
                                        </p:tav>
                                        <p:tav tm="100000">
                                          <p:val>
                                            <p:strVal val="#ppt_x"/>
                                          </p:val>
                                        </p:tav>
                                      </p:tavLst>
                                    </p:anim>
                                    <p:anim calcmode="lin" valueType="num">
                                      <p:cBhvr>
                                        <p:cTn id="14" dur="500" fill="hold"/>
                                        <p:tgtEl>
                                          <p:spTgt spid="500740">
                                            <p:bg/>
                                          </p:spTgt>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500740">
                                            <p:txEl>
                                              <p:pRg st="0" end="0"/>
                                            </p:txEl>
                                          </p:spTgt>
                                        </p:tgtEl>
                                        <p:attrNameLst>
                                          <p:attrName>style.visibility</p:attrName>
                                        </p:attrNameLst>
                                      </p:cBhvr>
                                      <p:to>
                                        <p:strVal val="visible"/>
                                      </p:to>
                                    </p:set>
                                    <p:animEffect transition="in" filter="fade">
                                      <p:cBhvr>
                                        <p:cTn id="18" dur="500"/>
                                        <p:tgtEl>
                                          <p:spTgt spid="500740">
                                            <p:txEl>
                                              <p:pRg st="0" end="0"/>
                                            </p:txEl>
                                          </p:spTgt>
                                        </p:tgtEl>
                                      </p:cBhvr>
                                    </p:animEffect>
                                    <p:anim calcmode="lin" valueType="num">
                                      <p:cBhvr>
                                        <p:cTn id="19" dur="500" fill="hold"/>
                                        <p:tgtEl>
                                          <p:spTgt spid="500740">
                                            <p:txEl>
                                              <p:pRg st="0" end="0"/>
                                            </p:txEl>
                                          </p:spTgt>
                                        </p:tgtEl>
                                        <p:attrNameLst>
                                          <p:attrName>ppt_x</p:attrName>
                                        </p:attrNameLst>
                                      </p:cBhvr>
                                      <p:tavLst>
                                        <p:tav tm="0">
                                          <p:val>
                                            <p:strVal val="#ppt_x"/>
                                          </p:val>
                                        </p:tav>
                                        <p:tav tm="100000">
                                          <p:val>
                                            <p:strVal val="#ppt_x"/>
                                          </p:val>
                                        </p:tav>
                                      </p:tavLst>
                                    </p:anim>
                                    <p:anim calcmode="lin" valueType="num">
                                      <p:cBhvr>
                                        <p:cTn id="20" dur="500" fill="hold"/>
                                        <p:tgtEl>
                                          <p:spTgt spid="50074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00742"/>
                                        </p:tgtEl>
                                        <p:attrNameLst>
                                          <p:attrName>style.visibility</p:attrName>
                                        </p:attrNameLst>
                                      </p:cBhvr>
                                      <p:to>
                                        <p:strVal val="visible"/>
                                      </p:to>
                                    </p:set>
                                    <p:animEffect transition="in" filter="fade">
                                      <p:cBhvr>
                                        <p:cTn id="25" dur="1000"/>
                                        <p:tgtEl>
                                          <p:spTgt spid="500742"/>
                                        </p:tgtEl>
                                      </p:cBhvr>
                                    </p:animEffect>
                                    <p:anim calcmode="lin" valueType="num">
                                      <p:cBhvr>
                                        <p:cTn id="26" dur="1000" fill="hold"/>
                                        <p:tgtEl>
                                          <p:spTgt spid="500742"/>
                                        </p:tgtEl>
                                        <p:attrNameLst>
                                          <p:attrName>ppt_x</p:attrName>
                                        </p:attrNameLst>
                                      </p:cBhvr>
                                      <p:tavLst>
                                        <p:tav tm="0">
                                          <p:val>
                                            <p:strVal val="#ppt_x"/>
                                          </p:val>
                                        </p:tav>
                                        <p:tav tm="100000">
                                          <p:val>
                                            <p:strVal val="#ppt_x"/>
                                          </p:val>
                                        </p:tav>
                                      </p:tavLst>
                                    </p:anim>
                                    <p:anim calcmode="lin" valueType="num">
                                      <p:cBhvr>
                                        <p:cTn id="27" dur="1000" fill="hold"/>
                                        <p:tgtEl>
                                          <p:spTgt spid="5007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p:bldP spid="500740"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
        <p:nvSpPr>
          <p:cNvPr id="501763" name="Rectangle 3"/>
          <p:cNvSpPr>
            <a:spLocks noChangeArrowheads="1"/>
          </p:cNvSpPr>
          <p:nvPr/>
        </p:nvSpPr>
        <p:spPr bwMode="auto">
          <a:xfrm>
            <a:off x="755650" y="1196975"/>
            <a:ext cx="6192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、自动提交事务</a:t>
            </a:r>
          </a:p>
        </p:txBody>
      </p:sp>
      <p:sp>
        <p:nvSpPr>
          <p:cNvPr id="501764" name="AutoShape 4"/>
          <p:cNvSpPr>
            <a:spLocks noChangeArrowheads="1"/>
          </p:cNvSpPr>
          <p:nvPr/>
        </p:nvSpPr>
        <p:spPr bwMode="auto">
          <a:xfrm>
            <a:off x="539750" y="2132013"/>
            <a:ext cx="8064500" cy="3313112"/>
          </a:xfrm>
          <a:prstGeom prst="roundRect">
            <a:avLst>
              <a:gd name="adj" fmla="val 9130"/>
            </a:avLst>
          </a:prstGeom>
          <a:solidFill>
            <a:schemeClr val="bg1"/>
          </a:solidFill>
          <a:ln w="38100" algn="ctr">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t>     </a:t>
            </a:r>
            <a:r>
              <a:rPr lang="zh-CN" altLang="zh-CN" sz="2800" b="1">
                <a:solidFill>
                  <a:srgbClr val="0033CC"/>
                </a:solidFill>
              </a:rPr>
              <a:t>在执行某些语句时，一条语句就是一个事务。</a:t>
            </a:r>
          </a:p>
          <a:p>
            <a:pPr algn="just">
              <a:lnSpc>
                <a:spcPct val="120000"/>
              </a:lnSpc>
              <a:spcBef>
                <a:spcPct val="20000"/>
              </a:spcBef>
              <a:buClr>
                <a:schemeClr val="folHlink"/>
              </a:buClr>
              <a:buSzPct val="60000"/>
              <a:buFont typeface="Wingdings" panose="05000000000000000000" pitchFamily="2" charset="2"/>
              <a:buNone/>
            </a:pPr>
            <a:r>
              <a:rPr lang="zh-CN" altLang="zh-CN" sz="2800" b="1"/>
              <a:t>     系统提供的事务语句如下：ALTER TABLE, CREATE, DELETE, DROP, FETCH, GRANT, INSERT, OPEN, REVOKE, </a:t>
            </a:r>
            <a:r>
              <a:rPr lang="zh-CN" altLang="zh-CN" sz="2800" b="1">
                <a:solidFill>
                  <a:srgbClr val="FF095B"/>
                </a:solidFill>
                <a:effectLst>
                  <a:outerShdw blurRad="38100" dist="38100" dir="2700000" algn="tl">
                    <a:srgbClr val="C0C0C0"/>
                  </a:outerShdw>
                </a:effectLst>
              </a:rPr>
              <a:t>SELECT</a:t>
            </a:r>
            <a:r>
              <a:rPr lang="zh-CN" altLang="zh-CN" sz="2800" b="1"/>
              <a:t>, UPDATE, TRUNCATE TABLE。</a:t>
            </a:r>
          </a:p>
        </p:txBody>
      </p:sp>
      <p:pic>
        <p:nvPicPr>
          <p:cNvPr id="5017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981075"/>
            <a:ext cx="8137525" cy="560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250"/>
    </mc:Choice>
    <mc:Fallback xmlns="">
      <p:transition spd="slow" advTm="432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763"/>
                                        </p:tgtEl>
                                        <p:attrNameLst>
                                          <p:attrName>style.visibility</p:attrName>
                                        </p:attrNameLst>
                                      </p:cBhvr>
                                      <p:to>
                                        <p:strVal val="visible"/>
                                      </p:to>
                                    </p:set>
                                    <p:animEffect transition="in" filter="wipe(left)">
                                      <p:cBhvr>
                                        <p:cTn id="7" dur="500"/>
                                        <p:tgtEl>
                                          <p:spTgt spid="50176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01764">
                                            <p:bg/>
                                          </p:spTgt>
                                        </p:tgtEl>
                                        <p:attrNameLst>
                                          <p:attrName>style.visibility</p:attrName>
                                        </p:attrNameLst>
                                      </p:cBhvr>
                                      <p:to>
                                        <p:strVal val="visible"/>
                                      </p:to>
                                    </p:set>
                                    <p:animEffect transition="in" filter="fade">
                                      <p:cBhvr>
                                        <p:cTn id="12" dur="500"/>
                                        <p:tgtEl>
                                          <p:spTgt spid="501764">
                                            <p:bg/>
                                          </p:spTgt>
                                        </p:tgtEl>
                                      </p:cBhvr>
                                    </p:animEffect>
                                    <p:anim calcmode="lin" valueType="num">
                                      <p:cBhvr>
                                        <p:cTn id="13" dur="500" fill="hold"/>
                                        <p:tgtEl>
                                          <p:spTgt spid="501764">
                                            <p:bg/>
                                          </p:spTgt>
                                        </p:tgtEl>
                                        <p:attrNameLst>
                                          <p:attrName>ppt_x</p:attrName>
                                        </p:attrNameLst>
                                      </p:cBhvr>
                                      <p:tavLst>
                                        <p:tav tm="0">
                                          <p:val>
                                            <p:strVal val="#ppt_x"/>
                                          </p:val>
                                        </p:tav>
                                        <p:tav tm="100000">
                                          <p:val>
                                            <p:strVal val="#ppt_x"/>
                                          </p:val>
                                        </p:tav>
                                      </p:tavLst>
                                    </p:anim>
                                    <p:anim calcmode="lin" valueType="num">
                                      <p:cBhvr>
                                        <p:cTn id="14" dur="500" fill="hold"/>
                                        <p:tgtEl>
                                          <p:spTgt spid="501764">
                                            <p:bg/>
                                          </p:spTgt>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501764">
                                            <p:txEl>
                                              <p:pRg st="0" end="0"/>
                                            </p:txEl>
                                          </p:spTgt>
                                        </p:tgtEl>
                                        <p:attrNameLst>
                                          <p:attrName>style.visibility</p:attrName>
                                        </p:attrNameLst>
                                      </p:cBhvr>
                                      <p:to>
                                        <p:strVal val="visible"/>
                                      </p:to>
                                    </p:set>
                                    <p:animEffect transition="in" filter="fade">
                                      <p:cBhvr>
                                        <p:cTn id="18" dur="500"/>
                                        <p:tgtEl>
                                          <p:spTgt spid="501764">
                                            <p:txEl>
                                              <p:pRg st="0" end="0"/>
                                            </p:txEl>
                                          </p:spTgt>
                                        </p:tgtEl>
                                      </p:cBhvr>
                                    </p:animEffect>
                                    <p:anim calcmode="lin" valueType="num">
                                      <p:cBhvr>
                                        <p:cTn id="19" dur="500" fill="hold"/>
                                        <p:tgtEl>
                                          <p:spTgt spid="501764">
                                            <p:txEl>
                                              <p:pRg st="0" end="0"/>
                                            </p:txEl>
                                          </p:spTgt>
                                        </p:tgtEl>
                                        <p:attrNameLst>
                                          <p:attrName>ppt_x</p:attrName>
                                        </p:attrNameLst>
                                      </p:cBhvr>
                                      <p:tavLst>
                                        <p:tav tm="0">
                                          <p:val>
                                            <p:strVal val="#ppt_x"/>
                                          </p:val>
                                        </p:tav>
                                        <p:tav tm="100000">
                                          <p:val>
                                            <p:strVal val="#ppt_x"/>
                                          </p:val>
                                        </p:tav>
                                      </p:tavLst>
                                    </p:anim>
                                    <p:anim calcmode="lin" valueType="num">
                                      <p:cBhvr>
                                        <p:cTn id="20" dur="500" fill="hold"/>
                                        <p:tgtEl>
                                          <p:spTgt spid="5017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01764">
                                            <p:txEl>
                                              <p:pRg st="1" end="1"/>
                                            </p:txEl>
                                          </p:spTgt>
                                        </p:tgtEl>
                                        <p:attrNameLst>
                                          <p:attrName>style.visibility</p:attrName>
                                        </p:attrNameLst>
                                      </p:cBhvr>
                                      <p:to>
                                        <p:strVal val="visible"/>
                                      </p:to>
                                    </p:set>
                                    <p:animEffect transition="in" filter="fade">
                                      <p:cBhvr>
                                        <p:cTn id="25" dur="500"/>
                                        <p:tgtEl>
                                          <p:spTgt spid="501764">
                                            <p:txEl>
                                              <p:pRg st="1" end="1"/>
                                            </p:txEl>
                                          </p:spTgt>
                                        </p:tgtEl>
                                      </p:cBhvr>
                                    </p:animEffect>
                                    <p:anim calcmode="lin" valueType="num">
                                      <p:cBhvr>
                                        <p:cTn id="26" dur="500" fill="hold"/>
                                        <p:tgtEl>
                                          <p:spTgt spid="501764">
                                            <p:txEl>
                                              <p:pRg st="1" end="1"/>
                                            </p:txEl>
                                          </p:spTgt>
                                        </p:tgtEl>
                                        <p:attrNameLst>
                                          <p:attrName>ppt_x</p:attrName>
                                        </p:attrNameLst>
                                      </p:cBhvr>
                                      <p:tavLst>
                                        <p:tav tm="0">
                                          <p:val>
                                            <p:strVal val="#ppt_x"/>
                                          </p:val>
                                        </p:tav>
                                        <p:tav tm="100000">
                                          <p:val>
                                            <p:strVal val="#ppt_x"/>
                                          </p:val>
                                        </p:tav>
                                      </p:tavLst>
                                    </p:anim>
                                    <p:anim calcmode="lin" valueType="num">
                                      <p:cBhvr>
                                        <p:cTn id="27" dur="500" fill="hold"/>
                                        <p:tgtEl>
                                          <p:spTgt spid="50176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01766"/>
                                        </p:tgtEl>
                                        <p:attrNameLst>
                                          <p:attrName>style.visibility</p:attrName>
                                        </p:attrNameLst>
                                      </p:cBhvr>
                                      <p:to>
                                        <p:strVal val="visible"/>
                                      </p:to>
                                    </p:set>
                                    <p:animEffect transition="in" filter="fade">
                                      <p:cBhvr>
                                        <p:cTn id="32" dur="1000"/>
                                        <p:tgtEl>
                                          <p:spTgt spid="501766"/>
                                        </p:tgtEl>
                                      </p:cBhvr>
                                    </p:animEffect>
                                    <p:anim calcmode="lin" valueType="num">
                                      <p:cBhvr>
                                        <p:cTn id="33" dur="1000" fill="hold"/>
                                        <p:tgtEl>
                                          <p:spTgt spid="501766"/>
                                        </p:tgtEl>
                                        <p:attrNameLst>
                                          <p:attrName>ppt_x</p:attrName>
                                        </p:attrNameLst>
                                      </p:cBhvr>
                                      <p:tavLst>
                                        <p:tav tm="0">
                                          <p:val>
                                            <p:strVal val="#ppt_x"/>
                                          </p:val>
                                        </p:tav>
                                        <p:tav tm="100000">
                                          <p:val>
                                            <p:strVal val="#ppt_x"/>
                                          </p:val>
                                        </p:tav>
                                      </p:tavLst>
                                    </p:anim>
                                    <p:anim calcmode="lin" valueType="num">
                                      <p:cBhvr>
                                        <p:cTn id="34" dur="1000" fill="hold"/>
                                        <p:tgtEl>
                                          <p:spTgt spid="5017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3" grpId="0"/>
      <p:bldP spid="501764"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
        <p:nvSpPr>
          <p:cNvPr id="502787" name="Rectangle 3"/>
          <p:cNvSpPr>
            <a:spLocks noChangeArrowheads="1"/>
          </p:cNvSpPr>
          <p:nvPr/>
        </p:nvSpPr>
        <p:spPr bwMode="auto">
          <a:xfrm>
            <a:off x="755650" y="1196975"/>
            <a:ext cx="6192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3</a:t>
            </a:r>
            <a:r>
              <a:rPr lang="zh-CN" altLang="en-US" sz="32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、自动提交事务</a:t>
            </a:r>
          </a:p>
        </p:txBody>
      </p:sp>
      <p:sp>
        <p:nvSpPr>
          <p:cNvPr id="502788" name="AutoShape 4"/>
          <p:cNvSpPr>
            <a:spLocks noChangeArrowheads="1"/>
          </p:cNvSpPr>
          <p:nvPr/>
        </p:nvSpPr>
        <p:spPr bwMode="auto">
          <a:xfrm>
            <a:off x="539750" y="2132013"/>
            <a:ext cx="8064500" cy="1944687"/>
          </a:xfrm>
          <a:prstGeom prst="roundRect">
            <a:avLst>
              <a:gd name="adj" fmla="val 9130"/>
            </a:avLst>
          </a:prstGeom>
          <a:solidFill>
            <a:schemeClr val="bg1"/>
          </a:solidFill>
          <a:ln w="38100" algn="ctr">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t>    当遇到</a:t>
            </a:r>
            <a:r>
              <a:rPr lang="zh-CN" altLang="en-US" sz="2800" b="1">
                <a:solidFill>
                  <a:srgbClr val="0000FF"/>
                </a:solidFill>
              </a:rPr>
              <a:t>运行错误</a:t>
            </a:r>
            <a:r>
              <a:rPr lang="zh-CN" altLang="en-US" sz="2800" b="1"/>
              <a:t>时，自动回滚发生错误的语句；当遇到</a:t>
            </a:r>
            <a:r>
              <a:rPr lang="zh-CN" altLang="en-US" sz="2800" b="1">
                <a:solidFill>
                  <a:srgbClr val="FF0000"/>
                </a:solidFill>
              </a:rPr>
              <a:t>编译错误</a:t>
            </a:r>
            <a:r>
              <a:rPr lang="zh-CN" altLang="en-US" sz="2800" b="1"/>
              <a:t>时，回滚所有语句。</a:t>
            </a:r>
            <a:endParaRPr lang="zh-CN" altLang="zh-CN" sz="2800" b="1"/>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644"/>
    </mc:Choice>
    <mc:Fallback xmlns="">
      <p:transition spd="slow" advTm="206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788">
                                            <p:bg/>
                                          </p:spTgt>
                                        </p:tgtEl>
                                        <p:attrNameLst>
                                          <p:attrName>style.visibility</p:attrName>
                                        </p:attrNameLst>
                                      </p:cBhvr>
                                      <p:to>
                                        <p:strVal val="visible"/>
                                      </p:to>
                                    </p:set>
                                    <p:animEffect transition="in" filter="fade">
                                      <p:cBhvr>
                                        <p:cTn id="7" dur="500"/>
                                        <p:tgtEl>
                                          <p:spTgt spid="502788">
                                            <p:bg/>
                                          </p:spTgt>
                                        </p:tgtEl>
                                      </p:cBhvr>
                                    </p:animEffect>
                                    <p:anim calcmode="lin" valueType="num">
                                      <p:cBhvr>
                                        <p:cTn id="8" dur="500" fill="hold"/>
                                        <p:tgtEl>
                                          <p:spTgt spid="502788">
                                            <p:bg/>
                                          </p:spTgt>
                                        </p:tgtEl>
                                        <p:attrNameLst>
                                          <p:attrName>ppt_x</p:attrName>
                                        </p:attrNameLst>
                                      </p:cBhvr>
                                      <p:tavLst>
                                        <p:tav tm="0">
                                          <p:val>
                                            <p:strVal val="#ppt_x"/>
                                          </p:val>
                                        </p:tav>
                                        <p:tav tm="100000">
                                          <p:val>
                                            <p:strVal val="#ppt_x"/>
                                          </p:val>
                                        </p:tav>
                                      </p:tavLst>
                                    </p:anim>
                                    <p:anim calcmode="lin" valueType="num">
                                      <p:cBhvr>
                                        <p:cTn id="9" dur="500" fill="hold"/>
                                        <p:tgtEl>
                                          <p:spTgt spid="502788">
                                            <p:bg/>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502788">
                                            <p:txEl>
                                              <p:pRg st="0" end="0"/>
                                            </p:txEl>
                                          </p:spTgt>
                                        </p:tgtEl>
                                        <p:attrNameLst>
                                          <p:attrName>style.visibility</p:attrName>
                                        </p:attrNameLst>
                                      </p:cBhvr>
                                      <p:to>
                                        <p:strVal val="visible"/>
                                      </p:to>
                                    </p:set>
                                    <p:animEffect transition="in" filter="fade">
                                      <p:cBhvr>
                                        <p:cTn id="13" dur="500"/>
                                        <p:tgtEl>
                                          <p:spTgt spid="502788">
                                            <p:txEl>
                                              <p:pRg st="0" end="0"/>
                                            </p:txEl>
                                          </p:spTgt>
                                        </p:tgtEl>
                                      </p:cBhvr>
                                    </p:animEffect>
                                    <p:anim calcmode="lin" valueType="num">
                                      <p:cBhvr>
                                        <p:cTn id="14" dur="500" fill="hold"/>
                                        <p:tgtEl>
                                          <p:spTgt spid="502788">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50278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8"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body" idx="1"/>
          </p:nvPr>
        </p:nvSpPr>
        <p:spPr>
          <a:xfrm>
            <a:off x="592138" y="1125538"/>
            <a:ext cx="7580312" cy="5399087"/>
          </a:xfrm>
        </p:spPr>
        <p:txBody>
          <a:bodyPr/>
          <a:lstStyle/>
          <a:p>
            <a:pPr marL="533400" indent="-533400" algn="just"/>
            <a:r>
              <a:rPr lang="zh-CN" altLang="en-US">
                <a:effectLst/>
                <a:latin typeface="楷体_GB2312" pitchFamily="49" charset="-122"/>
                <a:ea typeface="楷体_GB2312" pitchFamily="49" charset="-122"/>
              </a:rPr>
              <a:t>（</a:t>
            </a:r>
            <a:r>
              <a:rPr lang="en-US" altLang="zh-CN">
                <a:effectLst/>
                <a:latin typeface="楷体_GB2312" pitchFamily="49" charset="-122"/>
                <a:ea typeface="楷体_GB2312" pitchFamily="49" charset="-122"/>
              </a:rPr>
              <a:t>1</a:t>
            </a:r>
            <a:r>
              <a:rPr lang="zh-CN" altLang="en-US">
                <a:effectLst/>
                <a:latin typeface="楷体_GB2312" pitchFamily="49" charset="-122"/>
                <a:ea typeface="楷体_GB2312" pitchFamily="49" charset="-122"/>
              </a:rPr>
              <a:t>）遇到</a:t>
            </a:r>
            <a:r>
              <a:rPr lang="zh-CN" altLang="en-US">
                <a:solidFill>
                  <a:srgbClr val="0000FF"/>
                </a:solidFill>
                <a:effectLst/>
                <a:latin typeface="楷体_GB2312" pitchFamily="49" charset="-122"/>
                <a:ea typeface="楷体_GB2312" pitchFamily="49" charset="-122"/>
              </a:rPr>
              <a:t>运行错误</a:t>
            </a:r>
            <a:r>
              <a:rPr lang="zh-CN" altLang="en-US">
                <a:effectLst/>
                <a:latin typeface="楷体_GB2312" pitchFamily="49" charset="-122"/>
                <a:ea typeface="楷体_GB2312" pitchFamily="49" charset="-122"/>
              </a:rPr>
              <a:t>时，自动回滚发生错误的语句。</a:t>
            </a:r>
          </a:p>
        </p:txBody>
      </p:sp>
      <p:sp>
        <p:nvSpPr>
          <p:cNvPr id="480259" name="Rectangle 3"/>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ea typeface="幼圆" panose="02010509060101010101" pitchFamily="49" charset="-122"/>
              </a:rPr>
              <a:t>二、事务的提交和回退</a:t>
            </a:r>
          </a:p>
        </p:txBody>
      </p:sp>
      <p:pic>
        <p:nvPicPr>
          <p:cNvPr id="4802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71488"/>
            <a:ext cx="7005637" cy="608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2103"/>
    </mc:Choice>
    <mc:Fallback xmlns="">
      <p:transition spd="slow" advTm="1221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0260"/>
                                        </p:tgtEl>
                                        <p:attrNameLst>
                                          <p:attrName>style.visibility</p:attrName>
                                        </p:attrNameLst>
                                      </p:cBhvr>
                                      <p:to>
                                        <p:strVal val="visible"/>
                                      </p:to>
                                    </p:set>
                                    <p:animEffect transition="in" filter="fade">
                                      <p:cBhvr>
                                        <p:cTn id="7" dur="1000"/>
                                        <p:tgtEl>
                                          <p:spTgt spid="480260"/>
                                        </p:tgtEl>
                                      </p:cBhvr>
                                    </p:animEffect>
                                    <p:anim calcmode="lin" valueType="num">
                                      <p:cBhvr>
                                        <p:cTn id="8" dur="1000" fill="hold"/>
                                        <p:tgtEl>
                                          <p:spTgt spid="480260"/>
                                        </p:tgtEl>
                                        <p:attrNameLst>
                                          <p:attrName>ppt_x</p:attrName>
                                        </p:attrNameLst>
                                      </p:cBhvr>
                                      <p:tavLst>
                                        <p:tav tm="0">
                                          <p:val>
                                            <p:strVal val="#ppt_x"/>
                                          </p:val>
                                        </p:tav>
                                        <p:tav tm="100000">
                                          <p:val>
                                            <p:strVal val="#ppt_x"/>
                                          </p:val>
                                        </p:tav>
                                      </p:tavLst>
                                    </p:anim>
                                    <p:anim calcmode="lin" valueType="num">
                                      <p:cBhvr>
                                        <p:cTn id="9" dur="1000" fill="hold"/>
                                        <p:tgtEl>
                                          <p:spTgt spid="4802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body" idx="1"/>
          </p:nvPr>
        </p:nvSpPr>
        <p:spPr>
          <a:xfrm>
            <a:off x="755650" y="1125538"/>
            <a:ext cx="7848600" cy="5399087"/>
          </a:xfrm>
        </p:spPr>
        <p:txBody>
          <a:bodyPr/>
          <a:lstStyle/>
          <a:p>
            <a:pPr marL="533400" indent="-533400" algn="just"/>
            <a:r>
              <a:rPr lang="zh-CN" altLang="en-US">
                <a:effectLst/>
                <a:latin typeface="楷体_GB2312" pitchFamily="49" charset="-122"/>
                <a:ea typeface="楷体_GB2312" pitchFamily="49" charset="-122"/>
              </a:rPr>
              <a:t>（</a:t>
            </a:r>
            <a:r>
              <a:rPr lang="en-US" altLang="zh-CN">
                <a:effectLst/>
                <a:latin typeface="楷体_GB2312" pitchFamily="49" charset="-122"/>
                <a:ea typeface="楷体_GB2312" pitchFamily="49" charset="-122"/>
              </a:rPr>
              <a:t>2</a:t>
            </a:r>
            <a:r>
              <a:rPr lang="zh-CN" altLang="en-US">
                <a:effectLst/>
                <a:latin typeface="楷体_GB2312" pitchFamily="49" charset="-122"/>
                <a:ea typeface="楷体_GB2312" pitchFamily="49" charset="-122"/>
              </a:rPr>
              <a:t>）遇到</a:t>
            </a:r>
            <a:r>
              <a:rPr lang="zh-CN" altLang="en-US">
                <a:solidFill>
                  <a:srgbClr val="FF0000"/>
                </a:solidFill>
                <a:effectLst/>
                <a:latin typeface="楷体_GB2312" pitchFamily="49" charset="-122"/>
                <a:ea typeface="楷体_GB2312" pitchFamily="49" charset="-122"/>
              </a:rPr>
              <a:t>编译错误</a:t>
            </a:r>
            <a:r>
              <a:rPr lang="zh-CN" altLang="en-US">
                <a:effectLst/>
                <a:latin typeface="楷体_GB2312" pitchFamily="49" charset="-122"/>
                <a:ea typeface="楷体_GB2312" pitchFamily="49" charset="-122"/>
              </a:rPr>
              <a:t>时，回滚所有语句。</a:t>
            </a:r>
          </a:p>
        </p:txBody>
      </p:sp>
      <p:sp>
        <p:nvSpPr>
          <p:cNvPr id="481283" name="Rectangle 3"/>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a:latin typeface="仿宋_GB2312" pitchFamily="49" charset="-122"/>
                <a:ea typeface="幼圆" panose="02010509060101010101" pitchFamily="49" charset="-122"/>
              </a:rPr>
              <a:t>二、事务的提交和回退</a:t>
            </a:r>
          </a:p>
        </p:txBody>
      </p:sp>
      <p:pic>
        <p:nvPicPr>
          <p:cNvPr id="4812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268413"/>
            <a:ext cx="6810375" cy="541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446"/>
    </mc:Choice>
    <mc:Fallback xmlns="">
      <p:transition spd="slow" advTm="524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1284"/>
                                        </p:tgtEl>
                                        <p:attrNameLst>
                                          <p:attrName>style.visibility</p:attrName>
                                        </p:attrNameLst>
                                      </p:cBhvr>
                                      <p:to>
                                        <p:strVal val="visible"/>
                                      </p:to>
                                    </p:set>
                                    <p:animEffect transition="in" filter="fade">
                                      <p:cBhvr>
                                        <p:cTn id="7" dur="1000"/>
                                        <p:tgtEl>
                                          <p:spTgt spid="481284"/>
                                        </p:tgtEl>
                                      </p:cBhvr>
                                    </p:animEffect>
                                    <p:anim calcmode="lin" valueType="num">
                                      <p:cBhvr>
                                        <p:cTn id="8" dur="1000" fill="hold"/>
                                        <p:tgtEl>
                                          <p:spTgt spid="481284"/>
                                        </p:tgtEl>
                                        <p:attrNameLst>
                                          <p:attrName>ppt_x</p:attrName>
                                        </p:attrNameLst>
                                      </p:cBhvr>
                                      <p:tavLst>
                                        <p:tav tm="0">
                                          <p:val>
                                            <p:strVal val="#ppt_x"/>
                                          </p:val>
                                        </p:tav>
                                        <p:tav tm="100000">
                                          <p:val>
                                            <p:strVal val="#ppt_x"/>
                                          </p:val>
                                        </p:tav>
                                      </p:tavLst>
                                    </p:anim>
                                    <p:anim calcmode="lin" valueType="num">
                                      <p:cBhvr>
                                        <p:cTn id="9" dur="1000" fill="hold"/>
                                        <p:tgtEl>
                                          <p:spTgt spid="4812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218" name="Rectangle 2"/>
          <p:cNvSpPr>
            <a:spLocks noGrp="1" noChangeArrowheads="1"/>
          </p:cNvSpPr>
          <p:nvPr>
            <p:ph type="body" idx="1"/>
          </p:nvPr>
        </p:nvSpPr>
        <p:spPr>
          <a:xfrm>
            <a:off x="592138" y="979488"/>
            <a:ext cx="8156575" cy="5689600"/>
          </a:xfrm>
        </p:spPr>
        <p:txBody>
          <a:bodyPr/>
          <a:lstStyle/>
          <a:p>
            <a:pPr marL="533400" indent="-533400" algn="just">
              <a:lnSpc>
                <a:spcPct val="110000"/>
              </a:lnSpc>
            </a:pPr>
            <a:r>
              <a:rPr lang="zh-CN" altLang="en-US" sz="2400" i="1" dirty="0">
                <a:solidFill>
                  <a:srgbClr val="008000"/>
                </a:solidFill>
                <a:effectLst/>
                <a:latin typeface="Arial" panose="020B0604020202020204" pitchFamily="34" charset="0"/>
                <a:ea typeface="楷体_GB2312" pitchFamily="49" charset="-122"/>
                <a:cs typeface="Times New Roman" panose="02020603050405020304" pitchFamily="18" charset="0"/>
              </a:rPr>
              <a:t>例</a:t>
            </a:r>
            <a:r>
              <a:rPr lang="en-US" altLang="zh-CN" sz="2400" dirty="0">
                <a:effectLst/>
                <a:latin typeface="Arial" panose="020B0604020202020204" pitchFamily="34" charset="0"/>
                <a:ea typeface="楷体_GB2312" pitchFamily="49" charset="-122"/>
                <a:cs typeface="Times New Roman" panose="02020603050405020304" pitchFamily="18" charset="0"/>
              </a:rPr>
              <a:t>10.1  </a:t>
            </a:r>
            <a:r>
              <a:rPr lang="zh-CN" altLang="en-US" sz="2400" dirty="0">
                <a:effectLst/>
                <a:latin typeface="Arial" panose="020B0604020202020204" pitchFamily="34" charset="0"/>
                <a:ea typeface="楷体_GB2312" pitchFamily="49" charset="-122"/>
                <a:cs typeface="Times New Roman" panose="02020603050405020304" pitchFamily="18" charset="0"/>
              </a:rPr>
              <a:t>设银行数据库中有一转账事务</a:t>
            </a:r>
            <a:r>
              <a:rPr lang="en-US" altLang="zh-CN" sz="2400" dirty="0" err="1">
                <a:effectLst/>
                <a:latin typeface="Arial" panose="020B0604020202020204" pitchFamily="34" charset="0"/>
                <a:ea typeface="楷体_GB2312" pitchFamily="49" charset="-122"/>
                <a:cs typeface="Times New Roman" panose="02020603050405020304" pitchFamily="18" charset="0"/>
              </a:rPr>
              <a:t>tran_bank</a:t>
            </a:r>
            <a:r>
              <a:rPr lang="zh-CN" altLang="en-US" sz="2400" dirty="0">
                <a:effectLst/>
                <a:latin typeface="Arial" panose="020B0604020202020204" pitchFamily="34" charset="0"/>
                <a:ea typeface="楷体_GB2312" pitchFamily="49" charset="-122"/>
                <a:cs typeface="Times New Roman" panose="02020603050405020304" pitchFamily="18" charset="0"/>
              </a:rPr>
              <a:t>，从账号</a:t>
            </a:r>
            <a:r>
              <a:rPr lang="en-US" altLang="zh-CN" sz="2400" dirty="0">
                <a:effectLst/>
                <a:latin typeface="Arial" panose="020B0604020202020204" pitchFamily="34" charset="0"/>
                <a:ea typeface="楷体_GB2312" pitchFamily="49" charset="-122"/>
                <a:cs typeface="Times New Roman" panose="02020603050405020304" pitchFamily="18" charset="0"/>
              </a:rPr>
              <a:t>A</a:t>
            </a:r>
            <a:r>
              <a:rPr lang="zh-CN" altLang="en-US" sz="2400" dirty="0">
                <a:effectLst/>
                <a:latin typeface="Arial" panose="020B0604020202020204" pitchFamily="34" charset="0"/>
                <a:ea typeface="楷体_GB2312" pitchFamily="49" charset="-122"/>
                <a:cs typeface="Times New Roman" panose="02020603050405020304" pitchFamily="18" charset="0"/>
              </a:rPr>
              <a:t>转一笔款子（</a:t>
            </a:r>
            <a:r>
              <a:rPr lang="en-US" altLang="zh-CN" sz="2400" dirty="0">
                <a:effectLst/>
                <a:latin typeface="Arial" panose="020B0604020202020204" pitchFamily="34" charset="0"/>
                <a:ea typeface="楷体_GB2312" pitchFamily="49" charset="-122"/>
                <a:cs typeface="Times New Roman" panose="02020603050405020304" pitchFamily="18" charset="0"/>
              </a:rPr>
              <a:t>¥10000</a:t>
            </a:r>
            <a:r>
              <a:rPr lang="zh-CN" altLang="en-US" sz="2400" dirty="0">
                <a:effectLst/>
                <a:latin typeface="Arial" panose="020B0604020202020204" pitchFamily="34" charset="0"/>
                <a:ea typeface="楷体_GB2312" pitchFamily="49" charset="-122"/>
                <a:cs typeface="Times New Roman" panose="02020603050405020304" pitchFamily="18" charset="0"/>
              </a:rPr>
              <a:t>）到账号</a:t>
            </a:r>
            <a:r>
              <a:rPr lang="en-US" altLang="zh-CN" sz="2400" dirty="0">
                <a:effectLst/>
                <a:latin typeface="Arial" panose="020B0604020202020204" pitchFamily="34" charset="0"/>
                <a:ea typeface="楷体_GB2312" pitchFamily="49" charset="-122"/>
                <a:cs typeface="Times New Roman" panose="02020603050405020304" pitchFamily="18" charset="0"/>
              </a:rPr>
              <a:t>B</a:t>
            </a:r>
            <a:r>
              <a:rPr lang="zh-CN" altLang="en-US" sz="2400" dirty="0">
                <a:effectLst/>
                <a:latin typeface="Arial" panose="020B0604020202020204" pitchFamily="34" charset="0"/>
                <a:ea typeface="楷体_GB2312" pitchFamily="49" charset="-122"/>
                <a:cs typeface="Times New Roman" panose="02020603050405020304" pitchFamily="18" charset="0"/>
              </a:rPr>
              <a:t>，其操作如下：</a:t>
            </a:r>
          </a:p>
          <a:p>
            <a:pPr marL="533400" indent="-533400" algn="just">
              <a:lnSpc>
                <a:spcPct val="110000"/>
              </a:lnSpc>
            </a:pPr>
            <a:r>
              <a:rPr lang="zh-CN" altLang="en-US" sz="2400" dirty="0">
                <a:effectLst/>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0000CC"/>
                </a:solidFill>
                <a:effectLst/>
                <a:latin typeface="Arial" panose="020B0604020202020204" pitchFamily="34" charset="0"/>
                <a:ea typeface="楷体_GB2312" pitchFamily="49" charset="-122"/>
                <a:cs typeface="Times New Roman" panose="02020603050405020304" pitchFamily="18" charset="0"/>
              </a:rPr>
              <a:t>BEGIN TRANSACTION </a:t>
            </a:r>
            <a:r>
              <a:rPr lang="en-US" altLang="zh-CN" sz="2400" dirty="0" err="1">
                <a:solidFill>
                  <a:srgbClr val="0000CC"/>
                </a:solidFill>
                <a:effectLst/>
                <a:latin typeface="Arial" panose="020B0604020202020204" pitchFamily="34" charset="0"/>
                <a:ea typeface="楷体_GB2312" pitchFamily="49" charset="-122"/>
                <a:cs typeface="Times New Roman" panose="02020603050405020304" pitchFamily="18" charset="0"/>
              </a:rPr>
              <a:t>tran_bank</a:t>
            </a:r>
            <a:r>
              <a:rPr lang="en-US" altLang="zh-CN" sz="2400" dirty="0">
                <a:solidFill>
                  <a:srgbClr val="0000CC"/>
                </a:solidFill>
                <a:effectLst/>
                <a:latin typeface="Arial" panose="020B0604020202020204" pitchFamily="34" charset="0"/>
                <a:ea typeface="楷体_GB2312" pitchFamily="49" charset="-122"/>
                <a:cs typeface="Times New Roman" panose="02020603050405020304" pitchFamily="18" charset="0"/>
              </a:rPr>
              <a:t>;</a:t>
            </a:r>
            <a:r>
              <a:rPr lang="zh-CN" altLang="en-US" sz="2400" dirty="0">
                <a:effectLst/>
                <a:latin typeface="Arial" panose="020B0604020202020204" pitchFamily="34" charset="0"/>
                <a:ea typeface="楷体_GB2312" pitchFamily="49" charset="-122"/>
                <a:cs typeface="Times New Roman" panose="02020603050405020304" pitchFamily="18" charset="0"/>
              </a:rPr>
              <a:t> </a:t>
            </a:r>
          </a:p>
          <a:p>
            <a:pPr marL="533400" indent="-533400" algn="just">
              <a:lnSpc>
                <a:spcPct val="110000"/>
              </a:lnSpc>
            </a:pPr>
            <a:r>
              <a:rPr lang="en-US" altLang="zh-CN" sz="2400" dirty="0">
                <a:effectLst/>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read</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A</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A:</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A-10000</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write</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A</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zh-CN" altLang="en-US" sz="2400" dirty="0">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zh-CN" altLang="en-US" sz="2400" dirty="0">
                <a:effectLst/>
                <a:latin typeface="Arial" panose="020B0604020202020204" pitchFamily="34" charset="0"/>
                <a:ea typeface="楷体_GB2312" pitchFamily="49" charset="-122"/>
                <a:cs typeface="Times New Roman" panose="02020603050405020304" pitchFamily="18" charset="0"/>
              </a:rPr>
              <a:t>       </a:t>
            </a:r>
            <a:r>
              <a:rPr lang="en-US" altLang="zh-CN" sz="2400" dirty="0">
                <a:effectLst/>
                <a:latin typeface="Arial" panose="020B0604020202020204" pitchFamily="34" charset="0"/>
                <a:ea typeface="楷体_GB2312" pitchFamily="49" charset="-122"/>
                <a:cs typeface="Times New Roman" panose="02020603050405020304" pitchFamily="18" charset="0"/>
              </a:rPr>
              <a:t>IF (A&lt;0) THEN {  </a:t>
            </a:r>
            <a:r>
              <a:rPr lang="en-US" altLang="zh-CN" sz="2400" dirty="0">
                <a:solidFill>
                  <a:srgbClr val="0000CC"/>
                </a:solidFill>
                <a:effectLst/>
                <a:latin typeface="Arial" panose="020B0604020202020204" pitchFamily="34" charset="0"/>
                <a:ea typeface="楷体_GB2312" pitchFamily="49" charset="-122"/>
                <a:cs typeface="Times New Roman" panose="02020603050405020304" pitchFamily="18" charset="0"/>
              </a:rPr>
              <a:t>ROLLBACK TRANSACTION</a:t>
            </a:r>
            <a:r>
              <a:rPr lang="en-US" altLang="zh-CN" sz="2400" dirty="0">
                <a:effectLst/>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zh-CN" altLang="en-US" sz="2400" dirty="0">
                <a:effectLst/>
                <a:latin typeface="Arial" panose="020B0604020202020204" pitchFamily="34" charset="0"/>
                <a:ea typeface="楷体_GB2312" pitchFamily="49" charset="-122"/>
                <a:cs typeface="Times New Roman" panose="02020603050405020304" pitchFamily="18" charset="0"/>
              </a:rPr>
              <a:t>       </a:t>
            </a:r>
            <a:r>
              <a:rPr lang="en-US" altLang="zh-CN" sz="2400" dirty="0">
                <a:effectLst/>
                <a:latin typeface="Arial" panose="020B0604020202020204" pitchFamily="34" charset="0"/>
                <a:ea typeface="楷体_GB2312" pitchFamily="49" charset="-122"/>
                <a:cs typeface="Times New Roman" panose="02020603050405020304" pitchFamily="18" charset="0"/>
              </a:rPr>
              <a:t>ELSE  {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read</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B</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B:</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B</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10000</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               write</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B</a:t>
            </a:r>
            <a:r>
              <a:rPr lang="zh-CN" altLang="en-US"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solidFill>
                  <a:srgbClr val="660066"/>
                </a:solidFill>
                <a:latin typeface="Arial" panose="020B0604020202020204" pitchFamily="34" charset="0"/>
                <a:ea typeface="楷体_GB2312" pitchFamily="49" charset="-122"/>
                <a:cs typeface="Times New Roman" panose="02020603050405020304" pitchFamily="18" charset="0"/>
              </a:rPr>
              <a:t>;</a:t>
            </a:r>
            <a:r>
              <a:rPr lang="en-US" altLang="zh-CN" sz="2400" dirty="0">
                <a:effectLst/>
                <a:latin typeface="Arial" panose="020B0604020202020204" pitchFamily="34" charset="0"/>
                <a:ea typeface="楷体_GB2312" pitchFamily="49" charset="-122"/>
                <a:cs typeface="Times New Roman" panose="02020603050405020304" pitchFamily="18" charset="0"/>
              </a:rPr>
              <a:t> </a:t>
            </a:r>
          </a:p>
          <a:p>
            <a:pPr marL="533400" indent="-533400" algn="just">
              <a:lnSpc>
                <a:spcPct val="110000"/>
              </a:lnSpc>
            </a:pPr>
            <a:r>
              <a:rPr lang="en-US" altLang="zh-CN" sz="2400" dirty="0">
                <a:effectLst/>
                <a:latin typeface="Arial" panose="020B0604020202020204" pitchFamily="34" charset="0"/>
                <a:ea typeface="楷体_GB2312" pitchFamily="49" charset="-122"/>
                <a:cs typeface="Times New Roman" panose="02020603050405020304" pitchFamily="18" charset="0"/>
              </a:rPr>
              <a:t>           </a:t>
            </a:r>
            <a:r>
              <a:rPr lang="en-US" altLang="zh-CN" sz="2400" dirty="0">
                <a:solidFill>
                  <a:srgbClr val="0000CC"/>
                </a:solidFill>
                <a:effectLst/>
                <a:latin typeface="Arial" panose="020B0604020202020204" pitchFamily="34" charset="0"/>
                <a:ea typeface="楷体_GB2312" pitchFamily="49" charset="-122"/>
                <a:cs typeface="Times New Roman" panose="02020603050405020304" pitchFamily="18" charset="0"/>
              </a:rPr>
              <a:t>COMMIT TRANSACTION </a:t>
            </a:r>
            <a:r>
              <a:rPr lang="en-US" altLang="zh-CN" sz="2400" dirty="0" err="1">
                <a:solidFill>
                  <a:srgbClr val="0000CC"/>
                </a:solidFill>
                <a:effectLst/>
                <a:latin typeface="Arial" panose="020B0604020202020204" pitchFamily="34" charset="0"/>
                <a:ea typeface="楷体_GB2312" pitchFamily="49" charset="-122"/>
                <a:cs typeface="Times New Roman" panose="02020603050405020304" pitchFamily="18" charset="0"/>
              </a:rPr>
              <a:t>tran_bank</a:t>
            </a:r>
            <a:r>
              <a:rPr lang="en-US" altLang="zh-CN" sz="2400" dirty="0">
                <a:solidFill>
                  <a:srgbClr val="0000CC"/>
                </a:solidFill>
                <a:effectLst/>
                <a:latin typeface="Arial" panose="020B0604020202020204" pitchFamily="34" charset="0"/>
                <a:ea typeface="楷体_GB2312" pitchFamily="49" charset="-122"/>
                <a:cs typeface="Times New Roman" panose="02020603050405020304" pitchFamily="18" charset="0"/>
              </a:rPr>
              <a:t>; </a:t>
            </a:r>
            <a:r>
              <a:rPr lang="en-US" altLang="zh-CN" sz="2400" dirty="0">
                <a:effectLst/>
                <a:latin typeface="Arial" panose="020B0604020202020204" pitchFamily="34" charset="0"/>
                <a:ea typeface="楷体_GB2312" pitchFamily="49" charset="-122"/>
                <a:cs typeface="Times New Roman" panose="02020603050405020304" pitchFamily="18" charset="0"/>
              </a:rPr>
              <a:t>}</a:t>
            </a:r>
          </a:p>
          <a:p>
            <a:pPr marL="533400" indent="-533400" algn="just">
              <a:lnSpc>
                <a:spcPct val="110000"/>
              </a:lnSpc>
            </a:pPr>
            <a:r>
              <a:rPr lang="en-US" altLang="zh-CN" sz="2400" dirty="0">
                <a:effectLst/>
                <a:latin typeface="Arial" panose="020B0604020202020204" pitchFamily="34" charset="0"/>
                <a:ea typeface="楷体_GB2312" pitchFamily="49" charset="-122"/>
                <a:cs typeface="Times New Roman" panose="02020603050405020304" pitchFamily="18" charset="0"/>
              </a:rPr>
              <a:t>       ENDIF;</a:t>
            </a:r>
          </a:p>
        </p:txBody>
      </p:sp>
      <p:sp>
        <p:nvSpPr>
          <p:cNvPr id="265220" name="Rectangle 4"/>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7916"/>
    </mc:Choice>
    <mc:Fallback xmlns="">
      <p:transition spd="slow" advTm="1079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5218">
                                            <p:txEl>
                                              <p:pRg st="0" end="0"/>
                                            </p:txEl>
                                          </p:spTgt>
                                        </p:tgtEl>
                                        <p:attrNameLst>
                                          <p:attrName>style.visibility</p:attrName>
                                        </p:attrNameLst>
                                      </p:cBhvr>
                                      <p:to>
                                        <p:strVal val="visible"/>
                                      </p:to>
                                    </p:set>
                                    <p:animEffect transition="in" filter="wipe(left)">
                                      <p:cBhvr>
                                        <p:cTn id="7" dur="1000"/>
                                        <p:tgtEl>
                                          <p:spTgt spid="2652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5218">
                                            <p:txEl>
                                              <p:pRg st="1" end="1"/>
                                            </p:txEl>
                                          </p:spTgt>
                                        </p:tgtEl>
                                        <p:attrNameLst>
                                          <p:attrName>style.visibility</p:attrName>
                                        </p:attrNameLst>
                                      </p:cBhvr>
                                      <p:to>
                                        <p:strVal val="visible"/>
                                      </p:to>
                                    </p:set>
                                    <p:animEffect transition="in" filter="wipe(left)">
                                      <p:cBhvr>
                                        <p:cTn id="12" dur="1000"/>
                                        <p:tgtEl>
                                          <p:spTgt spid="2652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5218">
                                            <p:txEl>
                                              <p:pRg st="2" end="2"/>
                                            </p:txEl>
                                          </p:spTgt>
                                        </p:tgtEl>
                                        <p:attrNameLst>
                                          <p:attrName>style.visibility</p:attrName>
                                        </p:attrNameLst>
                                      </p:cBhvr>
                                      <p:to>
                                        <p:strVal val="visible"/>
                                      </p:to>
                                    </p:set>
                                    <p:animEffect transition="in" filter="wipe(left)">
                                      <p:cBhvr>
                                        <p:cTn id="17" dur="1000"/>
                                        <p:tgtEl>
                                          <p:spTgt spid="2652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5218">
                                            <p:txEl>
                                              <p:pRg st="3" end="3"/>
                                            </p:txEl>
                                          </p:spTgt>
                                        </p:tgtEl>
                                        <p:attrNameLst>
                                          <p:attrName>style.visibility</p:attrName>
                                        </p:attrNameLst>
                                      </p:cBhvr>
                                      <p:to>
                                        <p:strVal val="visible"/>
                                      </p:to>
                                    </p:set>
                                    <p:animEffect transition="in" filter="wipe(left)">
                                      <p:cBhvr>
                                        <p:cTn id="22" dur="1000"/>
                                        <p:tgtEl>
                                          <p:spTgt spid="2652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5218">
                                            <p:txEl>
                                              <p:pRg st="4" end="4"/>
                                            </p:txEl>
                                          </p:spTgt>
                                        </p:tgtEl>
                                        <p:attrNameLst>
                                          <p:attrName>style.visibility</p:attrName>
                                        </p:attrNameLst>
                                      </p:cBhvr>
                                      <p:to>
                                        <p:strVal val="visible"/>
                                      </p:to>
                                    </p:set>
                                    <p:animEffect transition="in" filter="wipe(left)">
                                      <p:cBhvr>
                                        <p:cTn id="27" dur="1000"/>
                                        <p:tgtEl>
                                          <p:spTgt spid="2652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5218">
                                            <p:txEl>
                                              <p:pRg st="5" end="5"/>
                                            </p:txEl>
                                          </p:spTgt>
                                        </p:tgtEl>
                                        <p:attrNameLst>
                                          <p:attrName>style.visibility</p:attrName>
                                        </p:attrNameLst>
                                      </p:cBhvr>
                                      <p:to>
                                        <p:strVal val="visible"/>
                                      </p:to>
                                    </p:set>
                                    <p:animEffect transition="in" filter="wipe(left)">
                                      <p:cBhvr>
                                        <p:cTn id="32" dur="1000"/>
                                        <p:tgtEl>
                                          <p:spTgt spid="2652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5218">
                                            <p:txEl>
                                              <p:pRg st="6" end="6"/>
                                            </p:txEl>
                                          </p:spTgt>
                                        </p:tgtEl>
                                        <p:attrNameLst>
                                          <p:attrName>style.visibility</p:attrName>
                                        </p:attrNameLst>
                                      </p:cBhvr>
                                      <p:to>
                                        <p:strVal val="visible"/>
                                      </p:to>
                                    </p:set>
                                    <p:animEffect transition="in" filter="wipe(left)">
                                      <p:cBhvr>
                                        <p:cTn id="37" dur="1000"/>
                                        <p:tgtEl>
                                          <p:spTgt spid="26521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5218">
                                            <p:txEl>
                                              <p:pRg st="7" end="7"/>
                                            </p:txEl>
                                          </p:spTgt>
                                        </p:tgtEl>
                                        <p:attrNameLst>
                                          <p:attrName>style.visibility</p:attrName>
                                        </p:attrNameLst>
                                      </p:cBhvr>
                                      <p:to>
                                        <p:strVal val="visible"/>
                                      </p:to>
                                    </p:set>
                                    <p:animEffect transition="in" filter="wipe(left)">
                                      <p:cBhvr>
                                        <p:cTn id="42" dur="1000"/>
                                        <p:tgtEl>
                                          <p:spTgt spid="26521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5218">
                                            <p:txEl>
                                              <p:pRg st="8" end="8"/>
                                            </p:txEl>
                                          </p:spTgt>
                                        </p:tgtEl>
                                        <p:attrNameLst>
                                          <p:attrName>style.visibility</p:attrName>
                                        </p:attrNameLst>
                                      </p:cBhvr>
                                      <p:to>
                                        <p:strVal val="visible"/>
                                      </p:to>
                                    </p:set>
                                    <p:animEffect transition="in" filter="wipe(left)">
                                      <p:cBhvr>
                                        <p:cTn id="47" dur="1000"/>
                                        <p:tgtEl>
                                          <p:spTgt spid="26521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5218">
                                            <p:txEl>
                                              <p:pRg st="9" end="9"/>
                                            </p:txEl>
                                          </p:spTgt>
                                        </p:tgtEl>
                                        <p:attrNameLst>
                                          <p:attrName>style.visibility</p:attrName>
                                        </p:attrNameLst>
                                      </p:cBhvr>
                                      <p:to>
                                        <p:strVal val="visible"/>
                                      </p:to>
                                    </p:set>
                                    <p:animEffect transition="in" filter="wipe(left)">
                                      <p:cBhvr>
                                        <p:cTn id="52" dur="1000"/>
                                        <p:tgtEl>
                                          <p:spTgt spid="26521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5218">
                                            <p:txEl>
                                              <p:pRg st="10" end="10"/>
                                            </p:txEl>
                                          </p:spTgt>
                                        </p:tgtEl>
                                        <p:attrNameLst>
                                          <p:attrName>style.visibility</p:attrName>
                                        </p:attrNameLst>
                                      </p:cBhvr>
                                      <p:to>
                                        <p:strVal val="visible"/>
                                      </p:to>
                                    </p:set>
                                    <p:animEffect transition="in" filter="wipe(left)">
                                      <p:cBhvr>
                                        <p:cTn id="57" dur="1000"/>
                                        <p:tgtEl>
                                          <p:spTgt spid="2652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1" name="Rectangle 21"/>
          <p:cNvSpPr>
            <a:spLocks noChangeArrowheads="1"/>
          </p:cNvSpPr>
          <p:nvPr/>
        </p:nvSpPr>
        <p:spPr bwMode="auto">
          <a:xfrm>
            <a:off x="609600" y="1092200"/>
            <a:ext cx="8305800" cy="8223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rgbClr val="080808"/>
                </a:solidFill>
                <a:miter lim="800000"/>
                <a:headEnd type="none" w="sm" len="sm"/>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50000"/>
              </a:spcBef>
              <a:buClr>
                <a:schemeClr val="hlink"/>
              </a:buClr>
              <a:buFontTx/>
              <a:buChar char="•"/>
            </a:pPr>
            <a:r>
              <a:rPr lang="zh-CN" altLang="en-US" sz="2400" b="1">
                <a:solidFill>
                  <a:srgbClr val="CC3300"/>
                </a:solidFill>
                <a:effectLst>
                  <a:outerShdw blurRad="38100" dist="38100" dir="2700000" algn="tl">
                    <a:srgbClr val="C0C0C0"/>
                  </a:outerShdw>
                </a:effectLst>
                <a:latin typeface="楷体_GB2312" pitchFamily="49" charset="-122"/>
              </a:rPr>
              <a:t>一致性　　</a:t>
            </a:r>
            <a:endParaRPr lang="zh-CN" altLang="en-US" sz="2400" b="1">
              <a:solidFill>
                <a:srgbClr val="080808"/>
              </a:solidFill>
              <a:effectLst>
                <a:outerShdw blurRad="38100" dist="38100" dir="2700000" algn="tl">
                  <a:srgbClr val="C0C0C0"/>
                </a:outerShdw>
              </a:effectLst>
              <a:latin typeface="楷体_GB2312" pitchFamily="49" charset="-122"/>
            </a:endParaRPr>
          </a:p>
          <a:p>
            <a:pPr lvl="1">
              <a:buClr>
                <a:schemeClr val="hlink"/>
              </a:buClr>
            </a:pPr>
            <a:r>
              <a:rPr lang="zh-CN" altLang="en-US" sz="2400" b="1">
                <a:solidFill>
                  <a:srgbClr val="080808"/>
                </a:solidFill>
                <a:effectLst>
                  <a:outerShdw blurRad="38100" dist="38100" dir="2700000" algn="tl">
                    <a:srgbClr val="C0C0C0"/>
                  </a:outerShdw>
                </a:effectLst>
                <a:latin typeface="楷体_GB2312" pitchFamily="49" charset="-122"/>
              </a:rPr>
              <a:t>　　要求事务的执行不改变</a:t>
            </a:r>
            <a:r>
              <a:rPr lang="en-US" altLang="zh-CN" sz="2400" b="1">
                <a:solidFill>
                  <a:srgbClr val="080808"/>
                </a:solidFill>
                <a:effectLst>
                  <a:outerShdw blurRad="38100" dist="38100" dir="2700000" algn="tl">
                    <a:srgbClr val="C0C0C0"/>
                  </a:outerShdw>
                </a:effectLst>
                <a:latin typeface="楷体_GB2312" pitchFamily="49" charset="-122"/>
              </a:rPr>
              <a:t>A、B</a:t>
            </a:r>
            <a:r>
              <a:rPr lang="zh-CN" altLang="en-US" sz="2400" b="1">
                <a:solidFill>
                  <a:srgbClr val="080808"/>
                </a:solidFill>
                <a:effectLst>
                  <a:outerShdw blurRad="38100" dist="38100" dir="2700000" algn="tl">
                    <a:srgbClr val="C0C0C0"/>
                  </a:outerShdw>
                </a:effectLst>
                <a:latin typeface="楷体_GB2312" pitchFamily="49" charset="-122"/>
              </a:rPr>
              <a:t>账号之和。</a:t>
            </a:r>
          </a:p>
        </p:txBody>
      </p:sp>
      <p:sp>
        <p:nvSpPr>
          <p:cNvPr id="389142" name="Rectangle 22"/>
          <p:cNvSpPr>
            <a:spLocks noChangeArrowheads="1"/>
          </p:cNvSpPr>
          <p:nvPr/>
        </p:nvSpPr>
        <p:spPr bwMode="auto">
          <a:xfrm>
            <a:off x="4038600" y="1052513"/>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zh-CN" altLang="en-US" sz="2400" b="1">
                <a:solidFill>
                  <a:srgbClr val="009900"/>
                </a:solidFill>
                <a:effectLst>
                  <a:outerShdw blurRad="38100" dist="38100" dir="2700000" algn="tl">
                    <a:srgbClr val="C0C0C0"/>
                  </a:outerShdw>
                </a:effectLst>
                <a:latin typeface="楷体_GB2312" pitchFamily="49" charset="-122"/>
              </a:rPr>
              <a:t>完整性约束子系统</a:t>
            </a:r>
          </a:p>
        </p:txBody>
      </p:sp>
      <p:sp>
        <p:nvSpPr>
          <p:cNvPr id="389143" name="Rectangle 23"/>
          <p:cNvSpPr>
            <a:spLocks noChangeArrowheads="1"/>
          </p:cNvSpPr>
          <p:nvPr/>
        </p:nvSpPr>
        <p:spPr bwMode="auto">
          <a:xfrm>
            <a:off x="609600" y="1990725"/>
            <a:ext cx="8229600" cy="13700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808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50000"/>
              </a:spcBef>
              <a:buClr>
                <a:schemeClr val="hlink"/>
              </a:buClr>
              <a:buFontTx/>
              <a:buChar char="•"/>
            </a:pPr>
            <a:r>
              <a:rPr lang="zh-CN" altLang="en-US" sz="2400" b="1">
                <a:solidFill>
                  <a:srgbClr val="CC3300"/>
                </a:solidFill>
                <a:effectLst>
                  <a:outerShdw blurRad="38100" dist="38100" dir="2700000" algn="tl">
                    <a:srgbClr val="C0C0C0"/>
                  </a:outerShdw>
                </a:effectLst>
                <a:latin typeface="楷体_GB2312" pitchFamily="49" charset="-122"/>
              </a:rPr>
              <a:t>原子性　　</a:t>
            </a:r>
            <a:r>
              <a:rPr lang="zh-CN" altLang="en-US" sz="2400" b="1">
                <a:solidFill>
                  <a:srgbClr val="080808"/>
                </a:solidFill>
                <a:effectLst>
                  <a:outerShdw blurRad="38100" dist="38100" dir="2700000" algn="tl">
                    <a:srgbClr val="C0C0C0"/>
                  </a:outerShdw>
                </a:effectLst>
                <a:latin typeface="楷体_GB2312" pitchFamily="49" charset="-122"/>
              </a:rPr>
              <a:t>　</a:t>
            </a:r>
          </a:p>
          <a:p>
            <a:pPr lvl="1">
              <a:spcBef>
                <a:spcPct val="50000"/>
              </a:spcBef>
              <a:buClr>
                <a:schemeClr val="hlink"/>
              </a:buClr>
            </a:pPr>
            <a:r>
              <a:rPr lang="zh-CN" altLang="en-US" sz="2400" b="1">
                <a:solidFill>
                  <a:srgbClr val="080808"/>
                </a:solidFill>
                <a:effectLst>
                  <a:outerShdw blurRad="38100" dist="38100" dir="2700000" algn="tl">
                    <a:srgbClr val="C0C0C0"/>
                  </a:outerShdw>
                </a:effectLst>
                <a:latin typeface="楷体_GB2312" pitchFamily="49" charset="-122"/>
              </a:rPr>
              <a:t>　　若在</a:t>
            </a:r>
            <a:r>
              <a:rPr lang="en-US" altLang="zh-CN" sz="2400" b="1">
                <a:solidFill>
                  <a:srgbClr val="080808"/>
                </a:solidFill>
                <a:effectLst>
                  <a:outerShdw blurRad="38100" dist="38100" dir="2700000" algn="tl">
                    <a:srgbClr val="C0C0C0"/>
                  </a:outerShdw>
                </a:effectLst>
                <a:latin typeface="楷体_GB2312" pitchFamily="49" charset="-122"/>
              </a:rPr>
              <a:t>write(A)</a:t>
            </a:r>
            <a:r>
              <a:rPr lang="zh-CN" altLang="en-US" sz="2400" b="1">
                <a:solidFill>
                  <a:srgbClr val="080808"/>
                </a:solidFill>
                <a:effectLst>
                  <a:outerShdw blurRad="38100" dist="38100" dir="2700000" algn="tl">
                    <a:srgbClr val="C0C0C0"/>
                  </a:outerShdw>
                </a:effectLst>
                <a:latin typeface="楷体_GB2312" pitchFamily="49" charset="-122"/>
              </a:rPr>
              <a:t>和</a:t>
            </a:r>
            <a:r>
              <a:rPr lang="en-US" altLang="zh-CN" sz="2400" b="1">
                <a:solidFill>
                  <a:srgbClr val="080808"/>
                </a:solidFill>
                <a:effectLst>
                  <a:outerShdw blurRad="38100" dist="38100" dir="2700000" algn="tl">
                    <a:srgbClr val="C0C0C0"/>
                  </a:outerShdw>
                </a:effectLst>
                <a:latin typeface="楷体_GB2312" pitchFamily="49" charset="-122"/>
              </a:rPr>
              <a:t>write(B)</a:t>
            </a:r>
            <a:r>
              <a:rPr lang="zh-CN" altLang="en-US" sz="2400" b="1">
                <a:solidFill>
                  <a:srgbClr val="080808"/>
                </a:solidFill>
                <a:effectLst>
                  <a:outerShdw blurRad="38100" dist="38100" dir="2700000" algn="tl">
                    <a:srgbClr val="C0C0C0"/>
                  </a:outerShdw>
                </a:effectLst>
                <a:latin typeface="楷体_GB2312" pitchFamily="49" charset="-122"/>
              </a:rPr>
              <a:t>之间发生故障，则账号</a:t>
            </a:r>
            <a:r>
              <a:rPr lang="en-US" altLang="zh-CN" sz="2400" b="1">
                <a:solidFill>
                  <a:srgbClr val="080808"/>
                </a:solidFill>
                <a:effectLst>
                  <a:outerShdw blurRad="38100" dist="38100" dir="2700000" algn="tl">
                    <a:srgbClr val="C0C0C0"/>
                  </a:outerShdw>
                </a:effectLst>
                <a:latin typeface="楷体_GB2312" pitchFamily="49" charset="-122"/>
              </a:rPr>
              <a:t>A</a:t>
            </a:r>
            <a:r>
              <a:rPr lang="zh-CN" altLang="en-US" sz="2400" b="1">
                <a:solidFill>
                  <a:srgbClr val="080808"/>
                </a:solidFill>
                <a:effectLst>
                  <a:outerShdw blurRad="38100" dist="38100" dir="2700000" algn="tl">
                    <a:srgbClr val="C0C0C0"/>
                  </a:outerShdw>
                </a:effectLst>
                <a:latin typeface="楷体_GB2312" pitchFamily="49" charset="-122"/>
              </a:rPr>
              <a:t>减少</a:t>
            </a:r>
            <a:r>
              <a:rPr lang="en-US" altLang="zh-CN" sz="2400" b="1">
                <a:solidFill>
                  <a:srgbClr val="080808"/>
                </a:solidFill>
                <a:effectLst>
                  <a:outerShdw blurRad="38100" dist="38100" dir="2700000" algn="tl">
                    <a:srgbClr val="C0C0C0"/>
                  </a:outerShdw>
                </a:effectLst>
                <a:latin typeface="楷体_GB2312" pitchFamily="49" charset="-122"/>
              </a:rPr>
              <a:t>10000</a:t>
            </a:r>
            <a:r>
              <a:rPr lang="zh-CN" altLang="en-US" sz="2400" b="1">
                <a:solidFill>
                  <a:srgbClr val="080808"/>
                </a:solidFill>
                <a:effectLst>
                  <a:outerShdw blurRad="38100" dist="38100" dir="2700000" algn="tl">
                    <a:srgbClr val="C0C0C0"/>
                  </a:outerShdw>
                </a:effectLst>
                <a:latin typeface="楷体_GB2312" pitchFamily="49" charset="-122"/>
              </a:rPr>
              <a:t>元，而</a:t>
            </a:r>
            <a:r>
              <a:rPr lang="en-US" altLang="zh-CN" sz="2400" b="1">
                <a:solidFill>
                  <a:srgbClr val="080808"/>
                </a:solidFill>
                <a:effectLst>
                  <a:outerShdw blurRad="38100" dist="38100" dir="2700000" algn="tl">
                    <a:srgbClr val="C0C0C0"/>
                  </a:outerShdw>
                </a:effectLst>
                <a:latin typeface="楷体_GB2312" pitchFamily="49" charset="-122"/>
              </a:rPr>
              <a:t>B</a:t>
            </a:r>
            <a:r>
              <a:rPr lang="zh-CN" altLang="en-US" sz="2400" b="1">
                <a:solidFill>
                  <a:srgbClr val="080808"/>
                </a:solidFill>
                <a:effectLst>
                  <a:outerShdw blurRad="38100" dist="38100" dir="2700000" algn="tl">
                    <a:srgbClr val="C0C0C0"/>
                  </a:outerShdw>
                </a:effectLst>
                <a:latin typeface="楷体_GB2312" pitchFamily="49" charset="-122"/>
              </a:rPr>
              <a:t>还未获得这些钱。</a:t>
            </a:r>
          </a:p>
        </p:txBody>
      </p:sp>
      <p:sp>
        <p:nvSpPr>
          <p:cNvPr id="389144" name="Rectangle 24"/>
          <p:cNvSpPr>
            <a:spLocks noChangeArrowheads="1"/>
          </p:cNvSpPr>
          <p:nvPr/>
        </p:nvSpPr>
        <p:spPr bwMode="auto">
          <a:xfrm>
            <a:off x="4267200" y="2130425"/>
            <a:ext cx="232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zh-CN" altLang="en-US" sz="2400" b="1">
                <a:solidFill>
                  <a:srgbClr val="009900"/>
                </a:solidFill>
                <a:effectLst>
                  <a:outerShdw blurRad="38100" dist="38100" dir="2700000" algn="tl">
                    <a:srgbClr val="C0C0C0"/>
                  </a:outerShdw>
                </a:effectLst>
                <a:latin typeface="楷体_GB2312" pitchFamily="49" charset="-122"/>
              </a:rPr>
              <a:t>事务管理子系统</a:t>
            </a:r>
          </a:p>
        </p:txBody>
      </p:sp>
      <p:sp>
        <p:nvSpPr>
          <p:cNvPr id="389145" name="Rectangle 25"/>
          <p:cNvSpPr>
            <a:spLocks noChangeArrowheads="1"/>
          </p:cNvSpPr>
          <p:nvPr/>
        </p:nvSpPr>
        <p:spPr bwMode="auto">
          <a:xfrm>
            <a:off x="533400" y="3514725"/>
            <a:ext cx="8229600" cy="13700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808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50000"/>
              </a:spcBef>
              <a:buClr>
                <a:schemeClr val="hlink"/>
              </a:buClr>
              <a:buFontTx/>
              <a:buChar char="•"/>
            </a:pPr>
            <a:r>
              <a:rPr lang="zh-CN" altLang="en-US" sz="2400" b="1">
                <a:solidFill>
                  <a:srgbClr val="CC3300"/>
                </a:solidFill>
                <a:effectLst>
                  <a:outerShdw blurRad="38100" dist="38100" dir="2700000" algn="tl">
                    <a:srgbClr val="C0C0C0"/>
                  </a:outerShdw>
                </a:effectLst>
                <a:latin typeface="楷体_GB2312" pitchFamily="49" charset="-122"/>
              </a:rPr>
              <a:t>永久性　　　</a:t>
            </a:r>
            <a:endParaRPr lang="zh-CN" altLang="en-US" sz="2400" b="1">
              <a:solidFill>
                <a:srgbClr val="080808"/>
              </a:solidFill>
              <a:effectLst>
                <a:outerShdw blurRad="38100" dist="38100" dir="2700000" algn="tl">
                  <a:srgbClr val="C0C0C0"/>
                </a:outerShdw>
              </a:effectLst>
              <a:latin typeface="楷体_GB2312" pitchFamily="49" charset="-122"/>
            </a:endParaRPr>
          </a:p>
          <a:p>
            <a:pPr lvl="1">
              <a:spcBef>
                <a:spcPct val="50000"/>
              </a:spcBef>
              <a:buClr>
                <a:schemeClr val="hlink"/>
              </a:buClr>
            </a:pPr>
            <a:r>
              <a:rPr lang="zh-CN" altLang="en-US" sz="2400" b="1">
                <a:solidFill>
                  <a:srgbClr val="080808"/>
                </a:solidFill>
                <a:effectLst>
                  <a:outerShdw blurRad="38100" dist="38100" dir="2700000" algn="tl">
                    <a:srgbClr val="C0C0C0"/>
                  </a:outerShdw>
                </a:effectLst>
                <a:latin typeface="楷体_GB2312" pitchFamily="49" charset="-122"/>
              </a:rPr>
              <a:t>　　一旦事务成功完成，该事务对数据库施加的所有更新就是永久的。</a:t>
            </a:r>
          </a:p>
        </p:txBody>
      </p:sp>
      <p:sp>
        <p:nvSpPr>
          <p:cNvPr id="389146" name="Rectangle 26"/>
          <p:cNvSpPr>
            <a:spLocks noChangeArrowheads="1"/>
          </p:cNvSpPr>
          <p:nvPr/>
        </p:nvSpPr>
        <p:spPr bwMode="auto">
          <a:xfrm>
            <a:off x="4267200" y="3654425"/>
            <a:ext cx="232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zh-CN" altLang="en-US" sz="2400" b="1">
                <a:solidFill>
                  <a:srgbClr val="009900"/>
                </a:solidFill>
                <a:effectLst>
                  <a:outerShdw blurRad="38100" dist="38100" dir="2700000" algn="tl">
                    <a:srgbClr val="C0C0C0"/>
                  </a:outerShdw>
                </a:effectLst>
                <a:latin typeface="楷体_GB2312" pitchFamily="49" charset="-122"/>
              </a:rPr>
              <a:t>恢复管理子系统</a:t>
            </a:r>
          </a:p>
        </p:txBody>
      </p:sp>
      <p:sp>
        <p:nvSpPr>
          <p:cNvPr id="389147" name="Rectangle 27"/>
          <p:cNvSpPr>
            <a:spLocks noChangeArrowheads="1"/>
          </p:cNvSpPr>
          <p:nvPr/>
        </p:nvSpPr>
        <p:spPr bwMode="auto">
          <a:xfrm>
            <a:off x="539750" y="5083175"/>
            <a:ext cx="8305800" cy="13700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8080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50000"/>
              </a:spcBef>
              <a:buClr>
                <a:schemeClr val="hlink"/>
              </a:buClr>
              <a:buFontTx/>
              <a:buChar char="•"/>
            </a:pPr>
            <a:r>
              <a:rPr lang="zh-CN" altLang="en-US" sz="2400" b="1">
                <a:solidFill>
                  <a:srgbClr val="CC3300"/>
                </a:solidFill>
                <a:effectLst>
                  <a:outerShdw blurRad="38100" dist="38100" dir="2700000" algn="tl">
                    <a:srgbClr val="C0C0C0"/>
                  </a:outerShdw>
                </a:effectLst>
                <a:latin typeface="楷体_GB2312" pitchFamily="49" charset="-122"/>
              </a:rPr>
              <a:t>隔离性　　</a:t>
            </a:r>
            <a:endParaRPr lang="zh-CN" altLang="en-US" sz="2400" b="1">
              <a:solidFill>
                <a:srgbClr val="080808"/>
              </a:solidFill>
              <a:effectLst>
                <a:outerShdw blurRad="38100" dist="38100" dir="2700000" algn="tl">
                  <a:srgbClr val="C0C0C0"/>
                </a:outerShdw>
              </a:effectLst>
              <a:latin typeface="楷体_GB2312" pitchFamily="49" charset="-122"/>
            </a:endParaRPr>
          </a:p>
          <a:p>
            <a:pPr lvl="1">
              <a:spcBef>
                <a:spcPct val="50000"/>
              </a:spcBef>
              <a:buClr>
                <a:schemeClr val="hlink"/>
              </a:buClr>
            </a:pPr>
            <a:r>
              <a:rPr lang="zh-CN" altLang="en-US" sz="2400" b="1">
                <a:solidFill>
                  <a:srgbClr val="080808"/>
                </a:solidFill>
                <a:effectLst>
                  <a:outerShdw blurRad="38100" dist="38100" dir="2700000" algn="tl">
                    <a:srgbClr val="C0C0C0"/>
                  </a:outerShdw>
                </a:effectLst>
                <a:latin typeface="楷体_GB2312" pitchFamily="49" charset="-122"/>
              </a:rPr>
              <a:t>　　在并发操作时，保证事务并发执行后的系统状态与这些事务以某种次序串行执行的状态是等价的。</a:t>
            </a:r>
          </a:p>
        </p:txBody>
      </p:sp>
      <p:sp>
        <p:nvSpPr>
          <p:cNvPr id="389148" name="Rectangle 28"/>
          <p:cNvSpPr>
            <a:spLocks noChangeArrowheads="1"/>
          </p:cNvSpPr>
          <p:nvPr/>
        </p:nvSpPr>
        <p:spPr bwMode="auto">
          <a:xfrm>
            <a:off x="4114800" y="5178425"/>
            <a:ext cx="232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zh-CN" altLang="en-US" sz="2400" b="1">
                <a:solidFill>
                  <a:srgbClr val="009900"/>
                </a:solidFill>
                <a:effectLst>
                  <a:outerShdw blurRad="38100" dist="38100" dir="2700000" algn="tl">
                    <a:srgbClr val="C0C0C0"/>
                  </a:outerShdw>
                </a:effectLst>
                <a:latin typeface="楷体_GB2312" pitchFamily="49" charset="-122"/>
              </a:rPr>
              <a:t>并发控制子系统</a:t>
            </a:r>
          </a:p>
        </p:txBody>
      </p:sp>
      <p:sp>
        <p:nvSpPr>
          <p:cNvPr id="389151" name="Rectangle 31"/>
          <p:cNvSpPr>
            <a:spLocks noGrp="1" noRot="1" noChangeArrowheads="1"/>
          </p:cNvSpPr>
          <p:nvPr>
            <p:ph type="title"/>
          </p:nvPr>
        </p:nvSpPr>
        <p:spPr>
          <a:xfrm>
            <a:off x="1281113" y="309563"/>
            <a:ext cx="567055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3200">
                <a:latin typeface="仿宋_GB2312" pitchFamily="49" charset="-122"/>
                <a:ea typeface="幼圆" panose="02010509060101010101" pitchFamily="49" charset="-122"/>
              </a:rPr>
              <a:t>二、事务的提交和回退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0886"/>
    </mc:Choice>
    <mc:Fallback xmlns="">
      <p:transition spd="slow" advTm="12088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41"/>
                                        </p:tgtEl>
                                        <p:attrNameLst>
                                          <p:attrName>style.visibility</p:attrName>
                                        </p:attrNameLst>
                                      </p:cBhvr>
                                      <p:to>
                                        <p:strVal val="visible"/>
                                      </p:to>
                                    </p:set>
                                    <p:animEffect transition="in" filter="wipe(left)">
                                      <p:cBhvr>
                                        <p:cTn id="7" dur="500"/>
                                        <p:tgtEl>
                                          <p:spTgt spid="389141"/>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389142"/>
                                        </p:tgtEl>
                                        <p:attrNameLst>
                                          <p:attrName>style.visibility</p:attrName>
                                        </p:attrNameLst>
                                      </p:cBhvr>
                                      <p:to>
                                        <p:strVal val="visible"/>
                                      </p:to>
                                    </p:set>
                                    <p:anim to="" calcmode="lin" valueType="num">
                                      <p:cBhvr>
                                        <p:cTn id="12" dur="1" fill="hold"/>
                                        <p:tgtEl>
                                          <p:spTgt spid="389142"/>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389143"/>
                                        </p:tgtEl>
                                        <p:attrNameLst>
                                          <p:attrName>style.visibility</p:attrName>
                                        </p:attrNameLst>
                                      </p:cBhvr>
                                      <p:to>
                                        <p:strVal val="visible"/>
                                      </p:to>
                                    </p:set>
                                    <p:anim to="" calcmode="lin" valueType="num">
                                      <p:cBhvr>
                                        <p:cTn id="17" dur="1" fill="hold"/>
                                        <p:tgtEl>
                                          <p:spTgt spid="389143"/>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389144"/>
                                        </p:tgtEl>
                                        <p:attrNameLst>
                                          <p:attrName>style.visibility</p:attrName>
                                        </p:attrNameLst>
                                      </p:cBhvr>
                                      <p:to>
                                        <p:strVal val="visible"/>
                                      </p:to>
                                    </p:set>
                                    <p:anim to="" calcmode="lin" valueType="num">
                                      <p:cBhvr>
                                        <p:cTn id="22" dur="1" fill="hold"/>
                                        <p:tgtEl>
                                          <p:spTgt spid="389144"/>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389145"/>
                                        </p:tgtEl>
                                        <p:attrNameLst>
                                          <p:attrName>style.visibility</p:attrName>
                                        </p:attrNameLst>
                                      </p:cBhvr>
                                      <p:to>
                                        <p:strVal val="visible"/>
                                      </p:to>
                                    </p:set>
                                    <p:anim to="" calcmode="lin" valueType="num">
                                      <p:cBhvr>
                                        <p:cTn id="27" dur="1" fill="hold"/>
                                        <p:tgtEl>
                                          <p:spTgt spid="389145"/>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499"/>
                                          </p:stCondLst>
                                        </p:cTn>
                                        <p:tgtEl>
                                          <p:spTgt spid="389146"/>
                                        </p:tgtEl>
                                        <p:attrNameLst>
                                          <p:attrName>style.visibility</p:attrName>
                                        </p:attrNameLst>
                                      </p:cBhvr>
                                      <p:to>
                                        <p:strVal val="visible"/>
                                      </p:to>
                                    </p:set>
                                    <p:anim to="" calcmode="lin" valueType="num">
                                      <p:cBhvr>
                                        <p:cTn id="32" dur="1" fill="hold"/>
                                        <p:tgtEl>
                                          <p:spTgt spid="389146"/>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499"/>
                                          </p:stCondLst>
                                        </p:cTn>
                                        <p:tgtEl>
                                          <p:spTgt spid="389147"/>
                                        </p:tgtEl>
                                        <p:attrNameLst>
                                          <p:attrName>style.visibility</p:attrName>
                                        </p:attrNameLst>
                                      </p:cBhvr>
                                      <p:to>
                                        <p:strVal val="visible"/>
                                      </p:to>
                                    </p:set>
                                    <p:anim to="" calcmode="lin" valueType="num">
                                      <p:cBhvr>
                                        <p:cTn id="37" dur="1" fill="hold"/>
                                        <p:tgtEl>
                                          <p:spTgt spid="389147"/>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499"/>
                                          </p:stCondLst>
                                        </p:cTn>
                                        <p:tgtEl>
                                          <p:spTgt spid="389148"/>
                                        </p:tgtEl>
                                        <p:attrNameLst>
                                          <p:attrName>style.visibility</p:attrName>
                                        </p:attrNameLst>
                                      </p:cBhvr>
                                      <p:to>
                                        <p:strVal val="visible"/>
                                      </p:to>
                                    </p:set>
                                    <p:anim to="" calcmode="lin" valueType="num">
                                      <p:cBhvr>
                                        <p:cTn id="42" dur="1" fill="hold"/>
                                        <p:tgtEl>
                                          <p:spTgt spid="38914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1" grpId="0"/>
      <p:bldP spid="389142" grpId="0" autoUpdateAnimBg="0"/>
      <p:bldP spid="389143" grpId="0" autoUpdateAnimBg="0"/>
      <p:bldP spid="389144" grpId="0" autoUpdateAnimBg="0"/>
      <p:bldP spid="389145" grpId="0" autoUpdateAnimBg="0"/>
      <p:bldP spid="389146" grpId="0" autoUpdateAnimBg="0"/>
      <p:bldP spid="389147" grpId="0" autoUpdateAnimBg="0"/>
      <p:bldP spid="38914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ChangeArrowheads="1"/>
          </p:cNvSpPr>
          <p:nvPr/>
        </p:nvSpPr>
        <p:spPr bwMode="auto">
          <a:xfrm>
            <a:off x="1546225" y="3211513"/>
            <a:ext cx="1943100" cy="647700"/>
          </a:xfrm>
          <a:prstGeom prst="rect">
            <a:avLst/>
          </a:prstGeom>
          <a:solidFill>
            <a:srgbClr val="000080"/>
          </a:solidFill>
          <a:ln w="9525">
            <a:solidFill>
              <a:schemeClr val="tx1"/>
            </a:solidFill>
            <a:miter lim="800000"/>
          </a:ln>
          <a:effectLst>
            <a:outerShdw dist="63500" dir="2212194" algn="ctr" rotWithShape="0">
              <a:schemeClr val="tx1"/>
            </a:outerShdw>
          </a:effectLst>
        </p:spPr>
        <p:txBody>
          <a:bodyPr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FFFF00"/>
                </a:solidFill>
                <a:latin typeface="黑体" panose="02010609060101010101" pitchFamily="49" charset="-122"/>
                <a:ea typeface="黑体" panose="02010609060101010101" pitchFamily="49" charset="-122"/>
              </a:rPr>
              <a:t>事务</a:t>
            </a:r>
            <a:r>
              <a:rPr lang="zh-CN" altLang="en-US" b="1">
                <a:solidFill>
                  <a:srgbClr val="66FFFF"/>
                </a:solidFill>
                <a:latin typeface="黑体" panose="02010609060101010101" pitchFamily="49" charset="-122"/>
                <a:ea typeface="黑体" panose="02010609060101010101" pitchFamily="49" charset="-122"/>
              </a:rPr>
              <a:t> </a:t>
            </a:r>
          </a:p>
        </p:txBody>
      </p:sp>
      <p:sp>
        <p:nvSpPr>
          <p:cNvPr id="470020" name="AutoShape 4"/>
          <p:cNvSpPr/>
          <p:nvPr/>
        </p:nvSpPr>
        <p:spPr bwMode="auto">
          <a:xfrm>
            <a:off x="3635375" y="2420938"/>
            <a:ext cx="215900" cy="1871662"/>
          </a:xfrm>
          <a:prstGeom prst="leftBrace">
            <a:avLst>
              <a:gd name="adj1" fmla="val 72243"/>
              <a:gd name="adj2" fmla="val 50000"/>
            </a:avLst>
          </a:prstGeom>
          <a:noFill/>
          <a:ln w="31750" cap="sq">
            <a:solidFill>
              <a:srgbClr val="000000"/>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rgbClr val="99CCFF"/>
                </a:solidFill>
              </a14:hiddenFill>
            </a:ext>
          </a:extLst>
        </p:spPr>
        <p:txBody>
          <a:bodyPr wrap="none" anchor="ctr"/>
          <a:lstStyle/>
          <a:p>
            <a:endParaRPr lang="zh-CN" altLang="en-US"/>
          </a:p>
        </p:txBody>
      </p:sp>
      <p:sp>
        <p:nvSpPr>
          <p:cNvPr id="470021" name="Rectangle 5"/>
          <p:cNvSpPr>
            <a:spLocks noChangeArrowheads="1"/>
          </p:cNvSpPr>
          <p:nvPr/>
        </p:nvSpPr>
        <p:spPr bwMode="auto">
          <a:xfrm>
            <a:off x="3995738" y="3427413"/>
            <a:ext cx="1511300" cy="504825"/>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en-US" altLang="zh-CN" b="1">
                <a:solidFill>
                  <a:srgbClr val="CC0000"/>
                </a:solidFill>
                <a:latin typeface="黑体" panose="02010609060101010101" pitchFamily="49" charset="-122"/>
                <a:ea typeface="黑体" panose="02010609060101010101" pitchFamily="49" charset="-122"/>
              </a:rPr>
              <a:t>I</a:t>
            </a:r>
            <a:r>
              <a:rPr lang="zh-CN" altLang="en-US" b="1">
                <a:solidFill>
                  <a:srgbClr val="080808"/>
                </a:solidFill>
                <a:latin typeface="黑体" panose="02010609060101010101" pitchFamily="49" charset="-122"/>
                <a:ea typeface="黑体" panose="02010609060101010101" pitchFamily="49" charset="-122"/>
              </a:rPr>
              <a:t>隔离性</a:t>
            </a:r>
          </a:p>
        </p:txBody>
      </p:sp>
      <p:sp>
        <p:nvSpPr>
          <p:cNvPr id="470022" name="Rectangle 6"/>
          <p:cNvSpPr>
            <a:spLocks noChangeArrowheads="1"/>
          </p:cNvSpPr>
          <p:nvPr/>
        </p:nvSpPr>
        <p:spPr bwMode="auto">
          <a:xfrm>
            <a:off x="3995738" y="4076700"/>
            <a:ext cx="1511300" cy="431800"/>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en-US" altLang="zh-CN" b="1">
                <a:solidFill>
                  <a:srgbClr val="CC0000"/>
                </a:solidFill>
                <a:latin typeface="黑体" panose="02010609060101010101" pitchFamily="49" charset="-122"/>
                <a:ea typeface="黑体" panose="02010609060101010101" pitchFamily="49" charset="-122"/>
              </a:rPr>
              <a:t>D</a:t>
            </a:r>
            <a:r>
              <a:rPr lang="zh-CN" altLang="en-US" b="1">
                <a:solidFill>
                  <a:srgbClr val="080808"/>
                </a:solidFill>
                <a:latin typeface="黑体" panose="02010609060101010101" pitchFamily="49" charset="-122"/>
                <a:ea typeface="黑体" panose="02010609060101010101" pitchFamily="49" charset="-122"/>
              </a:rPr>
              <a:t>永久性 </a:t>
            </a:r>
          </a:p>
        </p:txBody>
      </p:sp>
      <p:sp>
        <p:nvSpPr>
          <p:cNvPr id="470033" name="Rectangle 17"/>
          <p:cNvSpPr>
            <a:spLocks noGrp="1" noChangeArrowheads="1"/>
          </p:cNvSpPr>
          <p:nvPr>
            <p:ph type="title"/>
          </p:nvPr>
        </p:nvSpPr>
        <p:spPr>
          <a:noFill/>
          <a:effectLst>
            <a:outerShdw dist="17961" dir="2700000" algn="ctr" rotWithShape="0">
              <a:schemeClr val="tx1"/>
            </a:outerShdw>
          </a:effectLst>
        </p:spPr>
        <p:txBody>
          <a:bodyPr anchor="ctr"/>
          <a:lstStyle/>
          <a:p>
            <a:r>
              <a:rPr lang="zh-CN" altLang="en-US" sz="3700">
                <a:ea typeface="隶书" panose="02010509060101010101" pitchFamily="49" charset="-122"/>
              </a:rPr>
              <a:t>小 结</a:t>
            </a:r>
          </a:p>
        </p:txBody>
      </p:sp>
      <p:sp>
        <p:nvSpPr>
          <p:cNvPr id="470039" name="Rectangle 23"/>
          <p:cNvSpPr>
            <a:spLocks noChangeArrowheads="1"/>
          </p:cNvSpPr>
          <p:nvPr/>
        </p:nvSpPr>
        <p:spPr bwMode="auto">
          <a:xfrm>
            <a:off x="3995738" y="2203450"/>
            <a:ext cx="1511300" cy="504825"/>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en-US" altLang="zh-CN" b="1">
                <a:solidFill>
                  <a:srgbClr val="CC0000"/>
                </a:solidFill>
                <a:latin typeface="黑体" panose="02010609060101010101" pitchFamily="49" charset="-122"/>
                <a:ea typeface="黑体" panose="02010609060101010101" pitchFamily="49" charset="-122"/>
              </a:rPr>
              <a:t>A</a:t>
            </a:r>
            <a:r>
              <a:rPr lang="zh-CN" altLang="en-US" b="1">
                <a:solidFill>
                  <a:srgbClr val="080808"/>
                </a:solidFill>
                <a:latin typeface="黑体" panose="02010609060101010101" pitchFamily="49" charset="-122"/>
                <a:ea typeface="黑体" panose="02010609060101010101" pitchFamily="49" charset="-122"/>
              </a:rPr>
              <a:t>原子性</a:t>
            </a:r>
            <a:r>
              <a:rPr lang="en-US" altLang="zh-CN" b="1">
                <a:solidFill>
                  <a:srgbClr val="080808"/>
                </a:solidFill>
                <a:latin typeface="黑体" panose="02010609060101010101" pitchFamily="49" charset="-122"/>
                <a:ea typeface="黑体" panose="02010609060101010101" pitchFamily="49" charset="-122"/>
              </a:rPr>
              <a:t> </a:t>
            </a:r>
          </a:p>
        </p:txBody>
      </p:sp>
      <p:sp>
        <p:nvSpPr>
          <p:cNvPr id="470040" name="Rectangle 24"/>
          <p:cNvSpPr>
            <a:spLocks noChangeArrowheads="1"/>
          </p:cNvSpPr>
          <p:nvPr/>
        </p:nvSpPr>
        <p:spPr bwMode="auto">
          <a:xfrm>
            <a:off x="3997325" y="2852738"/>
            <a:ext cx="1511300" cy="431800"/>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en-US" altLang="zh-CN" b="1">
                <a:solidFill>
                  <a:srgbClr val="CC0000"/>
                </a:solidFill>
                <a:latin typeface="黑体" panose="02010609060101010101" pitchFamily="49" charset="-122"/>
                <a:ea typeface="黑体" panose="02010609060101010101" pitchFamily="49" charset="-122"/>
              </a:rPr>
              <a:t>C</a:t>
            </a:r>
            <a:r>
              <a:rPr lang="zh-CN" altLang="en-US" b="1">
                <a:solidFill>
                  <a:srgbClr val="080808"/>
                </a:solidFill>
                <a:latin typeface="黑体" panose="02010609060101010101" pitchFamily="49" charset="-122"/>
                <a:ea typeface="黑体" panose="02010609060101010101" pitchFamily="49" charset="-122"/>
              </a:rPr>
              <a:t>一致性 </a:t>
            </a:r>
          </a:p>
        </p:txBody>
      </p:sp>
    </p:spTree>
    <p:custDataLst>
      <p:tags r:id="rId1"/>
    </p:custDataLst>
  </p:cSld>
  <p:clrMapOvr>
    <a:masterClrMapping/>
  </p:clrMapOvr>
  <p:transition advTm="741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0018"/>
                                        </p:tgtEl>
                                        <p:attrNameLst>
                                          <p:attrName>style.visibility</p:attrName>
                                        </p:attrNameLst>
                                      </p:cBhvr>
                                      <p:to>
                                        <p:strVal val="visible"/>
                                      </p:to>
                                    </p:set>
                                    <p:animEffect transition="in" filter="blinds(horizontal)">
                                      <p:cBhvr>
                                        <p:cTn id="7" dur="500"/>
                                        <p:tgtEl>
                                          <p:spTgt spid="4700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0020"/>
                                        </p:tgtEl>
                                        <p:attrNameLst>
                                          <p:attrName>style.visibility</p:attrName>
                                        </p:attrNameLst>
                                      </p:cBhvr>
                                      <p:to>
                                        <p:strVal val="visible"/>
                                      </p:to>
                                    </p:set>
                                    <p:animEffect transition="in" filter="wipe(left)">
                                      <p:cBhvr>
                                        <p:cTn id="12" dur="500"/>
                                        <p:tgtEl>
                                          <p:spTgt spid="470020"/>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470039"/>
                                        </p:tgtEl>
                                        <p:attrNameLst>
                                          <p:attrName>style.visibility</p:attrName>
                                        </p:attrNameLst>
                                      </p:cBhvr>
                                      <p:to>
                                        <p:strVal val="visible"/>
                                      </p:to>
                                    </p:set>
                                    <p:anim calcmode="lin" valueType="num">
                                      <p:cBhvr>
                                        <p:cTn id="17" dur="1000" fill="hold"/>
                                        <p:tgtEl>
                                          <p:spTgt spid="470039"/>
                                        </p:tgtEl>
                                        <p:attrNameLst>
                                          <p:attrName>ppt_x</p:attrName>
                                        </p:attrNameLst>
                                      </p:cBhvr>
                                      <p:tavLst>
                                        <p:tav tm="0">
                                          <p:val>
                                            <p:strVal val="#ppt_x-.2"/>
                                          </p:val>
                                        </p:tav>
                                        <p:tav tm="100000">
                                          <p:val>
                                            <p:strVal val="#ppt_x"/>
                                          </p:val>
                                        </p:tav>
                                      </p:tavLst>
                                    </p:anim>
                                    <p:anim calcmode="lin" valueType="num">
                                      <p:cBhvr>
                                        <p:cTn id="18" dur="1000" fill="hold"/>
                                        <p:tgtEl>
                                          <p:spTgt spid="470039"/>
                                        </p:tgtEl>
                                        <p:attrNameLst>
                                          <p:attrName>ppt_y</p:attrName>
                                        </p:attrNameLst>
                                      </p:cBhvr>
                                      <p:tavLst>
                                        <p:tav tm="0">
                                          <p:val>
                                            <p:strVal val="#ppt_y"/>
                                          </p:val>
                                        </p:tav>
                                        <p:tav tm="100000">
                                          <p:val>
                                            <p:strVal val="#ppt_y"/>
                                          </p:val>
                                        </p:tav>
                                      </p:tavLst>
                                    </p:anim>
                                    <p:animEffect transition="in" filter="wipe(right)" prLst="gradientSize: 0.1">
                                      <p:cBhvr>
                                        <p:cTn id="19" dur="1000"/>
                                        <p:tgtEl>
                                          <p:spTgt spid="470039"/>
                                        </p:tgtEl>
                                      </p:cBhvr>
                                    </p:animEffect>
                                  </p:childTnLst>
                                </p:cTn>
                              </p:par>
                            </p:childTnLst>
                          </p:cTn>
                        </p:par>
                      </p:childTnLst>
                    </p:cTn>
                  </p:par>
                  <p:par>
                    <p:cTn id="20" fill="hold">
                      <p:stCondLst>
                        <p:cond delay="indefinite"/>
                      </p:stCondLst>
                      <p:childTnLst>
                        <p:par>
                          <p:cTn id="21" fill="hold">
                            <p:stCondLst>
                              <p:cond delay="0"/>
                            </p:stCondLst>
                            <p:childTnLst>
                              <p:par>
                                <p:cTn id="22" presetID="29" presetClass="entr" presetSubtype="0" fill="hold" grpId="0" nodeType="clickEffect">
                                  <p:stCondLst>
                                    <p:cond delay="0"/>
                                  </p:stCondLst>
                                  <p:childTnLst>
                                    <p:set>
                                      <p:cBhvr>
                                        <p:cTn id="23" dur="1" fill="hold">
                                          <p:stCondLst>
                                            <p:cond delay="0"/>
                                          </p:stCondLst>
                                        </p:cTn>
                                        <p:tgtEl>
                                          <p:spTgt spid="470040"/>
                                        </p:tgtEl>
                                        <p:attrNameLst>
                                          <p:attrName>style.visibility</p:attrName>
                                        </p:attrNameLst>
                                      </p:cBhvr>
                                      <p:to>
                                        <p:strVal val="visible"/>
                                      </p:to>
                                    </p:set>
                                    <p:anim calcmode="lin" valueType="num">
                                      <p:cBhvr>
                                        <p:cTn id="24" dur="1000" fill="hold"/>
                                        <p:tgtEl>
                                          <p:spTgt spid="470040"/>
                                        </p:tgtEl>
                                        <p:attrNameLst>
                                          <p:attrName>ppt_x</p:attrName>
                                        </p:attrNameLst>
                                      </p:cBhvr>
                                      <p:tavLst>
                                        <p:tav tm="0">
                                          <p:val>
                                            <p:strVal val="#ppt_x-.2"/>
                                          </p:val>
                                        </p:tav>
                                        <p:tav tm="100000">
                                          <p:val>
                                            <p:strVal val="#ppt_x"/>
                                          </p:val>
                                        </p:tav>
                                      </p:tavLst>
                                    </p:anim>
                                    <p:anim calcmode="lin" valueType="num">
                                      <p:cBhvr>
                                        <p:cTn id="25" dur="1000" fill="hold"/>
                                        <p:tgtEl>
                                          <p:spTgt spid="470040"/>
                                        </p:tgtEl>
                                        <p:attrNameLst>
                                          <p:attrName>ppt_y</p:attrName>
                                        </p:attrNameLst>
                                      </p:cBhvr>
                                      <p:tavLst>
                                        <p:tav tm="0">
                                          <p:val>
                                            <p:strVal val="#ppt_y"/>
                                          </p:val>
                                        </p:tav>
                                        <p:tav tm="100000">
                                          <p:val>
                                            <p:strVal val="#ppt_y"/>
                                          </p:val>
                                        </p:tav>
                                      </p:tavLst>
                                    </p:anim>
                                    <p:animEffect transition="in" filter="wipe(right)" prLst="gradientSize: 0.1">
                                      <p:cBhvr>
                                        <p:cTn id="26" dur="1000"/>
                                        <p:tgtEl>
                                          <p:spTgt spid="470040"/>
                                        </p:tgtEl>
                                      </p:cBhvr>
                                    </p:animEffect>
                                  </p:childTnLst>
                                </p:cTn>
                              </p:par>
                            </p:childTnLst>
                          </p:cTn>
                        </p:par>
                      </p:childTnLst>
                    </p:cTn>
                  </p:par>
                  <p:par>
                    <p:cTn id="27" fill="hold">
                      <p:stCondLst>
                        <p:cond delay="indefinite"/>
                      </p:stCondLst>
                      <p:childTnLst>
                        <p:par>
                          <p:cTn id="28" fill="hold">
                            <p:stCondLst>
                              <p:cond delay="0"/>
                            </p:stCondLst>
                            <p:childTnLst>
                              <p:par>
                                <p:cTn id="29" presetID="29" presetClass="entr" presetSubtype="0" fill="hold" grpId="0" nodeType="clickEffect">
                                  <p:stCondLst>
                                    <p:cond delay="0"/>
                                  </p:stCondLst>
                                  <p:childTnLst>
                                    <p:set>
                                      <p:cBhvr>
                                        <p:cTn id="30" dur="1" fill="hold">
                                          <p:stCondLst>
                                            <p:cond delay="0"/>
                                          </p:stCondLst>
                                        </p:cTn>
                                        <p:tgtEl>
                                          <p:spTgt spid="470021"/>
                                        </p:tgtEl>
                                        <p:attrNameLst>
                                          <p:attrName>style.visibility</p:attrName>
                                        </p:attrNameLst>
                                      </p:cBhvr>
                                      <p:to>
                                        <p:strVal val="visible"/>
                                      </p:to>
                                    </p:set>
                                    <p:anim calcmode="lin" valueType="num">
                                      <p:cBhvr>
                                        <p:cTn id="31" dur="1000" fill="hold"/>
                                        <p:tgtEl>
                                          <p:spTgt spid="470021"/>
                                        </p:tgtEl>
                                        <p:attrNameLst>
                                          <p:attrName>ppt_x</p:attrName>
                                        </p:attrNameLst>
                                      </p:cBhvr>
                                      <p:tavLst>
                                        <p:tav tm="0">
                                          <p:val>
                                            <p:strVal val="#ppt_x-.2"/>
                                          </p:val>
                                        </p:tav>
                                        <p:tav tm="100000">
                                          <p:val>
                                            <p:strVal val="#ppt_x"/>
                                          </p:val>
                                        </p:tav>
                                      </p:tavLst>
                                    </p:anim>
                                    <p:anim calcmode="lin" valueType="num">
                                      <p:cBhvr>
                                        <p:cTn id="32" dur="1000" fill="hold"/>
                                        <p:tgtEl>
                                          <p:spTgt spid="470021"/>
                                        </p:tgtEl>
                                        <p:attrNameLst>
                                          <p:attrName>ppt_y</p:attrName>
                                        </p:attrNameLst>
                                      </p:cBhvr>
                                      <p:tavLst>
                                        <p:tav tm="0">
                                          <p:val>
                                            <p:strVal val="#ppt_y"/>
                                          </p:val>
                                        </p:tav>
                                        <p:tav tm="100000">
                                          <p:val>
                                            <p:strVal val="#ppt_y"/>
                                          </p:val>
                                        </p:tav>
                                      </p:tavLst>
                                    </p:anim>
                                    <p:animEffect transition="in" filter="wipe(right)" prLst="gradientSize: 0.1">
                                      <p:cBhvr>
                                        <p:cTn id="33" dur="1000"/>
                                        <p:tgtEl>
                                          <p:spTgt spid="470021"/>
                                        </p:tgtEl>
                                      </p:cBhvr>
                                    </p:animEffect>
                                  </p:childTnLst>
                                </p:cTn>
                              </p:par>
                            </p:childTnLst>
                          </p:cTn>
                        </p:par>
                      </p:childTnLst>
                    </p:cTn>
                  </p:par>
                  <p:par>
                    <p:cTn id="34" fill="hold">
                      <p:stCondLst>
                        <p:cond delay="indefinite"/>
                      </p:stCondLst>
                      <p:childTnLst>
                        <p:par>
                          <p:cTn id="35" fill="hold">
                            <p:stCondLst>
                              <p:cond delay="0"/>
                            </p:stCondLst>
                            <p:childTnLst>
                              <p:par>
                                <p:cTn id="36" presetID="29" presetClass="entr" presetSubtype="0" fill="hold" grpId="0" nodeType="clickEffect">
                                  <p:stCondLst>
                                    <p:cond delay="0"/>
                                  </p:stCondLst>
                                  <p:childTnLst>
                                    <p:set>
                                      <p:cBhvr>
                                        <p:cTn id="37" dur="1" fill="hold">
                                          <p:stCondLst>
                                            <p:cond delay="0"/>
                                          </p:stCondLst>
                                        </p:cTn>
                                        <p:tgtEl>
                                          <p:spTgt spid="470022"/>
                                        </p:tgtEl>
                                        <p:attrNameLst>
                                          <p:attrName>style.visibility</p:attrName>
                                        </p:attrNameLst>
                                      </p:cBhvr>
                                      <p:to>
                                        <p:strVal val="visible"/>
                                      </p:to>
                                    </p:set>
                                    <p:anim calcmode="lin" valueType="num">
                                      <p:cBhvr>
                                        <p:cTn id="38" dur="1000" fill="hold"/>
                                        <p:tgtEl>
                                          <p:spTgt spid="470022"/>
                                        </p:tgtEl>
                                        <p:attrNameLst>
                                          <p:attrName>ppt_x</p:attrName>
                                        </p:attrNameLst>
                                      </p:cBhvr>
                                      <p:tavLst>
                                        <p:tav tm="0">
                                          <p:val>
                                            <p:strVal val="#ppt_x-.2"/>
                                          </p:val>
                                        </p:tav>
                                        <p:tav tm="100000">
                                          <p:val>
                                            <p:strVal val="#ppt_x"/>
                                          </p:val>
                                        </p:tav>
                                      </p:tavLst>
                                    </p:anim>
                                    <p:anim calcmode="lin" valueType="num">
                                      <p:cBhvr>
                                        <p:cTn id="39" dur="1000" fill="hold"/>
                                        <p:tgtEl>
                                          <p:spTgt spid="470022"/>
                                        </p:tgtEl>
                                        <p:attrNameLst>
                                          <p:attrName>ppt_y</p:attrName>
                                        </p:attrNameLst>
                                      </p:cBhvr>
                                      <p:tavLst>
                                        <p:tav tm="0">
                                          <p:val>
                                            <p:strVal val="#ppt_y"/>
                                          </p:val>
                                        </p:tav>
                                        <p:tav tm="100000">
                                          <p:val>
                                            <p:strVal val="#ppt_y"/>
                                          </p:val>
                                        </p:tav>
                                      </p:tavLst>
                                    </p:anim>
                                    <p:animEffect transition="in" filter="wipe(right)" prLst="gradientSize: 0.1">
                                      <p:cBhvr>
                                        <p:cTn id="40" dur="1000"/>
                                        <p:tgtEl>
                                          <p:spTgt spid="470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8" grpId="0" animBg="1"/>
      <p:bldP spid="470021" grpId="0" animBg="1"/>
      <p:bldP spid="470022" grpId="0" animBg="1"/>
      <p:bldP spid="470039" grpId="0" animBg="1"/>
      <p:bldP spid="47004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9|2.4|10.3|3.2|5.6|3.4|1.9|1.8|1.7"/>
</p:tagLst>
</file>

<file path=ppt/tags/tag2.xml><?xml version="1.0" encoding="utf-8"?>
<p:tagLst xmlns:a="http://schemas.openxmlformats.org/drawingml/2006/main" xmlns:r="http://schemas.openxmlformats.org/officeDocument/2006/relationships" xmlns:p="http://schemas.openxmlformats.org/presentationml/2006/main">
  <p:tag name="TIMING" val="|2.5|3.8|8.3|3.3"/>
</p:tagLst>
</file>

<file path=ppt/tags/tag3.xml><?xml version="1.0" encoding="utf-8"?>
<p:tagLst xmlns:a="http://schemas.openxmlformats.org/drawingml/2006/main" xmlns:r="http://schemas.openxmlformats.org/officeDocument/2006/relationships" xmlns:p="http://schemas.openxmlformats.org/presentationml/2006/main">
  <p:tag name="TIMING" val="|8.3|14.8|16.1|12.9"/>
</p:tagLst>
</file>

<file path=ppt/tags/tag4.xml><?xml version="1.0" encoding="utf-8"?>
<p:tagLst xmlns:a="http://schemas.openxmlformats.org/drawingml/2006/main" xmlns:r="http://schemas.openxmlformats.org/officeDocument/2006/relationships" xmlns:p="http://schemas.openxmlformats.org/presentationml/2006/main">
  <p:tag name="TIMING" val="|0.7|1.4|18.6"/>
</p:tagLst>
</file>

<file path=ppt/tags/tag5.xml><?xml version="1.0" encoding="utf-8"?>
<p:tagLst xmlns:a="http://schemas.openxmlformats.org/drawingml/2006/main" xmlns:r="http://schemas.openxmlformats.org/officeDocument/2006/relationships" xmlns:p="http://schemas.openxmlformats.org/presentationml/2006/main">
  <p:tag name="TIMING" val="|0.8|2.4|21.9"/>
</p:tagLst>
</file>

<file path=ppt/tags/tag6.xml><?xml version="1.0" encoding="utf-8"?>
<p:tagLst xmlns:a="http://schemas.openxmlformats.org/drawingml/2006/main" xmlns:r="http://schemas.openxmlformats.org/officeDocument/2006/relationships" xmlns:p="http://schemas.openxmlformats.org/presentationml/2006/main">
  <p:tag name="TIMING" val="|1|1.7|17.4"/>
</p:tagLst>
</file>

<file path=ppt/tags/tag7.xml><?xml version="1.0" encoding="utf-8"?>
<p:tagLst xmlns:a="http://schemas.openxmlformats.org/drawingml/2006/main" xmlns:r="http://schemas.openxmlformats.org/officeDocument/2006/relationships" xmlns:p="http://schemas.openxmlformats.org/presentationml/2006/main">
  <p:tag name="TIMING" val="|3.4|6.1|6.2|6.5|6.2"/>
</p:tagLst>
</file>

<file path=ppt/tags/tag8.xml><?xml version="1.0" encoding="utf-8"?>
<p:tagLst xmlns:a="http://schemas.openxmlformats.org/drawingml/2006/main" xmlns:r="http://schemas.openxmlformats.org/officeDocument/2006/relationships" xmlns:p="http://schemas.openxmlformats.org/presentationml/2006/main">
  <p:tag name="TIMING" val="|0.6|5.3|15.3"/>
</p:tagLst>
</file>

<file path=ppt/tags/tag9.xml><?xml version="1.0" encoding="utf-8"?>
<p:tagLst xmlns:a="http://schemas.openxmlformats.org/drawingml/2006/main" xmlns:r="http://schemas.openxmlformats.org/officeDocument/2006/relationships" xmlns:p="http://schemas.openxmlformats.org/presentationml/2006/main">
  <p:tag name="TIMING" val="|0.6|3.2|1.6|16.2"/>
</p:tagLst>
</file>

<file path=ppt/tags/tag10.xml><?xml version="1.0" encoding="utf-8"?>
<p:tagLst xmlns:a="http://schemas.openxmlformats.org/drawingml/2006/main" xmlns:r="http://schemas.openxmlformats.org/officeDocument/2006/relationships" xmlns:p="http://schemas.openxmlformats.org/presentationml/2006/main">
  <p:tag name="TIMING" val="|3.4"/>
</p:tagLst>
</file>

<file path=ppt/tags/tag11.xml><?xml version="1.0" encoding="utf-8"?>
<p:tagLst xmlns:a="http://schemas.openxmlformats.org/drawingml/2006/main" xmlns:r="http://schemas.openxmlformats.org/officeDocument/2006/relationships" xmlns:p="http://schemas.openxmlformats.org/presentationml/2006/main">
  <p:tag name="TIMING" val="|2.2|8.2"/>
</p:tagLst>
</file>

<file path=ppt/tags/tag12.xml><?xml version="1.0" encoding="utf-8"?>
<p:tagLst xmlns:a="http://schemas.openxmlformats.org/drawingml/2006/main" xmlns:r="http://schemas.openxmlformats.org/officeDocument/2006/relationships" xmlns:p="http://schemas.openxmlformats.org/presentationml/2006/main">
  <p:tag name="TIMING" val="|0.9|4.5"/>
</p:tagLst>
</file>

<file path=ppt/tags/tag13.xml><?xml version="1.0" encoding="utf-8"?>
<p:tagLst xmlns:a="http://schemas.openxmlformats.org/drawingml/2006/main" xmlns:r="http://schemas.openxmlformats.org/officeDocument/2006/relationships" xmlns:p="http://schemas.openxmlformats.org/presentationml/2006/main">
  <p:tag name="TIMING" val="|1.3|10.9|2.5|4.3|3.7|15.6|29.5|6.1|4.8|2.9|24.4"/>
</p:tagLst>
</file>

<file path=ppt/tags/tag14.xml><?xml version="1.0" encoding="utf-8"?>
<p:tagLst xmlns:a="http://schemas.openxmlformats.org/drawingml/2006/main" xmlns:r="http://schemas.openxmlformats.org/officeDocument/2006/relationships" xmlns:p="http://schemas.openxmlformats.org/presentationml/2006/main">
  <p:tag name="TIMING" val="|1.6|3.2|12|27.4|16.5|10.9|1.5|41.3"/>
</p:tagLst>
</file>

<file path=ppt/tags/tag15.xml><?xml version="1.0" encoding="utf-8"?>
<p:tagLst xmlns:a="http://schemas.openxmlformats.org/drawingml/2006/main" xmlns:r="http://schemas.openxmlformats.org/officeDocument/2006/relationships" xmlns:p="http://schemas.openxmlformats.org/presentationml/2006/main">
  <p:tag name="TIMING" val="|0.6|0.7|0.5|1.4|1.3|1.3"/>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919</Words>
  <Application>Microsoft Office PowerPoint</Application>
  <PresentationFormat>全屏显示(4:3)</PresentationFormat>
  <Paragraphs>104</Paragraphs>
  <Slides>17</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Monotype Sorts</vt:lpstr>
      <vt:lpstr>仿宋_GB2312</vt:lpstr>
      <vt:lpstr>黑体</vt:lpstr>
      <vt:lpstr>华文新魏</vt:lpstr>
      <vt:lpstr>华文中宋</vt:lpstr>
      <vt:lpstr>楷体_GB2312</vt:lpstr>
      <vt:lpstr>隶书</vt:lpstr>
      <vt:lpstr>Arial</vt:lpstr>
      <vt:lpstr>Tahoma</vt:lpstr>
      <vt:lpstr>Times New Roman</vt:lpstr>
      <vt:lpstr>Wingdings</vt:lpstr>
      <vt:lpstr>Blends</vt:lpstr>
      <vt:lpstr>第10章  数据库保护技术</vt:lpstr>
      <vt:lpstr>PowerPoint 演示文稿</vt:lpstr>
      <vt:lpstr>10.1  事务机制</vt:lpstr>
      <vt:lpstr>一、事务的概念及其特性</vt:lpstr>
      <vt:lpstr>一、事务的概念及其特性</vt:lpstr>
      <vt:lpstr>一、事务的概念及其特性</vt:lpstr>
      <vt:lpstr>一、事务的概念及其特性</vt:lpstr>
      <vt:lpstr>一、事务的概念及其特性</vt:lpstr>
      <vt:lpstr>二、事务的提交和回退</vt:lpstr>
      <vt:lpstr>二、事务的提交和回退</vt:lpstr>
      <vt:lpstr>二、事务的提交和回退</vt:lpstr>
      <vt:lpstr>二、事务的提交和回退</vt:lpstr>
      <vt:lpstr>二、事务的提交和回退</vt:lpstr>
      <vt:lpstr>二、事务的提交和回退</vt:lpstr>
      <vt:lpstr>二、事务的提交和回退</vt:lpstr>
      <vt:lpstr>二、事务的提交和回退</vt:lpstr>
      <vt:lpstr>小 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522</cp:revision>
  <cp:lastPrinted>2000-08-23T09:10:00Z</cp:lastPrinted>
  <dcterms:created xsi:type="dcterms:W3CDTF">2113-01-01T00:00:00Z</dcterms:created>
  <dcterms:modified xsi:type="dcterms:W3CDTF">2021-04-20T14:54:08Z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