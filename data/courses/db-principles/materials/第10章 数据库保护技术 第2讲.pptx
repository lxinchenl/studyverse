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23"/>
  </p:notesMasterIdLst>
  <p:handoutMasterIdLst>
    <p:handoutMasterId r:id="rId24"/>
  </p:handoutMasterIdLst>
  <p:sldIdLst>
    <p:sldId id="515" r:id="rId2"/>
    <p:sldId id="577" r:id="rId3"/>
    <p:sldId id="518" r:id="rId4"/>
    <p:sldId id="600" r:id="rId5"/>
    <p:sldId id="521" r:id="rId6"/>
    <p:sldId id="522" r:id="rId7"/>
    <p:sldId id="602" r:id="rId8"/>
    <p:sldId id="603" r:id="rId9"/>
    <p:sldId id="604" r:id="rId10"/>
    <p:sldId id="605" r:id="rId11"/>
    <p:sldId id="606" r:id="rId12"/>
    <p:sldId id="607" r:id="rId13"/>
    <p:sldId id="608" r:id="rId14"/>
    <p:sldId id="609" r:id="rId15"/>
    <p:sldId id="610" r:id="rId16"/>
    <p:sldId id="611" r:id="rId17"/>
    <p:sldId id="612" r:id="rId18"/>
    <p:sldId id="613" r:id="rId19"/>
    <p:sldId id="614" r:id="rId20"/>
    <p:sldId id="615" r:id="rId21"/>
    <p:sldId id="580" r:id="rId22"/>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A20070"/>
    <a:srgbClr val="004A48"/>
    <a:srgbClr val="FFCCCC"/>
    <a:srgbClr val="FFFF99"/>
    <a:srgbClr val="BDDEFF"/>
    <a:srgbClr val="0000FF"/>
    <a:srgbClr val="47A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11" autoAdjust="0"/>
    <p:restoredTop sz="91011" autoAdjust="0"/>
  </p:normalViewPr>
  <p:slideViewPr>
    <p:cSldViewPr>
      <p:cViewPr varScale="1">
        <p:scale>
          <a:sx n="119" d="100"/>
          <a:sy n="119" d="100"/>
        </p:scale>
        <p:origin x="1596" y="76"/>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5394DD71-C424-41DE-BAD8-CC89EF7443E8}"/>
              </a:ext>
            </a:extLst>
          </p:cNvPr>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zh-CN" altLang="en-US"/>
          </a:p>
        </p:txBody>
      </p:sp>
      <p:sp>
        <p:nvSpPr>
          <p:cNvPr id="107523" name="Rectangle 3">
            <a:extLst>
              <a:ext uri="{FF2B5EF4-FFF2-40B4-BE49-F238E27FC236}">
                <a16:creationId xmlns:a16="http://schemas.microsoft.com/office/drawing/2014/main" id="{5328CF0A-8F4F-465C-AB7A-941B075E13BF}"/>
              </a:ext>
            </a:extLst>
          </p:cNvPr>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4" name="Rectangle 4">
            <a:extLst>
              <a:ext uri="{FF2B5EF4-FFF2-40B4-BE49-F238E27FC236}">
                <a16:creationId xmlns:a16="http://schemas.microsoft.com/office/drawing/2014/main" id="{8560BFF0-3159-4C53-B32D-F78759ABA270}"/>
              </a:ext>
            </a:extLst>
          </p:cNvPr>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5" name="Rectangle 5">
            <a:extLst>
              <a:ext uri="{FF2B5EF4-FFF2-40B4-BE49-F238E27FC236}">
                <a16:creationId xmlns:a16="http://schemas.microsoft.com/office/drawing/2014/main" id="{66DFFC49-65E1-4AAA-BE5F-EAF74CCD6C96}"/>
              </a:ext>
            </a:extLst>
          </p:cNvPr>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fld id="{BF2731F0-579C-410B-9FA1-66BB4EB1506D}"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552270E6-2C6B-4330-9E2C-540762AD3E91}"/>
              </a:ext>
            </a:extLst>
          </p:cNvPr>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zh-CN" altLang="en-US"/>
          </a:p>
        </p:txBody>
      </p:sp>
      <p:sp>
        <p:nvSpPr>
          <p:cNvPr id="353283" name="Rectangle 3">
            <a:extLst>
              <a:ext uri="{FF2B5EF4-FFF2-40B4-BE49-F238E27FC236}">
                <a16:creationId xmlns:a16="http://schemas.microsoft.com/office/drawing/2014/main" id="{20182159-3E3D-42F1-AFA4-DCA92194906C}"/>
              </a:ext>
            </a:extLst>
          </p:cNvPr>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4" name="Rectangle 4">
            <a:extLst>
              <a:ext uri="{FF2B5EF4-FFF2-40B4-BE49-F238E27FC236}">
                <a16:creationId xmlns:a16="http://schemas.microsoft.com/office/drawing/2014/main" id="{22C1D44C-92DF-41EE-A71D-C8D6607968B1}"/>
              </a:ext>
            </a:extLst>
          </p:cNvPr>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3285" name="Rectangle 5">
            <a:extLst>
              <a:ext uri="{FF2B5EF4-FFF2-40B4-BE49-F238E27FC236}">
                <a16:creationId xmlns:a16="http://schemas.microsoft.com/office/drawing/2014/main" id="{C274A4FE-02A3-4EE1-9ABF-BCDDC43078DF}"/>
              </a:ext>
            </a:extLst>
          </p:cNvPr>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a:extLst>
              <a:ext uri="{FF2B5EF4-FFF2-40B4-BE49-F238E27FC236}">
                <a16:creationId xmlns:a16="http://schemas.microsoft.com/office/drawing/2014/main" id="{32EBC57C-BEDE-41C7-BDF9-64EB0EB8671D}"/>
              </a:ext>
            </a:extLst>
          </p:cNvPr>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7" name="Rectangle 7">
            <a:extLst>
              <a:ext uri="{FF2B5EF4-FFF2-40B4-BE49-F238E27FC236}">
                <a16:creationId xmlns:a16="http://schemas.microsoft.com/office/drawing/2014/main" id="{1C122FD7-745C-4BB4-990C-39641DC193A4}"/>
              </a:ext>
            </a:extLst>
          </p:cNvPr>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fld id="{CB9CDC9F-4016-4BF9-A52B-D3B09BCE77D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5A8C58D-9402-4C5F-810F-49689AB87DF7}"/>
              </a:ext>
            </a:extLst>
          </p:cNvPr>
          <p:cNvSpPr>
            <a:spLocks noGrp="1" noChangeArrowheads="1"/>
          </p:cNvSpPr>
          <p:nvPr>
            <p:ph type="sldNum" sz="quarter" idx="5"/>
          </p:nvPr>
        </p:nvSpPr>
        <p:spPr>
          <a:ln/>
        </p:spPr>
        <p:txBody>
          <a:bodyPr/>
          <a:lstStyle/>
          <a:p>
            <a:fld id="{E15D9CAF-E166-4B84-97AF-CCFF7A19CC8B}" type="slidenum">
              <a:rPr lang="zh-CN" altLang="en-US"/>
              <a:pPr/>
              <a:t>1</a:t>
            </a:fld>
            <a:endParaRPr lang="en-US" altLang="zh-CN"/>
          </a:p>
        </p:txBody>
      </p:sp>
      <p:sp>
        <p:nvSpPr>
          <p:cNvPr id="399362" name="Rectangle 2">
            <a:extLst>
              <a:ext uri="{FF2B5EF4-FFF2-40B4-BE49-F238E27FC236}">
                <a16:creationId xmlns:a16="http://schemas.microsoft.com/office/drawing/2014/main" id="{28F97694-F174-430A-8D1F-876D368251AE}"/>
              </a:ext>
            </a:extLst>
          </p:cNvPr>
          <p:cNvSpPr>
            <a:spLocks noGrp="1" noRot="1" noChangeAspect="1" noChangeArrowheads="1" noTextEdit="1"/>
          </p:cNvSpPr>
          <p:nvPr>
            <p:ph type="sldImg"/>
          </p:nvPr>
        </p:nvSpPr>
        <p:spPr>
          <a:ln/>
        </p:spPr>
      </p:sp>
      <p:sp>
        <p:nvSpPr>
          <p:cNvPr id="399363" name="Rectangle 3">
            <a:extLst>
              <a:ext uri="{FF2B5EF4-FFF2-40B4-BE49-F238E27FC236}">
                <a16:creationId xmlns:a16="http://schemas.microsoft.com/office/drawing/2014/main" id="{70DF85F7-3238-4798-AA0C-C1CF445D9164}"/>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B37287-EE40-4D42-8093-B7B429765BE8}"/>
              </a:ext>
            </a:extLst>
          </p:cNvPr>
          <p:cNvSpPr>
            <a:spLocks noGrp="1" noChangeArrowheads="1"/>
          </p:cNvSpPr>
          <p:nvPr>
            <p:ph type="sldNum" sz="quarter" idx="5"/>
          </p:nvPr>
        </p:nvSpPr>
        <p:spPr>
          <a:ln/>
        </p:spPr>
        <p:txBody>
          <a:bodyPr/>
          <a:lstStyle/>
          <a:p>
            <a:fld id="{599E83DF-2C0C-4F59-AD89-2B76E0B0D1D1}" type="slidenum">
              <a:rPr lang="zh-CN" altLang="en-US"/>
              <a:pPr/>
              <a:t>4</a:t>
            </a:fld>
            <a:endParaRPr lang="en-US" altLang="zh-CN"/>
          </a:p>
        </p:txBody>
      </p:sp>
      <p:sp>
        <p:nvSpPr>
          <p:cNvPr id="541698" name="Rectangle 2">
            <a:extLst>
              <a:ext uri="{FF2B5EF4-FFF2-40B4-BE49-F238E27FC236}">
                <a16:creationId xmlns:a16="http://schemas.microsoft.com/office/drawing/2014/main" id="{20ABD0F8-83A7-4D5D-B901-A15AD80A9C94}"/>
              </a:ext>
            </a:extLst>
          </p:cNvPr>
          <p:cNvSpPr>
            <a:spLocks noGrp="1" noRot="1" noChangeAspect="1" noChangeArrowheads="1" noTextEdit="1"/>
          </p:cNvSpPr>
          <p:nvPr>
            <p:ph type="sldImg"/>
          </p:nvPr>
        </p:nvSpPr>
        <p:spPr>
          <a:ln/>
        </p:spPr>
      </p:sp>
      <p:sp>
        <p:nvSpPr>
          <p:cNvPr id="541699" name="Rectangle 3">
            <a:extLst>
              <a:ext uri="{FF2B5EF4-FFF2-40B4-BE49-F238E27FC236}">
                <a16:creationId xmlns:a16="http://schemas.microsoft.com/office/drawing/2014/main" id="{B1FED2CC-726A-4DE2-B63B-EE9B690C4713}"/>
              </a:ext>
            </a:extLst>
          </p:cNvPr>
          <p:cNvSpPr>
            <a:spLocks noGrp="1" noChangeArrowheads="1"/>
          </p:cNvSpPr>
          <p:nvPr>
            <p:ph type="body" idx="1"/>
          </p:nvPr>
        </p:nvSpPr>
        <p:spPr/>
        <p:txBody>
          <a:bodyPr/>
          <a:lstStyle/>
          <a:p>
            <a:r>
              <a:rPr lang="zh-CN" altLang="en-US"/>
              <a:t>那么对数据库的安全威胁又有哪些呢？引出下一页。</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B9CDC9F-4016-4BF9-A52B-D3B09BCE77D6}" type="slidenum">
              <a:rPr lang="zh-CN" altLang="en-US" smtClean="0"/>
              <a:pPr/>
              <a:t>19</a:t>
            </a:fld>
            <a:endParaRPr lang="en-US" altLang="zh-CN"/>
          </a:p>
        </p:txBody>
      </p:sp>
    </p:spTree>
    <p:extLst>
      <p:ext uri="{BB962C8B-B14F-4D97-AF65-F5344CB8AC3E}">
        <p14:creationId xmlns:p14="http://schemas.microsoft.com/office/powerpoint/2010/main" val="3885014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89BF6DE-FF86-433E-A167-354E799EBA41}"/>
              </a:ext>
            </a:extLst>
          </p:cNvPr>
          <p:cNvSpPr>
            <a:spLocks noGrp="1" noChangeArrowheads="1"/>
          </p:cNvSpPr>
          <p:nvPr>
            <p:ph type="sldNum" sz="quarter" idx="5"/>
          </p:nvPr>
        </p:nvSpPr>
        <p:spPr>
          <a:ln/>
        </p:spPr>
        <p:txBody>
          <a:bodyPr/>
          <a:lstStyle/>
          <a:p>
            <a:fld id="{1732EB5B-355A-4564-A108-8A1798F03379}" type="slidenum">
              <a:rPr lang="zh-CN" altLang="en-US"/>
              <a:pPr/>
              <a:t>21</a:t>
            </a:fld>
            <a:endParaRPr lang="en-US" altLang="zh-CN"/>
          </a:p>
        </p:txBody>
      </p:sp>
      <p:sp>
        <p:nvSpPr>
          <p:cNvPr id="471042" name="Rectangle 2">
            <a:extLst>
              <a:ext uri="{FF2B5EF4-FFF2-40B4-BE49-F238E27FC236}">
                <a16:creationId xmlns:a16="http://schemas.microsoft.com/office/drawing/2014/main" id="{88A682C8-A4B9-4128-A030-9A6425EEC626}"/>
              </a:ext>
            </a:extLst>
          </p:cNvPr>
          <p:cNvSpPr>
            <a:spLocks noGrp="1" noRot="1" noChangeAspect="1" noChangeArrowheads="1" noTextEdit="1"/>
          </p:cNvSpPr>
          <p:nvPr>
            <p:ph type="sldImg"/>
          </p:nvPr>
        </p:nvSpPr>
        <p:spPr>
          <a:ln/>
        </p:spPr>
      </p:sp>
      <p:sp>
        <p:nvSpPr>
          <p:cNvPr id="471043" name="Rectangle 3">
            <a:extLst>
              <a:ext uri="{FF2B5EF4-FFF2-40B4-BE49-F238E27FC236}">
                <a16:creationId xmlns:a16="http://schemas.microsoft.com/office/drawing/2014/main" id="{E234B4D8-869F-4421-89B4-BD1E2A805521}"/>
              </a:ext>
            </a:extLst>
          </p:cNvPr>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397314" name="Group 2">
            <a:extLst>
              <a:ext uri="{FF2B5EF4-FFF2-40B4-BE49-F238E27FC236}">
                <a16:creationId xmlns:a16="http://schemas.microsoft.com/office/drawing/2014/main" id="{53A5D49F-4E53-4C7B-AFF0-02F2F63709EF}"/>
              </a:ext>
            </a:extLst>
          </p:cNvPr>
          <p:cNvGrpSpPr>
            <a:grpSpLocks/>
          </p:cNvGrpSpPr>
          <p:nvPr/>
        </p:nvGrpSpPr>
        <p:grpSpPr bwMode="auto">
          <a:xfrm>
            <a:off x="0" y="2438400"/>
            <a:ext cx="9009063" cy="1052513"/>
            <a:chOff x="0" y="1536"/>
            <a:chExt cx="5675" cy="663"/>
          </a:xfrm>
        </p:grpSpPr>
        <p:grpSp>
          <p:nvGrpSpPr>
            <p:cNvPr id="397315" name="Group 3">
              <a:extLst>
                <a:ext uri="{FF2B5EF4-FFF2-40B4-BE49-F238E27FC236}">
                  <a16:creationId xmlns:a16="http://schemas.microsoft.com/office/drawing/2014/main" id="{4ECFC5A4-B576-4A6E-9018-50F4B5F13B18}"/>
                </a:ext>
              </a:extLst>
            </p:cNvPr>
            <p:cNvGrpSpPr>
              <a:grpSpLocks/>
            </p:cNvGrpSpPr>
            <p:nvPr/>
          </p:nvGrpSpPr>
          <p:grpSpPr bwMode="auto">
            <a:xfrm>
              <a:off x="183" y="1604"/>
              <a:ext cx="448" cy="299"/>
              <a:chOff x="720" y="336"/>
              <a:chExt cx="624" cy="432"/>
            </a:xfrm>
          </p:grpSpPr>
          <p:sp>
            <p:nvSpPr>
              <p:cNvPr id="397316" name="Rectangle 4">
                <a:extLst>
                  <a:ext uri="{FF2B5EF4-FFF2-40B4-BE49-F238E27FC236}">
                    <a16:creationId xmlns:a16="http://schemas.microsoft.com/office/drawing/2014/main" id="{78AA7E75-75FA-4D9D-B16E-70F81D8A64C3}"/>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17" name="Rectangle 5">
                <a:extLst>
                  <a:ext uri="{FF2B5EF4-FFF2-40B4-BE49-F238E27FC236}">
                    <a16:creationId xmlns:a16="http://schemas.microsoft.com/office/drawing/2014/main" id="{00FB0520-3079-41EA-9E5A-294A96F3EB3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97318" name="Group 6">
              <a:extLst>
                <a:ext uri="{FF2B5EF4-FFF2-40B4-BE49-F238E27FC236}">
                  <a16:creationId xmlns:a16="http://schemas.microsoft.com/office/drawing/2014/main" id="{C8532358-AB7C-44C9-8BCB-D832D6CE78E5}"/>
                </a:ext>
              </a:extLst>
            </p:cNvPr>
            <p:cNvGrpSpPr>
              <a:grpSpLocks/>
            </p:cNvGrpSpPr>
            <p:nvPr/>
          </p:nvGrpSpPr>
          <p:grpSpPr bwMode="auto">
            <a:xfrm>
              <a:off x="261" y="1870"/>
              <a:ext cx="465" cy="299"/>
              <a:chOff x="912" y="2640"/>
              <a:chExt cx="672" cy="432"/>
            </a:xfrm>
          </p:grpSpPr>
          <p:sp>
            <p:nvSpPr>
              <p:cNvPr id="397319" name="Rectangle 7">
                <a:extLst>
                  <a:ext uri="{FF2B5EF4-FFF2-40B4-BE49-F238E27FC236}">
                    <a16:creationId xmlns:a16="http://schemas.microsoft.com/office/drawing/2014/main" id="{C90F8C4E-3621-444A-A3EA-561C76294F5E}"/>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0" name="Rectangle 8">
                <a:extLst>
                  <a:ext uri="{FF2B5EF4-FFF2-40B4-BE49-F238E27FC236}">
                    <a16:creationId xmlns:a16="http://schemas.microsoft.com/office/drawing/2014/main" id="{E5C0E4C5-E6E1-4EEB-A4BC-5EEFCD2C616C}"/>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1" name="Rectangle 9">
              <a:extLst>
                <a:ext uri="{FF2B5EF4-FFF2-40B4-BE49-F238E27FC236}">
                  <a16:creationId xmlns:a16="http://schemas.microsoft.com/office/drawing/2014/main" id="{5646F3FC-1E2B-498E-A6DD-6A953437A5D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2" name="Rectangle 10">
              <a:extLst>
                <a:ext uri="{FF2B5EF4-FFF2-40B4-BE49-F238E27FC236}">
                  <a16:creationId xmlns:a16="http://schemas.microsoft.com/office/drawing/2014/main" id="{EEE95DBD-0444-4423-AA44-C2352B12E057}"/>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3" name="Rectangle 11">
              <a:extLst>
                <a:ext uri="{FF2B5EF4-FFF2-40B4-BE49-F238E27FC236}">
                  <a16:creationId xmlns:a16="http://schemas.microsoft.com/office/drawing/2014/main" id="{97B877FF-D56D-4938-9837-F7EF7AB8B1A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4" name="Rectangle 12">
            <a:extLst>
              <a:ext uri="{FF2B5EF4-FFF2-40B4-BE49-F238E27FC236}">
                <a16:creationId xmlns:a16="http://schemas.microsoft.com/office/drawing/2014/main" id="{E7DE0CE0-D13C-4B11-9A29-564F9841A947}"/>
              </a:ext>
            </a:extLst>
          </p:cNvPr>
          <p:cNvSpPr>
            <a:spLocks noGrp="1" noChangeArrowheads="1"/>
          </p:cNvSpPr>
          <p:nvPr>
            <p:ph type="ctrTitle"/>
          </p:nvPr>
        </p:nvSpPr>
        <p:spPr>
          <a:xfrm>
            <a:off x="827088" y="1676400"/>
            <a:ext cx="8137525" cy="1462088"/>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397325" name="Rectangle 13">
            <a:extLst>
              <a:ext uri="{FF2B5EF4-FFF2-40B4-BE49-F238E27FC236}">
                <a16:creationId xmlns:a16="http://schemas.microsoft.com/office/drawing/2014/main" id="{F085902D-CB22-4760-A39B-FAD7C477BDFF}"/>
              </a:ext>
            </a:extLst>
          </p:cNvPr>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397326" name="Rectangle 14">
            <a:extLst>
              <a:ext uri="{FF2B5EF4-FFF2-40B4-BE49-F238E27FC236}">
                <a16:creationId xmlns:a16="http://schemas.microsoft.com/office/drawing/2014/main" id="{ABA57069-AC37-4144-B559-4C919080F710}"/>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397327" name="Rectangle 15">
            <a:extLst>
              <a:ext uri="{FF2B5EF4-FFF2-40B4-BE49-F238E27FC236}">
                <a16:creationId xmlns:a16="http://schemas.microsoft.com/office/drawing/2014/main" id="{4CA27065-6D5B-4910-B2F6-9B6CEE68DC50}"/>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397328" name="Rectangle 16">
            <a:extLst>
              <a:ext uri="{FF2B5EF4-FFF2-40B4-BE49-F238E27FC236}">
                <a16:creationId xmlns:a16="http://schemas.microsoft.com/office/drawing/2014/main" id="{10B208E2-BC41-4AE2-A50A-41F2A76F70E8}"/>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A42D0018-B000-4549-A146-E62499429571}" type="slidenum">
              <a:rPr lang="zh-CN" altLang="en-US"/>
              <a:pPr/>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97324"/>
                                        </p:tgtEl>
                                        <p:attrNameLst>
                                          <p:attrName>style.visibility</p:attrName>
                                        </p:attrNameLst>
                                      </p:cBhvr>
                                      <p:to>
                                        <p:strVal val="visible"/>
                                      </p:to>
                                    </p:set>
                                    <p:animEffect transition="in" filter="plus(in)">
                                      <p:cBhvr>
                                        <p:cTn id="7" dur="1000"/>
                                        <p:tgtEl>
                                          <p:spTgt spid="397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24"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F3D4-4E4D-4475-955A-A640F29931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13762E5-0CEA-43D1-A866-3635056815B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6A4474-0674-4B75-B606-3CE5DB9C404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413E227-D6D1-43E7-AC07-D51ADF3E34EC}"/>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FDAD3EA-C584-49F1-A0A0-65F0EEECADF1}"/>
              </a:ext>
            </a:extLst>
          </p:cNvPr>
          <p:cNvSpPr>
            <a:spLocks noGrp="1"/>
          </p:cNvSpPr>
          <p:nvPr>
            <p:ph type="sldNum" sz="quarter" idx="12"/>
          </p:nvPr>
        </p:nvSpPr>
        <p:spPr/>
        <p:txBody>
          <a:bodyPr/>
          <a:lstStyle>
            <a:lvl1pPr>
              <a:defRPr/>
            </a:lvl1pPr>
          </a:lstStyle>
          <a:p>
            <a:fld id="{8767D53C-4C02-40A1-8A6C-E108D0BF10E4}" type="slidenum">
              <a:rPr lang="zh-CN" altLang="en-US"/>
              <a:pPr/>
              <a:t>‹#›</a:t>
            </a:fld>
            <a:endParaRPr lang="en-US" altLang="zh-CN"/>
          </a:p>
        </p:txBody>
      </p:sp>
    </p:spTree>
    <p:extLst>
      <p:ext uri="{BB962C8B-B14F-4D97-AF65-F5344CB8AC3E}">
        <p14:creationId xmlns:p14="http://schemas.microsoft.com/office/powerpoint/2010/main" val="4116344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77D0AF-F16D-488C-934E-46D5C6A6DA4C}"/>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03768C7-693A-470E-AFC1-2CD074F7EC5C}"/>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C1A3A2-37F0-4D22-B310-322946CC4BB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45A027E-C90D-4677-87D2-6E50C6B6931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8E49F74-E926-4EE3-879E-0890B0B4E7A1}"/>
              </a:ext>
            </a:extLst>
          </p:cNvPr>
          <p:cNvSpPr>
            <a:spLocks noGrp="1"/>
          </p:cNvSpPr>
          <p:nvPr>
            <p:ph type="sldNum" sz="quarter" idx="12"/>
          </p:nvPr>
        </p:nvSpPr>
        <p:spPr/>
        <p:txBody>
          <a:bodyPr/>
          <a:lstStyle>
            <a:lvl1pPr>
              <a:defRPr/>
            </a:lvl1pPr>
          </a:lstStyle>
          <a:p>
            <a:fld id="{E384E43F-669A-45FB-B712-786FAE7DAFF2}" type="slidenum">
              <a:rPr lang="zh-CN" altLang="en-US"/>
              <a:pPr/>
              <a:t>‹#›</a:t>
            </a:fld>
            <a:endParaRPr lang="en-US" altLang="zh-CN"/>
          </a:p>
        </p:txBody>
      </p:sp>
    </p:spTree>
    <p:extLst>
      <p:ext uri="{BB962C8B-B14F-4D97-AF65-F5344CB8AC3E}">
        <p14:creationId xmlns:p14="http://schemas.microsoft.com/office/powerpoint/2010/main" val="1890855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B0B9C-B9C8-4651-B8BA-962D5A71AB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0E2CB4-CC10-46E6-AD59-6809A7F7944F}"/>
              </a:ext>
            </a:extLst>
          </p:cNvPr>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B3F9036-5E10-4D4A-939C-FBE0D91DDE5E}"/>
              </a:ext>
            </a:extLst>
          </p:cNvPr>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7C41F7C-D04B-4E6E-B1D7-A5DB97E0C27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7620D52-B196-4B98-B018-61C0E6E41A9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E7C614C-3400-493F-B762-0DADF5DB2663}"/>
              </a:ext>
            </a:extLst>
          </p:cNvPr>
          <p:cNvSpPr>
            <a:spLocks noGrp="1"/>
          </p:cNvSpPr>
          <p:nvPr>
            <p:ph type="sldNum" sz="quarter" idx="12"/>
          </p:nvPr>
        </p:nvSpPr>
        <p:spPr/>
        <p:txBody>
          <a:bodyPr/>
          <a:lstStyle>
            <a:lvl1pPr>
              <a:defRPr/>
            </a:lvl1pPr>
          </a:lstStyle>
          <a:p>
            <a:fld id="{4D19C2A2-38DE-4A37-A36D-9D9EA2BEF4B3}" type="slidenum">
              <a:rPr lang="zh-CN" altLang="en-US"/>
              <a:pPr/>
              <a:t>‹#›</a:t>
            </a:fld>
            <a:endParaRPr lang="en-US" altLang="zh-CN"/>
          </a:p>
        </p:txBody>
      </p:sp>
    </p:spTree>
    <p:extLst>
      <p:ext uri="{BB962C8B-B14F-4D97-AF65-F5344CB8AC3E}">
        <p14:creationId xmlns:p14="http://schemas.microsoft.com/office/powerpoint/2010/main" val="3439747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7E19AA-3717-4E75-8C9D-C0677D622F44}"/>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BFE3CA9-2AEA-45A6-A380-B6BA4A4312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85F74B6-A22D-4FB9-AA85-D81FE789152A}"/>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778558B-1DCA-4483-A00D-D2267A7289F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76009D0-479C-4422-BE3A-AFAE142A9E31}"/>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578AA32-FCB4-4ECE-AC93-DD24E7366043}"/>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7991A0DB-FBD2-42B2-BA79-2E667BF5A2FC}"/>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0C902ED5-125E-4F61-906F-6671B0FECABE}"/>
              </a:ext>
            </a:extLst>
          </p:cNvPr>
          <p:cNvSpPr>
            <a:spLocks noGrp="1"/>
          </p:cNvSpPr>
          <p:nvPr>
            <p:ph type="sldNum" sz="quarter" idx="12"/>
          </p:nvPr>
        </p:nvSpPr>
        <p:spPr/>
        <p:txBody>
          <a:bodyPr/>
          <a:lstStyle>
            <a:lvl1pPr>
              <a:defRPr/>
            </a:lvl1pPr>
          </a:lstStyle>
          <a:p>
            <a:fld id="{908B55F7-2AEE-457E-93FF-1C203100BC07}" type="slidenum">
              <a:rPr lang="zh-CN" altLang="en-US"/>
              <a:pPr/>
              <a:t>‹#›</a:t>
            </a:fld>
            <a:endParaRPr lang="en-US" altLang="zh-CN"/>
          </a:p>
        </p:txBody>
      </p:sp>
    </p:spTree>
    <p:extLst>
      <p:ext uri="{BB962C8B-B14F-4D97-AF65-F5344CB8AC3E}">
        <p14:creationId xmlns:p14="http://schemas.microsoft.com/office/powerpoint/2010/main" val="291751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DD7B5-FE5F-44CD-9A65-929850FBBB9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2C0C714-D851-4447-8B08-C5461A56E2FD}"/>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50C12C7A-6710-4C8F-AF78-79A08C5E992A}"/>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9A726801-7925-4F87-85DF-5042B2B68FE4}"/>
              </a:ext>
            </a:extLst>
          </p:cNvPr>
          <p:cNvSpPr>
            <a:spLocks noGrp="1"/>
          </p:cNvSpPr>
          <p:nvPr>
            <p:ph type="sldNum" sz="quarter" idx="12"/>
          </p:nvPr>
        </p:nvSpPr>
        <p:spPr/>
        <p:txBody>
          <a:bodyPr/>
          <a:lstStyle>
            <a:lvl1pPr>
              <a:defRPr/>
            </a:lvl1pPr>
          </a:lstStyle>
          <a:p>
            <a:fld id="{B5564085-D168-4CA2-BF41-F63BC37B42E1}" type="slidenum">
              <a:rPr lang="zh-CN" altLang="en-US"/>
              <a:pPr/>
              <a:t>‹#›</a:t>
            </a:fld>
            <a:endParaRPr lang="en-US" altLang="zh-CN"/>
          </a:p>
        </p:txBody>
      </p:sp>
    </p:spTree>
    <p:extLst>
      <p:ext uri="{BB962C8B-B14F-4D97-AF65-F5344CB8AC3E}">
        <p14:creationId xmlns:p14="http://schemas.microsoft.com/office/powerpoint/2010/main" val="2616009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B17549-9504-492C-A546-A2258F93A883}"/>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723AED39-D1B2-4E30-B785-D9FCF96BD5C5}"/>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8264A5A2-1A62-4871-AF96-E7FEC765B39E}"/>
              </a:ext>
            </a:extLst>
          </p:cNvPr>
          <p:cNvSpPr>
            <a:spLocks noGrp="1"/>
          </p:cNvSpPr>
          <p:nvPr>
            <p:ph type="sldNum" sz="quarter" idx="12"/>
          </p:nvPr>
        </p:nvSpPr>
        <p:spPr/>
        <p:txBody>
          <a:bodyPr/>
          <a:lstStyle>
            <a:lvl1pPr>
              <a:defRPr/>
            </a:lvl1pPr>
          </a:lstStyle>
          <a:p>
            <a:fld id="{1806BD39-DBF1-4C50-9DF8-8AF7744C84C6}" type="slidenum">
              <a:rPr lang="zh-CN" altLang="en-US"/>
              <a:pPr/>
              <a:t>‹#›</a:t>
            </a:fld>
            <a:endParaRPr lang="en-US" altLang="zh-CN"/>
          </a:p>
        </p:txBody>
      </p:sp>
    </p:spTree>
    <p:extLst>
      <p:ext uri="{BB962C8B-B14F-4D97-AF65-F5344CB8AC3E}">
        <p14:creationId xmlns:p14="http://schemas.microsoft.com/office/powerpoint/2010/main" val="312695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4D2B0-684B-4D34-B790-ED31A80F0933}"/>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E1A7B1-459D-4BAF-89A6-ABCDCA1539B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988C6B1-8620-45F2-9FC3-00EFF392985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D4709D3-8982-4DB2-BB82-08968BC36C2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40B19C6-08EC-4249-B773-91BE684E738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CAE9110-953B-4451-9283-3CBA2FC9D444}"/>
              </a:ext>
            </a:extLst>
          </p:cNvPr>
          <p:cNvSpPr>
            <a:spLocks noGrp="1"/>
          </p:cNvSpPr>
          <p:nvPr>
            <p:ph type="sldNum" sz="quarter" idx="12"/>
          </p:nvPr>
        </p:nvSpPr>
        <p:spPr/>
        <p:txBody>
          <a:bodyPr/>
          <a:lstStyle>
            <a:lvl1pPr>
              <a:defRPr/>
            </a:lvl1pPr>
          </a:lstStyle>
          <a:p>
            <a:fld id="{9342B1D0-B438-422F-8B65-CF2030E712B0}" type="slidenum">
              <a:rPr lang="zh-CN" altLang="en-US"/>
              <a:pPr/>
              <a:t>‹#›</a:t>
            </a:fld>
            <a:endParaRPr lang="en-US" altLang="zh-CN"/>
          </a:p>
        </p:txBody>
      </p:sp>
    </p:spTree>
    <p:extLst>
      <p:ext uri="{BB962C8B-B14F-4D97-AF65-F5344CB8AC3E}">
        <p14:creationId xmlns:p14="http://schemas.microsoft.com/office/powerpoint/2010/main" val="422577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9E13B7-F7F7-43A5-AC8A-C1AC8B2F3E6C}"/>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F99B788-023F-4996-8A36-4D13E906367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8DF8FC1-FFA5-4B13-9773-EE6FD31674B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310966C-7EF9-4016-A27E-B1CDE513B82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7ADE6F70-D7E4-45A5-AC48-25F631816D1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30D1DE8-44F3-4218-AE8F-98C3C0A0FF81}"/>
              </a:ext>
            </a:extLst>
          </p:cNvPr>
          <p:cNvSpPr>
            <a:spLocks noGrp="1"/>
          </p:cNvSpPr>
          <p:nvPr>
            <p:ph type="sldNum" sz="quarter" idx="12"/>
          </p:nvPr>
        </p:nvSpPr>
        <p:spPr/>
        <p:txBody>
          <a:bodyPr/>
          <a:lstStyle>
            <a:lvl1pPr>
              <a:defRPr/>
            </a:lvl1pPr>
          </a:lstStyle>
          <a:p>
            <a:fld id="{4284F919-B036-40D7-8A34-760EBBE4082F}" type="slidenum">
              <a:rPr lang="zh-CN" altLang="en-US"/>
              <a:pPr/>
              <a:t>‹#›</a:t>
            </a:fld>
            <a:endParaRPr lang="en-US" altLang="zh-CN"/>
          </a:p>
        </p:txBody>
      </p:sp>
    </p:spTree>
    <p:extLst>
      <p:ext uri="{BB962C8B-B14F-4D97-AF65-F5344CB8AC3E}">
        <p14:creationId xmlns:p14="http://schemas.microsoft.com/office/powerpoint/2010/main" val="440963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738982-80E3-4527-945D-64B66F46106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62556EB-FBBC-4DBB-BE36-1546D5F13ED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17AD4B-05E8-43BA-8BEA-2D354F1A261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E9EA344-5423-492A-9522-9CD95EB35F3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9419FD3-5637-4FA6-B157-E029B3E5DDC1}"/>
              </a:ext>
            </a:extLst>
          </p:cNvPr>
          <p:cNvSpPr>
            <a:spLocks noGrp="1"/>
          </p:cNvSpPr>
          <p:nvPr>
            <p:ph type="sldNum" sz="quarter" idx="12"/>
          </p:nvPr>
        </p:nvSpPr>
        <p:spPr/>
        <p:txBody>
          <a:bodyPr/>
          <a:lstStyle>
            <a:lvl1pPr>
              <a:defRPr/>
            </a:lvl1pPr>
          </a:lstStyle>
          <a:p>
            <a:fld id="{45CC0FF0-BE32-42CC-8A3D-812148E72CCC}" type="slidenum">
              <a:rPr lang="zh-CN" altLang="en-US"/>
              <a:pPr/>
              <a:t>‹#›</a:t>
            </a:fld>
            <a:endParaRPr lang="en-US" altLang="zh-CN"/>
          </a:p>
        </p:txBody>
      </p:sp>
    </p:spTree>
    <p:extLst>
      <p:ext uri="{BB962C8B-B14F-4D97-AF65-F5344CB8AC3E}">
        <p14:creationId xmlns:p14="http://schemas.microsoft.com/office/powerpoint/2010/main" val="1050870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3AE0F58-C6A8-4603-AE34-5C5F96B3CC8B}"/>
              </a:ext>
            </a:extLst>
          </p:cNvPr>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431D890-9FFB-43EB-95C4-0E52B8FA4AA5}"/>
              </a:ext>
            </a:extLst>
          </p:cNvPr>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56BCD8-4DA7-458E-8259-96FF8718447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76A3949-F4FA-487F-B9AC-172CE4E4717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4DE32B6-E625-473E-B1FF-B931801BA3FD}"/>
              </a:ext>
            </a:extLst>
          </p:cNvPr>
          <p:cNvSpPr>
            <a:spLocks noGrp="1"/>
          </p:cNvSpPr>
          <p:nvPr>
            <p:ph type="sldNum" sz="quarter" idx="12"/>
          </p:nvPr>
        </p:nvSpPr>
        <p:spPr/>
        <p:txBody>
          <a:bodyPr/>
          <a:lstStyle>
            <a:lvl1pPr>
              <a:defRPr/>
            </a:lvl1pPr>
          </a:lstStyle>
          <a:p>
            <a:fld id="{957F5844-883B-4353-BBD9-A11413CD5536}" type="slidenum">
              <a:rPr lang="zh-CN" altLang="en-US"/>
              <a:pPr/>
              <a:t>‹#›</a:t>
            </a:fld>
            <a:endParaRPr lang="en-US" altLang="zh-CN"/>
          </a:p>
        </p:txBody>
      </p:sp>
    </p:spTree>
    <p:extLst>
      <p:ext uri="{BB962C8B-B14F-4D97-AF65-F5344CB8AC3E}">
        <p14:creationId xmlns:p14="http://schemas.microsoft.com/office/powerpoint/2010/main" val="2481502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6D3A6298-B4D3-44E8-8833-865CA9EF931D}"/>
              </a:ext>
            </a:extLst>
          </p:cNvPr>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1" name="Rectangle 3">
            <a:extLst>
              <a:ext uri="{FF2B5EF4-FFF2-40B4-BE49-F238E27FC236}">
                <a16:creationId xmlns:a16="http://schemas.microsoft.com/office/drawing/2014/main" id="{E1F53E02-F857-4BF5-B796-D3EDAD64A36F}"/>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2" name="Rectangle 4">
            <a:extLst>
              <a:ext uri="{FF2B5EF4-FFF2-40B4-BE49-F238E27FC236}">
                <a16:creationId xmlns:a16="http://schemas.microsoft.com/office/drawing/2014/main" id="{5DDC2F0C-DA43-4712-BB2B-6390C86483D2}"/>
              </a:ext>
            </a:extLst>
          </p:cNvPr>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3" name="Rectangle 5">
            <a:extLst>
              <a:ext uri="{FF2B5EF4-FFF2-40B4-BE49-F238E27FC236}">
                <a16:creationId xmlns:a16="http://schemas.microsoft.com/office/drawing/2014/main" id="{89989C21-AB2B-4BD9-8EF9-06B21ABFC515}"/>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4" name="Rectangle 6">
            <a:extLst>
              <a:ext uri="{FF2B5EF4-FFF2-40B4-BE49-F238E27FC236}">
                <a16:creationId xmlns:a16="http://schemas.microsoft.com/office/drawing/2014/main" id="{F25CD8C2-F10E-4270-A9F1-88A7CE47DBB1}"/>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5" name="Rectangle 7">
            <a:extLst>
              <a:ext uri="{FF2B5EF4-FFF2-40B4-BE49-F238E27FC236}">
                <a16:creationId xmlns:a16="http://schemas.microsoft.com/office/drawing/2014/main" id="{8879CF7E-F44E-44A3-A655-96777A6C4905}"/>
              </a:ext>
            </a:extLst>
          </p:cNvPr>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6" name="Rectangle 8">
            <a:extLst>
              <a:ext uri="{FF2B5EF4-FFF2-40B4-BE49-F238E27FC236}">
                <a16:creationId xmlns:a16="http://schemas.microsoft.com/office/drawing/2014/main" id="{AE29EE77-46FE-4EE5-8A3A-F82D1CE4ACB9}"/>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7" name="Rectangle 9">
            <a:extLst>
              <a:ext uri="{FF2B5EF4-FFF2-40B4-BE49-F238E27FC236}">
                <a16:creationId xmlns:a16="http://schemas.microsoft.com/office/drawing/2014/main" id="{E862D152-1A83-4D38-8ACE-E33B8DE41E60}"/>
              </a:ext>
            </a:extLst>
          </p:cNvPr>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96298" name="Rectangle 10">
            <a:extLst>
              <a:ext uri="{FF2B5EF4-FFF2-40B4-BE49-F238E27FC236}">
                <a16:creationId xmlns:a16="http://schemas.microsoft.com/office/drawing/2014/main" id="{030217A5-448C-4454-8F57-D014C196457C}"/>
              </a:ext>
            </a:extLst>
          </p:cNvPr>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96299" name="Rectangle 11">
            <a:extLst>
              <a:ext uri="{FF2B5EF4-FFF2-40B4-BE49-F238E27FC236}">
                <a16:creationId xmlns:a16="http://schemas.microsoft.com/office/drawing/2014/main" id="{C3688FAB-8D32-4A4C-9698-E06334C1BAFE}"/>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atin typeface="+mn-lt"/>
                <a:ea typeface="+mn-ea"/>
              </a:defRPr>
            </a:lvl1pPr>
          </a:lstStyle>
          <a:p>
            <a:endParaRPr lang="en-US" altLang="zh-CN"/>
          </a:p>
        </p:txBody>
      </p:sp>
      <p:sp>
        <p:nvSpPr>
          <p:cNvPr id="396300" name="Rectangle 12">
            <a:extLst>
              <a:ext uri="{FF2B5EF4-FFF2-40B4-BE49-F238E27FC236}">
                <a16:creationId xmlns:a16="http://schemas.microsoft.com/office/drawing/2014/main" id="{123BE009-805B-43BB-B1DD-31BFB0698FB7}"/>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latin typeface="+mn-lt"/>
                <a:ea typeface="+mn-ea"/>
              </a:defRPr>
            </a:lvl1pPr>
          </a:lstStyle>
          <a:p>
            <a:endParaRPr lang="en-US" altLang="zh-CN"/>
          </a:p>
        </p:txBody>
      </p:sp>
      <p:sp>
        <p:nvSpPr>
          <p:cNvPr id="396301" name="Rectangle 13">
            <a:extLst>
              <a:ext uri="{FF2B5EF4-FFF2-40B4-BE49-F238E27FC236}">
                <a16:creationId xmlns:a16="http://schemas.microsoft.com/office/drawing/2014/main" id="{38B48FAC-B52A-442D-8D64-D80E5D1EA034}"/>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atin typeface="+mn-lt"/>
                <a:ea typeface="+mn-ea"/>
              </a:defRPr>
            </a:lvl1pPr>
          </a:lstStyle>
          <a:p>
            <a:fld id="{0A70C0D6-E870-40C7-B4FA-74D033665229}"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6298">
                                            <p:txEl>
                                              <p:pRg st="0" end="0"/>
                                            </p:txEl>
                                          </p:spTgt>
                                        </p:tgtEl>
                                        <p:attrNameLst>
                                          <p:attrName>style.visibility</p:attrName>
                                        </p:attrNameLst>
                                      </p:cBhvr>
                                      <p:to>
                                        <p:strVal val="visible"/>
                                      </p:to>
                                    </p:set>
                                    <p:animEffect transition="in" filter="wipe(left)">
                                      <p:cBhvr>
                                        <p:cTn id="7" dur="1000"/>
                                        <p:tgtEl>
                                          <p:spTgt spid="3962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6298">
                                            <p:txEl>
                                              <p:pRg st="1" end="1"/>
                                            </p:txEl>
                                          </p:spTgt>
                                        </p:tgtEl>
                                        <p:attrNameLst>
                                          <p:attrName>style.visibility</p:attrName>
                                        </p:attrNameLst>
                                      </p:cBhvr>
                                      <p:to>
                                        <p:strVal val="visible"/>
                                      </p:to>
                                    </p:set>
                                    <p:animEffect transition="in" filter="wipe(left)">
                                      <p:cBhvr>
                                        <p:cTn id="12" dur="1000"/>
                                        <p:tgtEl>
                                          <p:spTgt spid="396298">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96298">
                                            <p:txEl>
                                              <p:pRg st="2" end="2"/>
                                            </p:txEl>
                                          </p:spTgt>
                                        </p:tgtEl>
                                        <p:attrNameLst>
                                          <p:attrName>style.visibility</p:attrName>
                                        </p:attrNameLst>
                                      </p:cBhvr>
                                      <p:to>
                                        <p:strVal val="visible"/>
                                      </p:to>
                                    </p:set>
                                    <p:animEffect transition="in" filter="wipe(left)">
                                      <p:cBhvr>
                                        <p:cTn id="15" dur="1000"/>
                                        <p:tgtEl>
                                          <p:spTgt spid="396298">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96298">
                                            <p:txEl>
                                              <p:pRg st="3" end="3"/>
                                            </p:txEl>
                                          </p:spTgt>
                                        </p:tgtEl>
                                        <p:attrNameLst>
                                          <p:attrName>style.visibility</p:attrName>
                                        </p:attrNameLst>
                                      </p:cBhvr>
                                      <p:to>
                                        <p:strVal val="visible"/>
                                      </p:to>
                                    </p:set>
                                    <p:animEffect transition="in" filter="wipe(left)">
                                      <p:cBhvr>
                                        <p:cTn id="18" dur="1000"/>
                                        <p:tgtEl>
                                          <p:spTgt spid="396298">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6298">
                                            <p:txEl>
                                              <p:pRg st="4" end="4"/>
                                            </p:txEl>
                                          </p:spTgt>
                                        </p:tgtEl>
                                        <p:attrNameLst>
                                          <p:attrName>style.visibility</p:attrName>
                                        </p:attrNameLst>
                                      </p:cBhvr>
                                      <p:to>
                                        <p:strVal val="visible"/>
                                      </p:to>
                                    </p:set>
                                    <p:animEffect transition="in" filter="wipe(left)">
                                      <p:cBhvr>
                                        <p:cTn id="21" dur="1000"/>
                                        <p:tgtEl>
                                          <p:spTgt spid="396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8" grpId="0" build="p">
        <p:tmplLst>
          <p:tmpl lvl="1">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Lst>
      </p:bldP>
    </p:bldLst>
  </p:timing>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FC753CA3-D86D-43F0-AD51-7558D051C3E2}"/>
              </a:ext>
            </a:extLst>
          </p:cNvPr>
          <p:cNvSpPr>
            <a:spLocks noGrp="1" noChangeArrowheads="1"/>
          </p:cNvSpPr>
          <p:nvPr>
            <p:ph type="ctrTitle"/>
          </p:nvPr>
        </p:nvSpPr>
        <p:spPr>
          <a:effectLst>
            <a:outerShdw dist="17961" dir="2700000" algn="ctr" rotWithShape="0">
              <a:schemeClr val="tx1"/>
            </a:outerShdw>
          </a:effectLst>
        </p:spPr>
        <p:txBody>
          <a:bodyPr/>
          <a:lstStyle/>
          <a:p>
            <a:r>
              <a:rPr lang="zh-CN" altLang="en-US" dirty="0">
                <a:effectLst/>
              </a:rPr>
              <a:t>第</a:t>
            </a:r>
            <a:r>
              <a:rPr lang="en-US" altLang="zh-CN" dirty="0">
                <a:effectLst/>
              </a:rPr>
              <a:t>10</a:t>
            </a:r>
            <a:r>
              <a:rPr lang="zh-CN" altLang="en-US" dirty="0">
                <a:effectLst/>
              </a:rPr>
              <a:t>章  数据库保护技术</a:t>
            </a:r>
            <a:endParaRPr lang="en-US" altLang="zh-CN" dirty="0">
              <a:effectLst/>
            </a:endParaRPr>
          </a:p>
        </p:txBody>
      </p:sp>
      <p:sp>
        <p:nvSpPr>
          <p:cNvPr id="398340" name="Rectangle 4">
            <a:extLst>
              <a:ext uri="{FF2B5EF4-FFF2-40B4-BE49-F238E27FC236}">
                <a16:creationId xmlns:a16="http://schemas.microsoft.com/office/drawing/2014/main" id="{DF14ED08-87DE-4EC8-88A5-43CDC34E08A5}"/>
              </a:ext>
            </a:extLst>
          </p:cNvPr>
          <p:cNvSpPr>
            <a:spLocks noChangeArrowheads="1"/>
          </p:cNvSpPr>
          <p:nvPr/>
        </p:nvSpPr>
        <p:spPr bwMode="auto">
          <a:xfrm>
            <a:off x="107950" y="80963"/>
            <a:ext cx="3816350"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ndParaRPr>
          </a:p>
        </p:txBody>
      </p:sp>
      <p:sp>
        <p:nvSpPr>
          <p:cNvPr id="398342" name="Rectangle 6">
            <a:extLst>
              <a:ext uri="{FF2B5EF4-FFF2-40B4-BE49-F238E27FC236}">
                <a16:creationId xmlns:a16="http://schemas.microsoft.com/office/drawing/2014/main" id="{59660425-85D3-4C0F-929F-FE999A45330B}"/>
              </a:ext>
            </a:extLst>
          </p:cNvPr>
          <p:cNvSpPr>
            <a:spLocks noChangeArrowheads="1"/>
          </p:cNvSpPr>
          <p:nvPr/>
        </p:nvSpPr>
        <p:spPr bwMode="auto">
          <a:xfrm>
            <a:off x="1474788" y="3357563"/>
            <a:ext cx="59055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ctr">
              <a:lnSpc>
                <a:spcPct val="120000"/>
              </a:lnSpc>
              <a:spcBef>
                <a:spcPct val="20000"/>
              </a:spcBef>
              <a:buClr>
                <a:schemeClr val="hlink"/>
              </a:buClr>
              <a:buSzPct val="55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ctr">
              <a:lnSpc>
                <a:spcPct val="120000"/>
              </a:lnSpc>
              <a:spcBef>
                <a:spcPct val="20000"/>
              </a:spcBef>
              <a:buClr>
                <a:schemeClr val="folHlink"/>
              </a:buClr>
              <a:buSzPct val="5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ctr">
              <a:lnSpc>
                <a:spcPct val="120000"/>
              </a:lnSpc>
              <a:spcBef>
                <a:spcPct val="20000"/>
              </a:spcBef>
              <a:buClr>
                <a:schemeClr val="accent2"/>
              </a:buClr>
              <a:buSzPct val="55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ctr">
              <a:lnSpc>
                <a:spcPct val="120000"/>
              </a:lnSpc>
              <a:spcBef>
                <a:spcPct val="20000"/>
              </a:spcBef>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00000"/>
              </a:lnSpc>
              <a:spcBef>
                <a:spcPct val="0"/>
              </a:spcBef>
              <a:buClrTx/>
              <a:buSzTx/>
              <a:buFontTx/>
              <a:buNone/>
            </a:pPr>
            <a:r>
              <a:rPr lang="zh-CN" altLang="en-US" sz="4000">
                <a:solidFill>
                  <a:srgbClr val="003366"/>
                </a:solidFill>
                <a:latin typeface="华文新魏" panose="02010800040101010101" pitchFamily="2" charset="-122"/>
                <a:ea typeface="华文新魏" panose="02010800040101010101" pitchFamily="2" charset="-122"/>
              </a:rPr>
              <a:t>（第二讲）</a:t>
            </a:r>
          </a:p>
        </p:txBody>
      </p:sp>
    </p:spTree>
  </p:cSld>
  <p:clrMapOvr>
    <a:masterClrMapping/>
  </p:clrMapOvr>
  <mc:AlternateContent xmlns:mc="http://schemas.openxmlformats.org/markup-compatibility/2006" xmlns:p14="http://schemas.microsoft.com/office/powerpoint/2010/main">
    <mc:Choice Requires="p14">
      <p:transition spd="slow" p14:dur="2000" advTm="2797"/>
    </mc:Choice>
    <mc:Fallback xmlns="">
      <p:transition spd="slow" advTm="279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box(out)">
                                      <p:cBhvr>
                                        <p:cTn id="7" dur="1000"/>
                                        <p:tgtEl>
                                          <p:spTgt spid="398340"/>
                                        </p:tgtEl>
                                      </p:cBhvr>
                                    </p:animEffect>
                                  </p:childTnLst>
                                </p:cTn>
                              </p:par>
                            </p:childTnLst>
                          </p:cTn>
                        </p:par>
                        <p:par>
                          <p:cTn id="8" fill="hold" nodeType="afterGroup">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398338"/>
                                        </p:tgtEl>
                                        <p:attrNameLst>
                                          <p:attrName>style.visibility</p:attrName>
                                        </p:attrNameLst>
                                      </p:cBhvr>
                                      <p:to>
                                        <p:strVal val="visible"/>
                                      </p:to>
                                    </p:set>
                                    <p:animEffect transition="in" filter="plus(in)">
                                      <p:cBhvr>
                                        <p:cTn id="11" dur="1000"/>
                                        <p:tgtEl>
                                          <p:spTgt spid="398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p:bldP spid="39834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a:extLst>
              <a:ext uri="{FF2B5EF4-FFF2-40B4-BE49-F238E27FC236}">
                <a16:creationId xmlns:a16="http://schemas.microsoft.com/office/drawing/2014/main" id="{46148734-C102-42BC-A04F-1E771FC32938}"/>
              </a:ext>
            </a:extLst>
          </p:cNvPr>
          <p:cNvSpPr>
            <a:spLocks noGrp="1" noChangeArrowheads="1"/>
          </p:cNvSpPr>
          <p:nvPr>
            <p:ph type="ctrTitle"/>
          </p:nvPr>
        </p:nvSpPr>
        <p:spPr>
          <a:noFill/>
          <a:ln/>
        </p:spPr>
        <p:txBody>
          <a:bodyPr/>
          <a:lstStyle/>
          <a:p>
            <a:r>
              <a:rPr lang="en-US" altLang="zh-CN" sz="5400"/>
              <a:t>10.2  </a:t>
            </a:r>
            <a:r>
              <a:rPr lang="zh-CN" altLang="en-US" sz="5400"/>
              <a:t>数据库的安全性</a:t>
            </a:r>
          </a:p>
        </p:txBody>
      </p:sp>
      <p:sp>
        <p:nvSpPr>
          <p:cNvPr id="464900" name="Rectangle 4">
            <a:extLst>
              <a:ext uri="{FF2B5EF4-FFF2-40B4-BE49-F238E27FC236}">
                <a16:creationId xmlns:a16="http://schemas.microsoft.com/office/drawing/2014/main" id="{8DC93AE7-5FC1-4318-80F3-0E7D06145CFD}"/>
              </a:ext>
            </a:extLst>
          </p:cNvPr>
          <p:cNvSpPr>
            <a:spLocks noChangeArrowheads="1"/>
          </p:cNvSpPr>
          <p:nvPr/>
        </p:nvSpPr>
        <p:spPr bwMode="auto">
          <a:xfrm>
            <a:off x="71438" y="80963"/>
            <a:ext cx="46450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800" b="1">
                <a:solidFill>
                  <a:srgbClr val="993300"/>
                </a:solidFill>
                <a:effectLst>
                  <a:outerShdw blurRad="38100" dist="38100" dir="2700000" algn="tl">
                    <a:srgbClr val="000000"/>
                  </a:outerShdw>
                </a:effectLst>
                <a:ea typeface="隶书" panose="02010509060101010101" pitchFamily="49" charset="-122"/>
              </a:rPr>
              <a:t>第</a:t>
            </a:r>
            <a:r>
              <a:rPr lang="en-US" altLang="zh-CN" sz="2800" b="1">
                <a:solidFill>
                  <a:srgbClr val="993300"/>
                </a:solidFill>
                <a:effectLst>
                  <a:outerShdw blurRad="38100" dist="38100" dir="2700000" algn="tl">
                    <a:srgbClr val="000000"/>
                  </a:outerShdw>
                </a:effectLst>
                <a:ea typeface="隶书" panose="02010509060101010101" pitchFamily="49" charset="-122"/>
              </a:rPr>
              <a:t>10</a:t>
            </a:r>
            <a:r>
              <a:rPr lang="zh-CN" altLang="en-US" sz="2800" b="1">
                <a:solidFill>
                  <a:srgbClr val="993300"/>
                </a:solidFill>
                <a:effectLst>
                  <a:outerShdw blurRad="38100" dist="38100" dir="2700000" algn="tl">
                    <a:srgbClr val="000000"/>
                  </a:outerShdw>
                </a:effectLst>
                <a:ea typeface="隶书" panose="02010509060101010101" pitchFamily="49" charset="-122"/>
              </a:rPr>
              <a:t>章  数据库保护技术</a:t>
            </a:r>
          </a:p>
        </p:txBody>
      </p:sp>
    </p:spTree>
  </p:cSld>
  <p:clrMapOvr>
    <a:masterClrMapping/>
  </p:clrMapOvr>
  <mc:AlternateContent xmlns:mc="http://schemas.openxmlformats.org/markup-compatibility/2006" xmlns:p14="http://schemas.microsoft.com/office/powerpoint/2010/main">
    <mc:Choice Requires="p14">
      <p:transition spd="slow" p14:dur="2000" advTm="2737"/>
    </mc:Choice>
    <mc:Fallback xmlns="">
      <p:transition spd="slow" advTm="273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64900"/>
                                        </p:tgtEl>
                                        <p:attrNameLst>
                                          <p:attrName>style.visibility</p:attrName>
                                        </p:attrNameLst>
                                      </p:cBhvr>
                                      <p:to>
                                        <p:strVal val="visible"/>
                                      </p:to>
                                    </p:set>
                                    <p:animEffect transition="in" filter="box(out)">
                                      <p:cBhvr>
                                        <p:cTn id="7" dur="1000"/>
                                        <p:tgtEl>
                                          <p:spTgt spid="464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7" name="Rectangle 7">
            <a:extLst>
              <a:ext uri="{FF2B5EF4-FFF2-40B4-BE49-F238E27FC236}">
                <a16:creationId xmlns:a16="http://schemas.microsoft.com/office/drawing/2014/main" id="{9DC2F2D5-7561-426A-9677-96700F5639F6}"/>
              </a:ext>
            </a:extLst>
          </p:cNvPr>
          <p:cNvSpPr>
            <a:spLocks noChangeAspect="1" noChangeArrowheads="1"/>
          </p:cNvSpPr>
          <p:nvPr/>
        </p:nvSpPr>
        <p:spPr bwMode="auto">
          <a:xfrm>
            <a:off x="323850" y="1052513"/>
            <a:ext cx="8496300" cy="4752975"/>
          </a:xfrm>
          <a:prstGeom prst="rect">
            <a:avLst/>
          </a:prstGeom>
          <a:gradFill rotWithShape="1">
            <a:gsLst>
              <a:gs pos="0">
                <a:srgbClr val="C5ECFF"/>
              </a:gs>
              <a:gs pos="100000">
                <a:srgbClr val="C5ECFF">
                  <a:gamma/>
                  <a:tint val="28627"/>
                  <a:invGamma/>
                </a:srgbClr>
              </a:gs>
            </a:gsLst>
            <a:lin ang="5400000" scaled="1"/>
          </a:gradFill>
          <a:ln w="57150" cmpd="thickThin">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04489" name="Rectangle 9">
            <a:extLst>
              <a:ext uri="{FF2B5EF4-FFF2-40B4-BE49-F238E27FC236}">
                <a16:creationId xmlns:a16="http://schemas.microsoft.com/office/drawing/2014/main" id="{BEBF0F78-0ABE-4D30-A3AF-3CA12A3CCBD1}"/>
              </a:ext>
            </a:extLst>
          </p:cNvPr>
          <p:cNvSpPr>
            <a:spLocks noChangeArrowheads="1"/>
          </p:cNvSpPr>
          <p:nvPr/>
        </p:nvSpPr>
        <p:spPr bwMode="auto">
          <a:xfrm>
            <a:off x="468313" y="1412875"/>
            <a:ext cx="8208962" cy="4105275"/>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1800" b="0">
                <a:effectLst/>
                <a:ea typeface="黑体" panose="02010609060101010101" pitchFamily="49" charset="-122"/>
              </a:rPr>
              <a:t>          </a:t>
            </a:r>
          </a:p>
          <a:p>
            <a:pPr>
              <a:lnSpc>
                <a:spcPct val="140000"/>
              </a:lnSpc>
            </a:pPr>
            <a:r>
              <a:rPr lang="zh-CN" altLang="en-US" b="0">
                <a:effectLst/>
                <a:ea typeface="黑体" panose="02010609060101010101" pitchFamily="49" charset="-122"/>
              </a:rPr>
              <a:t>          </a:t>
            </a:r>
            <a:r>
              <a:rPr lang="zh-CN" altLang="en-US" sz="3200">
                <a:solidFill>
                  <a:srgbClr val="660033"/>
                </a:solidFill>
                <a:effectLst/>
                <a:ea typeface="华文新魏" panose="02010800040101010101" pitchFamily="2" charset="-122"/>
              </a:rPr>
              <a:t>数据库的安全性</a:t>
            </a:r>
            <a:r>
              <a:rPr lang="zh-CN" altLang="en-US" b="0">
                <a:effectLst/>
                <a:latin typeface="黑体" panose="02010609060101010101" pitchFamily="49" charset="-122"/>
                <a:ea typeface="黑体" panose="02010609060101010101" pitchFamily="49" charset="-122"/>
              </a:rPr>
              <a:t>是指在数据库系统的建立和使用过程中，为防止数据库的不合法使用和因偶然或恶意的原因，使数据库中数据遭到非法更改、破坏或泄露等所采取的各种技术、管理和安全保护措施的总称。</a:t>
            </a:r>
            <a:r>
              <a:rPr lang="zh-CN" altLang="en-US" b="0">
                <a:latin typeface="黑体" panose="02010609060101010101" pitchFamily="49" charset="-122"/>
                <a:ea typeface="黑体" panose="02010609060101010101" pitchFamily="49" charset="-122"/>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727"/>
    </mc:Choice>
    <mc:Fallback xmlns="">
      <p:transition spd="slow" advTm="2772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withEffect">
                                  <p:stCondLst>
                                    <p:cond delay="0"/>
                                  </p:stCondLst>
                                  <p:childTnLst>
                                    <p:set>
                                      <p:cBhvr>
                                        <p:cTn id="6" dur="1" fill="hold">
                                          <p:stCondLst>
                                            <p:cond delay="0"/>
                                          </p:stCondLst>
                                        </p:cTn>
                                        <p:tgtEl>
                                          <p:spTgt spid="404487"/>
                                        </p:tgtEl>
                                        <p:attrNameLst>
                                          <p:attrName>style.visibility</p:attrName>
                                        </p:attrNameLst>
                                      </p:cBhvr>
                                      <p:to>
                                        <p:strVal val="visible"/>
                                      </p:to>
                                    </p:set>
                                    <p:anim calcmode="lin" valueType="num">
                                      <p:cBhvr>
                                        <p:cTn id="7" dur="2000" fill="hold"/>
                                        <p:tgtEl>
                                          <p:spTgt spid="404487"/>
                                        </p:tgtEl>
                                        <p:attrNameLst>
                                          <p:attrName>ppt_w</p:attrName>
                                        </p:attrNameLst>
                                      </p:cBhvr>
                                      <p:tavLst>
                                        <p:tav tm="0">
                                          <p:val>
                                            <p:fltVal val="0"/>
                                          </p:val>
                                        </p:tav>
                                        <p:tav tm="100000">
                                          <p:val>
                                            <p:strVal val="#ppt_w"/>
                                          </p:val>
                                        </p:tav>
                                      </p:tavLst>
                                    </p:anim>
                                    <p:anim calcmode="lin" valueType="num">
                                      <p:cBhvr>
                                        <p:cTn id="8" dur="2000" fill="hold"/>
                                        <p:tgtEl>
                                          <p:spTgt spid="40448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404489"/>
                                        </p:tgtEl>
                                        <p:attrNameLst>
                                          <p:attrName>style.visibility</p:attrName>
                                        </p:attrNameLst>
                                      </p:cBhvr>
                                      <p:to>
                                        <p:strVal val="visible"/>
                                      </p:to>
                                    </p:set>
                                    <p:animEffect transition="in" filter="diamond(in)">
                                      <p:cBhvr>
                                        <p:cTn id="13" dur="2000"/>
                                        <p:tgtEl>
                                          <p:spTgt spid="404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6" name="AutoShape 3">
            <a:extLst>
              <a:ext uri="{FF2B5EF4-FFF2-40B4-BE49-F238E27FC236}">
                <a16:creationId xmlns:a16="http://schemas.microsoft.com/office/drawing/2014/main" id="{21F9225A-B5F9-43BB-BFEC-2B4E24E25CF4}"/>
              </a:ext>
            </a:extLst>
          </p:cNvPr>
          <p:cNvSpPr>
            <a:spLocks noChangeArrowheads="1"/>
          </p:cNvSpPr>
          <p:nvPr/>
        </p:nvSpPr>
        <p:spPr bwMode="auto">
          <a:xfrm>
            <a:off x="3275013" y="2887663"/>
            <a:ext cx="2587625" cy="3494087"/>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4837" name="AutoShape 4">
            <a:extLst>
              <a:ext uri="{FF2B5EF4-FFF2-40B4-BE49-F238E27FC236}">
                <a16:creationId xmlns:a16="http://schemas.microsoft.com/office/drawing/2014/main" id="{B1587EAD-ADC8-4E16-82B4-3B130F1A2204}"/>
              </a:ext>
            </a:extLst>
          </p:cNvPr>
          <p:cNvSpPr>
            <a:spLocks noChangeArrowheads="1"/>
          </p:cNvSpPr>
          <p:nvPr/>
        </p:nvSpPr>
        <p:spPr bwMode="auto">
          <a:xfrm>
            <a:off x="6088063" y="2887663"/>
            <a:ext cx="2587625" cy="3494087"/>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nvGrpSpPr>
          <p:cNvPr id="504838" name="Group 6">
            <a:extLst>
              <a:ext uri="{FF2B5EF4-FFF2-40B4-BE49-F238E27FC236}">
                <a16:creationId xmlns:a16="http://schemas.microsoft.com/office/drawing/2014/main" id="{5643F7F8-A3D4-4789-BC5F-1732B7BB1D10}"/>
              </a:ext>
            </a:extLst>
          </p:cNvPr>
          <p:cNvGrpSpPr>
            <a:grpSpLocks/>
          </p:cNvGrpSpPr>
          <p:nvPr/>
        </p:nvGrpSpPr>
        <p:grpSpPr bwMode="auto">
          <a:xfrm>
            <a:off x="6227763" y="2636838"/>
            <a:ext cx="2355850" cy="523875"/>
            <a:chOff x="3878" y="1706"/>
            <a:chExt cx="1484" cy="330"/>
          </a:xfrm>
        </p:grpSpPr>
        <p:grpSp>
          <p:nvGrpSpPr>
            <p:cNvPr id="504839" name="Group 5">
              <a:extLst>
                <a:ext uri="{FF2B5EF4-FFF2-40B4-BE49-F238E27FC236}">
                  <a16:creationId xmlns:a16="http://schemas.microsoft.com/office/drawing/2014/main" id="{019456FD-CAD7-4FE3-A867-344ADB794CEC}"/>
                </a:ext>
              </a:extLst>
            </p:cNvPr>
            <p:cNvGrpSpPr>
              <a:grpSpLocks/>
            </p:cNvGrpSpPr>
            <p:nvPr/>
          </p:nvGrpSpPr>
          <p:grpSpPr bwMode="auto">
            <a:xfrm>
              <a:off x="3878" y="1706"/>
              <a:ext cx="1484" cy="330"/>
              <a:chOff x="0" y="0"/>
              <a:chExt cx="1484" cy="330"/>
            </a:xfrm>
          </p:grpSpPr>
          <p:sp>
            <p:nvSpPr>
              <p:cNvPr id="504840" name="AutoShape 6">
                <a:extLst>
                  <a:ext uri="{FF2B5EF4-FFF2-40B4-BE49-F238E27FC236}">
                    <a16:creationId xmlns:a16="http://schemas.microsoft.com/office/drawing/2014/main" id="{A492F878-8E23-48B7-B177-64FA17E668A5}"/>
                  </a:ext>
                </a:extLst>
              </p:cNvPr>
              <p:cNvSpPr>
                <a:spLocks noChangeArrowheads="1"/>
              </p:cNvSpPr>
              <p:nvPr/>
            </p:nvSpPr>
            <p:spPr bwMode="auto">
              <a:xfrm>
                <a:off x="0" y="0"/>
                <a:ext cx="1484" cy="330"/>
              </a:xfrm>
              <a:prstGeom prst="roundRect">
                <a:avLst>
                  <a:gd name="adj" fmla="val 16667"/>
                </a:avLst>
              </a:prstGeom>
              <a:solidFill>
                <a:srgbClr val="333399"/>
              </a:solidFill>
              <a:ln w="38100">
                <a:solidFill>
                  <a:srgbClr val="FFFFFF">
                    <a:alpha val="69019"/>
                  </a:srgbClr>
                </a:solidFill>
                <a:round/>
                <a:headEnd/>
                <a:tailE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4841" name="AutoShape 7">
                <a:extLst>
                  <a:ext uri="{FF2B5EF4-FFF2-40B4-BE49-F238E27FC236}">
                    <a16:creationId xmlns:a16="http://schemas.microsoft.com/office/drawing/2014/main" id="{94E47D79-C43E-49DE-A5E8-97251F0AF38E}"/>
                  </a:ext>
                </a:extLst>
              </p:cNvPr>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333399">
                      <a:alpha val="70000"/>
                    </a:srgbClr>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504842" name="Rectangle 8">
              <a:extLst>
                <a:ext uri="{FF2B5EF4-FFF2-40B4-BE49-F238E27FC236}">
                  <a16:creationId xmlns:a16="http://schemas.microsoft.com/office/drawing/2014/main" id="{F2F416AE-F92F-4B62-B3D5-6FE1E60E32B2}"/>
                </a:ext>
              </a:extLst>
            </p:cNvPr>
            <p:cNvSpPr>
              <a:spLocks noChangeArrowheads="1"/>
            </p:cNvSpPr>
            <p:nvPr/>
          </p:nvSpPr>
          <p:spPr bwMode="auto">
            <a:xfrm>
              <a:off x="3983" y="1738"/>
              <a:ext cx="1274" cy="28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solidFill>
                    <a:srgbClr val="FFFFFF"/>
                  </a:solidFill>
                  <a:effectLst>
                    <a:outerShdw blurRad="38100" dist="38100" dir="2700000" algn="tl">
                      <a:srgbClr val="C0C0C0"/>
                    </a:outerShdw>
                  </a:effectLst>
                  <a:latin typeface="Arial" panose="020B0604020202020204" pitchFamily="34" charset="0"/>
                  <a:cs typeface="Arial" panose="020B0604020202020204" pitchFamily="34" charset="0"/>
                </a:rPr>
                <a:t>政策法律问题</a:t>
              </a:r>
              <a:endParaRPr kumimoji="0" lang="zh-CN" altLang="zh-CN" b="1">
                <a:solidFill>
                  <a:srgbClr val="FFFFFF"/>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grpSp>
        <p:nvGrpSpPr>
          <p:cNvPr id="504843" name="Group 11">
            <a:extLst>
              <a:ext uri="{FF2B5EF4-FFF2-40B4-BE49-F238E27FC236}">
                <a16:creationId xmlns:a16="http://schemas.microsoft.com/office/drawing/2014/main" id="{933E6944-BB4D-4AC4-A5F4-8A0C5F41BCED}"/>
              </a:ext>
            </a:extLst>
          </p:cNvPr>
          <p:cNvGrpSpPr>
            <a:grpSpLocks/>
          </p:cNvGrpSpPr>
          <p:nvPr/>
        </p:nvGrpSpPr>
        <p:grpSpPr bwMode="auto">
          <a:xfrm>
            <a:off x="3386138" y="2636838"/>
            <a:ext cx="2355850" cy="523875"/>
            <a:chOff x="2088" y="1706"/>
            <a:chExt cx="1484" cy="330"/>
          </a:xfrm>
        </p:grpSpPr>
        <p:grpSp>
          <p:nvGrpSpPr>
            <p:cNvPr id="504844" name="Group 9">
              <a:extLst>
                <a:ext uri="{FF2B5EF4-FFF2-40B4-BE49-F238E27FC236}">
                  <a16:creationId xmlns:a16="http://schemas.microsoft.com/office/drawing/2014/main" id="{D390E3BB-6EFD-4972-BB94-876169B18EFE}"/>
                </a:ext>
              </a:extLst>
            </p:cNvPr>
            <p:cNvGrpSpPr>
              <a:grpSpLocks/>
            </p:cNvGrpSpPr>
            <p:nvPr/>
          </p:nvGrpSpPr>
          <p:grpSpPr bwMode="auto">
            <a:xfrm>
              <a:off x="2088" y="1706"/>
              <a:ext cx="1484" cy="330"/>
              <a:chOff x="0" y="0"/>
              <a:chExt cx="1484" cy="330"/>
            </a:xfrm>
          </p:grpSpPr>
          <p:sp>
            <p:nvSpPr>
              <p:cNvPr id="504845" name="AutoShape 10">
                <a:extLst>
                  <a:ext uri="{FF2B5EF4-FFF2-40B4-BE49-F238E27FC236}">
                    <a16:creationId xmlns:a16="http://schemas.microsoft.com/office/drawing/2014/main" id="{290D57FE-0498-4417-8330-5FA3938DC8F1}"/>
                  </a:ext>
                </a:extLst>
              </p:cNvPr>
              <p:cNvSpPr>
                <a:spLocks noChangeArrowheads="1"/>
              </p:cNvSpPr>
              <p:nvPr/>
            </p:nvSpPr>
            <p:spPr bwMode="auto">
              <a:xfrm>
                <a:off x="0" y="0"/>
                <a:ext cx="1484" cy="330"/>
              </a:xfrm>
              <a:prstGeom prst="roundRect">
                <a:avLst>
                  <a:gd name="adj" fmla="val 16667"/>
                </a:avLst>
              </a:prstGeom>
              <a:solidFill>
                <a:srgbClr val="99CC00"/>
              </a:solidFill>
              <a:ln w="38100">
                <a:solidFill>
                  <a:srgbClr val="FFFFFF">
                    <a:alpha val="69019"/>
                  </a:srgbClr>
                </a:solidFill>
                <a:round/>
                <a:headEnd/>
                <a:tailE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4846" name="AutoShape 11">
                <a:extLst>
                  <a:ext uri="{FF2B5EF4-FFF2-40B4-BE49-F238E27FC236}">
                    <a16:creationId xmlns:a16="http://schemas.microsoft.com/office/drawing/2014/main" id="{DD055308-18C0-4058-BB21-9785798B0D8B}"/>
                  </a:ext>
                </a:extLst>
              </p:cNvPr>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99CC00">
                      <a:alpha val="70000"/>
                    </a:srgbClr>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504847" name="Rectangle 12">
              <a:extLst>
                <a:ext uri="{FF2B5EF4-FFF2-40B4-BE49-F238E27FC236}">
                  <a16:creationId xmlns:a16="http://schemas.microsoft.com/office/drawing/2014/main" id="{6F54C02D-6EFE-4898-84BE-11D3E6B661BD}"/>
                </a:ext>
              </a:extLst>
            </p:cNvPr>
            <p:cNvSpPr>
              <a:spLocks noChangeArrowheads="1"/>
            </p:cNvSpPr>
            <p:nvPr/>
          </p:nvSpPr>
          <p:spPr bwMode="auto">
            <a:xfrm>
              <a:off x="2286" y="1738"/>
              <a:ext cx="1081" cy="28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effectLst>
                    <a:outerShdw blurRad="38100" dist="38100" dir="2700000" algn="tl">
                      <a:srgbClr val="C0C0C0"/>
                    </a:outerShdw>
                  </a:effectLst>
                  <a:latin typeface="Arial" panose="020B0604020202020204" pitchFamily="34" charset="0"/>
                  <a:cs typeface="Arial" panose="020B0604020202020204" pitchFamily="34" charset="0"/>
                </a:rPr>
                <a:t>管理安全性</a:t>
              </a:r>
              <a:endParaRPr kumimoji="0" lang="zh-CN" altLang="zh-CN" b="1">
                <a:effectLst>
                  <a:outerShdw blurRad="38100" dist="38100" dir="2700000" algn="tl">
                    <a:srgbClr val="C0C0C0"/>
                  </a:outerShdw>
                </a:effectLst>
                <a:latin typeface="Arial" panose="020B0604020202020204" pitchFamily="34" charset="0"/>
                <a:cs typeface="Arial" panose="020B0604020202020204" pitchFamily="34" charset="0"/>
              </a:endParaRPr>
            </a:p>
          </p:txBody>
        </p:sp>
      </p:grpSp>
      <p:sp>
        <p:nvSpPr>
          <p:cNvPr id="504848" name="AutoShape 13">
            <a:extLst>
              <a:ext uri="{FF2B5EF4-FFF2-40B4-BE49-F238E27FC236}">
                <a16:creationId xmlns:a16="http://schemas.microsoft.com/office/drawing/2014/main" id="{A5508074-43AB-4A8B-8532-ADA12D280840}"/>
              </a:ext>
            </a:extLst>
          </p:cNvPr>
          <p:cNvSpPr>
            <a:spLocks noChangeArrowheads="1"/>
          </p:cNvSpPr>
          <p:nvPr/>
        </p:nvSpPr>
        <p:spPr bwMode="auto">
          <a:xfrm>
            <a:off x="466725" y="2887663"/>
            <a:ext cx="2587625" cy="3565525"/>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nvGrpSpPr>
          <p:cNvPr id="504849" name="Group 17">
            <a:extLst>
              <a:ext uri="{FF2B5EF4-FFF2-40B4-BE49-F238E27FC236}">
                <a16:creationId xmlns:a16="http://schemas.microsoft.com/office/drawing/2014/main" id="{6192A64F-F722-4A75-91ED-236EB0397592}"/>
              </a:ext>
            </a:extLst>
          </p:cNvPr>
          <p:cNvGrpSpPr>
            <a:grpSpLocks/>
          </p:cNvGrpSpPr>
          <p:nvPr/>
        </p:nvGrpSpPr>
        <p:grpSpPr bwMode="auto">
          <a:xfrm>
            <a:off x="565150" y="2636838"/>
            <a:ext cx="2355850" cy="523875"/>
            <a:chOff x="311" y="1706"/>
            <a:chExt cx="1484" cy="330"/>
          </a:xfrm>
        </p:grpSpPr>
        <p:sp>
          <p:nvSpPr>
            <p:cNvPr id="504850" name="AutoShape 14">
              <a:extLst>
                <a:ext uri="{FF2B5EF4-FFF2-40B4-BE49-F238E27FC236}">
                  <a16:creationId xmlns:a16="http://schemas.microsoft.com/office/drawing/2014/main" id="{BCB2A025-5AA1-419D-9129-AB4634A7306D}"/>
                </a:ext>
              </a:extLst>
            </p:cNvPr>
            <p:cNvSpPr>
              <a:spLocks noChangeArrowheads="1"/>
            </p:cNvSpPr>
            <p:nvPr/>
          </p:nvSpPr>
          <p:spPr bwMode="auto">
            <a:xfrm>
              <a:off x="311" y="1706"/>
              <a:ext cx="1484" cy="330"/>
            </a:xfrm>
            <a:prstGeom prst="roundRect">
              <a:avLst>
                <a:gd name="adj" fmla="val 16667"/>
              </a:avLst>
            </a:prstGeom>
            <a:solidFill>
              <a:srgbClr val="009999"/>
            </a:solidFill>
            <a:ln w="38100">
              <a:solidFill>
                <a:srgbClr val="FFFFFF">
                  <a:alpha val="69019"/>
                </a:srgbClr>
              </a:solidFill>
              <a:round/>
              <a:headEnd/>
              <a:tailE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4851" name="AutoShape 15">
              <a:extLst>
                <a:ext uri="{FF2B5EF4-FFF2-40B4-BE49-F238E27FC236}">
                  <a16:creationId xmlns:a16="http://schemas.microsoft.com/office/drawing/2014/main" id="{1F04D4FA-7B5A-491C-AA15-E6A161EA8620}"/>
                </a:ext>
              </a:extLst>
            </p:cNvPr>
            <p:cNvSpPr>
              <a:spLocks noChangeArrowheads="1"/>
            </p:cNvSpPr>
            <p:nvPr/>
          </p:nvSpPr>
          <p:spPr bwMode="auto">
            <a:xfrm>
              <a:off x="334" y="1726"/>
              <a:ext cx="1432" cy="79"/>
            </a:xfrm>
            <a:prstGeom prst="roundRect">
              <a:avLst>
                <a:gd name="adj" fmla="val 28356"/>
              </a:avLst>
            </a:prstGeom>
            <a:gradFill rotWithShape="1">
              <a:gsLst>
                <a:gs pos="0">
                  <a:srgbClr val="FFFFFF">
                    <a:alpha val="70000"/>
                  </a:srgbClr>
                </a:gs>
                <a:gs pos="100000">
                  <a:srgbClr val="009999">
                    <a:alpha val="70000"/>
                  </a:srgbClr>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4852" name="Rectangle 16">
              <a:extLst>
                <a:ext uri="{FF2B5EF4-FFF2-40B4-BE49-F238E27FC236}">
                  <a16:creationId xmlns:a16="http://schemas.microsoft.com/office/drawing/2014/main" id="{B626D909-DDF0-423D-945B-B1CCDD8E5DCB}"/>
                </a:ext>
              </a:extLst>
            </p:cNvPr>
            <p:cNvSpPr>
              <a:spLocks noChangeArrowheads="1"/>
            </p:cNvSpPr>
            <p:nvPr/>
          </p:nvSpPr>
          <p:spPr bwMode="auto">
            <a:xfrm>
              <a:off x="509" y="1738"/>
              <a:ext cx="1081" cy="28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solidFill>
                    <a:srgbClr val="FFFF00"/>
                  </a:solidFill>
                  <a:effectLst>
                    <a:outerShdw blurRad="38100" dist="38100" dir="2700000" algn="tl">
                      <a:srgbClr val="C0C0C0"/>
                    </a:outerShdw>
                  </a:effectLst>
                  <a:latin typeface="Arial" panose="020B0604020202020204" pitchFamily="34" charset="0"/>
                  <a:cs typeface="Arial" panose="020B0604020202020204" pitchFamily="34" charset="0"/>
                </a:rPr>
                <a:t>技术安全性</a:t>
              </a:r>
              <a:endParaRPr kumimoji="0" lang="zh-CN" altLang="zh-CN" b="1">
                <a:solidFill>
                  <a:srgbClr val="FFFF00"/>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sp>
        <p:nvSpPr>
          <p:cNvPr id="504853" name="Text Box 18">
            <a:extLst>
              <a:ext uri="{FF2B5EF4-FFF2-40B4-BE49-F238E27FC236}">
                <a16:creationId xmlns:a16="http://schemas.microsoft.com/office/drawing/2014/main" id="{CD7CC238-96E3-4E3E-A141-1E38437E0749}"/>
              </a:ext>
            </a:extLst>
          </p:cNvPr>
          <p:cNvSpPr txBox="1">
            <a:spLocks noChangeArrowheads="1"/>
          </p:cNvSpPr>
          <p:nvPr/>
        </p:nvSpPr>
        <p:spPr bwMode="auto">
          <a:xfrm>
            <a:off x="611188" y="3430588"/>
            <a:ext cx="2262187" cy="27209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spcBef>
                <a:spcPct val="30000"/>
              </a:spcBef>
              <a:buFontTx/>
              <a:buChar char="•"/>
            </a:pPr>
            <a:r>
              <a:rPr kumimoji="0" lang="zh-CN" altLang="en-US" b="1">
                <a:solidFill>
                  <a:srgbClr val="000000"/>
                </a:solidFill>
                <a:latin typeface="Arial" panose="020B0604020202020204" pitchFamily="34" charset="0"/>
                <a:cs typeface="Arial" panose="020B0604020202020204" pitchFamily="34" charset="0"/>
              </a:rPr>
              <a:t>采用一定安全性的硬件、软件实现对数据库系统及其所存数据的安全保护。</a:t>
            </a:r>
            <a:endParaRPr kumimoji="0" lang="zh-CN" altLang="zh-CN" b="1">
              <a:solidFill>
                <a:srgbClr val="000000"/>
              </a:solidFill>
              <a:latin typeface="Arial" panose="020B0604020202020204" pitchFamily="34" charset="0"/>
              <a:cs typeface="Arial" panose="020B0604020202020204" pitchFamily="34" charset="0"/>
            </a:endParaRPr>
          </a:p>
        </p:txBody>
      </p:sp>
      <p:sp>
        <p:nvSpPr>
          <p:cNvPr id="504854" name="Text Box 18">
            <a:extLst>
              <a:ext uri="{FF2B5EF4-FFF2-40B4-BE49-F238E27FC236}">
                <a16:creationId xmlns:a16="http://schemas.microsoft.com/office/drawing/2014/main" id="{D31447C4-DF6A-4065-AD91-AAC56DB09738}"/>
              </a:ext>
            </a:extLst>
          </p:cNvPr>
          <p:cNvSpPr txBox="1">
            <a:spLocks noChangeArrowheads="1"/>
          </p:cNvSpPr>
          <p:nvPr/>
        </p:nvSpPr>
        <p:spPr bwMode="auto">
          <a:xfrm>
            <a:off x="3348038" y="3357563"/>
            <a:ext cx="2447925" cy="228282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spcBef>
                <a:spcPct val="30000"/>
              </a:spcBef>
              <a:buFontTx/>
              <a:buChar char="•"/>
            </a:pPr>
            <a:r>
              <a:rPr kumimoji="0" lang="zh-CN" altLang="en-US" b="1">
                <a:solidFill>
                  <a:srgbClr val="000000"/>
                </a:solidFill>
                <a:latin typeface="Arial" panose="020B0604020202020204" pitchFamily="34" charset="0"/>
                <a:cs typeface="Arial" panose="020B0604020202020204" pitchFamily="34" charset="0"/>
              </a:rPr>
              <a:t>采用一定的管理方法和规章制度保护存储设备及数据介质的物理破坏。</a:t>
            </a:r>
            <a:endParaRPr kumimoji="0" lang="zh-CN" altLang="zh-CN" b="1">
              <a:solidFill>
                <a:srgbClr val="000000"/>
              </a:solidFill>
              <a:latin typeface="Arial" panose="020B0604020202020204" pitchFamily="34" charset="0"/>
              <a:cs typeface="Arial" panose="020B0604020202020204" pitchFamily="34" charset="0"/>
            </a:endParaRPr>
          </a:p>
        </p:txBody>
      </p:sp>
      <p:sp>
        <p:nvSpPr>
          <p:cNvPr id="504855" name="Text Box 18">
            <a:extLst>
              <a:ext uri="{FF2B5EF4-FFF2-40B4-BE49-F238E27FC236}">
                <a16:creationId xmlns:a16="http://schemas.microsoft.com/office/drawing/2014/main" id="{F8A38000-3DD8-4B1C-B7BF-192D5746A414}"/>
              </a:ext>
            </a:extLst>
          </p:cNvPr>
          <p:cNvSpPr txBox="1">
            <a:spLocks noChangeArrowheads="1"/>
          </p:cNvSpPr>
          <p:nvPr/>
        </p:nvSpPr>
        <p:spPr bwMode="auto">
          <a:xfrm>
            <a:off x="6227763" y="3357563"/>
            <a:ext cx="2376487" cy="228282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spcBef>
                <a:spcPct val="30000"/>
              </a:spcBef>
              <a:buFontTx/>
              <a:buChar char="•"/>
            </a:pPr>
            <a:r>
              <a:rPr kumimoji="0" lang="zh-CN" altLang="en-US" b="1">
                <a:solidFill>
                  <a:srgbClr val="000000"/>
                </a:solidFill>
                <a:latin typeface="Arial" panose="020B0604020202020204" pitchFamily="34" charset="0"/>
                <a:cs typeface="Arial" panose="020B0604020202020204" pitchFamily="34" charset="0"/>
              </a:rPr>
              <a:t>有关计算机犯罪、信息安全保密法律、道德准则、政策法规和法令等。</a:t>
            </a:r>
            <a:endParaRPr kumimoji="0" lang="zh-CN" altLang="zh-CN" b="1">
              <a:solidFill>
                <a:srgbClr val="000000"/>
              </a:solidFill>
              <a:latin typeface="Arial" panose="020B0604020202020204" pitchFamily="34" charset="0"/>
              <a:cs typeface="Arial" panose="020B0604020202020204" pitchFamily="34" charset="0"/>
            </a:endParaRPr>
          </a:p>
        </p:txBody>
      </p:sp>
      <p:sp>
        <p:nvSpPr>
          <p:cNvPr id="504856" name="Rectangle 21">
            <a:extLst>
              <a:ext uri="{FF2B5EF4-FFF2-40B4-BE49-F238E27FC236}">
                <a16:creationId xmlns:a16="http://schemas.microsoft.com/office/drawing/2014/main" id="{33ABC818-6796-4C82-90C1-DCAEEDCE89FC}"/>
              </a:ext>
            </a:extLst>
          </p:cNvPr>
          <p:cNvSpPr>
            <a:spLocks noChangeArrowheads="1"/>
          </p:cNvSpPr>
          <p:nvPr/>
        </p:nvSpPr>
        <p:spPr bwMode="auto">
          <a:xfrm>
            <a:off x="684213" y="1196975"/>
            <a:ext cx="8064500" cy="1373188"/>
          </a:xfrm>
          <a:prstGeom prst="rect">
            <a:avLst/>
          </a:prstGeom>
          <a:noFill/>
          <a:ln>
            <a:noFill/>
          </a:ln>
          <a:effectLst/>
          <a:extLst>
            <a:ext uri="{909E8E84-426E-40DD-AFC4-6F175D3DCCD1}">
              <a14:hiddenFill xmlns:a14="http://schemas.microsoft.com/office/drawing/2010/main">
                <a:gradFill rotWithShape="1">
                  <a:gsLst>
                    <a:gs pos="0">
                      <a:srgbClr val="333399"/>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1775" indent="-231775">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Clr>
                <a:schemeClr val="tx2"/>
              </a:buClr>
              <a:buSzPct val="95000"/>
              <a:buFont typeface="Arial" panose="020B0604020202020204" pitchFamily="34" charset="0"/>
              <a:buChar char="●"/>
            </a:pPr>
            <a:r>
              <a:rPr kumimoji="0" lang="zh-CN" altLang="en-US" sz="2800" b="1">
                <a:solidFill>
                  <a:srgbClr val="000000"/>
                </a:solidFill>
                <a:latin typeface="Arial" panose="020B0604020202020204" pitchFamily="34" charset="0"/>
                <a:ea typeface="楷体_GB2312" pitchFamily="49" charset="-122"/>
                <a:cs typeface="Arial" panose="020B0604020202020204" pitchFamily="34" charset="0"/>
              </a:rPr>
              <a:t>数据库安全已经成为现代计算机信息系统的关键技术和衡量现代数据库系统性能的主要技术指标。</a:t>
            </a:r>
            <a:endParaRPr kumimoji="0" lang="zh-CN" altLang="zh-CN" sz="2800" b="1">
              <a:solidFill>
                <a:srgbClr val="000000"/>
              </a:solidFill>
              <a:latin typeface="Arial" panose="020B0604020202020204" pitchFamily="34" charset="0"/>
              <a:ea typeface="楷体_GB2312" pitchFamily="49" charset="-122"/>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376"/>
    </mc:Choice>
    <mc:Fallback xmlns="">
      <p:transition spd="slow" advTm="5837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4856"/>
                                        </p:tgtEl>
                                        <p:attrNameLst>
                                          <p:attrName>style.visibility</p:attrName>
                                        </p:attrNameLst>
                                      </p:cBhvr>
                                      <p:to>
                                        <p:strVal val="visible"/>
                                      </p:to>
                                    </p:set>
                                    <p:animEffect transition="in" filter="wipe(left)">
                                      <p:cBhvr>
                                        <p:cTn id="7" dur="500"/>
                                        <p:tgtEl>
                                          <p:spTgt spid="5048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7" presetClass="entr" presetSubtype="0" fill="hold" nodeType="clickEffect">
                                  <p:stCondLst>
                                    <p:cond delay="0"/>
                                  </p:stCondLst>
                                  <p:childTnLst>
                                    <p:set>
                                      <p:cBhvr>
                                        <p:cTn id="11" dur="1" fill="hold">
                                          <p:stCondLst>
                                            <p:cond delay="0"/>
                                          </p:stCondLst>
                                        </p:cTn>
                                        <p:tgtEl>
                                          <p:spTgt spid="504849"/>
                                        </p:tgtEl>
                                        <p:attrNameLst>
                                          <p:attrName>style.visibility</p:attrName>
                                        </p:attrNameLst>
                                      </p:cBhvr>
                                      <p:to>
                                        <p:strVal val="visible"/>
                                      </p:to>
                                    </p:set>
                                    <p:animEffect transition="in" filter="fade">
                                      <p:cBhvr>
                                        <p:cTn id="12" dur="500"/>
                                        <p:tgtEl>
                                          <p:spTgt spid="504849"/>
                                        </p:tgtEl>
                                      </p:cBhvr>
                                    </p:animEffect>
                                    <p:anim calcmode="lin" valueType="num">
                                      <p:cBhvr>
                                        <p:cTn id="13" dur="500" fill="hold"/>
                                        <p:tgtEl>
                                          <p:spTgt spid="504849"/>
                                        </p:tgtEl>
                                        <p:attrNameLst>
                                          <p:attrName>ppt_x</p:attrName>
                                        </p:attrNameLst>
                                      </p:cBhvr>
                                      <p:tavLst>
                                        <p:tav tm="0">
                                          <p:val>
                                            <p:strVal val="#ppt_x"/>
                                          </p:val>
                                        </p:tav>
                                        <p:tav tm="100000">
                                          <p:val>
                                            <p:strVal val="#ppt_x"/>
                                          </p:val>
                                        </p:tav>
                                      </p:tavLst>
                                    </p:anim>
                                    <p:anim calcmode="lin" valueType="num">
                                      <p:cBhvr>
                                        <p:cTn id="14" dur="500" fill="hold"/>
                                        <p:tgtEl>
                                          <p:spTgt spid="504849"/>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500"/>
                            </p:stCondLst>
                            <p:childTnLst>
                              <p:par>
                                <p:cTn id="16" presetID="47" presetClass="entr" presetSubtype="0" fill="hold" nodeType="afterEffect">
                                  <p:stCondLst>
                                    <p:cond delay="0"/>
                                  </p:stCondLst>
                                  <p:childTnLst>
                                    <p:set>
                                      <p:cBhvr>
                                        <p:cTn id="17" dur="1" fill="hold">
                                          <p:stCondLst>
                                            <p:cond delay="0"/>
                                          </p:stCondLst>
                                        </p:cTn>
                                        <p:tgtEl>
                                          <p:spTgt spid="504843"/>
                                        </p:tgtEl>
                                        <p:attrNameLst>
                                          <p:attrName>style.visibility</p:attrName>
                                        </p:attrNameLst>
                                      </p:cBhvr>
                                      <p:to>
                                        <p:strVal val="visible"/>
                                      </p:to>
                                    </p:set>
                                    <p:animEffect transition="in" filter="fade">
                                      <p:cBhvr>
                                        <p:cTn id="18" dur="500"/>
                                        <p:tgtEl>
                                          <p:spTgt spid="504843"/>
                                        </p:tgtEl>
                                      </p:cBhvr>
                                    </p:animEffect>
                                    <p:anim calcmode="lin" valueType="num">
                                      <p:cBhvr>
                                        <p:cTn id="19" dur="500" fill="hold"/>
                                        <p:tgtEl>
                                          <p:spTgt spid="504843"/>
                                        </p:tgtEl>
                                        <p:attrNameLst>
                                          <p:attrName>ppt_x</p:attrName>
                                        </p:attrNameLst>
                                      </p:cBhvr>
                                      <p:tavLst>
                                        <p:tav tm="0">
                                          <p:val>
                                            <p:strVal val="#ppt_x"/>
                                          </p:val>
                                        </p:tav>
                                        <p:tav tm="100000">
                                          <p:val>
                                            <p:strVal val="#ppt_x"/>
                                          </p:val>
                                        </p:tav>
                                      </p:tavLst>
                                    </p:anim>
                                    <p:anim calcmode="lin" valueType="num">
                                      <p:cBhvr>
                                        <p:cTn id="20" dur="500" fill="hold"/>
                                        <p:tgtEl>
                                          <p:spTgt spid="504843"/>
                                        </p:tgtEl>
                                        <p:attrNameLst>
                                          <p:attrName>ppt_y</p:attrName>
                                        </p:attrNameLst>
                                      </p:cBhvr>
                                      <p:tavLst>
                                        <p:tav tm="0">
                                          <p:val>
                                            <p:strVal val="#ppt_y-.1"/>
                                          </p:val>
                                        </p:tav>
                                        <p:tav tm="100000">
                                          <p:val>
                                            <p:strVal val="#ppt_y"/>
                                          </p:val>
                                        </p:tav>
                                      </p:tavLst>
                                    </p:anim>
                                  </p:childTnLst>
                                </p:cTn>
                              </p:par>
                            </p:childTnLst>
                          </p:cTn>
                        </p:par>
                        <p:par>
                          <p:cTn id="21" fill="hold" nodeType="afterGroup">
                            <p:stCondLst>
                              <p:cond delay="1000"/>
                            </p:stCondLst>
                            <p:childTnLst>
                              <p:par>
                                <p:cTn id="22" presetID="47" presetClass="entr" presetSubtype="0" fill="hold" nodeType="afterEffect">
                                  <p:stCondLst>
                                    <p:cond delay="0"/>
                                  </p:stCondLst>
                                  <p:childTnLst>
                                    <p:set>
                                      <p:cBhvr>
                                        <p:cTn id="23" dur="1" fill="hold">
                                          <p:stCondLst>
                                            <p:cond delay="0"/>
                                          </p:stCondLst>
                                        </p:cTn>
                                        <p:tgtEl>
                                          <p:spTgt spid="504838"/>
                                        </p:tgtEl>
                                        <p:attrNameLst>
                                          <p:attrName>style.visibility</p:attrName>
                                        </p:attrNameLst>
                                      </p:cBhvr>
                                      <p:to>
                                        <p:strVal val="visible"/>
                                      </p:to>
                                    </p:set>
                                    <p:animEffect transition="in" filter="fade">
                                      <p:cBhvr>
                                        <p:cTn id="24" dur="500"/>
                                        <p:tgtEl>
                                          <p:spTgt spid="504838"/>
                                        </p:tgtEl>
                                      </p:cBhvr>
                                    </p:animEffect>
                                    <p:anim calcmode="lin" valueType="num">
                                      <p:cBhvr>
                                        <p:cTn id="25" dur="500" fill="hold"/>
                                        <p:tgtEl>
                                          <p:spTgt spid="504838"/>
                                        </p:tgtEl>
                                        <p:attrNameLst>
                                          <p:attrName>ppt_x</p:attrName>
                                        </p:attrNameLst>
                                      </p:cBhvr>
                                      <p:tavLst>
                                        <p:tav tm="0">
                                          <p:val>
                                            <p:strVal val="#ppt_x"/>
                                          </p:val>
                                        </p:tav>
                                        <p:tav tm="100000">
                                          <p:val>
                                            <p:strVal val="#ppt_x"/>
                                          </p:val>
                                        </p:tav>
                                      </p:tavLst>
                                    </p:anim>
                                    <p:anim calcmode="lin" valueType="num">
                                      <p:cBhvr>
                                        <p:cTn id="26" dur="500" fill="hold"/>
                                        <p:tgtEl>
                                          <p:spTgt spid="504838"/>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04848"/>
                                        </p:tgtEl>
                                        <p:attrNameLst>
                                          <p:attrName>style.visibility</p:attrName>
                                        </p:attrNameLst>
                                      </p:cBhvr>
                                      <p:to>
                                        <p:strVal val="visible"/>
                                      </p:to>
                                    </p:set>
                                    <p:animEffect transition="in" filter="wipe(up)">
                                      <p:cBhvr>
                                        <p:cTn id="31" dur="500"/>
                                        <p:tgtEl>
                                          <p:spTgt spid="504848"/>
                                        </p:tgtEl>
                                      </p:cBhvr>
                                    </p:animEffect>
                                  </p:childTnLst>
                                </p:cTn>
                              </p:par>
                            </p:childTnLst>
                          </p:cTn>
                        </p:par>
                        <p:par>
                          <p:cTn id="32" fill="hold" nodeType="afterGroup">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504853">
                                            <p:txEl>
                                              <p:pRg st="0" end="0"/>
                                            </p:txEl>
                                          </p:spTgt>
                                        </p:tgtEl>
                                        <p:attrNameLst>
                                          <p:attrName>style.visibility</p:attrName>
                                        </p:attrNameLst>
                                      </p:cBhvr>
                                      <p:to>
                                        <p:strVal val="visible"/>
                                      </p:to>
                                    </p:set>
                                    <p:animEffect transition="in" filter="wipe(up)">
                                      <p:cBhvr>
                                        <p:cTn id="35" dur="1000"/>
                                        <p:tgtEl>
                                          <p:spTgt spid="504853">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04836"/>
                                        </p:tgtEl>
                                        <p:attrNameLst>
                                          <p:attrName>style.visibility</p:attrName>
                                        </p:attrNameLst>
                                      </p:cBhvr>
                                      <p:to>
                                        <p:strVal val="visible"/>
                                      </p:to>
                                    </p:set>
                                    <p:animEffect transition="in" filter="wipe(up)">
                                      <p:cBhvr>
                                        <p:cTn id="40" dur="500"/>
                                        <p:tgtEl>
                                          <p:spTgt spid="504836"/>
                                        </p:tgtEl>
                                      </p:cBhvr>
                                    </p:animEffect>
                                  </p:childTnLst>
                                </p:cTn>
                              </p:par>
                            </p:childTnLst>
                          </p:cTn>
                        </p:par>
                        <p:par>
                          <p:cTn id="41" fill="hold" nodeType="afterGroup">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504854">
                                            <p:txEl>
                                              <p:pRg st="0" end="0"/>
                                            </p:txEl>
                                          </p:spTgt>
                                        </p:tgtEl>
                                        <p:attrNameLst>
                                          <p:attrName>style.visibility</p:attrName>
                                        </p:attrNameLst>
                                      </p:cBhvr>
                                      <p:to>
                                        <p:strVal val="visible"/>
                                      </p:to>
                                    </p:set>
                                    <p:animEffect transition="in" filter="wipe(up)">
                                      <p:cBhvr>
                                        <p:cTn id="44" dur="500"/>
                                        <p:tgtEl>
                                          <p:spTgt spid="504854">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04837"/>
                                        </p:tgtEl>
                                        <p:attrNameLst>
                                          <p:attrName>style.visibility</p:attrName>
                                        </p:attrNameLst>
                                      </p:cBhvr>
                                      <p:to>
                                        <p:strVal val="visible"/>
                                      </p:to>
                                    </p:set>
                                    <p:animEffect transition="in" filter="wipe(up)">
                                      <p:cBhvr>
                                        <p:cTn id="49" dur="500"/>
                                        <p:tgtEl>
                                          <p:spTgt spid="504837"/>
                                        </p:tgtEl>
                                      </p:cBhvr>
                                    </p:animEffect>
                                  </p:childTnLst>
                                </p:cTn>
                              </p:par>
                            </p:childTnLst>
                          </p:cTn>
                        </p:par>
                        <p:par>
                          <p:cTn id="50" fill="hold" nodeType="afterGroup">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504855">
                                            <p:txEl>
                                              <p:pRg st="0" end="0"/>
                                            </p:txEl>
                                          </p:spTgt>
                                        </p:tgtEl>
                                        <p:attrNameLst>
                                          <p:attrName>style.visibility</p:attrName>
                                        </p:attrNameLst>
                                      </p:cBhvr>
                                      <p:to>
                                        <p:strVal val="visible"/>
                                      </p:to>
                                    </p:set>
                                    <p:animEffect transition="in" filter="wipe(up)">
                                      <p:cBhvr>
                                        <p:cTn id="53" dur="500"/>
                                        <p:tgtEl>
                                          <p:spTgt spid="5048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6" grpId="0" animBg="1"/>
      <p:bldP spid="504837" grpId="0" animBg="1"/>
      <p:bldP spid="504848" grpId="0" animBg="1"/>
      <p:bldP spid="504853" grpId="0" build="p"/>
      <p:bldP spid="504854" grpId="0" build="p"/>
      <p:bldP spid="504855" grpId="0" build="p"/>
      <p:bldP spid="50485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5" name="Rectangle 3">
            <a:extLst>
              <a:ext uri="{FF2B5EF4-FFF2-40B4-BE49-F238E27FC236}">
                <a16:creationId xmlns:a16="http://schemas.microsoft.com/office/drawing/2014/main" id="{112A519D-8753-44A5-89A4-AC8FA6625854}"/>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一、数据库安全的威胁</a:t>
            </a:r>
          </a:p>
        </p:txBody>
      </p:sp>
      <p:sp>
        <p:nvSpPr>
          <p:cNvPr id="407556" name="AutoShape 4">
            <a:extLst>
              <a:ext uri="{FF2B5EF4-FFF2-40B4-BE49-F238E27FC236}">
                <a16:creationId xmlns:a16="http://schemas.microsoft.com/office/drawing/2014/main" id="{C417CD02-41BB-45F1-AAAC-6CB67BF6F11E}"/>
              </a:ext>
            </a:extLst>
          </p:cNvPr>
          <p:cNvSpPr>
            <a:spLocks noChangeArrowheads="1"/>
          </p:cNvSpPr>
          <p:nvPr/>
        </p:nvSpPr>
        <p:spPr bwMode="auto">
          <a:xfrm>
            <a:off x="1187450" y="1328738"/>
            <a:ext cx="7272338" cy="1827212"/>
          </a:xfrm>
          <a:prstGeom prst="roundRect">
            <a:avLst>
              <a:gd name="adj" fmla="val 7861"/>
            </a:avLst>
          </a:prstGeom>
          <a:solidFill>
            <a:srgbClr val="333399">
              <a:alpha val="29803"/>
            </a:srgb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07557" name="Rectangle 29">
            <a:extLst>
              <a:ext uri="{FF2B5EF4-FFF2-40B4-BE49-F238E27FC236}">
                <a16:creationId xmlns:a16="http://schemas.microsoft.com/office/drawing/2014/main" id="{83EE564A-AA58-491B-AE64-318746A03CA6}"/>
              </a:ext>
            </a:extLst>
          </p:cNvPr>
          <p:cNvSpPr>
            <a:spLocks noChangeArrowheads="1"/>
          </p:cNvSpPr>
          <p:nvPr/>
        </p:nvSpPr>
        <p:spPr bwMode="auto">
          <a:xfrm>
            <a:off x="1403350" y="1411288"/>
            <a:ext cx="6913563" cy="15017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10000"/>
              </a:lnSpc>
            </a:pPr>
            <a:r>
              <a:rPr kumimoji="0" lang="zh-CN" altLang="en-US" sz="2800" b="1">
                <a:solidFill>
                  <a:srgbClr val="500050"/>
                </a:solidFill>
                <a:effectLst>
                  <a:outerShdw blurRad="38100" dist="38100" dir="2700000" algn="tl">
                    <a:srgbClr val="C0C0C0"/>
                  </a:outerShdw>
                </a:effectLst>
                <a:latin typeface="楷体_GB2312" pitchFamily="49" charset="-122"/>
                <a:ea typeface="楷体_GB2312" pitchFamily="49" charset="-122"/>
                <a:cs typeface="Arial" panose="020B0604020202020204" pitchFamily="34" charset="0"/>
              </a:rPr>
              <a:t>    </a:t>
            </a:r>
            <a:r>
              <a:rPr kumimoji="0" lang="zh-CN" altLang="zh-CN" sz="2800" b="1">
                <a:solidFill>
                  <a:srgbClr val="500050"/>
                </a:solidFill>
                <a:effectLst>
                  <a:outerShdw blurRad="38100" dist="38100" dir="2700000" algn="tl">
                    <a:srgbClr val="C0C0C0"/>
                  </a:outerShdw>
                </a:effectLst>
                <a:latin typeface="楷体_GB2312" pitchFamily="49" charset="-122"/>
                <a:ea typeface="楷体_GB2312" pitchFamily="49" charset="-122"/>
                <a:cs typeface="Arial" panose="020B0604020202020204" pitchFamily="34" charset="0"/>
              </a:rPr>
              <a:t>所有对数据库中数据的非法授权读取、修改、添加、删除等，都属于对数据库安全的威胁。</a:t>
            </a:r>
          </a:p>
        </p:txBody>
      </p:sp>
      <p:sp>
        <p:nvSpPr>
          <p:cNvPr id="407558" name="AutoShape 4">
            <a:extLst>
              <a:ext uri="{FF2B5EF4-FFF2-40B4-BE49-F238E27FC236}">
                <a16:creationId xmlns:a16="http://schemas.microsoft.com/office/drawing/2014/main" id="{423ADE03-1FAD-4135-A85D-84D65D720159}"/>
              </a:ext>
            </a:extLst>
          </p:cNvPr>
          <p:cNvSpPr>
            <a:spLocks noChangeArrowheads="1"/>
          </p:cNvSpPr>
          <p:nvPr/>
        </p:nvSpPr>
        <p:spPr bwMode="auto">
          <a:xfrm>
            <a:off x="468313" y="2986088"/>
            <a:ext cx="7775575" cy="2747962"/>
          </a:xfrm>
          <a:prstGeom prst="roundRect">
            <a:avLst>
              <a:gd name="adj" fmla="val 7861"/>
            </a:avLst>
          </a:prstGeom>
          <a:solidFill>
            <a:srgbClr val="99FF33">
              <a:alpha val="30000"/>
            </a:srgb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07559" name="Rectangle 29">
            <a:extLst>
              <a:ext uri="{FF2B5EF4-FFF2-40B4-BE49-F238E27FC236}">
                <a16:creationId xmlns:a16="http://schemas.microsoft.com/office/drawing/2014/main" id="{7BF3B9F0-A61C-45C5-909C-B5394DB79122}"/>
              </a:ext>
            </a:extLst>
          </p:cNvPr>
          <p:cNvSpPr>
            <a:spLocks noChangeArrowheads="1"/>
          </p:cNvSpPr>
          <p:nvPr/>
        </p:nvSpPr>
        <p:spPr bwMode="auto">
          <a:xfrm>
            <a:off x="611188" y="3643313"/>
            <a:ext cx="7416800" cy="15017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10000"/>
              </a:lnSpc>
            </a:pPr>
            <a:r>
              <a:rPr kumimoji="0" lang="zh-CN" altLang="en-US" sz="2800" b="1">
                <a:solidFill>
                  <a:srgbClr val="006600"/>
                </a:solidFill>
                <a:effectLst>
                  <a:outerShdw blurRad="38100" dist="38100" dir="2700000" algn="tl">
                    <a:srgbClr val="C0C0C0"/>
                  </a:outerShdw>
                </a:effectLst>
                <a:latin typeface="楷体_GB2312" pitchFamily="49" charset="-122"/>
                <a:ea typeface="楷体_GB2312" pitchFamily="49" charset="-122"/>
                <a:cs typeface="Arial" panose="020B0604020202020204" pitchFamily="34" charset="0"/>
              </a:rPr>
              <a:t>    </a:t>
            </a:r>
            <a:r>
              <a:rPr kumimoji="0" lang="zh-CN" altLang="zh-CN" sz="2800" b="1">
                <a:solidFill>
                  <a:srgbClr val="006600"/>
                </a:solidFill>
                <a:effectLst>
                  <a:outerShdw blurRad="38100" dist="38100" dir="2700000" algn="tl">
                    <a:srgbClr val="C0C0C0"/>
                  </a:outerShdw>
                </a:effectLst>
                <a:latin typeface="楷体_GB2312" pitchFamily="49" charset="-122"/>
                <a:ea typeface="楷体_GB2312" pitchFamily="49" charset="-122"/>
                <a:cs typeface="Arial" panose="020B0604020202020204" pitchFamily="34" charset="0"/>
              </a:rPr>
              <a:t>凡是在正常的业务中需要访问数据库时，使授权用户不能得到正常数据库服务的情况都是对数据库安全形成了威胁。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924"/>
    </mc:Choice>
    <mc:Fallback xmlns="">
      <p:transition spd="slow" advTm="4692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07556"/>
                                        </p:tgtEl>
                                        <p:attrNameLst>
                                          <p:attrName>style.visibility</p:attrName>
                                        </p:attrNameLst>
                                      </p:cBhvr>
                                      <p:to>
                                        <p:strVal val="visible"/>
                                      </p:to>
                                    </p:set>
                                    <p:animEffect transition="in" filter="slide(fromLeft)">
                                      <p:cBhvr>
                                        <p:cTn id="7" dur="500"/>
                                        <p:tgtEl>
                                          <p:spTgt spid="40755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7557"/>
                                        </p:tgtEl>
                                        <p:attrNameLst>
                                          <p:attrName>style.visibility</p:attrName>
                                        </p:attrNameLst>
                                      </p:cBhvr>
                                      <p:to>
                                        <p:strVal val="visible"/>
                                      </p:to>
                                    </p:set>
                                    <p:animEffect transition="in" filter="wipe(left)">
                                      <p:cBhvr>
                                        <p:cTn id="11" dur="1000"/>
                                        <p:tgtEl>
                                          <p:spTgt spid="40755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407558"/>
                                        </p:tgtEl>
                                        <p:attrNameLst>
                                          <p:attrName>style.visibility</p:attrName>
                                        </p:attrNameLst>
                                      </p:cBhvr>
                                      <p:to>
                                        <p:strVal val="visible"/>
                                      </p:to>
                                    </p:set>
                                    <p:animEffect transition="in" filter="slide(fromLeft)">
                                      <p:cBhvr>
                                        <p:cTn id="16" dur="500"/>
                                        <p:tgtEl>
                                          <p:spTgt spid="407558"/>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07559"/>
                                        </p:tgtEl>
                                        <p:attrNameLst>
                                          <p:attrName>style.visibility</p:attrName>
                                        </p:attrNameLst>
                                      </p:cBhvr>
                                      <p:to>
                                        <p:strVal val="visible"/>
                                      </p:to>
                                    </p:set>
                                    <p:animEffect transition="in" filter="wipe(left)">
                                      <p:cBhvr>
                                        <p:cTn id="20" dur="1000"/>
                                        <p:tgtEl>
                                          <p:spTgt spid="407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6" grpId="0" animBg="1"/>
      <p:bldP spid="407557" grpId="0"/>
      <p:bldP spid="407558" grpId="0" animBg="1"/>
      <p:bldP spid="4075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80" name="Rectangle 4">
            <a:extLst>
              <a:ext uri="{FF2B5EF4-FFF2-40B4-BE49-F238E27FC236}">
                <a16:creationId xmlns:a16="http://schemas.microsoft.com/office/drawing/2014/main" id="{60A904E5-74A7-4EBE-BDB1-70FACD8365F0}"/>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一、数据库安全的威胁</a:t>
            </a:r>
          </a:p>
        </p:txBody>
      </p:sp>
      <p:sp>
        <p:nvSpPr>
          <p:cNvPr id="408582" name="Rectangle 6">
            <a:extLst>
              <a:ext uri="{FF2B5EF4-FFF2-40B4-BE49-F238E27FC236}">
                <a16:creationId xmlns:a16="http://schemas.microsoft.com/office/drawing/2014/main" id="{BD0D2629-5CF0-4C35-9DB7-A0AF3C25029D}"/>
              </a:ext>
            </a:extLst>
          </p:cNvPr>
          <p:cNvSpPr>
            <a:spLocks noChangeArrowheads="1"/>
          </p:cNvSpPr>
          <p:nvPr/>
        </p:nvSpPr>
        <p:spPr bwMode="auto">
          <a:xfrm>
            <a:off x="539750" y="1196975"/>
            <a:ext cx="5040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、数据损坏</a:t>
            </a:r>
          </a:p>
        </p:txBody>
      </p:sp>
      <p:sp>
        <p:nvSpPr>
          <p:cNvPr id="408583" name="AutoShape 13">
            <a:extLst>
              <a:ext uri="{FF2B5EF4-FFF2-40B4-BE49-F238E27FC236}">
                <a16:creationId xmlns:a16="http://schemas.microsoft.com/office/drawing/2014/main" id="{AE5D53DA-A57D-4819-982A-9EF301942267}"/>
              </a:ext>
            </a:extLst>
          </p:cNvPr>
          <p:cNvSpPr>
            <a:spLocks noChangeArrowheads="1"/>
          </p:cNvSpPr>
          <p:nvPr/>
        </p:nvSpPr>
        <p:spPr bwMode="auto">
          <a:xfrm>
            <a:off x="323850" y="1916113"/>
            <a:ext cx="8569325" cy="4465637"/>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08584" name="Rectangle 8">
            <a:extLst>
              <a:ext uri="{FF2B5EF4-FFF2-40B4-BE49-F238E27FC236}">
                <a16:creationId xmlns:a16="http://schemas.microsoft.com/office/drawing/2014/main" id="{D664DE14-AF02-43D9-BFDF-880FEFA97CA6}"/>
              </a:ext>
            </a:extLst>
          </p:cNvPr>
          <p:cNvSpPr>
            <a:spLocks noChangeArrowheads="1"/>
          </p:cNvSpPr>
          <p:nvPr/>
        </p:nvSpPr>
        <p:spPr bwMode="auto">
          <a:xfrm>
            <a:off x="395288" y="2143125"/>
            <a:ext cx="8424862" cy="38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nSpc>
                <a:spcPct val="110000"/>
              </a:lnSpc>
              <a:spcBef>
                <a:spcPct val="50000"/>
              </a:spcBef>
            </a:pPr>
            <a:r>
              <a:rPr lang="zh-CN" altLang="en-US" sz="2700" b="1">
                <a:effectLst>
                  <a:outerShdw blurRad="38100" dist="38100" dir="2700000" algn="tl">
                    <a:srgbClr val="C0C0C0"/>
                  </a:outerShdw>
                </a:effectLst>
                <a:latin typeface="Tahoma" panose="020B0604030504040204" pitchFamily="34" charset="0"/>
              </a:rPr>
              <a:t> </a:t>
            </a:r>
            <a:r>
              <a:rPr lang="en-US" altLang="en-US" sz="2700" b="1">
                <a:solidFill>
                  <a:srgbClr val="000000"/>
                </a:solidFill>
                <a:latin typeface="楷体_GB2312" pitchFamily="49" charset="-122"/>
                <a:cs typeface="Times New Roman" panose="02020603050405020304" pitchFamily="18" charset="0"/>
              </a:rPr>
              <a:t>（1）自然的天灾或意外的事故导致数据存储设备损坏，进而导致数据库中数据的损坏和丢失。</a:t>
            </a:r>
            <a:endParaRPr lang="en-US" altLang="zh-CN" sz="2700" b="1">
              <a:solidFill>
                <a:srgbClr val="000000"/>
              </a:solidFill>
              <a:latin typeface="楷体_GB2312" pitchFamily="49" charset="-122"/>
              <a:cs typeface="Times New Roman" panose="02020603050405020304" pitchFamily="18" charset="0"/>
            </a:endParaRP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2</a:t>
            </a:r>
            <a:r>
              <a:rPr lang="zh-CN" altLang="en-US" sz="2700" b="1">
                <a:solidFill>
                  <a:srgbClr val="000000"/>
                </a:solidFill>
                <a:latin typeface="楷体_GB2312" pitchFamily="49" charset="-122"/>
                <a:cs typeface="Times New Roman" panose="02020603050405020304" pitchFamily="18" charset="0"/>
              </a:rPr>
              <a:t>）硬件或软件故障导致存储设备损坏，导致数据库中的数据损坏和丢失，或无法恢复。</a:t>
            </a: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3</a:t>
            </a:r>
            <a:r>
              <a:rPr lang="zh-CN" altLang="en-US" sz="2700" b="1">
                <a:solidFill>
                  <a:srgbClr val="000000"/>
                </a:solidFill>
                <a:latin typeface="楷体_GB2312" pitchFamily="49" charset="-122"/>
                <a:cs typeface="Times New Roman" panose="02020603050405020304" pitchFamily="18" charset="0"/>
              </a:rPr>
              <a:t>）</a:t>
            </a:r>
            <a:r>
              <a:rPr lang="zh-CN" altLang="en-US" sz="2700" b="1">
                <a:solidFill>
                  <a:srgbClr val="000000"/>
                </a:solidFill>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黑客</a:t>
            </a:r>
            <a:r>
              <a:rPr lang="zh-CN" altLang="en-US" sz="2700" b="1">
                <a:solidFill>
                  <a:srgbClr val="000000"/>
                </a:solidFill>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攻击或敌意破坏引起的信息丢失。</a:t>
            </a: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4</a:t>
            </a:r>
            <a:r>
              <a:rPr lang="zh-CN" altLang="en-US" sz="2700" b="1">
                <a:solidFill>
                  <a:srgbClr val="000000"/>
                </a:solidFill>
                <a:latin typeface="楷体_GB2312" pitchFamily="49" charset="-122"/>
                <a:cs typeface="Times New Roman" panose="02020603050405020304" pitchFamily="18" charset="0"/>
              </a:rPr>
              <a:t>）数据库管理员或系统用户的误操作，导致应用系统的不正确使用而引起的信息丢失。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791"/>
    </mc:Choice>
    <mc:Fallback xmlns="">
      <p:transition spd="slow" advTm="6479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8582"/>
                                        </p:tgtEl>
                                        <p:attrNameLst>
                                          <p:attrName>style.visibility</p:attrName>
                                        </p:attrNameLst>
                                      </p:cBhvr>
                                      <p:to>
                                        <p:strVal val="visible"/>
                                      </p:to>
                                    </p:set>
                                    <p:animEffect transition="in" filter="wipe(left)">
                                      <p:cBhvr>
                                        <p:cTn id="7" dur="500"/>
                                        <p:tgtEl>
                                          <p:spTgt spid="408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08583"/>
                                        </p:tgtEl>
                                        <p:attrNameLst>
                                          <p:attrName>style.visibility</p:attrName>
                                        </p:attrNameLst>
                                      </p:cBhvr>
                                      <p:to>
                                        <p:strVal val="visible"/>
                                      </p:to>
                                    </p:set>
                                    <p:animEffect transition="in" filter="wipe(right)">
                                      <p:cBhvr>
                                        <p:cTn id="12" dur="500"/>
                                        <p:tgtEl>
                                          <p:spTgt spid="408583"/>
                                        </p:tgtEl>
                                      </p:cBhvr>
                                    </p:animEffect>
                                  </p:childTnLst>
                                </p:cTn>
                              </p:par>
                            </p:childTnLst>
                          </p:cTn>
                        </p:par>
                        <p:par>
                          <p:cTn id="13" fill="hold" nodeType="afterGroup">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408584">
                                            <p:txEl>
                                              <p:pRg st="0" end="0"/>
                                            </p:txEl>
                                          </p:spTgt>
                                        </p:tgtEl>
                                        <p:attrNameLst>
                                          <p:attrName>style.visibility</p:attrName>
                                        </p:attrNameLst>
                                      </p:cBhvr>
                                      <p:to>
                                        <p:strVal val="visible"/>
                                      </p:to>
                                    </p:set>
                                    <p:animEffect transition="in" filter="fade">
                                      <p:cBhvr>
                                        <p:cTn id="16" dur="500"/>
                                        <p:tgtEl>
                                          <p:spTgt spid="408584">
                                            <p:txEl>
                                              <p:pRg st="0" end="0"/>
                                            </p:txEl>
                                          </p:spTgt>
                                        </p:tgtEl>
                                      </p:cBhvr>
                                    </p:animEffect>
                                    <p:anim calcmode="lin" valueType="num">
                                      <p:cBhvr>
                                        <p:cTn id="17" dur="500" fill="hold"/>
                                        <p:tgtEl>
                                          <p:spTgt spid="408584">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40858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08584">
                                            <p:txEl>
                                              <p:pRg st="1" end="1"/>
                                            </p:txEl>
                                          </p:spTgt>
                                        </p:tgtEl>
                                        <p:attrNameLst>
                                          <p:attrName>style.visibility</p:attrName>
                                        </p:attrNameLst>
                                      </p:cBhvr>
                                      <p:to>
                                        <p:strVal val="visible"/>
                                      </p:to>
                                    </p:set>
                                    <p:animEffect transition="in" filter="fade">
                                      <p:cBhvr>
                                        <p:cTn id="23" dur="500"/>
                                        <p:tgtEl>
                                          <p:spTgt spid="408584">
                                            <p:txEl>
                                              <p:pRg st="1" end="1"/>
                                            </p:txEl>
                                          </p:spTgt>
                                        </p:tgtEl>
                                      </p:cBhvr>
                                    </p:animEffect>
                                    <p:anim calcmode="lin" valueType="num">
                                      <p:cBhvr>
                                        <p:cTn id="24" dur="500" fill="hold"/>
                                        <p:tgtEl>
                                          <p:spTgt spid="408584">
                                            <p:txEl>
                                              <p:pRg st="1" end="1"/>
                                            </p:txEl>
                                          </p:spTgt>
                                        </p:tgtEl>
                                        <p:attrNameLst>
                                          <p:attrName>ppt_x</p:attrName>
                                        </p:attrNameLst>
                                      </p:cBhvr>
                                      <p:tavLst>
                                        <p:tav tm="0">
                                          <p:val>
                                            <p:strVal val="#ppt_x"/>
                                          </p:val>
                                        </p:tav>
                                        <p:tav tm="100000">
                                          <p:val>
                                            <p:strVal val="#ppt_x"/>
                                          </p:val>
                                        </p:tav>
                                      </p:tavLst>
                                    </p:anim>
                                    <p:anim calcmode="lin" valueType="num">
                                      <p:cBhvr>
                                        <p:cTn id="25" dur="500" fill="hold"/>
                                        <p:tgtEl>
                                          <p:spTgt spid="40858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08584">
                                            <p:txEl>
                                              <p:pRg st="2" end="2"/>
                                            </p:txEl>
                                          </p:spTgt>
                                        </p:tgtEl>
                                        <p:attrNameLst>
                                          <p:attrName>style.visibility</p:attrName>
                                        </p:attrNameLst>
                                      </p:cBhvr>
                                      <p:to>
                                        <p:strVal val="visible"/>
                                      </p:to>
                                    </p:set>
                                    <p:animEffect transition="in" filter="fade">
                                      <p:cBhvr>
                                        <p:cTn id="30" dur="500"/>
                                        <p:tgtEl>
                                          <p:spTgt spid="408584">
                                            <p:txEl>
                                              <p:pRg st="2" end="2"/>
                                            </p:txEl>
                                          </p:spTgt>
                                        </p:tgtEl>
                                      </p:cBhvr>
                                    </p:animEffect>
                                    <p:anim calcmode="lin" valueType="num">
                                      <p:cBhvr>
                                        <p:cTn id="31" dur="500" fill="hold"/>
                                        <p:tgtEl>
                                          <p:spTgt spid="408584">
                                            <p:txEl>
                                              <p:pRg st="2" end="2"/>
                                            </p:txEl>
                                          </p:spTgt>
                                        </p:tgtEl>
                                        <p:attrNameLst>
                                          <p:attrName>ppt_x</p:attrName>
                                        </p:attrNameLst>
                                      </p:cBhvr>
                                      <p:tavLst>
                                        <p:tav tm="0">
                                          <p:val>
                                            <p:strVal val="#ppt_x"/>
                                          </p:val>
                                        </p:tav>
                                        <p:tav tm="100000">
                                          <p:val>
                                            <p:strVal val="#ppt_x"/>
                                          </p:val>
                                        </p:tav>
                                      </p:tavLst>
                                    </p:anim>
                                    <p:anim calcmode="lin" valueType="num">
                                      <p:cBhvr>
                                        <p:cTn id="32" dur="500" fill="hold"/>
                                        <p:tgtEl>
                                          <p:spTgt spid="40858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08584">
                                            <p:txEl>
                                              <p:pRg st="3" end="3"/>
                                            </p:txEl>
                                          </p:spTgt>
                                        </p:tgtEl>
                                        <p:attrNameLst>
                                          <p:attrName>style.visibility</p:attrName>
                                        </p:attrNameLst>
                                      </p:cBhvr>
                                      <p:to>
                                        <p:strVal val="visible"/>
                                      </p:to>
                                    </p:set>
                                    <p:animEffect transition="in" filter="fade">
                                      <p:cBhvr>
                                        <p:cTn id="37" dur="500"/>
                                        <p:tgtEl>
                                          <p:spTgt spid="408584">
                                            <p:txEl>
                                              <p:pRg st="3" end="3"/>
                                            </p:txEl>
                                          </p:spTgt>
                                        </p:tgtEl>
                                      </p:cBhvr>
                                    </p:animEffect>
                                    <p:anim calcmode="lin" valueType="num">
                                      <p:cBhvr>
                                        <p:cTn id="38" dur="500" fill="hold"/>
                                        <p:tgtEl>
                                          <p:spTgt spid="408584">
                                            <p:txEl>
                                              <p:pRg st="3" end="3"/>
                                            </p:txEl>
                                          </p:spTgt>
                                        </p:tgtEl>
                                        <p:attrNameLst>
                                          <p:attrName>ppt_x</p:attrName>
                                        </p:attrNameLst>
                                      </p:cBhvr>
                                      <p:tavLst>
                                        <p:tav tm="0">
                                          <p:val>
                                            <p:strVal val="#ppt_x"/>
                                          </p:val>
                                        </p:tav>
                                        <p:tav tm="100000">
                                          <p:val>
                                            <p:strVal val="#ppt_x"/>
                                          </p:val>
                                        </p:tav>
                                      </p:tavLst>
                                    </p:anim>
                                    <p:anim calcmode="lin" valueType="num">
                                      <p:cBhvr>
                                        <p:cTn id="39" dur="500" fill="hold"/>
                                        <p:tgtEl>
                                          <p:spTgt spid="40858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2" grpId="0"/>
      <p:bldP spid="408583" grpId="0" animBg="1"/>
      <p:bldP spid="40858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A4A719F9-409A-4D63-B4BF-4F175A30B17D}"/>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一、数据库安全的威胁</a:t>
            </a:r>
          </a:p>
        </p:txBody>
      </p:sp>
      <p:sp>
        <p:nvSpPr>
          <p:cNvPr id="507907" name="Rectangle 3">
            <a:extLst>
              <a:ext uri="{FF2B5EF4-FFF2-40B4-BE49-F238E27FC236}">
                <a16:creationId xmlns:a16="http://schemas.microsoft.com/office/drawing/2014/main" id="{F2D131F9-8207-470C-B8E3-95DFBFC6943E}"/>
              </a:ext>
            </a:extLst>
          </p:cNvPr>
          <p:cNvSpPr>
            <a:spLocks noChangeArrowheads="1"/>
          </p:cNvSpPr>
          <p:nvPr/>
        </p:nvSpPr>
        <p:spPr bwMode="auto">
          <a:xfrm>
            <a:off x="539750" y="1196975"/>
            <a:ext cx="5040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、数据篡改</a:t>
            </a:r>
          </a:p>
        </p:txBody>
      </p:sp>
      <p:sp>
        <p:nvSpPr>
          <p:cNvPr id="507908" name="AutoShape 13">
            <a:extLst>
              <a:ext uri="{FF2B5EF4-FFF2-40B4-BE49-F238E27FC236}">
                <a16:creationId xmlns:a16="http://schemas.microsoft.com/office/drawing/2014/main" id="{76305A8A-4A60-417C-A05A-62BFDF51E691}"/>
              </a:ext>
            </a:extLst>
          </p:cNvPr>
          <p:cNvSpPr>
            <a:spLocks noChangeArrowheads="1"/>
          </p:cNvSpPr>
          <p:nvPr/>
        </p:nvSpPr>
        <p:spPr bwMode="auto">
          <a:xfrm>
            <a:off x="323850" y="1916113"/>
            <a:ext cx="8569325" cy="4465637"/>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7909" name="Rectangle 5">
            <a:extLst>
              <a:ext uri="{FF2B5EF4-FFF2-40B4-BE49-F238E27FC236}">
                <a16:creationId xmlns:a16="http://schemas.microsoft.com/office/drawing/2014/main" id="{A07BADD4-6679-4ABC-AB70-CD49010EC4EA}"/>
              </a:ext>
            </a:extLst>
          </p:cNvPr>
          <p:cNvSpPr>
            <a:spLocks noChangeArrowheads="1"/>
          </p:cNvSpPr>
          <p:nvPr/>
        </p:nvSpPr>
        <p:spPr bwMode="auto">
          <a:xfrm>
            <a:off x="395288" y="2349500"/>
            <a:ext cx="8424862" cy="367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nSpc>
                <a:spcPct val="110000"/>
              </a:lnSpc>
              <a:spcBef>
                <a:spcPct val="50000"/>
              </a:spcBef>
            </a:pPr>
            <a:r>
              <a:rPr lang="zh-CN" altLang="en-US" sz="2700" b="1">
                <a:effectLst>
                  <a:outerShdw blurRad="38100" dist="38100" dir="2700000" algn="tl">
                    <a:srgbClr val="C0C0C0"/>
                  </a:outerShdw>
                </a:effectLst>
                <a:latin typeface="Tahoma" panose="020B0604030504040204" pitchFamily="34" charset="0"/>
              </a:rPr>
              <a:t> </a:t>
            </a:r>
            <a:r>
              <a:rPr lang="en-US" altLang="en-US" sz="2700" b="1">
                <a:solidFill>
                  <a:srgbClr val="000000"/>
                </a:solidFill>
                <a:latin typeface="楷体_GB2312" pitchFamily="49" charset="-122"/>
                <a:cs typeface="Times New Roman" panose="02020603050405020304" pitchFamily="18" charset="0"/>
              </a:rPr>
              <a:t>（1）</a:t>
            </a:r>
            <a:r>
              <a:rPr lang="zh-CN" altLang="en-US" sz="2700" b="1">
                <a:solidFill>
                  <a:srgbClr val="000000"/>
                </a:solidFill>
                <a:latin typeface="楷体_GB2312" pitchFamily="49" charset="-122"/>
                <a:cs typeface="Times New Roman" panose="02020603050405020304" pitchFamily="18" charset="0"/>
              </a:rPr>
              <a:t>授权用户滥用权限而引起的信息窃取，或通过滥用权限而蓄意修改、添加、删除系统或别的用户的数据信息</a:t>
            </a:r>
            <a:r>
              <a:rPr lang="en-US" altLang="en-US" sz="2700" b="1">
                <a:solidFill>
                  <a:srgbClr val="000000"/>
                </a:solidFill>
                <a:latin typeface="楷体_GB2312" pitchFamily="49" charset="-122"/>
                <a:cs typeface="Times New Roman" panose="02020603050405020304" pitchFamily="18" charset="0"/>
              </a:rPr>
              <a:t>。</a:t>
            </a:r>
            <a:endParaRPr lang="en-US" altLang="zh-CN" sz="2700" b="1">
              <a:solidFill>
                <a:srgbClr val="000000"/>
              </a:solidFill>
              <a:latin typeface="楷体_GB2312" pitchFamily="49" charset="-122"/>
              <a:cs typeface="Times New Roman" panose="02020603050405020304" pitchFamily="18" charset="0"/>
            </a:endParaRP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2</a:t>
            </a:r>
            <a:r>
              <a:rPr lang="zh-CN" altLang="en-US" sz="2700" b="1">
                <a:solidFill>
                  <a:srgbClr val="000000"/>
                </a:solidFill>
                <a:latin typeface="楷体_GB2312" pitchFamily="49" charset="-122"/>
                <a:cs typeface="Times New Roman" panose="02020603050405020304" pitchFamily="18" charset="0"/>
              </a:rPr>
              <a:t>）</a:t>
            </a:r>
            <a:r>
              <a:rPr lang="zh-CN" altLang="en-US" sz="2700" b="1">
                <a:solidFill>
                  <a:srgbClr val="000000"/>
                </a:solidFill>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黑客</a:t>
            </a:r>
            <a:r>
              <a:rPr lang="zh-CN" altLang="en-US" sz="2700" b="1">
                <a:solidFill>
                  <a:srgbClr val="000000"/>
                </a:solidFill>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攻击、病毒感染、恶意破坏而导致数据库数据的篡改和被删除。</a:t>
            </a: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3</a:t>
            </a:r>
            <a:r>
              <a:rPr lang="zh-CN" altLang="en-US" sz="2700" b="1">
                <a:solidFill>
                  <a:srgbClr val="000000"/>
                </a:solidFill>
                <a:latin typeface="楷体_GB2312" pitchFamily="49" charset="-122"/>
                <a:cs typeface="Times New Roman" panose="02020603050405020304" pitchFamily="18" charset="0"/>
              </a:rPr>
              <a:t>）非法授权用户绕过</a:t>
            </a:r>
            <a:r>
              <a:rPr lang="en-US" altLang="zh-CN" sz="2700" b="1">
                <a:solidFill>
                  <a:srgbClr val="000000"/>
                </a:solidFill>
                <a:latin typeface="楷体_GB2312" pitchFamily="49" charset="-122"/>
                <a:cs typeface="Times New Roman" panose="02020603050405020304" pitchFamily="18" charset="0"/>
              </a:rPr>
              <a:t>DBMS</a:t>
            </a:r>
            <a:r>
              <a:rPr lang="zh-CN" altLang="en-US" sz="2700" b="1">
                <a:solidFill>
                  <a:srgbClr val="000000"/>
                </a:solidFill>
                <a:latin typeface="楷体_GB2312" pitchFamily="49" charset="-122"/>
                <a:cs typeface="Times New Roman" panose="02020603050405020304" pitchFamily="18" charset="0"/>
              </a:rPr>
              <a:t>等，直接对数据进行的篡改。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498"/>
    </mc:Choice>
    <mc:Fallback xmlns="">
      <p:transition spd="slow" advTm="5349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7907"/>
                                        </p:tgtEl>
                                        <p:attrNameLst>
                                          <p:attrName>style.visibility</p:attrName>
                                        </p:attrNameLst>
                                      </p:cBhvr>
                                      <p:to>
                                        <p:strVal val="visible"/>
                                      </p:to>
                                    </p:set>
                                    <p:animEffect transition="in" filter="wipe(left)">
                                      <p:cBhvr>
                                        <p:cTn id="7" dur="500"/>
                                        <p:tgtEl>
                                          <p:spTgt spid="507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07908"/>
                                        </p:tgtEl>
                                        <p:attrNameLst>
                                          <p:attrName>style.visibility</p:attrName>
                                        </p:attrNameLst>
                                      </p:cBhvr>
                                      <p:to>
                                        <p:strVal val="visible"/>
                                      </p:to>
                                    </p:set>
                                    <p:animEffect transition="in" filter="wipe(right)">
                                      <p:cBhvr>
                                        <p:cTn id="12" dur="500"/>
                                        <p:tgtEl>
                                          <p:spTgt spid="507908"/>
                                        </p:tgtEl>
                                      </p:cBhvr>
                                    </p:animEffect>
                                  </p:childTnLst>
                                </p:cTn>
                              </p:par>
                            </p:childTnLst>
                          </p:cTn>
                        </p:par>
                        <p:par>
                          <p:cTn id="13" fill="hold" nodeType="afterGroup">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507909">
                                            <p:txEl>
                                              <p:pRg st="0" end="0"/>
                                            </p:txEl>
                                          </p:spTgt>
                                        </p:tgtEl>
                                        <p:attrNameLst>
                                          <p:attrName>style.visibility</p:attrName>
                                        </p:attrNameLst>
                                      </p:cBhvr>
                                      <p:to>
                                        <p:strVal val="visible"/>
                                      </p:to>
                                    </p:set>
                                    <p:animEffect transition="in" filter="fade">
                                      <p:cBhvr>
                                        <p:cTn id="16" dur="500"/>
                                        <p:tgtEl>
                                          <p:spTgt spid="507909">
                                            <p:txEl>
                                              <p:pRg st="0" end="0"/>
                                            </p:txEl>
                                          </p:spTgt>
                                        </p:tgtEl>
                                      </p:cBhvr>
                                    </p:animEffect>
                                    <p:anim calcmode="lin" valueType="num">
                                      <p:cBhvr>
                                        <p:cTn id="17" dur="500" fill="hold"/>
                                        <p:tgtEl>
                                          <p:spTgt spid="507909">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5079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07909">
                                            <p:txEl>
                                              <p:pRg st="1" end="1"/>
                                            </p:txEl>
                                          </p:spTgt>
                                        </p:tgtEl>
                                        <p:attrNameLst>
                                          <p:attrName>style.visibility</p:attrName>
                                        </p:attrNameLst>
                                      </p:cBhvr>
                                      <p:to>
                                        <p:strVal val="visible"/>
                                      </p:to>
                                    </p:set>
                                    <p:animEffect transition="in" filter="fade">
                                      <p:cBhvr>
                                        <p:cTn id="23" dur="500"/>
                                        <p:tgtEl>
                                          <p:spTgt spid="507909">
                                            <p:txEl>
                                              <p:pRg st="1" end="1"/>
                                            </p:txEl>
                                          </p:spTgt>
                                        </p:tgtEl>
                                      </p:cBhvr>
                                    </p:animEffect>
                                    <p:anim calcmode="lin" valueType="num">
                                      <p:cBhvr>
                                        <p:cTn id="24" dur="500" fill="hold"/>
                                        <p:tgtEl>
                                          <p:spTgt spid="507909">
                                            <p:txEl>
                                              <p:pRg st="1" end="1"/>
                                            </p:txEl>
                                          </p:spTgt>
                                        </p:tgtEl>
                                        <p:attrNameLst>
                                          <p:attrName>ppt_x</p:attrName>
                                        </p:attrNameLst>
                                      </p:cBhvr>
                                      <p:tavLst>
                                        <p:tav tm="0">
                                          <p:val>
                                            <p:strVal val="#ppt_x"/>
                                          </p:val>
                                        </p:tav>
                                        <p:tav tm="100000">
                                          <p:val>
                                            <p:strVal val="#ppt_x"/>
                                          </p:val>
                                        </p:tav>
                                      </p:tavLst>
                                    </p:anim>
                                    <p:anim calcmode="lin" valueType="num">
                                      <p:cBhvr>
                                        <p:cTn id="25" dur="500" fill="hold"/>
                                        <p:tgtEl>
                                          <p:spTgt spid="5079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07909">
                                            <p:txEl>
                                              <p:pRg st="2" end="2"/>
                                            </p:txEl>
                                          </p:spTgt>
                                        </p:tgtEl>
                                        <p:attrNameLst>
                                          <p:attrName>style.visibility</p:attrName>
                                        </p:attrNameLst>
                                      </p:cBhvr>
                                      <p:to>
                                        <p:strVal val="visible"/>
                                      </p:to>
                                    </p:set>
                                    <p:animEffect transition="in" filter="fade">
                                      <p:cBhvr>
                                        <p:cTn id="30" dur="500"/>
                                        <p:tgtEl>
                                          <p:spTgt spid="507909">
                                            <p:txEl>
                                              <p:pRg st="2" end="2"/>
                                            </p:txEl>
                                          </p:spTgt>
                                        </p:tgtEl>
                                      </p:cBhvr>
                                    </p:animEffect>
                                    <p:anim calcmode="lin" valueType="num">
                                      <p:cBhvr>
                                        <p:cTn id="31" dur="500" fill="hold"/>
                                        <p:tgtEl>
                                          <p:spTgt spid="507909">
                                            <p:txEl>
                                              <p:pRg st="2" end="2"/>
                                            </p:txEl>
                                          </p:spTgt>
                                        </p:tgtEl>
                                        <p:attrNameLst>
                                          <p:attrName>ppt_x</p:attrName>
                                        </p:attrNameLst>
                                      </p:cBhvr>
                                      <p:tavLst>
                                        <p:tav tm="0">
                                          <p:val>
                                            <p:strVal val="#ppt_x"/>
                                          </p:val>
                                        </p:tav>
                                        <p:tav tm="100000">
                                          <p:val>
                                            <p:strVal val="#ppt_x"/>
                                          </p:val>
                                        </p:tav>
                                      </p:tavLst>
                                    </p:anim>
                                    <p:anim calcmode="lin" valueType="num">
                                      <p:cBhvr>
                                        <p:cTn id="32" dur="500" fill="hold"/>
                                        <p:tgtEl>
                                          <p:spTgt spid="50790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p:bldP spid="507908" grpId="0" animBg="1"/>
      <p:bldP spid="50790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7361146F-8A01-4654-852D-F38DDDA4140B}"/>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一、数据库安全的威胁</a:t>
            </a:r>
          </a:p>
        </p:txBody>
      </p:sp>
      <p:sp>
        <p:nvSpPr>
          <p:cNvPr id="508931" name="Rectangle 3">
            <a:extLst>
              <a:ext uri="{FF2B5EF4-FFF2-40B4-BE49-F238E27FC236}">
                <a16:creationId xmlns:a16="http://schemas.microsoft.com/office/drawing/2014/main" id="{19FF9A47-956A-4B66-8BE1-C33FA40338EA}"/>
              </a:ext>
            </a:extLst>
          </p:cNvPr>
          <p:cNvSpPr>
            <a:spLocks noChangeArrowheads="1"/>
          </p:cNvSpPr>
          <p:nvPr/>
        </p:nvSpPr>
        <p:spPr bwMode="auto">
          <a:xfrm>
            <a:off x="539750" y="1196975"/>
            <a:ext cx="5040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、数据窃取</a:t>
            </a:r>
          </a:p>
        </p:txBody>
      </p:sp>
      <p:sp>
        <p:nvSpPr>
          <p:cNvPr id="508932" name="AutoShape 13">
            <a:extLst>
              <a:ext uri="{FF2B5EF4-FFF2-40B4-BE49-F238E27FC236}">
                <a16:creationId xmlns:a16="http://schemas.microsoft.com/office/drawing/2014/main" id="{562DF9B7-0BF0-41B0-A8F8-913B1AB38DA8}"/>
              </a:ext>
            </a:extLst>
          </p:cNvPr>
          <p:cNvSpPr>
            <a:spLocks noChangeArrowheads="1"/>
          </p:cNvSpPr>
          <p:nvPr/>
        </p:nvSpPr>
        <p:spPr bwMode="auto">
          <a:xfrm>
            <a:off x="323850" y="1916113"/>
            <a:ext cx="8569325" cy="3600450"/>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8933" name="Rectangle 5">
            <a:extLst>
              <a:ext uri="{FF2B5EF4-FFF2-40B4-BE49-F238E27FC236}">
                <a16:creationId xmlns:a16="http://schemas.microsoft.com/office/drawing/2014/main" id="{F8FC6844-C441-4F0B-B821-A14982ABB165}"/>
              </a:ext>
            </a:extLst>
          </p:cNvPr>
          <p:cNvSpPr>
            <a:spLocks noChangeArrowheads="1"/>
          </p:cNvSpPr>
          <p:nvPr/>
        </p:nvSpPr>
        <p:spPr bwMode="auto">
          <a:xfrm>
            <a:off x="395288" y="2349500"/>
            <a:ext cx="8424862" cy="256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nSpc>
                <a:spcPct val="110000"/>
              </a:lnSpc>
              <a:spcBef>
                <a:spcPct val="50000"/>
              </a:spcBef>
            </a:pPr>
            <a:r>
              <a:rPr lang="zh-CN" altLang="en-US" sz="2700" b="1">
                <a:effectLst>
                  <a:outerShdw blurRad="38100" dist="38100" dir="2700000" algn="tl">
                    <a:srgbClr val="C0C0C0"/>
                  </a:outerShdw>
                </a:effectLst>
                <a:latin typeface="Tahoma" panose="020B0604030504040204" pitchFamily="34" charset="0"/>
              </a:rPr>
              <a:t> </a:t>
            </a:r>
            <a:r>
              <a:rPr lang="en-US" altLang="en-US" sz="2700" b="1">
                <a:solidFill>
                  <a:srgbClr val="000000"/>
                </a:solidFill>
                <a:latin typeface="楷体_GB2312" pitchFamily="49" charset="-122"/>
                <a:cs typeface="Times New Roman" panose="02020603050405020304" pitchFamily="18" charset="0"/>
              </a:rPr>
              <a:t>（1）</a:t>
            </a:r>
            <a:r>
              <a:rPr lang="en-US" altLang="zh-CN" sz="2700" b="1">
                <a:solidFill>
                  <a:srgbClr val="000000"/>
                </a:solidFill>
                <a:latin typeface="楷体_GB2312" pitchFamily="49" charset="-122"/>
                <a:cs typeface="Times New Roman" panose="02020603050405020304" pitchFamily="18" charset="0"/>
              </a:rPr>
              <a:t>通过</a:t>
            </a:r>
            <a:r>
              <a:rPr lang="zh-CN" altLang="en-US" sz="2700" b="1">
                <a:solidFill>
                  <a:srgbClr val="000000"/>
                </a:solidFill>
                <a:latin typeface="楷体_GB2312" pitchFamily="49" charset="-122"/>
                <a:cs typeface="Times New Roman" panose="02020603050405020304" pitchFamily="18" charset="0"/>
              </a:rPr>
              <a:t>不同手段对敏感数据的非授权读取、非法拷贝、非法打印等。</a:t>
            </a:r>
          </a:p>
          <a:p>
            <a:pPr>
              <a:lnSpc>
                <a:spcPct val="110000"/>
              </a:lnSpc>
              <a:spcBef>
                <a:spcPct val="50000"/>
              </a:spcBef>
            </a:pPr>
            <a:r>
              <a:rPr lang="zh-CN" altLang="en-US" sz="2700" b="1">
                <a:solidFill>
                  <a:srgbClr val="000000"/>
                </a:solidFill>
                <a:latin typeface="楷体_GB2312" pitchFamily="49" charset="-122"/>
                <a:cs typeface="Times New Roman" panose="02020603050405020304" pitchFamily="18" charset="0"/>
              </a:rPr>
              <a:t>（</a:t>
            </a:r>
            <a:r>
              <a:rPr lang="en-US" altLang="zh-CN" sz="2700" b="1">
                <a:solidFill>
                  <a:srgbClr val="000000"/>
                </a:solidFill>
                <a:latin typeface="楷体_GB2312" pitchFamily="49" charset="-122"/>
                <a:cs typeface="Times New Roman" panose="02020603050405020304" pitchFamily="18" charset="0"/>
              </a:rPr>
              <a:t>2</a:t>
            </a:r>
            <a:r>
              <a:rPr lang="zh-CN" altLang="en-US" sz="2700" b="1">
                <a:solidFill>
                  <a:srgbClr val="000000"/>
                </a:solidFill>
                <a:latin typeface="楷体_GB2312" pitchFamily="49" charset="-122"/>
                <a:cs typeface="Times New Roman" panose="02020603050405020304" pitchFamily="18" charset="0"/>
              </a:rPr>
              <a:t>）数据窃取手段包括授权用户滥用权限、利用天窗和隐通道</a:t>
            </a:r>
            <a:r>
              <a:rPr lang="en-US" altLang="zh-CN" sz="2700" b="1">
                <a:solidFill>
                  <a:srgbClr val="000000"/>
                </a:solidFill>
                <a:latin typeface="楷体_GB2312" pitchFamily="49" charset="-122"/>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藏在合法程序内部的一段程序代码</a:t>
            </a:r>
            <a:r>
              <a:rPr lang="en-US" altLang="zh-CN" sz="2700" b="1">
                <a:solidFill>
                  <a:srgbClr val="000000"/>
                </a:solidFill>
                <a:latin typeface="楷体_GB2312" pitchFamily="49" charset="-122"/>
                <a:cs typeface="Times New Roman" panose="02020603050405020304" pitchFamily="18" charset="0"/>
              </a:rPr>
              <a:t>)</a:t>
            </a:r>
            <a:r>
              <a:rPr lang="zh-CN" altLang="en-US" sz="2700" b="1">
                <a:solidFill>
                  <a:srgbClr val="000000"/>
                </a:solidFill>
                <a:latin typeface="楷体_GB2312" pitchFamily="49" charset="-122"/>
                <a:cs typeface="Times New Roman" panose="02020603050405020304" pitchFamily="18" charset="0"/>
              </a:rPr>
              <a:t>实现对数据库数据窃取、黑客攻击、社会工程学方法等。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666"/>
    </mc:Choice>
    <mc:Fallback xmlns="">
      <p:transition spd="slow" advTm="2766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8931"/>
                                        </p:tgtEl>
                                        <p:attrNameLst>
                                          <p:attrName>style.visibility</p:attrName>
                                        </p:attrNameLst>
                                      </p:cBhvr>
                                      <p:to>
                                        <p:strVal val="visible"/>
                                      </p:to>
                                    </p:set>
                                    <p:animEffect transition="in" filter="wipe(left)">
                                      <p:cBhvr>
                                        <p:cTn id="7" dur="500"/>
                                        <p:tgtEl>
                                          <p:spTgt spid="508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08932"/>
                                        </p:tgtEl>
                                        <p:attrNameLst>
                                          <p:attrName>style.visibility</p:attrName>
                                        </p:attrNameLst>
                                      </p:cBhvr>
                                      <p:to>
                                        <p:strVal val="visible"/>
                                      </p:to>
                                    </p:set>
                                    <p:animEffect transition="in" filter="wipe(right)">
                                      <p:cBhvr>
                                        <p:cTn id="12" dur="500"/>
                                        <p:tgtEl>
                                          <p:spTgt spid="508932"/>
                                        </p:tgtEl>
                                      </p:cBhvr>
                                    </p:animEffect>
                                  </p:childTnLst>
                                </p:cTn>
                              </p:par>
                            </p:childTnLst>
                          </p:cTn>
                        </p:par>
                        <p:par>
                          <p:cTn id="13" fill="hold" nodeType="afterGroup">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508933">
                                            <p:txEl>
                                              <p:pRg st="0" end="0"/>
                                            </p:txEl>
                                          </p:spTgt>
                                        </p:tgtEl>
                                        <p:attrNameLst>
                                          <p:attrName>style.visibility</p:attrName>
                                        </p:attrNameLst>
                                      </p:cBhvr>
                                      <p:to>
                                        <p:strVal val="visible"/>
                                      </p:to>
                                    </p:set>
                                    <p:animEffect transition="in" filter="fade">
                                      <p:cBhvr>
                                        <p:cTn id="16" dur="500"/>
                                        <p:tgtEl>
                                          <p:spTgt spid="508933">
                                            <p:txEl>
                                              <p:pRg st="0" end="0"/>
                                            </p:txEl>
                                          </p:spTgt>
                                        </p:tgtEl>
                                      </p:cBhvr>
                                    </p:animEffect>
                                    <p:anim calcmode="lin" valueType="num">
                                      <p:cBhvr>
                                        <p:cTn id="17" dur="500" fill="hold"/>
                                        <p:tgtEl>
                                          <p:spTgt spid="508933">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508933">
                                            <p:txEl>
                                              <p:pRg st="0" end="0"/>
                                            </p:txEl>
                                          </p:spTgt>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000"/>
                            </p:stCondLst>
                            <p:childTnLst>
                              <p:par>
                                <p:cTn id="20" presetID="42" presetClass="entr" presetSubtype="0" fill="hold" grpId="0" nodeType="afterEffect">
                                  <p:stCondLst>
                                    <p:cond delay="0"/>
                                  </p:stCondLst>
                                  <p:childTnLst>
                                    <p:set>
                                      <p:cBhvr>
                                        <p:cTn id="21" dur="1" fill="hold">
                                          <p:stCondLst>
                                            <p:cond delay="0"/>
                                          </p:stCondLst>
                                        </p:cTn>
                                        <p:tgtEl>
                                          <p:spTgt spid="508933">
                                            <p:txEl>
                                              <p:pRg st="1" end="1"/>
                                            </p:txEl>
                                          </p:spTgt>
                                        </p:tgtEl>
                                        <p:attrNameLst>
                                          <p:attrName>style.visibility</p:attrName>
                                        </p:attrNameLst>
                                      </p:cBhvr>
                                      <p:to>
                                        <p:strVal val="visible"/>
                                      </p:to>
                                    </p:set>
                                    <p:animEffect transition="in" filter="fade">
                                      <p:cBhvr>
                                        <p:cTn id="22" dur="500"/>
                                        <p:tgtEl>
                                          <p:spTgt spid="508933">
                                            <p:txEl>
                                              <p:pRg st="1" end="1"/>
                                            </p:txEl>
                                          </p:spTgt>
                                        </p:tgtEl>
                                      </p:cBhvr>
                                    </p:animEffect>
                                    <p:anim calcmode="lin" valueType="num">
                                      <p:cBhvr>
                                        <p:cTn id="23" dur="500" fill="hold"/>
                                        <p:tgtEl>
                                          <p:spTgt spid="508933">
                                            <p:txEl>
                                              <p:pRg st="1" end="1"/>
                                            </p:txEl>
                                          </p:spTgt>
                                        </p:tgtEl>
                                        <p:attrNameLst>
                                          <p:attrName>ppt_x</p:attrName>
                                        </p:attrNameLst>
                                      </p:cBhvr>
                                      <p:tavLst>
                                        <p:tav tm="0">
                                          <p:val>
                                            <p:strVal val="#ppt_x"/>
                                          </p:val>
                                        </p:tav>
                                        <p:tav tm="100000">
                                          <p:val>
                                            <p:strVal val="#ppt_x"/>
                                          </p:val>
                                        </p:tav>
                                      </p:tavLst>
                                    </p:anim>
                                    <p:anim calcmode="lin" valueType="num">
                                      <p:cBhvr>
                                        <p:cTn id="24" dur="500" fill="hold"/>
                                        <p:tgtEl>
                                          <p:spTgt spid="50893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p:bldP spid="508932" grpId="0" animBg="1"/>
      <p:bldP spid="50893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22279819-CF11-462E-89F1-CB8C79D3D42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grpSp>
        <p:nvGrpSpPr>
          <p:cNvPr id="509958" name="Group 6">
            <a:extLst>
              <a:ext uri="{FF2B5EF4-FFF2-40B4-BE49-F238E27FC236}">
                <a16:creationId xmlns:a16="http://schemas.microsoft.com/office/drawing/2014/main" id="{D14C11C5-52C8-4B4D-916F-0A5C25A04998}"/>
              </a:ext>
            </a:extLst>
          </p:cNvPr>
          <p:cNvGrpSpPr>
            <a:grpSpLocks/>
          </p:cNvGrpSpPr>
          <p:nvPr/>
        </p:nvGrpSpPr>
        <p:grpSpPr bwMode="auto">
          <a:xfrm>
            <a:off x="2484438" y="1557338"/>
            <a:ext cx="6335712" cy="1223962"/>
            <a:chOff x="1656" y="1250"/>
            <a:chExt cx="3764" cy="729"/>
          </a:xfrm>
        </p:grpSpPr>
        <p:sp>
          <p:nvSpPr>
            <p:cNvPr id="2" name="AutoShape 4">
              <a:extLst>
                <a:ext uri="{FF2B5EF4-FFF2-40B4-BE49-F238E27FC236}">
                  <a16:creationId xmlns:a16="http://schemas.microsoft.com/office/drawing/2014/main" id="{13A13C0C-58B1-4199-92E5-5516ABC1E00D}"/>
                </a:ext>
              </a:extLst>
            </p:cNvPr>
            <p:cNvSpPr>
              <a:spLocks noChangeArrowheads="1"/>
            </p:cNvSpPr>
            <p:nvPr/>
          </p:nvSpPr>
          <p:spPr bwMode="auto">
            <a:xfrm>
              <a:off x="1656" y="1250"/>
              <a:ext cx="3764" cy="729"/>
            </a:xfrm>
            <a:prstGeom prst="roundRect">
              <a:avLst>
                <a:gd name="adj" fmla="val 16667"/>
              </a:avLst>
            </a:prstGeom>
            <a:gradFill rotWithShape="1">
              <a:gsLst>
                <a:gs pos="0">
                  <a:srgbClr val="DDE89A"/>
                </a:gs>
                <a:gs pos="50000">
                  <a:srgbClr val="FFFFFF"/>
                </a:gs>
                <a:gs pos="100000">
                  <a:srgbClr val="DDE89A"/>
                </a:gs>
              </a:gsLst>
              <a:lin ang="2700000" scaled="1"/>
            </a:gradFill>
            <a:ln w="15875">
              <a:solidFill>
                <a:srgbClr val="B2B2B2"/>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2800">
                <a:latin typeface="Arial" panose="020B0604020202020204" pitchFamily="34" charset="0"/>
              </a:endParaRPr>
            </a:p>
          </p:txBody>
        </p:sp>
        <p:sp>
          <p:nvSpPr>
            <p:cNvPr id="509960" name="Text Box 24">
              <a:extLst>
                <a:ext uri="{FF2B5EF4-FFF2-40B4-BE49-F238E27FC236}">
                  <a16:creationId xmlns:a16="http://schemas.microsoft.com/office/drawing/2014/main" id="{78384233-B442-4D48-8822-B055F264ADBE}"/>
                </a:ext>
              </a:extLst>
            </p:cNvPr>
            <p:cNvSpPr txBox="1">
              <a:spLocks noChangeArrowheads="1"/>
            </p:cNvSpPr>
            <p:nvPr/>
          </p:nvSpPr>
          <p:spPr bwMode="gray">
            <a:xfrm>
              <a:off x="2068" y="1333"/>
              <a:ext cx="3266"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54000" rIns="5400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kumimoji="0" lang="zh-CN" altLang="en-US"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rPr>
                <a:t>向授权用户提供可靠的信息和数据服务</a:t>
              </a:r>
              <a:endParaRPr kumimoji="0" lang="en-US" altLang="zh-CN"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endParaRPr>
            </a:p>
          </p:txBody>
        </p:sp>
      </p:grpSp>
      <p:grpSp>
        <p:nvGrpSpPr>
          <p:cNvPr id="509961" name="Group 9">
            <a:extLst>
              <a:ext uri="{FF2B5EF4-FFF2-40B4-BE49-F238E27FC236}">
                <a16:creationId xmlns:a16="http://schemas.microsoft.com/office/drawing/2014/main" id="{E4C5636A-4C69-43F4-A749-485728A59B58}"/>
              </a:ext>
            </a:extLst>
          </p:cNvPr>
          <p:cNvGrpSpPr>
            <a:grpSpLocks/>
          </p:cNvGrpSpPr>
          <p:nvPr/>
        </p:nvGrpSpPr>
        <p:grpSpPr bwMode="auto">
          <a:xfrm>
            <a:off x="2522538" y="2955925"/>
            <a:ext cx="6297612" cy="1265238"/>
            <a:chOff x="1680" y="2131"/>
            <a:chExt cx="3740" cy="729"/>
          </a:xfrm>
        </p:grpSpPr>
        <p:sp>
          <p:nvSpPr>
            <p:cNvPr id="3" name="AutoShape 4">
              <a:extLst>
                <a:ext uri="{FF2B5EF4-FFF2-40B4-BE49-F238E27FC236}">
                  <a16:creationId xmlns:a16="http://schemas.microsoft.com/office/drawing/2014/main" id="{11FDC0C5-5AAB-4925-995D-4CAB7B7E6262}"/>
                </a:ext>
              </a:extLst>
            </p:cNvPr>
            <p:cNvSpPr>
              <a:spLocks noChangeArrowheads="1"/>
            </p:cNvSpPr>
            <p:nvPr/>
          </p:nvSpPr>
          <p:spPr bwMode="auto">
            <a:xfrm>
              <a:off x="1680" y="2131"/>
              <a:ext cx="3740" cy="729"/>
            </a:xfrm>
            <a:prstGeom prst="roundRect">
              <a:avLst>
                <a:gd name="adj" fmla="val 16667"/>
              </a:avLst>
            </a:prstGeom>
            <a:gradFill rotWithShape="1">
              <a:gsLst>
                <a:gs pos="0">
                  <a:srgbClr val="DDE89A"/>
                </a:gs>
                <a:gs pos="50000">
                  <a:srgbClr val="FFFFFF"/>
                </a:gs>
                <a:gs pos="100000">
                  <a:srgbClr val="DDE89A"/>
                </a:gs>
              </a:gsLst>
              <a:lin ang="2700000" scaled="1"/>
            </a:gradFill>
            <a:ln w="15875">
              <a:solidFill>
                <a:srgbClr val="B2B2B2"/>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2800">
                <a:latin typeface="Arial" panose="020B0604020202020204" pitchFamily="34" charset="0"/>
              </a:endParaRPr>
            </a:p>
          </p:txBody>
        </p:sp>
        <p:sp>
          <p:nvSpPr>
            <p:cNvPr id="509963" name="Text Box 24">
              <a:extLst>
                <a:ext uri="{FF2B5EF4-FFF2-40B4-BE49-F238E27FC236}">
                  <a16:creationId xmlns:a16="http://schemas.microsoft.com/office/drawing/2014/main" id="{FEE72931-6038-4FC9-8022-BC2D2932916B}"/>
                </a:ext>
              </a:extLst>
            </p:cNvPr>
            <p:cNvSpPr txBox="1">
              <a:spLocks noChangeArrowheads="1"/>
            </p:cNvSpPr>
            <p:nvPr/>
          </p:nvSpPr>
          <p:spPr bwMode="gray">
            <a:xfrm>
              <a:off x="2092" y="2223"/>
              <a:ext cx="326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54000" rIns="5400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kumimoji="0" lang="zh-CN" altLang="en-US"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rPr>
                <a:t>拒绝非授权用户对数据的存取访问请求</a:t>
              </a:r>
              <a:endParaRPr kumimoji="0" lang="en-US" altLang="zh-CN"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endParaRPr>
            </a:p>
          </p:txBody>
        </p:sp>
      </p:grpSp>
      <p:grpSp>
        <p:nvGrpSpPr>
          <p:cNvPr id="509964" name="Group 12">
            <a:extLst>
              <a:ext uri="{FF2B5EF4-FFF2-40B4-BE49-F238E27FC236}">
                <a16:creationId xmlns:a16="http://schemas.microsoft.com/office/drawing/2014/main" id="{52EA3DD9-6C68-4D3E-B40B-C141AE439B16}"/>
              </a:ext>
            </a:extLst>
          </p:cNvPr>
          <p:cNvGrpSpPr>
            <a:grpSpLocks/>
          </p:cNvGrpSpPr>
          <p:nvPr/>
        </p:nvGrpSpPr>
        <p:grpSpPr bwMode="auto">
          <a:xfrm>
            <a:off x="2549525" y="4397375"/>
            <a:ext cx="6270625" cy="1768475"/>
            <a:chOff x="1697" y="3039"/>
            <a:chExt cx="3723" cy="939"/>
          </a:xfrm>
        </p:grpSpPr>
        <p:sp>
          <p:nvSpPr>
            <p:cNvPr id="26628" name="AutoShape 4">
              <a:extLst>
                <a:ext uri="{FF2B5EF4-FFF2-40B4-BE49-F238E27FC236}">
                  <a16:creationId xmlns:a16="http://schemas.microsoft.com/office/drawing/2014/main" id="{3AB87243-5E80-4934-BE2E-702481812DDF}"/>
                </a:ext>
              </a:extLst>
            </p:cNvPr>
            <p:cNvSpPr>
              <a:spLocks noChangeArrowheads="1"/>
            </p:cNvSpPr>
            <p:nvPr/>
          </p:nvSpPr>
          <p:spPr bwMode="auto">
            <a:xfrm>
              <a:off x="1697" y="3039"/>
              <a:ext cx="3723" cy="939"/>
            </a:xfrm>
            <a:prstGeom prst="roundRect">
              <a:avLst>
                <a:gd name="adj" fmla="val 16667"/>
              </a:avLst>
            </a:prstGeom>
            <a:gradFill rotWithShape="1">
              <a:gsLst>
                <a:gs pos="0">
                  <a:srgbClr val="DDE89A"/>
                </a:gs>
                <a:gs pos="50000">
                  <a:srgbClr val="FFFFFF"/>
                </a:gs>
                <a:gs pos="100000">
                  <a:srgbClr val="DDE89A"/>
                </a:gs>
              </a:gsLst>
              <a:lin ang="2700000" scaled="1"/>
            </a:gradFill>
            <a:ln w="15875">
              <a:solidFill>
                <a:srgbClr val="B2B2B2"/>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2800">
                <a:latin typeface="Arial" panose="020B0604020202020204" pitchFamily="34" charset="0"/>
              </a:endParaRPr>
            </a:p>
          </p:txBody>
        </p:sp>
        <p:sp>
          <p:nvSpPr>
            <p:cNvPr id="509966" name="Text Box 24">
              <a:extLst>
                <a:ext uri="{FF2B5EF4-FFF2-40B4-BE49-F238E27FC236}">
                  <a16:creationId xmlns:a16="http://schemas.microsoft.com/office/drawing/2014/main" id="{2BD3894B-7546-4688-B904-9913E6B7D8E8}"/>
                </a:ext>
              </a:extLst>
            </p:cNvPr>
            <p:cNvSpPr txBox="1">
              <a:spLocks noChangeArrowheads="1"/>
            </p:cNvSpPr>
            <p:nvPr/>
          </p:nvSpPr>
          <p:spPr bwMode="gray">
            <a:xfrm>
              <a:off x="2109" y="3144"/>
              <a:ext cx="3266" cy="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54000" rIns="5400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kumimoji="0" lang="zh-CN" altLang="en-US"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rPr>
                <a:t>保证数据库数据的可用性、完整性和安全性，进而保证所有合法数据库用户的合法权益。 </a:t>
              </a:r>
              <a:endParaRPr kumimoji="0" lang="en-US" altLang="zh-CN" sz="2800" b="1">
                <a:solidFill>
                  <a:srgbClr val="000000"/>
                </a:solidFill>
                <a:effectLst>
                  <a:outerShdw blurRad="38100" dist="38100" dir="2700000" algn="tl">
                    <a:srgbClr val="C0C0C0"/>
                  </a:outerShdw>
                </a:effectLst>
                <a:latin typeface="Arial" panose="020B0604020202020204" pitchFamily="34" charset="0"/>
                <a:ea typeface="楷体_GB2312" pitchFamily="49" charset="-122"/>
                <a:cs typeface="Arial" panose="020B0604020202020204" pitchFamily="34" charset="0"/>
              </a:endParaRPr>
            </a:p>
          </p:txBody>
        </p:sp>
      </p:grpSp>
      <p:grpSp>
        <p:nvGrpSpPr>
          <p:cNvPr id="509967" name="Group 15">
            <a:extLst>
              <a:ext uri="{FF2B5EF4-FFF2-40B4-BE49-F238E27FC236}">
                <a16:creationId xmlns:a16="http://schemas.microsoft.com/office/drawing/2014/main" id="{B3441A8B-4A84-4BC9-92D0-201687463F74}"/>
              </a:ext>
            </a:extLst>
          </p:cNvPr>
          <p:cNvGrpSpPr>
            <a:grpSpLocks/>
          </p:cNvGrpSpPr>
          <p:nvPr/>
        </p:nvGrpSpPr>
        <p:grpSpPr bwMode="auto">
          <a:xfrm>
            <a:off x="250825" y="2733675"/>
            <a:ext cx="2593975" cy="1703388"/>
            <a:chOff x="611" y="2383"/>
            <a:chExt cx="1498" cy="548"/>
          </a:xfrm>
        </p:grpSpPr>
        <p:sp>
          <p:nvSpPr>
            <p:cNvPr id="26644" name="AutoShape 20">
              <a:extLst>
                <a:ext uri="{FF2B5EF4-FFF2-40B4-BE49-F238E27FC236}">
                  <a16:creationId xmlns:a16="http://schemas.microsoft.com/office/drawing/2014/main" id="{BC24CF9B-A9A4-4F9D-BEB1-B59CDA2CF7B3}"/>
                </a:ext>
              </a:extLst>
            </p:cNvPr>
            <p:cNvSpPr>
              <a:spLocks noChangeArrowheads="1"/>
            </p:cNvSpPr>
            <p:nvPr/>
          </p:nvSpPr>
          <p:spPr bwMode="gray">
            <a:xfrm>
              <a:off x="611" y="2383"/>
              <a:ext cx="1498" cy="548"/>
            </a:xfrm>
            <a:prstGeom prst="homePlate">
              <a:avLst>
                <a:gd name="adj" fmla="val 40953"/>
              </a:avLst>
            </a:prstGeom>
            <a:gradFill rotWithShape="1">
              <a:gsLst>
                <a:gs pos="0">
                  <a:srgbClr val="518CD3"/>
                </a:gs>
                <a:gs pos="100000">
                  <a:srgbClr val="2A486C"/>
                </a:gs>
              </a:gsLst>
              <a:lin ang="5400000" scaled="1"/>
            </a:gradFill>
            <a:ln w="19050">
              <a:solidFill>
                <a:srgbClr val="FEFFFF"/>
              </a:solidFill>
              <a:miter lim="800000"/>
              <a:headEnd/>
              <a:tailEnd/>
            </a:ln>
            <a:effectLst>
              <a:outerShdw dist="53882"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9969" name="Text Box 18">
              <a:extLst>
                <a:ext uri="{FF2B5EF4-FFF2-40B4-BE49-F238E27FC236}">
                  <a16:creationId xmlns:a16="http://schemas.microsoft.com/office/drawing/2014/main" id="{E9C0DE00-E781-4351-B6D7-1A958538DEA3}"/>
                </a:ext>
              </a:extLst>
            </p:cNvPr>
            <p:cNvSpPr txBox="1">
              <a:spLocks noChangeArrowheads="1"/>
            </p:cNvSpPr>
            <p:nvPr/>
          </p:nvSpPr>
          <p:spPr bwMode="white">
            <a:xfrm>
              <a:off x="612" y="2513"/>
              <a:ext cx="136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2800" b="1">
                  <a:solidFill>
                    <a:srgbClr val="FFFF99"/>
                  </a:solidFill>
                  <a:latin typeface="Arial" panose="020B0604020202020204" pitchFamily="34" charset="0"/>
                  <a:ea typeface="华文中宋" panose="02010600040101010101" pitchFamily="2" charset="-122"/>
                </a:rPr>
                <a:t>数据库安全</a:t>
              </a:r>
            </a:p>
            <a:p>
              <a:pPr algn="ctr"/>
              <a:r>
                <a:rPr kumimoji="0" lang="zh-CN" altLang="en-US" sz="2800" b="1">
                  <a:solidFill>
                    <a:srgbClr val="FFFF99"/>
                  </a:solidFill>
                  <a:latin typeface="Arial" panose="020B0604020202020204" pitchFamily="34" charset="0"/>
                  <a:ea typeface="华文中宋" panose="02010600040101010101" pitchFamily="2" charset="-122"/>
                </a:rPr>
                <a:t>控制核心</a:t>
              </a:r>
            </a:p>
          </p:txBody>
        </p:sp>
      </p:grpSp>
      <p:sp>
        <p:nvSpPr>
          <p:cNvPr id="509970" name="Freeform 3">
            <a:extLst>
              <a:ext uri="{FF2B5EF4-FFF2-40B4-BE49-F238E27FC236}">
                <a16:creationId xmlns:a16="http://schemas.microsoft.com/office/drawing/2014/main" id="{A13C46EC-B465-45C5-8DF2-1C259E7D0BED}"/>
              </a:ext>
            </a:extLst>
          </p:cNvPr>
          <p:cNvSpPr>
            <a:spLocks/>
          </p:cNvSpPr>
          <p:nvPr/>
        </p:nvSpPr>
        <p:spPr bwMode="gray">
          <a:xfrm rot="-5400000">
            <a:off x="1331120" y="1850231"/>
            <a:ext cx="1008062" cy="115252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35"/>
              <a:gd name="T43" fmla="*/ 0 h 532"/>
              <a:gd name="T44" fmla="*/ 735 w 735"/>
              <a:gd name="T45" fmla="*/ 532 h 5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chemeClr val="bg1">
                  <a:alpha val="0"/>
                </a:schemeClr>
              </a:gs>
              <a:gs pos="100000">
                <a:srgbClr val="80808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09971" name="Freeform 3">
            <a:extLst>
              <a:ext uri="{FF2B5EF4-FFF2-40B4-BE49-F238E27FC236}">
                <a16:creationId xmlns:a16="http://schemas.microsoft.com/office/drawing/2014/main" id="{68521F75-7BD0-450D-8140-3C5F4B7C7D96}"/>
              </a:ext>
            </a:extLst>
          </p:cNvPr>
          <p:cNvSpPr>
            <a:spLocks/>
          </p:cNvSpPr>
          <p:nvPr/>
        </p:nvSpPr>
        <p:spPr bwMode="gray">
          <a:xfrm rot="5400000" flipV="1">
            <a:off x="1294607" y="4190206"/>
            <a:ext cx="1081088" cy="1152525"/>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35"/>
              <a:gd name="T43" fmla="*/ 0 h 532"/>
              <a:gd name="T44" fmla="*/ 735 w 735"/>
              <a:gd name="T45" fmla="*/ 532 h 5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chemeClr val="bg1">
                  <a:alpha val="0"/>
                </a:schemeClr>
              </a:gs>
              <a:gs pos="100000">
                <a:srgbClr val="80808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381"/>
    </mc:Choice>
    <mc:Fallback xmlns="">
      <p:transition spd="slow" advTm="2738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9967"/>
                                        </p:tgtEl>
                                        <p:attrNameLst>
                                          <p:attrName>style.visibility</p:attrName>
                                        </p:attrNameLst>
                                      </p:cBhvr>
                                      <p:to>
                                        <p:strVal val="visible"/>
                                      </p:to>
                                    </p:set>
                                    <p:animEffect transition="in" filter="wipe(left)">
                                      <p:cBhvr>
                                        <p:cTn id="7" dur="1000"/>
                                        <p:tgtEl>
                                          <p:spTgt spid="509967"/>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509970"/>
                                        </p:tgtEl>
                                        <p:attrNameLst>
                                          <p:attrName>style.visibility</p:attrName>
                                        </p:attrNameLst>
                                      </p:cBhvr>
                                      <p:to>
                                        <p:strVal val="visible"/>
                                      </p:to>
                                    </p:set>
                                    <p:animEffect transition="in" filter="wipe(left)">
                                      <p:cBhvr>
                                        <p:cTn id="11" dur="1000"/>
                                        <p:tgtEl>
                                          <p:spTgt spid="509970"/>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509958"/>
                                        </p:tgtEl>
                                        <p:attrNameLst>
                                          <p:attrName>style.visibility</p:attrName>
                                        </p:attrNameLst>
                                      </p:cBhvr>
                                      <p:to>
                                        <p:strVal val="visible"/>
                                      </p:to>
                                    </p:set>
                                    <p:animEffect transition="in" filter="wipe(left)">
                                      <p:cBhvr>
                                        <p:cTn id="15" dur="1000"/>
                                        <p:tgtEl>
                                          <p:spTgt spid="50995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09961"/>
                                        </p:tgtEl>
                                        <p:attrNameLst>
                                          <p:attrName>style.visibility</p:attrName>
                                        </p:attrNameLst>
                                      </p:cBhvr>
                                      <p:to>
                                        <p:strVal val="visible"/>
                                      </p:to>
                                    </p:set>
                                    <p:animEffect transition="in" filter="wipe(left)">
                                      <p:cBhvr>
                                        <p:cTn id="20" dur="1000"/>
                                        <p:tgtEl>
                                          <p:spTgt spid="5099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9971"/>
                                        </p:tgtEl>
                                        <p:attrNameLst>
                                          <p:attrName>style.visibility</p:attrName>
                                        </p:attrNameLst>
                                      </p:cBhvr>
                                      <p:to>
                                        <p:strVal val="visible"/>
                                      </p:to>
                                    </p:set>
                                    <p:animEffect transition="in" filter="wipe(left)">
                                      <p:cBhvr>
                                        <p:cTn id="25" dur="1000"/>
                                        <p:tgtEl>
                                          <p:spTgt spid="509971"/>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509964"/>
                                        </p:tgtEl>
                                        <p:attrNameLst>
                                          <p:attrName>style.visibility</p:attrName>
                                        </p:attrNameLst>
                                      </p:cBhvr>
                                      <p:to>
                                        <p:strVal val="visible"/>
                                      </p:to>
                                    </p:set>
                                    <p:animEffect transition="in" filter="wipe(left)">
                                      <p:cBhvr>
                                        <p:cTn id="29" dur="1000"/>
                                        <p:tgtEl>
                                          <p:spTgt spid="509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70" grpId="0" animBg="1"/>
      <p:bldP spid="5099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a:extLst>
              <a:ext uri="{FF2B5EF4-FFF2-40B4-BE49-F238E27FC236}">
                <a16:creationId xmlns:a16="http://schemas.microsoft.com/office/drawing/2014/main" id="{B34F7842-671D-4D0A-B527-2D846DA5DB49}"/>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0993" name="Text Box 17">
            <a:extLst>
              <a:ext uri="{FF2B5EF4-FFF2-40B4-BE49-F238E27FC236}">
                <a16:creationId xmlns:a16="http://schemas.microsoft.com/office/drawing/2014/main" id="{5397A91C-4BA4-4670-B787-9B0833EC7D0E}"/>
              </a:ext>
            </a:extLst>
          </p:cNvPr>
          <p:cNvSpPr txBox="1">
            <a:spLocks noChangeArrowheads="1"/>
          </p:cNvSpPr>
          <p:nvPr/>
        </p:nvSpPr>
        <p:spPr bwMode="auto">
          <a:xfrm>
            <a:off x="228600" y="1268413"/>
            <a:ext cx="8686800"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pPr>
            <a:r>
              <a:rPr lang="zh-CN" altLang="en-US" sz="3000" b="1">
                <a:solidFill>
                  <a:srgbClr val="003300"/>
                </a:solidFill>
                <a:latin typeface="黑体" panose="02010609060101010101" pitchFamily="49" charset="-122"/>
                <a:ea typeface="黑体" panose="02010609060101010101" pitchFamily="49" charset="-122"/>
              </a:rPr>
              <a:t>   数据库的安全模型：</a:t>
            </a:r>
          </a:p>
        </p:txBody>
      </p:sp>
      <p:sp>
        <p:nvSpPr>
          <p:cNvPr id="510998" name="Text Box 22">
            <a:extLst>
              <a:ext uri="{FF2B5EF4-FFF2-40B4-BE49-F238E27FC236}">
                <a16:creationId xmlns:a16="http://schemas.microsoft.com/office/drawing/2014/main" id="{F0141016-131B-411B-90E6-6964E30E7E7C}"/>
              </a:ext>
            </a:extLst>
          </p:cNvPr>
          <p:cNvSpPr txBox="1">
            <a:spLocks noChangeArrowheads="1"/>
          </p:cNvSpPr>
          <p:nvPr/>
        </p:nvSpPr>
        <p:spPr bwMode="auto">
          <a:xfrm>
            <a:off x="468313" y="3933825"/>
            <a:ext cx="1727200" cy="9461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800" b="1">
                <a:ea typeface="华文中宋" panose="02010600040101010101" pitchFamily="2" charset="-122"/>
              </a:rPr>
              <a:t>用户标识与鉴别</a:t>
            </a:r>
          </a:p>
        </p:txBody>
      </p:sp>
      <p:sp>
        <p:nvSpPr>
          <p:cNvPr id="510999" name="Text Box 23">
            <a:extLst>
              <a:ext uri="{FF2B5EF4-FFF2-40B4-BE49-F238E27FC236}">
                <a16:creationId xmlns:a16="http://schemas.microsoft.com/office/drawing/2014/main" id="{7D86255E-8D01-45B9-B160-4ECF4DE867AC}"/>
              </a:ext>
            </a:extLst>
          </p:cNvPr>
          <p:cNvSpPr txBox="1">
            <a:spLocks noChangeArrowheads="1"/>
          </p:cNvSpPr>
          <p:nvPr/>
        </p:nvSpPr>
        <p:spPr bwMode="auto">
          <a:xfrm>
            <a:off x="2700338" y="3933825"/>
            <a:ext cx="1655762" cy="51911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800" b="1">
                <a:ea typeface="华文中宋" panose="02010600040101010101" pitchFamily="2" charset="-122"/>
              </a:rPr>
              <a:t>存取控制</a:t>
            </a:r>
          </a:p>
        </p:txBody>
      </p:sp>
      <p:sp>
        <p:nvSpPr>
          <p:cNvPr id="511000" name="Text Box 24">
            <a:extLst>
              <a:ext uri="{FF2B5EF4-FFF2-40B4-BE49-F238E27FC236}">
                <a16:creationId xmlns:a16="http://schemas.microsoft.com/office/drawing/2014/main" id="{A6AA09D0-5BD6-4A77-B3B1-EE739677C627}"/>
              </a:ext>
            </a:extLst>
          </p:cNvPr>
          <p:cNvSpPr txBox="1">
            <a:spLocks noChangeArrowheads="1"/>
          </p:cNvSpPr>
          <p:nvPr/>
        </p:nvSpPr>
        <p:spPr bwMode="auto">
          <a:xfrm>
            <a:off x="4819650" y="3933825"/>
            <a:ext cx="1697038" cy="9461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800" b="1">
                <a:ea typeface="华文中宋" panose="02010600040101010101" pitchFamily="2" charset="-122"/>
              </a:rPr>
              <a:t>操作系统安全保护</a:t>
            </a:r>
          </a:p>
        </p:txBody>
      </p:sp>
      <p:sp>
        <p:nvSpPr>
          <p:cNvPr id="511001" name="Text Box 25">
            <a:extLst>
              <a:ext uri="{FF2B5EF4-FFF2-40B4-BE49-F238E27FC236}">
                <a16:creationId xmlns:a16="http://schemas.microsoft.com/office/drawing/2014/main" id="{73206AC5-610E-4859-A623-3C3D5A3DABE7}"/>
              </a:ext>
            </a:extLst>
          </p:cNvPr>
          <p:cNvSpPr txBox="1">
            <a:spLocks noChangeArrowheads="1"/>
          </p:cNvSpPr>
          <p:nvPr/>
        </p:nvSpPr>
        <p:spPr bwMode="auto">
          <a:xfrm>
            <a:off x="6877050" y="3933825"/>
            <a:ext cx="2016125" cy="9461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800" b="1">
                <a:ea typeface="华文中宋" panose="02010600040101010101" pitchFamily="2" charset="-122"/>
              </a:rPr>
              <a:t>数据密码存储安全保护</a:t>
            </a:r>
          </a:p>
        </p:txBody>
      </p:sp>
      <p:sp>
        <p:nvSpPr>
          <p:cNvPr id="511009" name="AutoShape 4">
            <a:extLst>
              <a:ext uri="{FF2B5EF4-FFF2-40B4-BE49-F238E27FC236}">
                <a16:creationId xmlns:a16="http://schemas.microsoft.com/office/drawing/2014/main" id="{22CC53B4-C82B-4248-9E95-C302C47A0988}"/>
              </a:ext>
            </a:extLst>
          </p:cNvPr>
          <p:cNvSpPr>
            <a:spLocks noChangeArrowheads="1"/>
          </p:cNvSpPr>
          <p:nvPr/>
        </p:nvSpPr>
        <p:spPr bwMode="auto">
          <a:xfrm>
            <a:off x="539750" y="2636838"/>
            <a:ext cx="1512888" cy="1008062"/>
          </a:xfrm>
          <a:prstGeom prst="roundRect">
            <a:avLst>
              <a:gd name="adj" fmla="val 16667"/>
            </a:avLst>
          </a:prstGeom>
          <a:solidFill>
            <a:srgbClr val="FFFFFF"/>
          </a:solidFill>
          <a:ln w="7620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effectLst>
                  <a:outerShdw blurRad="38100" dist="38100" dir="2700000" algn="tl">
                    <a:srgbClr val="C0C0C0"/>
                  </a:outerShdw>
                </a:effectLst>
                <a:latin typeface="Arial" panose="020B0604020202020204" pitchFamily="34" charset="0"/>
                <a:ea typeface="楷体_GB2312" pitchFamily="49" charset="-122"/>
              </a:rPr>
              <a:t>用户</a:t>
            </a:r>
          </a:p>
        </p:txBody>
      </p:sp>
      <p:sp>
        <p:nvSpPr>
          <p:cNvPr id="511010" name="AutoShape 4">
            <a:extLst>
              <a:ext uri="{FF2B5EF4-FFF2-40B4-BE49-F238E27FC236}">
                <a16:creationId xmlns:a16="http://schemas.microsoft.com/office/drawing/2014/main" id="{23EE34FF-B0B7-48EC-AB79-8DF7725B00E9}"/>
              </a:ext>
            </a:extLst>
          </p:cNvPr>
          <p:cNvSpPr>
            <a:spLocks noChangeArrowheads="1"/>
          </p:cNvSpPr>
          <p:nvPr/>
        </p:nvSpPr>
        <p:spPr bwMode="auto">
          <a:xfrm>
            <a:off x="2771775" y="2636838"/>
            <a:ext cx="1512888" cy="1008062"/>
          </a:xfrm>
          <a:prstGeom prst="roundRect">
            <a:avLst>
              <a:gd name="adj" fmla="val 16667"/>
            </a:avLst>
          </a:prstGeom>
          <a:solidFill>
            <a:srgbClr val="FFFFFF"/>
          </a:solidFill>
          <a:ln w="76200"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3200" b="1">
                <a:effectLst>
                  <a:outerShdw blurRad="38100" dist="38100" dir="2700000" algn="tl">
                    <a:srgbClr val="C0C0C0"/>
                  </a:outerShdw>
                </a:effectLst>
                <a:latin typeface="Arial" panose="020B0604020202020204" pitchFamily="34" charset="0"/>
                <a:ea typeface="楷体_GB2312" pitchFamily="49" charset="-122"/>
              </a:rPr>
              <a:t>DBMS</a:t>
            </a:r>
          </a:p>
        </p:txBody>
      </p:sp>
      <p:sp>
        <p:nvSpPr>
          <p:cNvPr id="511013" name="AutoShape 5">
            <a:extLst>
              <a:ext uri="{FF2B5EF4-FFF2-40B4-BE49-F238E27FC236}">
                <a16:creationId xmlns:a16="http://schemas.microsoft.com/office/drawing/2014/main" id="{6F9B2464-0E86-4292-A441-5E978A28B621}"/>
              </a:ext>
            </a:extLst>
          </p:cNvPr>
          <p:cNvSpPr>
            <a:spLocks noChangeArrowheads="1"/>
          </p:cNvSpPr>
          <p:nvPr/>
        </p:nvSpPr>
        <p:spPr bwMode="auto">
          <a:xfrm>
            <a:off x="5005388" y="2636838"/>
            <a:ext cx="1511300" cy="1008062"/>
          </a:xfrm>
          <a:prstGeom prst="roundRect">
            <a:avLst>
              <a:gd name="adj" fmla="val 16667"/>
            </a:avLst>
          </a:prstGeom>
          <a:solidFill>
            <a:srgbClr val="FFFFFF"/>
          </a:solidFill>
          <a:ln w="762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3200" b="1">
                <a:effectLst>
                  <a:outerShdw blurRad="38100" dist="38100" dir="2700000" algn="tl">
                    <a:srgbClr val="C0C0C0"/>
                  </a:outerShdw>
                </a:effectLst>
                <a:latin typeface="Arial" panose="020B0604020202020204" pitchFamily="34" charset="0"/>
                <a:ea typeface="楷体_GB2312" pitchFamily="49" charset="-122"/>
              </a:rPr>
              <a:t>OS</a:t>
            </a:r>
            <a:endParaRPr kumimoji="0" lang="zh-CN" altLang="en-US" sz="3200" b="1">
              <a:effectLst>
                <a:outerShdw blurRad="38100" dist="38100" dir="2700000" algn="tl">
                  <a:srgbClr val="C0C0C0"/>
                </a:outerShdw>
              </a:effectLst>
              <a:latin typeface="Arial" panose="020B0604020202020204" pitchFamily="34" charset="0"/>
              <a:ea typeface="楷体_GB2312" pitchFamily="49" charset="-122"/>
            </a:endParaRPr>
          </a:p>
        </p:txBody>
      </p:sp>
      <p:sp>
        <p:nvSpPr>
          <p:cNvPr id="511016" name="AutoShape 7">
            <a:extLst>
              <a:ext uri="{FF2B5EF4-FFF2-40B4-BE49-F238E27FC236}">
                <a16:creationId xmlns:a16="http://schemas.microsoft.com/office/drawing/2014/main" id="{3946C06C-3B2B-44E2-8084-6F626A881862}"/>
              </a:ext>
            </a:extLst>
          </p:cNvPr>
          <p:cNvSpPr>
            <a:spLocks noChangeArrowheads="1"/>
          </p:cNvSpPr>
          <p:nvPr/>
        </p:nvSpPr>
        <p:spPr bwMode="auto">
          <a:xfrm>
            <a:off x="7235825" y="2636838"/>
            <a:ext cx="1511300" cy="1008062"/>
          </a:xfrm>
          <a:prstGeom prst="roundRect">
            <a:avLst>
              <a:gd name="adj" fmla="val 16667"/>
            </a:avLst>
          </a:prstGeom>
          <a:solidFill>
            <a:srgbClr val="FFFFFF"/>
          </a:solidFill>
          <a:ln w="76200">
            <a:solidFill>
              <a:srgbClr val="99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3200" b="1">
                <a:effectLst>
                  <a:outerShdw blurRad="38100" dist="38100" dir="2700000" algn="tl">
                    <a:srgbClr val="C0C0C0"/>
                  </a:outerShdw>
                </a:effectLst>
                <a:latin typeface="Arial" panose="020B0604020202020204" pitchFamily="34" charset="0"/>
                <a:ea typeface="楷体_GB2312" pitchFamily="49" charset="-122"/>
              </a:rPr>
              <a:t>DB</a:t>
            </a:r>
          </a:p>
        </p:txBody>
      </p:sp>
      <p:sp>
        <p:nvSpPr>
          <p:cNvPr id="511017" name="Line 41">
            <a:extLst>
              <a:ext uri="{FF2B5EF4-FFF2-40B4-BE49-F238E27FC236}">
                <a16:creationId xmlns:a16="http://schemas.microsoft.com/office/drawing/2014/main" id="{8A2CC75B-5AFB-4271-94CF-C04FC42B4ADF}"/>
              </a:ext>
            </a:extLst>
          </p:cNvPr>
          <p:cNvSpPr>
            <a:spLocks noChangeShapeType="1"/>
          </p:cNvSpPr>
          <p:nvPr/>
        </p:nvSpPr>
        <p:spPr bwMode="auto">
          <a:xfrm>
            <a:off x="2090738" y="2924175"/>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
        <p:nvSpPr>
          <p:cNvPr id="511018" name="Line 42">
            <a:extLst>
              <a:ext uri="{FF2B5EF4-FFF2-40B4-BE49-F238E27FC236}">
                <a16:creationId xmlns:a16="http://schemas.microsoft.com/office/drawing/2014/main" id="{67CF0607-4456-4499-9A1A-C36FCCB3EB88}"/>
              </a:ext>
            </a:extLst>
          </p:cNvPr>
          <p:cNvSpPr>
            <a:spLocks noChangeShapeType="1"/>
          </p:cNvSpPr>
          <p:nvPr/>
        </p:nvSpPr>
        <p:spPr bwMode="auto">
          <a:xfrm flipH="1">
            <a:off x="2090738" y="3284538"/>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
        <p:nvSpPr>
          <p:cNvPr id="511019" name="Line 43">
            <a:extLst>
              <a:ext uri="{FF2B5EF4-FFF2-40B4-BE49-F238E27FC236}">
                <a16:creationId xmlns:a16="http://schemas.microsoft.com/office/drawing/2014/main" id="{C49E74E8-3E4D-41B8-9506-0A91815831D1}"/>
              </a:ext>
            </a:extLst>
          </p:cNvPr>
          <p:cNvSpPr>
            <a:spLocks noChangeShapeType="1"/>
          </p:cNvSpPr>
          <p:nvPr/>
        </p:nvSpPr>
        <p:spPr bwMode="auto">
          <a:xfrm>
            <a:off x="4356100" y="2997200"/>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
        <p:nvSpPr>
          <p:cNvPr id="511020" name="Line 44">
            <a:extLst>
              <a:ext uri="{FF2B5EF4-FFF2-40B4-BE49-F238E27FC236}">
                <a16:creationId xmlns:a16="http://schemas.microsoft.com/office/drawing/2014/main" id="{742A0330-8D0F-4135-AFE7-5896D3A68859}"/>
              </a:ext>
            </a:extLst>
          </p:cNvPr>
          <p:cNvSpPr>
            <a:spLocks noChangeShapeType="1"/>
          </p:cNvSpPr>
          <p:nvPr/>
        </p:nvSpPr>
        <p:spPr bwMode="auto">
          <a:xfrm flipH="1">
            <a:off x="4356100" y="3357563"/>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
        <p:nvSpPr>
          <p:cNvPr id="511021" name="Line 45">
            <a:extLst>
              <a:ext uri="{FF2B5EF4-FFF2-40B4-BE49-F238E27FC236}">
                <a16:creationId xmlns:a16="http://schemas.microsoft.com/office/drawing/2014/main" id="{D4B7C609-025D-4D6B-95E7-81029554AD6F}"/>
              </a:ext>
            </a:extLst>
          </p:cNvPr>
          <p:cNvSpPr>
            <a:spLocks noChangeShapeType="1"/>
          </p:cNvSpPr>
          <p:nvPr/>
        </p:nvSpPr>
        <p:spPr bwMode="auto">
          <a:xfrm>
            <a:off x="6588125" y="2997200"/>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
        <p:nvSpPr>
          <p:cNvPr id="511022" name="Line 46">
            <a:extLst>
              <a:ext uri="{FF2B5EF4-FFF2-40B4-BE49-F238E27FC236}">
                <a16:creationId xmlns:a16="http://schemas.microsoft.com/office/drawing/2014/main" id="{BC242761-E668-44B5-82B2-72E027C8216F}"/>
              </a:ext>
            </a:extLst>
          </p:cNvPr>
          <p:cNvSpPr>
            <a:spLocks noChangeShapeType="1"/>
          </p:cNvSpPr>
          <p:nvPr/>
        </p:nvSpPr>
        <p:spPr bwMode="auto">
          <a:xfrm flipH="1">
            <a:off x="6588125" y="3357563"/>
            <a:ext cx="609600"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556"/>
    </mc:Choice>
    <mc:Fallback xmlns="">
      <p:transition spd="slow" advTm="3155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0993"/>
                                        </p:tgtEl>
                                        <p:attrNameLst>
                                          <p:attrName>style.visibility</p:attrName>
                                        </p:attrNameLst>
                                      </p:cBhvr>
                                      <p:to>
                                        <p:strVal val="visible"/>
                                      </p:to>
                                    </p:set>
                                    <p:anim calcmode="lin" valueType="num">
                                      <p:cBhvr additive="base">
                                        <p:cTn id="7" dur="500" fill="hold"/>
                                        <p:tgtEl>
                                          <p:spTgt spid="510993"/>
                                        </p:tgtEl>
                                        <p:attrNameLst>
                                          <p:attrName>ppt_x</p:attrName>
                                        </p:attrNameLst>
                                      </p:cBhvr>
                                      <p:tavLst>
                                        <p:tav tm="0">
                                          <p:val>
                                            <p:strVal val="#ppt_x"/>
                                          </p:val>
                                        </p:tav>
                                        <p:tav tm="100000">
                                          <p:val>
                                            <p:strVal val="#ppt_x"/>
                                          </p:val>
                                        </p:tav>
                                      </p:tavLst>
                                    </p:anim>
                                    <p:anim calcmode="lin" valueType="num">
                                      <p:cBhvr additive="base">
                                        <p:cTn id="8" dur="500" fill="hold"/>
                                        <p:tgtEl>
                                          <p:spTgt spid="5109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9" presetClass="entr" presetSubtype="0" fill="hold" grpId="0" nodeType="clickEffect">
                                  <p:stCondLst>
                                    <p:cond delay="0"/>
                                  </p:stCondLst>
                                  <p:childTnLst>
                                    <p:set>
                                      <p:cBhvr>
                                        <p:cTn id="12" dur="1" fill="hold">
                                          <p:stCondLst>
                                            <p:cond delay="0"/>
                                          </p:stCondLst>
                                        </p:cTn>
                                        <p:tgtEl>
                                          <p:spTgt spid="511009"/>
                                        </p:tgtEl>
                                        <p:attrNameLst>
                                          <p:attrName>style.visibility</p:attrName>
                                        </p:attrNameLst>
                                      </p:cBhvr>
                                      <p:to>
                                        <p:strVal val="visible"/>
                                      </p:to>
                                    </p:set>
                                    <p:anim calcmode="lin" valueType="num">
                                      <p:cBhvr>
                                        <p:cTn id="13" dur="1000" fill="hold"/>
                                        <p:tgtEl>
                                          <p:spTgt spid="511009"/>
                                        </p:tgtEl>
                                        <p:attrNameLst>
                                          <p:attrName>ppt_x</p:attrName>
                                        </p:attrNameLst>
                                      </p:cBhvr>
                                      <p:tavLst>
                                        <p:tav tm="0">
                                          <p:val>
                                            <p:strVal val="#ppt_x-.2"/>
                                          </p:val>
                                        </p:tav>
                                        <p:tav tm="100000">
                                          <p:val>
                                            <p:strVal val="#ppt_x"/>
                                          </p:val>
                                        </p:tav>
                                      </p:tavLst>
                                    </p:anim>
                                    <p:anim calcmode="lin" valueType="num">
                                      <p:cBhvr>
                                        <p:cTn id="14" dur="1000" fill="hold"/>
                                        <p:tgtEl>
                                          <p:spTgt spid="511009"/>
                                        </p:tgtEl>
                                        <p:attrNameLst>
                                          <p:attrName>ppt_y</p:attrName>
                                        </p:attrNameLst>
                                      </p:cBhvr>
                                      <p:tavLst>
                                        <p:tav tm="0">
                                          <p:val>
                                            <p:strVal val="#ppt_y"/>
                                          </p:val>
                                        </p:tav>
                                        <p:tav tm="100000">
                                          <p:val>
                                            <p:strVal val="#ppt_y"/>
                                          </p:val>
                                        </p:tav>
                                      </p:tavLst>
                                    </p:anim>
                                    <p:animEffect transition="in" filter="wipe(right)" prLst="gradientSize: 0.1">
                                      <p:cBhvr>
                                        <p:cTn id="15" dur="1000"/>
                                        <p:tgtEl>
                                          <p:spTgt spid="511009"/>
                                        </p:tgtEl>
                                      </p:cBhvr>
                                    </p:animEffect>
                                  </p:childTnLst>
                                </p:cTn>
                              </p:par>
                              <p:par>
                                <p:cTn id="16" presetID="29" presetClass="entr" presetSubtype="0" fill="hold" grpId="0" nodeType="withEffect">
                                  <p:stCondLst>
                                    <p:cond delay="0"/>
                                  </p:stCondLst>
                                  <p:childTnLst>
                                    <p:set>
                                      <p:cBhvr>
                                        <p:cTn id="17" dur="1" fill="hold">
                                          <p:stCondLst>
                                            <p:cond delay="0"/>
                                          </p:stCondLst>
                                        </p:cTn>
                                        <p:tgtEl>
                                          <p:spTgt spid="510998"/>
                                        </p:tgtEl>
                                        <p:attrNameLst>
                                          <p:attrName>style.visibility</p:attrName>
                                        </p:attrNameLst>
                                      </p:cBhvr>
                                      <p:to>
                                        <p:strVal val="visible"/>
                                      </p:to>
                                    </p:set>
                                    <p:anim calcmode="lin" valueType="num">
                                      <p:cBhvr>
                                        <p:cTn id="18" dur="1000" fill="hold"/>
                                        <p:tgtEl>
                                          <p:spTgt spid="510998"/>
                                        </p:tgtEl>
                                        <p:attrNameLst>
                                          <p:attrName>ppt_x</p:attrName>
                                        </p:attrNameLst>
                                      </p:cBhvr>
                                      <p:tavLst>
                                        <p:tav tm="0">
                                          <p:val>
                                            <p:strVal val="#ppt_x-.2"/>
                                          </p:val>
                                        </p:tav>
                                        <p:tav tm="100000">
                                          <p:val>
                                            <p:strVal val="#ppt_x"/>
                                          </p:val>
                                        </p:tav>
                                      </p:tavLst>
                                    </p:anim>
                                    <p:anim calcmode="lin" valueType="num">
                                      <p:cBhvr>
                                        <p:cTn id="19" dur="1000" fill="hold"/>
                                        <p:tgtEl>
                                          <p:spTgt spid="510998"/>
                                        </p:tgtEl>
                                        <p:attrNameLst>
                                          <p:attrName>ppt_y</p:attrName>
                                        </p:attrNameLst>
                                      </p:cBhvr>
                                      <p:tavLst>
                                        <p:tav tm="0">
                                          <p:val>
                                            <p:strVal val="#ppt_y"/>
                                          </p:val>
                                        </p:tav>
                                        <p:tav tm="100000">
                                          <p:val>
                                            <p:strVal val="#ppt_y"/>
                                          </p:val>
                                        </p:tav>
                                      </p:tavLst>
                                    </p:anim>
                                    <p:animEffect transition="in" filter="wipe(right)" prLst="gradientSize: 0.1">
                                      <p:cBhvr>
                                        <p:cTn id="20" dur="1000"/>
                                        <p:tgtEl>
                                          <p:spTgt spid="51099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11017"/>
                                        </p:tgtEl>
                                        <p:attrNameLst>
                                          <p:attrName>style.visibility</p:attrName>
                                        </p:attrNameLst>
                                      </p:cBhvr>
                                      <p:to>
                                        <p:strVal val="visible"/>
                                      </p:to>
                                    </p:set>
                                    <p:animEffect transition="in" filter="wipe(left)">
                                      <p:cBhvr>
                                        <p:cTn id="25" dur="500"/>
                                        <p:tgtEl>
                                          <p:spTgt spid="511017"/>
                                        </p:tgtEl>
                                      </p:cBhvr>
                                    </p:animEffect>
                                  </p:childTnLst>
                                </p:cTn>
                              </p:par>
                            </p:childTnLst>
                          </p:cTn>
                        </p:par>
                        <p:par>
                          <p:cTn id="26" fill="hold" nodeType="afterGroup">
                            <p:stCondLst>
                              <p:cond delay="500"/>
                            </p:stCondLst>
                            <p:childTnLst>
                              <p:par>
                                <p:cTn id="27" presetID="22" presetClass="entr" presetSubtype="2" fill="hold" nodeType="afterEffect">
                                  <p:stCondLst>
                                    <p:cond delay="0"/>
                                  </p:stCondLst>
                                  <p:childTnLst>
                                    <p:set>
                                      <p:cBhvr>
                                        <p:cTn id="28" dur="1" fill="hold">
                                          <p:stCondLst>
                                            <p:cond delay="0"/>
                                          </p:stCondLst>
                                        </p:cTn>
                                        <p:tgtEl>
                                          <p:spTgt spid="511018"/>
                                        </p:tgtEl>
                                        <p:attrNameLst>
                                          <p:attrName>style.visibility</p:attrName>
                                        </p:attrNameLst>
                                      </p:cBhvr>
                                      <p:to>
                                        <p:strVal val="visible"/>
                                      </p:to>
                                    </p:set>
                                    <p:animEffect transition="in" filter="wipe(right)">
                                      <p:cBhvr>
                                        <p:cTn id="29" dur="500"/>
                                        <p:tgtEl>
                                          <p:spTgt spid="5110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9" presetClass="entr" presetSubtype="0" fill="hold" grpId="0" nodeType="clickEffect">
                                  <p:stCondLst>
                                    <p:cond delay="0"/>
                                  </p:stCondLst>
                                  <p:childTnLst>
                                    <p:set>
                                      <p:cBhvr>
                                        <p:cTn id="33" dur="1" fill="hold">
                                          <p:stCondLst>
                                            <p:cond delay="0"/>
                                          </p:stCondLst>
                                        </p:cTn>
                                        <p:tgtEl>
                                          <p:spTgt spid="511010"/>
                                        </p:tgtEl>
                                        <p:attrNameLst>
                                          <p:attrName>style.visibility</p:attrName>
                                        </p:attrNameLst>
                                      </p:cBhvr>
                                      <p:to>
                                        <p:strVal val="visible"/>
                                      </p:to>
                                    </p:set>
                                    <p:anim calcmode="lin" valueType="num">
                                      <p:cBhvr>
                                        <p:cTn id="34" dur="1000" fill="hold"/>
                                        <p:tgtEl>
                                          <p:spTgt spid="511010"/>
                                        </p:tgtEl>
                                        <p:attrNameLst>
                                          <p:attrName>ppt_x</p:attrName>
                                        </p:attrNameLst>
                                      </p:cBhvr>
                                      <p:tavLst>
                                        <p:tav tm="0">
                                          <p:val>
                                            <p:strVal val="#ppt_x-.2"/>
                                          </p:val>
                                        </p:tav>
                                        <p:tav tm="100000">
                                          <p:val>
                                            <p:strVal val="#ppt_x"/>
                                          </p:val>
                                        </p:tav>
                                      </p:tavLst>
                                    </p:anim>
                                    <p:anim calcmode="lin" valueType="num">
                                      <p:cBhvr>
                                        <p:cTn id="35" dur="1000" fill="hold"/>
                                        <p:tgtEl>
                                          <p:spTgt spid="511010"/>
                                        </p:tgtEl>
                                        <p:attrNameLst>
                                          <p:attrName>ppt_y</p:attrName>
                                        </p:attrNameLst>
                                      </p:cBhvr>
                                      <p:tavLst>
                                        <p:tav tm="0">
                                          <p:val>
                                            <p:strVal val="#ppt_y"/>
                                          </p:val>
                                        </p:tav>
                                        <p:tav tm="100000">
                                          <p:val>
                                            <p:strVal val="#ppt_y"/>
                                          </p:val>
                                        </p:tav>
                                      </p:tavLst>
                                    </p:anim>
                                    <p:animEffect transition="in" filter="wipe(right)" prLst="gradientSize: 0.1">
                                      <p:cBhvr>
                                        <p:cTn id="36" dur="1000"/>
                                        <p:tgtEl>
                                          <p:spTgt spid="511010"/>
                                        </p:tgtEl>
                                      </p:cBhvr>
                                    </p:animEffect>
                                  </p:childTnLst>
                                </p:cTn>
                              </p:par>
                              <p:par>
                                <p:cTn id="37" presetID="29" presetClass="entr" presetSubtype="0" fill="hold" grpId="0" nodeType="withEffect">
                                  <p:stCondLst>
                                    <p:cond delay="0"/>
                                  </p:stCondLst>
                                  <p:childTnLst>
                                    <p:set>
                                      <p:cBhvr>
                                        <p:cTn id="38" dur="1" fill="hold">
                                          <p:stCondLst>
                                            <p:cond delay="0"/>
                                          </p:stCondLst>
                                        </p:cTn>
                                        <p:tgtEl>
                                          <p:spTgt spid="510999"/>
                                        </p:tgtEl>
                                        <p:attrNameLst>
                                          <p:attrName>style.visibility</p:attrName>
                                        </p:attrNameLst>
                                      </p:cBhvr>
                                      <p:to>
                                        <p:strVal val="visible"/>
                                      </p:to>
                                    </p:set>
                                    <p:anim calcmode="lin" valueType="num">
                                      <p:cBhvr>
                                        <p:cTn id="39" dur="1000" fill="hold"/>
                                        <p:tgtEl>
                                          <p:spTgt spid="510999"/>
                                        </p:tgtEl>
                                        <p:attrNameLst>
                                          <p:attrName>ppt_x</p:attrName>
                                        </p:attrNameLst>
                                      </p:cBhvr>
                                      <p:tavLst>
                                        <p:tav tm="0">
                                          <p:val>
                                            <p:strVal val="#ppt_x-.2"/>
                                          </p:val>
                                        </p:tav>
                                        <p:tav tm="100000">
                                          <p:val>
                                            <p:strVal val="#ppt_x"/>
                                          </p:val>
                                        </p:tav>
                                      </p:tavLst>
                                    </p:anim>
                                    <p:anim calcmode="lin" valueType="num">
                                      <p:cBhvr>
                                        <p:cTn id="40" dur="1000" fill="hold"/>
                                        <p:tgtEl>
                                          <p:spTgt spid="510999"/>
                                        </p:tgtEl>
                                        <p:attrNameLst>
                                          <p:attrName>ppt_y</p:attrName>
                                        </p:attrNameLst>
                                      </p:cBhvr>
                                      <p:tavLst>
                                        <p:tav tm="0">
                                          <p:val>
                                            <p:strVal val="#ppt_y"/>
                                          </p:val>
                                        </p:tav>
                                        <p:tav tm="100000">
                                          <p:val>
                                            <p:strVal val="#ppt_y"/>
                                          </p:val>
                                        </p:tav>
                                      </p:tavLst>
                                    </p:anim>
                                    <p:animEffect transition="in" filter="wipe(right)" prLst="gradientSize: 0.1">
                                      <p:cBhvr>
                                        <p:cTn id="41" dur="1000"/>
                                        <p:tgtEl>
                                          <p:spTgt spid="51099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11019"/>
                                        </p:tgtEl>
                                        <p:attrNameLst>
                                          <p:attrName>style.visibility</p:attrName>
                                        </p:attrNameLst>
                                      </p:cBhvr>
                                      <p:to>
                                        <p:strVal val="visible"/>
                                      </p:to>
                                    </p:set>
                                    <p:animEffect transition="in" filter="wipe(left)">
                                      <p:cBhvr>
                                        <p:cTn id="46" dur="500"/>
                                        <p:tgtEl>
                                          <p:spTgt spid="511019"/>
                                        </p:tgtEl>
                                      </p:cBhvr>
                                    </p:animEffect>
                                  </p:childTnLst>
                                </p:cTn>
                              </p:par>
                            </p:childTnLst>
                          </p:cTn>
                        </p:par>
                        <p:par>
                          <p:cTn id="47" fill="hold" nodeType="afterGroup">
                            <p:stCondLst>
                              <p:cond delay="500"/>
                            </p:stCondLst>
                            <p:childTnLst>
                              <p:par>
                                <p:cTn id="48" presetID="22" presetClass="entr" presetSubtype="2" fill="hold" nodeType="afterEffect">
                                  <p:stCondLst>
                                    <p:cond delay="0"/>
                                  </p:stCondLst>
                                  <p:childTnLst>
                                    <p:set>
                                      <p:cBhvr>
                                        <p:cTn id="49" dur="1" fill="hold">
                                          <p:stCondLst>
                                            <p:cond delay="0"/>
                                          </p:stCondLst>
                                        </p:cTn>
                                        <p:tgtEl>
                                          <p:spTgt spid="511020"/>
                                        </p:tgtEl>
                                        <p:attrNameLst>
                                          <p:attrName>style.visibility</p:attrName>
                                        </p:attrNameLst>
                                      </p:cBhvr>
                                      <p:to>
                                        <p:strVal val="visible"/>
                                      </p:to>
                                    </p:set>
                                    <p:animEffect transition="in" filter="wipe(right)">
                                      <p:cBhvr>
                                        <p:cTn id="50" dur="500"/>
                                        <p:tgtEl>
                                          <p:spTgt spid="51102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9" presetClass="entr" presetSubtype="0" fill="hold" grpId="0" nodeType="clickEffect">
                                  <p:stCondLst>
                                    <p:cond delay="0"/>
                                  </p:stCondLst>
                                  <p:childTnLst>
                                    <p:set>
                                      <p:cBhvr>
                                        <p:cTn id="54" dur="1" fill="hold">
                                          <p:stCondLst>
                                            <p:cond delay="0"/>
                                          </p:stCondLst>
                                        </p:cTn>
                                        <p:tgtEl>
                                          <p:spTgt spid="511013"/>
                                        </p:tgtEl>
                                        <p:attrNameLst>
                                          <p:attrName>style.visibility</p:attrName>
                                        </p:attrNameLst>
                                      </p:cBhvr>
                                      <p:to>
                                        <p:strVal val="visible"/>
                                      </p:to>
                                    </p:set>
                                    <p:anim calcmode="lin" valueType="num">
                                      <p:cBhvr>
                                        <p:cTn id="55" dur="1000" fill="hold"/>
                                        <p:tgtEl>
                                          <p:spTgt spid="511013"/>
                                        </p:tgtEl>
                                        <p:attrNameLst>
                                          <p:attrName>ppt_x</p:attrName>
                                        </p:attrNameLst>
                                      </p:cBhvr>
                                      <p:tavLst>
                                        <p:tav tm="0">
                                          <p:val>
                                            <p:strVal val="#ppt_x-.2"/>
                                          </p:val>
                                        </p:tav>
                                        <p:tav tm="100000">
                                          <p:val>
                                            <p:strVal val="#ppt_x"/>
                                          </p:val>
                                        </p:tav>
                                      </p:tavLst>
                                    </p:anim>
                                    <p:anim calcmode="lin" valueType="num">
                                      <p:cBhvr>
                                        <p:cTn id="56" dur="1000" fill="hold"/>
                                        <p:tgtEl>
                                          <p:spTgt spid="511013"/>
                                        </p:tgtEl>
                                        <p:attrNameLst>
                                          <p:attrName>ppt_y</p:attrName>
                                        </p:attrNameLst>
                                      </p:cBhvr>
                                      <p:tavLst>
                                        <p:tav tm="0">
                                          <p:val>
                                            <p:strVal val="#ppt_y"/>
                                          </p:val>
                                        </p:tav>
                                        <p:tav tm="100000">
                                          <p:val>
                                            <p:strVal val="#ppt_y"/>
                                          </p:val>
                                        </p:tav>
                                      </p:tavLst>
                                    </p:anim>
                                    <p:animEffect transition="in" filter="wipe(right)" prLst="gradientSize: 0.1">
                                      <p:cBhvr>
                                        <p:cTn id="57" dur="1000"/>
                                        <p:tgtEl>
                                          <p:spTgt spid="511013"/>
                                        </p:tgtEl>
                                      </p:cBhvr>
                                    </p:animEffect>
                                  </p:childTnLst>
                                </p:cTn>
                              </p:par>
                              <p:par>
                                <p:cTn id="58" presetID="29" presetClass="entr" presetSubtype="0" fill="hold" grpId="0" nodeType="withEffect">
                                  <p:stCondLst>
                                    <p:cond delay="0"/>
                                  </p:stCondLst>
                                  <p:childTnLst>
                                    <p:set>
                                      <p:cBhvr>
                                        <p:cTn id="59" dur="1" fill="hold">
                                          <p:stCondLst>
                                            <p:cond delay="0"/>
                                          </p:stCondLst>
                                        </p:cTn>
                                        <p:tgtEl>
                                          <p:spTgt spid="511000"/>
                                        </p:tgtEl>
                                        <p:attrNameLst>
                                          <p:attrName>style.visibility</p:attrName>
                                        </p:attrNameLst>
                                      </p:cBhvr>
                                      <p:to>
                                        <p:strVal val="visible"/>
                                      </p:to>
                                    </p:set>
                                    <p:anim calcmode="lin" valueType="num">
                                      <p:cBhvr>
                                        <p:cTn id="60" dur="1000" fill="hold"/>
                                        <p:tgtEl>
                                          <p:spTgt spid="511000"/>
                                        </p:tgtEl>
                                        <p:attrNameLst>
                                          <p:attrName>ppt_x</p:attrName>
                                        </p:attrNameLst>
                                      </p:cBhvr>
                                      <p:tavLst>
                                        <p:tav tm="0">
                                          <p:val>
                                            <p:strVal val="#ppt_x-.2"/>
                                          </p:val>
                                        </p:tav>
                                        <p:tav tm="100000">
                                          <p:val>
                                            <p:strVal val="#ppt_x"/>
                                          </p:val>
                                        </p:tav>
                                      </p:tavLst>
                                    </p:anim>
                                    <p:anim calcmode="lin" valueType="num">
                                      <p:cBhvr>
                                        <p:cTn id="61" dur="1000" fill="hold"/>
                                        <p:tgtEl>
                                          <p:spTgt spid="511000"/>
                                        </p:tgtEl>
                                        <p:attrNameLst>
                                          <p:attrName>ppt_y</p:attrName>
                                        </p:attrNameLst>
                                      </p:cBhvr>
                                      <p:tavLst>
                                        <p:tav tm="0">
                                          <p:val>
                                            <p:strVal val="#ppt_y"/>
                                          </p:val>
                                        </p:tav>
                                        <p:tav tm="100000">
                                          <p:val>
                                            <p:strVal val="#ppt_y"/>
                                          </p:val>
                                        </p:tav>
                                      </p:tavLst>
                                    </p:anim>
                                    <p:animEffect transition="in" filter="wipe(right)" prLst="gradientSize: 0.1">
                                      <p:cBhvr>
                                        <p:cTn id="62" dur="1000"/>
                                        <p:tgtEl>
                                          <p:spTgt spid="51100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11021"/>
                                        </p:tgtEl>
                                        <p:attrNameLst>
                                          <p:attrName>style.visibility</p:attrName>
                                        </p:attrNameLst>
                                      </p:cBhvr>
                                      <p:to>
                                        <p:strVal val="visible"/>
                                      </p:to>
                                    </p:set>
                                    <p:animEffect transition="in" filter="wipe(left)">
                                      <p:cBhvr>
                                        <p:cTn id="67" dur="500"/>
                                        <p:tgtEl>
                                          <p:spTgt spid="511021"/>
                                        </p:tgtEl>
                                      </p:cBhvr>
                                    </p:animEffect>
                                  </p:childTnLst>
                                </p:cTn>
                              </p:par>
                            </p:childTnLst>
                          </p:cTn>
                        </p:par>
                        <p:par>
                          <p:cTn id="68" fill="hold" nodeType="afterGroup">
                            <p:stCondLst>
                              <p:cond delay="500"/>
                            </p:stCondLst>
                            <p:childTnLst>
                              <p:par>
                                <p:cTn id="69" presetID="22" presetClass="entr" presetSubtype="2" fill="hold" nodeType="afterEffect">
                                  <p:stCondLst>
                                    <p:cond delay="0"/>
                                  </p:stCondLst>
                                  <p:childTnLst>
                                    <p:set>
                                      <p:cBhvr>
                                        <p:cTn id="70" dur="1" fill="hold">
                                          <p:stCondLst>
                                            <p:cond delay="0"/>
                                          </p:stCondLst>
                                        </p:cTn>
                                        <p:tgtEl>
                                          <p:spTgt spid="511022"/>
                                        </p:tgtEl>
                                        <p:attrNameLst>
                                          <p:attrName>style.visibility</p:attrName>
                                        </p:attrNameLst>
                                      </p:cBhvr>
                                      <p:to>
                                        <p:strVal val="visible"/>
                                      </p:to>
                                    </p:set>
                                    <p:animEffect transition="in" filter="wipe(right)">
                                      <p:cBhvr>
                                        <p:cTn id="71" dur="500"/>
                                        <p:tgtEl>
                                          <p:spTgt spid="51102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9" presetClass="entr" presetSubtype="0" fill="hold" grpId="0" nodeType="clickEffect">
                                  <p:stCondLst>
                                    <p:cond delay="0"/>
                                  </p:stCondLst>
                                  <p:childTnLst>
                                    <p:set>
                                      <p:cBhvr>
                                        <p:cTn id="75" dur="1" fill="hold">
                                          <p:stCondLst>
                                            <p:cond delay="0"/>
                                          </p:stCondLst>
                                        </p:cTn>
                                        <p:tgtEl>
                                          <p:spTgt spid="511016"/>
                                        </p:tgtEl>
                                        <p:attrNameLst>
                                          <p:attrName>style.visibility</p:attrName>
                                        </p:attrNameLst>
                                      </p:cBhvr>
                                      <p:to>
                                        <p:strVal val="visible"/>
                                      </p:to>
                                    </p:set>
                                    <p:anim calcmode="lin" valueType="num">
                                      <p:cBhvr>
                                        <p:cTn id="76" dur="1000" fill="hold"/>
                                        <p:tgtEl>
                                          <p:spTgt spid="511016"/>
                                        </p:tgtEl>
                                        <p:attrNameLst>
                                          <p:attrName>ppt_x</p:attrName>
                                        </p:attrNameLst>
                                      </p:cBhvr>
                                      <p:tavLst>
                                        <p:tav tm="0">
                                          <p:val>
                                            <p:strVal val="#ppt_x-.2"/>
                                          </p:val>
                                        </p:tav>
                                        <p:tav tm="100000">
                                          <p:val>
                                            <p:strVal val="#ppt_x"/>
                                          </p:val>
                                        </p:tav>
                                      </p:tavLst>
                                    </p:anim>
                                    <p:anim calcmode="lin" valueType="num">
                                      <p:cBhvr>
                                        <p:cTn id="77" dur="1000" fill="hold"/>
                                        <p:tgtEl>
                                          <p:spTgt spid="511016"/>
                                        </p:tgtEl>
                                        <p:attrNameLst>
                                          <p:attrName>ppt_y</p:attrName>
                                        </p:attrNameLst>
                                      </p:cBhvr>
                                      <p:tavLst>
                                        <p:tav tm="0">
                                          <p:val>
                                            <p:strVal val="#ppt_y"/>
                                          </p:val>
                                        </p:tav>
                                        <p:tav tm="100000">
                                          <p:val>
                                            <p:strVal val="#ppt_y"/>
                                          </p:val>
                                        </p:tav>
                                      </p:tavLst>
                                    </p:anim>
                                    <p:animEffect transition="in" filter="wipe(right)" prLst="gradientSize: 0.1">
                                      <p:cBhvr>
                                        <p:cTn id="78" dur="1000"/>
                                        <p:tgtEl>
                                          <p:spTgt spid="511016"/>
                                        </p:tgtEl>
                                      </p:cBhvr>
                                    </p:animEffect>
                                  </p:childTnLst>
                                </p:cTn>
                              </p:par>
                              <p:par>
                                <p:cTn id="79" presetID="29" presetClass="entr" presetSubtype="0" fill="hold" grpId="0" nodeType="withEffect">
                                  <p:stCondLst>
                                    <p:cond delay="0"/>
                                  </p:stCondLst>
                                  <p:childTnLst>
                                    <p:set>
                                      <p:cBhvr>
                                        <p:cTn id="80" dur="1" fill="hold">
                                          <p:stCondLst>
                                            <p:cond delay="0"/>
                                          </p:stCondLst>
                                        </p:cTn>
                                        <p:tgtEl>
                                          <p:spTgt spid="511001"/>
                                        </p:tgtEl>
                                        <p:attrNameLst>
                                          <p:attrName>style.visibility</p:attrName>
                                        </p:attrNameLst>
                                      </p:cBhvr>
                                      <p:to>
                                        <p:strVal val="visible"/>
                                      </p:to>
                                    </p:set>
                                    <p:anim calcmode="lin" valueType="num">
                                      <p:cBhvr>
                                        <p:cTn id="81" dur="1000" fill="hold"/>
                                        <p:tgtEl>
                                          <p:spTgt spid="511001"/>
                                        </p:tgtEl>
                                        <p:attrNameLst>
                                          <p:attrName>ppt_x</p:attrName>
                                        </p:attrNameLst>
                                      </p:cBhvr>
                                      <p:tavLst>
                                        <p:tav tm="0">
                                          <p:val>
                                            <p:strVal val="#ppt_x-.2"/>
                                          </p:val>
                                        </p:tav>
                                        <p:tav tm="100000">
                                          <p:val>
                                            <p:strVal val="#ppt_x"/>
                                          </p:val>
                                        </p:tav>
                                      </p:tavLst>
                                    </p:anim>
                                    <p:anim calcmode="lin" valueType="num">
                                      <p:cBhvr>
                                        <p:cTn id="82" dur="1000" fill="hold"/>
                                        <p:tgtEl>
                                          <p:spTgt spid="511001"/>
                                        </p:tgtEl>
                                        <p:attrNameLst>
                                          <p:attrName>ppt_y</p:attrName>
                                        </p:attrNameLst>
                                      </p:cBhvr>
                                      <p:tavLst>
                                        <p:tav tm="0">
                                          <p:val>
                                            <p:strVal val="#ppt_y"/>
                                          </p:val>
                                        </p:tav>
                                        <p:tav tm="100000">
                                          <p:val>
                                            <p:strVal val="#ppt_y"/>
                                          </p:val>
                                        </p:tav>
                                      </p:tavLst>
                                    </p:anim>
                                    <p:animEffect transition="in" filter="wipe(right)" prLst="gradientSize: 0.1">
                                      <p:cBhvr>
                                        <p:cTn id="83" dur="1000"/>
                                        <p:tgtEl>
                                          <p:spTgt spid="511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93" grpId="0"/>
      <p:bldP spid="510998" grpId="0"/>
      <p:bldP spid="510999" grpId="0"/>
      <p:bldP spid="511000" grpId="0"/>
      <p:bldP spid="511001" grpId="0"/>
      <p:bldP spid="511009" grpId="0" animBg="1"/>
      <p:bldP spid="511010" grpId="0" animBg="1"/>
      <p:bldP spid="511013" grpId="0" animBg="1"/>
      <p:bldP spid="5110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70ADE8AC-71CF-425B-AE2B-BF6CEECE4A9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2018" name="Rectangle 18">
            <a:extLst>
              <a:ext uri="{FF2B5EF4-FFF2-40B4-BE49-F238E27FC236}">
                <a16:creationId xmlns:a16="http://schemas.microsoft.com/office/drawing/2014/main" id="{78F46705-7328-442C-BAA4-A00CC92B0FF3}"/>
              </a:ext>
            </a:extLst>
          </p:cNvPr>
          <p:cNvSpPr>
            <a:spLocks noChangeArrowheads="1"/>
          </p:cNvSpPr>
          <p:nvPr/>
        </p:nvSpPr>
        <p:spPr bwMode="auto">
          <a:xfrm>
            <a:off x="539750" y="1196975"/>
            <a:ext cx="5040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、用户标识和鉴别</a:t>
            </a:r>
          </a:p>
        </p:txBody>
      </p:sp>
      <p:sp>
        <p:nvSpPr>
          <p:cNvPr id="512019" name="AutoShape 3">
            <a:extLst>
              <a:ext uri="{FF2B5EF4-FFF2-40B4-BE49-F238E27FC236}">
                <a16:creationId xmlns:a16="http://schemas.microsoft.com/office/drawing/2014/main" id="{E38321C8-B125-4576-8422-7A3AEA7BB9C0}"/>
              </a:ext>
            </a:extLst>
          </p:cNvPr>
          <p:cNvSpPr>
            <a:spLocks noChangeArrowheads="1"/>
          </p:cNvSpPr>
          <p:nvPr/>
        </p:nvSpPr>
        <p:spPr bwMode="auto">
          <a:xfrm>
            <a:off x="323850" y="2636838"/>
            <a:ext cx="2159000" cy="2159000"/>
          </a:xfrm>
          <a:prstGeom prst="diamond">
            <a:avLst/>
          </a:prstGeom>
          <a:solidFill>
            <a:srgbClr val="E4E8E4">
              <a:alpha val="30000"/>
            </a:srgbClr>
          </a:solidFill>
          <a:ln w="9525">
            <a:miter lim="800000"/>
            <a:headEnd/>
            <a:tailEnd/>
          </a:ln>
          <a:effectLst/>
          <a:scene3d>
            <a:camera prst="legacyPerspectiveTop"/>
            <a:lightRig rig="legacyNormal1" dir="t"/>
          </a:scene3d>
          <a:sp3d extrusionH="49200" prstMaterial="legacyMatte">
            <a:bevelT w="13500" h="13500" prst="angle"/>
            <a:bevelB w="13500" h="13500" prst="angle"/>
            <a:extrusionClr>
              <a:srgbClr val="E4E8E4"/>
            </a:extrusionClr>
            <a:contourClr>
              <a:srgbClr val="E4E8E4"/>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effectLst>
                  <a:outerShdw blurRad="38100" dist="38100" dir="2700000" algn="tl">
                    <a:srgbClr val="FFFFFF"/>
                  </a:outerShdw>
                </a:effectLst>
                <a:latin typeface="Arial" panose="020B0604020202020204" pitchFamily="34" charset="0"/>
                <a:ea typeface="楷体_GB2312" pitchFamily="49" charset="-122"/>
              </a:rPr>
              <a:t>用户名</a:t>
            </a:r>
          </a:p>
        </p:txBody>
      </p:sp>
      <p:sp>
        <p:nvSpPr>
          <p:cNvPr id="512021" name="Rectangle 21">
            <a:extLst>
              <a:ext uri="{FF2B5EF4-FFF2-40B4-BE49-F238E27FC236}">
                <a16:creationId xmlns:a16="http://schemas.microsoft.com/office/drawing/2014/main" id="{5C0AF37D-1125-4910-90CE-F603ACB0BA95}"/>
              </a:ext>
            </a:extLst>
          </p:cNvPr>
          <p:cNvSpPr>
            <a:spLocks noChangeArrowheads="1"/>
          </p:cNvSpPr>
          <p:nvPr/>
        </p:nvSpPr>
        <p:spPr bwMode="auto">
          <a:xfrm>
            <a:off x="611188" y="5662613"/>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华文中宋" panose="02010600040101010101" pitchFamily="2" charset="-122"/>
              </a:rPr>
              <a:t>用户标识</a:t>
            </a:r>
          </a:p>
        </p:txBody>
      </p:sp>
      <p:sp>
        <p:nvSpPr>
          <p:cNvPr id="512023" name="Rectangle 23">
            <a:extLst>
              <a:ext uri="{FF2B5EF4-FFF2-40B4-BE49-F238E27FC236}">
                <a16:creationId xmlns:a16="http://schemas.microsoft.com/office/drawing/2014/main" id="{14F8FA28-6536-47C4-8618-1D5A8F3951E2}"/>
              </a:ext>
            </a:extLst>
          </p:cNvPr>
          <p:cNvSpPr>
            <a:spLocks noChangeArrowheads="1"/>
          </p:cNvSpPr>
          <p:nvPr/>
        </p:nvSpPr>
        <p:spPr bwMode="auto">
          <a:xfrm>
            <a:off x="5651500" y="5646738"/>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华文中宋" panose="02010600040101010101" pitchFamily="2" charset="-122"/>
              </a:rPr>
              <a:t>用户鉴别</a:t>
            </a:r>
          </a:p>
        </p:txBody>
      </p:sp>
      <p:sp>
        <p:nvSpPr>
          <p:cNvPr id="512024" name="AutoShape 4">
            <a:extLst>
              <a:ext uri="{FF2B5EF4-FFF2-40B4-BE49-F238E27FC236}">
                <a16:creationId xmlns:a16="http://schemas.microsoft.com/office/drawing/2014/main" id="{E0C6EE59-3326-4D8B-8E26-16F8CBBE9F75}"/>
              </a:ext>
            </a:extLst>
          </p:cNvPr>
          <p:cNvSpPr>
            <a:spLocks noChangeArrowheads="1"/>
          </p:cNvSpPr>
          <p:nvPr/>
        </p:nvSpPr>
        <p:spPr bwMode="auto">
          <a:xfrm>
            <a:off x="2771775" y="2693988"/>
            <a:ext cx="6189663" cy="647700"/>
          </a:xfrm>
          <a:prstGeom prst="roundRect">
            <a:avLst>
              <a:gd name="adj" fmla="val 16667"/>
            </a:avLst>
          </a:prstGeom>
          <a:solidFill>
            <a:schemeClr val="accent2">
              <a:alpha val="29803"/>
            </a:scheme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楷体_GB2312" pitchFamily="49" charset="-122"/>
                <a:ea typeface="楷体_GB2312" pitchFamily="49" charset="-122"/>
              </a:rPr>
              <a:t>（</a:t>
            </a:r>
            <a:r>
              <a:rPr kumimoji="0" lang="en-US" altLang="zh-CN" sz="2800" b="1">
                <a:latin typeface="楷体_GB2312" pitchFamily="49" charset="-122"/>
                <a:ea typeface="楷体_GB2312" pitchFamily="49" charset="-122"/>
              </a:rPr>
              <a:t>2</a:t>
            </a:r>
            <a:r>
              <a:rPr kumimoji="0" lang="zh-CN" altLang="en-US" sz="2800" b="1">
                <a:latin typeface="楷体_GB2312" pitchFamily="49" charset="-122"/>
                <a:ea typeface="楷体_GB2312" pitchFamily="49" charset="-122"/>
              </a:rPr>
              <a:t>）对话式口令；</a:t>
            </a:r>
          </a:p>
        </p:txBody>
      </p:sp>
      <p:sp>
        <p:nvSpPr>
          <p:cNvPr id="512025" name="AutoShape 6">
            <a:extLst>
              <a:ext uri="{FF2B5EF4-FFF2-40B4-BE49-F238E27FC236}">
                <a16:creationId xmlns:a16="http://schemas.microsoft.com/office/drawing/2014/main" id="{C9D69DCA-8D2E-433A-B640-7EB519507338}"/>
              </a:ext>
            </a:extLst>
          </p:cNvPr>
          <p:cNvSpPr>
            <a:spLocks noChangeArrowheads="1"/>
          </p:cNvSpPr>
          <p:nvPr/>
        </p:nvSpPr>
        <p:spPr bwMode="auto">
          <a:xfrm>
            <a:off x="2771775" y="3341688"/>
            <a:ext cx="6189663" cy="647700"/>
          </a:xfrm>
          <a:prstGeom prst="roundRect">
            <a:avLst>
              <a:gd name="adj" fmla="val 16667"/>
            </a:avLst>
          </a:prstGeom>
          <a:solidFill>
            <a:schemeClr val="hlink">
              <a:alpha val="50195"/>
            </a:scheme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楷体_GB2312" pitchFamily="49" charset="-122"/>
                <a:ea typeface="楷体_GB2312" pitchFamily="49" charset="-122"/>
              </a:rPr>
              <a:t>（</a:t>
            </a:r>
            <a:r>
              <a:rPr kumimoji="0" lang="en-US" altLang="zh-CN" sz="2800" b="1">
                <a:latin typeface="楷体_GB2312" pitchFamily="49" charset="-122"/>
                <a:ea typeface="楷体_GB2312" pitchFamily="49" charset="-122"/>
              </a:rPr>
              <a:t>3</a:t>
            </a:r>
            <a:r>
              <a:rPr kumimoji="0" lang="zh-CN" altLang="en-US" sz="2800" b="1">
                <a:latin typeface="楷体_GB2312" pitchFamily="49" charset="-122"/>
                <a:ea typeface="楷体_GB2312" pitchFamily="49" charset="-122"/>
              </a:rPr>
              <a:t>）语音识别会话；</a:t>
            </a:r>
          </a:p>
        </p:txBody>
      </p:sp>
      <p:sp>
        <p:nvSpPr>
          <p:cNvPr id="512026" name="AutoShape 7">
            <a:extLst>
              <a:ext uri="{FF2B5EF4-FFF2-40B4-BE49-F238E27FC236}">
                <a16:creationId xmlns:a16="http://schemas.microsoft.com/office/drawing/2014/main" id="{5D7C5019-837C-4949-B3F9-4945469CA75D}"/>
              </a:ext>
            </a:extLst>
          </p:cNvPr>
          <p:cNvSpPr>
            <a:spLocks noChangeArrowheads="1"/>
          </p:cNvSpPr>
          <p:nvPr/>
        </p:nvSpPr>
        <p:spPr bwMode="auto">
          <a:xfrm>
            <a:off x="2774950" y="2046288"/>
            <a:ext cx="6189663" cy="647700"/>
          </a:xfrm>
          <a:prstGeom prst="roundRect">
            <a:avLst>
              <a:gd name="adj" fmla="val 16667"/>
            </a:avLst>
          </a:prstGeom>
          <a:solidFill>
            <a:schemeClr val="accent1">
              <a:alpha val="30000"/>
            </a:scheme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楷体_GB2312" pitchFamily="49" charset="-122"/>
                <a:ea typeface="楷体_GB2312" pitchFamily="49" charset="-122"/>
              </a:rPr>
              <a:t>（</a:t>
            </a:r>
            <a:r>
              <a:rPr kumimoji="0" lang="en-US" altLang="zh-CN" sz="2800" b="1">
                <a:latin typeface="楷体_GB2312" pitchFamily="49" charset="-122"/>
                <a:ea typeface="楷体_GB2312" pitchFamily="49" charset="-122"/>
              </a:rPr>
              <a:t>1</a:t>
            </a:r>
            <a:r>
              <a:rPr kumimoji="0" lang="zh-CN" altLang="en-US" sz="2800" b="1">
                <a:latin typeface="楷体_GB2312" pitchFamily="49" charset="-122"/>
                <a:ea typeface="楷体_GB2312" pitchFamily="49" charset="-122"/>
              </a:rPr>
              <a:t>）用户口令；</a:t>
            </a:r>
          </a:p>
        </p:txBody>
      </p:sp>
      <p:sp>
        <p:nvSpPr>
          <p:cNvPr id="512029" name="AutoShape 4">
            <a:extLst>
              <a:ext uri="{FF2B5EF4-FFF2-40B4-BE49-F238E27FC236}">
                <a16:creationId xmlns:a16="http://schemas.microsoft.com/office/drawing/2014/main" id="{B0B08F6C-A18D-43CC-88FC-B2AE9CDF4A6D}"/>
              </a:ext>
            </a:extLst>
          </p:cNvPr>
          <p:cNvSpPr>
            <a:spLocks noChangeArrowheads="1"/>
          </p:cNvSpPr>
          <p:nvPr/>
        </p:nvSpPr>
        <p:spPr bwMode="auto">
          <a:xfrm>
            <a:off x="2771775" y="4638675"/>
            <a:ext cx="6189663" cy="647700"/>
          </a:xfrm>
          <a:prstGeom prst="roundRect">
            <a:avLst>
              <a:gd name="adj" fmla="val 16667"/>
            </a:avLst>
          </a:prstGeom>
          <a:solidFill>
            <a:srgbClr val="333399">
              <a:alpha val="29803"/>
            </a:srgb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楷体_GB2312" pitchFamily="49" charset="-122"/>
                <a:ea typeface="楷体_GB2312" pitchFamily="49" charset="-122"/>
              </a:rPr>
              <a:t>（</a:t>
            </a:r>
            <a:r>
              <a:rPr kumimoji="0" lang="en-US" altLang="zh-CN" sz="2800" b="1">
                <a:latin typeface="楷体_GB2312" pitchFamily="49" charset="-122"/>
                <a:ea typeface="楷体_GB2312" pitchFamily="49" charset="-122"/>
              </a:rPr>
              <a:t>5</a:t>
            </a:r>
            <a:r>
              <a:rPr kumimoji="0" lang="zh-CN" altLang="en-US" sz="2800" b="1">
                <a:latin typeface="楷体_GB2312" pitchFamily="49" charset="-122"/>
                <a:ea typeface="楷体_GB2312" pitchFamily="49" charset="-122"/>
              </a:rPr>
              <a:t>）用户身份证明卡片（</a:t>
            </a:r>
            <a:r>
              <a:rPr kumimoji="0" lang="en-US" altLang="zh-CN" sz="2800" b="1">
                <a:latin typeface="楷体_GB2312" pitchFamily="49" charset="-122"/>
                <a:ea typeface="楷体_GB2312" pitchFamily="49" charset="-122"/>
              </a:rPr>
              <a:t>IC</a:t>
            </a:r>
            <a:r>
              <a:rPr kumimoji="0" lang="zh-CN" altLang="en-US" sz="2800" b="1">
                <a:latin typeface="楷体_GB2312" pitchFamily="49" charset="-122"/>
                <a:ea typeface="楷体_GB2312" pitchFamily="49" charset="-122"/>
              </a:rPr>
              <a:t>卡）。</a:t>
            </a:r>
          </a:p>
        </p:txBody>
      </p:sp>
      <p:sp>
        <p:nvSpPr>
          <p:cNvPr id="512030" name="AutoShape 7">
            <a:extLst>
              <a:ext uri="{FF2B5EF4-FFF2-40B4-BE49-F238E27FC236}">
                <a16:creationId xmlns:a16="http://schemas.microsoft.com/office/drawing/2014/main" id="{3CB1880E-FD96-4BA9-9D52-1D6CA6BFBE63}"/>
              </a:ext>
            </a:extLst>
          </p:cNvPr>
          <p:cNvSpPr>
            <a:spLocks noChangeArrowheads="1"/>
          </p:cNvSpPr>
          <p:nvPr/>
        </p:nvSpPr>
        <p:spPr bwMode="auto">
          <a:xfrm>
            <a:off x="2771775" y="3990975"/>
            <a:ext cx="6189663" cy="647700"/>
          </a:xfrm>
          <a:prstGeom prst="roundRect">
            <a:avLst>
              <a:gd name="adj" fmla="val 16667"/>
            </a:avLst>
          </a:prstGeom>
          <a:solidFill>
            <a:srgbClr val="BBE0E3">
              <a:alpha val="29803"/>
            </a:srgb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latin typeface="楷体_GB2312" pitchFamily="49" charset="-122"/>
                <a:ea typeface="楷体_GB2312" pitchFamily="49" charset="-122"/>
              </a:rPr>
              <a:t>（</a:t>
            </a:r>
            <a:r>
              <a:rPr kumimoji="0" lang="en-US" altLang="zh-CN" sz="2800" b="1">
                <a:latin typeface="楷体_GB2312" pitchFamily="49" charset="-122"/>
                <a:ea typeface="楷体_GB2312" pitchFamily="49" charset="-122"/>
              </a:rPr>
              <a:t>4</a:t>
            </a:r>
            <a:r>
              <a:rPr kumimoji="0" lang="zh-CN" altLang="en-US" sz="2800" b="1">
                <a:latin typeface="楷体_GB2312" pitchFamily="49" charset="-122"/>
                <a:ea typeface="楷体_GB2312" pitchFamily="49" charset="-122"/>
              </a:rPr>
              <a:t>）用户的个人特征（指纹、人脸）；</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458"/>
    </mc:Choice>
    <mc:Fallback xmlns="">
      <p:transition spd="slow" advTm="4945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18"/>
                                        </p:tgtEl>
                                        <p:attrNameLst>
                                          <p:attrName>style.visibility</p:attrName>
                                        </p:attrNameLst>
                                      </p:cBhvr>
                                      <p:to>
                                        <p:strVal val="visible"/>
                                      </p:to>
                                    </p:set>
                                    <p:animEffect transition="in" filter="wipe(left)">
                                      <p:cBhvr>
                                        <p:cTn id="7" dur="500"/>
                                        <p:tgtEl>
                                          <p:spTgt spid="512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12021"/>
                                        </p:tgtEl>
                                        <p:attrNameLst>
                                          <p:attrName>style.visibility</p:attrName>
                                        </p:attrNameLst>
                                      </p:cBhvr>
                                      <p:to>
                                        <p:strVal val="visible"/>
                                      </p:to>
                                    </p:set>
                                    <p:animEffect transition="in" filter="fade">
                                      <p:cBhvr>
                                        <p:cTn id="12" dur="500"/>
                                        <p:tgtEl>
                                          <p:spTgt spid="512021"/>
                                        </p:tgtEl>
                                      </p:cBhvr>
                                    </p:animEffect>
                                    <p:anim calcmode="lin" valueType="num">
                                      <p:cBhvr>
                                        <p:cTn id="13" dur="500" fill="hold"/>
                                        <p:tgtEl>
                                          <p:spTgt spid="512021"/>
                                        </p:tgtEl>
                                        <p:attrNameLst>
                                          <p:attrName>ppt_x</p:attrName>
                                        </p:attrNameLst>
                                      </p:cBhvr>
                                      <p:tavLst>
                                        <p:tav tm="0">
                                          <p:val>
                                            <p:strVal val="#ppt_x"/>
                                          </p:val>
                                        </p:tav>
                                        <p:tav tm="100000">
                                          <p:val>
                                            <p:strVal val="#ppt_x"/>
                                          </p:val>
                                        </p:tav>
                                      </p:tavLst>
                                    </p:anim>
                                    <p:anim calcmode="lin" valueType="num">
                                      <p:cBhvr>
                                        <p:cTn id="14" dur="500" fill="hold"/>
                                        <p:tgtEl>
                                          <p:spTgt spid="512021"/>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500"/>
                            </p:stCondLst>
                            <p:childTnLst>
                              <p:par>
                                <p:cTn id="16" presetID="30" presetClass="entr" presetSubtype="0" fill="hold" grpId="0" nodeType="afterEffect">
                                  <p:stCondLst>
                                    <p:cond delay="0"/>
                                  </p:stCondLst>
                                  <p:childTnLst>
                                    <p:set>
                                      <p:cBhvr>
                                        <p:cTn id="17" dur="1" fill="hold">
                                          <p:stCondLst>
                                            <p:cond delay="0"/>
                                          </p:stCondLst>
                                        </p:cTn>
                                        <p:tgtEl>
                                          <p:spTgt spid="512019"/>
                                        </p:tgtEl>
                                        <p:attrNameLst>
                                          <p:attrName>style.visibility</p:attrName>
                                        </p:attrNameLst>
                                      </p:cBhvr>
                                      <p:to>
                                        <p:strVal val="visible"/>
                                      </p:to>
                                    </p:set>
                                    <p:animEffect transition="in" filter="fade">
                                      <p:cBhvr>
                                        <p:cTn id="18" dur="800" decel="100000"/>
                                        <p:tgtEl>
                                          <p:spTgt spid="512019"/>
                                        </p:tgtEl>
                                      </p:cBhvr>
                                    </p:animEffect>
                                    <p:anim calcmode="lin" valueType="num">
                                      <p:cBhvr>
                                        <p:cTn id="19" dur="800" decel="100000" fill="hold"/>
                                        <p:tgtEl>
                                          <p:spTgt spid="512019"/>
                                        </p:tgtEl>
                                        <p:attrNameLst>
                                          <p:attrName>style.rotation</p:attrName>
                                        </p:attrNameLst>
                                      </p:cBhvr>
                                      <p:tavLst>
                                        <p:tav tm="0">
                                          <p:val>
                                            <p:fltVal val="-90"/>
                                          </p:val>
                                        </p:tav>
                                        <p:tav tm="100000">
                                          <p:val>
                                            <p:fltVal val="0"/>
                                          </p:val>
                                        </p:tav>
                                      </p:tavLst>
                                    </p:anim>
                                    <p:anim calcmode="lin" valueType="num">
                                      <p:cBhvr>
                                        <p:cTn id="20" dur="800" decel="100000" fill="hold"/>
                                        <p:tgtEl>
                                          <p:spTgt spid="512019"/>
                                        </p:tgtEl>
                                        <p:attrNameLst>
                                          <p:attrName>ppt_x</p:attrName>
                                        </p:attrNameLst>
                                      </p:cBhvr>
                                      <p:tavLst>
                                        <p:tav tm="0">
                                          <p:val>
                                            <p:strVal val="#ppt_x+0.4"/>
                                          </p:val>
                                        </p:tav>
                                        <p:tav tm="100000">
                                          <p:val>
                                            <p:strVal val="#ppt_x-0.05"/>
                                          </p:val>
                                        </p:tav>
                                      </p:tavLst>
                                    </p:anim>
                                    <p:anim calcmode="lin" valueType="num">
                                      <p:cBhvr>
                                        <p:cTn id="21" dur="800" decel="100000" fill="hold"/>
                                        <p:tgtEl>
                                          <p:spTgt spid="512019"/>
                                        </p:tgtEl>
                                        <p:attrNameLst>
                                          <p:attrName>ppt_y</p:attrName>
                                        </p:attrNameLst>
                                      </p:cBhvr>
                                      <p:tavLst>
                                        <p:tav tm="0">
                                          <p:val>
                                            <p:strVal val="#ppt_y-0.4"/>
                                          </p:val>
                                        </p:tav>
                                        <p:tav tm="100000">
                                          <p:val>
                                            <p:strVal val="#ppt_y+0.1"/>
                                          </p:val>
                                        </p:tav>
                                      </p:tavLst>
                                    </p:anim>
                                    <p:anim calcmode="lin" valueType="num">
                                      <p:cBhvr>
                                        <p:cTn id="22" dur="200" accel="100000" fill="hold">
                                          <p:stCondLst>
                                            <p:cond delay="800"/>
                                          </p:stCondLst>
                                        </p:cTn>
                                        <p:tgtEl>
                                          <p:spTgt spid="512019"/>
                                        </p:tgtEl>
                                        <p:attrNameLst>
                                          <p:attrName>ppt_x</p:attrName>
                                        </p:attrNameLst>
                                      </p:cBhvr>
                                      <p:tavLst>
                                        <p:tav tm="0">
                                          <p:val>
                                            <p:strVal val="#ppt_x-0.05"/>
                                          </p:val>
                                        </p:tav>
                                        <p:tav tm="100000">
                                          <p:val>
                                            <p:strVal val="#ppt_x"/>
                                          </p:val>
                                        </p:tav>
                                      </p:tavLst>
                                    </p:anim>
                                    <p:anim calcmode="lin" valueType="num">
                                      <p:cBhvr>
                                        <p:cTn id="23" dur="200" accel="100000" fill="hold">
                                          <p:stCondLst>
                                            <p:cond delay="800"/>
                                          </p:stCondLst>
                                        </p:cTn>
                                        <p:tgtEl>
                                          <p:spTgt spid="512019"/>
                                        </p:tgtEl>
                                        <p:attrNameLst>
                                          <p:attrName>ppt_y</p:attrName>
                                        </p:attrNameLst>
                                      </p:cBhvr>
                                      <p:tavLst>
                                        <p:tav tm="0">
                                          <p:val>
                                            <p:strVal val="#ppt_y+0.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12023"/>
                                        </p:tgtEl>
                                        <p:attrNameLst>
                                          <p:attrName>style.visibility</p:attrName>
                                        </p:attrNameLst>
                                      </p:cBhvr>
                                      <p:to>
                                        <p:strVal val="visible"/>
                                      </p:to>
                                    </p:set>
                                    <p:animEffect transition="in" filter="fade">
                                      <p:cBhvr>
                                        <p:cTn id="28" dur="500"/>
                                        <p:tgtEl>
                                          <p:spTgt spid="512023"/>
                                        </p:tgtEl>
                                      </p:cBhvr>
                                    </p:animEffect>
                                    <p:anim calcmode="lin" valueType="num">
                                      <p:cBhvr>
                                        <p:cTn id="29" dur="500" fill="hold"/>
                                        <p:tgtEl>
                                          <p:spTgt spid="512023"/>
                                        </p:tgtEl>
                                        <p:attrNameLst>
                                          <p:attrName>ppt_x</p:attrName>
                                        </p:attrNameLst>
                                      </p:cBhvr>
                                      <p:tavLst>
                                        <p:tav tm="0">
                                          <p:val>
                                            <p:strVal val="#ppt_x"/>
                                          </p:val>
                                        </p:tav>
                                        <p:tav tm="100000">
                                          <p:val>
                                            <p:strVal val="#ppt_x"/>
                                          </p:val>
                                        </p:tav>
                                      </p:tavLst>
                                    </p:anim>
                                    <p:anim calcmode="lin" valueType="num">
                                      <p:cBhvr>
                                        <p:cTn id="30" dur="500" fill="hold"/>
                                        <p:tgtEl>
                                          <p:spTgt spid="512023"/>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512026"/>
                                        </p:tgtEl>
                                        <p:attrNameLst>
                                          <p:attrName>style.visibility</p:attrName>
                                        </p:attrNameLst>
                                      </p:cBhvr>
                                      <p:to>
                                        <p:strVal val="visible"/>
                                      </p:to>
                                    </p:set>
                                    <p:animEffect transition="in" filter="wipe(left)">
                                      <p:cBhvr>
                                        <p:cTn id="34" dur="500"/>
                                        <p:tgtEl>
                                          <p:spTgt spid="512026"/>
                                        </p:tgtEl>
                                      </p:cBhvr>
                                    </p:animEffect>
                                  </p:childTnLst>
                                </p:cTn>
                              </p:par>
                            </p:childTnLst>
                          </p:cTn>
                        </p:par>
                        <p:par>
                          <p:cTn id="35" fill="hold" nodeType="afterGroup">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512024"/>
                                        </p:tgtEl>
                                        <p:attrNameLst>
                                          <p:attrName>style.visibility</p:attrName>
                                        </p:attrNameLst>
                                      </p:cBhvr>
                                      <p:to>
                                        <p:strVal val="visible"/>
                                      </p:to>
                                    </p:set>
                                    <p:animEffect transition="in" filter="wipe(left)">
                                      <p:cBhvr>
                                        <p:cTn id="38" dur="500"/>
                                        <p:tgtEl>
                                          <p:spTgt spid="512024"/>
                                        </p:tgtEl>
                                      </p:cBhvr>
                                    </p:animEffect>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512025"/>
                                        </p:tgtEl>
                                        <p:attrNameLst>
                                          <p:attrName>style.visibility</p:attrName>
                                        </p:attrNameLst>
                                      </p:cBhvr>
                                      <p:to>
                                        <p:strVal val="visible"/>
                                      </p:to>
                                    </p:set>
                                    <p:animEffect transition="in" filter="wipe(left)">
                                      <p:cBhvr>
                                        <p:cTn id="42" dur="500"/>
                                        <p:tgtEl>
                                          <p:spTgt spid="512025"/>
                                        </p:tgtEl>
                                      </p:cBhvr>
                                    </p:animEffect>
                                  </p:childTnLst>
                                </p:cTn>
                              </p:par>
                            </p:childTnLst>
                          </p:cTn>
                        </p:par>
                        <p:par>
                          <p:cTn id="43" fill="hold" nodeType="afterGroup">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512030"/>
                                        </p:tgtEl>
                                        <p:attrNameLst>
                                          <p:attrName>style.visibility</p:attrName>
                                        </p:attrNameLst>
                                      </p:cBhvr>
                                      <p:to>
                                        <p:strVal val="visible"/>
                                      </p:to>
                                    </p:set>
                                    <p:animEffect transition="in" filter="wipe(left)">
                                      <p:cBhvr>
                                        <p:cTn id="46" dur="500"/>
                                        <p:tgtEl>
                                          <p:spTgt spid="512030"/>
                                        </p:tgtEl>
                                      </p:cBhvr>
                                    </p:animEffect>
                                  </p:childTnLst>
                                </p:cTn>
                              </p:par>
                            </p:childTnLst>
                          </p:cTn>
                        </p:par>
                        <p:par>
                          <p:cTn id="47" fill="hold" nodeType="afterGroup">
                            <p:stCondLst>
                              <p:cond delay="2500"/>
                            </p:stCondLst>
                            <p:childTnLst>
                              <p:par>
                                <p:cTn id="48" presetID="22" presetClass="entr" presetSubtype="8" fill="hold" grpId="0" nodeType="afterEffect">
                                  <p:stCondLst>
                                    <p:cond delay="0"/>
                                  </p:stCondLst>
                                  <p:childTnLst>
                                    <p:set>
                                      <p:cBhvr>
                                        <p:cTn id="49" dur="1" fill="hold">
                                          <p:stCondLst>
                                            <p:cond delay="0"/>
                                          </p:stCondLst>
                                        </p:cTn>
                                        <p:tgtEl>
                                          <p:spTgt spid="512029"/>
                                        </p:tgtEl>
                                        <p:attrNameLst>
                                          <p:attrName>style.visibility</p:attrName>
                                        </p:attrNameLst>
                                      </p:cBhvr>
                                      <p:to>
                                        <p:strVal val="visible"/>
                                      </p:to>
                                    </p:set>
                                    <p:animEffect transition="in" filter="wipe(left)">
                                      <p:cBhvr>
                                        <p:cTn id="50" dur="500"/>
                                        <p:tgtEl>
                                          <p:spTgt spid="512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18" grpId="0"/>
      <p:bldP spid="512019" grpId="0" animBg="1"/>
      <p:bldP spid="512021" grpId="0"/>
      <p:bldP spid="512023" grpId="0"/>
      <p:bldP spid="512024" grpId="0" animBg="1"/>
      <p:bldP spid="512025" grpId="0" animBg="1"/>
      <p:bldP spid="512026" grpId="0" animBg="1"/>
      <p:bldP spid="512029" grpId="0" animBg="1"/>
      <p:bldP spid="51203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3055" name="Group 31">
            <a:extLst>
              <a:ext uri="{FF2B5EF4-FFF2-40B4-BE49-F238E27FC236}">
                <a16:creationId xmlns:a16="http://schemas.microsoft.com/office/drawing/2014/main" id="{4568EE9F-496A-45ED-A82C-298DA6FA6F61}"/>
              </a:ext>
            </a:extLst>
          </p:cNvPr>
          <p:cNvGrpSpPr>
            <a:grpSpLocks/>
          </p:cNvGrpSpPr>
          <p:nvPr/>
        </p:nvGrpSpPr>
        <p:grpSpPr bwMode="auto">
          <a:xfrm>
            <a:off x="357188" y="4383088"/>
            <a:ext cx="8429625" cy="2214562"/>
            <a:chOff x="225" y="2761"/>
            <a:chExt cx="5310" cy="1395"/>
          </a:xfrm>
        </p:grpSpPr>
        <p:sp>
          <p:nvSpPr>
            <p:cNvPr id="513048" name="타원 14">
              <a:extLst>
                <a:ext uri="{FF2B5EF4-FFF2-40B4-BE49-F238E27FC236}">
                  <a16:creationId xmlns:a16="http://schemas.microsoft.com/office/drawing/2014/main" id="{293DB03A-0B0F-4645-BF1B-1E5D99AA1131}"/>
                </a:ext>
              </a:extLst>
            </p:cNvPr>
            <p:cNvSpPr>
              <a:spLocks noChangeArrowheads="1"/>
            </p:cNvSpPr>
            <p:nvPr/>
          </p:nvSpPr>
          <p:spPr bwMode="auto">
            <a:xfrm>
              <a:off x="225" y="3616"/>
              <a:ext cx="5310" cy="540"/>
            </a:xfrm>
            <a:prstGeom prst="ellipse">
              <a:avLst/>
            </a:prstGeom>
            <a:gradFill rotWithShape="1">
              <a:gsLst>
                <a:gs pos="0">
                  <a:srgbClr val="000000"/>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ko-KR" altLang="zh-CN" sz="1800">
                <a:solidFill>
                  <a:srgbClr val="FFFFFF"/>
                </a:solidFill>
                <a:latin typeface="Gulim" panose="020B0503020000020004" pitchFamily="34" charset="-127"/>
                <a:ea typeface="Gulim" panose="020B0503020000020004" pitchFamily="34" charset="-127"/>
              </a:endParaRPr>
            </a:p>
          </p:txBody>
        </p:sp>
        <p:grpSp>
          <p:nvGrpSpPr>
            <p:cNvPr id="513049" name="Group 4">
              <a:extLst>
                <a:ext uri="{FF2B5EF4-FFF2-40B4-BE49-F238E27FC236}">
                  <a16:creationId xmlns:a16="http://schemas.microsoft.com/office/drawing/2014/main" id="{94B58108-96ED-4F50-9775-EB3DC8F8FA3B}"/>
                </a:ext>
              </a:extLst>
            </p:cNvPr>
            <p:cNvGrpSpPr>
              <a:grpSpLocks/>
            </p:cNvGrpSpPr>
            <p:nvPr/>
          </p:nvGrpSpPr>
          <p:grpSpPr bwMode="auto">
            <a:xfrm>
              <a:off x="270" y="2761"/>
              <a:ext cx="5220" cy="1170"/>
              <a:chOff x="0" y="0"/>
              <a:chExt cx="8286808" cy="1857388"/>
            </a:xfrm>
          </p:grpSpPr>
          <p:sp>
            <p:nvSpPr>
              <p:cNvPr id="513050" name="타원 8">
                <a:extLst>
                  <a:ext uri="{FF2B5EF4-FFF2-40B4-BE49-F238E27FC236}">
                    <a16:creationId xmlns:a16="http://schemas.microsoft.com/office/drawing/2014/main" id="{DFF9572B-A257-4FE1-B4CE-151818EE3D5A}"/>
                  </a:ext>
                </a:extLst>
              </p:cNvPr>
              <p:cNvSpPr>
                <a:spLocks noChangeArrowheads="1"/>
              </p:cNvSpPr>
              <p:nvPr/>
            </p:nvSpPr>
            <p:spPr bwMode="auto">
              <a:xfrm>
                <a:off x="0" y="0"/>
                <a:ext cx="8286808" cy="1857388"/>
              </a:xfrm>
              <a:prstGeom prst="ellipse">
                <a:avLst/>
              </a:prstGeom>
              <a:gradFill rotWithShape="0">
                <a:gsLst>
                  <a:gs pos="0">
                    <a:srgbClr val="CCCCCC"/>
                  </a:gs>
                  <a:gs pos="100000">
                    <a:srgbClr val="BFBFBF"/>
                  </a:gs>
                </a:gsLst>
                <a:lin ang="54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ko-KR" altLang="zh-CN" sz="1800">
                  <a:solidFill>
                    <a:srgbClr val="FFFFFF"/>
                  </a:solidFill>
                  <a:latin typeface="Gulim" panose="020B0503020000020004" pitchFamily="34" charset="-127"/>
                  <a:ea typeface="Gulim" panose="020B0503020000020004" pitchFamily="34" charset="-127"/>
                </a:endParaRPr>
              </a:p>
            </p:txBody>
          </p:sp>
          <p:sp>
            <p:nvSpPr>
              <p:cNvPr id="513051" name="타원 9">
                <a:extLst>
                  <a:ext uri="{FF2B5EF4-FFF2-40B4-BE49-F238E27FC236}">
                    <a16:creationId xmlns:a16="http://schemas.microsoft.com/office/drawing/2014/main" id="{165D5095-A201-4FF0-B2E6-DD6CEF094405}"/>
                  </a:ext>
                </a:extLst>
              </p:cNvPr>
              <p:cNvSpPr>
                <a:spLocks noChangeArrowheads="1"/>
              </p:cNvSpPr>
              <p:nvPr/>
            </p:nvSpPr>
            <p:spPr bwMode="auto">
              <a:xfrm>
                <a:off x="571504" y="71439"/>
                <a:ext cx="7143800" cy="1630373"/>
              </a:xfrm>
              <a:prstGeom prst="ellipse">
                <a:avLst/>
              </a:prstGeom>
              <a:gradFill rotWithShape="0">
                <a:gsLst>
                  <a:gs pos="0">
                    <a:srgbClr val="FFFFFF"/>
                  </a:gs>
                  <a:gs pos="100000">
                    <a:srgbClr val="F2F2F2"/>
                  </a:gs>
                </a:gsLst>
                <a:lin ang="54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ko-KR" altLang="zh-CN" sz="1800">
                  <a:solidFill>
                    <a:srgbClr val="FFFFFF"/>
                  </a:solidFill>
                  <a:latin typeface="Gulim" panose="020B0503020000020004" pitchFamily="34" charset="-127"/>
                  <a:ea typeface="Gulim" panose="020B0503020000020004" pitchFamily="34" charset="-127"/>
                </a:endParaRPr>
              </a:p>
            </p:txBody>
          </p:sp>
        </p:grpSp>
        <p:sp>
          <p:nvSpPr>
            <p:cNvPr id="513052" name="Rectangle 28">
              <a:extLst>
                <a:ext uri="{FF2B5EF4-FFF2-40B4-BE49-F238E27FC236}">
                  <a16:creationId xmlns:a16="http://schemas.microsoft.com/office/drawing/2014/main" id="{27AFD37C-B31A-4EE8-B90E-45C27D174CB5}"/>
                </a:ext>
              </a:extLst>
            </p:cNvPr>
            <p:cNvSpPr>
              <a:spLocks noChangeArrowheads="1"/>
            </p:cNvSpPr>
            <p:nvPr/>
          </p:nvSpPr>
          <p:spPr bwMode="auto">
            <a:xfrm>
              <a:off x="2472" y="3344"/>
              <a:ext cx="85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CC"/>
                  </a:solidFill>
                  <a:effectLst>
                    <a:outerShdw blurRad="38100" dist="38100" dir="2700000" algn="tl">
                      <a:srgbClr val="C0C0C0"/>
                    </a:outerShdw>
                  </a:effectLst>
                  <a:ea typeface="华文中宋" panose="02010600040101010101" pitchFamily="2" charset="-122"/>
                </a:rPr>
                <a:t>权  限</a:t>
              </a:r>
            </a:p>
          </p:txBody>
        </p:sp>
      </p:grpSp>
      <p:sp>
        <p:nvSpPr>
          <p:cNvPr id="513026" name="Rectangle 2">
            <a:extLst>
              <a:ext uri="{FF2B5EF4-FFF2-40B4-BE49-F238E27FC236}">
                <a16:creationId xmlns:a16="http://schemas.microsoft.com/office/drawing/2014/main" id="{9A07D8CC-7F5F-4CAA-B005-9A87C2F5DE9A}"/>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3027" name="Rectangle 3">
            <a:extLst>
              <a:ext uri="{FF2B5EF4-FFF2-40B4-BE49-F238E27FC236}">
                <a16:creationId xmlns:a16="http://schemas.microsoft.com/office/drawing/2014/main" id="{D1C87942-13E3-45D3-A02E-254191CC7CD9}"/>
              </a:ext>
            </a:extLst>
          </p:cNvPr>
          <p:cNvSpPr>
            <a:spLocks noChangeArrowheads="1"/>
          </p:cNvSpPr>
          <p:nvPr/>
        </p:nvSpPr>
        <p:spPr bwMode="auto">
          <a:xfrm>
            <a:off x="539750" y="1196975"/>
            <a:ext cx="5040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、存取控制</a:t>
            </a:r>
          </a:p>
        </p:txBody>
      </p:sp>
      <p:sp>
        <p:nvSpPr>
          <p:cNvPr id="490570" name="AutoShape 74">
            <a:extLst>
              <a:ext uri="{FF2B5EF4-FFF2-40B4-BE49-F238E27FC236}">
                <a16:creationId xmlns:a16="http://schemas.microsoft.com/office/drawing/2014/main" id="{8C1D2179-4DF7-4C4B-B862-7DF597D28A08}"/>
              </a:ext>
            </a:extLst>
          </p:cNvPr>
          <p:cNvSpPr>
            <a:spLocks noChangeArrowheads="1"/>
          </p:cNvSpPr>
          <p:nvPr/>
        </p:nvSpPr>
        <p:spPr bwMode="gray">
          <a:xfrm>
            <a:off x="684213" y="2636838"/>
            <a:ext cx="3927475" cy="2592387"/>
          </a:xfrm>
          <a:prstGeom prst="roundRect">
            <a:avLst>
              <a:gd name="adj" fmla="val 10347"/>
            </a:avLst>
          </a:prstGeom>
          <a:gradFill rotWithShape="1">
            <a:gsLst>
              <a:gs pos="0">
                <a:srgbClr val="CCECFF"/>
              </a:gs>
              <a:gs pos="100000">
                <a:srgbClr val="CCECFF">
                  <a:gamma/>
                  <a:tint val="0"/>
                  <a:invGamma/>
                </a:srgbClr>
              </a:gs>
            </a:gsLst>
            <a:lin ang="18900000" scaled="1"/>
          </a:gradFill>
          <a:ln w="50800">
            <a:solidFill>
              <a:srgbClr val="7099E2"/>
            </a:solidFill>
            <a:round/>
            <a:headEnd/>
            <a:tailEnd/>
          </a:ln>
          <a:effectLst>
            <a:outerShdw dist="107763" dir="2700000" algn="ctr" rotWithShape="0">
              <a:srgbClr val="C0C0C0">
                <a:alpha val="50000"/>
              </a:srgbClr>
            </a:outerShdw>
          </a:effectLst>
        </p:spPr>
        <p:txBody>
          <a:bodyPr wrap="none" anchor="ctr"/>
          <a:lstStyle/>
          <a:p>
            <a:pPr>
              <a:defRPr/>
            </a:pPr>
            <a:endParaRPr lang="zh-CN" altLang="en-US">
              <a:ea typeface="宋体" pitchFamily="2" charset="-122"/>
            </a:endParaRPr>
          </a:p>
        </p:txBody>
      </p:sp>
      <p:grpSp>
        <p:nvGrpSpPr>
          <p:cNvPr id="513038" name="Group 75">
            <a:extLst>
              <a:ext uri="{FF2B5EF4-FFF2-40B4-BE49-F238E27FC236}">
                <a16:creationId xmlns:a16="http://schemas.microsoft.com/office/drawing/2014/main" id="{4A2A21CE-DDDC-468B-9539-F2E99B5F8A11}"/>
              </a:ext>
            </a:extLst>
          </p:cNvPr>
          <p:cNvGrpSpPr>
            <a:grpSpLocks/>
          </p:cNvGrpSpPr>
          <p:nvPr/>
        </p:nvGrpSpPr>
        <p:grpSpPr bwMode="auto">
          <a:xfrm>
            <a:off x="3849688" y="1962150"/>
            <a:ext cx="790575" cy="1976438"/>
            <a:chOff x="2304" y="1344"/>
            <a:chExt cx="498" cy="1245"/>
          </a:xfrm>
        </p:grpSpPr>
        <p:sp>
          <p:nvSpPr>
            <p:cNvPr id="490572" name="Freeform 76">
              <a:extLst>
                <a:ext uri="{FF2B5EF4-FFF2-40B4-BE49-F238E27FC236}">
                  <a16:creationId xmlns:a16="http://schemas.microsoft.com/office/drawing/2014/main" id="{C9607C8F-979F-44EC-BA39-BD32B842933A}"/>
                </a:ext>
              </a:extLst>
            </p:cNvPr>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rgbClr val="7099E2"/>
            </a:solidFill>
            <a:ln w="0">
              <a:noFill/>
              <a:prstDash val="solid"/>
              <a:round/>
              <a:headEnd/>
              <a:tailEnd/>
            </a:ln>
            <a:effectLst>
              <a:outerShdw dist="91581" dir="3378596" algn="ctr" rotWithShape="0">
                <a:srgbClr val="C0C0C0">
                  <a:alpha val="50000"/>
                </a:srgbClr>
              </a:outerShdw>
            </a:effectLst>
          </p:spPr>
          <p:txBody>
            <a:bodyPr/>
            <a:lstStyle/>
            <a:p>
              <a:pPr>
                <a:defRPr/>
              </a:pPr>
              <a:endParaRPr lang="zh-CN" altLang="en-US">
                <a:ea typeface="宋体" pitchFamily="2" charset="-122"/>
              </a:endParaRPr>
            </a:p>
          </p:txBody>
        </p:sp>
        <p:sp>
          <p:nvSpPr>
            <p:cNvPr id="490573" name="Freeform 77">
              <a:extLst>
                <a:ext uri="{FF2B5EF4-FFF2-40B4-BE49-F238E27FC236}">
                  <a16:creationId xmlns:a16="http://schemas.microsoft.com/office/drawing/2014/main" id="{976A8DC1-39A8-4093-A838-F52C5A8B212F}"/>
                </a:ext>
              </a:extLst>
            </p:cNvPr>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rgbClr val="7099E2"/>
            </a:solidFill>
            <a:ln w="0">
              <a:noFill/>
              <a:prstDash val="solid"/>
              <a:round/>
              <a:headEnd/>
              <a:tailEnd/>
            </a:ln>
            <a:effectLst>
              <a:outerShdw dist="91581" dir="3378596" algn="ctr" rotWithShape="0">
                <a:srgbClr val="C0C0C0">
                  <a:alpha val="50000"/>
                </a:srgbClr>
              </a:outerShdw>
            </a:effectLst>
          </p:spPr>
          <p:txBody>
            <a:bodyPr/>
            <a:lstStyle/>
            <a:p>
              <a:pPr>
                <a:defRPr/>
              </a:pPr>
              <a:endParaRPr lang="zh-CN" altLang="en-US">
                <a:ea typeface="宋体" pitchFamily="2" charset="-122"/>
              </a:endParaRPr>
            </a:p>
          </p:txBody>
        </p:sp>
      </p:grpSp>
      <p:sp>
        <p:nvSpPr>
          <p:cNvPr id="513041" name="Text Box 78">
            <a:extLst>
              <a:ext uri="{FF2B5EF4-FFF2-40B4-BE49-F238E27FC236}">
                <a16:creationId xmlns:a16="http://schemas.microsoft.com/office/drawing/2014/main" id="{6966D931-2DDC-4B73-BE04-56FBE91B5919}"/>
              </a:ext>
            </a:extLst>
          </p:cNvPr>
          <p:cNvSpPr txBox="1">
            <a:spLocks noChangeArrowheads="1"/>
          </p:cNvSpPr>
          <p:nvPr/>
        </p:nvSpPr>
        <p:spPr bwMode="gray">
          <a:xfrm>
            <a:off x="755650" y="2708275"/>
            <a:ext cx="3816350" cy="243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连接登录数据库</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建立撤销数据库用户</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授予回收所有用户的权限</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建立任何数据库的别名</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用</a:t>
            </a:r>
            <a:r>
              <a:rPr kumimoji="0" lang="en-US" altLang="zh-CN"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SQL</a:t>
            </a: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语句访问所有表数据</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跟踪审计所有数据库及表</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备份和恢复</a:t>
            </a:r>
          </a:p>
        </p:txBody>
      </p:sp>
      <p:sp>
        <p:nvSpPr>
          <p:cNvPr id="490576" name="AutoShape 80">
            <a:extLst>
              <a:ext uri="{FF2B5EF4-FFF2-40B4-BE49-F238E27FC236}">
                <a16:creationId xmlns:a16="http://schemas.microsoft.com/office/drawing/2014/main" id="{C1DA31C8-3E13-42E3-986C-C3A22ED8BBD5}"/>
              </a:ext>
            </a:extLst>
          </p:cNvPr>
          <p:cNvSpPr>
            <a:spLocks noChangeArrowheads="1"/>
          </p:cNvSpPr>
          <p:nvPr/>
        </p:nvSpPr>
        <p:spPr bwMode="gray">
          <a:xfrm>
            <a:off x="4786313" y="2636838"/>
            <a:ext cx="3746500" cy="2592387"/>
          </a:xfrm>
          <a:prstGeom prst="roundRect">
            <a:avLst>
              <a:gd name="adj" fmla="val 10347"/>
            </a:avLst>
          </a:prstGeom>
          <a:gradFill rotWithShape="1">
            <a:gsLst>
              <a:gs pos="0">
                <a:srgbClr val="D8F4BE">
                  <a:gamma/>
                  <a:tint val="0"/>
                  <a:invGamma/>
                </a:srgbClr>
              </a:gs>
              <a:gs pos="100000">
                <a:srgbClr val="D8F4BE"/>
              </a:gs>
            </a:gsLst>
            <a:lin ang="2700000" scaled="1"/>
          </a:gradFill>
          <a:ln w="50800">
            <a:solidFill>
              <a:srgbClr val="44988C"/>
            </a:solidFill>
            <a:round/>
            <a:headEnd/>
            <a:tailEnd/>
          </a:ln>
          <a:effectLst>
            <a:outerShdw dist="107763" dir="2700000" algn="ctr" rotWithShape="0">
              <a:srgbClr val="C0C0C0">
                <a:alpha val="50000"/>
              </a:srgbClr>
            </a:outerShdw>
          </a:effectLst>
        </p:spPr>
        <p:txBody>
          <a:bodyPr wrap="none" anchor="ctr"/>
          <a:lstStyle/>
          <a:p>
            <a:pPr>
              <a:defRPr/>
            </a:pPr>
            <a:endParaRPr lang="zh-CN" altLang="en-US">
              <a:ea typeface="宋体" pitchFamily="2" charset="-122"/>
            </a:endParaRPr>
          </a:p>
        </p:txBody>
      </p:sp>
      <p:sp>
        <p:nvSpPr>
          <p:cNvPr id="513044" name="Text Box 81">
            <a:extLst>
              <a:ext uri="{FF2B5EF4-FFF2-40B4-BE49-F238E27FC236}">
                <a16:creationId xmlns:a16="http://schemas.microsoft.com/office/drawing/2014/main" id="{8FB06907-46F6-408B-A0A0-1CEC9AB178E3}"/>
              </a:ext>
            </a:extLst>
          </p:cNvPr>
          <p:cNvSpPr txBox="1">
            <a:spLocks noChangeArrowheads="1"/>
          </p:cNvSpPr>
          <p:nvPr/>
        </p:nvSpPr>
        <p:spPr bwMode="gray">
          <a:xfrm>
            <a:off x="5508625" y="2684463"/>
            <a:ext cx="2951163" cy="2436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连接登录自己创建的数据库</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建立数据库表、索引、聚簇</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授予回收自己数据库表的权限</a:t>
            </a:r>
          </a:p>
          <a:p>
            <a:pPr eaLnBrk="0" hangingPunct="0">
              <a:lnSpc>
                <a:spcPct val="110000"/>
              </a:lnSpc>
              <a:buClr>
                <a:srgbClr val="7800A2"/>
              </a:buClr>
              <a:buFont typeface="Wingdings" panose="05000000000000000000" pitchFamily="2" charset="2"/>
              <a:buChar char="Ø"/>
            </a:pPr>
            <a:r>
              <a:rPr kumimoji="0" lang="zh-CN" altLang="en-US" sz="2000" b="1">
                <a:solidFill>
                  <a:srgbClr val="000000"/>
                </a:solidFill>
                <a:effectLst>
                  <a:outerShdw blurRad="38100" dist="38100" dir="2700000" algn="tl">
                    <a:srgbClr val="C0C0C0"/>
                  </a:outerShdw>
                </a:effectLst>
                <a:latin typeface="Arial" panose="020B0604020202020204" pitchFamily="34" charset="0"/>
                <a:ea typeface="楷体_GB2312" pitchFamily="49" charset="-122"/>
              </a:rPr>
              <a:t>跟踪审计自己数据库</a:t>
            </a:r>
          </a:p>
        </p:txBody>
      </p:sp>
      <p:grpSp>
        <p:nvGrpSpPr>
          <p:cNvPr id="513045" name="Group 82">
            <a:extLst>
              <a:ext uri="{FF2B5EF4-FFF2-40B4-BE49-F238E27FC236}">
                <a16:creationId xmlns:a16="http://schemas.microsoft.com/office/drawing/2014/main" id="{152E7914-5480-4FE6-9BFF-06187A6DE798}"/>
              </a:ext>
            </a:extLst>
          </p:cNvPr>
          <p:cNvGrpSpPr>
            <a:grpSpLocks/>
          </p:cNvGrpSpPr>
          <p:nvPr/>
        </p:nvGrpSpPr>
        <p:grpSpPr bwMode="auto">
          <a:xfrm>
            <a:off x="4764088" y="1962150"/>
            <a:ext cx="790575" cy="1976438"/>
            <a:chOff x="2880" y="1344"/>
            <a:chExt cx="498" cy="1245"/>
          </a:xfrm>
        </p:grpSpPr>
        <p:sp>
          <p:nvSpPr>
            <p:cNvPr id="490579" name="Freeform 83">
              <a:extLst>
                <a:ext uri="{FF2B5EF4-FFF2-40B4-BE49-F238E27FC236}">
                  <a16:creationId xmlns:a16="http://schemas.microsoft.com/office/drawing/2014/main" id="{4592F480-1EA1-4FC8-95E7-8DD385F65F8A}"/>
                </a:ext>
              </a:extLst>
            </p:cNvPr>
            <p:cNvSpPr>
              <a:spLocks/>
            </p:cNvSpPr>
            <p:nvPr/>
          </p:nvSpPr>
          <p:spPr bwMode="gray">
            <a:xfrm>
              <a:off x="3001"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rgbClr val="44988C"/>
            </a:solidFill>
            <a:ln w="0">
              <a:noFill/>
              <a:prstDash val="solid"/>
              <a:round/>
              <a:headEnd/>
              <a:tailEnd/>
            </a:ln>
            <a:effectLst>
              <a:outerShdw dist="91581" dir="3378596" algn="ctr" rotWithShape="0">
                <a:srgbClr val="C0C0C0">
                  <a:alpha val="50000"/>
                </a:srgbClr>
              </a:outerShdw>
            </a:effectLst>
          </p:spPr>
          <p:txBody>
            <a:bodyPr/>
            <a:lstStyle/>
            <a:p>
              <a:pPr>
                <a:defRPr/>
              </a:pPr>
              <a:endParaRPr lang="zh-CN" altLang="en-US">
                <a:ea typeface="宋体" pitchFamily="2" charset="-122"/>
              </a:endParaRPr>
            </a:p>
          </p:txBody>
        </p:sp>
        <p:sp>
          <p:nvSpPr>
            <p:cNvPr id="490580" name="Freeform 84">
              <a:extLst>
                <a:ext uri="{FF2B5EF4-FFF2-40B4-BE49-F238E27FC236}">
                  <a16:creationId xmlns:a16="http://schemas.microsoft.com/office/drawing/2014/main" id="{AE4FEAE2-AB1C-4EBA-AA82-45521BA1FC19}"/>
                </a:ext>
              </a:extLst>
            </p:cNvPr>
            <p:cNvSpPr>
              <a:spLocks/>
            </p:cNvSpPr>
            <p:nvPr/>
          </p:nvSpPr>
          <p:spPr bwMode="gray">
            <a:xfrm>
              <a:off x="2880"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rgbClr val="44988C"/>
            </a:solidFill>
            <a:ln w="0">
              <a:noFill/>
              <a:prstDash val="solid"/>
              <a:round/>
              <a:headEnd/>
              <a:tailEnd/>
            </a:ln>
            <a:effectLst>
              <a:outerShdw dist="91581" dir="3378596" algn="ctr" rotWithShape="0">
                <a:srgbClr val="C0C0C0">
                  <a:alpha val="50000"/>
                </a:srgbClr>
              </a:outerShdw>
            </a:effectLst>
          </p:spPr>
          <p:txBody>
            <a:bodyPr/>
            <a:lstStyle/>
            <a:p>
              <a:pPr>
                <a:defRPr/>
              </a:pPr>
              <a:endParaRPr lang="zh-CN" altLang="en-US">
                <a:ea typeface="宋体" pitchFamily="2" charset="-122"/>
              </a:endParaRPr>
            </a:p>
          </p:txBody>
        </p:sp>
      </p:grpSp>
      <p:sp>
        <p:nvSpPr>
          <p:cNvPr id="513053" name="Text Box 81">
            <a:extLst>
              <a:ext uri="{FF2B5EF4-FFF2-40B4-BE49-F238E27FC236}">
                <a16:creationId xmlns:a16="http://schemas.microsoft.com/office/drawing/2014/main" id="{64A36478-22EB-4E62-8D6F-B7511581CC21}"/>
              </a:ext>
            </a:extLst>
          </p:cNvPr>
          <p:cNvSpPr txBox="1">
            <a:spLocks noChangeArrowheads="1"/>
          </p:cNvSpPr>
          <p:nvPr/>
        </p:nvSpPr>
        <p:spPr bwMode="gray">
          <a:xfrm>
            <a:off x="5938838" y="2060575"/>
            <a:ext cx="22336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800" b="1">
                <a:solidFill>
                  <a:srgbClr val="004E4C"/>
                </a:solidFill>
                <a:effectLst>
                  <a:outerShdw blurRad="38100" dist="38100" dir="2700000" algn="tl">
                    <a:srgbClr val="C0C0C0"/>
                  </a:outerShdw>
                </a:effectLst>
                <a:latin typeface="Arial" panose="020B0604020202020204" pitchFamily="34" charset="0"/>
                <a:ea typeface="华文行楷" panose="02010800040101010101" pitchFamily="2" charset="-122"/>
              </a:rPr>
              <a:t>数据库用户</a:t>
            </a:r>
          </a:p>
        </p:txBody>
      </p:sp>
      <p:sp>
        <p:nvSpPr>
          <p:cNvPr id="513054" name="Text Box 78">
            <a:extLst>
              <a:ext uri="{FF2B5EF4-FFF2-40B4-BE49-F238E27FC236}">
                <a16:creationId xmlns:a16="http://schemas.microsoft.com/office/drawing/2014/main" id="{A08D9081-DE63-43D3-AF57-3273F5872060}"/>
              </a:ext>
            </a:extLst>
          </p:cNvPr>
          <p:cNvSpPr txBox="1">
            <a:spLocks noChangeArrowheads="1"/>
          </p:cNvSpPr>
          <p:nvPr/>
        </p:nvSpPr>
        <p:spPr bwMode="gray">
          <a:xfrm>
            <a:off x="755650" y="2060575"/>
            <a:ext cx="3313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800" b="1">
                <a:solidFill>
                  <a:srgbClr val="0000FF"/>
                </a:solidFill>
                <a:effectLst>
                  <a:outerShdw blurRad="38100" dist="38100" dir="2700000" algn="tl">
                    <a:srgbClr val="C0C0C0"/>
                  </a:outerShdw>
                </a:effectLst>
                <a:latin typeface="Arial" panose="020B0604020202020204" pitchFamily="34" charset="0"/>
                <a:ea typeface="华文行楷" panose="02010800040101010101" pitchFamily="2" charset="-122"/>
              </a:rPr>
              <a:t>数据库管理员用户</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833"/>
    </mc:Choice>
    <mc:Fallback xmlns="">
      <p:transition spd="slow" advTm="7583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027"/>
                                        </p:tgtEl>
                                        <p:attrNameLst>
                                          <p:attrName>style.visibility</p:attrName>
                                        </p:attrNameLst>
                                      </p:cBhvr>
                                      <p:to>
                                        <p:strVal val="visible"/>
                                      </p:to>
                                    </p:set>
                                    <p:animEffect transition="in" filter="wipe(left)">
                                      <p:cBhvr>
                                        <p:cTn id="7" dur="500"/>
                                        <p:tgtEl>
                                          <p:spTgt spid="513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7" presetClass="entr" presetSubtype="0" fill="hold" nodeType="clickEffect">
                                  <p:stCondLst>
                                    <p:cond delay="0"/>
                                  </p:stCondLst>
                                  <p:childTnLst>
                                    <p:set>
                                      <p:cBhvr>
                                        <p:cTn id="11" dur="1" fill="hold">
                                          <p:stCondLst>
                                            <p:cond delay="0"/>
                                          </p:stCondLst>
                                        </p:cTn>
                                        <p:tgtEl>
                                          <p:spTgt spid="513038"/>
                                        </p:tgtEl>
                                        <p:attrNameLst>
                                          <p:attrName>style.visibility</p:attrName>
                                        </p:attrNameLst>
                                      </p:cBhvr>
                                      <p:to>
                                        <p:strVal val="visible"/>
                                      </p:to>
                                    </p:set>
                                    <p:animEffect transition="in" filter="fade">
                                      <p:cBhvr>
                                        <p:cTn id="12" dur="500"/>
                                        <p:tgtEl>
                                          <p:spTgt spid="513038"/>
                                        </p:tgtEl>
                                      </p:cBhvr>
                                    </p:animEffect>
                                    <p:anim calcmode="lin" valueType="num">
                                      <p:cBhvr>
                                        <p:cTn id="13" dur="500" fill="hold"/>
                                        <p:tgtEl>
                                          <p:spTgt spid="513038"/>
                                        </p:tgtEl>
                                        <p:attrNameLst>
                                          <p:attrName>ppt_x</p:attrName>
                                        </p:attrNameLst>
                                      </p:cBhvr>
                                      <p:tavLst>
                                        <p:tav tm="0">
                                          <p:val>
                                            <p:strVal val="#ppt_x"/>
                                          </p:val>
                                        </p:tav>
                                        <p:tav tm="100000">
                                          <p:val>
                                            <p:strVal val="#ppt_x"/>
                                          </p:val>
                                        </p:tav>
                                      </p:tavLst>
                                    </p:anim>
                                    <p:anim calcmode="lin" valueType="num">
                                      <p:cBhvr>
                                        <p:cTn id="14" dur="500" fill="hold"/>
                                        <p:tgtEl>
                                          <p:spTgt spid="513038"/>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500"/>
                            </p:stCondLst>
                            <p:childTnLst>
                              <p:par>
                                <p:cTn id="16" presetID="47" presetClass="entr" presetSubtype="0" fill="hold" nodeType="afterEffect">
                                  <p:stCondLst>
                                    <p:cond delay="0"/>
                                  </p:stCondLst>
                                  <p:childTnLst>
                                    <p:set>
                                      <p:cBhvr>
                                        <p:cTn id="17" dur="1" fill="hold">
                                          <p:stCondLst>
                                            <p:cond delay="0"/>
                                          </p:stCondLst>
                                        </p:cTn>
                                        <p:tgtEl>
                                          <p:spTgt spid="513045"/>
                                        </p:tgtEl>
                                        <p:attrNameLst>
                                          <p:attrName>style.visibility</p:attrName>
                                        </p:attrNameLst>
                                      </p:cBhvr>
                                      <p:to>
                                        <p:strVal val="visible"/>
                                      </p:to>
                                    </p:set>
                                    <p:animEffect transition="in" filter="fade">
                                      <p:cBhvr>
                                        <p:cTn id="18" dur="500"/>
                                        <p:tgtEl>
                                          <p:spTgt spid="513045"/>
                                        </p:tgtEl>
                                      </p:cBhvr>
                                    </p:animEffect>
                                    <p:anim calcmode="lin" valueType="num">
                                      <p:cBhvr>
                                        <p:cTn id="19" dur="500" fill="hold"/>
                                        <p:tgtEl>
                                          <p:spTgt spid="513045"/>
                                        </p:tgtEl>
                                        <p:attrNameLst>
                                          <p:attrName>ppt_x</p:attrName>
                                        </p:attrNameLst>
                                      </p:cBhvr>
                                      <p:tavLst>
                                        <p:tav tm="0">
                                          <p:val>
                                            <p:strVal val="#ppt_x"/>
                                          </p:val>
                                        </p:tav>
                                        <p:tav tm="100000">
                                          <p:val>
                                            <p:strVal val="#ppt_x"/>
                                          </p:val>
                                        </p:tav>
                                      </p:tavLst>
                                    </p:anim>
                                    <p:anim calcmode="lin" valueType="num">
                                      <p:cBhvr>
                                        <p:cTn id="20" dur="500" fill="hold"/>
                                        <p:tgtEl>
                                          <p:spTgt spid="513045"/>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13054"/>
                                        </p:tgtEl>
                                        <p:attrNameLst>
                                          <p:attrName>style.visibility</p:attrName>
                                        </p:attrNameLst>
                                      </p:cBhvr>
                                      <p:to>
                                        <p:strVal val="visible"/>
                                      </p:to>
                                    </p:set>
                                    <p:animEffect transition="in" filter="wipe(left)">
                                      <p:cBhvr>
                                        <p:cTn id="25" dur="500"/>
                                        <p:tgtEl>
                                          <p:spTgt spid="51305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513053"/>
                                        </p:tgtEl>
                                        <p:attrNameLst>
                                          <p:attrName>style.visibility</p:attrName>
                                        </p:attrNameLst>
                                      </p:cBhvr>
                                      <p:to>
                                        <p:strVal val="visible"/>
                                      </p:to>
                                    </p:set>
                                    <p:animEffect transition="in" filter="wipe(right)">
                                      <p:cBhvr>
                                        <p:cTn id="30" dur="500"/>
                                        <p:tgtEl>
                                          <p:spTgt spid="5130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513055"/>
                                        </p:tgtEl>
                                        <p:attrNameLst>
                                          <p:attrName>style.visibility</p:attrName>
                                        </p:attrNameLst>
                                      </p:cBhvr>
                                      <p:to>
                                        <p:strVal val="visible"/>
                                      </p:to>
                                    </p:set>
                                    <p:animEffect transition="in" filter="fade">
                                      <p:cBhvr>
                                        <p:cTn id="35" dur="500"/>
                                        <p:tgtEl>
                                          <p:spTgt spid="513055"/>
                                        </p:tgtEl>
                                      </p:cBhvr>
                                    </p:animEffect>
                                    <p:anim calcmode="lin" valueType="num">
                                      <p:cBhvr>
                                        <p:cTn id="36" dur="500" fill="hold"/>
                                        <p:tgtEl>
                                          <p:spTgt spid="513055"/>
                                        </p:tgtEl>
                                        <p:attrNameLst>
                                          <p:attrName>ppt_x</p:attrName>
                                        </p:attrNameLst>
                                      </p:cBhvr>
                                      <p:tavLst>
                                        <p:tav tm="0">
                                          <p:val>
                                            <p:strVal val="#ppt_x"/>
                                          </p:val>
                                        </p:tav>
                                        <p:tav tm="100000">
                                          <p:val>
                                            <p:strVal val="#ppt_x"/>
                                          </p:val>
                                        </p:tav>
                                      </p:tavLst>
                                    </p:anim>
                                    <p:anim calcmode="lin" valueType="num">
                                      <p:cBhvr>
                                        <p:cTn id="37" dur="500" fill="hold"/>
                                        <p:tgtEl>
                                          <p:spTgt spid="513055"/>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490570"/>
                                        </p:tgtEl>
                                        <p:attrNameLst>
                                          <p:attrName>style.visibility</p:attrName>
                                        </p:attrNameLst>
                                      </p:cBhvr>
                                      <p:to>
                                        <p:strVal val="visible"/>
                                      </p:to>
                                    </p:set>
                                    <p:animEffect transition="in" filter="strips(downLeft)">
                                      <p:cBhvr>
                                        <p:cTn id="42" dur="500"/>
                                        <p:tgtEl>
                                          <p:spTgt spid="4905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13041">
                                            <p:txEl>
                                              <p:pRg st="0" end="0"/>
                                            </p:txEl>
                                          </p:spTgt>
                                        </p:tgtEl>
                                        <p:attrNameLst>
                                          <p:attrName>style.visibility</p:attrName>
                                        </p:attrNameLst>
                                      </p:cBhvr>
                                      <p:to>
                                        <p:strVal val="visible"/>
                                      </p:to>
                                    </p:set>
                                    <p:animEffect transition="in" filter="wipe(left)">
                                      <p:cBhvr>
                                        <p:cTn id="47" dur="500"/>
                                        <p:tgtEl>
                                          <p:spTgt spid="51304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13041">
                                            <p:txEl>
                                              <p:pRg st="1" end="1"/>
                                            </p:txEl>
                                          </p:spTgt>
                                        </p:tgtEl>
                                        <p:attrNameLst>
                                          <p:attrName>style.visibility</p:attrName>
                                        </p:attrNameLst>
                                      </p:cBhvr>
                                      <p:to>
                                        <p:strVal val="visible"/>
                                      </p:to>
                                    </p:set>
                                    <p:animEffect transition="in" filter="wipe(left)">
                                      <p:cBhvr>
                                        <p:cTn id="52" dur="500"/>
                                        <p:tgtEl>
                                          <p:spTgt spid="513041">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3041">
                                            <p:txEl>
                                              <p:pRg st="2" end="2"/>
                                            </p:txEl>
                                          </p:spTgt>
                                        </p:tgtEl>
                                        <p:attrNameLst>
                                          <p:attrName>style.visibility</p:attrName>
                                        </p:attrNameLst>
                                      </p:cBhvr>
                                      <p:to>
                                        <p:strVal val="visible"/>
                                      </p:to>
                                    </p:set>
                                    <p:animEffect transition="in" filter="wipe(left)">
                                      <p:cBhvr>
                                        <p:cTn id="57" dur="500"/>
                                        <p:tgtEl>
                                          <p:spTgt spid="513041">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13041">
                                            <p:txEl>
                                              <p:pRg st="3" end="3"/>
                                            </p:txEl>
                                          </p:spTgt>
                                        </p:tgtEl>
                                        <p:attrNameLst>
                                          <p:attrName>style.visibility</p:attrName>
                                        </p:attrNameLst>
                                      </p:cBhvr>
                                      <p:to>
                                        <p:strVal val="visible"/>
                                      </p:to>
                                    </p:set>
                                    <p:animEffect transition="in" filter="wipe(left)">
                                      <p:cBhvr>
                                        <p:cTn id="62" dur="500"/>
                                        <p:tgtEl>
                                          <p:spTgt spid="513041">
                                            <p:txEl>
                                              <p:pRg st="3" end="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13041">
                                            <p:txEl>
                                              <p:pRg st="4" end="4"/>
                                            </p:txEl>
                                          </p:spTgt>
                                        </p:tgtEl>
                                        <p:attrNameLst>
                                          <p:attrName>style.visibility</p:attrName>
                                        </p:attrNameLst>
                                      </p:cBhvr>
                                      <p:to>
                                        <p:strVal val="visible"/>
                                      </p:to>
                                    </p:set>
                                    <p:animEffect transition="in" filter="wipe(left)">
                                      <p:cBhvr>
                                        <p:cTn id="67" dur="500"/>
                                        <p:tgtEl>
                                          <p:spTgt spid="513041">
                                            <p:txEl>
                                              <p:pRg st="4" end="4"/>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13041">
                                            <p:txEl>
                                              <p:pRg st="5" end="5"/>
                                            </p:txEl>
                                          </p:spTgt>
                                        </p:tgtEl>
                                        <p:attrNameLst>
                                          <p:attrName>style.visibility</p:attrName>
                                        </p:attrNameLst>
                                      </p:cBhvr>
                                      <p:to>
                                        <p:strVal val="visible"/>
                                      </p:to>
                                    </p:set>
                                    <p:animEffect transition="in" filter="wipe(left)">
                                      <p:cBhvr>
                                        <p:cTn id="72" dur="500"/>
                                        <p:tgtEl>
                                          <p:spTgt spid="513041">
                                            <p:txEl>
                                              <p:pRg st="5" end="5"/>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13041">
                                            <p:txEl>
                                              <p:pRg st="6" end="6"/>
                                            </p:txEl>
                                          </p:spTgt>
                                        </p:tgtEl>
                                        <p:attrNameLst>
                                          <p:attrName>style.visibility</p:attrName>
                                        </p:attrNameLst>
                                      </p:cBhvr>
                                      <p:to>
                                        <p:strVal val="visible"/>
                                      </p:to>
                                    </p:set>
                                    <p:animEffect transition="in" filter="wipe(left)">
                                      <p:cBhvr>
                                        <p:cTn id="77" dur="500"/>
                                        <p:tgtEl>
                                          <p:spTgt spid="513041">
                                            <p:txEl>
                                              <p:pRg st="6" end="6"/>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490576"/>
                                        </p:tgtEl>
                                        <p:attrNameLst>
                                          <p:attrName>style.visibility</p:attrName>
                                        </p:attrNameLst>
                                      </p:cBhvr>
                                      <p:to>
                                        <p:strVal val="visible"/>
                                      </p:to>
                                    </p:set>
                                    <p:animEffect transition="in" filter="strips(downRight)">
                                      <p:cBhvr>
                                        <p:cTn id="82" dur="500"/>
                                        <p:tgtEl>
                                          <p:spTgt spid="49057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13044">
                                            <p:txEl>
                                              <p:pRg st="0" end="0"/>
                                            </p:txEl>
                                          </p:spTgt>
                                        </p:tgtEl>
                                        <p:attrNameLst>
                                          <p:attrName>style.visibility</p:attrName>
                                        </p:attrNameLst>
                                      </p:cBhvr>
                                      <p:to>
                                        <p:strVal val="visible"/>
                                      </p:to>
                                    </p:set>
                                    <p:animEffect transition="in" filter="wipe(left)">
                                      <p:cBhvr>
                                        <p:cTn id="87" dur="500"/>
                                        <p:tgtEl>
                                          <p:spTgt spid="513044">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13044">
                                            <p:txEl>
                                              <p:pRg st="1" end="1"/>
                                            </p:txEl>
                                          </p:spTgt>
                                        </p:tgtEl>
                                        <p:attrNameLst>
                                          <p:attrName>style.visibility</p:attrName>
                                        </p:attrNameLst>
                                      </p:cBhvr>
                                      <p:to>
                                        <p:strVal val="visible"/>
                                      </p:to>
                                    </p:set>
                                    <p:animEffect transition="in" filter="wipe(left)">
                                      <p:cBhvr>
                                        <p:cTn id="92" dur="500"/>
                                        <p:tgtEl>
                                          <p:spTgt spid="513044">
                                            <p:txEl>
                                              <p:pRg st="1" end="1"/>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13044">
                                            <p:txEl>
                                              <p:pRg st="2" end="2"/>
                                            </p:txEl>
                                          </p:spTgt>
                                        </p:tgtEl>
                                        <p:attrNameLst>
                                          <p:attrName>style.visibility</p:attrName>
                                        </p:attrNameLst>
                                      </p:cBhvr>
                                      <p:to>
                                        <p:strVal val="visible"/>
                                      </p:to>
                                    </p:set>
                                    <p:animEffect transition="in" filter="wipe(left)">
                                      <p:cBhvr>
                                        <p:cTn id="97" dur="500"/>
                                        <p:tgtEl>
                                          <p:spTgt spid="513044">
                                            <p:txEl>
                                              <p:pRg st="2" end="2"/>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13044">
                                            <p:txEl>
                                              <p:pRg st="3" end="3"/>
                                            </p:txEl>
                                          </p:spTgt>
                                        </p:tgtEl>
                                        <p:attrNameLst>
                                          <p:attrName>style.visibility</p:attrName>
                                        </p:attrNameLst>
                                      </p:cBhvr>
                                      <p:to>
                                        <p:strVal val="visible"/>
                                      </p:to>
                                    </p:set>
                                    <p:animEffect transition="in" filter="wipe(left)">
                                      <p:cBhvr>
                                        <p:cTn id="102" dur="500"/>
                                        <p:tgtEl>
                                          <p:spTgt spid="5130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p:bldP spid="490570" grpId="0" animBg="1"/>
      <p:bldP spid="513041" grpId="0" build="p"/>
      <p:bldP spid="490576" grpId="0" animBg="1"/>
      <p:bldP spid="513044" grpId="0" build="p"/>
      <p:bldP spid="513053" grpId="0"/>
      <p:bldP spid="5130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6" name="Rectangle 8">
            <a:extLst>
              <a:ext uri="{FF2B5EF4-FFF2-40B4-BE49-F238E27FC236}">
                <a16:creationId xmlns:a16="http://schemas.microsoft.com/office/drawing/2014/main" id="{AAB7F909-9A21-4B0D-A98B-EEC8F99AF01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4057" name="Rectangle 9">
            <a:extLst>
              <a:ext uri="{FF2B5EF4-FFF2-40B4-BE49-F238E27FC236}">
                <a16:creationId xmlns:a16="http://schemas.microsoft.com/office/drawing/2014/main" id="{41EDEA2F-837D-44E2-8A26-12C16FE6D6E4}"/>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a:t>
            </a:r>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SQL Server </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的安全机制</a:t>
            </a:r>
          </a:p>
        </p:txBody>
      </p:sp>
      <p:sp>
        <p:nvSpPr>
          <p:cNvPr id="514080" name="Rectangle 32">
            <a:extLst>
              <a:ext uri="{FF2B5EF4-FFF2-40B4-BE49-F238E27FC236}">
                <a16:creationId xmlns:a16="http://schemas.microsoft.com/office/drawing/2014/main" id="{E811B8C4-7595-436F-9CE7-9A4965BD83FD}"/>
              </a:ext>
            </a:extLst>
          </p:cNvPr>
          <p:cNvSpPr>
            <a:spLocks noChangeArrowheads="1"/>
          </p:cNvSpPr>
          <p:nvPr/>
        </p:nvSpPr>
        <p:spPr bwMode="auto">
          <a:xfrm>
            <a:off x="684213" y="1916113"/>
            <a:ext cx="6624637" cy="504825"/>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pPr>
            <a:r>
              <a:rPr lang="en-US" altLang="zh-CN">
                <a:solidFill>
                  <a:srgbClr val="0000FF"/>
                </a:solidFill>
                <a:latin typeface="楷体_GB2312" pitchFamily="49" charset="-122"/>
                <a:ea typeface="楷体_GB2312" pitchFamily="49" charset="-122"/>
              </a:rPr>
              <a:t>SQL Server</a:t>
            </a:r>
            <a:r>
              <a:rPr lang="zh-CN" altLang="en-US">
                <a:solidFill>
                  <a:srgbClr val="0000FF"/>
                </a:solidFill>
                <a:latin typeface="楷体_GB2312" pitchFamily="49" charset="-122"/>
                <a:ea typeface="楷体_GB2312" pitchFamily="49" charset="-122"/>
              </a:rPr>
              <a:t>有</a:t>
            </a:r>
            <a:r>
              <a:rPr lang="en-US" altLang="zh-CN">
                <a:solidFill>
                  <a:srgbClr val="0000FF"/>
                </a:solidFill>
                <a:latin typeface="楷体_GB2312" pitchFamily="49" charset="-122"/>
                <a:ea typeface="楷体_GB2312" pitchFamily="49" charset="-122"/>
              </a:rPr>
              <a:t>3</a:t>
            </a:r>
            <a:r>
              <a:rPr lang="zh-CN" altLang="en-US">
                <a:solidFill>
                  <a:srgbClr val="0000FF"/>
                </a:solidFill>
                <a:latin typeface="楷体_GB2312" pitchFamily="49" charset="-122"/>
                <a:ea typeface="楷体_GB2312" pitchFamily="49" charset="-122"/>
              </a:rPr>
              <a:t>个等级的安全验证：</a:t>
            </a:r>
            <a:r>
              <a:rPr lang="zh-CN" altLang="en-US">
                <a:solidFill>
                  <a:srgbClr val="000000"/>
                </a:solidFill>
                <a:latin typeface="楷体_GB2312" pitchFamily="49" charset="-122"/>
                <a:ea typeface="楷体_GB2312" pitchFamily="49" charset="-122"/>
              </a:rPr>
              <a:t> </a:t>
            </a:r>
          </a:p>
        </p:txBody>
      </p:sp>
      <p:grpSp>
        <p:nvGrpSpPr>
          <p:cNvPr id="514081" name="Group 33">
            <a:extLst>
              <a:ext uri="{FF2B5EF4-FFF2-40B4-BE49-F238E27FC236}">
                <a16:creationId xmlns:a16="http://schemas.microsoft.com/office/drawing/2014/main" id="{9C08E9C9-C441-4DC8-99F8-545E9D3D083D}"/>
              </a:ext>
            </a:extLst>
          </p:cNvPr>
          <p:cNvGrpSpPr>
            <a:grpSpLocks/>
          </p:cNvGrpSpPr>
          <p:nvPr/>
        </p:nvGrpSpPr>
        <p:grpSpPr bwMode="auto">
          <a:xfrm>
            <a:off x="1260475" y="2563813"/>
            <a:ext cx="6624638" cy="4105275"/>
            <a:chOff x="748" y="1162"/>
            <a:chExt cx="3992" cy="2767"/>
          </a:xfrm>
        </p:grpSpPr>
        <p:sp>
          <p:nvSpPr>
            <p:cNvPr id="514082" name="Rectangle 34">
              <a:extLst>
                <a:ext uri="{FF2B5EF4-FFF2-40B4-BE49-F238E27FC236}">
                  <a16:creationId xmlns:a16="http://schemas.microsoft.com/office/drawing/2014/main" id="{BC45A0C8-8D65-4B42-850D-148F61263C9A}"/>
                </a:ext>
              </a:extLst>
            </p:cNvPr>
            <p:cNvSpPr>
              <a:spLocks noChangeArrowheads="1"/>
            </p:cNvSpPr>
            <p:nvPr/>
          </p:nvSpPr>
          <p:spPr bwMode="auto">
            <a:xfrm>
              <a:off x="748" y="1162"/>
              <a:ext cx="3992" cy="2767"/>
            </a:xfrm>
            <a:prstGeom prst="rect">
              <a:avLst/>
            </a:prstGeom>
            <a:solidFill>
              <a:srgbClr val="FFFFFF"/>
            </a:solidFill>
            <a:ln w="9525">
              <a:solidFill>
                <a:srgbClr val="000000"/>
              </a:solidFill>
              <a:miter lim="800000"/>
              <a:headEnd/>
              <a:tailEnd/>
            </a:ln>
            <a:effectLst>
              <a:outerShdw dist="35921" dir="2700000" algn="ctr" rotWithShape="0">
                <a:schemeClr val="bg2"/>
              </a:outerShdw>
            </a:effectLst>
          </p:spPr>
          <p:txBody>
            <a:bodyPr wrap="none" anchor="ctr"/>
            <a:lstStyle/>
            <a:p>
              <a:endParaRPr lang="zh-CN" altLang="en-US"/>
            </a:p>
          </p:txBody>
        </p:sp>
        <p:grpSp>
          <p:nvGrpSpPr>
            <p:cNvPr id="514083" name="Group 35">
              <a:extLst>
                <a:ext uri="{FF2B5EF4-FFF2-40B4-BE49-F238E27FC236}">
                  <a16:creationId xmlns:a16="http://schemas.microsoft.com/office/drawing/2014/main" id="{2C8620BC-8F84-49FB-B32A-6371BA8199EE}"/>
                </a:ext>
              </a:extLst>
            </p:cNvPr>
            <p:cNvGrpSpPr>
              <a:grpSpLocks/>
            </p:cNvGrpSpPr>
            <p:nvPr/>
          </p:nvGrpSpPr>
          <p:grpSpPr bwMode="auto">
            <a:xfrm>
              <a:off x="1292" y="1344"/>
              <a:ext cx="2813" cy="2177"/>
              <a:chOff x="1292" y="1344"/>
              <a:chExt cx="2813" cy="2177"/>
            </a:xfrm>
          </p:grpSpPr>
          <p:sp>
            <p:nvSpPr>
              <p:cNvPr id="514084" name="Rectangle 36">
                <a:extLst>
                  <a:ext uri="{FF2B5EF4-FFF2-40B4-BE49-F238E27FC236}">
                    <a16:creationId xmlns:a16="http://schemas.microsoft.com/office/drawing/2014/main" id="{0925084B-6A21-42DD-A7B6-859031126DD9}"/>
                  </a:ext>
                </a:extLst>
              </p:cNvPr>
              <p:cNvSpPr>
                <a:spLocks noChangeArrowheads="1"/>
              </p:cNvSpPr>
              <p:nvPr/>
            </p:nvSpPr>
            <p:spPr bwMode="auto">
              <a:xfrm>
                <a:off x="1292" y="1344"/>
                <a:ext cx="2813" cy="408"/>
              </a:xfrm>
              <a:prstGeom prst="rect">
                <a:avLst/>
              </a:prstGeom>
              <a:blipFill dpi="0" rotWithShape="1">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3200" b="1">
                    <a:solidFill>
                      <a:srgbClr val="000000"/>
                    </a:solidFill>
                    <a:latin typeface="Tahoma" panose="020B0604030504040204" pitchFamily="34" charset="0"/>
                    <a:ea typeface="宋体" panose="02010600030101010101" pitchFamily="2" charset="-122"/>
                  </a:rPr>
                  <a:t>SQL Server</a:t>
                </a:r>
                <a:r>
                  <a:rPr kumimoji="1" lang="zh-CN" altLang="en-US" sz="3200" b="1">
                    <a:solidFill>
                      <a:srgbClr val="000000"/>
                    </a:solidFill>
                    <a:latin typeface="Tahoma" panose="020B0604030504040204" pitchFamily="34" charset="0"/>
                    <a:ea typeface="宋体" panose="02010600030101010101" pitchFamily="2" charset="-122"/>
                  </a:rPr>
                  <a:t>安全验证</a:t>
                </a:r>
              </a:p>
            </p:txBody>
          </p:sp>
          <p:sp>
            <p:nvSpPr>
              <p:cNvPr id="514085" name="Line 37">
                <a:extLst>
                  <a:ext uri="{FF2B5EF4-FFF2-40B4-BE49-F238E27FC236}">
                    <a16:creationId xmlns:a16="http://schemas.microsoft.com/office/drawing/2014/main" id="{DB486AD2-AF95-458F-AC74-45461D990DC3}"/>
                  </a:ext>
                </a:extLst>
              </p:cNvPr>
              <p:cNvSpPr>
                <a:spLocks noChangeShapeType="1"/>
              </p:cNvSpPr>
              <p:nvPr/>
            </p:nvSpPr>
            <p:spPr bwMode="auto">
              <a:xfrm>
                <a:off x="2653" y="1752"/>
                <a:ext cx="0" cy="45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6" name="Rectangle 38">
                <a:extLst>
                  <a:ext uri="{FF2B5EF4-FFF2-40B4-BE49-F238E27FC236}">
                    <a16:creationId xmlns:a16="http://schemas.microsoft.com/office/drawing/2014/main" id="{5B26668C-48D5-49E6-B6FA-DB3934A26A94}"/>
                  </a:ext>
                </a:extLst>
              </p:cNvPr>
              <p:cNvSpPr>
                <a:spLocks noChangeArrowheads="1"/>
              </p:cNvSpPr>
              <p:nvPr/>
            </p:nvSpPr>
            <p:spPr bwMode="auto">
              <a:xfrm>
                <a:off x="1292" y="2205"/>
                <a:ext cx="2813" cy="408"/>
              </a:xfrm>
              <a:prstGeom prst="rect">
                <a:avLst/>
              </a:prstGeom>
              <a:blipFill dpi="0" rotWithShape="1">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b="1">
                    <a:solidFill>
                      <a:srgbClr val="000000"/>
                    </a:solidFill>
                    <a:latin typeface="Times New Roman" panose="02020603050405020304" pitchFamily="18" charset="0"/>
                    <a:ea typeface="宋体" panose="02010600030101010101" pitchFamily="2" charset="-122"/>
                  </a:rPr>
                  <a:t>数据库安全验证</a:t>
                </a:r>
              </a:p>
            </p:txBody>
          </p:sp>
          <p:sp>
            <p:nvSpPr>
              <p:cNvPr id="514087" name="Rectangle 39">
                <a:extLst>
                  <a:ext uri="{FF2B5EF4-FFF2-40B4-BE49-F238E27FC236}">
                    <a16:creationId xmlns:a16="http://schemas.microsoft.com/office/drawing/2014/main" id="{060F7557-1C25-48D2-BC4E-DD5487626C6B}"/>
                  </a:ext>
                </a:extLst>
              </p:cNvPr>
              <p:cNvSpPr>
                <a:spLocks noChangeArrowheads="1"/>
              </p:cNvSpPr>
              <p:nvPr/>
            </p:nvSpPr>
            <p:spPr bwMode="auto">
              <a:xfrm>
                <a:off x="1292" y="3113"/>
                <a:ext cx="2813" cy="408"/>
              </a:xfrm>
              <a:prstGeom prst="rect">
                <a:avLst/>
              </a:prstGeom>
              <a:blipFill dpi="0" rotWithShape="1">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b="1">
                    <a:solidFill>
                      <a:srgbClr val="000000"/>
                    </a:solidFill>
                    <a:latin typeface="Times New Roman" panose="02020603050405020304" pitchFamily="18" charset="0"/>
                    <a:ea typeface="宋体" panose="02010600030101010101" pitchFamily="2" charset="-122"/>
                  </a:rPr>
                  <a:t>数据库对象的安全验证</a:t>
                </a:r>
              </a:p>
            </p:txBody>
          </p:sp>
          <p:sp>
            <p:nvSpPr>
              <p:cNvPr id="514088" name="Line 40">
                <a:extLst>
                  <a:ext uri="{FF2B5EF4-FFF2-40B4-BE49-F238E27FC236}">
                    <a16:creationId xmlns:a16="http://schemas.microsoft.com/office/drawing/2014/main" id="{B4106877-57BD-4BD2-8C22-CBDC0055DA5E}"/>
                  </a:ext>
                </a:extLst>
              </p:cNvPr>
              <p:cNvSpPr>
                <a:spLocks noChangeShapeType="1"/>
              </p:cNvSpPr>
              <p:nvPr/>
            </p:nvSpPr>
            <p:spPr bwMode="auto">
              <a:xfrm>
                <a:off x="2653" y="2614"/>
                <a:ext cx="0" cy="49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031"/>
    </mc:Choice>
    <mc:Fallback xmlns="">
      <p:transition spd="slow" advTm="1503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4057"/>
                                        </p:tgtEl>
                                        <p:attrNameLst>
                                          <p:attrName>style.visibility</p:attrName>
                                        </p:attrNameLst>
                                      </p:cBhvr>
                                      <p:to>
                                        <p:strVal val="visible"/>
                                      </p:to>
                                    </p:set>
                                    <p:animEffect transition="in" filter="wipe(left)">
                                      <p:cBhvr>
                                        <p:cTn id="7" dur="500"/>
                                        <p:tgtEl>
                                          <p:spTgt spid="5140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4080"/>
                                        </p:tgtEl>
                                        <p:attrNameLst>
                                          <p:attrName>style.visibility</p:attrName>
                                        </p:attrNameLst>
                                      </p:cBhvr>
                                      <p:to>
                                        <p:strVal val="visible"/>
                                      </p:to>
                                    </p:set>
                                    <p:animEffect transition="in" filter="wipe(left)">
                                      <p:cBhvr>
                                        <p:cTn id="12" dur="500"/>
                                        <p:tgtEl>
                                          <p:spTgt spid="5140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14081"/>
                                        </p:tgtEl>
                                        <p:attrNameLst>
                                          <p:attrName>style.visibility</p:attrName>
                                        </p:attrNameLst>
                                      </p:cBhvr>
                                      <p:to>
                                        <p:strVal val="visible"/>
                                      </p:to>
                                    </p:set>
                                    <p:animEffect transition="in" filter="wipe(up)">
                                      <p:cBhvr>
                                        <p:cTn id="17" dur="500"/>
                                        <p:tgtEl>
                                          <p:spTgt spid="514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7" grpId="0"/>
      <p:bldP spid="51408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105" name="AutoShape 13">
            <a:extLst>
              <a:ext uri="{FF2B5EF4-FFF2-40B4-BE49-F238E27FC236}">
                <a16:creationId xmlns:a16="http://schemas.microsoft.com/office/drawing/2014/main" id="{834CD4FB-0678-4080-93C4-4FC7EE022BF6}"/>
              </a:ext>
            </a:extLst>
          </p:cNvPr>
          <p:cNvSpPr>
            <a:spLocks noChangeArrowheads="1"/>
          </p:cNvSpPr>
          <p:nvPr/>
        </p:nvSpPr>
        <p:spPr bwMode="auto">
          <a:xfrm>
            <a:off x="323850" y="1773238"/>
            <a:ext cx="8569325" cy="2592387"/>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15074" name="Rectangle 2">
            <a:extLst>
              <a:ext uri="{FF2B5EF4-FFF2-40B4-BE49-F238E27FC236}">
                <a16:creationId xmlns:a16="http://schemas.microsoft.com/office/drawing/2014/main" id="{803D6C51-4290-4752-A6E8-875047ABDDCB}"/>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5092" name="Rectangle 20">
            <a:extLst>
              <a:ext uri="{FF2B5EF4-FFF2-40B4-BE49-F238E27FC236}">
                <a16:creationId xmlns:a16="http://schemas.microsoft.com/office/drawing/2014/main" id="{D6EE7591-88FB-46CC-B203-D7AFB5743624}"/>
              </a:ext>
            </a:extLst>
          </p:cNvPr>
          <p:cNvSpPr>
            <a:spLocks noChangeArrowheads="1"/>
          </p:cNvSpPr>
          <p:nvPr/>
        </p:nvSpPr>
        <p:spPr bwMode="auto">
          <a:xfrm>
            <a:off x="611188" y="1125538"/>
            <a:ext cx="5905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BBE0E3"/>
                </a:solidFill>
                <a:miter lim="800000"/>
                <a:headEnd/>
                <a:tailEnd/>
              </a14:hiddenLine>
            </a:ext>
          </a:extLst>
        </p:spPr>
        <p:txBody>
          <a:bodyPr>
            <a:spAutoFit/>
          </a:bodyPr>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2800">
                <a:solidFill>
                  <a:srgbClr val="A20070"/>
                </a:solidFill>
                <a:latin typeface="华文中宋" panose="02010600040101010101" pitchFamily="2" charset="-122"/>
                <a:ea typeface="华文中宋" panose="02010600040101010101" pitchFamily="2" charset="-122"/>
              </a:rPr>
              <a:t>（</a:t>
            </a:r>
            <a:r>
              <a:rPr lang="en-US" altLang="zh-CN" sz="2800">
                <a:solidFill>
                  <a:srgbClr val="A20070"/>
                </a:solidFill>
                <a:latin typeface="华文中宋" panose="02010600040101010101" pitchFamily="2" charset="-122"/>
                <a:ea typeface="华文中宋" panose="02010600040101010101" pitchFamily="2" charset="-122"/>
              </a:rPr>
              <a:t>1</a:t>
            </a:r>
            <a:r>
              <a:rPr lang="zh-CN" altLang="en-US" sz="2800">
                <a:solidFill>
                  <a:srgbClr val="A20070"/>
                </a:solidFill>
                <a:latin typeface="华文中宋" panose="02010600040101010101" pitchFamily="2" charset="-122"/>
                <a:ea typeface="华文中宋" panose="02010600040101010101" pitchFamily="2" charset="-122"/>
              </a:rPr>
              <a:t>）</a:t>
            </a:r>
            <a:r>
              <a:rPr lang="en-US" altLang="zh-CN" sz="2800">
                <a:solidFill>
                  <a:srgbClr val="A20070"/>
                </a:solidFill>
                <a:latin typeface="华文中宋" panose="02010600040101010101" pitchFamily="2" charset="-122"/>
                <a:ea typeface="华文中宋" panose="02010600040101010101" pitchFamily="2" charset="-122"/>
              </a:rPr>
              <a:t>SQL Server </a:t>
            </a:r>
            <a:r>
              <a:rPr lang="zh-CN" altLang="en-US" sz="2800">
                <a:solidFill>
                  <a:srgbClr val="A20070"/>
                </a:solidFill>
                <a:latin typeface="华文中宋" panose="02010600040101010101" pitchFamily="2" charset="-122"/>
                <a:ea typeface="华文中宋" panose="02010600040101010101" pitchFamily="2" charset="-122"/>
              </a:rPr>
              <a:t>安全验证</a:t>
            </a:r>
          </a:p>
        </p:txBody>
      </p:sp>
      <p:sp>
        <p:nvSpPr>
          <p:cNvPr id="515099" name="Rectangle 27">
            <a:extLst>
              <a:ext uri="{FF2B5EF4-FFF2-40B4-BE49-F238E27FC236}">
                <a16:creationId xmlns:a16="http://schemas.microsoft.com/office/drawing/2014/main" id="{A7CDB5D1-CCB6-4114-955A-69D9727DEFD9}"/>
              </a:ext>
            </a:extLst>
          </p:cNvPr>
          <p:cNvSpPr>
            <a:spLocks noChangeArrowheads="1"/>
          </p:cNvSpPr>
          <p:nvPr/>
        </p:nvSpPr>
        <p:spPr bwMode="auto">
          <a:xfrm>
            <a:off x="533400" y="1851025"/>
            <a:ext cx="8229600" cy="2441575"/>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buClr>
                <a:srgbClr val="FF0000"/>
              </a:buClr>
              <a:buFont typeface="Wingdings" panose="05000000000000000000" pitchFamily="2" charset="2"/>
              <a:buChar char="l"/>
            </a:pPr>
            <a:r>
              <a:rPr lang="en-US" altLang="zh-CN" sz="2600">
                <a:solidFill>
                  <a:srgbClr val="0000FF"/>
                </a:solidFill>
                <a:latin typeface="楷体_GB2312" pitchFamily="49" charset="-122"/>
                <a:ea typeface="楷体_GB2312" pitchFamily="49" charset="-122"/>
              </a:rPr>
              <a:t>SQL Server</a:t>
            </a:r>
            <a:r>
              <a:rPr lang="zh-CN" altLang="en-US" sz="2600">
                <a:solidFill>
                  <a:srgbClr val="0000FF"/>
                </a:solidFill>
                <a:latin typeface="楷体_GB2312" pitchFamily="49" charset="-122"/>
                <a:ea typeface="楷体_GB2312" pitchFamily="49" charset="-122"/>
              </a:rPr>
              <a:t>安全验证</a:t>
            </a:r>
            <a:r>
              <a:rPr lang="zh-CN" altLang="en-US" sz="2600">
                <a:solidFill>
                  <a:srgbClr val="000000"/>
                </a:solidFill>
                <a:latin typeface="楷体_GB2312" pitchFamily="49" charset="-122"/>
                <a:ea typeface="楷体_GB2312" pitchFamily="49" charset="-122"/>
              </a:rPr>
              <a:t>是根据用户登录 </a:t>
            </a:r>
            <a:r>
              <a:rPr lang="en-US" altLang="zh-CN" sz="2600">
                <a:solidFill>
                  <a:srgbClr val="000000"/>
                </a:solidFill>
                <a:latin typeface="楷体_GB2312" pitchFamily="49" charset="-122"/>
                <a:ea typeface="楷体_GB2312" pitchFamily="49" charset="-122"/>
              </a:rPr>
              <a:t>SQL Server</a:t>
            </a:r>
            <a:r>
              <a:rPr lang="zh-CN" altLang="en-US" sz="2600">
                <a:solidFill>
                  <a:srgbClr val="000000"/>
                </a:solidFill>
                <a:latin typeface="楷体_GB2312" pitchFamily="49" charset="-122"/>
                <a:ea typeface="楷体_GB2312" pitchFamily="49" charset="-122"/>
              </a:rPr>
              <a:t>时提供的登录名和密码验证用户是否可以连接</a:t>
            </a:r>
            <a:r>
              <a:rPr lang="en-US" altLang="zh-CN" sz="2600">
                <a:solidFill>
                  <a:srgbClr val="000000"/>
                </a:solidFill>
                <a:latin typeface="楷体_GB2312" pitchFamily="49" charset="-122"/>
                <a:ea typeface="楷体_GB2312" pitchFamily="49" charset="-122"/>
              </a:rPr>
              <a:t>SQL Server</a:t>
            </a:r>
            <a:r>
              <a:rPr lang="zh-CN" altLang="en-US" sz="2600">
                <a:solidFill>
                  <a:srgbClr val="000000"/>
                </a:solidFill>
                <a:latin typeface="楷体_GB2312" pitchFamily="49" charset="-122"/>
                <a:ea typeface="楷体_GB2312" pitchFamily="49" charset="-122"/>
              </a:rPr>
              <a:t>。</a:t>
            </a:r>
          </a:p>
          <a:p>
            <a:pPr>
              <a:lnSpc>
                <a:spcPct val="110000"/>
              </a:lnSpc>
              <a:buClr>
                <a:srgbClr val="FF0000"/>
              </a:buClr>
              <a:buFont typeface="Wingdings" panose="05000000000000000000" pitchFamily="2" charset="2"/>
              <a:buChar char="l"/>
            </a:pPr>
            <a:r>
              <a:rPr lang="en-US" altLang="zh-CN" sz="2600">
                <a:solidFill>
                  <a:srgbClr val="000000"/>
                </a:solidFill>
                <a:latin typeface="楷体_GB2312" pitchFamily="49" charset="-122"/>
                <a:ea typeface="楷体_GB2312" pitchFamily="49" charset="-122"/>
              </a:rPr>
              <a:t>SQL Server</a:t>
            </a:r>
            <a:r>
              <a:rPr lang="zh-CN" altLang="en-US" sz="2600">
                <a:solidFill>
                  <a:srgbClr val="000000"/>
                </a:solidFill>
                <a:latin typeface="楷体_GB2312" pitchFamily="49" charset="-122"/>
                <a:ea typeface="楷体_GB2312" pitchFamily="49" charset="-122"/>
              </a:rPr>
              <a:t>安全身份验证机制提供两种模式：</a:t>
            </a:r>
            <a:r>
              <a:rPr lang="en-US" altLang="zh-CN" sz="2600">
                <a:solidFill>
                  <a:srgbClr val="0000FF"/>
                </a:solidFill>
                <a:latin typeface="楷体_GB2312" pitchFamily="49" charset="-122"/>
                <a:ea typeface="楷体_GB2312" pitchFamily="49" charset="-122"/>
              </a:rPr>
              <a:t>Windows</a:t>
            </a:r>
            <a:r>
              <a:rPr lang="zh-CN" altLang="en-US" sz="2600">
                <a:solidFill>
                  <a:srgbClr val="0000FF"/>
                </a:solidFill>
                <a:latin typeface="楷体_GB2312" pitchFamily="49" charset="-122"/>
                <a:ea typeface="楷体_GB2312" pitchFamily="49" charset="-122"/>
              </a:rPr>
              <a:t>验证模式</a:t>
            </a:r>
            <a:r>
              <a:rPr lang="zh-CN" altLang="en-US" sz="2600">
                <a:solidFill>
                  <a:srgbClr val="000000"/>
                </a:solidFill>
                <a:latin typeface="楷体_GB2312" pitchFamily="49" charset="-122"/>
                <a:ea typeface="楷体_GB2312" pitchFamily="49" charset="-122"/>
              </a:rPr>
              <a:t>和</a:t>
            </a:r>
            <a:r>
              <a:rPr lang="zh-CN" altLang="en-US" sz="2600">
                <a:solidFill>
                  <a:srgbClr val="0000FF"/>
                </a:solidFill>
                <a:latin typeface="楷体_GB2312" pitchFamily="49" charset="-122"/>
                <a:ea typeface="楷体_GB2312" pitchFamily="49" charset="-122"/>
              </a:rPr>
              <a:t>混合验证模式</a:t>
            </a:r>
            <a:r>
              <a:rPr lang="zh-CN" altLang="en-US" sz="2600">
                <a:solidFill>
                  <a:srgbClr val="000000"/>
                </a:solidFill>
                <a:latin typeface="楷体_GB2312" pitchFamily="49" charset="-122"/>
                <a:ea typeface="楷体_GB2312" pitchFamily="49" charset="-122"/>
              </a:rPr>
              <a:t>。</a:t>
            </a:r>
          </a:p>
        </p:txBody>
      </p:sp>
      <p:grpSp>
        <p:nvGrpSpPr>
          <p:cNvPr id="515100" name="Group 28">
            <a:extLst>
              <a:ext uri="{FF2B5EF4-FFF2-40B4-BE49-F238E27FC236}">
                <a16:creationId xmlns:a16="http://schemas.microsoft.com/office/drawing/2014/main" id="{1C0FDE47-DFBC-476F-8254-6DF5C75C561B}"/>
              </a:ext>
            </a:extLst>
          </p:cNvPr>
          <p:cNvGrpSpPr>
            <a:grpSpLocks/>
          </p:cNvGrpSpPr>
          <p:nvPr/>
        </p:nvGrpSpPr>
        <p:grpSpPr bwMode="auto">
          <a:xfrm>
            <a:off x="1187450" y="4602163"/>
            <a:ext cx="6624638" cy="1922462"/>
            <a:chOff x="657" y="2614"/>
            <a:chExt cx="4037" cy="1347"/>
          </a:xfrm>
        </p:grpSpPr>
        <p:sp>
          <p:nvSpPr>
            <p:cNvPr id="515101" name="Rectangle 29">
              <a:extLst>
                <a:ext uri="{FF2B5EF4-FFF2-40B4-BE49-F238E27FC236}">
                  <a16:creationId xmlns:a16="http://schemas.microsoft.com/office/drawing/2014/main" id="{C28DDD6F-3679-408B-95DD-570FD48D6D44}"/>
                </a:ext>
              </a:extLst>
            </p:cNvPr>
            <p:cNvSpPr>
              <a:spLocks noChangeArrowheads="1"/>
            </p:cNvSpPr>
            <p:nvPr/>
          </p:nvSpPr>
          <p:spPr bwMode="auto">
            <a:xfrm>
              <a:off x="2336" y="2614"/>
              <a:ext cx="2358" cy="576"/>
            </a:xfrm>
            <a:prstGeom prst="rect">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3200" b="1">
                  <a:solidFill>
                    <a:srgbClr val="000000"/>
                  </a:solidFill>
                  <a:latin typeface="Times New Roman" panose="02020603050405020304" pitchFamily="18" charset="0"/>
                  <a:ea typeface="宋体" panose="02010600030101010101" pitchFamily="2" charset="-122"/>
                </a:rPr>
                <a:t>Windows</a:t>
              </a:r>
              <a:r>
                <a:rPr kumimoji="1" lang="zh-CN" altLang="en-US" sz="3200" b="1">
                  <a:solidFill>
                    <a:srgbClr val="000000"/>
                  </a:solidFill>
                  <a:latin typeface="Times New Roman" panose="02020603050405020304" pitchFamily="18" charset="0"/>
                  <a:ea typeface="宋体" panose="02010600030101010101" pitchFamily="2" charset="-122"/>
                </a:rPr>
                <a:t>验证模式</a:t>
              </a:r>
            </a:p>
          </p:txBody>
        </p:sp>
        <p:sp>
          <p:nvSpPr>
            <p:cNvPr id="515102" name="Rectangle 30">
              <a:extLst>
                <a:ext uri="{FF2B5EF4-FFF2-40B4-BE49-F238E27FC236}">
                  <a16:creationId xmlns:a16="http://schemas.microsoft.com/office/drawing/2014/main" id="{B05A1F15-F47F-41D6-B11B-DCA8DCB2E8B2}"/>
                </a:ext>
              </a:extLst>
            </p:cNvPr>
            <p:cNvSpPr>
              <a:spLocks noChangeArrowheads="1"/>
            </p:cNvSpPr>
            <p:nvPr/>
          </p:nvSpPr>
          <p:spPr bwMode="auto">
            <a:xfrm>
              <a:off x="2336" y="3385"/>
              <a:ext cx="2358" cy="576"/>
            </a:xfrm>
            <a:prstGeom prst="rect">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b="1">
                  <a:solidFill>
                    <a:srgbClr val="000000"/>
                  </a:solidFill>
                  <a:latin typeface="Times New Roman" panose="02020603050405020304" pitchFamily="18" charset="0"/>
                  <a:ea typeface="宋体" panose="02010600030101010101" pitchFamily="2" charset="-122"/>
                </a:rPr>
                <a:t>混合验证模式</a:t>
              </a:r>
            </a:p>
          </p:txBody>
        </p:sp>
        <p:sp>
          <p:nvSpPr>
            <p:cNvPr id="515103" name="AutoShape 31">
              <a:extLst>
                <a:ext uri="{FF2B5EF4-FFF2-40B4-BE49-F238E27FC236}">
                  <a16:creationId xmlns:a16="http://schemas.microsoft.com/office/drawing/2014/main" id="{A1C62A6A-9ECA-4E87-879F-6612270FBE66}"/>
                </a:ext>
              </a:extLst>
            </p:cNvPr>
            <p:cNvSpPr>
              <a:spLocks noChangeArrowheads="1"/>
            </p:cNvSpPr>
            <p:nvPr/>
          </p:nvSpPr>
          <p:spPr bwMode="auto">
            <a:xfrm>
              <a:off x="657" y="3022"/>
              <a:ext cx="1315" cy="708"/>
            </a:xfrm>
            <a:prstGeom prst="flowChartDelay">
              <a:avLst/>
            </a:prstGeom>
            <a:blipFill dpi="0" rotWithShape="1">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000000"/>
                  </a:solidFill>
                  <a:latin typeface="Times New Roman" panose="02020603050405020304" pitchFamily="18" charset="0"/>
                  <a:ea typeface="宋体" panose="02010600030101010101" pitchFamily="2" charset="-122"/>
                </a:rPr>
                <a:t>SQL Server</a:t>
              </a:r>
            </a:p>
            <a:p>
              <a:pPr algn="ctr"/>
              <a:r>
                <a:rPr kumimoji="1" lang="zh-CN" altLang="en-US" sz="2800" b="1">
                  <a:solidFill>
                    <a:srgbClr val="000000"/>
                  </a:solidFill>
                  <a:latin typeface="Times New Roman" panose="02020603050405020304" pitchFamily="18" charset="0"/>
                  <a:ea typeface="宋体" panose="02010600030101010101" pitchFamily="2" charset="-122"/>
                </a:rPr>
                <a:t>安全验证</a:t>
              </a:r>
            </a:p>
          </p:txBody>
        </p:sp>
        <p:sp>
          <p:nvSpPr>
            <p:cNvPr id="515104" name="AutoShape 32">
              <a:extLst>
                <a:ext uri="{FF2B5EF4-FFF2-40B4-BE49-F238E27FC236}">
                  <a16:creationId xmlns:a16="http://schemas.microsoft.com/office/drawing/2014/main" id="{6D14376A-2253-4092-B99B-6BF4A78FFDA3}"/>
                </a:ext>
              </a:extLst>
            </p:cNvPr>
            <p:cNvSpPr>
              <a:spLocks/>
            </p:cNvSpPr>
            <p:nvPr/>
          </p:nvSpPr>
          <p:spPr bwMode="auto">
            <a:xfrm>
              <a:off x="2019" y="2614"/>
              <a:ext cx="181" cy="1315"/>
            </a:xfrm>
            <a:prstGeom prst="leftBrace">
              <a:avLst>
                <a:gd name="adj1" fmla="val 60543"/>
                <a:gd name="adj2" fmla="val 50000"/>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880"/>
    </mc:Choice>
    <mc:Fallback xmlns="">
      <p:transition spd="slow" advTm="3788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515092"/>
                                        </p:tgtEl>
                                        <p:attrNameLst>
                                          <p:attrName>style.visibility</p:attrName>
                                        </p:attrNameLst>
                                      </p:cBhvr>
                                      <p:to>
                                        <p:strVal val="visible"/>
                                      </p:to>
                                    </p:set>
                                    <p:animEffect transition="in" filter="blinds(vertical)">
                                      <p:cBhvr>
                                        <p:cTn id="7" dur="500"/>
                                        <p:tgtEl>
                                          <p:spTgt spid="515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15105"/>
                                        </p:tgtEl>
                                        <p:attrNameLst>
                                          <p:attrName>style.visibility</p:attrName>
                                        </p:attrNameLst>
                                      </p:cBhvr>
                                      <p:to>
                                        <p:strVal val="visible"/>
                                      </p:to>
                                    </p:set>
                                    <p:animEffect transition="in" filter="wipe(right)">
                                      <p:cBhvr>
                                        <p:cTn id="12" dur="500"/>
                                        <p:tgtEl>
                                          <p:spTgt spid="5151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5099">
                                            <p:txEl>
                                              <p:pRg st="0" end="0"/>
                                            </p:txEl>
                                          </p:spTgt>
                                        </p:tgtEl>
                                        <p:attrNameLst>
                                          <p:attrName>style.visibility</p:attrName>
                                        </p:attrNameLst>
                                      </p:cBhvr>
                                      <p:to>
                                        <p:strVal val="visible"/>
                                      </p:to>
                                    </p:set>
                                    <p:animEffect transition="in" filter="wipe(left)">
                                      <p:cBhvr>
                                        <p:cTn id="17" dur="500"/>
                                        <p:tgtEl>
                                          <p:spTgt spid="51509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5099">
                                            <p:txEl>
                                              <p:pRg st="1" end="1"/>
                                            </p:txEl>
                                          </p:spTgt>
                                        </p:tgtEl>
                                        <p:attrNameLst>
                                          <p:attrName>style.visibility</p:attrName>
                                        </p:attrNameLst>
                                      </p:cBhvr>
                                      <p:to>
                                        <p:strVal val="visible"/>
                                      </p:to>
                                    </p:set>
                                    <p:animEffect transition="in" filter="wipe(left)">
                                      <p:cBhvr>
                                        <p:cTn id="22" dur="500"/>
                                        <p:tgtEl>
                                          <p:spTgt spid="515099">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515100"/>
                                        </p:tgtEl>
                                        <p:attrNameLst>
                                          <p:attrName>style.visibility</p:attrName>
                                        </p:attrNameLst>
                                      </p:cBhvr>
                                      <p:to>
                                        <p:strVal val="visible"/>
                                      </p:to>
                                    </p:set>
                                    <p:anim calcmode="lin" valueType="num">
                                      <p:cBhvr additive="base">
                                        <p:cTn id="27" dur="500" fill="hold"/>
                                        <p:tgtEl>
                                          <p:spTgt spid="515100"/>
                                        </p:tgtEl>
                                        <p:attrNameLst>
                                          <p:attrName>ppt_x</p:attrName>
                                        </p:attrNameLst>
                                      </p:cBhvr>
                                      <p:tavLst>
                                        <p:tav tm="0">
                                          <p:val>
                                            <p:strVal val="#ppt_x"/>
                                          </p:val>
                                        </p:tav>
                                        <p:tav tm="100000">
                                          <p:val>
                                            <p:strVal val="#ppt_x"/>
                                          </p:val>
                                        </p:tav>
                                      </p:tavLst>
                                    </p:anim>
                                    <p:anim calcmode="lin" valueType="num">
                                      <p:cBhvr additive="base">
                                        <p:cTn id="28" dur="500" fill="hold"/>
                                        <p:tgtEl>
                                          <p:spTgt spid="515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05" grpId="0" animBg="1"/>
      <p:bldP spid="51509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AutoShape 13">
            <a:extLst>
              <a:ext uri="{FF2B5EF4-FFF2-40B4-BE49-F238E27FC236}">
                <a16:creationId xmlns:a16="http://schemas.microsoft.com/office/drawing/2014/main" id="{54C038F5-D410-4118-A9F7-8D17785F7F5A}"/>
              </a:ext>
            </a:extLst>
          </p:cNvPr>
          <p:cNvSpPr>
            <a:spLocks noChangeArrowheads="1"/>
          </p:cNvSpPr>
          <p:nvPr/>
        </p:nvSpPr>
        <p:spPr bwMode="auto">
          <a:xfrm>
            <a:off x="323850" y="1773238"/>
            <a:ext cx="8569325" cy="3095625"/>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17123" name="Rectangle 3">
            <a:extLst>
              <a:ext uri="{FF2B5EF4-FFF2-40B4-BE49-F238E27FC236}">
                <a16:creationId xmlns:a16="http://schemas.microsoft.com/office/drawing/2014/main" id="{B50C60FB-1120-4B3E-8AA4-A60000361C9D}"/>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7132" name="Rectangle 12">
            <a:extLst>
              <a:ext uri="{FF2B5EF4-FFF2-40B4-BE49-F238E27FC236}">
                <a16:creationId xmlns:a16="http://schemas.microsoft.com/office/drawing/2014/main" id="{2B0EC2D5-354D-4487-B568-D3150CA76ECB}"/>
              </a:ext>
            </a:extLst>
          </p:cNvPr>
          <p:cNvSpPr>
            <a:spLocks noChangeArrowheads="1"/>
          </p:cNvSpPr>
          <p:nvPr/>
        </p:nvSpPr>
        <p:spPr bwMode="auto">
          <a:xfrm>
            <a:off x="684213" y="2262188"/>
            <a:ext cx="7772400" cy="2174875"/>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pPr>
            <a:r>
              <a:rPr lang="zh-CN" altLang="en-US">
                <a:solidFill>
                  <a:srgbClr val="000000"/>
                </a:solidFill>
                <a:ea typeface="隶书" panose="02010509060101010101" pitchFamily="49" charset="-122"/>
              </a:rPr>
              <a:t>          用户通过</a:t>
            </a:r>
            <a:r>
              <a:rPr lang="zh-CN" altLang="en-US">
                <a:solidFill>
                  <a:srgbClr val="0000FF"/>
                </a:solidFill>
                <a:ea typeface="隶书" panose="02010509060101010101" pitchFamily="49" charset="-122"/>
              </a:rPr>
              <a:t>登录名</a:t>
            </a:r>
            <a:r>
              <a:rPr lang="zh-CN" altLang="en-US">
                <a:solidFill>
                  <a:srgbClr val="000000"/>
                </a:solidFill>
                <a:ea typeface="隶书" panose="02010509060101010101" pitchFamily="49" charset="-122"/>
              </a:rPr>
              <a:t>成功连接到</a:t>
            </a:r>
            <a:r>
              <a:rPr lang="en-US" altLang="zh-CN">
                <a:solidFill>
                  <a:srgbClr val="000000"/>
                </a:solidFill>
                <a:ea typeface="隶书" panose="02010509060101010101" pitchFamily="49" charset="-122"/>
              </a:rPr>
              <a:t>SQL Server</a:t>
            </a:r>
            <a:r>
              <a:rPr lang="zh-CN" altLang="en-US">
                <a:solidFill>
                  <a:srgbClr val="000000"/>
                </a:solidFill>
                <a:ea typeface="隶书" panose="02010509060101010101" pitchFamily="49" charset="-122"/>
              </a:rPr>
              <a:t>后，如果想访问某个数据库，他们还必须在数据库中有</a:t>
            </a:r>
            <a:r>
              <a:rPr lang="zh-CN" altLang="en-US">
                <a:solidFill>
                  <a:srgbClr val="FF0000"/>
                </a:solidFill>
                <a:ea typeface="隶书" panose="02010509060101010101" pitchFamily="49" charset="-122"/>
              </a:rPr>
              <a:t>账号</a:t>
            </a:r>
            <a:r>
              <a:rPr lang="zh-CN" altLang="en-US">
                <a:solidFill>
                  <a:srgbClr val="000000"/>
                </a:solidFill>
                <a:ea typeface="隶书" panose="02010509060101010101" pitchFamily="49" charset="-122"/>
              </a:rPr>
              <a:t>，否则对该数据库的访问就会遭到拒绝。</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377"/>
    </mc:Choice>
    <mc:Fallback xmlns="">
      <p:transition spd="slow" advTm="3137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7122"/>
                                        </p:tgtEl>
                                        <p:attrNameLst>
                                          <p:attrName>style.visibility</p:attrName>
                                        </p:attrNameLst>
                                      </p:cBhvr>
                                      <p:to>
                                        <p:strVal val="visible"/>
                                      </p:to>
                                    </p:set>
                                    <p:animEffect transition="in" filter="wipe(left)">
                                      <p:cBhvr>
                                        <p:cTn id="7" dur="500"/>
                                        <p:tgtEl>
                                          <p:spTgt spid="51712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17132"/>
                                        </p:tgtEl>
                                        <p:attrNameLst>
                                          <p:attrName>style.visibility</p:attrName>
                                        </p:attrNameLst>
                                      </p:cBhvr>
                                      <p:to>
                                        <p:strVal val="visible"/>
                                      </p:to>
                                    </p:set>
                                    <p:animEffect transition="in" filter="wipe(left)">
                                      <p:cBhvr>
                                        <p:cTn id="11" dur="500"/>
                                        <p:tgtEl>
                                          <p:spTgt spid="517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2" grpId="0" animBg="1"/>
      <p:bldP spid="5171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8168" name="Group 24">
            <a:extLst>
              <a:ext uri="{FF2B5EF4-FFF2-40B4-BE49-F238E27FC236}">
                <a16:creationId xmlns:a16="http://schemas.microsoft.com/office/drawing/2014/main" id="{0AA01827-6B42-4D2E-97EE-FABBC38B83BC}"/>
              </a:ext>
            </a:extLst>
          </p:cNvPr>
          <p:cNvGrpSpPr>
            <a:grpSpLocks/>
          </p:cNvGrpSpPr>
          <p:nvPr/>
        </p:nvGrpSpPr>
        <p:grpSpPr bwMode="auto">
          <a:xfrm>
            <a:off x="4706938" y="3836988"/>
            <a:ext cx="3632200" cy="2760662"/>
            <a:chOff x="2965" y="2417"/>
            <a:chExt cx="2288" cy="1739"/>
          </a:xfrm>
        </p:grpSpPr>
        <p:sp>
          <p:nvSpPr>
            <p:cNvPr id="226315" name="AutoShape 11">
              <a:extLst>
                <a:ext uri="{FF2B5EF4-FFF2-40B4-BE49-F238E27FC236}">
                  <a16:creationId xmlns:a16="http://schemas.microsoft.com/office/drawing/2014/main" id="{B6C5CB4A-D9B7-4140-99D3-F8AA6F2164A8}"/>
                </a:ext>
              </a:extLst>
            </p:cNvPr>
            <p:cNvSpPr>
              <a:spLocks noChangeArrowheads="1"/>
            </p:cNvSpPr>
            <p:nvPr/>
          </p:nvSpPr>
          <p:spPr bwMode="gray">
            <a:xfrm rot="5400000">
              <a:off x="3240" y="2144"/>
              <a:ext cx="1737" cy="2288"/>
            </a:xfrm>
            <a:prstGeom prst="roundRect">
              <a:avLst>
                <a:gd name="adj" fmla="val 19894"/>
              </a:avLst>
            </a:prstGeom>
            <a:gradFill rotWithShape="1">
              <a:gsLst>
                <a:gs pos="0">
                  <a:srgbClr val="C9C9C9">
                    <a:alpha val="98000"/>
                  </a:srgbClr>
                </a:gs>
                <a:gs pos="50000">
                  <a:srgbClr val="FFFFFF"/>
                </a:gs>
                <a:gs pos="100000">
                  <a:srgbClr val="C9C9C9">
                    <a:alpha val="98000"/>
                  </a:srgbClr>
                </a:gs>
              </a:gsLst>
              <a:lin ang="5400000" scaled="1"/>
            </a:gradFill>
            <a:ln w="38100" algn="ctr">
              <a:solidFill>
                <a:srgbClr val="DDDDDD"/>
              </a:solidFill>
              <a:round/>
              <a:headEnd/>
              <a:tailEnd/>
            </a:ln>
          </p:spPr>
          <p:txBody>
            <a:bodyPr rot="10800000" vert="eaVert" wrap="none" anchor="ctr"/>
            <a:lstStyle/>
            <a:p>
              <a:pPr>
                <a:defRPr/>
              </a:pPr>
              <a:endParaRPr lang="zh-CN" altLang="en-US">
                <a:ea typeface="宋体" pitchFamily="2" charset="-122"/>
              </a:endParaRPr>
            </a:p>
          </p:txBody>
        </p:sp>
        <p:sp>
          <p:nvSpPr>
            <p:cNvPr id="518163" name="Freeform 12">
              <a:extLst>
                <a:ext uri="{FF2B5EF4-FFF2-40B4-BE49-F238E27FC236}">
                  <a16:creationId xmlns:a16="http://schemas.microsoft.com/office/drawing/2014/main" id="{232A48A8-DB84-4CFA-A706-1AE7069EEE2A}"/>
                </a:ext>
              </a:extLst>
            </p:cNvPr>
            <p:cNvSpPr>
              <a:spLocks/>
            </p:cNvSpPr>
            <p:nvPr/>
          </p:nvSpPr>
          <p:spPr bwMode="gray">
            <a:xfrm>
              <a:off x="2978" y="2417"/>
              <a:ext cx="2264" cy="384"/>
            </a:xfrm>
            <a:custGeom>
              <a:avLst/>
              <a:gdLst>
                <a:gd name="T0" fmla="*/ 0 w 1259"/>
                <a:gd name="T1" fmla="*/ 298 h 298"/>
                <a:gd name="T2" fmla="*/ 7 w 1259"/>
                <a:gd name="T3" fmla="*/ 171 h 298"/>
                <a:gd name="T4" fmla="*/ 166 w 1259"/>
                <a:gd name="T5" fmla="*/ 14 h 298"/>
                <a:gd name="T6" fmla="*/ 356 w 1259"/>
                <a:gd name="T7" fmla="*/ 13 h 298"/>
                <a:gd name="T8" fmla="*/ 922 w 1259"/>
                <a:gd name="T9" fmla="*/ 10 h 298"/>
                <a:gd name="T10" fmla="*/ 1060 w 1259"/>
                <a:gd name="T11" fmla="*/ 12 h 298"/>
                <a:gd name="T12" fmla="*/ 1249 w 1259"/>
                <a:gd name="T13" fmla="*/ 186 h 298"/>
                <a:gd name="T14" fmla="*/ 1255 w 1259"/>
                <a:gd name="T15" fmla="*/ 297 h 298"/>
                <a:gd name="T16" fmla="*/ 0 w 1259"/>
                <a:gd name="T17" fmla="*/ 298 h 2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9"/>
                <a:gd name="T28" fmla="*/ 0 h 298"/>
                <a:gd name="T29" fmla="*/ 1259 w 1259"/>
                <a:gd name="T30" fmla="*/ 298 h 2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9" h="298">
                  <a:moveTo>
                    <a:pt x="0" y="298"/>
                  </a:moveTo>
                  <a:lnTo>
                    <a:pt x="7" y="171"/>
                  </a:lnTo>
                  <a:cubicBezTo>
                    <a:pt x="35" y="124"/>
                    <a:pt x="108" y="40"/>
                    <a:pt x="166" y="14"/>
                  </a:cubicBezTo>
                  <a:lnTo>
                    <a:pt x="356" y="13"/>
                  </a:lnTo>
                  <a:cubicBezTo>
                    <a:pt x="482" y="12"/>
                    <a:pt x="805" y="10"/>
                    <a:pt x="922" y="10"/>
                  </a:cubicBezTo>
                  <a:cubicBezTo>
                    <a:pt x="1039" y="10"/>
                    <a:pt x="988" y="0"/>
                    <a:pt x="1060" y="12"/>
                  </a:cubicBezTo>
                  <a:cubicBezTo>
                    <a:pt x="1132" y="24"/>
                    <a:pt x="1204" y="81"/>
                    <a:pt x="1249" y="186"/>
                  </a:cubicBezTo>
                  <a:cubicBezTo>
                    <a:pt x="1259" y="258"/>
                    <a:pt x="1255" y="297"/>
                    <a:pt x="1255" y="297"/>
                  </a:cubicBezTo>
                  <a:lnTo>
                    <a:pt x="0" y="298"/>
                  </a:lnTo>
                  <a:close/>
                </a:path>
              </a:pathLst>
            </a:custGeom>
            <a:solidFill>
              <a:srgbClr val="9999FF">
                <a:alpha val="50195"/>
              </a:srgbClr>
            </a:solidFill>
            <a:ln>
              <a:noFill/>
            </a:ln>
            <a:extLst>
              <a:ext uri="{91240B29-F687-4F45-9708-019B960494DF}">
                <a14:hiddenLine xmlns:a14="http://schemas.microsoft.com/office/drawing/2010/main" w="38100" cap="flat" cmpd="sng">
                  <a:solidFill>
                    <a:srgbClr val="000000"/>
                  </a:solidFill>
                  <a:prstDash val="solid"/>
                  <a:round/>
                  <a:headEnd/>
                  <a:tailEnd/>
                </a14:hiddenLine>
              </a:ext>
            </a:extLst>
          </p:spPr>
          <p:txBody>
            <a:bodyPr wrap="none" anchor="ctr"/>
            <a:lstStyle/>
            <a:p>
              <a:endParaRPr lang="zh-CN" altLang="en-US"/>
            </a:p>
          </p:txBody>
        </p:sp>
        <p:sp>
          <p:nvSpPr>
            <p:cNvPr id="518166" name="Rectangle 9">
              <a:extLst>
                <a:ext uri="{FF2B5EF4-FFF2-40B4-BE49-F238E27FC236}">
                  <a16:creationId xmlns:a16="http://schemas.microsoft.com/office/drawing/2014/main" id="{B1A04347-D09D-4210-852A-67C047C2F64B}"/>
                </a:ext>
              </a:extLst>
            </p:cNvPr>
            <p:cNvSpPr>
              <a:spLocks noChangeArrowheads="1"/>
            </p:cNvSpPr>
            <p:nvPr/>
          </p:nvSpPr>
          <p:spPr bwMode="gray">
            <a:xfrm>
              <a:off x="3637" y="2478"/>
              <a:ext cx="10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guest</a:t>
              </a:r>
              <a:r>
                <a:rPr kumimoji="0" lang="zh-CN" altLang="en-US"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账号</a:t>
              </a:r>
            </a:p>
          </p:txBody>
        </p:sp>
      </p:grpSp>
      <p:sp>
        <p:nvSpPr>
          <p:cNvPr id="518146" name="AutoShape 13">
            <a:extLst>
              <a:ext uri="{FF2B5EF4-FFF2-40B4-BE49-F238E27FC236}">
                <a16:creationId xmlns:a16="http://schemas.microsoft.com/office/drawing/2014/main" id="{0B18D5E5-19B1-455F-A5EA-D0AC7514F6CA}"/>
              </a:ext>
            </a:extLst>
          </p:cNvPr>
          <p:cNvSpPr>
            <a:spLocks noChangeArrowheads="1"/>
          </p:cNvSpPr>
          <p:nvPr/>
        </p:nvSpPr>
        <p:spPr bwMode="auto">
          <a:xfrm>
            <a:off x="323850" y="1773238"/>
            <a:ext cx="8569325" cy="1727200"/>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18147" name="Rectangle 3">
            <a:extLst>
              <a:ext uri="{FF2B5EF4-FFF2-40B4-BE49-F238E27FC236}">
                <a16:creationId xmlns:a16="http://schemas.microsoft.com/office/drawing/2014/main" id="{2F43C1AD-35CA-44F1-B500-97479FD3DA61}"/>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8148" name="Rectangle 4">
            <a:extLst>
              <a:ext uri="{FF2B5EF4-FFF2-40B4-BE49-F238E27FC236}">
                <a16:creationId xmlns:a16="http://schemas.microsoft.com/office/drawing/2014/main" id="{B03B65D5-C553-4C8E-9CF2-B4A8AA8761D5}"/>
              </a:ext>
            </a:extLst>
          </p:cNvPr>
          <p:cNvSpPr>
            <a:spLocks noChangeArrowheads="1"/>
          </p:cNvSpPr>
          <p:nvPr/>
        </p:nvSpPr>
        <p:spPr bwMode="auto">
          <a:xfrm>
            <a:off x="611188" y="1125538"/>
            <a:ext cx="5905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BBE0E3"/>
                </a:solidFill>
                <a:miter lim="800000"/>
                <a:headEnd/>
                <a:tailEnd/>
              </a14:hiddenLine>
            </a:ext>
          </a:extLst>
        </p:spPr>
        <p:txBody>
          <a:bodyPr>
            <a:spAutoFit/>
          </a:bodyPr>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2800">
                <a:solidFill>
                  <a:srgbClr val="A20070"/>
                </a:solidFill>
                <a:latin typeface="华文中宋" panose="02010600040101010101" pitchFamily="2" charset="-122"/>
                <a:ea typeface="华文中宋" panose="02010600040101010101" pitchFamily="2" charset="-122"/>
              </a:rPr>
              <a:t>（</a:t>
            </a:r>
            <a:r>
              <a:rPr lang="en-US" altLang="zh-CN" sz="2800">
                <a:solidFill>
                  <a:srgbClr val="A20070"/>
                </a:solidFill>
                <a:latin typeface="华文中宋" panose="02010600040101010101" pitchFamily="2" charset="-122"/>
                <a:ea typeface="华文中宋" panose="02010600040101010101" pitchFamily="2" charset="-122"/>
              </a:rPr>
              <a:t>2</a:t>
            </a:r>
            <a:r>
              <a:rPr lang="zh-CN" altLang="en-US" sz="2800">
                <a:solidFill>
                  <a:srgbClr val="A20070"/>
                </a:solidFill>
                <a:latin typeface="华文中宋" panose="02010600040101010101" pitchFamily="2" charset="-122"/>
                <a:ea typeface="华文中宋" panose="02010600040101010101" pitchFamily="2" charset="-122"/>
              </a:rPr>
              <a:t>）数据库安全验证</a:t>
            </a:r>
          </a:p>
        </p:txBody>
      </p:sp>
      <p:sp>
        <p:nvSpPr>
          <p:cNvPr id="518149" name="Rectangle 5">
            <a:extLst>
              <a:ext uri="{FF2B5EF4-FFF2-40B4-BE49-F238E27FC236}">
                <a16:creationId xmlns:a16="http://schemas.microsoft.com/office/drawing/2014/main" id="{D2EB006A-4BC1-4849-A1C1-D867644E2C9A}"/>
              </a:ext>
            </a:extLst>
          </p:cNvPr>
          <p:cNvSpPr>
            <a:spLocks noChangeArrowheads="1"/>
          </p:cNvSpPr>
          <p:nvPr/>
        </p:nvSpPr>
        <p:spPr bwMode="auto">
          <a:xfrm>
            <a:off x="533400" y="1922463"/>
            <a:ext cx="8229600" cy="1506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buClr>
                <a:srgbClr val="FF0000"/>
              </a:buClr>
              <a:buFont typeface="Wingdings" panose="05000000000000000000" pitchFamily="2" charset="2"/>
              <a:buChar char="l"/>
            </a:pPr>
            <a:r>
              <a:rPr lang="en-US" altLang="zh-CN" sz="2600">
                <a:solidFill>
                  <a:srgbClr val="0000FF"/>
                </a:solidFill>
                <a:latin typeface="楷体_GB2312" pitchFamily="49" charset="-122"/>
                <a:ea typeface="楷体_GB2312" pitchFamily="49" charset="-122"/>
              </a:rPr>
              <a:t>数据库账号</a:t>
            </a:r>
            <a:r>
              <a:rPr lang="en-US" altLang="zh-CN" sz="2600">
                <a:solidFill>
                  <a:srgbClr val="000000"/>
                </a:solidFill>
                <a:latin typeface="楷体_GB2312" pitchFamily="49" charset="-122"/>
                <a:ea typeface="楷体_GB2312" pitchFamily="49" charset="-122"/>
              </a:rPr>
              <a:t>的作用范围只是一个数据库，它是登录名在某个数据库上的映射，数据库账号相关信息存储在各个数据库的sysusers表中。</a:t>
            </a:r>
            <a:endParaRPr lang="zh-CN" altLang="en-US" sz="2600">
              <a:solidFill>
                <a:srgbClr val="000000"/>
              </a:solidFill>
              <a:latin typeface="楷体_GB2312" pitchFamily="49" charset="-122"/>
              <a:ea typeface="楷体_GB2312" pitchFamily="49" charset="-122"/>
            </a:endParaRPr>
          </a:p>
        </p:txBody>
      </p:sp>
      <p:grpSp>
        <p:nvGrpSpPr>
          <p:cNvPr id="518167" name="Group 23">
            <a:extLst>
              <a:ext uri="{FF2B5EF4-FFF2-40B4-BE49-F238E27FC236}">
                <a16:creationId xmlns:a16="http://schemas.microsoft.com/office/drawing/2014/main" id="{EBB2005D-BE5B-45AC-9737-33C9D64A30C5}"/>
              </a:ext>
            </a:extLst>
          </p:cNvPr>
          <p:cNvGrpSpPr>
            <a:grpSpLocks/>
          </p:cNvGrpSpPr>
          <p:nvPr/>
        </p:nvGrpSpPr>
        <p:grpSpPr bwMode="auto">
          <a:xfrm>
            <a:off x="827088" y="3798888"/>
            <a:ext cx="3405187" cy="2798762"/>
            <a:chOff x="521" y="2393"/>
            <a:chExt cx="2145" cy="1763"/>
          </a:xfrm>
        </p:grpSpPr>
        <p:sp>
          <p:nvSpPr>
            <p:cNvPr id="226311" name="AutoShape 7">
              <a:extLst>
                <a:ext uri="{FF2B5EF4-FFF2-40B4-BE49-F238E27FC236}">
                  <a16:creationId xmlns:a16="http://schemas.microsoft.com/office/drawing/2014/main" id="{F8A475C0-D00E-4F73-9986-9BE26CAE4DCF}"/>
                </a:ext>
              </a:extLst>
            </p:cNvPr>
            <p:cNvSpPr>
              <a:spLocks noChangeArrowheads="1"/>
            </p:cNvSpPr>
            <p:nvPr/>
          </p:nvSpPr>
          <p:spPr bwMode="gray">
            <a:xfrm rot="5400000">
              <a:off x="755" y="2244"/>
              <a:ext cx="1678" cy="2145"/>
            </a:xfrm>
            <a:prstGeom prst="roundRect">
              <a:avLst>
                <a:gd name="adj" fmla="val 19894"/>
              </a:avLst>
            </a:prstGeom>
            <a:gradFill rotWithShape="1">
              <a:gsLst>
                <a:gs pos="0">
                  <a:srgbClr val="C9C9C9">
                    <a:alpha val="98000"/>
                  </a:srgbClr>
                </a:gs>
                <a:gs pos="50000">
                  <a:srgbClr val="FFFFFF"/>
                </a:gs>
                <a:gs pos="100000">
                  <a:srgbClr val="C9C9C9">
                    <a:alpha val="98000"/>
                  </a:srgbClr>
                </a:gs>
              </a:gsLst>
              <a:lin ang="5400000" scaled="1"/>
            </a:gradFill>
            <a:ln w="38100" algn="ctr">
              <a:solidFill>
                <a:srgbClr val="DDDDDD"/>
              </a:solidFill>
              <a:round/>
              <a:headEnd/>
              <a:tailEnd/>
            </a:ln>
          </p:spPr>
          <p:txBody>
            <a:bodyPr rot="10800000" vert="eaVert" wrap="none" anchor="ctr"/>
            <a:lstStyle/>
            <a:p>
              <a:pPr>
                <a:defRPr/>
              </a:pPr>
              <a:endParaRPr lang="zh-CN" altLang="en-US">
                <a:ea typeface="宋体" pitchFamily="2" charset="-122"/>
              </a:endParaRPr>
            </a:p>
          </p:txBody>
        </p:sp>
        <p:sp>
          <p:nvSpPr>
            <p:cNvPr id="518159" name="Freeform 8">
              <a:extLst>
                <a:ext uri="{FF2B5EF4-FFF2-40B4-BE49-F238E27FC236}">
                  <a16:creationId xmlns:a16="http://schemas.microsoft.com/office/drawing/2014/main" id="{96AD3101-811F-4D0D-A633-135D6DE33BFA}"/>
                </a:ext>
              </a:extLst>
            </p:cNvPr>
            <p:cNvSpPr>
              <a:spLocks/>
            </p:cNvSpPr>
            <p:nvPr/>
          </p:nvSpPr>
          <p:spPr bwMode="gray">
            <a:xfrm>
              <a:off x="542" y="2393"/>
              <a:ext cx="2117" cy="370"/>
            </a:xfrm>
            <a:custGeom>
              <a:avLst/>
              <a:gdLst>
                <a:gd name="T0" fmla="*/ 6 w 1261"/>
                <a:gd name="T1" fmla="*/ 297 h 303"/>
                <a:gd name="T2" fmla="*/ 18 w 1261"/>
                <a:gd name="T3" fmla="*/ 174 h 303"/>
                <a:gd name="T4" fmla="*/ 171 w 1261"/>
                <a:gd name="T5" fmla="*/ 30 h 303"/>
                <a:gd name="T6" fmla="*/ 352 w 1261"/>
                <a:gd name="T7" fmla="*/ 13 h 303"/>
                <a:gd name="T8" fmla="*/ 922 w 1261"/>
                <a:gd name="T9" fmla="*/ 10 h 303"/>
                <a:gd name="T10" fmla="*/ 1061 w 1261"/>
                <a:gd name="T11" fmla="*/ 12 h 303"/>
                <a:gd name="T12" fmla="*/ 1251 w 1261"/>
                <a:gd name="T13" fmla="*/ 190 h 303"/>
                <a:gd name="T14" fmla="*/ 1257 w 1261"/>
                <a:gd name="T15" fmla="*/ 303 h 303"/>
                <a:gd name="T16" fmla="*/ 6 w 1261"/>
                <a:gd name="T17" fmla="*/ 297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1"/>
                <a:gd name="T28" fmla="*/ 0 h 303"/>
                <a:gd name="T29" fmla="*/ 1261 w 1261"/>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1" h="303">
                  <a:moveTo>
                    <a:pt x="6" y="297"/>
                  </a:moveTo>
                  <a:cubicBezTo>
                    <a:pt x="6" y="297"/>
                    <a:pt x="0" y="225"/>
                    <a:pt x="18" y="174"/>
                  </a:cubicBezTo>
                  <a:cubicBezTo>
                    <a:pt x="36" y="123"/>
                    <a:pt x="105" y="45"/>
                    <a:pt x="171" y="30"/>
                  </a:cubicBezTo>
                  <a:cubicBezTo>
                    <a:pt x="237" y="15"/>
                    <a:pt x="227" y="16"/>
                    <a:pt x="352" y="13"/>
                  </a:cubicBezTo>
                  <a:cubicBezTo>
                    <a:pt x="477" y="10"/>
                    <a:pt x="804" y="10"/>
                    <a:pt x="922" y="10"/>
                  </a:cubicBezTo>
                  <a:cubicBezTo>
                    <a:pt x="1039" y="10"/>
                    <a:pt x="988" y="0"/>
                    <a:pt x="1061" y="12"/>
                  </a:cubicBezTo>
                  <a:cubicBezTo>
                    <a:pt x="1133" y="24"/>
                    <a:pt x="1206" y="83"/>
                    <a:pt x="1251" y="190"/>
                  </a:cubicBezTo>
                  <a:cubicBezTo>
                    <a:pt x="1261" y="263"/>
                    <a:pt x="1257" y="303"/>
                    <a:pt x="1257" y="303"/>
                  </a:cubicBezTo>
                  <a:lnTo>
                    <a:pt x="6" y="297"/>
                  </a:lnTo>
                  <a:close/>
                </a:path>
              </a:pathLst>
            </a:custGeom>
            <a:solidFill>
              <a:srgbClr val="4EA7EA">
                <a:alpha val="50195"/>
              </a:srgbClr>
            </a:solidFill>
            <a:ln>
              <a:noFill/>
            </a:ln>
            <a:extLst>
              <a:ext uri="{91240B29-F687-4F45-9708-019B960494DF}">
                <a14:hiddenLine xmlns:a14="http://schemas.microsoft.com/office/drawing/2010/main" w="38100" cap="flat" cmpd="sng">
                  <a:solidFill>
                    <a:srgbClr val="000000"/>
                  </a:solidFill>
                  <a:prstDash val="solid"/>
                  <a:round/>
                  <a:headEnd/>
                  <a:tailEnd/>
                </a14:hiddenLine>
              </a:ext>
            </a:extLst>
          </p:spPr>
          <p:txBody>
            <a:bodyPr wrap="none" anchor="ctr"/>
            <a:lstStyle/>
            <a:p>
              <a:endParaRPr lang="zh-CN" altLang="en-US"/>
            </a:p>
          </p:txBody>
        </p:sp>
        <p:sp>
          <p:nvSpPr>
            <p:cNvPr id="518160" name="Rectangle 9">
              <a:extLst>
                <a:ext uri="{FF2B5EF4-FFF2-40B4-BE49-F238E27FC236}">
                  <a16:creationId xmlns:a16="http://schemas.microsoft.com/office/drawing/2014/main" id="{E5CC9EC0-5280-484C-8426-81CEDF9CAD84}"/>
                </a:ext>
              </a:extLst>
            </p:cNvPr>
            <p:cNvSpPr>
              <a:spLocks noChangeArrowheads="1"/>
            </p:cNvSpPr>
            <p:nvPr/>
          </p:nvSpPr>
          <p:spPr bwMode="gray">
            <a:xfrm>
              <a:off x="1168" y="2440"/>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dbo</a:t>
              </a:r>
              <a:r>
                <a:rPr kumimoji="0" lang="zh-CN" altLang="en-US"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账号</a:t>
              </a:r>
            </a:p>
          </p:txBody>
        </p:sp>
      </p:grpSp>
      <p:sp>
        <p:nvSpPr>
          <p:cNvPr id="518161" name="Text Box 10">
            <a:extLst>
              <a:ext uri="{FF2B5EF4-FFF2-40B4-BE49-F238E27FC236}">
                <a16:creationId xmlns:a16="http://schemas.microsoft.com/office/drawing/2014/main" id="{719CD6ED-3275-41E2-86ED-F64AB00FEF71}"/>
              </a:ext>
            </a:extLst>
          </p:cNvPr>
          <p:cNvSpPr txBox="1">
            <a:spLocks noChangeArrowheads="1"/>
          </p:cNvSpPr>
          <p:nvPr/>
        </p:nvSpPr>
        <p:spPr bwMode="gray">
          <a:xfrm>
            <a:off x="838200" y="4494213"/>
            <a:ext cx="337661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     新创建的数据库只有一个账号</a:t>
            </a:r>
            <a:r>
              <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rPr>
              <a:t>dbo</a:t>
            </a:r>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，系统管理员登录名</a:t>
            </a:r>
            <a:r>
              <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rPr>
              <a:t>sa</a:t>
            </a:r>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默认映射到每个数据库的</a:t>
            </a:r>
            <a:r>
              <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rPr>
              <a:t>dbo</a:t>
            </a:r>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账号。</a:t>
            </a:r>
            <a:endPar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518165" name="Text Box 14">
            <a:extLst>
              <a:ext uri="{FF2B5EF4-FFF2-40B4-BE49-F238E27FC236}">
                <a16:creationId xmlns:a16="http://schemas.microsoft.com/office/drawing/2014/main" id="{DCCF2A95-4569-489C-BEA4-D2582D4A9B0B}"/>
              </a:ext>
            </a:extLst>
          </p:cNvPr>
          <p:cNvSpPr txBox="1">
            <a:spLocks noChangeArrowheads="1"/>
          </p:cNvSpPr>
          <p:nvPr/>
        </p:nvSpPr>
        <p:spPr bwMode="gray">
          <a:xfrm>
            <a:off x="4716463" y="4516438"/>
            <a:ext cx="3600450"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rPr>
              <a:t>       guest</a:t>
            </a:r>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账号不跟特定登录名建立映射关系，那些在数据库中没有对应账号的登录名都映射到</a:t>
            </a:r>
            <a:r>
              <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rPr>
              <a:t>guest</a:t>
            </a:r>
            <a:r>
              <a:rPr kumimoji="0" lang="zh-CN" altLang="en-US" b="1">
                <a:solidFill>
                  <a:srgbClr val="1C1C1C"/>
                </a:solidFill>
                <a:effectLst>
                  <a:outerShdw blurRad="38100" dist="38100" dir="2700000" algn="tl">
                    <a:srgbClr val="C0C0C0"/>
                  </a:outerShdw>
                </a:effectLst>
                <a:latin typeface="Arial" panose="020B0604020202020204" pitchFamily="34" charset="0"/>
                <a:ea typeface="楷体_GB2312" pitchFamily="49" charset="-122"/>
              </a:rPr>
              <a:t>账号。</a:t>
            </a:r>
            <a:endParaRPr kumimoji="0" lang="en-US" altLang="zh-CN" b="1">
              <a:solidFill>
                <a:srgbClr val="1C1C1C"/>
              </a:solidFill>
              <a:effectLst>
                <a:outerShdw blurRad="38100" dist="38100" dir="2700000" algn="tl">
                  <a:srgbClr val="C0C0C0"/>
                </a:outerShdw>
              </a:effectLst>
              <a:latin typeface="Arial" panose="020B0604020202020204" pitchFamily="34" charset="0"/>
              <a:ea typeface="楷体_GB2312" pitchFamily="49" charset="-122"/>
            </a:endParaRPr>
          </a:p>
        </p:txBody>
      </p:sp>
      <p:pic>
        <p:nvPicPr>
          <p:cNvPr id="518169" name="Picture 25">
            <a:extLst>
              <a:ext uri="{FF2B5EF4-FFF2-40B4-BE49-F238E27FC236}">
                <a16:creationId xmlns:a16="http://schemas.microsoft.com/office/drawing/2014/main" id="{F74E41A6-CCB9-4A6B-B16D-13FDC30C0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709" r="71849" b="6813"/>
          <a:stretch>
            <a:fillRect/>
          </a:stretch>
        </p:blipFill>
        <p:spPr bwMode="auto">
          <a:xfrm>
            <a:off x="4716463" y="908050"/>
            <a:ext cx="4183062" cy="56165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775"/>
    </mc:Choice>
    <mc:Fallback xmlns="">
      <p:transition spd="slow" advTm="6677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518148"/>
                                        </p:tgtEl>
                                        <p:attrNameLst>
                                          <p:attrName>style.visibility</p:attrName>
                                        </p:attrNameLst>
                                      </p:cBhvr>
                                      <p:to>
                                        <p:strVal val="visible"/>
                                      </p:to>
                                    </p:set>
                                    <p:animEffect transition="in" filter="blinds(vertical)">
                                      <p:cBhvr>
                                        <p:cTn id="7" dur="500"/>
                                        <p:tgtEl>
                                          <p:spTgt spid="518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18146"/>
                                        </p:tgtEl>
                                        <p:attrNameLst>
                                          <p:attrName>style.visibility</p:attrName>
                                        </p:attrNameLst>
                                      </p:cBhvr>
                                      <p:to>
                                        <p:strVal val="visible"/>
                                      </p:to>
                                    </p:set>
                                    <p:animEffect transition="in" filter="wipe(right)">
                                      <p:cBhvr>
                                        <p:cTn id="12" dur="500"/>
                                        <p:tgtEl>
                                          <p:spTgt spid="5181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8149">
                                            <p:txEl>
                                              <p:pRg st="0" end="0"/>
                                            </p:txEl>
                                          </p:spTgt>
                                        </p:tgtEl>
                                        <p:attrNameLst>
                                          <p:attrName>style.visibility</p:attrName>
                                        </p:attrNameLst>
                                      </p:cBhvr>
                                      <p:to>
                                        <p:strVal val="visible"/>
                                      </p:to>
                                    </p:set>
                                    <p:animEffect transition="in" filter="wipe(left)">
                                      <p:cBhvr>
                                        <p:cTn id="17" dur="500"/>
                                        <p:tgtEl>
                                          <p:spTgt spid="51814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7" presetClass="entr" presetSubtype="0" fill="hold" nodeType="clickEffect">
                                  <p:stCondLst>
                                    <p:cond delay="0"/>
                                  </p:stCondLst>
                                  <p:childTnLst>
                                    <p:set>
                                      <p:cBhvr>
                                        <p:cTn id="21" dur="1" fill="hold">
                                          <p:stCondLst>
                                            <p:cond delay="0"/>
                                          </p:stCondLst>
                                        </p:cTn>
                                        <p:tgtEl>
                                          <p:spTgt spid="518167"/>
                                        </p:tgtEl>
                                        <p:attrNameLst>
                                          <p:attrName>style.visibility</p:attrName>
                                        </p:attrNameLst>
                                      </p:cBhvr>
                                      <p:to>
                                        <p:strVal val="visible"/>
                                      </p:to>
                                    </p:set>
                                    <p:animEffect transition="in" filter="fade">
                                      <p:cBhvr>
                                        <p:cTn id="22" dur="500"/>
                                        <p:tgtEl>
                                          <p:spTgt spid="518167"/>
                                        </p:tgtEl>
                                      </p:cBhvr>
                                    </p:animEffect>
                                    <p:anim calcmode="lin" valueType="num">
                                      <p:cBhvr>
                                        <p:cTn id="23" dur="500" fill="hold"/>
                                        <p:tgtEl>
                                          <p:spTgt spid="518167"/>
                                        </p:tgtEl>
                                        <p:attrNameLst>
                                          <p:attrName>ppt_x</p:attrName>
                                        </p:attrNameLst>
                                      </p:cBhvr>
                                      <p:tavLst>
                                        <p:tav tm="0">
                                          <p:val>
                                            <p:strVal val="#ppt_x"/>
                                          </p:val>
                                        </p:tav>
                                        <p:tav tm="100000">
                                          <p:val>
                                            <p:strVal val="#ppt_x"/>
                                          </p:val>
                                        </p:tav>
                                      </p:tavLst>
                                    </p:anim>
                                    <p:anim calcmode="lin" valueType="num">
                                      <p:cBhvr>
                                        <p:cTn id="24" dur="500" fill="hold"/>
                                        <p:tgtEl>
                                          <p:spTgt spid="518167"/>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500"/>
                            </p:stCondLst>
                            <p:childTnLst>
                              <p:par>
                                <p:cTn id="26" presetID="47" presetClass="entr" presetSubtype="0" fill="hold" nodeType="afterEffect">
                                  <p:stCondLst>
                                    <p:cond delay="0"/>
                                  </p:stCondLst>
                                  <p:childTnLst>
                                    <p:set>
                                      <p:cBhvr>
                                        <p:cTn id="27" dur="1" fill="hold">
                                          <p:stCondLst>
                                            <p:cond delay="0"/>
                                          </p:stCondLst>
                                        </p:cTn>
                                        <p:tgtEl>
                                          <p:spTgt spid="518168"/>
                                        </p:tgtEl>
                                        <p:attrNameLst>
                                          <p:attrName>style.visibility</p:attrName>
                                        </p:attrNameLst>
                                      </p:cBhvr>
                                      <p:to>
                                        <p:strVal val="visible"/>
                                      </p:to>
                                    </p:set>
                                    <p:animEffect transition="in" filter="fade">
                                      <p:cBhvr>
                                        <p:cTn id="28" dur="500"/>
                                        <p:tgtEl>
                                          <p:spTgt spid="518168"/>
                                        </p:tgtEl>
                                      </p:cBhvr>
                                    </p:animEffect>
                                    <p:anim calcmode="lin" valueType="num">
                                      <p:cBhvr>
                                        <p:cTn id="29" dur="500" fill="hold"/>
                                        <p:tgtEl>
                                          <p:spTgt spid="518168"/>
                                        </p:tgtEl>
                                        <p:attrNameLst>
                                          <p:attrName>ppt_x</p:attrName>
                                        </p:attrNameLst>
                                      </p:cBhvr>
                                      <p:tavLst>
                                        <p:tav tm="0">
                                          <p:val>
                                            <p:strVal val="#ppt_x"/>
                                          </p:val>
                                        </p:tav>
                                        <p:tav tm="100000">
                                          <p:val>
                                            <p:strVal val="#ppt_x"/>
                                          </p:val>
                                        </p:tav>
                                      </p:tavLst>
                                    </p:anim>
                                    <p:anim calcmode="lin" valueType="num">
                                      <p:cBhvr>
                                        <p:cTn id="30" dur="500" fill="hold"/>
                                        <p:tgtEl>
                                          <p:spTgt spid="518168"/>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18161"/>
                                        </p:tgtEl>
                                        <p:attrNameLst>
                                          <p:attrName>style.visibility</p:attrName>
                                        </p:attrNameLst>
                                      </p:cBhvr>
                                      <p:to>
                                        <p:strVal val="visible"/>
                                      </p:to>
                                    </p:set>
                                    <p:animEffect transition="in" filter="wipe(up)">
                                      <p:cBhvr>
                                        <p:cTn id="35" dur="500"/>
                                        <p:tgtEl>
                                          <p:spTgt spid="51816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18165"/>
                                        </p:tgtEl>
                                        <p:attrNameLst>
                                          <p:attrName>style.visibility</p:attrName>
                                        </p:attrNameLst>
                                      </p:cBhvr>
                                      <p:to>
                                        <p:strVal val="visible"/>
                                      </p:to>
                                    </p:set>
                                    <p:animEffect transition="in" filter="wipe(up)">
                                      <p:cBhvr>
                                        <p:cTn id="40" dur="500"/>
                                        <p:tgtEl>
                                          <p:spTgt spid="51816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nodeType="clickEffect">
                                  <p:stCondLst>
                                    <p:cond delay="0"/>
                                  </p:stCondLst>
                                  <p:childTnLst>
                                    <p:set>
                                      <p:cBhvr>
                                        <p:cTn id="44" dur="1" fill="hold">
                                          <p:stCondLst>
                                            <p:cond delay="0"/>
                                          </p:stCondLst>
                                        </p:cTn>
                                        <p:tgtEl>
                                          <p:spTgt spid="518169"/>
                                        </p:tgtEl>
                                        <p:attrNameLst>
                                          <p:attrName>style.visibility</p:attrName>
                                        </p:attrNameLst>
                                      </p:cBhvr>
                                      <p:to>
                                        <p:strVal val="visible"/>
                                      </p:to>
                                    </p:set>
                                    <p:anim calcmode="lin" valueType="num">
                                      <p:cBhvr>
                                        <p:cTn id="45" dur="500" fill="hold"/>
                                        <p:tgtEl>
                                          <p:spTgt spid="518169"/>
                                        </p:tgtEl>
                                        <p:attrNameLst>
                                          <p:attrName>ppt_w</p:attrName>
                                        </p:attrNameLst>
                                      </p:cBhvr>
                                      <p:tavLst>
                                        <p:tav tm="0">
                                          <p:val>
                                            <p:fltVal val="0"/>
                                          </p:val>
                                        </p:tav>
                                        <p:tav tm="100000">
                                          <p:val>
                                            <p:strVal val="#ppt_w"/>
                                          </p:val>
                                        </p:tav>
                                      </p:tavLst>
                                    </p:anim>
                                    <p:anim calcmode="lin" valueType="num">
                                      <p:cBhvr>
                                        <p:cTn id="46" dur="500" fill="hold"/>
                                        <p:tgtEl>
                                          <p:spTgt spid="51816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6" grpId="0" animBg="1"/>
      <p:bldP spid="518149" grpId="0" build="p"/>
      <p:bldP spid="518161" grpId="0"/>
      <p:bldP spid="5181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AutoShape 13">
            <a:extLst>
              <a:ext uri="{FF2B5EF4-FFF2-40B4-BE49-F238E27FC236}">
                <a16:creationId xmlns:a16="http://schemas.microsoft.com/office/drawing/2014/main" id="{55E34A0D-A01F-451E-B628-FE64580102F5}"/>
              </a:ext>
            </a:extLst>
          </p:cNvPr>
          <p:cNvSpPr>
            <a:spLocks noChangeArrowheads="1"/>
          </p:cNvSpPr>
          <p:nvPr/>
        </p:nvSpPr>
        <p:spPr bwMode="auto">
          <a:xfrm>
            <a:off x="323850" y="1700213"/>
            <a:ext cx="8569325" cy="3527425"/>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19171" name="Rectangle 3">
            <a:extLst>
              <a:ext uri="{FF2B5EF4-FFF2-40B4-BE49-F238E27FC236}">
                <a16:creationId xmlns:a16="http://schemas.microsoft.com/office/drawing/2014/main" id="{BE980ED3-94E0-4DFF-822D-0AE01E62F35A}"/>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19173" name="Text Box 5">
            <a:extLst>
              <a:ext uri="{FF2B5EF4-FFF2-40B4-BE49-F238E27FC236}">
                <a16:creationId xmlns:a16="http://schemas.microsoft.com/office/drawing/2014/main" id="{7A8D2CE7-B1DD-4C73-8428-CEA2B1B8C69E}"/>
              </a:ext>
            </a:extLst>
          </p:cNvPr>
          <p:cNvSpPr txBox="1">
            <a:spLocks noChangeArrowheads="1"/>
          </p:cNvSpPr>
          <p:nvPr/>
        </p:nvSpPr>
        <p:spPr bwMode="auto">
          <a:xfrm>
            <a:off x="611188" y="1847850"/>
            <a:ext cx="8153400" cy="303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20000"/>
              </a:spcBef>
            </a:pPr>
            <a:r>
              <a:rPr kumimoji="1" lang="zh-CN" altLang="en-US" sz="2800" b="1">
                <a:latin typeface="Tahoma" panose="020B0604030504040204" pitchFamily="34" charset="0"/>
                <a:ea typeface="隶书" panose="02010509060101010101" pitchFamily="49" charset="-122"/>
              </a:rPr>
              <a:t>       一个用户通过登录名的映射在一个数据库中拥有账号后就可以访问这个数据库了，但是用户在这个数据库上究竟可以做些什么操作，这要由这个数据库上的</a:t>
            </a:r>
            <a:r>
              <a:rPr kumimoji="1" lang="zh-CN" altLang="en-US" sz="2800" b="1">
                <a:solidFill>
                  <a:schemeClr val="hlink"/>
                </a:solidFill>
                <a:latin typeface="Tahoma" panose="020B0604030504040204" pitchFamily="34" charset="0"/>
                <a:ea typeface="隶书" panose="02010509060101010101" pitchFamily="49" charset="-122"/>
              </a:rPr>
              <a:t>权限</a:t>
            </a:r>
            <a:r>
              <a:rPr kumimoji="1" lang="zh-CN" altLang="en-US" sz="2800" b="1">
                <a:latin typeface="Tahoma" panose="020B0604030504040204" pitchFamily="34" charset="0"/>
                <a:ea typeface="隶书" panose="02010509060101010101" pitchFamily="49" charset="-122"/>
              </a:rPr>
              <a:t>设置来决定。数据库的权限设置在</a:t>
            </a:r>
            <a:r>
              <a:rPr kumimoji="1" lang="zh-CN" altLang="en-US" sz="2800" b="1">
                <a:solidFill>
                  <a:srgbClr val="0000FF"/>
                </a:solidFill>
                <a:latin typeface="Tahoma" panose="020B0604030504040204" pitchFamily="34" charset="0"/>
                <a:ea typeface="隶书" panose="02010509060101010101" pitchFamily="49" charset="-122"/>
              </a:rPr>
              <a:t>数据库账号</a:t>
            </a:r>
            <a:r>
              <a:rPr kumimoji="1" lang="zh-CN" altLang="en-US" sz="2800" b="1">
                <a:latin typeface="Tahoma" panose="020B0604030504040204" pitchFamily="34" charset="0"/>
                <a:ea typeface="隶书" panose="02010509060101010101" pitchFamily="49" charset="-122"/>
              </a:rPr>
              <a:t>之上，有效作用范围是单个数据库，权限不能跨越数据库。</a:t>
            </a:r>
            <a:endParaRPr kumimoji="1" lang="zh-CN" altLang="en-US" sz="2800">
              <a:latin typeface="Tahoma" panose="020B0604030504040204" pitchFamily="34" charset="0"/>
              <a:ea typeface="隶书" panose="020105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391"/>
    </mc:Choice>
    <mc:Fallback xmlns="">
      <p:transition spd="slow" advTm="2139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9170"/>
                                        </p:tgtEl>
                                        <p:attrNameLst>
                                          <p:attrName>style.visibility</p:attrName>
                                        </p:attrNameLst>
                                      </p:cBhvr>
                                      <p:to>
                                        <p:strVal val="visible"/>
                                      </p:to>
                                    </p:set>
                                    <p:animEffect transition="in" filter="wipe(left)">
                                      <p:cBhvr>
                                        <p:cTn id="7" dur="500"/>
                                        <p:tgtEl>
                                          <p:spTgt spid="519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9173"/>
                                        </p:tgtEl>
                                        <p:attrNameLst>
                                          <p:attrName>style.visibility</p:attrName>
                                        </p:attrNameLst>
                                      </p:cBhvr>
                                      <p:to>
                                        <p:strVal val="visible"/>
                                      </p:to>
                                    </p:set>
                                    <p:animEffect transition="in" filter="wipe(up)">
                                      <p:cBhvr>
                                        <p:cTn id="12" dur="500"/>
                                        <p:tgtEl>
                                          <p:spTgt spid="519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animBg="1"/>
      <p:bldP spid="51917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0209" name="Group 17">
            <a:extLst>
              <a:ext uri="{FF2B5EF4-FFF2-40B4-BE49-F238E27FC236}">
                <a16:creationId xmlns:a16="http://schemas.microsoft.com/office/drawing/2014/main" id="{1622F018-449E-4825-A45E-CC746582EB0E}"/>
              </a:ext>
            </a:extLst>
          </p:cNvPr>
          <p:cNvGrpSpPr>
            <a:grpSpLocks/>
          </p:cNvGrpSpPr>
          <p:nvPr/>
        </p:nvGrpSpPr>
        <p:grpSpPr bwMode="auto">
          <a:xfrm>
            <a:off x="4922838" y="1811338"/>
            <a:ext cx="3249612" cy="2760662"/>
            <a:chOff x="3101" y="1141"/>
            <a:chExt cx="2047" cy="1739"/>
          </a:xfrm>
        </p:grpSpPr>
        <p:sp>
          <p:nvSpPr>
            <p:cNvPr id="226315" name="AutoShape 11">
              <a:extLst>
                <a:ext uri="{FF2B5EF4-FFF2-40B4-BE49-F238E27FC236}">
                  <a16:creationId xmlns:a16="http://schemas.microsoft.com/office/drawing/2014/main" id="{2C1A8462-DA06-4001-A744-2E8E9EE1DA48}"/>
                </a:ext>
              </a:extLst>
            </p:cNvPr>
            <p:cNvSpPr>
              <a:spLocks noChangeArrowheads="1"/>
            </p:cNvSpPr>
            <p:nvPr/>
          </p:nvSpPr>
          <p:spPr bwMode="gray">
            <a:xfrm rot="5400000">
              <a:off x="3256" y="988"/>
              <a:ext cx="1737" cy="2047"/>
            </a:xfrm>
            <a:prstGeom prst="roundRect">
              <a:avLst>
                <a:gd name="adj" fmla="val 19894"/>
              </a:avLst>
            </a:prstGeom>
            <a:gradFill rotWithShape="1">
              <a:gsLst>
                <a:gs pos="0">
                  <a:srgbClr val="C9C9C9">
                    <a:alpha val="98000"/>
                  </a:srgbClr>
                </a:gs>
                <a:gs pos="50000">
                  <a:srgbClr val="FFFFFF"/>
                </a:gs>
                <a:gs pos="100000">
                  <a:srgbClr val="C9C9C9">
                    <a:alpha val="98000"/>
                  </a:srgbClr>
                </a:gs>
              </a:gsLst>
              <a:lin ang="5400000" scaled="1"/>
            </a:gradFill>
            <a:ln w="38100" algn="ctr">
              <a:solidFill>
                <a:srgbClr val="DDDDDD"/>
              </a:solidFill>
              <a:round/>
              <a:headEnd/>
              <a:tailEnd/>
            </a:ln>
          </p:spPr>
          <p:txBody>
            <a:bodyPr rot="10800000" vert="eaVert" wrap="none" anchor="ctr"/>
            <a:lstStyle/>
            <a:p>
              <a:pPr>
                <a:defRPr/>
              </a:pPr>
              <a:endParaRPr lang="zh-CN" altLang="en-US">
                <a:ea typeface="宋体" pitchFamily="2" charset="-122"/>
              </a:endParaRPr>
            </a:p>
          </p:txBody>
        </p:sp>
        <p:sp>
          <p:nvSpPr>
            <p:cNvPr id="520196" name="Freeform 12">
              <a:extLst>
                <a:ext uri="{FF2B5EF4-FFF2-40B4-BE49-F238E27FC236}">
                  <a16:creationId xmlns:a16="http://schemas.microsoft.com/office/drawing/2014/main" id="{2F8A8077-23F6-4EDF-999F-CE42569EB25C}"/>
                </a:ext>
              </a:extLst>
            </p:cNvPr>
            <p:cNvSpPr>
              <a:spLocks/>
            </p:cNvSpPr>
            <p:nvPr/>
          </p:nvSpPr>
          <p:spPr bwMode="gray">
            <a:xfrm>
              <a:off x="3114" y="1141"/>
              <a:ext cx="2034" cy="384"/>
            </a:xfrm>
            <a:custGeom>
              <a:avLst/>
              <a:gdLst>
                <a:gd name="T0" fmla="*/ 0 w 1259"/>
                <a:gd name="T1" fmla="*/ 298 h 298"/>
                <a:gd name="T2" fmla="*/ 7 w 1259"/>
                <a:gd name="T3" fmla="*/ 171 h 298"/>
                <a:gd name="T4" fmla="*/ 166 w 1259"/>
                <a:gd name="T5" fmla="*/ 14 h 298"/>
                <a:gd name="T6" fmla="*/ 356 w 1259"/>
                <a:gd name="T7" fmla="*/ 13 h 298"/>
                <a:gd name="T8" fmla="*/ 922 w 1259"/>
                <a:gd name="T9" fmla="*/ 10 h 298"/>
                <a:gd name="T10" fmla="*/ 1060 w 1259"/>
                <a:gd name="T11" fmla="*/ 12 h 298"/>
                <a:gd name="T12" fmla="*/ 1249 w 1259"/>
                <a:gd name="T13" fmla="*/ 186 h 298"/>
                <a:gd name="T14" fmla="*/ 1255 w 1259"/>
                <a:gd name="T15" fmla="*/ 297 h 298"/>
                <a:gd name="T16" fmla="*/ 0 w 1259"/>
                <a:gd name="T17" fmla="*/ 298 h 2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9"/>
                <a:gd name="T28" fmla="*/ 0 h 298"/>
                <a:gd name="T29" fmla="*/ 1259 w 1259"/>
                <a:gd name="T30" fmla="*/ 298 h 2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9" h="298">
                  <a:moveTo>
                    <a:pt x="0" y="298"/>
                  </a:moveTo>
                  <a:lnTo>
                    <a:pt x="7" y="171"/>
                  </a:lnTo>
                  <a:cubicBezTo>
                    <a:pt x="35" y="124"/>
                    <a:pt x="108" y="40"/>
                    <a:pt x="166" y="14"/>
                  </a:cubicBezTo>
                  <a:lnTo>
                    <a:pt x="356" y="13"/>
                  </a:lnTo>
                  <a:cubicBezTo>
                    <a:pt x="482" y="12"/>
                    <a:pt x="805" y="10"/>
                    <a:pt x="922" y="10"/>
                  </a:cubicBezTo>
                  <a:cubicBezTo>
                    <a:pt x="1039" y="10"/>
                    <a:pt x="988" y="0"/>
                    <a:pt x="1060" y="12"/>
                  </a:cubicBezTo>
                  <a:cubicBezTo>
                    <a:pt x="1132" y="24"/>
                    <a:pt x="1204" y="81"/>
                    <a:pt x="1249" y="186"/>
                  </a:cubicBezTo>
                  <a:cubicBezTo>
                    <a:pt x="1259" y="258"/>
                    <a:pt x="1255" y="297"/>
                    <a:pt x="1255" y="297"/>
                  </a:cubicBezTo>
                  <a:lnTo>
                    <a:pt x="0" y="298"/>
                  </a:lnTo>
                  <a:close/>
                </a:path>
              </a:pathLst>
            </a:custGeom>
            <a:solidFill>
              <a:srgbClr val="9999FF">
                <a:alpha val="50195"/>
              </a:srgbClr>
            </a:solidFill>
            <a:ln>
              <a:noFill/>
            </a:ln>
            <a:extLst>
              <a:ext uri="{91240B29-F687-4F45-9708-019B960494DF}">
                <a14:hiddenLine xmlns:a14="http://schemas.microsoft.com/office/drawing/2010/main" w="38100" cap="flat" cmpd="sng">
                  <a:solidFill>
                    <a:srgbClr val="000000"/>
                  </a:solidFill>
                  <a:prstDash val="solid"/>
                  <a:round/>
                  <a:headEnd/>
                  <a:tailEnd/>
                </a14:hiddenLine>
              </a:ext>
            </a:extLst>
          </p:spPr>
          <p:txBody>
            <a:bodyPr wrap="none" anchor="ctr"/>
            <a:lstStyle/>
            <a:p>
              <a:endParaRPr lang="zh-CN" altLang="en-US"/>
            </a:p>
          </p:txBody>
        </p:sp>
        <p:sp>
          <p:nvSpPr>
            <p:cNvPr id="520197" name="Rectangle 9">
              <a:extLst>
                <a:ext uri="{FF2B5EF4-FFF2-40B4-BE49-F238E27FC236}">
                  <a16:creationId xmlns:a16="http://schemas.microsoft.com/office/drawing/2014/main" id="{39F0136F-9E21-4290-88BA-BD782715D8B9}"/>
                </a:ext>
              </a:extLst>
            </p:cNvPr>
            <p:cNvSpPr>
              <a:spLocks noChangeArrowheads="1"/>
            </p:cNvSpPr>
            <p:nvPr/>
          </p:nvSpPr>
          <p:spPr bwMode="gray">
            <a:xfrm>
              <a:off x="3632" y="1202"/>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2800"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对象权限</a:t>
              </a:r>
            </a:p>
          </p:txBody>
        </p:sp>
      </p:grpSp>
      <p:sp>
        <p:nvSpPr>
          <p:cNvPr id="520199" name="Rectangle 7">
            <a:extLst>
              <a:ext uri="{FF2B5EF4-FFF2-40B4-BE49-F238E27FC236}">
                <a16:creationId xmlns:a16="http://schemas.microsoft.com/office/drawing/2014/main" id="{ACD221A3-39A3-45A4-9689-CA45F98E21BB}"/>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二、数据库安全控制</a:t>
            </a:r>
          </a:p>
        </p:txBody>
      </p:sp>
      <p:sp>
        <p:nvSpPr>
          <p:cNvPr id="520200" name="Rectangle 8">
            <a:extLst>
              <a:ext uri="{FF2B5EF4-FFF2-40B4-BE49-F238E27FC236}">
                <a16:creationId xmlns:a16="http://schemas.microsoft.com/office/drawing/2014/main" id="{EDB3E4E3-1843-4368-AE08-149C414E756E}"/>
              </a:ext>
            </a:extLst>
          </p:cNvPr>
          <p:cNvSpPr>
            <a:spLocks noChangeArrowheads="1"/>
          </p:cNvSpPr>
          <p:nvPr/>
        </p:nvSpPr>
        <p:spPr bwMode="auto">
          <a:xfrm>
            <a:off x="611188" y="1125538"/>
            <a:ext cx="5905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BBE0E3"/>
                </a:solidFill>
                <a:miter lim="800000"/>
                <a:headEnd/>
                <a:tailEnd/>
              </a14:hiddenLine>
            </a:ext>
          </a:extLst>
        </p:spPr>
        <p:txBody>
          <a:bodyPr>
            <a:spAutoFit/>
          </a:bodyPr>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2800">
                <a:solidFill>
                  <a:srgbClr val="A20070"/>
                </a:solidFill>
                <a:latin typeface="华文中宋" panose="02010600040101010101" pitchFamily="2" charset="-122"/>
                <a:ea typeface="华文中宋" panose="02010600040101010101" pitchFamily="2" charset="-122"/>
              </a:rPr>
              <a:t>（</a:t>
            </a:r>
            <a:r>
              <a:rPr lang="en-US" altLang="zh-CN" sz="2800">
                <a:solidFill>
                  <a:srgbClr val="A20070"/>
                </a:solidFill>
                <a:latin typeface="华文中宋" panose="02010600040101010101" pitchFamily="2" charset="-122"/>
                <a:ea typeface="华文中宋" panose="02010600040101010101" pitchFamily="2" charset="-122"/>
              </a:rPr>
              <a:t>3</a:t>
            </a:r>
            <a:r>
              <a:rPr lang="zh-CN" altLang="en-US" sz="2800">
                <a:solidFill>
                  <a:srgbClr val="A20070"/>
                </a:solidFill>
                <a:latin typeface="华文中宋" panose="02010600040101010101" pitchFamily="2" charset="-122"/>
                <a:ea typeface="华文中宋" panose="02010600040101010101" pitchFamily="2" charset="-122"/>
              </a:rPr>
              <a:t>）</a:t>
            </a:r>
            <a:r>
              <a:rPr lang="en-US" altLang="zh-CN" sz="2800">
                <a:solidFill>
                  <a:srgbClr val="A20070"/>
                </a:solidFill>
                <a:latin typeface="华文中宋" panose="02010600040101010101" pitchFamily="2" charset="-122"/>
                <a:ea typeface="华文中宋" panose="02010600040101010101" pitchFamily="2" charset="-122"/>
              </a:rPr>
              <a:t>数据库对象安全验证</a:t>
            </a:r>
            <a:endParaRPr lang="zh-CN" altLang="en-US" sz="2800">
              <a:solidFill>
                <a:srgbClr val="A20070"/>
              </a:solidFill>
              <a:latin typeface="华文中宋" panose="02010600040101010101" pitchFamily="2" charset="-122"/>
              <a:ea typeface="华文中宋" panose="02010600040101010101" pitchFamily="2" charset="-122"/>
            </a:endParaRPr>
          </a:p>
        </p:txBody>
      </p:sp>
      <p:grpSp>
        <p:nvGrpSpPr>
          <p:cNvPr id="520208" name="Group 16">
            <a:extLst>
              <a:ext uri="{FF2B5EF4-FFF2-40B4-BE49-F238E27FC236}">
                <a16:creationId xmlns:a16="http://schemas.microsoft.com/office/drawing/2014/main" id="{8036CA26-A45C-443E-A4A0-21AFEBBC37AB}"/>
              </a:ext>
            </a:extLst>
          </p:cNvPr>
          <p:cNvGrpSpPr>
            <a:grpSpLocks/>
          </p:cNvGrpSpPr>
          <p:nvPr/>
        </p:nvGrpSpPr>
        <p:grpSpPr bwMode="auto">
          <a:xfrm>
            <a:off x="827088" y="1989138"/>
            <a:ext cx="3405187" cy="2160587"/>
            <a:chOff x="521" y="1253"/>
            <a:chExt cx="2145" cy="1361"/>
          </a:xfrm>
        </p:grpSpPr>
        <p:sp>
          <p:nvSpPr>
            <p:cNvPr id="226311" name="AutoShape 7">
              <a:extLst>
                <a:ext uri="{FF2B5EF4-FFF2-40B4-BE49-F238E27FC236}">
                  <a16:creationId xmlns:a16="http://schemas.microsoft.com/office/drawing/2014/main" id="{6B88D26D-7151-477B-91B4-AC95F552BE4D}"/>
                </a:ext>
              </a:extLst>
            </p:cNvPr>
            <p:cNvSpPr>
              <a:spLocks noChangeArrowheads="1"/>
            </p:cNvSpPr>
            <p:nvPr/>
          </p:nvSpPr>
          <p:spPr bwMode="gray">
            <a:xfrm rot="5400000">
              <a:off x="956" y="903"/>
              <a:ext cx="1276" cy="2145"/>
            </a:xfrm>
            <a:prstGeom prst="roundRect">
              <a:avLst>
                <a:gd name="adj" fmla="val 21102"/>
              </a:avLst>
            </a:prstGeom>
            <a:gradFill rotWithShape="1">
              <a:gsLst>
                <a:gs pos="0">
                  <a:srgbClr val="C9C9C9">
                    <a:alpha val="98000"/>
                  </a:srgbClr>
                </a:gs>
                <a:gs pos="50000">
                  <a:srgbClr val="FFFFFF"/>
                </a:gs>
                <a:gs pos="100000">
                  <a:srgbClr val="C9C9C9">
                    <a:alpha val="98000"/>
                  </a:srgbClr>
                </a:gs>
              </a:gsLst>
              <a:lin ang="5400000" scaled="1"/>
            </a:gradFill>
            <a:ln w="38100" algn="ctr">
              <a:solidFill>
                <a:srgbClr val="DDDDDD"/>
              </a:solidFill>
              <a:round/>
              <a:headEnd/>
              <a:tailEnd/>
            </a:ln>
          </p:spPr>
          <p:txBody>
            <a:bodyPr rot="10800000" vert="eaVert" wrap="none" anchor="ctr"/>
            <a:lstStyle/>
            <a:p>
              <a:pPr>
                <a:defRPr/>
              </a:pPr>
              <a:endParaRPr lang="zh-CN" altLang="en-US">
                <a:ea typeface="宋体" pitchFamily="2" charset="-122"/>
              </a:endParaRPr>
            </a:p>
          </p:txBody>
        </p:sp>
        <p:sp>
          <p:nvSpPr>
            <p:cNvPr id="520204" name="Freeform 8">
              <a:extLst>
                <a:ext uri="{FF2B5EF4-FFF2-40B4-BE49-F238E27FC236}">
                  <a16:creationId xmlns:a16="http://schemas.microsoft.com/office/drawing/2014/main" id="{731191A0-CD19-4E4B-9A32-98D8712AAA6B}"/>
                </a:ext>
              </a:extLst>
            </p:cNvPr>
            <p:cNvSpPr>
              <a:spLocks/>
            </p:cNvSpPr>
            <p:nvPr/>
          </p:nvSpPr>
          <p:spPr bwMode="gray">
            <a:xfrm>
              <a:off x="542" y="1253"/>
              <a:ext cx="2117" cy="371"/>
            </a:xfrm>
            <a:custGeom>
              <a:avLst/>
              <a:gdLst>
                <a:gd name="T0" fmla="*/ 6 w 1261"/>
                <a:gd name="T1" fmla="*/ 297 h 303"/>
                <a:gd name="T2" fmla="*/ 18 w 1261"/>
                <a:gd name="T3" fmla="*/ 174 h 303"/>
                <a:gd name="T4" fmla="*/ 171 w 1261"/>
                <a:gd name="T5" fmla="*/ 30 h 303"/>
                <a:gd name="T6" fmla="*/ 352 w 1261"/>
                <a:gd name="T7" fmla="*/ 13 h 303"/>
                <a:gd name="T8" fmla="*/ 922 w 1261"/>
                <a:gd name="T9" fmla="*/ 10 h 303"/>
                <a:gd name="T10" fmla="*/ 1061 w 1261"/>
                <a:gd name="T11" fmla="*/ 12 h 303"/>
                <a:gd name="T12" fmla="*/ 1251 w 1261"/>
                <a:gd name="T13" fmla="*/ 190 h 303"/>
                <a:gd name="T14" fmla="*/ 1257 w 1261"/>
                <a:gd name="T15" fmla="*/ 303 h 303"/>
                <a:gd name="T16" fmla="*/ 6 w 1261"/>
                <a:gd name="T17" fmla="*/ 297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1"/>
                <a:gd name="T28" fmla="*/ 0 h 303"/>
                <a:gd name="T29" fmla="*/ 1261 w 1261"/>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1" h="303">
                  <a:moveTo>
                    <a:pt x="6" y="297"/>
                  </a:moveTo>
                  <a:cubicBezTo>
                    <a:pt x="6" y="297"/>
                    <a:pt x="0" y="225"/>
                    <a:pt x="18" y="174"/>
                  </a:cubicBezTo>
                  <a:cubicBezTo>
                    <a:pt x="36" y="123"/>
                    <a:pt x="105" y="45"/>
                    <a:pt x="171" y="30"/>
                  </a:cubicBezTo>
                  <a:cubicBezTo>
                    <a:pt x="237" y="15"/>
                    <a:pt x="227" y="16"/>
                    <a:pt x="352" y="13"/>
                  </a:cubicBezTo>
                  <a:cubicBezTo>
                    <a:pt x="477" y="10"/>
                    <a:pt x="804" y="10"/>
                    <a:pt x="922" y="10"/>
                  </a:cubicBezTo>
                  <a:cubicBezTo>
                    <a:pt x="1039" y="10"/>
                    <a:pt x="988" y="0"/>
                    <a:pt x="1061" y="12"/>
                  </a:cubicBezTo>
                  <a:cubicBezTo>
                    <a:pt x="1133" y="24"/>
                    <a:pt x="1206" y="83"/>
                    <a:pt x="1251" y="190"/>
                  </a:cubicBezTo>
                  <a:cubicBezTo>
                    <a:pt x="1261" y="263"/>
                    <a:pt x="1257" y="303"/>
                    <a:pt x="1257" y="303"/>
                  </a:cubicBezTo>
                  <a:lnTo>
                    <a:pt x="6" y="297"/>
                  </a:lnTo>
                  <a:close/>
                </a:path>
              </a:pathLst>
            </a:custGeom>
            <a:solidFill>
              <a:srgbClr val="4EA7EA">
                <a:alpha val="50195"/>
              </a:srgbClr>
            </a:solidFill>
            <a:ln>
              <a:noFill/>
            </a:ln>
            <a:extLst>
              <a:ext uri="{91240B29-F687-4F45-9708-019B960494DF}">
                <a14:hiddenLine xmlns:a14="http://schemas.microsoft.com/office/drawing/2010/main" w="38100" cap="flat" cmpd="sng">
                  <a:solidFill>
                    <a:srgbClr val="000000"/>
                  </a:solidFill>
                  <a:prstDash val="solid"/>
                  <a:round/>
                  <a:headEnd/>
                  <a:tailEnd/>
                </a14:hiddenLine>
              </a:ext>
            </a:extLst>
          </p:spPr>
          <p:txBody>
            <a:bodyPr wrap="none" anchor="ctr"/>
            <a:lstStyle/>
            <a:p>
              <a:endParaRPr lang="zh-CN" altLang="en-US"/>
            </a:p>
          </p:txBody>
        </p:sp>
        <p:sp>
          <p:nvSpPr>
            <p:cNvPr id="520205" name="Rectangle 9">
              <a:extLst>
                <a:ext uri="{FF2B5EF4-FFF2-40B4-BE49-F238E27FC236}">
                  <a16:creationId xmlns:a16="http://schemas.microsoft.com/office/drawing/2014/main" id="{562F55AE-217E-42BC-A74C-6D3B5BADD46E}"/>
                </a:ext>
              </a:extLst>
            </p:cNvPr>
            <p:cNvSpPr>
              <a:spLocks noChangeArrowheads="1"/>
            </p:cNvSpPr>
            <p:nvPr/>
          </p:nvSpPr>
          <p:spPr bwMode="gray">
            <a:xfrm>
              <a:off x="1087" y="1300"/>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2800" b="1">
                  <a:solidFill>
                    <a:srgbClr val="000099"/>
                  </a:solidFill>
                  <a:effectLst>
                    <a:outerShdw blurRad="38100" dist="38100" dir="2700000" algn="tl">
                      <a:srgbClr val="C0C0C0"/>
                    </a:outerShdw>
                  </a:effectLst>
                  <a:latin typeface="Arial" panose="020B0604020202020204" pitchFamily="34" charset="0"/>
                  <a:ea typeface="华文中宋" panose="02010600040101010101" pitchFamily="2" charset="-122"/>
                </a:rPr>
                <a:t>语句权限</a:t>
              </a:r>
            </a:p>
          </p:txBody>
        </p:sp>
      </p:grpSp>
      <p:sp>
        <p:nvSpPr>
          <p:cNvPr id="520206" name="Text Box 10">
            <a:extLst>
              <a:ext uri="{FF2B5EF4-FFF2-40B4-BE49-F238E27FC236}">
                <a16:creationId xmlns:a16="http://schemas.microsoft.com/office/drawing/2014/main" id="{B5D3E5D1-2DCA-4DB0-96A6-8304679E5735}"/>
              </a:ext>
            </a:extLst>
          </p:cNvPr>
          <p:cNvSpPr txBox="1">
            <a:spLocks noChangeArrowheads="1"/>
          </p:cNvSpPr>
          <p:nvPr/>
        </p:nvSpPr>
        <p:spPr bwMode="gray">
          <a:xfrm>
            <a:off x="838200" y="2684463"/>
            <a:ext cx="33766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a:t>
            </a:r>
            <a:r>
              <a:rPr kumimoji="0" lang="zh-CN" altLang="zh-CN" b="1">
                <a:effectLst>
                  <a:outerShdw blurRad="38100" dist="38100" dir="2700000" algn="tl">
                    <a:srgbClr val="C0C0C0"/>
                  </a:outerShdw>
                </a:effectLst>
                <a:latin typeface="Arial" panose="020B0604020202020204" pitchFamily="34" charset="0"/>
                <a:ea typeface="楷体_GB2312" pitchFamily="49" charset="-122"/>
              </a:rPr>
              <a:t>创建数据库</a:t>
            </a:r>
            <a:endParaRPr kumimoji="0" lang="zh-CN" altLang="en-US" b="1">
              <a:effectLst>
                <a:outerShdw blurRad="38100" dist="38100" dir="2700000" algn="tl">
                  <a:srgbClr val="C0C0C0"/>
                </a:outerShdw>
              </a:effectLst>
              <a:latin typeface="Arial" panose="020B0604020202020204" pitchFamily="34" charset="0"/>
              <a:ea typeface="楷体_GB2312" pitchFamily="49" charset="-122"/>
            </a:endParaRPr>
          </a:p>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创建</a:t>
            </a:r>
            <a:r>
              <a:rPr kumimoji="0" lang="zh-CN" altLang="zh-CN" b="1">
                <a:effectLst>
                  <a:outerShdw blurRad="38100" dist="38100" dir="2700000" algn="tl">
                    <a:srgbClr val="C0C0C0"/>
                  </a:outerShdw>
                </a:effectLst>
                <a:latin typeface="Arial" panose="020B0604020202020204" pitchFamily="34" charset="0"/>
                <a:ea typeface="楷体_GB2312" pitchFamily="49" charset="-122"/>
              </a:rPr>
              <a:t>数据库对象</a:t>
            </a:r>
            <a:endParaRPr kumimoji="0" lang="zh-CN" altLang="en-US" b="1">
              <a:effectLst>
                <a:outerShdw blurRad="38100" dist="38100" dir="2700000" algn="tl">
                  <a:srgbClr val="C0C0C0"/>
                </a:outerShdw>
              </a:effectLst>
              <a:latin typeface="Arial" panose="020B0604020202020204" pitchFamily="34" charset="0"/>
              <a:ea typeface="楷体_GB2312" pitchFamily="49" charset="-122"/>
            </a:endParaRPr>
          </a:p>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a:t>
            </a:r>
            <a:r>
              <a:rPr kumimoji="0" lang="zh-CN" altLang="zh-CN" b="1">
                <a:effectLst>
                  <a:outerShdw blurRad="38100" dist="38100" dir="2700000" algn="tl">
                    <a:srgbClr val="C0C0C0"/>
                  </a:outerShdw>
                </a:effectLst>
                <a:latin typeface="Arial" panose="020B0604020202020204" pitchFamily="34" charset="0"/>
                <a:ea typeface="楷体_GB2312" pitchFamily="49" charset="-122"/>
              </a:rPr>
              <a:t>备份数据库</a:t>
            </a:r>
            <a:endParaRPr kumimoji="0" lang="en-US" altLang="zh-CN" b="1">
              <a:effectLst>
                <a:outerShdw blurRad="38100" dist="38100" dir="2700000" algn="tl">
                  <a:srgbClr val="C0C0C0"/>
                </a:outerShdw>
              </a:effectLst>
              <a:latin typeface="Arial" panose="020B0604020202020204" pitchFamily="34" charset="0"/>
              <a:ea typeface="楷体_GB2312" pitchFamily="49" charset="-122"/>
            </a:endParaRPr>
          </a:p>
        </p:txBody>
      </p:sp>
      <p:sp>
        <p:nvSpPr>
          <p:cNvPr id="520207" name="Text Box 14">
            <a:extLst>
              <a:ext uri="{FF2B5EF4-FFF2-40B4-BE49-F238E27FC236}">
                <a16:creationId xmlns:a16="http://schemas.microsoft.com/office/drawing/2014/main" id="{91ADC878-90CB-439F-A983-1BC92A3AB908}"/>
              </a:ext>
            </a:extLst>
          </p:cNvPr>
          <p:cNvSpPr txBox="1">
            <a:spLocks noChangeArrowheads="1"/>
          </p:cNvSpPr>
          <p:nvPr/>
        </p:nvSpPr>
        <p:spPr bwMode="gray">
          <a:xfrm>
            <a:off x="5221288" y="2490788"/>
            <a:ext cx="2735262"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a:t>
            </a:r>
            <a:r>
              <a:rPr kumimoji="0" lang="en-US" altLang="zh-CN" b="1">
                <a:effectLst>
                  <a:outerShdw blurRad="38100" dist="38100" dir="2700000" algn="tl">
                    <a:srgbClr val="C0C0C0"/>
                  </a:outerShdw>
                </a:effectLst>
                <a:latin typeface="Arial" panose="020B0604020202020204" pitchFamily="34" charset="0"/>
                <a:ea typeface="楷体_GB2312" pitchFamily="49" charset="-122"/>
              </a:rPr>
              <a:t>SELECT</a:t>
            </a:r>
          </a:p>
          <a:p>
            <a:pPr eaLnBrk="0" hangingPunct="0">
              <a:buClr>
                <a:srgbClr val="A20070"/>
              </a:buClr>
              <a:buFont typeface="Wingdings" panose="05000000000000000000" pitchFamily="2" charset="2"/>
              <a:buChar char="Ø"/>
            </a:pPr>
            <a:r>
              <a:rPr kumimoji="0" lang="en-US" altLang="zh-CN" b="1">
                <a:effectLst>
                  <a:outerShdw blurRad="38100" dist="38100" dir="2700000" algn="tl">
                    <a:srgbClr val="C0C0C0"/>
                  </a:outerShdw>
                </a:effectLst>
                <a:latin typeface="Arial" panose="020B0604020202020204" pitchFamily="34" charset="0"/>
                <a:ea typeface="楷体_GB2312" pitchFamily="49" charset="-122"/>
              </a:rPr>
              <a:t> INSERT</a:t>
            </a:r>
          </a:p>
          <a:p>
            <a:pPr eaLnBrk="0" hangingPunct="0">
              <a:buClr>
                <a:srgbClr val="A20070"/>
              </a:buClr>
              <a:buFont typeface="Wingdings" panose="05000000000000000000" pitchFamily="2" charset="2"/>
              <a:buChar char="Ø"/>
            </a:pPr>
            <a:r>
              <a:rPr kumimoji="0" lang="en-US" altLang="zh-CN" b="1">
                <a:effectLst>
                  <a:outerShdw blurRad="38100" dist="38100" dir="2700000" algn="tl">
                    <a:srgbClr val="C0C0C0"/>
                  </a:outerShdw>
                </a:effectLst>
                <a:latin typeface="Arial" panose="020B0604020202020204" pitchFamily="34" charset="0"/>
                <a:ea typeface="楷体_GB2312" pitchFamily="49" charset="-122"/>
              </a:rPr>
              <a:t> DELETE</a:t>
            </a:r>
          </a:p>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a:t>
            </a:r>
            <a:r>
              <a:rPr kumimoji="0" lang="en-US" altLang="zh-CN" b="1">
                <a:effectLst>
                  <a:outerShdw blurRad="38100" dist="38100" dir="2700000" algn="tl">
                    <a:srgbClr val="C0C0C0"/>
                  </a:outerShdw>
                </a:effectLst>
                <a:latin typeface="Arial" panose="020B0604020202020204" pitchFamily="34" charset="0"/>
                <a:ea typeface="楷体_GB2312" pitchFamily="49" charset="-122"/>
              </a:rPr>
              <a:t>UPDATE</a:t>
            </a:r>
          </a:p>
          <a:p>
            <a:pPr eaLnBrk="0" hangingPunct="0">
              <a:buClr>
                <a:srgbClr val="A20070"/>
              </a:buClr>
              <a:buFont typeface="Wingdings" panose="05000000000000000000" pitchFamily="2" charset="2"/>
              <a:buChar char="Ø"/>
            </a:pPr>
            <a:r>
              <a:rPr kumimoji="0" lang="zh-CN" altLang="en-US" b="1">
                <a:effectLst>
                  <a:outerShdw blurRad="38100" dist="38100" dir="2700000" algn="tl">
                    <a:srgbClr val="C0C0C0"/>
                  </a:outerShdw>
                </a:effectLst>
                <a:latin typeface="Arial" panose="020B0604020202020204" pitchFamily="34" charset="0"/>
                <a:ea typeface="楷体_GB2312" pitchFamily="49" charset="-122"/>
              </a:rPr>
              <a:t> 执行存储过程</a:t>
            </a:r>
          </a:p>
        </p:txBody>
      </p:sp>
      <p:sp>
        <p:nvSpPr>
          <p:cNvPr id="520210" name="Freeform 9">
            <a:extLst>
              <a:ext uri="{FF2B5EF4-FFF2-40B4-BE49-F238E27FC236}">
                <a16:creationId xmlns:a16="http://schemas.microsoft.com/office/drawing/2014/main" id="{31F341F7-EBB3-4135-8FB2-5896681E2A3A}"/>
              </a:ext>
            </a:extLst>
          </p:cNvPr>
          <p:cNvSpPr>
            <a:spLocks/>
          </p:cNvSpPr>
          <p:nvPr/>
        </p:nvSpPr>
        <p:spPr bwMode="gray">
          <a:xfrm rot="597103">
            <a:off x="1125538" y="4249738"/>
            <a:ext cx="7694612" cy="979487"/>
          </a:xfrm>
          <a:custGeom>
            <a:avLst/>
            <a:gdLst>
              <a:gd name="T0" fmla="*/ 0 w 4371"/>
              <a:gd name="T1" fmla="*/ 845 h 1066"/>
              <a:gd name="T2" fmla="*/ 1523 w 4371"/>
              <a:gd name="T3" fmla="*/ 313 h 1066"/>
              <a:gd name="T4" fmla="*/ 1610 w 4371"/>
              <a:gd name="T5" fmla="*/ 617 h 1066"/>
              <a:gd name="T6" fmla="*/ 2720 w 4371"/>
              <a:gd name="T7" fmla="*/ 243 h 1066"/>
              <a:gd name="T8" fmla="*/ 2784 w 4371"/>
              <a:gd name="T9" fmla="*/ 538 h 1066"/>
              <a:gd name="T10" fmla="*/ 3882 w 4371"/>
              <a:gd name="T11" fmla="*/ 266 h 1066"/>
              <a:gd name="T12" fmla="*/ 3795 w 4371"/>
              <a:gd name="T13" fmla="*/ 0 h 1066"/>
              <a:gd name="T14" fmla="*/ 4371 w 4371"/>
              <a:gd name="T15" fmla="*/ 269 h 1066"/>
              <a:gd name="T16" fmla="*/ 3961 w 4371"/>
              <a:gd name="T17" fmla="*/ 832 h 1066"/>
              <a:gd name="T18" fmla="*/ 3912 w 4371"/>
              <a:gd name="T19" fmla="*/ 542 h 1066"/>
              <a:gd name="T20" fmla="*/ 2594 w 4371"/>
              <a:gd name="T21" fmla="*/ 921 h 1066"/>
              <a:gd name="T22" fmla="*/ 2509 w 4371"/>
              <a:gd name="T23" fmla="*/ 620 h 1066"/>
              <a:gd name="T24" fmla="*/ 1344 w 4371"/>
              <a:gd name="T25" fmla="*/ 968 h 1066"/>
              <a:gd name="T26" fmla="*/ 1280 w 4371"/>
              <a:gd name="T27" fmla="*/ 666 h 1066"/>
              <a:gd name="T28" fmla="*/ 67 w 4371"/>
              <a:gd name="T29" fmla="*/ 1066 h 1066"/>
              <a:gd name="T30" fmla="*/ 0 w 4371"/>
              <a:gd name="T31" fmla="*/ 845 h 10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71"/>
              <a:gd name="T49" fmla="*/ 0 h 1066"/>
              <a:gd name="T50" fmla="*/ 4371 w 4371"/>
              <a:gd name="T51" fmla="*/ 1066 h 10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71" h="1066">
                <a:moveTo>
                  <a:pt x="0" y="845"/>
                </a:moveTo>
                <a:lnTo>
                  <a:pt x="1523" y="313"/>
                </a:lnTo>
                <a:lnTo>
                  <a:pt x="1610" y="617"/>
                </a:lnTo>
                <a:lnTo>
                  <a:pt x="2720" y="243"/>
                </a:lnTo>
                <a:lnTo>
                  <a:pt x="2784" y="538"/>
                </a:lnTo>
                <a:lnTo>
                  <a:pt x="3882" y="266"/>
                </a:lnTo>
                <a:lnTo>
                  <a:pt x="3795" y="0"/>
                </a:lnTo>
                <a:lnTo>
                  <a:pt x="4371" y="269"/>
                </a:lnTo>
                <a:lnTo>
                  <a:pt x="3961" y="832"/>
                </a:lnTo>
                <a:lnTo>
                  <a:pt x="3912" y="542"/>
                </a:lnTo>
                <a:lnTo>
                  <a:pt x="2594" y="921"/>
                </a:lnTo>
                <a:lnTo>
                  <a:pt x="2509" y="620"/>
                </a:lnTo>
                <a:lnTo>
                  <a:pt x="1344" y="968"/>
                </a:lnTo>
                <a:lnTo>
                  <a:pt x="1280" y="666"/>
                </a:lnTo>
                <a:lnTo>
                  <a:pt x="67" y="1066"/>
                </a:lnTo>
                <a:lnTo>
                  <a:pt x="0" y="845"/>
                </a:lnTo>
                <a:close/>
              </a:path>
            </a:pathLst>
          </a:custGeom>
          <a:gradFill rotWithShape="1">
            <a:gsLst>
              <a:gs pos="0">
                <a:srgbClr val="990000"/>
              </a:gs>
              <a:gs pos="100000">
                <a:srgbClr val="FF9933"/>
              </a:gs>
            </a:gsLst>
            <a:lin ang="0" scaled="1"/>
          </a:gradFill>
          <a:ln w="9525">
            <a:round/>
            <a:headEnd/>
            <a:tailEnd/>
          </a:ln>
          <a:scene3d>
            <a:camera prst="legacyPerspectiveTopRight">
              <a:rot lat="600000" lon="20999997" rev="0"/>
            </a:camera>
            <a:lightRig rig="legacyFlat4" dir="b"/>
          </a:scene3d>
          <a:sp3d extrusionH="163500" prstMaterial="legacyMatte">
            <a:bevelT w="13500" h="13500" prst="angle"/>
            <a:bevelB w="13500" h="13500" prst="angle"/>
            <a:extrusionClr>
              <a:srgbClr val="FF9933"/>
            </a:extrusionClr>
            <a:contourClr>
              <a:srgbClr val="990000"/>
            </a:contourClr>
          </a:sp3d>
        </p:spPr>
        <p:txBody>
          <a:bodyPr wrap="none" anchor="ctr">
            <a:flatTx/>
          </a:bodyPr>
          <a:lstStyle/>
          <a:p>
            <a:endParaRPr lang="zh-CN" altLang="en-US"/>
          </a:p>
        </p:txBody>
      </p:sp>
      <p:grpSp>
        <p:nvGrpSpPr>
          <p:cNvPr id="520223" name="Group 31">
            <a:extLst>
              <a:ext uri="{FF2B5EF4-FFF2-40B4-BE49-F238E27FC236}">
                <a16:creationId xmlns:a16="http://schemas.microsoft.com/office/drawing/2014/main" id="{DF5775AF-238E-4584-B59C-253485CFDFC1}"/>
              </a:ext>
            </a:extLst>
          </p:cNvPr>
          <p:cNvGrpSpPr>
            <a:grpSpLocks/>
          </p:cNvGrpSpPr>
          <p:nvPr/>
        </p:nvGrpSpPr>
        <p:grpSpPr bwMode="auto">
          <a:xfrm>
            <a:off x="827088" y="4941888"/>
            <a:ext cx="1990725" cy="1439862"/>
            <a:chOff x="703" y="3113"/>
            <a:chExt cx="1254" cy="907"/>
          </a:xfrm>
        </p:grpSpPr>
        <p:grpSp>
          <p:nvGrpSpPr>
            <p:cNvPr id="520217" name="Group 25">
              <a:extLst>
                <a:ext uri="{FF2B5EF4-FFF2-40B4-BE49-F238E27FC236}">
                  <a16:creationId xmlns:a16="http://schemas.microsoft.com/office/drawing/2014/main" id="{30893925-4400-489E-A1E0-82C708B58C82}"/>
                </a:ext>
              </a:extLst>
            </p:cNvPr>
            <p:cNvGrpSpPr>
              <a:grpSpLocks/>
            </p:cNvGrpSpPr>
            <p:nvPr/>
          </p:nvGrpSpPr>
          <p:grpSpPr bwMode="auto">
            <a:xfrm>
              <a:off x="703" y="3488"/>
              <a:ext cx="1254" cy="532"/>
              <a:chOff x="703" y="3300"/>
              <a:chExt cx="1254" cy="532"/>
            </a:xfrm>
          </p:grpSpPr>
          <p:sp>
            <p:nvSpPr>
              <p:cNvPr id="520214" name="AutoShape 22">
                <a:extLst>
                  <a:ext uri="{FF2B5EF4-FFF2-40B4-BE49-F238E27FC236}">
                    <a16:creationId xmlns:a16="http://schemas.microsoft.com/office/drawing/2014/main" id="{906C0B96-9630-485C-8B5B-586E5A318980}"/>
                  </a:ext>
                </a:extLst>
              </p:cNvPr>
              <p:cNvSpPr>
                <a:spLocks noChangeArrowheads="1"/>
              </p:cNvSpPr>
              <p:nvPr/>
            </p:nvSpPr>
            <p:spPr bwMode="gray">
              <a:xfrm>
                <a:off x="703" y="3300"/>
                <a:ext cx="1254" cy="532"/>
              </a:xfrm>
              <a:prstGeom prst="roundRect">
                <a:avLst>
                  <a:gd name="adj" fmla="val 50000"/>
                </a:avLst>
              </a:prstGeom>
              <a:solidFill>
                <a:srgbClr val="C0C0C0"/>
              </a:solidFill>
              <a:ln>
                <a:noFill/>
              </a:ln>
              <a:effectLst>
                <a:outerShdw dist="63500" dir="3187806" algn="ctr" rotWithShape="0">
                  <a:srgbClr val="1C1C1C">
                    <a:alpha val="50000"/>
                  </a:srgbClr>
                </a:outerShdw>
              </a:effectLst>
              <a:extLst>
                <a:ext uri="{91240B29-F687-4F45-9708-019B960494DF}">
                  <a14:hiddenLine xmlns:a14="http://schemas.microsoft.com/office/drawing/2010/main" w="57150" algn="ctr">
                    <a:solidFill>
                      <a:srgbClr val="000000"/>
                    </a:solidFill>
                    <a:round/>
                    <a:headEnd/>
                    <a:tailEnd/>
                  </a14:hiddenLine>
                </a:ext>
              </a:extLst>
            </p:spPr>
            <p:txBody>
              <a:bodyPr wrap="none" anchor="ctr"/>
              <a:lstStyle/>
              <a:p>
                <a:endParaRPr lang="zh-CN" altLang="en-US"/>
              </a:p>
            </p:txBody>
          </p:sp>
          <p:sp>
            <p:nvSpPr>
              <p:cNvPr id="520215" name="AutoShape 23">
                <a:extLst>
                  <a:ext uri="{FF2B5EF4-FFF2-40B4-BE49-F238E27FC236}">
                    <a16:creationId xmlns:a16="http://schemas.microsoft.com/office/drawing/2014/main" id="{E379523D-9DA4-468B-8EE7-25332DC5553B}"/>
                  </a:ext>
                </a:extLst>
              </p:cNvPr>
              <p:cNvSpPr>
                <a:spLocks noChangeArrowheads="1"/>
              </p:cNvSpPr>
              <p:nvPr/>
            </p:nvSpPr>
            <p:spPr bwMode="gray">
              <a:xfrm>
                <a:off x="724" y="3339"/>
                <a:ext cx="1179" cy="461"/>
              </a:xfrm>
              <a:prstGeom prst="roundRect">
                <a:avLst>
                  <a:gd name="adj" fmla="val 50000"/>
                </a:avLst>
              </a:prstGeom>
              <a:gradFill rotWithShape="1">
                <a:gsLst>
                  <a:gs pos="0">
                    <a:srgbClr val="BBE0E3">
                      <a:alpha val="96001"/>
                    </a:srgbClr>
                  </a:gs>
                  <a:gs pos="100000">
                    <a:srgbClr val="BBE0E3">
                      <a:gamma/>
                      <a:tint val="43922"/>
                      <a:invGamma/>
                      <a:alpha val="70000"/>
                    </a:srgbClr>
                  </a:gs>
                </a:gsLst>
                <a:lin ang="5400000" scaled="1"/>
              </a:gradFill>
              <a:ln w="19050" algn="ctr">
                <a:solidFill>
                  <a:srgbClr val="F8F8F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216" name="Rectangle 24">
                <a:extLst>
                  <a:ext uri="{FF2B5EF4-FFF2-40B4-BE49-F238E27FC236}">
                    <a16:creationId xmlns:a16="http://schemas.microsoft.com/office/drawing/2014/main" id="{61CDF394-DC80-46AE-976B-0942DA7D7B2F}"/>
                  </a:ext>
                </a:extLst>
              </p:cNvPr>
              <p:cNvSpPr>
                <a:spLocks noChangeArrowheads="1"/>
              </p:cNvSpPr>
              <p:nvPr/>
            </p:nvSpPr>
            <p:spPr bwMode="auto">
              <a:xfrm>
                <a:off x="815" y="3385"/>
                <a:ext cx="102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3200" b="1">
                    <a:solidFill>
                      <a:schemeClr val="hlink"/>
                    </a:solidFill>
                    <a:ea typeface="宋体" panose="02010600030101010101" pitchFamily="2" charset="-122"/>
                  </a:rPr>
                  <a:t>GRANT</a:t>
                </a:r>
              </a:p>
            </p:txBody>
          </p:sp>
        </p:grpSp>
        <p:sp>
          <p:nvSpPr>
            <p:cNvPr id="520222" name="Line 30">
              <a:extLst>
                <a:ext uri="{FF2B5EF4-FFF2-40B4-BE49-F238E27FC236}">
                  <a16:creationId xmlns:a16="http://schemas.microsoft.com/office/drawing/2014/main" id="{55583BF3-19D4-4EDE-A73E-AC9AAEB0F98B}"/>
                </a:ext>
              </a:extLst>
            </p:cNvPr>
            <p:cNvSpPr>
              <a:spLocks noChangeShapeType="1"/>
            </p:cNvSpPr>
            <p:nvPr/>
          </p:nvSpPr>
          <p:spPr bwMode="auto">
            <a:xfrm rot="18903867" flipV="1">
              <a:off x="1156" y="3113"/>
              <a:ext cx="364" cy="318"/>
            </a:xfrm>
            <a:prstGeom prst="line">
              <a:avLst/>
            </a:prstGeom>
            <a:noFill/>
            <a:ln w="152400">
              <a:solidFill>
                <a:srgbClr val="C0C0C0"/>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20224" name="Group 32">
            <a:extLst>
              <a:ext uri="{FF2B5EF4-FFF2-40B4-BE49-F238E27FC236}">
                <a16:creationId xmlns:a16="http://schemas.microsoft.com/office/drawing/2014/main" id="{E664813F-A5AB-4B3C-AB64-0862B1B2AFE0}"/>
              </a:ext>
            </a:extLst>
          </p:cNvPr>
          <p:cNvGrpSpPr>
            <a:grpSpLocks/>
          </p:cNvGrpSpPr>
          <p:nvPr/>
        </p:nvGrpSpPr>
        <p:grpSpPr bwMode="auto">
          <a:xfrm>
            <a:off x="3492500" y="5084763"/>
            <a:ext cx="1990725" cy="1439862"/>
            <a:chOff x="703" y="3113"/>
            <a:chExt cx="1254" cy="907"/>
          </a:xfrm>
        </p:grpSpPr>
        <p:grpSp>
          <p:nvGrpSpPr>
            <p:cNvPr id="520225" name="Group 33">
              <a:extLst>
                <a:ext uri="{FF2B5EF4-FFF2-40B4-BE49-F238E27FC236}">
                  <a16:creationId xmlns:a16="http://schemas.microsoft.com/office/drawing/2014/main" id="{FF0BF56E-09EB-4C56-83EF-9AB41E20492A}"/>
                </a:ext>
              </a:extLst>
            </p:cNvPr>
            <p:cNvGrpSpPr>
              <a:grpSpLocks/>
            </p:cNvGrpSpPr>
            <p:nvPr/>
          </p:nvGrpSpPr>
          <p:grpSpPr bwMode="auto">
            <a:xfrm>
              <a:off x="703" y="3488"/>
              <a:ext cx="1254" cy="532"/>
              <a:chOff x="703" y="3300"/>
              <a:chExt cx="1254" cy="532"/>
            </a:xfrm>
          </p:grpSpPr>
          <p:sp>
            <p:nvSpPr>
              <p:cNvPr id="520226" name="AutoShape 34">
                <a:extLst>
                  <a:ext uri="{FF2B5EF4-FFF2-40B4-BE49-F238E27FC236}">
                    <a16:creationId xmlns:a16="http://schemas.microsoft.com/office/drawing/2014/main" id="{888F8502-9BAB-4E13-A16C-7E178FA76025}"/>
                  </a:ext>
                </a:extLst>
              </p:cNvPr>
              <p:cNvSpPr>
                <a:spLocks noChangeArrowheads="1"/>
              </p:cNvSpPr>
              <p:nvPr/>
            </p:nvSpPr>
            <p:spPr bwMode="gray">
              <a:xfrm>
                <a:off x="703" y="3300"/>
                <a:ext cx="1254" cy="532"/>
              </a:xfrm>
              <a:prstGeom prst="roundRect">
                <a:avLst>
                  <a:gd name="adj" fmla="val 50000"/>
                </a:avLst>
              </a:prstGeom>
              <a:solidFill>
                <a:srgbClr val="C0C0C0"/>
              </a:solidFill>
              <a:ln>
                <a:noFill/>
              </a:ln>
              <a:effectLst>
                <a:outerShdw dist="63500" dir="3187806" algn="ctr" rotWithShape="0">
                  <a:srgbClr val="1C1C1C">
                    <a:alpha val="50000"/>
                  </a:srgbClr>
                </a:outerShdw>
              </a:effectLst>
              <a:extLst>
                <a:ext uri="{91240B29-F687-4F45-9708-019B960494DF}">
                  <a14:hiddenLine xmlns:a14="http://schemas.microsoft.com/office/drawing/2010/main" w="57150" algn="ctr">
                    <a:solidFill>
                      <a:srgbClr val="000000"/>
                    </a:solidFill>
                    <a:round/>
                    <a:headEnd/>
                    <a:tailEnd/>
                  </a14:hiddenLine>
                </a:ext>
              </a:extLst>
            </p:spPr>
            <p:txBody>
              <a:bodyPr wrap="none" anchor="ctr"/>
              <a:lstStyle/>
              <a:p>
                <a:endParaRPr lang="zh-CN" altLang="en-US"/>
              </a:p>
            </p:txBody>
          </p:sp>
          <p:sp>
            <p:nvSpPr>
              <p:cNvPr id="520227" name="AutoShape 35">
                <a:extLst>
                  <a:ext uri="{FF2B5EF4-FFF2-40B4-BE49-F238E27FC236}">
                    <a16:creationId xmlns:a16="http://schemas.microsoft.com/office/drawing/2014/main" id="{60D315AE-04FE-4106-B5E8-997AFD9887C5}"/>
                  </a:ext>
                </a:extLst>
              </p:cNvPr>
              <p:cNvSpPr>
                <a:spLocks noChangeArrowheads="1"/>
              </p:cNvSpPr>
              <p:nvPr/>
            </p:nvSpPr>
            <p:spPr bwMode="gray">
              <a:xfrm>
                <a:off x="724" y="3339"/>
                <a:ext cx="1179" cy="461"/>
              </a:xfrm>
              <a:prstGeom prst="roundRect">
                <a:avLst>
                  <a:gd name="adj" fmla="val 50000"/>
                </a:avLst>
              </a:prstGeom>
              <a:gradFill rotWithShape="1">
                <a:gsLst>
                  <a:gs pos="0">
                    <a:srgbClr val="BBE0E3">
                      <a:alpha val="96001"/>
                    </a:srgbClr>
                  </a:gs>
                  <a:gs pos="100000">
                    <a:srgbClr val="BBE0E3">
                      <a:gamma/>
                      <a:tint val="43922"/>
                      <a:invGamma/>
                      <a:alpha val="70000"/>
                    </a:srgbClr>
                  </a:gs>
                </a:gsLst>
                <a:lin ang="5400000" scaled="1"/>
              </a:gradFill>
              <a:ln w="19050" algn="ctr">
                <a:solidFill>
                  <a:srgbClr val="F8F8F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228" name="Rectangle 36">
                <a:extLst>
                  <a:ext uri="{FF2B5EF4-FFF2-40B4-BE49-F238E27FC236}">
                    <a16:creationId xmlns:a16="http://schemas.microsoft.com/office/drawing/2014/main" id="{C8957D18-3731-42B7-9985-36C45EC4E840}"/>
                  </a:ext>
                </a:extLst>
              </p:cNvPr>
              <p:cNvSpPr>
                <a:spLocks noChangeArrowheads="1"/>
              </p:cNvSpPr>
              <p:nvPr/>
            </p:nvSpPr>
            <p:spPr bwMode="auto">
              <a:xfrm>
                <a:off x="915" y="3385"/>
                <a:ext cx="8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3200" b="1">
                    <a:ea typeface="宋体" panose="02010600030101010101" pitchFamily="2" charset="-122"/>
                  </a:rPr>
                  <a:t>DENY</a:t>
                </a:r>
              </a:p>
            </p:txBody>
          </p:sp>
        </p:grpSp>
        <p:sp>
          <p:nvSpPr>
            <p:cNvPr id="520229" name="Line 37">
              <a:extLst>
                <a:ext uri="{FF2B5EF4-FFF2-40B4-BE49-F238E27FC236}">
                  <a16:creationId xmlns:a16="http://schemas.microsoft.com/office/drawing/2014/main" id="{C738945B-3B78-44D5-A2D2-5EAA2ABF9397}"/>
                </a:ext>
              </a:extLst>
            </p:cNvPr>
            <p:cNvSpPr>
              <a:spLocks noChangeShapeType="1"/>
            </p:cNvSpPr>
            <p:nvPr/>
          </p:nvSpPr>
          <p:spPr bwMode="auto">
            <a:xfrm rot="18903867" flipV="1">
              <a:off x="1156" y="3113"/>
              <a:ext cx="364" cy="318"/>
            </a:xfrm>
            <a:prstGeom prst="line">
              <a:avLst/>
            </a:prstGeom>
            <a:noFill/>
            <a:ln w="152400">
              <a:solidFill>
                <a:srgbClr val="C0C0C0"/>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20230" name="Group 38">
            <a:extLst>
              <a:ext uri="{FF2B5EF4-FFF2-40B4-BE49-F238E27FC236}">
                <a16:creationId xmlns:a16="http://schemas.microsoft.com/office/drawing/2014/main" id="{FEB245B1-FDA9-4A33-9C4F-DD834044F7D3}"/>
              </a:ext>
            </a:extLst>
          </p:cNvPr>
          <p:cNvGrpSpPr>
            <a:grpSpLocks/>
          </p:cNvGrpSpPr>
          <p:nvPr/>
        </p:nvGrpSpPr>
        <p:grpSpPr bwMode="auto">
          <a:xfrm>
            <a:off x="6084888" y="5084763"/>
            <a:ext cx="1990725" cy="1439862"/>
            <a:chOff x="703" y="3113"/>
            <a:chExt cx="1254" cy="907"/>
          </a:xfrm>
        </p:grpSpPr>
        <p:grpSp>
          <p:nvGrpSpPr>
            <p:cNvPr id="520231" name="Group 39">
              <a:extLst>
                <a:ext uri="{FF2B5EF4-FFF2-40B4-BE49-F238E27FC236}">
                  <a16:creationId xmlns:a16="http://schemas.microsoft.com/office/drawing/2014/main" id="{A4965242-338C-41E5-A39D-97D439DA4398}"/>
                </a:ext>
              </a:extLst>
            </p:cNvPr>
            <p:cNvGrpSpPr>
              <a:grpSpLocks/>
            </p:cNvGrpSpPr>
            <p:nvPr/>
          </p:nvGrpSpPr>
          <p:grpSpPr bwMode="auto">
            <a:xfrm>
              <a:off x="703" y="3488"/>
              <a:ext cx="1254" cy="532"/>
              <a:chOff x="703" y="3300"/>
              <a:chExt cx="1254" cy="532"/>
            </a:xfrm>
          </p:grpSpPr>
          <p:sp>
            <p:nvSpPr>
              <p:cNvPr id="520232" name="AutoShape 40">
                <a:extLst>
                  <a:ext uri="{FF2B5EF4-FFF2-40B4-BE49-F238E27FC236}">
                    <a16:creationId xmlns:a16="http://schemas.microsoft.com/office/drawing/2014/main" id="{33B426FD-66F2-4E9D-A4FD-448085385716}"/>
                  </a:ext>
                </a:extLst>
              </p:cNvPr>
              <p:cNvSpPr>
                <a:spLocks noChangeArrowheads="1"/>
              </p:cNvSpPr>
              <p:nvPr/>
            </p:nvSpPr>
            <p:spPr bwMode="gray">
              <a:xfrm>
                <a:off x="703" y="3300"/>
                <a:ext cx="1254" cy="532"/>
              </a:xfrm>
              <a:prstGeom prst="roundRect">
                <a:avLst>
                  <a:gd name="adj" fmla="val 50000"/>
                </a:avLst>
              </a:prstGeom>
              <a:solidFill>
                <a:srgbClr val="C0C0C0"/>
              </a:solidFill>
              <a:ln>
                <a:noFill/>
              </a:ln>
              <a:effectLst>
                <a:outerShdw dist="63500" dir="3187806" algn="ctr" rotWithShape="0">
                  <a:srgbClr val="1C1C1C">
                    <a:alpha val="50000"/>
                  </a:srgbClr>
                </a:outerShdw>
              </a:effectLst>
              <a:extLst>
                <a:ext uri="{91240B29-F687-4F45-9708-019B960494DF}">
                  <a14:hiddenLine xmlns:a14="http://schemas.microsoft.com/office/drawing/2010/main" w="57150" algn="ctr">
                    <a:solidFill>
                      <a:srgbClr val="000000"/>
                    </a:solidFill>
                    <a:round/>
                    <a:headEnd/>
                    <a:tailEnd/>
                  </a14:hiddenLine>
                </a:ext>
              </a:extLst>
            </p:spPr>
            <p:txBody>
              <a:bodyPr wrap="none" anchor="ctr"/>
              <a:lstStyle/>
              <a:p>
                <a:endParaRPr lang="zh-CN" altLang="en-US"/>
              </a:p>
            </p:txBody>
          </p:sp>
          <p:sp>
            <p:nvSpPr>
              <p:cNvPr id="520233" name="AutoShape 41">
                <a:extLst>
                  <a:ext uri="{FF2B5EF4-FFF2-40B4-BE49-F238E27FC236}">
                    <a16:creationId xmlns:a16="http://schemas.microsoft.com/office/drawing/2014/main" id="{D419F2AE-3A58-41A6-B3DF-CCB8A5ADD2B7}"/>
                  </a:ext>
                </a:extLst>
              </p:cNvPr>
              <p:cNvSpPr>
                <a:spLocks noChangeArrowheads="1"/>
              </p:cNvSpPr>
              <p:nvPr/>
            </p:nvSpPr>
            <p:spPr bwMode="gray">
              <a:xfrm>
                <a:off x="724" y="3339"/>
                <a:ext cx="1179" cy="461"/>
              </a:xfrm>
              <a:prstGeom prst="roundRect">
                <a:avLst>
                  <a:gd name="adj" fmla="val 50000"/>
                </a:avLst>
              </a:prstGeom>
              <a:gradFill rotWithShape="1">
                <a:gsLst>
                  <a:gs pos="0">
                    <a:srgbClr val="BBE0E3">
                      <a:alpha val="96001"/>
                    </a:srgbClr>
                  </a:gs>
                  <a:gs pos="100000">
                    <a:srgbClr val="BBE0E3">
                      <a:gamma/>
                      <a:tint val="43922"/>
                      <a:invGamma/>
                      <a:alpha val="70000"/>
                    </a:srgbClr>
                  </a:gs>
                </a:gsLst>
                <a:lin ang="5400000" scaled="1"/>
              </a:gradFill>
              <a:ln w="19050" algn="ctr">
                <a:solidFill>
                  <a:srgbClr val="F8F8F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234" name="Rectangle 42">
                <a:extLst>
                  <a:ext uri="{FF2B5EF4-FFF2-40B4-BE49-F238E27FC236}">
                    <a16:creationId xmlns:a16="http://schemas.microsoft.com/office/drawing/2014/main" id="{894983A6-F4ED-4B30-84B1-CFF547DBB54B}"/>
                  </a:ext>
                </a:extLst>
              </p:cNvPr>
              <p:cNvSpPr>
                <a:spLocks noChangeArrowheads="1"/>
              </p:cNvSpPr>
              <p:nvPr/>
            </p:nvSpPr>
            <p:spPr bwMode="auto">
              <a:xfrm>
                <a:off x="731" y="3385"/>
                <a:ext cx="119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3200" b="1">
                    <a:solidFill>
                      <a:srgbClr val="0000FF"/>
                    </a:solidFill>
                    <a:ea typeface="宋体" panose="02010600030101010101" pitchFamily="2" charset="-122"/>
                  </a:rPr>
                  <a:t>REVOKE</a:t>
                </a:r>
              </a:p>
            </p:txBody>
          </p:sp>
        </p:grpSp>
        <p:sp>
          <p:nvSpPr>
            <p:cNvPr id="520235" name="Line 43">
              <a:extLst>
                <a:ext uri="{FF2B5EF4-FFF2-40B4-BE49-F238E27FC236}">
                  <a16:creationId xmlns:a16="http://schemas.microsoft.com/office/drawing/2014/main" id="{81B05C60-0DD1-4717-98CF-C26CF627EF9B}"/>
                </a:ext>
              </a:extLst>
            </p:cNvPr>
            <p:cNvSpPr>
              <a:spLocks noChangeShapeType="1"/>
            </p:cNvSpPr>
            <p:nvPr/>
          </p:nvSpPr>
          <p:spPr bwMode="auto">
            <a:xfrm rot="18903867" flipV="1">
              <a:off x="1156" y="3113"/>
              <a:ext cx="364" cy="318"/>
            </a:xfrm>
            <a:prstGeom prst="line">
              <a:avLst/>
            </a:prstGeom>
            <a:noFill/>
            <a:ln w="152400">
              <a:solidFill>
                <a:srgbClr val="C0C0C0"/>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285"/>
    </mc:Choice>
    <mc:Fallback xmlns="">
      <p:transition spd="slow" advTm="3128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520200"/>
                                        </p:tgtEl>
                                        <p:attrNameLst>
                                          <p:attrName>style.visibility</p:attrName>
                                        </p:attrNameLst>
                                      </p:cBhvr>
                                      <p:to>
                                        <p:strVal val="visible"/>
                                      </p:to>
                                    </p:set>
                                    <p:animEffect transition="in" filter="blinds(vertical)">
                                      <p:cBhvr>
                                        <p:cTn id="7" dur="500"/>
                                        <p:tgtEl>
                                          <p:spTgt spid="5202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7" presetClass="entr" presetSubtype="0" fill="hold" nodeType="clickEffect">
                                  <p:stCondLst>
                                    <p:cond delay="0"/>
                                  </p:stCondLst>
                                  <p:childTnLst>
                                    <p:set>
                                      <p:cBhvr>
                                        <p:cTn id="11" dur="1" fill="hold">
                                          <p:stCondLst>
                                            <p:cond delay="0"/>
                                          </p:stCondLst>
                                        </p:cTn>
                                        <p:tgtEl>
                                          <p:spTgt spid="520208"/>
                                        </p:tgtEl>
                                        <p:attrNameLst>
                                          <p:attrName>style.visibility</p:attrName>
                                        </p:attrNameLst>
                                      </p:cBhvr>
                                      <p:to>
                                        <p:strVal val="visible"/>
                                      </p:to>
                                    </p:set>
                                    <p:animEffect transition="in" filter="fade">
                                      <p:cBhvr>
                                        <p:cTn id="12" dur="500"/>
                                        <p:tgtEl>
                                          <p:spTgt spid="520208"/>
                                        </p:tgtEl>
                                      </p:cBhvr>
                                    </p:animEffect>
                                    <p:anim calcmode="lin" valueType="num">
                                      <p:cBhvr>
                                        <p:cTn id="13" dur="500" fill="hold"/>
                                        <p:tgtEl>
                                          <p:spTgt spid="520208"/>
                                        </p:tgtEl>
                                        <p:attrNameLst>
                                          <p:attrName>ppt_x</p:attrName>
                                        </p:attrNameLst>
                                      </p:cBhvr>
                                      <p:tavLst>
                                        <p:tav tm="0">
                                          <p:val>
                                            <p:strVal val="#ppt_x"/>
                                          </p:val>
                                        </p:tav>
                                        <p:tav tm="100000">
                                          <p:val>
                                            <p:strVal val="#ppt_x"/>
                                          </p:val>
                                        </p:tav>
                                      </p:tavLst>
                                    </p:anim>
                                    <p:anim calcmode="lin" valueType="num">
                                      <p:cBhvr>
                                        <p:cTn id="14" dur="500" fill="hold"/>
                                        <p:tgtEl>
                                          <p:spTgt spid="520208"/>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500"/>
                            </p:stCondLst>
                            <p:childTnLst>
                              <p:par>
                                <p:cTn id="16" presetID="47" presetClass="entr" presetSubtype="0" fill="hold" nodeType="afterEffect">
                                  <p:stCondLst>
                                    <p:cond delay="0"/>
                                  </p:stCondLst>
                                  <p:childTnLst>
                                    <p:set>
                                      <p:cBhvr>
                                        <p:cTn id="17" dur="1" fill="hold">
                                          <p:stCondLst>
                                            <p:cond delay="0"/>
                                          </p:stCondLst>
                                        </p:cTn>
                                        <p:tgtEl>
                                          <p:spTgt spid="520209"/>
                                        </p:tgtEl>
                                        <p:attrNameLst>
                                          <p:attrName>style.visibility</p:attrName>
                                        </p:attrNameLst>
                                      </p:cBhvr>
                                      <p:to>
                                        <p:strVal val="visible"/>
                                      </p:to>
                                    </p:set>
                                    <p:animEffect transition="in" filter="fade">
                                      <p:cBhvr>
                                        <p:cTn id="18" dur="500"/>
                                        <p:tgtEl>
                                          <p:spTgt spid="520209"/>
                                        </p:tgtEl>
                                      </p:cBhvr>
                                    </p:animEffect>
                                    <p:anim calcmode="lin" valueType="num">
                                      <p:cBhvr>
                                        <p:cTn id="19" dur="500" fill="hold"/>
                                        <p:tgtEl>
                                          <p:spTgt spid="520209"/>
                                        </p:tgtEl>
                                        <p:attrNameLst>
                                          <p:attrName>ppt_x</p:attrName>
                                        </p:attrNameLst>
                                      </p:cBhvr>
                                      <p:tavLst>
                                        <p:tav tm="0">
                                          <p:val>
                                            <p:strVal val="#ppt_x"/>
                                          </p:val>
                                        </p:tav>
                                        <p:tav tm="100000">
                                          <p:val>
                                            <p:strVal val="#ppt_x"/>
                                          </p:val>
                                        </p:tav>
                                      </p:tavLst>
                                    </p:anim>
                                    <p:anim calcmode="lin" valueType="num">
                                      <p:cBhvr>
                                        <p:cTn id="20" dur="500" fill="hold"/>
                                        <p:tgtEl>
                                          <p:spTgt spid="520209"/>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520206"/>
                                        </p:tgtEl>
                                        <p:attrNameLst>
                                          <p:attrName>style.visibility</p:attrName>
                                        </p:attrNameLst>
                                      </p:cBhvr>
                                      <p:to>
                                        <p:strVal val="visible"/>
                                      </p:to>
                                    </p:set>
                                    <p:animEffect transition="in" filter="wipe(up)">
                                      <p:cBhvr>
                                        <p:cTn id="25" dur="500"/>
                                        <p:tgtEl>
                                          <p:spTgt spid="52020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520207"/>
                                        </p:tgtEl>
                                        <p:attrNameLst>
                                          <p:attrName>style.visibility</p:attrName>
                                        </p:attrNameLst>
                                      </p:cBhvr>
                                      <p:to>
                                        <p:strVal val="visible"/>
                                      </p:to>
                                    </p:set>
                                    <p:animEffect transition="in" filter="wipe(up)">
                                      <p:cBhvr>
                                        <p:cTn id="30" dur="500"/>
                                        <p:tgtEl>
                                          <p:spTgt spid="52020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520210"/>
                                        </p:tgtEl>
                                        <p:attrNameLst>
                                          <p:attrName>style.visibility</p:attrName>
                                        </p:attrNameLst>
                                      </p:cBhvr>
                                      <p:to>
                                        <p:strVal val="visible"/>
                                      </p:to>
                                    </p:set>
                                    <p:animEffect transition="in" filter="wipe(left)">
                                      <p:cBhvr>
                                        <p:cTn id="35" dur="500"/>
                                        <p:tgtEl>
                                          <p:spTgt spid="5202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nodeType="clickEffect">
                                  <p:stCondLst>
                                    <p:cond delay="0"/>
                                  </p:stCondLst>
                                  <p:childTnLst>
                                    <p:set>
                                      <p:cBhvr>
                                        <p:cTn id="39" dur="1" fill="hold">
                                          <p:stCondLst>
                                            <p:cond delay="0"/>
                                          </p:stCondLst>
                                        </p:cTn>
                                        <p:tgtEl>
                                          <p:spTgt spid="520223"/>
                                        </p:tgtEl>
                                        <p:attrNameLst>
                                          <p:attrName>style.visibility</p:attrName>
                                        </p:attrNameLst>
                                      </p:cBhvr>
                                      <p:to>
                                        <p:strVal val="visible"/>
                                      </p:to>
                                    </p:set>
                                    <p:animEffect transition="in" filter="fade">
                                      <p:cBhvr>
                                        <p:cTn id="40" dur="500"/>
                                        <p:tgtEl>
                                          <p:spTgt spid="520223"/>
                                        </p:tgtEl>
                                      </p:cBhvr>
                                    </p:animEffect>
                                    <p:anim calcmode="lin" valueType="num">
                                      <p:cBhvr>
                                        <p:cTn id="41" dur="500" fill="hold"/>
                                        <p:tgtEl>
                                          <p:spTgt spid="520223"/>
                                        </p:tgtEl>
                                        <p:attrNameLst>
                                          <p:attrName>ppt_x</p:attrName>
                                        </p:attrNameLst>
                                      </p:cBhvr>
                                      <p:tavLst>
                                        <p:tav tm="0">
                                          <p:val>
                                            <p:strVal val="#ppt_x"/>
                                          </p:val>
                                        </p:tav>
                                        <p:tav tm="100000">
                                          <p:val>
                                            <p:strVal val="#ppt_x"/>
                                          </p:val>
                                        </p:tav>
                                      </p:tavLst>
                                    </p:anim>
                                    <p:anim calcmode="lin" valueType="num">
                                      <p:cBhvr>
                                        <p:cTn id="42" dur="500" fill="hold"/>
                                        <p:tgtEl>
                                          <p:spTgt spid="520223"/>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2" presetClass="entr" presetSubtype="0" fill="hold" nodeType="clickEffect">
                                  <p:stCondLst>
                                    <p:cond delay="0"/>
                                  </p:stCondLst>
                                  <p:childTnLst>
                                    <p:set>
                                      <p:cBhvr>
                                        <p:cTn id="46" dur="1" fill="hold">
                                          <p:stCondLst>
                                            <p:cond delay="0"/>
                                          </p:stCondLst>
                                        </p:cTn>
                                        <p:tgtEl>
                                          <p:spTgt spid="520224"/>
                                        </p:tgtEl>
                                        <p:attrNameLst>
                                          <p:attrName>style.visibility</p:attrName>
                                        </p:attrNameLst>
                                      </p:cBhvr>
                                      <p:to>
                                        <p:strVal val="visible"/>
                                      </p:to>
                                    </p:set>
                                    <p:animEffect transition="in" filter="fade">
                                      <p:cBhvr>
                                        <p:cTn id="47" dur="500"/>
                                        <p:tgtEl>
                                          <p:spTgt spid="520224"/>
                                        </p:tgtEl>
                                      </p:cBhvr>
                                    </p:animEffect>
                                    <p:anim calcmode="lin" valueType="num">
                                      <p:cBhvr>
                                        <p:cTn id="48" dur="500" fill="hold"/>
                                        <p:tgtEl>
                                          <p:spTgt spid="520224"/>
                                        </p:tgtEl>
                                        <p:attrNameLst>
                                          <p:attrName>ppt_x</p:attrName>
                                        </p:attrNameLst>
                                      </p:cBhvr>
                                      <p:tavLst>
                                        <p:tav tm="0">
                                          <p:val>
                                            <p:strVal val="#ppt_x"/>
                                          </p:val>
                                        </p:tav>
                                        <p:tav tm="100000">
                                          <p:val>
                                            <p:strVal val="#ppt_x"/>
                                          </p:val>
                                        </p:tav>
                                      </p:tavLst>
                                    </p:anim>
                                    <p:anim calcmode="lin" valueType="num">
                                      <p:cBhvr>
                                        <p:cTn id="49" dur="500" fill="hold"/>
                                        <p:tgtEl>
                                          <p:spTgt spid="520224"/>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2" presetClass="entr" presetSubtype="0" fill="hold" nodeType="clickEffect">
                                  <p:stCondLst>
                                    <p:cond delay="0"/>
                                  </p:stCondLst>
                                  <p:childTnLst>
                                    <p:set>
                                      <p:cBhvr>
                                        <p:cTn id="53" dur="1" fill="hold">
                                          <p:stCondLst>
                                            <p:cond delay="0"/>
                                          </p:stCondLst>
                                        </p:cTn>
                                        <p:tgtEl>
                                          <p:spTgt spid="520230"/>
                                        </p:tgtEl>
                                        <p:attrNameLst>
                                          <p:attrName>style.visibility</p:attrName>
                                        </p:attrNameLst>
                                      </p:cBhvr>
                                      <p:to>
                                        <p:strVal val="visible"/>
                                      </p:to>
                                    </p:set>
                                    <p:animEffect transition="in" filter="fade">
                                      <p:cBhvr>
                                        <p:cTn id="54" dur="500"/>
                                        <p:tgtEl>
                                          <p:spTgt spid="520230"/>
                                        </p:tgtEl>
                                      </p:cBhvr>
                                    </p:animEffect>
                                    <p:anim calcmode="lin" valueType="num">
                                      <p:cBhvr>
                                        <p:cTn id="55" dur="500" fill="hold"/>
                                        <p:tgtEl>
                                          <p:spTgt spid="520230"/>
                                        </p:tgtEl>
                                        <p:attrNameLst>
                                          <p:attrName>ppt_x</p:attrName>
                                        </p:attrNameLst>
                                      </p:cBhvr>
                                      <p:tavLst>
                                        <p:tav tm="0">
                                          <p:val>
                                            <p:strVal val="#ppt_x"/>
                                          </p:val>
                                        </p:tav>
                                        <p:tav tm="100000">
                                          <p:val>
                                            <p:strVal val="#ppt_x"/>
                                          </p:val>
                                        </p:tav>
                                      </p:tavLst>
                                    </p:anim>
                                    <p:anim calcmode="lin" valueType="num">
                                      <p:cBhvr>
                                        <p:cTn id="56" dur="500" fill="hold"/>
                                        <p:tgtEl>
                                          <p:spTgt spid="5202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06" grpId="0"/>
      <p:bldP spid="5202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16FB0A1F-51B0-4C40-82E2-90A167769E44}"/>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三、视图机制</a:t>
            </a:r>
          </a:p>
        </p:txBody>
      </p:sp>
      <p:sp>
        <p:nvSpPr>
          <p:cNvPr id="521229" name="AutoShape 13">
            <a:extLst>
              <a:ext uri="{FF2B5EF4-FFF2-40B4-BE49-F238E27FC236}">
                <a16:creationId xmlns:a16="http://schemas.microsoft.com/office/drawing/2014/main" id="{382C51D3-92FF-433D-B620-3BCB1EAAE962}"/>
              </a:ext>
            </a:extLst>
          </p:cNvPr>
          <p:cNvSpPr>
            <a:spLocks noChangeArrowheads="1"/>
          </p:cNvSpPr>
          <p:nvPr/>
        </p:nvSpPr>
        <p:spPr bwMode="auto">
          <a:xfrm>
            <a:off x="323850" y="1555750"/>
            <a:ext cx="8569325" cy="4105275"/>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21231" name="Text Box 15">
            <a:extLst>
              <a:ext uri="{FF2B5EF4-FFF2-40B4-BE49-F238E27FC236}">
                <a16:creationId xmlns:a16="http://schemas.microsoft.com/office/drawing/2014/main" id="{B01FFB7E-2D7F-4495-88B6-44A7A1061277}"/>
              </a:ext>
            </a:extLst>
          </p:cNvPr>
          <p:cNvSpPr txBox="1">
            <a:spLocks noChangeArrowheads="1"/>
          </p:cNvSpPr>
          <p:nvPr/>
        </p:nvSpPr>
        <p:spPr bwMode="auto">
          <a:xfrm>
            <a:off x="381000" y="1865313"/>
            <a:ext cx="8382000" cy="308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pPr>
            <a:r>
              <a:rPr lang="zh-CN" altLang="en-US" sz="2800" b="1">
                <a:effectLst>
                  <a:outerShdw blurRad="38100" dist="38100" dir="2700000" algn="tl">
                    <a:srgbClr val="C0C0C0"/>
                  </a:outerShdw>
                </a:effectLst>
                <a:latin typeface="楷体_GB2312" pitchFamily="49" charset="-122"/>
              </a:rPr>
              <a:t>    通过为不同的用户定义不同的视图，可以把数据对象限制在一定的范围内。</a:t>
            </a:r>
          </a:p>
          <a:p>
            <a:pPr algn="just">
              <a:lnSpc>
                <a:spcPct val="140000"/>
              </a:lnSpc>
            </a:pPr>
            <a:r>
              <a:rPr lang="zh-CN" altLang="en-US" sz="2800" b="1">
                <a:effectLst>
                  <a:outerShdw blurRad="38100" dist="38100" dir="2700000" algn="tl">
                    <a:srgbClr val="C0C0C0"/>
                  </a:outerShdw>
                </a:effectLst>
                <a:latin typeface="楷体_GB2312" pitchFamily="49" charset="-122"/>
              </a:rPr>
              <a:t>    </a:t>
            </a:r>
            <a:r>
              <a:rPr lang="zh-CN" altLang="en-US" sz="2800" b="1">
                <a:solidFill>
                  <a:srgbClr val="660033"/>
                </a:solidFill>
                <a:effectLst>
                  <a:outerShdw blurRad="38100" dist="38100" dir="2700000" algn="tl">
                    <a:srgbClr val="C0C0C0"/>
                  </a:outerShdw>
                </a:effectLst>
                <a:latin typeface="楷体_GB2312" pitchFamily="49" charset="-122"/>
              </a:rPr>
              <a:t>也就是说，</a:t>
            </a:r>
            <a:r>
              <a:rPr lang="zh-CN" altLang="en-US" sz="2800" b="1">
                <a:effectLst>
                  <a:outerShdw blurRad="38100" dist="38100" dir="2700000" algn="tl">
                    <a:srgbClr val="C0C0C0"/>
                  </a:outerShdw>
                </a:effectLst>
                <a:latin typeface="楷体_GB2312" pitchFamily="49" charset="-122"/>
              </a:rPr>
              <a:t>通过视图机制把要保密的数据对无权存取的用户隐藏起来，从而自动地对数据提供一定程度的安全保护。</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177"/>
    </mc:Choice>
    <mc:Fallback xmlns="">
      <p:transition spd="slow" advTm="2917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521229"/>
                                        </p:tgtEl>
                                        <p:attrNameLst>
                                          <p:attrName>style.visibility</p:attrName>
                                        </p:attrNameLst>
                                      </p:cBhvr>
                                      <p:to>
                                        <p:strVal val="visible"/>
                                      </p:to>
                                    </p:set>
                                    <p:animEffect transition="in" filter="wipe(right)">
                                      <p:cBhvr>
                                        <p:cTn id="7" dur="500"/>
                                        <p:tgtEl>
                                          <p:spTgt spid="521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1231">
                                            <p:txEl>
                                              <p:pRg st="0" end="0"/>
                                            </p:txEl>
                                          </p:spTgt>
                                        </p:tgtEl>
                                        <p:attrNameLst>
                                          <p:attrName>style.visibility</p:attrName>
                                        </p:attrNameLst>
                                      </p:cBhvr>
                                      <p:to>
                                        <p:strVal val="visible"/>
                                      </p:to>
                                    </p:set>
                                    <p:animEffect transition="in" filter="wipe(left)">
                                      <p:cBhvr>
                                        <p:cTn id="12" dur="500"/>
                                        <p:tgtEl>
                                          <p:spTgt spid="5212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1231">
                                            <p:txEl>
                                              <p:pRg st="1" end="1"/>
                                            </p:txEl>
                                          </p:spTgt>
                                        </p:tgtEl>
                                        <p:attrNameLst>
                                          <p:attrName>style.visibility</p:attrName>
                                        </p:attrNameLst>
                                      </p:cBhvr>
                                      <p:to>
                                        <p:strVal val="visible"/>
                                      </p:to>
                                    </p:set>
                                    <p:animEffect transition="in" filter="wipe(left)">
                                      <p:cBhvr>
                                        <p:cTn id="17" dur="500"/>
                                        <p:tgtEl>
                                          <p:spTgt spid="5212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9" grpId="0" animBg="1"/>
      <p:bldP spid="52123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a:extLst>
              <a:ext uri="{FF2B5EF4-FFF2-40B4-BE49-F238E27FC236}">
                <a16:creationId xmlns:a16="http://schemas.microsoft.com/office/drawing/2014/main" id="{87B4A8D7-22D8-4A1F-9454-BD376D5D289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四、审计</a:t>
            </a:r>
          </a:p>
        </p:txBody>
      </p:sp>
      <p:sp>
        <p:nvSpPr>
          <p:cNvPr id="522243" name="AutoShape 13">
            <a:extLst>
              <a:ext uri="{FF2B5EF4-FFF2-40B4-BE49-F238E27FC236}">
                <a16:creationId xmlns:a16="http://schemas.microsoft.com/office/drawing/2014/main" id="{613A777E-0BE1-4625-BC3C-9F10F6955618}"/>
              </a:ext>
            </a:extLst>
          </p:cNvPr>
          <p:cNvSpPr>
            <a:spLocks noChangeArrowheads="1"/>
          </p:cNvSpPr>
          <p:nvPr/>
        </p:nvSpPr>
        <p:spPr bwMode="auto">
          <a:xfrm>
            <a:off x="323850" y="1411288"/>
            <a:ext cx="8569325" cy="4826000"/>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522245" name="Text Box 5">
            <a:extLst>
              <a:ext uri="{FF2B5EF4-FFF2-40B4-BE49-F238E27FC236}">
                <a16:creationId xmlns:a16="http://schemas.microsoft.com/office/drawing/2014/main" id="{3B9670CE-6703-45BD-9C36-6F86C1AF7902}"/>
              </a:ext>
            </a:extLst>
          </p:cNvPr>
          <p:cNvSpPr txBox="1">
            <a:spLocks noChangeArrowheads="1"/>
          </p:cNvSpPr>
          <p:nvPr/>
        </p:nvSpPr>
        <p:spPr bwMode="auto">
          <a:xfrm>
            <a:off x="381000" y="1524000"/>
            <a:ext cx="8382000" cy="428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pPr>
            <a:r>
              <a:rPr lang="zh-CN" altLang="en-US" sz="2800" b="1">
                <a:effectLst>
                  <a:outerShdw blurRad="38100" dist="38100" dir="2700000" algn="tl">
                    <a:srgbClr val="C0C0C0"/>
                  </a:outerShdw>
                </a:effectLst>
              </a:rPr>
              <a:t>      “审计”功能是</a:t>
            </a:r>
            <a:r>
              <a:rPr lang="en-US" altLang="zh-CN" sz="2800" b="1">
                <a:effectLst>
                  <a:outerShdw blurRad="38100" dist="38100" dir="2700000" algn="tl">
                    <a:srgbClr val="C0C0C0"/>
                  </a:outerShdw>
                </a:effectLst>
              </a:rPr>
              <a:t>DBMS</a:t>
            </a:r>
            <a:r>
              <a:rPr lang="zh-CN" altLang="en-US" sz="2800" b="1">
                <a:effectLst>
                  <a:outerShdw blurRad="38100" dist="38100" dir="2700000" algn="tl">
                    <a:srgbClr val="C0C0C0"/>
                  </a:outerShdw>
                </a:effectLst>
              </a:rPr>
              <a:t>达到规定安全级别必不可少的一项指标。</a:t>
            </a:r>
          </a:p>
          <a:p>
            <a:pPr algn="just">
              <a:lnSpc>
                <a:spcPct val="140000"/>
              </a:lnSpc>
            </a:pPr>
            <a:r>
              <a:rPr lang="zh-CN" altLang="en-US" sz="2800" b="1">
                <a:effectLst>
                  <a:outerShdw blurRad="38100" dist="38100" dir="2700000" algn="tl">
                    <a:srgbClr val="C0C0C0"/>
                  </a:outerShdw>
                </a:effectLst>
              </a:rPr>
              <a:t>      </a:t>
            </a:r>
            <a:r>
              <a:rPr lang="zh-CN" altLang="en-US" sz="2800" b="1">
                <a:solidFill>
                  <a:srgbClr val="660033"/>
                </a:solidFill>
                <a:effectLst>
                  <a:outerShdw blurRad="38100" dist="38100" dir="2700000" algn="tl">
                    <a:srgbClr val="C0C0C0"/>
                  </a:outerShdw>
                </a:effectLst>
              </a:rPr>
              <a:t>审计功能</a:t>
            </a:r>
            <a:r>
              <a:rPr lang="zh-CN" altLang="en-US" sz="2800" b="1">
                <a:effectLst>
                  <a:outerShdw blurRad="38100" dist="38100" dir="2700000" algn="tl">
                    <a:srgbClr val="C0C0C0"/>
                  </a:outerShdw>
                </a:effectLst>
              </a:rPr>
              <a:t>把用户对数据库的所有操作自动记录下来存放在审计日志，或跟踪审查记录中。</a:t>
            </a:r>
          </a:p>
          <a:p>
            <a:pPr algn="just">
              <a:lnSpc>
                <a:spcPct val="140000"/>
              </a:lnSpc>
            </a:pPr>
            <a:r>
              <a:rPr lang="zh-CN" altLang="en-US" sz="2800" b="1">
                <a:solidFill>
                  <a:srgbClr val="0000FF"/>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DBA</a:t>
            </a:r>
            <a:r>
              <a:rPr lang="zh-CN" altLang="en-US" sz="2800" b="1">
                <a:solidFill>
                  <a:srgbClr val="0000FF"/>
                </a:solidFill>
                <a:effectLst>
                  <a:outerShdw blurRad="38100" dist="38100" dir="2700000" algn="tl">
                    <a:srgbClr val="C0C0C0"/>
                  </a:outerShdw>
                </a:effectLst>
              </a:rPr>
              <a:t>可以利用审计跟踪的信息，重现导致数据库现有状况的一系列事件，找出非法存取数据的人、时间和内容等。</a:t>
            </a:r>
            <a:r>
              <a:rPr lang="zh-CN" altLang="en-US" sz="2800" b="1">
                <a:effectLst>
                  <a:outerShdw blurRad="38100" dist="38100" dir="2700000" algn="tl">
                    <a:srgbClr val="C0C0C0"/>
                  </a:outerShdw>
                </a:effectLst>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113"/>
    </mc:Choice>
    <mc:Fallback xmlns="">
      <p:transition spd="slow" advTm="4411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522243"/>
                                        </p:tgtEl>
                                        <p:attrNameLst>
                                          <p:attrName>style.visibility</p:attrName>
                                        </p:attrNameLst>
                                      </p:cBhvr>
                                      <p:to>
                                        <p:strVal val="visible"/>
                                      </p:to>
                                    </p:set>
                                    <p:animEffect transition="in" filter="wipe(right)">
                                      <p:cBhvr>
                                        <p:cTn id="7" dur="500"/>
                                        <p:tgtEl>
                                          <p:spTgt spid="522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45">
                                            <p:txEl>
                                              <p:pRg st="0" end="0"/>
                                            </p:txEl>
                                          </p:spTgt>
                                        </p:tgtEl>
                                        <p:attrNameLst>
                                          <p:attrName>style.visibility</p:attrName>
                                        </p:attrNameLst>
                                      </p:cBhvr>
                                      <p:to>
                                        <p:strVal val="visible"/>
                                      </p:to>
                                    </p:set>
                                    <p:animEffect transition="in" filter="wipe(left)">
                                      <p:cBhvr>
                                        <p:cTn id="12" dur="500"/>
                                        <p:tgtEl>
                                          <p:spTgt spid="52224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45">
                                            <p:txEl>
                                              <p:pRg st="1" end="1"/>
                                            </p:txEl>
                                          </p:spTgt>
                                        </p:tgtEl>
                                        <p:attrNameLst>
                                          <p:attrName>style.visibility</p:attrName>
                                        </p:attrNameLst>
                                      </p:cBhvr>
                                      <p:to>
                                        <p:strVal val="visible"/>
                                      </p:to>
                                    </p:set>
                                    <p:animEffect transition="in" filter="wipe(left)">
                                      <p:cBhvr>
                                        <p:cTn id="17" dur="500"/>
                                        <p:tgtEl>
                                          <p:spTgt spid="52224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45">
                                            <p:txEl>
                                              <p:pRg st="2" end="2"/>
                                            </p:txEl>
                                          </p:spTgt>
                                        </p:tgtEl>
                                        <p:attrNameLst>
                                          <p:attrName>style.visibility</p:attrName>
                                        </p:attrNameLst>
                                      </p:cBhvr>
                                      <p:to>
                                        <p:strVal val="visible"/>
                                      </p:to>
                                    </p:set>
                                    <p:animEffect transition="in" filter="wipe(left)">
                                      <p:cBhvr>
                                        <p:cTn id="22" dur="500"/>
                                        <p:tgtEl>
                                          <p:spTgt spid="5222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3" grpId="0" animBg="1"/>
      <p:bldP spid="52224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28" name="Rectangle 12">
            <a:extLst>
              <a:ext uri="{FF2B5EF4-FFF2-40B4-BE49-F238E27FC236}">
                <a16:creationId xmlns:a16="http://schemas.microsoft.com/office/drawing/2014/main" id="{5077950F-FCB8-4599-9514-9EAD19CE3E88}"/>
              </a:ext>
            </a:extLst>
          </p:cNvPr>
          <p:cNvSpPr>
            <a:spLocks noChangeArrowheads="1"/>
          </p:cNvSpPr>
          <p:nvPr/>
        </p:nvSpPr>
        <p:spPr bwMode="auto">
          <a:xfrm>
            <a:off x="682625" y="2924175"/>
            <a:ext cx="1800225" cy="579438"/>
          </a:xfrm>
          <a:prstGeom prst="rect">
            <a:avLst/>
          </a:prstGeom>
          <a:solidFill>
            <a:srgbClr val="CCFFFF"/>
          </a:solidFill>
          <a:ln w="9525">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80808"/>
                </a:solidFill>
                <a:effectLst>
                  <a:outerShdw blurRad="38100" dist="38100" dir="2700000" algn="tl">
                    <a:srgbClr val="FFFFFF"/>
                  </a:outerShdw>
                </a:effectLst>
                <a:latin typeface="黑体" panose="02010609060101010101" pitchFamily="49" charset="-122"/>
                <a:ea typeface="黑体" panose="02010609060101010101" pitchFamily="49" charset="-122"/>
              </a:rPr>
              <a:t>安全威胁</a:t>
            </a:r>
          </a:p>
        </p:txBody>
      </p:sp>
      <p:sp>
        <p:nvSpPr>
          <p:cNvPr id="470030" name="AutoShape 14">
            <a:extLst>
              <a:ext uri="{FF2B5EF4-FFF2-40B4-BE49-F238E27FC236}">
                <a16:creationId xmlns:a16="http://schemas.microsoft.com/office/drawing/2014/main" id="{2C614752-D023-4149-ADF1-EC23827227AF}"/>
              </a:ext>
            </a:extLst>
          </p:cNvPr>
          <p:cNvSpPr>
            <a:spLocks noChangeArrowheads="1"/>
          </p:cNvSpPr>
          <p:nvPr/>
        </p:nvSpPr>
        <p:spPr bwMode="auto">
          <a:xfrm>
            <a:off x="2770188" y="3068638"/>
            <a:ext cx="649287" cy="287337"/>
          </a:xfrm>
          <a:prstGeom prst="rightArrow">
            <a:avLst>
              <a:gd name="adj1" fmla="val 49694"/>
              <a:gd name="adj2" fmla="val 22942"/>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470031" name="Rectangle 15">
            <a:extLst>
              <a:ext uri="{FF2B5EF4-FFF2-40B4-BE49-F238E27FC236}">
                <a16:creationId xmlns:a16="http://schemas.microsoft.com/office/drawing/2014/main" id="{D7608193-97EE-4E04-8FAB-7FD28037E3C5}"/>
              </a:ext>
            </a:extLst>
          </p:cNvPr>
          <p:cNvSpPr>
            <a:spLocks noChangeArrowheads="1"/>
          </p:cNvSpPr>
          <p:nvPr/>
        </p:nvSpPr>
        <p:spPr bwMode="auto">
          <a:xfrm>
            <a:off x="3635375" y="2924175"/>
            <a:ext cx="1441450" cy="576263"/>
          </a:xfrm>
          <a:prstGeom prst="rect">
            <a:avLst/>
          </a:prstGeom>
          <a:solidFill>
            <a:srgbClr val="CCFFFF"/>
          </a:solidFill>
          <a:ln w="9525">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安全控制</a:t>
            </a:r>
          </a:p>
        </p:txBody>
      </p:sp>
      <p:sp>
        <p:nvSpPr>
          <p:cNvPr id="470033" name="Rectangle 17">
            <a:extLst>
              <a:ext uri="{FF2B5EF4-FFF2-40B4-BE49-F238E27FC236}">
                <a16:creationId xmlns:a16="http://schemas.microsoft.com/office/drawing/2014/main" id="{8681A3B4-933C-4910-95F8-E0057432B3EA}"/>
              </a:ext>
            </a:extLst>
          </p:cNvPr>
          <p:cNvSpPr>
            <a:spLocks noGrp="1" noChangeArrowheads="1"/>
          </p:cNvSpPr>
          <p:nvPr>
            <p:ph type="title"/>
          </p:nvPr>
        </p:nvSpPr>
        <p:spPr>
          <a:noFill/>
          <a:ln/>
          <a:effectLst>
            <a:outerShdw dist="17961" dir="2700000" algn="ctr" rotWithShape="0">
              <a:schemeClr val="tx1"/>
            </a:outerShdw>
          </a:effectLst>
        </p:spPr>
        <p:txBody>
          <a:bodyPr anchor="ctr"/>
          <a:lstStyle/>
          <a:p>
            <a:r>
              <a:rPr lang="zh-CN" altLang="en-US" sz="3700">
                <a:ea typeface="隶书" panose="02010509060101010101" pitchFamily="49" charset="-122"/>
              </a:rPr>
              <a:t>小 结</a:t>
            </a:r>
          </a:p>
        </p:txBody>
      </p:sp>
      <p:sp>
        <p:nvSpPr>
          <p:cNvPr id="470034" name="Text Box 18">
            <a:extLst>
              <a:ext uri="{FF2B5EF4-FFF2-40B4-BE49-F238E27FC236}">
                <a16:creationId xmlns:a16="http://schemas.microsoft.com/office/drawing/2014/main" id="{56D08736-ECEF-4A71-B790-B9B4C68C1D11}"/>
              </a:ext>
            </a:extLst>
          </p:cNvPr>
          <p:cNvSpPr txBox="1">
            <a:spLocks noChangeArrowheads="1"/>
          </p:cNvSpPr>
          <p:nvPr/>
        </p:nvSpPr>
        <p:spPr bwMode="auto">
          <a:xfrm>
            <a:off x="5580063" y="1917700"/>
            <a:ext cx="2520950" cy="466725"/>
          </a:xfrm>
          <a:prstGeom prst="rect">
            <a:avLst/>
          </a:prstGeom>
          <a:solidFill>
            <a:srgbClr val="006600"/>
          </a:solidFill>
          <a:ln w="9525" algn="ctr">
            <a:solidFill>
              <a:schemeClr val="tx2"/>
            </a:solidFill>
            <a:miter lim="800000"/>
            <a:headEnd/>
            <a:tailEnd/>
          </a:ln>
          <a:effectLst>
            <a:outerShdw dist="35921" dir="2700000" algn="ctr" rotWithShape="0">
              <a:schemeClr val="tx2"/>
            </a:outerShdw>
          </a:effectLst>
        </p:spPr>
        <p:txBody>
          <a:bodyPr>
            <a:spAutoFit/>
          </a:bodyPr>
          <a:lstStyle/>
          <a:p>
            <a:pPr algn="ctr">
              <a:spcBef>
                <a:spcPct val="50000"/>
              </a:spcBef>
            </a:pP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用户</a:t>
            </a:r>
            <a:r>
              <a:rPr kumimoji="1" lang="en-US" altLang="zh-CN"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a:t>
            </a:r>
            <a:r>
              <a:rPr kumimoji="1" lang="zh-CN" altLang="en-US" sz="2400" b="1">
                <a:solidFill>
                  <a:schemeClr val="bg1"/>
                </a:solidFill>
                <a:latin typeface="Comic Sans MS" panose="030F0702030302020204" pitchFamily="66" charset="0"/>
                <a:ea typeface="黑体" panose="02010609060101010101" pitchFamily="49" charset="-122"/>
              </a:rPr>
              <a:t>标识和鉴别</a:t>
            </a:r>
          </a:p>
        </p:txBody>
      </p:sp>
      <p:sp>
        <p:nvSpPr>
          <p:cNvPr id="470035" name="Text Box 19">
            <a:extLst>
              <a:ext uri="{FF2B5EF4-FFF2-40B4-BE49-F238E27FC236}">
                <a16:creationId xmlns:a16="http://schemas.microsoft.com/office/drawing/2014/main" id="{10041507-96F0-4B16-BA32-276AA82CCD18}"/>
              </a:ext>
            </a:extLst>
          </p:cNvPr>
          <p:cNvSpPr txBox="1">
            <a:spLocks noChangeArrowheads="1"/>
          </p:cNvSpPr>
          <p:nvPr/>
        </p:nvSpPr>
        <p:spPr bwMode="auto">
          <a:xfrm>
            <a:off x="5581650" y="2565400"/>
            <a:ext cx="2662238" cy="466725"/>
          </a:xfrm>
          <a:prstGeom prst="rect">
            <a:avLst/>
          </a:prstGeom>
          <a:solidFill>
            <a:srgbClr val="006600"/>
          </a:solidFill>
          <a:ln w="9525" algn="ctr">
            <a:solidFill>
              <a:schemeClr val="tx2"/>
            </a:solidFill>
            <a:miter lim="800000"/>
            <a:headEnd/>
            <a:tailEnd/>
          </a:ln>
          <a:effectLst>
            <a:outerShdw dist="35921" dir="2700000" algn="ctr" rotWithShape="0">
              <a:schemeClr val="tx2"/>
            </a:outerShdw>
          </a:effectLst>
        </p:spPr>
        <p:txBody>
          <a:bodyPr>
            <a:spAutoFit/>
          </a:bodyPr>
          <a:lstStyle/>
          <a:p>
            <a:pPr algn="ctr">
              <a:spcBef>
                <a:spcPct val="50000"/>
              </a:spcBef>
            </a:pPr>
            <a:r>
              <a:rPr kumimoji="1" lang="en-US" altLang="zh-CN"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DBMS</a:t>
            </a: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a:t>
            </a:r>
            <a:r>
              <a:rPr kumimoji="1" lang="zh-CN" altLang="en-US" sz="2400" b="1">
                <a:solidFill>
                  <a:schemeClr val="bg1"/>
                </a:solidFill>
                <a:latin typeface="Comic Sans MS" panose="030F0702030302020204" pitchFamily="66" charset="0"/>
                <a:ea typeface="黑体" panose="02010609060101010101" pitchFamily="49" charset="-122"/>
              </a:rPr>
              <a:t>存取控制</a:t>
            </a:r>
          </a:p>
        </p:txBody>
      </p:sp>
      <p:sp>
        <p:nvSpPr>
          <p:cNvPr id="470036" name="AutoShape 20">
            <a:extLst>
              <a:ext uri="{FF2B5EF4-FFF2-40B4-BE49-F238E27FC236}">
                <a16:creationId xmlns:a16="http://schemas.microsoft.com/office/drawing/2014/main" id="{560B141B-DE5C-49DD-9BF4-7D7DAB0970C4}"/>
              </a:ext>
            </a:extLst>
          </p:cNvPr>
          <p:cNvSpPr>
            <a:spLocks/>
          </p:cNvSpPr>
          <p:nvPr/>
        </p:nvSpPr>
        <p:spPr bwMode="auto">
          <a:xfrm>
            <a:off x="5148263" y="2062163"/>
            <a:ext cx="360362" cy="2159000"/>
          </a:xfrm>
          <a:prstGeom prst="leftBrace">
            <a:avLst>
              <a:gd name="adj1" fmla="val 49927"/>
              <a:gd name="adj2" fmla="val 50000"/>
            </a:avLst>
          </a:prstGeom>
          <a:noFill/>
          <a:ln w="28575">
            <a:solidFill>
              <a:schemeClr val="tx2"/>
            </a:solidFill>
            <a:round/>
            <a:headEnd/>
            <a:tailEnd/>
          </a:ln>
          <a:effectLst>
            <a:outerShdw dist="35921" dir="2700000" algn="ctr" rotWithShape="0">
              <a:schemeClr val="tx2"/>
            </a:outerShdw>
          </a:effectLst>
          <a:extLst>
            <a:ext uri="{909E8E84-426E-40DD-AFC4-6F175D3DCCD1}">
              <a14:hiddenFill xmlns:a14="http://schemas.microsoft.com/office/drawing/2010/main">
                <a:solidFill>
                  <a:srgbClr val="FFCC99"/>
                </a:solidFill>
              </a14:hiddenFill>
            </a:ext>
          </a:extLst>
        </p:spPr>
        <p:txBody>
          <a:bodyPr wrap="none" anchor="ctr"/>
          <a:lstStyle/>
          <a:p>
            <a:endParaRPr lang="zh-CN" altLang="en-US"/>
          </a:p>
        </p:txBody>
      </p:sp>
      <p:sp>
        <p:nvSpPr>
          <p:cNvPr id="470041" name="Text Box 25">
            <a:extLst>
              <a:ext uri="{FF2B5EF4-FFF2-40B4-BE49-F238E27FC236}">
                <a16:creationId xmlns:a16="http://schemas.microsoft.com/office/drawing/2014/main" id="{9A05F4F1-8445-4A5A-B46A-C5F1F6E1F2FB}"/>
              </a:ext>
            </a:extLst>
          </p:cNvPr>
          <p:cNvSpPr txBox="1">
            <a:spLocks noChangeArrowheads="1"/>
          </p:cNvSpPr>
          <p:nvPr/>
        </p:nvSpPr>
        <p:spPr bwMode="auto">
          <a:xfrm>
            <a:off x="5581650" y="3249613"/>
            <a:ext cx="2446338" cy="466725"/>
          </a:xfrm>
          <a:prstGeom prst="rect">
            <a:avLst/>
          </a:prstGeom>
          <a:solidFill>
            <a:srgbClr val="006600"/>
          </a:solidFill>
          <a:ln w="9525" algn="ctr">
            <a:solidFill>
              <a:schemeClr val="tx2"/>
            </a:solidFill>
            <a:miter lim="800000"/>
            <a:headEnd/>
            <a:tailEnd/>
          </a:ln>
          <a:effectLst>
            <a:outerShdw dist="35921" dir="2700000" algn="ctr" rotWithShape="0">
              <a:schemeClr val="tx2"/>
            </a:outerShdw>
          </a:effectLst>
        </p:spPr>
        <p:txBody>
          <a:bodyPr>
            <a:spAutoFit/>
          </a:bodyPr>
          <a:lstStyle/>
          <a:p>
            <a:pPr algn="ctr">
              <a:spcBef>
                <a:spcPct val="50000"/>
              </a:spcBef>
            </a:pPr>
            <a:r>
              <a:rPr kumimoji="1" lang="en-US" altLang="zh-CN"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OS</a:t>
            </a: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a:t>
            </a:r>
            <a:r>
              <a:rPr kumimoji="1" lang="zh-CN" altLang="en-US" sz="2400" b="1">
                <a:solidFill>
                  <a:schemeClr val="bg1"/>
                </a:solidFill>
                <a:latin typeface="Comic Sans MS" panose="030F0702030302020204" pitchFamily="66" charset="0"/>
                <a:ea typeface="黑体" panose="02010609060101010101" pitchFamily="49" charset="-122"/>
              </a:rPr>
              <a:t>安全保护</a:t>
            </a:r>
          </a:p>
        </p:txBody>
      </p:sp>
      <p:sp>
        <p:nvSpPr>
          <p:cNvPr id="470042" name="Text Box 26">
            <a:extLst>
              <a:ext uri="{FF2B5EF4-FFF2-40B4-BE49-F238E27FC236}">
                <a16:creationId xmlns:a16="http://schemas.microsoft.com/office/drawing/2014/main" id="{04B0F43E-96CF-4650-A99E-BF809F5D0CCA}"/>
              </a:ext>
            </a:extLst>
          </p:cNvPr>
          <p:cNvSpPr txBox="1">
            <a:spLocks noChangeArrowheads="1"/>
          </p:cNvSpPr>
          <p:nvPr/>
        </p:nvSpPr>
        <p:spPr bwMode="auto">
          <a:xfrm>
            <a:off x="5580063" y="3898900"/>
            <a:ext cx="2447925" cy="466725"/>
          </a:xfrm>
          <a:prstGeom prst="rect">
            <a:avLst/>
          </a:prstGeom>
          <a:solidFill>
            <a:srgbClr val="006600"/>
          </a:solidFill>
          <a:ln w="9525" algn="ctr">
            <a:solidFill>
              <a:schemeClr val="tx2"/>
            </a:solidFill>
            <a:miter lim="800000"/>
            <a:headEnd/>
            <a:tailEnd/>
          </a:ln>
          <a:effectLst>
            <a:outerShdw dist="35921" dir="2700000" algn="ctr" rotWithShape="0">
              <a:schemeClr val="tx2"/>
            </a:outerShdw>
          </a:effectLst>
        </p:spPr>
        <p:txBody>
          <a:bodyPr>
            <a:spAutoFit/>
          </a:bodyPr>
          <a:lstStyle/>
          <a:p>
            <a:pPr algn="ctr">
              <a:spcBef>
                <a:spcPct val="50000"/>
              </a:spcBef>
            </a:pPr>
            <a:r>
              <a:rPr kumimoji="1" lang="en-US" altLang="zh-CN"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DB</a:t>
            </a:r>
            <a:r>
              <a:rPr kumimoji="1" lang="zh-CN" altLang="en-US" sz="24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a:t>
            </a:r>
            <a:r>
              <a:rPr kumimoji="1" lang="zh-CN" altLang="en-US" sz="2400" b="1">
                <a:solidFill>
                  <a:schemeClr val="bg1"/>
                </a:solidFill>
                <a:latin typeface="Comic Sans MS" panose="030F0702030302020204" pitchFamily="66" charset="0"/>
                <a:ea typeface="黑体" panose="02010609060101010101" pitchFamily="49" charset="-122"/>
              </a:rPr>
              <a:t>数据加密</a:t>
            </a:r>
          </a:p>
        </p:txBody>
      </p:sp>
    </p:spTree>
    <p:custDataLst>
      <p:tags r:id="rId1"/>
    </p:custDataLst>
  </p:cSld>
  <p:clrMapOvr>
    <a:masterClrMapping/>
  </p:clrMapOvr>
  <p:transition advTm="10091"/>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0028"/>
                                        </p:tgtEl>
                                        <p:attrNameLst>
                                          <p:attrName>style.visibility</p:attrName>
                                        </p:attrNameLst>
                                      </p:cBhvr>
                                      <p:to>
                                        <p:strVal val="visible"/>
                                      </p:to>
                                    </p:set>
                                    <p:animEffect transition="in" filter="wipe(left)">
                                      <p:cBhvr>
                                        <p:cTn id="7" dur="1000"/>
                                        <p:tgtEl>
                                          <p:spTgt spid="4700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0030"/>
                                        </p:tgtEl>
                                        <p:attrNameLst>
                                          <p:attrName>style.visibility</p:attrName>
                                        </p:attrNameLst>
                                      </p:cBhvr>
                                      <p:to>
                                        <p:strVal val="visible"/>
                                      </p:to>
                                    </p:set>
                                    <p:animEffect transition="in" filter="wipe(left)">
                                      <p:cBhvr>
                                        <p:cTn id="12" dur="500"/>
                                        <p:tgtEl>
                                          <p:spTgt spid="470030"/>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70031"/>
                                        </p:tgtEl>
                                        <p:attrNameLst>
                                          <p:attrName>style.visibility</p:attrName>
                                        </p:attrNameLst>
                                      </p:cBhvr>
                                      <p:to>
                                        <p:strVal val="visible"/>
                                      </p:to>
                                    </p:set>
                                    <p:animEffect transition="in" filter="wipe(left)">
                                      <p:cBhvr>
                                        <p:cTn id="16" dur="500"/>
                                        <p:tgtEl>
                                          <p:spTgt spid="47003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70036"/>
                                        </p:tgtEl>
                                        <p:attrNameLst>
                                          <p:attrName>style.visibility</p:attrName>
                                        </p:attrNameLst>
                                      </p:cBhvr>
                                      <p:to>
                                        <p:strVal val="visible"/>
                                      </p:to>
                                    </p:set>
                                    <p:animEffect transition="in" filter="wipe(left)">
                                      <p:cBhvr>
                                        <p:cTn id="21" dur="500"/>
                                        <p:tgtEl>
                                          <p:spTgt spid="4700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70034"/>
                                        </p:tgtEl>
                                        <p:attrNameLst>
                                          <p:attrName>style.visibility</p:attrName>
                                        </p:attrNameLst>
                                      </p:cBhvr>
                                      <p:to>
                                        <p:strVal val="visible"/>
                                      </p:to>
                                    </p:set>
                                    <p:animEffect transition="in" filter="wipe(left)">
                                      <p:cBhvr>
                                        <p:cTn id="26" dur="500"/>
                                        <p:tgtEl>
                                          <p:spTgt spid="47003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70035"/>
                                        </p:tgtEl>
                                        <p:attrNameLst>
                                          <p:attrName>style.visibility</p:attrName>
                                        </p:attrNameLst>
                                      </p:cBhvr>
                                      <p:to>
                                        <p:strVal val="visible"/>
                                      </p:to>
                                    </p:set>
                                    <p:animEffect transition="in" filter="wipe(left)">
                                      <p:cBhvr>
                                        <p:cTn id="31" dur="500"/>
                                        <p:tgtEl>
                                          <p:spTgt spid="47003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70041"/>
                                        </p:tgtEl>
                                        <p:attrNameLst>
                                          <p:attrName>style.visibility</p:attrName>
                                        </p:attrNameLst>
                                      </p:cBhvr>
                                      <p:to>
                                        <p:strVal val="visible"/>
                                      </p:to>
                                    </p:set>
                                    <p:animEffect transition="in" filter="wipe(left)">
                                      <p:cBhvr>
                                        <p:cTn id="36" dur="500"/>
                                        <p:tgtEl>
                                          <p:spTgt spid="47004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70042"/>
                                        </p:tgtEl>
                                        <p:attrNameLst>
                                          <p:attrName>style.visibility</p:attrName>
                                        </p:attrNameLst>
                                      </p:cBhvr>
                                      <p:to>
                                        <p:strVal val="visible"/>
                                      </p:to>
                                    </p:set>
                                    <p:animEffect transition="in" filter="wipe(left)">
                                      <p:cBhvr>
                                        <p:cTn id="41" dur="500"/>
                                        <p:tgtEl>
                                          <p:spTgt spid="470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8" grpId="0" animBg="1"/>
      <p:bldP spid="470031" grpId="0" animBg="1"/>
      <p:bldP spid="470034" grpId="0" animBg="1"/>
      <p:bldP spid="470035" grpId="0" animBg="1"/>
      <p:bldP spid="470041" grpId="0" animBg="1"/>
      <p:bldP spid="47004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2"/>
</p:tagLst>
</file>

<file path=ppt/tags/tag2.xml><?xml version="1.0" encoding="utf-8"?>
<p:tagLst xmlns:a="http://schemas.openxmlformats.org/drawingml/2006/main" xmlns:r="http://schemas.openxmlformats.org/officeDocument/2006/relationships" xmlns:p="http://schemas.openxmlformats.org/presentationml/2006/main">
  <p:tag name="TIMING" val="|1.9|8|8.8|2.3|21.5"/>
</p:tagLst>
</file>

<file path=ppt/tags/tag3.xml><?xml version="1.0" encoding="utf-8"?>
<p:tagLst xmlns:a="http://schemas.openxmlformats.org/drawingml/2006/main" xmlns:r="http://schemas.openxmlformats.org/officeDocument/2006/relationships" xmlns:p="http://schemas.openxmlformats.org/presentationml/2006/main">
  <p:tag name="TIMING" val="|1.3|9.5"/>
</p:tagLst>
</file>

<file path=ppt/tags/tag4.xml><?xml version="1.0" encoding="utf-8"?>
<p:tagLst xmlns:a="http://schemas.openxmlformats.org/drawingml/2006/main" xmlns:r="http://schemas.openxmlformats.org/officeDocument/2006/relationships" xmlns:p="http://schemas.openxmlformats.org/presentationml/2006/main">
  <p:tag name="TIMING" val="|0.8|1|13.3|30.3|6.1"/>
</p:tagLst>
</file>

<file path=ppt/tags/tag5.xml><?xml version="1.0" encoding="utf-8"?>
<p:tagLst xmlns:a="http://schemas.openxmlformats.org/drawingml/2006/main" xmlns:r="http://schemas.openxmlformats.org/officeDocument/2006/relationships" xmlns:p="http://schemas.openxmlformats.org/presentationml/2006/main">
  <p:tag name="TIMING" val="|1|1.3|16.8|11.4"/>
</p:tagLst>
</file>

<file path=ppt/tags/tag6.xml><?xml version="1.0" encoding="utf-8"?>
<p:tagLst xmlns:a="http://schemas.openxmlformats.org/drawingml/2006/main" xmlns:r="http://schemas.openxmlformats.org/officeDocument/2006/relationships" xmlns:p="http://schemas.openxmlformats.org/presentationml/2006/main">
  <p:tag name="TIMING" val="|1.1|1.8"/>
</p:tagLst>
</file>

<file path=ppt/tags/tag7.xml><?xml version="1.0" encoding="utf-8"?>
<p:tagLst xmlns:a="http://schemas.openxmlformats.org/drawingml/2006/main" xmlns:r="http://schemas.openxmlformats.org/officeDocument/2006/relationships" xmlns:p="http://schemas.openxmlformats.org/presentationml/2006/main">
  <p:tag name="TIMING" val="|0.9|1.4|13.4"/>
</p:tagLst>
</file>

<file path=ppt/tags/tag8.xml><?xml version="1.0" encoding="utf-8"?>
<p:tagLst xmlns:a="http://schemas.openxmlformats.org/drawingml/2006/main" xmlns:r="http://schemas.openxmlformats.org/officeDocument/2006/relationships" xmlns:p="http://schemas.openxmlformats.org/presentationml/2006/main">
  <p:tag name="TIMING" val="|0.9|1.6|2|1|5.8|1.4|7.5|1.9"/>
</p:tagLst>
</file>

<file path=ppt/tags/tag9.xml><?xml version="1.0" encoding="utf-8"?>
<p:tagLst xmlns:a="http://schemas.openxmlformats.org/drawingml/2006/main" xmlns:r="http://schemas.openxmlformats.org/officeDocument/2006/relationships" xmlns:p="http://schemas.openxmlformats.org/presentationml/2006/main">
  <p:tag name="TIMING" val="|0.6|0.9|2.2"/>
</p:tagLst>
</file>

<file path=ppt/tags/tag10.xml><?xml version="1.0" encoding="utf-8"?>
<p:tagLst xmlns:a="http://schemas.openxmlformats.org/drawingml/2006/main" xmlns:r="http://schemas.openxmlformats.org/officeDocument/2006/relationships" xmlns:p="http://schemas.openxmlformats.org/presentationml/2006/main">
  <p:tag name="TIMING" val="|0.6|1|1.1|1.4|3.3|18.2|0.8|2.3|5.2|2.3|5.9|4.6|4|1.6|0.8|6.7|5.8|5.8"/>
</p:tagLst>
</file>

<file path=ppt/tags/tag11.xml><?xml version="1.0" encoding="utf-8"?>
<p:tagLst xmlns:a="http://schemas.openxmlformats.org/drawingml/2006/main" xmlns:r="http://schemas.openxmlformats.org/officeDocument/2006/relationships" xmlns:p="http://schemas.openxmlformats.org/presentationml/2006/main">
  <p:tag name="TIMING" val="|0.5|0.8|2.7"/>
</p:tagLst>
</file>

<file path=ppt/tags/tag12.xml><?xml version="1.0" encoding="utf-8"?>
<p:tagLst xmlns:a="http://schemas.openxmlformats.org/drawingml/2006/main" xmlns:r="http://schemas.openxmlformats.org/officeDocument/2006/relationships" xmlns:p="http://schemas.openxmlformats.org/presentationml/2006/main">
  <p:tag name="TIMING" val="|0.9|1.3|10.8|10.4"/>
</p:tagLst>
</file>

<file path=ppt/tags/tag13.xml><?xml version="1.0" encoding="utf-8"?>
<p:tagLst xmlns:a="http://schemas.openxmlformats.org/drawingml/2006/main" xmlns:r="http://schemas.openxmlformats.org/officeDocument/2006/relationships" xmlns:p="http://schemas.openxmlformats.org/presentationml/2006/main">
  <p:tag name="TIMING" val="|0.6"/>
</p:tagLst>
</file>

<file path=ppt/tags/tag14.xml><?xml version="1.0" encoding="utf-8"?>
<p:tagLst xmlns:a="http://schemas.openxmlformats.org/drawingml/2006/main" xmlns:r="http://schemas.openxmlformats.org/officeDocument/2006/relationships" xmlns:p="http://schemas.openxmlformats.org/presentationml/2006/main">
  <p:tag name="TIMING" val="|1|1.2|18.6|0.9|16.1|16.1"/>
</p:tagLst>
</file>

<file path=ppt/tags/tag15.xml><?xml version="1.0" encoding="utf-8"?>
<p:tagLst xmlns:a="http://schemas.openxmlformats.org/drawingml/2006/main" xmlns:r="http://schemas.openxmlformats.org/officeDocument/2006/relationships" xmlns:p="http://schemas.openxmlformats.org/presentationml/2006/main">
  <p:tag name="TIMING" val="|0.7|1"/>
</p:tagLst>
</file>

<file path=ppt/tags/tag16.xml><?xml version="1.0" encoding="utf-8"?>
<p:tagLst xmlns:a="http://schemas.openxmlformats.org/drawingml/2006/main" xmlns:r="http://schemas.openxmlformats.org/officeDocument/2006/relationships" xmlns:p="http://schemas.openxmlformats.org/presentationml/2006/main">
  <p:tag name="TIMING" val="|1.1|3.4|3.1|11.6|0.8|3.6|1.8"/>
</p:tagLst>
</file>

<file path=ppt/tags/tag17.xml><?xml version="1.0" encoding="utf-8"?>
<p:tagLst xmlns:a="http://schemas.openxmlformats.org/drawingml/2006/main" xmlns:r="http://schemas.openxmlformats.org/officeDocument/2006/relationships" xmlns:p="http://schemas.openxmlformats.org/presentationml/2006/main">
  <p:tag name="TIMING" val="|0.8|0.9|13.2"/>
</p:tagLst>
</file>

<file path=ppt/tags/tag18.xml><?xml version="1.0" encoding="utf-8"?>
<p:tagLst xmlns:a="http://schemas.openxmlformats.org/drawingml/2006/main" xmlns:r="http://schemas.openxmlformats.org/officeDocument/2006/relationships" xmlns:p="http://schemas.openxmlformats.org/presentationml/2006/main">
  <p:tag name="TIMING" val="|0.9|0.7|7.3|11.2"/>
</p:tagLst>
</file>

<file path=ppt/tags/tag19.xml><?xml version="1.0" encoding="utf-8"?>
<p:tagLst xmlns:a="http://schemas.openxmlformats.org/drawingml/2006/main" xmlns:r="http://schemas.openxmlformats.org/officeDocument/2006/relationships" xmlns:p="http://schemas.openxmlformats.org/presentationml/2006/main">
  <p:tag name="TIMING" val="|0.7|0.8|2.7|1.1|0.5|0.4|0.3"/>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10087</TotalTime>
  <Words>1139</Words>
  <Application>Microsoft Office PowerPoint</Application>
  <PresentationFormat>全屏显示(4:3)</PresentationFormat>
  <Paragraphs>133</Paragraphs>
  <Slides>21</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Gulim</vt:lpstr>
      <vt:lpstr>Monotype Sorts</vt:lpstr>
      <vt:lpstr>黑体</vt:lpstr>
      <vt:lpstr>华文新魏</vt:lpstr>
      <vt:lpstr>华文中宋</vt:lpstr>
      <vt:lpstr>楷体_GB2312</vt:lpstr>
      <vt:lpstr>Arial</vt:lpstr>
      <vt:lpstr>Comic Sans MS</vt:lpstr>
      <vt:lpstr>Tahoma</vt:lpstr>
      <vt:lpstr>Times New Roman</vt:lpstr>
      <vt:lpstr>Wingdings</vt:lpstr>
      <vt:lpstr>Blends</vt:lpstr>
      <vt:lpstr>第10章  数据库保护技术</vt:lpstr>
      <vt:lpstr>10.2  数据库的安全性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 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518</cp:revision>
  <cp:lastPrinted>2000-08-23T09:10:16Z</cp:lastPrinted>
  <dcterms:created xsi:type="dcterms:W3CDTF">1601-01-01T00:00:00Z</dcterms:created>
  <dcterms:modified xsi:type="dcterms:W3CDTF">2021-04-20T14:54:34Z</dcterms:modified>
</cp:coreProperties>
</file>