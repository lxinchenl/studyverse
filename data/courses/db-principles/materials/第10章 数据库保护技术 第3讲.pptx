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8"/>
  </p:notesMasterIdLst>
  <p:handoutMasterIdLst>
    <p:handoutMasterId r:id="rId19"/>
  </p:handoutMasterIdLst>
  <p:sldIdLst>
    <p:sldId id="515" r:id="rId2"/>
    <p:sldId id="537" r:id="rId3"/>
    <p:sldId id="538" r:id="rId4"/>
    <p:sldId id="616" r:id="rId5"/>
    <p:sldId id="631" r:id="rId6"/>
    <p:sldId id="619" r:id="rId7"/>
    <p:sldId id="617" r:id="rId8"/>
    <p:sldId id="623" r:id="rId9"/>
    <p:sldId id="618" r:id="rId10"/>
    <p:sldId id="630" r:id="rId11"/>
    <p:sldId id="620" r:id="rId12"/>
    <p:sldId id="621" r:id="rId13"/>
    <p:sldId id="622" r:id="rId14"/>
    <p:sldId id="573" r:id="rId15"/>
    <p:sldId id="625" r:id="rId16"/>
    <p:sldId id="578" r:id="rId17"/>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A20070"/>
    <a:srgbClr val="004A48"/>
    <a:srgbClr val="FFCCCC"/>
    <a:srgbClr val="FFFF99"/>
    <a:srgbClr val="BDDEFF"/>
    <a:srgbClr val="0000FF"/>
    <a:srgbClr val="47A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11" autoAdjust="0"/>
    <p:restoredTop sz="91011" autoAdjust="0"/>
  </p:normalViewPr>
  <p:slideViewPr>
    <p:cSldViewPr>
      <p:cViewPr varScale="1">
        <p:scale>
          <a:sx n="119" d="100"/>
          <a:sy n="119" d="100"/>
        </p:scale>
        <p:origin x="1596" y="76"/>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E09D98E7-3FC5-4CBA-9B18-6B3C4B6EE0E1}"/>
              </a:ext>
            </a:extLst>
          </p:cNvPr>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zh-CN" altLang="en-US"/>
          </a:p>
        </p:txBody>
      </p:sp>
      <p:sp>
        <p:nvSpPr>
          <p:cNvPr id="107523" name="Rectangle 3">
            <a:extLst>
              <a:ext uri="{FF2B5EF4-FFF2-40B4-BE49-F238E27FC236}">
                <a16:creationId xmlns:a16="http://schemas.microsoft.com/office/drawing/2014/main" id="{17A50A3C-763B-4CC0-BC1B-4CC31E2B0EF8}"/>
              </a:ext>
            </a:extLst>
          </p:cNvPr>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4" name="Rectangle 4">
            <a:extLst>
              <a:ext uri="{FF2B5EF4-FFF2-40B4-BE49-F238E27FC236}">
                <a16:creationId xmlns:a16="http://schemas.microsoft.com/office/drawing/2014/main" id="{DBC700CF-5AE6-4BA6-9B3A-09BFD7E816AF}"/>
              </a:ext>
            </a:extLst>
          </p:cNvPr>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5" name="Rectangle 5">
            <a:extLst>
              <a:ext uri="{FF2B5EF4-FFF2-40B4-BE49-F238E27FC236}">
                <a16:creationId xmlns:a16="http://schemas.microsoft.com/office/drawing/2014/main" id="{51DB3B49-F887-4717-BC70-A6232A8C2527}"/>
              </a:ext>
            </a:extLst>
          </p:cNvPr>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fld id="{1A29E18D-944F-4792-A2BE-7C04E378FBCC}"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2182B32C-583A-41F2-BB0B-D4E25A96CA0B}"/>
              </a:ext>
            </a:extLst>
          </p:cNvPr>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zh-CN" altLang="en-US"/>
          </a:p>
        </p:txBody>
      </p:sp>
      <p:sp>
        <p:nvSpPr>
          <p:cNvPr id="353283" name="Rectangle 3">
            <a:extLst>
              <a:ext uri="{FF2B5EF4-FFF2-40B4-BE49-F238E27FC236}">
                <a16:creationId xmlns:a16="http://schemas.microsoft.com/office/drawing/2014/main" id="{0B44CE32-212B-462F-89DF-D7DFFCF492A4}"/>
              </a:ext>
            </a:extLst>
          </p:cNvPr>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4" name="Rectangle 4">
            <a:extLst>
              <a:ext uri="{FF2B5EF4-FFF2-40B4-BE49-F238E27FC236}">
                <a16:creationId xmlns:a16="http://schemas.microsoft.com/office/drawing/2014/main" id="{AF08861A-F28F-46C6-AC6E-270A91A73ADF}"/>
              </a:ext>
            </a:extLst>
          </p:cNvPr>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3285" name="Rectangle 5">
            <a:extLst>
              <a:ext uri="{FF2B5EF4-FFF2-40B4-BE49-F238E27FC236}">
                <a16:creationId xmlns:a16="http://schemas.microsoft.com/office/drawing/2014/main" id="{54D5D9BB-6B3F-4448-9BD2-6808A35A5680}"/>
              </a:ext>
            </a:extLst>
          </p:cNvPr>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a:extLst>
              <a:ext uri="{FF2B5EF4-FFF2-40B4-BE49-F238E27FC236}">
                <a16:creationId xmlns:a16="http://schemas.microsoft.com/office/drawing/2014/main" id="{98380EFC-7D97-457A-BAC2-CF677D79F6B6}"/>
              </a:ext>
            </a:extLst>
          </p:cNvPr>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7" name="Rectangle 7">
            <a:extLst>
              <a:ext uri="{FF2B5EF4-FFF2-40B4-BE49-F238E27FC236}">
                <a16:creationId xmlns:a16="http://schemas.microsoft.com/office/drawing/2014/main" id="{8B3C69F3-DA3B-47E1-8BB5-59168DCAA469}"/>
              </a:ext>
            </a:extLst>
          </p:cNvPr>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fld id="{7A17DDCA-0998-41C8-92E8-327734B6E272}"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E154822-D482-43FA-BFB9-84F45D448056}"/>
              </a:ext>
            </a:extLst>
          </p:cNvPr>
          <p:cNvSpPr>
            <a:spLocks noGrp="1" noChangeArrowheads="1"/>
          </p:cNvSpPr>
          <p:nvPr>
            <p:ph type="sldNum" sz="quarter" idx="5"/>
          </p:nvPr>
        </p:nvSpPr>
        <p:spPr>
          <a:ln/>
        </p:spPr>
        <p:txBody>
          <a:bodyPr/>
          <a:lstStyle/>
          <a:p>
            <a:fld id="{EE1E02FD-D173-42ED-8D23-0EEEDAD5FD9E}" type="slidenum">
              <a:rPr lang="zh-CN" altLang="en-US"/>
              <a:pPr/>
              <a:t>1</a:t>
            </a:fld>
            <a:endParaRPr lang="en-US" altLang="zh-CN"/>
          </a:p>
        </p:txBody>
      </p:sp>
      <p:sp>
        <p:nvSpPr>
          <p:cNvPr id="399362" name="Rectangle 2">
            <a:extLst>
              <a:ext uri="{FF2B5EF4-FFF2-40B4-BE49-F238E27FC236}">
                <a16:creationId xmlns:a16="http://schemas.microsoft.com/office/drawing/2014/main" id="{61542D22-D162-4BD8-8F6C-18AA10F1D523}"/>
              </a:ext>
            </a:extLst>
          </p:cNvPr>
          <p:cNvSpPr>
            <a:spLocks noGrp="1" noRot="1" noChangeAspect="1" noChangeArrowheads="1" noTextEdit="1"/>
          </p:cNvSpPr>
          <p:nvPr>
            <p:ph type="sldImg"/>
          </p:nvPr>
        </p:nvSpPr>
        <p:spPr>
          <a:ln/>
        </p:spPr>
      </p:sp>
      <p:sp>
        <p:nvSpPr>
          <p:cNvPr id="399363" name="Rectangle 3">
            <a:extLst>
              <a:ext uri="{FF2B5EF4-FFF2-40B4-BE49-F238E27FC236}">
                <a16:creationId xmlns:a16="http://schemas.microsoft.com/office/drawing/2014/main" id="{173F50E8-980F-4D77-9A7B-8E33EB44FCD9}"/>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DEEA9F-2548-4461-A128-F9862B5B6175}"/>
              </a:ext>
            </a:extLst>
          </p:cNvPr>
          <p:cNvSpPr>
            <a:spLocks noGrp="1" noChangeArrowheads="1"/>
          </p:cNvSpPr>
          <p:nvPr>
            <p:ph type="sldNum" sz="quarter" idx="5"/>
          </p:nvPr>
        </p:nvSpPr>
        <p:spPr>
          <a:ln/>
        </p:spPr>
        <p:txBody>
          <a:bodyPr/>
          <a:lstStyle/>
          <a:p>
            <a:fld id="{A304D570-89C5-4D0F-87A5-6850513E533B}" type="slidenum">
              <a:rPr lang="zh-CN" altLang="en-US"/>
              <a:pPr/>
              <a:t>16</a:t>
            </a:fld>
            <a:endParaRPr lang="en-US" altLang="zh-CN"/>
          </a:p>
        </p:txBody>
      </p:sp>
      <p:sp>
        <p:nvSpPr>
          <p:cNvPr id="466946" name="Rectangle 2">
            <a:extLst>
              <a:ext uri="{FF2B5EF4-FFF2-40B4-BE49-F238E27FC236}">
                <a16:creationId xmlns:a16="http://schemas.microsoft.com/office/drawing/2014/main" id="{F8207BAE-78A4-4485-BA89-3EBFDD52B5FB}"/>
              </a:ext>
            </a:extLst>
          </p:cNvPr>
          <p:cNvSpPr>
            <a:spLocks noGrp="1" noRot="1" noChangeAspect="1" noChangeArrowheads="1" noTextEdit="1"/>
          </p:cNvSpPr>
          <p:nvPr>
            <p:ph type="sldImg"/>
          </p:nvPr>
        </p:nvSpPr>
        <p:spPr>
          <a:ln/>
        </p:spPr>
      </p:sp>
      <p:sp>
        <p:nvSpPr>
          <p:cNvPr id="466947" name="Rectangle 3">
            <a:extLst>
              <a:ext uri="{FF2B5EF4-FFF2-40B4-BE49-F238E27FC236}">
                <a16:creationId xmlns:a16="http://schemas.microsoft.com/office/drawing/2014/main" id="{83C1CAB9-5106-4F7F-A813-4B86E88493B5}"/>
              </a:ext>
            </a:extLst>
          </p:cNvPr>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397314" name="Group 2">
            <a:extLst>
              <a:ext uri="{FF2B5EF4-FFF2-40B4-BE49-F238E27FC236}">
                <a16:creationId xmlns:a16="http://schemas.microsoft.com/office/drawing/2014/main" id="{0BE45AB8-F9BC-4DD6-8C36-9F1D5732AE9A}"/>
              </a:ext>
            </a:extLst>
          </p:cNvPr>
          <p:cNvGrpSpPr>
            <a:grpSpLocks/>
          </p:cNvGrpSpPr>
          <p:nvPr/>
        </p:nvGrpSpPr>
        <p:grpSpPr bwMode="auto">
          <a:xfrm>
            <a:off x="0" y="2438400"/>
            <a:ext cx="9009063" cy="1052513"/>
            <a:chOff x="0" y="1536"/>
            <a:chExt cx="5675" cy="663"/>
          </a:xfrm>
        </p:grpSpPr>
        <p:grpSp>
          <p:nvGrpSpPr>
            <p:cNvPr id="397315" name="Group 3">
              <a:extLst>
                <a:ext uri="{FF2B5EF4-FFF2-40B4-BE49-F238E27FC236}">
                  <a16:creationId xmlns:a16="http://schemas.microsoft.com/office/drawing/2014/main" id="{27980858-B08E-489E-A9FA-EFF0A4660517}"/>
                </a:ext>
              </a:extLst>
            </p:cNvPr>
            <p:cNvGrpSpPr>
              <a:grpSpLocks/>
            </p:cNvGrpSpPr>
            <p:nvPr/>
          </p:nvGrpSpPr>
          <p:grpSpPr bwMode="auto">
            <a:xfrm>
              <a:off x="183" y="1604"/>
              <a:ext cx="448" cy="299"/>
              <a:chOff x="720" y="336"/>
              <a:chExt cx="624" cy="432"/>
            </a:xfrm>
          </p:grpSpPr>
          <p:sp>
            <p:nvSpPr>
              <p:cNvPr id="397316" name="Rectangle 4">
                <a:extLst>
                  <a:ext uri="{FF2B5EF4-FFF2-40B4-BE49-F238E27FC236}">
                    <a16:creationId xmlns:a16="http://schemas.microsoft.com/office/drawing/2014/main" id="{D0D5C6BF-3088-48E0-95DF-9F591F2C5435}"/>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17" name="Rectangle 5">
                <a:extLst>
                  <a:ext uri="{FF2B5EF4-FFF2-40B4-BE49-F238E27FC236}">
                    <a16:creationId xmlns:a16="http://schemas.microsoft.com/office/drawing/2014/main" id="{1FA311D5-345F-4777-8A2B-095846D2151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97318" name="Group 6">
              <a:extLst>
                <a:ext uri="{FF2B5EF4-FFF2-40B4-BE49-F238E27FC236}">
                  <a16:creationId xmlns:a16="http://schemas.microsoft.com/office/drawing/2014/main" id="{9C8DE32C-BE8A-4EDF-9834-2A627C09B198}"/>
                </a:ext>
              </a:extLst>
            </p:cNvPr>
            <p:cNvGrpSpPr>
              <a:grpSpLocks/>
            </p:cNvGrpSpPr>
            <p:nvPr/>
          </p:nvGrpSpPr>
          <p:grpSpPr bwMode="auto">
            <a:xfrm>
              <a:off x="261" y="1870"/>
              <a:ext cx="465" cy="299"/>
              <a:chOff x="912" y="2640"/>
              <a:chExt cx="672" cy="432"/>
            </a:xfrm>
          </p:grpSpPr>
          <p:sp>
            <p:nvSpPr>
              <p:cNvPr id="397319" name="Rectangle 7">
                <a:extLst>
                  <a:ext uri="{FF2B5EF4-FFF2-40B4-BE49-F238E27FC236}">
                    <a16:creationId xmlns:a16="http://schemas.microsoft.com/office/drawing/2014/main" id="{C8D3120C-4EB4-418C-9622-7BDA76E9380F}"/>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0" name="Rectangle 8">
                <a:extLst>
                  <a:ext uri="{FF2B5EF4-FFF2-40B4-BE49-F238E27FC236}">
                    <a16:creationId xmlns:a16="http://schemas.microsoft.com/office/drawing/2014/main" id="{F17E1306-587F-4AFF-882D-7435D25D20DE}"/>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1" name="Rectangle 9">
              <a:extLst>
                <a:ext uri="{FF2B5EF4-FFF2-40B4-BE49-F238E27FC236}">
                  <a16:creationId xmlns:a16="http://schemas.microsoft.com/office/drawing/2014/main" id="{1819B1F1-298A-49E6-B39B-ACA84C96EE8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2" name="Rectangle 10">
              <a:extLst>
                <a:ext uri="{FF2B5EF4-FFF2-40B4-BE49-F238E27FC236}">
                  <a16:creationId xmlns:a16="http://schemas.microsoft.com/office/drawing/2014/main" id="{0A62B7C1-584D-4901-8A51-EFF42D5F0C4D}"/>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3" name="Rectangle 11">
              <a:extLst>
                <a:ext uri="{FF2B5EF4-FFF2-40B4-BE49-F238E27FC236}">
                  <a16:creationId xmlns:a16="http://schemas.microsoft.com/office/drawing/2014/main" id="{8C6F5DD9-6C4D-4323-8426-3684919EA0A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4" name="Rectangle 12">
            <a:extLst>
              <a:ext uri="{FF2B5EF4-FFF2-40B4-BE49-F238E27FC236}">
                <a16:creationId xmlns:a16="http://schemas.microsoft.com/office/drawing/2014/main" id="{9440BF72-79BB-4BAD-AB7F-A2940CC9C6E7}"/>
              </a:ext>
            </a:extLst>
          </p:cNvPr>
          <p:cNvSpPr>
            <a:spLocks noGrp="1" noChangeArrowheads="1"/>
          </p:cNvSpPr>
          <p:nvPr>
            <p:ph type="ctrTitle"/>
          </p:nvPr>
        </p:nvSpPr>
        <p:spPr>
          <a:xfrm>
            <a:off x="827088" y="1676400"/>
            <a:ext cx="8137525" cy="1462088"/>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397325" name="Rectangle 13">
            <a:extLst>
              <a:ext uri="{FF2B5EF4-FFF2-40B4-BE49-F238E27FC236}">
                <a16:creationId xmlns:a16="http://schemas.microsoft.com/office/drawing/2014/main" id="{B548E0D5-9922-43FC-A6D1-99329C576CCD}"/>
              </a:ext>
            </a:extLst>
          </p:cNvPr>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397326" name="Rectangle 14">
            <a:extLst>
              <a:ext uri="{FF2B5EF4-FFF2-40B4-BE49-F238E27FC236}">
                <a16:creationId xmlns:a16="http://schemas.microsoft.com/office/drawing/2014/main" id="{3491DF59-1DDA-44EF-A4E9-664022366695}"/>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397327" name="Rectangle 15">
            <a:extLst>
              <a:ext uri="{FF2B5EF4-FFF2-40B4-BE49-F238E27FC236}">
                <a16:creationId xmlns:a16="http://schemas.microsoft.com/office/drawing/2014/main" id="{EA0F9ED4-4CF9-4E06-A635-7B489CE06809}"/>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397328" name="Rectangle 16">
            <a:extLst>
              <a:ext uri="{FF2B5EF4-FFF2-40B4-BE49-F238E27FC236}">
                <a16:creationId xmlns:a16="http://schemas.microsoft.com/office/drawing/2014/main" id="{2C0ED39B-F6EB-44B4-80F6-689F7B17E07E}"/>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9520E8FE-480F-4EF7-A289-6D4B2119BB32}" type="slidenum">
              <a:rPr lang="zh-CN" altLang="en-US"/>
              <a:pPr/>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97324"/>
                                        </p:tgtEl>
                                        <p:attrNameLst>
                                          <p:attrName>style.visibility</p:attrName>
                                        </p:attrNameLst>
                                      </p:cBhvr>
                                      <p:to>
                                        <p:strVal val="visible"/>
                                      </p:to>
                                    </p:set>
                                    <p:animEffect transition="in" filter="plus(in)">
                                      <p:cBhvr>
                                        <p:cTn id="7" dur="1000"/>
                                        <p:tgtEl>
                                          <p:spTgt spid="397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24"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7E80EC-D04F-4F3A-B96B-56187181D3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7C9B71-5F1C-4342-80B7-D721209F061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278DC4-C00F-4F3E-8A4F-EC2F9FDA7F5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EEA09A4-991E-4D57-B2F7-91CF701994D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CA97E7E-9C7E-449B-8EF0-DD60D866EA81}"/>
              </a:ext>
            </a:extLst>
          </p:cNvPr>
          <p:cNvSpPr>
            <a:spLocks noGrp="1"/>
          </p:cNvSpPr>
          <p:nvPr>
            <p:ph type="sldNum" sz="quarter" idx="12"/>
          </p:nvPr>
        </p:nvSpPr>
        <p:spPr/>
        <p:txBody>
          <a:bodyPr/>
          <a:lstStyle>
            <a:lvl1pPr>
              <a:defRPr/>
            </a:lvl1pPr>
          </a:lstStyle>
          <a:p>
            <a:fld id="{E7352A0F-ACAF-4DD3-BA35-6A3F0379EE9E}" type="slidenum">
              <a:rPr lang="zh-CN" altLang="en-US"/>
              <a:pPr/>
              <a:t>‹#›</a:t>
            </a:fld>
            <a:endParaRPr lang="en-US" altLang="zh-CN"/>
          </a:p>
        </p:txBody>
      </p:sp>
    </p:spTree>
    <p:extLst>
      <p:ext uri="{BB962C8B-B14F-4D97-AF65-F5344CB8AC3E}">
        <p14:creationId xmlns:p14="http://schemas.microsoft.com/office/powerpoint/2010/main" val="2348808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FA7B0-6B8C-4A7F-BB4F-13B3CF4E76C5}"/>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01D26B8-8DC5-4B5C-931E-131BCA03E19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F94F1D-798F-4295-8EE7-ED63F82D432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146C112-C28B-412E-BC2D-D7475641D58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1DD08E0-A05F-45F0-B341-DC7478B326DC}"/>
              </a:ext>
            </a:extLst>
          </p:cNvPr>
          <p:cNvSpPr>
            <a:spLocks noGrp="1"/>
          </p:cNvSpPr>
          <p:nvPr>
            <p:ph type="sldNum" sz="quarter" idx="12"/>
          </p:nvPr>
        </p:nvSpPr>
        <p:spPr/>
        <p:txBody>
          <a:bodyPr/>
          <a:lstStyle>
            <a:lvl1pPr>
              <a:defRPr/>
            </a:lvl1pPr>
          </a:lstStyle>
          <a:p>
            <a:fld id="{A904C294-BF5C-43BA-AF08-5CD68795726F}" type="slidenum">
              <a:rPr lang="zh-CN" altLang="en-US"/>
              <a:pPr/>
              <a:t>‹#›</a:t>
            </a:fld>
            <a:endParaRPr lang="en-US" altLang="zh-CN"/>
          </a:p>
        </p:txBody>
      </p:sp>
    </p:spTree>
    <p:extLst>
      <p:ext uri="{BB962C8B-B14F-4D97-AF65-F5344CB8AC3E}">
        <p14:creationId xmlns:p14="http://schemas.microsoft.com/office/powerpoint/2010/main" val="425141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485F4E-DE0D-443C-A3FA-4FA20796F3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6E7201-DC22-4C2B-A6BF-F0A57AB67C65}"/>
              </a:ext>
            </a:extLst>
          </p:cNvPr>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3664F5D-574F-48DC-805E-F8A256AC7603}"/>
              </a:ext>
            </a:extLst>
          </p:cNvPr>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44A478B-CDBE-4174-8536-3F24CDC5210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9FB9F45-4BA9-4E71-83DE-627FF81D491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817B2AA-BE31-462B-BD0F-8C782904F651}"/>
              </a:ext>
            </a:extLst>
          </p:cNvPr>
          <p:cNvSpPr>
            <a:spLocks noGrp="1"/>
          </p:cNvSpPr>
          <p:nvPr>
            <p:ph type="sldNum" sz="quarter" idx="12"/>
          </p:nvPr>
        </p:nvSpPr>
        <p:spPr/>
        <p:txBody>
          <a:bodyPr/>
          <a:lstStyle>
            <a:lvl1pPr>
              <a:defRPr/>
            </a:lvl1pPr>
          </a:lstStyle>
          <a:p>
            <a:fld id="{37D94D9E-14A2-4C7E-9143-A84772D8EEB0}" type="slidenum">
              <a:rPr lang="zh-CN" altLang="en-US"/>
              <a:pPr/>
              <a:t>‹#›</a:t>
            </a:fld>
            <a:endParaRPr lang="en-US" altLang="zh-CN"/>
          </a:p>
        </p:txBody>
      </p:sp>
    </p:spTree>
    <p:extLst>
      <p:ext uri="{BB962C8B-B14F-4D97-AF65-F5344CB8AC3E}">
        <p14:creationId xmlns:p14="http://schemas.microsoft.com/office/powerpoint/2010/main" val="148618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995F1-4D4B-456F-A260-6A8DF375C180}"/>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326C919-A81B-4176-9B34-CAAED14A79C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674B7BD-0A4A-4AB4-86A5-D56BF30C19B9}"/>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7DBAC2E-C86F-4606-9451-7EB90A094CA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14C32A-B538-4EA7-BD92-8E756B8306AC}"/>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D5014F-A045-4463-9AD5-419FC0080ED4}"/>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2AA09046-0132-4D7C-8B15-3D450171C6B3}"/>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5DD2C086-3A08-4660-A662-8804021622C6}"/>
              </a:ext>
            </a:extLst>
          </p:cNvPr>
          <p:cNvSpPr>
            <a:spLocks noGrp="1"/>
          </p:cNvSpPr>
          <p:nvPr>
            <p:ph type="sldNum" sz="quarter" idx="12"/>
          </p:nvPr>
        </p:nvSpPr>
        <p:spPr/>
        <p:txBody>
          <a:bodyPr/>
          <a:lstStyle>
            <a:lvl1pPr>
              <a:defRPr/>
            </a:lvl1pPr>
          </a:lstStyle>
          <a:p>
            <a:fld id="{74A9DCD4-7D97-4590-8298-67CC7780A824}" type="slidenum">
              <a:rPr lang="zh-CN" altLang="en-US"/>
              <a:pPr/>
              <a:t>‹#›</a:t>
            </a:fld>
            <a:endParaRPr lang="en-US" altLang="zh-CN"/>
          </a:p>
        </p:txBody>
      </p:sp>
    </p:spTree>
    <p:extLst>
      <p:ext uri="{BB962C8B-B14F-4D97-AF65-F5344CB8AC3E}">
        <p14:creationId xmlns:p14="http://schemas.microsoft.com/office/powerpoint/2010/main" val="854633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E2F33C-3EBF-48B5-8A99-C26BF3DEE57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20CF7BC-67ED-49F7-9DDB-1005DDBEBB58}"/>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CF337C87-1632-475F-BC18-526638FAF90F}"/>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3C988FE-8912-43F8-90D5-FD6918F30699}"/>
              </a:ext>
            </a:extLst>
          </p:cNvPr>
          <p:cNvSpPr>
            <a:spLocks noGrp="1"/>
          </p:cNvSpPr>
          <p:nvPr>
            <p:ph type="sldNum" sz="quarter" idx="12"/>
          </p:nvPr>
        </p:nvSpPr>
        <p:spPr/>
        <p:txBody>
          <a:bodyPr/>
          <a:lstStyle>
            <a:lvl1pPr>
              <a:defRPr/>
            </a:lvl1pPr>
          </a:lstStyle>
          <a:p>
            <a:fld id="{6019187C-EB37-442D-B7D0-2047335D66E8}" type="slidenum">
              <a:rPr lang="zh-CN" altLang="en-US"/>
              <a:pPr/>
              <a:t>‹#›</a:t>
            </a:fld>
            <a:endParaRPr lang="en-US" altLang="zh-CN"/>
          </a:p>
        </p:txBody>
      </p:sp>
    </p:spTree>
    <p:extLst>
      <p:ext uri="{BB962C8B-B14F-4D97-AF65-F5344CB8AC3E}">
        <p14:creationId xmlns:p14="http://schemas.microsoft.com/office/powerpoint/2010/main" val="1185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5A38FE4-F148-4D99-960A-12DFFAF25322}"/>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71FB9626-6E62-4F03-A292-770CE09DDCEC}"/>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1934805-37D0-42C9-91DF-A4F564F26CF3}"/>
              </a:ext>
            </a:extLst>
          </p:cNvPr>
          <p:cNvSpPr>
            <a:spLocks noGrp="1"/>
          </p:cNvSpPr>
          <p:nvPr>
            <p:ph type="sldNum" sz="quarter" idx="12"/>
          </p:nvPr>
        </p:nvSpPr>
        <p:spPr/>
        <p:txBody>
          <a:bodyPr/>
          <a:lstStyle>
            <a:lvl1pPr>
              <a:defRPr/>
            </a:lvl1pPr>
          </a:lstStyle>
          <a:p>
            <a:fld id="{88002559-D70E-4C8A-B6A6-CD3F4940E7FD}" type="slidenum">
              <a:rPr lang="zh-CN" altLang="en-US"/>
              <a:pPr/>
              <a:t>‹#›</a:t>
            </a:fld>
            <a:endParaRPr lang="en-US" altLang="zh-CN"/>
          </a:p>
        </p:txBody>
      </p:sp>
    </p:spTree>
    <p:extLst>
      <p:ext uri="{BB962C8B-B14F-4D97-AF65-F5344CB8AC3E}">
        <p14:creationId xmlns:p14="http://schemas.microsoft.com/office/powerpoint/2010/main" val="3147423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840AAB-A952-4841-9CE4-1E58FA3F445A}"/>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4694886-8D75-4303-A774-8A7CBE727EF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F77F16A-5E12-4CAF-8D7F-62591941D38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22F6C6-FADB-4228-9EFA-C0630C590BAA}"/>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59C94EA-56EB-4940-84A2-1D93D0812A7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75A663B-FAD2-4A4E-AA26-C05341F33E18}"/>
              </a:ext>
            </a:extLst>
          </p:cNvPr>
          <p:cNvSpPr>
            <a:spLocks noGrp="1"/>
          </p:cNvSpPr>
          <p:nvPr>
            <p:ph type="sldNum" sz="quarter" idx="12"/>
          </p:nvPr>
        </p:nvSpPr>
        <p:spPr/>
        <p:txBody>
          <a:bodyPr/>
          <a:lstStyle>
            <a:lvl1pPr>
              <a:defRPr/>
            </a:lvl1pPr>
          </a:lstStyle>
          <a:p>
            <a:fld id="{CB2310AE-D8E4-4BDC-8DCC-36C3DD3CE5AF}" type="slidenum">
              <a:rPr lang="zh-CN" altLang="en-US"/>
              <a:pPr/>
              <a:t>‹#›</a:t>
            </a:fld>
            <a:endParaRPr lang="en-US" altLang="zh-CN"/>
          </a:p>
        </p:txBody>
      </p:sp>
    </p:spTree>
    <p:extLst>
      <p:ext uri="{BB962C8B-B14F-4D97-AF65-F5344CB8AC3E}">
        <p14:creationId xmlns:p14="http://schemas.microsoft.com/office/powerpoint/2010/main" val="197080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603CC-AB7D-49DA-9620-A9F31FDA209F}"/>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95ACFBB-6499-418D-897D-8709176E7E0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CB72A51-7228-486E-8172-B3C9CE365C3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38D478F-54DC-4B7E-B8CC-AE153F3DC86B}"/>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956B74E6-4666-4B72-8E6D-61960F3CB19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5559FEFE-40D3-4011-B298-C8D0B95E7635}"/>
              </a:ext>
            </a:extLst>
          </p:cNvPr>
          <p:cNvSpPr>
            <a:spLocks noGrp="1"/>
          </p:cNvSpPr>
          <p:nvPr>
            <p:ph type="sldNum" sz="quarter" idx="12"/>
          </p:nvPr>
        </p:nvSpPr>
        <p:spPr/>
        <p:txBody>
          <a:bodyPr/>
          <a:lstStyle>
            <a:lvl1pPr>
              <a:defRPr/>
            </a:lvl1pPr>
          </a:lstStyle>
          <a:p>
            <a:fld id="{6AF0A25A-9686-498F-B1DC-0DECAD37B2A8}" type="slidenum">
              <a:rPr lang="zh-CN" altLang="en-US"/>
              <a:pPr/>
              <a:t>‹#›</a:t>
            </a:fld>
            <a:endParaRPr lang="en-US" altLang="zh-CN"/>
          </a:p>
        </p:txBody>
      </p:sp>
    </p:spTree>
    <p:extLst>
      <p:ext uri="{BB962C8B-B14F-4D97-AF65-F5344CB8AC3E}">
        <p14:creationId xmlns:p14="http://schemas.microsoft.com/office/powerpoint/2010/main" val="416282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5EB74-819D-4B18-AA79-1ED8CD7B38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E3826E1-D171-404C-91C3-D103D23E18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4D72E3-A891-4247-BC4F-2F64573C992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BCC5F70F-A5C9-431E-BCAE-CFA4FC01619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816CE40-5801-4925-A9B9-1E9C0048C561}"/>
              </a:ext>
            </a:extLst>
          </p:cNvPr>
          <p:cNvSpPr>
            <a:spLocks noGrp="1"/>
          </p:cNvSpPr>
          <p:nvPr>
            <p:ph type="sldNum" sz="quarter" idx="12"/>
          </p:nvPr>
        </p:nvSpPr>
        <p:spPr/>
        <p:txBody>
          <a:bodyPr/>
          <a:lstStyle>
            <a:lvl1pPr>
              <a:defRPr/>
            </a:lvl1pPr>
          </a:lstStyle>
          <a:p>
            <a:fld id="{9068F4B6-7347-4A60-A274-27196487E93F}" type="slidenum">
              <a:rPr lang="zh-CN" altLang="en-US"/>
              <a:pPr/>
              <a:t>‹#›</a:t>
            </a:fld>
            <a:endParaRPr lang="en-US" altLang="zh-CN"/>
          </a:p>
        </p:txBody>
      </p:sp>
    </p:spTree>
    <p:extLst>
      <p:ext uri="{BB962C8B-B14F-4D97-AF65-F5344CB8AC3E}">
        <p14:creationId xmlns:p14="http://schemas.microsoft.com/office/powerpoint/2010/main" val="976937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AE66C91-5F4B-4A60-9CD1-D44C88684103}"/>
              </a:ext>
            </a:extLst>
          </p:cNvPr>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7DCD5A6-173C-407D-966B-E80ADDE63770}"/>
              </a:ext>
            </a:extLst>
          </p:cNvPr>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F08BB8-2A26-4AE4-A149-5D534919D95E}"/>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5A3F230-2286-46D3-9601-8206042DF1D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39C6E6B-B0FE-4E0D-A39C-A66577666235}"/>
              </a:ext>
            </a:extLst>
          </p:cNvPr>
          <p:cNvSpPr>
            <a:spLocks noGrp="1"/>
          </p:cNvSpPr>
          <p:nvPr>
            <p:ph type="sldNum" sz="quarter" idx="12"/>
          </p:nvPr>
        </p:nvSpPr>
        <p:spPr/>
        <p:txBody>
          <a:bodyPr/>
          <a:lstStyle>
            <a:lvl1pPr>
              <a:defRPr/>
            </a:lvl1pPr>
          </a:lstStyle>
          <a:p>
            <a:fld id="{C3B3B6AF-F462-4431-9CB0-24EC804C9D5F}" type="slidenum">
              <a:rPr lang="zh-CN" altLang="en-US"/>
              <a:pPr/>
              <a:t>‹#›</a:t>
            </a:fld>
            <a:endParaRPr lang="en-US" altLang="zh-CN"/>
          </a:p>
        </p:txBody>
      </p:sp>
    </p:spTree>
    <p:extLst>
      <p:ext uri="{BB962C8B-B14F-4D97-AF65-F5344CB8AC3E}">
        <p14:creationId xmlns:p14="http://schemas.microsoft.com/office/powerpoint/2010/main" val="321156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AF3E88A5-D6B1-4039-96D7-BF4EFF7350F8}"/>
              </a:ext>
            </a:extLst>
          </p:cNvPr>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1" name="Rectangle 3">
            <a:extLst>
              <a:ext uri="{FF2B5EF4-FFF2-40B4-BE49-F238E27FC236}">
                <a16:creationId xmlns:a16="http://schemas.microsoft.com/office/drawing/2014/main" id="{1196EDBE-7D21-42D1-A3D4-3327E62C41EC}"/>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2" name="Rectangle 4">
            <a:extLst>
              <a:ext uri="{FF2B5EF4-FFF2-40B4-BE49-F238E27FC236}">
                <a16:creationId xmlns:a16="http://schemas.microsoft.com/office/drawing/2014/main" id="{875977C3-B064-4F1D-9C39-4E4CC918D219}"/>
              </a:ext>
            </a:extLst>
          </p:cNvPr>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3" name="Rectangle 5">
            <a:extLst>
              <a:ext uri="{FF2B5EF4-FFF2-40B4-BE49-F238E27FC236}">
                <a16:creationId xmlns:a16="http://schemas.microsoft.com/office/drawing/2014/main" id="{8A1E5FC6-849E-473A-8DED-405176AED2C3}"/>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4" name="Rectangle 6">
            <a:extLst>
              <a:ext uri="{FF2B5EF4-FFF2-40B4-BE49-F238E27FC236}">
                <a16:creationId xmlns:a16="http://schemas.microsoft.com/office/drawing/2014/main" id="{520AC115-1A55-4675-87E9-DE4AEEF3FC1E}"/>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5" name="Rectangle 7">
            <a:extLst>
              <a:ext uri="{FF2B5EF4-FFF2-40B4-BE49-F238E27FC236}">
                <a16:creationId xmlns:a16="http://schemas.microsoft.com/office/drawing/2014/main" id="{A5ABCFA7-062E-473E-8AE7-80CEEEE29386}"/>
              </a:ext>
            </a:extLst>
          </p:cNvPr>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6" name="Rectangle 8">
            <a:extLst>
              <a:ext uri="{FF2B5EF4-FFF2-40B4-BE49-F238E27FC236}">
                <a16:creationId xmlns:a16="http://schemas.microsoft.com/office/drawing/2014/main" id="{F0F92031-E6B4-4660-9500-C8C53F89AF0C}"/>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7" name="Rectangle 9">
            <a:extLst>
              <a:ext uri="{FF2B5EF4-FFF2-40B4-BE49-F238E27FC236}">
                <a16:creationId xmlns:a16="http://schemas.microsoft.com/office/drawing/2014/main" id="{EA1C22BC-6C95-4D60-9D63-CBCEF7C720FE}"/>
              </a:ext>
            </a:extLst>
          </p:cNvPr>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96298" name="Rectangle 10">
            <a:extLst>
              <a:ext uri="{FF2B5EF4-FFF2-40B4-BE49-F238E27FC236}">
                <a16:creationId xmlns:a16="http://schemas.microsoft.com/office/drawing/2014/main" id="{1EA39C47-EE58-4BB0-8C7F-A2445B2164EB}"/>
              </a:ext>
            </a:extLst>
          </p:cNvPr>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96299" name="Rectangle 11">
            <a:extLst>
              <a:ext uri="{FF2B5EF4-FFF2-40B4-BE49-F238E27FC236}">
                <a16:creationId xmlns:a16="http://schemas.microsoft.com/office/drawing/2014/main" id="{ECB5FA78-4D4A-4697-84F9-F66D18E407B4}"/>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atin typeface="+mn-lt"/>
                <a:ea typeface="+mn-ea"/>
              </a:defRPr>
            </a:lvl1pPr>
          </a:lstStyle>
          <a:p>
            <a:endParaRPr lang="en-US" altLang="zh-CN"/>
          </a:p>
        </p:txBody>
      </p:sp>
      <p:sp>
        <p:nvSpPr>
          <p:cNvPr id="396300" name="Rectangle 12">
            <a:extLst>
              <a:ext uri="{FF2B5EF4-FFF2-40B4-BE49-F238E27FC236}">
                <a16:creationId xmlns:a16="http://schemas.microsoft.com/office/drawing/2014/main" id="{56336880-DCA8-483D-AAA3-5247B217C948}"/>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latin typeface="+mn-lt"/>
                <a:ea typeface="+mn-ea"/>
              </a:defRPr>
            </a:lvl1pPr>
          </a:lstStyle>
          <a:p>
            <a:endParaRPr lang="en-US" altLang="zh-CN"/>
          </a:p>
        </p:txBody>
      </p:sp>
      <p:sp>
        <p:nvSpPr>
          <p:cNvPr id="396301" name="Rectangle 13">
            <a:extLst>
              <a:ext uri="{FF2B5EF4-FFF2-40B4-BE49-F238E27FC236}">
                <a16:creationId xmlns:a16="http://schemas.microsoft.com/office/drawing/2014/main" id="{A0BAA575-7A05-4BF3-ACEB-B6C1B40D737D}"/>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atin typeface="+mn-lt"/>
                <a:ea typeface="+mn-ea"/>
              </a:defRPr>
            </a:lvl1pPr>
          </a:lstStyle>
          <a:p>
            <a:fld id="{B3C2A3DA-9269-45CF-9141-2799B2B8B2C9}"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6298">
                                            <p:txEl>
                                              <p:pRg st="0" end="0"/>
                                            </p:txEl>
                                          </p:spTgt>
                                        </p:tgtEl>
                                        <p:attrNameLst>
                                          <p:attrName>style.visibility</p:attrName>
                                        </p:attrNameLst>
                                      </p:cBhvr>
                                      <p:to>
                                        <p:strVal val="visible"/>
                                      </p:to>
                                    </p:set>
                                    <p:animEffect transition="in" filter="wipe(left)">
                                      <p:cBhvr>
                                        <p:cTn id="7" dur="1000"/>
                                        <p:tgtEl>
                                          <p:spTgt spid="3962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6298">
                                            <p:txEl>
                                              <p:pRg st="1" end="1"/>
                                            </p:txEl>
                                          </p:spTgt>
                                        </p:tgtEl>
                                        <p:attrNameLst>
                                          <p:attrName>style.visibility</p:attrName>
                                        </p:attrNameLst>
                                      </p:cBhvr>
                                      <p:to>
                                        <p:strVal val="visible"/>
                                      </p:to>
                                    </p:set>
                                    <p:animEffect transition="in" filter="wipe(left)">
                                      <p:cBhvr>
                                        <p:cTn id="12" dur="1000"/>
                                        <p:tgtEl>
                                          <p:spTgt spid="396298">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96298">
                                            <p:txEl>
                                              <p:pRg st="2" end="2"/>
                                            </p:txEl>
                                          </p:spTgt>
                                        </p:tgtEl>
                                        <p:attrNameLst>
                                          <p:attrName>style.visibility</p:attrName>
                                        </p:attrNameLst>
                                      </p:cBhvr>
                                      <p:to>
                                        <p:strVal val="visible"/>
                                      </p:to>
                                    </p:set>
                                    <p:animEffect transition="in" filter="wipe(left)">
                                      <p:cBhvr>
                                        <p:cTn id="15" dur="1000"/>
                                        <p:tgtEl>
                                          <p:spTgt spid="396298">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96298">
                                            <p:txEl>
                                              <p:pRg st="3" end="3"/>
                                            </p:txEl>
                                          </p:spTgt>
                                        </p:tgtEl>
                                        <p:attrNameLst>
                                          <p:attrName>style.visibility</p:attrName>
                                        </p:attrNameLst>
                                      </p:cBhvr>
                                      <p:to>
                                        <p:strVal val="visible"/>
                                      </p:to>
                                    </p:set>
                                    <p:animEffect transition="in" filter="wipe(left)">
                                      <p:cBhvr>
                                        <p:cTn id="18" dur="1000"/>
                                        <p:tgtEl>
                                          <p:spTgt spid="396298">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6298">
                                            <p:txEl>
                                              <p:pRg st="4" end="4"/>
                                            </p:txEl>
                                          </p:spTgt>
                                        </p:tgtEl>
                                        <p:attrNameLst>
                                          <p:attrName>style.visibility</p:attrName>
                                        </p:attrNameLst>
                                      </p:cBhvr>
                                      <p:to>
                                        <p:strVal val="visible"/>
                                      </p:to>
                                    </p:set>
                                    <p:animEffect transition="in" filter="wipe(left)">
                                      <p:cBhvr>
                                        <p:cTn id="21" dur="1000"/>
                                        <p:tgtEl>
                                          <p:spTgt spid="396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8" grpId="0" build="p">
        <p:tmplLst>
          <p:tmpl lvl="1">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Lst>
      </p:bldP>
    </p:bldLst>
  </p:timing>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6C2E405E-7566-4E31-BD3E-253DFDA7A66F}"/>
              </a:ext>
            </a:extLst>
          </p:cNvPr>
          <p:cNvSpPr>
            <a:spLocks noGrp="1" noChangeArrowheads="1"/>
          </p:cNvSpPr>
          <p:nvPr>
            <p:ph type="ctrTitle"/>
          </p:nvPr>
        </p:nvSpPr>
        <p:spPr>
          <a:effectLst>
            <a:outerShdw dist="17961" dir="2700000" algn="ctr" rotWithShape="0">
              <a:schemeClr val="tx1"/>
            </a:outerShdw>
          </a:effectLst>
        </p:spPr>
        <p:txBody>
          <a:bodyPr/>
          <a:lstStyle/>
          <a:p>
            <a:r>
              <a:rPr lang="zh-CN" altLang="en-US" dirty="0">
                <a:effectLst/>
              </a:rPr>
              <a:t>第</a:t>
            </a:r>
            <a:r>
              <a:rPr lang="en-US" altLang="zh-CN" dirty="0">
                <a:effectLst/>
              </a:rPr>
              <a:t>10</a:t>
            </a:r>
            <a:r>
              <a:rPr lang="zh-CN" altLang="en-US" dirty="0">
                <a:effectLst/>
              </a:rPr>
              <a:t>章  数据库保护技术</a:t>
            </a:r>
            <a:endParaRPr lang="en-US" altLang="zh-CN" dirty="0">
              <a:effectLst/>
            </a:endParaRPr>
          </a:p>
        </p:txBody>
      </p:sp>
      <p:sp>
        <p:nvSpPr>
          <p:cNvPr id="398340" name="Rectangle 4">
            <a:extLst>
              <a:ext uri="{FF2B5EF4-FFF2-40B4-BE49-F238E27FC236}">
                <a16:creationId xmlns:a16="http://schemas.microsoft.com/office/drawing/2014/main" id="{886D7A31-5FD3-4467-8BE0-E30982A0D8C1}"/>
              </a:ext>
            </a:extLst>
          </p:cNvPr>
          <p:cNvSpPr>
            <a:spLocks noChangeArrowheads="1"/>
          </p:cNvSpPr>
          <p:nvPr/>
        </p:nvSpPr>
        <p:spPr bwMode="auto">
          <a:xfrm>
            <a:off x="107950" y="80963"/>
            <a:ext cx="3816350"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ndParaRPr>
          </a:p>
        </p:txBody>
      </p:sp>
      <p:sp>
        <p:nvSpPr>
          <p:cNvPr id="398342" name="Rectangle 6">
            <a:extLst>
              <a:ext uri="{FF2B5EF4-FFF2-40B4-BE49-F238E27FC236}">
                <a16:creationId xmlns:a16="http://schemas.microsoft.com/office/drawing/2014/main" id="{9D5BB0A1-0046-409D-A558-B612B40B6569}"/>
              </a:ext>
            </a:extLst>
          </p:cNvPr>
          <p:cNvSpPr>
            <a:spLocks noChangeArrowheads="1"/>
          </p:cNvSpPr>
          <p:nvPr/>
        </p:nvSpPr>
        <p:spPr bwMode="auto">
          <a:xfrm>
            <a:off x="1474788" y="3357563"/>
            <a:ext cx="59055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ctr">
              <a:lnSpc>
                <a:spcPct val="120000"/>
              </a:lnSpc>
              <a:spcBef>
                <a:spcPct val="20000"/>
              </a:spcBef>
              <a:buClr>
                <a:schemeClr val="hlink"/>
              </a:buClr>
              <a:buSzPct val="55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ctr">
              <a:lnSpc>
                <a:spcPct val="120000"/>
              </a:lnSpc>
              <a:spcBef>
                <a:spcPct val="20000"/>
              </a:spcBef>
              <a:buClr>
                <a:schemeClr val="folHlink"/>
              </a:buClr>
              <a:buSzPct val="5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ctr">
              <a:lnSpc>
                <a:spcPct val="120000"/>
              </a:lnSpc>
              <a:spcBef>
                <a:spcPct val="20000"/>
              </a:spcBef>
              <a:buClr>
                <a:schemeClr val="accent2"/>
              </a:buClr>
              <a:buSzPct val="55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ctr">
              <a:lnSpc>
                <a:spcPct val="120000"/>
              </a:lnSpc>
              <a:spcBef>
                <a:spcPct val="20000"/>
              </a:spcBef>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00000"/>
              </a:lnSpc>
              <a:spcBef>
                <a:spcPct val="0"/>
              </a:spcBef>
              <a:buClrTx/>
              <a:buSzTx/>
              <a:buFontTx/>
              <a:buNone/>
            </a:pPr>
            <a:r>
              <a:rPr lang="zh-CN" altLang="en-US" sz="4000">
                <a:solidFill>
                  <a:srgbClr val="003366"/>
                </a:solidFill>
                <a:latin typeface="华文新魏" panose="02010800040101010101" pitchFamily="2" charset="-122"/>
                <a:ea typeface="华文新魏" panose="02010800040101010101" pitchFamily="2" charset="-122"/>
              </a:rPr>
              <a:t>（第三讲）</a:t>
            </a:r>
          </a:p>
        </p:txBody>
      </p:sp>
    </p:spTree>
  </p:cSld>
  <p:clrMapOvr>
    <a:masterClrMapping/>
  </p:clrMapOvr>
  <mc:AlternateContent xmlns:mc="http://schemas.openxmlformats.org/markup-compatibility/2006" xmlns:p14="http://schemas.microsoft.com/office/powerpoint/2010/main">
    <mc:Choice Requires="p14">
      <p:transition spd="slow" p14:dur="2000" advTm="2575"/>
    </mc:Choice>
    <mc:Fallback xmlns="">
      <p:transition spd="slow" advTm="257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box(out)">
                                      <p:cBhvr>
                                        <p:cTn id="7" dur="1000"/>
                                        <p:tgtEl>
                                          <p:spTgt spid="398340"/>
                                        </p:tgtEl>
                                      </p:cBhvr>
                                    </p:animEffect>
                                  </p:childTnLst>
                                </p:cTn>
                              </p:par>
                            </p:childTnLst>
                          </p:cTn>
                        </p:par>
                        <p:par>
                          <p:cTn id="8" fill="hold" nodeType="afterGroup">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398338"/>
                                        </p:tgtEl>
                                        <p:attrNameLst>
                                          <p:attrName>style.visibility</p:attrName>
                                        </p:attrNameLst>
                                      </p:cBhvr>
                                      <p:to>
                                        <p:strVal val="visible"/>
                                      </p:to>
                                    </p:set>
                                    <p:animEffect transition="in" filter="plus(in)">
                                      <p:cBhvr>
                                        <p:cTn id="11" dur="1000"/>
                                        <p:tgtEl>
                                          <p:spTgt spid="398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p:bldP spid="39834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9" name="Rectangle 3">
            <a:extLst>
              <a:ext uri="{FF2B5EF4-FFF2-40B4-BE49-F238E27FC236}">
                <a16:creationId xmlns:a16="http://schemas.microsoft.com/office/drawing/2014/main" id="{2E73C1C2-15C1-4CE9-A060-7557D671333A}"/>
              </a:ext>
            </a:extLst>
          </p:cNvPr>
          <p:cNvSpPr>
            <a:spLocks noGrp="1" noChangeArrowheads="1"/>
          </p:cNvSpPr>
          <p:nvPr>
            <p:ph type="ctrTitle"/>
          </p:nvPr>
        </p:nvSpPr>
        <p:spPr>
          <a:noFill/>
          <a:ln/>
        </p:spPr>
        <p:txBody>
          <a:bodyPr/>
          <a:lstStyle/>
          <a:p>
            <a:r>
              <a:rPr lang="en-US" altLang="zh-CN" sz="5400"/>
              <a:t>10.3  </a:t>
            </a:r>
            <a:r>
              <a:rPr lang="zh-CN" altLang="en-US" sz="5400"/>
              <a:t>数据库的完整性</a:t>
            </a:r>
          </a:p>
        </p:txBody>
      </p:sp>
      <p:sp>
        <p:nvSpPr>
          <p:cNvPr id="423940" name="Rectangle 4">
            <a:extLst>
              <a:ext uri="{FF2B5EF4-FFF2-40B4-BE49-F238E27FC236}">
                <a16:creationId xmlns:a16="http://schemas.microsoft.com/office/drawing/2014/main" id="{F4C8A330-315D-4FE5-8046-AD3062A2F8DF}"/>
              </a:ext>
            </a:extLst>
          </p:cNvPr>
          <p:cNvSpPr>
            <a:spLocks noChangeArrowheads="1"/>
          </p:cNvSpPr>
          <p:nvPr/>
        </p:nvSpPr>
        <p:spPr bwMode="auto">
          <a:xfrm>
            <a:off x="71438" y="80963"/>
            <a:ext cx="46450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800" b="1">
                <a:solidFill>
                  <a:srgbClr val="993300"/>
                </a:solidFill>
                <a:effectLst>
                  <a:outerShdw blurRad="38100" dist="38100" dir="2700000" algn="tl">
                    <a:srgbClr val="000000"/>
                  </a:outerShdw>
                </a:effectLst>
                <a:ea typeface="隶书" panose="02010509060101010101" pitchFamily="49" charset="-122"/>
              </a:rPr>
              <a:t>第</a:t>
            </a:r>
            <a:r>
              <a:rPr lang="en-US" altLang="zh-CN" sz="2800" b="1">
                <a:solidFill>
                  <a:srgbClr val="993300"/>
                </a:solidFill>
                <a:effectLst>
                  <a:outerShdw blurRad="38100" dist="38100" dir="2700000" algn="tl">
                    <a:srgbClr val="000000"/>
                  </a:outerShdw>
                </a:effectLst>
                <a:ea typeface="隶书" panose="02010509060101010101" pitchFamily="49" charset="-122"/>
              </a:rPr>
              <a:t>10</a:t>
            </a:r>
            <a:r>
              <a:rPr lang="zh-CN" altLang="en-US" sz="2800" b="1">
                <a:solidFill>
                  <a:srgbClr val="993300"/>
                </a:solidFill>
                <a:effectLst>
                  <a:outerShdw blurRad="38100" dist="38100" dir="2700000" algn="tl">
                    <a:srgbClr val="000000"/>
                  </a:outerShdw>
                </a:effectLst>
                <a:ea typeface="隶书" panose="02010509060101010101" pitchFamily="49" charset="-122"/>
              </a:rPr>
              <a:t>章  数据库保护技术</a:t>
            </a:r>
          </a:p>
        </p:txBody>
      </p:sp>
    </p:spTree>
  </p:cSld>
  <p:clrMapOvr>
    <a:masterClrMapping/>
  </p:clrMapOvr>
  <mc:AlternateContent xmlns:mc="http://schemas.openxmlformats.org/markup-compatibility/2006" xmlns:p14="http://schemas.microsoft.com/office/powerpoint/2010/main">
    <mc:Choice Requires="p14">
      <p:transition spd="slow" p14:dur="2000" advTm="2380"/>
    </mc:Choice>
    <mc:Fallback xmlns="">
      <p:transition spd="slow" advTm="238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23940"/>
                                        </p:tgtEl>
                                        <p:attrNameLst>
                                          <p:attrName>style.visibility</p:attrName>
                                        </p:attrNameLst>
                                      </p:cBhvr>
                                      <p:to>
                                        <p:strVal val="visible"/>
                                      </p:to>
                                    </p:set>
                                    <p:animEffect transition="in" filter="box(out)">
                                      <p:cBhvr>
                                        <p:cTn id="7" dur="1000"/>
                                        <p:tgtEl>
                                          <p:spTgt spid="423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Rectangle 4">
            <a:extLst>
              <a:ext uri="{FF2B5EF4-FFF2-40B4-BE49-F238E27FC236}">
                <a16:creationId xmlns:a16="http://schemas.microsoft.com/office/drawing/2014/main" id="{279BE045-16AD-45DC-BA1B-1578E500E132}"/>
              </a:ext>
            </a:extLst>
          </p:cNvPr>
          <p:cNvSpPr>
            <a:spLocks noChangeAspect="1" noChangeArrowheads="1"/>
          </p:cNvSpPr>
          <p:nvPr/>
        </p:nvSpPr>
        <p:spPr bwMode="auto">
          <a:xfrm>
            <a:off x="323850" y="1341438"/>
            <a:ext cx="8496300" cy="4464050"/>
          </a:xfrm>
          <a:prstGeom prst="rect">
            <a:avLst/>
          </a:prstGeom>
          <a:gradFill rotWithShape="1">
            <a:gsLst>
              <a:gs pos="0">
                <a:srgbClr val="C5ECFF"/>
              </a:gs>
              <a:gs pos="100000">
                <a:srgbClr val="C5ECFF">
                  <a:gamma/>
                  <a:tint val="28627"/>
                  <a:invGamma/>
                </a:srgbClr>
              </a:gs>
            </a:gsLst>
            <a:lin ang="5400000" scaled="1"/>
          </a:gradFill>
          <a:ln w="57150" cmpd="thickThin">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24965" name="Rectangle 5">
            <a:extLst>
              <a:ext uri="{FF2B5EF4-FFF2-40B4-BE49-F238E27FC236}">
                <a16:creationId xmlns:a16="http://schemas.microsoft.com/office/drawing/2014/main" id="{6D5A5DA8-ED4C-4071-B1A1-A2842221C052}"/>
              </a:ext>
            </a:extLst>
          </p:cNvPr>
          <p:cNvSpPr>
            <a:spLocks noChangeArrowheads="1"/>
          </p:cNvSpPr>
          <p:nvPr/>
        </p:nvSpPr>
        <p:spPr bwMode="auto">
          <a:xfrm>
            <a:off x="468313" y="1700213"/>
            <a:ext cx="8208962" cy="3168650"/>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1800" b="0">
                <a:effectLst/>
                <a:ea typeface="黑体" panose="02010609060101010101" pitchFamily="49" charset="-122"/>
              </a:rPr>
              <a:t>          </a:t>
            </a:r>
          </a:p>
          <a:p>
            <a:pPr>
              <a:lnSpc>
                <a:spcPct val="140000"/>
              </a:lnSpc>
            </a:pPr>
            <a:r>
              <a:rPr lang="zh-CN" altLang="en-US" b="0">
                <a:effectLst/>
                <a:latin typeface="黑体" panose="02010609060101010101" pitchFamily="49" charset="-122"/>
                <a:ea typeface="黑体" panose="02010609060101010101" pitchFamily="49" charset="-122"/>
              </a:rPr>
              <a:t>      </a:t>
            </a:r>
            <a:r>
              <a:rPr lang="zh-CN" altLang="en-US" sz="3200">
                <a:solidFill>
                  <a:srgbClr val="660033"/>
                </a:solidFill>
                <a:effectLst/>
                <a:ea typeface="华文新魏" panose="02010800040101010101" pitchFamily="2" charset="-122"/>
              </a:rPr>
              <a:t>数据库的完整性</a:t>
            </a:r>
            <a:r>
              <a:rPr lang="zh-CN" altLang="en-US" b="0">
                <a:effectLst/>
                <a:latin typeface="黑体" panose="02010609060101010101" pitchFamily="49" charset="-122"/>
                <a:ea typeface="黑体" panose="02010609060101010101" pitchFamily="49" charset="-122"/>
              </a:rPr>
              <a:t>是指数据库的任何状态变化都能反映真实存在的客观世界的合理状态，数据库中的数据应始终保持正确的状态。</a:t>
            </a:r>
          </a:p>
          <a:p>
            <a:pPr>
              <a:lnSpc>
                <a:spcPct val="140000"/>
              </a:lnSpc>
            </a:pPr>
            <a:endParaRPr lang="zh-CN" altLang="en-US" b="0">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176"/>
    </mc:Choice>
    <mc:Fallback xmlns="">
      <p:transition spd="slow" advTm="2717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withEffect">
                                  <p:stCondLst>
                                    <p:cond delay="0"/>
                                  </p:stCondLst>
                                  <p:childTnLst>
                                    <p:set>
                                      <p:cBhvr>
                                        <p:cTn id="6" dur="1" fill="hold">
                                          <p:stCondLst>
                                            <p:cond delay="0"/>
                                          </p:stCondLst>
                                        </p:cTn>
                                        <p:tgtEl>
                                          <p:spTgt spid="424964"/>
                                        </p:tgtEl>
                                        <p:attrNameLst>
                                          <p:attrName>style.visibility</p:attrName>
                                        </p:attrNameLst>
                                      </p:cBhvr>
                                      <p:to>
                                        <p:strVal val="visible"/>
                                      </p:to>
                                    </p:set>
                                    <p:anim calcmode="lin" valueType="num">
                                      <p:cBhvr>
                                        <p:cTn id="7" dur="2000" fill="hold"/>
                                        <p:tgtEl>
                                          <p:spTgt spid="424964"/>
                                        </p:tgtEl>
                                        <p:attrNameLst>
                                          <p:attrName>ppt_w</p:attrName>
                                        </p:attrNameLst>
                                      </p:cBhvr>
                                      <p:tavLst>
                                        <p:tav tm="0">
                                          <p:val>
                                            <p:fltVal val="0"/>
                                          </p:val>
                                        </p:tav>
                                        <p:tav tm="100000">
                                          <p:val>
                                            <p:strVal val="#ppt_w"/>
                                          </p:val>
                                        </p:tav>
                                      </p:tavLst>
                                    </p:anim>
                                    <p:anim calcmode="lin" valueType="num">
                                      <p:cBhvr>
                                        <p:cTn id="8" dur="2000" fill="hold"/>
                                        <p:tgtEl>
                                          <p:spTgt spid="42496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424965"/>
                                        </p:tgtEl>
                                        <p:attrNameLst>
                                          <p:attrName>style.visibility</p:attrName>
                                        </p:attrNameLst>
                                      </p:cBhvr>
                                      <p:to>
                                        <p:strVal val="visible"/>
                                      </p:to>
                                    </p:set>
                                    <p:animEffect transition="in" filter="diamond(in)">
                                      <p:cBhvr>
                                        <p:cTn id="13" dur="2000"/>
                                        <p:tgtEl>
                                          <p:spTgt spid="424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304" name="Rectangle 16">
            <a:extLst>
              <a:ext uri="{FF2B5EF4-FFF2-40B4-BE49-F238E27FC236}">
                <a16:creationId xmlns:a16="http://schemas.microsoft.com/office/drawing/2014/main" id="{6D6134B2-E1B6-46E4-8C85-60A8A2C75EF3}"/>
              </a:ext>
            </a:extLst>
          </p:cNvPr>
          <p:cNvSpPr>
            <a:spLocks noChangeAspect="1" noChangeArrowheads="1"/>
          </p:cNvSpPr>
          <p:nvPr/>
        </p:nvSpPr>
        <p:spPr bwMode="auto">
          <a:xfrm rot="-5400000">
            <a:off x="2772569" y="116681"/>
            <a:ext cx="3743325" cy="8208963"/>
          </a:xfrm>
          <a:prstGeom prst="rect">
            <a:avLst/>
          </a:prstGeom>
          <a:gradFill rotWithShape="1">
            <a:gsLst>
              <a:gs pos="0">
                <a:srgbClr val="C5ECFF"/>
              </a:gs>
              <a:gs pos="100000">
                <a:srgbClr val="C5ECFF">
                  <a:gamma/>
                  <a:tint val="28627"/>
                  <a:invGamma/>
                </a:srgbClr>
              </a:gs>
            </a:gsLst>
            <a:lin ang="5400000" scaled="1"/>
          </a:gradFill>
          <a:ln>
            <a:noFill/>
          </a:ln>
          <a:effectLst/>
          <a:extLst>
            <a:ext uri="{91240B29-F687-4F45-9708-019B960494DF}">
              <a14:hiddenLine xmlns:a14="http://schemas.microsoft.com/office/drawing/2010/main" w="57150" cmpd="thickThin">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24290" name="Rectangle 2">
            <a:extLst>
              <a:ext uri="{FF2B5EF4-FFF2-40B4-BE49-F238E27FC236}">
                <a16:creationId xmlns:a16="http://schemas.microsoft.com/office/drawing/2014/main" id="{BE6284A2-97BA-4578-9CFA-133D909477E0}"/>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一、域完整性约束</a:t>
            </a:r>
          </a:p>
        </p:txBody>
      </p:sp>
      <p:sp>
        <p:nvSpPr>
          <p:cNvPr id="524301" name="AutoShape 13">
            <a:extLst>
              <a:ext uri="{FF2B5EF4-FFF2-40B4-BE49-F238E27FC236}">
                <a16:creationId xmlns:a16="http://schemas.microsoft.com/office/drawing/2014/main" id="{3DBA166E-7137-435A-8BF4-CDB02CBE4EF4}"/>
              </a:ext>
            </a:extLst>
          </p:cNvPr>
          <p:cNvSpPr>
            <a:spLocks noChangeArrowheads="1"/>
          </p:cNvSpPr>
          <p:nvPr/>
        </p:nvSpPr>
        <p:spPr bwMode="auto">
          <a:xfrm>
            <a:off x="395288" y="1196975"/>
            <a:ext cx="8424862" cy="863600"/>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24302" name="Rectangle 14">
            <a:extLst>
              <a:ext uri="{FF2B5EF4-FFF2-40B4-BE49-F238E27FC236}">
                <a16:creationId xmlns:a16="http://schemas.microsoft.com/office/drawing/2014/main" id="{2BA8095B-6D4D-4066-A75C-264A1925419C}"/>
              </a:ext>
            </a:extLst>
          </p:cNvPr>
          <p:cNvSpPr>
            <a:spLocks noChangeArrowheads="1"/>
          </p:cNvSpPr>
          <p:nvPr/>
        </p:nvSpPr>
        <p:spPr bwMode="auto">
          <a:xfrm>
            <a:off x="611188" y="1293813"/>
            <a:ext cx="8135937"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域完整性约束：属性列</a:t>
            </a:r>
            <a:r>
              <a:rPr lang="en-US" altLang="zh-CN" sz="2800" b="1">
                <a:solidFill>
                  <a:srgbClr val="000000"/>
                </a:solidFill>
                <a:effectLst>
                  <a:outerShdw blurRad="38100" dist="38100" dir="2700000" algn="tl">
                    <a:srgbClr val="C0C0C0"/>
                  </a:outerShdw>
                </a:effectLst>
                <a:latin typeface="Tahoma" panose="020B0604030504040204" pitchFamily="34" charset="0"/>
              </a:rPr>
              <a:t>(</a:t>
            </a:r>
            <a:r>
              <a:rPr lang="zh-CN" altLang="en-US" sz="2800" b="1">
                <a:solidFill>
                  <a:srgbClr val="000000"/>
                </a:solidFill>
                <a:effectLst>
                  <a:outerShdw blurRad="38100" dist="38100" dir="2700000" algn="tl">
                    <a:srgbClr val="C0C0C0"/>
                  </a:outerShdw>
                </a:effectLst>
                <a:latin typeface="Tahoma" panose="020B0604030504040204" pitchFamily="34" charset="0"/>
              </a:rPr>
              <a:t>字段</a:t>
            </a:r>
            <a:r>
              <a:rPr lang="en-US" altLang="zh-CN" sz="2800" b="1">
                <a:solidFill>
                  <a:srgbClr val="000000"/>
                </a:solidFill>
                <a:effectLst>
                  <a:outerShdw blurRad="38100" dist="38100" dir="2700000" algn="tl">
                    <a:srgbClr val="C0C0C0"/>
                  </a:outerShdw>
                </a:effectLst>
                <a:latin typeface="Tahoma" panose="020B0604030504040204" pitchFamily="34" charset="0"/>
              </a:rPr>
              <a:t>)</a:t>
            </a:r>
            <a:r>
              <a:rPr lang="zh-CN" altLang="en-US" sz="2800" b="1">
                <a:solidFill>
                  <a:srgbClr val="000000"/>
                </a:solidFill>
                <a:effectLst>
                  <a:outerShdw blurRad="38100" dist="38100" dir="2700000" algn="tl">
                    <a:srgbClr val="C0C0C0"/>
                  </a:outerShdw>
                </a:effectLst>
                <a:latin typeface="Tahoma" panose="020B0604030504040204" pitchFamily="34" charset="0"/>
              </a:rPr>
              <a:t>满足的约束条件。</a:t>
            </a:r>
          </a:p>
        </p:txBody>
      </p:sp>
      <p:sp>
        <p:nvSpPr>
          <p:cNvPr id="524303" name="Rectangle 15">
            <a:extLst>
              <a:ext uri="{FF2B5EF4-FFF2-40B4-BE49-F238E27FC236}">
                <a16:creationId xmlns:a16="http://schemas.microsoft.com/office/drawing/2014/main" id="{667989C0-2617-406D-9F24-614800751357}"/>
              </a:ext>
            </a:extLst>
          </p:cNvPr>
          <p:cNvSpPr>
            <a:spLocks noChangeArrowheads="1"/>
          </p:cNvSpPr>
          <p:nvPr/>
        </p:nvSpPr>
        <p:spPr bwMode="auto">
          <a:xfrm>
            <a:off x="755650" y="2579688"/>
            <a:ext cx="7705725" cy="329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1</a:t>
            </a:r>
            <a:r>
              <a:rPr lang="zh-CN" altLang="en-US" sz="2800" b="1">
                <a:solidFill>
                  <a:srgbClr val="0000FF"/>
                </a:solidFill>
                <a:effectLst>
                  <a:outerShdw blurRad="38100" dist="38100" dir="2700000" algn="tl">
                    <a:srgbClr val="C0C0C0"/>
                  </a:outerShdw>
                </a:effectLst>
              </a:rPr>
              <a:t>）数据类型的约束</a:t>
            </a:r>
            <a:r>
              <a:rPr lang="zh-CN" altLang="en-US" sz="2800" b="1">
                <a:solidFill>
                  <a:srgbClr val="030305"/>
                </a:solidFill>
                <a:effectLst>
                  <a:outerShdw blurRad="38100" dist="38100" dir="2700000" algn="tl">
                    <a:srgbClr val="C0C0C0"/>
                  </a:outerShdw>
                </a:effectLst>
              </a:rPr>
              <a:t> </a:t>
            </a:r>
          </a:p>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2</a:t>
            </a:r>
            <a:r>
              <a:rPr lang="zh-CN" altLang="en-US" sz="2800" b="1">
                <a:solidFill>
                  <a:srgbClr val="0000FF"/>
                </a:solidFill>
                <a:effectLst>
                  <a:outerShdw blurRad="38100" dist="38100" dir="2700000" algn="tl">
                    <a:srgbClr val="C0C0C0"/>
                  </a:outerShdw>
                </a:effectLst>
              </a:rPr>
              <a:t>）数据格式的约束：</a:t>
            </a:r>
            <a:r>
              <a:rPr lang="zh-CN" altLang="en-US" sz="2800" b="1">
                <a:solidFill>
                  <a:srgbClr val="030305"/>
                </a:solidFill>
                <a:effectLst>
                  <a:outerShdw blurRad="38100" dist="38100" dir="2700000" algn="tl">
                    <a:srgbClr val="C0C0C0"/>
                  </a:outerShdw>
                </a:effectLst>
              </a:rPr>
              <a:t>如日期格式</a:t>
            </a:r>
            <a:endParaRPr lang="zh-CN" altLang="en-US" sz="2800" b="1">
              <a:effectLst>
                <a:outerShdw blurRad="38100" dist="38100" dir="2700000" algn="tl">
                  <a:srgbClr val="C0C0C0"/>
                </a:outerShdw>
              </a:effectLst>
            </a:endParaRPr>
          </a:p>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3</a:t>
            </a:r>
            <a:r>
              <a:rPr lang="zh-CN" altLang="en-US" sz="2800" b="1">
                <a:solidFill>
                  <a:srgbClr val="0000FF"/>
                </a:solidFill>
                <a:effectLst>
                  <a:outerShdw blurRad="38100" dist="38100" dir="2700000" algn="tl">
                    <a:srgbClr val="C0C0C0"/>
                  </a:outerShdw>
                </a:effectLst>
              </a:rPr>
              <a:t>）取值范围</a:t>
            </a:r>
          </a:p>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4</a:t>
            </a:r>
            <a:r>
              <a:rPr lang="zh-CN" altLang="en-US" sz="2800" b="1">
                <a:solidFill>
                  <a:srgbClr val="0000FF"/>
                </a:solidFill>
                <a:effectLst>
                  <a:outerShdw blurRad="38100" dist="38100" dir="2700000" algn="tl">
                    <a:srgbClr val="C0C0C0"/>
                  </a:outerShdw>
                </a:effectLst>
              </a:rPr>
              <a:t>）域级</a:t>
            </a:r>
            <a:r>
              <a:rPr lang="en-US" altLang="zh-CN" sz="2800" b="1">
                <a:solidFill>
                  <a:srgbClr val="0000FF"/>
                </a:solidFill>
                <a:effectLst>
                  <a:outerShdw blurRad="38100" dist="38100" dir="2700000" algn="tl">
                    <a:srgbClr val="C0C0C0"/>
                  </a:outerShdw>
                </a:effectLst>
              </a:rPr>
              <a:t>check</a:t>
            </a:r>
            <a:r>
              <a:rPr lang="zh-CN" altLang="en-US" sz="2800" b="1">
                <a:solidFill>
                  <a:srgbClr val="0000FF"/>
                </a:solidFill>
                <a:effectLst>
                  <a:outerShdw blurRad="38100" dist="38100" dir="2700000" algn="tl">
                    <a:srgbClr val="C0C0C0"/>
                  </a:outerShdw>
                </a:effectLst>
              </a:rPr>
              <a:t>子句</a:t>
            </a:r>
          </a:p>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5</a:t>
            </a:r>
            <a:r>
              <a:rPr lang="zh-CN" altLang="en-US" sz="2800" b="1">
                <a:solidFill>
                  <a:srgbClr val="0000FF"/>
                </a:solidFill>
                <a:effectLst>
                  <a:outerShdw blurRad="38100" dist="38100" dir="2700000" algn="tl">
                    <a:srgbClr val="C0C0C0"/>
                  </a:outerShdw>
                </a:effectLst>
              </a:rPr>
              <a:t>）空值约束</a:t>
            </a:r>
            <a:endParaRPr lang="zh-CN" altLang="en-US" sz="2800" b="1">
              <a:solidFill>
                <a:srgbClr val="030305"/>
              </a:solidFill>
              <a:effectLst>
                <a:outerShdw blurRad="38100" dist="38100" dir="2700000" algn="tl">
                  <a:srgbClr val="C0C0C0"/>
                </a:outerShdw>
              </a:effectLst>
            </a:endParaRPr>
          </a:p>
          <a:p>
            <a:pPr>
              <a:spcBef>
                <a:spcPct val="30000"/>
              </a:spcBef>
            </a:pPr>
            <a:r>
              <a:rPr lang="zh-CN" altLang="en-US" sz="2800" b="1">
                <a:solidFill>
                  <a:srgbClr val="0000FF"/>
                </a:solidFill>
                <a:effectLst>
                  <a:outerShdw blurRad="38100" dist="38100" dir="2700000" algn="tl">
                    <a:srgbClr val="C0C0C0"/>
                  </a:outerShdw>
                </a:effectLst>
              </a:rPr>
              <a:t>（</a:t>
            </a:r>
            <a:r>
              <a:rPr lang="en-US" altLang="zh-CN" sz="2800" b="1">
                <a:solidFill>
                  <a:srgbClr val="0000FF"/>
                </a:solidFill>
                <a:effectLst>
                  <a:outerShdw blurRad="38100" dist="38100" dir="2700000" algn="tl">
                    <a:srgbClr val="C0C0C0"/>
                  </a:outerShdw>
                </a:effectLst>
              </a:rPr>
              <a:t>6</a:t>
            </a:r>
            <a:r>
              <a:rPr lang="zh-CN" altLang="en-US" sz="2800" b="1">
                <a:solidFill>
                  <a:srgbClr val="0000FF"/>
                </a:solidFill>
                <a:effectLst>
                  <a:outerShdw blurRad="38100" dist="38100" dir="2700000" algn="tl">
                    <a:srgbClr val="C0C0C0"/>
                  </a:outerShdw>
                </a:effectLst>
              </a:rPr>
              <a:t>）设置默认值</a:t>
            </a:r>
            <a:r>
              <a:rPr lang="en-US" altLang="zh-CN" sz="2800" b="1">
                <a:solidFill>
                  <a:srgbClr val="0000FF"/>
                </a:solidFill>
                <a:effectLst>
                  <a:outerShdw blurRad="38100" dist="38100" dir="2700000" algn="tl">
                    <a:srgbClr val="C0C0C0"/>
                  </a:outerShdw>
                </a:effectLst>
              </a:rPr>
              <a:t>default</a:t>
            </a:r>
            <a:r>
              <a:rPr lang="zh-CN" altLang="en-US" sz="2800" b="1">
                <a:solidFill>
                  <a:srgbClr val="0000FF"/>
                </a:solidFill>
                <a:effectLst>
                  <a:outerShdw blurRad="38100" dist="38100" dir="2700000" algn="tl">
                    <a:srgbClr val="C0C0C0"/>
                  </a:outerShdw>
                </a:effectLst>
              </a:rPr>
              <a:t>约束。</a:t>
            </a:r>
            <a:endParaRPr lang="zh-CN" altLang="en-US" sz="2800" b="1">
              <a:effectLst>
                <a:outerShdw blurRad="38100" dist="38100" dir="2700000" algn="tl">
                  <a:srgbClr val="C0C0C0"/>
                </a:outerShdw>
              </a:effectLs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9"/>
    </mc:Choice>
    <mc:Fallback xmlns="">
      <p:transition spd="slow" advTm="3330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4301"/>
                                        </p:tgtEl>
                                        <p:attrNameLst>
                                          <p:attrName>style.visibility</p:attrName>
                                        </p:attrNameLst>
                                      </p:cBhvr>
                                      <p:to>
                                        <p:strVal val="visible"/>
                                      </p:to>
                                    </p:set>
                                    <p:animEffect transition="in" filter="wipe(up)">
                                      <p:cBhvr>
                                        <p:cTn id="7" dur="500"/>
                                        <p:tgtEl>
                                          <p:spTgt spid="52430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24302"/>
                                        </p:tgtEl>
                                        <p:attrNameLst>
                                          <p:attrName>style.visibility</p:attrName>
                                        </p:attrNameLst>
                                      </p:cBhvr>
                                      <p:to>
                                        <p:strVal val="visible"/>
                                      </p:to>
                                    </p:set>
                                    <p:animEffect transition="in" filter="wipe(left)">
                                      <p:cBhvr>
                                        <p:cTn id="11" dur="500"/>
                                        <p:tgtEl>
                                          <p:spTgt spid="52430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10" fill="hold" nodeType="clickEffect">
                                  <p:stCondLst>
                                    <p:cond delay="0"/>
                                  </p:stCondLst>
                                  <p:childTnLst>
                                    <p:set>
                                      <p:cBhvr>
                                        <p:cTn id="15" dur="1" fill="hold">
                                          <p:stCondLst>
                                            <p:cond delay="0"/>
                                          </p:stCondLst>
                                        </p:cTn>
                                        <p:tgtEl>
                                          <p:spTgt spid="524304"/>
                                        </p:tgtEl>
                                        <p:attrNameLst>
                                          <p:attrName>style.visibility</p:attrName>
                                        </p:attrNameLst>
                                      </p:cBhvr>
                                      <p:to>
                                        <p:strVal val="visible"/>
                                      </p:to>
                                    </p:set>
                                    <p:anim calcmode="lin" valueType="num">
                                      <p:cBhvr>
                                        <p:cTn id="16" dur="2000" fill="hold"/>
                                        <p:tgtEl>
                                          <p:spTgt spid="524304"/>
                                        </p:tgtEl>
                                        <p:attrNameLst>
                                          <p:attrName>ppt_w</p:attrName>
                                        </p:attrNameLst>
                                      </p:cBhvr>
                                      <p:tavLst>
                                        <p:tav tm="0">
                                          <p:val>
                                            <p:fltVal val="0"/>
                                          </p:val>
                                        </p:tav>
                                        <p:tav tm="100000">
                                          <p:val>
                                            <p:strVal val="#ppt_w"/>
                                          </p:val>
                                        </p:tav>
                                      </p:tavLst>
                                    </p:anim>
                                    <p:anim calcmode="lin" valueType="num">
                                      <p:cBhvr>
                                        <p:cTn id="17" dur="2000" fill="hold"/>
                                        <p:tgtEl>
                                          <p:spTgt spid="524304"/>
                                        </p:tgtEl>
                                        <p:attrNameLst>
                                          <p:attrName>ppt_h</p:attrName>
                                        </p:attrNameLst>
                                      </p:cBhvr>
                                      <p:tavLst>
                                        <p:tav tm="0">
                                          <p:val>
                                            <p:strVal val="#ppt_h"/>
                                          </p:val>
                                        </p:tav>
                                        <p:tav tm="100000">
                                          <p:val>
                                            <p:strVal val="#ppt_h"/>
                                          </p:val>
                                        </p:tav>
                                      </p:tavLst>
                                    </p:anim>
                                  </p:childTnLst>
                                </p:cTn>
                              </p:par>
                            </p:childTnLst>
                          </p:cTn>
                        </p:par>
                        <p:par>
                          <p:cTn id="18" fill="hold" nodeType="afterGroup">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524303">
                                            <p:txEl>
                                              <p:pRg st="0" end="0"/>
                                            </p:txEl>
                                          </p:spTgt>
                                        </p:tgtEl>
                                        <p:attrNameLst>
                                          <p:attrName>style.visibility</p:attrName>
                                        </p:attrNameLst>
                                      </p:cBhvr>
                                      <p:to>
                                        <p:strVal val="visible"/>
                                      </p:to>
                                    </p:set>
                                    <p:animEffect transition="in" filter="wipe(left)">
                                      <p:cBhvr>
                                        <p:cTn id="21" dur="500"/>
                                        <p:tgtEl>
                                          <p:spTgt spid="524303">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24303">
                                            <p:txEl>
                                              <p:pRg st="1" end="1"/>
                                            </p:txEl>
                                          </p:spTgt>
                                        </p:tgtEl>
                                        <p:attrNameLst>
                                          <p:attrName>style.visibility</p:attrName>
                                        </p:attrNameLst>
                                      </p:cBhvr>
                                      <p:to>
                                        <p:strVal val="visible"/>
                                      </p:to>
                                    </p:set>
                                    <p:animEffect transition="in" filter="wipe(left)">
                                      <p:cBhvr>
                                        <p:cTn id="26" dur="500"/>
                                        <p:tgtEl>
                                          <p:spTgt spid="524303">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24303">
                                            <p:txEl>
                                              <p:pRg st="2" end="2"/>
                                            </p:txEl>
                                          </p:spTgt>
                                        </p:tgtEl>
                                        <p:attrNameLst>
                                          <p:attrName>style.visibility</p:attrName>
                                        </p:attrNameLst>
                                      </p:cBhvr>
                                      <p:to>
                                        <p:strVal val="visible"/>
                                      </p:to>
                                    </p:set>
                                    <p:animEffect transition="in" filter="wipe(left)">
                                      <p:cBhvr>
                                        <p:cTn id="31" dur="500"/>
                                        <p:tgtEl>
                                          <p:spTgt spid="524303">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4303">
                                            <p:txEl>
                                              <p:pRg st="3" end="3"/>
                                            </p:txEl>
                                          </p:spTgt>
                                        </p:tgtEl>
                                        <p:attrNameLst>
                                          <p:attrName>style.visibility</p:attrName>
                                        </p:attrNameLst>
                                      </p:cBhvr>
                                      <p:to>
                                        <p:strVal val="visible"/>
                                      </p:to>
                                    </p:set>
                                    <p:animEffect transition="in" filter="wipe(left)">
                                      <p:cBhvr>
                                        <p:cTn id="36" dur="500"/>
                                        <p:tgtEl>
                                          <p:spTgt spid="524303">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24303">
                                            <p:txEl>
                                              <p:pRg st="4" end="4"/>
                                            </p:txEl>
                                          </p:spTgt>
                                        </p:tgtEl>
                                        <p:attrNameLst>
                                          <p:attrName>style.visibility</p:attrName>
                                        </p:attrNameLst>
                                      </p:cBhvr>
                                      <p:to>
                                        <p:strVal val="visible"/>
                                      </p:to>
                                    </p:set>
                                    <p:animEffect transition="in" filter="wipe(left)">
                                      <p:cBhvr>
                                        <p:cTn id="41" dur="500"/>
                                        <p:tgtEl>
                                          <p:spTgt spid="524303">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4303">
                                            <p:txEl>
                                              <p:pRg st="5" end="5"/>
                                            </p:txEl>
                                          </p:spTgt>
                                        </p:tgtEl>
                                        <p:attrNameLst>
                                          <p:attrName>style.visibility</p:attrName>
                                        </p:attrNameLst>
                                      </p:cBhvr>
                                      <p:to>
                                        <p:strVal val="visible"/>
                                      </p:to>
                                    </p:set>
                                    <p:animEffect transition="in" filter="wipe(left)">
                                      <p:cBhvr>
                                        <p:cTn id="46" dur="500"/>
                                        <p:tgtEl>
                                          <p:spTgt spid="5243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301" grpId="0" animBg="1"/>
      <p:bldP spid="524302" grpId="0"/>
      <p:bldP spid="52430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7" name="Rectangle 3">
            <a:extLst>
              <a:ext uri="{FF2B5EF4-FFF2-40B4-BE49-F238E27FC236}">
                <a16:creationId xmlns:a16="http://schemas.microsoft.com/office/drawing/2014/main" id="{DCDD8B33-8BCD-49E9-9373-8E97CA13878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一、域完整性约束</a:t>
            </a:r>
          </a:p>
        </p:txBody>
      </p:sp>
      <p:sp>
        <p:nvSpPr>
          <p:cNvPr id="543748" name="AutoShape 4">
            <a:extLst>
              <a:ext uri="{FF2B5EF4-FFF2-40B4-BE49-F238E27FC236}">
                <a16:creationId xmlns:a16="http://schemas.microsoft.com/office/drawing/2014/main" id="{5E5DAB67-E4BB-422E-BDF7-B581D51576D6}"/>
              </a:ext>
            </a:extLst>
          </p:cNvPr>
          <p:cNvSpPr>
            <a:spLocks noChangeArrowheads="1"/>
          </p:cNvSpPr>
          <p:nvPr/>
        </p:nvSpPr>
        <p:spPr bwMode="auto">
          <a:xfrm>
            <a:off x="395288" y="1196975"/>
            <a:ext cx="8424862" cy="863600"/>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43749" name="Rectangle 5">
            <a:extLst>
              <a:ext uri="{FF2B5EF4-FFF2-40B4-BE49-F238E27FC236}">
                <a16:creationId xmlns:a16="http://schemas.microsoft.com/office/drawing/2014/main" id="{7BB140CF-FE45-4931-8B41-7B97F33E5A98}"/>
              </a:ext>
            </a:extLst>
          </p:cNvPr>
          <p:cNvSpPr>
            <a:spLocks noChangeArrowheads="1"/>
          </p:cNvSpPr>
          <p:nvPr/>
        </p:nvSpPr>
        <p:spPr bwMode="auto">
          <a:xfrm>
            <a:off x="611188" y="1293813"/>
            <a:ext cx="8135937"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域完整性约束：属性列</a:t>
            </a:r>
            <a:r>
              <a:rPr lang="en-US" altLang="zh-CN" sz="2800" b="1">
                <a:solidFill>
                  <a:srgbClr val="000000"/>
                </a:solidFill>
                <a:effectLst>
                  <a:outerShdw blurRad="38100" dist="38100" dir="2700000" algn="tl">
                    <a:srgbClr val="C0C0C0"/>
                  </a:outerShdw>
                </a:effectLst>
                <a:latin typeface="Tahoma" panose="020B0604030504040204" pitchFamily="34" charset="0"/>
              </a:rPr>
              <a:t>(</a:t>
            </a:r>
            <a:r>
              <a:rPr lang="zh-CN" altLang="en-US" sz="2800" b="1">
                <a:solidFill>
                  <a:srgbClr val="000000"/>
                </a:solidFill>
                <a:effectLst>
                  <a:outerShdw blurRad="38100" dist="38100" dir="2700000" algn="tl">
                    <a:srgbClr val="C0C0C0"/>
                  </a:outerShdw>
                </a:effectLst>
                <a:latin typeface="Tahoma" panose="020B0604030504040204" pitchFamily="34" charset="0"/>
              </a:rPr>
              <a:t>字段</a:t>
            </a:r>
            <a:r>
              <a:rPr lang="en-US" altLang="zh-CN" sz="2800" b="1">
                <a:solidFill>
                  <a:srgbClr val="000000"/>
                </a:solidFill>
                <a:effectLst>
                  <a:outerShdw blurRad="38100" dist="38100" dir="2700000" algn="tl">
                    <a:srgbClr val="C0C0C0"/>
                  </a:outerShdw>
                </a:effectLst>
                <a:latin typeface="Tahoma" panose="020B0604030504040204" pitchFamily="34" charset="0"/>
              </a:rPr>
              <a:t>)</a:t>
            </a:r>
            <a:r>
              <a:rPr lang="zh-CN" altLang="en-US" sz="2800" b="1">
                <a:solidFill>
                  <a:srgbClr val="000000"/>
                </a:solidFill>
                <a:effectLst>
                  <a:outerShdw blurRad="38100" dist="38100" dir="2700000" algn="tl">
                    <a:srgbClr val="C0C0C0"/>
                  </a:outerShdw>
                </a:effectLst>
                <a:latin typeface="Tahoma" panose="020B0604030504040204" pitchFamily="34" charset="0"/>
              </a:rPr>
              <a:t>满足的约束条件。</a:t>
            </a:r>
          </a:p>
        </p:txBody>
      </p:sp>
      <p:sp>
        <p:nvSpPr>
          <p:cNvPr id="543751" name="Rectangle 7">
            <a:extLst>
              <a:ext uri="{FF2B5EF4-FFF2-40B4-BE49-F238E27FC236}">
                <a16:creationId xmlns:a16="http://schemas.microsoft.com/office/drawing/2014/main" id="{DB74A832-F617-463D-9DD3-C88F30A53370}"/>
              </a:ext>
            </a:extLst>
          </p:cNvPr>
          <p:cNvSpPr>
            <a:spLocks noChangeArrowheads="1"/>
          </p:cNvSpPr>
          <p:nvPr/>
        </p:nvSpPr>
        <p:spPr bwMode="auto">
          <a:xfrm>
            <a:off x="323850" y="2273300"/>
            <a:ext cx="84963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20000"/>
              </a:spcBef>
              <a:buClr>
                <a:schemeClr val="folHlink"/>
              </a:buClr>
              <a:buSzPct val="60000"/>
              <a:buFont typeface="Wingdings" panose="05000000000000000000" pitchFamily="2" charset="2"/>
              <a:buNone/>
            </a:pP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CREATE TABLE S</a:t>
            </a:r>
          </a:p>
          <a:p>
            <a:pPr>
              <a:lnSpc>
                <a:spcPct val="120000"/>
              </a:lnSpc>
              <a:spcBef>
                <a:spcPct val="20000"/>
              </a:spcBef>
              <a:buClr>
                <a:schemeClr val="folHlink"/>
              </a:buClr>
              <a:buSzPct val="60000"/>
              <a:buFont typeface="Wingdings" panose="05000000000000000000" pitchFamily="2" charset="2"/>
              <a:buNone/>
            </a:pP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S#               CHAR(9)       PRIMARY KEY</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SNAME        CHAR(10)     </a:t>
            </a:r>
            <a:r>
              <a:rPr lang="en-US" altLang="zh-CN" sz="24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NOT NULL</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SSEX        CHAR(2)  CHECK(SSEX IN (</a:t>
            </a:r>
            <a:r>
              <a:rPr lang="en-US" altLang="zh-CN" sz="2400" b="1">
                <a:effectLst>
                  <a:outerShdw blurRad="38100" dist="38100" dir="2700000" algn="tl">
                    <a:srgbClr val="C0C0C0"/>
                  </a:outerShdw>
                </a:effectLst>
                <a:ea typeface="宋体" panose="02010600030101010101" pitchFamily="2" charset="-122"/>
              </a:rPr>
              <a:t>‘</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男</a:t>
            </a:r>
            <a:r>
              <a:rPr lang="zh-CN" altLang="en-US" sz="2400" b="1">
                <a:effectLst>
                  <a:outerShdw blurRad="38100" dist="38100" dir="2700000" algn="tl">
                    <a:srgbClr val="C0C0C0"/>
                  </a:outerShdw>
                </a:effectLst>
                <a:ea typeface="宋体" panose="02010600030101010101" pitchFamily="2" charset="-122"/>
              </a:rPr>
              <a:t>’</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b="1">
                <a:effectLst>
                  <a:outerShdw blurRad="38100" dist="38100" dir="2700000" algn="tl">
                    <a:srgbClr val="C0C0C0"/>
                  </a:outerShdw>
                </a:effectLst>
              </a:rPr>
              <a:t>‘</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女</a:t>
            </a:r>
            <a:r>
              <a:rPr lang="zh-CN" altLang="en-US" sz="2400" b="1">
                <a:effectLst>
                  <a:outerShdw blurRad="38100" dist="38100" dir="2700000" algn="tl">
                    <a:srgbClr val="C0C0C0"/>
                  </a:outerShdw>
                </a:effectLst>
                <a:ea typeface="宋体" panose="02010600030101010101" pitchFamily="2" charset="-122"/>
              </a:rPr>
              <a:t>’</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SBIRTHIN     DATETIME     </a:t>
            </a:r>
            <a:r>
              <a:rPr lang="en-US" altLang="zh-CN" sz="24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NOT NULL</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PLACEOFB  CHAR(16)</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SCODE         CHAR(5)      </a:t>
            </a:r>
            <a:r>
              <a:rPr lang="en-US" altLang="zh-CN" sz="24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NOT NULL</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a:p>
            <a:pPr>
              <a:lnSpc>
                <a:spcPct val="12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2400" b="1">
                <a:effectLst>
                  <a:outerShdw blurRad="38100" dist="38100" dir="2700000" algn="tl">
                    <a:srgbClr val="C0C0C0"/>
                  </a:outerShdw>
                </a:effectLst>
                <a:latin typeface="Tahoma" panose="020B0604030504040204" pitchFamily="34" charset="0"/>
                <a:ea typeface="宋体" panose="02010600030101010101" pitchFamily="2" charset="-122"/>
              </a:rPr>
              <a:t>CLASS          CHAR(5)      </a:t>
            </a:r>
            <a:r>
              <a:rPr lang="en-US" altLang="zh-CN" sz="24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NOT NULL</a:t>
            </a:r>
            <a:r>
              <a:rPr lang="zh-CN" altLang="en-US" sz="2400" b="1">
                <a:effectLst>
                  <a:outerShdw blurRad="38100" dist="38100" dir="2700000" algn="tl">
                    <a:srgbClr val="C0C0C0"/>
                  </a:outerShdw>
                </a:effectLst>
                <a:latin typeface="Tahoma" panose="020B0604030504040204" pitchFamily="34" charset="0"/>
                <a:ea typeface="宋体" panose="0201060003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012"/>
    </mc:Choice>
    <mc:Fallback xmlns="">
      <p:transition spd="slow" advTm="2001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43748"/>
                                        </p:tgtEl>
                                        <p:attrNameLst>
                                          <p:attrName>style.visibility</p:attrName>
                                        </p:attrNameLst>
                                      </p:cBhvr>
                                      <p:to>
                                        <p:strVal val="visible"/>
                                      </p:to>
                                    </p:set>
                                    <p:animEffect transition="in" filter="wipe(up)">
                                      <p:cBhvr>
                                        <p:cTn id="7" dur="500"/>
                                        <p:tgtEl>
                                          <p:spTgt spid="54374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43749"/>
                                        </p:tgtEl>
                                        <p:attrNameLst>
                                          <p:attrName>style.visibility</p:attrName>
                                        </p:attrNameLst>
                                      </p:cBhvr>
                                      <p:to>
                                        <p:strVal val="visible"/>
                                      </p:to>
                                    </p:set>
                                    <p:animEffect transition="in" filter="wipe(left)">
                                      <p:cBhvr>
                                        <p:cTn id="11" dur="500"/>
                                        <p:tgtEl>
                                          <p:spTgt spid="54374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43751"/>
                                        </p:tgtEl>
                                        <p:attrNameLst>
                                          <p:attrName>style.visibility</p:attrName>
                                        </p:attrNameLst>
                                      </p:cBhvr>
                                      <p:to>
                                        <p:strVal val="visible"/>
                                      </p:to>
                                    </p:set>
                                    <p:animEffect transition="in" filter="wipe(up)">
                                      <p:cBhvr>
                                        <p:cTn id="16" dur="500"/>
                                        <p:tgtEl>
                                          <p:spTgt spid="543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8" grpId="0" animBg="1"/>
      <p:bldP spid="543749" grpId="0"/>
      <p:bldP spid="5437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a:extLst>
              <a:ext uri="{FF2B5EF4-FFF2-40B4-BE49-F238E27FC236}">
                <a16:creationId xmlns:a16="http://schemas.microsoft.com/office/drawing/2014/main" id="{FA60C7CD-EBE6-43EF-A9BE-82F608C030FD}"/>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二、实体完整性约束</a:t>
            </a:r>
          </a:p>
        </p:txBody>
      </p:sp>
      <p:sp>
        <p:nvSpPr>
          <p:cNvPr id="527365" name="AutoShape 5">
            <a:extLst>
              <a:ext uri="{FF2B5EF4-FFF2-40B4-BE49-F238E27FC236}">
                <a16:creationId xmlns:a16="http://schemas.microsoft.com/office/drawing/2014/main" id="{042B47C1-A302-4320-B1A6-EEFCD88F9FCA}"/>
              </a:ext>
            </a:extLst>
          </p:cNvPr>
          <p:cNvSpPr>
            <a:spLocks noChangeArrowheads="1"/>
          </p:cNvSpPr>
          <p:nvPr/>
        </p:nvSpPr>
        <p:spPr bwMode="auto">
          <a:xfrm>
            <a:off x="395288" y="1196975"/>
            <a:ext cx="8424862" cy="863600"/>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27366" name="Rectangle 6">
            <a:extLst>
              <a:ext uri="{FF2B5EF4-FFF2-40B4-BE49-F238E27FC236}">
                <a16:creationId xmlns:a16="http://schemas.microsoft.com/office/drawing/2014/main" id="{BB8A6B74-A5A5-4913-8EB5-2D3CD390FC43}"/>
              </a:ext>
            </a:extLst>
          </p:cNvPr>
          <p:cNvSpPr>
            <a:spLocks noChangeArrowheads="1"/>
          </p:cNvSpPr>
          <p:nvPr/>
        </p:nvSpPr>
        <p:spPr bwMode="auto">
          <a:xfrm>
            <a:off x="468313" y="1293813"/>
            <a:ext cx="8278812"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实体完整性约束：关系的主键值唯一，非空。</a:t>
            </a:r>
          </a:p>
        </p:txBody>
      </p:sp>
      <p:sp>
        <p:nvSpPr>
          <p:cNvPr id="527367" name="Rectangle 7">
            <a:extLst>
              <a:ext uri="{FF2B5EF4-FFF2-40B4-BE49-F238E27FC236}">
                <a16:creationId xmlns:a16="http://schemas.microsoft.com/office/drawing/2014/main" id="{1DDA1A9E-2270-4971-B250-7ED48E5E86D7}"/>
              </a:ext>
            </a:extLst>
          </p:cNvPr>
          <p:cNvSpPr>
            <a:spLocks noChangeAspect="1" noChangeArrowheads="1"/>
          </p:cNvSpPr>
          <p:nvPr/>
        </p:nvSpPr>
        <p:spPr bwMode="auto">
          <a:xfrm rot="-5400000">
            <a:off x="3706813" y="1701800"/>
            <a:ext cx="1657350" cy="8280400"/>
          </a:xfrm>
          <a:prstGeom prst="rect">
            <a:avLst/>
          </a:prstGeom>
          <a:gradFill rotWithShape="1">
            <a:gsLst>
              <a:gs pos="0">
                <a:srgbClr val="FFE1E1"/>
              </a:gs>
              <a:gs pos="100000">
                <a:srgbClr val="FFE1E1">
                  <a:gamma/>
                  <a:tint val="28627"/>
                  <a:invGamma/>
                </a:srgbClr>
              </a:gs>
            </a:gsLst>
            <a:lin ang="5400000" scaled="1"/>
          </a:gradFill>
          <a:ln w="57150" cmpd="thickThin">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23907" name="AutoShape 3">
            <a:extLst>
              <a:ext uri="{FF2B5EF4-FFF2-40B4-BE49-F238E27FC236}">
                <a16:creationId xmlns:a16="http://schemas.microsoft.com/office/drawing/2014/main" id="{9F199784-5E3F-4EFF-936E-85F0C6579BC5}"/>
              </a:ext>
            </a:extLst>
          </p:cNvPr>
          <p:cNvSpPr>
            <a:spLocks noChangeArrowheads="1"/>
          </p:cNvSpPr>
          <p:nvPr/>
        </p:nvSpPr>
        <p:spPr bwMode="auto">
          <a:xfrm>
            <a:off x="539750" y="2032000"/>
            <a:ext cx="5880100" cy="2981325"/>
          </a:xfrm>
          <a:prstGeom prst="rightArrow">
            <a:avLst>
              <a:gd name="adj1" fmla="val 79306"/>
              <a:gd name="adj2" fmla="val 48851"/>
            </a:avLst>
          </a:prstGeom>
          <a:gradFill rotWithShape="1">
            <a:gsLst>
              <a:gs pos="0">
                <a:srgbClr val="FFFFFF"/>
              </a:gs>
              <a:gs pos="100000">
                <a:srgbClr val="BBE0E3"/>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23908" name="AutoShape 4">
            <a:extLst>
              <a:ext uri="{FF2B5EF4-FFF2-40B4-BE49-F238E27FC236}">
                <a16:creationId xmlns:a16="http://schemas.microsoft.com/office/drawing/2014/main" id="{30AFD108-E681-4ACC-9F77-556F02DD89AF}"/>
              </a:ext>
            </a:extLst>
          </p:cNvPr>
          <p:cNvSpPr>
            <a:spLocks noChangeArrowheads="1"/>
          </p:cNvSpPr>
          <p:nvPr/>
        </p:nvSpPr>
        <p:spPr bwMode="auto">
          <a:xfrm>
            <a:off x="920750" y="2641600"/>
            <a:ext cx="4038600" cy="714375"/>
          </a:xfrm>
          <a:prstGeom prst="roundRect">
            <a:avLst>
              <a:gd name="adj" fmla="val 9106"/>
            </a:avLst>
          </a:prstGeom>
          <a:gradFill rotWithShape="1">
            <a:gsLst>
              <a:gs pos="0">
                <a:srgbClr val="333399"/>
              </a:gs>
              <a:gs pos="100000">
                <a:srgbClr val="7171B8"/>
              </a:gs>
            </a:gsLst>
            <a:lin ang="5400000" scaled="1"/>
          </a:gradFill>
          <a:ln w="254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FFFFF"/>
                </a:solidFill>
                <a:latin typeface="Arial" panose="020B0604020202020204" pitchFamily="34" charset="0"/>
                <a:cs typeface="Arial" panose="020B0604020202020204" pitchFamily="34" charset="0"/>
              </a:rPr>
              <a:t>列完整性约束</a:t>
            </a:r>
            <a:endParaRPr kumimoji="0" lang="zh-CN" altLang="zh-CN" sz="2800" b="1">
              <a:solidFill>
                <a:srgbClr val="FFFFFF"/>
              </a:solidFill>
              <a:latin typeface="Arial" panose="020B0604020202020204" pitchFamily="34" charset="0"/>
              <a:cs typeface="Arial" panose="020B0604020202020204" pitchFamily="34" charset="0"/>
            </a:endParaRPr>
          </a:p>
        </p:txBody>
      </p:sp>
      <p:sp>
        <p:nvSpPr>
          <p:cNvPr id="123910" name="AutoShape 6">
            <a:extLst>
              <a:ext uri="{FF2B5EF4-FFF2-40B4-BE49-F238E27FC236}">
                <a16:creationId xmlns:a16="http://schemas.microsoft.com/office/drawing/2014/main" id="{7BB924F2-A240-49B9-8EEE-57486468B33E}"/>
              </a:ext>
            </a:extLst>
          </p:cNvPr>
          <p:cNvSpPr>
            <a:spLocks noChangeArrowheads="1"/>
          </p:cNvSpPr>
          <p:nvPr/>
        </p:nvSpPr>
        <p:spPr bwMode="auto">
          <a:xfrm>
            <a:off x="920750" y="3644900"/>
            <a:ext cx="4038600" cy="733425"/>
          </a:xfrm>
          <a:prstGeom prst="roundRect">
            <a:avLst>
              <a:gd name="adj" fmla="val 9106"/>
            </a:avLst>
          </a:prstGeom>
          <a:gradFill rotWithShape="1">
            <a:gsLst>
              <a:gs pos="0">
                <a:srgbClr val="009999"/>
              </a:gs>
              <a:gs pos="100000">
                <a:srgbClr val="4DB8B8"/>
              </a:gs>
            </a:gsLst>
            <a:lin ang="5400000" scaled="1"/>
          </a:gradFill>
          <a:ln w="254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FFFFF"/>
                </a:solidFill>
                <a:latin typeface="Arial" panose="020B0604020202020204" pitchFamily="34" charset="0"/>
                <a:cs typeface="Arial" panose="020B0604020202020204" pitchFamily="34" charset="0"/>
              </a:rPr>
              <a:t>表完整性约束</a:t>
            </a:r>
            <a:endParaRPr kumimoji="0" lang="zh-CN" altLang="zh-CN" sz="2800" b="1">
              <a:solidFill>
                <a:srgbClr val="FFFFFF"/>
              </a:solidFill>
              <a:latin typeface="Arial" panose="020B0604020202020204" pitchFamily="34" charset="0"/>
              <a:cs typeface="Arial" panose="020B0604020202020204" pitchFamily="34" charset="0"/>
            </a:endParaRPr>
          </a:p>
        </p:txBody>
      </p:sp>
      <p:sp>
        <p:nvSpPr>
          <p:cNvPr id="123911" name="AutoShape 7">
            <a:extLst>
              <a:ext uri="{FF2B5EF4-FFF2-40B4-BE49-F238E27FC236}">
                <a16:creationId xmlns:a16="http://schemas.microsoft.com/office/drawing/2014/main" id="{D695C63D-75EF-4FD6-AAE4-33F751430233}"/>
              </a:ext>
            </a:extLst>
          </p:cNvPr>
          <p:cNvSpPr>
            <a:spLocks noChangeArrowheads="1"/>
          </p:cNvSpPr>
          <p:nvPr/>
        </p:nvSpPr>
        <p:spPr bwMode="auto">
          <a:xfrm>
            <a:off x="6300788" y="2852738"/>
            <a:ext cx="2514600" cy="1219200"/>
          </a:xfrm>
          <a:prstGeom prst="roundRect">
            <a:avLst>
              <a:gd name="adj" fmla="val 9106"/>
            </a:avLst>
          </a:prstGeom>
          <a:noFill/>
          <a:ln>
            <a:noFill/>
          </a:ln>
          <a:effectLst/>
          <a:extLst>
            <a:ext uri="{909E8E84-426E-40DD-AFC4-6F175D3DCCD1}">
              <a14:hiddenFill xmlns:a14="http://schemas.microsoft.com/office/drawing/2010/main">
                <a:solidFill>
                  <a:srgbClr val="9ACDD4"/>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2800" b="1">
                <a:solidFill>
                  <a:srgbClr val="000000"/>
                </a:solidFill>
                <a:effectLst>
                  <a:outerShdw blurRad="38100" dist="38100" dir="2700000" algn="tl">
                    <a:srgbClr val="C0C0C0"/>
                  </a:outerShdw>
                </a:effectLst>
                <a:latin typeface="Arial" panose="020B0604020202020204" pitchFamily="34" charset="0"/>
                <a:cs typeface="Arial" panose="020B0604020202020204" pitchFamily="34" charset="0"/>
              </a:rPr>
              <a:t>实体完整性</a:t>
            </a:r>
          </a:p>
          <a:p>
            <a:pPr algn="ctr"/>
            <a:r>
              <a:rPr kumimoji="0" lang="zh-CN" altLang="en-US" sz="2800" b="1">
                <a:solidFill>
                  <a:srgbClr val="000000"/>
                </a:solidFill>
                <a:effectLst>
                  <a:outerShdw blurRad="38100" dist="38100" dir="2700000" algn="tl">
                    <a:srgbClr val="C0C0C0"/>
                  </a:outerShdw>
                </a:effectLst>
                <a:latin typeface="Arial" panose="020B0604020202020204" pitchFamily="34" charset="0"/>
                <a:cs typeface="Arial" panose="020B0604020202020204" pitchFamily="34" charset="0"/>
              </a:rPr>
              <a:t>约束</a:t>
            </a:r>
            <a:endParaRPr kumimoji="0" lang="zh-CN" altLang="zh-CN" sz="2800" b="1">
              <a:solidFill>
                <a:srgbClr val="000000"/>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sp>
        <p:nvSpPr>
          <p:cNvPr id="527377" name="Rectangle 17">
            <a:extLst>
              <a:ext uri="{FF2B5EF4-FFF2-40B4-BE49-F238E27FC236}">
                <a16:creationId xmlns:a16="http://schemas.microsoft.com/office/drawing/2014/main" id="{4B8E95AA-DF70-4AFA-AA68-F8238D7D2689}"/>
              </a:ext>
            </a:extLst>
          </p:cNvPr>
          <p:cNvSpPr>
            <a:spLocks noChangeArrowheads="1"/>
          </p:cNvSpPr>
          <p:nvPr/>
        </p:nvSpPr>
        <p:spPr bwMode="auto">
          <a:xfrm>
            <a:off x="539750" y="5229225"/>
            <a:ext cx="7775575"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5000"/>
              </a:lnSpc>
              <a:spcBef>
                <a:spcPct val="25000"/>
              </a:spcBef>
            </a:pPr>
            <a:r>
              <a:rPr lang="zh-CN" altLang="en-US" sz="2600" b="1">
                <a:solidFill>
                  <a:srgbClr val="030305"/>
                </a:solidFill>
                <a:effectLst>
                  <a:outerShdw blurRad="38100" dist="38100" dir="2700000" algn="tl">
                    <a:srgbClr val="C0C0C0"/>
                  </a:outerShdw>
                </a:effectLst>
              </a:rPr>
              <a:t>（</a:t>
            </a:r>
            <a:r>
              <a:rPr lang="en-US" altLang="zh-CN" sz="2600" b="1">
                <a:solidFill>
                  <a:srgbClr val="030305"/>
                </a:solidFill>
                <a:effectLst>
                  <a:outerShdw blurRad="38100" dist="38100" dir="2700000" algn="tl">
                    <a:srgbClr val="C0C0C0"/>
                  </a:outerShdw>
                </a:effectLst>
              </a:rPr>
              <a:t>1</a:t>
            </a:r>
            <a:r>
              <a:rPr lang="zh-CN" altLang="en-US" sz="2600" b="1">
                <a:solidFill>
                  <a:srgbClr val="030305"/>
                </a:solidFill>
                <a:effectLst>
                  <a:outerShdw blurRad="38100" dist="38100" dir="2700000" algn="tl">
                    <a:srgbClr val="C0C0C0"/>
                  </a:outerShdw>
                </a:effectLst>
              </a:rPr>
              <a:t>）若主键值不唯一，则</a:t>
            </a:r>
            <a:r>
              <a:rPr lang="en-US" altLang="zh-CN" sz="2600" b="1">
                <a:solidFill>
                  <a:srgbClr val="030305"/>
                </a:solidFill>
                <a:effectLst>
                  <a:outerShdw blurRad="38100" dist="38100" dir="2700000" algn="tl">
                    <a:srgbClr val="C0C0C0"/>
                  </a:outerShdw>
                </a:effectLst>
              </a:rPr>
              <a:t>DBMS</a:t>
            </a:r>
            <a:r>
              <a:rPr lang="zh-CN" altLang="en-US" sz="2600" b="1">
                <a:solidFill>
                  <a:srgbClr val="030305"/>
                </a:solidFill>
                <a:effectLst>
                  <a:outerShdw blurRad="38100" dist="38100" dir="2700000" algn="tl">
                    <a:srgbClr val="C0C0C0"/>
                  </a:outerShdw>
                </a:effectLst>
              </a:rPr>
              <a:t>拒绝插入或修改；</a:t>
            </a:r>
          </a:p>
          <a:p>
            <a:pPr>
              <a:lnSpc>
                <a:spcPct val="95000"/>
              </a:lnSpc>
              <a:spcBef>
                <a:spcPct val="25000"/>
              </a:spcBef>
            </a:pPr>
            <a:r>
              <a:rPr lang="zh-CN" altLang="en-US" sz="2600" b="1">
                <a:solidFill>
                  <a:srgbClr val="030305"/>
                </a:solidFill>
                <a:effectLst>
                  <a:outerShdw blurRad="38100" dist="38100" dir="2700000" algn="tl">
                    <a:srgbClr val="C0C0C0"/>
                  </a:outerShdw>
                </a:effectLst>
              </a:rPr>
              <a:t>（</a:t>
            </a:r>
            <a:r>
              <a:rPr lang="en-US" altLang="zh-CN" sz="2600" b="1">
                <a:solidFill>
                  <a:srgbClr val="030305"/>
                </a:solidFill>
                <a:effectLst>
                  <a:outerShdw blurRad="38100" dist="38100" dir="2700000" algn="tl">
                    <a:srgbClr val="C0C0C0"/>
                  </a:outerShdw>
                </a:effectLst>
              </a:rPr>
              <a:t>2</a:t>
            </a:r>
            <a:r>
              <a:rPr lang="zh-CN" altLang="en-US" sz="2600" b="1">
                <a:solidFill>
                  <a:srgbClr val="030305"/>
                </a:solidFill>
                <a:effectLst>
                  <a:outerShdw blurRad="38100" dist="38100" dir="2700000" algn="tl">
                    <a:srgbClr val="C0C0C0"/>
                  </a:outerShdw>
                </a:effectLst>
              </a:rPr>
              <a:t>）若主键属性中有一个主属性值为空，就拒绝插入或修改。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196"/>
    </mc:Choice>
    <mc:Fallback xmlns="">
      <p:transition spd="slow" advTm="4619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7365"/>
                                        </p:tgtEl>
                                        <p:attrNameLst>
                                          <p:attrName>style.visibility</p:attrName>
                                        </p:attrNameLst>
                                      </p:cBhvr>
                                      <p:to>
                                        <p:strVal val="visible"/>
                                      </p:to>
                                    </p:set>
                                    <p:animEffect transition="in" filter="wipe(up)">
                                      <p:cBhvr>
                                        <p:cTn id="7" dur="500"/>
                                        <p:tgtEl>
                                          <p:spTgt spid="5273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7366"/>
                                        </p:tgtEl>
                                        <p:attrNameLst>
                                          <p:attrName>style.visibility</p:attrName>
                                        </p:attrNameLst>
                                      </p:cBhvr>
                                      <p:to>
                                        <p:strVal val="visible"/>
                                      </p:to>
                                    </p:set>
                                    <p:animEffect transition="in" filter="wipe(left)">
                                      <p:cBhvr>
                                        <p:cTn id="12" dur="500"/>
                                        <p:tgtEl>
                                          <p:spTgt spid="5273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907"/>
                                        </p:tgtEl>
                                        <p:attrNameLst>
                                          <p:attrName>style.visibility</p:attrName>
                                        </p:attrNameLst>
                                      </p:cBhvr>
                                      <p:to>
                                        <p:strVal val="visible"/>
                                      </p:to>
                                    </p:set>
                                    <p:animEffect transition="in" filter="wipe(left)">
                                      <p:cBhvr>
                                        <p:cTn id="17" dur="500"/>
                                        <p:tgtEl>
                                          <p:spTgt spid="123907"/>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23911"/>
                                        </p:tgtEl>
                                        <p:attrNameLst>
                                          <p:attrName>style.visibility</p:attrName>
                                        </p:attrNameLst>
                                      </p:cBhvr>
                                      <p:to>
                                        <p:strVal val="visible"/>
                                      </p:to>
                                    </p:set>
                                    <p:animEffect transition="in" filter="wipe(left)">
                                      <p:cBhvr>
                                        <p:cTn id="21" dur="500"/>
                                        <p:tgtEl>
                                          <p:spTgt spid="1239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3908"/>
                                        </p:tgtEl>
                                        <p:attrNameLst>
                                          <p:attrName>style.visibility</p:attrName>
                                        </p:attrNameLst>
                                      </p:cBhvr>
                                      <p:to>
                                        <p:strVal val="visible"/>
                                      </p:to>
                                    </p:set>
                                    <p:animEffect transition="in" filter="wipe(left)">
                                      <p:cBhvr>
                                        <p:cTn id="26" dur="500"/>
                                        <p:tgtEl>
                                          <p:spTgt spid="12390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3910"/>
                                        </p:tgtEl>
                                        <p:attrNameLst>
                                          <p:attrName>style.visibility</p:attrName>
                                        </p:attrNameLst>
                                      </p:cBhvr>
                                      <p:to>
                                        <p:strVal val="visible"/>
                                      </p:to>
                                    </p:set>
                                    <p:animEffect transition="in" filter="wipe(left)">
                                      <p:cBhvr>
                                        <p:cTn id="31" dur="500"/>
                                        <p:tgtEl>
                                          <p:spTgt spid="1239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527367"/>
                                        </p:tgtEl>
                                        <p:attrNameLst>
                                          <p:attrName>style.visibility</p:attrName>
                                        </p:attrNameLst>
                                      </p:cBhvr>
                                      <p:to>
                                        <p:strVal val="visible"/>
                                      </p:to>
                                    </p:set>
                                    <p:anim calcmode="lin" valueType="num">
                                      <p:cBhvr>
                                        <p:cTn id="36" dur="2000" fill="hold"/>
                                        <p:tgtEl>
                                          <p:spTgt spid="527367"/>
                                        </p:tgtEl>
                                        <p:attrNameLst>
                                          <p:attrName>ppt_w</p:attrName>
                                        </p:attrNameLst>
                                      </p:cBhvr>
                                      <p:tavLst>
                                        <p:tav tm="0">
                                          <p:val>
                                            <p:fltVal val="0"/>
                                          </p:val>
                                        </p:tav>
                                        <p:tav tm="100000">
                                          <p:val>
                                            <p:strVal val="#ppt_w"/>
                                          </p:val>
                                        </p:tav>
                                      </p:tavLst>
                                    </p:anim>
                                    <p:anim calcmode="lin" valueType="num">
                                      <p:cBhvr>
                                        <p:cTn id="37" dur="2000" fill="hold"/>
                                        <p:tgtEl>
                                          <p:spTgt spid="527367"/>
                                        </p:tgtEl>
                                        <p:attrNameLst>
                                          <p:attrName>ppt_h</p:attrName>
                                        </p:attrNameLst>
                                      </p:cBhvr>
                                      <p:tavLst>
                                        <p:tav tm="0">
                                          <p:val>
                                            <p:strVal val="#ppt_h"/>
                                          </p:val>
                                        </p:tav>
                                        <p:tav tm="100000">
                                          <p:val>
                                            <p:strVal val="#ppt_h"/>
                                          </p:val>
                                        </p:tav>
                                      </p:tavLst>
                                    </p:anim>
                                  </p:childTnLst>
                                </p:cTn>
                              </p:par>
                            </p:childTnLst>
                          </p:cTn>
                        </p:par>
                        <p:par>
                          <p:cTn id="38" fill="hold" nodeType="afterGroup">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527377">
                                            <p:txEl>
                                              <p:pRg st="0" end="0"/>
                                            </p:txEl>
                                          </p:spTgt>
                                        </p:tgtEl>
                                        <p:attrNameLst>
                                          <p:attrName>style.visibility</p:attrName>
                                        </p:attrNameLst>
                                      </p:cBhvr>
                                      <p:to>
                                        <p:strVal val="visible"/>
                                      </p:to>
                                    </p:set>
                                    <p:animEffect transition="in" filter="wipe(left)">
                                      <p:cBhvr>
                                        <p:cTn id="41" dur="500"/>
                                        <p:tgtEl>
                                          <p:spTgt spid="527377">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7377">
                                            <p:txEl>
                                              <p:pRg st="1" end="1"/>
                                            </p:txEl>
                                          </p:spTgt>
                                        </p:tgtEl>
                                        <p:attrNameLst>
                                          <p:attrName>style.visibility</p:attrName>
                                        </p:attrNameLst>
                                      </p:cBhvr>
                                      <p:to>
                                        <p:strVal val="visible"/>
                                      </p:to>
                                    </p:set>
                                    <p:animEffect transition="in" filter="wipe(left)">
                                      <p:cBhvr>
                                        <p:cTn id="46" dur="500"/>
                                        <p:tgtEl>
                                          <p:spTgt spid="52737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5" grpId="0" animBg="1"/>
      <p:bldP spid="527366" grpId="0"/>
      <p:bldP spid="123907" grpId="0" animBg="1"/>
      <p:bldP spid="123908" grpId="0" animBg="1"/>
      <p:bldP spid="123910" grpId="0" animBg="1"/>
      <p:bldP spid="123911" grpId="0"/>
      <p:bldP spid="52737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F8625B18-6753-4C39-BF6F-5648CBB48940}"/>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三、参照完整性约束</a:t>
            </a:r>
          </a:p>
        </p:txBody>
      </p:sp>
      <p:sp>
        <p:nvSpPr>
          <p:cNvPr id="525316" name="AutoShape 4">
            <a:extLst>
              <a:ext uri="{FF2B5EF4-FFF2-40B4-BE49-F238E27FC236}">
                <a16:creationId xmlns:a16="http://schemas.microsoft.com/office/drawing/2014/main" id="{B63D079B-5780-4295-A80C-56539F886C81}"/>
              </a:ext>
            </a:extLst>
          </p:cNvPr>
          <p:cNvSpPr>
            <a:spLocks noChangeArrowheads="1"/>
          </p:cNvSpPr>
          <p:nvPr/>
        </p:nvSpPr>
        <p:spPr bwMode="auto">
          <a:xfrm>
            <a:off x="395288" y="1196975"/>
            <a:ext cx="8424862" cy="3887788"/>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25317" name="Rectangle 5">
            <a:extLst>
              <a:ext uri="{FF2B5EF4-FFF2-40B4-BE49-F238E27FC236}">
                <a16:creationId xmlns:a16="http://schemas.microsoft.com/office/drawing/2014/main" id="{F07057CF-A764-4694-B9B5-3D8F00B9B0B8}"/>
              </a:ext>
            </a:extLst>
          </p:cNvPr>
          <p:cNvSpPr>
            <a:spLocks noChangeArrowheads="1"/>
          </p:cNvSpPr>
          <p:nvPr/>
        </p:nvSpPr>
        <p:spPr bwMode="auto">
          <a:xfrm>
            <a:off x="538163" y="1638300"/>
            <a:ext cx="8137525"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参照完整性约束：相关联的两个表之间，</a:t>
            </a:r>
            <a:r>
              <a:rPr lang="en-US" altLang="zh-CN" sz="2800" b="1">
                <a:solidFill>
                  <a:srgbClr val="000000"/>
                </a:solidFill>
                <a:effectLst>
                  <a:outerShdw blurRad="38100" dist="38100" dir="2700000" algn="tl">
                    <a:srgbClr val="C0C0C0"/>
                  </a:outerShdw>
                </a:effectLst>
                <a:latin typeface="Tahoma" panose="020B0604030504040204" pitchFamily="34" charset="0"/>
              </a:rPr>
              <a:t>R</a:t>
            </a:r>
            <a:r>
              <a:rPr lang="en-US" altLang="zh-CN" sz="2800" b="1" baseline="-25000">
                <a:solidFill>
                  <a:srgbClr val="000000"/>
                </a:solidFill>
                <a:effectLst>
                  <a:outerShdw blurRad="38100" dist="38100" dir="2700000" algn="tl">
                    <a:srgbClr val="C0C0C0"/>
                  </a:outerShdw>
                </a:effectLst>
                <a:latin typeface="Tahoma" panose="020B0604030504040204" pitchFamily="34" charset="0"/>
              </a:rPr>
              <a:t>1</a:t>
            </a:r>
            <a:r>
              <a:rPr lang="zh-CN" altLang="en-US" sz="2800" b="1">
                <a:solidFill>
                  <a:srgbClr val="000000"/>
                </a:solidFill>
                <a:effectLst>
                  <a:outerShdw blurRad="38100" dist="38100" dir="2700000" algn="tl">
                    <a:srgbClr val="C0C0C0"/>
                  </a:outerShdw>
                </a:effectLst>
                <a:latin typeface="Tahoma" panose="020B0604030504040204" pitchFamily="34" charset="0"/>
              </a:rPr>
              <a:t>的主键与</a:t>
            </a:r>
            <a:r>
              <a:rPr lang="en-US" altLang="zh-CN" sz="2800" b="1">
                <a:solidFill>
                  <a:srgbClr val="000000"/>
                </a:solidFill>
                <a:effectLst>
                  <a:outerShdw blurRad="38100" dist="38100" dir="2700000" algn="tl">
                    <a:srgbClr val="C0C0C0"/>
                  </a:outerShdw>
                </a:effectLst>
                <a:latin typeface="Tahoma" panose="020B0604030504040204" pitchFamily="34" charset="0"/>
              </a:rPr>
              <a:t>R</a:t>
            </a:r>
            <a:r>
              <a:rPr lang="en-US" altLang="zh-CN" sz="2800" b="1" baseline="-25000">
                <a:solidFill>
                  <a:srgbClr val="000000"/>
                </a:solidFill>
                <a:effectLst>
                  <a:outerShdw blurRad="38100" dist="38100" dir="2700000" algn="tl">
                    <a:srgbClr val="C0C0C0"/>
                  </a:outerShdw>
                </a:effectLst>
                <a:latin typeface="Tahoma" panose="020B0604030504040204" pitchFamily="34" charset="0"/>
              </a:rPr>
              <a:t>2</a:t>
            </a:r>
            <a:r>
              <a:rPr lang="zh-CN" altLang="en-US" sz="2800" b="1">
                <a:solidFill>
                  <a:srgbClr val="000000"/>
                </a:solidFill>
                <a:effectLst>
                  <a:outerShdw blurRad="38100" dist="38100" dir="2700000" algn="tl">
                    <a:srgbClr val="C0C0C0"/>
                  </a:outerShdw>
                </a:effectLst>
                <a:latin typeface="Tahoma" panose="020B0604030504040204" pitchFamily="34" charset="0"/>
              </a:rPr>
              <a:t>的外键之间的约束关系。</a:t>
            </a:r>
          </a:p>
          <a:p>
            <a:pPr>
              <a:lnSpc>
                <a:spcPct val="120000"/>
              </a:lnSpc>
              <a:spcBef>
                <a:spcPct val="50000"/>
              </a:spcBef>
            </a:pPr>
            <a:r>
              <a:rPr lang="zh-CN" altLang="en-US" sz="2800" b="1">
                <a:solidFill>
                  <a:srgbClr val="000000"/>
                </a:solidFill>
                <a:effectLst>
                  <a:outerShdw blurRad="38100" dist="38100" dir="2700000" algn="tl">
                    <a:srgbClr val="C0C0C0"/>
                  </a:outerShdw>
                </a:effectLst>
                <a:latin typeface="Tahoma" panose="020B0604030504040204" pitchFamily="34" charset="0"/>
              </a:rPr>
              <a:t>       当插入、删除、更新一个表的数据时，通过参照引用相互关联的另一个表中的数据，就可检查对表中数据操作是否正确。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691"/>
    </mc:Choice>
    <mc:Fallback xmlns="">
      <p:transition spd="slow" advTm="3169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5316"/>
                                        </p:tgtEl>
                                        <p:attrNameLst>
                                          <p:attrName>style.visibility</p:attrName>
                                        </p:attrNameLst>
                                      </p:cBhvr>
                                      <p:to>
                                        <p:strVal val="visible"/>
                                      </p:to>
                                    </p:set>
                                    <p:animEffect transition="in" filter="wipe(up)">
                                      <p:cBhvr>
                                        <p:cTn id="7" dur="500"/>
                                        <p:tgtEl>
                                          <p:spTgt spid="52531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25317">
                                            <p:txEl>
                                              <p:pRg st="0" end="0"/>
                                            </p:txEl>
                                          </p:spTgt>
                                        </p:tgtEl>
                                        <p:attrNameLst>
                                          <p:attrName>style.visibility</p:attrName>
                                        </p:attrNameLst>
                                      </p:cBhvr>
                                      <p:to>
                                        <p:strVal val="visible"/>
                                      </p:to>
                                    </p:set>
                                    <p:animEffect transition="in" filter="wipe(left)">
                                      <p:cBhvr>
                                        <p:cTn id="11" dur="500"/>
                                        <p:tgtEl>
                                          <p:spTgt spid="52531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25317">
                                            <p:txEl>
                                              <p:pRg st="1" end="1"/>
                                            </p:txEl>
                                          </p:spTgt>
                                        </p:tgtEl>
                                        <p:attrNameLst>
                                          <p:attrName>style.visibility</p:attrName>
                                        </p:attrNameLst>
                                      </p:cBhvr>
                                      <p:to>
                                        <p:strVal val="visible"/>
                                      </p:to>
                                    </p:set>
                                    <p:animEffect transition="in" filter="wipe(left)">
                                      <p:cBhvr>
                                        <p:cTn id="16" dur="500"/>
                                        <p:tgtEl>
                                          <p:spTgt spid="5253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6" grpId="0" animBg="1"/>
      <p:bldP spid="52531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a:extLst>
              <a:ext uri="{FF2B5EF4-FFF2-40B4-BE49-F238E27FC236}">
                <a16:creationId xmlns:a16="http://schemas.microsoft.com/office/drawing/2014/main" id="{98C7F113-9B0B-4E80-80F4-C7E0C333E60E}"/>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三、参照完整性约束</a:t>
            </a:r>
          </a:p>
        </p:txBody>
      </p:sp>
      <p:sp>
        <p:nvSpPr>
          <p:cNvPr id="534531" name="Rectangle 3">
            <a:extLst>
              <a:ext uri="{FF2B5EF4-FFF2-40B4-BE49-F238E27FC236}">
                <a16:creationId xmlns:a16="http://schemas.microsoft.com/office/drawing/2014/main" id="{08BEB117-9933-413C-8756-7FE86C43A7DA}"/>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、参照完整性规则</a:t>
            </a:r>
          </a:p>
        </p:txBody>
      </p:sp>
      <p:sp>
        <p:nvSpPr>
          <p:cNvPr id="534533" name="AutoShape 5">
            <a:extLst>
              <a:ext uri="{FF2B5EF4-FFF2-40B4-BE49-F238E27FC236}">
                <a16:creationId xmlns:a16="http://schemas.microsoft.com/office/drawing/2014/main" id="{26329F13-A000-43BC-AD54-6C7A2C80BBF0}"/>
              </a:ext>
            </a:extLst>
          </p:cNvPr>
          <p:cNvSpPr>
            <a:spLocks noChangeArrowheads="1"/>
          </p:cNvSpPr>
          <p:nvPr/>
        </p:nvSpPr>
        <p:spPr bwMode="auto">
          <a:xfrm>
            <a:off x="395288" y="1989138"/>
            <a:ext cx="8424862" cy="1368425"/>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34534" name="Rectangle 6">
            <a:extLst>
              <a:ext uri="{FF2B5EF4-FFF2-40B4-BE49-F238E27FC236}">
                <a16:creationId xmlns:a16="http://schemas.microsoft.com/office/drawing/2014/main" id="{93C9966D-4804-49D9-9793-E0E87EBDC5FA}"/>
              </a:ext>
            </a:extLst>
          </p:cNvPr>
          <p:cNvSpPr>
            <a:spLocks noChangeArrowheads="1"/>
          </p:cNvSpPr>
          <p:nvPr/>
        </p:nvSpPr>
        <p:spPr bwMode="auto">
          <a:xfrm>
            <a:off x="468313" y="2085975"/>
            <a:ext cx="827881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外键表中外键的取值或者为空值，或者为主键表中主键的值。</a:t>
            </a:r>
          </a:p>
        </p:txBody>
      </p:sp>
      <p:sp>
        <p:nvSpPr>
          <p:cNvPr id="534535" name="Rectangle 7">
            <a:extLst>
              <a:ext uri="{FF2B5EF4-FFF2-40B4-BE49-F238E27FC236}">
                <a16:creationId xmlns:a16="http://schemas.microsoft.com/office/drawing/2014/main" id="{4AAAB98B-874E-47F4-AF5A-904C067BC6F6}"/>
              </a:ext>
            </a:extLst>
          </p:cNvPr>
          <p:cNvSpPr>
            <a:spLocks noChangeArrowheads="1"/>
          </p:cNvSpPr>
          <p:nvPr/>
        </p:nvSpPr>
        <p:spPr bwMode="auto">
          <a:xfrm>
            <a:off x="898525" y="3506788"/>
            <a:ext cx="7705725" cy="323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pPr>
            <a:r>
              <a:rPr lang="en-US" altLang="zh-CN" sz="2400"/>
              <a:t>CREATE TABLE SC</a:t>
            </a:r>
          </a:p>
          <a:p>
            <a:pPr>
              <a:lnSpc>
                <a:spcPct val="110000"/>
              </a:lnSpc>
            </a:pPr>
            <a:r>
              <a:rPr lang="en-US" altLang="zh-CN" sz="2400"/>
              <a:t>       (S# CHAR(9),</a:t>
            </a:r>
          </a:p>
          <a:p>
            <a:pPr>
              <a:lnSpc>
                <a:spcPct val="110000"/>
              </a:lnSpc>
            </a:pPr>
            <a:r>
              <a:rPr lang="en-US" altLang="zh-CN" sz="2400"/>
              <a:t>        C# CHAR(7)</a:t>
            </a:r>
            <a:r>
              <a:rPr lang="zh-CN" altLang="en-US" sz="2400"/>
              <a:t>，</a:t>
            </a:r>
          </a:p>
          <a:p>
            <a:pPr>
              <a:lnSpc>
                <a:spcPct val="110000"/>
              </a:lnSpc>
            </a:pPr>
            <a:r>
              <a:rPr lang="zh-CN" altLang="en-US" sz="2400"/>
              <a:t>        </a:t>
            </a:r>
            <a:r>
              <a:rPr lang="en-US" altLang="zh-CN" sz="2400"/>
              <a:t>GRADE INT,</a:t>
            </a:r>
          </a:p>
          <a:p>
            <a:pPr>
              <a:lnSpc>
                <a:spcPct val="110000"/>
              </a:lnSpc>
            </a:pPr>
            <a:r>
              <a:rPr lang="en-US" altLang="zh-CN" sz="2400"/>
              <a:t>        PRIMARY KEY(S#</a:t>
            </a:r>
            <a:r>
              <a:rPr lang="zh-CN" altLang="en-US" sz="2400"/>
              <a:t>，</a:t>
            </a:r>
            <a:r>
              <a:rPr lang="en-US" altLang="zh-CN" sz="2400"/>
              <a:t>C#)</a:t>
            </a:r>
            <a:r>
              <a:rPr lang="zh-CN" altLang="en-US" sz="2400"/>
              <a:t>，</a:t>
            </a:r>
          </a:p>
          <a:p>
            <a:pPr>
              <a:lnSpc>
                <a:spcPct val="110000"/>
              </a:lnSpc>
              <a:spcBef>
                <a:spcPct val="45000"/>
              </a:spcBef>
            </a:pPr>
            <a:r>
              <a:rPr lang="zh-CN" altLang="en-US" sz="2400"/>
              <a:t>        </a:t>
            </a:r>
            <a:r>
              <a:rPr lang="en-US" altLang="zh-CN" sz="2400"/>
              <a:t>FOREIGN KEY(C#) REFERENCES C(C#))</a:t>
            </a:r>
            <a:r>
              <a:rPr lang="zh-CN" altLang="en-US" sz="2400"/>
              <a:t>；</a:t>
            </a:r>
          </a:p>
        </p:txBody>
      </p:sp>
      <p:sp>
        <p:nvSpPr>
          <p:cNvPr id="534536" name="Line 8">
            <a:extLst>
              <a:ext uri="{FF2B5EF4-FFF2-40B4-BE49-F238E27FC236}">
                <a16:creationId xmlns:a16="http://schemas.microsoft.com/office/drawing/2014/main" id="{B3FE1234-3B50-4BA0-986E-8C18EFA7EE52}"/>
              </a:ext>
            </a:extLst>
          </p:cNvPr>
          <p:cNvSpPr>
            <a:spLocks noChangeShapeType="1"/>
          </p:cNvSpPr>
          <p:nvPr/>
        </p:nvSpPr>
        <p:spPr bwMode="auto">
          <a:xfrm>
            <a:off x="1546225" y="6453188"/>
            <a:ext cx="6480175"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454"/>
    </mc:Choice>
    <mc:Fallback xmlns="">
      <p:transition spd="slow" advTm="1045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4531"/>
                                        </p:tgtEl>
                                        <p:attrNameLst>
                                          <p:attrName>style.visibility</p:attrName>
                                        </p:attrNameLst>
                                      </p:cBhvr>
                                      <p:to>
                                        <p:strVal val="visible"/>
                                      </p:to>
                                    </p:set>
                                    <p:animEffect transition="in" filter="wipe(left)">
                                      <p:cBhvr>
                                        <p:cTn id="7" dur="500"/>
                                        <p:tgtEl>
                                          <p:spTgt spid="5345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34533"/>
                                        </p:tgtEl>
                                        <p:attrNameLst>
                                          <p:attrName>style.visibility</p:attrName>
                                        </p:attrNameLst>
                                      </p:cBhvr>
                                      <p:to>
                                        <p:strVal val="visible"/>
                                      </p:to>
                                    </p:set>
                                    <p:animEffect transition="in" filter="wipe(up)">
                                      <p:cBhvr>
                                        <p:cTn id="12" dur="500"/>
                                        <p:tgtEl>
                                          <p:spTgt spid="53453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34534"/>
                                        </p:tgtEl>
                                        <p:attrNameLst>
                                          <p:attrName>style.visibility</p:attrName>
                                        </p:attrNameLst>
                                      </p:cBhvr>
                                      <p:to>
                                        <p:strVal val="visible"/>
                                      </p:to>
                                    </p:set>
                                    <p:animEffect transition="in" filter="wipe(left)">
                                      <p:cBhvr>
                                        <p:cTn id="16" dur="500"/>
                                        <p:tgtEl>
                                          <p:spTgt spid="53453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34535">
                                            <p:txEl>
                                              <p:pRg st="0" end="0"/>
                                            </p:txEl>
                                          </p:spTgt>
                                        </p:tgtEl>
                                        <p:attrNameLst>
                                          <p:attrName>style.visibility</p:attrName>
                                        </p:attrNameLst>
                                      </p:cBhvr>
                                      <p:to>
                                        <p:strVal val="visible"/>
                                      </p:to>
                                    </p:set>
                                    <p:animEffect transition="in" filter="wipe(left)">
                                      <p:cBhvr>
                                        <p:cTn id="21" dur="500"/>
                                        <p:tgtEl>
                                          <p:spTgt spid="534535">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34535">
                                            <p:txEl>
                                              <p:pRg st="1" end="1"/>
                                            </p:txEl>
                                          </p:spTgt>
                                        </p:tgtEl>
                                        <p:attrNameLst>
                                          <p:attrName>style.visibility</p:attrName>
                                        </p:attrNameLst>
                                      </p:cBhvr>
                                      <p:to>
                                        <p:strVal val="visible"/>
                                      </p:to>
                                    </p:set>
                                    <p:animEffect transition="in" filter="wipe(left)">
                                      <p:cBhvr>
                                        <p:cTn id="24" dur="500"/>
                                        <p:tgtEl>
                                          <p:spTgt spid="534535">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34535">
                                            <p:txEl>
                                              <p:pRg st="2" end="2"/>
                                            </p:txEl>
                                          </p:spTgt>
                                        </p:tgtEl>
                                        <p:attrNameLst>
                                          <p:attrName>style.visibility</p:attrName>
                                        </p:attrNameLst>
                                      </p:cBhvr>
                                      <p:to>
                                        <p:strVal val="visible"/>
                                      </p:to>
                                    </p:set>
                                    <p:animEffect transition="in" filter="wipe(left)">
                                      <p:cBhvr>
                                        <p:cTn id="27" dur="500"/>
                                        <p:tgtEl>
                                          <p:spTgt spid="534535">
                                            <p:txEl>
                                              <p:pRg st="2" end="2"/>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34535">
                                            <p:txEl>
                                              <p:pRg st="3" end="3"/>
                                            </p:txEl>
                                          </p:spTgt>
                                        </p:tgtEl>
                                        <p:attrNameLst>
                                          <p:attrName>style.visibility</p:attrName>
                                        </p:attrNameLst>
                                      </p:cBhvr>
                                      <p:to>
                                        <p:strVal val="visible"/>
                                      </p:to>
                                    </p:set>
                                    <p:animEffect transition="in" filter="wipe(left)">
                                      <p:cBhvr>
                                        <p:cTn id="30" dur="500"/>
                                        <p:tgtEl>
                                          <p:spTgt spid="534535">
                                            <p:txEl>
                                              <p:pRg st="3" end="3"/>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534535">
                                            <p:txEl>
                                              <p:pRg st="4" end="4"/>
                                            </p:txEl>
                                          </p:spTgt>
                                        </p:tgtEl>
                                        <p:attrNameLst>
                                          <p:attrName>style.visibility</p:attrName>
                                        </p:attrNameLst>
                                      </p:cBhvr>
                                      <p:to>
                                        <p:strVal val="visible"/>
                                      </p:to>
                                    </p:set>
                                    <p:animEffect transition="in" filter="wipe(left)">
                                      <p:cBhvr>
                                        <p:cTn id="33" dur="500"/>
                                        <p:tgtEl>
                                          <p:spTgt spid="534535">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34535">
                                            <p:txEl>
                                              <p:pRg st="5" end="5"/>
                                            </p:txEl>
                                          </p:spTgt>
                                        </p:tgtEl>
                                        <p:attrNameLst>
                                          <p:attrName>style.visibility</p:attrName>
                                        </p:attrNameLst>
                                      </p:cBhvr>
                                      <p:to>
                                        <p:strVal val="visible"/>
                                      </p:to>
                                    </p:set>
                                    <p:animEffect transition="in" filter="wipe(left)">
                                      <p:cBhvr>
                                        <p:cTn id="38" dur="500"/>
                                        <p:tgtEl>
                                          <p:spTgt spid="534535">
                                            <p:txEl>
                                              <p:pRg st="5" end="5"/>
                                            </p:txEl>
                                          </p:spTgt>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534536"/>
                                        </p:tgtEl>
                                        <p:attrNameLst>
                                          <p:attrName>style.visibility</p:attrName>
                                        </p:attrNameLst>
                                      </p:cBhvr>
                                      <p:to>
                                        <p:strVal val="visible"/>
                                      </p:to>
                                    </p:set>
                                    <p:animEffect transition="in" filter="wipe(left)">
                                      <p:cBhvr>
                                        <p:cTn id="42" dur="500"/>
                                        <p:tgtEl>
                                          <p:spTgt spid="534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p:bldP spid="534533" grpId="0" animBg="1"/>
      <p:bldP spid="534534" grpId="0"/>
      <p:bldP spid="53453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a:extLst>
              <a:ext uri="{FF2B5EF4-FFF2-40B4-BE49-F238E27FC236}">
                <a16:creationId xmlns:a16="http://schemas.microsoft.com/office/drawing/2014/main" id="{A35846C6-B7CE-408B-8822-B104647D04C2}"/>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三、参照完整性约束</a:t>
            </a:r>
          </a:p>
        </p:txBody>
      </p:sp>
      <p:sp>
        <p:nvSpPr>
          <p:cNvPr id="526339" name="Rectangle 3">
            <a:extLst>
              <a:ext uri="{FF2B5EF4-FFF2-40B4-BE49-F238E27FC236}">
                <a16:creationId xmlns:a16="http://schemas.microsoft.com/office/drawing/2014/main" id="{471FD9EF-51FE-4D8A-958A-1023486EE71E}"/>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、参照完整性的级联删除及修改</a:t>
            </a:r>
          </a:p>
        </p:txBody>
      </p:sp>
      <p:sp>
        <p:nvSpPr>
          <p:cNvPr id="526340" name="AutoShape 4">
            <a:extLst>
              <a:ext uri="{FF2B5EF4-FFF2-40B4-BE49-F238E27FC236}">
                <a16:creationId xmlns:a16="http://schemas.microsoft.com/office/drawing/2014/main" id="{6709C92D-69DB-42B4-A9BF-593A4235AEBB}"/>
              </a:ext>
            </a:extLst>
          </p:cNvPr>
          <p:cNvSpPr>
            <a:spLocks noChangeArrowheads="1"/>
          </p:cNvSpPr>
          <p:nvPr/>
        </p:nvSpPr>
        <p:spPr bwMode="auto">
          <a:xfrm>
            <a:off x="395288" y="1916113"/>
            <a:ext cx="8424862" cy="4535487"/>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26341" name="Rectangle 5">
            <a:extLst>
              <a:ext uri="{FF2B5EF4-FFF2-40B4-BE49-F238E27FC236}">
                <a16:creationId xmlns:a16="http://schemas.microsoft.com/office/drawing/2014/main" id="{CD4054C1-6A53-4DB8-9C04-CBD85508C97A}"/>
              </a:ext>
            </a:extLst>
          </p:cNvPr>
          <p:cNvSpPr>
            <a:spLocks noChangeArrowheads="1"/>
          </p:cNvSpPr>
          <p:nvPr/>
        </p:nvSpPr>
        <p:spPr bwMode="auto">
          <a:xfrm>
            <a:off x="468313" y="2012950"/>
            <a:ext cx="8278812" cy="425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r>
              <a:rPr lang="en-US" altLang="zh-CN"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1</a:t>
            </a:r>
            <a:r>
              <a:rPr lang="zh-CN" altLang="en-US"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）限制策略</a:t>
            </a:r>
          </a:p>
          <a:p>
            <a:pPr>
              <a:lnSpc>
                <a:spcPct val="120000"/>
              </a:lnSpc>
            </a:pPr>
            <a:r>
              <a:rPr lang="en-US" altLang="zh-CN" sz="2800" b="1">
                <a:solidFill>
                  <a:srgbClr val="000000"/>
                </a:solidFill>
                <a:effectLst>
                  <a:outerShdw blurRad="38100" dist="38100" dir="2700000" algn="tl">
                    <a:srgbClr val="C0C0C0"/>
                  </a:outerShdw>
                </a:effectLst>
              </a:rPr>
              <a:t>     </a:t>
            </a:r>
            <a:r>
              <a:rPr lang="en-US" altLang="zh-CN" sz="2400" b="1">
                <a:solidFill>
                  <a:srgbClr val="000000"/>
                </a:solidFill>
                <a:effectLst>
                  <a:outerShdw blurRad="38100" dist="38100" dir="2700000" algn="tl">
                    <a:srgbClr val="C0C0C0"/>
                  </a:outerShdw>
                </a:effectLst>
              </a:rPr>
              <a:t>SQL</a:t>
            </a:r>
            <a:r>
              <a:rPr lang="zh-CN" altLang="en-US" sz="2400" b="1">
                <a:solidFill>
                  <a:srgbClr val="000000"/>
                </a:solidFill>
                <a:effectLst>
                  <a:outerShdw blurRad="38100" dist="38100" dir="2700000" algn="tl">
                    <a:srgbClr val="C0C0C0"/>
                  </a:outerShdw>
                </a:effectLst>
              </a:rPr>
              <a:t>默认策略，任何违反参照完整性的更新均被拒绝。</a:t>
            </a:r>
          </a:p>
          <a:p>
            <a:pPr>
              <a:lnSpc>
                <a:spcPct val="120000"/>
              </a:lnSpc>
            </a:pPr>
            <a:r>
              <a:rPr lang="zh-CN" altLang="en-US"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r>
              <a:rPr lang="en-US" altLang="zh-CN"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2</a:t>
            </a:r>
            <a:r>
              <a:rPr lang="zh-CN" altLang="en-US" sz="2800" b="1">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）连带策略</a:t>
            </a:r>
          </a:p>
          <a:p>
            <a:pPr>
              <a:lnSpc>
                <a:spcPct val="120000"/>
              </a:lnSpc>
            </a:pPr>
            <a:r>
              <a:rPr lang="zh-CN" altLang="en-US" sz="2400" b="1">
                <a:solidFill>
                  <a:srgbClr val="000000"/>
                </a:solidFill>
                <a:effectLst>
                  <a:outerShdw blurRad="38100" dist="38100" dir="2700000" algn="tl">
                    <a:srgbClr val="C0C0C0"/>
                  </a:outerShdw>
                </a:effectLst>
              </a:rPr>
              <a:t>       </a:t>
            </a:r>
            <a:r>
              <a:rPr lang="zh-CN" altLang="en-US" sz="2400" b="1">
                <a:solidFill>
                  <a:srgbClr val="A20070"/>
                </a:solidFill>
                <a:effectLst>
                  <a:outerShdw blurRad="38100" dist="38100" dir="2700000" algn="tl">
                    <a:srgbClr val="C0C0C0"/>
                  </a:outerShdw>
                </a:effectLst>
              </a:rPr>
              <a:t>① </a:t>
            </a:r>
            <a:r>
              <a:rPr lang="en-US" altLang="zh-CN" sz="2400" b="1">
                <a:solidFill>
                  <a:srgbClr val="A20070"/>
                </a:solidFill>
                <a:effectLst>
                  <a:outerShdw blurRad="38100" dist="38100" dir="2700000" algn="tl">
                    <a:srgbClr val="C0C0C0"/>
                  </a:outerShdw>
                </a:effectLst>
              </a:rPr>
              <a:t>ON DELETE CASCADE</a:t>
            </a:r>
          </a:p>
          <a:p>
            <a:pPr>
              <a:lnSpc>
                <a:spcPct val="120000"/>
              </a:lnSpc>
            </a:pPr>
            <a:r>
              <a:rPr lang="en-US" altLang="zh-CN" sz="2400" b="1">
                <a:solidFill>
                  <a:srgbClr val="000000"/>
                </a:solidFill>
                <a:effectLst>
                  <a:outerShdw blurRad="38100" dist="38100" dir="2700000" algn="tl">
                    <a:srgbClr val="C0C0C0"/>
                  </a:outerShdw>
                </a:effectLst>
              </a:rPr>
              <a:t>       </a:t>
            </a:r>
            <a:r>
              <a:rPr lang="zh-CN" altLang="en-US" sz="2400" b="1">
                <a:solidFill>
                  <a:srgbClr val="000000"/>
                </a:solidFill>
                <a:effectLst>
                  <a:outerShdw blurRad="38100" dist="38100" dir="2700000" algn="tl">
                    <a:srgbClr val="C0C0C0"/>
                  </a:outerShdw>
                </a:effectLst>
              </a:rPr>
              <a:t>当删除主表中记录时，同时删除从表中所有引用的外键的记录。</a:t>
            </a:r>
          </a:p>
          <a:p>
            <a:pPr>
              <a:lnSpc>
                <a:spcPct val="120000"/>
              </a:lnSpc>
            </a:pPr>
            <a:r>
              <a:rPr lang="zh-CN" altLang="en-US" sz="2400"/>
              <a:t>       </a:t>
            </a:r>
            <a:r>
              <a:rPr lang="zh-CN" altLang="en-US" sz="2400" b="1">
                <a:solidFill>
                  <a:srgbClr val="A20070"/>
                </a:solidFill>
                <a:effectLst>
                  <a:outerShdw blurRad="38100" dist="38100" dir="2700000" algn="tl">
                    <a:srgbClr val="C0C0C0"/>
                  </a:outerShdw>
                </a:effectLst>
              </a:rPr>
              <a:t>② </a:t>
            </a:r>
            <a:r>
              <a:rPr lang="en-US" altLang="zh-CN" sz="2400" b="1">
                <a:solidFill>
                  <a:srgbClr val="A20070"/>
                </a:solidFill>
                <a:effectLst>
                  <a:outerShdw blurRad="38100" dist="38100" dir="2700000" algn="tl">
                    <a:srgbClr val="C0C0C0"/>
                  </a:outerShdw>
                </a:effectLst>
              </a:rPr>
              <a:t>ON UPDATE CASCADE</a:t>
            </a:r>
          </a:p>
          <a:p>
            <a:pPr>
              <a:lnSpc>
                <a:spcPct val="120000"/>
              </a:lnSpc>
            </a:pPr>
            <a:r>
              <a:rPr lang="en-US" altLang="zh-CN" sz="2400" b="1">
                <a:solidFill>
                  <a:srgbClr val="000000"/>
                </a:solidFill>
                <a:effectLst>
                  <a:outerShdw blurRad="38100" dist="38100" dir="2700000" algn="tl">
                    <a:srgbClr val="C0C0C0"/>
                  </a:outerShdw>
                </a:effectLst>
              </a:rPr>
              <a:t>       </a:t>
            </a:r>
            <a:r>
              <a:rPr lang="zh-CN" altLang="en-US" sz="2400" b="1">
                <a:solidFill>
                  <a:srgbClr val="000000"/>
                </a:solidFill>
                <a:effectLst>
                  <a:outerShdw blurRad="38100" dist="38100" dir="2700000" algn="tl">
                    <a:srgbClr val="C0C0C0"/>
                  </a:outerShdw>
                </a:effectLst>
              </a:rPr>
              <a:t>当更新主表中记录的主键值时，则从表中所有引用的外键值也被更新为新值。</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960"/>
    </mc:Choice>
    <mc:Fallback xmlns="">
      <p:transition spd="slow" advTm="3296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6339"/>
                                        </p:tgtEl>
                                        <p:attrNameLst>
                                          <p:attrName>style.visibility</p:attrName>
                                        </p:attrNameLst>
                                      </p:cBhvr>
                                      <p:to>
                                        <p:strVal val="visible"/>
                                      </p:to>
                                    </p:set>
                                    <p:animEffect transition="in" filter="wipe(left)">
                                      <p:cBhvr>
                                        <p:cTn id="7" dur="500"/>
                                        <p:tgtEl>
                                          <p:spTgt spid="526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6340"/>
                                        </p:tgtEl>
                                        <p:attrNameLst>
                                          <p:attrName>style.visibility</p:attrName>
                                        </p:attrNameLst>
                                      </p:cBhvr>
                                      <p:to>
                                        <p:strVal val="visible"/>
                                      </p:to>
                                    </p:set>
                                    <p:animEffect transition="in" filter="wipe(up)">
                                      <p:cBhvr>
                                        <p:cTn id="12" dur="500"/>
                                        <p:tgtEl>
                                          <p:spTgt spid="526340"/>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26341">
                                            <p:txEl>
                                              <p:pRg st="0" end="0"/>
                                            </p:txEl>
                                          </p:spTgt>
                                        </p:tgtEl>
                                        <p:attrNameLst>
                                          <p:attrName>style.visibility</p:attrName>
                                        </p:attrNameLst>
                                      </p:cBhvr>
                                      <p:to>
                                        <p:strVal val="visible"/>
                                      </p:to>
                                    </p:set>
                                    <p:animEffect transition="in" filter="wipe(left)">
                                      <p:cBhvr>
                                        <p:cTn id="16" dur="500"/>
                                        <p:tgtEl>
                                          <p:spTgt spid="526341">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26341">
                                            <p:txEl>
                                              <p:pRg st="1" end="1"/>
                                            </p:txEl>
                                          </p:spTgt>
                                        </p:tgtEl>
                                        <p:attrNameLst>
                                          <p:attrName>style.visibility</p:attrName>
                                        </p:attrNameLst>
                                      </p:cBhvr>
                                      <p:to>
                                        <p:strVal val="visible"/>
                                      </p:to>
                                    </p:set>
                                    <p:animEffect transition="in" filter="wipe(left)">
                                      <p:cBhvr>
                                        <p:cTn id="21" dur="500"/>
                                        <p:tgtEl>
                                          <p:spTgt spid="526341">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26341">
                                            <p:txEl>
                                              <p:pRg st="2" end="2"/>
                                            </p:txEl>
                                          </p:spTgt>
                                        </p:tgtEl>
                                        <p:attrNameLst>
                                          <p:attrName>style.visibility</p:attrName>
                                        </p:attrNameLst>
                                      </p:cBhvr>
                                      <p:to>
                                        <p:strVal val="visible"/>
                                      </p:to>
                                    </p:set>
                                    <p:animEffect transition="in" filter="wipe(left)">
                                      <p:cBhvr>
                                        <p:cTn id="26" dur="500"/>
                                        <p:tgtEl>
                                          <p:spTgt spid="526341">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26341">
                                            <p:txEl>
                                              <p:pRg st="3" end="3"/>
                                            </p:txEl>
                                          </p:spTgt>
                                        </p:tgtEl>
                                        <p:attrNameLst>
                                          <p:attrName>style.visibility</p:attrName>
                                        </p:attrNameLst>
                                      </p:cBhvr>
                                      <p:to>
                                        <p:strVal val="visible"/>
                                      </p:to>
                                    </p:set>
                                    <p:animEffect transition="in" filter="wipe(left)">
                                      <p:cBhvr>
                                        <p:cTn id="31" dur="500"/>
                                        <p:tgtEl>
                                          <p:spTgt spid="526341">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6341">
                                            <p:txEl>
                                              <p:pRg st="5" end="5"/>
                                            </p:txEl>
                                          </p:spTgt>
                                        </p:tgtEl>
                                        <p:attrNameLst>
                                          <p:attrName>style.visibility</p:attrName>
                                        </p:attrNameLst>
                                      </p:cBhvr>
                                      <p:to>
                                        <p:strVal val="visible"/>
                                      </p:to>
                                    </p:set>
                                    <p:animEffect transition="in" filter="wipe(left)">
                                      <p:cBhvr>
                                        <p:cTn id="36" dur="500"/>
                                        <p:tgtEl>
                                          <p:spTgt spid="526341">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26341">
                                            <p:txEl>
                                              <p:pRg st="4" end="4"/>
                                            </p:txEl>
                                          </p:spTgt>
                                        </p:tgtEl>
                                        <p:attrNameLst>
                                          <p:attrName>style.visibility</p:attrName>
                                        </p:attrNameLst>
                                      </p:cBhvr>
                                      <p:to>
                                        <p:strVal val="visible"/>
                                      </p:to>
                                    </p:set>
                                    <p:animEffect transition="in" filter="wipe(left)">
                                      <p:cBhvr>
                                        <p:cTn id="41" dur="500"/>
                                        <p:tgtEl>
                                          <p:spTgt spid="526341">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6341">
                                            <p:txEl>
                                              <p:pRg st="6" end="6"/>
                                            </p:txEl>
                                          </p:spTgt>
                                        </p:tgtEl>
                                        <p:attrNameLst>
                                          <p:attrName>style.visibility</p:attrName>
                                        </p:attrNameLst>
                                      </p:cBhvr>
                                      <p:to>
                                        <p:strVal val="visible"/>
                                      </p:to>
                                    </p:set>
                                    <p:animEffect transition="in" filter="wipe(left)">
                                      <p:cBhvr>
                                        <p:cTn id="46" dur="500"/>
                                        <p:tgtEl>
                                          <p:spTgt spid="5263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p:bldP spid="526340" grpId="0" animBg="1"/>
      <p:bldP spid="52634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a:extLst>
              <a:ext uri="{FF2B5EF4-FFF2-40B4-BE49-F238E27FC236}">
                <a16:creationId xmlns:a16="http://schemas.microsoft.com/office/drawing/2014/main" id="{EA353163-91BC-42BE-B43D-F9C18D28DEB2}"/>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三、参照完整性约束</a:t>
            </a:r>
          </a:p>
        </p:txBody>
      </p:sp>
      <p:sp>
        <p:nvSpPr>
          <p:cNvPr id="542723" name="Rectangle 3">
            <a:extLst>
              <a:ext uri="{FF2B5EF4-FFF2-40B4-BE49-F238E27FC236}">
                <a16:creationId xmlns:a16="http://schemas.microsoft.com/office/drawing/2014/main" id="{B88D0E90-A7EE-4988-8E40-6DEA6B4FD4A6}"/>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、参照完整性的级联删除及修改</a:t>
            </a:r>
          </a:p>
        </p:txBody>
      </p:sp>
      <p:sp>
        <p:nvSpPr>
          <p:cNvPr id="542726" name="Rectangle 6">
            <a:extLst>
              <a:ext uri="{FF2B5EF4-FFF2-40B4-BE49-F238E27FC236}">
                <a16:creationId xmlns:a16="http://schemas.microsoft.com/office/drawing/2014/main" id="{1B84CDE7-38D1-433A-905F-10AAC17ABF1F}"/>
              </a:ext>
            </a:extLst>
          </p:cNvPr>
          <p:cNvSpPr>
            <a:spLocks noChangeArrowheads="1"/>
          </p:cNvSpPr>
          <p:nvPr/>
        </p:nvSpPr>
        <p:spPr bwMode="auto">
          <a:xfrm>
            <a:off x="898525" y="2205038"/>
            <a:ext cx="7705725" cy="323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10000"/>
              </a:lnSpc>
            </a:pPr>
            <a:r>
              <a:rPr lang="en-US" altLang="zh-CN" sz="2400"/>
              <a:t>CREATE TABLE SC</a:t>
            </a:r>
          </a:p>
          <a:p>
            <a:pPr>
              <a:lnSpc>
                <a:spcPct val="110000"/>
              </a:lnSpc>
            </a:pPr>
            <a:r>
              <a:rPr lang="en-US" altLang="zh-CN" sz="2400"/>
              <a:t>       (S# CHAR(9),</a:t>
            </a:r>
          </a:p>
          <a:p>
            <a:pPr>
              <a:lnSpc>
                <a:spcPct val="110000"/>
              </a:lnSpc>
            </a:pPr>
            <a:r>
              <a:rPr lang="en-US" altLang="zh-CN" sz="2400"/>
              <a:t>        C# CHAR(7) </a:t>
            </a:r>
            <a:r>
              <a:rPr lang="en-US" altLang="zh-CN" sz="2400">
                <a:solidFill>
                  <a:schemeClr val="folHlink"/>
                </a:solidFill>
              </a:rPr>
              <a:t>REFERENCES C(C#)</a:t>
            </a:r>
            <a:r>
              <a:rPr lang="en-US" altLang="zh-CN" sz="2400"/>
              <a:t> </a:t>
            </a:r>
            <a:r>
              <a:rPr lang="en-US" altLang="zh-CN" sz="2400">
                <a:solidFill>
                  <a:schemeClr val="hlink"/>
                </a:solidFill>
              </a:rPr>
              <a:t>ON DELETE CASCADE</a:t>
            </a:r>
            <a:r>
              <a:rPr lang="zh-CN" altLang="en-US" sz="2400"/>
              <a:t>，</a:t>
            </a:r>
          </a:p>
          <a:p>
            <a:pPr>
              <a:lnSpc>
                <a:spcPct val="110000"/>
              </a:lnSpc>
            </a:pPr>
            <a:r>
              <a:rPr lang="zh-CN" altLang="en-US" sz="2400"/>
              <a:t>        </a:t>
            </a:r>
            <a:r>
              <a:rPr lang="en-US" altLang="zh-CN" sz="2400"/>
              <a:t>GRADE INT DEFAULT(0),</a:t>
            </a:r>
          </a:p>
          <a:p>
            <a:pPr>
              <a:lnSpc>
                <a:spcPct val="110000"/>
              </a:lnSpc>
            </a:pPr>
            <a:r>
              <a:rPr lang="en-US" altLang="zh-CN" sz="2400"/>
              <a:t>        PRIMARY KEY(S#</a:t>
            </a:r>
            <a:r>
              <a:rPr lang="zh-CN" altLang="en-US" sz="2400"/>
              <a:t>，</a:t>
            </a:r>
            <a:r>
              <a:rPr lang="en-US" altLang="zh-CN" sz="2400"/>
              <a:t>C#)</a:t>
            </a:r>
            <a:r>
              <a:rPr lang="zh-CN" altLang="en-US" sz="2400"/>
              <a:t>，</a:t>
            </a:r>
          </a:p>
          <a:p>
            <a:pPr>
              <a:lnSpc>
                <a:spcPct val="110000"/>
              </a:lnSpc>
              <a:spcBef>
                <a:spcPct val="45000"/>
              </a:spcBef>
            </a:pPr>
            <a:r>
              <a:rPr lang="zh-CN" altLang="en-US" sz="2400"/>
              <a:t>        </a:t>
            </a:r>
            <a:r>
              <a:rPr lang="en-US" altLang="zh-CN" sz="2400"/>
              <a:t>FOREIGN KEY(C#) REFERENCES C(C#))</a:t>
            </a:r>
            <a:r>
              <a:rPr lang="zh-CN" altLang="en-US" sz="2400"/>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573"/>
    </mc:Choice>
    <mc:Fallback xmlns="">
      <p:transition spd="slow" advTm="1657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23"/>
                                        </p:tgtEl>
                                        <p:attrNameLst>
                                          <p:attrName>style.visibility</p:attrName>
                                        </p:attrNameLst>
                                      </p:cBhvr>
                                      <p:to>
                                        <p:strVal val="visible"/>
                                      </p:to>
                                    </p:set>
                                    <p:animEffect transition="in" filter="wipe(left)">
                                      <p:cBhvr>
                                        <p:cTn id="7" dur="500"/>
                                        <p:tgtEl>
                                          <p:spTgt spid="542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26">
                                            <p:txEl>
                                              <p:pRg st="0" end="0"/>
                                            </p:txEl>
                                          </p:spTgt>
                                        </p:tgtEl>
                                        <p:attrNameLst>
                                          <p:attrName>style.visibility</p:attrName>
                                        </p:attrNameLst>
                                      </p:cBhvr>
                                      <p:to>
                                        <p:strVal val="visible"/>
                                      </p:to>
                                    </p:set>
                                    <p:animEffect transition="in" filter="wipe(left)">
                                      <p:cBhvr>
                                        <p:cTn id="12" dur="500"/>
                                        <p:tgtEl>
                                          <p:spTgt spid="542726">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42726">
                                            <p:txEl>
                                              <p:pRg st="1" end="1"/>
                                            </p:txEl>
                                          </p:spTgt>
                                        </p:tgtEl>
                                        <p:attrNameLst>
                                          <p:attrName>style.visibility</p:attrName>
                                        </p:attrNameLst>
                                      </p:cBhvr>
                                      <p:to>
                                        <p:strVal val="visible"/>
                                      </p:to>
                                    </p:set>
                                    <p:animEffect transition="in" filter="wipe(left)">
                                      <p:cBhvr>
                                        <p:cTn id="15" dur="500"/>
                                        <p:tgtEl>
                                          <p:spTgt spid="542726">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42726">
                                            <p:txEl>
                                              <p:pRg st="2" end="2"/>
                                            </p:txEl>
                                          </p:spTgt>
                                        </p:tgtEl>
                                        <p:attrNameLst>
                                          <p:attrName>style.visibility</p:attrName>
                                        </p:attrNameLst>
                                      </p:cBhvr>
                                      <p:to>
                                        <p:strVal val="visible"/>
                                      </p:to>
                                    </p:set>
                                    <p:animEffect transition="in" filter="wipe(left)">
                                      <p:cBhvr>
                                        <p:cTn id="18" dur="500"/>
                                        <p:tgtEl>
                                          <p:spTgt spid="542726">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42726">
                                            <p:txEl>
                                              <p:pRg st="3" end="3"/>
                                            </p:txEl>
                                          </p:spTgt>
                                        </p:tgtEl>
                                        <p:attrNameLst>
                                          <p:attrName>style.visibility</p:attrName>
                                        </p:attrNameLst>
                                      </p:cBhvr>
                                      <p:to>
                                        <p:strVal val="visible"/>
                                      </p:to>
                                    </p:set>
                                    <p:animEffect transition="in" filter="wipe(left)">
                                      <p:cBhvr>
                                        <p:cTn id="21" dur="500"/>
                                        <p:tgtEl>
                                          <p:spTgt spid="542726">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42726">
                                            <p:txEl>
                                              <p:pRg st="4" end="4"/>
                                            </p:txEl>
                                          </p:spTgt>
                                        </p:tgtEl>
                                        <p:attrNameLst>
                                          <p:attrName>style.visibility</p:attrName>
                                        </p:attrNameLst>
                                      </p:cBhvr>
                                      <p:to>
                                        <p:strVal val="visible"/>
                                      </p:to>
                                    </p:set>
                                    <p:animEffect transition="in" filter="wipe(left)">
                                      <p:cBhvr>
                                        <p:cTn id="24" dur="500"/>
                                        <p:tgtEl>
                                          <p:spTgt spid="542726">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42726">
                                            <p:txEl>
                                              <p:pRg st="5" end="5"/>
                                            </p:txEl>
                                          </p:spTgt>
                                        </p:tgtEl>
                                        <p:attrNameLst>
                                          <p:attrName>style.visibility</p:attrName>
                                        </p:attrNameLst>
                                      </p:cBhvr>
                                      <p:to>
                                        <p:strVal val="visible"/>
                                      </p:to>
                                    </p:set>
                                    <p:animEffect transition="in" filter="wipe(left)">
                                      <p:cBhvr>
                                        <p:cTn id="29" dur="500"/>
                                        <p:tgtEl>
                                          <p:spTgt spid="54272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p:bldP spid="5427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390" name="Picture 6">
            <a:extLst>
              <a:ext uri="{FF2B5EF4-FFF2-40B4-BE49-F238E27FC236}">
                <a16:creationId xmlns:a16="http://schemas.microsoft.com/office/drawing/2014/main" id="{E2A7CDC7-553D-42E1-8C9B-840664E7F0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843088"/>
            <a:ext cx="8569325" cy="482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8386" name="Rectangle 2">
            <a:extLst>
              <a:ext uri="{FF2B5EF4-FFF2-40B4-BE49-F238E27FC236}">
                <a16:creationId xmlns:a16="http://schemas.microsoft.com/office/drawing/2014/main" id="{8749EED8-333F-44A3-8973-32DF96108ED6}"/>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四、用户定义完整性约束</a:t>
            </a:r>
          </a:p>
        </p:txBody>
      </p:sp>
      <p:sp>
        <p:nvSpPr>
          <p:cNvPr id="528387" name="Rectangle 3">
            <a:extLst>
              <a:ext uri="{FF2B5EF4-FFF2-40B4-BE49-F238E27FC236}">
                <a16:creationId xmlns:a16="http://schemas.microsoft.com/office/drawing/2014/main" id="{53EA7985-7104-4557-860A-EF6C90A54888}"/>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、基于属性值的</a:t>
            </a:r>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CHECK</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约束</a:t>
            </a:r>
          </a:p>
        </p:txBody>
      </p:sp>
      <p:sp>
        <p:nvSpPr>
          <p:cNvPr id="528388" name="Rectangle 4">
            <a:extLst>
              <a:ext uri="{FF2B5EF4-FFF2-40B4-BE49-F238E27FC236}">
                <a16:creationId xmlns:a16="http://schemas.microsoft.com/office/drawing/2014/main" id="{45495F5B-81CA-407F-A195-AE10CE75D186}"/>
              </a:ext>
            </a:extLst>
          </p:cNvPr>
          <p:cNvSpPr>
            <a:spLocks noChangeArrowheads="1"/>
          </p:cNvSpPr>
          <p:nvPr/>
        </p:nvSpPr>
        <p:spPr bwMode="auto">
          <a:xfrm>
            <a:off x="539750" y="2203450"/>
            <a:ext cx="8208963"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2400"/>
              <a:t>CREATE TABLE S</a:t>
            </a:r>
          </a:p>
          <a:p>
            <a:r>
              <a:rPr lang="en-US" altLang="zh-CN" sz="2400"/>
              <a:t>    </a:t>
            </a:r>
            <a:r>
              <a:rPr lang="zh-CN" altLang="en-US" sz="2400"/>
              <a:t>（</a:t>
            </a:r>
            <a:r>
              <a:rPr lang="en-US" altLang="zh-CN" sz="2400"/>
              <a:t>S#               CHAR(9)       PRIMARY KEY</a:t>
            </a:r>
            <a:r>
              <a:rPr lang="zh-CN" altLang="en-US" sz="2400"/>
              <a:t>，</a:t>
            </a:r>
          </a:p>
          <a:p>
            <a:r>
              <a:rPr lang="zh-CN" altLang="en-US" sz="2400"/>
              <a:t>      </a:t>
            </a:r>
            <a:r>
              <a:rPr lang="en-US" altLang="zh-CN" sz="2400"/>
              <a:t>SNAME        CHAR(10)     NOT NULL</a:t>
            </a:r>
            <a:r>
              <a:rPr lang="zh-CN" altLang="en-US" sz="2400"/>
              <a:t>，</a:t>
            </a:r>
          </a:p>
          <a:p>
            <a:r>
              <a:rPr lang="zh-CN" altLang="en-US" sz="2400"/>
              <a:t>      </a:t>
            </a:r>
            <a:r>
              <a:rPr lang="en-US" altLang="zh-CN" sz="2400"/>
              <a:t>SSEX       CHAR(2)     </a:t>
            </a:r>
            <a:r>
              <a:rPr lang="en-US" altLang="zh-CN" sz="2400">
                <a:solidFill>
                  <a:srgbClr val="0000FF"/>
                </a:solidFill>
              </a:rPr>
              <a:t>CHECK(</a:t>
            </a:r>
            <a:r>
              <a:rPr lang="en-US" altLang="zh-CN" sz="2400">
                <a:solidFill>
                  <a:srgbClr val="FF0000"/>
                </a:solidFill>
              </a:rPr>
              <a:t>SSEX IN (</a:t>
            </a:r>
            <a:r>
              <a:rPr lang="en-US" altLang="zh-CN" sz="2400">
                <a:solidFill>
                  <a:srgbClr val="FF0000"/>
                </a:solidFill>
                <a:latin typeface="Arial" panose="020B0604020202020204" pitchFamily="34" charset="0"/>
              </a:rPr>
              <a:t>‘</a:t>
            </a:r>
            <a:r>
              <a:rPr lang="zh-CN" altLang="en-US" sz="2400">
                <a:solidFill>
                  <a:srgbClr val="FF0000"/>
                </a:solidFill>
              </a:rPr>
              <a:t>男</a:t>
            </a:r>
            <a:r>
              <a:rPr lang="en-US" altLang="zh-CN" sz="2400">
                <a:solidFill>
                  <a:srgbClr val="FF0000"/>
                </a:solidFill>
                <a:latin typeface="Arial" panose="020B0604020202020204" pitchFamily="34" charset="0"/>
              </a:rPr>
              <a:t>’</a:t>
            </a:r>
            <a:r>
              <a:rPr lang="en-US" altLang="zh-CN" sz="2400">
                <a:solidFill>
                  <a:srgbClr val="FF0000"/>
                </a:solidFill>
              </a:rPr>
              <a:t>,</a:t>
            </a:r>
            <a:r>
              <a:rPr lang="en-US" altLang="zh-CN" sz="2400">
                <a:solidFill>
                  <a:srgbClr val="FF0000"/>
                </a:solidFill>
                <a:latin typeface="Arial" panose="020B0604020202020204" pitchFamily="34" charset="0"/>
              </a:rPr>
              <a:t>’</a:t>
            </a:r>
            <a:r>
              <a:rPr lang="zh-CN" altLang="en-US" sz="2400">
                <a:solidFill>
                  <a:srgbClr val="FF0000"/>
                </a:solidFill>
              </a:rPr>
              <a:t>女</a:t>
            </a:r>
            <a:r>
              <a:rPr lang="en-US" altLang="zh-CN" sz="2400">
                <a:solidFill>
                  <a:srgbClr val="FF0000"/>
                </a:solidFill>
                <a:latin typeface="Arial" panose="020B0604020202020204" pitchFamily="34" charset="0"/>
              </a:rPr>
              <a:t>’</a:t>
            </a:r>
            <a:r>
              <a:rPr lang="en-US" altLang="zh-CN" sz="2400">
                <a:solidFill>
                  <a:srgbClr val="FF0000"/>
                </a:solidFill>
              </a:rPr>
              <a:t>)</a:t>
            </a:r>
            <a:r>
              <a:rPr lang="en-US" altLang="zh-CN" sz="2400">
                <a:solidFill>
                  <a:srgbClr val="0000FF"/>
                </a:solidFill>
              </a:rPr>
              <a:t>)</a:t>
            </a:r>
            <a:r>
              <a:rPr lang="zh-CN" altLang="en-US" sz="2400"/>
              <a:t>，</a:t>
            </a:r>
          </a:p>
          <a:p>
            <a:r>
              <a:rPr lang="zh-CN" altLang="en-US" sz="2400"/>
              <a:t>      </a:t>
            </a:r>
            <a:r>
              <a:rPr lang="en-US" altLang="zh-CN" sz="2400"/>
              <a:t>SBIRTHIN     DATETIME           NOT NULL</a:t>
            </a:r>
            <a:r>
              <a:rPr lang="zh-CN" altLang="en-US" sz="2400"/>
              <a:t>，</a:t>
            </a:r>
          </a:p>
          <a:p>
            <a:r>
              <a:rPr lang="zh-CN" altLang="en-US" sz="2400"/>
              <a:t>      </a:t>
            </a:r>
            <a:r>
              <a:rPr lang="en-US" altLang="zh-CN" sz="2400"/>
              <a:t>PLACEOFB  CHAR(16)</a:t>
            </a:r>
            <a:r>
              <a:rPr lang="zh-CN" altLang="en-US" sz="2400"/>
              <a:t>，</a:t>
            </a:r>
          </a:p>
          <a:p>
            <a:r>
              <a:rPr lang="zh-CN" altLang="en-US" sz="2400"/>
              <a:t>      </a:t>
            </a:r>
            <a:r>
              <a:rPr lang="en-US" altLang="zh-CN" sz="2400"/>
              <a:t>SCODE#         CHAR(5)      NOT NULL</a:t>
            </a:r>
            <a:r>
              <a:rPr lang="zh-CN" altLang="en-US" sz="2400"/>
              <a:t>，</a:t>
            </a:r>
          </a:p>
          <a:p>
            <a:r>
              <a:rPr lang="zh-CN" altLang="en-US" sz="2400"/>
              <a:t>      </a:t>
            </a:r>
            <a:r>
              <a:rPr lang="en-US" altLang="zh-CN" sz="2400"/>
              <a:t>CLASS          CHAR(6)      NOT NULL</a:t>
            </a:r>
            <a:r>
              <a:rPr lang="zh-CN" altLang="en-US" sz="2400"/>
              <a:t>）；</a:t>
            </a:r>
          </a:p>
        </p:txBody>
      </p:sp>
      <p:sp>
        <p:nvSpPr>
          <p:cNvPr id="528389" name="Line 5">
            <a:extLst>
              <a:ext uri="{FF2B5EF4-FFF2-40B4-BE49-F238E27FC236}">
                <a16:creationId xmlns:a16="http://schemas.microsoft.com/office/drawing/2014/main" id="{E2D608F7-A885-4891-8E1D-3AEEC56500B3}"/>
              </a:ext>
            </a:extLst>
          </p:cNvPr>
          <p:cNvSpPr>
            <a:spLocks noChangeShapeType="1"/>
          </p:cNvSpPr>
          <p:nvPr/>
        </p:nvSpPr>
        <p:spPr bwMode="auto">
          <a:xfrm>
            <a:off x="4356100" y="4302125"/>
            <a:ext cx="3887788"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372"/>
    </mc:Choice>
    <mc:Fallback xmlns="">
      <p:transition spd="slow" advTm="1637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8387"/>
                                        </p:tgtEl>
                                        <p:attrNameLst>
                                          <p:attrName>style.visibility</p:attrName>
                                        </p:attrNameLst>
                                      </p:cBhvr>
                                      <p:to>
                                        <p:strVal val="visible"/>
                                      </p:to>
                                    </p:set>
                                    <p:animEffect transition="in" filter="wipe(left)">
                                      <p:cBhvr>
                                        <p:cTn id="7" dur="500"/>
                                        <p:tgtEl>
                                          <p:spTgt spid="528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7" presetClass="entr" presetSubtype="0" fill="hold" nodeType="clickEffect">
                                  <p:stCondLst>
                                    <p:cond delay="0"/>
                                  </p:stCondLst>
                                  <p:childTnLst>
                                    <p:set>
                                      <p:cBhvr>
                                        <p:cTn id="11" dur="1" fill="hold">
                                          <p:stCondLst>
                                            <p:cond delay="0"/>
                                          </p:stCondLst>
                                        </p:cTn>
                                        <p:tgtEl>
                                          <p:spTgt spid="528390"/>
                                        </p:tgtEl>
                                        <p:attrNameLst>
                                          <p:attrName>style.visibility</p:attrName>
                                        </p:attrNameLst>
                                      </p:cBhvr>
                                      <p:to>
                                        <p:strVal val="visible"/>
                                      </p:to>
                                    </p:set>
                                    <p:animEffect transition="in" filter="fade">
                                      <p:cBhvr>
                                        <p:cTn id="12" dur="500"/>
                                        <p:tgtEl>
                                          <p:spTgt spid="528390"/>
                                        </p:tgtEl>
                                      </p:cBhvr>
                                    </p:animEffect>
                                    <p:anim calcmode="lin" valueType="num">
                                      <p:cBhvr>
                                        <p:cTn id="13" dur="500" fill="hold"/>
                                        <p:tgtEl>
                                          <p:spTgt spid="528390"/>
                                        </p:tgtEl>
                                        <p:attrNameLst>
                                          <p:attrName>ppt_x</p:attrName>
                                        </p:attrNameLst>
                                      </p:cBhvr>
                                      <p:tavLst>
                                        <p:tav tm="0">
                                          <p:val>
                                            <p:strVal val="#ppt_x"/>
                                          </p:val>
                                        </p:tav>
                                        <p:tav tm="100000">
                                          <p:val>
                                            <p:strVal val="#ppt_x"/>
                                          </p:val>
                                        </p:tav>
                                      </p:tavLst>
                                    </p:anim>
                                    <p:anim calcmode="lin" valueType="num">
                                      <p:cBhvr>
                                        <p:cTn id="14" dur="500" fill="hold"/>
                                        <p:tgtEl>
                                          <p:spTgt spid="528390"/>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28388">
                                            <p:txEl>
                                              <p:pRg st="0" end="0"/>
                                            </p:txEl>
                                          </p:spTgt>
                                        </p:tgtEl>
                                        <p:attrNameLst>
                                          <p:attrName>style.visibility</p:attrName>
                                        </p:attrNameLst>
                                      </p:cBhvr>
                                      <p:to>
                                        <p:strVal val="visible"/>
                                      </p:to>
                                    </p:set>
                                    <p:animEffect transition="in" filter="wipe(left)">
                                      <p:cBhvr>
                                        <p:cTn id="19" dur="1000"/>
                                        <p:tgtEl>
                                          <p:spTgt spid="528388">
                                            <p:txEl>
                                              <p:pRg st="0" end="0"/>
                                            </p:txEl>
                                          </p:spTgt>
                                        </p:tgtEl>
                                      </p:cBhvr>
                                    </p:animEffect>
                                  </p:childTnLst>
                                </p:cTn>
                              </p:par>
                            </p:childTnLst>
                          </p:cTn>
                        </p:par>
                        <p:par>
                          <p:cTn id="20" fill="hold" nodeType="afterGroup">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528388">
                                            <p:txEl>
                                              <p:pRg st="1" end="1"/>
                                            </p:txEl>
                                          </p:spTgt>
                                        </p:tgtEl>
                                        <p:attrNameLst>
                                          <p:attrName>style.visibility</p:attrName>
                                        </p:attrNameLst>
                                      </p:cBhvr>
                                      <p:to>
                                        <p:strVal val="visible"/>
                                      </p:to>
                                    </p:set>
                                    <p:animEffect transition="in" filter="wipe(left)">
                                      <p:cBhvr>
                                        <p:cTn id="23" dur="1000"/>
                                        <p:tgtEl>
                                          <p:spTgt spid="528388">
                                            <p:txEl>
                                              <p:pRg st="1" end="1"/>
                                            </p:txEl>
                                          </p:spTgt>
                                        </p:tgtEl>
                                      </p:cBhvr>
                                    </p:animEffect>
                                  </p:childTnLst>
                                </p:cTn>
                              </p:par>
                            </p:childTnLst>
                          </p:cTn>
                        </p:par>
                        <p:par>
                          <p:cTn id="24" fill="hold" nodeType="afterGroup">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528388">
                                            <p:txEl>
                                              <p:pRg st="2" end="2"/>
                                            </p:txEl>
                                          </p:spTgt>
                                        </p:tgtEl>
                                        <p:attrNameLst>
                                          <p:attrName>style.visibility</p:attrName>
                                        </p:attrNameLst>
                                      </p:cBhvr>
                                      <p:to>
                                        <p:strVal val="visible"/>
                                      </p:to>
                                    </p:set>
                                    <p:animEffect transition="in" filter="wipe(left)">
                                      <p:cBhvr>
                                        <p:cTn id="27" dur="1000"/>
                                        <p:tgtEl>
                                          <p:spTgt spid="528388">
                                            <p:txEl>
                                              <p:pRg st="2" end="2"/>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28388">
                                            <p:txEl>
                                              <p:pRg st="3" end="3"/>
                                            </p:txEl>
                                          </p:spTgt>
                                        </p:tgtEl>
                                        <p:attrNameLst>
                                          <p:attrName>style.visibility</p:attrName>
                                        </p:attrNameLst>
                                      </p:cBhvr>
                                      <p:to>
                                        <p:strVal val="visible"/>
                                      </p:to>
                                    </p:set>
                                    <p:animEffect transition="in" filter="wipe(left)">
                                      <p:cBhvr>
                                        <p:cTn id="31" dur="1000"/>
                                        <p:tgtEl>
                                          <p:spTgt spid="528388">
                                            <p:txEl>
                                              <p:pRg st="3" end="3"/>
                                            </p:txEl>
                                          </p:spTgt>
                                        </p:tgtEl>
                                      </p:cBhvr>
                                    </p:animEffect>
                                  </p:childTnLst>
                                </p:cTn>
                              </p:par>
                            </p:childTnLst>
                          </p:cTn>
                        </p:par>
                        <p:par>
                          <p:cTn id="32" fill="hold" nodeType="afterGroup">
                            <p:stCondLst>
                              <p:cond delay="4000"/>
                            </p:stCondLst>
                            <p:childTnLst>
                              <p:par>
                                <p:cTn id="33" presetID="22" presetClass="entr" presetSubtype="8" fill="hold" grpId="0" nodeType="afterEffect">
                                  <p:stCondLst>
                                    <p:cond delay="0"/>
                                  </p:stCondLst>
                                  <p:childTnLst>
                                    <p:set>
                                      <p:cBhvr>
                                        <p:cTn id="34" dur="1" fill="hold">
                                          <p:stCondLst>
                                            <p:cond delay="0"/>
                                          </p:stCondLst>
                                        </p:cTn>
                                        <p:tgtEl>
                                          <p:spTgt spid="528388">
                                            <p:txEl>
                                              <p:pRg st="4" end="4"/>
                                            </p:txEl>
                                          </p:spTgt>
                                        </p:tgtEl>
                                        <p:attrNameLst>
                                          <p:attrName>style.visibility</p:attrName>
                                        </p:attrNameLst>
                                      </p:cBhvr>
                                      <p:to>
                                        <p:strVal val="visible"/>
                                      </p:to>
                                    </p:set>
                                    <p:animEffect transition="in" filter="wipe(left)">
                                      <p:cBhvr>
                                        <p:cTn id="35" dur="1000"/>
                                        <p:tgtEl>
                                          <p:spTgt spid="528388">
                                            <p:txEl>
                                              <p:pRg st="4" end="4"/>
                                            </p:txEl>
                                          </p:spTgt>
                                        </p:tgtEl>
                                      </p:cBhvr>
                                    </p:animEffect>
                                  </p:childTnLst>
                                </p:cTn>
                              </p:par>
                            </p:childTnLst>
                          </p:cTn>
                        </p:par>
                        <p:par>
                          <p:cTn id="36" fill="hold" nodeType="afterGroup">
                            <p:stCondLst>
                              <p:cond delay="5000"/>
                            </p:stCondLst>
                            <p:childTnLst>
                              <p:par>
                                <p:cTn id="37" presetID="22" presetClass="entr" presetSubtype="8" fill="hold" grpId="0" nodeType="afterEffect">
                                  <p:stCondLst>
                                    <p:cond delay="0"/>
                                  </p:stCondLst>
                                  <p:childTnLst>
                                    <p:set>
                                      <p:cBhvr>
                                        <p:cTn id="38" dur="1" fill="hold">
                                          <p:stCondLst>
                                            <p:cond delay="0"/>
                                          </p:stCondLst>
                                        </p:cTn>
                                        <p:tgtEl>
                                          <p:spTgt spid="528388">
                                            <p:txEl>
                                              <p:pRg st="5" end="5"/>
                                            </p:txEl>
                                          </p:spTgt>
                                        </p:tgtEl>
                                        <p:attrNameLst>
                                          <p:attrName>style.visibility</p:attrName>
                                        </p:attrNameLst>
                                      </p:cBhvr>
                                      <p:to>
                                        <p:strVal val="visible"/>
                                      </p:to>
                                    </p:set>
                                    <p:animEffect transition="in" filter="wipe(left)">
                                      <p:cBhvr>
                                        <p:cTn id="39" dur="1000"/>
                                        <p:tgtEl>
                                          <p:spTgt spid="528388">
                                            <p:txEl>
                                              <p:pRg st="5" end="5"/>
                                            </p:txEl>
                                          </p:spTgt>
                                        </p:tgtEl>
                                      </p:cBhvr>
                                    </p:animEffect>
                                  </p:childTnLst>
                                </p:cTn>
                              </p:par>
                            </p:childTnLst>
                          </p:cTn>
                        </p:par>
                        <p:par>
                          <p:cTn id="40" fill="hold" nodeType="afterGroup">
                            <p:stCondLst>
                              <p:cond delay="6000"/>
                            </p:stCondLst>
                            <p:childTnLst>
                              <p:par>
                                <p:cTn id="41" presetID="22" presetClass="entr" presetSubtype="8" fill="hold" grpId="0" nodeType="afterEffect">
                                  <p:stCondLst>
                                    <p:cond delay="0"/>
                                  </p:stCondLst>
                                  <p:childTnLst>
                                    <p:set>
                                      <p:cBhvr>
                                        <p:cTn id="42" dur="1" fill="hold">
                                          <p:stCondLst>
                                            <p:cond delay="0"/>
                                          </p:stCondLst>
                                        </p:cTn>
                                        <p:tgtEl>
                                          <p:spTgt spid="528388">
                                            <p:txEl>
                                              <p:pRg st="6" end="6"/>
                                            </p:txEl>
                                          </p:spTgt>
                                        </p:tgtEl>
                                        <p:attrNameLst>
                                          <p:attrName>style.visibility</p:attrName>
                                        </p:attrNameLst>
                                      </p:cBhvr>
                                      <p:to>
                                        <p:strVal val="visible"/>
                                      </p:to>
                                    </p:set>
                                    <p:animEffect transition="in" filter="wipe(left)">
                                      <p:cBhvr>
                                        <p:cTn id="43" dur="1000"/>
                                        <p:tgtEl>
                                          <p:spTgt spid="528388">
                                            <p:txEl>
                                              <p:pRg st="6" end="6"/>
                                            </p:txEl>
                                          </p:spTgt>
                                        </p:tgtEl>
                                      </p:cBhvr>
                                    </p:animEffect>
                                  </p:childTnLst>
                                </p:cTn>
                              </p:par>
                            </p:childTnLst>
                          </p:cTn>
                        </p:par>
                        <p:par>
                          <p:cTn id="44" fill="hold" nodeType="afterGroup">
                            <p:stCondLst>
                              <p:cond delay="7000"/>
                            </p:stCondLst>
                            <p:childTnLst>
                              <p:par>
                                <p:cTn id="45" presetID="22" presetClass="entr" presetSubtype="8" fill="hold" grpId="0" nodeType="afterEffect">
                                  <p:stCondLst>
                                    <p:cond delay="0"/>
                                  </p:stCondLst>
                                  <p:childTnLst>
                                    <p:set>
                                      <p:cBhvr>
                                        <p:cTn id="46" dur="1" fill="hold">
                                          <p:stCondLst>
                                            <p:cond delay="0"/>
                                          </p:stCondLst>
                                        </p:cTn>
                                        <p:tgtEl>
                                          <p:spTgt spid="528388">
                                            <p:txEl>
                                              <p:pRg st="7" end="7"/>
                                            </p:txEl>
                                          </p:spTgt>
                                        </p:tgtEl>
                                        <p:attrNameLst>
                                          <p:attrName>style.visibility</p:attrName>
                                        </p:attrNameLst>
                                      </p:cBhvr>
                                      <p:to>
                                        <p:strVal val="visible"/>
                                      </p:to>
                                    </p:set>
                                    <p:animEffect transition="in" filter="wipe(left)">
                                      <p:cBhvr>
                                        <p:cTn id="47" dur="1000"/>
                                        <p:tgtEl>
                                          <p:spTgt spid="528388">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28389"/>
                                        </p:tgtEl>
                                        <p:attrNameLst>
                                          <p:attrName>style.visibility</p:attrName>
                                        </p:attrNameLst>
                                      </p:cBhvr>
                                      <p:to>
                                        <p:strVal val="visible"/>
                                      </p:to>
                                    </p:set>
                                    <p:animEffect transition="in" filter="wipe(left)">
                                      <p:cBhvr>
                                        <p:cTn id="52" dur="1000"/>
                                        <p:tgtEl>
                                          <p:spTgt spid="528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p:bldP spid="52838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a:extLst>
              <a:ext uri="{FF2B5EF4-FFF2-40B4-BE49-F238E27FC236}">
                <a16:creationId xmlns:a16="http://schemas.microsoft.com/office/drawing/2014/main" id="{0A6AF845-E507-484C-BBFF-BF6BE8366745}"/>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四、用户定义完整性约束</a:t>
            </a:r>
          </a:p>
        </p:txBody>
      </p:sp>
      <p:sp>
        <p:nvSpPr>
          <p:cNvPr id="529411" name="Rectangle 3">
            <a:extLst>
              <a:ext uri="{FF2B5EF4-FFF2-40B4-BE49-F238E27FC236}">
                <a16:creationId xmlns:a16="http://schemas.microsoft.com/office/drawing/2014/main" id="{F9A0072D-9938-42D4-9EEA-C402819EAFDF}"/>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、基于元组的约束</a:t>
            </a:r>
          </a:p>
        </p:txBody>
      </p:sp>
      <p:pic>
        <p:nvPicPr>
          <p:cNvPr id="529412" name="Picture 4">
            <a:extLst>
              <a:ext uri="{FF2B5EF4-FFF2-40B4-BE49-F238E27FC236}">
                <a16:creationId xmlns:a16="http://schemas.microsoft.com/office/drawing/2014/main" id="{0FD4DE77-BBB8-4F0C-A06C-99FA3F173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75" y="1916113"/>
            <a:ext cx="7775575"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9413" name="Rectangle 5">
            <a:extLst>
              <a:ext uri="{FF2B5EF4-FFF2-40B4-BE49-F238E27FC236}">
                <a16:creationId xmlns:a16="http://schemas.microsoft.com/office/drawing/2014/main" id="{0CAA65F8-7562-4BC3-9627-72E6A9F4D0DD}"/>
              </a:ext>
            </a:extLst>
          </p:cNvPr>
          <p:cNvSpPr>
            <a:spLocks noChangeArrowheads="1"/>
          </p:cNvSpPr>
          <p:nvPr/>
        </p:nvSpPr>
        <p:spPr bwMode="auto">
          <a:xfrm>
            <a:off x="1260475" y="2490788"/>
            <a:ext cx="6769100"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2400"/>
              <a:t>CREATE TABLE salary</a:t>
            </a:r>
          </a:p>
          <a:p>
            <a:r>
              <a:rPr lang="en-US" altLang="zh-CN" sz="2400"/>
              <a:t>    ( Eno       char(4),</a:t>
            </a:r>
          </a:p>
          <a:p>
            <a:r>
              <a:rPr lang="en-US" altLang="zh-CN" sz="2400"/>
              <a:t>       Basepay       decimal(7,2),</a:t>
            </a:r>
          </a:p>
          <a:p>
            <a:r>
              <a:rPr lang="en-US" altLang="zh-CN" sz="2400"/>
              <a:t>       Insure          decimal(7,2),</a:t>
            </a:r>
          </a:p>
          <a:p>
            <a:r>
              <a:rPr lang="en-US" altLang="zh-CN" sz="2400"/>
              <a:t>       Fund             decimal(7,2),</a:t>
            </a:r>
          </a:p>
          <a:p>
            <a:r>
              <a:rPr lang="en-US" altLang="zh-CN" sz="2400"/>
              <a:t>       CHECK (Insure+Fund&lt;Basepay));</a:t>
            </a:r>
          </a:p>
        </p:txBody>
      </p:sp>
      <p:sp>
        <p:nvSpPr>
          <p:cNvPr id="529414" name="Line 6">
            <a:extLst>
              <a:ext uri="{FF2B5EF4-FFF2-40B4-BE49-F238E27FC236}">
                <a16:creationId xmlns:a16="http://schemas.microsoft.com/office/drawing/2014/main" id="{AD69BDB0-7E5D-4511-8EED-CD77178648B6}"/>
              </a:ext>
            </a:extLst>
          </p:cNvPr>
          <p:cNvSpPr>
            <a:spLocks noChangeShapeType="1"/>
          </p:cNvSpPr>
          <p:nvPr/>
        </p:nvSpPr>
        <p:spPr bwMode="auto">
          <a:xfrm>
            <a:off x="1979613" y="5589588"/>
            <a:ext cx="5113337" cy="0"/>
          </a:xfrm>
          <a:prstGeom prst="line">
            <a:avLst/>
          </a:prstGeom>
          <a:noFill/>
          <a:ln w="38100" cap="sq">
            <a:solidFill>
              <a:srgbClr val="FF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397"/>
    </mc:Choice>
    <mc:Fallback xmlns="">
      <p:transition spd="slow" advTm="2239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9411"/>
                                        </p:tgtEl>
                                        <p:attrNameLst>
                                          <p:attrName>style.visibility</p:attrName>
                                        </p:attrNameLst>
                                      </p:cBhvr>
                                      <p:to>
                                        <p:strVal val="visible"/>
                                      </p:to>
                                    </p:set>
                                    <p:animEffect transition="in" filter="wipe(left)">
                                      <p:cBhvr>
                                        <p:cTn id="7" dur="500"/>
                                        <p:tgtEl>
                                          <p:spTgt spid="5294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9412"/>
                                        </p:tgtEl>
                                        <p:attrNameLst>
                                          <p:attrName>style.visibility</p:attrName>
                                        </p:attrNameLst>
                                      </p:cBhvr>
                                      <p:to>
                                        <p:strVal val="visible"/>
                                      </p:to>
                                    </p:set>
                                    <p:animEffect transition="in" filter="blinds(horizontal)">
                                      <p:cBhvr>
                                        <p:cTn id="12" dur="500"/>
                                        <p:tgtEl>
                                          <p:spTgt spid="52941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29413">
                                            <p:txEl>
                                              <p:pRg st="0" end="0"/>
                                            </p:txEl>
                                          </p:spTgt>
                                        </p:tgtEl>
                                        <p:attrNameLst>
                                          <p:attrName>style.visibility</p:attrName>
                                        </p:attrNameLst>
                                      </p:cBhvr>
                                      <p:to>
                                        <p:strVal val="visible"/>
                                      </p:to>
                                    </p:set>
                                    <p:animEffect transition="in" filter="wipe(left)">
                                      <p:cBhvr>
                                        <p:cTn id="16" dur="1000"/>
                                        <p:tgtEl>
                                          <p:spTgt spid="529413">
                                            <p:txEl>
                                              <p:pRg st="0" end="0"/>
                                            </p:txEl>
                                          </p:spTgt>
                                        </p:tgtEl>
                                      </p:cBhvr>
                                    </p:animEffect>
                                  </p:childTnLst>
                                </p:cTn>
                              </p:par>
                            </p:childTnLst>
                          </p:cTn>
                        </p:par>
                        <p:par>
                          <p:cTn id="17" fill="hold" nodeType="afterGroup">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29413">
                                            <p:txEl>
                                              <p:pRg st="1" end="1"/>
                                            </p:txEl>
                                          </p:spTgt>
                                        </p:tgtEl>
                                        <p:attrNameLst>
                                          <p:attrName>style.visibility</p:attrName>
                                        </p:attrNameLst>
                                      </p:cBhvr>
                                      <p:to>
                                        <p:strVal val="visible"/>
                                      </p:to>
                                    </p:set>
                                    <p:animEffect transition="in" filter="wipe(left)">
                                      <p:cBhvr>
                                        <p:cTn id="20" dur="1000"/>
                                        <p:tgtEl>
                                          <p:spTgt spid="529413">
                                            <p:txEl>
                                              <p:pRg st="1" end="1"/>
                                            </p:txEl>
                                          </p:spTgt>
                                        </p:tgtEl>
                                      </p:cBhvr>
                                    </p:animEffect>
                                  </p:childTnLst>
                                </p:cTn>
                              </p:par>
                            </p:childTnLst>
                          </p:cTn>
                        </p:par>
                        <p:par>
                          <p:cTn id="21" fill="hold" nodeType="afterGroup">
                            <p:stCondLst>
                              <p:cond delay="2500"/>
                            </p:stCondLst>
                            <p:childTnLst>
                              <p:par>
                                <p:cTn id="22" presetID="22" presetClass="entr" presetSubtype="8" fill="hold" grpId="0" nodeType="afterEffect">
                                  <p:stCondLst>
                                    <p:cond delay="0"/>
                                  </p:stCondLst>
                                  <p:childTnLst>
                                    <p:set>
                                      <p:cBhvr>
                                        <p:cTn id="23" dur="1" fill="hold">
                                          <p:stCondLst>
                                            <p:cond delay="0"/>
                                          </p:stCondLst>
                                        </p:cTn>
                                        <p:tgtEl>
                                          <p:spTgt spid="529413">
                                            <p:txEl>
                                              <p:pRg st="2" end="2"/>
                                            </p:txEl>
                                          </p:spTgt>
                                        </p:tgtEl>
                                        <p:attrNameLst>
                                          <p:attrName>style.visibility</p:attrName>
                                        </p:attrNameLst>
                                      </p:cBhvr>
                                      <p:to>
                                        <p:strVal val="visible"/>
                                      </p:to>
                                    </p:set>
                                    <p:animEffect transition="in" filter="wipe(left)">
                                      <p:cBhvr>
                                        <p:cTn id="24" dur="1000"/>
                                        <p:tgtEl>
                                          <p:spTgt spid="529413">
                                            <p:txEl>
                                              <p:pRg st="2" end="2"/>
                                            </p:txEl>
                                          </p:spTgt>
                                        </p:tgtEl>
                                      </p:cBhvr>
                                    </p:animEffect>
                                  </p:childTnLst>
                                </p:cTn>
                              </p:par>
                            </p:childTnLst>
                          </p:cTn>
                        </p:par>
                        <p:par>
                          <p:cTn id="25" fill="hold" nodeType="afterGroup">
                            <p:stCondLst>
                              <p:cond delay="3500"/>
                            </p:stCondLst>
                            <p:childTnLst>
                              <p:par>
                                <p:cTn id="26" presetID="22" presetClass="entr" presetSubtype="8" fill="hold" grpId="0" nodeType="afterEffect">
                                  <p:stCondLst>
                                    <p:cond delay="0"/>
                                  </p:stCondLst>
                                  <p:childTnLst>
                                    <p:set>
                                      <p:cBhvr>
                                        <p:cTn id="27" dur="1" fill="hold">
                                          <p:stCondLst>
                                            <p:cond delay="0"/>
                                          </p:stCondLst>
                                        </p:cTn>
                                        <p:tgtEl>
                                          <p:spTgt spid="529413">
                                            <p:txEl>
                                              <p:pRg st="3" end="3"/>
                                            </p:txEl>
                                          </p:spTgt>
                                        </p:tgtEl>
                                        <p:attrNameLst>
                                          <p:attrName>style.visibility</p:attrName>
                                        </p:attrNameLst>
                                      </p:cBhvr>
                                      <p:to>
                                        <p:strVal val="visible"/>
                                      </p:to>
                                    </p:set>
                                    <p:animEffect transition="in" filter="wipe(left)">
                                      <p:cBhvr>
                                        <p:cTn id="28" dur="1000"/>
                                        <p:tgtEl>
                                          <p:spTgt spid="529413">
                                            <p:txEl>
                                              <p:pRg st="3" end="3"/>
                                            </p:txEl>
                                          </p:spTgt>
                                        </p:tgtEl>
                                      </p:cBhvr>
                                    </p:animEffect>
                                  </p:childTnLst>
                                </p:cTn>
                              </p:par>
                            </p:childTnLst>
                          </p:cTn>
                        </p:par>
                        <p:par>
                          <p:cTn id="29" fill="hold" nodeType="afterGroup">
                            <p:stCondLst>
                              <p:cond delay="4500"/>
                            </p:stCondLst>
                            <p:childTnLst>
                              <p:par>
                                <p:cTn id="30" presetID="22" presetClass="entr" presetSubtype="8" fill="hold" grpId="0" nodeType="afterEffect">
                                  <p:stCondLst>
                                    <p:cond delay="0"/>
                                  </p:stCondLst>
                                  <p:childTnLst>
                                    <p:set>
                                      <p:cBhvr>
                                        <p:cTn id="31" dur="1" fill="hold">
                                          <p:stCondLst>
                                            <p:cond delay="0"/>
                                          </p:stCondLst>
                                        </p:cTn>
                                        <p:tgtEl>
                                          <p:spTgt spid="529413">
                                            <p:txEl>
                                              <p:pRg st="4" end="4"/>
                                            </p:txEl>
                                          </p:spTgt>
                                        </p:tgtEl>
                                        <p:attrNameLst>
                                          <p:attrName>style.visibility</p:attrName>
                                        </p:attrNameLst>
                                      </p:cBhvr>
                                      <p:to>
                                        <p:strVal val="visible"/>
                                      </p:to>
                                    </p:set>
                                    <p:animEffect transition="in" filter="wipe(left)">
                                      <p:cBhvr>
                                        <p:cTn id="32" dur="1000"/>
                                        <p:tgtEl>
                                          <p:spTgt spid="529413">
                                            <p:txEl>
                                              <p:pRg st="4" end="4"/>
                                            </p:txEl>
                                          </p:spTgt>
                                        </p:tgtEl>
                                      </p:cBhvr>
                                    </p:animEffect>
                                  </p:childTnLst>
                                </p:cTn>
                              </p:par>
                            </p:childTnLst>
                          </p:cTn>
                        </p:par>
                        <p:par>
                          <p:cTn id="33" fill="hold" nodeType="afterGroup">
                            <p:stCondLst>
                              <p:cond delay="5500"/>
                            </p:stCondLst>
                            <p:childTnLst>
                              <p:par>
                                <p:cTn id="34" presetID="22" presetClass="entr" presetSubtype="8" fill="hold" grpId="0" nodeType="afterEffect">
                                  <p:stCondLst>
                                    <p:cond delay="0"/>
                                  </p:stCondLst>
                                  <p:childTnLst>
                                    <p:set>
                                      <p:cBhvr>
                                        <p:cTn id="35" dur="1" fill="hold">
                                          <p:stCondLst>
                                            <p:cond delay="0"/>
                                          </p:stCondLst>
                                        </p:cTn>
                                        <p:tgtEl>
                                          <p:spTgt spid="529413">
                                            <p:txEl>
                                              <p:pRg st="5" end="5"/>
                                            </p:txEl>
                                          </p:spTgt>
                                        </p:tgtEl>
                                        <p:attrNameLst>
                                          <p:attrName>style.visibility</p:attrName>
                                        </p:attrNameLst>
                                      </p:cBhvr>
                                      <p:to>
                                        <p:strVal val="visible"/>
                                      </p:to>
                                    </p:set>
                                    <p:animEffect transition="in" filter="wipe(left)">
                                      <p:cBhvr>
                                        <p:cTn id="36" dur="1000"/>
                                        <p:tgtEl>
                                          <p:spTgt spid="529413">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29414"/>
                                        </p:tgtEl>
                                        <p:attrNameLst>
                                          <p:attrName>style.visibility</p:attrName>
                                        </p:attrNameLst>
                                      </p:cBhvr>
                                      <p:to>
                                        <p:strVal val="visible"/>
                                      </p:to>
                                    </p:set>
                                    <p:animEffect transition="in" filter="wipe(left)">
                                      <p:cBhvr>
                                        <p:cTn id="41" dur="1000"/>
                                        <p:tgtEl>
                                          <p:spTgt spid="529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p:bldP spid="52941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9" name="Rectangle 7">
            <a:extLst>
              <a:ext uri="{FF2B5EF4-FFF2-40B4-BE49-F238E27FC236}">
                <a16:creationId xmlns:a16="http://schemas.microsoft.com/office/drawing/2014/main" id="{5D6FE4F4-05F1-49C9-B700-A2D7031A36AE}"/>
              </a:ext>
            </a:extLst>
          </p:cNvPr>
          <p:cNvSpPr>
            <a:spLocks noChangeAspect="1" noChangeArrowheads="1"/>
          </p:cNvSpPr>
          <p:nvPr/>
        </p:nvSpPr>
        <p:spPr bwMode="auto">
          <a:xfrm rot="-5400000">
            <a:off x="3059907" y="619919"/>
            <a:ext cx="3024187" cy="8785225"/>
          </a:xfrm>
          <a:prstGeom prst="rect">
            <a:avLst/>
          </a:prstGeom>
          <a:gradFill rotWithShape="1">
            <a:gsLst>
              <a:gs pos="0">
                <a:srgbClr val="C5ECFF"/>
              </a:gs>
              <a:gs pos="100000">
                <a:srgbClr val="C5ECFF">
                  <a:gamma/>
                  <a:tint val="28627"/>
                  <a:invGamma/>
                </a:srgbClr>
              </a:gs>
            </a:gsLst>
            <a:lin ang="5400000" scaled="1"/>
          </a:gradFill>
          <a:ln w="57150" cmpd="thickThin">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30434" name="Rectangle 2">
            <a:extLst>
              <a:ext uri="{FF2B5EF4-FFF2-40B4-BE49-F238E27FC236}">
                <a16:creationId xmlns:a16="http://schemas.microsoft.com/office/drawing/2014/main" id="{3DFDEC75-A6CD-4011-9828-E7B5CD4DCE8D}"/>
              </a:ext>
            </a:extLst>
          </p:cNvPr>
          <p:cNvSpPr>
            <a:spLocks noChangeArrowheads="1"/>
          </p:cNvSpPr>
          <p:nvPr/>
        </p:nvSpPr>
        <p:spPr bwMode="auto">
          <a:xfrm>
            <a:off x="1150938" y="260350"/>
            <a:ext cx="7793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四、用户定义完整性约束</a:t>
            </a:r>
          </a:p>
        </p:txBody>
      </p:sp>
      <p:sp>
        <p:nvSpPr>
          <p:cNvPr id="530435" name="Rectangle 3">
            <a:extLst>
              <a:ext uri="{FF2B5EF4-FFF2-40B4-BE49-F238E27FC236}">
                <a16:creationId xmlns:a16="http://schemas.microsoft.com/office/drawing/2014/main" id="{551FF7FF-B45E-4D42-BEB4-302E3A6D1DA5}"/>
              </a:ext>
            </a:extLst>
          </p:cNvPr>
          <p:cNvSpPr>
            <a:spLocks noChangeArrowheads="1"/>
          </p:cNvSpPr>
          <p:nvPr/>
        </p:nvSpPr>
        <p:spPr bwMode="auto">
          <a:xfrm>
            <a:off x="539750" y="1196975"/>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、触发器动态约束</a:t>
            </a:r>
          </a:p>
        </p:txBody>
      </p:sp>
      <p:sp>
        <p:nvSpPr>
          <p:cNvPr id="530436" name="AutoShape 4">
            <a:extLst>
              <a:ext uri="{FF2B5EF4-FFF2-40B4-BE49-F238E27FC236}">
                <a16:creationId xmlns:a16="http://schemas.microsoft.com/office/drawing/2014/main" id="{3EC14800-9193-4237-A2F1-2099B33699DC}"/>
              </a:ext>
            </a:extLst>
          </p:cNvPr>
          <p:cNvSpPr>
            <a:spLocks noChangeArrowheads="1"/>
          </p:cNvSpPr>
          <p:nvPr/>
        </p:nvSpPr>
        <p:spPr bwMode="auto">
          <a:xfrm>
            <a:off x="395288" y="1916113"/>
            <a:ext cx="8424862" cy="1368425"/>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530437" name="Rectangle 5">
            <a:extLst>
              <a:ext uri="{FF2B5EF4-FFF2-40B4-BE49-F238E27FC236}">
                <a16:creationId xmlns:a16="http://schemas.microsoft.com/office/drawing/2014/main" id="{A77C14FE-F487-4397-AB2D-1CB9E7FF998A}"/>
              </a:ext>
            </a:extLst>
          </p:cNvPr>
          <p:cNvSpPr>
            <a:spLocks noChangeArrowheads="1"/>
          </p:cNvSpPr>
          <p:nvPr/>
        </p:nvSpPr>
        <p:spPr bwMode="auto">
          <a:xfrm>
            <a:off x="468313" y="2012950"/>
            <a:ext cx="827881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a:solidFill>
                  <a:srgbClr val="000000"/>
                </a:solidFill>
                <a:effectLst>
                  <a:outerShdw blurRad="38100" dist="38100" dir="2700000" algn="tl">
                    <a:srgbClr val="C0C0C0"/>
                  </a:outerShdw>
                </a:effectLst>
                <a:latin typeface="Tahoma" panose="020B0604030504040204" pitchFamily="34" charset="0"/>
              </a:rPr>
              <a:t>      触发器是一种动态约束，能因某一个事件的触发而由系统自动执行的</a:t>
            </a:r>
            <a:r>
              <a:rPr lang="en-US" altLang="zh-CN" sz="2800" b="1">
                <a:solidFill>
                  <a:srgbClr val="000000"/>
                </a:solidFill>
                <a:effectLst>
                  <a:outerShdw blurRad="38100" dist="38100" dir="2700000" algn="tl">
                    <a:srgbClr val="C0C0C0"/>
                  </a:outerShdw>
                </a:effectLst>
                <a:latin typeface="Tahoma" panose="020B0604030504040204" pitchFamily="34" charset="0"/>
              </a:rPr>
              <a:t>SQL</a:t>
            </a:r>
            <a:r>
              <a:rPr lang="zh-CN" altLang="en-US" sz="2800" b="1">
                <a:solidFill>
                  <a:srgbClr val="000000"/>
                </a:solidFill>
                <a:effectLst>
                  <a:outerShdw blurRad="38100" dist="38100" dir="2700000" algn="tl">
                    <a:srgbClr val="C0C0C0"/>
                  </a:outerShdw>
                </a:effectLst>
                <a:latin typeface="Tahoma" panose="020B0604030504040204" pitchFamily="34" charset="0"/>
              </a:rPr>
              <a:t>语句序列。</a:t>
            </a:r>
          </a:p>
        </p:txBody>
      </p:sp>
      <p:sp>
        <p:nvSpPr>
          <p:cNvPr id="530438" name="Rectangle 6">
            <a:extLst>
              <a:ext uri="{FF2B5EF4-FFF2-40B4-BE49-F238E27FC236}">
                <a16:creationId xmlns:a16="http://schemas.microsoft.com/office/drawing/2014/main" id="{F9198726-31C4-4B05-839A-81DF5A98337D}"/>
              </a:ext>
            </a:extLst>
          </p:cNvPr>
          <p:cNvSpPr>
            <a:spLocks noChangeArrowheads="1"/>
          </p:cNvSpPr>
          <p:nvPr/>
        </p:nvSpPr>
        <p:spPr bwMode="auto">
          <a:xfrm>
            <a:off x="250825" y="3663950"/>
            <a:ext cx="8713788" cy="264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45000"/>
              </a:spcBef>
            </a:pPr>
            <a:r>
              <a:rPr lang="zh-CN" altLang="en-US" sz="2800" b="1">
                <a:solidFill>
                  <a:srgbClr val="660066"/>
                </a:solidFill>
                <a:effectLst>
                  <a:outerShdw blurRad="38100" dist="38100" dir="2700000" algn="tl">
                    <a:srgbClr val="C0C0C0"/>
                  </a:outerShdw>
                </a:effectLst>
                <a:ea typeface="华文中宋" panose="02010600040101010101" pitchFamily="2" charset="-122"/>
              </a:rPr>
              <a:t>一个触发器由三部分组成：</a:t>
            </a:r>
            <a:r>
              <a:rPr lang="zh-CN" altLang="en-US" sz="2400" b="1">
                <a:effectLst>
                  <a:outerShdw blurRad="38100" dist="38100" dir="2700000" algn="tl">
                    <a:srgbClr val="C0C0C0"/>
                  </a:outerShdw>
                </a:effectLst>
              </a:rPr>
              <a:t> </a:t>
            </a:r>
            <a:endParaRPr lang="zh-CN" altLang="en-US" sz="2400" b="1">
              <a:solidFill>
                <a:srgbClr val="660066"/>
              </a:solidFill>
              <a:effectLst>
                <a:outerShdw blurRad="38100" dist="38100" dir="2700000" algn="tl">
                  <a:srgbClr val="C0C0C0"/>
                </a:outerShdw>
              </a:effectLst>
            </a:endParaRPr>
          </a:p>
          <a:p>
            <a:pPr>
              <a:spcBef>
                <a:spcPct val="45000"/>
              </a:spcBef>
            </a:pPr>
            <a:r>
              <a:rPr lang="zh-CN" altLang="en-US" sz="2600" b="1">
                <a:solidFill>
                  <a:srgbClr val="660066"/>
                </a:solidFill>
                <a:effectLst>
                  <a:outerShdw blurRad="38100" dist="38100" dir="2700000" algn="tl">
                    <a:srgbClr val="C0C0C0"/>
                  </a:outerShdw>
                </a:effectLst>
              </a:rPr>
              <a:t>   </a:t>
            </a:r>
            <a:r>
              <a:rPr lang="zh-CN" altLang="en-US" sz="2600" b="1">
                <a:solidFill>
                  <a:srgbClr val="003366"/>
                </a:solidFill>
                <a:effectLst>
                  <a:outerShdw blurRad="38100" dist="38100" dir="2700000" algn="tl">
                    <a:srgbClr val="C0C0C0"/>
                  </a:outerShdw>
                </a:effectLst>
              </a:rPr>
              <a:t>（</a:t>
            </a:r>
            <a:r>
              <a:rPr lang="en-US" altLang="zh-CN" sz="2600" b="1">
                <a:solidFill>
                  <a:srgbClr val="003366"/>
                </a:solidFill>
                <a:effectLst>
                  <a:outerShdw blurRad="38100" dist="38100" dir="2700000" algn="tl">
                    <a:srgbClr val="C0C0C0"/>
                  </a:outerShdw>
                </a:effectLst>
              </a:rPr>
              <a:t>1</a:t>
            </a:r>
            <a:r>
              <a:rPr lang="zh-CN" altLang="en-US" sz="2600" b="1">
                <a:solidFill>
                  <a:srgbClr val="003366"/>
                </a:solidFill>
                <a:effectLst>
                  <a:outerShdw blurRad="38100" dist="38100" dir="2700000" algn="tl">
                    <a:srgbClr val="C0C0C0"/>
                  </a:outerShdw>
                </a:effectLst>
              </a:rPr>
              <a:t>）事件。</a:t>
            </a:r>
            <a:r>
              <a:rPr lang="zh-CN" altLang="en-US" sz="2600" b="1">
                <a:effectLst>
                  <a:outerShdw blurRad="38100" dist="38100" dir="2700000" algn="tl">
                    <a:srgbClr val="C0C0C0"/>
                  </a:outerShdw>
                </a:effectLst>
              </a:rPr>
              <a:t>指对数据库的插入、删除、修改操作。触发器在这些事件发生前、发生时或发生后被触发执行。</a:t>
            </a:r>
          </a:p>
          <a:p>
            <a:pPr>
              <a:spcBef>
                <a:spcPct val="45000"/>
              </a:spcBef>
            </a:pPr>
            <a:r>
              <a:rPr lang="zh-CN" altLang="en-US" sz="2600" b="1">
                <a:solidFill>
                  <a:srgbClr val="003366"/>
                </a:solidFill>
                <a:effectLst>
                  <a:outerShdw blurRad="38100" dist="38100" dir="2700000" algn="tl">
                    <a:srgbClr val="C0C0C0"/>
                  </a:outerShdw>
                </a:effectLst>
              </a:rPr>
              <a:t>   （</a:t>
            </a:r>
            <a:r>
              <a:rPr lang="en-US" altLang="zh-CN" sz="2600" b="1">
                <a:solidFill>
                  <a:srgbClr val="003366"/>
                </a:solidFill>
                <a:effectLst>
                  <a:outerShdw blurRad="38100" dist="38100" dir="2700000" algn="tl">
                    <a:srgbClr val="C0C0C0"/>
                  </a:outerShdw>
                </a:effectLst>
              </a:rPr>
              <a:t>2</a:t>
            </a:r>
            <a:r>
              <a:rPr lang="zh-CN" altLang="en-US" sz="2600" b="1">
                <a:solidFill>
                  <a:srgbClr val="003366"/>
                </a:solidFill>
                <a:effectLst>
                  <a:outerShdw blurRad="38100" dist="38100" dir="2700000" algn="tl">
                    <a:srgbClr val="C0C0C0"/>
                  </a:outerShdw>
                </a:effectLst>
              </a:rPr>
              <a:t>）条件。</a:t>
            </a:r>
            <a:r>
              <a:rPr lang="zh-CN" altLang="en-US" sz="2600" b="1">
                <a:effectLst>
                  <a:outerShdw blurRad="38100" dist="38100" dir="2700000" algn="tl">
                    <a:srgbClr val="C0C0C0"/>
                  </a:outerShdw>
                </a:effectLst>
              </a:rPr>
              <a:t>触发器检测事件是否发生的条件。</a:t>
            </a:r>
            <a:endParaRPr lang="zh-CN" altLang="en-US" sz="2600" b="1">
              <a:solidFill>
                <a:srgbClr val="660066"/>
              </a:solidFill>
              <a:effectLst>
                <a:outerShdw blurRad="38100" dist="38100" dir="2700000" algn="tl">
                  <a:srgbClr val="C0C0C0"/>
                </a:outerShdw>
              </a:effectLst>
            </a:endParaRPr>
          </a:p>
          <a:p>
            <a:pPr>
              <a:spcBef>
                <a:spcPct val="45000"/>
              </a:spcBef>
            </a:pPr>
            <a:r>
              <a:rPr lang="zh-CN" altLang="en-US" sz="2600" b="1">
                <a:solidFill>
                  <a:srgbClr val="003366"/>
                </a:solidFill>
                <a:effectLst>
                  <a:outerShdw blurRad="38100" dist="38100" dir="2700000" algn="tl">
                    <a:srgbClr val="C0C0C0"/>
                  </a:outerShdw>
                </a:effectLst>
              </a:rPr>
              <a:t>   （</a:t>
            </a:r>
            <a:r>
              <a:rPr lang="en-US" altLang="zh-CN" sz="2600" b="1">
                <a:solidFill>
                  <a:srgbClr val="003366"/>
                </a:solidFill>
                <a:effectLst>
                  <a:outerShdw blurRad="38100" dist="38100" dir="2700000" algn="tl">
                    <a:srgbClr val="C0C0C0"/>
                  </a:outerShdw>
                </a:effectLst>
              </a:rPr>
              <a:t>3</a:t>
            </a:r>
            <a:r>
              <a:rPr lang="zh-CN" altLang="en-US" sz="2600" b="1">
                <a:solidFill>
                  <a:srgbClr val="003366"/>
                </a:solidFill>
                <a:effectLst>
                  <a:outerShdw blurRad="38100" dist="38100" dir="2700000" algn="tl">
                    <a:srgbClr val="C0C0C0"/>
                  </a:outerShdw>
                </a:effectLst>
              </a:rPr>
              <a:t>）动作。</a:t>
            </a:r>
            <a:r>
              <a:rPr lang="zh-CN" altLang="en-US" sz="2600" b="1">
                <a:effectLst>
                  <a:outerShdw blurRad="38100" dist="38100" dir="2700000" algn="tl">
                    <a:srgbClr val="C0C0C0"/>
                  </a:outerShdw>
                </a:effectLst>
              </a:rPr>
              <a:t>当测试条件满足时执行的对数据库的操作。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7011"/>
    </mc:Choice>
    <mc:Fallback xmlns="">
      <p:transition spd="slow" advTm="7701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0435"/>
                                        </p:tgtEl>
                                        <p:attrNameLst>
                                          <p:attrName>style.visibility</p:attrName>
                                        </p:attrNameLst>
                                      </p:cBhvr>
                                      <p:to>
                                        <p:strVal val="visible"/>
                                      </p:to>
                                    </p:set>
                                    <p:animEffect transition="in" filter="wipe(left)">
                                      <p:cBhvr>
                                        <p:cTn id="7" dur="500"/>
                                        <p:tgtEl>
                                          <p:spTgt spid="530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30436"/>
                                        </p:tgtEl>
                                        <p:attrNameLst>
                                          <p:attrName>style.visibility</p:attrName>
                                        </p:attrNameLst>
                                      </p:cBhvr>
                                      <p:to>
                                        <p:strVal val="visible"/>
                                      </p:to>
                                    </p:set>
                                    <p:animEffect transition="in" filter="wipe(up)">
                                      <p:cBhvr>
                                        <p:cTn id="12" dur="500"/>
                                        <p:tgtEl>
                                          <p:spTgt spid="530436"/>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30437"/>
                                        </p:tgtEl>
                                        <p:attrNameLst>
                                          <p:attrName>style.visibility</p:attrName>
                                        </p:attrNameLst>
                                      </p:cBhvr>
                                      <p:to>
                                        <p:strVal val="visible"/>
                                      </p:to>
                                    </p:set>
                                    <p:animEffect transition="in" filter="wipe(left)">
                                      <p:cBhvr>
                                        <p:cTn id="16" dur="500"/>
                                        <p:tgtEl>
                                          <p:spTgt spid="5304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10" fill="hold" nodeType="clickEffect">
                                  <p:stCondLst>
                                    <p:cond delay="0"/>
                                  </p:stCondLst>
                                  <p:childTnLst>
                                    <p:set>
                                      <p:cBhvr>
                                        <p:cTn id="20" dur="1" fill="hold">
                                          <p:stCondLst>
                                            <p:cond delay="0"/>
                                          </p:stCondLst>
                                        </p:cTn>
                                        <p:tgtEl>
                                          <p:spTgt spid="530439"/>
                                        </p:tgtEl>
                                        <p:attrNameLst>
                                          <p:attrName>style.visibility</p:attrName>
                                        </p:attrNameLst>
                                      </p:cBhvr>
                                      <p:to>
                                        <p:strVal val="visible"/>
                                      </p:to>
                                    </p:set>
                                    <p:anim calcmode="lin" valueType="num">
                                      <p:cBhvr>
                                        <p:cTn id="21" dur="2000" fill="hold"/>
                                        <p:tgtEl>
                                          <p:spTgt spid="530439"/>
                                        </p:tgtEl>
                                        <p:attrNameLst>
                                          <p:attrName>ppt_w</p:attrName>
                                        </p:attrNameLst>
                                      </p:cBhvr>
                                      <p:tavLst>
                                        <p:tav tm="0">
                                          <p:val>
                                            <p:fltVal val="0"/>
                                          </p:val>
                                        </p:tav>
                                        <p:tav tm="100000">
                                          <p:val>
                                            <p:strVal val="#ppt_w"/>
                                          </p:val>
                                        </p:tav>
                                      </p:tavLst>
                                    </p:anim>
                                    <p:anim calcmode="lin" valueType="num">
                                      <p:cBhvr>
                                        <p:cTn id="22" dur="2000" fill="hold"/>
                                        <p:tgtEl>
                                          <p:spTgt spid="530439"/>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0438">
                                            <p:txEl>
                                              <p:pRg st="0" end="0"/>
                                            </p:txEl>
                                          </p:spTgt>
                                        </p:tgtEl>
                                        <p:attrNameLst>
                                          <p:attrName>style.visibility</p:attrName>
                                        </p:attrNameLst>
                                      </p:cBhvr>
                                      <p:to>
                                        <p:strVal val="visible"/>
                                      </p:to>
                                    </p:set>
                                    <p:animEffect transition="in" filter="wipe(left)">
                                      <p:cBhvr>
                                        <p:cTn id="27" dur="500"/>
                                        <p:tgtEl>
                                          <p:spTgt spid="53043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0438">
                                            <p:txEl>
                                              <p:pRg st="1" end="1"/>
                                            </p:txEl>
                                          </p:spTgt>
                                        </p:tgtEl>
                                        <p:attrNameLst>
                                          <p:attrName>style.visibility</p:attrName>
                                        </p:attrNameLst>
                                      </p:cBhvr>
                                      <p:to>
                                        <p:strVal val="visible"/>
                                      </p:to>
                                    </p:set>
                                    <p:animEffect transition="in" filter="wipe(left)">
                                      <p:cBhvr>
                                        <p:cTn id="32" dur="500"/>
                                        <p:tgtEl>
                                          <p:spTgt spid="530438">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30438">
                                            <p:txEl>
                                              <p:pRg st="2" end="2"/>
                                            </p:txEl>
                                          </p:spTgt>
                                        </p:tgtEl>
                                        <p:attrNameLst>
                                          <p:attrName>style.visibility</p:attrName>
                                        </p:attrNameLst>
                                      </p:cBhvr>
                                      <p:to>
                                        <p:strVal val="visible"/>
                                      </p:to>
                                    </p:set>
                                    <p:animEffect transition="in" filter="wipe(left)">
                                      <p:cBhvr>
                                        <p:cTn id="37" dur="500"/>
                                        <p:tgtEl>
                                          <p:spTgt spid="530438">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30438">
                                            <p:txEl>
                                              <p:pRg st="3" end="3"/>
                                            </p:txEl>
                                          </p:spTgt>
                                        </p:tgtEl>
                                        <p:attrNameLst>
                                          <p:attrName>style.visibility</p:attrName>
                                        </p:attrNameLst>
                                      </p:cBhvr>
                                      <p:to>
                                        <p:strVal val="visible"/>
                                      </p:to>
                                    </p:set>
                                    <p:animEffect transition="in" filter="wipe(left)">
                                      <p:cBhvr>
                                        <p:cTn id="42" dur="500"/>
                                        <p:tgtEl>
                                          <p:spTgt spid="5304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5" grpId="0"/>
      <p:bldP spid="530436" grpId="0" animBg="1"/>
      <p:bldP spid="530437" grpId="0"/>
      <p:bldP spid="53043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3" name="Rectangle 3">
            <a:extLst>
              <a:ext uri="{FF2B5EF4-FFF2-40B4-BE49-F238E27FC236}">
                <a16:creationId xmlns:a16="http://schemas.microsoft.com/office/drawing/2014/main" id="{5E2C0075-AE6E-456E-A3B0-6A61E29119CB}"/>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五、</a:t>
            </a:r>
            <a:r>
              <a:rPr lang="en-US" altLang="zh-CN" sz="3200">
                <a:ea typeface="幼圆" panose="02010509060101010101" pitchFamily="49" charset="-122"/>
              </a:rPr>
              <a:t>SQL Server 2005</a:t>
            </a:r>
            <a:r>
              <a:rPr lang="zh-CN" altLang="en-US" sz="3200">
                <a:ea typeface="幼圆" panose="02010509060101010101" pitchFamily="49" charset="-122"/>
              </a:rPr>
              <a:t>的完整性约束</a:t>
            </a:r>
          </a:p>
        </p:txBody>
      </p:sp>
      <p:sp>
        <p:nvSpPr>
          <p:cNvPr id="460804" name="AutoShape 4">
            <a:extLst>
              <a:ext uri="{FF2B5EF4-FFF2-40B4-BE49-F238E27FC236}">
                <a16:creationId xmlns:a16="http://schemas.microsoft.com/office/drawing/2014/main" id="{A6431868-1740-4777-856A-52EC5B63983D}"/>
              </a:ext>
            </a:extLst>
          </p:cNvPr>
          <p:cNvSpPr>
            <a:spLocks noChangeArrowheads="1"/>
          </p:cNvSpPr>
          <p:nvPr/>
        </p:nvSpPr>
        <p:spPr bwMode="auto">
          <a:xfrm>
            <a:off x="395288" y="1414463"/>
            <a:ext cx="8424862" cy="3527425"/>
          </a:xfrm>
          <a:prstGeom prst="roundRect">
            <a:avLst>
              <a:gd name="adj" fmla="val 9130"/>
            </a:avLst>
          </a:prstGeom>
          <a:solidFill>
            <a:schemeClr val="bg1"/>
          </a:solidFill>
          <a:ln w="38100">
            <a:solidFill>
              <a:srgbClr val="6666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endParaRPr lang="en-US" altLang="zh-CN" sz="2800" b="1">
              <a:solidFill>
                <a:srgbClr val="000000"/>
              </a:solidFill>
              <a:latin typeface="Tahoma" panose="020B0604030504040204" pitchFamily="34" charset="0"/>
              <a:cs typeface="Times New Roman" panose="02020603050405020304" pitchFamily="18" charset="0"/>
            </a:endParaRPr>
          </a:p>
        </p:txBody>
      </p:sp>
      <p:sp>
        <p:nvSpPr>
          <p:cNvPr id="460805" name="Rectangle 5">
            <a:extLst>
              <a:ext uri="{FF2B5EF4-FFF2-40B4-BE49-F238E27FC236}">
                <a16:creationId xmlns:a16="http://schemas.microsoft.com/office/drawing/2014/main" id="{9EACCA4D-CAFC-47AE-919C-557DDD1CE272}"/>
              </a:ext>
            </a:extLst>
          </p:cNvPr>
          <p:cNvSpPr>
            <a:spLocks noChangeArrowheads="1"/>
          </p:cNvSpPr>
          <p:nvPr/>
        </p:nvSpPr>
        <p:spPr bwMode="auto">
          <a:xfrm>
            <a:off x="468313" y="1752600"/>
            <a:ext cx="8278812"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lang="zh-CN" altLang="en-US" sz="2800" b="1">
                <a:solidFill>
                  <a:srgbClr val="000000"/>
                </a:solidFill>
                <a:effectLst>
                  <a:outerShdw blurRad="38100" dist="38100" dir="2700000" algn="tl">
                    <a:srgbClr val="C0C0C0"/>
                  </a:outerShdw>
                </a:effectLst>
                <a:latin typeface="Tahoma" panose="020B0604030504040204" pitchFamily="34" charset="0"/>
              </a:rPr>
              <a:t>      完整性约束是</a:t>
            </a:r>
            <a:r>
              <a:rPr lang="en-US" altLang="zh-CN" sz="2800" b="1">
                <a:solidFill>
                  <a:srgbClr val="000000"/>
                </a:solidFill>
                <a:effectLst>
                  <a:outerShdw blurRad="38100" dist="38100" dir="2700000" algn="tl">
                    <a:srgbClr val="C0C0C0"/>
                  </a:outerShdw>
                </a:effectLst>
                <a:latin typeface="Tahoma" panose="020B0604030504040204" pitchFamily="34" charset="0"/>
              </a:rPr>
              <a:t>SQL Server</a:t>
            </a:r>
            <a:r>
              <a:rPr lang="zh-CN" altLang="en-US" sz="2800" b="1">
                <a:solidFill>
                  <a:srgbClr val="000000"/>
                </a:solidFill>
                <a:effectLst>
                  <a:outerShdw blurRad="38100" dist="38100" dir="2700000" algn="tl">
                    <a:srgbClr val="C0C0C0"/>
                  </a:outerShdw>
                </a:effectLst>
                <a:latin typeface="Tahoma" panose="020B0604030504040204" pitchFamily="34" charset="0"/>
              </a:rPr>
              <a:t>数据库实现数据的强制完整性的标准机制。</a:t>
            </a:r>
          </a:p>
          <a:p>
            <a:pPr>
              <a:lnSpc>
                <a:spcPct val="110000"/>
              </a:lnSpc>
              <a:spcBef>
                <a:spcPct val="50000"/>
              </a:spcBef>
            </a:pPr>
            <a:r>
              <a:rPr lang="en-US" altLang="zh-CN" sz="2800" b="1"/>
              <a:t>      SQL Server </a:t>
            </a:r>
            <a:r>
              <a:rPr lang="zh-CN" altLang="en-US" sz="2800" b="1"/>
              <a:t>数据库中，可以将数据完整性分为</a:t>
            </a:r>
            <a:r>
              <a:rPr lang="zh-CN" altLang="en-US" sz="2800" b="1">
                <a:solidFill>
                  <a:srgbClr val="660066"/>
                </a:solidFill>
              </a:rPr>
              <a:t>域完整性</a:t>
            </a:r>
            <a:r>
              <a:rPr lang="zh-CN" altLang="en-US" sz="2800" b="1"/>
              <a:t>、</a:t>
            </a:r>
            <a:r>
              <a:rPr lang="zh-CN" altLang="en-US" sz="2800" b="1">
                <a:solidFill>
                  <a:srgbClr val="660066"/>
                </a:solidFill>
              </a:rPr>
              <a:t>实体完整性</a:t>
            </a:r>
            <a:r>
              <a:rPr lang="zh-CN" altLang="en-US" sz="2800" b="1"/>
              <a:t>、</a:t>
            </a:r>
            <a:r>
              <a:rPr lang="zh-CN" altLang="en-US" sz="2800" b="1">
                <a:solidFill>
                  <a:srgbClr val="660066"/>
                </a:solidFill>
              </a:rPr>
              <a:t>参照完整性</a:t>
            </a:r>
            <a:r>
              <a:rPr lang="zh-CN" altLang="en-US" sz="2800" b="1"/>
              <a:t>和</a:t>
            </a:r>
            <a:r>
              <a:rPr lang="zh-CN" altLang="en-US" sz="2800" b="1">
                <a:solidFill>
                  <a:srgbClr val="660066"/>
                </a:solidFill>
              </a:rPr>
              <a:t>用户定义完整性</a:t>
            </a:r>
            <a:r>
              <a:rPr lang="zh-CN" altLang="en-US" sz="2800" b="1"/>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459"/>
    </mc:Choice>
    <mc:Fallback xmlns="">
      <p:transition spd="slow" advTm="1845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0804"/>
                                        </p:tgtEl>
                                        <p:attrNameLst>
                                          <p:attrName>style.visibility</p:attrName>
                                        </p:attrNameLst>
                                      </p:cBhvr>
                                      <p:to>
                                        <p:strVal val="visible"/>
                                      </p:to>
                                    </p:set>
                                    <p:animEffect transition="in" filter="wipe(up)">
                                      <p:cBhvr>
                                        <p:cTn id="7" dur="500"/>
                                        <p:tgtEl>
                                          <p:spTgt spid="46080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0805">
                                            <p:txEl>
                                              <p:pRg st="0" end="0"/>
                                            </p:txEl>
                                          </p:spTgt>
                                        </p:tgtEl>
                                        <p:attrNameLst>
                                          <p:attrName>style.visibility</p:attrName>
                                        </p:attrNameLst>
                                      </p:cBhvr>
                                      <p:to>
                                        <p:strVal val="visible"/>
                                      </p:to>
                                    </p:set>
                                    <p:animEffect transition="in" filter="wipe(left)">
                                      <p:cBhvr>
                                        <p:cTn id="11" dur="500"/>
                                        <p:tgtEl>
                                          <p:spTgt spid="46080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60805">
                                            <p:txEl>
                                              <p:pRg st="1" end="1"/>
                                            </p:txEl>
                                          </p:spTgt>
                                        </p:tgtEl>
                                        <p:attrNameLst>
                                          <p:attrName>style.visibility</p:attrName>
                                        </p:attrNameLst>
                                      </p:cBhvr>
                                      <p:to>
                                        <p:strVal val="visible"/>
                                      </p:to>
                                    </p:set>
                                    <p:animEffect transition="in" filter="wipe(left)">
                                      <p:cBhvr>
                                        <p:cTn id="16" dur="500"/>
                                        <p:tgtEl>
                                          <p:spTgt spid="46080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4" grpId="0" animBg="1"/>
      <p:bldP spid="46080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a:extLst>
              <a:ext uri="{FF2B5EF4-FFF2-40B4-BE49-F238E27FC236}">
                <a16:creationId xmlns:a16="http://schemas.microsoft.com/office/drawing/2014/main" id="{8B51CCEF-3717-4BEE-96C3-4C6D1146900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zh-CN" altLang="en-US" sz="3200">
                <a:ea typeface="幼圆" panose="02010509060101010101" pitchFamily="49" charset="-122"/>
              </a:rPr>
              <a:t>五、</a:t>
            </a:r>
            <a:r>
              <a:rPr lang="en-US" altLang="zh-CN" sz="3200">
                <a:ea typeface="幼圆" panose="02010509060101010101" pitchFamily="49" charset="-122"/>
              </a:rPr>
              <a:t>SQL Server 2005</a:t>
            </a:r>
            <a:r>
              <a:rPr lang="zh-CN" altLang="en-US" sz="3200">
                <a:ea typeface="幼圆" panose="02010509060101010101" pitchFamily="49" charset="-122"/>
              </a:rPr>
              <a:t>的完整性约束</a:t>
            </a:r>
          </a:p>
        </p:txBody>
      </p:sp>
      <p:graphicFrame>
        <p:nvGraphicFramePr>
          <p:cNvPr id="536677" name="Group 101">
            <a:extLst>
              <a:ext uri="{FF2B5EF4-FFF2-40B4-BE49-F238E27FC236}">
                <a16:creationId xmlns:a16="http://schemas.microsoft.com/office/drawing/2014/main" id="{F02D4FD2-219B-4A4B-9858-4994DF2CB08C}"/>
              </a:ext>
            </a:extLst>
          </p:cNvPr>
          <p:cNvGraphicFramePr>
            <a:graphicFrameLocks noGrp="1"/>
          </p:cNvGraphicFramePr>
          <p:nvPr/>
        </p:nvGraphicFramePr>
        <p:xfrm>
          <a:off x="381000" y="1268413"/>
          <a:ext cx="8458200" cy="5025645"/>
        </p:xfrm>
        <a:graphic>
          <a:graphicData uri="http://schemas.openxmlformats.org/drawingml/2006/table">
            <a:tbl>
              <a:tblPr/>
              <a:tblGrid>
                <a:gridCol w="2390775">
                  <a:extLst>
                    <a:ext uri="{9D8B030D-6E8A-4147-A177-3AD203B41FA5}">
                      <a16:colId xmlns:a16="http://schemas.microsoft.com/office/drawing/2014/main" val="1055635260"/>
                    </a:ext>
                  </a:extLst>
                </a:gridCol>
                <a:gridCol w="1944688">
                  <a:extLst>
                    <a:ext uri="{9D8B030D-6E8A-4147-A177-3AD203B41FA5}">
                      <a16:colId xmlns:a16="http://schemas.microsoft.com/office/drawing/2014/main" val="1457271854"/>
                    </a:ext>
                  </a:extLst>
                </a:gridCol>
                <a:gridCol w="4122737">
                  <a:extLst>
                    <a:ext uri="{9D8B030D-6E8A-4147-A177-3AD203B41FA5}">
                      <a16:colId xmlns:a16="http://schemas.microsoft.com/office/drawing/2014/main" val="1181238256"/>
                    </a:ext>
                  </a:extLst>
                </a:gridCol>
              </a:tblGrid>
              <a:tr h="7207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完整性类型</a:t>
                      </a:r>
                      <a:endParaRPr kumimoji="0" lang="zh-CN" altLang="en-US" sz="2600" b="1"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47A3FF">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实现机制</a:t>
                      </a:r>
                      <a:endParaRPr kumimoji="0" lang="zh-CN" altLang="en-US" sz="2600" b="1"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47A3FF">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描述</a:t>
                      </a:r>
                      <a:endParaRPr kumimoji="0" lang="zh-CN" altLang="en-US" sz="2600" b="1"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47A3FF">
                        <a:alpha val="50000"/>
                      </a:srgbClr>
                    </a:solidFill>
                  </a:tcPr>
                </a:tc>
                <a:extLst>
                  <a:ext uri="{0D108BD9-81ED-4DB2-BD59-A6C34878D82A}">
                    <a16:rowId xmlns:a16="http://schemas.microsoft.com/office/drawing/2014/main" val="724895665"/>
                  </a:ext>
                </a:extLst>
              </a:tr>
              <a:tr h="515938">
                <a:tc rowSpan="3">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域完整性</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rgbClr val="FFCCCC">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DEFAULT</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指定列的默认值</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2141474415"/>
                  </a:ext>
                </a:extLst>
              </a:tr>
              <a:tr h="492125">
                <a:tc vMerge="1">
                  <a:txBody>
                    <a:bodyPr/>
                    <a:lstStyle/>
                    <a:p>
                      <a:endParaRPr lang="zh-CN" altLang="en-US"/>
                    </a:p>
                  </a:txBody>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CHECK</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指定允许值</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699491049"/>
                  </a:ext>
                </a:extLst>
              </a:tr>
              <a:tr h="469900">
                <a:tc vMerge="1">
                  <a:txBody>
                    <a:bodyPr/>
                    <a:lstStyle/>
                    <a:p>
                      <a:endParaRPr lang="zh-CN" altLang="en-US"/>
                    </a:p>
                  </a:txBody>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NULL</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是否允许空值</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1696645724"/>
                  </a:ext>
                </a:extLst>
              </a:tr>
              <a:tr h="465138">
                <a:tc rowSpan="2">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实体完整性</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rgbClr val="FFCCCC">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主键约束</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每行的惟一标识</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1583308609"/>
                  </a:ext>
                </a:extLst>
              </a:tr>
              <a:tr h="504825">
                <a:tc vMerge="1">
                  <a:txBody>
                    <a:bodyPr/>
                    <a:lstStyle/>
                    <a:p>
                      <a:endParaRPr lang="zh-CN" altLang="en-US"/>
                    </a:p>
                  </a:txBody>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UNIQUE</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不允许有重复</a:t>
                      </a: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key</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1037096572"/>
                  </a:ext>
                </a:extLst>
              </a:tr>
              <a:tr h="5588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参照完整性</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chemeClr val="tx1"/>
                      </a:solidFill>
                      <a:prstDash val="solid"/>
                      <a:round/>
                      <a:headEnd type="none" w="sm" len="sm"/>
                      <a:tailEnd type="none" w="sm" len="sm"/>
                    </a:lnB>
                    <a:lnTlToBr>
                      <a:noFill/>
                    </a:lnTlToBr>
                    <a:lnBlToTr>
                      <a:noFill/>
                    </a:lnBlToTr>
                    <a:solidFill>
                      <a:srgbClr val="FFCCCC">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外键约束</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定义的列的值必须与某表的主键值一致</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4123622419"/>
                  </a:ext>
                </a:extLst>
              </a:tr>
              <a:tr h="4191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chemeClr val="tx1"/>
                      </a:solidFill>
                      <a:prstDash val="solid"/>
                      <a:round/>
                      <a:headEnd type="none" w="sm" len="sm"/>
                      <a:tailEnd type="none" w="sm" len="sm"/>
                    </a:lnT>
                    <a:lnB w="12700" cap="flat" cmpd="sng" algn="ctr">
                      <a:solidFill>
                        <a:srgbClr val="000000"/>
                      </a:solidFill>
                      <a:prstDash val="solid"/>
                      <a:round/>
                      <a:headEnd type="none" w="med" len="med"/>
                      <a:tailEnd type="triangle" w="med" len="med"/>
                    </a:lnB>
                    <a:lnTlToBr>
                      <a:noFill/>
                    </a:lnTlToBr>
                    <a:lnBlToTr>
                      <a:noFill/>
                    </a:lnBlToTr>
                    <a:solidFill>
                      <a:srgbClr val="FFCCCC">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CHECK</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chemeClr val="tx1"/>
                      </a:solidFill>
                      <a:prstDash val="solid"/>
                      <a:round/>
                      <a:headEnd type="none" w="sm" len="sm"/>
                      <a:tailEnd type="none" w="sm" len="sm"/>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基于另一列的值</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rgbClr val="000000"/>
                      </a:solidFill>
                      <a:prstDash val="solid"/>
                      <a:round/>
                      <a:headEnd type="none" w="med" len="med"/>
                      <a:tailEnd type="triangle" w="med" len="med"/>
                    </a:lnB>
                    <a:lnTlToBr>
                      <a:noFill/>
                    </a:lnTlToBr>
                    <a:lnBlToTr>
                      <a:noFill/>
                    </a:lnBlToTr>
                    <a:solidFill>
                      <a:schemeClr val="bg1"/>
                    </a:solidFill>
                  </a:tcPr>
                </a:tc>
                <a:extLst>
                  <a:ext uri="{0D108BD9-81ED-4DB2-BD59-A6C34878D82A}">
                    <a16:rowId xmlns:a16="http://schemas.microsoft.com/office/drawing/2014/main" val="741028616"/>
                  </a:ext>
                </a:extLst>
              </a:tr>
              <a:tr h="70485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FFFFFF"/>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用户定义完整性</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FFCCCC">
                        <a:alpha val="50000"/>
                      </a:srgbClr>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触发器</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由用户定义不属于其他任何完整性类别的特定业务规则</a:t>
                      </a:r>
                    </a:p>
                  </a:txBody>
                  <a:tcPr anchor="ctr"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498176699"/>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4449"/>
    </mc:Choice>
    <mc:Fallback xmlns="">
      <p:transition spd="slow" advTm="2444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536677"/>
                                        </p:tgtEl>
                                        <p:attrNameLst>
                                          <p:attrName>style.visibility</p:attrName>
                                        </p:attrNameLst>
                                      </p:cBhvr>
                                      <p:to>
                                        <p:strVal val="visible"/>
                                      </p:to>
                                    </p:set>
                                    <p:animEffect transition="in" filter="strips(downLeft)">
                                      <p:cBhvr>
                                        <p:cTn id="7" dur="500"/>
                                        <p:tgtEl>
                                          <p:spTgt spid="536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37" name="Rectangle 17">
            <a:extLst>
              <a:ext uri="{FF2B5EF4-FFF2-40B4-BE49-F238E27FC236}">
                <a16:creationId xmlns:a16="http://schemas.microsoft.com/office/drawing/2014/main" id="{AFF756CF-8532-4BAF-9EAC-6DEA67791AB6}"/>
              </a:ext>
            </a:extLst>
          </p:cNvPr>
          <p:cNvSpPr>
            <a:spLocks noGrp="1" noChangeArrowheads="1"/>
          </p:cNvSpPr>
          <p:nvPr>
            <p:ph type="title"/>
          </p:nvPr>
        </p:nvSpPr>
        <p:spPr>
          <a:noFill/>
          <a:ln/>
          <a:effectLst>
            <a:outerShdw dist="17961" dir="2700000" algn="ctr" rotWithShape="0">
              <a:schemeClr val="tx1"/>
            </a:outerShdw>
          </a:effectLst>
        </p:spPr>
        <p:txBody>
          <a:bodyPr anchor="ctr"/>
          <a:lstStyle/>
          <a:p>
            <a:r>
              <a:rPr lang="zh-CN" altLang="en-US" sz="3700">
                <a:ea typeface="隶书" panose="02010509060101010101" pitchFamily="49" charset="-122"/>
              </a:rPr>
              <a:t>小 结</a:t>
            </a:r>
          </a:p>
        </p:txBody>
      </p:sp>
      <p:sp>
        <p:nvSpPr>
          <p:cNvPr id="465974" name="AutoShape 54">
            <a:extLst>
              <a:ext uri="{FF2B5EF4-FFF2-40B4-BE49-F238E27FC236}">
                <a16:creationId xmlns:a16="http://schemas.microsoft.com/office/drawing/2014/main" id="{248DB7AE-6B2E-412C-A528-EF9E879C2ABB}"/>
              </a:ext>
            </a:extLst>
          </p:cNvPr>
          <p:cNvSpPr>
            <a:spLocks/>
          </p:cNvSpPr>
          <p:nvPr/>
        </p:nvSpPr>
        <p:spPr bwMode="auto">
          <a:xfrm>
            <a:off x="2555875" y="2278063"/>
            <a:ext cx="360363" cy="2736850"/>
          </a:xfrm>
          <a:prstGeom prst="leftBrace">
            <a:avLst>
              <a:gd name="adj1" fmla="val 63289"/>
              <a:gd name="adj2" fmla="val 50000"/>
            </a:avLst>
          </a:prstGeom>
          <a:noFill/>
          <a:ln w="31750" cap="sq">
            <a:solidFill>
              <a:srgbClr val="00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99CCFF"/>
                </a:solidFill>
              </a14:hiddenFill>
            </a:ext>
          </a:extLst>
        </p:spPr>
        <p:txBody>
          <a:bodyPr wrap="none" anchor="ctr"/>
          <a:lstStyle/>
          <a:p>
            <a:endParaRPr lang="zh-CN" altLang="en-US"/>
          </a:p>
        </p:txBody>
      </p:sp>
      <p:sp>
        <p:nvSpPr>
          <p:cNvPr id="465975" name="Rectangle 55">
            <a:extLst>
              <a:ext uri="{FF2B5EF4-FFF2-40B4-BE49-F238E27FC236}">
                <a16:creationId xmlns:a16="http://schemas.microsoft.com/office/drawing/2014/main" id="{165F0DF4-C87D-4D06-8F4F-7CD05556F3D7}"/>
              </a:ext>
            </a:extLst>
          </p:cNvPr>
          <p:cNvSpPr>
            <a:spLocks noChangeArrowheads="1"/>
          </p:cNvSpPr>
          <p:nvPr/>
        </p:nvSpPr>
        <p:spPr bwMode="auto">
          <a:xfrm>
            <a:off x="3060700" y="4724400"/>
            <a:ext cx="2879725" cy="504825"/>
          </a:xfrm>
          <a:prstGeom prst="rect">
            <a:avLst/>
          </a:prstGeom>
          <a:solidFill>
            <a:srgbClr val="CCFFFF"/>
          </a:solidFill>
          <a:ln w="9525" algn="ctr">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latin typeface="黑体" panose="02010609060101010101" pitchFamily="49" charset="-122"/>
                <a:ea typeface="黑体" panose="02010609060101010101" pitchFamily="49" charset="-122"/>
              </a:rPr>
              <a:t>自定义完整性约束</a:t>
            </a:r>
          </a:p>
        </p:txBody>
      </p:sp>
      <p:sp>
        <p:nvSpPr>
          <p:cNvPr id="465976" name="Rectangle 56">
            <a:extLst>
              <a:ext uri="{FF2B5EF4-FFF2-40B4-BE49-F238E27FC236}">
                <a16:creationId xmlns:a16="http://schemas.microsoft.com/office/drawing/2014/main" id="{A100D91A-6A3A-43CB-ACC3-58C31C228056}"/>
              </a:ext>
            </a:extLst>
          </p:cNvPr>
          <p:cNvSpPr>
            <a:spLocks noChangeArrowheads="1"/>
          </p:cNvSpPr>
          <p:nvPr/>
        </p:nvSpPr>
        <p:spPr bwMode="auto">
          <a:xfrm>
            <a:off x="3060700" y="2995613"/>
            <a:ext cx="2305050" cy="504825"/>
          </a:xfrm>
          <a:prstGeom prst="rect">
            <a:avLst/>
          </a:prstGeom>
          <a:solidFill>
            <a:srgbClr val="CCFFFF"/>
          </a:solidFill>
          <a:ln w="9525" algn="ctr">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latin typeface="黑体" panose="02010609060101010101" pitchFamily="49" charset="-122"/>
                <a:ea typeface="黑体" panose="02010609060101010101" pitchFamily="49" charset="-122"/>
              </a:rPr>
              <a:t>实体完整性约束</a:t>
            </a:r>
            <a:r>
              <a:rPr lang="zh-CN" altLang="en-US" b="1">
                <a:solidFill>
                  <a:srgbClr val="080808"/>
                </a:solidFill>
                <a:latin typeface="黑体" panose="02010609060101010101" pitchFamily="49" charset="-122"/>
                <a:ea typeface="黑体" panose="02010609060101010101" pitchFamily="49" charset="-122"/>
              </a:rPr>
              <a:t> </a:t>
            </a:r>
          </a:p>
        </p:txBody>
      </p:sp>
      <p:sp>
        <p:nvSpPr>
          <p:cNvPr id="465977" name="Rectangle 57">
            <a:extLst>
              <a:ext uri="{FF2B5EF4-FFF2-40B4-BE49-F238E27FC236}">
                <a16:creationId xmlns:a16="http://schemas.microsoft.com/office/drawing/2014/main" id="{A7396C7D-E6FB-4777-B24F-21BC011FBBC5}"/>
              </a:ext>
            </a:extLst>
          </p:cNvPr>
          <p:cNvSpPr>
            <a:spLocks noChangeArrowheads="1"/>
          </p:cNvSpPr>
          <p:nvPr/>
        </p:nvSpPr>
        <p:spPr bwMode="auto">
          <a:xfrm>
            <a:off x="3062288" y="3860800"/>
            <a:ext cx="2303462" cy="504825"/>
          </a:xfrm>
          <a:prstGeom prst="rect">
            <a:avLst/>
          </a:prstGeom>
          <a:solidFill>
            <a:srgbClr val="CCFFFF"/>
          </a:solidFill>
          <a:ln w="9525" algn="ctr">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参照完整性约束</a:t>
            </a:r>
            <a:r>
              <a:rPr lang="zh-CN" altLang="en-US" b="1">
                <a:solidFill>
                  <a:srgbClr val="080808"/>
                </a:solidFill>
                <a:latin typeface="黑体" panose="02010609060101010101" pitchFamily="49" charset="-122"/>
                <a:ea typeface="黑体" panose="02010609060101010101" pitchFamily="49" charset="-122"/>
              </a:rPr>
              <a:t> </a:t>
            </a:r>
          </a:p>
        </p:txBody>
      </p:sp>
      <p:sp>
        <p:nvSpPr>
          <p:cNvPr id="465978" name="Rectangle 58">
            <a:extLst>
              <a:ext uri="{FF2B5EF4-FFF2-40B4-BE49-F238E27FC236}">
                <a16:creationId xmlns:a16="http://schemas.microsoft.com/office/drawing/2014/main" id="{494F1FA8-1621-494F-81EB-2BE0368FDCA6}"/>
              </a:ext>
            </a:extLst>
          </p:cNvPr>
          <p:cNvSpPr>
            <a:spLocks noChangeArrowheads="1"/>
          </p:cNvSpPr>
          <p:nvPr/>
        </p:nvSpPr>
        <p:spPr bwMode="auto">
          <a:xfrm>
            <a:off x="468313" y="3214688"/>
            <a:ext cx="1873250" cy="863600"/>
          </a:xfrm>
          <a:prstGeom prst="rect">
            <a:avLst/>
          </a:prstGeom>
          <a:solidFill>
            <a:srgbClr val="CCFFFF"/>
          </a:solidFill>
          <a:ln w="9525">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数据库</a:t>
            </a:r>
          </a:p>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完整性</a:t>
            </a:r>
          </a:p>
        </p:txBody>
      </p:sp>
      <p:sp>
        <p:nvSpPr>
          <p:cNvPr id="465979" name="Rectangle 59">
            <a:extLst>
              <a:ext uri="{FF2B5EF4-FFF2-40B4-BE49-F238E27FC236}">
                <a16:creationId xmlns:a16="http://schemas.microsoft.com/office/drawing/2014/main" id="{3B537869-AF15-4A79-AEE0-95EDC337A5F1}"/>
              </a:ext>
            </a:extLst>
          </p:cNvPr>
          <p:cNvSpPr>
            <a:spLocks noChangeArrowheads="1"/>
          </p:cNvSpPr>
          <p:nvPr/>
        </p:nvSpPr>
        <p:spPr bwMode="auto">
          <a:xfrm>
            <a:off x="3060700" y="2133600"/>
            <a:ext cx="2305050" cy="504825"/>
          </a:xfrm>
          <a:prstGeom prst="rect">
            <a:avLst/>
          </a:prstGeom>
          <a:solidFill>
            <a:srgbClr val="CCFFFF"/>
          </a:solidFill>
          <a:ln w="9525" algn="ctr">
            <a:solidFill>
              <a:schemeClr val="tx1"/>
            </a:solidFill>
            <a:miter lim="800000"/>
            <a:headEnd/>
            <a:tailEnd/>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latin typeface="黑体" panose="02010609060101010101" pitchFamily="49" charset="-122"/>
                <a:ea typeface="黑体" panose="02010609060101010101" pitchFamily="49" charset="-122"/>
              </a:rPr>
              <a:t>域完整性约束</a:t>
            </a:r>
          </a:p>
        </p:txBody>
      </p:sp>
      <p:sp>
        <p:nvSpPr>
          <p:cNvPr id="465980" name="AutoShape 60">
            <a:extLst>
              <a:ext uri="{FF2B5EF4-FFF2-40B4-BE49-F238E27FC236}">
                <a16:creationId xmlns:a16="http://schemas.microsoft.com/office/drawing/2014/main" id="{7B2BA92E-AE0D-4FE4-8F0C-819AA7062178}"/>
              </a:ext>
            </a:extLst>
          </p:cNvPr>
          <p:cNvSpPr>
            <a:spLocks noChangeArrowheads="1"/>
          </p:cNvSpPr>
          <p:nvPr/>
        </p:nvSpPr>
        <p:spPr bwMode="auto">
          <a:xfrm>
            <a:off x="6443663" y="3429000"/>
            <a:ext cx="1944687" cy="935038"/>
          </a:xfrm>
          <a:prstGeom prst="wedgeRectCallout">
            <a:avLst>
              <a:gd name="adj1" fmla="val -85838"/>
              <a:gd name="adj2" fmla="val 90579"/>
            </a:avLst>
          </a:prstGeom>
          <a:solidFill>
            <a:srgbClr val="000066"/>
          </a:solidFill>
          <a:ln w="12700" cap="sq">
            <a:solidFill>
              <a:schemeClr val="tx1"/>
            </a:solidFill>
            <a:miter lim="800000"/>
            <a:headEnd type="none" w="sm" len="sm"/>
            <a:tailEnd type="none" w="sm" len="sm"/>
          </a:ln>
          <a:effectLst>
            <a:outerShdw dist="71842" dir="2700000" algn="ctr" rotWithShape="0">
              <a:schemeClr val="tx1"/>
            </a:outerShdw>
          </a:effectLst>
        </p:spPr>
        <p:txBody>
          <a:bodyPr anchor="ctr"/>
          <a:lstStyle/>
          <a:p>
            <a:pPr algn="ctr"/>
            <a:r>
              <a:rPr kumimoji="1" lang="zh-CN" altLang="en-US" sz="24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触发器</a:t>
            </a:r>
          </a:p>
          <a:p>
            <a:pPr algn="ctr"/>
            <a:r>
              <a:rPr kumimoji="1" lang="zh-CN" altLang="en-US" sz="24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动态约束</a:t>
            </a:r>
          </a:p>
        </p:txBody>
      </p:sp>
    </p:spTree>
    <p:custDataLst>
      <p:tags r:id="rId1"/>
    </p:custDataLst>
  </p:cSld>
  <p:clrMapOvr>
    <a:masterClrMapping/>
  </p:clrMapOvr>
  <p:transition advTm="843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5974"/>
                                        </p:tgtEl>
                                        <p:attrNameLst>
                                          <p:attrName>style.visibility</p:attrName>
                                        </p:attrNameLst>
                                      </p:cBhvr>
                                      <p:to>
                                        <p:strVal val="visible"/>
                                      </p:to>
                                    </p:set>
                                    <p:animEffect transition="in" filter="wipe(left)">
                                      <p:cBhvr>
                                        <p:cTn id="7" dur="500"/>
                                        <p:tgtEl>
                                          <p:spTgt spid="4659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9" presetClass="entr" presetSubtype="0" fill="hold" grpId="0" nodeType="clickEffect">
                                  <p:stCondLst>
                                    <p:cond delay="0"/>
                                  </p:stCondLst>
                                  <p:childTnLst>
                                    <p:set>
                                      <p:cBhvr>
                                        <p:cTn id="11" dur="1" fill="hold">
                                          <p:stCondLst>
                                            <p:cond delay="0"/>
                                          </p:stCondLst>
                                        </p:cTn>
                                        <p:tgtEl>
                                          <p:spTgt spid="465979"/>
                                        </p:tgtEl>
                                        <p:attrNameLst>
                                          <p:attrName>style.visibility</p:attrName>
                                        </p:attrNameLst>
                                      </p:cBhvr>
                                      <p:to>
                                        <p:strVal val="visible"/>
                                      </p:to>
                                    </p:set>
                                    <p:anim calcmode="lin" valueType="num">
                                      <p:cBhvr>
                                        <p:cTn id="12" dur="1000" fill="hold"/>
                                        <p:tgtEl>
                                          <p:spTgt spid="465979"/>
                                        </p:tgtEl>
                                        <p:attrNameLst>
                                          <p:attrName>ppt_x</p:attrName>
                                        </p:attrNameLst>
                                      </p:cBhvr>
                                      <p:tavLst>
                                        <p:tav tm="0">
                                          <p:val>
                                            <p:strVal val="#ppt_x-.2"/>
                                          </p:val>
                                        </p:tav>
                                        <p:tav tm="100000">
                                          <p:val>
                                            <p:strVal val="#ppt_x"/>
                                          </p:val>
                                        </p:tav>
                                      </p:tavLst>
                                    </p:anim>
                                    <p:anim calcmode="lin" valueType="num">
                                      <p:cBhvr>
                                        <p:cTn id="13" dur="1000" fill="hold"/>
                                        <p:tgtEl>
                                          <p:spTgt spid="465979"/>
                                        </p:tgtEl>
                                        <p:attrNameLst>
                                          <p:attrName>ppt_y</p:attrName>
                                        </p:attrNameLst>
                                      </p:cBhvr>
                                      <p:tavLst>
                                        <p:tav tm="0">
                                          <p:val>
                                            <p:strVal val="#ppt_y"/>
                                          </p:val>
                                        </p:tav>
                                        <p:tav tm="100000">
                                          <p:val>
                                            <p:strVal val="#ppt_y"/>
                                          </p:val>
                                        </p:tav>
                                      </p:tavLst>
                                    </p:anim>
                                    <p:animEffect transition="in" filter="wipe(right)" prLst="gradientSize: 0.1">
                                      <p:cBhvr>
                                        <p:cTn id="14" dur="1000"/>
                                        <p:tgtEl>
                                          <p:spTgt spid="46597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9" presetClass="entr" presetSubtype="0" fill="hold" grpId="0" nodeType="clickEffect">
                                  <p:stCondLst>
                                    <p:cond delay="0"/>
                                  </p:stCondLst>
                                  <p:childTnLst>
                                    <p:set>
                                      <p:cBhvr>
                                        <p:cTn id="18" dur="1" fill="hold">
                                          <p:stCondLst>
                                            <p:cond delay="0"/>
                                          </p:stCondLst>
                                        </p:cTn>
                                        <p:tgtEl>
                                          <p:spTgt spid="465976"/>
                                        </p:tgtEl>
                                        <p:attrNameLst>
                                          <p:attrName>style.visibility</p:attrName>
                                        </p:attrNameLst>
                                      </p:cBhvr>
                                      <p:to>
                                        <p:strVal val="visible"/>
                                      </p:to>
                                    </p:set>
                                    <p:anim calcmode="lin" valueType="num">
                                      <p:cBhvr>
                                        <p:cTn id="19" dur="1000" fill="hold"/>
                                        <p:tgtEl>
                                          <p:spTgt spid="465976"/>
                                        </p:tgtEl>
                                        <p:attrNameLst>
                                          <p:attrName>ppt_x</p:attrName>
                                        </p:attrNameLst>
                                      </p:cBhvr>
                                      <p:tavLst>
                                        <p:tav tm="0">
                                          <p:val>
                                            <p:strVal val="#ppt_x-.2"/>
                                          </p:val>
                                        </p:tav>
                                        <p:tav tm="100000">
                                          <p:val>
                                            <p:strVal val="#ppt_x"/>
                                          </p:val>
                                        </p:tav>
                                      </p:tavLst>
                                    </p:anim>
                                    <p:anim calcmode="lin" valueType="num">
                                      <p:cBhvr>
                                        <p:cTn id="20" dur="1000" fill="hold"/>
                                        <p:tgtEl>
                                          <p:spTgt spid="465976"/>
                                        </p:tgtEl>
                                        <p:attrNameLst>
                                          <p:attrName>ppt_y</p:attrName>
                                        </p:attrNameLst>
                                      </p:cBhvr>
                                      <p:tavLst>
                                        <p:tav tm="0">
                                          <p:val>
                                            <p:strVal val="#ppt_y"/>
                                          </p:val>
                                        </p:tav>
                                        <p:tav tm="100000">
                                          <p:val>
                                            <p:strVal val="#ppt_y"/>
                                          </p:val>
                                        </p:tav>
                                      </p:tavLst>
                                    </p:anim>
                                    <p:animEffect transition="in" filter="wipe(right)" prLst="gradientSize: 0.1">
                                      <p:cBhvr>
                                        <p:cTn id="21" dur="1000"/>
                                        <p:tgtEl>
                                          <p:spTgt spid="46597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9" presetClass="entr" presetSubtype="0" fill="hold" grpId="0" nodeType="clickEffect">
                                  <p:stCondLst>
                                    <p:cond delay="0"/>
                                  </p:stCondLst>
                                  <p:childTnLst>
                                    <p:set>
                                      <p:cBhvr>
                                        <p:cTn id="25" dur="1" fill="hold">
                                          <p:stCondLst>
                                            <p:cond delay="0"/>
                                          </p:stCondLst>
                                        </p:cTn>
                                        <p:tgtEl>
                                          <p:spTgt spid="465977"/>
                                        </p:tgtEl>
                                        <p:attrNameLst>
                                          <p:attrName>style.visibility</p:attrName>
                                        </p:attrNameLst>
                                      </p:cBhvr>
                                      <p:to>
                                        <p:strVal val="visible"/>
                                      </p:to>
                                    </p:set>
                                    <p:anim calcmode="lin" valueType="num">
                                      <p:cBhvr>
                                        <p:cTn id="26" dur="1000" fill="hold"/>
                                        <p:tgtEl>
                                          <p:spTgt spid="465977"/>
                                        </p:tgtEl>
                                        <p:attrNameLst>
                                          <p:attrName>ppt_x</p:attrName>
                                        </p:attrNameLst>
                                      </p:cBhvr>
                                      <p:tavLst>
                                        <p:tav tm="0">
                                          <p:val>
                                            <p:strVal val="#ppt_x-.2"/>
                                          </p:val>
                                        </p:tav>
                                        <p:tav tm="100000">
                                          <p:val>
                                            <p:strVal val="#ppt_x"/>
                                          </p:val>
                                        </p:tav>
                                      </p:tavLst>
                                    </p:anim>
                                    <p:anim calcmode="lin" valueType="num">
                                      <p:cBhvr>
                                        <p:cTn id="27" dur="1000" fill="hold"/>
                                        <p:tgtEl>
                                          <p:spTgt spid="465977"/>
                                        </p:tgtEl>
                                        <p:attrNameLst>
                                          <p:attrName>ppt_y</p:attrName>
                                        </p:attrNameLst>
                                      </p:cBhvr>
                                      <p:tavLst>
                                        <p:tav tm="0">
                                          <p:val>
                                            <p:strVal val="#ppt_y"/>
                                          </p:val>
                                        </p:tav>
                                        <p:tav tm="100000">
                                          <p:val>
                                            <p:strVal val="#ppt_y"/>
                                          </p:val>
                                        </p:tav>
                                      </p:tavLst>
                                    </p:anim>
                                    <p:animEffect transition="in" filter="wipe(right)" prLst="gradientSize: 0.1">
                                      <p:cBhvr>
                                        <p:cTn id="28" dur="1000"/>
                                        <p:tgtEl>
                                          <p:spTgt spid="4659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9" presetClass="entr" presetSubtype="0" fill="hold" grpId="0" nodeType="clickEffect">
                                  <p:stCondLst>
                                    <p:cond delay="0"/>
                                  </p:stCondLst>
                                  <p:childTnLst>
                                    <p:set>
                                      <p:cBhvr>
                                        <p:cTn id="32" dur="1" fill="hold">
                                          <p:stCondLst>
                                            <p:cond delay="0"/>
                                          </p:stCondLst>
                                        </p:cTn>
                                        <p:tgtEl>
                                          <p:spTgt spid="465975"/>
                                        </p:tgtEl>
                                        <p:attrNameLst>
                                          <p:attrName>style.visibility</p:attrName>
                                        </p:attrNameLst>
                                      </p:cBhvr>
                                      <p:to>
                                        <p:strVal val="visible"/>
                                      </p:to>
                                    </p:set>
                                    <p:anim calcmode="lin" valueType="num">
                                      <p:cBhvr>
                                        <p:cTn id="33" dur="1000" fill="hold"/>
                                        <p:tgtEl>
                                          <p:spTgt spid="465975"/>
                                        </p:tgtEl>
                                        <p:attrNameLst>
                                          <p:attrName>ppt_x</p:attrName>
                                        </p:attrNameLst>
                                      </p:cBhvr>
                                      <p:tavLst>
                                        <p:tav tm="0">
                                          <p:val>
                                            <p:strVal val="#ppt_x-.2"/>
                                          </p:val>
                                        </p:tav>
                                        <p:tav tm="100000">
                                          <p:val>
                                            <p:strVal val="#ppt_x"/>
                                          </p:val>
                                        </p:tav>
                                      </p:tavLst>
                                    </p:anim>
                                    <p:anim calcmode="lin" valueType="num">
                                      <p:cBhvr>
                                        <p:cTn id="34" dur="1000" fill="hold"/>
                                        <p:tgtEl>
                                          <p:spTgt spid="465975"/>
                                        </p:tgtEl>
                                        <p:attrNameLst>
                                          <p:attrName>ppt_y</p:attrName>
                                        </p:attrNameLst>
                                      </p:cBhvr>
                                      <p:tavLst>
                                        <p:tav tm="0">
                                          <p:val>
                                            <p:strVal val="#ppt_y"/>
                                          </p:val>
                                        </p:tav>
                                        <p:tav tm="100000">
                                          <p:val>
                                            <p:strVal val="#ppt_y"/>
                                          </p:val>
                                        </p:tav>
                                      </p:tavLst>
                                    </p:anim>
                                    <p:animEffect transition="in" filter="wipe(right)" prLst="gradientSize: 0.1">
                                      <p:cBhvr>
                                        <p:cTn id="35" dur="1000"/>
                                        <p:tgtEl>
                                          <p:spTgt spid="46597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465980"/>
                                        </p:tgtEl>
                                        <p:attrNameLst>
                                          <p:attrName>style.visibility</p:attrName>
                                        </p:attrNameLst>
                                      </p:cBhvr>
                                      <p:to>
                                        <p:strVal val="visible"/>
                                      </p:to>
                                    </p:set>
                                    <p:animEffect transition="in" filter="wipe(down)">
                                      <p:cBhvr>
                                        <p:cTn id="40" dur="500"/>
                                        <p:tgtEl>
                                          <p:spTgt spid="465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75" grpId="0" animBg="1"/>
      <p:bldP spid="465976" grpId="0" animBg="1"/>
      <p:bldP spid="465977" grpId="0" animBg="1"/>
      <p:bldP spid="465979" grpId="0" animBg="1"/>
      <p:bldP spid="46598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7"/>
</p:tagLst>
</file>

<file path=ppt/tags/tag2.xml><?xml version="1.0" encoding="utf-8"?>
<p:tagLst xmlns:a="http://schemas.openxmlformats.org/drawingml/2006/main" xmlns:r="http://schemas.openxmlformats.org/officeDocument/2006/relationships" xmlns:p="http://schemas.openxmlformats.org/presentationml/2006/main">
  <p:tag name="TIMING" val="|0.9|8.2|5.5|3|3.8|3.5|1.6"/>
</p:tagLst>
</file>

<file path=ppt/tags/tag3.xml><?xml version="1.0" encoding="utf-8"?>
<p:tagLst xmlns:a="http://schemas.openxmlformats.org/drawingml/2006/main" xmlns:r="http://schemas.openxmlformats.org/officeDocument/2006/relationships" xmlns:p="http://schemas.openxmlformats.org/presentationml/2006/main">
  <p:tag name="TIMING" val="|1.2|1.7"/>
</p:tagLst>
</file>

<file path=ppt/tags/tag4.xml><?xml version="1.0" encoding="utf-8"?>
<p:tagLst xmlns:a="http://schemas.openxmlformats.org/drawingml/2006/main" xmlns:r="http://schemas.openxmlformats.org/officeDocument/2006/relationships" xmlns:p="http://schemas.openxmlformats.org/presentationml/2006/main">
  <p:tag name="TIMING" val="|0.6|2.3|6.9|1.6|1.4|7|1.3"/>
</p:tagLst>
</file>

<file path=ppt/tags/tag5.xml><?xml version="1.0" encoding="utf-8"?>
<p:tagLst xmlns:a="http://schemas.openxmlformats.org/drawingml/2006/main" xmlns:r="http://schemas.openxmlformats.org/officeDocument/2006/relationships" xmlns:p="http://schemas.openxmlformats.org/presentationml/2006/main">
  <p:tag name="TIMING" val="|0.4|16.2"/>
</p:tagLst>
</file>

<file path=ppt/tags/tag6.xml><?xml version="1.0" encoding="utf-8"?>
<p:tagLst xmlns:a="http://schemas.openxmlformats.org/drawingml/2006/main" xmlns:r="http://schemas.openxmlformats.org/officeDocument/2006/relationships" xmlns:p="http://schemas.openxmlformats.org/presentationml/2006/main">
  <p:tag name="TIMING" val="|0.5|3|2.3"/>
</p:tagLst>
</file>

<file path=ppt/tags/tag7.xml><?xml version="1.0" encoding="utf-8"?>
<p:tagLst xmlns:a="http://schemas.openxmlformats.org/drawingml/2006/main" xmlns:r="http://schemas.openxmlformats.org/officeDocument/2006/relationships" xmlns:p="http://schemas.openxmlformats.org/presentationml/2006/main">
  <p:tag name="TIMING" val="|0.8|2.9|2.5|5.1|2.2|5.5|1.5|6.8"/>
</p:tagLst>
</file>

<file path=ppt/tags/tag8.xml><?xml version="1.0" encoding="utf-8"?>
<p:tagLst xmlns:a="http://schemas.openxmlformats.org/drawingml/2006/main" xmlns:r="http://schemas.openxmlformats.org/officeDocument/2006/relationships" xmlns:p="http://schemas.openxmlformats.org/presentationml/2006/main">
  <p:tag name="TIMING" val="|0.4|1|2.9"/>
</p:tagLst>
</file>

<file path=ppt/tags/tag9.xml><?xml version="1.0" encoding="utf-8"?>
<p:tagLst xmlns:a="http://schemas.openxmlformats.org/drawingml/2006/main" xmlns:r="http://schemas.openxmlformats.org/officeDocument/2006/relationships" xmlns:p="http://schemas.openxmlformats.org/presentationml/2006/main">
  <p:tag name="TIMING" val="|0.1|0.7|2.8|1"/>
</p:tagLst>
</file>

<file path=ppt/tags/tag10.xml><?xml version="1.0" encoding="utf-8"?>
<p:tagLst xmlns:a="http://schemas.openxmlformats.org/drawingml/2006/main" xmlns:r="http://schemas.openxmlformats.org/officeDocument/2006/relationships" xmlns:p="http://schemas.openxmlformats.org/presentationml/2006/main">
  <p:tag name="TIMING" val="|0.4|1.6|2.2"/>
</p:tagLst>
</file>

<file path=ppt/tags/tag11.xml><?xml version="1.0" encoding="utf-8"?>
<p:tagLst xmlns:a="http://schemas.openxmlformats.org/drawingml/2006/main" xmlns:r="http://schemas.openxmlformats.org/officeDocument/2006/relationships" xmlns:p="http://schemas.openxmlformats.org/presentationml/2006/main">
  <p:tag name="TIMING" val="|0.6|14.9|10.7|5.4|2.6|21.6|9.5"/>
</p:tagLst>
</file>

<file path=ppt/tags/tag12.xml><?xml version="1.0" encoding="utf-8"?>
<p:tagLst xmlns:a="http://schemas.openxmlformats.org/drawingml/2006/main" xmlns:r="http://schemas.openxmlformats.org/officeDocument/2006/relationships" xmlns:p="http://schemas.openxmlformats.org/presentationml/2006/main">
  <p:tag name="TIMING" val="|1.3|5.6"/>
</p:tagLst>
</file>

<file path=ppt/tags/tag13.xml><?xml version="1.0" encoding="utf-8"?>
<p:tagLst xmlns:a="http://schemas.openxmlformats.org/drawingml/2006/main" xmlns:r="http://schemas.openxmlformats.org/officeDocument/2006/relationships" xmlns:p="http://schemas.openxmlformats.org/presentationml/2006/main">
  <p:tag name="TIMING" val="|1"/>
</p:tagLst>
</file>

<file path=ppt/tags/tag14.xml><?xml version="1.0" encoding="utf-8"?>
<p:tagLst xmlns:a="http://schemas.openxmlformats.org/drawingml/2006/main" xmlns:r="http://schemas.openxmlformats.org/officeDocument/2006/relationships" xmlns:p="http://schemas.openxmlformats.org/presentationml/2006/main">
  <p:tag name="TIMING" val="|1|1.2|1.3|1.2|1.1|1.2"/>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10174</TotalTime>
  <Words>969</Words>
  <Application>Microsoft Office PowerPoint</Application>
  <PresentationFormat>全屏显示(4:3)</PresentationFormat>
  <Paragraphs>125</Paragraphs>
  <Slides>16</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Monotype Sorts</vt:lpstr>
      <vt:lpstr>黑体</vt:lpstr>
      <vt:lpstr>华文新魏</vt:lpstr>
      <vt:lpstr>华文中宋</vt:lpstr>
      <vt:lpstr>宋体</vt:lpstr>
      <vt:lpstr>Arial</vt:lpstr>
      <vt:lpstr>Tahoma</vt:lpstr>
      <vt:lpstr>Times New Roman</vt:lpstr>
      <vt:lpstr>Wingdings</vt:lpstr>
      <vt:lpstr>Blends</vt:lpstr>
      <vt:lpstr>第10章  数据库保护技术</vt:lpstr>
      <vt:lpstr>10.3  数据库的完整性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 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522</cp:revision>
  <cp:lastPrinted>2000-08-23T09:10:16Z</cp:lastPrinted>
  <dcterms:created xsi:type="dcterms:W3CDTF">1601-01-01T00:00:00Z</dcterms:created>
  <dcterms:modified xsi:type="dcterms:W3CDTF">2021-04-20T14:54:57Z</dcterms:modified>
</cp:coreProperties>
</file>