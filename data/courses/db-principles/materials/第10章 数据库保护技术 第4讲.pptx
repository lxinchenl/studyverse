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5.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6.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7.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8.xml" ContentType="application/vnd.openxmlformats-officedocument.presentationml.notesSlide+xml"/>
  <Override PartName="/ppt/tags/tag48.xml" ContentType="application/vnd.openxmlformats-officedocument.presentationml.tags+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3"/>
  </p:notesMasterIdLst>
  <p:handoutMasterIdLst>
    <p:handoutMasterId r:id="rId54"/>
  </p:handoutMasterIdLst>
  <p:sldIdLst>
    <p:sldId id="604" r:id="rId2"/>
    <p:sldId id="525" r:id="rId3"/>
    <p:sldId id="523" r:id="rId4"/>
    <p:sldId id="524" r:id="rId5"/>
    <p:sldId id="461" r:id="rId6"/>
    <p:sldId id="605" r:id="rId7"/>
    <p:sldId id="571" r:id="rId8"/>
    <p:sldId id="572" r:id="rId9"/>
    <p:sldId id="526" r:id="rId10"/>
    <p:sldId id="530" r:id="rId11"/>
    <p:sldId id="574" r:id="rId12"/>
    <p:sldId id="532" r:id="rId13"/>
    <p:sldId id="533" r:id="rId14"/>
    <p:sldId id="576" r:id="rId15"/>
    <p:sldId id="577" r:id="rId16"/>
    <p:sldId id="602" r:id="rId17"/>
    <p:sldId id="536" r:id="rId18"/>
    <p:sldId id="579" r:id="rId19"/>
    <p:sldId id="578" r:id="rId20"/>
    <p:sldId id="539" r:id="rId21"/>
    <p:sldId id="540" r:id="rId22"/>
    <p:sldId id="580" r:id="rId23"/>
    <p:sldId id="538" r:id="rId24"/>
    <p:sldId id="541" r:id="rId25"/>
    <p:sldId id="581" r:id="rId26"/>
    <p:sldId id="563" r:id="rId27"/>
    <p:sldId id="582" r:id="rId28"/>
    <p:sldId id="583" r:id="rId29"/>
    <p:sldId id="585" r:id="rId30"/>
    <p:sldId id="586" r:id="rId31"/>
    <p:sldId id="548" r:id="rId32"/>
    <p:sldId id="584" r:id="rId33"/>
    <p:sldId id="550" r:id="rId34"/>
    <p:sldId id="588" r:id="rId35"/>
    <p:sldId id="552" r:id="rId36"/>
    <p:sldId id="606" r:id="rId37"/>
    <p:sldId id="607" r:id="rId38"/>
    <p:sldId id="608" r:id="rId39"/>
    <p:sldId id="609" r:id="rId40"/>
    <p:sldId id="610" r:id="rId41"/>
    <p:sldId id="611" r:id="rId42"/>
    <p:sldId id="612" r:id="rId43"/>
    <p:sldId id="613" r:id="rId44"/>
    <p:sldId id="614" r:id="rId45"/>
    <p:sldId id="615" r:id="rId46"/>
    <p:sldId id="616" r:id="rId47"/>
    <p:sldId id="618" r:id="rId48"/>
    <p:sldId id="619" r:id="rId49"/>
    <p:sldId id="620" r:id="rId50"/>
    <p:sldId id="621" r:id="rId51"/>
    <p:sldId id="622" r:id="rId52"/>
  </p:sldIdLst>
  <p:sldSz cx="9144000" cy="6858000" type="screen4x3"/>
  <p:notesSz cx="6662738" cy="9832975"/>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58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C9FF"/>
    <a:srgbClr val="CC66FF"/>
    <a:srgbClr val="FF81DE"/>
    <a:srgbClr val="FFD9F5"/>
    <a:srgbClr val="00F8F2"/>
    <a:srgbClr val="009A96"/>
    <a:srgbClr val="43FFFF"/>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74" autoAdjust="0"/>
    <p:restoredTop sz="89246" autoAdjust="0"/>
  </p:normalViewPr>
  <p:slideViewPr>
    <p:cSldViewPr>
      <p:cViewPr varScale="1">
        <p:scale>
          <a:sx n="117" d="100"/>
          <a:sy n="117" d="100"/>
        </p:scale>
        <p:origin x="1440" y="68"/>
      </p:cViewPr>
      <p:guideLst>
        <p:guide orient="horz" pos="1584"/>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Rectangle 2"/>
          <p:cNvSpPr>
            <a:spLocks noGrp="1" noChangeArrowheads="1"/>
          </p:cNvSpPr>
          <p:nvPr>
            <p:ph type="hdr" sz="quarter"/>
          </p:nvPr>
        </p:nvSpPr>
        <p:spPr bwMode="auto">
          <a:xfrm>
            <a:off x="0" y="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lstStyle>
            <a:lvl1pPr>
              <a:defRPr kumimoji="1" sz="1200">
                <a:solidFill>
                  <a:schemeClr val="tx2"/>
                </a:solidFill>
                <a:latin typeface="Times New Roman" panose="02020603050405020304" pitchFamily="18" charset="0"/>
              </a:defRPr>
            </a:lvl1pPr>
          </a:lstStyle>
          <a:p>
            <a:endParaRPr lang="zh-CN" altLang="en-US"/>
          </a:p>
        </p:txBody>
      </p:sp>
      <p:sp>
        <p:nvSpPr>
          <p:cNvPr id="107523" name="Rectangle 3"/>
          <p:cNvSpPr>
            <a:spLocks noGrp="1" noChangeArrowheads="1"/>
          </p:cNvSpPr>
          <p:nvPr>
            <p:ph type="dt" sz="quarter" idx="1"/>
          </p:nvPr>
        </p:nvSpPr>
        <p:spPr bwMode="auto">
          <a:xfrm>
            <a:off x="3810000" y="0"/>
            <a:ext cx="281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lstStyle>
            <a:lvl1pPr algn="r">
              <a:defRPr kumimoji="1" sz="1200">
                <a:solidFill>
                  <a:schemeClr val="tx2"/>
                </a:solidFill>
                <a:latin typeface="Times New Roman" panose="02020603050405020304" pitchFamily="18" charset="0"/>
              </a:defRPr>
            </a:lvl1pPr>
          </a:lstStyle>
          <a:p>
            <a:endParaRPr lang="en-US" altLang="zh-CN"/>
          </a:p>
        </p:txBody>
      </p:sp>
      <p:sp>
        <p:nvSpPr>
          <p:cNvPr id="107524" name="Rectangle 4"/>
          <p:cNvSpPr>
            <a:spLocks noGrp="1" noChangeArrowheads="1"/>
          </p:cNvSpPr>
          <p:nvPr>
            <p:ph type="ftr" sz="quarter" idx="2"/>
          </p:nvPr>
        </p:nvSpPr>
        <p:spPr bwMode="auto">
          <a:xfrm>
            <a:off x="0" y="9372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lstStyle>
            <a:lvl1pPr>
              <a:defRPr kumimoji="1" sz="1200">
                <a:solidFill>
                  <a:schemeClr val="tx2"/>
                </a:solidFill>
                <a:latin typeface="Times New Roman" panose="02020603050405020304" pitchFamily="18" charset="0"/>
              </a:defRPr>
            </a:lvl1pPr>
          </a:lstStyle>
          <a:p>
            <a:endParaRPr lang="en-US" altLang="zh-CN"/>
          </a:p>
        </p:txBody>
      </p:sp>
      <p:sp>
        <p:nvSpPr>
          <p:cNvPr id="107525" name="Rectangle 5"/>
          <p:cNvSpPr>
            <a:spLocks noGrp="1" noChangeArrowheads="1"/>
          </p:cNvSpPr>
          <p:nvPr>
            <p:ph type="sldNum" sz="quarter" idx="3"/>
          </p:nvPr>
        </p:nvSpPr>
        <p:spPr bwMode="auto">
          <a:xfrm>
            <a:off x="3810000" y="9372600"/>
            <a:ext cx="281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lstStyle>
            <a:lvl1pPr algn="r">
              <a:defRPr kumimoji="1" sz="1200">
                <a:solidFill>
                  <a:schemeClr val="tx2"/>
                </a:solidFill>
                <a:latin typeface="Times New Roman" panose="02020603050405020304" pitchFamily="18" charset="0"/>
              </a:defRPr>
            </a:lvl1pPr>
          </a:lstStyle>
          <a:p>
            <a:fld id="{A6882730-02C0-46B2-A120-EB05E9A07F86}" type="slidenum">
              <a:rPr lang="zh-CN" altLang="en-US"/>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3282" name="Rectangle 2"/>
          <p:cNvSpPr>
            <a:spLocks noGrp="1" noChangeArrowheads="1"/>
          </p:cNvSpPr>
          <p:nvPr>
            <p:ph type="hdr" sz="quarter"/>
          </p:nvPr>
        </p:nvSpPr>
        <p:spPr bwMode="auto">
          <a:xfrm>
            <a:off x="0" y="0"/>
            <a:ext cx="2887663"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endParaRPr lang="zh-CN" altLang="en-US"/>
          </a:p>
        </p:txBody>
      </p:sp>
      <p:sp>
        <p:nvSpPr>
          <p:cNvPr id="353283" name="Rectangle 3"/>
          <p:cNvSpPr>
            <a:spLocks noGrp="1" noChangeArrowheads="1"/>
          </p:cNvSpPr>
          <p:nvPr>
            <p:ph type="dt" idx="1"/>
          </p:nvPr>
        </p:nvSpPr>
        <p:spPr bwMode="auto">
          <a:xfrm>
            <a:off x="3773488" y="0"/>
            <a:ext cx="2887662"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endParaRPr lang="en-US" altLang="zh-CN"/>
          </a:p>
        </p:txBody>
      </p:sp>
      <p:sp>
        <p:nvSpPr>
          <p:cNvPr id="353284" name="Rectangle 4"/>
          <p:cNvSpPr>
            <a:spLocks noGrp="1" noRot="1" noChangeAspect="1" noChangeArrowheads="1" noTextEdit="1"/>
          </p:cNvSpPr>
          <p:nvPr>
            <p:ph type="sldImg" idx="2"/>
          </p:nvPr>
        </p:nvSpPr>
        <p:spPr bwMode="auto">
          <a:xfrm>
            <a:off x="874713" y="738188"/>
            <a:ext cx="4914900" cy="3686175"/>
          </a:xfrm>
          <a:prstGeom prst="rect">
            <a:avLst/>
          </a:prstGeom>
          <a:no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3285" name="Rectangle 5"/>
          <p:cNvSpPr>
            <a:spLocks noGrp="1" noChangeArrowheads="1"/>
          </p:cNvSpPr>
          <p:nvPr>
            <p:ph type="body" sz="quarter" idx="3"/>
          </p:nvPr>
        </p:nvSpPr>
        <p:spPr bwMode="auto">
          <a:xfrm>
            <a:off x="666750" y="4670425"/>
            <a:ext cx="5329238" cy="442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53286" name="Rectangle 6"/>
          <p:cNvSpPr>
            <a:spLocks noGrp="1" noChangeArrowheads="1"/>
          </p:cNvSpPr>
          <p:nvPr>
            <p:ph type="ftr" sz="quarter" idx="4"/>
          </p:nvPr>
        </p:nvSpPr>
        <p:spPr bwMode="auto">
          <a:xfrm>
            <a:off x="0" y="9339263"/>
            <a:ext cx="2887663"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endParaRPr lang="en-US" altLang="zh-CN"/>
          </a:p>
        </p:txBody>
      </p:sp>
      <p:sp>
        <p:nvSpPr>
          <p:cNvPr id="353287" name="Rectangle 7"/>
          <p:cNvSpPr>
            <a:spLocks noGrp="1" noChangeArrowheads="1"/>
          </p:cNvSpPr>
          <p:nvPr>
            <p:ph type="sldNum" sz="quarter" idx="5"/>
          </p:nvPr>
        </p:nvSpPr>
        <p:spPr bwMode="auto">
          <a:xfrm>
            <a:off x="3773488" y="9339263"/>
            <a:ext cx="2887662"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fld id="{51A09731-E74A-4081-8001-239CC47B82DE}" type="slidenum">
              <a:rPr lang="zh-CN" altLang="en-US"/>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1B50949-82F1-4215-A194-C1FCB1CCA00B}" type="slidenum">
              <a:rPr lang="zh-CN" altLang="en-US"/>
              <a:t>1</a:t>
            </a:fld>
            <a:endParaRPr lang="en-US" altLang="zh-CN"/>
          </a:p>
        </p:txBody>
      </p:sp>
      <p:sp>
        <p:nvSpPr>
          <p:cNvPr id="541698" name="Rectangle 2"/>
          <p:cNvSpPr>
            <a:spLocks noGrp="1" noRot="1" noChangeAspect="1" noChangeArrowheads="1" noTextEdit="1"/>
          </p:cNvSpPr>
          <p:nvPr>
            <p:ph type="sldImg"/>
          </p:nvPr>
        </p:nvSpPr>
        <p:spPr/>
      </p:sp>
      <p:sp>
        <p:nvSpPr>
          <p:cNvPr id="54169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8EA2530-5EF3-41D3-B5A6-16F0DE4B2C2C}" type="slidenum">
              <a:rPr lang="zh-CN" altLang="en-US"/>
              <a:t>2</a:t>
            </a:fld>
            <a:endParaRPr lang="en-US" altLang="zh-CN"/>
          </a:p>
        </p:txBody>
      </p:sp>
      <p:sp>
        <p:nvSpPr>
          <p:cNvPr id="533506" name="Rectangle 2"/>
          <p:cNvSpPr>
            <a:spLocks noGrp="1" noRot="1" noChangeAspect="1" noChangeArrowheads="1" noTextEdit="1"/>
          </p:cNvSpPr>
          <p:nvPr>
            <p:ph type="sldImg"/>
          </p:nvPr>
        </p:nvSpPr>
        <p:spPr/>
      </p:sp>
      <p:sp>
        <p:nvSpPr>
          <p:cNvPr id="533507" name="Rectangle 3"/>
          <p:cNvSpPr>
            <a:spLocks noGrp="1" noChangeArrowheads="1"/>
          </p:cNvSpPr>
          <p:nvPr>
            <p:ph type="body" idx="1"/>
          </p:nvPr>
        </p:nvSpPr>
        <p:spPr/>
        <p:txBody>
          <a:bodyPr/>
          <a:lstStyle/>
          <a:p>
            <a:r>
              <a:rPr lang="zh-CN" altLang="en-US"/>
              <a:t>数据库容易受到破坏。数据库运行的支撑环境是计算机。计算机的软件和硬件故障、电源故障、应用程序设计错误、病毒、误操作或人为破坏等，都可能使数据库受到破坏。</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F4DC253-E696-4659-A65C-36232392A4E3}" type="slidenum">
              <a:rPr lang="zh-CN" altLang="en-US"/>
              <a:t>5</a:t>
            </a:fld>
            <a:endParaRPr lang="en-US" altLang="zh-CN"/>
          </a:p>
        </p:txBody>
      </p:sp>
      <p:sp>
        <p:nvSpPr>
          <p:cNvPr id="534530" name="Rectangle 2"/>
          <p:cNvSpPr>
            <a:spLocks noGrp="1" noRot="1" noChangeAspect="1" noChangeArrowheads="1" noTextEdit="1"/>
          </p:cNvSpPr>
          <p:nvPr>
            <p:ph type="sldImg"/>
          </p:nvPr>
        </p:nvSpPr>
        <p:spPr/>
      </p:sp>
      <p:sp>
        <p:nvSpPr>
          <p:cNvPr id="534531" name="Rectangle 3"/>
          <p:cNvSpPr>
            <a:spLocks noGrp="1" noChangeArrowheads="1"/>
          </p:cNvSpPr>
          <p:nvPr>
            <p:ph type="body" idx="1"/>
          </p:nvPr>
        </p:nvSpPr>
        <p:spPr/>
        <p:txBody>
          <a:bodyPr/>
          <a:lstStyle/>
          <a:p>
            <a:r>
              <a:rPr lang="zh-CN" altLang="en-US"/>
              <a:t>先讲数据库在运行过程中，可能会因为哪些原因遭受破坏，然后分别介绍故障分类。</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D745D65-520C-4F56-88C8-972A8266DEB4}" type="slidenum">
              <a:rPr lang="zh-CN" altLang="en-US"/>
              <a:t>6</a:t>
            </a:fld>
            <a:endParaRPr lang="en-US" altLang="zh-CN"/>
          </a:p>
        </p:txBody>
      </p:sp>
      <p:sp>
        <p:nvSpPr>
          <p:cNvPr id="543746" name="Rectangle 2"/>
          <p:cNvSpPr>
            <a:spLocks noGrp="1" noRot="1" noChangeAspect="1" noChangeArrowheads="1" noTextEdit="1"/>
          </p:cNvSpPr>
          <p:nvPr>
            <p:ph type="sldImg"/>
          </p:nvPr>
        </p:nvSpPr>
        <p:spPr/>
      </p:sp>
      <p:sp>
        <p:nvSpPr>
          <p:cNvPr id="543747" name="Rectangle 3"/>
          <p:cNvSpPr>
            <a:spLocks noGrp="1" noChangeArrowheads="1"/>
          </p:cNvSpPr>
          <p:nvPr>
            <p:ph type="body" idx="1"/>
          </p:nvPr>
        </p:nvSpPr>
        <p:spPr/>
        <p:txBody>
          <a:bodyPr/>
          <a:lstStyle/>
          <a:p>
            <a:r>
              <a:rPr lang="zh-CN" altLang="en-US"/>
              <a:t>先讲数据库在运行过程中，可能会因为哪些原因遭受破坏，然后分别介绍故障分类。</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56282C3-C977-4BD4-92B2-D255AC99FF46}" type="slidenum">
              <a:rPr lang="zh-CN" altLang="en-US"/>
              <a:t>12</a:t>
            </a:fld>
            <a:endParaRPr lang="en-US" altLang="zh-CN"/>
          </a:p>
        </p:txBody>
      </p:sp>
      <p:sp>
        <p:nvSpPr>
          <p:cNvPr id="535554" name="Rectangle 2"/>
          <p:cNvSpPr>
            <a:spLocks noGrp="1" noRot="1" noChangeAspect="1" noChangeArrowheads="1" noTextEdit="1"/>
          </p:cNvSpPr>
          <p:nvPr>
            <p:ph type="sldImg"/>
          </p:nvPr>
        </p:nvSpPr>
        <p:spPr/>
      </p:sp>
      <p:sp>
        <p:nvSpPr>
          <p:cNvPr id="535555" name="Rectangle 3"/>
          <p:cNvSpPr>
            <a:spLocks noGrp="1" noChangeArrowheads="1"/>
          </p:cNvSpPr>
          <p:nvPr>
            <p:ph type="body" idx="1"/>
          </p:nvPr>
        </p:nvSpPr>
        <p:spPr/>
        <p:txBody>
          <a:bodyPr/>
          <a:lstStyle/>
          <a:p>
            <a:r>
              <a:rPr lang="zh-CN" altLang="en-US"/>
              <a:t>系统在</a:t>
            </a:r>
            <a:r>
              <a:rPr lang="en-US" altLang="zh-CN"/>
              <a:t>Ta</a:t>
            </a:r>
            <a:r>
              <a:rPr lang="zh-CN" altLang="en-US"/>
              <a:t>时刻停止运行事务并进行数据库转储，在</a:t>
            </a:r>
            <a:r>
              <a:rPr lang="en-US" altLang="zh-CN"/>
              <a:t>Tb</a:t>
            </a:r>
            <a:r>
              <a:rPr lang="zh-CN" altLang="en-US"/>
              <a:t>时刻转储完毕后，就在</a:t>
            </a:r>
            <a:r>
              <a:rPr lang="en-US" altLang="zh-CN"/>
              <a:t>Tb</a:t>
            </a:r>
            <a:r>
              <a:rPr lang="zh-CN" altLang="en-US"/>
              <a:t>时刻得到具有一致性的数据库后援副本。当系统运行到</a:t>
            </a:r>
            <a:r>
              <a:rPr lang="en-US" altLang="zh-CN"/>
              <a:t>Tf</a:t>
            </a:r>
            <a:r>
              <a:rPr lang="zh-CN" altLang="en-US"/>
              <a:t>时发生故障，为了恢复数据库，首先就要重装数据库后援副本，将数据库恢复到</a:t>
            </a:r>
            <a:r>
              <a:rPr lang="en-US" altLang="zh-CN"/>
              <a:t>Tb</a:t>
            </a:r>
            <a:r>
              <a:rPr lang="zh-CN" altLang="en-US"/>
              <a:t>时刻的状态，然后重新运行自</a:t>
            </a:r>
            <a:r>
              <a:rPr lang="en-US" altLang="zh-CN"/>
              <a:t>Tb</a:t>
            </a:r>
            <a:r>
              <a:rPr lang="zh-CN" altLang="en-US"/>
              <a:t>时刻至</a:t>
            </a:r>
            <a:r>
              <a:rPr lang="en-US" altLang="zh-CN"/>
              <a:t>Tf</a:t>
            </a:r>
            <a:r>
              <a:rPr lang="zh-CN" altLang="en-US"/>
              <a:t>时刻的所有更新事务，这样就可以把数据库恢复到故障发生前的一致性状态。</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3E9E4D0-B7A2-4A4C-B50C-EA93AA45871C}" type="slidenum">
              <a:rPr lang="zh-CN" altLang="en-US"/>
              <a:t>23</a:t>
            </a:fld>
            <a:endParaRPr lang="en-US" altLang="zh-CN"/>
          </a:p>
        </p:txBody>
      </p:sp>
      <p:sp>
        <p:nvSpPr>
          <p:cNvPr id="537602" name="Rectangle 2"/>
          <p:cNvSpPr>
            <a:spLocks noGrp="1" noRot="1" noChangeAspect="1" noChangeArrowheads="1" noTextEdit="1"/>
          </p:cNvSpPr>
          <p:nvPr>
            <p:ph type="sldImg"/>
          </p:nvPr>
        </p:nvSpPr>
        <p:spPr/>
      </p:sp>
      <p:sp>
        <p:nvSpPr>
          <p:cNvPr id="537603" name="Rectangle 3"/>
          <p:cNvSpPr>
            <a:spLocks noGrp="1" noChangeArrowheads="1"/>
          </p:cNvSpPr>
          <p:nvPr>
            <p:ph type="body" idx="1"/>
          </p:nvPr>
        </p:nvSpPr>
        <p:spPr/>
        <p:txBody>
          <a:bodyPr/>
          <a:lstStyle/>
          <a:p>
            <a:r>
              <a:rPr lang="zh-CN" altLang="en-US"/>
              <a:t>把对数据的更新写回到数据库中和把表示这个更新的日志记录写到日志文件中是两个不同的操作。有可能在这两个操作之间发生故障。如果先把对数据库的更新写回数据库，而在日志文件的运行记录中没有登记该事务的更新情况，则当故障发生后就无法恢复这个更新了。</a:t>
            </a:r>
          </a:p>
          <a:p>
            <a:r>
              <a:rPr lang="zh-CN" altLang="en-US"/>
              <a:t>反之，只不过有可能多执行一次不必要的撤销操作，并不会影响数据库的正确性。</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C65EA2F-9D52-4E6A-BB9C-0F016BED6EFB}" type="slidenum">
              <a:rPr lang="zh-CN" altLang="en-US"/>
              <a:t>40</a:t>
            </a:fld>
            <a:endParaRPr lang="en-US" altLang="zh-CN"/>
          </a:p>
        </p:txBody>
      </p:sp>
      <p:sp>
        <p:nvSpPr>
          <p:cNvPr id="549890" name="Rectangle 2"/>
          <p:cNvSpPr>
            <a:spLocks noGrp="1" noRot="1" noChangeAspect="1" noChangeArrowheads="1" noTextEdit="1"/>
          </p:cNvSpPr>
          <p:nvPr>
            <p:ph type="sldImg"/>
          </p:nvPr>
        </p:nvSpPr>
        <p:spPr/>
      </p:sp>
      <p:sp>
        <p:nvSpPr>
          <p:cNvPr id="549891" name="Rectangle 3"/>
          <p:cNvSpPr>
            <a:spLocks noGrp="1" noChangeArrowheads="1"/>
          </p:cNvSpPr>
          <p:nvPr>
            <p:ph type="body" idx="1"/>
          </p:nvPr>
        </p:nvSpPr>
        <p:spPr/>
        <p:txBody>
          <a:bodyPr/>
          <a:lstStyle/>
          <a:p>
            <a:r>
              <a:rPr lang="zh-CN" altLang="en-US"/>
              <a:t>假定已经建立有需要执行</a:t>
            </a:r>
            <a:r>
              <a:rPr lang="en-US" altLang="zh-CN"/>
              <a:t>UNDO</a:t>
            </a:r>
            <a:r>
              <a:rPr lang="zh-CN" altLang="en-US"/>
              <a:t>操作的事务队列</a:t>
            </a:r>
            <a:r>
              <a:rPr lang="en-US" altLang="zh-CN"/>
              <a:t>UNDO_LIST</a:t>
            </a:r>
            <a:r>
              <a:rPr lang="zh-CN" altLang="en-US"/>
              <a:t>和需要执行</a:t>
            </a:r>
            <a:r>
              <a:rPr lang="en-US" altLang="zh-CN"/>
              <a:t>REDO</a:t>
            </a:r>
            <a:r>
              <a:rPr lang="zh-CN" altLang="en-US"/>
              <a:t>操作的事务队列</a:t>
            </a:r>
            <a:r>
              <a:rPr lang="en-US" altLang="zh-CN"/>
              <a:t>REDO_LIST</a:t>
            </a:r>
            <a:r>
              <a:rPr lang="zh-CN" altLang="en-US"/>
              <a:t>，则恢复子系统采用检查点方法进行数据库恢复步骤。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407ED42-C083-4AE3-A48C-85643AC77F68}" type="slidenum">
              <a:rPr lang="zh-CN" altLang="en-US"/>
              <a:t>50</a:t>
            </a:fld>
            <a:endParaRPr lang="en-US" altLang="zh-CN"/>
          </a:p>
        </p:txBody>
      </p:sp>
      <p:sp>
        <p:nvSpPr>
          <p:cNvPr id="562178" name="Rectangle 2"/>
          <p:cNvSpPr>
            <a:spLocks noGrp="1" noRot="1" noChangeAspect="1" noChangeArrowheads="1" noTextEdit="1"/>
          </p:cNvSpPr>
          <p:nvPr>
            <p:ph type="sldImg"/>
          </p:nvPr>
        </p:nvSpPr>
        <p:spPr/>
      </p:sp>
      <p:sp>
        <p:nvSpPr>
          <p:cNvPr id="56217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E5153DA-3025-460D-89F1-4D78B7EFCE32}" type="slidenum">
              <a:rPr lang="zh-CN" altLang="en-US"/>
              <a:t>51</a:t>
            </a:fld>
            <a:endParaRPr lang="en-US" altLang="zh-CN"/>
          </a:p>
        </p:txBody>
      </p:sp>
      <p:sp>
        <p:nvSpPr>
          <p:cNvPr id="564226" name="Rectangle 2"/>
          <p:cNvSpPr>
            <a:spLocks noGrp="1" noRot="1" noChangeAspect="1" noChangeArrowheads="1" noTextEdit="1"/>
          </p:cNvSpPr>
          <p:nvPr>
            <p:ph type="sldImg"/>
          </p:nvPr>
        </p:nvSpPr>
        <p:spPr/>
      </p:sp>
      <p:sp>
        <p:nvSpPr>
          <p:cNvPr id="564227" name="Rectangle 3"/>
          <p:cNvSpPr>
            <a:spLocks noGrp="1" noChangeArrowheads="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grpSp>
        <p:nvGrpSpPr>
          <p:cNvPr id="420866" name="Group 2"/>
          <p:cNvGrpSpPr/>
          <p:nvPr/>
        </p:nvGrpSpPr>
        <p:grpSpPr bwMode="auto">
          <a:xfrm>
            <a:off x="0" y="2438400"/>
            <a:ext cx="9009063" cy="1052513"/>
            <a:chOff x="0" y="1536"/>
            <a:chExt cx="5675" cy="663"/>
          </a:xfrm>
        </p:grpSpPr>
        <p:grpSp>
          <p:nvGrpSpPr>
            <p:cNvPr id="420867" name="Group 3"/>
            <p:cNvGrpSpPr/>
            <p:nvPr/>
          </p:nvGrpSpPr>
          <p:grpSpPr bwMode="auto">
            <a:xfrm>
              <a:off x="183" y="1604"/>
              <a:ext cx="448" cy="299"/>
              <a:chOff x="720" y="336"/>
              <a:chExt cx="624" cy="432"/>
            </a:xfrm>
          </p:grpSpPr>
          <p:sp>
            <p:nvSpPr>
              <p:cNvPr id="420868"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869"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20870" name="Group 6"/>
            <p:cNvGrpSpPr/>
            <p:nvPr/>
          </p:nvGrpSpPr>
          <p:grpSpPr bwMode="auto">
            <a:xfrm>
              <a:off x="261" y="1870"/>
              <a:ext cx="465" cy="299"/>
              <a:chOff x="912" y="2640"/>
              <a:chExt cx="672" cy="432"/>
            </a:xfrm>
          </p:grpSpPr>
          <p:sp>
            <p:nvSpPr>
              <p:cNvPr id="420871"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872"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20873"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874"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875"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20876" name="Rectangle 12"/>
          <p:cNvSpPr>
            <a:spLocks noGrp="1" noChangeArrowheads="1"/>
          </p:cNvSpPr>
          <p:nvPr>
            <p:ph type="ctrTitle"/>
          </p:nvPr>
        </p:nvSpPr>
        <p:spPr>
          <a:xfrm>
            <a:off x="827088" y="1676400"/>
            <a:ext cx="8137525" cy="1462088"/>
          </a:xfrm>
        </p:spPr>
        <p:txBody>
          <a:bodyPr/>
          <a:lstStyle>
            <a:lvl1pPr algn="ctr">
              <a:defRPr sz="4400">
                <a:ea typeface="隶书" panose="02010509060101010101" pitchFamily="49" charset="-122"/>
              </a:defRPr>
            </a:lvl1pPr>
          </a:lstStyle>
          <a:p>
            <a:pPr lvl="0"/>
            <a:r>
              <a:rPr lang="zh-CN" altLang="en-US" noProof="0"/>
              <a:t>单击此处编辑母版标题样式</a:t>
            </a:r>
          </a:p>
        </p:txBody>
      </p:sp>
      <p:sp>
        <p:nvSpPr>
          <p:cNvPr id="420877" name="Rectangle 13"/>
          <p:cNvSpPr>
            <a:spLocks noGrp="1" noChangeArrowheads="1"/>
          </p:cNvSpPr>
          <p:nvPr>
            <p:ph type="subTitle" idx="1"/>
          </p:nvPr>
        </p:nvSpPr>
        <p:spPr>
          <a:xfrm>
            <a:off x="1371600" y="3886200"/>
            <a:ext cx="6400800" cy="1752600"/>
          </a:xfrm>
        </p:spPr>
        <p:txBody>
          <a:bodyPr/>
          <a:lstStyle>
            <a:lvl1pPr marL="0" indent="0" algn="ctr">
              <a:defRPr/>
            </a:lvl1pPr>
          </a:lstStyle>
          <a:p>
            <a:pPr lvl="0"/>
            <a:r>
              <a:rPr lang="zh-CN" altLang="en-US" noProof="0"/>
              <a:t>单击此处编辑母版副标题样式</a:t>
            </a:r>
          </a:p>
        </p:txBody>
      </p:sp>
      <p:sp>
        <p:nvSpPr>
          <p:cNvPr id="420878" name="Rectangle 14"/>
          <p:cNvSpPr>
            <a:spLocks noGrp="1" noChangeArrowheads="1"/>
          </p:cNvSpPr>
          <p:nvPr>
            <p:ph type="dt" sz="half" idx="2"/>
          </p:nvPr>
        </p:nvSpPr>
        <p:spPr>
          <a:xfrm>
            <a:off x="990600" y="6248400"/>
            <a:ext cx="1905000" cy="457200"/>
          </a:xfrm>
        </p:spPr>
        <p:txBody>
          <a:bodyPr/>
          <a:lstStyle>
            <a:lvl1pPr>
              <a:defRPr>
                <a:solidFill>
                  <a:schemeClr val="bg2"/>
                </a:solidFill>
              </a:defRPr>
            </a:lvl1pPr>
          </a:lstStyle>
          <a:p>
            <a:endParaRPr lang="en-US" altLang="zh-CN"/>
          </a:p>
        </p:txBody>
      </p:sp>
      <p:sp>
        <p:nvSpPr>
          <p:cNvPr id="420879" name="Rectangle 15"/>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endParaRPr lang="en-US" altLang="zh-CN"/>
          </a:p>
        </p:txBody>
      </p:sp>
      <p:sp>
        <p:nvSpPr>
          <p:cNvPr id="420880" name="Rectangle 16"/>
          <p:cNvSpPr>
            <a:spLocks noGrp="1" noChangeArrowheads="1"/>
          </p:cNvSpPr>
          <p:nvPr>
            <p:ph type="sldNum" sz="quarter" idx="4"/>
          </p:nvPr>
        </p:nvSpPr>
        <p:spPr>
          <a:xfrm>
            <a:off x="6858000" y="6248400"/>
            <a:ext cx="1905000" cy="457200"/>
          </a:xfrm>
        </p:spPr>
        <p:txBody>
          <a:bodyPr/>
          <a:lstStyle>
            <a:lvl1pPr>
              <a:defRPr>
                <a:solidFill>
                  <a:schemeClr val="bg2"/>
                </a:solidFill>
              </a:defRPr>
            </a:lvl1pPr>
          </a:lstStyle>
          <a:p>
            <a:fld id="{85F37525-7948-4174-B6D0-032DA7529D12}" type="slidenum">
              <a:rPr lang="zh-CN" altLang="en-US"/>
              <a:t>‹#›</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16" fill="hold" grpId="0" nodeType="afterEffect">
                                  <p:stCondLst>
                                    <p:cond delay="0"/>
                                  </p:stCondLst>
                                  <p:childTnLst>
                                    <p:set>
                                      <p:cBhvr>
                                        <p:cTn id="6" dur="1" fill="hold">
                                          <p:stCondLst>
                                            <p:cond delay="0"/>
                                          </p:stCondLst>
                                        </p:cTn>
                                        <p:tgtEl>
                                          <p:spTgt spid="420876"/>
                                        </p:tgtEl>
                                        <p:attrNameLst>
                                          <p:attrName>style.visibility</p:attrName>
                                        </p:attrNameLst>
                                      </p:cBhvr>
                                      <p:to>
                                        <p:strVal val="visible"/>
                                      </p:to>
                                    </p:set>
                                    <p:animEffect transition="in" filter="plus(in)">
                                      <p:cBhvr>
                                        <p:cTn id="7" dur="1000"/>
                                        <p:tgtEl>
                                          <p:spTgt spid="4208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876"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0382091-FB21-4C62-820B-0A1D27FF4596}" type="slidenum">
              <a:rPr lang="zh-CN" altLang="en-US"/>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8EE1DDB-B876-4D05-85F4-4A39A7A0EFA9}" type="slidenum">
              <a:rPr lang="zh-CN" altLang="en-US"/>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11188" y="1258888"/>
            <a:ext cx="3919537" cy="53387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83125" y="1258888"/>
            <a:ext cx="3921125" cy="53387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42196012-E6D7-4ACD-AFC3-2E3EEEC71ABF}" type="slidenum">
              <a:rPr lang="zh-CN" altLang="en-US"/>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724CD459-864A-4D83-B5A8-8C41EC489EAD}" type="slidenum">
              <a:rPr lang="zh-CN" altLang="en-US"/>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8551BDBF-9ABE-4D62-96FF-5751D73653EA}" type="slidenum">
              <a:rPr lang="zh-CN" altLang="en-US"/>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A3AB0603-BF59-4675-9888-18FB30305DA3}" type="slidenum">
              <a:rPr lang="zh-CN" altLang="en-US"/>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5FF3D176-89BB-4FA3-A9BF-BBFB53CF43F5}" type="slidenum">
              <a:rPr lang="zh-CN" altLang="en-US"/>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B449D35-4133-4ED7-9666-48FF23E101ED}" type="slidenum">
              <a:rPr lang="zh-CN" altLang="en-US"/>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B12A191-D24E-4591-8ED3-A04BF6301B6D}" type="slidenum">
              <a:rPr lang="zh-CN" altLang="en-US"/>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61175" y="214313"/>
            <a:ext cx="2082800" cy="638333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11188" y="214313"/>
            <a:ext cx="6097587" cy="638333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EAC5CD0-7049-4B10-8EEE-56FFADDB56B4}" type="slidenum">
              <a:rPr lang="zh-CN" altLang="en-US"/>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19842" name="Rectangle 2"/>
          <p:cNvSpPr>
            <a:spLocks noChangeArrowheads="1"/>
          </p:cNvSpPr>
          <p:nvPr/>
        </p:nvSpPr>
        <p:spPr bwMode="ltGray">
          <a:xfrm>
            <a:off x="417513" y="252413"/>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419843" name="Rectangle 3"/>
          <p:cNvSpPr>
            <a:spLocks noChangeArrowheads="1"/>
          </p:cNvSpPr>
          <p:nvPr/>
        </p:nvSpPr>
        <p:spPr bwMode="ltGray">
          <a:xfrm>
            <a:off x="800100" y="252413"/>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419844" name="Rectangle 4"/>
          <p:cNvSpPr>
            <a:spLocks noChangeArrowheads="1"/>
          </p:cNvSpPr>
          <p:nvPr/>
        </p:nvSpPr>
        <p:spPr bwMode="ltGray">
          <a:xfrm>
            <a:off x="541338" y="674688"/>
            <a:ext cx="422275" cy="47466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419845" name="Rectangle 5"/>
          <p:cNvSpPr>
            <a:spLocks noChangeArrowheads="1"/>
          </p:cNvSpPr>
          <p:nvPr/>
        </p:nvSpPr>
        <p:spPr bwMode="ltGray">
          <a:xfrm>
            <a:off x="911225" y="674688"/>
            <a:ext cx="368300" cy="47466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419846" name="Rectangle 6"/>
          <p:cNvSpPr>
            <a:spLocks noChangeArrowheads="1"/>
          </p:cNvSpPr>
          <p:nvPr/>
        </p:nvSpPr>
        <p:spPr bwMode="ltGray">
          <a:xfrm>
            <a:off x="127000" y="601663"/>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419847" name="Rectangle 7"/>
          <p:cNvSpPr>
            <a:spLocks noChangeArrowheads="1"/>
          </p:cNvSpPr>
          <p:nvPr/>
        </p:nvSpPr>
        <p:spPr bwMode="gray">
          <a:xfrm>
            <a:off x="762000" y="144463"/>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419848" name="Rectangle 8"/>
          <p:cNvSpPr>
            <a:spLocks noChangeArrowheads="1"/>
          </p:cNvSpPr>
          <p:nvPr/>
        </p:nvSpPr>
        <p:spPr bwMode="gray">
          <a:xfrm>
            <a:off x="442913" y="935038"/>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419849" name="Rectangle 9"/>
          <p:cNvSpPr>
            <a:spLocks noGrp="1" noChangeArrowheads="1"/>
          </p:cNvSpPr>
          <p:nvPr>
            <p:ph type="title"/>
          </p:nvPr>
        </p:nvSpPr>
        <p:spPr bwMode="auto">
          <a:xfrm>
            <a:off x="1150938" y="214313"/>
            <a:ext cx="7793037"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zh-CN" altLang="en-US"/>
              <a:t>单击此处编辑母版标题样式</a:t>
            </a:r>
          </a:p>
        </p:txBody>
      </p:sp>
      <p:sp>
        <p:nvSpPr>
          <p:cNvPr id="419850" name="Rectangle 10"/>
          <p:cNvSpPr>
            <a:spLocks noGrp="1" noChangeArrowheads="1"/>
          </p:cNvSpPr>
          <p:nvPr>
            <p:ph type="body" idx="1"/>
          </p:nvPr>
        </p:nvSpPr>
        <p:spPr bwMode="auto">
          <a:xfrm>
            <a:off x="611188" y="1258888"/>
            <a:ext cx="7993062" cy="533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9851" name="Rectangle 11"/>
          <p:cNvSpPr>
            <a:spLocks noGrp="1" noChangeArrowheads="1"/>
          </p:cNvSpPr>
          <p:nvPr>
            <p:ph type="dt" sz="half" idx="2"/>
          </p:nvPr>
        </p:nvSpPr>
        <p:spPr bwMode="auto">
          <a:xfrm>
            <a:off x="11620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400">
                <a:latin typeface="+mn-lt"/>
              </a:defRPr>
            </a:lvl1pPr>
          </a:lstStyle>
          <a:p>
            <a:endParaRPr lang="en-US" altLang="zh-CN"/>
          </a:p>
        </p:txBody>
      </p:sp>
      <p:sp>
        <p:nvSpPr>
          <p:cNvPr id="419852" name="Rectangle 12"/>
          <p:cNvSpPr>
            <a:spLocks noGrp="1" noChangeArrowheads="1"/>
          </p:cNvSpPr>
          <p:nvPr>
            <p:ph type="ftr" sz="quarter" idx="3"/>
          </p:nvPr>
        </p:nvSpPr>
        <p:spPr bwMode="auto">
          <a:xfrm>
            <a:off x="3657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a:defRPr sz="1400">
                <a:latin typeface="+mn-lt"/>
              </a:defRPr>
            </a:lvl1pPr>
          </a:lstStyle>
          <a:p>
            <a:endParaRPr lang="en-US" altLang="zh-CN"/>
          </a:p>
        </p:txBody>
      </p:sp>
      <p:sp>
        <p:nvSpPr>
          <p:cNvPr id="419853" name="Rectangle 13"/>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400">
                <a:latin typeface="+mn-lt"/>
              </a:defRPr>
            </a:lvl1pPr>
          </a:lstStyle>
          <a:p>
            <a:fld id="{BF3EB982-EFBA-4F28-AA86-ADD3528C3CA7}" type="slidenum">
              <a:rPr lang="zh-CN" altLang="en-US"/>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9850">
                                            <p:txEl>
                                              <p:pRg st="0" end="0"/>
                                            </p:txEl>
                                          </p:spTgt>
                                        </p:tgtEl>
                                        <p:attrNameLst>
                                          <p:attrName>style.visibility</p:attrName>
                                        </p:attrNameLst>
                                      </p:cBhvr>
                                      <p:to>
                                        <p:strVal val="visible"/>
                                      </p:to>
                                    </p:set>
                                    <p:animEffect transition="in" filter="wipe(left)">
                                      <p:cBhvr>
                                        <p:cTn id="7" dur="1000"/>
                                        <p:tgtEl>
                                          <p:spTgt spid="4198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19850">
                                            <p:txEl>
                                              <p:pRg st="1" end="1"/>
                                            </p:txEl>
                                          </p:spTgt>
                                        </p:tgtEl>
                                        <p:attrNameLst>
                                          <p:attrName>style.visibility</p:attrName>
                                        </p:attrNameLst>
                                      </p:cBhvr>
                                      <p:to>
                                        <p:strVal val="visible"/>
                                      </p:to>
                                    </p:set>
                                    <p:animEffect transition="in" filter="wipe(left)">
                                      <p:cBhvr>
                                        <p:cTn id="12" dur="1000"/>
                                        <p:tgtEl>
                                          <p:spTgt spid="41985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19850">
                                            <p:txEl>
                                              <p:pRg st="2" end="2"/>
                                            </p:txEl>
                                          </p:spTgt>
                                        </p:tgtEl>
                                        <p:attrNameLst>
                                          <p:attrName>style.visibility</p:attrName>
                                        </p:attrNameLst>
                                      </p:cBhvr>
                                      <p:to>
                                        <p:strVal val="visible"/>
                                      </p:to>
                                    </p:set>
                                    <p:animEffect transition="in" filter="wipe(left)">
                                      <p:cBhvr>
                                        <p:cTn id="17" dur="1000"/>
                                        <p:tgtEl>
                                          <p:spTgt spid="41985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19850">
                                            <p:txEl>
                                              <p:pRg st="3" end="3"/>
                                            </p:txEl>
                                          </p:spTgt>
                                        </p:tgtEl>
                                        <p:attrNameLst>
                                          <p:attrName>style.visibility</p:attrName>
                                        </p:attrNameLst>
                                      </p:cBhvr>
                                      <p:to>
                                        <p:strVal val="visible"/>
                                      </p:to>
                                    </p:set>
                                    <p:animEffect transition="in" filter="wipe(left)">
                                      <p:cBhvr>
                                        <p:cTn id="22" dur="1000"/>
                                        <p:tgtEl>
                                          <p:spTgt spid="419850">
                                            <p:txEl>
                                              <p:pRg st="3" end="3"/>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419850">
                                            <p:txEl>
                                              <p:pRg st="4" end="4"/>
                                            </p:txEl>
                                          </p:spTgt>
                                        </p:tgtEl>
                                        <p:attrNameLst>
                                          <p:attrName>style.visibility</p:attrName>
                                        </p:attrNameLst>
                                      </p:cBhvr>
                                      <p:to>
                                        <p:strVal val="visible"/>
                                      </p:to>
                                    </p:set>
                                    <p:animEffect transition="in" filter="wipe(left)">
                                      <p:cBhvr>
                                        <p:cTn id="25" dur="1000"/>
                                        <p:tgtEl>
                                          <p:spTgt spid="4198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50" grpId="0" uiExpand="1" build="p">
        <p:tmplLst>
          <p:tmpl lvl="1">
            <p:tnLst>
              <p:par>
                <p:cTn presetID="22" presetClass="entr" presetSubtype="8" fill="hold" nodeType="clickEffect">
                  <p:stCondLst>
                    <p:cond delay="0"/>
                  </p:stCondLst>
                  <p:childTnLst>
                    <p:set>
                      <p:cBhvr>
                        <p:cTn dur="1" fill="hold">
                          <p:stCondLst>
                            <p:cond delay="0"/>
                          </p:stCondLst>
                        </p:cTn>
                        <p:tgtEl>
                          <p:spTgt spid="419850"/>
                        </p:tgtEl>
                        <p:attrNameLst>
                          <p:attrName>style.visibility</p:attrName>
                        </p:attrNameLst>
                      </p:cBhvr>
                      <p:to>
                        <p:strVal val="visible"/>
                      </p:to>
                    </p:set>
                    <p:animEffect transition="in" filter="wipe(left)">
                      <p:cBhvr>
                        <p:cTn dur="1000"/>
                        <p:tgtEl>
                          <p:spTgt spid="419850"/>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419850"/>
                        </p:tgtEl>
                        <p:attrNameLst>
                          <p:attrName>style.visibility</p:attrName>
                        </p:attrNameLst>
                      </p:cBhvr>
                      <p:to>
                        <p:strVal val="visible"/>
                      </p:to>
                    </p:set>
                    <p:animEffect transition="in" filter="wipe(left)">
                      <p:cBhvr>
                        <p:cTn dur="1000"/>
                        <p:tgtEl>
                          <p:spTgt spid="419850"/>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419850"/>
                        </p:tgtEl>
                        <p:attrNameLst>
                          <p:attrName>style.visibility</p:attrName>
                        </p:attrNameLst>
                      </p:cBhvr>
                      <p:to>
                        <p:strVal val="visible"/>
                      </p:to>
                    </p:set>
                    <p:animEffect transition="in" filter="wipe(left)">
                      <p:cBhvr>
                        <p:cTn dur="1000"/>
                        <p:tgtEl>
                          <p:spTgt spid="419850"/>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419850"/>
                        </p:tgtEl>
                        <p:attrNameLst>
                          <p:attrName>style.visibility</p:attrName>
                        </p:attrNameLst>
                      </p:cBhvr>
                      <p:to>
                        <p:strVal val="visible"/>
                      </p:to>
                    </p:set>
                    <p:animEffect transition="in" filter="wipe(left)">
                      <p:cBhvr>
                        <p:cTn dur="1000"/>
                        <p:tgtEl>
                          <p:spTgt spid="419850"/>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419850"/>
                        </p:tgtEl>
                        <p:attrNameLst>
                          <p:attrName>style.visibility</p:attrName>
                        </p:attrNameLst>
                      </p:cBhvr>
                      <p:to>
                        <p:strVal val="visible"/>
                      </p:to>
                    </p:set>
                    <p:animEffect transition="in" filter="wipe(left)">
                      <p:cBhvr>
                        <p:cTn dur="1000"/>
                        <p:tgtEl>
                          <p:spTgt spid="419850"/>
                        </p:tgtEl>
                      </p:cBhvr>
                    </p:animEffect>
                  </p:childTnLst>
                </p:cTn>
              </p:par>
            </p:tnLst>
          </p:tmpl>
        </p:tmplLst>
      </p:bldP>
    </p:bldLst>
  </p:timing>
  <p:txStyles>
    <p:titleStyle>
      <a:lvl1pPr algn="l" rtl="0" fontAlgn="base">
        <a:spcBef>
          <a:spcPct val="0"/>
        </a:spcBef>
        <a:spcAft>
          <a:spcPct val="0"/>
        </a:spcAft>
        <a:defRPr sz="3200" b="1" kern="1200">
          <a:solidFill>
            <a:schemeClr val="tx2"/>
          </a:solidFill>
          <a:effectLst>
            <a:outerShdw blurRad="38100" dist="38100" dir="2700000" algn="tl">
              <a:srgbClr val="C0C0C0"/>
            </a:outerShdw>
          </a:effectLst>
          <a:latin typeface="+mj-lt"/>
          <a:ea typeface="+mj-ea"/>
          <a:cs typeface="+mj-cs"/>
        </a:defRPr>
      </a:lvl1pPr>
      <a:lvl2pPr algn="l" rtl="0" fontAlgn="base">
        <a:spcBef>
          <a:spcPct val="0"/>
        </a:spcBef>
        <a:spcAft>
          <a:spcPct val="0"/>
        </a:spcAft>
        <a:defRPr sz="32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lgn="l" rtl="0" fontAlgn="base">
        <a:spcBef>
          <a:spcPct val="0"/>
        </a:spcBef>
        <a:spcAft>
          <a:spcPct val="0"/>
        </a:spcAft>
        <a:defRPr sz="32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lgn="l" rtl="0" fontAlgn="base">
        <a:spcBef>
          <a:spcPct val="0"/>
        </a:spcBef>
        <a:spcAft>
          <a:spcPct val="0"/>
        </a:spcAft>
        <a:defRPr sz="32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lgn="l" rtl="0" fontAlgn="base">
        <a:spcBef>
          <a:spcPct val="0"/>
        </a:spcBef>
        <a:spcAft>
          <a:spcPct val="0"/>
        </a:spcAft>
        <a:defRPr sz="32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algn="l" rtl="0" fontAlgn="base">
        <a:spcBef>
          <a:spcPct val="0"/>
        </a:spcBef>
        <a:spcAft>
          <a:spcPct val="0"/>
        </a:spcAft>
        <a:defRPr sz="32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algn="l" rtl="0" fontAlgn="base">
        <a:spcBef>
          <a:spcPct val="0"/>
        </a:spcBef>
        <a:spcAft>
          <a:spcPct val="0"/>
        </a:spcAft>
        <a:defRPr sz="32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algn="l" rtl="0" fontAlgn="base">
        <a:spcBef>
          <a:spcPct val="0"/>
        </a:spcBef>
        <a:spcAft>
          <a:spcPct val="0"/>
        </a:spcAft>
        <a:defRPr sz="32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algn="l" rtl="0" fontAlgn="base">
        <a:spcBef>
          <a:spcPct val="0"/>
        </a:spcBef>
        <a:spcAft>
          <a:spcPct val="0"/>
        </a:spcAft>
        <a:defRPr sz="32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p:titleStyle>
    <p:bodyStyle>
      <a:lvl1pPr marL="342900" indent="-342900" algn="l" rtl="0" fontAlgn="base">
        <a:lnSpc>
          <a:spcPct val="120000"/>
        </a:lnSpc>
        <a:spcBef>
          <a:spcPct val="20000"/>
        </a:spcBef>
        <a:spcAft>
          <a:spcPct val="0"/>
        </a:spcAft>
        <a:buClr>
          <a:schemeClr val="folHlink"/>
        </a:buClr>
        <a:buSzPct val="60000"/>
        <a:buFont typeface="Wingdings" panose="05000000000000000000" pitchFamily="2" charset="2"/>
        <a:defRPr sz="2800" b="1"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lnSpc>
          <a:spcPct val="120000"/>
        </a:lnSpc>
        <a:spcBef>
          <a:spcPct val="20000"/>
        </a:spcBef>
        <a:spcAft>
          <a:spcPct val="0"/>
        </a:spcAft>
        <a:buClr>
          <a:schemeClr val="hlink"/>
        </a:buClr>
        <a:buSzPct val="55000"/>
        <a:buFont typeface="Wingdings" panose="05000000000000000000" pitchFamily="2" charset="2"/>
        <a:buChar char="n"/>
        <a:defRPr sz="2800" b="1"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lnSpc>
          <a:spcPct val="120000"/>
        </a:lnSpc>
        <a:spcBef>
          <a:spcPct val="20000"/>
        </a:spcBef>
        <a:spcAft>
          <a:spcPct val="0"/>
        </a:spcAft>
        <a:buClr>
          <a:schemeClr val="folHlink"/>
        </a:buClr>
        <a:buSzPct val="50000"/>
        <a:buFont typeface="Wingdings" panose="05000000000000000000" pitchFamily="2" charset="2"/>
        <a:buChar char="n"/>
        <a:defRPr sz="2400" b="1"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lnSpc>
          <a:spcPct val="120000"/>
        </a:lnSpc>
        <a:spcBef>
          <a:spcPct val="20000"/>
        </a:spcBef>
        <a:spcAft>
          <a:spcPct val="0"/>
        </a:spcAft>
        <a:buClr>
          <a:schemeClr val="accent2"/>
        </a:buClr>
        <a:buSzPct val="55000"/>
        <a:buFont typeface="Wingdings" panose="05000000000000000000" pitchFamily="2" charset="2"/>
        <a:buChar char="n"/>
        <a:defRPr sz="2000" b="1"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sz="2000" b="1"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19.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48.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0674" name="Rectangle 2"/>
          <p:cNvSpPr>
            <a:spLocks noGrp="1" noChangeArrowheads="1"/>
          </p:cNvSpPr>
          <p:nvPr>
            <p:ph type="ctrTitle"/>
          </p:nvPr>
        </p:nvSpPr>
        <p:spPr>
          <a:effectLst>
            <a:outerShdw dist="17961" dir="2700000" algn="ctr" rotWithShape="0">
              <a:schemeClr val="tx1"/>
            </a:outerShdw>
          </a:effectLst>
        </p:spPr>
        <p:txBody>
          <a:bodyPr/>
          <a:lstStyle/>
          <a:p>
            <a:r>
              <a:rPr lang="zh-CN" altLang="en-US">
                <a:effectLst/>
              </a:rPr>
              <a:t>第</a:t>
            </a:r>
            <a:r>
              <a:rPr lang="en-US" altLang="zh-CN">
                <a:effectLst/>
              </a:rPr>
              <a:t>10</a:t>
            </a:r>
            <a:r>
              <a:rPr lang="zh-CN" altLang="en-US">
                <a:effectLst/>
              </a:rPr>
              <a:t>章  数据库保护技术</a:t>
            </a:r>
            <a:endParaRPr lang="en-US" altLang="zh-CN">
              <a:effectLst/>
            </a:endParaRPr>
          </a:p>
        </p:txBody>
      </p:sp>
      <p:sp>
        <p:nvSpPr>
          <p:cNvPr id="540676" name="Rectangle 4"/>
          <p:cNvSpPr>
            <a:spLocks noChangeArrowheads="1"/>
          </p:cNvSpPr>
          <p:nvPr/>
        </p:nvSpPr>
        <p:spPr bwMode="auto">
          <a:xfrm>
            <a:off x="107950" y="80963"/>
            <a:ext cx="3816350" cy="574675"/>
          </a:xfrm>
          <a:prstGeom prst="rect">
            <a:avLst/>
          </a:prstGeom>
          <a:gradFill rotWithShape="1">
            <a:gsLst>
              <a:gs pos="0">
                <a:srgbClr val="C0C0C0"/>
              </a:gs>
              <a:gs pos="100000">
                <a:srgbClr val="C0C0C0">
                  <a:gamma/>
                  <a:tint val="0"/>
                  <a:invGamma/>
                </a:srgbClr>
              </a:gs>
            </a:gsLst>
            <a:path path="shape">
              <a:fillToRect l="50000" t="50000" r="50000" b="50000"/>
            </a:path>
          </a:gra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2000" anchor="ctr" anchorCtr="1">
            <a:spAutoFit/>
          </a:bodyPr>
          <a:lstStyle/>
          <a:p>
            <a:pPr algn="ctr"/>
            <a:r>
              <a:rPr lang="zh-CN" altLang="en-US" sz="2800" b="1">
                <a:solidFill>
                  <a:srgbClr val="993300"/>
                </a:solidFill>
                <a:effectLst>
                  <a:outerShdw blurRad="38100" dist="38100" dir="2700000" algn="tl">
                    <a:srgbClr val="000000"/>
                  </a:outerShdw>
                </a:effectLst>
                <a:ea typeface="隶书" panose="02010509060101010101" pitchFamily="49" charset="-122"/>
              </a:rPr>
              <a:t>数据库系统原理及应用</a:t>
            </a:r>
            <a:endParaRPr kumimoji="1" lang="zh-CN" altLang="en-US" sz="3000" b="1">
              <a:solidFill>
                <a:srgbClr val="000000"/>
              </a:solidFill>
              <a:effectLst>
                <a:outerShdw blurRad="38100" dist="38100" dir="2700000" algn="tl">
                  <a:srgbClr val="FFFFFF"/>
                </a:outerShdw>
              </a:effectLst>
              <a:latin typeface="Times New Roman" panose="02020603050405020304" pitchFamily="18" charset="0"/>
              <a:ea typeface="楷体_GB2312" pitchFamily="49" charset="-122"/>
            </a:endParaRPr>
          </a:p>
        </p:txBody>
      </p:sp>
      <p:sp>
        <p:nvSpPr>
          <p:cNvPr id="540677" name="Rectangle 5"/>
          <p:cNvSpPr>
            <a:spLocks noChangeArrowheads="1"/>
          </p:cNvSpPr>
          <p:nvPr/>
        </p:nvSpPr>
        <p:spPr bwMode="auto">
          <a:xfrm>
            <a:off x="1474788" y="3357563"/>
            <a:ext cx="5905500"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gn="ctr">
              <a:lnSpc>
                <a:spcPct val="120000"/>
              </a:lnSpc>
              <a:spcBef>
                <a:spcPct val="20000"/>
              </a:spcBef>
              <a:buClr>
                <a:schemeClr val="hlink"/>
              </a:buClr>
              <a:buSzPct val="55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gn="ctr">
              <a:lnSpc>
                <a:spcPct val="120000"/>
              </a:lnSpc>
              <a:spcBef>
                <a:spcPct val="20000"/>
              </a:spcBef>
              <a:buClr>
                <a:schemeClr val="folHlink"/>
              </a:buClr>
              <a:buSzPct val="5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gn="ctr">
              <a:lnSpc>
                <a:spcPct val="120000"/>
              </a:lnSpc>
              <a:spcBef>
                <a:spcPct val="20000"/>
              </a:spcBef>
              <a:buClr>
                <a:schemeClr val="accent2"/>
              </a:buClr>
              <a:buSzPct val="55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gn="ctr">
              <a:lnSpc>
                <a:spcPct val="120000"/>
              </a:lnSpc>
              <a:spcBef>
                <a:spcPct val="20000"/>
              </a:spcBef>
              <a:buClr>
                <a:schemeClr val="accent1"/>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algn="ctr" fontAlgn="base">
              <a:lnSpc>
                <a:spcPct val="120000"/>
              </a:lnSpc>
              <a:spcBef>
                <a:spcPct val="20000"/>
              </a:spcBef>
              <a:spcAft>
                <a:spcPct val="0"/>
              </a:spcAft>
              <a:buClr>
                <a:schemeClr val="accent1"/>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algn="ctr" fontAlgn="base">
              <a:lnSpc>
                <a:spcPct val="120000"/>
              </a:lnSpc>
              <a:spcBef>
                <a:spcPct val="20000"/>
              </a:spcBef>
              <a:spcAft>
                <a:spcPct val="0"/>
              </a:spcAft>
              <a:buClr>
                <a:schemeClr val="accent1"/>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algn="ctr" fontAlgn="base">
              <a:lnSpc>
                <a:spcPct val="120000"/>
              </a:lnSpc>
              <a:spcBef>
                <a:spcPct val="20000"/>
              </a:spcBef>
              <a:spcAft>
                <a:spcPct val="0"/>
              </a:spcAft>
              <a:buClr>
                <a:schemeClr val="accent1"/>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algn="ctr" fontAlgn="base">
              <a:lnSpc>
                <a:spcPct val="120000"/>
              </a:lnSpc>
              <a:spcBef>
                <a:spcPct val="20000"/>
              </a:spcBef>
              <a:spcAft>
                <a:spcPct val="0"/>
              </a:spcAft>
              <a:buClr>
                <a:schemeClr val="accent1"/>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nSpc>
                <a:spcPct val="100000"/>
              </a:lnSpc>
              <a:spcBef>
                <a:spcPct val="0"/>
              </a:spcBef>
              <a:buClrTx/>
              <a:buSzTx/>
              <a:buFontTx/>
              <a:buNone/>
            </a:pPr>
            <a:r>
              <a:rPr lang="zh-CN" altLang="en-US" sz="4000">
                <a:solidFill>
                  <a:srgbClr val="003366"/>
                </a:solidFill>
                <a:latin typeface="华文新魏" panose="02010800040101010101" pitchFamily="2" charset="-122"/>
                <a:ea typeface="华文新魏" panose="02010800040101010101" pitchFamily="2" charset="-122"/>
              </a:rPr>
              <a:t>（第四讲）</a:t>
            </a:r>
          </a:p>
        </p:txBody>
      </p:sp>
    </p:spTree>
  </p:cSld>
  <p:clrMapOvr>
    <a:masterClrMapping/>
  </p:clrMapOvr>
  <mc:AlternateContent xmlns:mc="http://schemas.openxmlformats.org/markup-compatibility/2006" xmlns:p14="http://schemas.microsoft.com/office/powerpoint/2010/main">
    <mc:Choice Requires="p14">
      <p:transition spd="slow" p14:dur="2000" advTm="2335"/>
    </mc:Choice>
    <mc:Fallback xmlns="">
      <p:transition spd="slow" advTm="233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540676"/>
                                        </p:tgtEl>
                                        <p:attrNameLst>
                                          <p:attrName>style.visibility</p:attrName>
                                        </p:attrNameLst>
                                      </p:cBhvr>
                                      <p:to>
                                        <p:strVal val="visible"/>
                                      </p:to>
                                    </p:set>
                                    <p:animEffect transition="in" filter="box(out)">
                                      <p:cBhvr>
                                        <p:cTn id="7" dur="1000"/>
                                        <p:tgtEl>
                                          <p:spTgt spid="540676"/>
                                        </p:tgtEl>
                                      </p:cBhvr>
                                    </p:animEffect>
                                  </p:childTnLst>
                                </p:cTn>
                              </p:par>
                            </p:childTnLst>
                          </p:cTn>
                        </p:par>
                        <p:par>
                          <p:cTn id="8" fill="hold">
                            <p:stCondLst>
                              <p:cond delay="1000"/>
                            </p:stCondLst>
                            <p:childTnLst>
                              <p:par>
                                <p:cTn id="9" presetID="13" presetClass="entr" presetSubtype="16" fill="hold" grpId="0" nodeType="afterEffect">
                                  <p:stCondLst>
                                    <p:cond delay="0"/>
                                  </p:stCondLst>
                                  <p:childTnLst>
                                    <p:set>
                                      <p:cBhvr>
                                        <p:cTn id="10" dur="1" fill="hold">
                                          <p:stCondLst>
                                            <p:cond delay="0"/>
                                          </p:stCondLst>
                                        </p:cTn>
                                        <p:tgtEl>
                                          <p:spTgt spid="540674"/>
                                        </p:tgtEl>
                                        <p:attrNameLst>
                                          <p:attrName>style.visibility</p:attrName>
                                        </p:attrNameLst>
                                      </p:cBhvr>
                                      <p:to>
                                        <p:strVal val="visible"/>
                                      </p:to>
                                    </p:set>
                                    <p:animEffect transition="in" filter="plus(in)">
                                      <p:cBhvr>
                                        <p:cTn id="11" dur="1000"/>
                                        <p:tgtEl>
                                          <p:spTgt spid="5406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0674" grpId="0"/>
      <p:bldP spid="54067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2" name="Rectangle 4"/>
          <p:cNvSpPr>
            <a:spLocks noChangeAspect="1" noChangeArrowheads="1"/>
          </p:cNvSpPr>
          <p:nvPr/>
        </p:nvSpPr>
        <p:spPr bwMode="auto">
          <a:xfrm>
            <a:off x="323850" y="1341438"/>
            <a:ext cx="8496300" cy="4464050"/>
          </a:xfrm>
          <a:prstGeom prst="rect">
            <a:avLst/>
          </a:prstGeom>
          <a:gradFill rotWithShape="1">
            <a:gsLst>
              <a:gs pos="0">
                <a:srgbClr val="C5ECFF"/>
              </a:gs>
              <a:gs pos="100000">
                <a:srgbClr val="C5ECFF">
                  <a:gamma/>
                  <a:tint val="28627"/>
                  <a:invGamma/>
                </a:srgbClr>
              </a:gs>
            </a:gsLst>
            <a:lin ang="5400000" scaled="1"/>
          </a:gradFill>
          <a:ln w="57150" cmpd="thickThin">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432130" name="Text Box 2"/>
          <p:cNvSpPr txBox="1">
            <a:spLocks noChangeArrowheads="1"/>
          </p:cNvSpPr>
          <p:nvPr/>
        </p:nvSpPr>
        <p:spPr bwMode="auto">
          <a:xfrm>
            <a:off x="685800" y="1600200"/>
            <a:ext cx="7824788" cy="3446463"/>
          </a:xfrm>
          <a:prstGeom prst="rect">
            <a:avLst/>
          </a:prstGeom>
          <a:noFill/>
          <a:ln w="952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80000"/>
              </a:lnSpc>
              <a:spcBef>
                <a:spcPct val="10000"/>
              </a:spcBef>
            </a:pPr>
            <a:r>
              <a:rPr lang="zh-CN" altLang="en-US" sz="2800" b="1">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3200" b="1">
                <a:solidFill>
                  <a:srgbClr val="660033"/>
                </a:solidFill>
                <a:latin typeface="Tahoma" panose="020B0604030504040204" pitchFamily="34" charset="0"/>
                <a:ea typeface="华文新魏" panose="02010800040101010101" pitchFamily="2" charset="-122"/>
              </a:rPr>
              <a:t>数据库恢复技术</a:t>
            </a:r>
            <a:r>
              <a:rPr lang="zh-CN" altLang="en-US" sz="3000" b="1">
                <a:effectLst>
                  <a:outerShdw blurRad="38100" dist="38100" dir="2700000" algn="tl">
                    <a:srgbClr val="C0C0C0"/>
                  </a:outerShdw>
                </a:effectLst>
                <a:latin typeface="黑体" panose="02010609060101010101" pitchFamily="49" charset="-122"/>
                <a:ea typeface="黑体" panose="02010609060101010101" pitchFamily="49" charset="-122"/>
              </a:rPr>
              <a:t>研究当数据库中数据遭到破坏时，把遭到破坏的数据库还原到原来的正确状态或用户可接受状态的策略和实现技术。</a:t>
            </a:r>
            <a:r>
              <a:rPr lang="zh-CN" altLang="en-US" sz="2800" b="1">
                <a:effectLst>
                  <a:outerShdw blurRad="38100" dist="38100" dir="2700000" algn="tl">
                    <a:srgbClr val="C0C0C0"/>
                  </a:outerShdw>
                </a:effectLst>
                <a:latin typeface="黑体" panose="02010609060101010101" pitchFamily="49" charset="-122"/>
                <a:ea typeface="黑体" panose="02010609060101010101" pitchFamily="49" charset="-122"/>
              </a:rPr>
              <a: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8191"/>
    </mc:Choice>
    <mc:Fallback xmlns="">
      <p:transition spd="slow" advTm="181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withEffect">
                                  <p:stCondLst>
                                    <p:cond delay="0"/>
                                  </p:stCondLst>
                                  <p:childTnLst>
                                    <p:set>
                                      <p:cBhvr>
                                        <p:cTn id="6" dur="1" fill="hold">
                                          <p:stCondLst>
                                            <p:cond delay="0"/>
                                          </p:stCondLst>
                                        </p:cTn>
                                        <p:tgtEl>
                                          <p:spTgt spid="432132"/>
                                        </p:tgtEl>
                                        <p:attrNameLst>
                                          <p:attrName>style.visibility</p:attrName>
                                        </p:attrNameLst>
                                      </p:cBhvr>
                                      <p:to>
                                        <p:strVal val="visible"/>
                                      </p:to>
                                    </p:set>
                                    <p:anim calcmode="lin" valueType="num">
                                      <p:cBhvr>
                                        <p:cTn id="7" dur="1000" fill="hold"/>
                                        <p:tgtEl>
                                          <p:spTgt spid="432132"/>
                                        </p:tgtEl>
                                        <p:attrNameLst>
                                          <p:attrName>ppt_w</p:attrName>
                                        </p:attrNameLst>
                                      </p:cBhvr>
                                      <p:tavLst>
                                        <p:tav tm="0">
                                          <p:val>
                                            <p:fltVal val="0"/>
                                          </p:val>
                                        </p:tav>
                                        <p:tav tm="100000">
                                          <p:val>
                                            <p:strVal val="#ppt_w"/>
                                          </p:val>
                                        </p:tav>
                                      </p:tavLst>
                                    </p:anim>
                                    <p:anim calcmode="lin" valueType="num">
                                      <p:cBhvr>
                                        <p:cTn id="8" dur="1000" fill="hold"/>
                                        <p:tgtEl>
                                          <p:spTgt spid="432132"/>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432130"/>
                                        </p:tgtEl>
                                        <p:attrNameLst>
                                          <p:attrName>style.visibility</p:attrName>
                                        </p:attrNameLst>
                                      </p:cBhvr>
                                      <p:to>
                                        <p:strVal val="visible"/>
                                      </p:to>
                                    </p:set>
                                    <p:animEffect transition="in" filter="blinds(horizontal)">
                                      <p:cBhvr>
                                        <p:cTn id="13" dur="500"/>
                                        <p:tgtEl>
                                          <p:spTgt spid="432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2130"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24962" name="Rectangle 2"/>
          <p:cNvSpPr>
            <a:spLocks noGrp="1" noChangeArrowheads="1"/>
          </p:cNvSpPr>
          <p:nvPr>
            <p:ph type="ctrTitle"/>
          </p:nvPr>
        </p:nvSpPr>
        <p:spPr/>
        <p:txBody>
          <a:bodyPr/>
          <a:lstStyle/>
          <a:p>
            <a:r>
              <a:rPr lang="en-US" altLang="zh-CN"/>
              <a:t>10.4   </a:t>
            </a:r>
            <a:r>
              <a:rPr lang="zh-CN" altLang="en-US"/>
              <a:t>数据库恢复</a:t>
            </a:r>
            <a:endParaRPr lang="en-US" altLang="zh-CN"/>
          </a:p>
        </p:txBody>
      </p:sp>
      <p:sp>
        <p:nvSpPr>
          <p:cNvPr id="424963" name="Rectangle 3"/>
          <p:cNvSpPr>
            <a:spLocks noGrp="1" noChangeArrowheads="1"/>
          </p:cNvSpPr>
          <p:nvPr>
            <p:ph type="subTitle" idx="1"/>
          </p:nvPr>
        </p:nvSpPr>
        <p:spPr>
          <a:xfrm>
            <a:off x="1474788" y="3140075"/>
            <a:ext cx="5905500" cy="792163"/>
          </a:xfrm>
        </p:spPr>
        <p:txBody>
          <a:bodyPr/>
          <a:lstStyle/>
          <a:p>
            <a:endParaRPr lang="zh-CN" altLang="en-US"/>
          </a:p>
        </p:txBody>
      </p:sp>
      <p:sp>
        <p:nvSpPr>
          <p:cNvPr id="424964" name="Rectangle 4"/>
          <p:cNvSpPr>
            <a:spLocks noChangeArrowheads="1"/>
          </p:cNvSpPr>
          <p:nvPr/>
        </p:nvSpPr>
        <p:spPr bwMode="auto">
          <a:xfrm>
            <a:off x="71438" y="80963"/>
            <a:ext cx="4645025" cy="574675"/>
          </a:xfrm>
          <a:prstGeom prst="rect">
            <a:avLst/>
          </a:prstGeom>
          <a:gradFill rotWithShape="1">
            <a:gsLst>
              <a:gs pos="0">
                <a:srgbClr val="C0C0C0"/>
              </a:gs>
              <a:gs pos="100000">
                <a:srgbClr val="C0C0C0">
                  <a:gamma/>
                  <a:tint val="0"/>
                  <a:invGamma/>
                </a:srgbClr>
              </a:gs>
            </a:gsLst>
            <a:path path="shape">
              <a:fillToRect l="50000" t="50000" r="50000" b="50000"/>
            </a:path>
          </a:gra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2000" anchor="ctr" anchorCtr="1">
            <a:spAutoFit/>
          </a:bodyPr>
          <a:lstStyle/>
          <a:p>
            <a:r>
              <a:rPr lang="zh-CN" altLang="en-US" sz="2800" b="1">
                <a:solidFill>
                  <a:srgbClr val="993300"/>
                </a:solidFill>
                <a:effectLst>
                  <a:outerShdw blurRad="38100" dist="38100" dir="2700000" algn="tl">
                    <a:srgbClr val="000000"/>
                  </a:outerShdw>
                </a:effectLst>
                <a:ea typeface="隶书" panose="02010509060101010101" pitchFamily="49" charset="-122"/>
              </a:rPr>
              <a:t>第</a:t>
            </a:r>
            <a:r>
              <a:rPr lang="en-US" altLang="zh-CN" sz="2800" b="1">
                <a:solidFill>
                  <a:srgbClr val="993300"/>
                </a:solidFill>
                <a:effectLst>
                  <a:outerShdw blurRad="38100" dist="38100" dir="2700000" algn="tl">
                    <a:srgbClr val="000000"/>
                  </a:outerShdw>
                </a:effectLst>
                <a:ea typeface="隶书" panose="02010509060101010101" pitchFamily="49" charset="-122"/>
              </a:rPr>
              <a:t>10</a:t>
            </a:r>
            <a:r>
              <a:rPr lang="zh-CN" altLang="en-US" sz="2800" b="1">
                <a:solidFill>
                  <a:srgbClr val="993300"/>
                </a:solidFill>
                <a:effectLst>
                  <a:outerShdw blurRad="38100" dist="38100" dir="2700000" algn="tl">
                    <a:srgbClr val="000000"/>
                  </a:outerShdw>
                </a:effectLst>
                <a:ea typeface="隶书" panose="02010509060101010101" pitchFamily="49" charset="-122"/>
              </a:rPr>
              <a:t>章  数据库保护技术</a:t>
            </a:r>
          </a:p>
        </p:txBody>
      </p:sp>
    </p:spTree>
  </p:cSld>
  <p:clrMapOvr>
    <a:masterClrMapping/>
  </p:clrMapOvr>
  <p:transition advTm="293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424964"/>
                                        </p:tgtEl>
                                        <p:attrNameLst>
                                          <p:attrName>style.visibility</p:attrName>
                                        </p:attrNameLst>
                                      </p:cBhvr>
                                      <p:to>
                                        <p:strVal val="visible"/>
                                      </p:to>
                                    </p:set>
                                    <p:animEffect transition="in" filter="box(out)">
                                      <p:cBhvr>
                                        <p:cTn id="7" dur="1000"/>
                                        <p:tgtEl>
                                          <p:spTgt spid="424964"/>
                                        </p:tgtEl>
                                      </p:cBhvr>
                                    </p:animEffect>
                                  </p:childTnLst>
                                </p:cTn>
                              </p:par>
                            </p:childTnLst>
                          </p:cTn>
                        </p:par>
                        <p:par>
                          <p:cTn id="8" fill="hold">
                            <p:stCondLst>
                              <p:cond delay="1000"/>
                            </p:stCondLst>
                            <p:childTnLst>
                              <p:par>
                                <p:cTn id="9" presetID="13" presetClass="entr" presetSubtype="16" fill="hold" grpId="0" nodeType="afterEffect">
                                  <p:stCondLst>
                                    <p:cond delay="0"/>
                                  </p:stCondLst>
                                  <p:childTnLst>
                                    <p:set>
                                      <p:cBhvr>
                                        <p:cTn id="10" dur="1" fill="hold">
                                          <p:stCondLst>
                                            <p:cond delay="0"/>
                                          </p:stCondLst>
                                        </p:cTn>
                                        <p:tgtEl>
                                          <p:spTgt spid="424962"/>
                                        </p:tgtEl>
                                        <p:attrNameLst>
                                          <p:attrName>style.visibility</p:attrName>
                                        </p:attrNameLst>
                                      </p:cBhvr>
                                      <p:to>
                                        <p:strVal val="visible"/>
                                      </p:to>
                                    </p:set>
                                    <p:animEffect transition="in" filter="plus(in)">
                                      <p:cBhvr>
                                        <p:cTn id="11" dur="1000"/>
                                        <p:tgtEl>
                                          <p:spTgt spid="4249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962" grpId="0"/>
      <p:bldP spid="424964"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a:effectLst>
            <a:outerShdw dist="17961" dir="2700000" algn="ctr" rotWithShape="0">
              <a:schemeClr val="tx1"/>
            </a:outerShdw>
          </a:effectLst>
        </p:spPr>
        <p:txBody>
          <a:bodyPr/>
          <a:lstStyle/>
          <a:p>
            <a:r>
              <a:rPr lang="zh-CN" altLang="en-US">
                <a:effectLst/>
              </a:rPr>
              <a:t>主要内容</a:t>
            </a:r>
          </a:p>
        </p:txBody>
      </p:sp>
      <p:grpSp>
        <p:nvGrpSpPr>
          <p:cNvPr id="425989" name="Group 5"/>
          <p:cNvGrpSpPr/>
          <p:nvPr/>
        </p:nvGrpSpPr>
        <p:grpSpPr bwMode="auto">
          <a:xfrm>
            <a:off x="1747838" y="2376488"/>
            <a:ext cx="5334000" cy="530225"/>
            <a:chOff x="1248" y="1671"/>
            <a:chExt cx="3360" cy="334"/>
          </a:xfrm>
        </p:grpSpPr>
        <p:grpSp>
          <p:nvGrpSpPr>
            <p:cNvPr id="425990" name="Group 3"/>
            <p:cNvGrpSpPr/>
            <p:nvPr/>
          </p:nvGrpSpPr>
          <p:grpSpPr bwMode="auto">
            <a:xfrm>
              <a:off x="1248" y="1680"/>
              <a:ext cx="3360" cy="323"/>
              <a:chOff x="1543" y="1728"/>
              <a:chExt cx="3493" cy="323"/>
            </a:xfrm>
          </p:grpSpPr>
          <p:sp>
            <p:nvSpPr>
              <p:cNvPr id="2" name="AutoShape 4"/>
              <p:cNvSpPr>
                <a:spLocks noChangeArrowheads="1"/>
              </p:cNvSpPr>
              <p:nvPr/>
            </p:nvSpPr>
            <p:spPr bwMode="gray">
              <a:xfrm>
                <a:off x="1543" y="1728"/>
                <a:ext cx="3493" cy="323"/>
              </a:xfrm>
              <a:prstGeom prst="roundRect">
                <a:avLst>
                  <a:gd name="adj" fmla="val 16667"/>
                </a:avLst>
              </a:prstGeom>
              <a:gradFill rotWithShape="1">
                <a:gsLst>
                  <a:gs pos="0">
                    <a:srgbClr val="48BE67"/>
                  </a:gs>
                  <a:gs pos="100000">
                    <a:srgbClr val="48BE67">
                      <a:gamma/>
                      <a:tint val="36471"/>
                      <a:invGamma/>
                    </a:srgbClr>
                  </a:gs>
                </a:gsLst>
                <a:lin ang="5400000" scaled="1"/>
              </a:gradFill>
              <a:ln>
                <a:noFill/>
              </a:ln>
              <a:effectLst>
                <a:outerShdw dist="35921" dir="2700000" algn="ctr" rotWithShape="0">
                  <a:srgbClr val="B2B2B2"/>
                </a:outerShdw>
              </a:effectLst>
            </p:spPr>
            <p:txBody>
              <a:bodyPr wrap="none" anchor="ctr"/>
              <a:lstStyle/>
              <a:p>
                <a:pPr fontAlgn="auto">
                  <a:spcBef>
                    <a:spcPts val="0"/>
                  </a:spcBef>
                  <a:spcAft>
                    <a:spcPts val="0"/>
                  </a:spcAft>
                  <a:defRPr/>
                </a:pPr>
                <a:endParaRPr lang="zh-CN" altLang="en-US">
                  <a:latin typeface="+mn-lt"/>
                  <a:ea typeface="+mn-ea"/>
                </a:endParaRPr>
              </a:p>
            </p:txBody>
          </p:sp>
          <p:sp>
            <p:nvSpPr>
              <p:cNvPr id="425992" name="AutoShape 5"/>
              <p:cNvSpPr>
                <a:spLocks noChangeArrowheads="1"/>
              </p:cNvSpPr>
              <p:nvPr/>
            </p:nvSpPr>
            <p:spPr bwMode="gray">
              <a:xfrm>
                <a:off x="1573" y="1965"/>
                <a:ext cx="3443" cy="83"/>
              </a:xfrm>
              <a:prstGeom prst="roundRect">
                <a:avLst>
                  <a:gd name="adj" fmla="val 50000"/>
                </a:avLst>
              </a:prstGeom>
              <a:gradFill rotWithShape="1">
                <a:gsLst>
                  <a:gs pos="0">
                    <a:srgbClr val="82F094">
                      <a:alpha val="0"/>
                    </a:srgbClr>
                  </a:gs>
                  <a:gs pos="100000">
                    <a:srgbClr val="91F2A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5993" name="AutoShape 6"/>
              <p:cNvSpPr>
                <a:spLocks noChangeArrowheads="1"/>
              </p:cNvSpPr>
              <p:nvPr/>
            </p:nvSpPr>
            <p:spPr bwMode="gray">
              <a:xfrm>
                <a:off x="1573" y="1735"/>
                <a:ext cx="3443" cy="83"/>
              </a:xfrm>
              <a:prstGeom prst="roundRect">
                <a:avLst>
                  <a:gd name="adj" fmla="val 50000"/>
                </a:avLst>
              </a:prstGeom>
              <a:gradFill rotWithShape="1">
                <a:gsLst>
                  <a:gs pos="0">
                    <a:srgbClr val="D5F1FB"/>
                  </a:gs>
                  <a:gs pos="100000">
                    <a:srgbClr val="80D4F2">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grpSp>
        <p:sp>
          <p:nvSpPr>
            <p:cNvPr id="425994" name="Text Box 7"/>
            <p:cNvSpPr txBox="1">
              <a:spLocks noChangeArrowheads="1"/>
            </p:cNvSpPr>
            <p:nvPr/>
          </p:nvSpPr>
          <p:spPr bwMode="gray">
            <a:xfrm>
              <a:off x="1824" y="1671"/>
              <a:ext cx="2734"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zh-CN" altLang="zh-CN" sz="2600" b="1">
                  <a:effectLst>
                    <a:outerShdw blurRad="38100" dist="38100" dir="2700000" algn="tl">
                      <a:srgbClr val="C0C0C0"/>
                    </a:outerShdw>
                  </a:effectLst>
                  <a:latin typeface="楷体_GB2312" pitchFamily="49" charset="-122"/>
                  <a:ea typeface="楷体_GB2312" pitchFamily="49" charset="-122"/>
                </a:rPr>
                <a:t>数据库故障的基本恢复方式</a:t>
              </a:r>
              <a:endParaRPr kumimoji="0" lang="en-US" altLang="zh-CN" sz="2600" b="1">
                <a:effectLst>
                  <a:outerShdw blurRad="38100" dist="38100" dir="2700000" algn="tl">
                    <a:srgbClr val="C0C0C0"/>
                  </a:outerShdw>
                </a:effectLst>
                <a:latin typeface="楷体_GB2312" pitchFamily="49" charset="-122"/>
                <a:ea typeface="楷体_GB2312" pitchFamily="49" charset="-122"/>
              </a:endParaRPr>
            </a:p>
          </p:txBody>
        </p:sp>
        <p:grpSp>
          <p:nvGrpSpPr>
            <p:cNvPr id="425995" name="Group 8"/>
            <p:cNvGrpSpPr/>
            <p:nvPr/>
          </p:nvGrpSpPr>
          <p:grpSpPr bwMode="auto">
            <a:xfrm>
              <a:off x="1487" y="1682"/>
              <a:ext cx="337" cy="323"/>
              <a:chOff x="1287" y="587"/>
              <a:chExt cx="670" cy="647"/>
            </a:xfrm>
          </p:grpSpPr>
          <p:sp>
            <p:nvSpPr>
              <p:cNvPr id="425996" name="Oval 9"/>
              <p:cNvSpPr>
                <a:spLocks noChangeArrowheads="1"/>
              </p:cNvSpPr>
              <p:nvPr/>
            </p:nvSpPr>
            <p:spPr bwMode="gray">
              <a:xfrm>
                <a:off x="1287" y="612"/>
                <a:ext cx="670" cy="608"/>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5997" name="Oval 10"/>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5998" name="Oval 11"/>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5999" name="Oval 12"/>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6000" name="Oval 13"/>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endParaRPr kumimoji="0" lang="zh-CN" altLang="zh-CN" sz="1800">
                  <a:latin typeface="Calibri" panose="020F0502020204030204" pitchFamily="34" charset="0"/>
                </a:endParaRPr>
              </a:p>
            </p:txBody>
          </p:sp>
        </p:grpSp>
        <p:sp>
          <p:nvSpPr>
            <p:cNvPr id="426001" name="Text Box 14"/>
            <p:cNvSpPr txBox="1">
              <a:spLocks noChangeArrowheads="1"/>
            </p:cNvSpPr>
            <p:nvPr/>
          </p:nvSpPr>
          <p:spPr bwMode="gray">
            <a:xfrm>
              <a:off x="1536" y="168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en-US" altLang="zh-CN">
                  <a:solidFill>
                    <a:srgbClr val="000000"/>
                  </a:solidFill>
                  <a:latin typeface="Calibri" panose="020F0502020204030204" pitchFamily="34" charset="0"/>
                </a:rPr>
                <a:t>2</a:t>
              </a:r>
            </a:p>
          </p:txBody>
        </p:sp>
      </p:grpSp>
      <p:grpSp>
        <p:nvGrpSpPr>
          <p:cNvPr id="426002" name="Group 18"/>
          <p:cNvGrpSpPr/>
          <p:nvPr/>
        </p:nvGrpSpPr>
        <p:grpSpPr bwMode="auto">
          <a:xfrm>
            <a:off x="1747838" y="3117850"/>
            <a:ext cx="5400675" cy="522288"/>
            <a:chOff x="975" y="1737"/>
            <a:chExt cx="3402" cy="329"/>
          </a:xfrm>
        </p:grpSpPr>
        <p:grpSp>
          <p:nvGrpSpPr>
            <p:cNvPr id="426003" name="Group 16"/>
            <p:cNvGrpSpPr/>
            <p:nvPr/>
          </p:nvGrpSpPr>
          <p:grpSpPr bwMode="auto">
            <a:xfrm>
              <a:off x="975" y="1743"/>
              <a:ext cx="3402" cy="323"/>
              <a:chOff x="1543" y="1728"/>
              <a:chExt cx="3493" cy="323"/>
            </a:xfrm>
          </p:grpSpPr>
          <p:sp>
            <p:nvSpPr>
              <p:cNvPr id="3" name="AutoShape 17"/>
              <p:cNvSpPr>
                <a:spLocks noChangeArrowheads="1"/>
              </p:cNvSpPr>
              <p:nvPr/>
            </p:nvSpPr>
            <p:spPr bwMode="gray">
              <a:xfrm>
                <a:off x="1543" y="1728"/>
                <a:ext cx="3493" cy="323"/>
              </a:xfrm>
              <a:prstGeom prst="roundRect">
                <a:avLst>
                  <a:gd name="adj" fmla="val 16667"/>
                </a:avLst>
              </a:prstGeom>
              <a:gradFill rotWithShape="1">
                <a:gsLst>
                  <a:gs pos="0">
                    <a:srgbClr val="80D4F2"/>
                  </a:gs>
                  <a:gs pos="100000">
                    <a:srgbClr val="3CA1E6"/>
                  </a:gs>
                </a:gsLst>
                <a:lin ang="5400000" scaled="1"/>
              </a:gradFill>
              <a:ln>
                <a:noFill/>
              </a:ln>
              <a:effectLst>
                <a:outerShdw dist="35921" dir="2700000" algn="ctr" rotWithShape="0">
                  <a:srgbClr val="B2B2B2"/>
                </a:outerShdw>
              </a:effectLst>
            </p:spPr>
            <p:txBody>
              <a:bodyPr wrap="none" anchor="ctr"/>
              <a:lstStyle/>
              <a:p>
                <a:pPr fontAlgn="auto">
                  <a:spcBef>
                    <a:spcPts val="0"/>
                  </a:spcBef>
                  <a:spcAft>
                    <a:spcPts val="0"/>
                  </a:spcAft>
                  <a:defRPr/>
                </a:pPr>
                <a:endParaRPr lang="zh-CN" altLang="en-US">
                  <a:latin typeface="+mn-lt"/>
                  <a:ea typeface="+mn-ea"/>
                </a:endParaRPr>
              </a:p>
            </p:txBody>
          </p:sp>
          <p:sp>
            <p:nvSpPr>
              <p:cNvPr id="426005" name="AutoShape 18"/>
              <p:cNvSpPr>
                <a:spLocks noChangeArrowheads="1"/>
              </p:cNvSpPr>
              <p:nvPr/>
            </p:nvSpPr>
            <p:spPr bwMode="gray">
              <a:xfrm>
                <a:off x="1573" y="1965"/>
                <a:ext cx="3443" cy="83"/>
              </a:xfrm>
              <a:prstGeom prst="roundRect">
                <a:avLst>
                  <a:gd name="adj" fmla="val 50000"/>
                </a:avLst>
              </a:prstGeom>
              <a:gradFill rotWithShape="1">
                <a:gsLst>
                  <a:gs pos="0">
                    <a:srgbClr val="80D4F2">
                      <a:alpha val="0"/>
                    </a:srgbClr>
                  </a:gs>
                  <a:gs pos="100000">
                    <a:srgbClr val="8FD9F4"/>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6006" name="AutoShape 19"/>
              <p:cNvSpPr>
                <a:spLocks noChangeArrowheads="1"/>
              </p:cNvSpPr>
              <p:nvPr/>
            </p:nvSpPr>
            <p:spPr bwMode="gray">
              <a:xfrm>
                <a:off x="1573" y="1735"/>
                <a:ext cx="3443" cy="83"/>
              </a:xfrm>
              <a:prstGeom prst="roundRect">
                <a:avLst>
                  <a:gd name="adj" fmla="val 50000"/>
                </a:avLst>
              </a:prstGeom>
              <a:gradFill rotWithShape="1">
                <a:gsLst>
                  <a:gs pos="0">
                    <a:srgbClr val="D5F1FB"/>
                  </a:gs>
                  <a:gs pos="100000">
                    <a:srgbClr val="80D4F2">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grpSp>
        <p:sp>
          <p:nvSpPr>
            <p:cNvPr id="426007" name="Text Box 20"/>
            <p:cNvSpPr txBox="1">
              <a:spLocks noChangeArrowheads="1"/>
            </p:cNvSpPr>
            <p:nvPr/>
          </p:nvSpPr>
          <p:spPr bwMode="gray">
            <a:xfrm>
              <a:off x="1483" y="1752"/>
              <a:ext cx="2814"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zh-CN" altLang="en-US" sz="2600" b="1">
                  <a:effectLst>
                    <a:outerShdw blurRad="38100" dist="38100" dir="2700000" algn="tl">
                      <a:srgbClr val="C0C0C0"/>
                    </a:outerShdw>
                  </a:effectLst>
                  <a:latin typeface="楷体_GB2312" pitchFamily="49" charset="-122"/>
                  <a:ea typeface="楷体_GB2312" pitchFamily="49" charset="-122"/>
                </a:rPr>
                <a:t> </a:t>
              </a:r>
              <a:r>
                <a:rPr kumimoji="0" lang="zh-CN" altLang="zh-CN" sz="2600" b="1">
                  <a:effectLst>
                    <a:outerShdw blurRad="38100" dist="38100" dir="2700000" algn="tl">
                      <a:srgbClr val="C0C0C0"/>
                    </a:outerShdw>
                  </a:effectLst>
                  <a:latin typeface="楷体_GB2312" pitchFamily="49" charset="-122"/>
                  <a:ea typeface="楷体_GB2312" pitchFamily="49" charset="-122"/>
                </a:rPr>
                <a:t>恢复策略</a:t>
              </a:r>
              <a:endParaRPr kumimoji="0" lang="en-US" altLang="zh-CN" sz="2600" b="1">
                <a:effectLst>
                  <a:outerShdw blurRad="38100" dist="38100" dir="2700000" algn="tl">
                    <a:srgbClr val="C0C0C0"/>
                  </a:outerShdw>
                </a:effectLst>
                <a:latin typeface="楷体_GB2312" pitchFamily="49" charset="-122"/>
                <a:ea typeface="楷体_GB2312" pitchFamily="49" charset="-122"/>
              </a:endParaRPr>
            </a:p>
          </p:txBody>
        </p:sp>
        <p:grpSp>
          <p:nvGrpSpPr>
            <p:cNvPr id="426008" name="Group 21"/>
            <p:cNvGrpSpPr/>
            <p:nvPr/>
          </p:nvGrpSpPr>
          <p:grpSpPr bwMode="auto">
            <a:xfrm>
              <a:off x="1221" y="1737"/>
              <a:ext cx="344" cy="323"/>
              <a:chOff x="1287" y="587"/>
              <a:chExt cx="670" cy="647"/>
            </a:xfrm>
          </p:grpSpPr>
          <p:sp>
            <p:nvSpPr>
              <p:cNvPr id="426009" name="Oval 22"/>
              <p:cNvSpPr>
                <a:spLocks noChangeArrowheads="1"/>
              </p:cNvSpPr>
              <p:nvPr/>
            </p:nvSpPr>
            <p:spPr bwMode="gray">
              <a:xfrm>
                <a:off x="1287" y="612"/>
                <a:ext cx="670" cy="608"/>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6010" name="Oval 23"/>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6011" name="Oval 24"/>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6012" name="Oval 25"/>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6013" name="Oval 26"/>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endParaRPr kumimoji="0" lang="zh-CN" altLang="zh-CN" sz="1800">
                  <a:latin typeface="Calibri" panose="020F0502020204030204" pitchFamily="34" charset="0"/>
                </a:endParaRPr>
              </a:p>
            </p:txBody>
          </p:sp>
        </p:grpSp>
        <p:sp>
          <p:nvSpPr>
            <p:cNvPr id="426014" name="Text Box 27"/>
            <p:cNvSpPr txBox="1">
              <a:spLocks noChangeArrowheads="1"/>
            </p:cNvSpPr>
            <p:nvPr/>
          </p:nvSpPr>
          <p:spPr bwMode="gray">
            <a:xfrm>
              <a:off x="1282" y="1752"/>
              <a:ext cx="2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en-US" altLang="zh-CN">
                  <a:solidFill>
                    <a:srgbClr val="000000"/>
                  </a:solidFill>
                  <a:latin typeface="Calibri" panose="020F0502020204030204" pitchFamily="34" charset="0"/>
                </a:rPr>
                <a:t>3</a:t>
              </a:r>
            </a:p>
          </p:txBody>
        </p:sp>
      </p:grpSp>
      <p:grpSp>
        <p:nvGrpSpPr>
          <p:cNvPr id="426015" name="Group 31"/>
          <p:cNvGrpSpPr/>
          <p:nvPr/>
        </p:nvGrpSpPr>
        <p:grpSpPr bwMode="auto">
          <a:xfrm>
            <a:off x="1747838" y="1628775"/>
            <a:ext cx="5334000" cy="515938"/>
            <a:chOff x="1248" y="1200"/>
            <a:chExt cx="3360" cy="325"/>
          </a:xfrm>
        </p:grpSpPr>
        <p:grpSp>
          <p:nvGrpSpPr>
            <p:cNvPr id="426016" name="Group 55"/>
            <p:cNvGrpSpPr/>
            <p:nvPr/>
          </p:nvGrpSpPr>
          <p:grpSpPr bwMode="auto">
            <a:xfrm>
              <a:off x="1248" y="1200"/>
              <a:ext cx="3360" cy="323"/>
              <a:chOff x="1543" y="1728"/>
              <a:chExt cx="3493" cy="323"/>
            </a:xfrm>
          </p:grpSpPr>
          <p:sp>
            <p:nvSpPr>
              <p:cNvPr id="18488" name="AutoShape 56"/>
              <p:cNvSpPr>
                <a:spLocks noChangeArrowheads="1"/>
              </p:cNvSpPr>
              <p:nvPr/>
            </p:nvSpPr>
            <p:spPr bwMode="gray">
              <a:xfrm>
                <a:off x="1543" y="1728"/>
                <a:ext cx="3493" cy="323"/>
              </a:xfrm>
              <a:prstGeom prst="roundRect">
                <a:avLst>
                  <a:gd name="adj" fmla="val 16667"/>
                </a:avLst>
              </a:prstGeom>
              <a:gradFill rotWithShape="1">
                <a:gsLst>
                  <a:gs pos="0">
                    <a:srgbClr val="EAC924"/>
                  </a:gs>
                  <a:gs pos="100000">
                    <a:srgbClr val="EAC924">
                      <a:gamma/>
                      <a:tint val="36471"/>
                      <a:invGamma/>
                    </a:srgbClr>
                  </a:gs>
                </a:gsLst>
                <a:lin ang="5400000" scaled="1"/>
              </a:gradFill>
              <a:ln>
                <a:noFill/>
              </a:ln>
              <a:effectLst>
                <a:outerShdw dist="35921" dir="2700000" algn="ctr" rotWithShape="0">
                  <a:srgbClr val="B2B2B2"/>
                </a:outerShdw>
              </a:effectLst>
            </p:spPr>
            <p:txBody>
              <a:bodyPr wrap="none" anchor="ctr"/>
              <a:lstStyle/>
              <a:p>
                <a:pPr fontAlgn="auto">
                  <a:spcBef>
                    <a:spcPts val="0"/>
                  </a:spcBef>
                  <a:spcAft>
                    <a:spcPts val="0"/>
                  </a:spcAft>
                  <a:defRPr/>
                </a:pPr>
                <a:endParaRPr lang="zh-CN" altLang="en-US">
                  <a:latin typeface="+mn-lt"/>
                  <a:ea typeface="+mn-ea"/>
                </a:endParaRPr>
              </a:p>
            </p:txBody>
          </p:sp>
          <p:sp>
            <p:nvSpPr>
              <p:cNvPr id="426018" name="AutoShape 57"/>
              <p:cNvSpPr>
                <a:spLocks noChangeArrowheads="1"/>
              </p:cNvSpPr>
              <p:nvPr/>
            </p:nvSpPr>
            <p:spPr bwMode="gray">
              <a:xfrm>
                <a:off x="1573" y="1965"/>
                <a:ext cx="3443" cy="83"/>
              </a:xfrm>
              <a:prstGeom prst="roundRect">
                <a:avLst>
                  <a:gd name="adj" fmla="val 50000"/>
                </a:avLst>
              </a:prstGeom>
              <a:gradFill rotWithShape="1">
                <a:gsLst>
                  <a:gs pos="0">
                    <a:srgbClr val="EAC924">
                      <a:alpha val="0"/>
                    </a:srgbClr>
                  </a:gs>
                  <a:gs pos="100000">
                    <a:srgbClr val="EDD03F"/>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6019" name="AutoShape 58"/>
              <p:cNvSpPr>
                <a:spLocks noChangeArrowheads="1"/>
              </p:cNvSpPr>
              <p:nvPr/>
            </p:nvSpPr>
            <p:spPr bwMode="gray">
              <a:xfrm>
                <a:off x="1573" y="1735"/>
                <a:ext cx="3443" cy="83"/>
              </a:xfrm>
              <a:prstGeom prst="roundRect">
                <a:avLst>
                  <a:gd name="adj" fmla="val 50000"/>
                </a:avLst>
              </a:prstGeom>
              <a:gradFill rotWithShape="1">
                <a:gsLst>
                  <a:gs pos="0">
                    <a:srgbClr val="F8EDB6"/>
                  </a:gs>
                  <a:gs pos="100000">
                    <a:srgbClr val="EAC924">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grpSp>
        <p:sp>
          <p:nvSpPr>
            <p:cNvPr id="426020" name="Text Box 59"/>
            <p:cNvSpPr txBox="1">
              <a:spLocks noChangeArrowheads="1"/>
            </p:cNvSpPr>
            <p:nvPr/>
          </p:nvSpPr>
          <p:spPr bwMode="gray">
            <a:xfrm>
              <a:off x="1824" y="1217"/>
              <a:ext cx="2644"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zh-CN" altLang="zh-CN" sz="2600" b="1">
                  <a:effectLst>
                    <a:outerShdw blurRad="38100" dist="38100" dir="2700000" algn="tl">
                      <a:srgbClr val="C0C0C0"/>
                    </a:outerShdw>
                  </a:effectLst>
                  <a:latin typeface="楷体_GB2312" pitchFamily="49" charset="-122"/>
                  <a:ea typeface="楷体_GB2312" pitchFamily="49" charset="-122"/>
                </a:rPr>
                <a:t>数据库的故障分类</a:t>
              </a:r>
              <a:endParaRPr kumimoji="0" lang="en-US" altLang="zh-CN" sz="2600" b="1">
                <a:effectLst>
                  <a:outerShdw blurRad="38100" dist="38100" dir="2700000" algn="tl">
                    <a:srgbClr val="C0C0C0"/>
                  </a:outerShdw>
                </a:effectLst>
                <a:latin typeface="楷体_GB2312" pitchFamily="49" charset="-122"/>
                <a:ea typeface="楷体_GB2312" pitchFamily="49" charset="-122"/>
              </a:endParaRPr>
            </a:p>
          </p:txBody>
        </p:sp>
        <p:grpSp>
          <p:nvGrpSpPr>
            <p:cNvPr id="426021" name="Group 60"/>
            <p:cNvGrpSpPr/>
            <p:nvPr/>
          </p:nvGrpSpPr>
          <p:grpSpPr bwMode="auto">
            <a:xfrm>
              <a:off x="1487" y="1202"/>
              <a:ext cx="337" cy="323"/>
              <a:chOff x="1287" y="587"/>
              <a:chExt cx="670" cy="647"/>
            </a:xfrm>
          </p:grpSpPr>
          <p:sp>
            <p:nvSpPr>
              <p:cNvPr id="426022" name="Oval 61"/>
              <p:cNvSpPr>
                <a:spLocks noChangeArrowheads="1"/>
              </p:cNvSpPr>
              <p:nvPr/>
            </p:nvSpPr>
            <p:spPr bwMode="gray">
              <a:xfrm>
                <a:off x="1287" y="612"/>
                <a:ext cx="670" cy="608"/>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6023" name="Oval 62"/>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6024" name="Oval 63"/>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6025" name="Oval 64"/>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6026" name="Oval 65"/>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endParaRPr kumimoji="0" lang="zh-CN" altLang="zh-CN" sz="1800">
                  <a:latin typeface="Calibri" panose="020F0502020204030204" pitchFamily="34" charset="0"/>
                </a:endParaRPr>
              </a:p>
            </p:txBody>
          </p:sp>
        </p:grpSp>
        <p:sp>
          <p:nvSpPr>
            <p:cNvPr id="426027" name="Text Box 66"/>
            <p:cNvSpPr txBox="1">
              <a:spLocks noChangeArrowheads="1"/>
            </p:cNvSpPr>
            <p:nvPr/>
          </p:nvSpPr>
          <p:spPr bwMode="gray">
            <a:xfrm>
              <a:off x="1536" y="120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en-US" altLang="zh-CN">
                  <a:solidFill>
                    <a:srgbClr val="000000"/>
                  </a:solidFill>
                  <a:latin typeface="Calibri" panose="020F0502020204030204" pitchFamily="34" charset="0"/>
                </a:rPr>
                <a:t>1</a:t>
              </a:r>
            </a:p>
          </p:txBody>
        </p:sp>
      </p:grpSp>
      <p:grpSp>
        <p:nvGrpSpPr>
          <p:cNvPr id="426028" name="Group 44"/>
          <p:cNvGrpSpPr/>
          <p:nvPr/>
        </p:nvGrpSpPr>
        <p:grpSpPr bwMode="auto">
          <a:xfrm>
            <a:off x="1747838" y="3860800"/>
            <a:ext cx="5402262" cy="525463"/>
            <a:chOff x="975" y="2205"/>
            <a:chExt cx="3403" cy="331"/>
          </a:xfrm>
        </p:grpSpPr>
        <p:grpSp>
          <p:nvGrpSpPr>
            <p:cNvPr id="426029" name="Group 3"/>
            <p:cNvGrpSpPr/>
            <p:nvPr/>
          </p:nvGrpSpPr>
          <p:grpSpPr bwMode="auto">
            <a:xfrm>
              <a:off x="975" y="2205"/>
              <a:ext cx="3403" cy="329"/>
              <a:chOff x="1543" y="1728"/>
              <a:chExt cx="3493" cy="323"/>
            </a:xfrm>
          </p:grpSpPr>
          <p:sp>
            <p:nvSpPr>
              <p:cNvPr id="18436" name="AutoShape 4"/>
              <p:cNvSpPr>
                <a:spLocks noChangeArrowheads="1"/>
              </p:cNvSpPr>
              <p:nvPr/>
            </p:nvSpPr>
            <p:spPr bwMode="gray">
              <a:xfrm>
                <a:off x="1543" y="1728"/>
                <a:ext cx="3493" cy="323"/>
              </a:xfrm>
              <a:prstGeom prst="roundRect">
                <a:avLst>
                  <a:gd name="adj" fmla="val 16667"/>
                </a:avLst>
              </a:prstGeom>
              <a:gradFill rotWithShape="1">
                <a:gsLst>
                  <a:gs pos="0">
                    <a:srgbClr val="48BE67"/>
                  </a:gs>
                  <a:gs pos="100000">
                    <a:srgbClr val="48BE67">
                      <a:gamma/>
                      <a:tint val="36471"/>
                      <a:invGamma/>
                    </a:srgbClr>
                  </a:gs>
                </a:gsLst>
                <a:lin ang="5400000" scaled="1"/>
              </a:gradFill>
              <a:ln>
                <a:noFill/>
              </a:ln>
              <a:effectLst>
                <a:outerShdw dist="35921" dir="2700000" algn="ctr" rotWithShape="0">
                  <a:srgbClr val="B2B2B2"/>
                </a:outerShdw>
              </a:effectLst>
            </p:spPr>
            <p:txBody>
              <a:bodyPr wrap="none" anchor="ctr"/>
              <a:lstStyle/>
              <a:p>
                <a:pPr fontAlgn="auto">
                  <a:spcBef>
                    <a:spcPts val="0"/>
                  </a:spcBef>
                  <a:spcAft>
                    <a:spcPts val="0"/>
                  </a:spcAft>
                  <a:defRPr/>
                </a:pPr>
                <a:endParaRPr lang="zh-CN" altLang="en-US">
                  <a:latin typeface="+mn-lt"/>
                  <a:ea typeface="+mn-ea"/>
                </a:endParaRPr>
              </a:p>
            </p:txBody>
          </p:sp>
          <p:sp>
            <p:nvSpPr>
              <p:cNvPr id="426031" name="AutoShape 5"/>
              <p:cNvSpPr>
                <a:spLocks noChangeArrowheads="1"/>
              </p:cNvSpPr>
              <p:nvPr/>
            </p:nvSpPr>
            <p:spPr bwMode="gray">
              <a:xfrm>
                <a:off x="1573" y="1965"/>
                <a:ext cx="3443" cy="83"/>
              </a:xfrm>
              <a:prstGeom prst="roundRect">
                <a:avLst>
                  <a:gd name="adj" fmla="val 50000"/>
                </a:avLst>
              </a:prstGeom>
              <a:gradFill rotWithShape="1">
                <a:gsLst>
                  <a:gs pos="0">
                    <a:srgbClr val="82F094">
                      <a:alpha val="0"/>
                    </a:srgbClr>
                  </a:gs>
                  <a:gs pos="100000">
                    <a:srgbClr val="91F2A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6032" name="AutoShape 6"/>
              <p:cNvSpPr>
                <a:spLocks noChangeArrowheads="1"/>
              </p:cNvSpPr>
              <p:nvPr/>
            </p:nvSpPr>
            <p:spPr bwMode="gray">
              <a:xfrm>
                <a:off x="1573" y="1735"/>
                <a:ext cx="3443" cy="83"/>
              </a:xfrm>
              <a:prstGeom prst="roundRect">
                <a:avLst>
                  <a:gd name="adj" fmla="val 50000"/>
                </a:avLst>
              </a:prstGeom>
              <a:gradFill rotWithShape="1">
                <a:gsLst>
                  <a:gs pos="0">
                    <a:srgbClr val="D5F1FB"/>
                  </a:gs>
                  <a:gs pos="100000">
                    <a:srgbClr val="80D4F2">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grpSp>
        <p:sp>
          <p:nvSpPr>
            <p:cNvPr id="426033" name="Text Box 7"/>
            <p:cNvSpPr txBox="1">
              <a:spLocks noChangeArrowheads="1"/>
            </p:cNvSpPr>
            <p:nvPr/>
          </p:nvSpPr>
          <p:spPr bwMode="gray">
            <a:xfrm>
              <a:off x="1603" y="2205"/>
              <a:ext cx="2774"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zh-CN" altLang="en-US" sz="2600" b="1">
                  <a:effectLst>
                    <a:outerShdw blurRad="38100" dist="38100" dir="2700000" algn="tl">
                      <a:srgbClr val="C0C0C0"/>
                    </a:outerShdw>
                  </a:effectLst>
                  <a:latin typeface="楷体_GB2312" pitchFamily="49" charset="-122"/>
                  <a:ea typeface="楷体_GB2312" pitchFamily="49" charset="-122"/>
                </a:rPr>
                <a:t>具有检查点的恢复技术</a:t>
              </a:r>
            </a:p>
          </p:txBody>
        </p:sp>
        <p:grpSp>
          <p:nvGrpSpPr>
            <p:cNvPr id="426034" name="Group 8"/>
            <p:cNvGrpSpPr/>
            <p:nvPr/>
          </p:nvGrpSpPr>
          <p:grpSpPr bwMode="auto">
            <a:xfrm>
              <a:off x="1217" y="2207"/>
              <a:ext cx="341" cy="329"/>
              <a:chOff x="1287" y="587"/>
              <a:chExt cx="670" cy="647"/>
            </a:xfrm>
          </p:grpSpPr>
          <p:sp>
            <p:nvSpPr>
              <p:cNvPr id="426035" name="Oval 9"/>
              <p:cNvSpPr>
                <a:spLocks noChangeArrowheads="1"/>
              </p:cNvSpPr>
              <p:nvPr/>
            </p:nvSpPr>
            <p:spPr bwMode="gray">
              <a:xfrm>
                <a:off x="1287" y="618"/>
                <a:ext cx="670" cy="596"/>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6036" name="Oval 10"/>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6037" name="Oval 11"/>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6038" name="Oval 12"/>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6039" name="Oval 13"/>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endParaRPr kumimoji="0" lang="zh-CN" altLang="zh-CN" sz="1800">
                  <a:latin typeface="Calibri" panose="020F0502020204030204" pitchFamily="34" charset="0"/>
                </a:endParaRPr>
              </a:p>
            </p:txBody>
          </p:sp>
        </p:grpSp>
        <p:sp>
          <p:nvSpPr>
            <p:cNvPr id="426040" name="Text Box 14"/>
            <p:cNvSpPr txBox="1">
              <a:spLocks noChangeArrowheads="1"/>
            </p:cNvSpPr>
            <p:nvPr/>
          </p:nvSpPr>
          <p:spPr bwMode="gray">
            <a:xfrm>
              <a:off x="1267" y="2213"/>
              <a:ext cx="2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kumimoji="0" lang="en-US" altLang="zh-CN">
                  <a:solidFill>
                    <a:srgbClr val="000000"/>
                  </a:solidFill>
                  <a:latin typeface="Calibri" panose="020F0502020204030204" pitchFamily="34" charset="0"/>
                </a:rPr>
                <a:t>4</a:t>
              </a:r>
            </a:p>
          </p:txBody>
        </p:sp>
      </p:grpSp>
      <p:grpSp>
        <p:nvGrpSpPr>
          <p:cNvPr id="426041" name="Group 57"/>
          <p:cNvGrpSpPr/>
          <p:nvPr/>
        </p:nvGrpSpPr>
        <p:grpSpPr bwMode="auto">
          <a:xfrm>
            <a:off x="1747838" y="4587875"/>
            <a:ext cx="5402262" cy="525463"/>
            <a:chOff x="975" y="2663"/>
            <a:chExt cx="3403" cy="331"/>
          </a:xfrm>
        </p:grpSpPr>
        <p:grpSp>
          <p:nvGrpSpPr>
            <p:cNvPr id="426042" name="Group 16"/>
            <p:cNvGrpSpPr/>
            <p:nvPr/>
          </p:nvGrpSpPr>
          <p:grpSpPr bwMode="auto">
            <a:xfrm>
              <a:off x="975" y="2669"/>
              <a:ext cx="3403" cy="325"/>
              <a:chOff x="1543" y="1728"/>
              <a:chExt cx="3493" cy="323"/>
            </a:xfrm>
          </p:grpSpPr>
          <p:sp>
            <p:nvSpPr>
              <p:cNvPr id="18449" name="AutoShape 17"/>
              <p:cNvSpPr>
                <a:spLocks noChangeArrowheads="1"/>
              </p:cNvSpPr>
              <p:nvPr/>
            </p:nvSpPr>
            <p:spPr bwMode="gray">
              <a:xfrm>
                <a:off x="1543" y="1728"/>
                <a:ext cx="3493" cy="323"/>
              </a:xfrm>
              <a:prstGeom prst="roundRect">
                <a:avLst>
                  <a:gd name="adj" fmla="val 16667"/>
                </a:avLst>
              </a:prstGeom>
              <a:gradFill rotWithShape="1">
                <a:gsLst>
                  <a:gs pos="0">
                    <a:srgbClr val="80D4F2"/>
                  </a:gs>
                  <a:gs pos="100000">
                    <a:srgbClr val="3CA1E6"/>
                  </a:gs>
                </a:gsLst>
                <a:lin ang="5400000" scaled="1"/>
              </a:gradFill>
              <a:ln>
                <a:noFill/>
              </a:ln>
              <a:effectLst>
                <a:outerShdw dist="35921" dir="2700000" algn="ctr" rotWithShape="0">
                  <a:srgbClr val="B2B2B2"/>
                </a:outerShdw>
              </a:effectLst>
            </p:spPr>
            <p:txBody>
              <a:bodyPr wrap="none" anchor="ctr"/>
              <a:lstStyle/>
              <a:p>
                <a:pPr fontAlgn="auto">
                  <a:spcBef>
                    <a:spcPts val="0"/>
                  </a:spcBef>
                  <a:spcAft>
                    <a:spcPts val="0"/>
                  </a:spcAft>
                  <a:defRPr/>
                </a:pPr>
                <a:endParaRPr lang="zh-CN" altLang="en-US">
                  <a:latin typeface="+mn-lt"/>
                  <a:ea typeface="+mn-ea"/>
                </a:endParaRPr>
              </a:p>
            </p:txBody>
          </p:sp>
          <p:sp>
            <p:nvSpPr>
              <p:cNvPr id="426044" name="AutoShape 18"/>
              <p:cNvSpPr>
                <a:spLocks noChangeArrowheads="1"/>
              </p:cNvSpPr>
              <p:nvPr/>
            </p:nvSpPr>
            <p:spPr bwMode="gray">
              <a:xfrm>
                <a:off x="1573" y="1965"/>
                <a:ext cx="3443" cy="83"/>
              </a:xfrm>
              <a:prstGeom prst="roundRect">
                <a:avLst>
                  <a:gd name="adj" fmla="val 50000"/>
                </a:avLst>
              </a:prstGeom>
              <a:gradFill rotWithShape="1">
                <a:gsLst>
                  <a:gs pos="0">
                    <a:srgbClr val="80D4F2">
                      <a:alpha val="0"/>
                    </a:srgbClr>
                  </a:gs>
                  <a:gs pos="100000">
                    <a:srgbClr val="8FD9F4"/>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6045" name="AutoShape 19"/>
              <p:cNvSpPr>
                <a:spLocks noChangeArrowheads="1"/>
              </p:cNvSpPr>
              <p:nvPr/>
            </p:nvSpPr>
            <p:spPr bwMode="gray">
              <a:xfrm>
                <a:off x="1573" y="1735"/>
                <a:ext cx="3443" cy="83"/>
              </a:xfrm>
              <a:prstGeom prst="roundRect">
                <a:avLst>
                  <a:gd name="adj" fmla="val 50000"/>
                </a:avLst>
              </a:prstGeom>
              <a:gradFill rotWithShape="1">
                <a:gsLst>
                  <a:gs pos="0">
                    <a:srgbClr val="D5F1FB"/>
                  </a:gs>
                  <a:gs pos="100000">
                    <a:srgbClr val="80D4F2">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grpSp>
        <p:sp>
          <p:nvSpPr>
            <p:cNvPr id="426046" name="Text Box 20"/>
            <p:cNvSpPr txBox="1">
              <a:spLocks noChangeArrowheads="1"/>
            </p:cNvSpPr>
            <p:nvPr/>
          </p:nvSpPr>
          <p:spPr bwMode="gray">
            <a:xfrm>
              <a:off x="1603" y="2668"/>
              <a:ext cx="2042"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zh-CN" altLang="en-US" sz="2600" b="1">
                  <a:effectLst>
                    <a:outerShdw blurRad="38100" dist="38100" dir="2700000" algn="tl">
                      <a:srgbClr val="C0C0C0"/>
                    </a:outerShdw>
                  </a:effectLst>
                  <a:latin typeface="楷体_GB2312" pitchFamily="49" charset="-122"/>
                  <a:ea typeface="楷体_GB2312" pitchFamily="49" charset="-122"/>
                </a:rPr>
                <a:t>数据库镜像</a:t>
              </a:r>
            </a:p>
          </p:txBody>
        </p:sp>
        <p:grpSp>
          <p:nvGrpSpPr>
            <p:cNvPr id="426047" name="Group 21"/>
            <p:cNvGrpSpPr/>
            <p:nvPr/>
          </p:nvGrpSpPr>
          <p:grpSpPr bwMode="auto">
            <a:xfrm>
              <a:off x="1217" y="2663"/>
              <a:ext cx="341" cy="325"/>
              <a:chOff x="1287" y="587"/>
              <a:chExt cx="670" cy="647"/>
            </a:xfrm>
          </p:grpSpPr>
          <p:sp>
            <p:nvSpPr>
              <p:cNvPr id="426048" name="Oval 22"/>
              <p:cNvSpPr>
                <a:spLocks noChangeArrowheads="1"/>
              </p:cNvSpPr>
              <p:nvPr/>
            </p:nvSpPr>
            <p:spPr bwMode="gray">
              <a:xfrm>
                <a:off x="1287" y="612"/>
                <a:ext cx="670" cy="608"/>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6049" name="Oval 23"/>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6050" name="Oval 24"/>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6051" name="Oval 25"/>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6052" name="Oval 26"/>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endParaRPr kumimoji="0" lang="zh-CN" altLang="zh-CN" sz="1800">
                  <a:latin typeface="Calibri" panose="020F0502020204030204" pitchFamily="34" charset="0"/>
                </a:endParaRPr>
              </a:p>
            </p:txBody>
          </p:sp>
        </p:grpSp>
        <p:sp>
          <p:nvSpPr>
            <p:cNvPr id="426053" name="Text Box 27"/>
            <p:cNvSpPr txBox="1">
              <a:spLocks noChangeArrowheads="1"/>
            </p:cNvSpPr>
            <p:nvPr/>
          </p:nvSpPr>
          <p:spPr bwMode="gray">
            <a:xfrm>
              <a:off x="1267" y="2669"/>
              <a:ext cx="2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kumimoji="0" lang="en-US" altLang="zh-CN">
                  <a:solidFill>
                    <a:srgbClr val="000000"/>
                  </a:solidFill>
                  <a:latin typeface="Calibri" panose="020F0502020204030204" pitchFamily="34" charset="0"/>
                </a:rPr>
                <a:t>5</a:t>
              </a:r>
            </a:p>
          </p:txBody>
        </p:sp>
      </p:grpSp>
      <p:grpSp>
        <p:nvGrpSpPr>
          <p:cNvPr id="426067" name="Group 83"/>
          <p:cNvGrpSpPr/>
          <p:nvPr/>
        </p:nvGrpSpPr>
        <p:grpSpPr bwMode="auto">
          <a:xfrm>
            <a:off x="1747838" y="5302250"/>
            <a:ext cx="5402262" cy="525463"/>
            <a:chOff x="975" y="3645"/>
            <a:chExt cx="3403" cy="331"/>
          </a:xfrm>
        </p:grpSpPr>
        <p:grpSp>
          <p:nvGrpSpPr>
            <p:cNvPr id="426068" name="Group 42"/>
            <p:cNvGrpSpPr/>
            <p:nvPr/>
          </p:nvGrpSpPr>
          <p:grpSpPr bwMode="auto">
            <a:xfrm>
              <a:off x="975" y="3645"/>
              <a:ext cx="3403" cy="329"/>
              <a:chOff x="1543" y="1728"/>
              <a:chExt cx="3493" cy="323"/>
            </a:xfrm>
          </p:grpSpPr>
          <p:sp>
            <p:nvSpPr>
              <p:cNvPr id="18475" name="AutoShape 43"/>
              <p:cNvSpPr>
                <a:spLocks noChangeArrowheads="1"/>
              </p:cNvSpPr>
              <p:nvPr/>
            </p:nvSpPr>
            <p:spPr bwMode="gray">
              <a:xfrm>
                <a:off x="1543" y="1728"/>
                <a:ext cx="3493" cy="323"/>
              </a:xfrm>
              <a:prstGeom prst="roundRect">
                <a:avLst>
                  <a:gd name="adj" fmla="val 16667"/>
                </a:avLst>
              </a:prstGeom>
              <a:gradFill rotWithShape="1">
                <a:gsLst>
                  <a:gs pos="0">
                    <a:srgbClr val="ED9E85"/>
                  </a:gs>
                  <a:gs pos="100000">
                    <a:srgbClr val="ED9E85">
                      <a:gamma/>
                      <a:tint val="36471"/>
                      <a:invGamma/>
                    </a:srgbClr>
                  </a:gs>
                </a:gsLst>
                <a:lin ang="5400000" scaled="1"/>
              </a:gradFill>
              <a:ln>
                <a:noFill/>
              </a:ln>
              <a:effectLst>
                <a:outerShdw dist="35921" dir="2700000" algn="ctr" rotWithShape="0">
                  <a:srgbClr val="B2B2B2"/>
                </a:outerShdw>
              </a:effectLst>
            </p:spPr>
            <p:txBody>
              <a:bodyPr wrap="none" anchor="ctr"/>
              <a:lstStyle/>
              <a:p>
                <a:pPr fontAlgn="auto">
                  <a:spcBef>
                    <a:spcPts val="0"/>
                  </a:spcBef>
                  <a:spcAft>
                    <a:spcPts val="0"/>
                  </a:spcAft>
                  <a:defRPr/>
                </a:pPr>
                <a:endParaRPr lang="zh-CN" altLang="en-US">
                  <a:latin typeface="+mn-lt"/>
                  <a:ea typeface="+mn-ea"/>
                </a:endParaRPr>
              </a:p>
            </p:txBody>
          </p:sp>
          <p:sp>
            <p:nvSpPr>
              <p:cNvPr id="426070" name="AutoShape 44"/>
              <p:cNvSpPr>
                <a:spLocks noChangeArrowheads="1"/>
              </p:cNvSpPr>
              <p:nvPr/>
            </p:nvSpPr>
            <p:spPr bwMode="gray">
              <a:xfrm>
                <a:off x="1573" y="1965"/>
                <a:ext cx="3443" cy="83"/>
              </a:xfrm>
              <a:prstGeom prst="roundRect">
                <a:avLst>
                  <a:gd name="adj" fmla="val 50000"/>
                </a:avLst>
              </a:prstGeom>
              <a:gradFill rotWithShape="1">
                <a:gsLst>
                  <a:gs pos="0">
                    <a:srgbClr val="ED9E85">
                      <a:alpha val="0"/>
                    </a:srgbClr>
                  </a:gs>
                  <a:gs pos="100000">
                    <a:srgbClr val="EFAA94"/>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6071" name="AutoShape 45"/>
              <p:cNvSpPr>
                <a:spLocks noChangeArrowheads="1"/>
              </p:cNvSpPr>
              <p:nvPr/>
            </p:nvSpPr>
            <p:spPr bwMode="gray">
              <a:xfrm>
                <a:off x="1573" y="1735"/>
                <a:ext cx="3443" cy="83"/>
              </a:xfrm>
              <a:prstGeom prst="roundRect">
                <a:avLst>
                  <a:gd name="adj" fmla="val 50000"/>
                </a:avLst>
              </a:prstGeom>
              <a:gradFill rotWithShape="1">
                <a:gsLst>
                  <a:gs pos="0">
                    <a:srgbClr val="F9DFD6"/>
                  </a:gs>
                  <a:gs pos="100000">
                    <a:srgbClr val="ED9E85">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grpSp>
        <p:sp>
          <p:nvSpPr>
            <p:cNvPr id="426072" name="Text Box 46"/>
            <p:cNvSpPr txBox="1">
              <a:spLocks noChangeArrowheads="1"/>
            </p:cNvSpPr>
            <p:nvPr/>
          </p:nvSpPr>
          <p:spPr bwMode="gray">
            <a:xfrm>
              <a:off x="1603" y="3645"/>
              <a:ext cx="2729"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en-US" altLang="zh-CN" sz="2600" b="1">
                  <a:effectLst>
                    <a:outerShdw blurRad="38100" dist="38100" dir="2700000" algn="tl">
                      <a:srgbClr val="C0C0C0"/>
                    </a:outerShdw>
                  </a:effectLst>
                  <a:latin typeface="楷体_GB2312" pitchFamily="49" charset="-122"/>
                  <a:ea typeface="楷体_GB2312" pitchFamily="49" charset="-122"/>
                </a:rPr>
                <a:t>SQL Server</a:t>
              </a:r>
              <a:r>
                <a:rPr kumimoji="0" lang="zh-CN" altLang="en-US" sz="2600" b="1">
                  <a:effectLst>
                    <a:outerShdw blurRad="38100" dist="38100" dir="2700000" algn="tl">
                      <a:srgbClr val="C0C0C0"/>
                    </a:outerShdw>
                  </a:effectLst>
                  <a:latin typeface="楷体_GB2312" pitchFamily="49" charset="-122"/>
                  <a:ea typeface="楷体_GB2312" pitchFamily="49" charset="-122"/>
                </a:rPr>
                <a:t>数据库备份恢复</a:t>
              </a:r>
            </a:p>
          </p:txBody>
        </p:sp>
        <p:grpSp>
          <p:nvGrpSpPr>
            <p:cNvPr id="426073" name="Group 47"/>
            <p:cNvGrpSpPr/>
            <p:nvPr/>
          </p:nvGrpSpPr>
          <p:grpSpPr bwMode="auto">
            <a:xfrm>
              <a:off x="1217" y="3647"/>
              <a:ext cx="341" cy="329"/>
              <a:chOff x="1287" y="587"/>
              <a:chExt cx="670" cy="647"/>
            </a:xfrm>
          </p:grpSpPr>
          <p:sp>
            <p:nvSpPr>
              <p:cNvPr id="426074" name="Oval 48"/>
              <p:cNvSpPr>
                <a:spLocks noChangeArrowheads="1"/>
              </p:cNvSpPr>
              <p:nvPr/>
            </p:nvSpPr>
            <p:spPr bwMode="gray">
              <a:xfrm>
                <a:off x="1287" y="618"/>
                <a:ext cx="670" cy="596"/>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6075" name="Oval 49"/>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6076" name="Oval 50"/>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6077" name="Oval 51"/>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26078" name="Oval 52"/>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endParaRPr kumimoji="0" lang="zh-CN" altLang="zh-CN" sz="1800">
                  <a:latin typeface="Calibri" panose="020F0502020204030204" pitchFamily="34" charset="0"/>
                </a:endParaRPr>
              </a:p>
            </p:txBody>
          </p:sp>
        </p:grpSp>
        <p:sp>
          <p:nvSpPr>
            <p:cNvPr id="426079" name="Text Box 53"/>
            <p:cNvSpPr txBox="1">
              <a:spLocks noChangeArrowheads="1"/>
            </p:cNvSpPr>
            <p:nvPr/>
          </p:nvSpPr>
          <p:spPr bwMode="gray">
            <a:xfrm>
              <a:off x="1267" y="3653"/>
              <a:ext cx="2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kumimoji="0" lang="en-US" altLang="zh-CN">
                  <a:solidFill>
                    <a:srgbClr val="000000"/>
                  </a:solidFill>
                  <a:latin typeface="Calibri" panose="020F0502020204030204" pitchFamily="34" charset="0"/>
                </a:rPr>
                <a:t>6</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7192"/>
    </mc:Choice>
    <mc:Fallback xmlns="">
      <p:transition spd="slow" advTm="1719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26015"/>
                                        </p:tgtEl>
                                        <p:attrNameLst>
                                          <p:attrName>style.visibility</p:attrName>
                                        </p:attrNameLst>
                                      </p:cBhvr>
                                      <p:to>
                                        <p:strVal val="visible"/>
                                      </p:to>
                                    </p:set>
                                    <p:animEffect transition="in" filter="wipe(left)">
                                      <p:cBhvr>
                                        <p:cTn id="7" dur="500"/>
                                        <p:tgtEl>
                                          <p:spTgt spid="4260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25989"/>
                                        </p:tgtEl>
                                        <p:attrNameLst>
                                          <p:attrName>style.visibility</p:attrName>
                                        </p:attrNameLst>
                                      </p:cBhvr>
                                      <p:to>
                                        <p:strVal val="visible"/>
                                      </p:to>
                                    </p:set>
                                    <p:animEffect transition="in" filter="wipe(left)">
                                      <p:cBhvr>
                                        <p:cTn id="12" dur="500"/>
                                        <p:tgtEl>
                                          <p:spTgt spid="42598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26002"/>
                                        </p:tgtEl>
                                        <p:attrNameLst>
                                          <p:attrName>style.visibility</p:attrName>
                                        </p:attrNameLst>
                                      </p:cBhvr>
                                      <p:to>
                                        <p:strVal val="visible"/>
                                      </p:to>
                                    </p:set>
                                    <p:animEffect transition="in" filter="wipe(left)">
                                      <p:cBhvr>
                                        <p:cTn id="17" dur="500"/>
                                        <p:tgtEl>
                                          <p:spTgt spid="42600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26028"/>
                                        </p:tgtEl>
                                        <p:attrNameLst>
                                          <p:attrName>style.visibility</p:attrName>
                                        </p:attrNameLst>
                                      </p:cBhvr>
                                      <p:to>
                                        <p:strVal val="visible"/>
                                      </p:to>
                                    </p:set>
                                    <p:animEffect transition="in" filter="wipe(left)">
                                      <p:cBhvr>
                                        <p:cTn id="22" dur="500"/>
                                        <p:tgtEl>
                                          <p:spTgt spid="42602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26041"/>
                                        </p:tgtEl>
                                        <p:attrNameLst>
                                          <p:attrName>style.visibility</p:attrName>
                                        </p:attrNameLst>
                                      </p:cBhvr>
                                      <p:to>
                                        <p:strVal val="visible"/>
                                      </p:to>
                                    </p:set>
                                    <p:animEffect transition="in" filter="wipe(left)">
                                      <p:cBhvr>
                                        <p:cTn id="27" dur="500"/>
                                        <p:tgtEl>
                                          <p:spTgt spid="42604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26067"/>
                                        </p:tgtEl>
                                        <p:attrNameLst>
                                          <p:attrName>style.visibility</p:attrName>
                                        </p:attrNameLst>
                                      </p:cBhvr>
                                      <p:to>
                                        <p:strVal val="visible"/>
                                      </p:to>
                                    </p:set>
                                    <p:animEffect transition="in" filter="wipe(left)">
                                      <p:cBhvr>
                                        <p:cTn id="32" dur="500"/>
                                        <p:tgtEl>
                                          <p:spTgt spid="4260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40" name="Rectangle 4"/>
          <p:cNvSpPr>
            <a:spLocks noGrp="1" noRot="1" noChangeArrowheads="1"/>
          </p:cNvSpPr>
          <p:nvPr>
            <p:ph type="title"/>
          </p:nvPr>
        </p:nvSpPr>
        <p:spPr>
          <a:xfrm>
            <a:off x="1281113" y="325438"/>
            <a:ext cx="5670550"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一、数据库的故障分类</a:t>
            </a:r>
          </a:p>
        </p:txBody>
      </p:sp>
      <p:grpSp>
        <p:nvGrpSpPr>
          <p:cNvPr id="270375" name="Group 39"/>
          <p:cNvGrpSpPr/>
          <p:nvPr/>
        </p:nvGrpSpPr>
        <p:grpSpPr bwMode="auto">
          <a:xfrm>
            <a:off x="2484438" y="1484313"/>
            <a:ext cx="3887787" cy="936625"/>
            <a:chOff x="1565" y="935"/>
            <a:chExt cx="2449" cy="590"/>
          </a:xfrm>
        </p:grpSpPr>
        <p:sp>
          <p:nvSpPr>
            <p:cNvPr id="270364" name="Freeform 22"/>
            <p:cNvSpPr/>
            <p:nvPr/>
          </p:nvSpPr>
          <p:spPr bwMode="auto">
            <a:xfrm>
              <a:off x="1565" y="935"/>
              <a:ext cx="2449" cy="590"/>
            </a:xfrm>
            <a:custGeom>
              <a:avLst/>
              <a:gdLst>
                <a:gd name="T0" fmla="*/ 120 w 1071"/>
                <a:gd name="T1" fmla="*/ 0 h 307"/>
                <a:gd name="T2" fmla="*/ 1546 w 1071"/>
                <a:gd name="T3" fmla="*/ 0 h 307"/>
                <a:gd name="T4" fmla="*/ 1546 w 1071"/>
                <a:gd name="T5" fmla="*/ 279 h 307"/>
                <a:gd name="T6" fmla="*/ 1526 w 1071"/>
                <a:gd name="T7" fmla="*/ 381 h 307"/>
                <a:gd name="T8" fmla="*/ 1428 w 1071"/>
                <a:gd name="T9" fmla="*/ 426 h 307"/>
                <a:gd name="T10" fmla="*/ 0 w 1071"/>
                <a:gd name="T11" fmla="*/ 433 h 307"/>
                <a:gd name="T12" fmla="*/ 0 w 1071"/>
                <a:gd name="T13" fmla="*/ 126 h 307"/>
                <a:gd name="T14" fmla="*/ 30 w 1071"/>
                <a:gd name="T15" fmla="*/ 25 h 307"/>
                <a:gd name="T16" fmla="*/ 120 w 1071"/>
                <a:gd name="T17" fmla="*/ 0 h 30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71"/>
                <a:gd name="T28" fmla="*/ 0 h 307"/>
                <a:gd name="T29" fmla="*/ 1071 w 1071"/>
                <a:gd name="T30" fmla="*/ 307 h 30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71" h="307">
                  <a:moveTo>
                    <a:pt x="83" y="0"/>
                  </a:moveTo>
                  <a:lnTo>
                    <a:pt x="1069" y="0"/>
                  </a:lnTo>
                  <a:cubicBezTo>
                    <a:pt x="1069" y="0"/>
                    <a:pt x="1069" y="99"/>
                    <a:pt x="1069" y="198"/>
                  </a:cubicBezTo>
                  <a:cubicBezTo>
                    <a:pt x="1069" y="198"/>
                    <a:pt x="1071" y="248"/>
                    <a:pt x="1055" y="270"/>
                  </a:cubicBezTo>
                  <a:cubicBezTo>
                    <a:pt x="1043" y="288"/>
                    <a:pt x="1019" y="302"/>
                    <a:pt x="987" y="302"/>
                  </a:cubicBezTo>
                  <a:cubicBezTo>
                    <a:pt x="488" y="303"/>
                    <a:pt x="0" y="307"/>
                    <a:pt x="0" y="307"/>
                  </a:cubicBezTo>
                  <a:lnTo>
                    <a:pt x="0" y="89"/>
                  </a:lnTo>
                  <a:cubicBezTo>
                    <a:pt x="3" y="41"/>
                    <a:pt x="7" y="33"/>
                    <a:pt x="21" y="18"/>
                  </a:cubicBezTo>
                  <a:cubicBezTo>
                    <a:pt x="35" y="3"/>
                    <a:pt x="66" y="1"/>
                    <a:pt x="83" y="0"/>
                  </a:cubicBezTo>
                  <a:close/>
                </a:path>
              </a:pathLst>
            </a:custGeom>
            <a:gradFill rotWithShape="1">
              <a:gsLst>
                <a:gs pos="0">
                  <a:srgbClr val="822061"/>
                </a:gs>
                <a:gs pos="50000">
                  <a:srgbClr val="CC3399"/>
                </a:gs>
                <a:gs pos="100000">
                  <a:srgbClr val="822061"/>
                </a:gs>
              </a:gsLst>
              <a:lin ang="5400000" scaled="1"/>
            </a:gradFill>
            <a:ln w="28575" cmpd="sng">
              <a:solidFill>
                <a:srgbClr val="FFFFFF"/>
              </a:solidFill>
              <a:miter lim="800000"/>
            </a:ln>
            <a:effectLst>
              <a:outerShdw dist="71842" dir="2700000" algn="ctr" rotWithShape="0">
                <a:srgbClr val="000000">
                  <a:alpha val="50000"/>
                </a:srgbClr>
              </a:outerShdw>
            </a:effectLst>
          </p:spPr>
          <p:txBody>
            <a:bodyPr wrap="none" anchor="ctr"/>
            <a:lstStyle/>
            <a:p>
              <a:endParaRPr lang="zh-CN" altLang="en-US"/>
            </a:p>
          </p:txBody>
        </p:sp>
        <p:sp>
          <p:nvSpPr>
            <p:cNvPr id="142356" name="Rectangle 27"/>
            <p:cNvSpPr>
              <a:spLocks noChangeArrowheads="1"/>
            </p:cNvSpPr>
            <p:nvPr/>
          </p:nvSpPr>
          <p:spPr bwMode="auto">
            <a:xfrm>
              <a:off x="2177" y="1023"/>
              <a:ext cx="115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kumimoji="0" lang="zh-CN" altLang="en-US" sz="3200" b="1">
                  <a:solidFill>
                    <a:srgbClr val="FEFEFE"/>
                  </a:solidFill>
                  <a:effectLst>
                    <a:outerShdw blurRad="38100" dist="38100" dir="2700000" algn="tl">
                      <a:srgbClr val="C0C0C0"/>
                    </a:outerShdw>
                  </a:effectLst>
                  <a:latin typeface="Arial" panose="020B0604020202020204" pitchFamily="34" charset="0"/>
                  <a:cs typeface="Arial" panose="020B0604020202020204" pitchFamily="34" charset="0"/>
                </a:rPr>
                <a:t>事务故障</a:t>
              </a:r>
              <a:endParaRPr kumimoji="0" lang="zh-CN" altLang="zh-CN" sz="3200" b="1">
                <a:solidFill>
                  <a:srgbClr val="FEFEFE"/>
                </a:solidFill>
                <a:effectLst>
                  <a:outerShdw blurRad="38100" dist="38100" dir="2700000" algn="tl">
                    <a:srgbClr val="C0C0C0"/>
                  </a:outerShdw>
                </a:effectLst>
                <a:latin typeface="Arial" panose="020B0604020202020204" pitchFamily="34" charset="0"/>
                <a:cs typeface="Arial" panose="020B0604020202020204" pitchFamily="34" charset="0"/>
              </a:endParaRPr>
            </a:p>
          </p:txBody>
        </p:sp>
      </p:grpSp>
      <p:grpSp>
        <p:nvGrpSpPr>
          <p:cNvPr id="270376" name="Group 40"/>
          <p:cNvGrpSpPr/>
          <p:nvPr/>
        </p:nvGrpSpPr>
        <p:grpSpPr bwMode="auto">
          <a:xfrm>
            <a:off x="2484438" y="3028950"/>
            <a:ext cx="3887787" cy="904875"/>
            <a:chOff x="1565" y="1908"/>
            <a:chExt cx="2449" cy="570"/>
          </a:xfrm>
        </p:grpSpPr>
        <p:sp>
          <p:nvSpPr>
            <p:cNvPr id="270358" name="Freeform 6"/>
            <p:cNvSpPr/>
            <p:nvPr/>
          </p:nvSpPr>
          <p:spPr bwMode="auto">
            <a:xfrm>
              <a:off x="1565" y="1908"/>
              <a:ext cx="2449" cy="570"/>
            </a:xfrm>
            <a:custGeom>
              <a:avLst/>
              <a:gdLst>
                <a:gd name="T0" fmla="*/ 120 w 1071"/>
                <a:gd name="T1" fmla="*/ 0 h 307"/>
                <a:gd name="T2" fmla="*/ 1546 w 1071"/>
                <a:gd name="T3" fmla="*/ 0 h 307"/>
                <a:gd name="T4" fmla="*/ 1546 w 1071"/>
                <a:gd name="T5" fmla="*/ 279 h 307"/>
                <a:gd name="T6" fmla="*/ 1526 w 1071"/>
                <a:gd name="T7" fmla="*/ 381 h 307"/>
                <a:gd name="T8" fmla="*/ 1428 w 1071"/>
                <a:gd name="T9" fmla="*/ 426 h 307"/>
                <a:gd name="T10" fmla="*/ 0 w 1071"/>
                <a:gd name="T11" fmla="*/ 433 h 307"/>
                <a:gd name="T12" fmla="*/ 0 w 1071"/>
                <a:gd name="T13" fmla="*/ 126 h 307"/>
                <a:gd name="T14" fmla="*/ 30 w 1071"/>
                <a:gd name="T15" fmla="*/ 25 h 307"/>
                <a:gd name="T16" fmla="*/ 120 w 1071"/>
                <a:gd name="T17" fmla="*/ 0 h 30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71"/>
                <a:gd name="T28" fmla="*/ 0 h 307"/>
                <a:gd name="T29" fmla="*/ 1071 w 1071"/>
                <a:gd name="T30" fmla="*/ 307 h 30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71" h="307">
                  <a:moveTo>
                    <a:pt x="83" y="0"/>
                  </a:moveTo>
                  <a:lnTo>
                    <a:pt x="1069" y="0"/>
                  </a:lnTo>
                  <a:cubicBezTo>
                    <a:pt x="1069" y="0"/>
                    <a:pt x="1069" y="99"/>
                    <a:pt x="1069" y="198"/>
                  </a:cubicBezTo>
                  <a:cubicBezTo>
                    <a:pt x="1069" y="198"/>
                    <a:pt x="1071" y="248"/>
                    <a:pt x="1055" y="270"/>
                  </a:cubicBezTo>
                  <a:cubicBezTo>
                    <a:pt x="1043" y="288"/>
                    <a:pt x="1019" y="302"/>
                    <a:pt x="987" y="302"/>
                  </a:cubicBezTo>
                  <a:cubicBezTo>
                    <a:pt x="488" y="303"/>
                    <a:pt x="0" y="307"/>
                    <a:pt x="0" y="307"/>
                  </a:cubicBezTo>
                  <a:lnTo>
                    <a:pt x="0" y="89"/>
                  </a:lnTo>
                  <a:cubicBezTo>
                    <a:pt x="3" y="41"/>
                    <a:pt x="7" y="33"/>
                    <a:pt x="21" y="18"/>
                  </a:cubicBezTo>
                  <a:cubicBezTo>
                    <a:pt x="35" y="3"/>
                    <a:pt x="66" y="1"/>
                    <a:pt x="83" y="0"/>
                  </a:cubicBezTo>
                  <a:close/>
                </a:path>
              </a:pathLst>
            </a:custGeom>
            <a:gradFill rotWithShape="1">
              <a:gsLst>
                <a:gs pos="0">
                  <a:srgbClr val="006161"/>
                </a:gs>
                <a:gs pos="50000">
                  <a:srgbClr val="009999"/>
                </a:gs>
                <a:gs pos="100000">
                  <a:srgbClr val="006161"/>
                </a:gs>
              </a:gsLst>
              <a:lin ang="5400000" scaled="1"/>
            </a:gradFill>
            <a:ln w="28575" cmpd="sng">
              <a:solidFill>
                <a:srgbClr val="FFFFFF"/>
              </a:solidFill>
              <a:miter lim="800000"/>
            </a:ln>
            <a:effectLst>
              <a:outerShdw dist="71842" dir="2700000" algn="ctr" rotWithShape="0">
                <a:srgbClr val="000000">
                  <a:alpha val="50000"/>
                </a:srgbClr>
              </a:outerShdw>
            </a:effectLst>
          </p:spPr>
          <p:txBody>
            <a:bodyPr wrap="none" anchor="ctr"/>
            <a:lstStyle/>
            <a:p>
              <a:endParaRPr lang="zh-CN" altLang="en-US"/>
            </a:p>
          </p:txBody>
        </p:sp>
        <p:sp>
          <p:nvSpPr>
            <p:cNvPr id="2" name="Rectangle 29"/>
            <p:cNvSpPr>
              <a:spLocks noChangeArrowheads="1"/>
            </p:cNvSpPr>
            <p:nvPr/>
          </p:nvSpPr>
          <p:spPr bwMode="auto">
            <a:xfrm>
              <a:off x="2200" y="2000"/>
              <a:ext cx="115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kumimoji="0" lang="zh-CN" altLang="en-US" sz="3200" b="1">
                  <a:solidFill>
                    <a:srgbClr val="FEFEFE"/>
                  </a:solidFill>
                  <a:effectLst>
                    <a:outerShdw blurRad="38100" dist="38100" dir="2700000" algn="tl">
                      <a:srgbClr val="C0C0C0"/>
                    </a:outerShdw>
                  </a:effectLst>
                  <a:latin typeface="Arial" panose="020B0604020202020204" pitchFamily="34" charset="0"/>
                  <a:cs typeface="Arial" panose="020B0604020202020204" pitchFamily="34" charset="0"/>
                </a:rPr>
                <a:t>系统故障</a:t>
              </a:r>
              <a:endParaRPr kumimoji="0" lang="zh-CN" altLang="zh-CN" sz="3200" b="1">
                <a:solidFill>
                  <a:srgbClr val="FEFEFE"/>
                </a:solidFill>
                <a:effectLst>
                  <a:outerShdw blurRad="38100" dist="38100" dir="2700000" algn="tl">
                    <a:srgbClr val="C0C0C0"/>
                  </a:outerShdw>
                </a:effectLst>
                <a:latin typeface="Arial" panose="020B0604020202020204" pitchFamily="34" charset="0"/>
                <a:cs typeface="Arial" panose="020B0604020202020204" pitchFamily="34" charset="0"/>
              </a:endParaRPr>
            </a:p>
          </p:txBody>
        </p:sp>
      </p:grpSp>
      <p:grpSp>
        <p:nvGrpSpPr>
          <p:cNvPr id="270377" name="Group 41"/>
          <p:cNvGrpSpPr/>
          <p:nvPr/>
        </p:nvGrpSpPr>
        <p:grpSpPr bwMode="auto">
          <a:xfrm>
            <a:off x="2555875" y="4684713"/>
            <a:ext cx="3816350" cy="976312"/>
            <a:chOff x="1610" y="2951"/>
            <a:chExt cx="2404" cy="615"/>
          </a:xfrm>
        </p:grpSpPr>
        <p:sp>
          <p:nvSpPr>
            <p:cNvPr id="142350" name="Freeform 14"/>
            <p:cNvSpPr/>
            <p:nvPr/>
          </p:nvSpPr>
          <p:spPr bwMode="auto">
            <a:xfrm>
              <a:off x="1610" y="2951"/>
              <a:ext cx="2404" cy="615"/>
            </a:xfrm>
            <a:custGeom>
              <a:avLst/>
              <a:gdLst>
                <a:gd name="T0" fmla="*/ 120 w 1071"/>
                <a:gd name="T1" fmla="*/ 0 h 307"/>
                <a:gd name="T2" fmla="*/ 1546 w 1071"/>
                <a:gd name="T3" fmla="*/ 0 h 307"/>
                <a:gd name="T4" fmla="*/ 1546 w 1071"/>
                <a:gd name="T5" fmla="*/ 279 h 307"/>
                <a:gd name="T6" fmla="*/ 1526 w 1071"/>
                <a:gd name="T7" fmla="*/ 381 h 307"/>
                <a:gd name="T8" fmla="*/ 1428 w 1071"/>
                <a:gd name="T9" fmla="*/ 426 h 307"/>
                <a:gd name="T10" fmla="*/ 0 w 1071"/>
                <a:gd name="T11" fmla="*/ 433 h 307"/>
                <a:gd name="T12" fmla="*/ 0 w 1071"/>
                <a:gd name="T13" fmla="*/ 126 h 307"/>
                <a:gd name="T14" fmla="*/ 30 w 1071"/>
                <a:gd name="T15" fmla="*/ 25 h 307"/>
                <a:gd name="T16" fmla="*/ 120 w 1071"/>
                <a:gd name="T17" fmla="*/ 0 h 30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71"/>
                <a:gd name="T28" fmla="*/ 0 h 307"/>
                <a:gd name="T29" fmla="*/ 1071 w 1071"/>
                <a:gd name="T30" fmla="*/ 307 h 30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71" h="307">
                  <a:moveTo>
                    <a:pt x="83" y="0"/>
                  </a:moveTo>
                  <a:lnTo>
                    <a:pt x="1069" y="0"/>
                  </a:lnTo>
                  <a:cubicBezTo>
                    <a:pt x="1069" y="0"/>
                    <a:pt x="1069" y="99"/>
                    <a:pt x="1069" y="198"/>
                  </a:cubicBezTo>
                  <a:cubicBezTo>
                    <a:pt x="1069" y="198"/>
                    <a:pt x="1071" y="248"/>
                    <a:pt x="1055" y="270"/>
                  </a:cubicBezTo>
                  <a:cubicBezTo>
                    <a:pt x="1043" y="288"/>
                    <a:pt x="1019" y="302"/>
                    <a:pt x="987" y="302"/>
                  </a:cubicBezTo>
                  <a:cubicBezTo>
                    <a:pt x="488" y="303"/>
                    <a:pt x="0" y="307"/>
                    <a:pt x="0" y="307"/>
                  </a:cubicBezTo>
                  <a:lnTo>
                    <a:pt x="0" y="89"/>
                  </a:lnTo>
                  <a:cubicBezTo>
                    <a:pt x="3" y="41"/>
                    <a:pt x="7" y="33"/>
                    <a:pt x="21" y="18"/>
                  </a:cubicBezTo>
                  <a:cubicBezTo>
                    <a:pt x="35" y="3"/>
                    <a:pt x="66" y="1"/>
                    <a:pt x="83" y="0"/>
                  </a:cubicBezTo>
                  <a:close/>
                </a:path>
              </a:pathLst>
            </a:custGeom>
            <a:gradFill rotWithShape="1">
              <a:gsLst>
                <a:gs pos="0">
                  <a:srgbClr val="222265"/>
                </a:gs>
                <a:gs pos="50000">
                  <a:srgbClr val="333399"/>
                </a:gs>
                <a:gs pos="100000">
                  <a:srgbClr val="222265"/>
                </a:gs>
              </a:gsLst>
              <a:lin ang="5400000" scaled="1"/>
            </a:gradFill>
            <a:ln w="28575" cmpd="sng">
              <a:solidFill>
                <a:srgbClr val="FFFFFF"/>
              </a:solidFill>
              <a:miter lim="800000"/>
            </a:ln>
            <a:effectLst>
              <a:outerShdw dist="71842" dir="2700000" algn="ctr" rotWithShape="0">
                <a:srgbClr val="000000">
                  <a:alpha val="50000"/>
                </a:srgbClr>
              </a:outerShdw>
            </a:effectLst>
          </p:spPr>
          <p:txBody>
            <a:bodyPr wrap="none" anchor="ctr"/>
            <a:lstStyle/>
            <a:p>
              <a:endParaRPr lang="zh-CN" altLang="en-US"/>
            </a:p>
          </p:txBody>
        </p:sp>
        <p:sp>
          <p:nvSpPr>
            <p:cNvPr id="142357" name="Rectangle 29"/>
            <p:cNvSpPr>
              <a:spLocks noChangeArrowheads="1"/>
            </p:cNvSpPr>
            <p:nvPr/>
          </p:nvSpPr>
          <p:spPr bwMode="auto">
            <a:xfrm>
              <a:off x="2177" y="3041"/>
              <a:ext cx="115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kumimoji="0" lang="zh-CN" altLang="en-US" sz="3200" b="1">
                  <a:solidFill>
                    <a:srgbClr val="FEFEFE"/>
                  </a:solidFill>
                  <a:effectLst>
                    <a:outerShdw blurRad="38100" dist="38100" dir="2700000" algn="tl">
                      <a:srgbClr val="C0C0C0"/>
                    </a:outerShdw>
                  </a:effectLst>
                  <a:latin typeface="Arial" panose="020B0604020202020204" pitchFamily="34" charset="0"/>
                  <a:cs typeface="Arial" panose="020B0604020202020204" pitchFamily="34" charset="0"/>
                </a:rPr>
                <a:t>介质故障</a:t>
              </a:r>
              <a:endParaRPr kumimoji="0" lang="zh-CN" altLang="zh-CN" sz="3200" b="1">
                <a:solidFill>
                  <a:srgbClr val="FEFEFE"/>
                </a:solidFill>
                <a:effectLst>
                  <a:outerShdw blurRad="38100" dist="38100" dir="2700000" algn="tl">
                    <a:srgbClr val="C0C0C0"/>
                  </a:outerShdw>
                </a:effectLst>
                <a:latin typeface="Arial" panose="020B0604020202020204" pitchFamily="34" charset="0"/>
                <a:cs typeface="Arial" panose="020B0604020202020204" pitchFamily="34" charset="0"/>
              </a:endParaRP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5418"/>
    </mc:Choice>
    <mc:Fallback xmlns="">
      <p:transition spd="slow" advTm="1541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70375"/>
                                        </p:tgtEl>
                                        <p:attrNameLst>
                                          <p:attrName>style.visibility</p:attrName>
                                        </p:attrNameLst>
                                      </p:cBhvr>
                                      <p:to>
                                        <p:strVal val="visible"/>
                                      </p:to>
                                    </p:set>
                                    <p:animEffect transition="in" filter="fade">
                                      <p:cBhvr>
                                        <p:cTn id="7" dur="1000"/>
                                        <p:tgtEl>
                                          <p:spTgt spid="270375"/>
                                        </p:tgtEl>
                                      </p:cBhvr>
                                    </p:animEffect>
                                    <p:anim calcmode="lin" valueType="num">
                                      <p:cBhvr>
                                        <p:cTn id="8" dur="1000" fill="hold"/>
                                        <p:tgtEl>
                                          <p:spTgt spid="270375"/>
                                        </p:tgtEl>
                                        <p:attrNameLst>
                                          <p:attrName>ppt_x</p:attrName>
                                        </p:attrNameLst>
                                      </p:cBhvr>
                                      <p:tavLst>
                                        <p:tav tm="0">
                                          <p:val>
                                            <p:strVal val="#ppt_x"/>
                                          </p:val>
                                        </p:tav>
                                        <p:tav tm="100000">
                                          <p:val>
                                            <p:strVal val="#ppt_x"/>
                                          </p:val>
                                        </p:tav>
                                      </p:tavLst>
                                    </p:anim>
                                    <p:anim calcmode="lin" valueType="num">
                                      <p:cBhvr>
                                        <p:cTn id="9" dur="1000" fill="hold"/>
                                        <p:tgtEl>
                                          <p:spTgt spid="27037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70376"/>
                                        </p:tgtEl>
                                        <p:attrNameLst>
                                          <p:attrName>style.visibility</p:attrName>
                                        </p:attrNameLst>
                                      </p:cBhvr>
                                      <p:to>
                                        <p:strVal val="visible"/>
                                      </p:to>
                                    </p:set>
                                    <p:animEffect transition="in" filter="fade">
                                      <p:cBhvr>
                                        <p:cTn id="14" dur="1000"/>
                                        <p:tgtEl>
                                          <p:spTgt spid="270376"/>
                                        </p:tgtEl>
                                      </p:cBhvr>
                                    </p:animEffect>
                                    <p:anim calcmode="lin" valueType="num">
                                      <p:cBhvr>
                                        <p:cTn id="15" dur="1000" fill="hold"/>
                                        <p:tgtEl>
                                          <p:spTgt spid="270376"/>
                                        </p:tgtEl>
                                        <p:attrNameLst>
                                          <p:attrName>ppt_x</p:attrName>
                                        </p:attrNameLst>
                                      </p:cBhvr>
                                      <p:tavLst>
                                        <p:tav tm="0">
                                          <p:val>
                                            <p:strVal val="#ppt_x"/>
                                          </p:val>
                                        </p:tav>
                                        <p:tav tm="100000">
                                          <p:val>
                                            <p:strVal val="#ppt_x"/>
                                          </p:val>
                                        </p:tav>
                                      </p:tavLst>
                                    </p:anim>
                                    <p:anim calcmode="lin" valueType="num">
                                      <p:cBhvr>
                                        <p:cTn id="16" dur="1000" fill="hold"/>
                                        <p:tgtEl>
                                          <p:spTgt spid="27037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70377"/>
                                        </p:tgtEl>
                                        <p:attrNameLst>
                                          <p:attrName>style.visibility</p:attrName>
                                        </p:attrNameLst>
                                      </p:cBhvr>
                                      <p:to>
                                        <p:strVal val="visible"/>
                                      </p:to>
                                    </p:set>
                                    <p:animEffect transition="in" filter="fade">
                                      <p:cBhvr>
                                        <p:cTn id="21" dur="1000"/>
                                        <p:tgtEl>
                                          <p:spTgt spid="270377"/>
                                        </p:tgtEl>
                                      </p:cBhvr>
                                    </p:animEffect>
                                    <p:anim calcmode="lin" valueType="num">
                                      <p:cBhvr>
                                        <p:cTn id="22" dur="1000" fill="hold"/>
                                        <p:tgtEl>
                                          <p:spTgt spid="270377"/>
                                        </p:tgtEl>
                                        <p:attrNameLst>
                                          <p:attrName>ppt_x</p:attrName>
                                        </p:attrNameLst>
                                      </p:cBhvr>
                                      <p:tavLst>
                                        <p:tav tm="0">
                                          <p:val>
                                            <p:strVal val="#ppt_x"/>
                                          </p:val>
                                        </p:tav>
                                        <p:tav tm="100000">
                                          <p:val>
                                            <p:strVal val="#ppt_x"/>
                                          </p:val>
                                        </p:tav>
                                      </p:tavLst>
                                    </p:anim>
                                    <p:anim calcmode="lin" valueType="num">
                                      <p:cBhvr>
                                        <p:cTn id="23" dur="1000" fill="hold"/>
                                        <p:tgtEl>
                                          <p:spTgt spid="27037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2"/>
          <p:cNvSpPr>
            <a:spLocks noGrp="1" noRot="1" noChangeArrowheads="1"/>
          </p:cNvSpPr>
          <p:nvPr>
            <p:ph type="title"/>
          </p:nvPr>
        </p:nvSpPr>
        <p:spPr>
          <a:xfrm>
            <a:off x="1281113" y="325438"/>
            <a:ext cx="5670550"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一、数据库的故障分类</a:t>
            </a:r>
          </a:p>
        </p:txBody>
      </p:sp>
      <p:sp>
        <p:nvSpPr>
          <p:cNvPr id="542723" name="Rectangle 3"/>
          <p:cNvSpPr>
            <a:spLocks noChangeArrowheads="1"/>
          </p:cNvSpPr>
          <p:nvPr/>
        </p:nvSpPr>
        <p:spPr bwMode="auto">
          <a:xfrm>
            <a:off x="611188" y="1187450"/>
            <a:ext cx="80645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1</a:t>
            </a:r>
            <a:r>
              <a:rPr lang="en-US" altLang="en-US" sz="3200">
                <a:solidFill>
                  <a:srgbClr val="660033"/>
                </a:solidFill>
                <a:ea typeface="华文新魏" panose="02010800040101010101" pitchFamily="2" charset="-122"/>
              </a:rPr>
              <a:t>、</a:t>
            </a:r>
            <a:r>
              <a:rPr lang="en-US" altLang="zh-CN" sz="3200">
                <a:solidFill>
                  <a:srgbClr val="660033"/>
                </a:solidFill>
                <a:ea typeface="华文新魏" panose="02010800040101010101" pitchFamily="2" charset="-122"/>
              </a:rPr>
              <a:t>事务</a:t>
            </a:r>
            <a:r>
              <a:rPr lang="zh-CN" altLang="en-US" sz="3200">
                <a:solidFill>
                  <a:srgbClr val="660033"/>
                </a:solidFill>
                <a:ea typeface="华文新魏" panose="02010800040101010101" pitchFamily="2" charset="-122"/>
              </a:rPr>
              <a:t>故障</a:t>
            </a:r>
          </a:p>
        </p:txBody>
      </p:sp>
      <p:sp>
        <p:nvSpPr>
          <p:cNvPr id="542724" name="AutoShape 4"/>
          <p:cNvSpPr>
            <a:spLocks noChangeArrowheads="1"/>
          </p:cNvSpPr>
          <p:nvPr/>
        </p:nvSpPr>
        <p:spPr bwMode="auto">
          <a:xfrm>
            <a:off x="755650" y="2060575"/>
            <a:ext cx="7416800" cy="3960813"/>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20000"/>
              </a:lnSpc>
              <a:spcBef>
                <a:spcPct val="20000"/>
              </a:spcBef>
              <a:spcAft>
                <a:spcPct val="40000"/>
              </a:spcAft>
              <a:buClr>
                <a:srgbClr val="009900"/>
              </a:buClr>
              <a:buSzPct val="70000"/>
              <a:buFont typeface="Wingdings" panose="05000000000000000000" pitchFamily="2" charset="2"/>
              <a:buNone/>
            </a:pPr>
            <a:r>
              <a:rPr lang="zh-CN" altLang="en-US"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       事务故障主要指数据库在运行过程中，出现的输入数据错误、运算溢出、应用程序错误、并发事务出现死锁等非预期的情况，而使事务未能运行到正常结束就被夭折，导致事务非正常结束的一类故障。</a:t>
            </a:r>
          </a:p>
          <a:p>
            <a:pPr>
              <a:lnSpc>
                <a:spcPct val="120000"/>
              </a:lnSpc>
              <a:spcBef>
                <a:spcPct val="20000"/>
              </a:spcBef>
              <a:spcAft>
                <a:spcPct val="40000"/>
              </a:spcAft>
              <a:buClr>
                <a:srgbClr val="009900"/>
              </a:buClr>
              <a:buSzPct val="70000"/>
              <a:buFont typeface="Wingdings" panose="05000000000000000000" pitchFamily="2" charset="2"/>
              <a:buNone/>
            </a:pPr>
            <a:r>
              <a:rPr lang="zh-CN" altLang="en-US"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       单个事务运行错误。</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2321"/>
    </mc:Choice>
    <mc:Fallback xmlns="">
      <p:transition spd="slow" advTm="5232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42723"/>
                                        </p:tgtEl>
                                        <p:attrNameLst>
                                          <p:attrName>style.visibility</p:attrName>
                                        </p:attrNameLst>
                                      </p:cBhvr>
                                      <p:to>
                                        <p:strVal val="visible"/>
                                      </p:to>
                                    </p:set>
                                    <p:animEffect transition="in" filter="wipe(left)">
                                      <p:cBhvr>
                                        <p:cTn id="7" dur="1000"/>
                                        <p:tgtEl>
                                          <p:spTgt spid="5427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42724">
                                            <p:bg/>
                                          </p:spTgt>
                                        </p:tgtEl>
                                        <p:attrNameLst>
                                          <p:attrName>style.visibility</p:attrName>
                                        </p:attrNameLst>
                                      </p:cBhvr>
                                      <p:to>
                                        <p:strVal val="visible"/>
                                      </p:to>
                                    </p:set>
                                    <p:animEffect transition="in" filter="wipe(up)">
                                      <p:cBhvr>
                                        <p:cTn id="12" dur="500"/>
                                        <p:tgtEl>
                                          <p:spTgt spid="542724">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42724">
                                            <p:txEl>
                                              <p:pRg st="0" end="0"/>
                                            </p:txEl>
                                          </p:spTgt>
                                        </p:tgtEl>
                                        <p:attrNameLst>
                                          <p:attrName>style.visibility</p:attrName>
                                        </p:attrNameLst>
                                      </p:cBhvr>
                                      <p:to>
                                        <p:strVal val="visible"/>
                                      </p:to>
                                    </p:set>
                                    <p:animEffect transition="in" filter="wipe(up)">
                                      <p:cBhvr>
                                        <p:cTn id="17" dur="500"/>
                                        <p:tgtEl>
                                          <p:spTgt spid="54272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42724">
                                            <p:txEl>
                                              <p:pRg st="1" end="1"/>
                                            </p:txEl>
                                          </p:spTgt>
                                        </p:tgtEl>
                                        <p:attrNameLst>
                                          <p:attrName>style.visibility</p:attrName>
                                        </p:attrNameLst>
                                      </p:cBhvr>
                                      <p:to>
                                        <p:strVal val="visible"/>
                                      </p:to>
                                    </p:set>
                                    <p:animEffect transition="in" filter="wipe(up)">
                                      <p:cBhvr>
                                        <p:cTn id="22" dur="500"/>
                                        <p:tgtEl>
                                          <p:spTgt spid="54272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23" grpId="0"/>
      <p:bldP spid="542724"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p:cNvSpPr>
            <a:spLocks noGrp="1" noRot="1" noChangeArrowheads="1"/>
          </p:cNvSpPr>
          <p:nvPr>
            <p:ph type="title"/>
          </p:nvPr>
        </p:nvSpPr>
        <p:spPr>
          <a:xfrm>
            <a:off x="1281113" y="325438"/>
            <a:ext cx="5670550"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一、数据库的故障分类</a:t>
            </a:r>
          </a:p>
        </p:txBody>
      </p:sp>
      <p:sp>
        <p:nvSpPr>
          <p:cNvPr id="489475" name="Rectangle 3"/>
          <p:cNvSpPr>
            <a:spLocks noChangeArrowheads="1"/>
          </p:cNvSpPr>
          <p:nvPr/>
        </p:nvSpPr>
        <p:spPr bwMode="auto">
          <a:xfrm>
            <a:off x="611188" y="1187450"/>
            <a:ext cx="80645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2</a:t>
            </a:r>
            <a:r>
              <a:rPr lang="en-US" altLang="en-US" sz="3200">
                <a:solidFill>
                  <a:srgbClr val="660033"/>
                </a:solidFill>
                <a:ea typeface="华文新魏" panose="02010800040101010101" pitchFamily="2" charset="-122"/>
              </a:rPr>
              <a:t>、系统故障</a:t>
            </a:r>
            <a:endParaRPr lang="zh-CN" altLang="en-US" sz="3200">
              <a:solidFill>
                <a:srgbClr val="660033"/>
              </a:solidFill>
              <a:ea typeface="华文新魏" panose="02010800040101010101" pitchFamily="2" charset="-122"/>
            </a:endParaRPr>
          </a:p>
        </p:txBody>
      </p:sp>
      <p:sp>
        <p:nvSpPr>
          <p:cNvPr id="489476" name="AutoShape 4"/>
          <p:cNvSpPr>
            <a:spLocks noChangeArrowheads="1"/>
          </p:cNvSpPr>
          <p:nvPr/>
        </p:nvSpPr>
        <p:spPr bwMode="auto">
          <a:xfrm>
            <a:off x="755650" y="2060575"/>
            <a:ext cx="7416800" cy="3960813"/>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20000"/>
              </a:lnSpc>
              <a:spcBef>
                <a:spcPct val="20000"/>
              </a:spcBef>
              <a:spcAft>
                <a:spcPct val="40000"/>
              </a:spcAft>
              <a:buClr>
                <a:srgbClr val="009900"/>
              </a:buClr>
              <a:buSzPct val="70000"/>
              <a:buFont typeface="Wingdings" panose="05000000000000000000" pitchFamily="2" charset="2"/>
              <a:buNone/>
            </a:pPr>
            <a:r>
              <a:rPr lang="zh-CN" altLang="en-US"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      </a:t>
            </a:r>
            <a:r>
              <a:rPr lang="zh-CN" altLang="zh-CN"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系统故障主要指数据库在运行过程中，由于硬件故障、操作系统或DBMS故障、数据库管理误操作、突然停电等情况，导致所有正在运行的事务以非正常方式终止的一类故障。</a:t>
            </a:r>
            <a:endParaRPr lang="zh-CN" altLang="en-US"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endParaRPr>
          </a:p>
          <a:p>
            <a:pPr>
              <a:lnSpc>
                <a:spcPct val="120000"/>
              </a:lnSpc>
              <a:spcBef>
                <a:spcPct val="20000"/>
              </a:spcBef>
              <a:spcAft>
                <a:spcPct val="40000"/>
              </a:spcAft>
              <a:buClr>
                <a:srgbClr val="009900"/>
              </a:buClr>
              <a:buSzPct val="70000"/>
              <a:buFont typeface="Wingdings" panose="05000000000000000000" pitchFamily="2" charset="2"/>
              <a:buNone/>
            </a:pPr>
            <a:r>
              <a:rPr lang="zh-CN" altLang="en-US"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    正在运行的多个事务出现故障，有些已提交，有些未提交。</a:t>
            </a:r>
            <a:endParaRPr lang="en-US" altLang="zh-CN"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3723"/>
    </mc:Choice>
    <mc:Fallback xmlns="">
      <p:transition spd="slow" advTm="3372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89475"/>
                                        </p:tgtEl>
                                        <p:attrNameLst>
                                          <p:attrName>style.visibility</p:attrName>
                                        </p:attrNameLst>
                                      </p:cBhvr>
                                      <p:to>
                                        <p:strVal val="visible"/>
                                      </p:to>
                                    </p:set>
                                    <p:animEffect transition="in" filter="wipe(left)">
                                      <p:cBhvr>
                                        <p:cTn id="7" dur="1000"/>
                                        <p:tgtEl>
                                          <p:spTgt spid="4894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89476">
                                            <p:bg/>
                                          </p:spTgt>
                                        </p:tgtEl>
                                        <p:attrNameLst>
                                          <p:attrName>style.visibility</p:attrName>
                                        </p:attrNameLst>
                                      </p:cBhvr>
                                      <p:to>
                                        <p:strVal val="visible"/>
                                      </p:to>
                                    </p:set>
                                    <p:animEffect transition="in" filter="wipe(up)">
                                      <p:cBhvr>
                                        <p:cTn id="12" dur="500"/>
                                        <p:tgtEl>
                                          <p:spTgt spid="489476">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89476">
                                            <p:txEl>
                                              <p:pRg st="0" end="0"/>
                                            </p:txEl>
                                          </p:spTgt>
                                        </p:tgtEl>
                                        <p:attrNameLst>
                                          <p:attrName>style.visibility</p:attrName>
                                        </p:attrNameLst>
                                      </p:cBhvr>
                                      <p:to>
                                        <p:strVal val="visible"/>
                                      </p:to>
                                    </p:set>
                                    <p:animEffect transition="in" filter="wipe(up)">
                                      <p:cBhvr>
                                        <p:cTn id="17" dur="500"/>
                                        <p:tgtEl>
                                          <p:spTgt spid="48947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89476">
                                            <p:txEl>
                                              <p:pRg st="1" end="1"/>
                                            </p:txEl>
                                          </p:spTgt>
                                        </p:tgtEl>
                                        <p:attrNameLst>
                                          <p:attrName>style.visibility</p:attrName>
                                        </p:attrNameLst>
                                      </p:cBhvr>
                                      <p:to>
                                        <p:strVal val="visible"/>
                                      </p:to>
                                    </p:set>
                                    <p:animEffect transition="in" filter="wipe(up)">
                                      <p:cBhvr>
                                        <p:cTn id="22" dur="500"/>
                                        <p:tgtEl>
                                          <p:spTgt spid="48947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9475" grpId="0"/>
      <p:bldP spid="489476"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Rot="1" noChangeArrowheads="1"/>
          </p:cNvSpPr>
          <p:nvPr>
            <p:ph type="title"/>
          </p:nvPr>
        </p:nvSpPr>
        <p:spPr>
          <a:xfrm>
            <a:off x="1281113" y="325438"/>
            <a:ext cx="5670550"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一、数据库的故障分类</a:t>
            </a:r>
          </a:p>
        </p:txBody>
      </p:sp>
      <p:sp>
        <p:nvSpPr>
          <p:cNvPr id="490499" name="Rectangle 3"/>
          <p:cNvSpPr>
            <a:spLocks noChangeArrowheads="1"/>
          </p:cNvSpPr>
          <p:nvPr/>
        </p:nvSpPr>
        <p:spPr bwMode="auto">
          <a:xfrm>
            <a:off x="611188" y="1187450"/>
            <a:ext cx="80645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3</a:t>
            </a:r>
            <a:r>
              <a:rPr lang="en-US" altLang="en-US" sz="3200">
                <a:solidFill>
                  <a:srgbClr val="660033"/>
                </a:solidFill>
                <a:ea typeface="华文新魏" panose="02010800040101010101" pitchFamily="2" charset="-122"/>
              </a:rPr>
              <a:t>、</a:t>
            </a:r>
            <a:r>
              <a:rPr lang="zh-CN" altLang="en-US" sz="3200">
                <a:solidFill>
                  <a:srgbClr val="660033"/>
                </a:solidFill>
                <a:ea typeface="华文新魏" panose="02010800040101010101" pitchFamily="2" charset="-122"/>
              </a:rPr>
              <a:t>介质</a:t>
            </a:r>
            <a:r>
              <a:rPr lang="en-US" altLang="en-US" sz="3200">
                <a:solidFill>
                  <a:srgbClr val="660033"/>
                </a:solidFill>
                <a:ea typeface="华文新魏" panose="02010800040101010101" pitchFamily="2" charset="-122"/>
              </a:rPr>
              <a:t>故障</a:t>
            </a:r>
            <a:endParaRPr lang="zh-CN" altLang="en-US" sz="3200">
              <a:solidFill>
                <a:srgbClr val="660033"/>
              </a:solidFill>
              <a:ea typeface="华文新魏" panose="02010800040101010101" pitchFamily="2" charset="-122"/>
            </a:endParaRPr>
          </a:p>
        </p:txBody>
      </p:sp>
      <p:sp>
        <p:nvSpPr>
          <p:cNvPr id="490500" name="AutoShape 4"/>
          <p:cNvSpPr>
            <a:spLocks noChangeArrowheads="1"/>
          </p:cNvSpPr>
          <p:nvPr/>
        </p:nvSpPr>
        <p:spPr bwMode="auto">
          <a:xfrm>
            <a:off x="755650" y="2276475"/>
            <a:ext cx="7416800" cy="3240088"/>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20000"/>
              </a:lnSpc>
              <a:spcBef>
                <a:spcPct val="20000"/>
              </a:spcBef>
              <a:spcAft>
                <a:spcPct val="40000"/>
              </a:spcAft>
              <a:buClr>
                <a:srgbClr val="009900"/>
              </a:buClr>
              <a:buSzPct val="70000"/>
              <a:buFont typeface="Wingdings" panose="05000000000000000000" pitchFamily="2" charset="2"/>
              <a:buNone/>
            </a:pPr>
            <a:r>
              <a:rPr lang="zh-CN" altLang="en-US"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      介质故障主要指数据库在运行过程中，由于磁头碰撞、磁盘损坏、瞬时强磁场的干扰等情况，使得数据库中数据部分或全部丢失的一类故障。 </a:t>
            </a:r>
          </a:p>
          <a:p>
            <a:pPr>
              <a:lnSpc>
                <a:spcPct val="120000"/>
              </a:lnSpc>
              <a:spcBef>
                <a:spcPct val="20000"/>
              </a:spcBef>
              <a:spcAft>
                <a:spcPct val="40000"/>
              </a:spcAft>
              <a:buClr>
                <a:srgbClr val="009900"/>
              </a:buClr>
              <a:buSzPct val="70000"/>
              <a:buFont typeface="Wingdings" panose="05000000000000000000" pitchFamily="2" charset="2"/>
              <a:buNone/>
            </a:pPr>
            <a:r>
              <a:rPr lang="en-US" altLang="zh-CN"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     </a:t>
            </a:r>
            <a:r>
              <a:rPr lang="zh-CN" altLang="en-US"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硬件受损，数据库被破坏。</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6473"/>
    </mc:Choice>
    <mc:Fallback xmlns="">
      <p:transition spd="slow" advTm="264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90499"/>
                                        </p:tgtEl>
                                        <p:attrNameLst>
                                          <p:attrName>style.visibility</p:attrName>
                                        </p:attrNameLst>
                                      </p:cBhvr>
                                      <p:to>
                                        <p:strVal val="visible"/>
                                      </p:to>
                                    </p:set>
                                    <p:animEffect transition="in" filter="wipe(left)">
                                      <p:cBhvr>
                                        <p:cTn id="7" dur="1000"/>
                                        <p:tgtEl>
                                          <p:spTgt spid="4904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90500">
                                            <p:bg/>
                                          </p:spTgt>
                                        </p:tgtEl>
                                        <p:attrNameLst>
                                          <p:attrName>style.visibility</p:attrName>
                                        </p:attrNameLst>
                                      </p:cBhvr>
                                      <p:to>
                                        <p:strVal val="visible"/>
                                      </p:to>
                                    </p:set>
                                    <p:animEffect transition="in" filter="wipe(up)">
                                      <p:cBhvr>
                                        <p:cTn id="12" dur="500"/>
                                        <p:tgtEl>
                                          <p:spTgt spid="490500">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90500">
                                            <p:txEl>
                                              <p:pRg st="0" end="0"/>
                                            </p:txEl>
                                          </p:spTgt>
                                        </p:tgtEl>
                                        <p:attrNameLst>
                                          <p:attrName>style.visibility</p:attrName>
                                        </p:attrNameLst>
                                      </p:cBhvr>
                                      <p:to>
                                        <p:strVal val="visible"/>
                                      </p:to>
                                    </p:set>
                                    <p:animEffect transition="in" filter="wipe(up)">
                                      <p:cBhvr>
                                        <p:cTn id="17" dur="500"/>
                                        <p:tgtEl>
                                          <p:spTgt spid="49050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90500">
                                            <p:txEl>
                                              <p:pRg st="1" end="1"/>
                                            </p:txEl>
                                          </p:spTgt>
                                        </p:tgtEl>
                                        <p:attrNameLst>
                                          <p:attrName>style.visibility</p:attrName>
                                        </p:attrNameLst>
                                      </p:cBhvr>
                                      <p:to>
                                        <p:strVal val="visible"/>
                                      </p:to>
                                    </p:set>
                                    <p:animEffect transition="in" filter="wipe(up)">
                                      <p:cBhvr>
                                        <p:cTn id="22" dur="500"/>
                                        <p:tgtEl>
                                          <p:spTgt spid="49050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0499" grpId="0"/>
      <p:bldP spid="490500"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5" name="Rectangle 3"/>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二、数据库故障的基本恢复方式</a:t>
            </a:r>
          </a:p>
        </p:txBody>
      </p:sp>
      <p:sp>
        <p:nvSpPr>
          <p:cNvPr id="433166" name="AutoShape 3"/>
          <p:cNvSpPr>
            <a:spLocks noChangeArrowheads="1"/>
          </p:cNvSpPr>
          <p:nvPr/>
        </p:nvSpPr>
        <p:spPr bwMode="auto">
          <a:xfrm>
            <a:off x="912813" y="1873250"/>
            <a:ext cx="6572250" cy="1076325"/>
          </a:xfrm>
          <a:prstGeom prst="roundRect">
            <a:avLst>
              <a:gd name="adj" fmla="val 16667"/>
            </a:avLst>
          </a:prstGeom>
          <a:solidFill>
            <a:srgbClr val="FFFFFF">
              <a:alpha val="29803"/>
            </a:srgbClr>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433167" name="AutoShape 6"/>
          <p:cNvSpPr>
            <a:spLocks noChangeArrowheads="1"/>
          </p:cNvSpPr>
          <p:nvPr/>
        </p:nvSpPr>
        <p:spPr bwMode="auto">
          <a:xfrm>
            <a:off x="539750" y="1949450"/>
            <a:ext cx="8135938" cy="4575175"/>
          </a:xfrm>
          <a:prstGeom prst="roundRect">
            <a:avLst>
              <a:gd name="adj" fmla="val 16667"/>
            </a:avLst>
          </a:prstGeom>
          <a:gradFill rotWithShape="1">
            <a:gsLst>
              <a:gs pos="0">
                <a:srgbClr val="00F8F2">
                  <a:alpha val="50000"/>
                </a:srgbClr>
              </a:gs>
              <a:gs pos="100000">
                <a:srgbClr val="009A96"/>
              </a:gs>
            </a:gsLst>
            <a:lin ang="54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grpSp>
        <p:nvGrpSpPr>
          <p:cNvPr id="433178" name="Group 26"/>
          <p:cNvGrpSpPr/>
          <p:nvPr/>
        </p:nvGrpSpPr>
        <p:grpSpPr bwMode="auto">
          <a:xfrm>
            <a:off x="766763" y="1341438"/>
            <a:ext cx="5245100" cy="822325"/>
            <a:chOff x="483" y="845"/>
            <a:chExt cx="3304" cy="518"/>
          </a:xfrm>
        </p:grpSpPr>
        <p:grpSp>
          <p:nvGrpSpPr>
            <p:cNvPr id="433168" name="Group 13"/>
            <p:cNvGrpSpPr/>
            <p:nvPr/>
          </p:nvGrpSpPr>
          <p:grpSpPr bwMode="auto">
            <a:xfrm>
              <a:off x="483" y="845"/>
              <a:ext cx="3304" cy="518"/>
              <a:chOff x="0" y="0"/>
              <a:chExt cx="4058" cy="480"/>
            </a:xfrm>
          </p:grpSpPr>
          <p:sp>
            <p:nvSpPr>
              <p:cNvPr id="178190" name="AutoShape 14"/>
              <p:cNvSpPr>
                <a:spLocks noChangeArrowheads="1"/>
              </p:cNvSpPr>
              <p:nvPr/>
            </p:nvSpPr>
            <p:spPr bwMode="auto">
              <a:xfrm>
                <a:off x="0" y="0"/>
                <a:ext cx="4058" cy="480"/>
              </a:xfrm>
              <a:prstGeom prst="roundRect">
                <a:avLst>
                  <a:gd name="adj" fmla="val 17509"/>
                </a:avLst>
              </a:prstGeom>
              <a:gradFill rotWithShape="1">
                <a:gsLst>
                  <a:gs pos="0">
                    <a:srgbClr val="009999"/>
                  </a:gs>
                  <a:gs pos="50000">
                    <a:srgbClr val="008D8D"/>
                  </a:gs>
                  <a:gs pos="100000">
                    <a:srgbClr val="009999"/>
                  </a:gs>
                </a:gsLst>
                <a:lin ang="54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grpSp>
            <p:nvGrpSpPr>
              <p:cNvPr id="433170" name="Group 15"/>
              <p:cNvGrpSpPr/>
              <p:nvPr/>
            </p:nvGrpSpPr>
            <p:grpSpPr bwMode="auto">
              <a:xfrm>
                <a:off x="10" y="15"/>
                <a:ext cx="4043" cy="444"/>
                <a:chOff x="0" y="0"/>
                <a:chExt cx="3988" cy="444"/>
              </a:xfrm>
            </p:grpSpPr>
            <p:sp>
              <p:nvSpPr>
                <p:cNvPr id="178192" name="AutoShape 16"/>
                <p:cNvSpPr>
                  <a:spLocks noChangeArrowheads="1"/>
                </p:cNvSpPr>
                <p:nvPr/>
              </p:nvSpPr>
              <p:spPr bwMode="auto">
                <a:xfrm>
                  <a:off x="0" y="329"/>
                  <a:ext cx="3988" cy="115"/>
                </a:xfrm>
                <a:prstGeom prst="roundRect">
                  <a:avLst>
                    <a:gd name="adj" fmla="val 50000"/>
                  </a:avLst>
                </a:prstGeom>
                <a:gradFill rotWithShape="1">
                  <a:gsLst>
                    <a:gs pos="0">
                      <a:srgbClr val="009999">
                        <a:alpha val="0"/>
                      </a:srgbClr>
                    </a:gs>
                    <a:gs pos="100000">
                      <a:srgbClr val="BEE5E5"/>
                    </a:gs>
                  </a:gsLst>
                  <a:lin ang="54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78193" name="AutoShape 17"/>
                <p:cNvSpPr>
                  <a:spLocks noChangeArrowheads="1"/>
                </p:cNvSpPr>
                <p:nvPr/>
              </p:nvSpPr>
              <p:spPr bwMode="auto">
                <a:xfrm>
                  <a:off x="0" y="0"/>
                  <a:ext cx="3988" cy="115"/>
                </a:xfrm>
                <a:prstGeom prst="roundRect">
                  <a:avLst>
                    <a:gd name="adj" fmla="val 50000"/>
                  </a:avLst>
                </a:prstGeom>
                <a:gradFill rotWithShape="1">
                  <a:gsLst>
                    <a:gs pos="0">
                      <a:srgbClr val="CEEBEB"/>
                    </a:gs>
                    <a:gs pos="100000">
                      <a:srgbClr val="009999">
                        <a:alpha val="0"/>
                      </a:srgbClr>
                    </a:gs>
                  </a:gsLst>
                  <a:lin ang="54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grpSp>
        </p:grpSp>
        <p:sp>
          <p:nvSpPr>
            <p:cNvPr id="433173" name="Rectangle 25"/>
            <p:cNvSpPr>
              <a:spLocks noChangeArrowheads="1"/>
            </p:cNvSpPr>
            <p:nvPr/>
          </p:nvSpPr>
          <p:spPr bwMode="auto">
            <a:xfrm>
              <a:off x="619" y="890"/>
              <a:ext cx="268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buClr>
                  <a:srgbClr val="1F3F5F"/>
                </a:buClr>
              </a:pPr>
              <a:r>
                <a:rPr kumimoji="0" lang="zh-CN" altLang="zh-CN" sz="3200" b="1">
                  <a:solidFill>
                    <a:srgbClr val="FFFF00"/>
                  </a:solidFill>
                  <a:effectLst>
                    <a:outerShdw blurRad="38100" dist="38100" dir="2700000" algn="tl">
                      <a:srgbClr val="C0C0C0"/>
                    </a:outerShdw>
                  </a:effectLst>
                  <a:latin typeface="Arial" panose="020B0604020202020204" pitchFamily="34" charset="0"/>
                  <a:ea typeface="楷体_GB2312" pitchFamily="49" charset="-122"/>
                  <a:cs typeface="Arial" panose="020B0604020202020204" pitchFamily="34" charset="0"/>
                </a:rPr>
                <a:t>数据库恢复的基本原理</a:t>
              </a:r>
            </a:p>
          </p:txBody>
        </p:sp>
      </p:grpSp>
      <p:sp>
        <p:nvSpPr>
          <p:cNvPr id="433176" name="Rectangle 24"/>
          <p:cNvSpPr>
            <a:spLocks noChangeArrowheads="1"/>
          </p:cNvSpPr>
          <p:nvPr/>
        </p:nvSpPr>
        <p:spPr bwMode="auto">
          <a:xfrm>
            <a:off x="827088" y="2420938"/>
            <a:ext cx="734536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effectLst>
                  <a:outerShdw blurRad="38100" dist="38100" dir="2700000" algn="tl">
                    <a:srgbClr val="C0C0C0"/>
                  </a:outerShdw>
                </a:effectLst>
                <a:latin typeface="Tahoma" panose="020B0604030504040204" pitchFamily="34" charset="0"/>
                <a:ea typeface="楷体_GB2312" pitchFamily="49" charset="-122"/>
              </a:rPr>
              <a:t>     利用冗余地存储在</a:t>
            </a:r>
            <a:r>
              <a:rPr lang="zh-CN" altLang="en-US" sz="2800" b="1">
                <a:effectLst>
                  <a:outerShdw blurRad="38100" dist="38100" dir="2700000" algn="tl">
                    <a:srgbClr val="C0C0C0"/>
                  </a:outerShdw>
                </a:effectLst>
                <a:ea typeface="楷体_GB2312" pitchFamily="49" charset="-122"/>
              </a:rPr>
              <a:t>“</a:t>
            </a:r>
            <a:r>
              <a:rPr lang="zh-CN" altLang="en-US" sz="2800" b="1">
                <a:effectLst>
                  <a:outerShdw blurRad="38100" dist="38100" dir="2700000" algn="tl">
                    <a:srgbClr val="C0C0C0"/>
                  </a:outerShdw>
                </a:effectLst>
                <a:latin typeface="Tahoma" panose="020B0604030504040204" pitchFamily="34" charset="0"/>
                <a:ea typeface="楷体_GB2312" pitchFamily="49" charset="-122"/>
              </a:rPr>
              <a:t>别处</a:t>
            </a:r>
            <a:r>
              <a:rPr lang="zh-CN" altLang="en-US" sz="2800" b="1">
                <a:effectLst>
                  <a:outerShdw blurRad="38100" dist="38100" dir="2700000" algn="tl">
                    <a:srgbClr val="C0C0C0"/>
                  </a:outerShdw>
                </a:effectLst>
                <a:ea typeface="楷体_GB2312" pitchFamily="49" charset="-122"/>
              </a:rPr>
              <a:t>”</a:t>
            </a:r>
            <a:r>
              <a:rPr lang="zh-CN" altLang="en-US" sz="2800" b="1">
                <a:effectLst>
                  <a:outerShdw blurRad="38100" dist="38100" dir="2700000" algn="tl">
                    <a:srgbClr val="C0C0C0"/>
                  </a:outerShdw>
                </a:effectLst>
                <a:latin typeface="Tahoma" panose="020B0604030504040204" pitchFamily="34" charset="0"/>
                <a:ea typeface="楷体_GB2312" pitchFamily="49" charset="-122"/>
              </a:rPr>
              <a:t>的信息，部分地或全部地重建数据库。</a:t>
            </a:r>
          </a:p>
        </p:txBody>
      </p:sp>
      <p:sp>
        <p:nvSpPr>
          <p:cNvPr id="433177" name="WordArt 25"/>
          <p:cNvSpPr>
            <a:spLocks noChangeArrowheads="1" noChangeShapeType="1" noTextEdit="1"/>
          </p:cNvSpPr>
          <p:nvPr/>
        </p:nvSpPr>
        <p:spPr bwMode="auto">
          <a:xfrm>
            <a:off x="2484438" y="3213100"/>
            <a:ext cx="3744912" cy="1081088"/>
          </a:xfrm>
          <a:prstGeom prst="rect">
            <a:avLst/>
          </a:prstGeom>
          <a:extLst>
            <a:ext uri="{AF507438-7753-43E0-B8FC-AC1667EBCBE1}">
              <a14:hiddenEffects xmlns:a14="http://schemas.microsoft.com/office/drawing/2010/main">
                <a:effectLst/>
              </a14:hiddenEffects>
            </a:ext>
          </a:extLst>
        </p:spPr>
        <p:txBody>
          <a:bodyPr wrap="none" fromWordArt="1">
            <a:prstTxWarp prst="textCascadeUp">
              <a:avLst>
                <a:gd name="adj" fmla="val 100000"/>
              </a:avLst>
            </a:prstTxWarp>
            <a:scene3d>
              <a:camera prst="legacyPerspectiveFront">
                <a:rot lat="20519999" lon="1080000" rev="0"/>
              </a:camera>
              <a:lightRig rig="legacyHarsh2" dir="b"/>
            </a:scene3d>
            <a:sp3d extrusionH="430200" prstMaterial="legacyMatte">
              <a:extrusionClr>
                <a:srgbClr val="FF6600"/>
              </a:extrusionClr>
              <a:contourClr>
                <a:srgbClr val="FFE701"/>
              </a:contourClr>
            </a:sp3d>
          </a:bodyPr>
          <a:lstStyle/>
          <a:p>
            <a:pPr algn="ctr"/>
            <a:r>
              <a:rPr lang="zh-CN" altLang="en-US" sz="3600" kern="10">
                <a:ln w="9525" cap="sq">
                  <a:round/>
                  <a:headEnd type="none" w="sm" len="sm"/>
                  <a:tailEnd type="none" w="sm" len="sm"/>
                </a:ln>
                <a:gradFill rotWithShape="0">
                  <a:gsLst>
                    <a:gs pos="0">
                      <a:srgbClr val="FFE701"/>
                    </a:gs>
                    <a:gs pos="100000">
                      <a:srgbClr val="FE3E02"/>
                    </a:gs>
                  </a:gsLst>
                  <a:lin ang="5400000" scaled="1"/>
                </a:gradFill>
                <a:ea typeface="楷体_GB2312"/>
              </a:rPr>
              <a:t>数据冗余！</a:t>
            </a:r>
          </a:p>
        </p:txBody>
      </p:sp>
      <p:sp>
        <p:nvSpPr>
          <p:cNvPr id="433180" name="Rectangle 28"/>
          <p:cNvSpPr>
            <a:spLocks noChangeArrowheads="1"/>
          </p:cNvSpPr>
          <p:nvPr/>
        </p:nvSpPr>
        <p:spPr bwMode="auto">
          <a:xfrm>
            <a:off x="611188" y="3498850"/>
            <a:ext cx="7921625" cy="2738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nSpc>
                <a:spcPct val="120000"/>
              </a:lnSpc>
              <a:spcBef>
                <a:spcPct val="20000"/>
              </a:spcBef>
              <a:buClr>
                <a:schemeClr val="hlink"/>
              </a:buClr>
              <a:buSzPct val="55000"/>
              <a:buFont typeface="Wingdings" panose="05000000000000000000" pitchFamily="2" charset="2"/>
              <a:buChar char="n"/>
            </a:pPr>
            <a:r>
              <a:rPr lang="zh-CN" altLang="en-US" sz="2800" b="1">
                <a:effectLst>
                  <a:outerShdw blurRad="38100" dist="38100" dir="2700000" algn="tl">
                    <a:srgbClr val="C0C0C0"/>
                  </a:outerShdw>
                </a:effectLst>
                <a:latin typeface="Tahoma" panose="020B0604030504040204" pitchFamily="34" charset="0"/>
                <a:ea typeface="楷体_GB2312" pitchFamily="49" charset="-122"/>
              </a:rPr>
              <a:t> ① 关键问题</a:t>
            </a:r>
          </a:p>
          <a:p>
            <a:pPr lvl="2">
              <a:lnSpc>
                <a:spcPct val="120000"/>
              </a:lnSpc>
              <a:spcBef>
                <a:spcPct val="20000"/>
              </a:spcBef>
              <a:buClr>
                <a:schemeClr val="folHlink"/>
              </a:buClr>
              <a:buSzPct val="50000"/>
              <a:buFont typeface="Wingdings" panose="05000000000000000000" pitchFamily="2" charset="2"/>
              <a:buChar char="n"/>
            </a:pPr>
            <a:r>
              <a:rPr lang="zh-CN" altLang="en-US" sz="2400" b="1">
                <a:effectLst>
                  <a:outerShdw blurRad="38100" dist="38100" dir="2700000" algn="tl">
                    <a:srgbClr val="C0C0C0"/>
                  </a:outerShdw>
                </a:effectLst>
                <a:latin typeface="Tahoma" panose="020B0604030504040204" pitchFamily="34" charset="0"/>
                <a:ea typeface="楷体_GB2312" pitchFamily="49" charset="-122"/>
              </a:rPr>
              <a:t>如何提前建立冗余数据；</a:t>
            </a:r>
          </a:p>
          <a:p>
            <a:pPr lvl="2">
              <a:lnSpc>
                <a:spcPct val="120000"/>
              </a:lnSpc>
              <a:spcBef>
                <a:spcPct val="20000"/>
              </a:spcBef>
              <a:buClr>
                <a:schemeClr val="folHlink"/>
              </a:buClr>
              <a:buSzPct val="50000"/>
              <a:buFont typeface="Wingdings" panose="05000000000000000000" pitchFamily="2" charset="2"/>
              <a:buChar char="n"/>
            </a:pPr>
            <a:r>
              <a:rPr lang="zh-CN" altLang="en-US" sz="2400" b="1">
                <a:effectLst>
                  <a:outerShdw blurRad="38100" dist="38100" dir="2700000" algn="tl">
                    <a:srgbClr val="C0C0C0"/>
                  </a:outerShdw>
                </a:effectLst>
                <a:latin typeface="Tahoma" panose="020B0604030504040204" pitchFamily="34" charset="0"/>
                <a:ea typeface="楷体_GB2312" pitchFamily="49" charset="-122"/>
              </a:rPr>
              <a:t>如何利用这些冗余数据实施数据库恢复。</a:t>
            </a:r>
          </a:p>
          <a:p>
            <a:pPr lvl="1">
              <a:lnSpc>
                <a:spcPct val="120000"/>
              </a:lnSpc>
              <a:spcBef>
                <a:spcPct val="20000"/>
              </a:spcBef>
              <a:buClr>
                <a:schemeClr val="hlink"/>
              </a:buClr>
              <a:buSzPct val="55000"/>
              <a:buFont typeface="Wingdings" panose="05000000000000000000" pitchFamily="2" charset="2"/>
              <a:buChar char="n"/>
            </a:pPr>
            <a:r>
              <a:rPr lang="zh-CN" altLang="en-US" sz="2800" b="1">
                <a:effectLst>
                  <a:outerShdw blurRad="38100" dist="38100" dir="2700000" algn="tl">
                    <a:srgbClr val="C0C0C0"/>
                  </a:outerShdw>
                </a:effectLst>
                <a:latin typeface="Tahoma" panose="020B0604030504040204" pitchFamily="34" charset="0"/>
                <a:ea typeface="楷体_GB2312" pitchFamily="49" charset="-122"/>
              </a:rPr>
              <a:t>② 建立冗余数据常用技术：数据转储和日志文件。</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2157"/>
    </mc:Choice>
    <mc:Fallback xmlns="">
      <p:transition spd="slow" advTm="4215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33178"/>
                                        </p:tgtEl>
                                        <p:attrNameLst>
                                          <p:attrName>style.visibility</p:attrName>
                                        </p:attrNameLst>
                                      </p:cBhvr>
                                      <p:to>
                                        <p:strVal val="visible"/>
                                      </p:to>
                                    </p:set>
                                    <p:animEffect transition="in" filter="wipe(left)">
                                      <p:cBhvr>
                                        <p:cTn id="7" dur="500"/>
                                        <p:tgtEl>
                                          <p:spTgt spid="433178"/>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433177"/>
                                        </p:tgtEl>
                                        <p:attrNameLst>
                                          <p:attrName>style.visibility</p:attrName>
                                        </p:attrNameLst>
                                      </p:cBhvr>
                                      <p:to>
                                        <p:strVal val="visible"/>
                                      </p:to>
                                    </p:set>
                                    <p:anim calcmode="lin" valueType="num">
                                      <p:cBhvr>
                                        <p:cTn id="12" dur="500" fill="hold"/>
                                        <p:tgtEl>
                                          <p:spTgt spid="433177"/>
                                        </p:tgtEl>
                                        <p:attrNameLst>
                                          <p:attrName>ppt_w</p:attrName>
                                        </p:attrNameLst>
                                      </p:cBhvr>
                                      <p:tavLst>
                                        <p:tav tm="0">
                                          <p:val>
                                            <p:fltVal val="0"/>
                                          </p:val>
                                        </p:tav>
                                        <p:tav tm="100000">
                                          <p:val>
                                            <p:strVal val="#ppt_w"/>
                                          </p:val>
                                        </p:tav>
                                      </p:tavLst>
                                    </p:anim>
                                    <p:anim calcmode="lin" valueType="num">
                                      <p:cBhvr>
                                        <p:cTn id="13" dur="500" fill="hold"/>
                                        <p:tgtEl>
                                          <p:spTgt spid="433177"/>
                                        </p:tgtEl>
                                        <p:attrNameLst>
                                          <p:attrName>ppt_h</p:attrName>
                                        </p:attrNameLst>
                                      </p:cBhvr>
                                      <p:tavLst>
                                        <p:tav tm="0">
                                          <p:val>
                                            <p:fltVal val="0"/>
                                          </p:val>
                                        </p:tav>
                                        <p:tav tm="100000">
                                          <p:val>
                                            <p:strVal val="#ppt_h"/>
                                          </p:val>
                                        </p:tav>
                                      </p:tavLst>
                                    </p:anim>
                                    <p:animEffect transition="in" filter="fade">
                                      <p:cBhvr>
                                        <p:cTn id="14" dur="500"/>
                                        <p:tgtEl>
                                          <p:spTgt spid="433177"/>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xit" presetSubtype="16" fill="hold" nodeType="clickEffect">
                                  <p:stCondLst>
                                    <p:cond delay="0"/>
                                  </p:stCondLst>
                                  <p:childTnLst>
                                    <p:anim calcmode="lin" valueType="num">
                                      <p:cBhvr>
                                        <p:cTn id="18" dur="500"/>
                                        <p:tgtEl>
                                          <p:spTgt spid="433177"/>
                                        </p:tgtEl>
                                        <p:attrNameLst>
                                          <p:attrName>ppt_w</p:attrName>
                                        </p:attrNameLst>
                                      </p:cBhvr>
                                      <p:tavLst>
                                        <p:tav tm="0">
                                          <p:val>
                                            <p:strVal val="ppt_w"/>
                                          </p:val>
                                        </p:tav>
                                        <p:tav tm="100000">
                                          <p:val>
                                            <p:fltVal val="0"/>
                                          </p:val>
                                        </p:tav>
                                      </p:tavLst>
                                    </p:anim>
                                    <p:anim calcmode="lin" valueType="num">
                                      <p:cBhvr>
                                        <p:cTn id="19" dur="500"/>
                                        <p:tgtEl>
                                          <p:spTgt spid="433177"/>
                                        </p:tgtEl>
                                        <p:attrNameLst>
                                          <p:attrName>ppt_h</p:attrName>
                                        </p:attrNameLst>
                                      </p:cBhvr>
                                      <p:tavLst>
                                        <p:tav tm="0">
                                          <p:val>
                                            <p:strVal val="ppt_h"/>
                                          </p:val>
                                        </p:tav>
                                        <p:tav tm="100000">
                                          <p:val>
                                            <p:fltVal val="0"/>
                                          </p:val>
                                        </p:tav>
                                      </p:tavLst>
                                    </p:anim>
                                    <p:animEffect transition="out" filter="fade">
                                      <p:cBhvr>
                                        <p:cTn id="20" dur="500"/>
                                        <p:tgtEl>
                                          <p:spTgt spid="433177"/>
                                        </p:tgtEl>
                                      </p:cBhvr>
                                    </p:animEffect>
                                    <p:set>
                                      <p:cBhvr>
                                        <p:cTn id="21" dur="1" fill="hold">
                                          <p:stCondLst>
                                            <p:cond delay="499"/>
                                          </p:stCondLst>
                                        </p:cTn>
                                        <p:tgtEl>
                                          <p:spTgt spid="433177"/>
                                        </p:tgtEl>
                                        <p:attrNameLst>
                                          <p:attrName>style.visibility</p:attrName>
                                        </p:attrNameLst>
                                      </p:cBhvr>
                                      <p:to>
                                        <p:strVal val="hidden"/>
                                      </p:to>
                                    </p:set>
                                  </p:childTnLst>
                                </p:cTn>
                              </p:par>
                            </p:childTnLst>
                          </p:cTn>
                        </p:par>
                        <p:par>
                          <p:cTn id="22" fill="hold">
                            <p:stCondLst>
                              <p:cond delay="500"/>
                            </p:stCondLst>
                            <p:childTnLst>
                              <p:par>
                                <p:cTn id="23" presetID="22" presetClass="entr" presetSubtype="1" fill="hold" grpId="0" nodeType="afterEffect">
                                  <p:stCondLst>
                                    <p:cond delay="0"/>
                                  </p:stCondLst>
                                  <p:childTnLst>
                                    <p:set>
                                      <p:cBhvr>
                                        <p:cTn id="24" dur="1" fill="hold">
                                          <p:stCondLst>
                                            <p:cond delay="0"/>
                                          </p:stCondLst>
                                        </p:cTn>
                                        <p:tgtEl>
                                          <p:spTgt spid="433167"/>
                                        </p:tgtEl>
                                        <p:attrNameLst>
                                          <p:attrName>style.visibility</p:attrName>
                                        </p:attrNameLst>
                                      </p:cBhvr>
                                      <p:to>
                                        <p:strVal val="visible"/>
                                      </p:to>
                                    </p:set>
                                    <p:animEffect transition="in" filter="wipe(up)">
                                      <p:cBhvr>
                                        <p:cTn id="25" dur="500"/>
                                        <p:tgtEl>
                                          <p:spTgt spid="43316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433176"/>
                                        </p:tgtEl>
                                        <p:attrNameLst>
                                          <p:attrName>style.visibility</p:attrName>
                                        </p:attrNameLst>
                                      </p:cBhvr>
                                      <p:to>
                                        <p:strVal val="visible"/>
                                      </p:to>
                                    </p:set>
                                    <p:animEffect transition="in" filter="wipe(left)">
                                      <p:cBhvr>
                                        <p:cTn id="30" dur="500"/>
                                        <p:tgtEl>
                                          <p:spTgt spid="43317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433180">
                                            <p:txEl>
                                              <p:pRg st="0" end="0"/>
                                            </p:txEl>
                                          </p:spTgt>
                                        </p:tgtEl>
                                        <p:attrNameLst>
                                          <p:attrName>style.visibility</p:attrName>
                                        </p:attrNameLst>
                                      </p:cBhvr>
                                      <p:to>
                                        <p:strVal val="visible"/>
                                      </p:to>
                                    </p:set>
                                    <p:animEffect transition="in" filter="wipe(left)">
                                      <p:cBhvr>
                                        <p:cTn id="35" dur="500"/>
                                        <p:tgtEl>
                                          <p:spTgt spid="433180">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433180">
                                            <p:txEl>
                                              <p:pRg st="1" end="1"/>
                                            </p:txEl>
                                          </p:spTgt>
                                        </p:tgtEl>
                                        <p:attrNameLst>
                                          <p:attrName>style.visibility</p:attrName>
                                        </p:attrNameLst>
                                      </p:cBhvr>
                                      <p:to>
                                        <p:strVal val="visible"/>
                                      </p:to>
                                    </p:set>
                                    <p:animEffect transition="in" filter="wipe(left)">
                                      <p:cBhvr>
                                        <p:cTn id="40" dur="500"/>
                                        <p:tgtEl>
                                          <p:spTgt spid="433180">
                                            <p:txEl>
                                              <p:pRg st="1" end="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433180">
                                            <p:txEl>
                                              <p:pRg st="2" end="2"/>
                                            </p:txEl>
                                          </p:spTgt>
                                        </p:tgtEl>
                                        <p:attrNameLst>
                                          <p:attrName>style.visibility</p:attrName>
                                        </p:attrNameLst>
                                      </p:cBhvr>
                                      <p:to>
                                        <p:strVal val="visible"/>
                                      </p:to>
                                    </p:set>
                                    <p:animEffect transition="in" filter="wipe(left)">
                                      <p:cBhvr>
                                        <p:cTn id="45" dur="500"/>
                                        <p:tgtEl>
                                          <p:spTgt spid="433180">
                                            <p:txEl>
                                              <p:pRg st="2" end="2"/>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433180">
                                            <p:txEl>
                                              <p:pRg st="3" end="3"/>
                                            </p:txEl>
                                          </p:spTgt>
                                        </p:tgtEl>
                                        <p:attrNameLst>
                                          <p:attrName>style.visibility</p:attrName>
                                        </p:attrNameLst>
                                      </p:cBhvr>
                                      <p:to>
                                        <p:strVal val="visible"/>
                                      </p:to>
                                    </p:set>
                                    <p:animEffect transition="in" filter="wipe(left)">
                                      <p:cBhvr>
                                        <p:cTn id="50" dur="500"/>
                                        <p:tgtEl>
                                          <p:spTgt spid="43318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3167" grpId="0" animBg="1"/>
      <p:bldP spid="433176" grpId="0"/>
      <p:bldP spid="433180" grpId="0" uiExpand="1" build="p" bldLvl="2"/>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1" name="Rectangle 3"/>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二、数据库故障的基本恢复方式</a:t>
            </a:r>
          </a:p>
        </p:txBody>
      </p:sp>
      <p:sp>
        <p:nvSpPr>
          <p:cNvPr id="437253" name="Rectangle 5"/>
          <p:cNvSpPr>
            <a:spLocks noChangeArrowheads="1"/>
          </p:cNvSpPr>
          <p:nvPr/>
        </p:nvSpPr>
        <p:spPr bwMode="auto">
          <a:xfrm>
            <a:off x="611188" y="1187450"/>
            <a:ext cx="80645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1</a:t>
            </a:r>
            <a:r>
              <a:rPr lang="zh-CN" altLang="en-US" sz="3200">
                <a:solidFill>
                  <a:srgbClr val="660033"/>
                </a:solidFill>
                <a:ea typeface="华文新魏" panose="02010800040101010101" pitchFamily="2" charset="-122"/>
              </a:rPr>
              <a:t>、数据库转储</a:t>
            </a:r>
          </a:p>
        </p:txBody>
      </p:sp>
      <p:sp>
        <p:nvSpPr>
          <p:cNvPr id="437254" name="AutoShape 6"/>
          <p:cNvSpPr>
            <a:spLocks noChangeArrowheads="1"/>
          </p:cNvSpPr>
          <p:nvPr/>
        </p:nvSpPr>
        <p:spPr bwMode="auto">
          <a:xfrm>
            <a:off x="755650" y="2276475"/>
            <a:ext cx="7416800" cy="3600450"/>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20000"/>
              </a:lnSpc>
              <a:spcBef>
                <a:spcPct val="20000"/>
              </a:spcBef>
              <a:spcAft>
                <a:spcPct val="40000"/>
              </a:spcAft>
              <a:buClr>
                <a:srgbClr val="009900"/>
              </a:buClr>
              <a:buSzPct val="70000"/>
              <a:buFont typeface="Wingdings" panose="05000000000000000000" pitchFamily="2" charset="2"/>
              <a:buNone/>
            </a:pPr>
            <a:r>
              <a:rPr lang="zh-CN" altLang="en-US" sz="2800" b="1">
                <a:effectLst>
                  <a:outerShdw blurRad="38100" dist="38100" dir="2700000" algn="tl">
                    <a:srgbClr val="C0C0C0"/>
                  </a:outerShdw>
                </a:effectLst>
                <a:latin typeface="Tahoma" panose="020B0604030504040204" pitchFamily="34" charset="0"/>
                <a:ea typeface="楷体_GB2312" pitchFamily="49" charset="-122"/>
              </a:rPr>
              <a:t>      数据库转储就是定期把整个数据库或数据库中的数据拷贝到其它磁盘上保存起来。</a:t>
            </a:r>
          </a:p>
          <a:p>
            <a:pPr>
              <a:lnSpc>
                <a:spcPct val="120000"/>
              </a:lnSpc>
              <a:spcBef>
                <a:spcPct val="20000"/>
              </a:spcBef>
              <a:spcAft>
                <a:spcPct val="40000"/>
              </a:spcAft>
              <a:buClr>
                <a:srgbClr val="009900"/>
              </a:buClr>
              <a:buSzPct val="70000"/>
              <a:buFont typeface="Wingdings" panose="05000000000000000000" pitchFamily="2" charset="2"/>
              <a:buNone/>
            </a:pPr>
            <a:r>
              <a:rPr lang="zh-CN" altLang="en-US" sz="2800" b="1">
                <a:effectLst>
                  <a:outerShdw blurRad="38100" dist="38100" dir="2700000" algn="tl">
                    <a:srgbClr val="C0C0C0"/>
                  </a:outerShdw>
                </a:effectLst>
                <a:latin typeface="Tahoma" panose="020B0604030504040204" pitchFamily="34" charset="0"/>
                <a:ea typeface="楷体_GB2312" pitchFamily="49" charset="-122"/>
              </a:rPr>
              <a:t>      转储中用于备份数据库或数据库中数据的数据文件称为</a:t>
            </a:r>
            <a:r>
              <a:rPr lang="zh-CN" altLang="en-US" sz="2800" b="1">
                <a:solidFill>
                  <a:srgbClr val="CC00CC"/>
                </a:solidFill>
                <a:latin typeface="Tahoma" panose="020B0604030504040204" pitchFamily="34" charset="0"/>
                <a:ea typeface="楷体_GB2312" pitchFamily="49" charset="-122"/>
              </a:rPr>
              <a:t>后援副本。</a:t>
            </a:r>
            <a:endParaRPr lang="en-US" altLang="zh-CN" sz="2800" b="1">
              <a:solidFill>
                <a:srgbClr val="CC00CC"/>
              </a:solidFill>
              <a:latin typeface="Tahoma" panose="020B0604030504040204" pitchFamily="34" charset="0"/>
              <a:ea typeface="楷体_GB2312" pitchFamily="49"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6989"/>
    </mc:Choice>
    <mc:Fallback xmlns="">
      <p:transition spd="slow" advTm="2698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37253"/>
                                        </p:tgtEl>
                                        <p:attrNameLst>
                                          <p:attrName>style.visibility</p:attrName>
                                        </p:attrNameLst>
                                      </p:cBhvr>
                                      <p:to>
                                        <p:strVal val="visible"/>
                                      </p:to>
                                    </p:set>
                                    <p:animEffect transition="in" filter="wipe(left)">
                                      <p:cBhvr>
                                        <p:cTn id="7" dur="1000"/>
                                        <p:tgtEl>
                                          <p:spTgt spid="4372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37254">
                                            <p:bg/>
                                          </p:spTgt>
                                        </p:tgtEl>
                                        <p:attrNameLst>
                                          <p:attrName>style.visibility</p:attrName>
                                        </p:attrNameLst>
                                      </p:cBhvr>
                                      <p:to>
                                        <p:strVal val="visible"/>
                                      </p:to>
                                    </p:set>
                                    <p:animEffect transition="in" filter="wipe(up)">
                                      <p:cBhvr>
                                        <p:cTn id="12" dur="500"/>
                                        <p:tgtEl>
                                          <p:spTgt spid="437254">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37254">
                                            <p:txEl>
                                              <p:pRg st="0" end="0"/>
                                            </p:txEl>
                                          </p:spTgt>
                                        </p:tgtEl>
                                        <p:attrNameLst>
                                          <p:attrName>style.visibility</p:attrName>
                                        </p:attrNameLst>
                                      </p:cBhvr>
                                      <p:to>
                                        <p:strVal val="visible"/>
                                      </p:to>
                                    </p:set>
                                    <p:animEffect transition="in" filter="wipe(up)">
                                      <p:cBhvr>
                                        <p:cTn id="17" dur="500"/>
                                        <p:tgtEl>
                                          <p:spTgt spid="43725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37254">
                                            <p:txEl>
                                              <p:pRg st="1" end="1"/>
                                            </p:txEl>
                                          </p:spTgt>
                                        </p:tgtEl>
                                        <p:attrNameLst>
                                          <p:attrName>style.visibility</p:attrName>
                                        </p:attrNameLst>
                                      </p:cBhvr>
                                      <p:to>
                                        <p:strVal val="visible"/>
                                      </p:to>
                                    </p:set>
                                    <p:animEffect transition="in" filter="wipe(up)">
                                      <p:cBhvr>
                                        <p:cTn id="22" dur="500"/>
                                        <p:tgtEl>
                                          <p:spTgt spid="43725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7253" grpId="0"/>
      <p:bldP spid="437254" grpId="0" build="p"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Rectangle 2"/>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二、数据库故障的基本恢复方式</a:t>
            </a:r>
          </a:p>
        </p:txBody>
      </p:sp>
      <p:sp>
        <p:nvSpPr>
          <p:cNvPr id="494595" name="Rectangle 3"/>
          <p:cNvSpPr>
            <a:spLocks noChangeArrowheads="1"/>
          </p:cNvSpPr>
          <p:nvPr/>
        </p:nvSpPr>
        <p:spPr bwMode="auto">
          <a:xfrm>
            <a:off x="611188" y="1187450"/>
            <a:ext cx="80645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1</a:t>
            </a:r>
            <a:r>
              <a:rPr lang="zh-CN" altLang="en-US" sz="3200">
                <a:solidFill>
                  <a:srgbClr val="660033"/>
                </a:solidFill>
                <a:ea typeface="华文新魏" panose="02010800040101010101" pitchFamily="2" charset="-122"/>
              </a:rPr>
              <a:t>、数据库转储</a:t>
            </a:r>
          </a:p>
        </p:txBody>
      </p:sp>
      <p:sp>
        <p:nvSpPr>
          <p:cNvPr id="494596" name="AutoShape 4"/>
          <p:cNvSpPr>
            <a:spLocks noChangeArrowheads="1"/>
          </p:cNvSpPr>
          <p:nvPr/>
        </p:nvSpPr>
        <p:spPr bwMode="auto">
          <a:xfrm>
            <a:off x="755650" y="2276475"/>
            <a:ext cx="7416800" cy="3600450"/>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lvl="1">
              <a:lnSpc>
                <a:spcPct val="120000"/>
              </a:lnSpc>
              <a:spcBef>
                <a:spcPct val="20000"/>
              </a:spcBef>
              <a:buClr>
                <a:schemeClr val="hlink"/>
              </a:buClr>
              <a:buSzPct val="55000"/>
              <a:buFont typeface="Wingdings" panose="05000000000000000000" pitchFamily="2" charset="2"/>
              <a:buNone/>
            </a:pPr>
            <a:r>
              <a:rPr lang="zh-CN" altLang="en-US" sz="2800" b="1">
                <a:latin typeface="Tahoma" panose="020B0604030504040204" pitchFamily="34" charset="0"/>
                <a:ea typeface="楷体_GB2312" pitchFamily="49" charset="-122"/>
              </a:rPr>
              <a:t>① </a:t>
            </a:r>
            <a:r>
              <a:rPr lang="zh-CN" altLang="zh-CN" sz="2800" b="1">
                <a:latin typeface="Tahoma" panose="020B0604030504040204" pitchFamily="34" charset="0"/>
                <a:ea typeface="楷体_GB2312" pitchFamily="49" charset="-122"/>
              </a:rPr>
              <a:t>当数据库遭到破坏时，利用后援副本就可以把数据库恢复到转储时的状态</a:t>
            </a:r>
            <a:r>
              <a:rPr lang="zh-CN" altLang="en-US" sz="2800" b="1">
                <a:latin typeface="Tahoma" panose="020B0604030504040204" pitchFamily="34" charset="0"/>
                <a:ea typeface="楷体_GB2312" pitchFamily="49" charset="-122"/>
              </a:rPr>
              <a:t>；</a:t>
            </a:r>
          </a:p>
          <a:p>
            <a:pPr lvl="1">
              <a:lnSpc>
                <a:spcPct val="120000"/>
              </a:lnSpc>
              <a:spcBef>
                <a:spcPct val="20000"/>
              </a:spcBef>
              <a:buClr>
                <a:schemeClr val="hlink"/>
              </a:buClr>
              <a:buSzPct val="55000"/>
              <a:buFont typeface="Wingdings" panose="05000000000000000000" pitchFamily="2" charset="2"/>
              <a:buNone/>
            </a:pPr>
            <a:r>
              <a:rPr lang="zh-CN" altLang="en-US" sz="2800" b="1">
                <a:latin typeface="Tahoma" panose="020B0604030504040204" pitchFamily="34" charset="0"/>
                <a:ea typeface="楷体_GB2312" pitchFamily="49" charset="-122"/>
              </a:rPr>
              <a:t>② 要想把数据库恢复到故障发生时的状态，则必须重新运行自转储以后的所有更新事务。</a:t>
            </a:r>
            <a:endParaRPr lang="en-US" altLang="zh-CN" sz="2800" b="1">
              <a:latin typeface="Tahoma" panose="020B0604030504040204" pitchFamily="34" charset="0"/>
              <a:ea typeface="楷体_GB2312" pitchFamily="49"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4640"/>
    </mc:Choice>
    <mc:Fallback xmlns="">
      <p:transition spd="slow" advTm="346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94596">
                                            <p:bg/>
                                          </p:spTgt>
                                        </p:tgtEl>
                                        <p:attrNameLst>
                                          <p:attrName>style.visibility</p:attrName>
                                        </p:attrNameLst>
                                      </p:cBhvr>
                                      <p:to>
                                        <p:strVal val="visible"/>
                                      </p:to>
                                    </p:set>
                                    <p:animEffect transition="in" filter="wipe(up)">
                                      <p:cBhvr>
                                        <p:cTn id="7" dur="500"/>
                                        <p:tgtEl>
                                          <p:spTgt spid="494596">
                                            <p:bg/>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494596">
                                            <p:txEl>
                                              <p:pRg st="0" end="0"/>
                                            </p:txEl>
                                          </p:spTgt>
                                        </p:tgtEl>
                                        <p:attrNameLst>
                                          <p:attrName>style.visibility</p:attrName>
                                        </p:attrNameLst>
                                      </p:cBhvr>
                                      <p:to>
                                        <p:strVal val="visible"/>
                                      </p:to>
                                    </p:set>
                                    <p:animEffect transition="in" filter="wipe(up)">
                                      <p:cBhvr>
                                        <p:cTn id="11" dur="500"/>
                                        <p:tgtEl>
                                          <p:spTgt spid="494596">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494596">
                                            <p:txEl>
                                              <p:pRg st="1" end="1"/>
                                            </p:txEl>
                                          </p:spTgt>
                                        </p:tgtEl>
                                        <p:attrNameLst>
                                          <p:attrName>style.visibility</p:attrName>
                                        </p:attrNameLst>
                                      </p:cBhvr>
                                      <p:to>
                                        <p:strVal val="visible"/>
                                      </p:to>
                                    </p:set>
                                    <p:animEffect transition="in" filter="wipe(up)">
                                      <p:cBhvr>
                                        <p:cTn id="16" dur="500"/>
                                        <p:tgtEl>
                                          <p:spTgt spid="49459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596" grpId="0" uiExpand="1" build="p"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9" name="Rectangle 3"/>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二、数据库故障的基本恢复方式</a:t>
            </a:r>
          </a:p>
        </p:txBody>
      </p:sp>
      <p:sp>
        <p:nvSpPr>
          <p:cNvPr id="439300" name="Rectangle 4"/>
          <p:cNvSpPr>
            <a:spLocks noGrp="1" noChangeArrowheads="1"/>
          </p:cNvSpPr>
          <p:nvPr>
            <p:ph type="body" idx="1"/>
          </p:nvPr>
        </p:nvSpPr>
        <p:spPr/>
        <p:txBody>
          <a:bodyPr/>
          <a:lstStyle/>
          <a:p>
            <a:r>
              <a:rPr lang="zh-CN" altLang="en-US" sz="3200">
                <a:solidFill>
                  <a:srgbClr val="003300"/>
                </a:solidFill>
              </a:rPr>
              <a:t>数据库转储及恢复</a:t>
            </a:r>
          </a:p>
        </p:txBody>
      </p:sp>
      <p:grpSp>
        <p:nvGrpSpPr>
          <p:cNvPr id="439301" name="Group 5"/>
          <p:cNvGrpSpPr/>
          <p:nvPr/>
        </p:nvGrpSpPr>
        <p:grpSpPr bwMode="auto">
          <a:xfrm>
            <a:off x="468313" y="4824413"/>
            <a:ext cx="7162800" cy="981075"/>
            <a:chOff x="295" y="2812"/>
            <a:chExt cx="4512" cy="618"/>
          </a:xfrm>
        </p:grpSpPr>
        <p:sp>
          <p:nvSpPr>
            <p:cNvPr id="439302" name="Line 6"/>
            <p:cNvSpPr>
              <a:spLocks noChangeShapeType="1"/>
            </p:cNvSpPr>
            <p:nvPr/>
          </p:nvSpPr>
          <p:spPr bwMode="auto">
            <a:xfrm>
              <a:off x="1427" y="3165"/>
              <a:ext cx="0" cy="265"/>
            </a:xfrm>
            <a:prstGeom prst="line">
              <a:avLst/>
            </a:prstGeom>
            <a:noFill/>
            <a:ln w="28575">
              <a:solidFill>
                <a:schemeClr val="bg2"/>
              </a:solidFill>
              <a:round/>
            </a:ln>
            <a:effectLst>
              <a:outerShdw dist="28398" dir="1593903"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39303" name="Line 7"/>
            <p:cNvSpPr>
              <a:spLocks noChangeShapeType="1"/>
            </p:cNvSpPr>
            <p:nvPr/>
          </p:nvSpPr>
          <p:spPr bwMode="auto">
            <a:xfrm>
              <a:off x="1427" y="3430"/>
              <a:ext cx="1377" cy="0"/>
            </a:xfrm>
            <a:prstGeom prst="line">
              <a:avLst/>
            </a:prstGeom>
            <a:noFill/>
            <a:ln w="28575">
              <a:solidFill>
                <a:schemeClr val="bg2"/>
              </a:solidFill>
              <a:round/>
            </a:ln>
            <a:effectLst>
              <a:outerShdw dist="28398" dir="1593903"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39304" name="Line 8"/>
            <p:cNvSpPr>
              <a:spLocks noChangeShapeType="1"/>
            </p:cNvSpPr>
            <p:nvPr/>
          </p:nvSpPr>
          <p:spPr bwMode="auto">
            <a:xfrm>
              <a:off x="2804" y="3165"/>
              <a:ext cx="0" cy="265"/>
            </a:xfrm>
            <a:prstGeom prst="line">
              <a:avLst/>
            </a:prstGeom>
            <a:noFill/>
            <a:ln w="28575">
              <a:solidFill>
                <a:schemeClr val="bg2"/>
              </a:solidFill>
              <a:round/>
            </a:ln>
            <a:effectLst>
              <a:outerShdw dist="28398" dir="1593903"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39305" name="Line 9"/>
            <p:cNvSpPr>
              <a:spLocks noChangeShapeType="1"/>
            </p:cNvSpPr>
            <p:nvPr/>
          </p:nvSpPr>
          <p:spPr bwMode="auto">
            <a:xfrm>
              <a:off x="2804" y="3430"/>
              <a:ext cx="2003" cy="0"/>
            </a:xfrm>
            <a:prstGeom prst="line">
              <a:avLst/>
            </a:prstGeom>
            <a:noFill/>
            <a:ln w="28575">
              <a:solidFill>
                <a:schemeClr val="bg2"/>
              </a:solidFill>
              <a:prstDash val="lgDash"/>
              <a:round/>
            </a:ln>
            <a:effectLst>
              <a:outerShdw dist="28398" dir="1593903"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39306" name="Text Box 10"/>
            <p:cNvSpPr txBox="1">
              <a:spLocks noChangeArrowheads="1"/>
            </p:cNvSpPr>
            <p:nvPr/>
          </p:nvSpPr>
          <p:spPr bwMode="auto">
            <a:xfrm>
              <a:off x="295" y="3129"/>
              <a:ext cx="599" cy="28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spAutoFit/>
            </a:bodyPr>
            <a:lstStyle/>
            <a:p>
              <a:r>
                <a:rPr lang="zh-CN" altLang="en-US" sz="2400" b="1">
                  <a:solidFill>
                    <a:schemeClr val="bg2"/>
                  </a:solidFill>
                  <a:latin typeface="楷体_GB2312" pitchFamily="49" charset="-122"/>
                  <a:ea typeface="楷体_GB2312" pitchFamily="49" charset="-122"/>
                </a:rPr>
                <a:t>恢复 </a:t>
              </a:r>
            </a:p>
          </p:txBody>
        </p:sp>
        <p:sp>
          <p:nvSpPr>
            <p:cNvPr id="439307" name="Text Box 11"/>
            <p:cNvSpPr txBox="1">
              <a:spLocks noChangeArrowheads="1"/>
            </p:cNvSpPr>
            <p:nvPr/>
          </p:nvSpPr>
          <p:spPr bwMode="auto">
            <a:xfrm>
              <a:off x="880" y="2812"/>
              <a:ext cx="1274" cy="28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spAutoFit/>
            </a:bodyPr>
            <a:lstStyle/>
            <a:p>
              <a:r>
                <a:rPr lang="zh-CN" altLang="en-US" sz="2400" b="1">
                  <a:solidFill>
                    <a:srgbClr val="003399"/>
                  </a:solidFill>
                  <a:latin typeface="楷体_GB2312" pitchFamily="49" charset="-122"/>
                  <a:ea typeface="楷体_GB2312" pitchFamily="49" charset="-122"/>
                </a:rPr>
                <a:t>重装后援副本</a:t>
              </a:r>
            </a:p>
          </p:txBody>
        </p:sp>
        <p:sp>
          <p:nvSpPr>
            <p:cNvPr id="439308" name="Text Box 12"/>
            <p:cNvSpPr txBox="1">
              <a:spLocks noChangeArrowheads="1"/>
            </p:cNvSpPr>
            <p:nvPr/>
          </p:nvSpPr>
          <p:spPr bwMode="auto">
            <a:xfrm>
              <a:off x="3152" y="2812"/>
              <a:ext cx="1274" cy="28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spAutoFit/>
            </a:bodyPr>
            <a:lstStyle/>
            <a:p>
              <a:r>
                <a:rPr lang="zh-CN" altLang="en-US" sz="2400" b="1">
                  <a:solidFill>
                    <a:srgbClr val="003399"/>
                  </a:solidFill>
                  <a:latin typeface="楷体_GB2312" pitchFamily="49" charset="-122"/>
                  <a:ea typeface="楷体_GB2312" pitchFamily="49" charset="-122"/>
                </a:rPr>
                <a:t>重新运行事务</a:t>
              </a:r>
            </a:p>
          </p:txBody>
        </p:sp>
      </p:grpSp>
      <p:grpSp>
        <p:nvGrpSpPr>
          <p:cNvPr id="439309" name="Group 13"/>
          <p:cNvGrpSpPr/>
          <p:nvPr/>
        </p:nvGrpSpPr>
        <p:grpSpPr bwMode="auto">
          <a:xfrm>
            <a:off x="395288" y="2287588"/>
            <a:ext cx="8355012" cy="2005012"/>
            <a:chOff x="249" y="1218"/>
            <a:chExt cx="5263" cy="1263"/>
          </a:xfrm>
        </p:grpSpPr>
        <p:sp>
          <p:nvSpPr>
            <p:cNvPr id="439310" name="Line 14"/>
            <p:cNvSpPr>
              <a:spLocks noChangeShapeType="1"/>
            </p:cNvSpPr>
            <p:nvPr/>
          </p:nvSpPr>
          <p:spPr bwMode="auto">
            <a:xfrm>
              <a:off x="1302" y="1840"/>
              <a:ext cx="3755" cy="0"/>
            </a:xfrm>
            <a:prstGeom prst="line">
              <a:avLst/>
            </a:prstGeom>
            <a:noFill/>
            <a:ln w="28575">
              <a:solidFill>
                <a:schemeClr val="bg2"/>
              </a:solidFill>
              <a:round/>
            </a:ln>
            <a:effectLst>
              <a:outerShdw dist="28398" dir="1593903"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39311" name="Line 15"/>
            <p:cNvSpPr>
              <a:spLocks noChangeShapeType="1"/>
            </p:cNvSpPr>
            <p:nvPr/>
          </p:nvSpPr>
          <p:spPr bwMode="auto">
            <a:xfrm>
              <a:off x="1427" y="1575"/>
              <a:ext cx="0" cy="530"/>
            </a:xfrm>
            <a:prstGeom prst="line">
              <a:avLst/>
            </a:prstGeom>
            <a:noFill/>
            <a:ln w="28575">
              <a:solidFill>
                <a:schemeClr val="bg2"/>
              </a:solidFill>
              <a:round/>
            </a:ln>
            <a:effectLst>
              <a:outerShdw dist="28398" dir="1593903"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39312" name="Line 16"/>
            <p:cNvSpPr>
              <a:spLocks noChangeShapeType="1"/>
            </p:cNvSpPr>
            <p:nvPr/>
          </p:nvSpPr>
          <p:spPr bwMode="auto">
            <a:xfrm>
              <a:off x="2804" y="1575"/>
              <a:ext cx="0" cy="530"/>
            </a:xfrm>
            <a:prstGeom prst="line">
              <a:avLst/>
            </a:prstGeom>
            <a:noFill/>
            <a:ln w="28575">
              <a:solidFill>
                <a:schemeClr val="bg2"/>
              </a:solidFill>
              <a:round/>
            </a:ln>
            <a:effectLst>
              <a:outerShdw dist="28398" dir="1593903"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39313" name="Text Box 17"/>
            <p:cNvSpPr txBox="1">
              <a:spLocks noChangeArrowheads="1"/>
            </p:cNvSpPr>
            <p:nvPr/>
          </p:nvSpPr>
          <p:spPr bwMode="auto">
            <a:xfrm>
              <a:off x="249" y="1632"/>
              <a:ext cx="985" cy="28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spAutoFit/>
            </a:bodyPr>
            <a:lstStyle/>
            <a:p>
              <a:r>
                <a:rPr lang="zh-CN" altLang="en-US" sz="2400" b="1">
                  <a:solidFill>
                    <a:schemeClr val="bg2"/>
                  </a:solidFill>
                  <a:latin typeface="楷体_GB2312" pitchFamily="49" charset="-122"/>
                  <a:ea typeface="楷体_GB2312" pitchFamily="49" charset="-122"/>
                </a:rPr>
                <a:t>运行正常 </a:t>
              </a:r>
            </a:p>
          </p:txBody>
        </p:sp>
        <p:sp>
          <p:nvSpPr>
            <p:cNvPr id="439314" name="Text Box 18"/>
            <p:cNvSpPr txBox="1">
              <a:spLocks noChangeArrowheads="1"/>
            </p:cNvSpPr>
            <p:nvPr/>
          </p:nvSpPr>
          <p:spPr bwMode="auto">
            <a:xfrm>
              <a:off x="1746" y="1218"/>
              <a:ext cx="599" cy="28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spAutoFit/>
            </a:bodyPr>
            <a:lstStyle/>
            <a:p>
              <a:r>
                <a:rPr lang="zh-CN" altLang="en-US" sz="2400" b="1">
                  <a:solidFill>
                    <a:srgbClr val="003399"/>
                  </a:solidFill>
                  <a:latin typeface="楷体_GB2312" pitchFamily="49" charset="-122"/>
                  <a:ea typeface="楷体_GB2312" pitchFamily="49" charset="-122"/>
                </a:rPr>
                <a:t>转储 </a:t>
              </a:r>
            </a:p>
          </p:txBody>
        </p:sp>
        <p:sp>
          <p:nvSpPr>
            <p:cNvPr id="439315" name="Text Box 19"/>
            <p:cNvSpPr txBox="1">
              <a:spLocks noChangeArrowheads="1"/>
            </p:cNvSpPr>
            <p:nvPr/>
          </p:nvSpPr>
          <p:spPr bwMode="auto">
            <a:xfrm>
              <a:off x="3016" y="1218"/>
              <a:ext cx="985" cy="28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spAutoFit/>
            </a:bodyPr>
            <a:lstStyle/>
            <a:p>
              <a:r>
                <a:rPr lang="zh-CN" altLang="en-US" sz="2400" b="1">
                  <a:solidFill>
                    <a:schemeClr val="bg2"/>
                  </a:solidFill>
                  <a:latin typeface="楷体_GB2312" pitchFamily="49" charset="-122"/>
                  <a:ea typeface="楷体_GB2312" pitchFamily="49" charset="-122"/>
                </a:rPr>
                <a:t>运行事务 </a:t>
              </a:r>
            </a:p>
          </p:txBody>
        </p:sp>
        <p:sp>
          <p:nvSpPr>
            <p:cNvPr id="439316" name="Text Box 20"/>
            <p:cNvSpPr txBox="1">
              <a:spLocks noChangeArrowheads="1"/>
            </p:cNvSpPr>
            <p:nvPr/>
          </p:nvSpPr>
          <p:spPr bwMode="auto">
            <a:xfrm>
              <a:off x="4334" y="1218"/>
              <a:ext cx="1178" cy="28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spAutoFit/>
            </a:bodyPr>
            <a:lstStyle/>
            <a:p>
              <a:r>
                <a:rPr lang="zh-CN" altLang="en-US" sz="2400" b="1">
                  <a:solidFill>
                    <a:schemeClr val="bg2"/>
                  </a:solidFill>
                  <a:latin typeface="楷体_GB2312" pitchFamily="49" charset="-122"/>
                  <a:ea typeface="楷体_GB2312" pitchFamily="49" charset="-122"/>
                </a:rPr>
                <a:t>故障发生点 </a:t>
              </a:r>
            </a:p>
          </p:txBody>
        </p:sp>
        <p:sp>
          <p:nvSpPr>
            <p:cNvPr id="439317" name="Text Box 21"/>
            <p:cNvSpPr txBox="1">
              <a:spLocks noChangeArrowheads="1"/>
            </p:cNvSpPr>
            <p:nvPr/>
          </p:nvSpPr>
          <p:spPr bwMode="auto">
            <a:xfrm>
              <a:off x="1273" y="2193"/>
              <a:ext cx="310" cy="28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spAutoFit/>
            </a:bodyPr>
            <a:lstStyle/>
            <a:p>
              <a:r>
                <a:rPr lang="en-US" altLang="zh-CN" sz="2400" b="1">
                  <a:solidFill>
                    <a:schemeClr val="bg2"/>
                  </a:solidFill>
                  <a:latin typeface="楷体_GB2312" pitchFamily="49" charset="-122"/>
                  <a:ea typeface="楷体_GB2312" pitchFamily="49" charset="-122"/>
                </a:rPr>
                <a:t>Ta</a:t>
              </a:r>
              <a:endParaRPr lang="zh-CN" altLang="en-US" sz="2400" b="1">
                <a:solidFill>
                  <a:schemeClr val="bg2"/>
                </a:solidFill>
                <a:latin typeface="楷体_GB2312" pitchFamily="49" charset="-122"/>
                <a:ea typeface="楷体_GB2312" pitchFamily="49" charset="-122"/>
              </a:endParaRPr>
            </a:p>
          </p:txBody>
        </p:sp>
        <p:sp>
          <p:nvSpPr>
            <p:cNvPr id="439318" name="Text Box 22"/>
            <p:cNvSpPr txBox="1">
              <a:spLocks noChangeArrowheads="1"/>
            </p:cNvSpPr>
            <p:nvPr/>
          </p:nvSpPr>
          <p:spPr bwMode="auto">
            <a:xfrm>
              <a:off x="2643" y="2175"/>
              <a:ext cx="310" cy="28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spAutoFit/>
            </a:bodyPr>
            <a:lstStyle/>
            <a:p>
              <a:r>
                <a:rPr lang="en-US" altLang="zh-CN" sz="2400" b="1">
                  <a:solidFill>
                    <a:schemeClr val="bg2"/>
                  </a:solidFill>
                  <a:latin typeface="楷体_GB2312" pitchFamily="49" charset="-122"/>
                  <a:ea typeface="楷体_GB2312" pitchFamily="49" charset="-122"/>
                </a:rPr>
                <a:t>Tb</a:t>
              </a:r>
              <a:endParaRPr lang="zh-CN" altLang="en-US" sz="2400" b="1">
                <a:solidFill>
                  <a:schemeClr val="bg2"/>
                </a:solidFill>
                <a:latin typeface="楷体_GB2312" pitchFamily="49" charset="-122"/>
                <a:ea typeface="楷体_GB2312" pitchFamily="49" charset="-122"/>
              </a:endParaRPr>
            </a:p>
          </p:txBody>
        </p:sp>
        <p:sp>
          <p:nvSpPr>
            <p:cNvPr id="439319" name="Text Box 23"/>
            <p:cNvSpPr txBox="1">
              <a:spLocks noChangeArrowheads="1"/>
            </p:cNvSpPr>
            <p:nvPr/>
          </p:nvSpPr>
          <p:spPr bwMode="auto">
            <a:xfrm>
              <a:off x="4747" y="2175"/>
              <a:ext cx="310" cy="28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spAutoFit/>
            </a:bodyPr>
            <a:lstStyle/>
            <a:p>
              <a:r>
                <a:rPr lang="en-US" altLang="zh-CN" sz="2400" b="1">
                  <a:solidFill>
                    <a:schemeClr val="bg2"/>
                  </a:solidFill>
                  <a:latin typeface="楷体_GB2312" pitchFamily="49" charset="-122"/>
                  <a:ea typeface="楷体_GB2312" pitchFamily="49" charset="-122"/>
                </a:rPr>
                <a:t>Tf</a:t>
              </a:r>
              <a:endParaRPr lang="zh-CN" altLang="en-US" sz="2400" b="1">
                <a:solidFill>
                  <a:schemeClr val="bg2"/>
                </a:solidFill>
                <a:latin typeface="楷体_GB2312" pitchFamily="49" charset="-122"/>
                <a:ea typeface="楷体_GB2312" pitchFamily="49" charset="-122"/>
              </a:endParaRPr>
            </a:p>
          </p:txBody>
        </p:sp>
        <p:sp>
          <p:nvSpPr>
            <p:cNvPr id="439320" name="Line 24"/>
            <p:cNvSpPr>
              <a:spLocks noChangeShapeType="1"/>
            </p:cNvSpPr>
            <p:nvPr/>
          </p:nvSpPr>
          <p:spPr bwMode="auto">
            <a:xfrm>
              <a:off x="4921" y="1632"/>
              <a:ext cx="0" cy="505"/>
            </a:xfrm>
            <a:prstGeom prst="line">
              <a:avLst/>
            </a:prstGeom>
            <a:noFill/>
            <a:ln w="28575" cap="sq">
              <a:solidFill>
                <a:schemeClr val="bg2"/>
              </a:solidFill>
              <a:round/>
              <a:headEnd type="none" w="sm" len="sm"/>
              <a:tailEnd type="triangle" w="lg" len="med"/>
            </a:ln>
            <a:effectLst>
              <a:outerShdw dist="28398" dir="1593903"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0234"/>
    </mc:Choice>
    <mc:Fallback xmlns="">
      <p:transition spd="slow" advTm="5023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39309"/>
                                        </p:tgtEl>
                                        <p:attrNameLst>
                                          <p:attrName>style.visibility</p:attrName>
                                        </p:attrNameLst>
                                      </p:cBhvr>
                                      <p:to>
                                        <p:strVal val="visible"/>
                                      </p:to>
                                    </p:set>
                                    <p:animEffect transition="in" filter="wipe(left)">
                                      <p:cBhvr>
                                        <p:cTn id="7" dur="1000"/>
                                        <p:tgtEl>
                                          <p:spTgt spid="43930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39301"/>
                                        </p:tgtEl>
                                        <p:attrNameLst>
                                          <p:attrName>style.visibility</p:attrName>
                                        </p:attrNameLst>
                                      </p:cBhvr>
                                      <p:to>
                                        <p:strVal val="visible"/>
                                      </p:to>
                                    </p:set>
                                    <p:animEffect transition="in" filter="wipe(left)">
                                      <p:cBhvr>
                                        <p:cTn id="12" dur="1000"/>
                                        <p:tgtEl>
                                          <p:spTgt spid="439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0363" name="Group 29"/>
          <p:cNvGrpSpPr/>
          <p:nvPr/>
        </p:nvGrpSpPr>
        <p:grpSpPr bwMode="auto">
          <a:xfrm>
            <a:off x="1989138" y="1219200"/>
            <a:ext cx="1771650" cy="1770063"/>
            <a:chOff x="1307" y="1048"/>
            <a:chExt cx="1088" cy="1088"/>
          </a:xfrm>
        </p:grpSpPr>
        <p:sp>
          <p:nvSpPr>
            <p:cNvPr id="440364" name="Oval 30"/>
            <p:cNvSpPr>
              <a:spLocks noChangeArrowheads="1"/>
            </p:cNvSpPr>
            <p:nvPr/>
          </p:nvSpPr>
          <p:spPr bwMode="auto">
            <a:xfrm>
              <a:off x="1307" y="1048"/>
              <a:ext cx="1088" cy="1088"/>
            </a:xfrm>
            <a:prstGeom prst="ellipse">
              <a:avLst/>
            </a:prstGeom>
            <a:noFill/>
            <a:ln w="76200" algn="ctr">
              <a:solidFill>
                <a:srgbClr val="C0C0C0">
                  <a:alpha val="50195"/>
                </a:srgbClr>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440365" name="Oval 31"/>
            <p:cNvSpPr>
              <a:spLocks noChangeArrowheads="1"/>
            </p:cNvSpPr>
            <p:nvPr/>
          </p:nvSpPr>
          <p:spPr bwMode="auto">
            <a:xfrm>
              <a:off x="1422" y="1164"/>
              <a:ext cx="856" cy="856"/>
            </a:xfrm>
            <a:prstGeom prst="ellipse">
              <a:avLst/>
            </a:prstGeom>
            <a:noFill/>
            <a:ln w="117475" algn="ctr">
              <a:solidFill>
                <a:srgbClr val="C0C0C0">
                  <a:alpha val="50195"/>
                </a:srgbClr>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440366" name="Oval 32"/>
            <p:cNvSpPr>
              <a:spLocks noChangeArrowheads="1"/>
            </p:cNvSpPr>
            <p:nvPr/>
          </p:nvSpPr>
          <p:spPr bwMode="auto">
            <a:xfrm>
              <a:off x="1596" y="1337"/>
              <a:ext cx="510" cy="510"/>
            </a:xfrm>
            <a:prstGeom prst="ellipse">
              <a:avLst/>
            </a:prstGeom>
            <a:noFill/>
            <a:ln w="177800" algn="ctr">
              <a:solidFill>
                <a:srgbClr val="C0C0C0">
                  <a:alpha val="50195"/>
                </a:srgbClr>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grpSp>
      <p:grpSp>
        <p:nvGrpSpPr>
          <p:cNvPr id="440367" name="Group 33"/>
          <p:cNvGrpSpPr/>
          <p:nvPr/>
        </p:nvGrpSpPr>
        <p:grpSpPr bwMode="auto">
          <a:xfrm>
            <a:off x="2509838" y="1350963"/>
            <a:ext cx="1208087" cy="1454150"/>
            <a:chOff x="1380" y="1216"/>
            <a:chExt cx="898" cy="1081"/>
          </a:xfrm>
        </p:grpSpPr>
        <p:sp>
          <p:nvSpPr>
            <p:cNvPr id="440368" name="Oval 34"/>
            <p:cNvSpPr>
              <a:spLocks noChangeArrowheads="1"/>
            </p:cNvSpPr>
            <p:nvPr/>
          </p:nvSpPr>
          <p:spPr bwMode="blackWhite">
            <a:xfrm rot="66259" flipH="1">
              <a:off x="1727" y="1216"/>
              <a:ext cx="234" cy="228"/>
            </a:xfrm>
            <a:prstGeom prst="ellipse">
              <a:avLst/>
            </a:prstGeom>
            <a:solidFill>
              <a:srgbClr val="FEE3AC"/>
            </a:solidFill>
            <a:ln w="9525">
              <a:round/>
            </a:ln>
            <a:scene3d>
              <a:camera prst="legacyPerspectiveFront">
                <a:rot lat="20099998" lon="1500000" rev="0"/>
              </a:camera>
              <a:lightRig rig="legacyFlat2" dir="t"/>
            </a:scene3d>
            <a:sp3d extrusionH="100000" prstMaterial="legacyMetal">
              <a:bevelT w="13500" h="13500" prst="angle"/>
              <a:bevelB w="13500" h="13500" prst="angle"/>
              <a:extrusionClr>
                <a:srgbClr val="FFB219"/>
              </a:extrusionClr>
              <a:contourClr>
                <a:srgbClr val="FEE3AC"/>
              </a:contourClr>
            </a:sp3d>
          </p:spPr>
          <p:txBody>
            <a:bodyPr wrap="none" anchor="ctr">
              <a:flatTx/>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440369" name="Freeform 35"/>
            <p:cNvSpPr/>
            <p:nvPr/>
          </p:nvSpPr>
          <p:spPr bwMode="blackWhite">
            <a:xfrm rot="66259" flipH="1">
              <a:off x="1380" y="1223"/>
              <a:ext cx="898" cy="1074"/>
            </a:xfrm>
            <a:custGeom>
              <a:avLst/>
              <a:gdLst>
                <a:gd name="T0" fmla="*/ 1376 w 3312"/>
                <a:gd name="T1" fmla="*/ 696 h 3962"/>
                <a:gd name="T2" fmla="*/ 1639 w 3312"/>
                <a:gd name="T3" fmla="*/ 920 h 3962"/>
                <a:gd name="T4" fmla="*/ 1926 w 3312"/>
                <a:gd name="T5" fmla="*/ 708 h 3962"/>
                <a:gd name="T6" fmla="*/ 2940 w 3312"/>
                <a:gd name="T7" fmla="*/ 66 h 3962"/>
                <a:gd name="T8" fmla="*/ 3204 w 3312"/>
                <a:gd name="T9" fmla="*/ 78 h 3962"/>
                <a:gd name="T10" fmla="*/ 3072 w 3312"/>
                <a:gd name="T11" fmla="*/ 444 h 3962"/>
                <a:gd name="T12" fmla="*/ 2139 w 3312"/>
                <a:gd name="T13" fmla="*/ 1081 h 3962"/>
                <a:gd name="T14" fmla="*/ 2476 w 3312"/>
                <a:gd name="T15" fmla="*/ 2372 h 3962"/>
                <a:gd name="T16" fmla="*/ 2251 w 3312"/>
                <a:gd name="T17" fmla="*/ 2435 h 3962"/>
                <a:gd name="T18" fmla="*/ 2614 w 3312"/>
                <a:gd name="T19" fmla="*/ 3589 h 3962"/>
                <a:gd name="T20" fmla="*/ 2539 w 3312"/>
                <a:gd name="T21" fmla="*/ 3925 h 3962"/>
                <a:gd name="T22" fmla="*/ 2226 w 3312"/>
                <a:gd name="T23" fmla="*/ 3689 h 3962"/>
                <a:gd name="T24" fmla="*/ 1789 w 3312"/>
                <a:gd name="T25" fmla="*/ 2534 h 3962"/>
                <a:gd name="T26" fmla="*/ 1414 w 3312"/>
                <a:gd name="T27" fmla="*/ 2534 h 3962"/>
                <a:gd name="T28" fmla="*/ 1051 w 3312"/>
                <a:gd name="T29" fmla="*/ 3689 h 3962"/>
                <a:gd name="T30" fmla="*/ 789 w 3312"/>
                <a:gd name="T31" fmla="*/ 3925 h 3962"/>
                <a:gd name="T32" fmla="*/ 676 w 3312"/>
                <a:gd name="T33" fmla="*/ 3577 h 3962"/>
                <a:gd name="T34" fmla="*/ 1001 w 3312"/>
                <a:gd name="T35" fmla="*/ 2459 h 3962"/>
                <a:gd name="T36" fmla="*/ 751 w 3312"/>
                <a:gd name="T37" fmla="*/ 2397 h 3962"/>
                <a:gd name="T38" fmla="*/ 1126 w 3312"/>
                <a:gd name="T39" fmla="*/ 1081 h 3962"/>
                <a:gd name="T40" fmla="*/ 139 w 3312"/>
                <a:gd name="T41" fmla="*/ 497 h 3962"/>
                <a:gd name="T42" fmla="*/ 60 w 3312"/>
                <a:gd name="T43" fmla="*/ 180 h 3962"/>
                <a:gd name="T44" fmla="*/ 389 w 3312"/>
                <a:gd name="T45" fmla="*/ 162 h 3962"/>
                <a:gd name="T46" fmla="*/ 1376 w 3312"/>
                <a:gd name="T47" fmla="*/ 696 h 396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312"/>
                <a:gd name="T73" fmla="*/ 0 h 3962"/>
                <a:gd name="T74" fmla="*/ 3312 w 3312"/>
                <a:gd name="T75" fmla="*/ 3962 h 396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312" h="3962">
                  <a:moveTo>
                    <a:pt x="1376" y="696"/>
                  </a:moveTo>
                  <a:cubicBezTo>
                    <a:pt x="1401" y="795"/>
                    <a:pt x="1489" y="920"/>
                    <a:pt x="1639" y="920"/>
                  </a:cubicBezTo>
                  <a:cubicBezTo>
                    <a:pt x="1801" y="920"/>
                    <a:pt x="1876" y="795"/>
                    <a:pt x="1926" y="708"/>
                  </a:cubicBezTo>
                  <a:lnTo>
                    <a:pt x="2940" y="66"/>
                  </a:lnTo>
                  <a:cubicBezTo>
                    <a:pt x="3042" y="0"/>
                    <a:pt x="3142" y="16"/>
                    <a:pt x="3204" y="78"/>
                  </a:cubicBezTo>
                  <a:cubicBezTo>
                    <a:pt x="3267" y="140"/>
                    <a:pt x="3312" y="264"/>
                    <a:pt x="3072" y="444"/>
                  </a:cubicBezTo>
                  <a:lnTo>
                    <a:pt x="2139" y="1081"/>
                  </a:lnTo>
                  <a:lnTo>
                    <a:pt x="2476" y="2372"/>
                  </a:lnTo>
                  <a:lnTo>
                    <a:pt x="2251" y="2435"/>
                  </a:lnTo>
                  <a:lnTo>
                    <a:pt x="2614" y="3589"/>
                  </a:lnTo>
                  <a:cubicBezTo>
                    <a:pt x="2651" y="3751"/>
                    <a:pt x="2639" y="3863"/>
                    <a:pt x="2539" y="3925"/>
                  </a:cubicBezTo>
                  <a:cubicBezTo>
                    <a:pt x="2401" y="3962"/>
                    <a:pt x="2289" y="3863"/>
                    <a:pt x="2226" y="3689"/>
                  </a:cubicBezTo>
                  <a:cubicBezTo>
                    <a:pt x="2101" y="3453"/>
                    <a:pt x="1876" y="2720"/>
                    <a:pt x="1789" y="2534"/>
                  </a:cubicBezTo>
                  <a:lnTo>
                    <a:pt x="1414" y="2534"/>
                  </a:lnTo>
                  <a:cubicBezTo>
                    <a:pt x="1339" y="2770"/>
                    <a:pt x="1151" y="3465"/>
                    <a:pt x="1051" y="3689"/>
                  </a:cubicBezTo>
                  <a:cubicBezTo>
                    <a:pt x="1001" y="3838"/>
                    <a:pt x="914" y="3950"/>
                    <a:pt x="789" y="3925"/>
                  </a:cubicBezTo>
                  <a:cubicBezTo>
                    <a:pt x="714" y="3875"/>
                    <a:pt x="614" y="3838"/>
                    <a:pt x="676" y="3577"/>
                  </a:cubicBezTo>
                  <a:lnTo>
                    <a:pt x="1001" y="2459"/>
                  </a:lnTo>
                  <a:lnTo>
                    <a:pt x="751" y="2397"/>
                  </a:lnTo>
                  <a:lnTo>
                    <a:pt x="1126" y="1081"/>
                  </a:lnTo>
                  <a:lnTo>
                    <a:pt x="139" y="497"/>
                  </a:lnTo>
                  <a:cubicBezTo>
                    <a:pt x="54" y="402"/>
                    <a:pt x="0" y="342"/>
                    <a:pt x="60" y="180"/>
                  </a:cubicBezTo>
                  <a:cubicBezTo>
                    <a:pt x="186" y="102"/>
                    <a:pt x="214" y="112"/>
                    <a:pt x="389" y="162"/>
                  </a:cubicBezTo>
                  <a:lnTo>
                    <a:pt x="1376" y="696"/>
                  </a:lnTo>
                  <a:close/>
                </a:path>
              </a:pathLst>
            </a:custGeom>
            <a:solidFill>
              <a:srgbClr val="FEE3AC"/>
            </a:solidFill>
            <a:ln w="9525">
              <a:round/>
            </a:ln>
            <a:scene3d>
              <a:camera prst="legacyPerspectiveFront">
                <a:rot lat="20099998" lon="1500000" rev="0"/>
              </a:camera>
              <a:lightRig rig="legacyFlat2" dir="t"/>
            </a:scene3d>
            <a:sp3d extrusionH="100000" prstMaterial="legacyMetal">
              <a:bevelT w="13500" h="13500" prst="angle"/>
              <a:bevelB w="13500" h="13500" prst="angle"/>
              <a:extrusionClr>
                <a:srgbClr val="FFB219"/>
              </a:extrusionClr>
              <a:contourClr>
                <a:srgbClr val="FEE3AC"/>
              </a:contourClr>
            </a:sp3d>
          </p:spPr>
          <p:txBody>
            <a:bodyPr>
              <a:flatTx/>
            </a:bodyPr>
            <a:lstStyle/>
            <a:p>
              <a:endParaRPr lang="zh-CN" altLang="en-US"/>
            </a:p>
          </p:txBody>
        </p:sp>
      </p:grpSp>
      <p:sp>
        <p:nvSpPr>
          <p:cNvPr id="440322" name="Rectangle 2"/>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二、数据库故障的基本恢复方式</a:t>
            </a:r>
          </a:p>
        </p:txBody>
      </p:sp>
      <p:sp>
        <p:nvSpPr>
          <p:cNvPr id="216100" name="AutoShape 36"/>
          <p:cNvSpPr>
            <a:spLocks noChangeArrowheads="1"/>
          </p:cNvSpPr>
          <p:nvPr/>
        </p:nvSpPr>
        <p:spPr bwMode="gray">
          <a:xfrm>
            <a:off x="692150" y="2497138"/>
            <a:ext cx="3519488" cy="3308350"/>
          </a:xfrm>
          <a:prstGeom prst="flowChartDocument">
            <a:avLst/>
          </a:prstGeom>
          <a:solidFill>
            <a:srgbClr val="D5DFCB"/>
          </a:solidFill>
          <a:ln w="19050" algn="ctr">
            <a:noFill/>
            <a:miter lim="800000"/>
          </a:ln>
          <a:effectLst>
            <a:outerShdw dist="35921" dir="2700000" algn="ctr" rotWithShape="0">
              <a:srgbClr val="1C1C1C">
                <a:alpha val="50000"/>
              </a:srgbClr>
            </a:outerShdw>
          </a:effectLst>
        </p:spPr>
        <p:txBody>
          <a:bodyPr wrap="none" anchor="ctr"/>
          <a:lstStyle/>
          <a:p>
            <a:pPr>
              <a:defRPr/>
            </a:pPr>
            <a:endParaRPr lang="zh-CN" altLang="en-US"/>
          </a:p>
        </p:txBody>
      </p:sp>
      <p:grpSp>
        <p:nvGrpSpPr>
          <p:cNvPr id="440383" name="Group 63"/>
          <p:cNvGrpSpPr/>
          <p:nvPr/>
        </p:nvGrpSpPr>
        <p:grpSpPr bwMode="auto">
          <a:xfrm>
            <a:off x="685800" y="2246313"/>
            <a:ext cx="3525838" cy="677862"/>
            <a:chOff x="432" y="1415"/>
            <a:chExt cx="2221" cy="427"/>
          </a:xfrm>
        </p:grpSpPr>
        <p:sp>
          <p:nvSpPr>
            <p:cNvPr id="440347" name="AutoShape 41"/>
            <p:cNvSpPr>
              <a:spLocks noChangeArrowheads="1"/>
            </p:cNvSpPr>
            <p:nvPr/>
          </p:nvSpPr>
          <p:spPr bwMode="gray">
            <a:xfrm>
              <a:off x="432" y="1415"/>
              <a:ext cx="2221" cy="427"/>
            </a:xfrm>
            <a:prstGeom prst="bevel">
              <a:avLst>
                <a:gd name="adj" fmla="val 9569"/>
              </a:avLst>
            </a:prstGeom>
            <a:solidFill>
              <a:srgbClr val="A5BB8F"/>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440350" name="Text Box 45"/>
            <p:cNvSpPr txBox="1">
              <a:spLocks noChangeArrowheads="1"/>
            </p:cNvSpPr>
            <p:nvPr/>
          </p:nvSpPr>
          <p:spPr bwMode="auto">
            <a:xfrm>
              <a:off x="433" y="1434"/>
              <a:ext cx="217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kumimoji="0" lang="zh-CN" altLang="en-US" sz="2800" b="1">
                  <a:solidFill>
                    <a:srgbClr val="CC3300"/>
                  </a:solidFill>
                  <a:effectLst>
                    <a:outerShdw blurRad="38100" dist="38100" dir="2700000" algn="tl">
                      <a:srgbClr val="C0C0C0"/>
                    </a:outerShdw>
                  </a:effectLst>
                  <a:latin typeface="Arial" panose="020B0604020202020204" pitchFamily="34" charset="0"/>
                </a:rPr>
                <a:t>静态转储</a:t>
              </a:r>
            </a:p>
          </p:txBody>
        </p:sp>
      </p:grpSp>
      <p:grpSp>
        <p:nvGrpSpPr>
          <p:cNvPr id="440351" name="Group 46"/>
          <p:cNvGrpSpPr/>
          <p:nvPr/>
        </p:nvGrpSpPr>
        <p:grpSpPr bwMode="auto">
          <a:xfrm>
            <a:off x="1373188" y="2930525"/>
            <a:ext cx="1684337" cy="1363663"/>
            <a:chOff x="3014" y="806"/>
            <a:chExt cx="1304" cy="1104"/>
          </a:xfrm>
        </p:grpSpPr>
        <p:sp>
          <p:nvSpPr>
            <p:cNvPr id="440352" name="AutoShape 47"/>
            <p:cNvSpPr>
              <a:spLocks noChangeArrowheads="1"/>
            </p:cNvSpPr>
            <p:nvPr/>
          </p:nvSpPr>
          <p:spPr bwMode="gray">
            <a:xfrm>
              <a:off x="3014" y="806"/>
              <a:ext cx="1304" cy="1104"/>
            </a:xfrm>
            <a:prstGeom prst="upArrow">
              <a:avLst>
                <a:gd name="adj1" fmla="val 39880"/>
                <a:gd name="adj2" fmla="val 54074"/>
              </a:avLst>
            </a:prstGeom>
            <a:noFill/>
            <a:ln w="76200" algn="ctr">
              <a:solidFill>
                <a:srgbClr val="FFFFFF">
                  <a:alpha val="50195"/>
                </a:srgbClr>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440353" name="AutoShape 48"/>
            <p:cNvSpPr>
              <a:spLocks noChangeArrowheads="1"/>
            </p:cNvSpPr>
            <p:nvPr/>
          </p:nvSpPr>
          <p:spPr bwMode="gray">
            <a:xfrm>
              <a:off x="3243" y="942"/>
              <a:ext cx="847" cy="868"/>
            </a:xfrm>
            <a:prstGeom prst="upArrow">
              <a:avLst>
                <a:gd name="adj1" fmla="val 40731"/>
                <a:gd name="adj2" fmla="val 44038"/>
              </a:avLst>
            </a:prstGeom>
            <a:solidFill>
              <a:srgbClr val="FFFFFF">
                <a:alpha val="3882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grpSp>
      <p:sp>
        <p:nvSpPr>
          <p:cNvPr id="440354" name="Rectangle 49"/>
          <p:cNvSpPr>
            <a:spLocks noChangeArrowheads="1"/>
          </p:cNvSpPr>
          <p:nvPr/>
        </p:nvSpPr>
        <p:spPr bwMode="black">
          <a:xfrm>
            <a:off x="798513" y="2997200"/>
            <a:ext cx="3125787"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14300" indent="-1143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20000"/>
              </a:spcBef>
              <a:buClr>
                <a:schemeClr val="folHlink"/>
              </a:buClr>
              <a:buSzPct val="60000"/>
              <a:buFont typeface="Wingdings" panose="05000000000000000000" pitchFamily="2" charset="2"/>
              <a:buNone/>
            </a:pPr>
            <a:r>
              <a:rPr kumimoji="0" lang="zh-CN" altLang="en-US" sz="2800" b="1">
                <a:solidFill>
                  <a:srgbClr val="006666"/>
                </a:solidFill>
                <a:effectLst>
                  <a:outerShdw blurRad="38100" dist="38100" dir="2700000" algn="tl">
                    <a:srgbClr val="C0C0C0"/>
                  </a:outerShdw>
                </a:effectLst>
                <a:latin typeface="Tahoma" panose="020B0604030504040204" pitchFamily="34" charset="0"/>
                <a:ea typeface="楷体_GB2312" pitchFamily="49" charset="-122"/>
              </a:rPr>
              <a:t>① 静态转储：</a:t>
            </a:r>
            <a:r>
              <a:rPr kumimoji="0" lang="zh-CN" altLang="en-US" sz="2800" b="1">
                <a:latin typeface="Tahoma" panose="020B0604030504040204" pitchFamily="34" charset="0"/>
                <a:ea typeface="楷体_GB2312" pitchFamily="49" charset="-122"/>
              </a:rPr>
              <a:t>指在系统中无运行事务时进行的转储操作。</a:t>
            </a:r>
            <a:endParaRPr kumimoji="0" lang="en-US" altLang="zh-CN" sz="2800" b="1">
              <a:solidFill>
                <a:srgbClr val="000000"/>
              </a:solidFill>
              <a:latin typeface="Tahoma" panose="020B0604030504040204" pitchFamily="34" charset="0"/>
              <a:ea typeface="楷体_GB2312" pitchFamily="49" charset="-122"/>
            </a:endParaRPr>
          </a:p>
        </p:txBody>
      </p:sp>
      <p:grpSp>
        <p:nvGrpSpPr>
          <p:cNvPr id="440381" name="Group 61"/>
          <p:cNvGrpSpPr/>
          <p:nvPr/>
        </p:nvGrpSpPr>
        <p:grpSpPr bwMode="auto">
          <a:xfrm>
            <a:off x="4643438" y="1844675"/>
            <a:ext cx="4319587" cy="1584325"/>
            <a:chOff x="2925" y="1162"/>
            <a:chExt cx="2721" cy="998"/>
          </a:xfrm>
        </p:grpSpPr>
        <p:sp>
          <p:nvSpPr>
            <p:cNvPr id="440374" name="AutoShape 5"/>
            <p:cNvSpPr>
              <a:spLocks noChangeArrowheads="1"/>
            </p:cNvSpPr>
            <p:nvPr/>
          </p:nvSpPr>
          <p:spPr bwMode="auto">
            <a:xfrm>
              <a:off x="2925" y="1162"/>
              <a:ext cx="2676" cy="998"/>
            </a:xfrm>
            <a:prstGeom prst="roundRect">
              <a:avLst>
                <a:gd name="adj" fmla="val 16667"/>
              </a:avLst>
            </a:prstGeom>
            <a:solidFill>
              <a:srgbClr val="DDDDDD"/>
            </a:solidFill>
            <a:ln w="12700">
              <a:solidFill>
                <a:srgbClr val="808080"/>
              </a:solidFill>
              <a:round/>
            </a:ln>
            <a:effectLst/>
            <a:extLst>
              <a:ext uri="{AF507438-7753-43E0-B8FC-AC1667EBCBE1}">
                <a14:hiddenEffects xmlns:a14="http://schemas.microsoft.com/office/drawing/2010/main">
                  <a:effectLst>
                    <a:outerShdw dist="35921" dir="2700000" algn="ctr" rotWithShape="0">
                      <a:schemeClr val="tx2">
                        <a:alpha val="50000"/>
                      </a:schemeClr>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440375" name="AutoShape 6"/>
            <p:cNvSpPr>
              <a:spLocks noChangeArrowheads="1"/>
            </p:cNvSpPr>
            <p:nvPr/>
          </p:nvSpPr>
          <p:spPr bwMode="auto">
            <a:xfrm>
              <a:off x="2936" y="1175"/>
              <a:ext cx="2644" cy="406"/>
            </a:xfrm>
            <a:prstGeom prst="roundRect">
              <a:avLst>
                <a:gd name="adj" fmla="val 34829"/>
              </a:avLst>
            </a:prstGeom>
            <a:gradFill rotWithShape="1">
              <a:gsLst>
                <a:gs pos="0">
                  <a:srgbClr val="FFFFFF"/>
                </a:gs>
                <a:gs pos="100000">
                  <a:srgbClr val="DDDDDD"/>
                </a:gs>
              </a:gsLst>
              <a:lin ang="54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17961" dir="13500000" algn="ctr" rotWithShape="0">
                      <a:srgbClr val="999999"/>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440377" name="Rectangle 57"/>
            <p:cNvSpPr>
              <a:spLocks noChangeArrowheads="1"/>
            </p:cNvSpPr>
            <p:nvPr/>
          </p:nvSpPr>
          <p:spPr bwMode="auto">
            <a:xfrm>
              <a:off x="2970" y="1382"/>
              <a:ext cx="2676"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solidFill>
                    <a:srgbClr val="660033"/>
                  </a:solidFill>
                  <a:effectLst>
                    <a:outerShdw blurRad="38100" dist="38100" dir="2700000" algn="tl">
                      <a:srgbClr val="C0C0C0"/>
                    </a:outerShdw>
                  </a:effectLst>
                  <a:latin typeface="Tahoma" panose="020B0604030504040204" pitchFamily="34" charset="0"/>
                  <a:ea typeface="楷体_GB2312" pitchFamily="49" charset="-122"/>
                </a:rPr>
                <a:t>优点：</a:t>
              </a:r>
              <a:r>
                <a:rPr lang="zh-CN" altLang="en-US" sz="2800" b="1">
                  <a:solidFill>
                    <a:srgbClr val="000000"/>
                  </a:solidFill>
                  <a:latin typeface="Tahoma" panose="020B0604030504040204" pitchFamily="34" charset="0"/>
                  <a:ea typeface="楷体_GB2312" pitchFamily="49" charset="-122"/>
                </a:rPr>
                <a:t>简单，可得到满足数据一致性的后援副本；</a:t>
              </a:r>
            </a:p>
          </p:txBody>
        </p:sp>
      </p:grpSp>
      <p:grpSp>
        <p:nvGrpSpPr>
          <p:cNvPr id="440382" name="Group 62"/>
          <p:cNvGrpSpPr/>
          <p:nvPr/>
        </p:nvGrpSpPr>
        <p:grpSpPr bwMode="auto">
          <a:xfrm>
            <a:off x="4643438" y="3716338"/>
            <a:ext cx="4319587" cy="1584325"/>
            <a:chOff x="2925" y="2341"/>
            <a:chExt cx="2721" cy="998"/>
          </a:xfrm>
        </p:grpSpPr>
        <p:sp>
          <p:nvSpPr>
            <p:cNvPr id="440378" name="AutoShape 5"/>
            <p:cNvSpPr>
              <a:spLocks noChangeArrowheads="1"/>
            </p:cNvSpPr>
            <p:nvPr/>
          </p:nvSpPr>
          <p:spPr bwMode="auto">
            <a:xfrm>
              <a:off x="2925" y="2341"/>
              <a:ext cx="2676" cy="998"/>
            </a:xfrm>
            <a:prstGeom prst="roundRect">
              <a:avLst>
                <a:gd name="adj" fmla="val 16667"/>
              </a:avLst>
            </a:prstGeom>
            <a:solidFill>
              <a:srgbClr val="DDDDDD"/>
            </a:solidFill>
            <a:ln w="12700">
              <a:solidFill>
                <a:srgbClr val="808080"/>
              </a:solidFill>
              <a:round/>
            </a:ln>
            <a:effectLst/>
            <a:extLst>
              <a:ext uri="{AF507438-7753-43E0-B8FC-AC1667EBCBE1}">
                <a14:hiddenEffects xmlns:a14="http://schemas.microsoft.com/office/drawing/2010/main">
                  <a:effectLst>
                    <a:outerShdw dist="35921" dir="2700000" algn="ctr" rotWithShape="0">
                      <a:schemeClr val="tx2">
                        <a:alpha val="50000"/>
                      </a:schemeClr>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440379" name="AutoShape 6"/>
            <p:cNvSpPr>
              <a:spLocks noChangeArrowheads="1"/>
            </p:cNvSpPr>
            <p:nvPr/>
          </p:nvSpPr>
          <p:spPr bwMode="auto">
            <a:xfrm>
              <a:off x="2936" y="2354"/>
              <a:ext cx="2644" cy="406"/>
            </a:xfrm>
            <a:prstGeom prst="roundRect">
              <a:avLst>
                <a:gd name="adj" fmla="val 34829"/>
              </a:avLst>
            </a:prstGeom>
            <a:gradFill rotWithShape="1">
              <a:gsLst>
                <a:gs pos="0">
                  <a:srgbClr val="FFFFFF"/>
                </a:gs>
                <a:gs pos="100000">
                  <a:srgbClr val="DDDDDD"/>
                </a:gs>
              </a:gsLst>
              <a:lin ang="54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17961" dir="13500000" algn="ctr" rotWithShape="0">
                      <a:srgbClr val="999999"/>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440380" name="Rectangle 60"/>
            <p:cNvSpPr>
              <a:spLocks noChangeArrowheads="1"/>
            </p:cNvSpPr>
            <p:nvPr/>
          </p:nvSpPr>
          <p:spPr bwMode="auto">
            <a:xfrm>
              <a:off x="2970" y="2561"/>
              <a:ext cx="2676"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solidFill>
                    <a:srgbClr val="660033"/>
                  </a:solidFill>
                  <a:effectLst>
                    <a:outerShdw blurRad="38100" dist="38100" dir="2700000" algn="tl">
                      <a:srgbClr val="C0C0C0"/>
                    </a:outerShdw>
                  </a:effectLst>
                  <a:latin typeface="Tahoma" panose="020B0604030504040204" pitchFamily="34" charset="0"/>
                  <a:ea typeface="楷体_GB2312" pitchFamily="49" charset="-122"/>
                </a:rPr>
                <a:t>存在问题：</a:t>
              </a:r>
              <a:r>
                <a:rPr lang="zh-CN" altLang="en-US" sz="2800" b="1">
                  <a:solidFill>
                    <a:srgbClr val="000000"/>
                  </a:solidFill>
                  <a:latin typeface="Tahoma" panose="020B0604030504040204" pitchFamily="34" charset="0"/>
                  <a:ea typeface="楷体_GB2312" pitchFamily="49" charset="-122"/>
                </a:rPr>
                <a:t>降低了数据库的可用性。</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4296"/>
    </mc:Choice>
    <mc:Fallback xmlns="">
      <p:transition spd="slow" advTm="4429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440383"/>
                                        </p:tgtEl>
                                        <p:attrNameLst>
                                          <p:attrName>style.visibility</p:attrName>
                                        </p:attrNameLst>
                                      </p:cBhvr>
                                      <p:to>
                                        <p:strVal val="visible"/>
                                      </p:to>
                                    </p:set>
                                    <p:animEffect transition="in" filter="fade">
                                      <p:cBhvr>
                                        <p:cTn id="7" dur="500"/>
                                        <p:tgtEl>
                                          <p:spTgt spid="440383"/>
                                        </p:tgtEl>
                                      </p:cBhvr>
                                    </p:animEffect>
                                    <p:anim calcmode="lin" valueType="num">
                                      <p:cBhvr>
                                        <p:cTn id="8" dur="500" fill="hold"/>
                                        <p:tgtEl>
                                          <p:spTgt spid="440383"/>
                                        </p:tgtEl>
                                        <p:attrNameLst>
                                          <p:attrName>ppt_x</p:attrName>
                                        </p:attrNameLst>
                                      </p:cBhvr>
                                      <p:tavLst>
                                        <p:tav tm="0">
                                          <p:val>
                                            <p:strVal val="#ppt_x"/>
                                          </p:val>
                                        </p:tav>
                                        <p:tav tm="100000">
                                          <p:val>
                                            <p:strVal val="#ppt_x"/>
                                          </p:val>
                                        </p:tav>
                                      </p:tavLst>
                                    </p:anim>
                                    <p:anim calcmode="lin" valueType="num">
                                      <p:cBhvr>
                                        <p:cTn id="9" dur="500" fill="hold"/>
                                        <p:tgtEl>
                                          <p:spTgt spid="44038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1" fill="hold" grpId="0" nodeType="afterEffect">
                                  <p:stCondLst>
                                    <p:cond delay="0"/>
                                  </p:stCondLst>
                                  <p:childTnLst>
                                    <p:set>
                                      <p:cBhvr>
                                        <p:cTn id="12" dur="1" fill="hold">
                                          <p:stCondLst>
                                            <p:cond delay="0"/>
                                          </p:stCondLst>
                                        </p:cTn>
                                        <p:tgtEl>
                                          <p:spTgt spid="216100"/>
                                        </p:tgtEl>
                                        <p:attrNameLst>
                                          <p:attrName>style.visibility</p:attrName>
                                        </p:attrNameLst>
                                      </p:cBhvr>
                                      <p:to>
                                        <p:strVal val="visible"/>
                                      </p:to>
                                    </p:set>
                                    <p:animEffect transition="in" filter="wipe(up)">
                                      <p:cBhvr>
                                        <p:cTn id="13" dur="500"/>
                                        <p:tgtEl>
                                          <p:spTgt spid="216100"/>
                                        </p:tgtEl>
                                      </p:cBhvr>
                                    </p:animEffect>
                                  </p:childTnLst>
                                </p:cTn>
                              </p:par>
                            </p:childTnLst>
                          </p:cTn>
                        </p:par>
                        <p:par>
                          <p:cTn id="14" fill="hold">
                            <p:stCondLst>
                              <p:cond delay="1000"/>
                            </p:stCondLst>
                            <p:childTnLst>
                              <p:par>
                                <p:cTn id="15" presetID="42" presetClass="entr" presetSubtype="0" fill="hold" nodeType="afterEffect">
                                  <p:stCondLst>
                                    <p:cond delay="0"/>
                                  </p:stCondLst>
                                  <p:childTnLst>
                                    <p:set>
                                      <p:cBhvr>
                                        <p:cTn id="16" dur="1" fill="hold">
                                          <p:stCondLst>
                                            <p:cond delay="0"/>
                                          </p:stCondLst>
                                        </p:cTn>
                                        <p:tgtEl>
                                          <p:spTgt spid="440367"/>
                                        </p:tgtEl>
                                        <p:attrNameLst>
                                          <p:attrName>style.visibility</p:attrName>
                                        </p:attrNameLst>
                                      </p:cBhvr>
                                      <p:to>
                                        <p:strVal val="visible"/>
                                      </p:to>
                                    </p:set>
                                    <p:animEffect transition="in" filter="fade">
                                      <p:cBhvr>
                                        <p:cTn id="17" dur="500"/>
                                        <p:tgtEl>
                                          <p:spTgt spid="440367"/>
                                        </p:tgtEl>
                                      </p:cBhvr>
                                    </p:animEffect>
                                    <p:anim calcmode="lin" valueType="num">
                                      <p:cBhvr>
                                        <p:cTn id="18" dur="500" fill="hold"/>
                                        <p:tgtEl>
                                          <p:spTgt spid="440367"/>
                                        </p:tgtEl>
                                        <p:attrNameLst>
                                          <p:attrName>ppt_x</p:attrName>
                                        </p:attrNameLst>
                                      </p:cBhvr>
                                      <p:tavLst>
                                        <p:tav tm="0">
                                          <p:val>
                                            <p:strVal val="#ppt_x"/>
                                          </p:val>
                                        </p:tav>
                                        <p:tav tm="100000">
                                          <p:val>
                                            <p:strVal val="#ppt_x"/>
                                          </p:val>
                                        </p:tav>
                                      </p:tavLst>
                                    </p:anim>
                                    <p:anim calcmode="lin" valueType="num">
                                      <p:cBhvr>
                                        <p:cTn id="19" dur="500" fill="hold"/>
                                        <p:tgtEl>
                                          <p:spTgt spid="440367"/>
                                        </p:tgtEl>
                                        <p:attrNameLst>
                                          <p:attrName>ppt_y</p:attrName>
                                        </p:attrNameLst>
                                      </p:cBhvr>
                                      <p:tavLst>
                                        <p:tav tm="0">
                                          <p:val>
                                            <p:strVal val="#ppt_y+.1"/>
                                          </p:val>
                                        </p:tav>
                                        <p:tav tm="100000">
                                          <p:val>
                                            <p:strVal val="#ppt_y"/>
                                          </p:val>
                                        </p:tav>
                                      </p:tavLst>
                                    </p:anim>
                                  </p:childTnLst>
                                </p:cTn>
                              </p:par>
                            </p:childTnLst>
                          </p:cTn>
                        </p:par>
                        <p:par>
                          <p:cTn id="20" fill="hold">
                            <p:stCondLst>
                              <p:cond delay="1500"/>
                            </p:stCondLst>
                            <p:childTnLst>
                              <p:par>
                                <p:cTn id="21" presetID="53" presetClass="entr" presetSubtype="16" fill="hold" nodeType="afterEffect">
                                  <p:stCondLst>
                                    <p:cond delay="0"/>
                                  </p:stCondLst>
                                  <p:childTnLst>
                                    <p:set>
                                      <p:cBhvr>
                                        <p:cTn id="22" dur="1" fill="hold">
                                          <p:stCondLst>
                                            <p:cond delay="0"/>
                                          </p:stCondLst>
                                        </p:cTn>
                                        <p:tgtEl>
                                          <p:spTgt spid="440363"/>
                                        </p:tgtEl>
                                        <p:attrNameLst>
                                          <p:attrName>style.visibility</p:attrName>
                                        </p:attrNameLst>
                                      </p:cBhvr>
                                      <p:to>
                                        <p:strVal val="visible"/>
                                      </p:to>
                                    </p:set>
                                    <p:anim calcmode="lin" valueType="num">
                                      <p:cBhvr>
                                        <p:cTn id="23" dur="500" fill="hold"/>
                                        <p:tgtEl>
                                          <p:spTgt spid="440363"/>
                                        </p:tgtEl>
                                        <p:attrNameLst>
                                          <p:attrName>ppt_w</p:attrName>
                                        </p:attrNameLst>
                                      </p:cBhvr>
                                      <p:tavLst>
                                        <p:tav tm="0">
                                          <p:val>
                                            <p:fltVal val="0"/>
                                          </p:val>
                                        </p:tav>
                                        <p:tav tm="100000">
                                          <p:val>
                                            <p:strVal val="#ppt_w"/>
                                          </p:val>
                                        </p:tav>
                                      </p:tavLst>
                                    </p:anim>
                                    <p:anim calcmode="lin" valueType="num">
                                      <p:cBhvr>
                                        <p:cTn id="24" dur="500" fill="hold"/>
                                        <p:tgtEl>
                                          <p:spTgt spid="440363"/>
                                        </p:tgtEl>
                                        <p:attrNameLst>
                                          <p:attrName>ppt_h</p:attrName>
                                        </p:attrNameLst>
                                      </p:cBhvr>
                                      <p:tavLst>
                                        <p:tav tm="0">
                                          <p:val>
                                            <p:fltVal val="0"/>
                                          </p:val>
                                        </p:tav>
                                        <p:tav tm="100000">
                                          <p:val>
                                            <p:strVal val="#ppt_h"/>
                                          </p:val>
                                        </p:tav>
                                      </p:tavLst>
                                    </p:anim>
                                    <p:animEffect transition="in" filter="fade">
                                      <p:cBhvr>
                                        <p:cTn id="25" dur="500"/>
                                        <p:tgtEl>
                                          <p:spTgt spid="44036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440354"/>
                                        </p:tgtEl>
                                        <p:attrNameLst>
                                          <p:attrName>style.visibility</p:attrName>
                                        </p:attrNameLst>
                                      </p:cBhvr>
                                      <p:to>
                                        <p:strVal val="visible"/>
                                      </p:to>
                                    </p:set>
                                    <p:animEffect transition="in" filter="wipe(up)">
                                      <p:cBhvr>
                                        <p:cTn id="30" dur="500"/>
                                        <p:tgtEl>
                                          <p:spTgt spid="440354"/>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40381"/>
                                        </p:tgtEl>
                                        <p:attrNameLst>
                                          <p:attrName>style.visibility</p:attrName>
                                        </p:attrNameLst>
                                      </p:cBhvr>
                                      <p:to>
                                        <p:strVal val="visible"/>
                                      </p:to>
                                    </p:set>
                                    <p:anim calcmode="lin" valueType="num">
                                      <p:cBhvr additive="base">
                                        <p:cTn id="35" dur="500" fill="hold"/>
                                        <p:tgtEl>
                                          <p:spTgt spid="440381"/>
                                        </p:tgtEl>
                                        <p:attrNameLst>
                                          <p:attrName>ppt_x</p:attrName>
                                        </p:attrNameLst>
                                      </p:cBhvr>
                                      <p:tavLst>
                                        <p:tav tm="0">
                                          <p:val>
                                            <p:strVal val="#ppt_x"/>
                                          </p:val>
                                        </p:tav>
                                        <p:tav tm="100000">
                                          <p:val>
                                            <p:strVal val="#ppt_x"/>
                                          </p:val>
                                        </p:tav>
                                      </p:tavLst>
                                    </p:anim>
                                    <p:anim calcmode="lin" valueType="num">
                                      <p:cBhvr additive="base">
                                        <p:cTn id="36" dur="500" fill="hold"/>
                                        <p:tgtEl>
                                          <p:spTgt spid="440381"/>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440382"/>
                                        </p:tgtEl>
                                        <p:attrNameLst>
                                          <p:attrName>style.visibility</p:attrName>
                                        </p:attrNameLst>
                                      </p:cBhvr>
                                      <p:to>
                                        <p:strVal val="visible"/>
                                      </p:to>
                                    </p:set>
                                    <p:anim calcmode="lin" valueType="num">
                                      <p:cBhvr additive="base">
                                        <p:cTn id="41" dur="500" fill="hold"/>
                                        <p:tgtEl>
                                          <p:spTgt spid="440382"/>
                                        </p:tgtEl>
                                        <p:attrNameLst>
                                          <p:attrName>ppt_x</p:attrName>
                                        </p:attrNameLst>
                                      </p:cBhvr>
                                      <p:tavLst>
                                        <p:tav tm="0">
                                          <p:val>
                                            <p:strVal val="#ppt_x"/>
                                          </p:val>
                                        </p:tav>
                                        <p:tav tm="100000">
                                          <p:val>
                                            <p:strVal val="#ppt_x"/>
                                          </p:val>
                                        </p:tav>
                                      </p:tavLst>
                                    </p:anim>
                                    <p:anim calcmode="lin" valueType="num">
                                      <p:cBhvr additive="base">
                                        <p:cTn id="42" dur="500" fill="hold"/>
                                        <p:tgtEl>
                                          <p:spTgt spid="4403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100" grpId="0" animBg="1"/>
      <p:bldP spid="44035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6683" name="Group 43"/>
          <p:cNvGrpSpPr/>
          <p:nvPr/>
        </p:nvGrpSpPr>
        <p:grpSpPr bwMode="auto">
          <a:xfrm>
            <a:off x="4859338" y="2616200"/>
            <a:ext cx="3678237" cy="3332163"/>
            <a:chOff x="3061" y="1648"/>
            <a:chExt cx="2317" cy="2099"/>
          </a:xfrm>
        </p:grpSpPr>
        <p:sp>
          <p:nvSpPr>
            <p:cNvPr id="216104" name="AutoShape 40"/>
            <p:cNvSpPr>
              <a:spLocks noChangeArrowheads="1"/>
            </p:cNvSpPr>
            <p:nvPr/>
          </p:nvSpPr>
          <p:spPr bwMode="gray">
            <a:xfrm>
              <a:off x="3061" y="1648"/>
              <a:ext cx="2317" cy="2099"/>
            </a:xfrm>
            <a:prstGeom prst="flowChartDocument">
              <a:avLst/>
            </a:prstGeom>
            <a:solidFill>
              <a:srgbClr val="D9C1D7"/>
            </a:solidFill>
            <a:ln w="19050" algn="ctr">
              <a:noFill/>
              <a:miter lim="800000"/>
            </a:ln>
            <a:effectLst>
              <a:outerShdw dist="35921" dir="2700000" algn="ctr" rotWithShape="0">
                <a:srgbClr val="1C1C1C">
                  <a:alpha val="50000"/>
                </a:srgbClr>
              </a:outerShdw>
            </a:effectLst>
          </p:spPr>
          <p:txBody>
            <a:bodyPr wrap="none" anchor="ctr"/>
            <a:lstStyle/>
            <a:p>
              <a:pPr>
                <a:defRPr/>
              </a:pPr>
              <a:endParaRPr lang="zh-CN" altLang="en-US"/>
            </a:p>
          </p:txBody>
        </p:sp>
        <p:grpSp>
          <p:nvGrpSpPr>
            <p:cNvPr id="496667" name="Group 50"/>
            <p:cNvGrpSpPr/>
            <p:nvPr/>
          </p:nvGrpSpPr>
          <p:grpSpPr bwMode="auto">
            <a:xfrm flipV="1">
              <a:off x="3897" y="2004"/>
              <a:ext cx="1056" cy="859"/>
              <a:chOff x="3014" y="806"/>
              <a:chExt cx="1304" cy="1104"/>
            </a:xfrm>
          </p:grpSpPr>
          <p:sp>
            <p:nvSpPr>
              <p:cNvPr id="496668" name="AutoShape 51"/>
              <p:cNvSpPr>
                <a:spLocks noChangeArrowheads="1"/>
              </p:cNvSpPr>
              <p:nvPr/>
            </p:nvSpPr>
            <p:spPr bwMode="gray">
              <a:xfrm>
                <a:off x="3014" y="806"/>
                <a:ext cx="1304" cy="1104"/>
              </a:xfrm>
              <a:prstGeom prst="upArrow">
                <a:avLst>
                  <a:gd name="adj1" fmla="val 39880"/>
                  <a:gd name="adj2" fmla="val 54074"/>
                </a:avLst>
              </a:prstGeom>
              <a:noFill/>
              <a:ln w="76200" algn="ctr">
                <a:solidFill>
                  <a:srgbClr val="FFFFFF">
                    <a:alpha val="50195"/>
                  </a:srgbClr>
                </a:solidFill>
                <a:miter lim="800000"/>
              </a:ln>
              <a:extLst>
                <a:ext uri="{909E8E84-426E-40DD-AFC4-6F175D3DCCD1}">
                  <a14:hiddenFill xmlns:a14="http://schemas.microsoft.com/office/drawing/2010/main">
                    <a:solidFill>
                      <a:srgbClr val="FFFFFF"/>
                    </a:solidFill>
                  </a14:hiddenFill>
                </a:ext>
              </a:extLst>
            </p:spPr>
            <p:txBody>
              <a:bodyPr rot="10800000"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496669" name="AutoShape 52"/>
              <p:cNvSpPr>
                <a:spLocks noChangeArrowheads="1"/>
              </p:cNvSpPr>
              <p:nvPr/>
            </p:nvSpPr>
            <p:spPr bwMode="gray">
              <a:xfrm>
                <a:off x="3243" y="942"/>
                <a:ext cx="847" cy="868"/>
              </a:xfrm>
              <a:prstGeom prst="upArrow">
                <a:avLst>
                  <a:gd name="adj1" fmla="val 40731"/>
                  <a:gd name="adj2" fmla="val 44038"/>
                </a:avLst>
              </a:prstGeom>
              <a:solidFill>
                <a:srgbClr val="FFFFFF">
                  <a:alpha val="3882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grpSp>
      </p:grpSp>
      <p:grpSp>
        <p:nvGrpSpPr>
          <p:cNvPr id="496642" name="Group 25"/>
          <p:cNvGrpSpPr/>
          <p:nvPr/>
        </p:nvGrpSpPr>
        <p:grpSpPr bwMode="auto">
          <a:xfrm>
            <a:off x="6838950" y="1268413"/>
            <a:ext cx="1770063" cy="1771650"/>
            <a:chOff x="1307" y="1048"/>
            <a:chExt cx="1088" cy="1088"/>
          </a:xfrm>
        </p:grpSpPr>
        <p:sp>
          <p:nvSpPr>
            <p:cNvPr id="496643" name="Oval 26"/>
            <p:cNvSpPr>
              <a:spLocks noChangeArrowheads="1"/>
            </p:cNvSpPr>
            <p:nvPr/>
          </p:nvSpPr>
          <p:spPr bwMode="auto">
            <a:xfrm>
              <a:off x="1307" y="1048"/>
              <a:ext cx="1088" cy="1088"/>
            </a:xfrm>
            <a:prstGeom prst="ellipse">
              <a:avLst/>
            </a:prstGeom>
            <a:noFill/>
            <a:ln w="76200" algn="ctr">
              <a:solidFill>
                <a:srgbClr val="C0C0C0">
                  <a:alpha val="50195"/>
                </a:srgbClr>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496644" name="Oval 27"/>
            <p:cNvSpPr>
              <a:spLocks noChangeArrowheads="1"/>
            </p:cNvSpPr>
            <p:nvPr/>
          </p:nvSpPr>
          <p:spPr bwMode="auto">
            <a:xfrm>
              <a:off x="1422" y="1164"/>
              <a:ext cx="856" cy="856"/>
            </a:xfrm>
            <a:prstGeom prst="ellipse">
              <a:avLst/>
            </a:prstGeom>
            <a:noFill/>
            <a:ln w="117475" algn="ctr">
              <a:solidFill>
                <a:srgbClr val="C0C0C0">
                  <a:alpha val="50195"/>
                </a:srgbClr>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496645" name="Oval 28"/>
            <p:cNvSpPr>
              <a:spLocks noChangeArrowheads="1"/>
            </p:cNvSpPr>
            <p:nvPr/>
          </p:nvSpPr>
          <p:spPr bwMode="auto">
            <a:xfrm>
              <a:off x="1596" y="1337"/>
              <a:ext cx="510" cy="510"/>
            </a:xfrm>
            <a:prstGeom prst="ellipse">
              <a:avLst/>
            </a:prstGeom>
            <a:noFill/>
            <a:ln w="177800" algn="ctr">
              <a:solidFill>
                <a:srgbClr val="C0C0C0">
                  <a:alpha val="50195"/>
                </a:srgbClr>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grpSp>
      <p:grpSp>
        <p:nvGrpSpPr>
          <p:cNvPr id="496653" name="Group 37"/>
          <p:cNvGrpSpPr/>
          <p:nvPr/>
        </p:nvGrpSpPr>
        <p:grpSpPr bwMode="auto">
          <a:xfrm>
            <a:off x="7570788" y="1479550"/>
            <a:ext cx="1003300" cy="1428750"/>
            <a:chOff x="4876" y="1969"/>
            <a:chExt cx="746" cy="1061"/>
          </a:xfrm>
        </p:grpSpPr>
        <p:sp>
          <p:nvSpPr>
            <p:cNvPr id="496654" name="Oval 38"/>
            <p:cNvSpPr>
              <a:spLocks noChangeArrowheads="1"/>
            </p:cNvSpPr>
            <p:nvPr/>
          </p:nvSpPr>
          <p:spPr bwMode="blackWhite">
            <a:xfrm rot="381936" flipH="1">
              <a:off x="5093" y="1969"/>
              <a:ext cx="230" cy="225"/>
            </a:xfrm>
            <a:prstGeom prst="ellipse">
              <a:avLst/>
            </a:prstGeom>
            <a:solidFill>
              <a:srgbClr val="FEE3AC"/>
            </a:solidFill>
            <a:ln w="9525">
              <a:round/>
            </a:ln>
            <a:scene3d>
              <a:camera prst="legacyPerspectiveFront">
                <a:rot lat="20099998" lon="1500000" rev="0"/>
              </a:camera>
              <a:lightRig rig="legacyFlat2" dir="t"/>
            </a:scene3d>
            <a:sp3d extrusionH="100000" prstMaterial="legacyMetal">
              <a:bevelT w="13500" h="13500" prst="angle"/>
              <a:bevelB w="13500" h="13500" prst="angle"/>
              <a:extrusionClr>
                <a:srgbClr val="FFB219"/>
              </a:extrusionClr>
              <a:contourClr>
                <a:srgbClr val="FEE3AC"/>
              </a:contourClr>
            </a:sp3d>
          </p:spPr>
          <p:txBody>
            <a:bodyPr wrap="none" anchor="ctr">
              <a:flatTx/>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496655" name="Freeform 39"/>
            <p:cNvSpPr/>
            <p:nvPr/>
          </p:nvSpPr>
          <p:spPr bwMode="blackWhite">
            <a:xfrm>
              <a:off x="4876" y="2140"/>
              <a:ext cx="746" cy="890"/>
            </a:xfrm>
            <a:custGeom>
              <a:avLst/>
              <a:gdLst>
                <a:gd name="T0" fmla="*/ 440 w 746"/>
                <a:gd name="T1" fmla="*/ 32 h 890"/>
                <a:gd name="T2" fmla="*/ 352 w 746"/>
                <a:gd name="T3" fmla="*/ 74 h 890"/>
                <a:gd name="T4" fmla="*/ 283 w 746"/>
                <a:gd name="T5" fmla="*/ 0 h 890"/>
                <a:gd name="T6" fmla="*/ 224 w 746"/>
                <a:gd name="T7" fmla="*/ 37 h 890"/>
                <a:gd name="T8" fmla="*/ 42 w 746"/>
                <a:gd name="T9" fmla="*/ 273 h 890"/>
                <a:gd name="T10" fmla="*/ 75 w 746"/>
                <a:gd name="T11" fmla="*/ 363 h 890"/>
                <a:gd name="T12" fmla="*/ 216 w 746"/>
                <a:gd name="T13" fmla="*/ 91 h 890"/>
                <a:gd name="T14" fmla="*/ 87 w 746"/>
                <a:gd name="T15" fmla="*/ 426 h 890"/>
                <a:gd name="T16" fmla="*/ 145 w 746"/>
                <a:gd name="T17" fmla="*/ 449 h 890"/>
                <a:gd name="T18" fmla="*/ 16 w 746"/>
                <a:gd name="T19" fmla="*/ 742 h 890"/>
                <a:gd name="T20" fmla="*/ 24 w 746"/>
                <a:gd name="T21" fmla="*/ 835 h 890"/>
                <a:gd name="T22" fmla="*/ 113 w 746"/>
                <a:gd name="T23" fmla="*/ 784 h 890"/>
                <a:gd name="T24" fmla="*/ 265 w 746"/>
                <a:gd name="T25" fmla="*/ 488 h 890"/>
                <a:gd name="T26" fmla="*/ 365 w 746"/>
                <a:gd name="T27" fmla="*/ 501 h 890"/>
                <a:gd name="T28" fmla="*/ 425 w 746"/>
                <a:gd name="T29" fmla="*/ 818 h 890"/>
                <a:gd name="T30" fmla="*/ 488 w 746"/>
                <a:gd name="T31" fmla="*/ 888 h 890"/>
                <a:gd name="T32" fmla="*/ 530 w 746"/>
                <a:gd name="T33" fmla="*/ 799 h 890"/>
                <a:gd name="T34" fmla="*/ 474 w 746"/>
                <a:gd name="T35" fmla="*/ 491 h 890"/>
                <a:gd name="T36" fmla="*/ 545 w 746"/>
                <a:gd name="T37" fmla="*/ 481 h 890"/>
                <a:gd name="T38" fmla="*/ 481 w 746"/>
                <a:gd name="T39" fmla="*/ 120 h 890"/>
                <a:gd name="T40" fmla="*/ 607 w 746"/>
                <a:gd name="T41" fmla="*/ 407 h 890"/>
                <a:gd name="T42" fmla="*/ 704 w 746"/>
                <a:gd name="T43" fmla="*/ 445 h 890"/>
                <a:gd name="T44" fmla="*/ 720 w 746"/>
                <a:gd name="T45" fmla="*/ 344 h 890"/>
                <a:gd name="T46" fmla="*/ 537 w 746"/>
                <a:gd name="T47" fmla="*/ 37 h 890"/>
                <a:gd name="T48" fmla="*/ 440 w 746"/>
                <a:gd name="T49" fmla="*/ 32 h 8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46"/>
                <a:gd name="T76" fmla="*/ 0 h 890"/>
                <a:gd name="T77" fmla="*/ 746 w 746"/>
                <a:gd name="T78" fmla="*/ 890 h 8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46" h="890">
                  <a:moveTo>
                    <a:pt x="440" y="32"/>
                  </a:moveTo>
                  <a:cubicBezTo>
                    <a:pt x="429" y="59"/>
                    <a:pt x="390" y="76"/>
                    <a:pt x="352" y="74"/>
                  </a:cubicBezTo>
                  <a:cubicBezTo>
                    <a:pt x="312" y="67"/>
                    <a:pt x="291" y="25"/>
                    <a:pt x="283" y="0"/>
                  </a:cubicBezTo>
                  <a:cubicBezTo>
                    <a:pt x="283" y="0"/>
                    <a:pt x="246" y="16"/>
                    <a:pt x="224" y="37"/>
                  </a:cubicBezTo>
                  <a:cubicBezTo>
                    <a:pt x="201" y="58"/>
                    <a:pt x="58" y="243"/>
                    <a:pt x="42" y="273"/>
                  </a:cubicBezTo>
                  <a:cubicBezTo>
                    <a:pt x="36" y="305"/>
                    <a:pt x="84" y="395"/>
                    <a:pt x="75" y="363"/>
                  </a:cubicBezTo>
                  <a:cubicBezTo>
                    <a:pt x="66" y="333"/>
                    <a:pt x="215" y="82"/>
                    <a:pt x="216" y="91"/>
                  </a:cubicBezTo>
                  <a:lnTo>
                    <a:pt x="87" y="426"/>
                  </a:lnTo>
                  <a:lnTo>
                    <a:pt x="145" y="449"/>
                  </a:lnTo>
                  <a:lnTo>
                    <a:pt x="16" y="742"/>
                  </a:lnTo>
                  <a:cubicBezTo>
                    <a:pt x="1" y="787"/>
                    <a:pt x="0" y="819"/>
                    <a:pt x="24" y="835"/>
                  </a:cubicBezTo>
                  <a:cubicBezTo>
                    <a:pt x="59" y="848"/>
                    <a:pt x="91" y="826"/>
                    <a:pt x="113" y="784"/>
                  </a:cubicBezTo>
                  <a:cubicBezTo>
                    <a:pt x="154" y="720"/>
                    <a:pt x="234" y="534"/>
                    <a:pt x="265" y="488"/>
                  </a:cubicBezTo>
                  <a:lnTo>
                    <a:pt x="365" y="501"/>
                  </a:lnTo>
                  <a:cubicBezTo>
                    <a:pt x="377" y="565"/>
                    <a:pt x="407" y="754"/>
                    <a:pt x="425" y="818"/>
                  </a:cubicBezTo>
                  <a:cubicBezTo>
                    <a:pt x="434" y="855"/>
                    <a:pt x="457" y="890"/>
                    <a:pt x="488" y="888"/>
                  </a:cubicBezTo>
                  <a:cubicBezTo>
                    <a:pt x="512" y="876"/>
                    <a:pt x="536" y="867"/>
                    <a:pt x="530" y="799"/>
                  </a:cubicBezTo>
                  <a:lnTo>
                    <a:pt x="474" y="491"/>
                  </a:lnTo>
                  <a:lnTo>
                    <a:pt x="545" y="481"/>
                  </a:lnTo>
                  <a:lnTo>
                    <a:pt x="481" y="120"/>
                  </a:lnTo>
                  <a:lnTo>
                    <a:pt x="607" y="407"/>
                  </a:lnTo>
                  <a:cubicBezTo>
                    <a:pt x="643" y="460"/>
                    <a:pt x="687" y="456"/>
                    <a:pt x="704" y="445"/>
                  </a:cubicBezTo>
                  <a:cubicBezTo>
                    <a:pt x="746" y="429"/>
                    <a:pt x="731" y="390"/>
                    <a:pt x="720" y="344"/>
                  </a:cubicBezTo>
                  <a:cubicBezTo>
                    <a:pt x="698" y="307"/>
                    <a:pt x="586" y="29"/>
                    <a:pt x="537" y="37"/>
                  </a:cubicBezTo>
                  <a:lnTo>
                    <a:pt x="440" y="32"/>
                  </a:lnTo>
                  <a:close/>
                </a:path>
              </a:pathLst>
            </a:custGeom>
            <a:solidFill>
              <a:srgbClr val="FEE3AC"/>
            </a:solidFill>
            <a:ln w="9525">
              <a:round/>
            </a:ln>
            <a:scene3d>
              <a:camera prst="legacyPerspectiveFront">
                <a:rot lat="20099998" lon="1500000" rev="0"/>
              </a:camera>
              <a:lightRig rig="legacyFlat2" dir="t"/>
            </a:scene3d>
            <a:sp3d extrusionH="100000" prstMaterial="legacyMetal">
              <a:bevelT w="13500" h="13500" prst="angle"/>
              <a:bevelB w="13500" h="13500" prst="angle"/>
              <a:extrusionClr>
                <a:srgbClr val="FFB219"/>
              </a:extrusionClr>
              <a:contourClr>
                <a:srgbClr val="FEE3AC"/>
              </a:contourClr>
            </a:sp3d>
          </p:spPr>
          <p:txBody>
            <a:bodyPr>
              <a:flatTx/>
            </a:bodyPr>
            <a:lstStyle/>
            <a:p>
              <a:endParaRPr lang="zh-CN" altLang="en-US"/>
            </a:p>
          </p:txBody>
        </p:sp>
      </p:grpSp>
      <p:sp>
        <p:nvSpPr>
          <p:cNvPr id="496656" name="Rectangle 16"/>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二、数据库故障的基本恢复方式</a:t>
            </a:r>
          </a:p>
        </p:txBody>
      </p:sp>
      <p:grpSp>
        <p:nvGrpSpPr>
          <p:cNvPr id="496682" name="Group 42"/>
          <p:cNvGrpSpPr/>
          <p:nvPr/>
        </p:nvGrpSpPr>
        <p:grpSpPr bwMode="auto">
          <a:xfrm>
            <a:off x="4859338" y="2374900"/>
            <a:ext cx="3703637" cy="687388"/>
            <a:chOff x="3061" y="1496"/>
            <a:chExt cx="2333" cy="433"/>
          </a:xfrm>
        </p:grpSpPr>
        <p:sp>
          <p:nvSpPr>
            <p:cNvPr id="496660" name="AutoShape 42"/>
            <p:cNvSpPr>
              <a:spLocks noChangeArrowheads="1"/>
            </p:cNvSpPr>
            <p:nvPr/>
          </p:nvSpPr>
          <p:spPr bwMode="gray">
            <a:xfrm>
              <a:off x="3061" y="1496"/>
              <a:ext cx="2333" cy="433"/>
            </a:xfrm>
            <a:prstGeom prst="bevel">
              <a:avLst>
                <a:gd name="adj" fmla="val 9569"/>
              </a:avLst>
            </a:prstGeom>
            <a:solidFill>
              <a:srgbClr val="BB8FB8"/>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496661" name="Text Box 44"/>
            <p:cNvSpPr txBox="1">
              <a:spLocks noChangeArrowheads="1"/>
            </p:cNvSpPr>
            <p:nvPr/>
          </p:nvSpPr>
          <p:spPr bwMode="auto">
            <a:xfrm>
              <a:off x="3061" y="1532"/>
              <a:ext cx="228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kumimoji="0" lang="zh-CN" altLang="en-US" sz="2800" b="1">
                  <a:solidFill>
                    <a:srgbClr val="660066"/>
                  </a:solidFill>
                  <a:latin typeface="Arial" panose="020B0604020202020204" pitchFamily="34" charset="0"/>
                </a:rPr>
                <a:t>动态转储</a:t>
              </a:r>
            </a:p>
          </p:txBody>
        </p:sp>
      </p:grpSp>
      <p:sp>
        <p:nvSpPr>
          <p:cNvPr id="496670" name="Rectangle 53"/>
          <p:cNvSpPr>
            <a:spLocks noChangeArrowheads="1"/>
          </p:cNvSpPr>
          <p:nvPr/>
        </p:nvSpPr>
        <p:spPr bwMode="black">
          <a:xfrm>
            <a:off x="4930775" y="3178175"/>
            <a:ext cx="3529013"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14300" indent="-1143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20000"/>
              </a:spcBef>
              <a:buClr>
                <a:schemeClr val="folHlink"/>
              </a:buClr>
              <a:buSzPct val="60000"/>
              <a:buFont typeface="Wingdings" panose="05000000000000000000" pitchFamily="2" charset="2"/>
              <a:buNone/>
            </a:pPr>
            <a:r>
              <a:rPr kumimoji="0" lang="zh-CN" altLang="en-US" sz="2800" b="1">
                <a:solidFill>
                  <a:srgbClr val="006666"/>
                </a:solidFill>
                <a:effectLst>
                  <a:outerShdw blurRad="38100" dist="38100" dir="2700000" algn="tl">
                    <a:srgbClr val="C0C0C0"/>
                  </a:outerShdw>
                </a:effectLst>
                <a:latin typeface="Tahoma" panose="020B0604030504040204" pitchFamily="34" charset="0"/>
                <a:ea typeface="楷体_GB2312" pitchFamily="49" charset="-122"/>
              </a:rPr>
              <a:t>② 动态转储：</a:t>
            </a:r>
            <a:r>
              <a:rPr kumimoji="0" lang="zh-CN" altLang="en-US" sz="2800" b="1">
                <a:latin typeface="Tahoma" panose="020B0604030504040204" pitchFamily="34" charset="0"/>
                <a:ea typeface="楷体_GB2312" pitchFamily="49" charset="-122"/>
              </a:rPr>
              <a:t>在转储期间允许用户对数据库进行更新操作的转储操作；</a:t>
            </a:r>
            <a:endParaRPr kumimoji="0" lang="en-US" altLang="zh-CN" sz="2800" b="1">
              <a:latin typeface="Tahoma" panose="020B0604030504040204" pitchFamily="34" charset="0"/>
              <a:ea typeface="楷体_GB2312" pitchFamily="49" charset="-122"/>
            </a:endParaRPr>
          </a:p>
        </p:txBody>
      </p:sp>
      <p:grpSp>
        <p:nvGrpSpPr>
          <p:cNvPr id="496671" name="Group 31"/>
          <p:cNvGrpSpPr/>
          <p:nvPr/>
        </p:nvGrpSpPr>
        <p:grpSpPr bwMode="auto">
          <a:xfrm>
            <a:off x="179388" y="1412875"/>
            <a:ext cx="4319587" cy="1584325"/>
            <a:chOff x="2925" y="1162"/>
            <a:chExt cx="2721" cy="998"/>
          </a:xfrm>
        </p:grpSpPr>
        <p:sp>
          <p:nvSpPr>
            <p:cNvPr id="496672" name="AutoShape 5"/>
            <p:cNvSpPr>
              <a:spLocks noChangeArrowheads="1"/>
            </p:cNvSpPr>
            <p:nvPr/>
          </p:nvSpPr>
          <p:spPr bwMode="auto">
            <a:xfrm>
              <a:off x="2925" y="1162"/>
              <a:ext cx="2676" cy="998"/>
            </a:xfrm>
            <a:prstGeom prst="roundRect">
              <a:avLst>
                <a:gd name="adj" fmla="val 16667"/>
              </a:avLst>
            </a:prstGeom>
            <a:solidFill>
              <a:srgbClr val="DDDDDD"/>
            </a:solidFill>
            <a:ln w="12700">
              <a:solidFill>
                <a:srgbClr val="808080"/>
              </a:solidFill>
              <a:round/>
            </a:ln>
            <a:effectLst/>
            <a:extLst>
              <a:ext uri="{AF507438-7753-43E0-B8FC-AC1667EBCBE1}">
                <a14:hiddenEffects xmlns:a14="http://schemas.microsoft.com/office/drawing/2010/main">
                  <a:effectLst>
                    <a:outerShdw dist="35921" dir="2700000" algn="ctr" rotWithShape="0">
                      <a:schemeClr val="tx2">
                        <a:alpha val="50000"/>
                      </a:schemeClr>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496673" name="AutoShape 6"/>
            <p:cNvSpPr>
              <a:spLocks noChangeArrowheads="1"/>
            </p:cNvSpPr>
            <p:nvPr/>
          </p:nvSpPr>
          <p:spPr bwMode="auto">
            <a:xfrm>
              <a:off x="2936" y="1175"/>
              <a:ext cx="2644" cy="406"/>
            </a:xfrm>
            <a:prstGeom prst="roundRect">
              <a:avLst>
                <a:gd name="adj" fmla="val 34829"/>
              </a:avLst>
            </a:prstGeom>
            <a:gradFill rotWithShape="1">
              <a:gsLst>
                <a:gs pos="0">
                  <a:srgbClr val="FFFFFF"/>
                </a:gs>
                <a:gs pos="100000">
                  <a:srgbClr val="DDDDDD"/>
                </a:gs>
              </a:gsLst>
              <a:lin ang="54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17961" dir="13500000" algn="ctr" rotWithShape="0">
                      <a:srgbClr val="999999"/>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496674" name="Rectangle 34"/>
            <p:cNvSpPr>
              <a:spLocks noChangeArrowheads="1"/>
            </p:cNvSpPr>
            <p:nvPr/>
          </p:nvSpPr>
          <p:spPr bwMode="auto">
            <a:xfrm>
              <a:off x="2970" y="1382"/>
              <a:ext cx="2676"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solidFill>
                    <a:srgbClr val="660033"/>
                  </a:solidFill>
                  <a:effectLst>
                    <a:outerShdw blurRad="38100" dist="38100" dir="2700000" algn="tl">
                      <a:srgbClr val="C0C0C0"/>
                    </a:outerShdw>
                  </a:effectLst>
                  <a:latin typeface="Tahoma" panose="020B0604030504040204" pitchFamily="34" charset="0"/>
                  <a:ea typeface="楷体_GB2312" pitchFamily="49" charset="-122"/>
                </a:rPr>
                <a:t>存在问题：</a:t>
              </a:r>
              <a:r>
                <a:rPr lang="zh-CN" altLang="en-US" sz="2800" b="1">
                  <a:solidFill>
                    <a:srgbClr val="000000"/>
                  </a:solidFill>
                  <a:latin typeface="Tahoma" panose="020B0604030504040204" pitchFamily="34" charset="0"/>
                  <a:ea typeface="楷体_GB2312" pitchFamily="49" charset="-122"/>
                </a:rPr>
                <a:t>后援副本的数据不能保证正确有效；</a:t>
              </a:r>
            </a:p>
          </p:txBody>
        </p:sp>
      </p:grpSp>
      <p:grpSp>
        <p:nvGrpSpPr>
          <p:cNvPr id="496681" name="Group 41"/>
          <p:cNvGrpSpPr/>
          <p:nvPr/>
        </p:nvGrpSpPr>
        <p:grpSpPr bwMode="auto">
          <a:xfrm>
            <a:off x="179388" y="3213100"/>
            <a:ext cx="4248150" cy="3240088"/>
            <a:chOff x="113" y="2024"/>
            <a:chExt cx="2676" cy="2041"/>
          </a:xfrm>
        </p:grpSpPr>
        <p:sp>
          <p:nvSpPr>
            <p:cNvPr id="496676" name="AutoShape 5"/>
            <p:cNvSpPr>
              <a:spLocks noChangeArrowheads="1"/>
            </p:cNvSpPr>
            <p:nvPr/>
          </p:nvSpPr>
          <p:spPr bwMode="auto">
            <a:xfrm>
              <a:off x="113" y="2024"/>
              <a:ext cx="2676" cy="2041"/>
            </a:xfrm>
            <a:prstGeom prst="roundRect">
              <a:avLst>
                <a:gd name="adj" fmla="val 16667"/>
              </a:avLst>
            </a:prstGeom>
            <a:solidFill>
              <a:srgbClr val="DDDDDD"/>
            </a:solidFill>
            <a:ln w="12700">
              <a:solidFill>
                <a:srgbClr val="808080"/>
              </a:solidFill>
              <a:round/>
            </a:ln>
            <a:effectLst/>
            <a:extLst>
              <a:ext uri="{AF507438-7753-43E0-B8FC-AC1667EBCBE1}">
                <a14:hiddenEffects xmlns:a14="http://schemas.microsoft.com/office/drawing/2010/main">
                  <a:effectLst>
                    <a:outerShdw dist="35921" dir="2700000" algn="ctr" rotWithShape="0">
                      <a:schemeClr val="tx2">
                        <a:alpha val="50000"/>
                      </a:schemeClr>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496677" name="AutoShape 6"/>
            <p:cNvSpPr>
              <a:spLocks noChangeArrowheads="1"/>
            </p:cNvSpPr>
            <p:nvPr/>
          </p:nvSpPr>
          <p:spPr bwMode="auto">
            <a:xfrm>
              <a:off x="124" y="2037"/>
              <a:ext cx="2644" cy="894"/>
            </a:xfrm>
            <a:prstGeom prst="roundRect">
              <a:avLst>
                <a:gd name="adj" fmla="val 34829"/>
              </a:avLst>
            </a:prstGeom>
            <a:gradFill rotWithShape="1">
              <a:gsLst>
                <a:gs pos="0">
                  <a:srgbClr val="FFFFFF"/>
                </a:gs>
                <a:gs pos="100000">
                  <a:srgbClr val="DDDDDD"/>
                </a:gs>
              </a:gsLst>
              <a:lin ang="54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17961" dir="13500000" algn="ctr" rotWithShape="0">
                      <a:srgbClr val="999999"/>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496680" name="Rectangle 40"/>
            <p:cNvSpPr>
              <a:spLocks noChangeArrowheads="1"/>
            </p:cNvSpPr>
            <p:nvPr/>
          </p:nvSpPr>
          <p:spPr bwMode="auto">
            <a:xfrm>
              <a:off x="113" y="2205"/>
              <a:ext cx="2676" cy="1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solidFill>
                    <a:srgbClr val="660033"/>
                  </a:solidFill>
                  <a:effectLst>
                    <a:outerShdw blurRad="38100" dist="38100" dir="2700000" algn="tl">
                      <a:srgbClr val="C0C0C0"/>
                    </a:outerShdw>
                  </a:effectLst>
                  <a:latin typeface="Tahoma" panose="020B0604030504040204" pitchFamily="34" charset="0"/>
                  <a:ea typeface="楷体_GB2312" pitchFamily="49" charset="-122"/>
                </a:rPr>
                <a:t>解决方法：</a:t>
              </a:r>
              <a:r>
                <a:rPr lang="zh-CN" altLang="en-US" sz="2800" b="1">
                  <a:latin typeface="Tahoma" panose="020B0604030504040204" pitchFamily="34" charset="0"/>
                  <a:ea typeface="楷体_GB2312" pitchFamily="49" charset="-122"/>
                </a:rPr>
                <a:t>把转储期间的更新活动登记到日志文件中。通过后援副本和日志文件中转储期间的日志信息，把数据库恢复到正确的状态。</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0790"/>
    </mc:Choice>
    <mc:Fallback xmlns="">
      <p:transition spd="slow" advTm="5079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496682"/>
                                        </p:tgtEl>
                                        <p:attrNameLst>
                                          <p:attrName>style.visibility</p:attrName>
                                        </p:attrNameLst>
                                      </p:cBhvr>
                                      <p:to>
                                        <p:strVal val="visible"/>
                                      </p:to>
                                    </p:set>
                                    <p:animEffect transition="in" filter="fade">
                                      <p:cBhvr>
                                        <p:cTn id="7" dur="500"/>
                                        <p:tgtEl>
                                          <p:spTgt spid="496682"/>
                                        </p:tgtEl>
                                      </p:cBhvr>
                                    </p:animEffect>
                                    <p:anim calcmode="lin" valueType="num">
                                      <p:cBhvr>
                                        <p:cTn id="8" dur="500" fill="hold"/>
                                        <p:tgtEl>
                                          <p:spTgt spid="496682"/>
                                        </p:tgtEl>
                                        <p:attrNameLst>
                                          <p:attrName>ppt_x</p:attrName>
                                        </p:attrNameLst>
                                      </p:cBhvr>
                                      <p:tavLst>
                                        <p:tav tm="0">
                                          <p:val>
                                            <p:strVal val="#ppt_x"/>
                                          </p:val>
                                        </p:tav>
                                        <p:tav tm="100000">
                                          <p:val>
                                            <p:strVal val="#ppt_x"/>
                                          </p:val>
                                        </p:tav>
                                      </p:tavLst>
                                    </p:anim>
                                    <p:anim calcmode="lin" valueType="num">
                                      <p:cBhvr>
                                        <p:cTn id="9" dur="500" fill="hold"/>
                                        <p:tgtEl>
                                          <p:spTgt spid="496682"/>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1" fill="hold" nodeType="afterEffect">
                                  <p:stCondLst>
                                    <p:cond delay="0"/>
                                  </p:stCondLst>
                                  <p:childTnLst>
                                    <p:set>
                                      <p:cBhvr>
                                        <p:cTn id="12" dur="1" fill="hold">
                                          <p:stCondLst>
                                            <p:cond delay="0"/>
                                          </p:stCondLst>
                                        </p:cTn>
                                        <p:tgtEl>
                                          <p:spTgt spid="496683"/>
                                        </p:tgtEl>
                                        <p:attrNameLst>
                                          <p:attrName>style.visibility</p:attrName>
                                        </p:attrNameLst>
                                      </p:cBhvr>
                                      <p:to>
                                        <p:strVal val="visible"/>
                                      </p:to>
                                    </p:set>
                                    <p:animEffect transition="in" filter="wipe(up)">
                                      <p:cBhvr>
                                        <p:cTn id="13" dur="500"/>
                                        <p:tgtEl>
                                          <p:spTgt spid="496683"/>
                                        </p:tgtEl>
                                      </p:cBhvr>
                                    </p:animEffect>
                                  </p:childTnLst>
                                </p:cTn>
                              </p:par>
                            </p:childTnLst>
                          </p:cTn>
                        </p:par>
                        <p:par>
                          <p:cTn id="14" fill="hold">
                            <p:stCondLst>
                              <p:cond delay="1000"/>
                            </p:stCondLst>
                            <p:childTnLst>
                              <p:par>
                                <p:cTn id="15" presetID="42" presetClass="entr" presetSubtype="0" fill="hold" nodeType="afterEffect">
                                  <p:stCondLst>
                                    <p:cond delay="0"/>
                                  </p:stCondLst>
                                  <p:childTnLst>
                                    <p:set>
                                      <p:cBhvr>
                                        <p:cTn id="16" dur="1" fill="hold">
                                          <p:stCondLst>
                                            <p:cond delay="0"/>
                                          </p:stCondLst>
                                        </p:cTn>
                                        <p:tgtEl>
                                          <p:spTgt spid="496653"/>
                                        </p:tgtEl>
                                        <p:attrNameLst>
                                          <p:attrName>style.visibility</p:attrName>
                                        </p:attrNameLst>
                                      </p:cBhvr>
                                      <p:to>
                                        <p:strVal val="visible"/>
                                      </p:to>
                                    </p:set>
                                    <p:animEffect transition="in" filter="fade">
                                      <p:cBhvr>
                                        <p:cTn id="17" dur="500"/>
                                        <p:tgtEl>
                                          <p:spTgt spid="496653"/>
                                        </p:tgtEl>
                                      </p:cBhvr>
                                    </p:animEffect>
                                    <p:anim calcmode="lin" valueType="num">
                                      <p:cBhvr>
                                        <p:cTn id="18" dur="500" fill="hold"/>
                                        <p:tgtEl>
                                          <p:spTgt spid="496653"/>
                                        </p:tgtEl>
                                        <p:attrNameLst>
                                          <p:attrName>ppt_x</p:attrName>
                                        </p:attrNameLst>
                                      </p:cBhvr>
                                      <p:tavLst>
                                        <p:tav tm="0">
                                          <p:val>
                                            <p:strVal val="#ppt_x"/>
                                          </p:val>
                                        </p:tav>
                                        <p:tav tm="100000">
                                          <p:val>
                                            <p:strVal val="#ppt_x"/>
                                          </p:val>
                                        </p:tav>
                                      </p:tavLst>
                                    </p:anim>
                                    <p:anim calcmode="lin" valueType="num">
                                      <p:cBhvr>
                                        <p:cTn id="19" dur="500" fill="hold"/>
                                        <p:tgtEl>
                                          <p:spTgt spid="496653"/>
                                        </p:tgtEl>
                                        <p:attrNameLst>
                                          <p:attrName>ppt_y</p:attrName>
                                        </p:attrNameLst>
                                      </p:cBhvr>
                                      <p:tavLst>
                                        <p:tav tm="0">
                                          <p:val>
                                            <p:strVal val="#ppt_y+.1"/>
                                          </p:val>
                                        </p:tav>
                                        <p:tav tm="100000">
                                          <p:val>
                                            <p:strVal val="#ppt_y"/>
                                          </p:val>
                                        </p:tav>
                                      </p:tavLst>
                                    </p:anim>
                                  </p:childTnLst>
                                </p:cTn>
                              </p:par>
                            </p:childTnLst>
                          </p:cTn>
                        </p:par>
                        <p:par>
                          <p:cTn id="20" fill="hold">
                            <p:stCondLst>
                              <p:cond delay="1500"/>
                            </p:stCondLst>
                            <p:childTnLst>
                              <p:par>
                                <p:cTn id="21" presetID="53" presetClass="entr" presetSubtype="16" fill="hold" nodeType="afterEffect">
                                  <p:stCondLst>
                                    <p:cond delay="0"/>
                                  </p:stCondLst>
                                  <p:childTnLst>
                                    <p:set>
                                      <p:cBhvr>
                                        <p:cTn id="22" dur="1" fill="hold">
                                          <p:stCondLst>
                                            <p:cond delay="0"/>
                                          </p:stCondLst>
                                        </p:cTn>
                                        <p:tgtEl>
                                          <p:spTgt spid="496642"/>
                                        </p:tgtEl>
                                        <p:attrNameLst>
                                          <p:attrName>style.visibility</p:attrName>
                                        </p:attrNameLst>
                                      </p:cBhvr>
                                      <p:to>
                                        <p:strVal val="visible"/>
                                      </p:to>
                                    </p:set>
                                    <p:anim calcmode="lin" valueType="num">
                                      <p:cBhvr>
                                        <p:cTn id="23" dur="500" fill="hold"/>
                                        <p:tgtEl>
                                          <p:spTgt spid="496642"/>
                                        </p:tgtEl>
                                        <p:attrNameLst>
                                          <p:attrName>ppt_w</p:attrName>
                                        </p:attrNameLst>
                                      </p:cBhvr>
                                      <p:tavLst>
                                        <p:tav tm="0">
                                          <p:val>
                                            <p:fltVal val="0"/>
                                          </p:val>
                                        </p:tav>
                                        <p:tav tm="100000">
                                          <p:val>
                                            <p:strVal val="#ppt_w"/>
                                          </p:val>
                                        </p:tav>
                                      </p:tavLst>
                                    </p:anim>
                                    <p:anim calcmode="lin" valueType="num">
                                      <p:cBhvr>
                                        <p:cTn id="24" dur="500" fill="hold"/>
                                        <p:tgtEl>
                                          <p:spTgt spid="496642"/>
                                        </p:tgtEl>
                                        <p:attrNameLst>
                                          <p:attrName>ppt_h</p:attrName>
                                        </p:attrNameLst>
                                      </p:cBhvr>
                                      <p:tavLst>
                                        <p:tav tm="0">
                                          <p:val>
                                            <p:fltVal val="0"/>
                                          </p:val>
                                        </p:tav>
                                        <p:tav tm="100000">
                                          <p:val>
                                            <p:strVal val="#ppt_h"/>
                                          </p:val>
                                        </p:tav>
                                      </p:tavLst>
                                    </p:anim>
                                    <p:animEffect transition="in" filter="fade">
                                      <p:cBhvr>
                                        <p:cTn id="25" dur="500"/>
                                        <p:tgtEl>
                                          <p:spTgt spid="49664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496670"/>
                                        </p:tgtEl>
                                        <p:attrNameLst>
                                          <p:attrName>style.visibility</p:attrName>
                                        </p:attrNameLst>
                                      </p:cBhvr>
                                      <p:to>
                                        <p:strVal val="visible"/>
                                      </p:to>
                                    </p:set>
                                    <p:animEffect transition="in" filter="wipe(up)">
                                      <p:cBhvr>
                                        <p:cTn id="30" dur="500"/>
                                        <p:tgtEl>
                                          <p:spTgt spid="496670"/>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96671"/>
                                        </p:tgtEl>
                                        <p:attrNameLst>
                                          <p:attrName>style.visibility</p:attrName>
                                        </p:attrNameLst>
                                      </p:cBhvr>
                                      <p:to>
                                        <p:strVal val="visible"/>
                                      </p:to>
                                    </p:set>
                                    <p:anim calcmode="lin" valueType="num">
                                      <p:cBhvr additive="base">
                                        <p:cTn id="35" dur="500" fill="hold"/>
                                        <p:tgtEl>
                                          <p:spTgt spid="496671"/>
                                        </p:tgtEl>
                                        <p:attrNameLst>
                                          <p:attrName>ppt_x</p:attrName>
                                        </p:attrNameLst>
                                      </p:cBhvr>
                                      <p:tavLst>
                                        <p:tav tm="0">
                                          <p:val>
                                            <p:strVal val="#ppt_x"/>
                                          </p:val>
                                        </p:tav>
                                        <p:tav tm="100000">
                                          <p:val>
                                            <p:strVal val="#ppt_x"/>
                                          </p:val>
                                        </p:tav>
                                      </p:tavLst>
                                    </p:anim>
                                    <p:anim calcmode="lin" valueType="num">
                                      <p:cBhvr additive="base">
                                        <p:cTn id="36" dur="500" fill="hold"/>
                                        <p:tgtEl>
                                          <p:spTgt spid="496671"/>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496681"/>
                                        </p:tgtEl>
                                        <p:attrNameLst>
                                          <p:attrName>style.visibility</p:attrName>
                                        </p:attrNameLst>
                                      </p:cBhvr>
                                      <p:to>
                                        <p:strVal val="visible"/>
                                      </p:to>
                                    </p:set>
                                    <p:anim calcmode="lin" valueType="num">
                                      <p:cBhvr additive="base">
                                        <p:cTn id="41" dur="500" fill="hold"/>
                                        <p:tgtEl>
                                          <p:spTgt spid="496681"/>
                                        </p:tgtEl>
                                        <p:attrNameLst>
                                          <p:attrName>ppt_x</p:attrName>
                                        </p:attrNameLst>
                                      </p:cBhvr>
                                      <p:tavLst>
                                        <p:tav tm="0">
                                          <p:val>
                                            <p:strVal val="#ppt_x"/>
                                          </p:val>
                                        </p:tav>
                                        <p:tav tm="100000">
                                          <p:val>
                                            <p:strVal val="#ppt_x"/>
                                          </p:val>
                                        </p:tav>
                                      </p:tavLst>
                                    </p:anim>
                                    <p:anim calcmode="lin" valueType="num">
                                      <p:cBhvr additive="base">
                                        <p:cTn id="42" dur="500" fill="hold"/>
                                        <p:tgtEl>
                                          <p:spTgt spid="4966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7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2"/>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二、数据库故障的基本恢复方式</a:t>
            </a:r>
          </a:p>
        </p:txBody>
      </p:sp>
      <p:sp>
        <p:nvSpPr>
          <p:cNvPr id="497668" name="AutoShape 4"/>
          <p:cNvSpPr>
            <a:spLocks noChangeArrowheads="1"/>
          </p:cNvSpPr>
          <p:nvPr/>
        </p:nvSpPr>
        <p:spPr bwMode="auto">
          <a:xfrm>
            <a:off x="755650" y="1773238"/>
            <a:ext cx="7416800" cy="2735262"/>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20000"/>
              </a:lnSpc>
              <a:spcBef>
                <a:spcPct val="20000"/>
              </a:spcBef>
              <a:spcAft>
                <a:spcPct val="40000"/>
              </a:spcAft>
              <a:buClr>
                <a:srgbClr val="009900"/>
              </a:buClr>
              <a:buSzPct val="70000"/>
              <a:buFont typeface="Wingdings" panose="05000000000000000000" pitchFamily="2" charset="2"/>
              <a:buNone/>
            </a:pPr>
            <a:r>
              <a:rPr lang="zh-CN" altLang="en-US" sz="2800" b="1">
                <a:effectLst>
                  <a:outerShdw blurRad="38100" dist="38100" dir="2700000" algn="tl">
                    <a:srgbClr val="C0C0C0"/>
                  </a:outerShdw>
                </a:effectLst>
                <a:latin typeface="Tahoma" panose="020B0604030504040204" pitchFamily="34" charset="0"/>
                <a:ea typeface="楷体_GB2312" pitchFamily="49" charset="-122"/>
              </a:rPr>
              <a:t>      </a:t>
            </a:r>
            <a:r>
              <a:rPr lang="zh-CN" altLang="en-US" sz="2800" b="1">
                <a:latin typeface="Tahoma" panose="020B0604030504040204" pitchFamily="34" charset="0"/>
                <a:ea typeface="楷体_GB2312" pitchFamily="49" charset="-122"/>
              </a:rPr>
              <a:t>海量转储指每次转储全部数据库。恢复时方便，但数据量大。</a:t>
            </a:r>
          </a:p>
          <a:p>
            <a:pPr>
              <a:lnSpc>
                <a:spcPct val="120000"/>
              </a:lnSpc>
              <a:spcBef>
                <a:spcPct val="20000"/>
              </a:spcBef>
              <a:spcAft>
                <a:spcPct val="40000"/>
              </a:spcAft>
              <a:buClr>
                <a:srgbClr val="009900"/>
              </a:buClr>
              <a:buSzPct val="70000"/>
              <a:buFont typeface="Wingdings" panose="05000000000000000000" pitchFamily="2" charset="2"/>
              <a:buNone/>
            </a:pPr>
            <a:r>
              <a:rPr lang="zh-CN" altLang="en-US" sz="2800" b="1">
                <a:latin typeface="Tahoma" panose="020B0604030504040204" pitchFamily="34" charset="0"/>
                <a:ea typeface="楷体_GB2312" pitchFamily="49" charset="-122"/>
              </a:rPr>
              <a:t>      增量转储指每次只转储上一次转储后更新过的数据。</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8705"/>
    </mc:Choice>
    <mc:Fallback xmlns="">
      <p:transition spd="slow" advTm="1870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97668">
                                            <p:bg/>
                                          </p:spTgt>
                                        </p:tgtEl>
                                        <p:attrNameLst>
                                          <p:attrName>style.visibility</p:attrName>
                                        </p:attrNameLst>
                                      </p:cBhvr>
                                      <p:to>
                                        <p:strVal val="visible"/>
                                      </p:to>
                                    </p:set>
                                    <p:animEffect transition="in" filter="wipe(up)">
                                      <p:cBhvr>
                                        <p:cTn id="7" dur="500"/>
                                        <p:tgtEl>
                                          <p:spTgt spid="497668">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97668">
                                            <p:txEl>
                                              <p:pRg st="0" end="0"/>
                                            </p:txEl>
                                          </p:spTgt>
                                        </p:tgtEl>
                                        <p:attrNameLst>
                                          <p:attrName>style.visibility</p:attrName>
                                        </p:attrNameLst>
                                      </p:cBhvr>
                                      <p:to>
                                        <p:strVal val="visible"/>
                                      </p:to>
                                    </p:set>
                                    <p:animEffect transition="in" filter="wipe(up)">
                                      <p:cBhvr>
                                        <p:cTn id="12" dur="500"/>
                                        <p:tgtEl>
                                          <p:spTgt spid="49766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97668">
                                            <p:txEl>
                                              <p:pRg st="1" end="1"/>
                                            </p:txEl>
                                          </p:spTgt>
                                        </p:tgtEl>
                                        <p:attrNameLst>
                                          <p:attrName>style.visibility</p:attrName>
                                        </p:attrNameLst>
                                      </p:cBhvr>
                                      <p:to>
                                        <p:strVal val="visible"/>
                                      </p:to>
                                    </p:set>
                                    <p:animEffect transition="in" filter="wipe(up)">
                                      <p:cBhvr>
                                        <p:cTn id="17" dur="500"/>
                                        <p:tgtEl>
                                          <p:spTgt spid="49766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7668" grpId="0" build="p"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Rectangle 2"/>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二、数据库故障的基本恢复方式</a:t>
            </a:r>
          </a:p>
        </p:txBody>
      </p:sp>
      <p:sp>
        <p:nvSpPr>
          <p:cNvPr id="536579" name="Rectangle 3"/>
          <p:cNvSpPr>
            <a:spLocks noChangeArrowheads="1"/>
          </p:cNvSpPr>
          <p:nvPr/>
        </p:nvSpPr>
        <p:spPr bwMode="auto">
          <a:xfrm>
            <a:off x="611188" y="1187450"/>
            <a:ext cx="80645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2</a:t>
            </a:r>
            <a:r>
              <a:rPr lang="zh-CN" altLang="en-US" sz="3200">
                <a:solidFill>
                  <a:srgbClr val="660033"/>
                </a:solidFill>
                <a:ea typeface="华文新魏" panose="02010800040101010101" pitchFamily="2" charset="-122"/>
              </a:rPr>
              <a:t>、日志文件</a:t>
            </a:r>
          </a:p>
        </p:txBody>
      </p:sp>
      <p:sp>
        <p:nvSpPr>
          <p:cNvPr id="536580" name="AutoShape 4"/>
          <p:cNvSpPr>
            <a:spLocks noChangeArrowheads="1"/>
          </p:cNvSpPr>
          <p:nvPr/>
        </p:nvSpPr>
        <p:spPr bwMode="auto">
          <a:xfrm>
            <a:off x="755650" y="2276475"/>
            <a:ext cx="7416800" cy="2232025"/>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20000"/>
              </a:lnSpc>
              <a:spcBef>
                <a:spcPct val="20000"/>
              </a:spcBef>
              <a:spcAft>
                <a:spcPct val="40000"/>
              </a:spcAft>
              <a:buClr>
                <a:srgbClr val="009900"/>
              </a:buClr>
              <a:buSzPct val="70000"/>
              <a:buFont typeface="Wingdings" panose="05000000000000000000" pitchFamily="2" charset="2"/>
              <a:buNone/>
            </a:pPr>
            <a:r>
              <a:rPr lang="zh-CN" altLang="en-US" sz="2800" b="1">
                <a:effectLst>
                  <a:outerShdw blurRad="38100" dist="38100" dir="2700000" algn="tl">
                    <a:srgbClr val="C0C0C0"/>
                  </a:outerShdw>
                </a:effectLst>
                <a:latin typeface="Tahoma" panose="020B0604030504040204" pitchFamily="34" charset="0"/>
                <a:ea typeface="楷体_GB2312" pitchFamily="49" charset="-122"/>
              </a:rPr>
              <a:t>      </a:t>
            </a:r>
            <a:r>
              <a:rPr lang="en-US" altLang="zh-CN" sz="2800" b="1">
                <a:latin typeface="Tahoma" panose="020B0604030504040204" pitchFamily="34" charset="0"/>
                <a:ea typeface="楷体_GB2312" pitchFamily="49" charset="-122"/>
              </a:rPr>
              <a:t>DBMS</a:t>
            </a:r>
            <a:r>
              <a:rPr lang="zh-CN" altLang="en-US" sz="2800" b="1">
                <a:latin typeface="Tahoma" panose="020B0604030504040204" pitchFamily="34" charset="0"/>
                <a:ea typeface="楷体_GB2312" pitchFamily="49" charset="-122"/>
              </a:rPr>
              <a:t>把所有事务对数据库的更新</a:t>
            </a:r>
            <a:r>
              <a:rPr lang="en-US" altLang="zh-CN" sz="2800" b="1">
                <a:latin typeface="Tahoma" panose="020B0604030504040204" pitchFamily="34" charset="0"/>
                <a:ea typeface="楷体_GB2312" pitchFamily="49" charset="-122"/>
              </a:rPr>
              <a:t>(</a:t>
            </a:r>
            <a:r>
              <a:rPr lang="zh-CN" altLang="en-US" sz="2800" b="1">
                <a:latin typeface="Tahoma" panose="020B0604030504040204" pitchFamily="34" charset="0"/>
                <a:ea typeface="楷体_GB2312" pitchFamily="49" charset="-122"/>
              </a:rPr>
              <a:t>插入、删除、修改</a:t>
            </a:r>
            <a:r>
              <a:rPr lang="en-US" altLang="zh-CN" sz="2800" b="1">
                <a:latin typeface="Tahoma" panose="020B0604030504040204" pitchFamily="34" charset="0"/>
                <a:ea typeface="楷体_GB2312" pitchFamily="49" charset="-122"/>
              </a:rPr>
              <a:t>)</a:t>
            </a:r>
            <a:r>
              <a:rPr lang="zh-CN" altLang="en-US" sz="2800" b="1">
                <a:latin typeface="Tahoma" panose="020B0604030504040204" pitchFamily="34" charset="0"/>
                <a:ea typeface="楷体_GB2312" pitchFamily="49" charset="-122"/>
              </a:rPr>
              <a:t>信息都记录在一个文件上，该文件就称为</a:t>
            </a:r>
            <a:r>
              <a:rPr lang="zh-CN" altLang="en-US" sz="2800" b="1">
                <a:solidFill>
                  <a:srgbClr val="0000FF"/>
                </a:solidFill>
                <a:effectLst>
                  <a:outerShdw blurRad="38100" dist="38100" dir="2700000" algn="tl">
                    <a:srgbClr val="C0C0C0"/>
                  </a:outerShdw>
                </a:effectLst>
                <a:latin typeface="Tahoma" panose="020B0604030504040204" pitchFamily="34" charset="0"/>
                <a:ea typeface="楷体_GB2312" pitchFamily="49" charset="-122"/>
              </a:rPr>
              <a:t>日志文件</a:t>
            </a:r>
            <a:r>
              <a:rPr lang="zh-CN" altLang="en-US" sz="2800" b="1">
                <a:effectLst>
                  <a:outerShdw blurRad="38100" dist="38100" dir="2700000" algn="tl">
                    <a:srgbClr val="C0C0C0"/>
                  </a:outerShdw>
                </a:effectLst>
                <a:latin typeface="Tahoma" panose="020B0604030504040204" pitchFamily="34" charset="0"/>
                <a:ea typeface="楷体_GB2312" pitchFamily="49" charset="-122"/>
              </a:rPr>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0633"/>
    </mc:Choice>
    <mc:Fallback xmlns="">
      <p:transition spd="slow" advTm="306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36579"/>
                                        </p:tgtEl>
                                        <p:attrNameLst>
                                          <p:attrName>style.visibility</p:attrName>
                                        </p:attrNameLst>
                                      </p:cBhvr>
                                      <p:to>
                                        <p:strVal val="visible"/>
                                      </p:to>
                                    </p:set>
                                    <p:animEffect transition="in" filter="wipe(left)">
                                      <p:cBhvr>
                                        <p:cTn id="7" dur="1000"/>
                                        <p:tgtEl>
                                          <p:spTgt spid="53657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36580">
                                            <p:bg/>
                                          </p:spTgt>
                                        </p:tgtEl>
                                        <p:attrNameLst>
                                          <p:attrName>style.visibility</p:attrName>
                                        </p:attrNameLst>
                                      </p:cBhvr>
                                      <p:to>
                                        <p:strVal val="visible"/>
                                      </p:to>
                                    </p:set>
                                    <p:animEffect transition="in" filter="wipe(up)">
                                      <p:cBhvr>
                                        <p:cTn id="12" dur="500"/>
                                        <p:tgtEl>
                                          <p:spTgt spid="536580">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36580">
                                            <p:txEl>
                                              <p:pRg st="0" end="0"/>
                                            </p:txEl>
                                          </p:spTgt>
                                        </p:tgtEl>
                                        <p:attrNameLst>
                                          <p:attrName>style.visibility</p:attrName>
                                        </p:attrNameLst>
                                      </p:cBhvr>
                                      <p:to>
                                        <p:strVal val="visible"/>
                                      </p:to>
                                    </p:set>
                                    <p:animEffect transition="in" filter="wipe(up)">
                                      <p:cBhvr>
                                        <p:cTn id="17" dur="500"/>
                                        <p:tgtEl>
                                          <p:spTgt spid="53658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6579" grpId="0"/>
      <p:bldP spid="536580" grpId="0"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Rectangle 2"/>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二、数据库故障的基本恢复方式</a:t>
            </a:r>
          </a:p>
        </p:txBody>
      </p:sp>
      <p:sp>
        <p:nvSpPr>
          <p:cNvPr id="443397" name="AutoShape 5"/>
          <p:cNvSpPr>
            <a:spLocks noChangeArrowheads="1"/>
          </p:cNvSpPr>
          <p:nvPr/>
        </p:nvSpPr>
        <p:spPr bwMode="auto">
          <a:xfrm>
            <a:off x="468313" y="3213100"/>
            <a:ext cx="8280400" cy="2736850"/>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05000"/>
              </a:lnSpc>
              <a:spcBef>
                <a:spcPct val="30000"/>
              </a:spcBef>
              <a:buClr>
                <a:schemeClr val="folHlink"/>
              </a:buClr>
              <a:buSzPct val="60000"/>
              <a:buFont typeface="Wingdings" panose="05000000000000000000" pitchFamily="2" charset="2"/>
              <a:buNone/>
            </a:pPr>
            <a:r>
              <a:rPr lang="zh-CN" altLang="en-US" sz="2800" b="1">
                <a:effectLst>
                  <a:outerShdw blurRad="38100" dist="38100" dir="2700000" algn="tl">
                    <a:srgbClr val="C0C0C0"/>
                  </a:outerShdw>
                </a:effectLst>
                <a:latin typeface="Tahoma" panose="020B0604030504040204" pitchFamily="34" charset="0"/>
                <a:ea typeface="楷体_GB2312" pitchFamily="49" charset="-122"/>
              </a:rPr>
              <a:t> </a:t>
            </a:r>
            <a:r>
              <a:rPr lang="zh-CN" altLang="en-US" sz="2800" b="1">
                <a:solidFill>
                  <a:srgbClr val="000099"/>
                </a:solidFill>
                <a:effectLst>
                  <a:outerShdw blurRad="38100" dist="38100" dir="2700000" algn="tl">
                    <a:srgbClr val="C0C0C0"/>
                  </a:outerShdw>
                </a:effectLst>
                <a:latin typeface="Tahoma" panose="020B0604030504040204" pitchFamily="34" charset="0"/>
                <a:ea typeface="楷体_GB2312" pitchFamily="49" charset="-122"/>
              </a:rPr>
              <a:t>① 以记录为单位的日志文件</a:t>
            </a:r>
          </a:p>
          <a:p>
            <a:pPr>
              <a:lnSpc>
                <a:spcPct val="105000"/>
              </a:lnSpc>
              <a:spcBef>
                <a:spcPct val="30000"/>
              </a:spcBef>
              <a:buClr>
                <a:schemeClr val="folHlink"/>
              </a:buClr>
              <a:buSzPct val="60000"/>
              <a:buFont typeface="Wingdings" panose="05000000000000000000" pitchFamily="2" charset="2"/>
              <a:buNone/>
            </a:pPr>
            <a:r>
              <a:rPr lang="zh-CN" altLang="en-US" sz="2400" b="1">
                <a:latin typeface="Tahoma" panose="020B0604030504040204" pitchFamily="34" charset="0"/>
                <a:ea typeface="楷体_GB2312" pitchFamily="49" charset="-122"/>
              </a:rPr>
              <a:t>        </a:t>
            </a:r>
            <a:r>
              <a:rPr lang="zh-CN" altLang="en-US" sz="2600" b="1">
                <a:latin typeface="Tahoma" panose="020B0604030504040204" pitchFamily="34" charset="0"/>
                <a:ea typeface="楷体_GB2312" pitchFamily="49" charset="-122"/>
              </a:rPr>
              <a:t>日志文件中登记的关于每一次数据库更新的情况信息称为一个运行记录。一个运行记录通常包括如下一些内容：</a:t>
            </a:r>
            <a:endParaRPr lang="zh-CN" altLang="en-US" sz="2400" b="1">
              <a:effectLst>
                <a:outerShdw blurRad="38100" dist="38100" dir="2700000" algn="tl">
                  <a:srgbClr val="C0C0C0"/>
                </a:outerShdw>
              </a:effectLst>
              <a:latin typeface="Tahoma" panose="020B0604030504040204" pitchFamily="34" charset="0"/>
              <a:ea typeface="楷体_GB2312" pitchFamily="49" charset="-122"/>
            </a:endParaRPr>
          </a:p>
        </p:txBody>
      </p:sp>
      <p:grpSp>
        <p:nvGrpSpPr>
          <p:cNvPr id="443398" name="Group 6"/>
          <p:cNvGrpSpPr/>
          <p:nvPr/>
        </p:nvGrpSpPr>
        <p:grpSpPr bwMode="auto">
          <a:xfrm>
            <a:off x="755650" y="2060575"/>
            <a:ext cx="3311525" cy="720725"/>
            <a:chOff x="340" y="1389"/>
            <a:chExt cx="926" cy="499"/>
          </a:xfrm>
        </p:grpSpPr>
        <p:sp>
          <p:nvSpPr>
            <p:cNvPr id="443399" name="Freeform 22"/>
            <p:cNvSpPr/>
            <p:nvPr/>
          </p:nvSpPr>
          <p:spPr bwMode="auto">
            <a:xfrm>
              <a:off x="340" y="1389"/>
              <a:ext cx="926" cy="499"/>
            </a:xfrm>
            <a:custGeom>
              <a:avLst/>
              <a:gdLst>
                <a:gd name="T0" fmla="*/ 120 w 1071"/>
                <a:gd name="T1" fmla="*/ 0 h 307"/>
                <a:gd name="T2" fmla="*/ 1546 w 1071"/>
                <a:gd name="T3" fmla="*/ 0 h 307"/>
                <a:gd name="T4" fmla="*/ 1546 w 1071"/>
                <a:gd name="T5" fmla="*/ 279 h 307"/>
                <a:gd name="T6" fmla="*/ 1526 w 1071"/>
                <a:gd name="T7" fmla="*/ 381 h 307"/>
                <a:gd name="T8" fmla="*/ 1428 w 1071"/>
                <a:gd name="T9" fmla="*/ 426 h 307"/>
                <a:gd name="T10" fmla="*/ 0 w 1071"/>
                <a:gd name="T11" fmla="*/ 433 h 307"/>
                <a:gd name="T12" fmla="*/ 0 w 1071"/>
                <a:gd name="T13" fmla="*/ 126 h 307"/>
                <a:gd name="T14" fmla="*/ 30 w 1071"/>
                <a:gd name="T15" fmla="*/ 25 h 307"/>
                <a:gd name="T16" fmla="*/ 120 w 1071"/>
                <a:gd name="T17" fmla="*/ 0 h 30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71"/>
                <a:gd name="T28" fmla="*/ 0 h 307"/>
                <a:gd name="T29" fmla="*/ 1071 w 1071"/>
                <a:gd name="T30" fmla="*/ 307 h 30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71" h="307">
                  <a:moveTo>
                    <a:pt x="83" y="0"/>
                  </a:moveTo>
                  <a:lnTo>
                    <a:pt x="1069" y="0"/>
                  </a:lnTo>
                  <a:cubicBezTo>
                    <a:pt x="1069" y="0"/>
                    <a:pt x="1069" y="99"/>
                    <a:pt x="1069" y="198"/>
                  </a:cubicBezTo>
                  <a:cubicBezTo>
                    <a:pt x="1069" y="198"/>
                    <a:pt x="1071" y="248"/>
                    <a:pt x="1055" y="270"/>
                  </a:cubicBezTo>
                  <a:cubicBezTo>
                    <a:pt x="1043" y="288"/>
                    <a:pt x="1019" y="302"/>
                    <a:pt x="987" y="302"/>
                  </a:cubicBezTo>
                  <a:cubicBezTo>
                    <a:pt x="488" y="303"/>
                    <a:pt x="0" y="307"/>
                    <a:pt x="0" y="307"/>
                  </a:cubicBezTo>
                  <a:lnTo>
                    <a:pt x="0" y="89"/>
                  </a:lnTo>
                  <a:cubicBezTo>
                    <a:pt x="3" y="41"/>
                    <a:pt x="7" y="33"/>
                    <a:pt x="21" y="18"/>
                  </a:cubicBezTo>
                  <a:cubicBezTo>
                    <a:pt x="35" y="3"/>
                    <a:pt x="66" y="1"/>
                    <a:pt x="83" y="0"/>
                  </a:cubicBezTo>
                  <a:close/>
                </a:path>
              </a:pathLst>
            </a:custGeom>
            <a:gradFill rotWithShape="1">
              <a:gsLst>
                <a:gs pos="0">
                  <a:srgbClr val="822061"/>
                </a:gs>
                <a:gs pos="50000">
                  <a:srgbClr val="CC3399"/>
                </a:gs>
                <a:gs pos="100000">
                  <a:srgbClr val="822061"/>
                </a:gs>
              </a:gsLst>
              <a:lin ang="5400000" scaled="1"/>
            </a:gradFill>
            <a:ln w="28575" cmpd="sng">
              <a:solidFill>
                <a:srgbClr val="FFFFFF"/>
              </a:solidFill>
              <a:miter lim="800000"/>
            </a:ln>
            <a:effectLst>
              <a:outerShdw dist="71842" dir="2700000" algn="ctr" rotWithShape="0">
                <a:srgbClr val="000000">
                  <a:alpha val="50000"/>
                </a:srgbClr>
              </a:outerShdw>
            </a:effectLst>
          </p:spPr>
          <p:txBody>
            <a:bodyPr wrap="none" anchor="ctr"/>
            <a:lstStyle/>
            <a:p>
              <a:endParaRPr lang="zh-CN" altLang="en-US"/>
            </a:p>
          </p:txBody>
        </p:sp>
        <p:sp>
          <p:nvSpPr>
            <p:cNvPr id="443400" name="Text Box 8"/>
            <p:cNvSpPr txBox="1">
              <a:spLocks noChangeArrowheads="1"/>
            </p:cNvSpPr>
            <p:nvPr/>
          </p:nvSpPr>
          <p:spPr bwMode="auto">
            <a:xfrm>
              <a:off x="431" y="1437"/>
              <a:ext cx="710"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r>
                <a:rPr lang="zh-CN" altLang="en-US" sz="2800" b="1">
                  <a:solidFill>
                    <a:srgbClr val="00FFFF"/>
                  </a:solidFill>
                  <a:latin typeface="华文中宋" panose="02010600040101010101" pitchFamily="2" charset="-122"/>
                  <a:ea typeface="华文中宋" panose="02010600040101010101" pitchFamily="2" charset="-122"/>
                </a:rPr>
                <a:t>（</a:t>
              </a:r>
              <a:r>
                <a:rPr lang="en-US" altLang="zh-CN" sz="2800" b="1">
                  <a:solidFill>
                    <a:srgbClr val="00FFFF"/>
                  </a:solidFill>
                  <a:latin typeface="华文中宋" panose="02010600040101010101" pitchFamily="2" charset="-122"/>
                  <a:ea typeface="华文中宋" panose="02010600040101010101" pitchFamily="2" charset="-122"/>
                </a:rPr>
                <a:t>1</a:t>
              </a:r>
              <a:r>
                <a:rPr lang="zh-CN" altLang="en-US" sz="2800" b="1">
                  <a:solidFill>
                    <a:srgbClr val="00FFFF"/>
                  </a:solidFill>
                  <a:latin typeface="华文中宋" panose="02010600040101010101" pitchFamily="2" charset="-122"/>
                  <a:ea typeface="华文中宋" panose="02010600040101010101" pitchFamily="2" charset="-122"/>
                </a:rPr>
                <a:t>）登记原则</a:t>
              </a:r>
            </a:p>
          </p:txBody>
        </p:sp>
      </p:grpSp>
      <p:sp>
        <p:nvSpPr>
          <p:cNvPr id="443401" name="Rectangle 9"/>
          <p:cNvSpPr>
            <a:spLocks noChangeArrowheads="1"/>
          </p:cNvSpPr>
          <p:nvPr/>
        </p:nvSpPr>
        <p:spPr bwMode="auto">
          <a:xfrm>
            <a:off x="611188" y="1187450"/>
            <a:ext cx="80645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2</a:t>
            </a:r>
            <a:r>
              <a:rPr lang="zh-CN" altLang="en-US" sz="3200">
                <a:solidFill>
                  <a:srgbClr val="660033"/>
                </a:solidFill>
                <a:ea typeface="华文新魏" panose="02010800040101010101" pitchFamily="2" charset="-122"/>
              </a:rPr>
              <a:t>、日志文件</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0562"/>
    </mc:Choice>
    <mc:Fallback xmlns="">
      <p:transition spd="slow" advTm="205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443398"/>
                                        </p:tgtEl>
                                        <p:attrNameLst>
                                          <p:attrName>style.visibility</p:attrName>
                                        </p:attrNameLst>
                                      </p:cBhvr>
                                      <p:to>
                                        <p:strVal val="visible"/>
                                      </p:to>
                                    </p:set>
                                    <p:animEffect transition="in" filter="slide(fromRight)">
                                      <p:cBhvr>
                                        <p:cTn id="7" dur="500"/>
                                        <p:tgtEl>
                                          <p:spTgt spid="44339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43397">
                                            <p:bg/>
                                          </p:spTgt>
                                        </p:tgtEl>
                                        <p:attrNameLst>
                                          <p:attrName>style.visibility</p:attrName>
                                        </p:attrNameLst>
                                      </p:cBhvr>
                                      <p:to>
                                        <p:strVal val="visible"/>
                                      </p:to>
                                    </p:set>
                                    <p:animEffect transition="in" filter="wipe(up)">
                                      <p:cBhvr>
                                        <p:cTn id="12" dur="500"/>
                                        <p:tgtEl>
                                          <p:spTgt spid="443397">
                                            <p:bg/>
                                          </p:spTgt>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443397">
                                            <p:txEl>
                                              <p:pRg st="0" end="0"/>
                                            </p:txEl>
                                          </p:spTgt>
                                        </p:tgtEl>
                                        <p:attrNameLst>
                                          <p:attrName>style.visibility</p:attrName>
                                        </p:attrNameLst>
                                      </p:cBhvr>
                                      <p:to>
                                        <p:strVal val="visible"/>
                                      </p:to>
                                    </p:set>
                                    <p:animEffect transition="in" filter="wipe(up)">
                                      <p:cBhvr>
                                        <p:cTn id="16" dur="500"/>
                                        <p:tgtEl>
                                          <p:spTgt spid="443397">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443397">
                                            <p:txEl>
                                              <p:pRg st="1" end="1"/>
                                            </p:txEl>
                                          </p:spTgt>
                                        </p:tgtEl>
                                        <p:attrNameLst>
                                          <p:attrName>style.visibility</p:attrName>
                                        </p:attrNameLst>
                                      </p:cBhvr>
                                      <p:to>
                                        <p:strVal val="visible"/>
                                      </p:to>
                                    </p:set>
                                    <p:animEffect transition="in" filter="wipe(up)">
                                      <p:cBhvr>
                                        <p:cTn id="21" dur="500"/>
                                        <p:tgtEl>
                                          <p:spTgt spid="44339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3397" grpId="0" uiExpand="1" build="p"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二、数据库故障的基本恢复方式</a:t>
            </a:r>
          </a:p>
        </p:txBody>
      </p:sp>
      <p:sp>
        <p:nvSpPr>
          <p:cNvPr id="500739" name="AutoShape 3"/>
          <p:cNvSpPr>
            <a:spLocks noChangeArrowheads="1"/>
          </p:cNvSpPr>
          <p:nvPr/>
        </p:nvSpPr>
        <p:spPr bwMode="auto">
          <a:xfrm>
            <a:off x="468313" y="2924175"/>
            <a:ext cx="8280400" cy="3673475"/>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05000"/>
              </a:lnSpc>
              <a:spcBef>
                <a:spcPct val="30000"/>
              </a:spcBef>
              <a:buClr>
                <a:schemeClr val="folHlink"/>
              </a:buClr>
              <a:buSzPct val="60000"/>
              <a:buFont typeface="Wingdings" panose="05000000000000000000" pitchFamily="2" charset="2"/>
              <a:buNone/>
            </a:pPr>
            <a:r>
              <a:rPr lang="zh-CN" altLang="en-US" sz="2400" b="1">
                <a:solidFill>
                  <a:srgbClr val="CC0000"/>
                </a:solidFill>
                <a:effectLst>
                  <a:outerShdw blurRad="38100" dist="38100" dir="2700000" algn="tl">
                    <a:srgbClr val="C0C0C0"/>
                  </a:outerShdw>
                </a:effectLst>
                <a:latin typeface="Tahoma" panose="020B0604030504040204" pitchFamily="34" charset="0"/>
                <a:ea typeface="楷体_GB2312" pitchFamily="49" charset="-122"/>
              </a:rPr>
              <a:t>      ● </a:t>
            </a:r>
            <a:r>
              <a:rPr lang="zh-CN" altLang="en-US" sz="2400" b="1">
                <a:latin typeface="Tahoma" panose="020B0604030504040204" pitchFamily="34" charset="0"/>
                <a:ea typeface="楷体_GB2312" pitchFamily="49" charset="-122"/>
              </a:rPr>
              <a:t>更新事务的标识</a:t>
            </a:r>
            <a:r>
              <a:rPr lang="en-US" altLang="zh-CN" sz="2400" b="1">
                <a:latin typeface="Tahoma" panose="020B0604030504040204" pitchFamily="34" charset="0"/>
                <a:ea typeface="楷体_GB2312" pitchFamily="49" charset="-122"/>
              </a:rPr>
              <a:t>(</a:t>
            </a:r>
            <a:r>
              <a:rPr lang="zh-CN" altLang="en-US" sz="2400" b="1">
                <a:latin typeface="Tahoma" panose="020B0604030504040204" pitchFamily="34" charset="0"/>
                <a:ea typeface="楷体_GB2312" pitchFamily="49" charset="-122"/>
              </a:rPr>
              <a:t>标明是哪个事务</a:t>
            </a:r>
            <a:r>
              <a:rPr lang="en-US" altLang="zh-CN" sz="2400" b="1">
                <a:latin typeface="Tahoma" panose="020B0604030504040204" pitchFamily="34" charset="0"/>
                <a:ea typeface="楷体_GB2312" pitchFamily="49" charset="-122"/>
              </a:rPr>
              <a:t>)</a:t>
            </a:r>
            <a:r>
              <a:rPr lang="zh-CN" altLang="en-US" sz="2400" b="1">
                <a:latin typeface="Tahoma" panose="020B0604030504040204" pitchFamily="34" charset="0"/>
                <a:ea typeface="楷体_GB2312" pitchFamily="49" charset="-122"/>
              </a:rPr>
              <a:t>；</a:t>
            </a:r>
          </a:p>
          <a:p>
            <a:pPr>
              <a:lnSpc>
                <a:spcPct val="105000"/>
              </a:lnSpc>
              <a:spcBef>
                <a:spcPct val="30000"/>
              </a:spcBef>
              <a:buClr>
                <a:schemeClr val="folHlink"/>
              </a:buClr>
              <a:buSzPct val="60000"/>
              <a:buFont typeface="Wingdings" panose="05000000000000000000" pitchFamily="2" charset="2"/>
              <a:buNone/>
            </a:pPr>
            <a:r>
              <a:rPr lang="zh-CN" altLang="en-US" sz="2400" b="1">
                <a:solidFill>
                  <a:srgbClr val="CC0000"/>
                </a:solidFill>
                <a:effectLst>
                  <a:outerShdw blurRad="38100" dist="38100" dir="2700000" algn="tl">
                    <a:srgbClr val="C0C0C0"/>
                  </a:outerShdw>
                </a:effectLst>
                <a:latin typeface="Tahoma" panose="020B0604030504040204" pitchFamily="34" charset="0"/>
                <a:ea typeface="楷体_GB2312" pitchFamily="49" charset="-122"/>
              </a:rPr>
              <a:t>      ●</a:t>
            </a:r>
            <a:r>
              <a:rPr lang="zh-CN" altLang="en-US" sz="2400" b="1">
                <a:latin typeface="Tahoma" panose="020B0604030504040204" pitchFamily="34" charset="0"/>
                <a:ea typeface="楷体_GB2312" pitchFamily="49" charset="-122"/>
              </a:rPr>
              <a:t> 操作的类型</a:t>
            </a:r>
            <a:r>
              <a:rPr lang="en-US" altLang="zh-CN" sz="2400" b="1">
                <a:latin typeface="Tahoma" panose="020B0604030504040204" pitchFamily="34" charset="0"/>
                <a:ea typeface="楷体_GB2312" pitchFamily="49" charset="-122"/>
              </a:rPr>
              <a:t>(</a:t>
            </a:r>
            <a:r>
              <a:rPr lang="zh-CN" altLang="en-US" sz="2400" b="1">
                <a:latin typeface="Tahoma" panose="020B0604030504040204" pitchFamily="34" charset="0"/>
                <a:ea typeface="楷体_GB2312" pitchFamily="49" charset="-122"/>
              </a:rPr>
              <a:t>插入、删除或修改</a:t>
            </a:r>
            <a:r>
              <a:rPr lang="en-US" altLang="zh-CN" sz="2400" b="1">
                <a:latin typeface="Tahoma" panose="020B0604030504040204" pitchFamily="34" charset="0"/>
                <a:ea typeface="楷体_GB2312" pitchFamily="49" charset="-122"/>
              </a:rPr>
              <a:t>)</a:t>
            </a:r>
            <a:r>
              <a:rPr lang="zh-CN" altLang="en-US" sz="2400" b="1">
                <a:latin typeface="Tahoma" panose="020B0604030504040204" pitchFamily="34" charset="0"/>
                <a:ea typeface="楷体_GB2312" pitchFamily="49" charset="-122"/>
              </a:rPr>
              <a:t>；</a:t>
            </a:r>
          </a:p>
          <a:p>
            <a:pPr>
              <a:lnSpc>
                <a:spcPct val="105000"/>
              </a:lnSpc>
              <a:spcBef>
                <a:spcPct val="30000"/>
              </a:spcBef>
              <a:buClr>
                <a:schemeClr val="folHlink"/>
              </a:buClr>
              <a:buSzPct val="60000"/>
              <a:buFont typeface="Wingdings" panose="05000000000000000000" pitchFamily="2" charset="2"/>
              <a:buNone/>
            </a:pPr>
            <a:r>
              <a:rPr lang="zh-CN" altLang="en-US" sz="2400" b="1">
                <a:solidFill>
                  <a:srgbClr val="CC0000"/>
                </a:solidFill>
                <a:effectLst>
                  <a:outerShdw blurRad="38100" dist="38100" dir="2700000" algn="tl">
                    <a:srgbClr val="C0C0C0"/>
                  </a:outerShdw>
                </a:effectLst>
                <a:latin typeface="Tahoma" panose="020B0604030504040204" pitchFamily="34" charset="0"/>
                <a:ea typeface="楷体_GB2312" pitchFamily="49" charset="-122"/>
              </a:rPr>
              <a:t>      ●</a:t>
            </a:r>
            <a:r>
              <a:rPr lang="zh-CN" altLang="en-US" sz="2400" b="1">
                <a:latin typeface="Tahoma" panose="020B0604030504040204" pitchFamily="34" charset="0"/>
                <a:ea typeface="楷体_GB2312" pitchFamily="49" charset="-122"/>
              </a:rPr>
              <a:t> 操作对象；</a:t>
            </a:r>
          </a:p>
          <a:p>
            <a:pPr>
              <a:lnSpc>
                <a:spcPct val="105000"/>
              </a:lnSpc>
              <a:spcBef>
                <a:spcPct val="30000"/>
              </a:spcBef>
              <a:buClr>
                <a:schemeClr val="folHlink"/>
              </a:buClr>
              <a:buSzPct val="60000"/>
              <a:buFont typeface="Wingdings" panose="05000000000000000000" pitchFamily="2" charset="2"/>
              <a:buNone/>
            </a:pPr>
            <a:r>
              <a:rPr lang="zh-CN" altLang="en-US" sz="2400" b="1">
                <a:solidFill>
                  <a:srgbClr val="CC0000"/>
                </a:solidFill>
                <a:effectLst>
                  <a:outerShdw blurRad="38100" dist="38100" dir="2700000" algn="tl">
                    <a:srgbClr val="C0C0C0"/>
                  </a:outerShdw>
                </a:effectLst>
                <a:latin typeface="Tahoma" panose="020B0604030504040204" pitchFamily="34" charset="0"/>
                <a:ea typeface="楷体_GB2312" pitchFamily="49" charset="-122"/>
              </a:rPr>
              <a:t>      ●</a:t>
            </a:r>
            <a:r>
              <a:rPr lang="zh-CN" altLang="en-US" sz="2400" b="1">
                <a:latin typeface="Tahoma" panose="020B0604030504040204" pitchFamily="34" charset="0"/>
                <a:ea typeface="楷体_GB2312" pitchFamily="49" charset="-122"/>
              </a:rPr>
              <a:t> 更新前的旧数据值</a:t>
            </a:r>
            <a:r>
              <a:rPr lang="en-US" altLang="zh-CN" sz="2400" b="1">
                <a:latin typeface="Tahoma" panose="020B0604030504040204" pitchFamily="34" charset="0"/>
                <a:ea typeface="楷体_GB2312" pitchFamily="49" charset="-122"/>
              </a:rPr>
              <a:t>(</a:t>
            </a:r>
            <a:r>
              <a:rPr lang="zh-CN" altLang="en-US" sz="2400" b="1">
                <a:latin typeface="Tahoma" panose="020B0604030504040204" pitchFamily="34" charset="0"/>
                <a:ea typeface="楷体_GB2312" pitchFamily="49" charset="-122"/>
              </a:rPr>
              <a:t>对于插入操作此项为空</a:t>
            </a:r>
            <a:r>
              <a:rPr lang="en-US" altLang="zh-CN" sz="2400" b="1">
                <a:latin typeface="Tahoma" panose="020B0604030504040204" pitchFamily="34" charset="0"/>
                <a:ea typeface="楷体_GB2312" pitchFamily="49" charset="-122"/>
              </a:rPr>
              <a:t>)</a:t>
            </a:r>
            <a:r>
              <a:rPr lang="zh-CN" altLang="en-US" sz="2400" b="1">
                <a:latin typeface="Tahoma" panose="020B0604030504040204" pitchFamily="34" charset="0"/>
                <a:ea typeface="楷体_GB2312" pitchFamily="49" charset="-122"/>
              </a:rPr>
              <a:t>；</a:t>
            </a:r>
          </a:p>
          <a:p>
            <a:pPr>
              <a:lnSpc>
                <a:spcPct val="105000"/>
              </a:lnSpc>
              <a:spcBef>
                <a:spcPct val="30000"/>
              </a:spcBef>
              <a:buClr>
                <a:schemeClr val="folHlink"/>
              </a:buClr>
              <a:buSzPct val="60000"/>
              <a:buFont typeface="Wingdings" panose="05000000000000000000" pitchFamily="2" charset="2"/>
              <a:buNone/>
            </a:pPr>
            <a:r>
              <a:rPr lang="zh-CN" altLang="en-US" sz="2400" b="1">
                <a:solidFill>
                  <a:srgbClr val="CC0000"/>
                </a:solidFill>
                <a:effectLst>
                  <a:outerShdw blurRad="38100" dist="38100" dir="2700000" algn="tl">
                    <a:srgbClr val="C0C0C0"/>
                  </a:outerShdw>
                </a:effectLst>
                <a:latin typeface="Tahoma" panose="020B0604030504040204" pitchFamily="34" charset="0"/>
                <a:ea typeface="楷体_GB2312" pitchFamily="49" charset="-122"/>
              </a:rPr>
              <a:t>      ●</a:t>
            </a:r>
            <a:r>
              <a:rPr lang="zh-CN" altLang="en-US" sz="2400" b="1">
                <a:latin typeface="Tahoma" panose="020B0604030504040204" pitchFamily="34" charset="0"/>
                <a:ea typeface="楷体_GB2312" pitchFamily="49" charset="-122"/>
              </a:rPr>
              <a:t> 更新后的新数据值；</a:t>
            </a:r>
          </a:p>
          <a:p>
            <a:pPr>
              <a:lnSpc>
                <a:spcPct val="105000"/>
              </a:lnSpc>
              <a:spcBef>
                <a:spcPct val="30000"/>
              </a:spcBef>
              <a:buClr>
                <a:schemeClr val="folHlink"/>
              </a:buClr>
              <a:buSzPct val="60000"/>
              <a:buFont typeface="Wingdings" panose="05000000000000000000" pitchFamily="2" charset="2"/>
              <a:buNone/>
            </a:pPr>
            <a:r>
              <a:rPr lang="zh-CN" altLang="en-US" sz="2400" b="1">
                <a:solidFill>
                  <a:srgbClr val="CC0000"/>
                </a:solidFill>
                <a:effectLst>
                  <a:outerShdw blurRad="38100" dist="38100" dir="2700000" algn="tl">
                    <a:srgbClr val="C0C0C0"/>
                  </a:outerShdw>
                </a:effectLst>
                <a:latin typeface="Tahoma" panose="020B0604030504040204" pitchFamily="34" charset="0"/>
                <a:ea typeface="楷体_GB2312" pitchFamily="49" charset="-122"/>
              </a:rPr>
              <a:t>      ●</a:t>
            </a:r>
            <a:r>
              <a:rPr lang="zh-CN" altLang="en-US" sz="2400" b="1">
                <a:latin typeface="Tahoma" panose="020B0604030504040204" pitchFamily="34" charset="0"/>
                <a:ea typeface="楷体_GB2312" pitchFamily="49" charset="-122"/>
              </a:rPr>
              <a:t> 事务处理中的其它信息，如事务开始时间、事务结束时间、真正回写到数据库的时间等。</a:t>
            </a:r>
            <a:r>
              <a:rPr lang="zh-CN" altLang="en-US" sz="2400" b="1">
                <a:effectLst>
                  <a:outerShdw blurRad="38100" dist="38100" dir="2700000" algn="tl">
                    <a:srgbClr val="C0C0C0"/>
                  </a:outerShdw>
                </a:effectLst>
                <a:latin typeface="Tahoma" panose="020B0604030504040204" pitchFamily="34" charset="0"/>
                <a:ea typeface="楷体_GB2312" pitchFamily="49" charset="-122"/>
              </a:rPr>
              <a:t> </a:t>
            </a:r>
          </a:p>
        </p:txBody>
      </p:sp>
      <p:grpSp>
        <p:nvGrpSpPr>
          <p:cNvPr id="500743" name="Group 7"/>
          <p:cNvGrpSpPr/>
          <p:nvPr/>
        </p:nvGrpSpPr>
        <p:grpSpPr bwMode="auto">
          <a:xfrm>
            <a:off x="971550" y="2070100"/>
            <a:ext cx="3311525" cy="720725"/>
            <a:chOff x="340" y="1389"/>
            <a:chExt cx="926" cy="499"/>
          </a:xfrm>
        </p:grpSpPr>
        <p:sp>
          <p:nvSpPr>
            <p:cNvPr id="500744" name="Freeform 22"/>
            <p:cNvSpPr/>
            <p:nvPr/>
          </p:nvSpPr>
          <p:spPr bwMode="auto">
            <a:xfrm>
              <a:off x="340" y="1389"/>
              <a:ext cx="926" cy="499"/>
            </a:xfrm>
            <a:custGeom>
              <a:avLst/>
              <a:gdLst>
                <a:gd name="T0" fmla="*/ 120 w 1071"/>
                <a:gd name="T1" fmla="*/ 0 h 307"/>
                <a:gd name="T2" fmla="*/ 1546 w 1071"/>
                <a:gd name="T3" fmla="*/ 0 h 307"/>
                <a:gd name="T4" fmla="*/ 1546 w 1071"/>
                <a:gd name="T5" fmla="*/ 279 h 307"/>
                <a:gd name="T6" fmla="*/ 1526 w 1071"/>
                <a:gd name="T7" fmla="*/ 381 h 307"/>
                <a:gd name="T8" fmla="*/ 1428 w 1071"/>
                <a:gd name="T9" fmla="*/ 426 h 307"/>
                <a:gd name="T10" fmla="*/ 0 w 1071"/>
                <a:gd name="T11" fmla="*/ 433 h 307"/>
                <a:gd name="T12" fmla="*/ 0 w 1071"/>
                <a:gd name="T13" fmla="*/ 126 h 307"/>
                <a:gd name="T14" fmla="*/ 30 w 1071"/>
                <a:gd name="T15" fmla="*/ 25 h 307"/>
                <a:gd name="T16" fmla="*/ 120 w 1071"/>
                <a:gd name="T17" fmla="*/ 0 h 30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71"/>
                <a:gd name="T28" fmla="*/ 0 h 307"/>
                <a:gd name="T29" fmla="*/ 1071 w 1071"/>
                <a:gd name="T30" fmla="*/ 307 h 30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71" h="307">
                  <a:moveTo>
                    <a:pt x="83" y="0"/>
                  </a:moveTo>
                  <a:lnTo>
                    <a:pt x="1069" y="0"/>
                  </a:lnTo>
                  <a:cubicBezTo>
                    <a:pt x="1069" y="0"/>
                    <a:pt x="1069" y="99"/>
                    <a:pt x="1069" y="198"/>
                  </a:cubicBezTo>
                  <a:cubicBezTo>
                    <a:pt x="1069" y="198"/>
                    <a:pt x="1071" y="248"/>
                    <a:pt x="1055" y="270"/>
                  </a:cubicBezTo>
                  <a:cubicBezTo>
                    <a:pt x="1043" y="288"/>
                    <a:pt x="1019" y="302"/>
                    <a:pt x="987" y="302"/>
                  </a:cubicBezTo>
                  <a:cubicBezTo>
                    <a:pt x="488" y="303"/>
                    <a:pt x="0" y="307"/>
                    <a:pt x="0" y="307"/>
                  </a:cubicBezTo>
                  <a:lnTo>
                    <a:pt x="0" y="89"/>
                  </a:lnTo>
                  <a:cubicBezTo>
                    <a:pt x="3" y="41"/>
                    <a:pt x="7" y="33"/>
                    <a:pt x="21" y="18"/>
                  </a:cubicBezTo>
                  <a:cubicBezTo>
                    <a:pt x="35" y="3"/>
                    <a:pt x="66" y="1"/>
                    <a:pt x="83" y="0"/>
                  </a:cubicBezTo>
                  <a:close/>
                </a:path>
              </a:pathLst>
            </a:custGeom>
            <a:gradFill rotWithShape="1">
              <a:gsLst>
                <a:gs pos="0">
                  <a:srgbClr val="822061"/>
                </a:gs>
                <a:gs pos="50000">
                  <a:srgbClr val="CC3399"/>
                </a:gs>
                <a:gs pos="100000">
                  <a:srgbClr val="822061"/>
                </a:gs>
              </a:gsLst>
              <a:lin ang="5400000" scaled="1"/>
            </a:gradFill>
            <a:ln w="28575" cmpd="sng">
              <a:solidFill>
                <a:srgbClr val="FFFFFF"/>
              </a:solidFill>
              <a:miter lim="800000"/>
            </a:ln>
            <a:effectLst>
              <a:outerShdw dist="71842" dir="2700000" algn="ctr" rotWithShape="0">
                <a:srgbClr val="000000">
                  <a:alpha val="50000"/>
                </a:srgbClr>
              </a:outerShdw>
            </a:effectLst>
          </p:spPr>
          <p:txBody>
            <a:bodyPr wrap="none" anchor="ctr"/>
            <a:lstStyle/>
            <a:p>
              <a:endParaRPr lang="zh-CN" altLang="en-US"/>
            </a:p>
          </p:txBody>
        </p:sp>
        <p:sp>
          <p:nvSpPr>
            <p:cNvPr id="500745" name="Text Box 9"/>
            <p:cNvSpPr txBox="1">
              <a:spLocks noChangeArrowheads="1"/>
            </p:cNvSpPr>
            <p:nvPr/>
          </p:nvSpPr>
          <p:spPr bwMode="auto">
            <a:xfrm>
              <a:off x="431" y="1437"/>
              <a:ext cx="710"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r>
                <a:rPr lang="zh-CN" altLang="en-US" sz="2800" b="1">
                  <a:solidFill>
                    <a:srgbClr val="00FFFF"/>
                  </a:solidFill>
                  <a:latin typeface="华文中宋" panose="02010600040101010101" pitchFamily="2" charset="-122"/>
                  <a:ea typeface="华文中宋" panose="02010600040101010101" pitchFamily="2" charset="-122"/>
                </a:rPr>
                <a:t>（</a:t>
              </a:r>
              <a:r>
                <a:rPr lang="en-US" altLang="zh-CN" sz="2800" b="1">
                  <a:solidFill>
                    <a:srgbClr val="00FFFF"/>
                  </a:solidFill>
                  <a:latin typeface="华文中宋" panose="02010600040101010101" pitchFamily="2" charset="-122"/>
                  <a:ea typeface="华文中宋" panose="02010600040101010101" pitchFamily="2" charset="-122"/>
                </a:rPr>
                <a:t>1</a:t>
              </a:r>
              <a:r>
                <a:rPr lang="zh-CN" altLang="en-US" sz="2800" b="1">
                  <a:solidFill>
                    <a:srgbClr val="00FFFF"/>
                  </a:solidFill>
                  <a:latin typeface="华文中宋" panose="02010600040101010101" pitchFamily="2" charset="-122"/>
                  <a:ea typeface="华文中宋" panose="02010600040101010101" pitchFamily="2" charset="-122"/>
                </a:rPr>
                <a:t>）登记原则</a:t>
              </a:r>
            </a:p>
          </p:txBody>
        </p:sp>
      </p:grpSp>
      <p:sp>
        <p:nvSpPr>
          <p:cNvPr id="500746" name="Rectangle 10"/>
          <p:cNvSpPr>
            <a:spLocks noChangeArrowheads="1"/>
          </p:cNvSpPr>
          <p:nvPr/>
        </p:nvSpPr>
        <p:spPr bwMode="auto">
          <a:xfrm>
            <a:off x="827088" y="1196975"/>
            <a:ext cx="80645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2</a:t>
            </a:r>
            <a:r>
              <a:rPr lang="zh-CN" altLang="en-US" sz="3200">
                <a:solidFill>
                  <a:srgbClr val="660033"/>
                </a:solidFill>
                <a:ea typeface="华文新魏" panose="02010800040101010101" pitchFamily="2" charset="-122"/>
              </a:rPr>
              <a:t>、日志文件</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1909"/>
    </mc:Choice>
    <mc:Fallback xmlns="">
      <p:transition spd="slow" advTm="2190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00739">
                                            <p:bg/>
                                          </p:spTgt>
                                        </p:tgtEl>
                                        <p:attrNameLst>
                                          <p:attrName>style.visibility</p:attrName>
                                        </p:attrNameLst>
                                      </p:cBhvr>
                                      <p:to>
                                        <p:strVal val="visible"/>
                                      </p:to>
                                    </p:set>
                                    <p:animEffect transition="in" filter="wipe(up)">
                                      <p:cBhvr>
                                        <p:cTn id="7" dur="500"/>
                                        <p:tgtEl>
                                          <p:spTgt spid="500739">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00739">
                                            <p:txEl>
                                              <p:pRg st="0" end="0"/>
                                            </p:txEl>
                                          </p:spTgt>
                                        </p:tgtEl>
                                        <p:attrNameLst>
                                          <p:attrName>style.visibility</p:attrName>
                                        </p:attrNameLst>
                                      </p:cBhvr>
                                      <p:to>
                                        <p:strVal val="visible"/>
                                      </p:to>
                                    </p:set>
                                    <p:animEffect transition="in" filter="wipe(up)">
                                      <p:cBhvr>
                                        <p:cTn id="12" dur="500"/>
                                        <p:tgtEl>
                                          <p:spTgt spid="50073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00739">
                                            <p:txEl>
                                              <p:pRg st="1" end="1"/>
                                            </p:txEl>
                                          </p:spTgt>
                                        </p:tgtEl>
                                        <p:attrNameLst>
                                          <p:attrName>style.visibility</p:attrName>
                                        </p:attrNameLst>
                                      </p:cBhvr>
                                      <p:to>
                                        <p:strVal val="visible"/>
                                      </p:to>
                                    </p:set>
                                    <p:animEffect transition="in" filter="wipe(up)">
                                      <p:cBhvr>
                                        <p:cTn id="17" dur="500"/>
                                        <p:tgtEl>
                                          <p:spTgt spid="50073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00739">
                                            <p:txEl>
                                              <p:pRg st="2" end="2"/>
                                            </p:txEl>
                                          </p:spTgt>
                                        </p:tgtEl>
                                        <p:attrNameLst>
                                          <p:attrName>style.visibility</p:attrName>
                                        </p:attrNameLst>
                                      </p:cBhvr>
                                      <p:to>
                                        <p:strVal val="visible"/>
                                      </p:to>
                                    </p:set>
                                    <p:animEffect transition="in" filter="wipe(up)">
                                      <p:cBhvr>
                                        <p:cTn id="22" dur="500"/>
                                        <p:tgtEl>
                                          <p:spTgt spid="50073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00739">
                                            <p:txEl>
                                              <p:pRg st="3" end="3"/>
                                            </p:txEl>
                                          </p:spTgt>
                                        </p:tgtEl>
                                        <p:attrNameLst>
                                          <p:attrName>style.visibility</p:attrName>
                                        </p:attrNameLst>
                                      </p:cBhvr>
                                      <p:to>
                                        <p:strVal val="visible"/>
                                      </p:to>
                                    </p:set>
                                    <p:animEffect transition="in" filter="wipe(up)">
                                      <p:cBhvr>
                                        <p:cTn id="27" dur="500"/>
                                        <p:tgtEl>
                                          <p:spTgt spid="500739">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00739">
                                            <p:txEl>
                                              <p:pRg st="4" end="4"/>
                                            </p:txEl>
                                          </p:spTgt>
                                        </p:tgtEl>
                                        <p:attrNameLst>
                                          <p:attrName>style.visibility</p:attrName>
                                        </p:attrNameLst>
                                      </p:cBhvr>
                                      <p:to>
                                        <p:strVal val="visible"/>
                                      </p:to>
                                    </p:set>
                                    <p:animEffect transition="in" filter="wipe(up)">
                                      <p:cBhvr>
                                        <p:cTn id="32" dur="500"/>
                                        <p:tgtEl>
                                          <p:spTgt spid="500739">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500739">
                                            <p:txEl>
                                              <p:pRg st="5" end="5"/>
                                            </p:txEl>
                                          </p:spTgt>
                                        </p:tgtEl>
                                        <p:attrNameLst>
                                          <p:attrName>style.visibility</p:attrName>
                                        </p:attrNameLst>
                                      </p:cBhvr>
                                      <p:to>
                                        <p:strVal val="visible"/>
                                      </p:to>
                                    </p:set>
                                    <p:animEffect transition="in" filter="wipe(up)">
                                      <p:cBhvr>
                                        <p:cTn id="37" dur="500"/>
                                        <p:tgtEl>
                                          <p:spTgt spid="5007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739" grpId="0" build="p"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2"/>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二、数据库故障的基本恢复方式</a:t>
            </a:r>
          </a:p>
        </p:txBody>
      </p:sp>
      <p:sp>
        <p:nvSpPr>
          <p:cNvPr id="499715" name="AutoShape 3"/>
          <p:cNvSpPr>
            <a:spLocks noChangeArrowheads="1"/>
          </p:cNvSpPr>
          <p:nvPr/>
        </p:nvSpPr>
        <p:spPr bwMode="auto">
          <a:xfrm>
            <a:off x="468313" y="3429000"/>
            <a:ext cx="8280400" cy="2447925"/>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20000"/>
              </a:lnSpc>
              <a:spcBef>
                <a:spcPct val="20000"/>
              </a:spcBef>
              <a:buClr>
                <a:schemeClr val="folHlink"/>
              </a:buClr>
              <a:buSzPct val="60000"/>
              <a:buFont typeface="Wingdings" panose="05000000000000000000" pitchFamily="2" charset="2"/>
              <a:buNone/>
            </a:pPr>
            <a:r>
              <a:rPr lang="zh-CN" altLang="en-US" sz="2800" b="1">
                <a:latin typeface="Tahoma" panose="020B0604030504040204" pitchFamily="34" charset="0"/>
                <a:ea typeface="楷体_GB2312" pitchFamily="49" charset="-122"/>
              </a:rPr>
              <a:t> </a:t>
            </a:r>
            <a:r>
              <a:rPr lang="zh-CN" altLang="en-US" sz="2800" b="1">
                <a:solidFill>
                  <a:srgbClr val="000099"/>
                </a:solidFill>
                <a:latin typeface="Tahoma" panose="020B0604030504040204" pitchFamily="34" charset="0"/>
                <a:ea typeface="楷体_GB2312" pitchFamily="49" charset="-122"/>
              </a:rPr>
              <a:t>② 以数据块为单位的日志文件</a:t>
            </a:r>
          </a:p>
          <a:p>
            <a:pPr>
              <a:lnSpc>
                <a:spcPct val="120000"/>
              </a:lnSpc>
              <a:spcBef>
                <a:spcPct val="20000"/>
              </a:spcBef>
              <a:buClr>
                <a:schemeClr val="folHlink"/>
              </a:buClr>
              <a:buSzPct val="60000"/>
              <a:buFont typeface="Wingdings" panose="05000000000000000000" pitchFamily="2" charset="2"/>
              <a:buNone/>
            </a:pPr>
            <a:r>
              <a:rPr lang="zh-CN" altLang="en-US" sz="2600" b="1">
                <a:latin typeface="Tahoma" panose="020B0604030504040204" pitchFamily="34" charset="0"/>
                <a:ea typeface="楷体_GB2312" pitchFamily="49" charset="-122"/>
              </a:rPr>
              <a:t>        只要某个数据块中有数据被更新，就将整个更新前和更新后的内容放入日志文件中。</a:t>
            </a:r>
          </a:p>
        </p:txBody>
      </p:sp>
      <p:grpSp>
        <p:nvGrpSpPr>
          <p:cNvPr id="499716" name="Group 4"/>
          <p:cNvGrpSpPr/>
          <p:nvPr/>
        </p:nvGrpSpPr>
        <p:grpSpPr bwMode="auto">
          <a:xfrm>
            <a:off x="971550" y="2276475"/>
            <a:ext cx="3311525" cy="720725"/>
            <a:chOff x="340" y="1389"/>
            <a:chExt cx="926" cy="499"/>
          </a:xfrm>
        </p:grpSpPr>
        <p:sp>
          <p:nvSpPr>
            <p:cNvPr id="499717" name="Freeform 22"/>
            <p:cNvSpPr/>
            <p:nvPr/>
          </p:nvSpPr>
          <p:spPr bwMode="auto">
            <a:xfrm>
              <a:off x="340" y="1389"/>
              <a:ext cx="926" cy="499"/>
            </a:xfrm>
            <a:custGeom>
              <a:avLst/>
              <a:gdLst>
                <a:gd name="T0" fmla="*/ 120 w 1071"/>
                <a:gd name="T1" fmla="*/ 0 h 307"/>
                <a:gd name="T2" fmla="*/ 1546 w 1071"/>
                <a:gd name="T3" fmla="*/ 0 h 307"/>
                <a:gd name="T4" fmla="*/ 1546 w 1071"/>
                <a:gd name="T5" fmla="*/ 279 h 307"/>
                <a:gd name="T6" fmla="*/ 1526 w 1071"/>
                <a:gd name="T7" fmla="*/ 381 h 307"/>
                <a:gd name="T8" fmla="*/ 1428 w 1071"/>
                <a:gd name="T9" fmla="*/ 426 h 307"/>
                <a:gd name="T10" fmla="*/ 0 w 1071"/>
                <a:gd name="T11" fmla="*/ 433 h 307"/>
                <a:gd name="T12" fmla="*/ 0 w 1071"/>
                <a:gd name="T13" fmla="*/ 126 h 307"/>
                <a:gd name="T14" fmla="*/ 30 w 1071"/>
                <a:gd name="T15" fmla="*/ 25 h 307"/>
                <a:gd name="T16" fmla="*/ 120 w 1071"/>
                <a:gd name="T17" fmla="*/ 0 h 30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71"/>
                <a:gd name="T28" fmla="*/ 0 h 307"/>
                <a:gd name="T29" fmla="*/ 1071 w 1071"/>
                <a:gd name="T30" fmla="*/ 307 h 30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71" h="307">
                  <a:moveTo>
                    <a:pt x="83" y="0"/>
                  </a:moveTo>
                  <a:lnTo>
                    <a:pt x="1069" y="0"/>
                  </a:lnTo>
                  <a:cubicBezTo>
                    <a:pt x="1069" y="0"/>
                    <a:pt x="1069" y="99"/>
                    <a:pt x="1069" y="198"/>
                  </a:cubicBezTo>
                  <a:cubicBezTo>
                    <a:pt x="1069" y="198"/>
                    <a:pt x="1071" y="248"/>
                    <a:pt x="1055" y="270"/>
                  </a:cubicBezTo>
                  <a:cubicBezTo>
                    <a:pt x="1043" y="288"/>
                    <a:pt x="1019" y="302"/>
                    <a:pt x="987" y="302"/>
                  </a:cubicBezTo>
                  <a:cubicBezTo>
                    <a:pt x="488" y="303"/>
                    <a:pt x="0" y="307"/>
                    <a:pt x="0" y="307"/>
                  </a:cubicBezTo>
                  <a:lnTo>
                    <a:pt x="0" y="89"/>
                  </a:lnTo>
                  <a:cubicBezTo>
                    <a:pt x="3" y="41"/>
                    <a:pt x="7" y="33"/>
                    <a:pt x="21" y="18"/>
                  </a:cubicBezTo>
                  <a:cubicBezTo>
                    <a:pt x="35" y="3"/>
                    <a:pt x="66" y="1"/>
                    <a:pt x="83" y="0"/>
                  </a:cubicBezTo>
                  <a:close/>
                </a:path>
              </a:pathLst>
            </a:custGeom>
            <a:gradFill rotWithShape="1">
              <a:gsLst>
                <a:gs pos="0">
                  <a:srgbClr val="822061"/>
                </a:gs>
                <a:gs pos="50000">
                  <a:srgbClr val="CC3399"/>
                </a:gs>
                <a:gs pos="100000">
                  <a:srgbClr val="822061"/>
                </a:gs>
              </a:gsLst>
              <a:lin ang="5400000" scaled="1"/>
            </a:gradFill>
            <a:ln w="28575" cmpd="sng">
              <a:solidFill>
                <a:srgbClr val="FFFFFF"/>
              </a:solidFill>
              <a:miter lim="800000"/>
            </a:ln>
            <a:effectLst>
              <a:outerShdw dist="71842" dir="2700000" algn="ctr" rotWithShape="0">
                <a:srgbClr val="000000">
                  <a:alpha val="50000"/>
                </a:srgbClr>
              </a:outerShdw>
            </a:effectLst>
          </p:spPr>
          <p:txBody>
            <a:bodyPr wrap="none" anchor="ctr"/>
            <a:lstStyle/>
            <a:p>
              <a:endParaRPr lang="zh-CN" altLang="en-US"/>
            </a:p>
          </p:txBody>
        </p:sp>
        <p:sp>
          <p:nvSpPr>
            <p:cNvPr id="499718" name="Text Box 6"/>
            <p:cNvSpPr txBox="1">
              <a:spLocks noChangeArrowheads="1"/>
            </p:cNvSpPr>
            <p:nvPr/>
          </p:nvSpPr>
          <p:spPr bwMode="auto">
            <a:xfrm>
              <a:off x="431" y="1437"/>
              <a:ext cx="710"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r>
                <a:rPr lang="zh-CN" altLang="en-US" sz="2800" b="1">
                  <a:solidFill>
                    <a:srgbClr val="00FFFF"/>
                  </a:solidFill>
                  <a:latin typeface="华文中宋" panose="02010600040101010101" pitchFamily="2" charset="-122"/>
                  <a:ea typeface="华文中宋" panose="02010600040101010101" pitchFamily="2" charset="-122"/>
                </a:rPr>
                <a:t>（</a:t>
              </a:r>
              <a:r>
                <a:rPr lang="en-US" altLang="zh-CN" sz="2800" b="1">
                  <a:solidFill>
                    <a:srgbClr val="00FFFF"/>
                  </a:solidFill>
                  <a:latin typeface="华文中宋" panose="02010600040101010101" pitchFamily="2" charset="-122"/>
                  <a:ea typeface="华文中宋" panose="02010600040101010101" pitchFamily="2" charset="-122"/>
                </a:rPr>
                <a:t>1</a:t>
              </a:r>
              <a:r>
                <a:rPr lang="zh-CN" altLang="en-US" sz="2800" b="1">
                  <a:solidFill>
                    <a:srgbClr val="00FFFF"/>
                  </a:solidFill>
                  <a:latin typeface="华文中宋" panose="02010600040101010101" pitchFamily="2" charset="-122"/>
                  <a:ea typeface="华文中宋" panose="02010600040101010101" pitchFamily="2" charset="-122"/>
                </a:rPr>
                <a:t>）登记原则</a:t>
              </a:r>
            </a:p>
          </p:txBody>
        </p:sp>
      </p:grpSp>
      <p:sp>
        <p:nvSpPr>
          <p:cNvPr id="499719" name="Rectangle 7"/>
          <p:cNvSpPr>
            <a:spLocks noChangeArrowheads="1"/>
          </p:cNvSpPr>
          <p:nvPr/>
        </p:nvSpPr>
        <p:spPr bwMode="auto">
          <a:xfrm>
            <a:off x="827088" y="1403350"/>
            <a:ext cx="80645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2</a:t>
            </a:r>
            <a:r>
              <a:rPr lang="zh-CN" altLang="en-US" sz="3200">
                <a:solidFill>
                  <a:srgbClr val="660033"/>
                </a:solidFill>
                <a:ea typeface="华文新魏" panose="02010800040101010101" pitchFamily="2" charset="-122"/>
              </a:rPr>
              <a:t>、日志文件</a:t>
            </a:r>
          </a:p>
        </p:txBody>
      </p:sp>
    </p:spTree>
  </p:cSld>
  <p:clrMapOvr>
    <a:masterClrMapping/>
  </p:clrMapOvr>
  <mc:AlternateContent xmlns:mc="http://schemas.openxmlformats.org/markup-compatibility/2006" xmlns:p14="http://schemas.microsoft.com/office/powerpoint/2010/main">
    <mc:Choice Requires="p14">
      <p:transition spd="slow" p14:dur="2000" advTm="14936"/>
    </mc:Choice>
    <mc:Fallback xmlns="">
      <p:transition spd="slow" advTm="1493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99715">
                                            <p:bg/>
                                          </p:spTgt>
                                        </p:tgtEl>
                                        <p:attrNameLst>
                                          <p:attrName>style.visibility</p:attrName>
                                        </p:attrNameLst>
                                      </p:cBhvr>
                                      <p:to>
                                        <p:strVal val="visible"/>
                                      </p:to>
                                    </p:set>
                                    <p:animEffect transition="in" filter="wipe(up)">
                                      <p:cBhvr>
                                        <p:cTn id="7" dur="500"/>
                                        <p:tgtEl>
                                          <p:spTgt spid="499715">
                                            <p:bg/>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499715">
                                            <p:txEl>
                                              <p:pRg st="0" end="0"/>
                                            </p:txEl>
                                          </p:spTgt>
                                        </p:tgtEl>
                                        <p:attrNameLst>
                                          <p:attrName>style.visibility</p:attrName>
                                        </p:attrNameLst>
                                      </p:cBhvr>
                                      <p:to>
                                        <p:strVal val="visible"/>
                                      </p:to>
                                    </p:set>
                                    <p:animEffect transition="in" filter="wipe(up)">
                                      <p:cBhvr>
                                        <p:cTn id="11" dur="500"/>
                                        <p:tgtEl>
                                          <p:spTgt spid="499715">
                                            <p:txEl>
                                              <p:pRg st="0" end="0"/>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499715">
                                            <p:txEl>
                                              <p:pRg st="1" end="1"/>
                                            </p:txEl>
                                          </p:spTgt>
                                        </p:tgtEl>
                                        <p:attrNameLst>
                                          <p:attrName>style.visibility</p:attrName>
                                        </p:attrNameLst>
                                      </p:cBhvr>
                                      <p:to>
                                        <p:strVal val="visible"/>
                                      </p:to>
                                    </p:set>
                                    <p:animEffect transition="in" filter="wipe(up)">
                                      <p:cBhvr>
                                        <p:cTn id="15" dur="500"/>
                                        <p:tgtEl>
                                          <p:spTgt spid="4997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9715" grpId="0" build="p"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2"/>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二、数据库故障的基本恢复方式</a:t>
            </a:r>
          </a:p>
        </p:txBody>
      </p:sp>
      <p:sp>
        <p:nvSpPr>
          <p:cNvPr id="446469" name="AutoShape 5"/>
          <p:cNvSpPr>
            <a:spLocks noChangeArrowheads="1"/>
          </p:cNvSpPr>
          <p:nvPr/>
        </p:nvSpPr>
        <p:spPr bwMode="auto">
          <a:xfrm>
            <a:off x="468313" y="3141663"/>
            <a:ext cx="8280400" cy="3167062"/>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35000"/>
              </a:spcBef>
              <a:buClr>
                <a:schemeClr val="folHlink"/>
              </a:buClr>
              <a:buSzPct val="60000"/>
              <a:buFont typeface="Wingdings" panose="05000000000000000000" pitchFamily="2" charset="2"/>
              <a:buNone/>
            </a:pPr>
            <a:r>
              <a:rPr lang="zh-CN" altLang="en-US" sz="2800" b="1">
                <a:latin typeface="Tahoma" panose="020B0604030504040204" pitchFamily="34" charset="0"/>
                <a:ea typeface="楷体_GB2312" pitchFamily="49" charset="-122"/>
              </a:rPr>
              <a:t> ①当数据库毁坏后，重新装入后援副本把数据库恢复到转储结束时刻的正确状态；</a:t>
            </a:r>
          </a:p>
          <a:p>
            <a:pPr>
              <a:lnSpc>
                <a:spcPct val="110000"/>
              </a:lnSpc>
              <a:spcBef>
                <a:spcPct val="35000"/>
              </a:spcBef>
              <a:buClr>
                <a:schemeClr val="folHlink"/>
              </a:buClr>
              <a:buSzPct val="60000"/>
              <a:buFont typeface="Wingdings" panose="05000000000000000000" pitchFamily="2" charset="2"/>
              <a:buNone/>
            </a:pPr>
            <a:r>
              <a:rPr lang="zh-CN" altLang="en-US" sz="2800" b="1">
                <a:latin typeface="Tahoma" panose="020B0604030504040204" pitchFamily="34" charset="0"/>
                <a:ea typeface="楷体_GB2312" pitchFamily="49" charset="-122"/>
              </a:rPr>
              <a:t>② 利用日志文件，对已完成的事务进行重做</a:t>
            </a:r>
            <a:r>
              <a:rPr lang="en-US" altLang="zh-CN" sz="2800" b="1">
                <a:latin typeface="Tahoma" panose="020B0604030504040204" pitchFamily="34" charset="0"/>
                <a:ea typeface="楷体_GB2312" pitchFamily="49" charset="-122"/>
              </a:rPr>
              <a:t>(Redo)</a:t>
            </a:r>
            <a:r>
              <a:rPr lang="zh-CN" altLang="en-US" sz="2800" b="1">
                <a:latin typeface="Tahoma" panose="020B0604030504040204" pitchFamily="34" charset="0"/>
                <a:ea typeface="楷体_GB2312" pitchFamily="49" charset="-122"/>
              </a:rPr>
              <a:t>处理；对故障发生时尚未完成的事务进行撤消</a:t>
            </a:r>
            <a:r>
              <a:rPr lang="en-US" altLang="zh-CN" sz="2800" b="1">
                <a:latin typeface="Tahoma" panose="020B0604030504040204" pitchFamily="34" charset="0"/>
                <a:ea typeface="楷体_GB2312" pitchFamily="49" charset="-122"/>
              </a:rPr>
              <a:t>(Undo)</a:t>
            </a:r>
            <a:r>
              <a:rPr lang="zh-CN" altLang="en-US" sz="2800" b="1">
                <a:latin typeface="Tahoma" panose="020B0604030504040204" pitchFamily="34" charset="0"/>
                <a:ea typeface="楷体_GB2312" pitchFamily="49" charset="-122"/>
              </a:rPr>
              <a:t>处理。</a:t>
            </a:r>
          </a:p>
        </p:txBody>
      </p:sp>
      <p:grpSp>
        <p:nvGrpSpPr>
          <p:cNvPr id="446470" name="Group 6"/>
          <p:cNvGrpSpPr/>
          <p:nvPr/>
        </p:nvGrpSpPr>
        <p:grpSpPr bwMode="auto">
          <a:xfrm>
            <a:off x="755650" y="2060575"/>
            <a:ext cx="3311525" cy="720725"/>
            <a:chOff x="340" y="1389"/>
            <a:chExt cx="926" cy="499"/>
          </a:xfrm>
        </p:grpSpPr>
        <p:sp>
          <p:nvSpPr>
            <p:cNvPr id="446471" name="Freeform 22"/>
            <p:cNvSpPr/>
            <p:nvPr/>
          </p:nvSpPr>
          <p:spPr bwMode="auto">
            <a:xfrm>
              <a:off x="340" y="1389"/>
              <a:ext cx="926" cy="499"/>
            </a:xfrm>
            <a:custGeom>
              <a:avLst/>
              <a:gdLst>
                <a:gd name="T0" fmla="*/ 120 w 1071"/>
                <a:gd name="T1" fmla="*/ 0 h 307"/>
                <a:gd name="T2" fmla="*/ 1546 w 1071"/>
                <a:gd name="T3" fmla="*/ 0 h 307"/>
                <a:gd name="T4" fmla="*/ 1546 w 1071"/>
                <a:gd name="T5" fmla="*/ 279 h 307"/>
                <a:gd name="T6" fmla="*/ 1526 w 1071"/>
                <a:gd name="T7" fmla="*/ 381 h 307"/>
                <a:gd name="T8" fmla="*/ 1428 w 1071"/>
                <a:gd name="T9" fmla="*/ 426 h 307"/>
                <a:gd name="T10" fmla="*/ 0 w 1071"/>
                <a:gd name="T11" fmla="*/ 433 h 307"/>
                <a:gd name="T12" fmla="*/ 0 w 1071"/>
                <a:gd name="T13" fmla="*/ 126 h 307"/>
                <a:gd name="T14" fmla="*/ 30 w 1071"/>
                <a:gd name="T15" fmla="*/ 25 h 307"/>
                <a:gd name="T16" fmla="*/ 120 w 1071"/>
                <a:gd name="T17" fmla="*/ 0 h 30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71"/>
                <a:gd name="T28" fmla="*/ 0 h 307"/>
                <a:gd name="T29" fmla="*/ 1071 w 1071"/>
                <a:gd name="T30" fmla="*/ 307 h 30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71" h="307">
                  <a:moveTo>
                    <a:pt x="83" y="0"/>
                  </a:moveTo>
                  <a:lnTo>
                    <a:pt x="1069" y="0"/>
                  </a:lnTo>
                  <a:cubicBezTo>
                    <a:pt x="1069" y="0"/>
                    <a:pt x="1069" y="99"/>
                    <a:pt x="1069" y="198"/>
                  </a:cubicBezTo>
                  <a:cubicBezTo>
                    <a:pt x="1069" y="198"/>
                    <a:pt x="1071" y="248"/>
                    <a:pt x="1055" y="270"/>
                  </a:cubicBezTo>
                  <a:cubicBezTo>
                    <a:pt x="1043" y="288"/>
                    <a:pt x="1019" y="302"/>
                    <a:pt x="987" y="302"/>
                  </a:cubicBezTo>
                  <a:cubicBezTo>
                    <a:pt x="488" y="303"/>
                    <a:pt x="0" y="307"/>
                    <a:pt x="0" y="307"/>
                  </a:cubicBezTo>
                  <a:lnTo>
                    <a:pt x="0" y="89"/>
                  </a:lnTo>
                  <a:cubicBezTo>
                    <a:pt x="3" y="41"/>
                    <a:pt x="7" y="33"/>
                    <a:pt x="21" y="18"/>
                  </a:cubicBezTo>
                  <a:cubicBezTo>
                    <a:pt x="35" y="3"/>
                    <a:pt x="66" y="1"/>
                    <a:pt x="83" y="0"/>
                  </a:cubicBezTo>
                  <a:close/>
                </a:path>
              </a:pathLst>
            </a:custGeom>
            <a:gradFill rotWithShape="1">
              <a:gsLst>
                <a:gs pos="0">
                  <a:srgbClr val="822061"/>
                </a:gs>
                <a:gs pos="50000">
                  <a:srgbClr val="CC3399"/>
                </a:gs>
                <a:gs pos="100000">
                  <a:srgbClr val="822061"/>
                </a:gs>
              </a:gsLst>
              <a:lin ang="5400000" scaled="1"/>
            </a:gradFill>
            <a:ln w="28575" cmpd="sng">
              <a:solidFill>
                <a:srgbClr val="FFFFFF"/>
              </a:solidFill>
              <a:miter lim="800000"/>
            </a:ln>
            <a:effectLst>
              <a:outerShdw dist="71842" dir="2700000" algn="ctr" rotWithShape="0">
                <a:srgbClr val="000000">
                  <a:alpha val="50000"/>
                </a:srgbClr>
              </a:outerShdw>
            </a:effectLst>
          </p:spPr>
          <p:txBody>
            <a:bodyPr wrap="none" anchor="ctr"/>
            <a:lstStyle/>
            <a:p>
              <a:endParaRPr lang="zh-CN" altLang="en-US"/>
            </a:p>
          </p:txBody>
        </p:sp>
        <p:sp>
          <p:nvSpPr>
            <p:cNvPr id="446472" name="Text Box 8"/>
            <p:cNvSpPr txBox="1">
              <a:spLocks noChangeArrowheads="1"/>
            </p:cNvSpPr>
            <p:nvPr/>
          </p:nvSpPr>
          <p:spPr bwMode="auto">
            <a:xfrm>
              <a:off x="431" y="1437"/>
              <a:ext cx="710"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r>
                <a:rPr lang="zh-CN" altLang="en-US" sz="2800" b="1">
                  <a:solidFill>
                    <a:srgbClr val="00FFFF"/>
                  </a:solidFill>
                  <a:latin typeface="华文中宋" panose="02010600040101010101" pitchFamily="2" charset="-122"/>
                  <a:ea typeface="华文中宋" panose="02010600040101010101" pitchFamily="2" charset="-122"/>
                </a:rPr>
                <a:t>（</a:t>
              </a:r>
              <a:r>
                <a:rPr lang="en-US" altLang="zh-CN" sz="2800" b="1">
                  <a:solidFill>
                    <a:srgbClr val="00FFFF"/>
                  </a:solidFill>
                  <a:latin typeface="华文中宋" panose="02010600040101010101" pitchFamily="2" charset="-122"/>
                  <a:ea typeface="华文中宋" panose="02010600040101010101" pitchFamily="2" charset="-122"/>
                </a:rPr>
                <a:t>2</a:t>
              </a:r>
              <a:r>
                <a:rPr lang="zh-CN" altLang="en-US" sz="2800" b="1">
                  <a:solidFill>
                    <a:srgbClr val="00FFFF"/>
                  </a:solidFill>
                  <a:latin typeface="华文中宋" panose="02010600040101010101" pitchFamily="2" charset="-122"/>
                  <a:ea typeface="华文中宋" panose="02010600040101010101" pitchFamily="2" charset="-122"/>
                </a:rPr>
                <a:t>）恢复方法</a:t>
              </a:r>
            </a:p>
          </p:txBody>
        </p:sp>
      </p:grpSp>
      <p:sp>
        <p:nvSpPr>
          <p:cNvPr id="446473" name="Rectangle 9"/>
          <p:cNvSpPr>
            <a:spLocks noChangeArrowheads="1"/>
          </p:cNvSpPr>
          <p:nvPr/>
        </p:nvSpPr>
        <p:spPr bwMode="auto">
          <a:xfrm>
            <a:off x="611188" y="1187450"/>
            <a:ext cx="80645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2</a:t>
            </a:r>
            <a:r>
              <a:rPr lang="zh-CN" altLang="en-US" sz="3200">
                <a:solidFill>
                  <a:srgbClr val="660033"/>
                </a:solidFill>
                <a:ea typeface="华文新魏" panose="02010800040101010101" pitchFamily="2" charset="-122"/>
              </a:rPr>
              <a:t>、日志文件</a:t>
            </a:r>
          </a:p>
        </p:txBody>
      </p:sp>
      <p:grpSp>
        <p:nvGrpSpPr>
          <p:cNvPr id="446483" name="Group 19"/>
          <p:cNvGrpSpPr/>
          <p:nvPr/>
        </p:nvGrpSpPr>
        <p:grpSpPr bwMode="auto">
          <a:xfrm>
            <a:off x="5292725" y="1341438"/>
            <a:ext cx="3235325" cy="1108075"/>
            <a:chOff x="3427" y="872"/>
            <a:chExt cx="2038" cy="698"/>
          </a:xfrm>
        </p:grpSpPr>
        <p:grpSp>
          <p:nvGrpSpPr>
            <p:cNvPr id="446479" name="Group 15"/>
            <p:cNvGrpSpPr>
              <a:grpSpLocks noChangeAspect="1"/>
            </p:cNvGrpSpPr>
            <p:nvPr/>
          </p:nvGrpSpPr>
          <p:grpSpPr bwMode="auto">
            <a:xfrm>
              <a:off x="3427" y="872"/>
              <a:ext cx="2038" cy="698"/>
              <a:chOff x="1911" y="742"/>
              <a:chExt cx="1202" cy="484"/>
            </a:xfrm>
          </p:grpSpPr>
          <p:pic>
            <p:nvPicPr>
              <p:cNvPr id="446480"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1" y="742"/>
                <a:ext cx="1202" cy="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6481" name="Picture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2" y="783"/>
                <a:ext cx="1129" cy="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46482" name="Rectangle 18"/>
            <p:cNvSpPr>
              <a:spLocks noChangeAspect="1" noChangeArrowheads="1"/>
            </p:cNvSpPr>
            <p:nvPr/>
          </p:nvSpPr>
          <p:spPr bwMode="auto">
            <a:xfrm>
              <a:off x="3645" y="1010"/>
              <a:ext cx="1594" cy="334"/>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r>
                <a:rPr lang="zh-CN" altLang="en-US" sz="2800" b="1">
                  <a:solidFill>
                    <a:srgbClr val="000000"/>
                  </a:solidFill>
                  <a:latin typeface="Trebuchet MS" panose="020B0603020202020204" pitchFamily="34" charset="0"/>
                  <a:ea typeface="幼圆" panose="02010509060101010101" pitchFamily="49" charset="-122"/>
                </a:rPr>
                <a:t>静态转储</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3626"/>
    </mc:Choice>
    <mc:Fallback xmlns="">
      <p:transition spd="slow" advTm="336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446470"/>
                                        </p:tgtEl>
                                        <p:attrNameLst>
                                          <p:attrName>style.visibility</p:attrName>
                                        </p:attrNameLst>
                                      </p:cBhvr>
                                      <p:to>
                                        <p:strVal val="visible"/>
                                      </p:to>
                                    </p:set>
                                    <p:animEffect transition="in" filter="slide(fromRight)">
                                      <p:cBhvr>
                                        <p:cTn id="7" dur="500"/>
                                        <p:tgtEl>
                                          <p:spTgt spid="446470"/>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446483"/>
                                        </p:tgtEl>
                                        <p:attrNameLst>
                                          <p:attrName>style.visibility</p:attrName>
                                        </p:attrNameLst>
                                      </p:cBhvr>
                                      <p:to>
                                        <p:strVal val="visible"/>
                                      </p:to>
                                    </p:set>
                                    <p:animEffect transition="in" filter="strips(downLeft)">
                                      <p:cBhvr>
                                        <p:cTn id="12" dur="500"/>
                                        <p:tgtEl>
                                          <p:spTgt spid="44648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46469">
                                            <p:bg/>
                                          </p:spTgt>
                                        </p:tgtEl>
                                        <p:attrNameLst>
                                          <p:attrName>style.visibility</p:attrName>
                                        </p:attrNameLst>
                                      </p:cBhvr>
                                      <p:to>
                                        <p:strVal val="visible"/>
                                      </p:to>
                                    </p:set>
                                    <p:animEffect transition="in" filter="wipe(up)">
                                      <p:cBhvr>
                                        <p:cTn id="17" dur="500"/>
                                        <p:tgtEl>
                                          <p:spTgt spid="446469">
                                            <p:bg/>
                                          </p:spTgt>
                                        </p:tgtEl>
                                      </p:cBhvr>
                                    </p:animEffect>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446469">
                                            <p:txEl>
                                              <p:pRg st="0" end="0"/>
                                            </p:txEl>
                                          </p:spTgt>
                                        </p:tgtEl>
                                        <p:attrNameLst>
                                          <p:attrName>style.visibility</p:attrName>
                                        </p:attrNameLst>
                                      </p:cBhvr>
                                      <p:to>
                                        <p:strVal val="visible"/>
                                      </p:to>
                                    </p:set>
                                    <p:animEffect transition="in" filter="wipe(up)">
                                      <p:cBhvr>
                                        <p:cTn id="21" dur="500"/>
                                        <p:tgtEl>
                                          <p:spTgt spid="446469">
                                            <p:txEl>
                                              <p:pRg st="0" end="0"/>
                                            </p:txEl>
                                          </p:spTgt>
                                        </p:tgtEl>
                                      </p:cBhvr>
                                    </p:animEffect>
                                  </p:childTnLst>
                                </p:cTn>
                              </p:par>
                            </p:childTnLst>
                          </p:cTn>
                        </p:par>
                        <p:par>
                          <p:cTn id="22" fill="hold">
                            <p:stCondLst>
                              <p:cond delay="1000"/>
                            </p:stCondLst>
                            <p:childTnLst>
                              <p:par>
                                <p:cTn id="23" presetID="22" presetClass="entr" presetSubtype="1" fill="hold" grpId="0" nodeType="afterEffect">
                                  <p:stCondLst>
                                    <p:cond delay="0"/>
                                  </p:stCondLst>
                                  <p:childTnLst>
                                    <p:set>
                                      <p:cBhvr>
                                        <p:cTn id="24" dur="1" fill="hold">
                                          <p:stCondLst>
                                            <p:cond delay="0"/>
                                          </p:stCondLst>
                                        </p:cTn>
                                        <p:tgtEl>
                                          <p:spTgt spid="446469">
                                            <p:txEl>
                                              <p:pRg st="1" end="1"/>
                                            </p:txEl>
                                          </p:spTgt>
                                        </p:tgtEl>
                                        <p:attrNameLst>
                                          <p:attrName>style.visibility</p:attrName>
                                        </p:attrNameLst>
                                      </p:cBhvr>
                                      <p:to>
                                        <p:strVal val="visible"/>
                                      </p:to>
                                    </p:set>
                                    <p:animEffect transition="in" filter="wipe(up)">
                                      <p:cBhvr>
                                        <p:cTn id="25" dur="500"/>
                                        <p:tgtEl>
                                          <p:spTgt spid="44646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469" grpId="0" uiExpand="1" build="p"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二、数据库故障的基本恢复方式</a:t>
            </a:r>
          </a:p>
        </p:txBody>
      </p:sp>
      <p:sp>
        <p:nvSpPr>
          <p:cNvPr id="447491" name="Rectangle 3"/>
          <p:cNvSpPr>
            <a:spLocks noGrp="1" noChangeArrowheads="1"/>
          </p:cNvSpPr>
          <p:nvPr>
            <p:ph type="body" idx="1"/>
          </p:nvPr>
        </p:nvSpPr>
        <p:spPr/>
        <p:txBody>
          <a:bodyPr/>
          <a:lstStyle/>
          <a:p>
            <a:r>
              <a:rPr lang="zh-CN" altLang="en-US">
                <a:solidFill>
                  <a:srgbClr val="003300"/>
                </a:solidFill>
              </a:rPr>
              <a:t>利用日志文件恢复数据库</a:t>
            </a:r>
          </a:p>
        </p:txBody>
      </p:sp>
      <p:sp>
        <p:nvSpPr>
          <p:cNvPr id="447493" name="Line 5"/>
          <p:cNvSpPr>
            <a:spLocks noChangeShapeType="1"/>
          </p:cNvSpPr>
          <p:nvPr/>
        </p:nvSpPr>
        <p:spPr bwMode="auto">
          <a:xfrm>
            <a:off x="1905000" y="2922588"/>
            <a:ext cx="5486400" cy="0"/>
          </a:xfrm>
          <a:prstGeom prst="line">
            <a:avLst/>
          </a:prstGeom>
          <a:noFill/>
          <a:ln w="38100">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447524" name="Group 36"/>
          <p:cNvGrpSpPr/>
          <p:nvPr/>
        </p:nvGrpSpPr>
        <p:grpSpPr bwMode="auto">
          <a:xfrm>
            <a:off x="2295525" y="2227263"/>
            <a:ext cx="441325" cy="1000125"/>
            <a:chOff x="1446" y="1403"/>
            <a:chExt cx="278" cy="630"/>
          </a:xfrm>
        </p:grpSpPr>
        <p:sp>
          <p:nvSpPr>
            <p:cNvPr id="447494" name="Line 6"/>
            <p:cNvSpPr>
              <a:spLocks noChangeShapeType="1"/>
            </p:cNvSpPr>
            <p:nvPr/>
          </p:nvSpPr>
          <p:spPr bwMode="auto">
            <a:xfrm>
              <a:off x="1584" y="1697"/>
              <a:ext cx="0" cy="336"/>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spAutoFit/>
            </a:bodyPr>
            <a:lstStyle/>
            <a:p>
              <a:endParaRPr lang="zh-CN" altLang="en-US"/>
            </a:p>
          </p:txBody>
        </p:sp>
        <p:sp>
          <p:nvSpPr>
            <p:cNvPr id="447509" name="Rectangle 21"/>
            <p:cNvSpPr>
              <a:spLocks noChangeArrowheads="1"/>
            </p:cNvSpPr>
            <p:nvPr/>
          </p:nvSpPr>
          <p:spPr bwMode="auto">
            <a:xfrm>
              <a:off x="1446" y="1403"/>
              <a:ext cx="278" cy="25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lgn="ctr">
                <a:spcBef>
                  <a:spcPct val="50000"/>
                </a:spcBef>
              </a:pPr>
              <a:r>
                <a:rPr lang="en-US" altLang="zh-CN" sz="2000" b="1">
                  <a:solidFill>
                    <a:schemeClr val="bg2"/>
                  </a:solidFill>
                  <a:latin typeface="楷体_GB2312" pitchFamily="49" charset="-122"/>
                  <a:ea typeface="楷体_GB2312" pitchFamily="49" charset="-122"/>
                </a:rPr>
                <a:t>Ta</a:t>
              </a:r>
            </a:p>
          </p:txBody>
        </p:sp>
      </p:grpSp>
      <p:grpSp>
        <p:nvGrpSpPr>
          <p:cNvPr id="447525" name="Group 37"/>
          <p:cNvGrpSpPr/>
          <p:nvPr/>
        </p:nvGrpSpPr>
        <p:grpSpPr bwMode="auto">
          <a:xfrm>
            <a:off x="4276725" y="2227263"/>
            <a:ext cx="441325" cy="1000125"/>
            <a:chOff x="2694" y="1403"/>
            <a:chExt cx="278" cy="630"/>
          </a:xfrm>
        </p:grpSpPr>
        <p:sp>
          <p:nvSpPr>
            <p:cNvPr id="447495" name="Line 7"/>
            <p:cNvSpPr>
              <a:spLocks noChangeShapeType="1"/>
            </p:cNvSpPr>
            <p:nvPr/>
          </p:nvSpPr>
          <p:spPr bwMode="auto">
            <a:xfrm>
              <a:off x="2832" y="1697"/>
              <a:ext cx="0" cy="336"/>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spAutoFit/>
            </a:bodyPr>
            <a:lstStyle/>
            <a:p>
              <a:endParaRPr lang="zh-CN" altLang="en-US"/>
            </a:p>
          </p:txBody>
        </p:sp>
        <p:sp>
          <p:nvSpPr>
            <p:cNvPr id="447510" name="Rectangle 22"/>
            <p:cNvSpPr>
              <a:spLocks noChangeArrowheads="1"/>
            </p:cNvSpPr>
            <p:nvPr/>
          </p:nvSpPr>
          <p:spPr bwMode="auto">
            <a:xfrm>
              <a:off x="2694" y="1403"/>
              <a:ext cx="278" cy="25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lgn="ctr">
                <a:spcBef>
                  <a:spcPct val="50000"/>
                </a:spcBef>
              </a:pPr>
              <a:r>
                <a:rPr lang="en-US" altLang="zh-CN" sz="2000" b="1">
                  <a:solidFill>
                    <a:schemeClr val="bg2"/>
                  </a:solidFill>
                  <a:latin typeface="楷体_GB2312" pitchFamily="49" charset="-122"/>
                  <a:ea typeface="楷体_GB2312" pitchFamily="49" charset="-122"/>
                </a:rPr>
                <a:t>Tb</a:t>
              </a:r>
            </a:p>
          </p:txBody>
        </p:sp>
      </p:grpSp>
      <p:sp>
        <p:nvSpPr>
          <p:cNvPr id="447512" name="Rectangle 24"/>
          <p:cNvSpPr>
            <a:spLocks noChangeArrowheads="1"/>
          </p:cNvSpPr>
          <p:nvPr/>
        </p:nvSpPr>
        <p:spPr bwMode="auto">
          <a:xfrm>
            <a:off x="468313" y="2636838"/>
            <a:ext cx="1409700" cy="45720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lgn="ctr">
              <a:spcBef>
                <a:spcPct val="50000"/>
              </a:spcBef>
            </a:pPr>
            <a:r>
              <a:rPr lang="zh-CN" altLang="en-US" sz="2400" b="1">
                <a:solidFill>
                  <a:srgbClr val="000099"/>
                </a:solidFill>
                <a:latin typeface="宋体" panose="02010600030101010101" pitchFamily="2" charset="-122"/>
              </a:rPr>
              <a:t>运行正常</a:t>
            </a:r>
          </a:p>
        </p:txBody>
      </p:sp>
      <p:sp>
        <p:nvSpPr>
          <p:cNvPr id="447514" name="Rectangle 26"/>
          <p:cNvSpPr>
            <a:spLocks noChangeArrowheads="1"/>
          </p:cNvSpPr>
          <p:nvPr/>
        </p:nvSpPr>
        <p:spPr bwMode="auto">
          <a:xfrm>
            <a:off x="2922588" y="2227263"/>
            <a:ext cx="1206500" cy="39687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lgn="ctr">
              <a:spcBef>
                <a:spcPct val="50000"/>
              </a:spcBef>
            </a:pPr>
            <a:r>
              <a:rPr lang="zh-CN" altLang="en-US" sz="2000" b="1">
                <a:solidFill>
                  <a:schemeClr val="bg2"/>
                </a:solidFill>
                <a:latin typeface="楷体_GB2312" pitchFamily="49" charset="-122"/>
                <a:ea typeface="楷体_GB2312" pitchFamily="49" charset="-122"/>
              </a:rPr>
              <a:t>静态转储</a:t>
            </a:r>
          </a:p>
        </p:txBody>
      </p:sp>
      <p:sp>
        <p:nvSpPr>
          <p:cNvPr id="447515" name="Rectangle 27"/>
          <p:cNvSpPr>
            <a:spLocks noChangeArrowheads="1"/>
          </p:cNvSpPr>
          <p:nvPr/>
        </p:nvSpPr>
        <p:spPr bwMode="auto">
          <a:xfrm>
            <a:off x="4827588" y="2227263"/>
            <a:ext cx="1206500" cy="39687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lgn="ctr">
              <a:spcBef>
                <a:spcPct val="50000"/>
              </a:spcBef>
            </a:pPr>
            <a:r>
              <a:rPr lang="zh-CN" altLang="en-US" sz="2000" b="1">
                <a:solidFill>
                  <a:schemeClr val="bg2"/>
                </a:solidFill>
                <a:latin typeface="楷体_GB2312" pitchFamily="49" charset="-122"/>
                <a:ea typeface="楷体_GB2312" pitchFamily="49" charset="-122"/>
              </a:rPr>
              <a:t>运行事务</a:t>
            </a:r>
          </a:p>
        </p:txBody>
      </p:sp>
      <p:grpSp>
        <p:nvGrpSpPr>
          <p:cNvPr id="447526" name="Group 38"/>
          <p:cNvGrpSpPr/>
          <p:nvPr/>
        </p:nvGrpSpPr>
        <p:grpSpPr bwMode="auto">
          <a:xfrm>
            <a:off x="6850063" y="2227263"/>
            <a:ext cx="2114550" cy="1000125"/>
            <a:chOff x="3846" y="1403"/>
            <a:chExt cx="1332" cy="630"/>
          </a:xfrm>
        </p:grpSpPr>
        <p:sp>
          <p:nvSpPr>
            <p:cNvPr id="447496" name="Line 8"/>
            <p:cNvSpPr>
              <a:spLocks noChangeShapeType="1"/>
            </p:cNvSpPr>
            <p:nvPr/>
          </p:nvSpPr>
          <p:spPr bwMode="auto">
            <a:xfrm>
              <a:off x="3984" y="1697"/>
              <a:ext cx="0" cy="336"/>
            </a:xfrm>
            <a:prstGeom prst="line">
              <a:avLst/>
            </a:prstGeom>
            <a:noFill/>
            <a:ln w="28575">
              <a:solidFill>
                <a:schemeClr val="bg2"/>
              </a:solidFill>
              <a:round/>
              <a:tailEnd type="triangle" w="med" len="me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spAutoFit/>
            </a:bodyPr>
            <a:lstStyle/>
            <a:p>
              <a:endParaRPr lang="zh-CN" altLang="en-US"/>
            </a:p>
          </p:txBody>
        </p:sp>
        <p:sp>
          <p:nvSpPr>
            <p:cNvPr id="447511" name="Rectangle 23"/>
            <p:cNvSpPr>
              <a:spLocks noChangeArrowheads="1"/>
            </p:cNvSpPr>
            <p:nvPr/>
          </p:nvSpPr>
          <p:spPr bwMode="auto">
            <a:xfrm>
              <a:off x="3846" y="1403"/>
              <a:ext cx="278" cy="25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lgn="ctr">
                <a:spcBef>
                  <a:spcPct val="50000"/>
                </a:spcBef>
              </a:pPr>
              <a:r>
                <a:rPr lang="en-US" altLang="zh-CN" sz="2000" b="1">
                  <a:solidFill>
                    <a:schemeClr val="bg2"/>
                  </a:solidFill>
                  <a:latin typeface="楷体_GB2312" pitchFamily="49" charset="-122"/>
                  <a:ea typeface="楷体_GB2312" pitchFamily="49" charset="-122"/>
                </a:rPr>
                <a:t>Tf</a:t>
              </a:r>
            </a:p>
          </p:txBody>
        </p:sp>
        <p:sp>
          <p:nvSpPr>
            <p:cNvPr id="447516" name="Rectangle 28"/>
            <p:cNvSpPr>
              <a:spLocks noChangeArrowheads="1"/>
            </p:cNvSpPr>
            <p:nvPr/>
          </p:nvSpPr>
          <p:spPr bwMode="auto">
            <a:xfrm>
              <a:off x="4257" y="1403"/>
              <a:ext cx="921" cy="25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lgn="ctr">
                <a:spcBef>
                  <a:spcPct val="50000"/>
                </a:spcBef>
              </a:pPr>
              <a:r>
                <a:rPr lang="zh-CN" altLang="en-US" sz="2000" b="1">
                  <a:solidFill>
                    <a:schemeClr val="bg2"/>
                  </a:solidFill>
                  <a:latin typeface="楷体_GB2312" pitchFamily="49" charset="-122"/>
                  <a:ea typeface="楷体_GB2312" pitchFamily="49" charset="-122"/>
                </a:rPr>
                <a:t>故障发生点</a:t>
              </a:r>
            </a:p>
          </p:txBody>
        </p:sp>
      </p:grpSp>
      <p:grpSp>
        <p:nvGrpSpPr>
          <p:cNvPr id="447527" name="Group 39"/>
          <p:cNvGrpSpPr/>
          <p:nvPr/>
        </p:nvGrpSpPr>
        <p:grpSpPr bwMode="auto">
          <a:xfrm>
            <a:off x="4500563" y="3446463"/>
            <a:ext cx="2895600" cy="503237"/>
            <a:chOff x="2835" y="2171"/>
            <a:chExt cx="1824" cy="317"/>
          </a:xfrm>
        </p:grpSpPr>
        <p:sp>
          <p:nvSpPr>
            <p:cNvPr id="447497" name="Line 9"/>
            <p:cNvSpPr>
              <a:spLocks noChangeShapeType="1"/>
            </p:cNvSpPr>
            <p:nvPr/>
          </p:nvSpPr>
          <p:spPr bwMode="auto">
            <a:xfrm>
              <a:off x="2835" y="2296"/>
              <a:ext cx="0" cy="192"/>
            </a:xfrm>
            <a:prstGeom prst="line">
              <a:avLst/>
            </a:prstGeom>
            <a:noFill/>
            <a:ln w="31750">
              <a:solidFill>
                <a:srgbClr val="0000FF"/>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spAutoFit/>
            </a:bodyPr>
            <a:lstStyle/>
            <a:p>
              <a:endParaRPr lang="zh-CN" altLang="en-US"/>
            </a:p>
          </p:txBody>
        </p:sp>
        <p:sp>
          <p:nvSpPr>
            <p:cNvPr id="447498" name="Line 10"/>
            <p:cNvSpPr>
              <a:spLocks noChangeShapeType="1"/>
            </p:cNvSpPr>
            <p:nvPr/>
          </p:nvSpPr>
          <p:spPr bwMode="auto">
            <a:xfrm>
              <a:off x="2835" y="2488"/>
              <a:ext cx="1824" cy="0"/>
            </a:xfrm>
            <a:prstGeom prst="line">
              <a:avLst/>
            </a:prstGeom>
            <a:noFill/>
            <a:ln w="31750">
              <a:solidFill>
                <a:srgbClr val="0000FF"/>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spAutoFit/>
            </a:bodyPr>
            <a:lstStyle/>
            <a:p>
              <a:endParaRPr lang="zh-CN" altLang="en-US"/>
            </a:p>
          </p:txBody>
        </p:sp>
        <p:sp>
          <p:nvSpPr>
            <p:cNvPr id="447517" name="Rectangle 29"/>
            <p:cNvSpPr>
              <a:spLocks noChangeArrowheads="1"/>
            </p:cNvSpPr>
            <p:nvPr/>
          </p:nvSpPr>
          <p:spPr bwMode="auto">
            <a:xfrm>
              <a:off x="2928" y="2171"/>
              <a:ext cx="1082" cy="25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lgn="ctr">
                <a:spcBef>
                  <a:spcPct val="50000"/>
                </a:spcBef>
              </a:pPr>
              <a:r>
                <a:rPr lang="zh-CN" altLang="en-US" sz="2000" b="1">
                  <a:solidFill>
                    <a:schemeClr val="bg2"/>
                  </a:solidFill>
                  <a:latin typeface="楷体_GB2312" pitchFamily="49" charset="-122"/>
                  <a:ea typeface="楷体_GB2312" pitchFamily="49" charset="-122"/>
                </a:rPr>
                <a:t>登记日志文件</a:t>
              </a:r>
            </a:p>
          </p:txBody>
        </p:sp>
      </p:grpSp>
      <p:sp>
        <p:nvSpPr>
          <p:cNvPr id="447513" name="Rectangle 25"/>
          <p:cNvSpPr>
            <a:spLocks noChangeArrowheads="1"/>
          </p:cNvSpPr>
          <p:nvPr/>
        </p:nvSpPr>
        <p:spPr bwMode="auto">
          <a:xfrm>
            <a:off x="323850" y="5229225"/>
            <a:ext cx="2022475" cy="45720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lgn="ctr">
              <a:spcBef>
                <a:spcPct val="50000"/>
              </a:spcBef>
            </a:pPr>
            <a:r>
              <a:rPr lang="zh-CN" altLang="en-US" sz="2400" b="1">
                <a:solidFill>
                  <a:srgbClr val="000099"/>
                </a:solidFill>
                <a:latin typeface="宋体" panose="02010600030101010101" pitchFamily="2" charset="-122"/>
              </a:rPr>
              <a:t>介质故障恢复</a:t>
            </a:r>
          </a:p>
        </p:txBody>
      </p:sp>
      <p:grpSp>
        <p:nvGrpSpPr>
          <p:cNvPr id="447529" name="Group 41"/>
          <p:cNvGrpSpPr/>
          <p:nvPr/>
        </p:nvGrpSpPr>
        <p:grpSpPr bwMode="auto">
          <a:xfrm>
            <a:off x="3490913" y="4741863"/>
            <a:ext cx="3671887" cy="771525"/>
            <a:chOff x="2199" y="2987"/>
            <a:chExt cx="2313" cy="486"/>
          </a:xfrm>
        </p:grpSpPr>
        <p:sp>
          <p:nvSpPr>
            <p:cNvPr id="447501" name="Line 13"/>
            <p:cNvSpPr>
              <a:spLocks noChangeShapeType="1"/>
            </p:cNvSpPr>
            <p:nvPr/>
          </p:nvSpPr>
          <p:spPr bwMode="auto">
            <a:xfrm>
              <a:off x="2832" y="3377"/>
              <a:ext cx="0" cy="96"/>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spAutoFit/>
            </a:bodyPr>
            <a:lstStyle/>
            <a:p>
              <a:endParaRPr lang="zh-CN" altLang="en-US"/>
            </a:p>
          </p:txBody>
        </p:sp>
        <p:sp>
          <p:nvSpPr>
            <p:cNvPr id="447502" name="Line 14"/>
            <p:cNvSpPr>
              <a:spLocks noChangeShapeType="1"/>
            </p:cNvSpPr>
            <p:nvPr/>
          </p:nvSpPr>
          <p:spPr bwMode="auto">
            <a:xfrm>
              <a:off x="2832" y="3473"/>
              <a:ext cx="1680" cy="0"/>
            </a:xfrm>
            <a:prstGeom prst="line">
              <a:avLst/>
            </a:prstGeom>
            <a:noFill/>
            <a:ln w="28575">
              <a:solidFill>
                <a:schemeClr val="bg2"/>
              </a:solidFill>
              <a:prstDash val="dash"/>
              <a:round/>
              <a:tailEnd type="triangle"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spAutoFit/>
            </a:bodyPr>
            <a:lstStyle/>
            <a:p>
              <a:endParaRPr lang="zh-CN" altLang="en-US"/>
            </a:p>
          </p:txBody>
        </p:sp>
        <p:sp>
          <p:nvSpPr>
            <p:cNvPr id="447518" name="Rectangle 30"/>
            <p:cNvSpPr>
              <a:spLocks noChangeArrowheads="1"/>
            </p:cNvSpPr>
            <p:nvPr/>
          </p:nvSpPr>
          <p:spPr bwMode="auto">
            <a:xfrm>
              <a:off x="2199" y="2987"/>
              <a:ext cx="1726" cy="25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lgn="ctr">
                <a:spcBef>
                  <a:spcPct val="50000"/>
                </a:spcBef>
              </a:pPr>
              <a:r>
                <a:rPr lang="zh-CN" altLang="en-US" sz="2000" b="1">
                  <a:solidFill>
                    <a:schemeClr val="bg2"/>
                  </a:solidFill>
                  <a:latin typeface="楷体_GB2312" pitchFamily="49" charset="-122"/>
                  <a:ea typeface="楷体_GB2312" pitchFamily="49" charset="-122"/>
                </a:rPr>
                <a:t>利用日志文件恢复事务</a:t>
              </a:r>
            </a:p>
          </p:txBody>
        </p:sp>
      </p:grpSp>
      <p:grpSp>
        <p:nvGrpSpPr>
          <p:cNvPr id="447530" name="Group 42"/>
          <p:cNvGrpSpPr/>
          <p:nvPr/>
        </p:nvGrpSpPr>
        <p:grpSpPr bwMode="auto">
          <a:xfrm>
            <a:off x="6300788" y="4741863"/>
            <a:ext cx="1905000" cy="923925"/>
            <a:chOff x="3984" y="2987"/>
            <a:chExt cx="1200" cy="582"/>
          </a:xfrm>
        </p:grpSpPr>
        <p:sp>
          <p:nvSpPr>
            <p:cNvPr id="447503" name="Line 15"/>
            <p:cNvSpPr>
              <a:spLocks noChangeShapeType="1"/>
            </p:cNvSpPr>
            <p:nvPr/>
          </p:nvSpPr>
          <p:spPr bwMode="auto">
            <a:xfrm>
              <a:off x="4512" y="3377"/>
              <a:ext cx="0" cy="192"/>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spAutoFit/>
            </a:bodyPr>
            <a:lstStyle/>
            <a:p>
              <a:endParaRPr lang="zh-CN" altLang="en-US"/>
            </a:p>
          </p:txBody>
        </p:sp>
        <p:sp>
          <p:nvSpPr>
            <p:cNvPr id="447504" name="Line 16"/>
            <p:cNvSpPr>
              <a:spLocks noChangeShapeType="1"/>
            </p:cNvSpPr>
            <p:nvPr/>
          </p:nvSpPr>
          <p:spPr bwMode="auto">
            <a:xfrm>
              <a:off x="4512" y="3473"/>
              <a:ext cx="672" cy="0"/>
            </a:xfrm>
            <a:prstGeom prst="line">
              <a:avLst/>
            </a:prstGeom>
            <a:noFill/>
            <a:ln w="38100">
              <a:solidFill>
                <a:schemeClr val="bg2"/>
              </a:solidFill>
              <a:round/>
              <a:tailEnd type="triangle"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spAutoFit/>
            </a:bodyPr>
            <a:lstStyle/>
            <a:p>
              <a:endParaRPr lang="zh-CN" altLang="en-US"/>
            </a:p>
          </p:txBody>
        </p:sp>
        <p:sp>
          <p:nvSpPr>
            <p:cNvPr id="447519" name="Rectangle 31"/>
            <p:cNvSpPr>
              <a:spLocks noChangeArrowheads="1"/>
            </p:cNvSpPr>
            <p:nvPr/>
          </p:nvSpPr>
          <p:spPr bwMode="auto">
            <a:xfrm>
              <a:off x="3984" y="2987"/>
              <a:ext cx="1082" cy="25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lgn="ctr">
                <a:spcBef>
                  <a:spcPct val="50000"/>
                </a:spcBef>
              </a:pPr>
              <a:r>
                <a:rPr lang="zh-CN" altLang="en-US" sz="2000" b="1">
                  <a:solidFill>
                    <a:schemeClr val="bg2"/>
                  </a:solidFill>
                  <a:latin typeface="楷体_GB2312" pitchFamily="49" charset="-122"/>
                  <a:ea typeface="楷体_GB2312" pitchFamily="49" charset="-122"/>
                </a:rPr>
                <a:t>继续运行事务</a:t>
              </a:r>
            </a:p>
          </p:txBody>
        </p:sp>
      </p:grpSp>
      <p:grpSp>
        <p:nvGrpSpPr>
          <p:cNvPr id="447531" name="Group 43"/>
          <p:cNvGrpSpPr/>
          <p:nvPr/>
        </p:nvGrpSpPr>
        <p:grpSpPr bwMode="auto">
          <a:xfrm>
            <a:off x="6324600" y="5732463"/>
            <a:ext cx="1905000" cy="619125"/>
            <a:chOff x="3984" y="3611"/>
            <a:chExt cx="1200" cy="390"/>
          </a:xfrm>
        </p:grpSpPr>
        <p:sp>
          <p:nvSpPr>
            <p:cNvPr id="447506" name="Line 18"/>
            <p:cNvSpPr>
              <a:spLocks noChangeShapeType="1"/>
            </p:cNvSpPr>
            <p:nvPr/>
          </p:nvSpPr>
          <p:spPr bwMode="auto">
            <a:xfrm>
              <a:off x="4512" y="3905"/>
              <a:ext cx="0" cy="96"/>
            </a:xfrm>
            <a:prstGeom prst="line">
              <a:avLst/>
            </a:prstGeom>
            <a:noFill/>
            <a:ln w="31750">
              <a:solidFill>
                <a:srgbClr val="0000FF"/>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spAutoFit/>
            </a:bodyPr>
            <a:lstStyle/>
            <a:p>
              <a:endParaRPr lang="zh-CN" altLang="en-US"/>
            </a:p>
          </p:txBody>
        </p:sp>
        <p:sp>
          <p:nvSpPr>
            <p:cNvPr id="447507" name="Line 19"/>
            <p:cNvSpPr>
              <a:spLocks noChangeShapeType="1"/>
            </p:cNvSpPr>
            <p:nvPr/>
          </p:nvSpPr>
          <p:spPr bwMode="auto">
            <a:xfrm>
              <a:off x="4512" y="4001"/>
              <a:ext cx="672" cy="0"/>
            </a:xfrm>
            <a:prstGeom prst="line">
              <a:avLst/>
            </a:prstGeom>
            <a:noFill/>
            <a:ln w="31750">
              <a:solidFill>
                <a:srgbClr val="0000FF"/>
              </a:solidFill>
              <a:round/>
              <a:tailEnd type="triangle"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spAutoFit/>
            </a:bodyPr>
            <a:lstStyle/>
            <a:p>
              <a:endParaRPr lang="zh-CN" altLang="en-US"/>
            </a:p>
          </p:txBody>
        </p:sp>
        <p:sp>
          <p:nvSpPr>
            <p:cNvPr id="447520" name="Rectangle 32"/>
            <p:cNvSpPr>
              <a:spLocks noChangeArrowheads="1"/>
            </p:cNvSpPr>
            <p:nvPr/>
          </p:nvSpPr>
          <p:spPr bwMode="auto">
            <a:xfrm>
              <a:off x="3984" y="3611"/>
              <a:ext cx="1082" cy="25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lgn="ctr">
                <a:spcBef>
                  <a:spcPct val="50000"/>
                </a:spcBef>
              </a:pPr>
              <a:r>
                <a:rPr lang="zh-CN" altLang="en-US" sz="2000" b="1">
                  <a:solidFill>
                    <a:schemeClr val="bg2"/>
                  </a:solidFill>
                  <a:latin typeface="楷体_GB2312" pitchFamily="49" charset="-122"/>
                  <a:ea typeface="楷体_GB2312" pitchFamily="49" charset="-122"/>
                </a:rPr>
                <a:t>登记日志文件</a:t>
              </a:r>
            </a:p>
          </p:txBody>
        </p:sp>
      </p:grpSp>
      <p:grpSp>
        <p:nvGrpSpPr>
          <p:cNvPr id="447528" name="Group 40"/>
          <p:cNvGrpSpPr/>
          <p:nvPr/>
        </p:nvGrpSpPr>
        <p:grpSpPr bwMode="auto">
          <a:xfrm>
            <a:off x="1682750" y="4724400"/>
            <a:ext cx="2813050" cy="788988"/>
            <a:chOff x="1060" y="2976"/>
            <a:chExt cx="1772" cy="497"/>
          </a:xfrm>
        </p:grpSpPr>
        <p:sp>
          <p:nvSpPr>
            <p:cNvPr id="447499" name="Line 11"/>
            <p:cNvSpPr>
              <a:spLocks noChangeShapeType="1"/>
            </p:cNvSpPr>
            <p:nvPr/>
          </p:nvSpPr>
          <p:spPr bwMode="auto">
            <a:xfrm>
              <a:off x="1584" y="3281"/>
              <a:ext cx="0" cy="192"/>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spAutoFit/>
            </a:bodyPr>
            <a:lstStyle/>
            <a:p>
              <a:endParaRPr lang="zh-CN" altLang="en-US"/>
            </a:p>
          </p:txBody>
        </p:sp>
        <p:sp>
          <p:nvSpPr>
            <p:cNvPr id="447500" name="Line 12"/>
            <p:cNvSpPr>
              <a:spLocks noChangeShapeType="1"/>
            </p:cNvSpPr>
            <p:nvPr/>
          </p:nvSpPr>
          <p:spPr bwMode="auto">
            <a:xfrm>
              <a:off x="1584" y="3473"/>
              <a:ext cx="1248" cy="0"/>
            </a:xfrm>
            <a:prstGeom prst="line">
              <a:avLst/>
            </a:prstGeom>
            <a:noFill/>
            <a:ln w="38100">
              <a:solidFill>
                <a:schemeClr val="bg2"/>
              </a:solidFill>
              <a:round/>
              <a:tailEnd type="triangle"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spAutoFit/>
            </a:bodyPr>
            <a:lstStyle/>
            <a:p>
              <a:endParaRPr lang="zh-CN" altLang="en-US"/>
            </a:p>
          </p:txBody>
        </p:sp>
        <p:sp>
          <p:nvSpPr>
            <p:cNvPr id="447523" name="Rectangle 35"/>
            <p:cNvSpPr>
              <a:spLocks noChangeArrowheads="1"/>
            </p:cNvSpPr>
            <p:nvPr/>
          </p:nvSpPr>
          <p:spPr bwMode="auto">
            <a:xfrm>
              <a:off x="1060" y="2976"/>
              <a:ext cx="1082" cy="25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lgn="ctr">
                <a:spcBef>
                  <a:spcPct val="50000"/>
                </a:spcBef>
              </a:pPr>
              <a:r>
                <a:rPr lang="zh-CN" altLang="en-US" sz="2000" b="1">
                  <a:solidFill>
                    <a:schemeClr val="bg2"/>
                  </a:solidFill>
                  <a:latin typeface="楷体_GB2312" pitchFamily="49" charset="-122"/>
                  <a:ea typeface="楷体_GB2312" pitchFamily="49" charset="-122"/>
                </a:rPr>
                <a:t>重装后援副本</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8947"/>
    </mc:Choice>
    <mc:Fallback xmlns="">
      <p:transition spd="slow" advTm="4894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7512"/>
                                        </p:tgtEl>
                                        <p:attrNameLst>
                                          <p:attrName>style.visibility</p:attrName>
                                        </p:attrNameLst>
                                      </p:cBhvr>
                                      <p:to>
                                        <p:strVal val="visible"/>
                                      </p:to>
                                    </p:set>
                                    <p:animEffect transition="in" filter="wipe(left)">
                                      <p:cBhvr>
                                        <p:cTn id="7" dur="500"/>
                                        <p:tgtEl>
                                          <p:spTgt spid="44751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47493"/>
                                        </p:tgtEl>
                                        <p:attrNameLst>
                                          <p:attrName>style.visibility</p:attrName>
                                        </p:attrNameLst>
                                      </p:cBhvr>
                                      <p:to>
                                        <p:strVal val="visible"/>
                                      </p:to>
                                    </p:set>
                                    <p:animEffect transition="in" filter="wipe(left)">
                                      <p:cBhvr>
                                        <p:cTn id="11" dur="500"/>
                                        <p:tgtEl>
                                          <p:spTgt spid="447493"/>
                                        </p:tgtEl>
                                      </p:cBhvr>
                                    </p:animEffect>
                                  </p:childTnLst>
                                </p:cTn>
                              </p:par>
                            </p:childTnLst>
                          </p:cTn>
                        </p:par>
                      </p:childTnLst>
                    </p:cTn>
                  </p:par>
                  <p:par>
                    <p:cTn id="12" fill="hold">
                      <p:stCondLst>
                        <p:cond delay="indefinite"/>
                      </p:stCondLst>
                      <p:childTnLst>
                        <p:par>
                          <p:cTn id="13" fill="hold">
                            <p:stCondLst>
                              <p:cond delay="0"/>
                            </p:stCondLst>
                            <p:childTnLst>
                              <p:par>
                                <p:cTn id="14" presetID="47" presetClass="entr" presetSubtype="0" fill="hold" nodeType="clickEffect">
                                  <p:stCondLst>
                                    <p:cond delay="0"/>
                                  </p:stCondLst>
                                  <p:childTnLst>
                                    <p:set>
                                      <p:cBhvr>
                                        <p:cTn id="15" dur="1" fill="hold">
                                          <p:stCondLst>
                                            <p:cond delay="0"/>
                                          </p:stCondLst>
                                        </p:cTn>
                                        <p:tgtEl>
                                          <p:spTgt spid="447524"/>
                                        </p:tgtEl>
                                        <p:attrNameLst>
                                          <p:attrName>style.visibility</p:attrName>
                                        </p:attrNameLst>
                                      </p:cBhvr>
                                      <p:to>
                                        <p:strVal val="visible"/>
                                      </p:to>
                                    </p:set>
                                    <p:animEffect transition="in" filter="fade">
                                      <p:cBhvr>
                                        <p:cTn id="16" dur="500"/>
                                        <p:tgtEl>
                                          <p:spTgt spid="447524"/>
                                        </p:tgtEl>
                                      </p:cBhvr>
                                    </p:animEffect>
                                    <p:anim calcmode="lin" valueType="num">
                                      <p:cBhvr>
                                        <p:cTn id="17" dur="500" fill="hold"/>
                                        <p:tgtEl>
                                          <p:spTgt spid="447524"/>
                                        </p:tgtEl>
                                        <p:attrNameLst>
                                          <p:attrName>ppt_x</p:attrName>
                                        </p:attrNameLst>
                                      </p:cBhvr>
                                      <p:tavLst>
                                        <p:tav tm="0">
                                          <p:val>
                                            <p:strVal val="#ppt_x"/>
                                          </p:val>
                                        </p:tav>
                                        <p:tav tm="100000">
                                          <p:val>
                                            <p:strVal val="#ppt_x"/>
                                          </p:val>
                                        </p:tav>
                                      </p:tavLst>
                                    </p:anim>
                                    <p:anim calcmode="lin" valueType="num">
                                      <p:cBhvr>
                                        <p:cTn id="18" dur="500" fill="hold"/>
                                        <p:tgtEl>
                                          <p:spTgt spid="447524"/>
                                        </p:tgtEl>
                                        <p:attrNameLst>
                                          <p:attrName>ppt_y</p:attrName>
                                        </p:attrNameLst>
                                      </p:cBhvr>
                                      <p:tavLst>
                                        <p:tav tm="0">
                                          <p:val>
                                            <p:strVal val="#ppt_y-.1"/>
                                          </p:val>
                                        </p:tav>
                                        <p:tav tm="100000">
                                          <p:val>
                                            <p:strVal val="#ppt_y"/>
                                          </p:val>
                                        </p:tav>
                                      </p:tavLst>
                                    </p:anim>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447514"/>
                                        </p:tgtEl>
                                        <p:attrNameLst>
                                          <p:attrName>style.visibility</p:attrName>
                                        </p:attrNameLst>
                                      </p:cBhvr>
                                      <p:to>
                                        <p:strVal val="visible"/>
                                      </p:to>
                                    </p:set>
                                    <p:animEffect transition="in" filter="wipe(left)">
                                      <p:cBhvr>
                                        <p:cTn id="22" dur="500"/>
                                        <p:tgtEl>
                                          <p:spTgt spid="447514"/>
                                        </p:tgtEl>
                                      </p:cBhvr>
                                    </p:animEffect>
                                  </p:childTnLst>
                                </p:cTn>
                              </p:par>
                            </p:childTnLst>
                          </p:cTn>
                        </p:par>
                      </p:childTnLst>
                    </p:cTn>
                  </p:par>
                  <p:par>
                    <p:cTn id="23" fill="hold">
                      <p:stCondLst>
                        <p:cond delay="indefinite"/>
                      </p:stCondLst>
                      <p:childTnLst>
                        <p:par>
                          <p:cTn id="24" fill="hold">
                            <p:stCondLst>
                              <p:cond delay="0"/>
                            </p:stCondLst>
                            <p:childTnLst>
                              <p:par>
                                <p:cTn id="25" presetID="47" presetClass="entr" presetSubtype="0" fill="hold" nodeType="clickEffect">
                                  <p:stCondLst>
                                    <p:cond delay="0"/>
                                  </p:stCondLst>
                                  <p:childTnLst>
                                    <p:set>
                                      <p:cBhvr>
                                        <p:cTn id="26" dur="1" fill="hold">
                                          <p:stCondLst>
                                            <p:cond delay="0"/>
                                          </p:stCondLst>
                                        </p:cTn>
                                        <p:tgtEl>
                                          <p:spTgt spid="447525"/>
                                        </p:tgtEl>
                                        <p:attrNameLst>
                                          <p:attrName>style.visibility</p:attrName>
                                        </p:attrNameLst>
                                      </p:cBhvr>
                                      <p:to>
                                        <p:strVal val="visible"/>
                                      </p:to>
                                    </p:set>
                                    <p:animEffect transition="in" filter="fade">
                                      <p:cBhvr>
                                        <p:cTn id="27" dur="500"/>
                                        <p:tgtEl>
                                          <p:spTgt spid="447525"/>
                                        </p:tgtEl>
                                      </p:cBhvr>
                                    </p:animEffect>
                                    <p:anim calcmode="lin" valueType="num">
                                      <p:cBhvr>
                                        <p:cTn id="28" dur="500" fill="hold"/>
                                        <p:tgtEl>
                                          <p:spTgt spid="447525"/>
                                        </p:tgtEl>
                                        <p:attrNameLst>
                                          <p:attrName>ppt_x</p:attrName>
                                        </p:attrNameLst>
                                      </p:cBhvr>
                                      <p:tavLst>
                                        <p:tav tm="0">
                                          <p:val>
                                            <p:strVal val="#ppt_x"/>
                                          </p:val>
                                        </p:tav>
                                        <p:tav tm="100000">
                                          <p:val>
                                            <p:strVal val="#ppt_x"/>
                                          </p:val>
                                        </p:tav>
                                      </p:tavLst>
                                    </p:anim>
                                    <p:anim calcmode="lin" valueType="num">
                                      <p:cBhvr>
                                        <p:cTn id="29" dur="500" fill="hold"/>
                                        <p:tgtEl>
                                          <p:spTgt spid="447525"/>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447527"/>
                                        </p:tgtEl>
                                        <p:attrNameLst>
                                          <p:attrName>style.visibility</p:attrName>
                                        </p:attrNameLst>
                                      </p:cBhvr>
                                      <p:to>
                                        <p:strVal val="visible"/>
                                      </p:to>
                                    </p:set>
                                    <p:animEffect transition="in" filter="wipe(left)">
                                      <p:cBhvr>
                                        <p:cTn id="34" dur="500"/>
                                        <p:tgtEl>
                                          <p:spTgt spid="447527"/>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447515"/>
                                        </p:tgtEl>
                                        <p:attrNameLst>
                                          <p:attrName>style.visibility</p:attrName>
                                        </p:attrNameLst>
                                      </p:cBhvr>
                                      <p:to>
                                        <p:strVal val="visible"/>
                                      </p:to>
                                    </p:set>
                                    <p:animEffect transition="in" filter="wipe(left)">
                                      <p:cBhvr>
                                        <p:cTn id="37" dur="500"/>
                                        <p:tgtEl>
                                          <p:spTgt spid="447515"/>
                                        </p:tgtEl>
                                      </p:cBhvr>
                                    </p:animEffect>
                                  </p:childTnLst>
                                </p:cTn>
                              </p:par>
                            </p:childTnLst>
                          </p:cTn>
                        </p:par>
                      </p:childTnLst>
                    </p:cTn>
                  </p:par>
                  <p:par>
                    <p:cTn id="38" fill="hold">
                      <p:stCondLst>
                        <p:cond delay="indefinite"/>
                      </p:stCondLst>
                      <p:childTnLst>
                        <p:par>
                          <p:cTn id="39" fill="hold">
                            <p:stCondLst>
                              <p:cond delay="0"/>
                            </p:stCondLst>
                            <p:childTnLst>
                              <p:par>
                                <p:cTn id="40" presetID="47" presetClass="entr" presetSubtype="0" fill="hold" nodeType="clickEffect">
                                  <p:stCondLst>
                                    <p:cond delay="0"/>
                                  </p:stCondLst>
                                  <p:childTnLst>
                                    <p:set>
                                      <p:cBhvr>
                                        <p:cTn id="41" dur="1" fill="hold">
                                          <p:stCondLst>
                                            <p:cond delay="0"/>
                                          </p:stCondLst>
                                        </p:cTn>
                                        <p:tgtEl>
                                          <p:spTgt spid="447526"/>
                                        </p:tgtEl>
                                        <p:attrNameLst>
                                          <p:attrName>style.visibility</p:attrName>
                                        </p:attrNameLst>
                                      </p:cBhvr>
                                      <p:to>
                                        <p:strVal val="visible"/>
                                      </p:to>
                                    </p:set>
                                    <p:animEffect transition="in" filter="fade">
                                      <p:cBhvr>
                                        <p:cTn id="42" dur="500"/>
                                        <p:tgtEl>
                                          <p:spTgt spid="447526"/>
                                        </p:tgtEl>
                                      </p:cBhvr>
                                    </p:animEffect>
                                    <p:anim calcmode="lin" valueType="num">
                                      <p:cBhvr>
                                        <p:cTn id="43" dur="500" fill="hold"/>
                                        <p:tgtEl>
                                          <p:spTgt spid="447526"/>
                                        </p:tgtEl>
                                        <p:attrNameLst>
                                          <p:attrName>ppt_x</p:attrName>
                                        </p:attrNameLst>
                                      </p:cBhvr>
                                      <p:tavLst>
                                        <p:tav tm="0">
                                          <p:val>
                                            <p:strVal val="#ppt_x"/>
                                          </p:val>
                                        </p:tav>
                                        <p:tav tm="100000">
                                          <p:val>
                                            <p:strVal val="#ppt_x"/>
                                          </p:val>
                                        </p:tav>
                                      </p:tavLst>
                                    </p:anim>
                                    <p:anim calcmode="lin" valueType="num">
                                      <p:cBhvr>
                                        <p:cTn id="44" dur="500" fill="hold"/>
                                        <p:tgtEl>
                                          <p:spTgt spid="447526"/>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447513"/>
                                        </p:tgtEl>
                                        <p:attrNameLst>
                                          <p:attrName>style.visibility</p:attrName>
                                        </p:attrNameLst>
                                      </p:cBhvr>
                                      <p:to>
                                        <p:strVal val="visible"/>
                                      </p:to>
                                    </p:set>
                                    <p:animEffect transition="in" filter="wipe(left)">
                                      <p:cBhvr>
                                        <p:cTn id="49" dur="500"/>
                                        <p:tgtEl>
                                          <p:spTgt spid="447513"/>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447528"/>
                                        </p:tgtEl>
                                        <p:attrNameLst>
                                          <p:attrName>style.visibility</p:attrName>
                                        </p:attrNameLst>
                                      </p:cBhvr>
                                      <p:to>
                                        <p:strVal val="visible"/>
                                      </p:to>
                                    </p:set>
                                    <p:animEffect transition="in" filter="wipe(left)">
                                      <p:cBhvr>
                                        <p:cTn id="54" dur="500"/>
                                        <p:tgtEl>
                                          <p:spTgt spid="447528"/>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447529"/>
                                        </p:tgtEl>
                                        <p:attrNameLst>
                                          <p:attrName>style.visibility</p:attrName>
                                        </p:attrNameLst>
                                      </p:cBhvr>
                                      <p:to>
                                        <p:strVal val="visible"/>
                                      </p:to>
                                    </p:set>
                                    <p:animEffect transition="in" filter="wipe(left)">
                                      <p:cBhvr>
                                        <p:cTn id="59" dur="500"/>
                                        <p:tgtEl>
                                          <p:spTgt spid="447529"/>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447530"/>
                                        </p:tgtEl>
                                        <p:attrNameLst>
                                          <p:attrName>style.visibility</p:attrName>
                                        </p:attrNameLst>
                                      </p:cBhvr>
                                      <p:to>
                                        <p:strVal val="visible"/>
                                      </p:to>
                                    </p:set>
                                    <p:animEffect transition="in" filter="wipe(left)">
                                      <p:cBhvr>
                                        <p:cTn id="64" dur="500"/>
                                        <p:tgtEl>
                                          <p:spTgt spid="447530"/>
                                        </p:tgtEl>
                                      </p:cBhvr>
                                    </p:animEffect>
                                  </p:childTnLst>
                                </p:cTn>
                              </p:par>
                              <p:par>
                                <p:cTn id="65" presetID="22" presetClass="entr" presetSubtype="8" fill="hold" nodeType="withEffect">
                                  <p:stCondLst>
                                    <p:cond delay="0"/>
                                  </p:stCondLst>
                                  <p:childTnLst>
                                    <p:set>
                                      <p:cBhvr>
                                        <p:cTn id="66" dur="1" fill="hold">
                                          <p:stCondLst>
                                            <p:cond delay="0"/>
                                          </p:stCondLst>
                                        </p:cTn>
                                        <p:tgtEl>
                                          <p:spTgt spid="447531"/>
                                        </p:tgtEl>
                                        <p:attrNameLst>
                                          <p:attrName>style.visibility</p:attrName>
                                        </p:attrNameLst>
                                      </p:cBhvr>
                                      <p:to>
                                        <p:strVal val="visible"/>
                                      </p:to>
                                    </p:set>
                                    <p:animEffect transition="in" filter="wipe(left)">
                                      <p:cBhvr>
                                        <p:cTn id="67" dur="500"/>
                                        <p:tgtEl>
                                          <p:spTgt spid="447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7512" grpId="0"/>
      <p:bldP spid="447514" grpId="0"/>
      <p:bldP spid="447515" grpId="0"/>
      <p:bldP spid="4475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二、数据库故障的基本恢复方式</a:t>
            </a:r>
          </a:p>
        </p:txBody>
      </p:sp>
      <p:sp>
        <p:nvSpPr>
          <p:cNvPr id="502787" name="AutoShape 3"/>
          <p:cNvSpPr>
            <a:spLocks noChangeArrowheads="1"/>
          </p:cNvSpPr>
          <p:nvPr/>
        </p:nvSpPr>
        <p:spPr bwMode="auto">
          <a:xfrm>
            <a:off x="468313" y="3357563"/>
            <a:ext cx="8280400" cy="2735262"/>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35000"/>
              </a:spcBef>
              <a:buClr>
                <a:schemeClr val="folHlink"/>
              </a:buClr>
              <a:buSzPct val="60000"/>
              <a:buFont typeface="Wingdings" panose="05000000000000000000" pitchFamily="2" charset="2"/>
              <a:buNone/>
            </a:pPr>
            <a:r>
              <a:rPr lang="zh-CN" altLang="en-US" sz="2800" b="1">
                <a:latin typeface="Tahoma" panose="020B0604030504040204" pitchFamily="34" charset="0"/>
                <a:ea typeface="楷体_GB2312" pitchFamily="49" charset="-122"/>
              </a:rPr>
              <a:t> ①在动态转储方式中必须建立日志文件；</a:t>
            </a:r>
          </a:p>
          <a:p>
            <a:pPr>
              <a:lnSpc>
                <a:spcPct val="110000"/>
              </a:lnSpc>
              <a:spcBef>
                <a:spcPct val="35000"/>
              </a:spcBef>
              <a:buClr>
                <a:schemeClr val="folHlink"/>
              </a:buClr>
              <a:buSzPct val="60000"/>
              <a:buFont typeface="Wingdings" panose="05000000000000000000" pitchFamily="2" charset="2"/>
              <a:buNone/>
            </a:pPr>
            <a:r>
              <a:rPr lang="zh-CN" altLang="en-US" sz="2800" b="1">
                <a:latin typeface="Tahoma" panose="020B0604030504040204" pitchFamily="34" charset="0"/>
                <a:ea typeface="楷体_GB2312" pitchFamily="49" charset="-122"/>
              </a:rPr>
              <a:t> ②将后援副本和日志文件综合起来才能有效恢复数据库。</a:t>
            </a:r>
          </a:p>
          <a:p>
            <a:pPr>
              <a:lnSpc>
                <a:spcPct val="110000"/>
              </a:lnSpc>
              <a:spcBef>
                <a:spcPct val="35000"/>
              </a:spcBef>
              <a:buClr>
                <a:schemeClr val="folHlink"/>
              </a:buClr>
              <a:buSzPct val="60000"/>
              <a:buFont typeface="Wingdings" panose="05000000000000000000" pitchFamily="2" charset="2"/>
              <a:buNone/>
            </a:pPr>
            <a:endParaRPr lang="zh-CN" altLang="en-US" sz="2800" b="1">
              <a:latin typeface="Tahoma" panose="020B0604030504040204" pitchFamily="34" charset="0"/>
              <a:ea typeface="楷体_GB2312" pitchFamily="49" charset="-122"/>
            </a:endParaRPr>
          </a:p>
        </p:txBody>
      </p:sp>
      <p:grpSp>
        <p:nvGrpSpPr>
          <p:cNvPr id="502788" name="Group 4"/>
          <p:cNvGrpSpPr/>
          <p:nvPr/>
        </p:nvGrpSpPr>
        <p:grpSpPr bwMode="auto">
          <a:xfrm>
            <a:off x="755650" y="2060575"/>
            <a:ext cx="3311525" cy="720725"/>
            <a:chOff x="340" y="1389"/>
            <a:chExt cx="926" cy="499"/>
          </a:xfrm>
        </p:grpSpPr>
        <p:sp>
          <p:nvSpPr>
            <p:cNvPr id="502789" name="Freeform 22"/>
            <p:cNvSpPr/>
            <p:nvPr/>
          </p:nvSpPr>
          <p:spPr bwMode="auto">
            <a:xfrm>
              <a:off x="340" y="1389"/>
              <a:ext cx="926" cy="499"/>
            </a:xfrm>
            <a:custGeom>
              <a:avLst/>
              <a:gdLst>
                <a:gd name="T0" fmla="*/ 120 w 1071"/>
                <a:gd name="T1" fmla="*/ 0 h 307"/>
                <a:gd name="T2" fmla="*/ 1546 w 1071"/>
                <a:gd name="T3" fmla="*/ 0 h 307"/>
                <a:gd name="T4" fmla="*/ 1546 w 1071"/>
                <a:gd name="T5" fmla="*/ 279 h 307"/>
                <a:gd name="T6" fmla="*/ 1526 w 1071"/>
                <a:gd name="T7" fmla="*/ 381 h 307"/>
                <a:gd name="T8" fmla="*/ 1428 w 1071"/>
                <a:gd name="T9" fmla="*/ 426 h 307"/>
                <a:gd name="T10" fmla="*/ 0 w 1071"/>
                <a:gd name="T11" fmla="*/ 433 h 307"/>
                <a:gd name="T12" fmla="*/ 0 w 1071"/>
                <a:gd name="T13" fmla="*/ 126 h 307"/>
                <a:gd name="T14" fmla="*/ 30 w 1071"/>
                <a:gd name="T15" fmla="*/ 25 h 307"/>
                <a:gd name="T16" fmla="*/ 120 w 1071"/>
                <a:gd name="T17" fmla="*/ 0 h 30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71"/>
                <a:gd name="T28" fmla="*/ 0 h 307"/>
                <a:gd name="T29" fmla="*/ 1071 w 1071"/>
                <a:gd name="T30" fmla="*/ 307 h 30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71" h="307">
                  <a:moveTo>
                    <a:pt x="83" y="0"/>
                  </a:moveTo>
                  <a:lnTo>
                    <a:pt x="1069" y="0"/>
                  </a:lnTo>
                  <a:cubicBezTo>
                    <a:pt x="1069" y="0"/>
                    <a:pt x="1069" y="99"/>
                    <a:pt x="1069" y="198"/>
                  </a:cubicBezTo>
                  <a:cubicBezTo>
                    <a:pt x="1069" y="198"/>
                    <a:pt x="1071" y="248"/>
                    <a:pt x="1055" y="270"/>
                  </a:cubicBezTo>
                  <a:cubicBezTo>
                    <a:pt x="1043" y="288"/>
                    <a:pt x="1019" y="302"/>
                    <a:pt x="987" y="302"/>
                  </a:cubicBezTo>
                  <a:cubicBezTo>
                    <a:pt x="488" y="303"/>
                    <a:pt x="0" y="307"/>
                    <a:pt x="0" y="307"/>
                  </a:cubicBezTo>
                  <a:lnTo>
                    <a:pt x="0" y="89"/>
                  </a:lnTo>
                  <a:cubicBezTo>
                    <a:pt x="3" y="41"/>
                    <a:pt x="7" y="33"/>
                    <a:pt x="21" y="18"/>
                  </a:cubicBezTo>
                  <a:cubicBezTo>
                    <a:pt x="35" y="3"/>
                    <a:pt x="66" y="1"/>
                    <a:pt x="83" y="0"/>
                  </a:cubicBezTo>
                  <a:close/>
                </a:path>
              </a:pathLst>
            </a:custGeom>
            <a:gradFill rotWithShape="1">
              <a:gsLst>
                <a:gs pos="0">
                  <a:srgbClr val="822061"/>
                </a:gs>
                <a:gs pos="50000">
                  <a:srgbClr val="CC3399"/>
                </a:gs>
                <a:gs pos="100000">
                  <a:srgbClr val="822061"/>
                </a:gs>
              </a:gsLst>
              <a:lin ang="5400000" scaled="1"/>
            </a:gradFill>
            <a:ln w="28575" cmpd="sng">
              <a:solidFill>
                <a:srgbClr val="FFFFFF"/>
              </a:solidFill>
              <a:miter lim="800000"/>
            </a:ln>
            <a:effectLst>
              <a:outerShdw dist="71842" dir="2700000" algn="ctr" rotWithShape="0">
                <a:srgbClr val="000000">
                  <a:alpha val="50000"/>
                </a:srgbClr>
              </a:outerShdw>
            </a:effectLst>
          </p:spPr>
          <p:txBody>
            <a:bodyPr wrap="none" anchor="ctr"/>
            <a:lstStyle/>
            <a:p>
              <a:endParaRPr lang="zh-CN" altLang="en-US"/>
            </a:p>
          </p:txBody>
        </p:sp>
        <p:sp>
          <p:nvSpPr>
            <p:cNvPr id="502790" name="Text Box 6"/>
            <p:cNvSpPr txBox="1">
              <a:spLocks noChangeArrowheads="1"/>
            </p:cNvSpPr>
            <p:nvPr/>
          </p:nvSpPr>
          <p:spPr bwMode="auto">
            <a:xfrm>
              <a:off x="431" y="1437"/>
              <a:ext cx="710"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r>
                <a:rPr lang="zh-CN" altLang="en-US" sz="2800" b="1">
                  <a:solidFill>
                    <a:srgbClr val="00FFFF"/>
                  </a:solidFill>
                  <a:latin typeface="华文中宋" panose="02010600040101010101" pitchFamily="2" charset="-122"/>
                  <a:ea typeface="华文中宋" panose="02010600040101010101" pitchFamily="2" charset="-122"/>
                </a:rPr>
                <a:t>（</a:t>
              </a:r>
              <a:r>
                <a:rPr lang="en-US" altLang="zh-CN" sz="2800" b="1">
                  <a:solidFill>
                    <a:srgbClr val="00FFFF"/>
                  </a:solidFill>
                  <a:latin typeface="华文中宋" panose="02010600040101010101" pitchFamily="2" charset="-122"/>
                  <a:ea typeface="华文中宋" panose="02010600040101010101" pitchFamily="2" charset="-122"/>
                </a:rPr>
                <a:t>2</a:t>
              </a:r>
              <a:r>
                <a:rPr lang="zh-CN" altLang="en-US" sz="2800" b="1">
                  <a:solidFill>
                    <a:srgbClr val="00FFFF"/>
                  </a:solidFill>
                  <a:latin typeface="华文中宋" panose="02010600040101010101" pitchFamily="2" charset="-122"/>
                  <a:ea typeface="华文中宋" panose="02010600040101010101" pitchFamily="2" charset="-122"/>
                </a:rPr>
                <a:t>）恢复方法</a:t>
              </a:r>
            </a:p>
          </p:txBody>
        </p:sp>
      </p:grpSp>
      <p:sp>
        <p:nvSpPr>
          <p:cNvPr id="502791" name="Rectangle 7"/>
          <p:cNvSpPr>
            <a:spLocks noChangeArrowheads="1"/>
          </p:cNvSpPr>
          <p:nvPr/>
        </p:nvSpPr>
        <p:spPr bwMode="auto">
          <a:xfrm>
            <a:off x="611188" y="1187450"/>
            <a:ext cx="80645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2</a:t>
            </a:r>
            <a:r>
              <a:rPr lang="zh-CN" altLang="en-US" sz="3200">
                <a:solidFill>
                  <a:srgbClr val="660033"/>
                </a:solidFill>
                <a:ea typeface="华文新魏" panose="02010800040101010101" pitchFamily="2" charset="-122"/>
              </a:rPr>
              <a:t>、日志文件</a:t>
            </a:r>
          </a:p>
        </p:txBody>
      </p:sp>
      <p:grpSp>
        <p:nvGrpSpPr>
          <p:cNvPr id="502801" name="Group 17"/>
          <p:cNvGrpSpPr/>
          <p:nvPr/>
        </p:nvGrpSpPr>
        <p:grpSpPr bwMode="auto">
          <a:xfrm>
            <a:off x="5003800" y="1268413"/>
            <a:ext cx="3529013" cy="1103312"/>
            <a:chOff x="2562" y="890"/>
            <a:chExt cx="2223" cy="695"/>
          </a:xfrm>
        </p:grpSpPr>
        <p:grpSp>
          <p:nvGrpSpPr>
            <p:cNvPr id="502797" name="Group 13"/>
            <p:cNvGrpSpPr>
              <a:grpSpLocks noChangeAspect="1"/>
            </p:cNvGrpSpPr>
            <p:nvPr/>
          </p:nvGrpSpPr>
          <p:grpSpPr bwMode="auto">
            <a:xfrm>
              <a:off x="2562" y="890"/>
              <a:ext cx="2223" cy="695"/>
              <a:chOff x="1975" y="736"/>
              <a:chExt cx="1202" cy="484"/>
            </a:xfrm>
          </p:grpSpPr>
          <p:pic>
            <p:nvPicPr>
              <p:cNvPr id="502798"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5" y="736"/>
                <a:ext cx="1202" cy="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2799"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5" y="777"/>
                <a:ext cx="1129" cy="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502800" name="Rectangle 16"/>
            <p:cNvSpPr>
              <a:spLocks noChangeAspect="1" noChangeArrowheads="1"/>
            </p:cNvSpPr>
            <p:nvPr/>
          </p:nvSpPr>
          <p:spPr bwMode="auto">
            <a:xfrm>
              <a:off x="2806" y="1057"/>
              <a:ext cx="1707" cy="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r>
                <a:rPr lang="zh-CN" altLang="en-US" sz="2400" b="1">
                  <a:latin typeface="Trebuchet MS" panose="020B0603020202020204" pitchFamily="34" charset="0"/>
                  <a:ea typeface="幼圆" panose="02010509060101010101" pitchFamily="49" charset="-122"/>
                </a:rPr>
                <a:t>动态转储</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9593"/>
    </mc:Choice>
    <mc:Fallback xmlns="">
      <p:transition spd="slow" advTm="1959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02801"/>
                                        </p:tgtEl>
                                        <p:attrNameLst>
                                          <p:attrName>style.visibility</p:attrName>
                                        </p:attrNameLst>
                                      </p:cBhvr>
                                      <p:to>
                                        <p:strVal val="visible"/>
                                      </p:to>
                                    </p:set>
                                    <p:animEffect transition="in" filter="blinds(horizontal)">
                                      <p:cBhvr>
                                        <p:cTn id="7" dur="500"/>
                                        <p:tgtEl>
                                          <p:spTgt spid="50280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02787">
                                            <p:bg/>
                                          </p:spTgt>
                                        </p:tgtEl>
                                        <p:attrNameLst>
                                          <p:attrName>style.visibility</p:attrName>
                                        </p:attrNameLst>
                                      </p:cBhvr>
                                      <p:to>
                                        <p:strVal val="visible"/>
                                      </p:to>
                                    </p:set>
                                    <p:animEffect transition="in" filter="wipe(up)">
                                      <p:cBhvr>
                                        <p:cTn id="12" dur="500"/>
                                        <p:tgtEl>
                                          <p:spTgt spid="502787">
                                            <p:bg/>
                                          </p:spTgt>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502787">
                                            <p:txEl>
                                              <p:pRg st="0" end="0"/>
                                            </p:txEl>
                                          </p:spTgt>
                                        </p:tgtEl>
                                        <p:attrNameLst>
                                          <p:attrName>style.visibility</p:attrName>
                                        </p:attrNameLst>
                                      </p:cBhvr>
                                      <p:to>
                                        <p:strVal val="visible"/>
                                      </p:to>
                                    </p:set>
                                    <p:animEffect transition="in" filter="wipe(up)">
                                      <p:cBhvr>
                                        <p:cTn id="16" dur="500"/>
                                        <p:tgtEl>
                                          <p:spTgt spid="502787">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502787">
                                            <p:txEl>
                                              <p:pRg st="1" end="1"/>
                                            </p:txEl>
                                          </p:spTgt>
                                        </p:tgtEl>
                                        <p:attrNameLst>
                                          <p:attrName>style.visibility</p:attrName>
                                        </p:attrNameLst>
                                      </p:cBhvr>
                                      <p:to>
                                        <p:strVal val="visible"/>
                                      </p:to>
                                    </p:set>
                                    <p:animEffect transition="in" filter="wipe(up)">
                                      <p:cBhvr>
                                        <p:cTn id="21" dur="500"/>
                                        <p:tgtEl>
                                          <p:spTgt spid="50278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787" grpId="0" build="p"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二、数据库故障的基本恢复方式</a:t>
            </a:r>
          </a:p>
        </p:txBody>
      </p:sp>
      <p:sp>
        <p:nvSpPr>
          <p:cNvPr id="123907" name="AutoShape 3"/>
          <p:cNvSpPr>
            <a:spLocks noChangeArrowheads="1"/>
          </p:cNvSpPr>
          <p:nvPr/>
        </p:nvSpPr>
        <p:spPr bwMode="auto">
          <a:xfrm>
            <a:off x="179388" y="1600200"/>
            <a:ext cx="5880100" cy="4495800"/>
          </a:xfrm>
          <a:prstGeom prst="rightArrow">
            <a:avLst>
              <a:gd name="adj1" fmla="val 79306"/>
              <a:gd name="adj2" fmla="val 32395"/>
            </a:avLst>
          </a:prstGeom>
          <a:gradFill rotWithShape="1">
            <a:gsLst>
              <a:gs pos="0">
                <a:srgbClr val="FFFFFF"/>
              </a:gs>
              <a:gs pos="100000">
                <a:srgbClr val="BBE0E3"/>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23908" name="AutoShape 4"/>
          <p:cNvSpPr>
            <a:spLocks noChangeArrowheads="1"/>
          </p:cNvSpPr>
          <p:nvPr/>
        </p:nvSpPr>
        <p:spPr bwMode="auto">
          <a:xfrm>
            <a:off x="560388" y="2282825"/>
            <a:ext cx="4038600" cy="1506538"/>
          </a:xfrm>
          <a:prstGeom prst="roundRect">
            <a:avLst>
              <a:gd name="adj" fmla="val 9106"/>
            </a:avLst>
          </a:prstGeom>
          <a:gradFill rotWithShape="1">
            <a:gsLst>
              <a:gs pos="0">
                <a:srgbClr val="333399"/>
              </a:gs>
              <a:gs pos="100000">
                <a:srgbClr val="7171B8"/>
              </a:gs>
            </a:gsLst>
            <a:lin ang="5400000" scaled="1"/>
          </a:gradFill>
          <a:ln w="25400">
            <a:solidFill>
              <a:srgbClr val="FFFF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zh-CN" altLang="en-US" sz="2800" b="1">
                <a:solidFill>
                  <a:srgbClr val="FFFFA7"/>
                </a:solidFill>
                <a:latin typeface="Tahoma" panose="020B0604030504040204" pitchFamily="34" charset="0"/>
                <a:ea typeface="楷体_GB2312" pitchFamily="49" charset="-122"/>
              </a:rPr>
              <a:t>    严格按并发事务执行的时间次序进行登记</a:t>
            </a:r>
            <a:endParaRPr kumimoji="0" lang="zh-CN" altLang="zh-CN" sz="2800" b="1">
              <a:solidFill>
                <a:srgbClr val="FFFFA7"/>
              </a:solidFill>
              <a:latin typeface="Tahoma" panose="020B0604030504040204" pitchFamily="34" charset="0"/>
              <a:ea typeface="楷体_GB2312" pitchFamily="49" charset="-122"/>
            </a:endParaRPr>
          </a:p>
        </p:txBody>
      </p:sp>
      <p:sp>
        <p:nvSpPr>
          <p:cNvPr id="123910" name="AutoShape 6"/>
          <p:cNvSpPr>
            <a:spLocks noChangeArrowheads="1"/>
          </p:cNvSpPr>
          <p:nvPr/>
        </p:nvSpPr>
        <p:spPr bwMode="auto">
          <a:xfrm>
            <a:off x="560388" y="3933825"/>
            <a:ext cx="4038600" cy="1481138"/>
          </a:xfrm>
          <a:prstGeom prst="roundRect">
            <a:avLst>
              <a:gd name="adj" fmla="val 9106"/>
            </a:avLst>
          </a:prstGeom>
          <a:gradFill rotWithShape="1">
            <a:gsLst>
              <a:gs pos="0">
                <a:srgbClr val="009999"/>
              </a:gs>
              <a:gs pos="100000">
                <a:srgbClr val="4DB8B8"/>
              </a:gs>
            </a:gsLst>
            <a:lin ang="5400000" scaled="1"/>
          </a:gradFill>
          <a:ln w="25400">
            <a:solidFill>
              <a:srgbClr val="FFFF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zh-CN" altLang="en-US" sz="2800" b="1">
                <a:latin typeface="Tahoma" panose="020B0604030504040204" pitchFamily="34" charset="0"/>
                <a:ea typeface="楷体_GB2312" pitchFamily="49" charset="-122"/>
              </a:rPr>
              <a:t>     必须先写日志文件，后写回数据库</a:t>
            </a:r>
            <a:endParaRPr kumimoji="0" lang="zh-CN" altLang="zh-CN" sz="2800" b="1">
              <a:latin typeface="Tahoma" panose="020B0604030504040204" pitchFamily="34" charset="0"/>
              <a:ea typeface="楷体_GB2312" pitchFamily="49" charset="-122"/>
            </a:endParaRPr>
          </a:p>
        </p:txBody>
      </p:sp>
      <p:sp>
        <p:nvSpPr>
          <p:cNvPr id="123911" name="AutoShape 7"/>
          <p:cNvSpPr>
            <a:spLocks noChangeArrowheads="1"/>
          </p:cNvSpPr>
          <p:nvPr/>
        </p:nvSpPr>
        <p:spPr bwMode="auto">
          <a:xfrm>
            <a:off x="6161088" y="3276600"/>
            <a:ext cx="2514600" cy="1295400"/>
          </a:xfrm>
          <a:prstGeom prst="roundRect">
            <a:avLst>
              <a:gd name="adj" fmla="val 9106"/>
            </a:avLst>
          </a:prstGeom>
          <a:noFill/>
          <a:ln>
            <a:noFill/>
          </a:ln>
          <a:effectLst/>
          <a:extLst>
            <a:ext uri="{909E8E84-426E-40DD-AFC4-6F175D3DCCD1}">
              <a14:hiddenFill xmlns:a14="http://schemas.microsoft.com/office/drawing/2010/main">
                <a:solidFill>
                  <a:srgbClr val="9ACDD4"/>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3200" b="1">
                <a:solidFill>
                  <a:srgbClr val="000000"/>
                </a:solidFill>
                <a:effectLst>
                  <a:outerShdw blurRad="38100" dist="38100" dir="2700000" algn="tl">
                    <a:srgbClr val="C0C0C0"/>
                  </a:outerShdw>
                </a:effectLst>
                <a:latin typeface="Arial" panose="020B0604020202020204" pitchFamily="34" charset="0"/>
                <a:ea typeface="楷体_GB2312" pitchFamily="49" charset="-122"/>
                <a:cs typeface="Arial" panose="020B0604020202020204" pitchFamily="34" charset="0"/>
              </a:rPr>
              <a:t>日志文件的登记原则</a:t>
            </a:r>
            <a:endParaRPr kumimoji="0" lang="zh-CN" altLang="zh-CN" sz="3200" b="1">
              <a:solidFill>
                <a:srgbClr val="000000"/>
              </a:solidFill>
              <a:effectLst>
                <a:outerShdw blurRad="38100" dist="38100" dir="2700000" algn="tl">
                  <a:srgbClr val="C0C0C0"/>
                </a:outerShdw>
              </a:effectLst>
              <a:latin typeface="Arial" panose="020B0604020202020204" pitchFamily="34" charset="0"/>
              <a:ea typeface="楷体_GB2312" pitchFamily="49" charset="-122"/>
              <a:cs typeface="Arial" panose="020B0604020202020204" pitchFamily="34" charset="0"/>
            </a:endParaRPr>
          </a:p>
        </p:txBody>
      </p:sp>
      <p:sp>
        <p:nvSpPr>
          <p:cNvPr id="445464" name="WordArt 24"/>
          <p:cNvSpPr>
            <a:spLocks noChangeArrowheads="1" noChangeShapeType="1" noTextEdit="1"/>
          </p:cNvSpPr>
          <p:nvPr/>
        </p:nvSpPr>
        <p:spPr bwMode="auto">
          <a:xfrm>
            <a:off x="5580063" y="3429000"/>
            <a:ext cx="1439862" cy="2305050"/>
          </a:xfrm>
          <a:prstGeom prst="rect">
            <a:avLst/>
          </a:prstGeom>
          <a:extLst>
            <a:ext uri="{AF507438-7753-43E0-B8FC-AC1667EBCBE1}">
              <a14:hiddenEffects xmlns:a14="http://schemas.microsoft.com/office/drawing/2010/main">
                <a:effectLst/>
              </a14:hiddenEffects>
            </a:ext>
          </a:extLst>
        </p:spPr>
        <p:txBody>
          <a:bodyPr wrap="none" fromWordArt="1">
            <a:prstTxWarp prst="textInflate">
              <a:avLst>
                <a:gd name="adj" fmla="val 13634"/>
              </a:avLst>
            </a:prstTxWarp>
          </a:bodyPr>
          <a:lstStyle/>
          <a:p>
            <a:pPr algn="ctr"/>
            <a:r>
              <a:rPr lang="zh-CN" altLang="en-US" sz="4800" b="1" i="1" kern="10">
                <a:ln w="9525" cap="sq">
                  <a:solidFill>
                    <a:schemeClr val="bg2"/>
                  </a:solidFill>
                  <a:round/>
                  <a:headEnd type="none" w="sm" len="sm"/>
                  <a:tailEnd type="none" w="sm" len="sm"/>
                </a:ln>
                <a:solidFill>
                  <a:srgbClr val="CC3300"/>
                </a:solidFill>
                <a:latin typeface="隶书" panose="02010509060101010101" pitchFamily="49" charset="-122"/>
                <a:ea typeface="隶书" panose="02010509060101010101" pitchFamily="49" charset="-122"/>
              </a:rPr>
              <a:t>？</a:t>
            </a:r>
          </a:p>
        </p:txBody>
      </p:sp>
      <p:sp>
        <p:nvSpPr>
          <p:cNvPr id="445465" name="AutoShape 25"/>
          <p:cNvSpPr>
            <a:spLocks noChangeArrowheads="1"/>
          </p:cNvSpPr>
          <p:nvPr/>
        </p:nvSpPr>
        <p:spPr bwMode="auto">
          <a:xfrm>
            <a:off x="4932363" y="1412875"/>
            <a:ext cx="3887787" cy="4895850"/>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50000"/>
              </a:spcBef>
              <a:buClr>
                <a:schemeClr val="folHlink"/>
              </a:buClr>
              <a:buSzPct val="60000"/>
              <a:buFont typeface="Wingdings" panose="05000000000000000000" pitchFamily="2" charset="2"/>
              <a:buNone/>
            </a:pPr>
            <a:r>
              <a:rPr lang="zh-CN" altLang="en-US" sz="2400" b="1">
                <a:latin typeface="Tahoma" panose="020B0604030504040204" pitchFamily="34" charset="0"/>
                <a:ea typeface="楷体_GB2312" pitchFamily="49" charset="-122"/>
              </a:rPr>
              <a:t> </a:t>
            </a:r>
          </a:p>
          <a:p>
            <a:pPr>
              <a:lnSpc>
                <a:spcPct val="110000"/>
              </a:lnSpc>
              <a:spcBef>
                <a:spcPct val="50000"/>
              </a:spcBef>
              <a:buClr>
                <a:schemeClr val="folHlink"/>
              </a:buClr>
              <a:buSzPct val="60000"/>
              <a:buFont typeface="Wingdings" panose="05000000000000000000" pitchFamily="2" charset="2"/>
              <a:buNone/>
            </a:pPr>
            <a:r>
              <a:rPr lang="zh-CN" altLang="en-US" sz="2400" b="1">
                <a:latin typeface="Tahoma" panose="020B0604030504040204" pitchFamily="34" charset="0"/>
                <a:ea typeface="楷体_GB2312" pitchFamily="49" charset="-122"/>
              </a:rPr>
              <a:t>     如果先把对数据库的更新写回数据库，而在日志文件的运行记录中没有登记该事务的更新情况，则当故障发生后就无法恢复这个更新了。</a:t>
            </a:r>
          </a:p>
          <a:p>
            <a:pPr>
              <a:lnSpc>
                <a:spcPct val="110000"/>
              </a:lnSpc>
              <a:spcBef>
                <a:spcPct val="35000"/>
              </a:spcBef>
              <a:buClr>
                <a:schemeClr val="folHlink"/>
              </a:buClr>
              <a:buSzPct val="60000"/>
              <a:buFont typeface="Wingdings" panose="05000000000000000000" pitchFamily="2" charset="2"/>
              <a:buNone/>
            </a:pPr>
            <a:r>
              <a:rPr lang="zh-CN" altLang="en-US" sz="2400" b="1">
                <a:latin typeface="Tahoma" panose="020B0604030504040204" pitchFamily="34" charset="0"/>
                <a:ea typeface="楷体_GB2312" pitchFamily="49" charset="-122"/>
              </a:rPr>
              <a:t>      先写日志，但没有更新数据库时，当发生故障，只需多执行一次不必要的撤销操作，但不会影响数据库的正确性。</a:t>
            </a:r>
          </a:p>
          <a:p>
            <a:pPr>
              <a:lnSpc>
                <a:spcPct val="110000"/>
              </a:lnSpc>
              <a:spcBef>
                <a:spcPct val="35000"/>
              </a:spcBef>
              <a:buClr>
                <a:schemeClr val="folHlink"/>
              </a:buClr>
              <a:buSzPct val="60000"/>
              <a:buFont typeface="Wingdings" panose="05000000000000000000" pitchFamily="2" charset="2"/>
              <a:buNone/>
            </a:pPr>
            <a:endParaRPr lang="zh-CN" altLang="en-US" sz="2400" b="1">
              <a:latin typeface="Tahoma" panose="020B0604030504040204" pitchFamily="34" charset="0"/>
              <a:ea typeface="楷体_GB2312" pitchFamily="49"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9692"/>
    </mc:Choice>
    <mc:Fallback xmlns="">
      <p:transition spd="slow" advTm="5969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3911"/>
                                        </p:tgtEl>
                                        <p:attrNameLst>
                                          <p:attrName>style.visibility</p:attrName>
                                        </p:attrNameLst>
                                      </p:cBhvr>
                                      <p:to>
                                        <p:strVal val="visible"/>
                                      </p:to>
                                    </p:set>
                                    <p:animEffect transition="in" filter="wipe(left)">
                                      <p:cBhvr>
                                        <p:cTn id="7" dur="500"/>
                                        <p:tgtEl>
                                          <p:spTgt spid="1239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3907"/>
                                        </p:tgtEl>
                                        <p:attrNameLst>
                                          <p:attrName>style.visibility</p:attrName>
                                        </p:attrNameLst>
                                      </p:cBhvr>
                                      <p:to>
                                        <p:strVal val="visible"/>
                                      </p:to>
                                    </p:set>
                                    <p:animEffect transition="in" filter="wipe(left)">
                                      <p:cBhvr>
                                        <p:cTn id="12" dur="500"/>
                                        <p:tgtEl>
                                          <p:spTgt spid="12390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1" nodeType="clickEffect">
                                  <p:stCondLst>
                                    <p:cond delay="0"/>
                                  </p:stCondLst>
                                  <p:childTnLst>
                                    <p:set>
                                      <p:cBhvr>
                                        <p:cTn id="16" dur="1" fill="hold">
                                          <p:stCondLst>
                                            <p:cond delay="0"/>
                                          </p:stCondLst>
                                        </p:cTn>
                                        <p:tgtEl>
                                          <p:spTgt spid="123908"/>
                                        </p:tgtEl>
                                        <p:attrNameLst>
                                          <p:attrName>style.visibility</p:attrName>
                                        </p:attrNameLst>
                                      </p:cBhvr>
                                      <p:to>
                                        <p:strVal val="visible"/>
                                      </p:to>
                                    </p:set>
                                    <p:animEffect transition="in" filter="wipe(left)">
                                      <p:cBhvr>
                                        <p:cTn id="17" dur="500"/>
                                        <p:tgtEl>
                                          <p:spTgt spid="12390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3910"/>
                                        </p:tgtEl>
                                        <p:attrNameLst>
                                          <p:attrName>style.visibility</p:attrName>
                                        </p:attrNameLst>
                                      </p:cBhvr>
                                      <p:to>
                                        <p:strVal val="visible"/>
                                      </p:to>
                                    </p:set>
                                    <p:animEffect transition="in" filter="wipe(left)">
                                      <p:cBhvr>
                                        <p:cTn id="22" dur="500"/>
                                        <p:tgtEl>
                                          <p:spTgt spid="123910"/>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mph" presetSubtype="0" fill="hold" grpId="1" nodeType="clickEffect">
                                  <p:stCondLst>
                                    <p:cond delay="0"/>
                                  </p:stCondLst>
                                  <p:childTnLst>
                                    <p:animScale>
                                      <p:cBhvr>
                                        <p:cTn id="26" dur="1000" fill="hold"/>
                                        <p:tgtEl>
                                          <p:spTgt spid="123910"/>
                                        </p:tgtEl>
                                      </p:cBhvr>
                                      <p:by x="130000" y="130000"/>
                                    </p:animScale>
                                  </p:childTnLst>
                                </p:cTn>
                              </p:par>
                            </p:childTnLst>
                          </p:cTn>
                        </p:par>
                        <p:par>
                          <p:cTn id="27" fill="hold">
                            <p:stCondLst>
                              <p:cond delay="1000"/>
                            </p:stCondLst>
                            <p:childTnLst>
                              <p:par>
                                <p:cTn id="28" presetID="2" presetClass="entr" presetSubtype="2" fill="hold" nodeType="afterEffect">
                                  <p:stCondLst>
                                    <p:cond delay="0"/>
                                  </p:stCondLst>
                                  <p:childTnLst>
                                    <p:set>
                                      <p:cBhvr>
                                        <p:cTn id="29" dur="1" fill="hold">
                                          <p:stCondLst>
                                            <p:cond delay="0"/>
                                          </p:stCondLst>
                                        </p:cTn>
                                        <p:tgtEl>
                                          <p:spTgt spid="445464"/>
                                        </p:tgtEl>
                                        <p:attrNameLst>
                                          <p:attrName>style.visibility</p:attrName>
                                        </p:attrNameLst>
                                      </p:cBhvr>
                                      <p:to>
                                        <p:strVal val="visible"/>
                                      </p:to>
                                    </p:set>
                                    <p:anim calcmode="lin" valueType="num">
                                      <p:cBhvr additive="base">
                                        <p:cTn id="30" dur="500" fill="hold"/>
                                        <p:tgtEl>
                                          <p:spTgt spid="445464"/>
                                        </p:tgtEl>
                                        <p:attrNameLst>
                                          <p:attrName>ppt_x</p:attrName>
                                        </p:attrNameLst>
                                      </p:cBhvr>
                                      <p:tavLst>
                                        <p:tav tm="0">
                                          <p:val>
                                            <p:strVal val="1+#ppt_w/2"/>
                                          </p:val>
                                        </p:tav>
                                        <p:tav tm="100000">
                                          <p:val>
                                            <p:strVal val="#ppt_x"/>
                                          </p:val>
                                        </p:tav>
                                      </p:tavLst>
                                    </p:anim>
                                    <p:anim calcmode="lin" valueType="num">
                                      <p:cBhvr additive="base">
                                        <p:cTn id="31" dur="500" fill="hold"/>
                                        <p:tgtEl>
                                          <p:spTgt spid="445464"/>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xit" presetSubtype="4" fill="hold" grpId="1" nodeType="clickEffect">
                                  <p:stCondLst>
                                    <p:cond delay="0"/>
                                  </p:stCondLst>
                                  <p:childTnLst>
                                    <p:animEffect transition="out" filter="wipe(down)">
                                      <p:cBhvr>
                                        <p:cTn id="35" dur="500"/>
                                        <p:tgtEl>
                                          <p:spTgt spid="123911"/>
                                        </p:tgtEl>
                                      </p:cBhvr>
                                    </p:animEffect>
                                    <p:set>
                                      <p:cBhvr>
                                        <p:cTn id="36" dur="1" fill="hold">
                                          <p:stCondLst>
                                            <p:cond delay="499"/>
                                          </p:stCondLst>
                                        </p:cTn>
                                        <p:tgtEl>
                                          <p:spTgt spid="123911"/>
                                        </p:tgtEl>
                                        <p:attrNameLst>
                                          <p:attrName>style.visibility</p:attrName>
                                        </p:attrNameLst>
                                      </p:cBhvr>
                                      <p:to>
                                        <p:strVal val="hidden"/>
                                      </p:to>
                                    </p:set>
                                  </p:childTnLst>
                                </p:cTn>
                              </p:par>
                              <p:par>
                                <p:cTn id="37" presetID="22" presetClass="exit" presetSubtype="4" fill="hold" nodeType="withEffect">
                                  <p:stCondLst>
                                    <p:cond delay="0"/>
                                  </p:stCondLst>
                                  <p:childTnLst>
                                    <p:animEffect transition="out" filter="wipe(down)">
                                      <p:cBhvr>
                                        <p:cTn id="38" dur="500"/>
                                        <p:tgtEl>
                                          <p:spTgt spid="445464"/>
                                        </p:tgtEl>
                                      </p:cBhvr>
                                    </p:animEffect>
                                    <p:set>
                                      <p:cBhvr>
                                        <p:cTn id="39" dur="1" fill="hold">
                                          <p:stCondLst>
                                            <p:cond delay="499"/>
                                          </p:stCondLst>
                                        </p:cTn>
                                        <p:tgtEl>
                                          <p:spTgt spid="445464"/>
                                        </p:tgtEl>
                                        <p:attrNameLst>
                                          <p:attrName>style.visibility</p:attrName>
                                        </p:attrNameLst>
                                      </p:cBhvr>
                                      <p:to>
                                        <p:strVal val="hidden"/>
                                      </p:to>
                                    </p:set>
                                  </p:childTnLst>
                                </p:cTn>
                              </p:par>
                            </p:childTnLst>
                          </p:cTn>
                        </p:par>
                        <p:par>
                          <p:cTn id="40" fill="hold">
                            <p:stCondLst>
                              <p:cond delay="500"/>
                            </p:stCondLst>
                            <p:childTnLst>
                              <p:par>
                                <p:cTn id="41" presetID="22" presetClass="entr" presetSubtype="1" fill="hold" grpId="0" nodeType="afterEffect">
                                  <p:stCondLst>
                                    <p:cond delay="0"/>
                                  </p:stCondLst>
                                  <p:childTnLst>
                                    <p:set>
                                      <p:cBhvr>
                                        <p:cTn id="42" dur="1" fill="hold">
                                          <p:stCondLst>
                                            <p:cond delay="0"/>
                                          </p:stCondLst>
                                        </p:cTn>
                                        <p:tgtEl>
                                          <p:spTgt spid="445465">
                                            <p:bg/>
                                          </p:spTgt>
                                        </p:tgtEl>
                                        <p:attrNameLst>
                                          <p:attrName>style.visibility</p:attrName>
                                        </p:attrNameLst>
                                      </p:cBhvr>
                                      <p:to>
                                        <p:strVal val="visible"/>
                                      </p:to>
                                    </p:set>
                                    <p:animEffect transition="in" filter="wipe(up)">
                                      <p:cBhvr>
                                        <p:cTn id="43" dur="500"/>
                                        <p:tgtEl>
                                          <p:spTgt spid="445465">
                                            <p:bg/>
                                          </p:spTgt>
                                        </p:tgtEl>
                                      </p:cBhvr>
                                    </p:animEffect>
                                  </p:childTnLst>
                                </p:cTn>
                              </p:par>
                            </p:childTnLst>
                          </p:cTn>
                        </p:par>
                        <p:par>
                          <p:cTn id="44" fill="hold">
                            <p:stCondLst>
                              <p:cond delay="1000"/>
                            </p:stCondLst>
                            <p:childTnLst>
                              <p:par>
                                <p:cTn id="45" presetID="22" presetClass="entr" presetSubtype="1" fill="hold" grpId="0" nodeType="afterEffect">
                                  <p:stCondLst>
                                    <p:cond delay="0"/>
                                  </p:stCondLst>
                                  <p:childTnLst>
                                    <p:set>
                                      <p:cBhvr>
                                        <p:cTn id="46" dur="1" fill="hold">
                                          <p:stCondLst>
                                            <p:cond delay="0"/>
                                          </p:stCondLst>
                                        </p:cTn>
                                        <p:tgtEl>
                                          <p:spTgt spid="445465">
                                            <p:txEl>
                                              <p:pRg st="1" end="1"/>
                                            </p:txEl>
                                          </p:spTgt>
                                        </p:tgtEl>
                                        <p:attrNameLst>
                                          <p:attrName>style.visibility</p:attrName>
                                        </p:attrNameLst>
                                      </p:cBhvr>
                                      <p:to>
                                        <p:strVal val="visible"/>
                                      </p:to>
                                    </p:set>
                                    <p:animEffect transition="in" filter="wipe(up)">
                                      <p:cBhvr>
                                        <p:cTn id="47" dur="500"/>
                                        <p:tgtEl>
                                          <p:spTgt spid="445465">
                                            <p:txEl>
                                              <p:pRg st="1" end="1"/>
                                            </p:txEl>
                                          </p:spTgt>
                                        </p:tgtEl>
                                      </p:cBhvr>
                                    </p:animEffect>
                                  </p:childTnLst>
                                </p:cTn>
                              </p:par>
                            </p:childTnLst>
                          </p:cTn>
                        </p:par>
                        <p:par>
                          <p:cTn id="48" fill="hold">
                            <p:stCondLst>
                              <p:cond delay="1500"/>
                            </p:stCondLst>
                            <p:childTnLst>
                              <p:par>
                                <p:cTn id="49" presetID="22" presetClass="entr" presetSubtype="1" fill="hold" grpId="0" nodeType="afterEffect">
                                  <p:stCondLst>
                                    <p:cond delay="0"/>
                                  </p:stCondLst>
                                  <p:childTnLst>
                                    <p:set>
                                      <p:cBhvr>
                                        <p:cTn id="50" dur="1" fill="hold">
                                          <p:stCondLst>
                                            <p:cond delay="0"/>
                                          </p:stCondLst>
                                        </p:cTn>
                                        <p:tgtEl>
                                          <p:spTgt spid="445465">
                                            <p:txEl>
                                              <p:pRg st="2" end="2"/>
                                            </p:txEl>
                                          </p:spTgt>
                                        </p:tgtEl>
                                        <p:attrNameLst>
                                          <p:attrName>style.visibility</p:attrName>
                                        </p:attrNameLst>
                                      </p:cBhvr>
                                      <p:to>
                                        <p:strVal val="visible"/>
                                      </p:to>
                                    </p:set>
                                    <p:animEffect transition="in" filter="wipe(up)">
                                      <p:cBhvr>
                                        <p:cTn id="51" dur="500"/>
                                        <p:tgtEl>
                                          <p:spTgt spid="44546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animBg="1"/>
      <p:bldP spid="123908" grpId="1" animBg="1"/>
      <p:bldP spid="123910" grpId="0" animBg="1"/>
      <p:bldP spid="123910" grpId="1" animBg="1"/>
      <p:bldP spid="123911" grpId="0"/>
      <p:bldP spid="123911" grpId="1"/>
      <p:bldP spid="445465" grpId="0" uiExpand="1" build="p"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2"/>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三、恢复策略</a:t>
            </a:r>
          </a:p>
        </p:txBody>
      </p:sp>
      <p:sp>
        <p:nvSpPr>
          <p:cNvPr id="448517" name="Rectangle 5"/>
          <p:cNvSpPr>
            <a:spLocks noChangeArrowheads="1"/>
          </p:cNvSpPr>
          <p:nvPr/>
        </p:nvSpPr>
        <p:spPr bwMode="auto">
          <a:xfrm>
            <a:off x="611188" y="1187450"/>
            <a:ext cx="80645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1</a:t>
            </a:r>
            <a:r>
              <a:rPr lang="zh-CN" altLang="en-US" sz="3200">
                <a:solidFill>
                  <a:srgbClr val="660033"/>
                </a:solidFill>
                <a:ea typeface="华文新魏" panose="02010800040101010101" pitchFamily="2" charset="-122"/>
              </a:rPr>
              <a:t>、事务故障的恢复</a:t>
            </a:r>
          </a:p>
        </p:txBody>
      </p:sp>
      <p:sp>
        <p:nvSpPr>
          <p:cNvPr id="448518" name="AutoShape 6"/>
          <p:cNvSpPr>
            <a:spLocks noChangeArrowheads="1"/>
          </p:cNvSpPr>
          <p:nvPr/>
        </p:nvSpPr>
        <p:spPr bwMode="auto">
          <a:xfrm>
            <a:off x="611188" y="2205038"/>
            <a:ext cx="7848600" cy="3889375"/>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40000"/>
              </a:spcBef>
              <a:buClr>
                <a:schemeClr val="folHlink"/>
              </a:buClr>
              <a:buSzPct val="60000"/>
              <a:buFont typeface="Wingdings" panose="05000000000000000000" pitchFamily="2" charset="2"/>
              <a:buNone/>
            </a:pPr>
            <a:r>
              <a:rPr lang="zh-CN" altLang="en-US" sz="2800" b="1">
                <a:solidFill>
                  <a:srgbClr val="0000FF"/>
                </a:solidFill>
                <a:effectLst>
                  <a:outerShdw blurRad="38100" dist="38100" dir="2700000" algn="tl">
                    <a:srgbClr val="C0C0C0"/>
                  </a:outerShdw>
                </a:effectLst>
                <a:latin typeface="Tahoma" panose="020B0604030504040204" pitchFamily="34" charset="0"/>
                <a:ea typeface="楷体_GB2312" pitchFamily="49" charset="-122"/>
              </a:rPr>
              <a:t>          事务故障</a:t>
            </a:r>
            <a:r>
              <a:rPr lang="zh-CN" altLang="en-US" sz="2800" b="1">
                <a:latin typeface="Tahoma" panose="020B0604030504040204" pitchFamily="34" charset="0"/>
                <a:ea typeface="楷体_GB2312" pitchFamily="49" charset="-122"/>
              </a:rPr>
              <a:t>指数据库在运行过程中，出现非预期的情况，使事务执行失败的故障。</a:t>
            </a:r>
          </a:p>
          <a:p>
            <a:pPr>
              <a:lnSpc>
                <a:spcPct val="110000"/>
              </a:lnSpc>
              <a:spcBef>
                <a:spcPct val="40000"/>
              </a:spcBef>
              <a:buClr>
                <a:schemeClr val="folHlink"/>
              </a:buClr>
              <a:buSzPct val="60000"/>
              <a:buFont typeface="Wingdings" panose="05000000000000000000" pitchFamily="2" charset="2"/>
              <a:buNone/>
            </a:pPr>
            <a:r>
              <a:rPr lang="zh-CN" altLang="en-US" sz="2800" b="1">
                <a:latin typeface="Tahoma" panose="020B0604030504040204" pitchFamily="34" charset="0"/>
                <a:ea typeface="楷体_GB2312" pitchFamily="49" charset="-122"/>
              </a:rPr>
              <a:t>  （</a:t>
            </a:r>
            <a:r>
              <a:rPr lang="en-US" altLang="zh-CN" sz="2800" b="1">
                <a:latin typeface="Tahoma" panose="020B0604030504040204" pitchFamily="34" charset="0"/>
                <a:ea typeface="楷体_GB2312" pitchFamily="49" charset="-122"/>
              </a:rPr>
              <a:t>1</a:t>
            </a:r>
            <a:r>
              <a:rPr lang="zh-CN" altLang="en-US" sz="2800" b="1">
                <a:latin typeface="Tahoma" panose="020B0604030504040204" pitchFamily="34" charset="0"/>
                <a:ea typeface="楷体_GB2312" pitchFamily="49" charset="-122"/>
              </a:rPr>
              <a:t>）结果：事务没有达到预期的终点，但可能修改了数据库；</a:t>
            </a:r>
          </a:p>
          <a:p>
            <a:pPr>
              <a:lnSpc>
                <a:spcPct val="110000"/>
              </a:lnSpc>
              <a:spcBef>
                <a:spcPct val="40000"/>
              </a:spcBef>
              <a:buClr>
                <a:schemeClr val="folHlink"/>
              </a:buClr>
              <a:buSzPct val="60000"/>
              <a:buFont typeface="Wingdings" panose="05000000000000000000" pitchFamily="2" charset="2"/>
              <a:buNone/>
            </a:pPr>
            <a:r>
              <a:rPr lang="zh-CN" altLang="en-US" sz="2800" b="1">
                <a:latin typeface="Tahoma" panose="020B0604030504040204" pitchFamily="34" charset="0"/>
                <a:ea typeface="楷体_GB2312" pitchFamily="49" charset="-122"/>
              </a:rPr>
              <a:t>  （</a:t>
            </a:r>
            <a:r>
              <a:rPr lang="en-US" altLang="zh-CN" sz="2800" b="1">
                <a:latin typeface="Tahoma" panose="020B0604030504040204" pitchFamily="34" charset="0"/>
                <a:ea typeface="楷体_GB2312" pitchFamily="49" charset="-122"/>
              </a:rPr>
              <a:t>2</a:t>
            </a:r>
            <a:r>
              <a:rPr lang="zh-CN" altLang="en-US" sz="2800" b="1">
                <a:latin typeface="Tahoma" panose="020B0604030504040204" pitchFamily="34" charset="0"/>
                <a:ea typeface="楷体_GB2312" pitchFamily="49" charset="-122"/>
              </a:rPr>
              <a:t>）恢复策略：</a:t>
            </a:r>
            <a:r>
              <a:rPr lang="en-US" altLang="zh-CN" sz="2800" b="1">
                <a:solidFill>
                  <a:srgbClr val="CC00CC"/>
                </a:solidFill>
                <a:latin typeface="Tahoma" panose="020B0604030504040204" pitchFamily="34" charset="0"/>
                <a:ea typeface="楷体_GB2312" pitchFamily="49" charset="-122"/>
              </a:rPr>
              <a:t>Undo</a:t>
            </a:r>
            <a:r>
              <a:rPr lang="zh-CN" altLang="en-US" sz="2800" b="1">
                <a:solidFill>
                  <a:srgbClr val="CC00CC"/>
                </a:solidFill>
                <a:latin typeface="Tahoma" panose="020B0604030504040204" pitchFamily="34" charset="0"/>
                <a:ea typeface="楷体_GB2312" pitchFamily="49" charset="-122"/>
              </a:rPr>
              <a:t>（撤销操作）</a:t>
            </a:r>
            <a:endParaRPr lang="en-US" altLang="zh-CN" sz="2800" b="1">
              <a:solidFill>
                <a:srgbClr val="CC00CC"/>
              </a:solidFill>
              <a:latin typeface="Tahoma" panose="020B0604030504040204" pitchFamily="34" charset="0"/>
              <a:ea typeface="楷体_GB2312" pitchFamily="49"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6700"/>
    </mc:Choice>
    <mc:Fallback xmlns="">
      <p:transition spd="slow" advTm="46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48517"/>
                                        </p:tgtEl>
                                        <p:attrNameLst>
                                          <p:attrName>style.visibility</p:attrName>
                                        </p:attrNameLst>
                                      </p:cBhvr>
                                      <p:to>
                                        <p:strVal val="visible"/>
                                      </p:to>
                                    </p:set>
                                    <p:animEffect transition="in" filter="wipe(left)">
                                      <p:cBhvr>
                                        <p:cTn id="7" dur="1000"/>
                                        <p:tgtEl>
                                          <p:spTgt spid="4485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48518">
                                            <p:bg/>
                                          </p:spTgt>
                                        </p:tgtEl>
                                        <p:attrNameLst>
                                          <p:attrName>style.visibility</p:attrName>
                                        </p:attrNameLst>
                                      </p:cBhvr>
                                      <p:to>
                                        <p:strVal val="visible"/>
                                      </p:to>
                                    </p:set>
                                    <p:animEffect transition="in" filter="wipe(up)">
                                      <p:cBhvr>
                                        <p:cTn id="12" dur="500"/>
                                        <p:tgtEl>
                                          <p:spTgt spid="448518">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48518">
                                            <p:txEl>
                                              <p:pRg st="0" end="0"/>
                                            </p:txEl>
                                          </p:spTgt>
                                        </p:tgtEl>
                                        <p:attrNameLst>
                                          <p:attrName>style.visibility</p:attrName>
                                        </p:attrNameLst>
                                      </p:cBhvr>
                                      <p:to>
                                        <p:strVal val="visible"/>
                                      </p:to>
                                    </p:set>
                                    <p:animEffect transition="in" filter="wipe(up)">
                                      <p:cBhvr>
                                        <p:cTn id="17" dur="500"/>
                                        <p:tgtEl>
                                          <p:spTgt spid="44851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48518">
                                            <p:txEl>
                                              <p:pRg st="1" end="1"/>
                                            </p:txEl>
                                          </p:spTgt>
                                        </p:tgtEl>
                                        <p:attrNameLst>
                                          <p:attrName>style.visibility</p:attrName>
                                        </p:attrNameLst>
                                      </p:cBhvr>
                                      <p:to>
                                        <p:strVal val="visible"/>
                                      </p:to>
                                    </p:set>
                                    <p:animEffect transition="in" filter="wipe(up)">
                                      <p:cBhvr>
                                        <p:cTn id="22" dur="500"/>
                                        <p:tgtEl>
                                          <p:spTgt spid="448518">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48518">
                                            <p:txEl>
                                              <p:pRg st="2" end="2"/>
                                            </p:txEl>
                                          </p:spTgt>
                                        </p:tgtEl>
                                        <p:attrNameLst>
                                          <p:attrName>style.visibility</p:attrName>
                                        </p:attrNameLst>
                                      </p:cBhvr>
                                      <p:to>
                                        <p:strVal val="visible"/>
                                      </p:to>
                                    </p:set>
                                    <p:animEffect transition="in" filter="wipe(up)">
                                      <p:cBhvr>
                                        <p:cTn id="27" dur="500"/>
                                        <p:tgtEl>
                                          <p:spTgt spid="4485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17" grpId="0"/>
      <p:bldP spid="448518" grpId="0" uiExpand="1" build="p"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2"/>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三、恢复策略</a:t>
            </a:r>
          </a:p>
        </p:txBody>
      </p:sp>
      <p:sp>
        <p:nvSpPr>
          <p:cNvPr id="505860" name="AutoShape 4"/>
          <p:cNvSpPr>
            <a:spLocks noChangeArrowheads="1"/>
          </p:cNvSpPr>
          <p:nvPr/>
        </p:nvSpPr>
        <p:spPr bwMode="auto">
          <a:xfrm>
            <a:off x="395288" y="1341438"/>
            <a:ext cx="8353425" cy="5040312"/>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25000"/>
              </a:spcBef>
              <a:buClr>
                <a:schemeClr val="folHlink"/>
              </a:buClr>
              <a:buSzPct val="60000"/>
              <a:buFont typeface="Wingdings" panose="05000000000000000000" pitchFamily="2" charset="2"/>
              <a:buNone/>
            </a:pPr>
            <a:r>
              <a:rPr lang="zh-CN" altLang="en-US" sz="2800" b="1">
                <a:solidFill>
                  <a:srgbClr val="FF0066"/>
                </a:solidFill>
                <a:latin typeface="Tahoma" panose="020B0604030504040204" pitchFamily="34" charset="0"/>
                <a:ea typeface="楷体_GB2312" pitchFamily="49" charset="-122"/>
              </a:rPr>
              <a:t>（</a:t>
            </a:r>
            <a:r>
              <a:rPr lang="en-US" altLang="zh-CN" sz="2800" b="1">
                <a:solidFill>
                  <a:srgbClr val="FF0066"/>
                </a:solidFill>
                <a:latin typeface="Tahoma" panose="020B0604030504040204" pitchFamily="34" charset="0"/>
                <a:ea typeface="楷体_GB2312" pitchFamily="49" charset="-122"/>
              </a:rPr>
              <a:t>3</a:t>
            </a:r>
            <a:r>
              <a:rPr lang="zh-CN" altLang="en-US" sz="2800" b="1">
                <a:solidFill>
                  <a:srgbClr val="FF0066"/>
                </a:solidFill>
                <a:latin typeface="Tahoma" panose="020B0604030504040204" pitchFamily="34" charset="0"/>
                <a:ea typeface="楷体_GB2312" pitchFamily="49" charset="-122"/>
              </a:rPr>
              <a:t>）恢复步骤：</a:t>
            </a:r>
          </a:p>
          <a:p>
            <a:pPr>
              <a:lnSpc>
                <a:spcPct val="110000"/>
              </a:lnSpc>
              <a:spcBef>
                <a:spcPct val="25000"/>
              </a:spcBef>
              <a:buClr>
                <a:schemeClr val="folHlink"/>
              </a:buClr>
              <a:buSzPct val="60000"/>
              <a:buFont typeface="Wingdings" panose="05000000000000000000" pitchFamily="2" charset="2"/>
              <a:buNone/>
            </a:pPr>
            <a:r>
              <a:rPr lang="zh-CN" altLang="en-US" sz="2800" b="1">
                <a:latin typeface="Tahoma" panose="020B0604030504040204" pitchFamily="34" charset="0"/>
                <a:ea typeface="楷体_GB2312" pitchFamily="49" charset="-122"/>
              </a:rPr>
              <a:t>     </a:t>
            </a:r>
            <a:r>
              <a:rPr lang="zh-CN" altLang="en-US" sz="2800" b="1">
                <a:effectLst>
                  <a:outerShdw blurRad="38100" dist="38100" dir="2700000" algn="tl">
                    <a:srgbClr val="C0C0C0"/>
                  </a:outerShdw>
                </a:effectLst>
                <a:latin typeface="Tahoma" panose="020B0604030504040204" pitchFamily="34" charset="0"/>
                <a:ea typeface="楷体_GB2312" pitchFamily="49" charset="-122"/>
              </a:rPr>
              <a:t>① 反向扫描日志文件，即从日志文件的最后开始向前扫描日志文件，查找该事务的日志信息；</a:t>
            </a:r>
          </a:p>
          <a:p>
            <a:pPr>
              <a:lnSpc>
                <a:spcPct val="110000"/>
              </a:lnSpc>
              <a:spcBef>
                <a:spcPct val="25000"/>
              </a:spcBef>
              <a:buClr>
                <a:schemeClr val="folHlink"/>
              </a:buClr>
              <a:buSzPct val="60000"/>
              <a:buFont typeface="Wingdings" panose="05000000000000000000" pitchFamily="2" charset="2"/>
              <a:buNone/>
            </a:pPr>
            <a:r>
              <a:rPr lang="zh-CN" altLang="en-US" sz="2800" b="1">
                <a:effectLst>
                  <a:outerShdw blurRad="38100" dist="38100" dir="2700000" algn="tl">
                    <a:srgbClr val="C0C0C0"/>
                  </a:outerShdw>
                </a:effectLst>
                <a:latin typeface="Tahoma" panose="020B0604030504040204" pitchFamily="34" charset="0"/>
                <a:ea typeface="楷体_GB2312" pitchFamily="49" charset="-122"/>
              </a:rPr>
              <a:t>     ② 如果找到的是该事务的开始标记，则转⑤；</a:t>
            </a:r>
          </a:p>
          <a:p>
            <a:pPr>
              <a:lnSpc>
                <a:spcPct val="110000"/>
              </a:lnSpc>
              <a:spcBef>
                <a:spcPct val="25000"/>
              </a:spcBef>
              <a:buClr>
                <a:schemeClr val="folHlink"/>
              </a:buClr>
              <a:buSzPct val="60000"/>
              <a:buFont typeface="Wingdings" panose="05000000000000000000" pitchFamily="2" charset="2"/>
              <a:buNone/>
            </a:pPr>
            <a:r>
              <a:rPr lang="zh-CN" altLang="en-US" sz="3200" b="1">
                <a:effectLst>
                  <a:outerShdw blurRad="38100" dist="38100" dir="2700000" algn="tl">
                    <a:srgbClr val="C0C0C0"/>
                  </a:outerShdw>
                </a:effectLst>
                <a:latin typeface="Tahoma" panose="020B0604030504040204" pitchFamily="34" charset="0"/>
                <a:ea typeface="楷体_GB2312" pitchFamily="49" charset="-122"/>
              </a:rPr>
              <a:t>    </a:t>
            </a:r>
            <a:r>
              <a:rPr lang="zh-CN" altLang="en-US" sz="2800" b="1">
                <a:effectLst>
                  <a:outerShdw blurRad="38100" dist="38100" dir="2700000" algn="tl">
                    <a:srgbClr val="C0C0C0"/>
                  </a:outerShdw>
                </a:effectLst>
                <a:latin typeface="Tahoma" panose="020B0604030504040204" pitchFamily="34" charset="0"/>
                <a:ea typeface="楷体_GB2312" pitchFamily="49" charset="-122"/>
              </a:rPr>
              <a:t>③ 如果找到的是该事务已作的某更新操作的日志信息，则对数据库执行该更新事务的逆操作；</a:t>
            </a:r>
          </a:p>
          <a:p>
            <a:pPr>
              <a:lnSpc>
                <a:spcPct val="110000"/>
              </a:lnSpc>
              <a:spcBef>
                <a:spcPct val="25000"/>
              </a:spcBef>
              <a:buClr>
                <a:schemeClr val="folHlink"/>
              </a:buClr>
              <a:buSzPct val="60000"/>
              <a:buFont typeface="Wingdings" panose="05000000000000000000" pitchFamily="2" charset="2"/>
              <a:buNone/>
            </a:pPr>
            <a:r>
              <a:rPr lang="zh-CN" altLang="en-US" sz="2800" b="1">
                <a:effectLst>
                  <a:outerShdw blurRad="38100" dist="38100" dir="2700000" algn="tl">
                    <a:srgbClr val="C0C0C0"/>
                  </a:outerShdw>
                </a:effectLst>
                <a:latin typeface="Tahoma" panose="020B0604030504040204" pitchFamily="34" charset="0"/>
                <a:ea typeface="楷体_GB2312" pitchFamily="49" charset="-122"/>
              </a:rPr>
              <a:t>    ④  转第②步，继续反向扫描日志文件；</a:t>
            </a:r>
          </a:p>
          <a:p>
            <a:pPr>
              <a:lnSpc>
                <a:spcPct val="110000"/>
              </a:lnSpc>
              <a:spcBef>
                <a:spcPct val="25000"/>
              </a:spcBef>
              <a:buClr>
                <a:schemeClr val="folHlink"/>
              </a:buClr>
              <a:buSzPct val="60000"/>
              <a:buFont typeface="Wingdings" panose="05000000000000000000" pitchFamily="2" charset="2"/>
              <a:buNone/>
            </a:pPr>
            <a:r>
              <a:rPr lang="zh-CN" altLang="en-US" sz="2800" b="1">
                <a:effectLst>
                  <a:outerShdw blurRad="38100" dist="38100" dir="2700000" algn="tl">
                    <a:srgbClr val="C0C0C0"/>
                  </a:outerShdw>
                </a:effectLst>
                <a:latin typeface="Tahoma" panose="020B0604030504040204" pitchFamily="34" charset="0"/>
                <a:ea typeface="楷体_GB2312" pitchFamily="49" charset="-122"/>
              </a:rPr>
              <a:t>    ⑤ 结束反向扫描，事务故障恢复完成。</a:t>
            </a:r>
            <a:r>
              <a:rPr lang="zh-CN" altLang="en-US" sz="2800" b="1">
                <a:latin typeface="Tahoma" panose="020B0604030504040204" pitchFamily="34" charset="0"/>
                <a:ea typeface="楷体_GB2312" pitchFamily="49" charset="-122"/>
              </a:rPr>
              <a:t> </a:t>
            </a:r>
            <a:endParaRPr lang="en-US" altLang="zh-CN" sz="2800" b="1">
              <a:latin typeface="Tahoma" panose="020B0604030504040204" pitchFamily="34" charset="0"/>
              <a:ea typeface="楷体_GB2312" pitchFamily="49"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2813"/>
    </mc:Choice>
    <mc:Fallback xmlns="">
      <p:transition spd="slow" advTm="5281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05860">
                                            <p:bg/>
                                          </p:spTgt>
                                        </p:tgtEl>
                                        <p:attrNameLst>
                                          <p:attrName>style.visibility</p:attrName>
                                        </p:attrNameLst>
                                      </p:cBhvr>
                                      <p:to>
                                        <p:strVal val="visible"/>
                                      </p:to>
                                    </p:set>
                                    <p:animEffect transition="in" filter="wipe(up)">
                                      <p:cBhvr>
                                        <p:cTn id="7" dur="500"/>
                                        <p:tgtEl>
                                          <p:spTgt spid="505860">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05860">
                                            <p:txEl>
                                              <p:pRg st="0" end="0"/>
                                            </p:txEl>
                                          </p:spTgt>
                                        </p:tgtEl>
                                        <p:attrNameLst>
                                          <p:attrName>style.visibility</p:attrName>
                                        </p:attrNameLst>
                                      </p:cBhvr>
                                      <p:to>
                                        <p:strVal val="visible"/>
                                      </p:to>
                                    </p:set>
                                    <p:animEffect transition="in" filter="wipe(up)">
                                      <p:cBhvr>
                                        <p:cTn id="12" dur="500"/>
                                        <p:tgtEl>
                                          <p:spTgt spid="50586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05860">
                                            <p:txEl>
                                              <p:pRg st="1" end="1"/>
                                            </p:txEl>
                                          </p:spTgt>
                                        </p:tgtEl>
                                        <p:attrNameLst>
                                          <p:attrName>style.visibility</p:attrName>
                                        </p:attrNameLst>
                                      </p:cBhvr>
                                      <p:to>
                                        <p:strVal val="visible"/>
                                      </p:to>
                                    </p:set>
                                    <p:animEffect transition="in" filter="wipe(up)">
                                      <p:cBhvr>
                                        <p:cTn id="17" dur="500"/>
                                        <p:tgtEl>
                                          <p:spTgt spid="50586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05860">
                                            <p:txEl>
                                              <p:pRg st="2" end="2"/>
                                            </p:txEl>
                                          </p:spTgt>
                                        </p:tgtEl>
                                        <p:attrNameLst>
                                          <p:attrName>style.visibility</p:attrName>
                                        </p:attrNameLst>
                                      </p:cBhvr>
                                      <p:to>
                                        <p:strVal val="visible"/>
                                      </p:to>
                                    </p:set>
                                    <p:animEffect transition="in" filter="wipe(up)">
                                      <p:cBhvr>
                                        <p:cTn id="22" dur="500"/>
                                        <p:tgtEl>
                                          <p:spTgt spid="50586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05860">
                                            <p:txEl>
                                              <p:pRg st="3" end="3"/>
                                            </p:txEl>
                                          </p:spTgt>
                                        </p:tgtEl>
                                        <p:attrNameLst>
                                          <p:attrName>style.visibility</p:attrName>
                                        </p:attrNameLst>
                                      </p:cBhvr>
                                      <p:to>
                                        <p:strVal val="visible"/>
                                      </p:to>
                                    </p:set>
                                    <p:animEffect transition="in" filter="wipe(up)">
                                      <p:cBhvr>
                                        <p:cTn id="27" dur="500"/>
                                        <p:tgtEl>
                                          <p:spTgt spid="505860">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05860">
                                            <p:txEl>
                                              <p:pRg st="4" end="4"/>
                                            </p:txEl>
                                          </p:spTgt>
                                        </p:tgtEl>
                                        <p:attrNameLst>
                                          <p:attrName>style.visibility</p:attrName>
                                        </p:attrNameLst>
                                      </p:cBhvr>
                                      <p:to>
                                        <p:strVal val="visible"/>
                                      </p:to>
                                    </p:set>
                                    <p:animEffect transition="in" filter="wipe(up)">
                                      <p:cBhvr>
                                        <p:cTn id="32" dur="500"/>
                                        <p:tgtEl>
                                          <p:spTgt spid="505860">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505860">
                                            <p:txEl>
                                              <p:pRg st="5" end="5"/>
                                            </p:txEl>
                                          </p:spTgt>
                                        </p:tgtEl>
                                        <p:attrNameLst>
                                          <p:attrName>style.visibility</p:attrName>
                                        </p:attrNameLst>
                                      </p:cBhvr>
                                      <p:to>
                                        <p:strVal val="visible"/>
                                      </p:to>
                                    </p:set>
                                    <p:animEffect transition="in" filter="wipe(up)">
                                      <p:cBhvr>
                                        <p:cTn id="37" dur="500"/>
                                        <p:tgtEl>
                                          <p:spTgt spid="50586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5860" grpId="0" uiExpand="1" build="p"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2"/>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三、恢复策略</a:t>
            </a:r>
          </a:p>
        </p:txBody>
      </p:sp>
      <p:grpSp>
        <p:nvGrpSpPr>
          <p:cNvPr id="472069" name="Group 5"/>
          <p:cNvGrpSpPr/>
          <p:nvPr/>
        </p:nvGrpSpPr>
        <p:grpSpPr bwMode="auto">
          <a:xfrm>
            <a:off x="1735138" y="1716088"/>
            <a:ext cx="5732462" cy="4305300"/>
            <a:chOff x="1093" y="935"/>
            <a:chExt cx="3611" cy="2712"/>
          </a:xfrm>
        </p:grpSpPr>
        <p:sp>
          <p:nvSpPr>
            <p:cNvPr id="472070" name="Text Box 6"/>
            <p:cNvSpPr txBox="1">
              <a:spLocks noChangeArrowheads="1"/>
            </p:cNvSpPr>
            <p:nvPr/>
          </p:nvSpPr>
          <p:spPr bwMode="auto">
            <a:xfrm>
              <a:off x="1553" y="935"/>
              <a:ext cx="1670" cy="306"/>
            </a:xfrm>
            <a:prstGeom prst="rect">
              <a:avLst/>
            </a:prstGeom>
            <a:solidFill>
              <a:srgbClr val="99CCFF"/>
            </a:solidFill>
            <a:ln w="28575" cap="sq">
              <a:solidFill>
                <a:schemeClr val="bg2"/>
              </a:solidFill>
              <a:miter lim="800000"/>
              <a:headEnd type="none" w="sm" len="sm"/>
              <a:tailEnd type="none" w="sm" len="sm"/>
            </a:ln>
            <a:effectLst>
              <a:outerShdw dist="35921" dir="2700000" algn="ctr" rotWithShape="0">
                <a:schemeClr val="bg2"/>
              </a:outerShdw>
            </a:effectLst>
          </p:spPr>
          <p:txBody>
            <a:bodyPr wrap="none">
              <a:spAutoFit/>
            </a:bodyPr>
            <a:lstStyle/>
            <a:p>
              <a:pPr algn="ctr"/>
              <a:r>
                <a:rPr lang="zh-CN" altLang="en-US" sz="2400" b="1">
                  <a:solidFill>
                    <a:schemeClr val="bg2"/>
                  </a:solidFill>
                  <a:effectLst>
                    <a:outerShdw blurRad="38100" dist="38100" dir="2700000" algn="tl">
                      <a:srgbClr val="000000"/>
                    </a:outerShdw>
                  </a:effectLst>
                  <a:ea typeface="楷体_GB2312" pitchFamily="49" charset="-122"/>
                </a:rPr>
                <a:t>反向扫描日志文件</a:t>
              </a:r>
            </a:p>
          </p:txBody>
        </p:sp>
        <p:sp>
          <p:nvSpPr>
            <p:cNvPr id="472071" name="AutoShape 7"/>
            <p:cNvSpPr>
              <a:spLocks noChangeArrowheads="1"/>
            </p:cNvSpPr>
            <p:nvPr/>
          </p:nvSpPr>
          <p:spPr bwMode="auto">
            <a:xfrm>
              <a:off x="1565" y="1561"/>
              <a:ext cx="1588" cy="771"/>
            </a:xfrm>
            <a:prstGeom prst="diamond">
              <a:avLst/>
            </a:prstGeom>
            <a:solidFill>
              <a:srgbClr val="FFCC00"/>
            </a:solidFill>
            <a:ln w="28575" cap="sq">
              <a:solidFill>
                <a:schemeClr val="bg2"/>
              </a:solidFill>
              <a:miter lim="800000"/>
              <a:headEnd type="none" w="sm" len="sm"/>
              <a:tailEnd type="none" w="sm" len="sm"/>
            </a:ln>
            <a:effectLst>
              <a:outerShdw dist="35921" dir="2700000" algn="ctr" rotWithShape="0">
                <a:schemeClr val="bg2"/>
              </a:outerShdw>
            </a:effectLst>
          </p:spPr>
          <p:txBody>
            <a:bodyPr wrap="none" anchor="ctr"/>
            <a:lstStyle/>
            <a:p>
              <a:pPr algn="ctr"/>
              <a:r>
                <a:rPr lang="zh-CN" altLang="en-US" sz="2400" b="1">
                  <a:solidFill>
                    <a:schemeClr val="bg2"/>
                  </a:solidFill>
                  <a:effectLst>
                    <a:outerShdw blurRad="38100" dist="38100" dir="2700000" algn="tl">
                      <a:srgbClr val="000000"/>
                    </a:outerShdw>
                  </a:effectLst>
                  <a:ea typeface="楷体_GB2312" pitchFamily="49" charset="-122"/>
                </a:rPr>
                <a:t>事务开</a:t>
              </a:r>
            </a:p>
            <a:p>
              <a:pPr algn="ctr"/>
              <a:r>
                <a:rPr lang="zh-CN" altLang="en-US" sz="2400" b="1">
                  <a:solidFill>
                    <a:schemeClr val="bg2"/>
                  </a:solidFill>
                  <a:effectLst>
                    <a:outerShdw blurRad="38100" dist="38100" dir="2700000" algn="tl">
                      <a:srgbClr val="000000"/>
                    </a:outerShdw>
                  </a:effectLst>
                  <a:ea typeface="楷体_GB2312" pitchFamily="49" charset="-122"/>
                </a:rPr>
                <a:t>始标记？</a:t>
              </a:r>
            </a:p>
          </p:txBody>
        </p:sp>
        <p:sp>
          <p:nvSpPr>
            <p:cNvPr id="472072" name="AutoShape 8"/>
            <p:cNvSpPr>
              <a:spLocks noChangeArrowheads="1"/>
            </p:cNvSpPr>
            <p:nvPr/>
          </p:nvSpPr>
          <p:spPr bwMode="auto">
            <a:xfrm>
              <a:off x="1565" y="2659"/>
              <a:ext cx="1588" cy="771"/>
            </a:xfrm>
            <a:prstGeom prst="diamond">
              <a:avLst/>
            </a:prstGeom>
            <a:solidFill>
              <a:srgbClr val="FFCC00"/>
            </a:solidFill>
            <a:ln w="28575" cap="sq">
              <a:solidFill>
                <a:schemeClr val="bg2"/>
              </a:solidFill>
              <a:miter lim="800000"/>
              <a:headEnd type="none" w="sm" len="sm"/>
              <a:tailEnd type="none" w="sm" len="sm"/>
            </a:ln>
            <a:effectLst>
              <a:outerShdw dist="35921" dir="2700000" algn="ctr" rotWithShape="0">
                <a:schemeClr val="bg2"/>
              </a:outerShdw>
            </a:effectLst>
          </p:spPr>
          <p:txBody>
            <a:bodyPr wrap="none" anchor="ctr"/>
            <a:lstStyle/>
            <a:p>
              <a:pPr algn="ctr"/>
              <a:r>
                <a:rPr lang="zh-CN" altLang="en-US" sz="2400" b="1">
                  <a:solidFill>
                    <a:schemeClr val="bg2"/>
                  </a:solidFill>
                  <a:effectLst>
                    <a:outerShdw blurRad="38100" dist="38100" dir="2700000" algn="tl">
                      <a:srgbClr val="000000"/>
                    </a:outerShdw>
                  </a:effectLst>
                  <a:ea typeface="楷体_GB2312" pitchFamily="49" charset="-122"/>
                </a:rPr>
                <a:t>更新操作？</a:t>
              </a:r>
            </a:p>
          </p:txBody>
        </p:sp>
        <p:sp>
          <p:nvSpPr>
            <p:cNvPr id="472073" name="Text Box 9"/>
            <p:cNvSpPr txBox="1">
              <a:spLocks noChangeArrowheads="1"/>
            </p:cNvSpPr>
            <p:nvPr/>
          </p:nvSpPr>
          <p:spPr bwMode="auto">
            <a:xfrm>
              <a:off x="3661" y="2886"/>
              <a:ext cx="1043" cy="306"/>
            </a:xfrm>
            <a:prstGeom prst="rect">
              <a:avLst/>
            </a:prstGeom>
            <a:solidFill>
              <a:srgbClr val="99CCFF"/>
            </a:solidFill>
            <a:ln w="28575" cap="sq" algn="ctr">
              <a:solidFill>
                <a:schemeClr val="bg2"/>
              </a:solidFill>
              <a:miter lim="800000"/>
              <a:headEnd type="none" w="sm" len="sm"/>
              <a:tailEnd type="none" w="sm" len="sm"/>
            </a:ln>
            <a:effectLst>
              <a:outerShdw dist="35921" dir="2700000" algn="ctr" rotWithShape="0">
                <a:schemeClr val="bg2"/>
              </a:outerShdw>
            </a:effectLst>
          </p:spPr>
          <p:txBody>
            <a:bodyPr>
              <a:spAutoFit/>
            </a:bodyPr>
            <a:lstStyle/>
            <a:p>
              <a:pPr algn="ctr"/>
              <a:r>
                <a:rPr lang="zh-CN" altLang="en-US" sz="2400" b="1">
                  <a:solidFill>
                    <a:schemeClr val="bg2"/>
                  </a:solidFill>
                  <a:effectLst>
                    <a:outerShdw blurRad="38100" dist="38100" dir="2700000" algn="tl">
                      <a:srgbClr val="000000"/>
                    </a:outerShdw>
                  </a:effectLst>
                  <a:ea typeface="楷体_GB2312" pitchFamily="49" charset="-122"/>
                </a:rPr>
                <a:t>逆操作</a:t>
              </a:r>
              <a:r>
                <a:rPr lang="zh-CN" altLang="en-US" sz="2400" b="1">
                  <a:effectLst>
                    <a:outerShdw blurRad="38100" dist="38100" dir="2700000" algn="tl">
                      <a:srgbClr val="FFFFFF"/>
                    </a:outerShdw>
                  </a:effectLst>
                  <a:ea typeface="楷体_GB2312" pitchFamily="49" charset="-122"/>
                </a:rPr>
                <a:t> </a:t>
              </a:r>
            </a:p>
          </p:txBody>
        </p:sp>
        <p:sp>
          <p:nvSpPr>
            <p:cNvPr id="472074" name="Text Box 10"/>
            <p:cNvSpPr txBox="1">
              <a:spLocks noChangeArrowheads="1"/>
            </p:cNvSpPr>
            <p:nvPr/>
          </p:nvSpPr>
          <p:spPr bwMode="auto">
            <a:xfrm>
              <a:off x="3651" y="1752"/>
              <a:ext cx="1043" cy="306"/>
            </a:xfrm>
            <a:prstGeom prst="rect">
              <a:avLst/>
            </a:prstGeom>
            <a:solidFill>
              <a:srgbClr val="99CCFF"/>
            </a:solidFill>
            <a:ln w="28575" cap="sq" algn="ctr">
              <a:solidFill>
                <a:schemeClr val="bg2"/>
              </a:solidFill>
              <a:miter lim="800000"/>
              <a:headEnd type="none" w="sm" len="sm"/>
              <a:tailEnd type="none" w="sm" len="sm"/>
            </a:ln>
            <a:effectLst>
              <a:outerShdw dist="35921" dir="2700000" algn="ctr" rotWithShape="0">
                <a:schemeClr val="bg2"/>
              </a:outerShdw>
            </a:effectLst>
          </p:spPr>
          <p:txBody>
            <a:bodyPr>
              <a:spAutoFit/>
            </a:bodyPr>
            <a:lstStyle/>
            <a:p>
              <a:pPr algn="ctr"/>
              <a:r>
                <a:rPr lang="zh-CN" altLang="en-US" sz="2400" b="1">
                  <a:solidFill>
                    <a:schemeClr val="bg2"/>
                  </a:solidFill>
                  <a:effectLst>
                    <a:outerShdw blurRad="38100" dist="38100" dir="2700000" algn="tl">
                      <a:srgbClr val="000000"/>
                    </a:outerShdw>
                  </a:effectLst>
                  <a:ea typeface="楷体_GB2312" pitchFamily="49" charset="-122"/>
                </a:rPr>
                <a:t>结束</a:t>
              </a:r>
              <a:r>
                <a:rPr lang="zh-CN" altLang="en-US" sz="2400" b="1">
                  <a:effectLst>
                    <a:outerShdw blurRad="38100" dist="38100" dir="2700000" algn="tl">
                      <a:srgbClr val="FFFFFF"/>
                    </a:outerShdw>
                  </a:effectLst>
                  <a:ea typeface="楷体_GB2312" pitchFamily="49" charset="-122"/>
                </a:rPr>
                <a:t> </a:t>
              </a:r>
            </a:p>
          </p:txBody>
        </p:sp>
        <p:sp>
          <p:nvSpPr>
            <p:cNvPr id="472075" name="Line 11"/>
            <p:cNvSpPr>
              <a:spLocks noChangeShapeType="1"/>
            </p:cNvSpPr>
            <p:nvPr/>
          </p:nvSpPr>
          <p:spPr bwMode="auto">
            <a:xfrm>
              <a:off x="2354" y="1244"/>
              <a:ext cx="0" cy="317"/>
            </a:xfrm>
            <a:prstGeom prst="line">
              <a:avLst/>
            </a:prstGeom>
            <a:noFill/>
            <a:ln w="28575" cap="sq">
              <a:solidFill>
                <a:schemeClr val="bg2"/>
              </a:solidFill>
              <a:round/>
              <a:headEnd type="none" w="sm" len="sm"/>
              <a:tailEnd type="triangle"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72076" name="Line 12"/>
            <p:cNvSpPr>
              <a:spLocks noChangeShapeType="1"/>
            </p:cNvSpPr>
            <p:nvPr/>
          </p:nvSpPr>
          <p:spPr bwMode="auto">
            <a:xfrm>
              <a:off x="2354" y="2342"/>
              <a:ext cx="0" cy="317"/>
            </a:xfrm>
            <a:prstGeom prst="line">
              <a:avLst/>
            </a:prstGeom>
            <a:noFill/>
            <a:ln w="28575" cap="sq">
              <a:solidFill>
                <a:schemeClr val="bg2"/>
              </a:solidFill>
              <a:round/>
              <a:headEnd type="none" w="sm" len="sm"/>
              <a:tailEnd type="triangle"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72077" name="Line 13"/>
            <p:cNvSpPr>
              <a:spLocks noChangeShapeType="1"/>
            </p:cNvSpPr>
            <p:nvPr/>
          </p:nvSpPr>
          <p:spPr bwMode="auto">
            <a:xfrm>
              <a:off x="3152" y="1942"/>
              <a:ext cx="499" cy="0"/>
            </a:xfrm>
            <a:prstGeom prst="line">
              <a:avLst/>
            </a:prstGeom>
            <a:noFill/>
            <a:ln w="28575" cap="sq">
              <a:solidFill>
                <a:schemeClr val="bg2"/>
              </a:solidFill>
              <a:round/>
              <a:headEnd type="none" w="sm" len="sm"/>
              <a:tailEnd type="triangle"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72078" name="Line 14"/>
            <p:cNvSpPr>
              <a:spLocks noChangeShapeType="1"/>
            </p:cNvSpPr>
            <p:nvPr/>
          </p:nvSpPr>
          <p:spPr bwMode="auto">
            <a:xfrm>
              <a:off x="3161" y="3040"/>
              <a:ext cx="499" cy="0"/>
            </a:xfrm>
            <a:prstGeom prst="line">
              <a:avLst/>
            </a:prstGeom>
            <a:noFill/>
            <a:ln w="28575" cap="sq">
              <a:solidFill>
                <a:schemeClr val="bg2"/>
              </a:solidFill>
              <a:round/>
              <a:headEnd type="none" w="sm" len="sm"/>
              <a:tailEnd type="triangle"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72079" name="Line 15"/>
            <p:cNvSpPr>
              <a:spLocks noChangeShapeType="1"/>
            </p:cNvSpPr>
            <p:nvPr/>
          </p:nvSpPr>
          <p:spPr bwMode="auto">
            <a:xfrm>
              <a:off x="1102" y="3049"/>
              <a:ext cx="453" cy="0"/>
            </a:xfrm>
            <a:prstGeom prst="line">
              <a:avLst/>
            </a:prstGeom>
            <a:noFill/>
            <a:ln w="28575" cap="sq">
              <a:solidFill>
                <a:schemeClr val="bg2"/>
              </a:solidFill>
              <a:round/>
              <a:headEnd type="triangle" w="lg" len="med"/>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72080" name="Line 16"/>
            <p:cNvSpPr>
              <a:spLocks noChangeShapeType="1"/>
            </p:cNvSpPr>
            <p:nvPr/>
          </p:nvSpPr>
          <p:spPr bwMode="auto">
            <a:xfrm>
              <a:off x="1093" y="1144"/>
              <a:ext cx="0" cy="2494"/>
            </a:xfrm>
            <a:prstGeom prst="line">
              <a:avLst/>
            </a:prstGeom>
            <a:noFill/>
            <a:ln w="28575" cap="sq">
              <a:solidFill>
                <a:schemeClr val="bg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72081" name="Line 17"/>
            <p:cNvSpPr>
              <a:spLocks noChangeShapeType="1"/>
            </p:cNvSpPr>
            <p:nvPr/>
          </p:nvSpPr>
          <p:spPr bwMode="auto">
            <a:xfrm>
              <a:off x="1094" y="1135"/>
              <a:ext cx="442" cy="0"/>
            </a:xfrm>
            <a:prstGeom prst="line">
              <a:avLst/>
            </a:prstGeom>
            <a:noFill/>
            <a:ln w="28575" cap="sq">
              <a:solidFill>
                <a:schemeClr val="bg2"/>
              </a:solidFill>
              <a:round/>
              <a:headEnd type="none" w="sm" len="sm"/>
              <a:tailEnd type="triangle"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72082" name="Line 18"/>
            <p:cNvSpPr>
              <a:spLocks noChangeShapeType="1"/>
            </p:cNvSpPr>
            <p:nvPr/>
          </p:nvSpPr>
          <p:spPr bwMode="auto">
            <a:xfrm>
              <a:off x="1093" y="3630"/>
              <a:ext cx="3084" cy="0"/>
            </a:xfrm>
            <a:prstGeom prst="line">
              <a:avLst/>
            </a:prstGeom>
            <a:noFill/>
            <a:ln w="28575" cap="sq">
              <a:solidFill>
                <a:schemeClr val="bg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72083" name="Line 19"/>
            <p:cNvSpPr>
              <a:spLocks noChangeShapeType="1"/>
            </p:cNvSpPr>
            <p:nvPr/>
          </p:nvSpPr>
          <p:spPr bwMode="auto">
            <a:xfrm>
              <a:off x="4168" y="3194"/>
              <a:ext cx="0" cy="453"/>
            </a:xfrm>
            <a:prstGeom prst="line">
              <a:avLst/>
            </a:prstGeom>
            <a:noFill/>
            <a:ln w="28575" cap="sq">
              <a:solidFill>
                <a:schemeClr val="bg2"/>
              </a:solidFill>
              <a:round/>
              <a:headEnd type="none" w="sm" len="sm"/>
              <a:tailEnd type="triangle"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72084" name="Text Box 20"/>
            <p:cNvSpPr txBox="1">
              <a:spLocks noChangeArrowheads="1"/>
            </p:cNvSpPr>
            <p:nvPr/>
          </p:nvSpPr>
          <p:spPr bwMode="auto">
            <a:xfrm>
              <a:off x="3198" y="1616"/>
              <a:ext cx="244" cy="28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2"/>
                  </a:solidFill>
                  <a:miter lim="800000"/>
                  <a:headEnd type="none" w="sm" len="sm"/>
                  <a:tailEnd type="none" w="sm" len="sm"/>
                </a14:hiddenLine>
              </a:ext>
            </a:extLst>
          </p:spPr>
          <p:txBody>
            <a:bodyPr wrap="none">
              <a:spAutoFit/>
            </a:bodyPr>
            <a:lstStyle/>
            <a:p>
              <a:r>
                <a:rPr lang="en-US" altLang="zh-CN" sz="2400" b="1">
                  <a:solidFill>
                    <a:schemeClr val="bg2"/>
                  </a:solidFill>
                  <a:ea typeface="楷体_GB2312" pitchFamily="49" charset="-122"/>
                </a:rPr>
                <a:t>Y</a:t>
              </a:r>
            </a:p>
          </p:txBody>
        </p:sp>
        <p:sp>
          <p:nvSpPr>
            <p:cNvPr id="472085" name="Text Box 21"/>
            <p:cNvSpPr txBox="1">
              <a:spLocks noChangeArrowheads="1"/>
            </p:cNvSpPr>
            <p:nvPr/>
          </p:nvSpPr>
          <p:spPr bwMode="auto">
            <a:xfrm>
              <a:off x="2426" y="2326"/>
              <a:ext cx="255" cy="28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2"/>
                  </a:solidFill>
                  <a:miter lim="800000"/>
                  <a:headEnd type="none" w="sm" len="sm"/>
                  <a:tailEnd type="none" w="sm" len="sm"/>
                </a14:hiddenLine>
              </a:ext>
            </a:extLst>
          </p:spPr>
          <p:txBody>
            <a:bodyPr wrap="none">
              <a:spAutoFit/>
            </a:bodyPr>
            <a:lstStyle/>
            <a:p>
              <a:r>
                <a:rPr lang="en-US" altLang="zh-CN" sz="2400" b="1">
                  <a:solidFill>
                    <a:schemeClr val="bg2"/>
                  </a:solidFill>
                  <a:ea typeface="楷体_GB2312" pitchFamily="49" charset="-122"/>
                </a:rPr>
                <a:t>N</a:t>
              </a:r>
            </a:p>
          </p:txBody>
        </p:sp>
        <p:sp>
          <p:nvSpPr>
            <p:cNvPr id="472086" name="Text Box 22"/>
            <p:cNvSpPr txBox="1">
              <a:spLocks noChangeArrowheads="1"/>
            </p:cNvSpPr>
            <p:nvPr/>
          </p:nvSpPr>
          <p:spPr bwMode="auto">
            <a:xfrm>
              <a:off x="3226" y="2734"/>
              <a:ext cx="244" cy="28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2"/>
                  </a:solidFill>
                  <a:miter lim="800000"/>
                  <a:headEnd type="none" w="sm" len="sm"/>
                  <a:tailEnd type="none" w="sm" len="sm"/>
                </a14:hiddenLine>
              </a:ext>
            </a:extLst>
          </p:spPr>
          <p:txBody>
            <a:bodyPr wrap="none">
              <a:spAutoFit/>
            </a:bodyPr>
            <a:lstStyle/>
            <a:p>
              <a:r>
                <a:rPr lang="en-US" altLang="zh-CN" sz="2400" b="1">
                  <a:solidFill>
                    <a:schemeClr val="bg2"/>
                  </a:solidFill>
                  <a:ea typeface="楷体_GB2312" pitchFamily="49" charset="-122"/>
                </a:rPr>
                <a:t>Y</a:t>
              </a:r>
            </a:p>
          </p:txBody>
        </p:sp>
        <p:sp>
          <p:nvSpPr>
            <p:cNvPr id="472087" name="Text Box 23"/>
            <p:cNvSpPr txBox="1">
              <a:spLocks noChangeArrowheads="1"/>
            </p:cNvSpPr>
            <p:nvPr/>
          </p:nvSpPr>
          <p:spPr bwMode="auto">
            <a:xfrm>
              <a:off x="1202" y="2750"/>
              <a:ext cx="255" cy="28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2"/>
                  </a:solidFill>
                  <a:miter lim="800000"/>
                  <a:headEnd type="none" w="sm" len="sm"/>
                  <a:tailEnd type="none" w="sm" len="sm"/>
                </a14:hiddenLine>
              </a:ext>
            </a:extLst>
          </p:spPr>
          <p:txBody>
            <a:bodyPr wrap="none">
              <a:spAutoFit/>
            </a:bodyPr>
            <a:lstStyle/>
            <a:p>
              <a:r>
                <a:rPr lang="en-US" altLang="zh-CN" sz="2400" b="1">
                  <a:solidFill>
                    <a:schemeClr val="bg2"/>
                  </a:solidFill>
                  <a:ea typeface="楷体_GB2312" pitchFamily="49" charset="-122"/>
                </a:rPr>
                <a:t>N</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4205"/>
    </mc:Choice>
    <mc:Fallback xmlns="">
      <p:transition spd="slow" advTm="1420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472069"/>
                                        </p:tgtEl>
                                        <p:attrNameLst>
                                          <p:attrName>style.visibility</p:attrName>
                                        </p:attrNameLst>
                                      </p:cBhvr>
                                      <p:to>
                                        <p:strVal val="visible"/>
                                      </p:to>
                                    </p:set>
                                    <p:anim calcmode="lin" valueType="num">
                                      <p:cBhvr>
                                        <p:cTn id="7" dur="500" fill="hold"/>
                                        <p:tgtEl>
                                          <p:spTgt spid="472069"/>
                                        </p:tgtEl>
                                        <p:attrNameLst>
                                          <p:attrName>ppt_w</p:attrName>
                                        </p:attrNameLst>
                                      </p:cBhvr>
                                      <p:tavLst>
                                        <p:tav tm="0">
                                          <p:val>
                                            <p:fltVal val="0"/>
                                          </p:val>
                                        </p:tav>
                                        <p:tav tm="100000">
                                          <p:val>
                                            <p:strVal val="#ppt_w"/>
                                          </p:val>
                                        </p:tav>
                                      </p:tavLst>
                                    </p:anim>
                                    <p:anim calcmode="lin" valueType="num">
                                      <p:cBhvr>
                                        <p:cTn id="8" dur="500" fill="hold"/>
                                        <p:tgtEl>
                                          <p:spTgt spid="47206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三、恢复策略</a:t>
            </a:r>
          </a:p>
        </p:txBody>
      </p:sp>
      <p:sp>
        <p:nvSpPr>
          <p:cNvPr id="507907" name="Rectangle 3"/>
          <p:cNvSpPr>
            <a:spLocks noChangeArrowheads="1"/>
          </p:cNvSpPr>
          <p:nvPr/>
        </p:nvSpPr>
        <p:spPr bwMode="auto">
          <a:xfrm>
            <a:off x="611188" y="1187450"/>
            <a:ext cx="80645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2</a:t>
            </a:r>
            <a:r>
              <a:rPr lang="zh-CN" altLang="en-US" sz="3200">
                <a:solidFill>
                  <a:srgbClr val="660033"/>
                </a:solidFill>
                <a:ea typeface="华文新魏" panose="02010800040101010101" pitchFamily="2" charset="-122"/>
              </a:rPr>
              <a:t>、系统故障的恢复</a:t>
            </a:r>
          </a:p>
        </p:txBody>
      </p:sp>
      <p:sp>
        <p:nvSpPr>
          <p:cNvPr id="507908" name="AutoShape 4"/>
          <p:cNvSpPr>
            <a:spLocks noChangeArrowheads="1"/>
          </p:cNvSpPr>
          <p:nvPr/>
        </p:nvSpPr>
        <p:spPr bwMode="auto">
          <a:xfrm>
            <a:off x="611188" y="2060575"/>
            <a:ext cx="7848600" cy="4392613"/>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40000"/>
              </a:spcBef>
              <a:buClr>
                <a:schemeClr val="folHlink"/>
              </a:buClr>
              <a:buSzPct val="60000"/>
              <a:buFont typeface="Wingdings" panose="05000000000000000000" pitchFamily="2" charset="2"/>
              <a:buNone/>
            </a:pPr>
            <a:r>
              <a:rPr lang="zh-CN" altLang="en-US" sz="2400" b="1">
                <a:latin typeface="Tahoma" panose="020B0604030504040204" pitchFamily="34" charset="0"/>
                <a:ea typeface="楷体_GB2312" pitchFamily="49" charset="-122"/>
              </a:rPr>
              <a:t>         </a:t>
            </a:r>
            <a:r>
              <a:rPr lang="zh-CN" altLang="en-US" sz="2800" b="1">
                <a:solidFill>
                  <a:srgbClr val="0000FF"/>
                </a:solidFill>
                <a:effectLst>
                  <a:outerShdw blurRad="38100" dist="38100" dir="2700000" algn="tl">
                    <a:srgbClr val="C0C0C0"/>
                  </a:outerShdw>
                </a:effectLst>
                <a:latin typeface="Tahoma" panose="020B0604030504040204" pitchFamily="34" charset="0"/>
                <a:ea typeface="楷体_GB2312" pitchFamily="49" charset="-122"/>
              </a:rPr>
              <a:t>系统故障</a:t>
            </a:r>
            <a:r>
              <a:rPr lang="zh-CN" altLang="en-US" sz="2800" b="1">
                <a:latin typeface="Tahoma" panose="020B0604030504040204" pitchFamily="34" charset="0"/>
                <a:ea typeface="楷体_GB2312" pitchFamily="49" charset="-122"/>
              </a:rPr>
              <a:t>指数据库在运行时，正在运行的所有事务以非正常方式终止的故障。</a:t>
            </a:r>
          </a:p>
          <a:p>
            <a:pPr>
              <a:lnSpc>
                <a:spcPct val="110000"/>
              </a:lnSpc>
              <a:spcBef>
                <a:spcPct val="40000"/>
              </a:spcBef>
              <a:buClr>
                <a:schemeClr val="folHlink"/>
              </a:buClr>
              <a:buSzPct val="60000"/>
              <a:buFont typeface="Wingdings" panose="05000000000000000000" pitchFamily="2" charset="2"/>
              <a:buNone/>
            </a:pPr>
            <a:r>
              <a:rPr lang="zh-CN" altLang="en-US" sz="2800" b="1">
                <a:latin typeface="Tahoma" panose="020B0604030504040204" pitchFamily="34" charset="0"/>
                <a:ea typeface="楷体_GB2312" pitchFamily="49" charset="-122"/>
              </a:rPr>
              <a:t>   （</a:t>
            </a:r>
            <a:r>
              <a:rPr lang="en-US" altLang="zh-CN" sz="2800" b="1">
                <a:latin typeface="Tahoma" panose="020B0604030504040204" pitchFamily="34" charset="0"/>
                <a:ea typeface="楷体_GB2312" pitchFamily="49" charset="-122"/>
              </a:rPr>
              <a:t>1</a:t>
            </a:r>
            <a:r>
              <a:rPr lang="zh-CN" altLang="en-US" sz="2800" b="1">
                <a:latin typeface="Tahoma" panose="020B0604030504040204" pitchFamily="34" charset="0"/>
                <a:ea typeface="楷体_GB2312" pitchFamily="49" charset="-122"/>
              </a:rPr>
              <a:t>）结果：数据库不一致状态</a:t>
            </a:r>
          </a:p>
          <a:p>
            <a:pPr>
              <a:lnSpc>
                <a:spcPct val="110000"/>
              </a:lnSpc>
              <a:spcBef>
                <a:spcPct val="40000"/>
              </a:spcBef>
              <a:buClr>
                <a:schemeClr val="folHlink"/>
              </a:buClr>
              <a:buSzPct val="60000"/>
              <a:buFont typeface="Wingdings" panose="05000000000000000000" pitchFamily="2" charset="2"/>
              <a:buNone/>
            </a:pPr>
            <a:r>
              <a:rPr lang="zh-CN" altLang="en-US" sz="2800" b="1">
                <a:latin typeface="Tahoma" panose="020B0604030504040204" pitchFamily="34" charset="0"/>
                <a:ea typeface="楷体_GB2312" pitchFamily="49" charset="-122"/>
              </a:rPr>
              <a:t>     </a:t>
            </a:r>
            <a:r>
              <a:rPr lang="en-US" altLang="zh-CN" b="1">
                <a:solidFill>
                  <a:srgbClr val="CC0000"/>
                </a:solidFill>
                <a:effectLst>
                  <a:outerShdw blurRad="38100" dist="38100" dir="2700000" algn="tl">
                    <a:srgbClr val="C0C0C0"/>
                  </a:outerShdw>
                </a:effectLst>
              </a:rPr>
              <a:t>●  </a:t>
            </a:r>
            <a:r>
              <a:rPr lang="zh-CN" altLang="en-US" sz="2800" b="1">
                <a:latin typeface="Tahoma" panose="020B0604030504040204" pitchFamily="34" charset="0"/>
                <a:ea typeface="楷体_GB2312" pitchFamily="49" charset="-122"/>
              </a:rPr>
              <a:t>未完成的事务对数据库的更新可能已写入了数据库；</a:t>
            </a:r>
          </a:p>
          <a:p>
            <a:pPr>
              <a:lnSpc>
                <a:spcPct val="110000"/>
              </a:lnSpc>
              <a:spcBef>
                <a:spcPct val="40000"/>
              </a:spcBef>
              <a:buClr>
                <a:schemeClr val="folHlink"/>
              </a:buClr>
              <a:buSzPct val="60000"/>
              <a:buFont typeface="Wingdings" panose="05000000000000000000" pitchFamily="2" charset="2"/>
              <a:buNone/>
            </a:pPr>
            <a:r>
              <a:rPr lang="en-US" altLang="zh-CN" b="1">
                <a:solidFill>
                  <a:srgbClr val="CC0000"/>
                </a:solidFill>
                <a:effectLst>
                  <a:outerShdw blurRad="38100" dist="38100" dir="2700000" algn="tl">
                    <a:srgbClr val="C0C0C0"/>
                  </a:outerShdw>
                </a:effectLst>
              </a:rPr>
              <a:t>        ● </a:t>
            </a:r>
            <a:r>
              <a:rPr lang="zh-CN" altLang="en-US" sz="2800" b="1">
                <a:latin typeface="Tahoma" panose="020B0604030504040204" pitchFamily="34" charset="0"/>
                <a:ea typeface="楷体_GB2312" pitchFamily="49" charset="-122"/>
              </a:rPr>
              <a:t>已提交的事务对数据库的更新可能还留在缓冲区没来得及写入数据库。</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0493"/>
    </mc:Choice>
    <mc:Fallback xmlns="">
      <p:transition spd="slow" advTm="304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07907"/>
                                        </p:tgtEl>
                                        <p:attrNameLst>
                                          <p:attrName>style.visibility</p:attrName>
                                        </p:attrNameLst>
                                      </p:cBhvr>
                                      <p:to>
                                        <p:strVal val="visible"/>
                                      </p:to>
                                    </p:set>
                                    <p:animEffect transition="in" filter="wipe(left)">
                                      <p:cBhvr>
                                        <p:cTn id="7" dur="1000"/>
                                        <p:tgtEl>
                                          <p:spTgt spid="50790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07908">
                                            <p:bg/>
                                          </p:spTgt>
                                        </p:tgtEl>
                                        <p:attrNameLst>
                                          <p:attrName>style.visibility</p:attrName>
                                        </p:attrNameLst>
                                      </p:cBhvr>
                                      <p:to>
                                        <p:strVal val="visible"/>
                                      </p:to>
                                    </p:set>
                                    <p:animEffect transition="in" filter="wipe(up)">
                                      <p:cBhvr>
                                        <p:cTn id="12" dur="500"/>
                                        <p:tgtEl>
                                          <p:spTgt spid="507908">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07908">
                                            <p:txEl>
                                              <p:pRg st="0" end="0"/>
                                            </p:txEl>
                                          </p:spTgt>
                                        </p:tgtEl>
                                        <p:attrNameLst>
                                          <p:attrName>style.visibility</p:attrName>
                                        </p:attrNameLst>
                                      </p:cBhvr>
                                      <p:to>
                                        <p:strVal val="visible"/>
                                      </p:to>
                                    </p:set>
                                    <p:animEffect transition="in" filter="wipe(up)">
                                      <p:cBhvr>
                                        <p:cTn id="17" dur="500"/>
                                        <p:tgtEl>
                                          <p:spTgt spid="50790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07908">
                                            <p:txEl>
                                              <p:pRg st="1" end="1"/>
                                            </p:txEl>
                                          </p:spTgt>
                                        </p:tgtEl>
                                        <p:attrNameLst>
                                          <p:attrName>style.visibility</p:attrName>
                                        </p:attrNameLst>
                                      </p:cBhvr>
                                      <p:to>
                                        <p:strVal val="visible"/>
                                      </p:to>
                                    </p:set>
                                    <p:animEffect transition="in" filter="wipe(up)">
                                      <p:cBhvr>
                                        <p:cTn id="22" dur="500"/>
                                        <p:tgtEl>
                                          <p:spTgt spid="507908">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07908">
                                            <p:txEl>
                                              <p:pRg st="2" end="2"/>
                                            </p:txEl>
                                          </p:spTgt>
                                        </p:tgtEl>
                                        <p:attrNameLst>
                                          <p:attrName>style.visibility</p:attrName>
                                        </p:attrNameLst>
                                      </p:cBhvr>
                                      <p:to>
                                        <p:strVal val="visible"/>
                                      </p:to>
                                    </p:set>
                                    <p:animEffect transition="in" filter="wipe(up)">
                                      <p:cBhvr>
                                        <p:cTn id="27" dur="500"/>
                                        <p:tgtEl>
                                          <p:spTgt spid="507908">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07908">
                                            <p:txEl>
                                              <p:pRg st="3" end="3"/>
                                            </p:txEl>
                                          </p:spTgt>
                                        </p:tgtEl>
                                        <p:attrNameLst>
                                          <p:attrName>style.visibility</p:attrName>
                                        </p:attrNameLst>
                                      </p:cBhvr>
                                      <p:to>
                                        <p:strVal val="visible"/>
                                      </p:to>
                                    </p:set>
                                    <p:animEffect transition="in" filter="wipe(up)">
                                      <p:cBhvr>
                                        <p:cTn id="32" dur="500"/>
                                        <p:tgtEl>
                                          <p:spTgt spid="50790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7907" grpId="0"/>
      <p:bldP spid="507908" grpId="0" build="p"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三、恢复策略</a:t>
            </a:r>
          </a:p>
        </p:txBody>
      </p:sp>
      <p:sp>
        <p:nvSpPr>
          <p:cNvPr id="508931" name="Rectangle 3"/>
          <p:cNvSpPr>
            <a:spLocks noChangeArrowheads="1"/>
          </p:cNvSpPr>
          <p:nvPr/>
        </p:nvSpPr>
        <p:spPr bwMode="auto">
          <a:xfrm>
            <a:off x="611188" y="1187450"/>
            <a:ext cx="80645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2</a:t>
            </a:r>
            <a:r>
              <a:rPr lang="zh-CN" altLang="en-US" sz="3200">
                <a:solidFill>
                  <a:srgbClr val="660033"/>
                </a:solidFill>
                <a:ea typeface="华文新魏" panose="02010800040101010101" pitchFamily="2" charset="-122"/>
              </a:rPr>
              <a:t>、系统故障的恢复</a:t>
            </a:r>
          </a:p>
        </p:txBody>
      </p:sp>
      <p:sp>
        <p:nvSpPr>
          <p:cNvPr id="508932" name="AutoShape 4"/>
          <p:cNvSpPr>
            <a:spLocks noChangeArrowheads="1"/>
          </p:cNvSpPr>
          <p:nvPr/>
        </p:nvSpPr>
        <p:spPr bwMode="auto">
          <a:xfrm>
            <a:off x="611188" y="2205038"/>
            <a:ext cx="7848600" cy="4032250"/>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20000"/>
              </a:spcBef>
              <a:buClr>
                <a:schemeClr val="folHlink"/>
              </a:buClr>
              <a:buSzPct val="60000"/>
              <a:buFont typeface="Wingdings" panose="05000000000000000000" pitchFamily="2" charset="2"/>
              <a:buNone/>
            </a:pPr>
            <a:r>
              <a:rPr lang="zh-CN" altLang="en-US" sz="2800" b="1">
                <a:latin typeface="Tahoma" panose="020B0604030504040204" pitchFamily="34" charset="0"/>
                <a:ea typeface="楷体_GB2312" pitchFamily="49" charset="-122"/>
              </a:rPr>
              <a:t>（</a:t>
            </a:r>
            <a:r>
              <a:rPr lang="en-US" altLang="zh-CN" sz="2800" b="1">
                <a:latin typeface="Tahoma" panose="020B0604030504040204" pitchFamily="34" charset="0"/>
                <a:ea typeface="楷体_GB2312" pitchFamily="49" charset="-122"/>
              </a:rPr>
              <a:t>2</a:t>
            </a:r>
            <a:r>
              <a:rPr lang="zh-CN" altLang="en-US" sz="2800" b="1">
                <a:latin typeface="Tahoma" panose="020B0604030504040204" pitchFamily="34" charset="0"/>
                <a:ea typeface="楷体_GB2312" pitchFamily="49" charset="-122"/>
              </a:rPr>
              <a:t>）恢复策略：</a:t>
            </a:r>
          </a:p>
          <a:p>
            <a:pPr>
              <a:lnSpc>
                <a:spcPct val="110000"/>
              </a:lnSpc>
              <a:spcBef>
                <a:spcPct val="20000"/>
              </a:spcBef>
              <a:buClr>
                <a:schemeClr val="folHlink"/>
              </a:buClr>
              <a:buSzPct val="60000"/>
              <a:buFont typeface="Wingdings" panose="05000000000000000000" pitchFamily="2" charset="2"/>
              <a:buNone/>
            </a:pPr>
            <a:r>
              <a:rPr lang="zh-CN" altLang="en-US" sz="2800" b="1">
                <a:latin typeface="Tahoma" panose="020B0604030504040204" pitchFamily="34" charset="0"/>
                <a:ea typeface="楷体_GB2312" pitchFamily="49" charset="-122"/>
              </a:rPr>
              <a:t>    </a:t>
            </a:r>
            <a:r>
              <a:rPr lang="zh-CN" altLang="en-US" b="1">
                <a:solidFill>
                  <a:srgbClr val="CC0000"/>
                </a:solidFill>
                <a:effectLst>
                  <a:outerShdw blurRad="38100" dist="38100" dir="2700000" algn="tl">
                    <a:srgbClr val="C0C0C0"/>
                  </a:outerShdw>
                </a:effectLst>
              </a:rPr>
              <a:t>● </a:t>
            </a:r>
            <a:r>
              <a:rPr lang="zh-CN" altLang="en-US" sz="2800" b="1">
                <a:latin typeface="Tahoma" panose="020B0604030504040204" pitchFamily="34" charset="0"/>
                <a:ea typeface="楷体_GB2312" pitchFamily="49" charset="-122"/>
              </a:rPr>
              <a:t>在故障恢复时，需要先装入故障前的最新后援副本，把数据库恢复到最近的转储结束时刻的正确状态，然后：</a:t>
            </a:r>
          </a:p>
          <a:p>
            <a:pPr>
              <a:lnSpc>
                <a:spcPct val="110000"/>
              </a:lnSpc>
              <a:spcBef>
                <a:spcPct val="20000"/>
              </a:spcBef>
              <a:buClr>
                <a:schemeClr val="folHlink"/>
              </a:buClr>
              <a:buSzPct val="60000"/>
              <a:buFont typeface="Wingdings" panose="05000000000000000000" pitchFamily="2" charset="2"/>
              <a:buNone/>
            </a:pPr>
            <a:r>
              <a:rPr lang="zh-CN" altLang="en-US" sz="2800" b="1">
                <a:solidFill>
                  <a:srgbClr val="CC0000"/>
                </a:solidFill>
                <a:effectLst>
                  <a:outerShdw blurRad="38100" dist="38100" dir="2700000" algn="tl">
                    <a:srgbClr val="C0C0C0"/>
                  </a:outerShdw>
                </a:effectLst>
              </a:rPr>
              <a:t>    </a:t>
            </a:r>
            <a:r>
              <a:rPr lang="en-US" altLang="zh-CN" b="1">
                <a:solidFill>
                  <a:srgbClr val="CC0000"/>
                </a:solidFill>
                <a:effectLst>
                  <a:outerShdw blurRad="38100" dist="38100" dir="2700000" algn="tl">
                    <a:srgbClr val="C0C0C0"/>
                  </a:outerShdw>
                </a:effectLst>
              </a:rPr>
              <a:t>●</a:t>
            </a:r>
            <a:r>
              <a:rPr lang="zh-CN" altLang="en-US" b="1">
                <a:solidFill>
                  <a:srgbClr val="CC0000"/>
                </a:solidFill>
                <a:effectLst>
                  <a:outerShdw blurRad="38100" dist="38100" dir="2700000" algn="tl">
                    <a:srgbClr val="C0C0C0"/>
                  </a:outerShdw>
                </a:effectLst>
              </a:rPr>
              <a:t>  </a:t>
            </a:r>
            <a:r>
              <a:rPr lang="zh-CN" altLang="en-US" sz="2800" b="1">
                <a:latin typeface="Tahoma" panose="020B0604030504040204" pitchFamily="34" charset="0"/>
                <a:ea typeface="楷体_GB2312" pitchFamily="49" charset="-122"/>
              </a:rPr>
              <a:t>对</a:t>
            </a:r>
            <a:r>
              <a:rPr lang="zh-CN" altLang="en-US" sz="2800" b="1">
                <a:solidFill>
                  <a:srgbClr val="000000"/>
                </a:solidFill>
                <a:latin typeface="Tahoma" panose="020B0604030504040204" pitchFamily="34" charset="0"/>
                <a:ea typeface="楷体_GB2312" pitchFamily="49" charset="-122"/>
              </a:rPr>
              <a:t>未完成的事务：</a:t>
            </a:r>
            <a:r>
              <a:rPr lang="en-US" altLang="zh-CN" sz="2800" b="1">
                <a:solidFill>
                  <a:srgbClr val="CC00CC"/>
                </a:solidFill>
                <a:latin typeface="Tahoma" panose="020B0604030504040204" pitchFamily="34" charset="0"/>
                <a:ea typeface="楷体_GB2312" pitchFamily="49" charset="-122"/>
              </a:rPr>
              <a:t>Undo</a:t>
            </a:r>
            <a:r>
              <a:rPr lang="zh-CN" altLang="en-US" sz="2800" b="1">
                <a:solidFill>
                  <a:srgbClr val="CC00CC"/>
                </a:solidFill>
                <a:latin typeface="Tahoma" panose="020B0604030504040204" pitchFamily="34" charset="0"/>
                <a:ea typeface="楷体_GB2312" pitchFamily="49" charset="-122"/>
              </a:rPr>
              <a:t>撤消</a:t>
            </a:r>
          </a:p>
          <a:p>
            <a:pPr>
              <a:lnSpc>
                <a:spcPct val="110000"/>
              </a:lnSpc>
              <a:spcBef>
                <a:spcPct val="20000"/>
              </a:spcBef>
              <a:buClr>
                <a:schemeClr val="folHlink"/>
              </a:buClr>
              <a:buSzPct val="60000"/>
              <a:buFont typeface="Wingdings" panose="05000000000000000000" pitchFamily="2" charset="2"/>
              <a:buNone/>
            </a:pPr>
            <a:r>
              <a:rPr lang="en-US" altLang="zh-CN" sz="2800">
                <a:latin typeface="Tahoma" panose="020B0604030504040204" pitchFamily="34" charset="0"/>
                <a:ea typeface="楷体_GB2312" pitchFamily="49" charset="-122"/>
              </a:rPr>
              <a:t>   </a:t>
            </a:r>
            <a:r>
              <a:rPr lang="en-US" altLang="zh-CN" sz="2800" b="1">
                <a:solidFill>
                  <a:srgbClr val="CC0000"/>
                </a:solidFill>
                <a:effectLst>
                  <a:outerShdw blurRad="38100" dist="38100" dir="2700000" algn="tl">
                    <a:srgbClr val="C0C0C0"/>
                  </a:outerShdw>
                </a:effectLst>
                <a:latin typeface="Tahoma" panose="020B0604030504040204" pitchFamily="34" charset="0"/>
                <a:ea typeface="楷体_GB2312" pitchFamily="49" charset="-122"/>
              </a:rPr>
              <a:t>●</a:t>
            </a:r>
            <a:r>
              <a:rPr lang="en-US" altLang="zh-CN" sz="2800" b="1">
                <a:latin typeface="Tahoma" panose="020B0604030504040204" pitchFamily="34" charset="0"/>
                <a:ea typeface="楷体_GB2312" pitchFamily="49" charset="-122"/>
              </a:rPr>
              <a:t> </a:t>
            </a:r>
            <a:r>
              <a:rPr lang="zh-CN" altLang="en-US" sz="2800" b="1">
                <a:latin typeface="Tahoma" panose="020B0604030504040204" pitchFamily="34" charset="0"/>
                <a:ea typeface="楷体_GB2312" pitchFamily="49" charset="-122"/>
              </a:rPr>
              <a:t>对已提交的事务：</a:t>
            </a:r>
            <a:r>
              <a:rPr lang="en-US" altLang="zh-CN" sz="2800" b="1">
                <a:solidFill>
                  <a:srgbClr val="CC00CC"/>
                </a:solidFill>
                <a:latin typeface="Tahoma" panose="020B0604030504040204" pitchFamily="34" charset="0"/>
                <a:ea typeface="楷体_GB2312" pitchFamily="49" charset="-122"/>
              </a:rPr>
              <a:t>Redo</a:t>
            </a:r>
            <a:r>
              <a:rPr lang="zh-CN" altLang="en-US" sz="2800" b="1">
                <a:solidFill>
                  <a:srgbClr val="CC00CC"/>
                </a:solidFill>
                <a:latin typeface="Tahoma" panose="020B0604030504040204" pitchFamily="34" charset="0"/>
                <a:ea typeface="楷体_GB2312" pitchFamily="49" charset="-122"/>
              </a:rPr>
              <a:t>重做</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8014"/>
    </mc:Choice>
    <mc:Fallback xmlns="">
      <p:transition spd="slow" advTm="4801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08932">
                                            <p:bg/>
                                          </p:spTgt>
                                        </p:tgtEl>
                                        <p:attrNameLst>
                                          <p:attrName>style.visibility</p:attrName>
                                        </p:attrNameLst>
                                      </p:cBhvr>
                                      <p:to>
                                        <p:strVal val="visible"/>
                                      </p:to>
                                    </p:set>
                                    <p:animEffect transition="in" filter="wipe(up)">
                                      <p:cBhvr>
                                        <p:cTn id="7" dur="500"/>
                                        <p:tgtEl>
                                          <p:spTgt spid="508932">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08932">
                                            <p:txEl>
                                              <p:pRg st="0" end="0"/>
                                            </p:txEl>
                                          </p:spTgt>
                                        </p:tgtEl>
                                        <p:attrNameLst>
                                          <p:attrName>style.visibility</p:attrName>
                                        </p:attrNameLst>
                                      </p:cBhvr>
                                      <p:to>
                                        <p:strVal val="visible"/>
                                      </p:to>
                                    </p:set>
                                    <p:animEffect transition="in" filter="wipe(up)">
                                      <p:cBhvr>
                                        <p:cTn id="12" dur="500"/>
                                        <p:tgtEl>
                                          <p:spTgt spid="50893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08932">
                                            <p:txEl>
                                              <p:pRg st="1" end="1"/>
                                            </p:txEl>
                                          </p:spTgt>
                                        </p:tgtEl>
                                        <p:attrNameLst>
                                          <p:attrName>style.visibility</p:attrName>
                                        </p:attrNameLst>
                                      </p:cBhvr>
                                      <p:to>
                                        <p:strVal val="visible"/>
                                      </p:to>
                                    </p:set>
                                    <p:animEffect transition="in" filter="wipe(up)">
                                      <p:cBhvr>
                                        <p:cTn id="17" dur="500"/>
                                        <p:tgtEl>
                                          <p:spTgt spid="50893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08932">
                                            <p:txEl>
                                              <p:pRg st="2" end="2"/>
                                            </p:txEl>
                                          </p:spTgt>
                                        </p:tgtEl>
                                        <p:attrNameLst>
                                          <p:attrName>style.visibility</p:attrName>
                                        </p:attrNameLst>
                                      </p:cBhvr>
                                      <p:to>
                                        <p:strVal val="visible"/>
                                      </p:to>
                                    </p:set>
                                    <p:animEffect transition="in" filter="wipe(up)">
                                      <p:cBhvr>
                                        <p:cTn id="22" dur="500"/>
                                        <p:tgtEl>
                                          <p:spTgt spid="50893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08932">
                                            <p:txEl>
                                              <p:pRg st="3" end="3"/>
                                            </p:txEl>
                                          </p:spTgt>
                                        </p:tgtEl>
                                        <p:attrNameLst>
                                          <p:attrName>style.visibility</p:attrName>
                                        </p:attrNameLst>
                                      </p:cBhvr>
                                      <p:to>
                                        <p:strVal val="visible"/>
                                      </p:to>
                                    </p:set>
                                    <p:animEffect transition="in" filter="wipe(up)">
                                      <p:cBhvr>
                                        <p:cTn id="27" dur="500"/>
                                        <p:tgtEl>
                                          <p:spTgt spid="50893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8932" grpId="0" uiExpand="1" build="p"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三、恢复策略</a:t>
            </a:r>
          </a:p>
        </p:txBody>
      </p:sp>
      <p:sp>
        <p:nvSpPr>
          <p:cNvPr id="510979" name="AutoShape 3"/>
          <p:cNvSpPr>
            <a:spLocks noChangeArrowheads="1"/>
          </p:cNvSpPr>
          <p:nvPr/>
        </p:nvSpPr>
        <p:spPr bwMode="auto">
          <a:xfrm>
            <a:off x="395288" y="2276475"/>
            <a:ext cx="8353425" cy="3529013"/>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25000"/>
              </a:spcBef>
              <a:buClr>
                <a:schemeClr val="folHlink"/>
              </a:buClr>
              <a:buSzPct val="60000"/>
              <a:buFont typeface="Wingdings" panose="05000000000000000000" pitchFamily="2" charset="2"/>
              <a:buNone/>
            </a:pPr>
            <a:r>
              <a:rPr lang="zh-CN" altLang="en-US" sz="2800" b="1">
                <a:solidFill>
                  <a:srgbClr val="FF0066"/>
                </a:solidFill>
                <a:latin typeface="Tahoma" panose="020B0604030504040204" pitchFamily="34" charset="0"/>
                <a:ea typeface="楷体_GB2312" pitchFamily="49" charset="-122"/>
              </a:rPr>
              <a:t>（</a:t>
            </a:r>
            <a:r>
              <a:rPr lang="en-US" altLang="zh-CN" sz="2800" b="1">
                <a:solidFill>
                  <a:srgbClr val="FF0066"/>
                </a:solidFill>
                <a:latin typeface="Tahoma" panose="020B0604030504040204" pitchFamily="34" charset="0"/>
                <a:ea typeface="楷体_GB2312" pitchFamily="49" charset="-122"/>
              </a:rPr>
              <a:t>3</a:t>
            </a:r>
            <a:r>
              <a:rPr lang="zh-CN" altLang="en-US" sz="2800" b="1">
                <a:solidFill>
                  <a:srgbClr val="FF0066"/>
                </a:solidFill>
                <a:latin typeface="Tahoma" panose="020B0604030504040204" pitchFamily="34" charset="0"/>
                <a:ea typeface="楷体_GB2312" pitchFamily="49" charset="-122"/>
              </a:rPr>
              <a:t>）恢复步骤：</a:t>
            </a:r>
          </a:p>
          <a:p>
            <a:pPr>
              <a:lnSpc>
                <a:spcPct val="110000"/>
              </a:lnSpc>
              <a:spcBef>
                <a:spcPct val="25000"/>
              </a:spcBef>
              <a:buClr>
                <a:schemeClr val="folHlink"/>
              </a:buClr>
              <a:buSzPct val="60000"/>
              <a:buFont typeface="Wingdings" panose="05000000000000000000" pitchFamily="2" charset="2"/>
              <a:buNone/>
            </a:pPr>
            <a:r>
              <a:rPr lang="zh-CN" altLang="en-US" sz="2800" b="1">
                <a:latin typeface="Tahoma" panose="020B0604030504040204" pitchFamily="34" charset="0"/>
                <a:ea typeface="楷体_GB2312" pitchFamily="49" charset="-122"/>
              </a:rPr>
              <a:t>     </a:t>
            </a:r>
            <a:r>
              <a:rPr lang="zh-CN" altLang="en-US" sz="2800" b="1">
                <a:effectLst>
                  <a:outerShdw blurRad="38100" dist="38100" dir="2700000" algn="tl">
                    <a:srgbClr val="C0C0C0"/>
                  </a:outerShdw>
                </a:effectLst>
                <a:latin typeface="Tahoma" panose="020B0604030504040204" pitchFamily="34" charset="0"/>
                <a:ea typeface="楷体_GB2312" pitchFamily="49" charset="-122"/>
              </a:rPr>
              <a:t>① 正向扫描日志文件，将已提交的事务记入重做队列中，将未提交的事务记入撤销队列；</a:t>
            </a:r>
          </a:p>
          <a:p>
            <a:pPr>
              <a:lnSpc>
                <a:spcPct val="110000"/>
              </a:lnSpc>
              <a:spcBef>
                <a:spcPct val="25000"/>
              </a:spcBef>
              <a:buClr>
                <a:schemeClr val="folHlink"/>
              </a:buClr>
              <a:buSzPct val="60000"/>
              <a:buFont typeface="Wingdings" panose="05000000000000000000" pitchFamily="2" charset="2"/>
              <a:buNone/>
            </a:pPr>
            <a:r>
              <a:rPr lang="zh-CN" altLang="en-US" sz="2800" b="1">
                <a:effectLst>
                  <a:outerShdw blurRad="38100" dist="38100" dir="2700000" algn="tl">
                    <a:srgbClr val="C0C0C0"/>
                  </a:outerShdw>
                </a:effectLst>
                <a:latin typeface="Tahoma" panose="020B0604030504040204" pitchFamily="34" charset="0"/>
                <a:ea typeface="楷体_GB2312" pitchFamily="49" charset="-122"/>
              </a:rPr>
              <a:t>    ② 将撤销队列中的事务撤销；</a:t>
            </a:r>
          </a:p>
          <a:p>
            <a:pPr>
              <a:lnSpc>
                <a:spcPct val="110000"/>
              </a:lnSpc>
              <a:spcBef>
                <a:spcPct val="25000"/>
              </a:spcBef>
              <a:buClr>
                <a:schemeClr val="folHlink"/>
              </a:buClr>
              <a:buSzPct val="60000"/>
              <a:buFont typeface="Wingdings" panose="05000000000000000000" pitchFamily="2" charset="2"/>
              <a:buNone/>
            </a:pPr>
            <a:r>
              <a:rPr lang="zh-CN" altLang="en-US" sz="3200" b="1">
                <a:effectLst>
                  <a:outerShdw blurRad="38100" dist="38100" dir="2700000" algn="tl">
                    <a:srgbClr val="C0C0C0"/>
                  </a:outerShdw>
                </a:effectLst>
                <a:latin typeface="Tahoma" panose="020B0604030504040204" pitchFamily="34" charset="0"/>
                <a:ea typeface="楷体_GB2312" pitchFamily="49" charset="-122"/>
              </a:rPr>
              <a:t>    </a:t>
            </a:r>
            <a:r>
              <a:rPr lang="zh-CN" altLang="en-US" sz="2800" b="1">
                <a:effectLst>
                  <a:outerShdw blurRad="38100" dist="38100" dir="2700000" algn="tl">
                    <a:srgbClr val="C0C0C0"/>
                  </a:outerShdw>
                </a:effectLst>
                <a:latin typeface="Tahoma" panose="020B0604030504040204" pitchFamily="34" charset="0"/>
                <a:ea typeface="楷体_GB2312" pitchFamily="49" charset="-122"/>
              </a:rPr>
              <a:t>③ 将重做队列中的事务重做。</a:t>
            </a:r>
            <a:r>
              <a:rPr lang="zh-CN" altLang="en-US" sz="2800" b="1">
                <a:latin typeface="Tahoma" panose="020B0604030504040204" pitchFamily="34" charset="0"/>
                <a:ea typeface="楷体_GB2312" pitchFamily="49" charset="-122"/>
              </a:rPr>
              <a:t> </a:t>
            </a:r>
            <a:endParaRPr lang="en-US" altLang="zh-CN" sz="2800" b="1">
              <a:latin typeface="Tahoma" panose="020B0604030504040204" pitchFamily="34" charset="0"/>
              <a:ea typeface="楷体_GB2312" pitchFamily="49" charset="-122"/>
            </a:endParaRPr>
          </a:p>
        </p:txBody>
      </p:sp>
      <p:sp>
        <p:nvSpPr>
          <p:cNvPr id="510980" name="Rectangle 4"/>
          <p:cNvSpPr>
            <a:spLocks noChangeArrowheads="1"/>
          </p:cNvSpPr>
          <p:nvPr/>
        </p:nvSpPr>
        <p:spPr bwMode="auto">
          <a:xfrm>
            <a:off x="611188" y="1187450"/>
            <a:ext cx="80645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2</a:t>
            </a:r>
            <a:r>
              <a:rPr lang="zh-CN" altLang="en-US" sz="3200">
                <a:solidFill>
                  <a:srgbClr val="660033"/>
                </a:solidFill>
                <a:ea typeface="华文新魏" panose="02010800040101010101" pitchFamily="2" charset="-122"/>
              </a:rPr>
              <a:t>、系统故障的恢复</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6985"/>
    </mc:Choice>
    <mc:Fallback xmlns="">
      <p:transition spd="slow" advTm="2698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10979">
                                            <p:bg/>
                                          </p:spTgt>
                                        </p:tgtEl>
                                        <p:attrNameLst>
                                          <p:attrName>style.visibility</p:attrName>
                                        </p:attrNameLst>
                                      </p:cBhvr>
                                      <p:to>
                                        <p:strVal val="visible"/>
                                      </p:to>
                                    </p:set>
                                    <p:animEffect transition="in" filter="wipe(up)">
                                      <p:cBhvr>
                                        <p:cTn id="7" dur="500"/>
                                        <p:tgtEl>
                                          <p:spTgt spid="510979">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10979">
                                            <p:txEl>
                                              <p:pRg st="0" end="0"/>
                                            </p:txEl>
                                          </p:spTgt>
                                        </p:tgtEl>
                                        <p:attrNameLst>
                                          <p:attrName>style.visibility</p:attrName>
                                        </p:attrNameLst>
                                      </p:cBhvr>
                                      <p:to>
                                        <p:strVal val="visible"/>
                                      </p:to>
                                    </p:set>
                                    <p:animEffect transition="in" filter="wipe(up)">
                                      <p:cBhvr>
                                        <p:cTn id="12" dur="500"/>
                                        <p:tgtEl>
                                          <p:spTgt spid="51097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10979">
                                            <p:txEl>
                                              <p:pRg st="1" end="1"/>
                                            </p:txEl>
                                          </p:spTgt>
                                        </p:tgtEl>
                                        <p:attrNameLst>
                                          <p:attrName>style.visibility</p:attrName>
                                        </p:attrNameLst>
                                      </p:cBhvr>
                                      <p:to>
                                        <p:strVal val="visible"/>
                                      </p:to>
                                    </p:set>
                                    <p:animEffect transition="in" filter="wipe(up)">
                                      <p:cBhvr>
                                        <p:cTn id="17" dur="500"/>
                                        <p:tgtEl>
                                          <p:spTgt spid="51097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10979">
                                            <p:txEl>
                                              <p:pRg st="2" end="2"/>
                                            </p:txEl>
                                          </p:spTgt>
                                        </p:tgtEl>
                                        <p:attrNameLst>
                                          <p:attrName>style.visibility</p:attrName>
                                        </p:attrNameLst>
                                      </p:cBhvr>
                                      <p:to>
                                        <p:strVal val="visible"/>
                                      </p:to>
                                    </p:set>
                                    <p:animEffect transition="in" filter="wipe(up)">
                                      <p:cBhvr>
                                        <p:cTn id="22" dur="500"/>
                                        <p:tgtEl>
                                          <p:spTgt spid="51097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10979">
                                            <p:txEl>
                                              <p:pRg st="3" end="3"/>
                                            </p:txEl>
                                          </p:spTgt>
                                        </p:tgtEl>
                                        <p:attrNameLst>
                                          <p:attrName>style.visibility</p:attrName>
                                        </p:attrNameLst>
                                      </p:cBhvr>
                                      <p:to>
                                        <p:strVal val="visible"/>
                                      </p:to>
                                    </p:set>
                                    <p:animEffect transition="in" filter="wipe(up)">
                                      <p:cBhvr>
                                        <p:cTn id="27" dur="500"/>
                                        <p:tgtEl>
                                          <p:spTgt spid="5109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979" grpId="0" uiExpand="1" build="p"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Rectangle 2"/>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三、恢复策略</a:t>
            </a:r>
          </a:p>
        </p:txBody>
      </p:sp>
      <p:grpSp>
        <p:nvGrpSpPr>
          <p:cNvPr id="512014" name="Group 14"/>
          <p:cNvGrpSpPr/>
          <p:nvPr/>
        </p:nvGrpSpPr>
        <p:grpSpPr bwMode="auto">
          <a:xfrm>
            <a:off x="684213" y="1628775"/>
            <a:ext cx="7488237" cy="4495800"/>
            <a:chOff x="431" y="1026"/>
            <a:chExt cx="4717" cy="2832"/>
          </a:xfrm>
        </p:grpSpPr>
        <p:sp>
          <p:nvSpPr>
            <p:cNvPr id="512005" name="Text Box 5"/>
            <p:cNvSpPr txBox="1">
              <a:spLocks noChangeArrowheads="1"/>
            </p:cNvSpPr>
            <p:nvPr/>
          </p:nvSpPr>
          <p:spPr bwMode="auto">
            <a:xfrm>
              <a:off x="431" y="1298"/>
              <a:ext cx="454" cy="2228"/>
            </a:xfrm>
            <a:prstGeom prst="rect">
              <a:avLst/>
            </a:prstGeom>
            <a:solidFill>
              <a:srgbClr val="99CCFF"/>
            </a:solidFill>
            <a:ln w="28575" cap="sq">
              <a:solidFill>
                <a:schemeClr val="bg2"/>
              </a:solidFill>
              <a:miter lim="800000"/>
              <a:headEnd type="none" w="sm" len="sm"/>
              <a:tailEnd type="none" w="sm" len="sm"/>
            </a:ln>
            <a:effectLst>
              <a:outerShdw dist="35921" dir="2700000" algn="ctr" rotWithShape="0">
                <a:schemeClr val="bg2"/>
              </a:outerShdw>
            </a:effectLst>
          </p:spPr>
          <p:txBody>
            <a:bodyPr>
              <a:spAutoFit/>
            </a:bodyPr>
            <a:lstStyle/>
            <a:p>
              <a:pPr algn="ctr"/>
              <a:r>
                <a:rPr lang="zh-CN" altLang="en-US" sz="2800" b="1">
                  <a:solidFill>
                    <a:schemeClr val="bg2"/>
                  </a:solidFill>
                  <a:ea typeface="楷体_GB2312" pitchFamily="49" charset="-122"/>
                </a:rPr>
                <a:t>正向扫描日志文件</a:t>
              </a:r>
            </a:p>
          </p:txBody>
        </p:sp>
        <p:sp>
          <p:nvSpPr>
            <p:cNvPr id="512006" name="AutoShape 6"/>
            <p:cNvSpPr/>
            <p:nvPr/>
          </p:nvSpPr>
          <p:spPr bwMode="auto">
            <a:xfrm>
              <a:off x="4287" y="1706"/>
              <a:ext cx="227" cy="1497"/>
            </a:xfrm>
            <a:prstGeom prst="leftBrace">
              <a:avLst>
                <a:gd name="adj1" fmla="val 54956"/>
                <a:gd name="adj2" fmla="val 50000"/>
              </a:avLst>
            </a:prstGeom>
            <a:noFill/>
            <a:ln w="28575" cap="sq">
              <a:solidFill>
                <a:schemeClr val="bg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512007" name="Text Box 7"/>
            <p:cNvSpPr txBox="1">
              <a:spLocks noChangeArrowheads="1"/>
            </p:cNvSpPr>
            <p:nvPr/>
          </p:nvSpPr>
          <p:spPr bwMode="auto">
            <a:xfrm>
              <a:off x="4695" y="1026"/>
              <a:ext cx="453" cy="1152"/>
            </a:xfrm>
            <a:prstGeom prst="rect">
              <a:avLst/>
            </a:prstGeom>
            <a:solidFill>
              <a:schemeClr val="accent2"/>
            </a:solidFill>
            <a:ln w="28575" cap="sq">
              <a:solidFill>
                <a:schemeClr val="bg2"/>
              </a:solidFill>
              <a:miter lim="800000"/>
              <a:headEnd type="none" w="sm" len="sm"/>
              <a:tailEnd type="none" w="sm" len="sm"/>
            </a:ln>
            <a:effectLst>
              <a:outerShdw dist="35921" dir="2700000" algn="ctr" rotWithShape="0">
                <a:schemeClr val="bg2"/>
              </a:outerShdw>
            </a:effectLst>
          </p:spPr>
          <p:txBody>
            <a:bodyPr>
              <a:spAutoFit/>
            </a:bodyPr>
            <a:lstStyle/>
            <a:p>
              <a:pPr algn="ctr"/>
              <a:r>
                <a:rPr lang="zh-CN" altLang="en-US" sz="2800" b="1">
                  <a:solidFill>
                    <a:schemeClr val="bg2"/>
                  </a:solidFill>
                  <a:ea typeface="楷体_GB2312" pitchFamily="49" charset="-122"/>
                </a:rPr>
                <a:t>重做队列</a:t>
              </a:r>
            </a:p>
          </p:txBody>
        </p:sp>
        <p:sp>
          <p:nvSpPr>
            <p:cNvPr id="512008" name="Text Box 8"/>
            <p:cNvSpPr txBox="1">
              <a:spLocks noChangeArrowheads="1"/>
            </p:cNvSpPr>
            <p:nvPr/>
          </p:nvSpPr>
          <p:spPr bwMode="auto">
            <a:xfrm>
              <a:off x="4695" y="2706"/>
              <a:ext cx="453" cy="1152"/>
            </a:xfrm>
            <a:prstGeom prst="rect">
              <a:avLst/>
            </a:prstGeom>
            <a:solidFill>
              <a:srgbClr val="FE00FE"/>
            </a:solidFill>
            <a:ln w="28575" cap="sq">
              <a:solidFill>
                <a:schemeClr val="bg2"/>
              </a:solidFill>
              <a:miter lim="800000"/>
              <a:headEnd type="none" w="sm" len="sm"/>
              <a:tailEnd type="none" w="sm" len="sm"/>
            </a:ln>
            <a:effectLst>
              <a:outerShdw dist="35921" dir="2700000" algn="ctr" rotWithShape="0">
                <a:schemeClr val="bg2"/>
              </a:outerShdw>
            </a:effectLst>
          </p:spPr>
          <p:txBody>
            <a:bodyPr>
              <a:spAutoFit/>
            </a:bodyPr>
            <a:lstStyle/>
            <a:p>
              <a:pPr algn="ctr"/>
              <a:r>
                <a:rPr lang="zh-CN" altLang="en-US" sz="2800" b="1">
                  <a:solidFill>
                    <a:schemeClr val="bg2"/>
                  </a:solidFill>
                  <a:ea typeface="楷体_GB2312" pitchFamily="49" charset="-122"/>
                </a:rPr>
                <a:t>撤消队列</a:t>
              </a:r>
            </a:p>
          </p:txBody>
        </p:sp>
        <p:sp>
          <p:nvSpPr>
            <p:cNvPr id="512009" name="AutoShape 9"/>
            <p:cNvSpPr>
              <a:spLocks noChangeArrowheads="1"/>
            </p:cNvSpPr>
            <p:nvPr/>
          </p:nvSpPr>
          <p:spPr bwMode="auto">
            <a:xfrm>
              <a:off x="1020" y="2159"/>
              <a:ext cx="3175" cy="453"/>
            </a:xfrm>
            <a:prstGeom prst="notchedRightArrow">
              <a:avLst>
                <a:gd name="adj1" fmla="val 50000"/>
                <a:gd name="adj2" fmla="val 175221"/>
              </a:avLst>
            </a:prstGeom>
            <a:gradFill rotWithShape="1">
              <a:gsLst>
                <a:gs pos="0">
                  <a:srgbClr val="CDE1FF"/>
                </a:gs>
                <a:gs pos="100000">
                  <a:srgbClr val="0066FF"/>
                </a:gs>
              </a:gsLst>
              <a:lin ang="0" scaled="1"/>
            </a:gradFill>
            <a:ln w="28575" cap="sq">
              <a:solidFill>
                <a:schemeClr val="bg2"/>
              </a:solidFill>
              <a:miter lim="800000"/>
              <a:headEnd type="none" w="sm" len="sm"/>
              <a:tailEnd type="none" w="sm" len="sm"/>
            </a:ln>
            <a:effectLst>
              <a:outerShdw dist="35921" dir="2700000" algn="ctr" rotWithShape="0">
                <a:schemeClr val="bg2"/>
              </a:outerShdw>
            </a:effectLst>
          </p:spPr>
          <p:txBody>
            <a:bodyPr wrap="none" anchor="ctr"/>
            <a:lstStyle/>
            <a:p>
              <a:endParaRPr lang="zh-CN" altLang="en-US"/>
            </a:p>
          </p:txBody>
        </p:sp>
      </p:grpSp>
      <p:sp>
        <p:nvSpPr>
          <p:cNvPr id="512013" name="Rectangle 13"/>
          <p:cNvSpPr>
            <a:spLocks noChangeArrowheads="1"/>
          </p:cNvSpPr>
          <p:nvPr/>
        </p:nvSpPr>
        <p:spPr bwMode="auto">
          <a:xfrm>
            <a:off x="1763713" y="1295400"/>
            <a:ext cx="5113337"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effectLst>
                  <a:outerShdw blurRad="38100" dist="38100" dir="2700000" algn="tl">
                    <a:srgbClr val="C0C0C0"/>
                  </a:outerShdw>
                </a:effectLst>
                <a:latin typeface="Tahoma" panose="020B0604030504040204" pitchFamily="34" charset="0"/>
                <a:ea typeface="楷体_GB2312" pitchFamily="49" charset="-122"/>
              </a:rPr>
              <a:t>   在故障发生前已经提交的事务</a:t>
            </a:r>
            <a:r>
              <a:rPr lang="zh-CN" altLang="en-US" sz="2400" b="1">
                <a:solidFill>
                  <a:srgbClr val="800000"/>
                </a:solidFill>
                <a:effectLst>
                  <a:outerShdw blurRad="38100" dist="38100" dir="2700000" algn="tl">
                    <a:srgbClr val="C0C0C0"/>
                  </a:outerShdw>
                </a:effectLst>
                <a:latin typeface="Tahoma" panose="020B0604030504040204" pitchFamily="34" charset="0"/>
                <a:ea typeface="楷体_GB2312" pitchFamily="49" charset="-122"/>
              </a:rPr>
              <a:t>（在日志文件中，既有该事务开始信息</a:t>
            </a:r>
            <a:r>
              <a:rPr lang="en-US" altLang="zh-CN" sz="2400" b="1">
                <a:solidFill>
                  <a:srgbClr val="800000"/>
                </a:solidFill>
                <a:effectLst>
                  <a:outerShdw blurRad="38100" dist="38100" dir="2700000" algn="tl">
                    <a:srgbClr val="C0C0C0"/>
                  </a:outerShdw>
                </a:effectLst>
                <a:latin typeface="Tahoma" panose="020B0604030504040204" pitchFamily="34" charset="0"/>
                <a:ea typeface="楷体_GB2312" pitchFamily="49" charset="-122"/>
              </a:rPr>
              <a:t>BEGIN TRANSACTION</a:t>
            </a:r>
            <a:r>
              <a:rPr lang="zh-CN" altLang="en-US" sz="2400" b="1">
                <a:solidFill>
                  <a:srgbClr val="800000"/>
                </a:solidFill>
                <a:effectLst>
                  <a:outerShdw blurRad="38100" dist="38100" dir="2700000" algn="tl">
                    <a:srgbClr val="C0C0C0"/>
                  </a:outerShdw>
                </a:effectLst>
                <a:latin typeface="Tahoma" panose="020B0604030504040204" pitchFamily="34" charset="0"/>
                <a:ea typeface="楷体_GB2312" pitchFamily="49" charset="-122"/>
              </a:rPr>
              <a:t>，也有该事务提交信息</a:t>
            </a:r>
            <a:r>
              <a:rPr lang="en-US" altLang="zh-CN" sz="2400" b="1">
                <a:solidFill>
                  <a:srgbClr val="800000"/>
                </a:solidFill>
                <a:effectLst>
                  <a:outerShdw blurRad="38100" dist="38100" dir="2700000" algn="tl">
                    <a:srgbClr val="C0C0C0"/>
                  </a:outerShdw>
                </a:effectLst>
                <a:latin typeface="Tahoma" panose="020B0604030504040204" pitchFamily="34" charset="0"/>
                <a:ea typeface="楷体_GB2312" pitchFamily="49" charset="-122"/>
              </a:rPr>
              <a:t>COMMIT</a:t>
            </a:r>
            <a:r>
              <a:rPr lang="zh-CN" altLang="en-US" sz="2400" b="1">
                <a:solidFill>
                  <a:srgbClr val="800000"/>
                </a:solidFill>
                <a:effectLst>
                  <a:outerShdw blurRad="38100" dist="38100" dir="2700000" algn="tl">
                    <a:srgbClr val="C0C0C0"/>
                  </a:outerShdw>
                </a:effectLst>
                <a:latin typeface="Tahoma" panose="020B0604030504040204" pitchFamily="34" charset="0"/>
                <a:ea typeface="楷体_GB2312" pitchFamily="49" charset="-122"/>
              </a:rPr>
              <a:t>）</a:t>
            </a:r>
            <a:r>
              <a:rPr lang="zh-CN" altLang="en-US" sz="2400" b="1">
                <a:effectLst>
                  <a:outerShdw blurRad="38100" dist="38100" dir="2700000" algn="tl">
                    <a:srgbClr val="C0C0C0"/>
                  </a:outerShdw>
                </a:effectLst>
                <a:latin typeface="Tahoma" panose="020B0604030504040204" pitchFamily="34" charset="0"/>
                <a:ea typeface="楷体_GB2312" pitchFamily="49" charset="-122"/>
              </a:rPr>
              <a:t>，将其事务标识记入重做（</a:t>
            </a:r>
            <a:r>
              <a:rPr lang="en-US" altLang="zh-CN" sz="2400" b="1">
                <a:effectLst>
                  <a:outerShdw blurRad="38100" dist="38100" dir="2700000" algn="tl">
                    <a:srgbClr val="C0C0C0"/>
                  </a:outerShdw>
                </a:effectLst>
                <a:latin typeface="Tahoma" panose="020B0604030504040204" pitchFamily="34" charset="0"/>
                <a:ea typeface="楷体_GB2312" pitchFamily="49" charset="-122"/>
              </a:rPr>
              <a:t>Redo</a:t>
            </a:r>
            <a:r>
              <a:rPr lang="zh-CN" altLang="en-US" sz="2400" b="1">
                <a:effectLst>
                  <a:outerShdw blurRad="38100" dist="38100" dir="2700000" algn="tl">
                    <a:srgbClr val="C0C0C0"/>
                  </a:outerShdw>
                </a:effectLst>
                <a:latin typeface="Tahoma" panose="020B0604030504040204" pitchFamily="34" charset="0"/>
                <a:ea typeface="楷体_GB2312" pitchFamily="49" charset="-122"/>
              </a:rPr>
              <a:t>）队列。</a:t>
            </a:r>
          </a:p>
        </p:txBody>
      </p:sp>
      <p:sp>
        <p:nvSpPr>
          <p:cNvPr id="512015" name="Rectangle 15"/>
          <p:cNvSpPr>
            <a:spLocks noChangeArrowheads="1"/>
          </p:cNvSpPr>
          <p:nvPr/>
        </p:nvSpPr>
        <p:spPr bwMode="auto">
          <a:xfrm>
            <a:off x="1619250" y="4292600"/>
            <a:ext cx="5184775"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effectLst>
                  <a:outerShdw blurRad="38100" dist="38100" dir="2700000" algn="tl">
                    <a:srgbClr val="C0C0C0"/>
                  </a:outerShdw>
                </a:effectLst>
                <a:latin typeface="Tahoma" panose="020B0604030504040204" pitchFamily="34" charset="0"/>
                <a:ea typeface="楷体_GB2312" pitchFamily="49" charset="-122"/>
              </a:rPr>
              <a:t>    在故障发生时尚未完成的事务</a:t>
            </a:r>
            <a:r>
              <a:rPr lang="zh-CN" altLang="en-US" sz="2400" b="1">
                <a:solidFill>
                  <a:srgbClr val="800000"/>
                </a:solidFill>
                <a:effectLst>
                  <a:outerShdw blurRad="38100" dist="38100" dir="2700000" algn="tl">
                    <a:srgbClr val="C0C0C0"/>
                  </a:outerShdw>
                </a:effectLst>
                <a:latin typeface="Tahoma" panose="020B0604030504040204" pitchFamily="34" charset="0"/>
                <a:ea typeface="楷体_GB2312" pitchFamily="49" charset="-122"/>
              </a:rPr>
              <a:t>（在日志文件中，只有该事务开始信息</a:t>
            </a:r>
            <a:r>
              <a:rPr lang="en-US" altLang="zh-CN" sz="2400" b="1">
                <a:solidFill>
                  <a:srgbClr val="800000"/>
                </a:solidFill>
                <a:effectLst>
                  <a:outerShdw blurRad="38100" dist="38100" dir="2700000" algn="tl">
                    <a:srgbClr val="C0C0C0"/>
                  </a:outerShdw>
                </a:effectLst>
                <a:latin typeface="Tahoma" panose="020B0604030504040204" pitchFamily="34" charset="0"/>
                <a:ea typeface="楷体_GB2312" pitchFamily="49" charset="-122"/>
              </a:rPr>
              <a:t>BEGIN TRANSACTION</a:t>
            </a:r>
            <a:r>
              <a:rPr lang="zh-CN" altLang="en-US" sz="2400" b="1">
                <a:solidFill>
                  <a:srgbClr val="800000"/>
                </a:solidFill>
                <a:effectLst>
                  <a:outerShdw blurRad="38100" dist="38100" dir="2700000" algn="tl">
                    <a:srgbClr val="C0C0C0"/>
                  </a:outerShdw>
                </a:effectLst>
                <a:latin typeface="Tahoma" panose="020B0604030504040204" pitchFamily="34" charset="0"/>
                <a:ea typeface="楷体_GB2312" pitchFamily="49" charset="-122"/>
              </a:rPr>
              <a:t>，无该事务提交信息</a:t>
            </a:r>
            <a:r>
              <a:rPr lang="en-US" altLang="zh-CN" sz="2400" b="1">
                <a:solidFill>
                  <a:srgbClr val="800000"/>
                </a:solidFill>
                <a:effectLst>
                  <a:outerShdw blurRad="38100" dist="38100" dir="2700000" algn="tl">
                    <a:srgbClr val="C0C0C0"/>
                  </a:outerShdw>
                </a:effectLst>
                <a:latin typeface="Tahoma" panose="020B0604030504040204" pitchFamily="34" charset="0"/>
                <a:ea typeface="楷体_GB2312" pitchFamily="49" charset="-122"/>
              </a:rPr>
              <a:t>COMMIT</a:t>
            </a:r>
            <a:r>
              <a:rPr lang="zh-CN" altLang="en-US" sz="2400" b="1">
                <a:solidFill>
                  <a:srgbClr val="800000"/>
                </a:solidFill>
                <a:effectLst>
                  <a:outerShdw blurRad="38100" dist="38100" dir="2700000" algn="tl">
                    <a:srgbClr val="C0C0C0"/>
                  </a:outerShdw>
                </a:effectLst>
                <a:latin typeface="Tahoma" panose="020B0604030504040204" pitchFamily="34" charset="0"/>
                <a:ea typeface="楷体_GB2312" pitchFamily="49" charset="-122"/>
              </a:rPr>
              <a:t>）</a:t>
            </a:r>
            <a:r>
              <a:rPr lang="zh-CN" altLang="en-US" sz="2400" b="1">
                <a:effectLst>
                  <a:outerShdw blurRad="38100" dist="38100" dir="2700000" algn="tl">
                    <a:srgbClr val="C0C0C0"/>
                  </a:outerShdw>
                </a:effectLst>
                <a:latin typeface="Tahoma" panose="020B0604030504040204" pitchFamily="34" charset="0"/>
                <a:ea typeface="楷体_GB2312" pitchFamily="49" charset="-122"/>
              </a:rPr>
              <a:t>，将其事务标识记入撤消（</a:t>
            </a:r>
            <a:r>
              <a:rPr lang="en-US" altLang="zh-CN" sz="2400" b="1">
                <a:effectLst>
                  <a:outerShdw blurRad="38100" dist="38100" dir="2700000" algn="tl">
                    <a:srgbClr val="C0C0C0"/>
                  </a:outerShdw>
                </a:effectLst>
                <a:latin typeface="Tahoma" panose="020B0604030504040204" pitchFamily="34" charset="0"/>
                <a:ea typeface="楷体_GB2312" pitchFamily="49" charset="-122"/>
              </a:rPr>
              <a:t>Undo</a:t>
            </a:r>
            <a:r>
              <a:rPr lang="zh-CN" altLang="en-US" sz="2400" b="1">
                <a:effectLst>
                  <a:outerShdw blurRad="38100" dist="38100" dir="2700000" algn="tl">
                    <a:srgbClr val="C0C0C0"/>
                  </a:outerShdw>
                </a:effectLst>
                <a:latin typeface="Tahoma" panose="020B0604030504040204" pitchFamily="34" charset="0"/>
                <a:ea typeface="楷体_GB2312" pitchFamily="49" charset="-122"/>
              </a:rPr>
              <a:t>）队列。</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9396"/>
    </mc:Choice>
    <mc:Fallback xmlns="">
      <p:transition spd="slow" advTm="3939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12014"/>
                                        </p:tgtEl>
                                        <p:attrNameLst>
                                          <p:attrName>style.visibility</p:attrName>
                                        </p:attrNameLst>
                                      </p:cBhvr>
                                      <p:to>
                                        <p:strVal val="visible"/>
                                      </p:to>
                                    </p:set>
                                    <p:animEffect transition="in" filter="wipe(left)">
                                      <p:cBhvr>
                                        <p:cTn id="7" dur="500"/>
                                        <p:tgtEl>
                                          <p:spTgt spid="5120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12013"/>
                                        </p:tgtEl>
                                        <p:attrNameLst>
                                          <p:attrName>style.visibility</p:attrName>
                                        </p:attrNameLst>
                                      </p:cBhvr>
                                      <p:to>
                                        <p:strVal val="visible"/>
                                      </p:to>
                                    </p:set>
                                    <p:animEffect transition="in" filter="wipe(up)">
                                      <p:cBhvr>
                                        <p:cTn id="12" dur="2000"/>
                                        <p:tgtEl>
                                          <p:spTgt spid="5120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12015"/>
                                        </p:tgtEl>
                                        <p:attrNameLst>
                                          <p:attrName>style.visibility</p:attrName>
                                        </p:attrNameLst>
                                      </p:cBhvr>
                                      <p:to>
                                        <p:strVal val="visible"/>
                                      </p:to>
                                    </p:set>
                                    <p:animEffect transition="in" filter="wipe(up)">
                                      <p:cBhvr>
                                        <p:cTn id="17" dur="2000"/>
                                        <p:tgtEl>
                                          <p:spTgt spid="5120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13" grpId="0"/>
      <p:bldP spid="51201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三、恢复策略</a:t>
            </a:r>
          </a:p>
        </p:txBody>
      </p:sp>
      <p:sp>
        <p:nvSpPr>
          <p:cNvPr id="455690" name="Text Box 10"/>
          <p:cNvSpPr txBox="1">
            <a:spLocks noChangeArrowheads="1"/>
          </p:cNvSpPr>
          <p:nvPr/>
        </p:nvSpPr>
        <p:spPr bwMode="auto">
          <a:xfrm>
            <a:off x="4140200" y="1555750"/>
            <a:ext cx="863600" cy="2041525"/>
          </a:xfrm>
          <a:prstGeom prst="rect">
            <a:avLst/>
          </a:prstGeom>
          <a:solidFill>
            <a:srgbClr val="FFCC99"/>
          </a:solidFill>
          <a:ln w="28575" cap="sq">
            <a:solidFill>
              <a:schemeClr val="bg2"/>
            </a:solidFill>
            <a:miter lim="800000"/>
            <a:headEnd type="none" w="sm" len="sm"/>
            <a:tailEnd type="none" w="sm" len="sm"/>
          </a:ln>
          <a:effectLst>
            <a:outerShdw dist="35921" dir="2700000" algn="ctr" rotWithShape="0">
              <a:schemeClr val="bg2"/>
            </a:outerShdw>
          </a:effectLst>
        </p:spPr>
        <p:txBody>
          <a:bodyPr lIns="18000" tIns="10800" rIns="18000" bIns="10800" anchor="ctr" anchorCtr="1"/>
          <a:lstStyle/>
          <a:p>
            <a:r>
              <a:rPr lang="zh-CN" altLang="en-US" sz="2600" b="1">
                <a:solidFill>
                  <a:schemeClr val="bg2"/>
                </a:solidFill>
                <a:effectLst>
                  <a:outerShdw blurRad="38100" dist="38100" dir="2700000" algn="tl">
                    <a:srgbClr val="000000"/>
                  </a:outerShdw>
                </a:effectLst>
                <a:ea typeface="楷体_GB2312" pitchFamily="49" charset="-122"/>
              </a:rPr>
              <a:t>正向扫描日志文件</a:t>
            </a:r>
          </a:p>
        </p:txBody>
      </p:sp>
      <p:sp>
        <p:nvSpPr>
          <p:cNvPr id="455691" name="Text Box 11"/>
          <p:cNvSpPr txBox="1">
            <a:spLocks noChangeArrowheads="1"/>
          </p:cNvSpPr>
          <p:nvPr/>
        </p:nvSpPr>
        <p:spPr bwMode="auto">
          <a:xfrm>
            <a:off x="7453313" y="1771650"/>
            <a:ext cx="935037" cy="1562100"/>
          </a:xfrm>
          <a:prstGeom prst="rect">
            <a:avLst/>
          </a:prstGeom>
          <a:solidFill>
            <a:srgbClr val="00FFFF"/>
          </a:solidFill>
          <a:ln w="28575" cap="sq">
            <a:solidFill>
              <a:schemeClr val="bg2"/>
            </a:solidFill>
            <a:miter lim="800000"/>
            <a:headEnd type="none" w="sm" len="sm"/>
            <a:tailEnd type="none" w="sm" len="sm"/>
          </a:ln>
          <a:effectLst>
            <a:outerShdw dist="35921" dir="2700000" algn="ctr" rotWithShape="0">
              <a:schemeClr val="bg2"/>
            </a:outerShdw>
          </a:effectLst>
        </p:spPr>
        <p:txBody>
          <a:bodyPr anchor="ctr" anchorCtr="1"/>
          <a:lstStyle/>
          <a:p>
            <a:pPr algn="ctr"/>
            <a:r>
              <a:rPr lang="zh-CN" altLang="en-US" sz="3200" b="1">
                <a:solidFill>
                  <a:schemeClr val="bg2"/>
                </a:solidFill>
                <a:effectLst>
                  <a:outerShdw blurRad="38100" dist="38100" dir="2700000" algn="tl">
                    <a:srgbClr val="000000"/>
                  </a:outerShdw>
                </a:effectLst>
                <a:ea typeface="楷体_GB2312" pitchFamily="49" charset="-122"/>
              </a:rPr>
              <a:t>重做</a:t>
            </a:r>
          </a:p>
        </p:txBody>
      </p:sp>
      <p:grpSp>
        <p:nvGrpSpPr>
          <p:cNvPr id="455702" name="Group 22"/>
          <p:cNvGrpSpPr/>
          <p:nvPr/>
        </p:nvGrpSpPr>
        <p:grpSpPr bwMode="auto">
          <a:xfrm>
            <a:off x="395288" y="1700213"/>
            <a:ext cx="2520950" cy="4289425"/>
            <a:chOff x="249" y="1117"/>
            <a:chExt cx="1588" cy="2702"/>
          </a:xfrm>
        </p:grpSpPr>
        <p:sp>
          <p:nvSpPr>
            <p:cNvPr id="455686" name="Text Box 6"/>
            <p:cNvSpPr txBox="1">
              <a:spLocks noChangeArrowheads="1"/>
            </p:cNvSpPr>
            <p:nvPr/>
          </p:nvSpPr>
          <p:spPr bwMode="auto">
            <a:xfrm>
              <a:off x="249" y="1480"/>
              <a:ext cx="453" cy="1916"/>
            </a:xfrm>
            <a:prstGeom prst="rect">
              <a:avLst/>
            </a:prstGeom>
            <a:solidFill>
              <a:srgbClr val="99CCFF"/>
            </a:solidFill>
            <a:ln w="28575" cap="sq">
              <a:solidFill>
                <a:schemeClr val="bg2"/>
              </a:solidFill>
              <a:miter lim="800000"/>
              <a:headEnd type="none" w="sm" len="sm"/>
              <a:tailEnd type="none" w="sm" len="sm"/>
            </a:ln>
            <a:effectLst>
              <a:outerShdw dist="35921" dir="2700000" algn="ctr" rotWithShape="0">
                <a:schemeClr val="bg2"/>
              </a:outerShdw>
            </a:effectLst>
          </p:spPr>
          <p:txBody>
            <a:bodyPr>
              <a:spAutoFit/>
            </a:bodyPr>
            <a:lstStyle/>
            <a:p>
              <a:pPr algn="ctr"/>
              <a:r>
                <a:rPr lang="zh-CN" altLang="en-US" sz="2400" b="1">
                  <a:solidFill>
                    <a:schemeClr val="bg2"/>
                  </a:solidFill>
                  <a:effectLst>
                    <a:outerShdw blurRad="38100" dist="38100" dir="2700000" algn="tl">
                      <a:srgbClr val="000000"/>
                    </a:outerShdw>
                  </a:effectLst>
                  <a:ea typeface="楷体_GB2312" pitchFamily="49" charset="-122"/>
                </a:rPr>
                <a:t>正向扫描日志文件</a:t>
              </a:r>
            </a:p>
          </p:txBody>
        </p:sp>
        <p:sp>
          <p:nvSpPr>
            <p:cNvPr id="455687" name="AutoShape 7"/>
            <p:cNvSpPr/>
            <p:nvPr/>
          </p:nvSpPr>
          <p:spPr bwMode="auto">
            <a:xfrm>
              <a:off x="1156" y="1689"/>
              <a:ext cx="227" cy="1497"/>
            </a:xfrm>
            <a:prstGeom prst="leftBrace">
              <a:avLst>
                <a:gd name="adj1" fmla="val 54956"/>
                <a:gd name="adj2" fmla="val 50000"/>
              </a:avLst>
            </a:prstGeom>
            <a:noFill/>
            <a:ln w="28575" cap="sq">
              <a:solidFill>
                <a:schemeClr val="bg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55688" name="Text Box 8"/>
            <p:cNvSpPr txBox="1">
              <a:spLocks noChangeArrowheads="1"/>
            </p:cNvSpPr>
            <p:nvPr/>
          </p:nvSpPr>
          <p:spPr bwMode="auto">
            <a:xfrm>
              <a:off x="1428" y="1117"/>
              <a:ext cx="363" cy="1152"/>
            </a:xfrm>
            <a:prstGeom prst="rect">
              <a:avLst/>
            </a:prstGeom>
            <a:solidFill>
              <a:schemeClr val="accent2"/>
            </a:solidFill>
            <a:ln w="28575" cap="sq" algn="ctr">
              <a:solidFill>
                <a:schemeClr val="bg2"/>
              </a:solidFill>
              <a:miter lim="800000"/>
              <a:headEnd type="none" w="sm" len="sm"/>
              <a:tailEnd type="none" w="sm" len="sm"/>
            </a:ln>
            <a:effectLst>
              <a:outerShdw dist="35921" dir="2700000" algn="ctr" rotWithShape="0">
                <a:schemeClr val="bg2"/>
              </a:outerShdw>
            </a:effectLst>
          </p:spPr>
          <p:txBody>
            <a:bodyPr>
              <a:spAutoFit/>
            </a:bodyPr>
            <a:lstStyle/>
            <a:p>
              <a:pPr algn="ctr"/>
              <a:r>
                <a:rPr lang="zh-CN" altLang="en-US" sz="2800" b="1">
                  <a:solidFill>
                    <a:schemeClr val="bg2"/>
                  </a:solidFill>
                  <a:ea typeface="楷体_GB2312" pitchFamily="49" charset="-122"/>
                </a:rPr>
                <a:t>重做队列</a:t>
              </a:r>
            </a:p>
          </p:txBody>
        </p:sp>
        <p:sp>
          <p:nvSpPr>
            <p:cNvPr id="455689" name="Text Box 9"/>
            <p:cNvSpPr txBox="1">
              <a:spLocks noChangeArrowheads="1"/>
            </p:cNvSpPr>
            <p:nvPr/>
          </p:nvSpPr>
          <p:spPr bwMode="auto">
            <a:xfrm>
              <a:off x="1428" y="2667"/>
              <a:ext cx="409" cy="1152"/>
            </a:xfrm>
            <a:prstGeom prst="rect">
              <a:avLst/>
            </a:prstGeom>
            <a:solidFill>
              <a:srgbClr val="FE00FE"/>
            </a:solidFill>
            <a:ln w="28575" cap="sq" algn="ctr">
              <a:solidFill>
                <a:schemeClr val="bg2"/>
              </a:solidFill>
              <a:miter lim="800000"/>
              <a:headEnd type="none" w="sm" len="sm"/>
              <a:tailEnd type="none" w="sm" len="sm"/>
            </a:ln>
            <a:effectLst>
              <a:outerShdw dist="35921" dir="2700000" algn="ctr" rotWithShape="0">
                <a:schemeClr val="bg2"/>
              </a:outerShdw>
            </a:effectLst>
          </p:spPr>
          <p:txBody>
            <a:bodyPr>
              <a:spAutoFit/>
            </a:bodyPr>
            <a:lstStyle/>
            <a:p>
              <a:pPr algn="ctr"/>
              <a:r>
                <a:rPr lang="zh-CN" altLang="en-US" sz="2800" b="1">
                  <a:solidFill>
                    <a:schemeClr val="bg2"/>
                  </a:solidFill>
                  <a:ea typeface="楷体_GB2312" pitchFamily="49" charset="-122"/>
                </a:rPr>
                <a:t>撤消队列</a:t>
              </a:r>
            </a:p>
          </p:txBody>
        </p:sp>
        <p:sp>
          <p:nvSpPr>
            <p:cNvPr id="455692" name="AutoShape 12"/>
            <p:cNvSpPr>
              <a:spLocks noChangeArrowheads="1"/>
            </p:cNvSpPr>
            <p:nvPr/>
          </p:nvSpPr>
          <p:spPr bwMode="auto">
            <a:xfrm>
              <a:off x="748" y="2205"/>
              <a:ext cx="408" cy="364"/>
            </a:xfrm>
            <a:prstGeom prst="notchedRightArrow">
              <a:avLst>
                <a:gd name="adj1" fmla="val 50000"/>
                <a:gd name="adj2" fmla="val 28022"/>
              </a:avLst>
            </a:prstGeom>
            <a:gradFill rotWithShape="1">
              <a:gsLst>
                <a:gs pos="0">
                  <a:srgbClr val="CDE1FF"/>
                </a:gs>
                <a:gs pos="100000">
                  <a:srgbClr val="0066FF"/>
                </a:gs>
              </a:gsLst>
              <a:lin ang="0" scaled="1"/>
            </a:gradFill>
            <a:ln w="28575" cap="sq" algn="ctr">
              <a:solidFill>
                <a:schemeClr val="bg2"/>
              </a:solidFill>
              <a:miter lim="800000"/>
              <a:headEnd type="none" w="sm" len="sm"/>
              <a:tailEnd type="none" w="sm" len="sm"/>
            </a:ln>
            <a:effectLst>
              <a:outerShdw dist="35921" dir="2700000" algn="ctr" rotWithShape="0">
                <a:schemeClr val="bg2"/>
              </a:outerShdw>
            </a:effectLst>
          </p:spPr>
          <p:txBody>
            <a:bodyPr wrap="none" anchor="ctr"/>
            <a:lstStyle/>
            <a:p>
              <a:endParaRPr lang="zh-CN" altLang="en-US"/>
            </a:p>
          </p:txBody>
        </p:sp>
      </p:grpSp>
      <p:sp>
        <p:nvSpPr>
          <p:cNvPr id="455693" name="AutoShape 13"/>
          <p:cNvSpPr>
            <a:spLocks noChangeArrowheads="1"/>
          </p:cNvSpPr>
          <p:nvPr/>
        </p:nvSpPr>
        <p:spPr bwMode="auto">
          <a:xfrm>
            <a:off x="2916238" y="2347913"/>
            <a:ext cx="1008062" cy="576262"/>
          </a:xfrm>
          <a:prstGeom prst="notchedRightArrow">
            <a:avLst>
              <a:gd name="adj1" fmla="val 50000"/>
              <a:gd name="adj2" fmla="val 43733"/>
            </a:avLst>
          </a:prstGeom>
          <a:gradFill rotWithShape="1">
            <a:gsLst>
              <a:gs pos="0">
                <a:srgbClr val="FFF2BD"/>
              </a:gs>
              <a:gs pos="100000">
                <a:srgbClr val="FFCC00"/>
              </a:gs>
            </a:gsLst>
            <a:lin ang="0" scaled="1"/>
          </a:gradFill>
          <a:ln w="28575" cap="sq">
            <a:solidFill>
              <a:schemeClr val="bg2"/>
            </a:solidFill>
            <a:miter lim="800000"/>
            <a:headEnd type="none" w="sm" len="sm"/>
            <a:tailEnd type="none" w="sm" len="sm"/>
          </a:ln>
          <a:effectLst>
            <a:outerShdw dist="35921" dir="2700000" algn="ctr" rotWithShape="0">
              <a:schemeClr val="bg2"/>
            </a:outerShdw>
          </a:effectLst>
        </p:spPr>
        <p:txBody>
          <a:bodyPr wrap="none" anchor="ctr"/>
          <a:lstStyle/>
          <a:p>
            <a:endParaRPr lang="zh-CN" altLang="en-US"/>
          </a:p>
        </p:txBody>
      </p:sp>
      <p:sp>
        <p:nvSpPr>
          <p:cNvPr id="455697" name="AutoShape 17"/>
          <p:cNvSpPr>
            <a:spLocks noChangeArrowheads="1"/>
          </p:cNvSpPr>
          <p:nvPr/>
        </p:nvSpPr>
        <p:spPr bwMode="auto">
          <a:xfrm>
            <a:off x="5219700" y="2563813"/>
            <a:ext cx="2089150" cy="647700"/>
          </a:xfrm>
          <a:prstGeom prst="notchedRightArrow">
            <a:avLst>
              <a:gd name="adj1" fmla="val 50000"/>
              <a:gd name="adj2" fmla="val 80637"/>
            </a:avLst>
          </a:prstGeom>
          <a:gradFill rotWithShape="1">
            <a:gsLst>
              <a:gs pos="0">
                <a:srgbClr val="B9E8FF"/>
              </a:gs>
              <a:gs pos="100000">
                <a:srgbClr val="66CCFF"/>
              </a:gs>
            </a:gsLst>
            <a:lin ang="0" scaled="1"/>
          </a:gradFill>
          <a:ln w="28575" cap="sq">
            <a:solidFill>
              <a:schemeClr val="bg2"/>
            </a:solidFill>
            <a:miter lim="800000"/>
            <a:headEnd type="none" w="sm" len="sm"/>
            <a:tailEnd type="none" w="sm" len="sm"/>
          </a:ln>
          <a:effectLst>
            <a:outerShdw dist="35921" dir="2700000" algn="ctr" rotWithShape="0">
              <a:schemeClr val="bg2"/>
            </a:outerShdw>
          </a:effectLst>
        </p:spPr>
        <p:txBody>
          <a:bodyPr wrap="none" anchor="ctr"/>
          <a:lstStyle/>
          <a:p>
            <a:endParaRPr lang="zh-CN" altLang="en-US"/>
          </a:p>
        </p:txBody>
      </p:sp>
      <p:sp>
        <p:nvSpPr>
          <p:cNvPr id="455703" name="Text Box 23"/>
          <p:cNvSpPr txBox="1">
            <a:spLocks noChangeArrowheads="1"/>
          </p:cNvSpPr>
          <p:nvPr/>
        </p:nvSpPr>
        <p:spPr bwMode="auto">
          <a:xfrm>
            <a:off x="5364163" y="1447800"/>
            <a:ext cx="1871662" cy="118745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2"/>
                </a:solidFill>
                <a:miter lim="800000"/>
                <a:headEnd type="none" w="sm" len="sm"/>
                <a:tailEnd type="none" w="sm" len="sm"/>
              </a14:hiddenLine>
            </a:ext>
          </a:extLst>
        </p:spPr>
        <p:txBody>
          <a:bodyPr>
            <a:spAutoFit/>
          </a:bodyPr>
          <a:lstStyle/>
          <a:p>
            <a:r>
              <a:rPr lang="zh-CN" altLang="en-US" sz="2400" b="1">
                <a:solidFill>
                  <a:srgbClr val="003399"/>
                </a:solidFill>
                <a:latin typeface="楷体_GB2312" pitchFamily="49" charset="-122"/>
                <a:ea typeface="楷体_GB2312" pitchFamily="49" charset="-122"/>
              </a:rPr>
              <a:t>重新执行日志文件登记的操作 </a:t>
            </a:r>
          </a:p>
        </p:txBody>
      </p:sp>
      <p:sp>
        <p:nvSpPr>
          <p:cNvPr id="455709" name="Text Box 29"/>
          <p:cNvSpPr txBox="1">
            <a:spLocks noChangeArrowheads="1"/>
          </p:cNvSpPr>
          <p:nvPr/>
        </p:nvSpPr>
        <p:spPr bwMode="auto">
          <a:xfrm>
            <a:off x="4211638" y="4051300"/>
            <a:ext cx="863600" cy="2041525"/>
          </a:xfrm>
          <a:prstGeom prst="rect">
            <a:avLst/>
          </a:prstGeom>
          <a:solidFill>
            <a:srgbClr val="FF81DE"/>
          </a:solidFill>
          <a:ln w="28575" cap="sq">
            <a:solidFill>
              <a:schemeClr val="bg2"/>
            </a:solidFill>
            <a:miter lim="800000"/>
            <a:headEnd type="none" w="sm" len="sm"/>
            <a:tailEnd type="none" w="sm" len="sm"/>
          </a:ln>
          <a:effectLst>
            <a:outerShdw dist="35921" dir="2700000" algn="ctr" rotWithShape="0">
              <a:schemeClr val="bg2"/>
            </a:outerShdw>
          </a:effectLst>
        </p:spPr>
        <p:txBody>
          <a:bodyPr lIns="18000" tIns="10800" rIns="18000" bIns="10800" anchor="ctr" anchorCtr="1"/>
          <a:lstStyle/>
          <a:p>
            <a:r>
              <a:rPr lang="zh-CN" altLang="en-US" sz="2600" b="1">
                <a:solidFill>
                  <a:schemeClr val="bg2"/>
                </a:solidFill>
                <a:effectLst>
                  <a:outerShdw blurRad="38100" dist="38100" dir="2700000" algn="tl">
                    <a:srgbClr val="000000"/>
                  </a:outerShdw>
                </a:effectLst>
                <a:ea typeface="楷体_GB2312" pitchFamily="49" charset="-122"/>
              </a:rPr>
              <a:t>反向扫描日志文件</a:t>
            </a:r>
          </a:p>
        </p:txBody>
      </p:sp>
      <p:sp>
        <p:nvSpPr>
          <p:cNvPr id="455710" name="Text Box 30"/>
          <p:cNvSpPr txBox="1">
            <a:spLocks noChangeArrowheads="1"/>
          </p:cNvSpPr>
          <p:nvPr/>
        </p:nvSpPr>
        <p:spPr bwMode="auto">
          <a:xfrm>
            <a:off x="7524750" y="4267200"/>
            <a:ext cx="935038" cy="1562100"/>
          </a:xfrm>
          <a:prstGeom prst="rect">
            <a:avLst/>
          </a:prstGeom>
          <a:solidFill>
            <a:srgbClr val="66FF33"/>
          </a:solidFill>
          <a:ln w="28575" cap="sq">
            <a:solidFill>
              <a:schemeClr val="bg2"/>
            </a:solidFill>
            <a:miter lim="800000"/>
            <a:headEnd type="none" w="sm" len="sm"/>
            <a:tailEnd type="none" w="sm" len="sm"/>
          </a:ln>
          <a:effectLst>
            <a:outerShdw dist="35921" dir="2700000" algn="ctr" rotWithShape="0">
              <a:schemeClr val="bg2"/>
            </a:outerShdw>
          </a:effectLst>
        </p:spPr>
        <p:txBody>
          <a:bodyPr anchor="ctr" anchorCtr="1"/>
          <a:lstStyle/>
          <a:p>
            <a:pPr algn="ctr"/>
            <a:r>
              <a:rPr lang="zh-CN" altLang="en-US" sz="3200" b="1">
                <a:solidFill>
                  <a:schemeClr val="bg2"/>
                </a:solidFill>
                <a:effectLst>
                  <a:outerShdw blurRad="38100" dist="38100" dir="2700000" algn="tl">
                    <a:srgbClr val="000000"/>
                  </a:outerShdw>
                </a:effectLst>
                <a:ea typeface="楷体_GB2312" pitchFamily="49" charset="-122"/>
              </a:rPr>
              <a:t>撤销</a:t>
            </a:r>
          </a:p>
        </p:txBody>
      </p:sp>
      <p:sp>
        <p:nvSpPr>
          <p:cNvPr id="455711" name="AutoShape 31"/>
          <p:cNvSpPr>
            <a:spLocks noChangeArrowheads="1"/>
          </p:cNvSpPr>
          <p:nvPr/>
        </p:nvSpPr>
        <p:spPr bwMode="auto">
          <a:xfrm>
            <a:off x="2987675" y="4843463"/>
            <a:ext cx="1008063" cy="576262"/>
          </a:xfrm>
          <a:prstGeom prst="notchedRightArrow">
            <a:avLst>
              <a:gd name="adj1" fmla="val 50000"/>
              <a:gd name="adj2" fmla="val 43733"/>
            </a:avLst>
          </a:prstGeom>
          <a:gradFill rotWithShape="1">
            <a:gsLst>
              <a:gs pos="0">
                <a:srgbClr val="FFD9F5"/>
              </a:gs>
              <a:gs pos="100000">
                <a:srgbClr val="FF33CC"/>
              </a:gs>
            </a:gsLst>
            <a:lin ang="0" scaled="1"/>
          </a:gradFill>
          <a:ln w="28575" cap="sq">
            <a:solidFill>
              <a:schemeClr val="bg2"/>
            </a:solidFill>
            <a:miter lim="800000"/>
            <a:headEnd type="none" w="sm" len="sm"/>
            <a:tailEnd type="none" w="sm" len="sm"/>
          </a:ln>
          <a:effectLst>
            <a:outerShdw dist="35921" dir="2700000" algn="ctr" rotWithShape="0">
              <a:schemeClr val="bg2"/>
            </a:outerShdw>
          </a:effectLst>
        </p:spPr>
        <p:txBody>
          <a:bodyPr wrap="none" anchor="ctr"/>
          <a:lstStyle/>
          <a:p>
            <a:endParaRPr lang="zh-CN" altLang="en-US"/>
          </a:p>
        </p:txBody>
      </p:sp>
      <p:sp>
        <p:nvSpPr>
          <p:cNvPr id="455712" name="AutoShape 32"/>
          <p:cNvSpPr>
            <a:spLocks noChangeArrowheads="1"/>
          </p:cNvSpPr>
          <p:nvPr/>
        </p:nvSpPr>
        <p:spPr bwMode="auto">
          <a:xfrm>
            <a:off x="5291138" y="5059363"/>
            <a:ext cx="2089150" cy="647700"/>
          </a:xfrm>
          <a:prstGeom prst="notchedRightArrow">
            <a:avLst>
              <a:gd name="adj1" fmla="val 50000"/>
              <a:gd name="adj2" fmla="val 80637"/>
            </a:avLst>
          </a:prstGeom>
          <a:gradFill rotWithShape="1">
            <a:gsLst>
              <a:gs pos="0">
                <a:srgbClr val="E2FFD9"/>
              </a:gs>
              <a:gs pos="100000">
                <a:srgbClr val="9CFF7D"/>
              </a:gs>
            </a:gsLst>
            <a:lin ang="0" scaled="1"/>
          </a:gradFill>
          <a:ln w="28575" cap="sq">
            <a:solidFill>
              <a:schemeClr val="bg2"/>
            </a:solidFill>
            <a:miter lim="800000"/>
            <a:headEnd type="none" w="sm" len="sm"/>
            <a:tailEnd type="none" w="sm" len="sm"/>
          </a:ln>
          <a:effectLst>
            <a:outerShdw dist="35921" dir="2700000" algn="ctr" rotWithShape="0">
              <a:schemeClr val="bg2"/>
            </a:outerShdw>
          </a:effectLst>
        </p:spPr>
        <p:txBody>
          <a:bodyPr wrap="none" anchor="ctr"/>
          <a:lstStyle/>
          <a:p>
            <a:endParaRPr lang="zh-CN" altLang="en-US"/>
          </a:p>
        </p:txBody>
      </p:sp>
      <p:sp>
        <p:nvSpPr>
          <p:cNvPr id="455713" name="Text Box 33"/>
          <p:cNvSpPr txBox="1">
            <a:spLocks noChangeArrowheads="1"/>
          </p:cNvSpPr>
          <p:nvPr/>
        </p:nvSpPr>
        <p:spPr bwMode="auto">
          <a:xfrm>
            <a:off x="5435600" y="3943350"/>
            <a:ext cx="1871663" cy="118745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2"/>
                </a:solidFill>
                <a:miter lim="800000"/>
                <a:headEnd type="none" w="sm" len="sm"/>
                <a:tailEnd type="none" w="sm" len="sm"/>
              </a14:hiddenLine>
            </a:ext>
          </a:extLst>
        </p:spPr>
        <p:txBody>
          <a:bodyPr>
            <a:spAutoFit/>
          </a:bodyPr>
          <a:lstStyle/>
          <a:p>
            <a:r>
              <a:rPr lang="zh-CN" altLang="en-US" sz="2400" b="1">
                <a:solidFill>
                  <a:srgbClr val="008000"/>
                </a:solidFill>
                <a:latin typeface="楷体_GB2312" pitchFamily="49" charset="-122"/>
                <a:ea typeface="楷体_GB2312" pitchFamily="49" charset="-122"/>
              </a:rPr>
              <a:t>对每个</a:t>
            </a:r>
            <a:r>
              <a:rPr lang="en-US" altLang="zh-CN" sz="2400" b="1">
                <a:solidFill>
                  <a:srgbClr val="008000"/>
                </a:solidFill>
                <a:latin typeface="楷体_GB2312" pitchFamily="49" charset="-122"/>
                <a:ea typeface="楷体_GB2312" pitchFamily="49" charset="-122"/>
              </a:rPr>
              <a:t>Undo</a:t>
            </a:r>
            <a:r>
              <a:rPr lang="zh-CN" altLang="en-US" sz="2400" b="1">
                <a:solidFill>
                  <a:srgbClr val="008000"/>
                </a:solidFill>
                <a:latin typeface="楷体_GB2312" pitchFamily="49" charset="-122"/>
                <a:ea typeface="楷体_GB2312" pitchFamily="49" charset="-122"/>
              </a:rPr>
              <a:t>事务执行逆操作</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8041"/>
    </mc:Choice>
    <mc:Fallback xmlns="">
      <p:transition spd="slow" advTm="1804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55702"/>
                                        </p:tgtEl>
                                        <p:attrNameLst>
                                          <p:attrName>style.visibility</p:attrName>
                                        </p:attrNameLst>
                                      </p:cBhvr>
                                      <p:to>
                                        <p:strVal val="visible"/>
                                      </p:to>
                                    </p:set>
                                    <p:animEffect transition="in" filter="wipe(left)">
                                      <p:cBhvr>
                                        <p:cTn id="7" dur="500"/>
                                        <p:tgtEl>
                                          <p:spTgt spid="45570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55693"/>
                                        </p:tgtEl>
                                        <p:attrNameLst>
                                          <p:attrName>style.visibility</p:attrName>
                                        </p:attrNameLst>
                                      </p:cBhvr>
                                      <p:to>
                                        <p:strVal val="visible"/>
                                      </p:to>
                                    </p:set>
                                    <p:animEffect transition="in" filter="wipe(left)">
                                      <p:cBhvr>
                                        <p:cTn id="12" dur="500"/>
                                        <p:tgtEl>
                                          <p:spTgt spid="455693"/>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455690"/>
                                        </p:tgtEl>
                                        <p:attrNameLst>
                                          <p:attrName>style.visibility</p:attrName>
                                        </p:attrNameLst>
                                      </p:cBhvr>
                                      <p:to>
                                        <p:strVal val="visible"/>
                                      </p:to>
                                    </p:set>
                                    <p:animEffect transition="in" filter="wipe(left)">
                                      <p:cBhvr>
                                        <p:cTn id="16" dur="500"/>
                                        <p:tgtEl>
                                          <p:spTgt spid="45569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55697"/>
                                        </p:tgtEl>
                                        <p:attrNameLst>
                                          <p:attrName>style.visibility</p:attrName>
                                        </p:attrNameLst>
                                      </p:cBhvr>
                                      <p:to>
                                        <p:strVal val="visible"/>
                                      </p:to>
                                    </p:set>
                                    <p:animEffect transition="in" filter="wipe(left)">
                                      <p:cBhvr>
                                        <p:cTn id="21" dur="500"/>
                                        <p:tgtEl>
                                          <p:spTgt spid="455697"/>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455691"/>
                                        </p:tgtEl>
                                        <p:attrNameLst>
                                          <p:attrName>style.visibility</p:attrName>
                                        </p:attrNameLst>
                                      </p:cBhvr>
                                      <p:to>
                                        <p:strVal val="visible"/>
                                      </p:to>
                                    </p:set>
                                    <p:animEffect transition="in" filter="wipe(left)">
                                      <p:cBhvr>
                                        <p:cTn id="25" dur="500"/>
                                        <p:tgtEl>
                                          <p:spTgt spid="45569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455703"/>
                                        </p:tgtEl>
                                        <p:attrNameLst>
                                          <p:attrName>style.visibility</p:attrName>
                                        </p:attrNameLst>
                                      </p:cBhvr>
                                      <p:to>
                                        <p:strVal val="visible"/>
                                      </p:to>
                                    </p:set>
                                    <p:animEffect transition="in" filter="wipe(up)">
                                      <p:cBhvr>
                                        <p:cTn id="30" dur="500"/>
                                        <p:tgtEl>
                                          <p:spTgt spid="45570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455711"/>
                                        </p:tgtEl>
                                        <p:attrNameLst>
                                          <p:attrName>style.visibility</p:attrName>
                                        </p:attrNameLst>
                                      </p:cBhvr>
                                      <p:to>
                                        <p:strVal val="visible"/>
                                      </p:to>
                                    </p:set>
                                    <p:animEffect transition="in" filter="wipe(left)">
                                      <p:cBhvr>
                                        <p:cTn id="35" dur="500"/>
                                        <p:tgtEl>
                                          <p:spTgt spid="455711"/>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455709"/>
                                        </p:tgtEl>
                                        <p:attrNameLst>
                                          <p:attrName>style.visibility</p:attrName>
                                        </p:attrNameLst>
                                      </p:cBhvr>
                                      <p:to>
                                        <p:strVal val="visible"/>
                                      </p:to>
                                    </p:set>
                                    <p:animEffect transition="in" filter="wipe(left)">
                                      <p:cBhvr>
                                        <p:cTn id="39" dur="500"/>
                                        <p:tgtEl>
                                          <p:spTgt spid="455709"/>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455712"/>
                                        </p:tgtEl>
                                        <p:attrNameLst>
                                          <p:attrName>style.visibility</p:attrName>
                                        </p:attrNameLst>
                                      </p:cBhvr>
                                      <p:to>
                                        <p:strVal val="visible"/>
                                      </p:to>
                                    </p:set>
                                    <p:animEffect transition="in" filter="wipe(left)">
                                      <p:cBhvr>
                                        <p:cTn id="44" dur="500"/>
                                        <p:tgtEl>
                                          <p:spTgt spid="455712"/>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455710"/>
                                        </p:tgtEl>
                                        <p:attrNameLst>
                                          <p:attrName>style.visibility</p:attrName>
                                        </p:attrNameLst>
                                      </p:cBhvr>
                                      <p:to>
                                        <p:strVal val="visible"/>
                                      </p:to>
                                    </p:set>
                                    <p:animEffect transition="in" filter="wipe(left)">
                                      <p:cBhvr>
                                        <p:cTn id="48" dur="500"/>
                                        <p:tgtEl>
                                          <p:spTgt spid="45571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455713"/>
                                        </p:tgtEl>
                                        <p:attrNameLst>
                                          <p:attrName>style.visibility</p:attrName>
                                        </p:attrNameLst>
                                      </p:cBhvr>
                                      <p:to>
                                        <p:strVal val="visible"/>
                                      </p:to>
                                    </p:set>
                                    <p:animEffect transition="in" filter="wipe(up)">
                                      <p:cBhvr>
                                        <p:cTn id="53" dur="500"/>
                                        <p:tgtEl>
                                          <p:spTgt spid="4557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5690" grpId="0" animBg="1"/>
      <p:bldP spid="455691" grpId="0" animBg="1"/>
      <p:bldP spid="455703" grpId="0"/>
      <p:bldP spid="455709" grpId="0" animBg="1"/>
      <p:bldP spid="455710" grpId="0" animBg="1"/>
      <p:bldP spid="45571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三、恢复策略</a:t>
            </a:r>
          </a:p>
        </p:txBody>
      </p:sp>
      <p:sp>
        <p:nvSpPr>
          <p:cNvPr id="509955" name="Rectangle 3"/>
          <p:cNvSpPr>
            <a:spLocks noChangeArrowheads="1"/>
          </p:cNvSpPr>
          <p:nvPr/>
        </p:nvSpPr>
        <p:spPr bwMode="auto">
          <a:xfrm>
            <a:off x="611188" y="1187450"/>
            <a:ext cx="80645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3</a:t>
            </a:r>
            <a:r>
              <a:rPr lang="zh-CN" altLang="en-US" sz="3200">
                <a:solidFill>
                  <a:srgbClr val="660033"/>
                </a:solidFill>
                <a:ea typeface="华文新魏" panose="02010800040101010101" pitchFamily="2" charset="-122"/>
              </a:rPr>
              <a:t>、介质故障的恢复</a:t>
            </a:r>
          </a:p>
        </p:txBody>
      </p:sp>
      <p:sp>
        <p:nvSpPr>
          <p:cNvPr id="509956" name="AutoShape 4"/>
          <p:cNvSpPr>
            <a:spLocks noChangeArrowheads="1"/>
          </p:cNvSpPr>
          <p:nvPr/>
        </p:nvSpPr>
        <p:spPr bwMode="auto">
          <a:xfrm>
            <a:off x="611188" y="2060575"/>
            <a:ext cx="7848600" cy="4392613"/>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20000"/>
              </a:lnSpc>
              <a:spcBef>
                <a:spcPct val="20000"/>
              </a:spcBef>
              <a:buClr>
                <a:schemeClr val="folHlink"/>
              </a:buClr>
              <a:buSzPct val="60000"/>
              <a:buFont typeface="Wingdings" panose="05000000000000000000" pitchFamily="2" charset="2"/>
              <a:buNone/>
            </a:pPr>
            <a:r>
              <a:rPr lang="zh-CN" altLang="en-US" sz="2800" b="1">
                <a:latin typeface="Tahoma" panose="020B0604030504040204" pitchFamily="34" charset="0"/>
                <a:ea typeface="楷体_GB2312" pitchFamily="49" charset="-122"/>
              </a:rPr>
              <a:t>      </a:t>
            </a:r>
            <a:r>
              <a:rPr lang="zh-CN" altLang="en-US" sz="2800" b="1">
                <a:solidFill>
                  <a:srgbClr val="0000FF"/>
                </a:solidFill>
                <a:latin typeface="Tahoma" panose="020B0604030504040204" pitchFamily="34" charset="0"/>
                <a:ea typeface="楷体_GB2312" pitchFamily="49" charset="-122"/>
              </a:rPr>
              <a:t>介质故障</a:t>
            </a:r>
            <a:r>
              <a:rPr lang="zh-CN" altLang="en-US" sz="2800" b="1">
                <a:latin typeface="Tahoma" panose="020B0604030504040204" pitchFamily="34" charset="0"/>
                <a:ea typeface="楷体_GB2312" pitchFamily="49" charset="-122"/>
              </a:rPr>
              <a:t>指数据库在运行过程中，由于磁盘损坏引起磁盘内容读不出来的一类故障。</a:t>
            </a:r>
          </a:p>
          <a:p>
            <a:pPr>
              <a:lnSpc>
                <a:spcPct val="120000"/>
              </a:lnSpc>
              <a:spcBef>
                <a:spcPct val="20000"/>
              </a:spcBef>
              <a:buClr>
                <a:schemeClr val="folHlink"/>
              </a:buClr>
              <a:buSzPct val="60000"/>
              <a:buFont typeface="Wingdings" panose="05000000000000000000" pitchFamily="2" charset="2"/>
              <a:buNone/>
            </a:pPr>
            <a:r>
              <a:rPr lang="zh-CN" altLang="en-US" sz="2800" b="1">
                <a:latin typeface="Tahoma" panose="020B0604030504040204" pitchFamily="34" charset="0"/>
                <a:ea typeface="楷体_GB2312" pitchFamily="49" charset="-122"/>
              </a:rPr>
              <a:t>  （</a:t>
            </a:r>
            <a:r>
              <a:rPr lang="en-US" altLang="zh-CN" sz="2800" b="1">
                <a:latin typeface="Tahoma" panose="020B0604030504040204" pitchFamily="34" charset="0"/>
                <a:ea typeface="楷体_GB2312" pitchFamily="49" charset="-122"/>
              </a:rPr>
              <a:t>1</a:t>
            </a:r>
            <a:r>
              <a:rPr lang="zh-CN" altLang="en-US" sz="2800" b="1">
                <a:latin typeface="Tahoma" panose="020B0604030504040204" pitchFamily="34" charset="0"/>
                <a:ea typeface="楷体_GB2312" pitchFamily="49" charset="-122"/>
              </a:rPr>
              <a:t>）结果：破坏数据库或部分数据库，并影响正在存取这部分数据的所有事务。</a:t>
            </a:r>
          </a:p>
          <a:p>
            <a:pPr>
              <a:lnSpc>
                <a:spcPct val="120000"/>
              </a:lnSpc>
              <a:spcBef>
                <a:spcPct val="20000"/>
              </a:spcBef>
              <a:buClr>
                <a:schemeClr val="folHlink"/>
              </a:buClr>
              <a:buSzPct val="60000"/>
              <a:buFont typeface="Wingdings" panose="05000000000000000000" pitchFamily="2" charset="2"/>
              <a:buNone/>
            </a:pPr>
            <a:r>
              <a:rPr lang="zh-CN" altLang="en-US" sz="2800" b="1">
                <a:latin typeface="Tahoma" panose="020B0604030504040204" pitchFamily="34" charset="0"/>
                <a:ea typeface="楷体_GB2312" pitchFamily="49" charset="-122"/>
              </a:rPr>
              <a:t>  （</a:t>
            </a:r>
            <a:r>
              <a:rPr lang="en-US" altLang="zh-CN" sz="2800" b="1">
                <a:latin typeface="Tahoma" panose="020B0604030504040204" pitchFamily="34" charset="0"/>
                <a:ea typeface="楷体_GB2312" pitchFamily="49" charset="-122"/>
              </a:rPr>
              <a:t>2</a:t>
            </a:r>
            <a:r>
              <a:rPr lang="zh-CN" altLang="en-US" sz="2800" b="1">
                <a:latin typeface="Tahoma" panose="020B0604030504040204" pitchFamily="34" charset="0"/>
                <a:ea typeface="楷体_GB2312" pitchFamily="49" charset="-122"/>
              </a:rPr>
              <a:t>）恢复策略：</a:t>
            </a:r>
          </a:p>
          <a:p>
            <a:pPr>
              <a:lnSpc>
                <a:spcPct val="120000"/>
              </a:lnSpc>
              <a:spcBef>
                <a:spcPct val="20000"/>
              </a:spcBef>
              <a:buClr>
                <a:schemeClr val="folHlink"/>
              </a:buClr>
              <a:buSzPct val="60000"/>
              <a:buFont typeface="Wingdings" panose="05000000000000000000" pitchFamily="2" charset="2"/>
              <a:buNone/>
            </a:pPr>
            <a:r>
              <a:rPr lang="zh-CN" altLang="en-US" sz="2800" b="1">
                <a:latin typeface="Tahoma" panose="020B0604030504040204" pitchFamily="34" charset="0"/>
                <a:ea typeface="楷体_GB2312" pitchFamily="49" charset="-122"/>
              </a:rPr>
              <a:t>   </a:t>
            </a:r>
            <a:r>
              <a:rPr lang="zh-CN" altLang="en-US" sz="2800" b="1">
                <a:solidFill>
                  <a:srgbClr val="CC0000"/>
                </a:solidFill>
                <a:effectLst>
                  <a:outerShdw blurRad="38100" dist="38100" dir="2700000" algn="tl">
                    <a:srgbClr val="C0C0C0"/>
                  </a:outerShdw>
                </a:effectLst>
                <a:latin typeface="Tahoma" panose="020B0604030504040204" pitchFamily="34" charset="0"/>
                <a:ea typeface="楷体_GB2312" pitchFamily="49" charset="-122"/>
              </a:rPr>
              <a:t>● </a:t>
            </a:r>
            <a:r>
              <a:rPr lang="zh-CN" altLang="en-US" sz="2800" b="1">
                <a:solidFill>
                  <a:srgbClr val="CC00CC"/>
                </a:solidFill>
                <a:latin typeface="Tahoma" panose="020B0604030504040204" pitchFamily="34" charset="0"/>
                <a:ea typeface="楷体_GB2312" pitchFamily="49" charset="-122"/>
              </a:rPr>
              <a:t>重装数据库，重做已完成事务。</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7368"/>
    </mc:Choice>
    <mc:Fallback xmlns="">
      <p:transition spd="slow" advTm="2736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09955"/>
                                        </p:tgtEl>
                                        <p:attrNameLst>
                                          <p:attrName>style.visibility</p:attrName>
                                        </p:attrNameLst>
                                      </p:cBhvr>
                                      <p:to>
                                        <p:strVal val="visible"/>
                                      </p:to>
                                    </p:set>
                                    <p:animEffect transition="in" filter="wipe(left)">
                                      <p:cBhvr>
                                        <p:cTn id="7" dur="1000"/>
                                        <p:tgtEl>
                                          <p:spTgt spid="5099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09956">
                                            <p:bg/>
                                          </p:spTgt>
                                        </p:tgtEl>
                                        <p:attrNameLst>
                                          <p:attrName>style.visibility</p:attrName>
                                        </p:attrNameLst>
                                      </p:cBhvr>
                                      <p:to>
                                        <p:strVal val="visible"/>
                                      </p:to>
                                    </p:set>
                                    <p:animEffect transition="in" filter="wipe(up)">
                                      <p:cBhvr>
                                        <p:cTn id="12" dur="500"/>
                                        <p:tgtEl>
                                          <p:spTgt spid="509956">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09956">
                                            <p:txEl>
                                              <p:pRg st="0" end="0"/>
                                            </p:txEl>
                                          </p:spTgt>
                                        </p:tgtEl>
                                        <p:attrNameLst>
                                          <p:attrName>style.visibility</p:attrName>
                                        </p:attrNameLst>
                                      </p:cBhvr>
                                      <p:to>
                                        <p:strVal val="visible"/>
                                      </p:to>
                                    </p:set>
                                    <p:animEffect transition="in" filter="wipe(up)">
                                      <p:cBhvr>
                                        <p:cTn id="17" dur="500"/>
                                        <p:tgtEl>
                                          <p:spTgt spid="50995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09956">
                                            <p:txEl>
                                              <p:pRg st="1" end="1"/>
                                            </p:txEl>
                                          </p:spTgt>
                                        </p:tgtEl>
                                        <p:attrNameLst>
                                          <p:attrName>style.visibility</p:attrName>
                                        </p:attrNameLst>
                                      </p:cBhvr>
                                      <p:to>
                                        <p:strVal val="visible"/>
                                      </p:to>
                                    </p:set>
                                    <p:animEffect transition="in" filter="wipe(up)">
                                      <p:cBhvr>
                                        <p:cTn id="22" dur="500"/>
                                        <p:tgtEl>
                                          <p:spTgt spid="50995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09956">
                                            <p:txEl>
                                              <p:pRg st="2" end="2"/>
                                            </p:txEl>
                                          </p:spTgt>
                                        </p:tgtEl>
                                        <p:attrNameLst>
                                          <p:attrName>style.visibility</p:attrName>
                                        </p:attrNameLst>
                                      </p:cBhvr>
                                      <p:to>
                                        <p:strVal val="visible"/>
                                      </p:to>
                                    </p:set>
                                    <p:animEffect transition="in" filter="wipe(up)">
                                      <p:cBhvr>
                                        <p:cTn id="27" dur="500"/>
                                        <p:tgtEl>
                                          <p:spTgt spid="509956">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09956">
                                            <p:txEl>
                                              <p:pRg st="3" end="3"/>
                                            </p:txEl>
                                          </p:spTgt>
                                        </p:tgtEl>
                                        <p:attrNameLst>
                                          <p:attrName>style.visibility</p:attrName>
                                        </p:attrNameLst>
                                      </p:cBhvr>
                                      <p:to>
                                        <p:strVal val="visible"/>
                                      </p:to>
                                    </p:set>
                                    <p:animEffect transition="in" filter="wipe(up)">
                                      <p:cBhvr>
                                        <p:cTn id="32" dur="500"/>
                                        <p:tgtEl>
                                          <p:spTgt spid="50995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9955" grpId="0"/>
      <p:bldP spid="509956" grpId="0" build="p"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三、恢复策略</a:t>
            </a:r>
          </a:p>
        </p:txBody>
      </p:sp>
      <p:sp>
        <p:nvSpPr>
          <p:cNvPr id="457733" name="Rectangle 5"/>
          <p:cNvSpPr>
            <a:spLocks noChangeArrowheads="1"/>
          </p:cNvSpPr>
          <p:nvPr/>
        </p:nvSpPr>
        <p:spPr bwMode="auto">
          <a:xfrm>
            <a:off x="611188" y="1187450"/>
            <a:ext cx="80645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3</a:t>
            </a:r>
            <a:r>
              <a:rPr lang="zh-CN" altLang="en-US" sz="3200">
                <a:solidFill>
                  <a:srgbClr val="660033"/>
                </a:solidFill>
                <a:ea typeface="华文新魏" panose="02010800040101010101" pitchFamily="2" charset="-122"/>
              </a:rPr>
              <a:t>、介质故障的恢复</a:t>
            </a:r>
          </a:p>
        </p:txBody>
      </p:sp>
      <p:sp>
        <p:nvSpPr>
          <p:cNvPr id="457734" name="AutoShape 6"/>
          <p:cNvSpPr>
            <a:spLocks noChangeArrowheads="1"/>
          </p:cNvSpPr>
          <p:nvPr/>
        </p:nvSpPr>
        <p:spPr bwMode="auto">
          <a:xfrm>
            <a:off x="611188" y="2060575"/>
            <a:ext cx="7848600" cy="4392613"/>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25000"/>
              </a:spcBef>
              <a:buClr>
                <a:schemeClr val="folHlink"/>
              </a:buClr>
              <a:buSzPct val="60000"/>
              <a:buFont typeface="Wingdings" panose="05000000000000000000" pitchFamily="2" charset="2"/>
              <a:buNone/>
            </a:pPr>
            <a:r>
              <a:rPr lang="zh-CN" altLang="en-US" sz="2800" b="1">
                <a:solidFill>
                  <a:srgbClr val="FF0066"/>
                </a:solidFill>
                <a:latin typeface="Tahoma" panose="020B0604030504040204" pitchFamily="34" charset="0"/>
                <a:ea typeface="楷体_GB2312" pitchFamily="49" charset="-122"/>
              </a:rPr>
              <a:t>（</a:t>
            </a:r>
            <a:r>
              <a:rPr lang="en-US" altLang="zh-CN" sz="2800" b="1">
                <a:solidFill>
                  <a:srgbClr val="FF0066"/>
                </a:solidFill>
                <a:latin typeface="Tahoma" panose="020B0604030504040204" pitchFamily="34" charset="0"/>
                <a:ea typeface="楷体_GB2312" pitchFamily="49" charset="-122"/>
              </a:rPr>
              <a:t>3</a:t>
            </a:r>
            <a:r>
              <a:rPr lang="zh-CN" altLang="en-US" sz="2800" b="1">
                <a:solidFill>
                  <a:srgbClr val="FF0066"/>
                </a:solidFill>
                <a:latin typeface="Tahoma" panose="020B0604030504040204" pitchFamily="34" charset="0"/>
                <a:ea typeface="楷体_GB2312" pitchFamily="49" charset="-122"/>
              </a:rPr>
              <a:t>）恢复步骤：</a:t>
            </a:r>
          </a:p>
          <a:p>
            <a:pPr>
              <a:lnSpc>
                <a:spcPct val="110000"/>
              </a:lnSpc>
              <a:spcBef>
                <a:spcPct val="25000"/>
              </a:spcBef>
              <a:buClr>
                <a:schemeClr val="folHlink"/>
              </a:buClr>
              <a:buSzPct val="60000"/>
              <a:buFont typeface="Wingdings" panose="05000000000000000000" pitchFamily="2" charset="2"/>
              <a:buNone/>
            </a:pPr>
            <a:r>
              <a:rPr lang="zh-CN" altLang="en-US" sz="2800" b="1">
                <a:latin typeface="Tahoma" panose="020B0604030504040204" pitchFamily="34" charset="0"/>
                <a:ea typeface="楷体_GB2312" pitchFamily="49" charset="-122"/>
              </a:rPr>
              <a:t>     </a:t>
            </a:r>
            <a:r>
              <a:rPr lang="zh-CN" altLang="en-US" sz="2800" b="1">
                <a:effectLst>
                  <a:outerShdw blurRad="38100" dist="38100" dir="2700000" algn="tl">
                    <a:srgbClr val="C0C0C0"/>
                  </a:outerShdw>
                </a:effectLst>
                <a:latin typeface="Tahoma" panose="020B0604030504040204" pitchFamily="34" charset="0"/>
                <a:ea typeface="楷体_GB2312" pitchFamily="49" charset="-122"/>
              </a:rPr>
              <a:t>①装入故障发生时刻最近一次的</a:t>
            </a:r>
            <a:r>
              <a:rPr lang="zh-CN" altLang="en-US" sz="2800" b="1">
                <a:solidFill>
                  <a:srgbClr val="0000FF"/>
                </a:solidFill>
                <a:effectLst>
                  <a:outerShdw blurRad="38100" dist="38100" dir="2700000" algn="tl">
                    <a:srgbClr val="C0C0C0"/>
                  </a:outerShdw>
                </a:effectLst>
                <a:latin typeface="Tahoma" panose="020B0604030504040204" pitchFamily="34" charset="0"/>
                <a:ea typeface="楷体_GB2312" pitchFamily="49" charset="-122"/>
              </a:rPr>
              <a:t>数据库转储后援副本</a:t>
            </a:r>
            <a:r>
              <a:rPr lang="zh-CN" altLang="en-US" sz="2800" b="1">
                <a:effectLst>
                  <a:outerShdw blurRad="38100" dist="38100" dir="2700000" algn="tl">
                    <a:srgbClr val="C0C0C0"/>
                  </a:outerShdw>
                </a:effectLst>
                <a:latin typeface="Tahoma" panose="020B0604030504040204" pitchFamily="34" charset="0"/>
                <a:ea typeface="楷体_GB2312" pitchFamily="49" charset="-122"/>
              </a:rPr>
              <a:t>，使数据库恢复到最近一次转储时的一致性状态。</a:t>
            </a:r>
          </a:p>
          <a:p>
            <a:pPr>
              <a:lnSpc>
                <a:spcPct val="110000"/>
              </a:lnSpc>
              <a:spcBef>
                <a:spcPct val="25000"/>
              </a:spcBef>
              <a:buClr>
                <a:schemeClr val="folHlink"/>
              </a:buClr>
              <a:buSzPct val="60000"/>
              <a:buFont typeface="Wingdings" panose="05000000000000000000" pitchFamily="2" charset="2"/>
              <a:buNone/>
            </a:pPr>
            <a:r>
              <a:rPr lang="zh-CN" altLang="en-US" sz="2800" b="1">
                <a:effectLst>
                  <a:outerShdw blurRad="38100" dist="38100" dir="2700000" algn="tl">
                    <a:srgbClr val="C0C0C0"/>
                  </a:outerShdw>
                </a:effectLst>
                <a:latin typeface="Tahoma" panose="020B0604030504040204" pitchFamily="34" charset="0"/>
                <a:ea typeface="楷体_GB2312" pitchFamily="49" charset="-122"/>
              </a:rPr>
              <a:t>       对于动态转储的数据库后援副本，还须同时装入转储开始时刻的日志文件副本，利用恢复系统故障的方法（即</a:t>
            </a:r>
            <a:r>
              <a:rPr lang="en-US" altLang="zh-CN" sz="2800" b="1">
                <a:effectLst>
                  <a:outerShdw blurRad="38100" dist="38100" dir="2700000" algn="tl">
                    <a:srgbClr val="C0C0C0"/>
                  </a:outerShdw>
                </a:effectLst>
                <a:latin typeface="Tahoma" panose="020B0604030504040204" pitchFamily="34" charset="0"/>
                <a:ea typeface="楷体_GB2312" pitchFamily="49" charset="-122"/>
              </a:rPr>
              <a:t>Redo + Undo</a:t>
            </a:r>
            <a:r>
              <a:rPr lang="zh-CN" altLang="en-US" sz="2800" b="1">
                <a:effectLst>
                  <a:outerShdw blurRad="38100" dist="38100" dir="2700000" algn="tl">
                    <a:srgbClr val="C0C0C0"/>
                  </a:outerShdw>
                </a:effectLst>
                <a:latin typeface="Tahoma" panose="020B0604030504040204" pitchFamily="34" charset="0"/>
                <a:ea typeface="楷体_GB2312" pitchFamily="49" charset="-122"/>
              </a:rPr>
              <a:t>），才能将数据库恢复到一致性状态。</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4313"/>
    </mc:Choice>
    <mc:Fallback xmlns="">
      <p:transition spd="slow" advTm="4431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57734">
                                            <p:bg/>
                                          </p:spTgt>
                                        </p:tgtEl>
                                        <p:attrNameLst>
                                          <p:attrName>style.visibility</p:attrName>
                                        </p:attrNameLst>
                                      </p:cBhvr>
                                      <p:to>
                                        <p:strVal val="visible"/>
                                      </p:to>
                                    </p:set>
                                    <p:animEffect transition="in" filter="wipe(up)">
                                      <p:cBhvr>
                                        <p:cTn id="7" dur="500"/>
                                        <p:tgtEl>
                                          <p:spTgt spid="457734">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57734">
                                            <p:txEl>
                                              <p:pRg st="0" end="0"/>
                                            </p:txEl>
                                          </p:spTgt>
                                        </p:tgtEl>
                                        <p:attrNameLst>
                                          <p:attrName>style.visibility</p:attrName>
                                        </p:attrNameLst>
                                      </p:cBhvr>
                                      <p:to>
                                        <p:strVal val="visible"/>
                                      </p:to>
                                    </p:set>
                                    <p:animEffect transition="in" filter="wipe(up)">
                                      <p:cBhvr>
                                        <p:cTn id="12" dur="500"/>
                                        <p:tgtEl>
                                          <p:spTgt spid="45773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57734">
                                            <p:txEl>
                                              <p:pRg st="1" end="1"/>
                                            </p:txEl>
                                          </p:spTgt>
                                        </p:tgtEl>
                                        <p:attrNameLst>
                                          <p:attrName>style.visibility</p:attrName>
                                        </p:attrNameLst>
                                      </p:cBhvr>
                                      <p:to>
                                        <p:strVal val="visible"/>
                                      </p:to>
                                    </p:set>
                                    <p:animEffect transition="in" filter="wipe(up)">
                                      <p:cBhvr>
                                        <p:cTn id="17" dur="500"/>
                                        <p:tgtEl>
                                          <p:spTgt spid="45773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57734">
                                            <p:txEl>
                                              <p:pRg st="2" end="2"/>
                                            </p:txEl>
                                          </p:spTgt>
                                        </p:tgtEl>
                                        <p:attrNameLst>
                                          <p:attrName>style.visibility</p:attrName>
                                        </p:attrNameLst>
                                      </p:cBhvr>
                                      <p:to>
                                        <p:strVal val="visible"/>
                                      </p:to>
                                    </p:set>
                                    <p:animEffect transition="in" filter="wipe(up)">
                                      <p:cBhvr>
                                        <p:cTn id="22" dur="500"/>
                                        <p:tgtEl>
                                          <p:spTgt spid="45773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734" grpId="0" build="p"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2"/>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三、恢复策略</a:t>
            </a:r>
          </a:p>
        </p:txBody>
      </p:sp>
      <p:sp>
        <p:nvSpPr>
          <p:cNvPr id="515075" name="Rectangle 3"/>
          <p:cNvSpPr>
            <a:spLocks noChangeArrowheads="1"/>
          </p:cNvSpPr>
          <p:nvPr/>
        </p:nvSpPr>
        <p:spPr bwMode="auto">
          <a:xfrm>
            <a:off x="611188" y="1187450"/>
            <a:ext cx="80645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3</a:t>
            </a:r>
            <a:r>
              <a:rPr lang="zh-CN" altLang="en-US" sz="3200">
                <a:solidFill>
                  <a:srgbClr val="660033"/>
                </a:solidFill>
                <a:ea typeface="华文新魏" panose="02010800040101010101" pitchFamily="2" charset="-122"/>
              </a:rPr>
              <a:t>、介质故障的恢复</a:t>
            </a:r>
          </a:p>
        </p:txBody>
      </p:sp>
      <p:sp>
        <p:nvSpPr>
          <p:cNvPr id="515076" name="AutoShape 4"/>
          <p:cNvSpPr>
            <a:spLocks noChangeArrowheads="1"/>
          </p:cNvSpPr>
          <p:nvPr/>
        </p:nvSpPr>
        <p:spPr bwMode="auto">
          <a:xfrm>
            <a:off x="611188" y="2060575"/>
            <a:ext cx="7848600" cy="4608513"/>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25000"/>
              </a:spcBef>
              <a:buClr>
                <a:schemeClr val="folHlink"/>
              </a:buClr>
              <a:buSzPct val="60000"/>
              <a:buFont typeface="Wingdings" panose="05000000000000000000" pitchFamily="2" charset="2"/>
              <a:buNone/>
            </a:pPr>
            <a:r>
              <a:rPr lang="zh-CN" altLang="en-US" sz="2800" b="1">
                <a:solidFill>
                  <a:srgbClr val="FF0066"/>
                </a:solidFill>
                <a:latin typeface="Tahoma" panose="020B0604030504040204" pitchFamily="34" charset="0"/>
                <a:ea typeface="楷体_GB2312" pitchFamily="49" charset="-122"/>
              </a:rPr>
              <a:t>（</a:t>
            </a:r>
            <a:r>
              <a:rPr lang="en-US" altLang="zh-CN" sz="2800" b="1">
                <a:solidFill>
                  <a:srgbClr val="FF0066"/>
                </a:solidFill>
                <a:latin typeface="Tahoma" panose="020B0604030504040204" pitchFamily="34" charset="0"/>
                <a:ea typeface="楷体_GB2312" pitchFamily="49" charset="-122"/>
              </a:rPr>
              <a:t>3</a:t>
            </a:r>
            <a:r>
              <a:rPr lang="zh-CN" altLang="en-US" sz="2800" b="1">
                <a:solidFill>
                  <a:srgbClr val="FF0066"/>
                </a:solidFill>
                <a:latin typeface="Tahoma" panose="020B0604030504040204" pitchFamily="34" charset="0"/>
                <a:ea typeface="楷体_GB2312" pitchFamily="49" charset="-122"/>
              </a:rPr>
              <a:t>）恢复步骤：</a:t>
            </a:r>
          </a:p>
          <a:p>
            <a:pPr>
              <a:lnSpc>
                <a:spcPct val="110000"/>
              </a:lnSpc>
              <a:spcBef>
                <a:spcPct val="25000"/>
              </a:spcBef>
              <a:buClr>
                <a:schemeClr val="folHlink"/>
              </a:buClr>
              <a:buSzPct val="60000"/>
              <a:buFont typeface="Wingdings" panose="05000000000000000000" pitchFamily="2" charset="2"/>
              <a:buNone/>
            </a:pPr>
            <a:r>
              <a:rPr lang="zh-CN" altLang="en-US" sz="2800" b="1">
                <a:latin typeface="Tahoma" panose="020B0604030504040204" pitchFamily="34" charset="0"/>
                <a:ea typeface="楷体_GB2312" pitchFamily="49" charset="-122"/>
              </a:rPr>
              <a:t>     </a:t>
            </a:r>
            <a:r>
              <a:rPr lang="zh-CN" altLang="en-US" sz="2800" b="1">
                <a:effectLst>
                  <a:outerShdw blurRad="38100" dist="38100" dir="2700000" algn="tl">
                    <a:srgbClr val="C0C0C0"/>
                  </a:outerShdw>
                </a:effectLst>
                <a:latin typeface="Tahoma" panose="020B0604030504040204" pitchFamily="34" charset="0"/>
                <a:ea typeface="楷体_GB2312" pitchFamily="49" charset="-122"/>
              </a:rPr>
              <a:t>② 装入故障发生时刻最近一次的</a:t>
            </a:r>
            <a:r>
              <a:rPr lang="zh-CN" altLang="en-US" sz="2800" b="1">
                <a:solidFill>
                  <a:srgbClr val="0000FF"/>
                </a:solidFill>
                <a:effectLst>
                  <a:outerShdw blurRad="38100" dist="38100" dir="2700000" algn="tl">
                    <a:srgbClr val="C0C0C0"/>
                  </a:outerShdw>
                </a:effectLst>
                <a:latin typeface="Tahoma" panose="020B0604030504040204" pitchFamily="34" charset="0"/>
                <a:ea typeface="楷体_GB2312" pitchFamily="49" charset="-122"/>
              </a:rPr>
              <a:t>数据库日志文件副本</a:t>
            </a:r>
            <a:r>
              <a:rPr lang="zh-CN" altLang="en-US" sz="2800" b="1">
                <a:effectLst>
                  <a:outerShdw blurRad="38100" dist="38100" dir="2700000" algn="tl">
                    <a:srgbClr val="C0C0C0"/>
                  </a:outerShdw>
                </a:effectLst>
                <a:latin typeface="Tahoma" panose="020B0604030504040204" pitchFamily="34" charset="0"/>
                <a:ea typeface="楷体_GB2312" pitchFamily="49" charset="-122"/>
              </a:rPr>
              <a:t>，重做已完成的事务。</a:t>
            </a:r>
          </a:p>
          <a:p>
            <a:pPr>
              <a:lnSpc>
                <a:spcPct val="110000"/>
              </a:lnSpc>
              <a:spcBef>
                <a:spcPct val="25000"/>
              </a:spcBef>
              <a:buClr>
                <a:schemeClr val="folHlink"/>
              </a:buClr>
              <a:buSzPct val="60000"/>
              <a:buFont typeface="Wingdings" panose="05000000000000000000" pitchFamily="2" charset="2"/>
              <a:buNone/>
            </a:pPr>
            <a:r>
              <a:rPr lang="zh-CN" altLang="en-US" sz="2600" b="1">
                <a:effectLst>
                  <a:outerShdw blurRad="38100" dist="38100" dir="2700000" algn="tl">
                    <a:srgbClr val="C0C0C0"/>
                  </a:outerShdw>
                </a:effectLst>
                <a:latin typeface="Tahoma" panose="020B0604030504040204" pitchFamily="34" charset="0"/>
                <a:ea typeface="楷体_GB2312" pitchFamily="49" charset="-122"/>
              </a:rPr>
              <a:t>       即：首先扫描日志文件，找出故障发生时已提交的事务的标识，将其记入重做队列。</a:t>
            </a:r>
          </a:p>
          <a:p>
            <a:pPr>
              <a:lnSpc>
                <a:spcPct val="110000"/>
              </a:lnSpc>
              <a:spcBef>
                <a:spcPct val="25000"/>
              </a:spcBef>
              <a:buClr>
                <a:schemeClr val="folHlink"/>
              </a:buClr>
              <a:buSzPct val="60000"/>
              <a:buFont typeface="Wingdings" panose="05000000000000000000" pitchFamily="2" charset="2"/>
              <a:buNone/>
            </a:pPr>
            <a:r>
              <a:rPr lang="zh-CN" altLang="en-US" sz="2600" b="1">
                <a:effectLst>
                  <a:outerShdw blurRad="38100" dist="38100" dir="2700000" algn="tl">
                    <a:srgbClr val="C0C0C0"/>
                  </a:outerShdw>
                </a:effectLst>
                <a:latin typeface="Tahoma" panose="020B0604030504040204" pitchFamily="34" charset="0"/>
                <a:ea typeface="楷体_GB2312" pitchFamily="49" charset="-122"/>
              </a:rPr>
              <a:t>      然后正向扫描日志文件，对重做队列中的所有事务进行重做处理。</a:t>
            </a:r>
          </a:p>
          <a:p>
            <a:pPr>
              <a:lnSpc>
                <a:spcPct val="110000"/>
              </a:lnSpc>
              <a:spcBef>
                <a:spcPct val="25000"/>
              </a:spcBef>
              <a:buClr>
                <a:schemeClr val="folHlink"/>
              </a:buClr>
              <a:buSzPct val="60000"/>
              <a:buFont typeface="Wingdings" panose="05000000000000000000" pitchFamily="2" charset="2"/>
              <a:buNone/>
            </a:pPr>
            <a:r>
              <a:rPr lang="zh-CN" altLang="en-US" sz="2600" b="1">
                <a:effectLst>
                  <a:outerShdw blurRad="38100" dist="38100" dir="2700000" algn="tl">
                    <a:srgbClr val="C0C0C0"/>
                  </a:outerShdw>
                </a:effectLst>
                <a:latin typeface="Tahoma" panose="020B0604030504040204" pitchFamily="34" charset="0"/>
                <a:ea typeface="楷体_GB2312" pitchFamily="49" charset="-122"/>
              </a:rPr>
              <a:t>      这样就可以将数据库恢复至故障前某一时刻的一致状态了。</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6214"/>
    </mc:Choice>
    <mc:Fallback xmlns="">
      <p:transition spd="slow" advTm="2621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15076">
                                            <p:txEl>
                                              <p:pRg st="1" end="1"/>
                                            </p:txEl>
                                          </p:spTgt>
                                        </p:tgtEl>
                                        <p:attrNameLst>
                                          <p:attrName>style.visibility</p:attrName>
                                        </p:attrNameLst>
                                      </p:cBhvr>
                                      <p:to>
                                        <p:strVal val="visible"/>
                                      </p:to>
                                    </p:set>
                                    <p:animEffect transition="in" filter="wipe(up)">
                                      <p:cBhvr>
                                        <p:cTn id="7" dur="500"/>
                                        <p:tgtEl>
                                          <p:spTgt spid="51507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15076">
                                            <p:txEl>
                                              <p:pRg st="2" end="2"/>
                                            </p:txEl>
                                          </p:spTgt>
                                        </p:tgtEl>
                                        <p:attrNameLst>
                                          <p:attrName>style.visibility</p:attrName>
                                        </p:attrNameLst>
                                      </p:cBhvr>
                                      <p:to>
                                        <p:strVal val="visible"/>
                                      </p:to>
                                    </p:set>
                                    <p:animEffect transition="in" filter="wipe(up)">
                                      <p:cBhvr>
                                        <p:cTn id="12" dur="500"/>
                                        <p:tgtEl>
                                          <p:spTgt spid="51507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15076">
                                            <p:txEl>
                                              <p:pRg st="3" end="3"/>
                                            </p:txEl>
                                          </p:spTgt>
                                        </p:tgtEl>
                                        <p:attrNameLst>
                                          <p:attrName>style.visibility</p:attrName>
                                        </p:attrNameLst>
                                      </p:cBhvr>
                                      <p:to>
                                        <p:strVal val="visible"/>
                                      </p:to>
                                    </p:set>
                                    <p:animEffect transition="in" filter="wipe(up)">
                                      <p:cBhvr>
                                        <p:cTn id="17" dur="500"/>
                                        <p:tgtEl>
                                          <p:spTgt spid="51507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15076">
                                            <p:txEl>
                                              <p:pRg st="4" end="4"/>
                                            </p:txEl>
                                          </p:spTgt>
                                        </p:tgtEl>
                                        <p:attrNameLst>
                                          <p:attrName>style.visibility</p:attrName>
                                        </p:attrNameLst>
                                      </p:cBhvr>
                                      <p:to>
                                        <p:strVal val="visible"/>
                                      </p:to>
                                    </p:set>
                                    <p:animEffect transition="in" filter="wipe(up)">
                                      <p:cBhvr>
                                        <p:cTn id="22" dur="500"/>
                                        <p:tgtEl>
                                          <p:spTgt spid="51507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076"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p:cNvSpPr>
            <a:spLocks noGrp="1" noRot="1" noChangeArrowheads="1"/>
          </p:cNvSpPr>
          <p:nvPr>
            <p:ph type="title"/>
          </p:nvPr>
        </p:nvSpPr>
        <p:spPr>
          <a:xfrm>
            <a:off x="1281113" y="325438"/>
            <a:ext cx="6746875"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三、恢复策略</a:t>
            </a:r>
          </a:p>
        </p:txBody>
      </p:sp>
      <p:sp>
        <p:nvSpPr>
          <p:cNvPr id="459798" name="Text Box 22"/>
          <p:cNvSpPr txBox="1">
            <a:spLocks noChangeArrowheads="1"/>
          </p:cNvSpPr>
          <p:nvPr/>
        </p:nvSpPr>
        <p:spPr bwMode="auto">
          <a:xfrm>
            <a:off x="611188" y="2133600"/>
            <a:ext cx="792162" cy="3536950"/>
          </a:xfrm>
          <a:prstGeom prst="rect">
            <a:avLst/>
          </a:prstGeom>
          <a:solidFill>
            <a:srgbClr val="99CCFF"/>
          </a:solidFill>
          <a:ln w="28575" cap="sq" algn="ctr">
            <a:solidFill>
              <a:schemeClr val="bg2"/>
            </a:solidFill>
            <a:miter lim="800000"/>
            <a:headEnd type="none" w="sm" len="sm"/>
            <a:tailEnd type="none" w="sm" len="sm"/>
          </a:ln>
          <a:effectLst>
            <a:outerShdw dist="35921" dir="2700000" algn="ctr" rotWithShape="0">
              <a:schemeClr val="bg2"/>
            </a:outerShdw>
          </a:effectLst>
        </p:spPr>
        <p:txBody>
          <a:bodyPr>
            <a:spAutoFit/>
          </a:bodyPr>
          <a:lstStyle/>
          <a:p>
            <a:pPr algn="ctr"/>
            <a:r>
              <a:rPr lang="zh-CN" altLang="en-US" sz="2800" b="1">
                <a:solidFill>
                  <a:schemeClr val="bg2"/>
                </a:solidFill>
                <a:effectLst>
                  <a:outerShdw blurRad="38100" dist="38100" dir="2700000" algn="tl">
                    <a:srgbClr val="000000"/>
                  </a:outerShdw>
                </a:effectLst>
                <a:ea typeface="楷体_GB2312" pitchFamily="49" charset="-122"/>
              </a:rPr>
              <a:t>装入最近后援副本</a:t>
            </a:r>
          </a:p>
        </p:txBody>
      </p:sp>
      <p:sp>
        <p:nvSpPr>
          <p:cNvPr id="459799" name="Text Box 23"/>
          <p:cNvSpPr txBox="1">
            <a:spLocks noChangeArrowheads="1"/>
          </p:cNvSpPr>
          <p:nvPr/>
        </p:nvSpPr>
        <p:spPr bwMode="auto">
          <a:xfrm>
            <a:off x="6083300" y="2852738"/>
            <a:ext cx="690563" cy="1825625"/>
          </a:xfrm>
          <a:prstGeom prst="rect">
            <a:avLst/>
          </a:prstGeom>
          <a:solidFill>
            <a:srgbClr val="FF81DE"/>
          </a:solidFill>
          <a:ln w="28575" cap="sq" algn="ctr">
            <a:solidFill>
              <a:schemeClr val="bg2"/>
            </a:solidFill>
            <a:miter lim="800000"/>
            <a:headEnd type="none" w="sm" len="sm"/>
            <a:tailEnd type="none" w="sm" len="sm"/>
          </a:ln>
          <a:effectLst>
            <a:outerShdw dist="35921" dir="2700000" algn="ctr" rotWithShape="0">
              <a:schemeClr val="bg2"/>
            </a:outerShdw>
          </a:effectLst>
        </p:spPr>
        <p:txBody>
          <a:bodyPr lIns="18000" tIns="10800" rIns="18000" bIns="10800" anchor="ctr" anchorCtr="1"/>
          <a:lstStyle/>
          <a:p>
            <a:r>
              <a:rPr lang="zh-CN" altLang="en-US" sz="2600" b="1">
                <a:solidFill>
                  <a:schemeClr val="bg2"/>
                </a:solidFill>
                <a:effectLst>
                  <a:outerShdw blurRad="38100" dist="38100" dir="2700000" algn="tl">
                    <a:srgbClr val="000000"/>
                  </a:outerShdw>
                </a:effectLst>
                <a:ea typeface="楷体_GB2312" pitchFamily="49" charset="-122"/>
              </a:rPr>
              <a:t>重做队列</a:t>
            </a:r>
          </a:p>
        </p:txBody>
      </p:sp>
      <p:sp>
        <p:nvSpPr>
          <p:cNvPr id="459800" name="Text Box 24"/>
          <p:cNvSpPr txBox="1">
            <a:spLocks noChangeArrowheads="1"/>
          </p:cNvSpPr>
          <p:nvPr/>
        </p:nvSpPr>
        <p:spPr bwMode="auto">
          <a:xfrm>
            <a:off x="7954963" y="3286125"/>
            <a:ext cx="647700" cy="1079500"/>
          </a:xfrm>
          <a:prstGeom prst="rect">
            <a:avLst/>
          </a:prstGeom>
          <a:solidFill>
            <a:srgbClr val="00FFFF"/>
          </a:solidFill>
          <a:ln w="28575" cap="sq" algn="ctr">
            <a:solidFill>
              <a:schemeClr val="bg2"/>
            </a:solidFill>
            <a:miter lim="800000"/>
            <a:headEnd type="none" w="sm" len="sm"/>
            <a:tailEnd type="none" w="sm" len="sm"/>
          </a:ln>
          <a:effectLst>
            <a:outerShdw dist="35921" dir="2700000" algn="ctr" rotWithShape="0">
              <a:schemeClr val="bg2"/>
            </a:outerShdw>
          </a:effectLst>
        </p:spPr>
        <p:txBody>
          <a:bodyPr anchor="ctr" anchorCtr="1"/>
          <a:lstStyle/>
          <a:p>
            <a:pPr algn="ctr"/>
            <a:r>
              <a:rPr lang="zh-CN" altLang="en-US" sz="3200" b="1">
                <a:solidFill>
                  <a:schemeClr val="bg2"/>
                </a:solidFill>
                <a:effectLst>
                  <a:outerShdw blurRad="38100" dist="38100" dir="2700000" algn="tl">
                    <a:srgbClr val="000000"/>
                  </a:outerShdw>
                </a:effectLst>
                <a:ea typeface="楷体_GB2312" pitchFamily="49" charset="-122"/>
              </a:rPr>
              <a:t>重做</a:t>
            </a:r>
          </a:p>
        </p:txBody>
      </p:sp>
      <p:sp>
        <p:nvSpPr>
          <p:cNvPr id="459801" name="AutoShape 25"/>
          <p:cNvSpPr>
            <a:spLocks noChangeArrowheads="1"/>
          </p:cNvSpPr>
          <p:nvPr/>
        </p:nvSpPr>
        <p:spPr bwMode="auto">
          <a:xfrm>
            <a:off x="4960938" y="3429000"/>
            <a:ext cx="1008062" cy="792163"/>
          </a:xfrm>
          <a:prstGeom prst="notchedRightArrow">
            <a:avLst>
              <a:gd name="adj1" fmla="val 50000"/>
              <a:gd name="adj2" fmla="val 31814"/>
            </a:avLst>
          </a:prstGeom>
          <a:gradFill rotWithShape="1">
            <a:gsLst>
              <a:gs pos="0">
                <a:srgbClr val="B9E8FF"/>
              </a:gs>
              <a:gs pos="100000">
                <a:srgbClr val="66CCFF"/>
              </a:gs>
            </a:gsLst>
            <a:lin ang="0" scaled="1"/>
          </a:gradFill>
          <a:ln w="28575" cap="sq" algn="ctr">
            <a:solidFill>
              <a:schemeClr val="bg2"/>
            </a:solidFill>
            <a:miter lim="800000"/>
            <a:headEnd type="none" w="sm" len="sm"/>
            <a:tailEnd type="none" w="sm" len="sm"/>
          </a:ln>
          <a:effectLst>
            <a:outerShdw dist="35921" dir="2700000" algn="ctr" rotWithShape="0">
              <a:schemeClr val="bg2"/>
            </a:outerShdw>
          </a:effectLst>
        </p:spPr>
        <p:txBody>
          <a:bodyPr wrap="none" anchor="ctr"/>
          <a:lstStyle/>
          <a:p>
            <a:endParaRPr lang="zh-CN" altLang="en-US"/>
          </a:p>
        </p:txBody>
      </p:sp>
      <p:sp>
        <p:nvSpPr>
          <p:cNvPr id="459802" name="Text Box 26"/>
          <p:cNvSpPr txBox="1">
            <a:spLocks noChangeArrowheads="1"/>
          </p:cNvSpPr>
          <p:nvPr/>
        </p:nvSpPr>
        <p:spPr bwMode="auto">
          <a:xfrm>
            <a:off x="4962525" y="2636838"/>
            <a:ext cx="863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rgbClr val="005400"/>
                </a:solidFill>
                <a:latin typeface="楷体_GB2312" pitchFamily="49" charset="-122"/>
                <a:ea typeface="楷体_GB2312" pitchFamily="49" charset="-122"/>
              </a:rPr>
              <a:t>正向</a:t>
            </a:r>
          </a:p>
          <a:p>
            <a:r>
              <a:rPr lang="zh-CN" altLang="en-US" sz="2400" b="1">
                <a:solidFill>
                  <a:srgbClr val="005400"/>
                </a:solidFill>
                <a:latin typeface="楷体_GB2312" pitchFamily="49" charset="-122"/>
                <a:ea typeface="楷体_GB2312" pitchFamily="49" charset="-122"/>
              </a:rPr>
              <a:t>扫描</a:t>
            </a:r>
          </a:p>
        </p:txBody>
      </p:sp>
      <p:sp>
        <p:nvSpPr>
          <p:cNvPr id="459803" name="Text Box 27"/>
          <p:cNvSpPr txBox="1">
            <a:spLocks noChangeArrowheads="1"/>
          </p:cNvSpPr>
          <p:nvPr/>
        </p:nvSpPr>
        <p:spPr bwMode="auto">
          <a:xfrm>
            <a:off x="2413000" y="1989138"/>
            <a:ext cx="633413" cy="3963987"/>
          </a:xfrm>
          <a:prstGeom prst="rect">
            <a:avLst/>
          </a:prstGeom>
          <a:solidFill>
            <a:schemeClr val="accent2"/>
          </a:solidFill>
          <a:ln w="28575" cap="sq" algn="ctr">
            <a:solidFill>
              <a:schemeClr val="bg2"/>
            </a:solidFill>
            <a:miter lim="800000"/>
            <a:headEnd type="none" w="sm" len="sm"/>
            <a:tailEnd type="none" w="sm" len="sm"/>
          </a:ln>
          <a:effectLst>
            <a:outerShdw dist="35921" dir="2700000" algn="ctr" rotWithShape="0">
              <a:schemeClr val="bg2"/>
            </a:outerShdw>
          </a:effectLst>
        </p:spPr>
        <p:txBody>
          <a:bodyPr>
            <a:spAutoFit/>
          </a:bodyPr>
          <a:lstStyle/>
          <a:p>
            <a:pPr algn="ctr"/>
            <a:r>
              <a:rPr lang="zh-CN" altLang="en-US" sz="2800" b="1">
                <a:solidFill>
                  <a:schemeClr val="bg2"/>
                </a:solidFill>
                <a:ea typeface="楷体_GB2312" pitchFamily="49" charset="-122"/>
              </a:rPr>
              <a:t>最近转储</a:t>
            </a:r>
          </a:p>
          <a:p>
            <a:pPr algn="ctr"/>
            <a:r>
              <a:rPr lang="zh-CN" altLang="en-US" sz="2800" b="1">
                <a:solidFill>
                  <a:schemeClr val="bg2"/>
                </a:solidFill>
                <a:ea typeface="楷体_GB2312" pitchFamily="49" charset="-122"/>
              </a:rPr>
              <a:t>一致性状态</a:t>
            </a:r>
          </a:p>
        </p:txBody>
      </p:sp>
      <p:sp>
        <p:nvSpPr>
          <p:cNvPr id="459804" name="Text Box 28"/>
          <p:cNvSpPr txBox="1">
            <a:spLocks noChangeArrowheads="1"/>
          </p:cNvSpPr>
          <p:nvPr/>
        </p:nvSpPr>
        <p:spPr bwMode="auto">
          <a:xfrm>
            <a:off x="4170363" y="1773238"/>
            <a:ext cx="690562" cy="4391025"/>
          </a:xfrm>
          <a:prstGeom prst="rect">
            <a:avLst/>
          </a:prstGeom>
          <a:solidFill>
            <a:srgbClr val="99CCFF"/>
          </a:solidFill>
          <a:ln w="28575" cap="sq" algn="ctr">
            <a:solidFill>
              <a:schemeClr val="bg2"/>
            </a:solidFill>
            <a:miter lim="800000"/>
            <a:headEnd type="none" w="sm" len="sm"/>
            <a:tailEnd type="none" w="sm" len="sm"/>
          </a:ln>
          <a:effectLst>
            <a:outerShdw dist="35921" dir="2700000" algn="ctr" rotWithShape="0">
              <a:schemeClr val="bg2"/>
            </a:outerShdw>
          </a:effectLst>
        </p:spPr>
        <p:txBody>
          <a:bodyPr>
            <a:spAutoFit/>
          </a:bodyPr>
          <a:lstStyle/>
          <a:p>
            <a:pPr algn="ctr"/>
            <a:r>
              <a:rPr lang="zh-CN" altLang="en-US" sz="2800" b="1">
                <a:solidFill>
                  <a:schemeClr val="bg2"/>
                </a:solidFill>
                <a:effectLst>
                  <a:outerShdw blurRad="38100" dist="38100" dir="2700000" algn="tl">
                    <a:srgbClr val="000000"/>
                  </a:outerShdw>
                </a:effectLst>
                <a:ea typeface="楷体_GB2312" pitchFamily="49" charset="-122"/>
              </a:rPr>
              <a:t>装入最近日志文件副本</a:t>
            </a:r>
          </a:p>
        </p:txBody>
      </p:sp>
      <p:sp>
        <p:nvSpPr>
          <p:cNvPr id="459805" name="Text Box 29"/>
          <p:cNvSpPr txBox="1">
            <a:spLocks noChangeArrowheads="1"/>
          </p:cNvSpPr>
          <p:nvPr/>
        </p:nvSpPr>
        <p:spPr bwMode="auto">
          <a:xfrm>
            <a:off x="1546225" y="2606675"/>
            <a:ext cx="8636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rgbClr val="663300"/>
                </a:solidFill>
                <a:latin typeface="楷体_GB2312" pitchFamily="49" charset="-122"/>
                <a:ea typeface="楷体_GB2312" pitchFamily="49" charset="-122"/>
              </a:rPr>
              <a:t>转储时刻</a:t>
            </a:r>
          </a:p>
          <a:p>
            <a:endParaRPr lang="zh-CN" altLang="en-US" sz="2400" b="1">
              <a:solidFill>
                <a:srgbClr val="663300"/>
              </a:solidFill>
              <a:latin typeface="楷体_GB2312" pitchFamily="49" charset="-122"/>
              <a:ea typeface="楷体_GB2312" pitchFamily="49" charset="-122"/>
            </a:endParaRPr>
          </a:p>
          <a:p>
            <a:endParaRPr lang="zh-CN" altLang="en-US" sz="2400" b="1">
              <a:solidFill>
                <a:srgbClr val="663300"/>
              </a:solidFill>
              <a:latin typeface="楷体_GB2312" pitchFamily="49" charset="-122"/>
              <a:ea typeface="楷体_GB2312" pitchFamily="49" charset="-122"/>
            </a:endParaRPr>
          </a:p>
          <a:p>
            <a:r>
              <a:rPr lang="zh-CN" altLang="en-US" sz="2400" b="1">
                <a:solidFill>
                  <a:srgbClr val="663300"/>
                </a:solidFill>
                <a:latin typeface="楷体_GB2312" pitchFamily="49" charset="-122"/>
                <a:ea typeface="楷体_GB2312" pitchFamily="49" charset="-122"/>
              </a:rPr>
              <a:t>日志文件</a:t>
            </a:r>
          </a:p>
        </p:txBody>
      </p:sp>
      <p:sp>
        <p:nvSpPr>
          <p:cNvPr id="459806" name="Text Box 30"/>
          <p:cNvSpPr txBox="1">
            <a:spLocks noChangeArrowheads="1"/>
          </p:cNvSpPr>
          <p:nvPr/>
        </p:nvSpPr>
        <p:spPr bwMode="auto">
          <a:xfrm>
            <a:off x="6875463" y="2636838"/>
            <a:ext cx="863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rgbClr val="0000FF"/>
                </a:solidFill>
                <a:latin typeface="楷体_GB2312" pitchFamily="49" charset="-122"/>
                <a:ea typeface="楷体_GB2312" pitchFamily="49" charset="-122"/>
              </a:rPr>
              <a:t>正向</a:t>
            </a:r>
          </a:p>
          <a:p>
            <a:r>
              <a:rPr lang="zh-CN" altLang="en-US" sz="2400" b="1">
                <a:solidFill>
                  <a:srgbClr val="0000FF"/>
                </a:solidFill>
                <a:latin typeface="楷体_GB2312" pitchFamily="49" charset="-122"/>
                <a:ea typeface="楷体_GB2312" pitchFamily="49" charset="-122"/>
              </a:rPr>
              <a:t>扫描</a:t>
            </a:r>
          </a:p>
        </p:txBody>
      </p:sp>
      <p:sp>
        <p:nvSpPr>
          <p:cNvPr id="459807" name="Text Box 31"/>
          <p:cNvSpPr txBox="1">
            <a:spLocks noChangeArrowheads="1"/>
          </p:cNvSpPr>
          <p:nvPr/>
        </p:nvSpPr>
        <p:spPr bwMode="auto">
          <a:xfrm>
            <a:off x="4932363" y="4191000"/>
            <a:ext cx="863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rgbClr val="005400"/>
                </a:solidFill>
                <a:latin typeface="楷体_GB2312" pitchFamily="49" charset="-122"/>
                <a:ea typeface="楷体_GB2312" pitchFamily="49" charset="-122"/>
              </a:rPr>
              <a:t>日志文件</a:t>
            </a:r>
          </a:p>
        </p:txBody>
      </p:sp>
      <p:sp>
        <p:nvSpPr>
          <p:cNvPr id="459808" name="Text Box 32"/>
          <p:cNvSpPr txBox="1">
            <a:spLocks noChangeArrowheads="1"/>
          </p:cNvSpPr>
          <p:nvPr/>
        </p:nvSpPr>
        <p:spPr bwMode="auto">
          <a:xfrm>
            <a:off x="6804025" y="4076700"/>
            <a:ext cx="863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rgbClr val="0000FF"/>
                </a:solidFill>
                <a:latin typeface="楷体_GB2312" pitchFamily="49" charset="-122"/>
                <a:ea typeface="楷体_GB2312" pitchFamily="49" charset="-122"/>
              </a:rPr>
              <a:t>日志文件</a:t>
            </a:r>
          </a:p>
        </p:txBody>
      </p:sp>
      <p:sp>
        <p:nvSpPr>
          <p:cNvPr id="459809" name="AutoShape 33"/>
          <p:cNvSpPr>
            <a:spLocks noChangeArrowheads="1"/>
          </p:cNvSpPr>
          <p:nvPr/>
        </p:nvSpPr>
        <p:spPr bwMode="auto">
          <a:xfrm>
            <a:off x="6875463" y="3429000"/>
            <a:ext cx="936625" cy="720725"/>
          </a:xfrm>
          <a:prstGeom prst="notchedRightArrow">
            <a:avLst>
              <a:gd name="adj1" fmla="val 50000"/>
              <a:gd name="adj2" fmla="val 32489"/>
            </a:avLst>
          </a:prstGeom>
          <a:gradFill rotWithShape="1">
            <a:gsLst>
              <a:gs pos="0">
                <a:srgbClr val="B9E8FF"/>
              </a:gs>
              <a:gs pos="100000">
                <a:srgbClr val="66CCFF"/>
              </a:gs>
            </a:gsLst>
            <a:lin ang="0" scaled="1"/>
          </a:gradFill>
          <a:ln w="28575" cap="sq" algn="ctr">
            <a:solidFill>
              <a:schemeClr val="bg2"/>
            </a:solidFill>
            <a:miter lim="800000"/>
            <a:headEnd type="none" w="sm" len="sm"/>
            <a:tailEnd type="none" w="sm" len="sm"/>
          </a:ln>
          <a:effectLst>
            <a:outerShdw dist="35921" dir="2700000" algn="ctr" rotWithShape="0">
              <a:schemeClr val="bg2"/>
            </a:outerShdw>
          </a:effectLst>
        </p:spPr>
        <p:txBody>
          <a:bodyPr wrap="none" anchor="ctr"/>
          <a:lstStyle/>
          <a:p>
            <a:endParaRPr lang="zh-CN" altLang="en-US"/>
          </a:p>
        </p:txBody>
      </p:sp>
      <p:sp>
        <p:nvSpPr>
          <p:cNvPr id="459810" name="AutoShape 34"/>
          <p:cNvSpPr>
            <a:spLocks noChangeArrowheads="1"/>
          </p:cNvSpPr>
          <p:nvPr/>
        </p:nvSpPr>
        <p:spPr bwMode="auto">
          <a:xfrm>
            <a:off x="1474788" y="3429000"/>
            <a:ext cx="863600" cy="647700"/>
          </a:xfrm>
          <a:prstGeom prst="notchedRightArrow">
            <a:avLst>
              <a:gd name="adj1" fmla="val 50000"/>
              <a:gd name="adj2" fmla="val 33333"/>
            </a:avLst>
          </a:prstGeom>
          <a:gradFill rotWithShape="1">
            <a:gsLst>
              <a:gs pos="0">
                <a:srgbClr val="B9E8FF"/>
              </a:gs>
              <a:gs pos="100000">
                <a:srgbClr val="66CCFF"/>
              </a:gs>
            </a:gsLst>
            <a:lin ang="0" scaled="1"/>
          </a:gradFill>
          <a:ln w="28575" cap="sq" algn="ctr">
            <a:solidFill>
              <a:schemeClr val="bg2"/>
            </a:solidFill>
            <a:miter lim="800000"/>
            <a:headEnd type="none" w="sm" len="sm"/>
            <a:tailEnd type="none" w="sm" len="sm"/>
          </a:ln>
          <a:effectLst>
            <a:outerShdw dist="35921" dir="2700000" algn="ctr" rotWithShape="0">
              <a:schemeClr val="bg2"/>
            </a:outerShdw>
          </a:effectLst>
        </p:spPr>
        <p:txBody>
          <a:bodyPr wrap="none" anchor="ctr"/>
          <a:lstStyle/>
          <a:p>
            <a:endParaRPr lang="zh-CN" altLang="en-US"/>
          </a:p>
        </p:txBody>
      </p:sp>
      <p:sp>
        <p:nvSpPr>
          <p:cNvPr id="459811" name="AutoShape 35"/>
          <p:cNvSpPr>
            <a:spLocks noChangeArrowheads="1"/>
          </p:cNvSpPr>
          <p:nvPr/>
        </p:nvSpPr>
        <p:spPr bwMode="auto">
          <a:xfrm>
            <a:off x="3132138" y="3429000"/>
            <a:ext cx="950912" cy="720725"/>
          </a:xfrm>
          <a:prstGeom prst="notchedRightArrow">
            <a:avLst>
              <a:gd name="adj1" fmla="val 50000"/>
              <a:gd name="adj2" fmla="val 32985"/>
            </a:avLst>
          </a:prstGeom>
          <a:gradFill rotWithShape="1">
            <a:gsLst>
              <a:gs pos="0">
                <a:srgbClr val="B9E8FF"/>
              </a:gs>
              <a:gs pos="100000">
                <a:srgbClr val="66CCFF"/>
              </a:gs>
            </a:gsLst>
            <a:lin ang="0" scaled="1"/>
          </a:gradFill>
          <a:ln w="28575" cap="sq" algn="ctr">
            <a:solidFill>
              <a:schemeClr val="bg2"/>
            </a:solidFill>
            <a:miter lim="800000"/>
            <a:headEnd type="none" w="sm" len="sm"/>
            <a:tailEnd type="none" w="sm" len="sm"/>
          </a:ln>
          <a:effectLst>
            <a:outerShdw dist="35921" dir="2700000" algn="ctr" rotWithShape="0">
              <a:schemeClr val="bg2"/>
            </a:outerShdw>
          </a:effectLst>
        </p:spPr>
        <p:txBody>
          <a:bodyPr wrap="none" anchor="ctr"/>
          <a:lstStyle/>
          <a:p>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9010"/>
    </mc:Choice>
    <mc:Fallback xmlns="">
      <p:transition spd="slow" advTm="901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59798"/>
                                        </p:tgtEl>
                                        <p:attrNameLst>
                                          <p:attrName>style.visibility</p:attrName>
                                        </p:attrNameLst>
                                      </p:cBhvr>
                                      <p:to>
                                        <p:strVal val="visible"/>
                                      </p:to>
                                    </p:set>
                                    <p:anim calcmode="lin" valueType="num">
                                      <p:cBhvr additive="base">
                                        <p:cTn id="7" dur="500" fill="hold"/>
                                        <p:tgtEl>
                                          <p:spTgt spid="459798"/>
                                        </p:tgtEl>
                                        <p:attrNameLst>
                                          <p:attrName>ppt_x</p:attrName>
                                        </p:attrNameLst>
                                      </p:cBhvr>
                                      <p:tavLst>
                                        <p:tav tm="0">
                                          <p:val>
                                            <p:strVal val="0-#ppt_w/2"/>
                                          </p:val>
                                        </p:tav>
                                        <p:tav tm="100000">
                                          <p:val>
                                            <p:strVal val="#ppt_x"/>
                                          </p:val>
                                        </p:tav>
                                      </p:tavLst>
                                    </p:anim>
                                    <p:anim calcmode="lin" valueType="num">
                                      <p:cBhvr additive="base">
                                        <p:cTn id="8" dur="500" fill="hold"/>
                                        <p:tgtEl>
                                          <p:spTgt spid="45979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59810"/>
                                        </p:tgtEl>
                                        <p:attrNameLst>
                                          <p:attrName>style.visibility</p:attrName>
                                        </p:attrNameLst>
                                      </p:cBhvr>
                                      <p:to>
                                        <p:strVal val="visible"/>
                                      </p:to>
                                    </p:set>
                                    <p:animEffect transition="in" filter="wipe(left)">
                                      <p:cBhvr>
                                        <p:cTn id="13" dur="500"/>
                                        <p:tgtEl>
                                          <p:spTgt spid="459810"/>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459805"/>
                                        </p:tgtEl>
                                        <p:attrNameLst>
                                          <p:attrName>style.visibility</p:attrName>
                                        </p:attrNameLst>
                                      </p:cBhvr>
                                      <p:to>
                                        <p:strVal val="visible"/>
                                      </p:to>
                                    </p:set>
                                    <p:animEffect transition="in" filter="wipe(left)">
                                      <p:cBhvr>
                                        <p:cTn id="16" dur="500"/>
                                        <p:tgtEl>
                                          <p:spTgt spid="459805"/>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459803"/>
                                        </p:tgtEl>
                                        <p:attrNameLst>
                                          <p:attrName>style.visibility</p:attrName>
                                        </p:attrNameLst>
                                      </p:cBhvr>
                                      <p:to>
                                        <p:strVal val="visible"/>
                                      </p:to>
                                    </p:set>
                                    <p:animEffect transition="in" filter="wipe(left)">
                                      <p:cBhvr>
                                        <p:cTn id="20" dur="500"/>
                                        <p:tgtEl>
                                          <p:spTgt spid="45980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459811"/>
                                        </p:tgtEl>
                                        <p:attrNameLst>
                                          <p:attrName>style.visibility</p:attrName>
                                        </p:attrNameLst>
                                      </p:cBhvr>
                                      <p:to>
                                        <p:strVal val="visible"/>
                                      </p:to>
                                    </p:set>
                                    <p:animEffect transition="in" filter="wipe(left)">
                                      <p:cBhvr>
                                        <p:cTn id="25" dur="500"/>
                                        <p:tgtEl>
                                          <p:spTgt spid="459811"/>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459804"/>
                                        </p:tgtEl>
                                        <p:attrNameLst>
                                          <p:attrName>style.visibility</p:attrName>
                                        </p:attrNameLst>
                                      </p:cBhvr>
                                      <p:to>
                                        <p:strVal val="visible"/>
                                      </p:to>
                                    </p:set>
                                    <p:animEffect transition="in" filter="wipe(left)">
                                      <p:cBhvr>
                                        <p:cTn id="29" dur="500"/>
                                        <p:tgtEl>
                                          <p:spTgt spid="45980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459801"/>
                                        </p:tgtEl>
                                        <p:attrNameLst>
                                          <p:attrName>style.visibility</p:attrName>
                                        </p:attrNameLst>
                                      </p:cBhvr>
                                      <p:to>
                                        <p:strVal val="visible"/>
                                      </p:to>
                                    </p:set>
                                    <p:animEffect transition="in" filter="wipe(left)">
                                      <p:cBhvr>
                                        <p:cTn id="34" dur="500"/>
                                        <p:tgtEl>
                                          <p:spTgt spid="459801"/>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459802"/>
                                        </p:tgtEl>
                                        <p:attrNameLst>
                                          <p:attrName>style.visibility</p:attrName>
                                        </p:attrNameLst>
                                      </p:cBhvr>
                                      <p:to>
                                        <p:strVal val="visible"/>
                                      </p:to>
                                    </p:set>
                                    <p:animEffect transition="in" filter="wipe(left)">
                                      <p:cBhvr>
                                        <p:cTn id="37" dur="500"/>
                                        <p:tgtEl>
                                          <p:spTgt spid="459802"/>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459807"/>
                                        </p:tgtEl>
                                        <p:attrNameLst>
                                          <p:attrName>style.visibility</p:attrName>
                                        </p:attrNameLst>
                                      </p:cBhvr>
                                      <p:to>
                                        <p:strVal val="visible"/>
                                      </p:to>
                                    </p:set>
                                    <p:animEffect transition="in" filter="wipe(left)">
                                      <p:cBhvr>
                                        <p:cTn id="40" dur="500"/>
                                        <p:tgtEl>
                                          <p:spTgt spid="459807"/>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459799"/>
                                        </p:tgtEl>
                                        <p:attrNameLst>
                                          <p:attrName>style.visibility</p:attrName>
                                        </p:attrNameLst>
                                      </p:cBhvr>
                                      <p:to>
                                        <p:strVal val="visible"/>
                                      </p:to>
                                    </p:set>
                                    <p:animEffect transition="in" filter="wipe(left)">
                                      <p:cBhvr>
                                        <p:cTn id="44" dur="500"/>
                                        <p:tgtEl>
                                          <p:spTgt spid="459799"/>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459809"/>
                                        </p:tgtEl>
                                        <p:attrNameLst>
                                          <p:attrName>style.visibility</p:attrName>
                                        </p:attrNameLst>
                                      </p:cBhvr>
                                      <p:to>
                                        <p:strVal val="visible"/>
                                      </p:to>
                                    </p:set>
                                    <p:animEffect transition="in" filter="wipe(left)">
                                      <p:cBhvr>
                                        <p:cTn id="49" dur="500"/>
                                        <p:tgtEl>
                                          <p:spTgt spid="459809"/>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459806"/>
                                        </p:tgtEl>
                                        <p:attrNameLst>
                                          <p:attrName>style.visibility</p:attrName>
                                        </p:attrNameLst>
                                      </p:cBhvr>
                                      <p:to>
                                        <p:strVal val="visible"/>
                                      </p:to>
                                    </p:set>
                                    <p:animEffect transition="in" filter="wipe(left)">
                                      <p:cBhvr>
                                        <p:cTn id="52" dur="500"/>
                                        <p:tgtEl>
                                          <p:spTgt spid="459806"/>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459808"/>
                                        </p:tgtEl>
                                        <p:attrNameLst>
                                          <p:attrName>style.visibility</p:attrName>
                                        </p:attrNameLst>
                                      </p:cBhvr>
                                      <p:to>
                                        <p:strVal val="visible"/>
                                      </p:to>
                                    </p:set>
                                    <p:animEffect transition="in" filter="wipe(left)">
                                      <p:cBhvr>
                                        <p:cTn id="55" dur="500"/>
                                        <p:tgtEl>
                                          <p:spTgt spid="459808"/>
                                        </p:tgtEl>
                                      </p:cBhvr>
                                    </p:animEffect>
                                  </p:childTnLst>
                                </p:cTn>
                              </p:par>
                            </p:childTnLst>
                          </p:cTn>
                        </p:par>
                        <p:par>
                          <p:cTn id="56" fill="hold">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459800"/>
                                        </p:tgtEl>
                                        <p:attrNameLst>
                                          <p:attrName>style.visibility</p:attrName>
                                        </p:attrNameLst>
                                      </p:cBhvr>
                                      <p:to>
                                        <p:strVal val="visible"/>
                                      </p:to>
                                    </p:set>
                                    <p:animEffect transition="in" filter="wipe(left)">
                                      <p:cBhvr>
                                        <p:cTn id="59" dur="500"/>
                                        <p:tgtEl>
                                          <p:spTgt spid="4598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9798" grpId="0" animBg="1"/>
      <p:bldP spid="459799" grpId="0" animBg="1"/>
      <p:bldP spid="459800" grpId="0" animBg="1"/>
      <p:bldP spid="459802" grpId="0"/>
      <p:bldP spid="459803" grpId="0" animBg="1"/>
      <p:bldP spid="459804" grpId="0" animBg="1"/>
      <p:bldP spid="459805" grpId="0"/>
      <p:bldP spid="459806" grpId="0"/>
      <p:bldP spid="459807" grpId="0"/>
      <p:bldP spid="459808" grpId="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4770" name="Rectangle 2"/>
          <p:cNvSpPr>
            <a:spLocks noGrp="1" noRot="1" noChangeArrowheads="1"/>
          </p:cNvSpPr>
          <p:nvPr>
            <p:ph type="title"/>
          </p:nvPr>
        </p:nvSpPr>
        <p:spPr>
          <a:xfrm>
            <a:off x="1281113" y="325438"/>
            <a:ext cx="5670550"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四、具有检查点的恢复技术</a:t>
            </a:r>
          </a:p>
        </p:txBody>
      </p:sp>
      <p:sp>
        <p:nvSpPr>
          <p:cNvPr id="544771" name="Rectangle 3"/>
          <p:cNvSpPr>
            <a:spLocks noChangeArrowheads="1"/>
          </p:cNvSpPr>
          <p:nvPr/>
        </p:nvSpPr>
        <p:spPr bwMode="auto">
          <a:xfrm>
            <a:off x="611188" y="1187450"/>
            <a:ext cx="6697662"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1</a:t>
            </a:r>
            <a:r>
              <a:rPr lang="zh-CN" altLang="en-US" sz="3200">
                <a:solidFill>
                  <a:srgbClr val="660033"/>
                </a:solidFill>
                <a:ea typeface="华文新魏" panose="02010800040101010101" pitchFamily="2" charset="-122"/>
              </a:rPr>
              <a:t>、检查点</a:t>
            </a:r>
            <a:endParaRPr lang="en-US" altLang="zh-CN" sz="3200">
              <a:solidFill>
                <a:srgbClr val="660033"/>
              </a:solidFill>
              <a:ea typeface="华文新魏" panose="02010800040101010101" pitchFamily="2" charset="-122"/>
            </a:endParaRPr>
          </a:p>
        </p:txBody>
      </p:sp>
      <p:sp>
        <p:nvSpPr>
          <p:cNvPr id="544772" name="AutoShape 4"/>
          <p:cNvSpPr>
            <a:spLocks noChangeArrowheads="1"/>
          </p:cNvSpPr>
          <p:nvPr/>
        </p:nvSpPr>
        <p:spPr bwMode="auto">
          <a:xfrm>
            <a:off x="611188" y="2060575"/>
            <a:ext cx="7848600" cy="4392613"/>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40000"/>
              </a:spcBef>
              <a:buClr>
                <a:schemeClr val="folHlink"/>
              </a:buClr>
              <a:buSzPct val="60000"/>
              <a:buFont typeface="Wingdings" panose="05000000000000000000" pitchFamily="2" charset="2"/>
              <a:buNone/>
            </a:pPr>
            <a:r>
              <a:rPr lang="zh-CN" altLang="en-US" sz="2400" b="1">
                <a:latin typeface="Tahoma" panose="020B0604030504040204" pitchFamily="34" charset="0"/>
                <a:ea typeface="楷体_GB2312" pitchFamily="49" charset="-122"/>
              </a:rPr>
              <a:t>         </a:t>
            </a:r>
            <a:r>
              <a:rPr lang="zh-CN" altLang="en-US" sz="2800" b="1">
                <a:solidFill>
                  <a:srgbClr val="0000FF"/>
                </a:solidFill>
                <a:effectLst>
                  <a:outerShdw blurRad="38100" dist="38100" dir="2700000" algn="tl">
                    <a:srgbClr val="C0C0C0"/>
                  </a:outerShdw>
                </a:effectLst>
                <a:latin typeface="Tahoma" panose="020B0604030504040204" pitchFamily="34" charset="0"/>
                <a:ea typeface="楷体_GB2312" pitchFamily="49" charset="-122"/>
              </a:rPr>
              <a:t>检查点</a:t>
            </a:r>
            <a:r>
              <a:rPr lang="en-US" altLang="zh-CN" sz="2800" b="1">
                <a:effectLst>
                  <a:outerShdw blurRad="38100" dist="38100" dir="2700000" algn="tl">
                    <a:srgbClr val="C0C0C0"/>
                  </a:outerShdw>
                </a:effectLst>
                <a:latin typeface="楷体_GB2312" pitchFamily="49" charset="-122"/>
                <a:ea typeface="楷体_GB2312" pitchFamily="49" charset="-122"/>
                <a:cs typeface="Times New Roman" panose="02020603050405020304" pitchFamily="18" charset="0"/>
              </a:rPr>
              <a:t>表示数据库是否正常运行的一个</a:t>
            </a:r>
            <a:r>
              <a:rPr lang="en-US" altLang="zh-CN" sz="2800" b="1">
                <a:solidFill>
                  <a:srgbClr val="CC3300"/>
                </a:solidFill>
                <a:effectLst>
                  <a:outerShdw blurRad="38100" dist="38100" dir="2700000" algn="tl">
                    <a:srgbClr val="C0C0C0"/>
                  </a:outerShdw>
                </a:effectLst>
                <a:latin typeface="楷体_GB2312" pitchFamily="49" charset="-122"/>
                <a:ea typeface="楷体_GB2312" pitchFamily="49" charset="-122"/>
                <a:cs typeface="Times New Roman" panose="02020603050405020304" pitchFamily="18" charset="0"/>
              </a:rPr>
              <a:t>时间标志</a:t>
            </a:r>
            <a:r>
              <a:rPr lang="zh-CN" altLang="en-US" sz="2800" b="1">
                <a:latin typeface="Tahoma" panose="020B0604030504040204" pitchFamily="34" charset="0"/>
                <a:ea typeface="楷体_GB2312" pitchFamily="49" charset="-122"/>
              </a:rPr>
              <a:t> 。</a:t>
            </a:r>
          </a:p>
          <a:p>
            <a:pPr>
              <a:lnSpc>
                <a:spcPct val="110000"/>
              </a:lnSpc>
              <a:spcBef>
                <a:spcPct val="40000"/>
              </a:spcBef>
              <a:buClr>
                <a:schemeClr val="folHlink"/>
              </a:buClr>
              <a:buSzPct val="60000"/>
              <a:buFont typeface="Wingdings" panose="05000000000000000000" pitchFamily="2" charset="2"/>
              <a:buNone/>
            </a:pPr>
            <a:r>
              <a:rPr lang="zh-CN" altLang="en-US" sz="2800" b="1">
                <a:latin typeface="Tahoma" panose="020B0604030504040204" pitchFamily="34" charset="0"/>
                <a:ea typeface="楷体_GB2312" pitchFamily="49" charset="-122"/>
              </a:rPr>
              <a:t>   （</a:t>
            </a:r>
            <a:r>
              <a:rPr lang="en-US" altLang="zh-CN" sz="2800" b="1">
                <a:latin typeface="Tahoma" panose="020B0604030504040204" pitchFamily="34" charset="0"/>
                <a:ea typeface="楷体_GB2312" pitchFamily="49" charset="-122"/>
              </a:rPr>
              <a:t>1</a:t>
            </a:r>
            <a:r>
              <a:rPr lang="zh-CN" altLang="en-US" sz="2800" b="1">
                <a:latin typeface="Tahoma" panose="020B0604030504040204" pitchFamily="34" charset="0"/>
                <a:ea typeface="楷体_GB2312" pitchFamily="49" charset="-122"/>
              </a:rPr>
              <a:t>）作用：</a:t>
            </a:r>
            <a:r>
              <a:rPr lang="zh-CN" altLang="en-US" sz="2600" b="1">
                <a:effectLst>
                  <a:outerShdw blurRad="38100" dist="38100" dir="2700000" algn="tl">
                    <a:srgbClr val="C0C0C0"/>
                  </a:outerShdw>
                </a:effectLst>
                <a:latin typeface="楷体_GB2312" pitchFamily="49" charset="-122"/>
                <a:ea typeface="楷体_GB2312" pitchFamily="49" charset="-122"/>
              </a:rPr>
              <a:t>根据检查点来判断哪些事务是正常结束，从而确定恢复哪些数据和如何进行恢复。</a:t>
            </a:r>
          </a:p>
          <a:p>
            <a:pPr>
              <a:lnSpc>
                <a:spcPct val="110000"/>
              </a:lnSpc>
              <a:spcBef>
                <a:spcPct val="40000"/>
              </a:spcBef>
              <a:buClr>
                <a:schemeClr val="folHlink"/>
              </a:buClr>
              <a:buSzPct val="60000"/>
              <a:buFont typeface="Wingdings" panose="05000000000000000000" pitchFamily="2" charset="2"/>
              <a:buNone/>
            </a:pPr>
            <a:r>
              <a:rPr lang="zh-CN" altLang="en-US"/>
              <a:t>     </a:t>
            </a:r>
            <a:r>
              <a:rPr lang="zh-CN" altLang="en-US" sz="2800" b="1">
                <a:latin typeface="Tahoma" panose="020B0604030504040204" pitchFamily="34" charset="0"/>
                <a:ea typeface="楷体_GB2312" pitchFamily="49" charset="-122"/>
              </a:rPr>
              <a:t>（</a:t>
            </a:r>
            <a:r>
              <a:rPr lang="en-US" altLang="zh-CN" sz="2800" b="1">
                <a:latin typeface="Tahoma" panose="020B0604030504040204" pitchFamily="34" charset="0"/>
                <a:ea typeface="楷体_GB2312" pitchFamily="49" charset="-122"/>
              </a:rPr>
              <a:t>2</a:t>
            </a:r>
            <a:r>
              <a:rPr lang="zh-CN" altLang="en-US" sz="2800" b="1">
                <a:latin typeface="Tahoma" panose="020B0604030504040204" pitchFamily="34" charset="0"/>
                <a:ea typeface="楷体_GB2312" pitchFamily="49" charset="-122"/>
              </a:rPr>
              <a:t>）建立方法：</a:t>
            </a:r>
          </a:p>
          <a:p>
            <a:pPr lvl="2" algn="just">
              <a:lnSpc>
                <a:spcPct val="120000"/>
              </a:lnSpc>
              <a:spcBef>
                <a:spcPct val="20000"/>
              </a:spcBef>
              <a:buClr>
                <a:srgbClr val="008000"/>
              </a:buClr>
              <a:buSzPct val="50000"/>
              <a:buFont typeface="Wingdings" panose="05000000000000000000" pitchFamily="2" charset="2"/>
              <a:buChar char="l"/>
            </a:pPr>
            <a:r>
              <a:rPr lang="zh-CN" altLang="en-US" sz="2600" b="1">
                <a:effectLst>
                  <a:outerShdw blurRad="38100" dist="38100" dir="2700000" algn="tl">
                    <a:srgbClr val="C0C0C0"/>
                  </a:outerShdw>
                </a:effectLst>
                <a:latin typeface="楷体_GB2312" pitchFamily="49" charset="-122"/>
                <a:ea typeface="楷体_GB2312" pitchFamily="49" charset="-122"/>
              </a:rPr>
              <a:t> 按照预定的时间间隔建立检查点：</a:t>
            </a:r>
            <a:r>
              <a:rPr lang="en-US" altLang="zh-CN" sz="2600" b="1">
                <a:effectLst>
                  <a:outerShdw blurRad="38100" dist="38100" dir="2700000" algn="tl">
                    <a:srgbClr val="C0C0C0"/>
                  </a:outerShdw>
                </a:effectLst>
                <a:latin typeface="楷体_GB2312" pitchFamily="49" charset="-122"/>
                <a:ea typeface="楷体_GB2312" pitchFamily="49" charset="-122"/>
              </a:rPr>
              <a:t>20</a:t>
            </a:r>
            <a:r>
              <a:rPr lang="zh-CN" altLang="en-US" sz="2600" b="1">
                <a:effectLst>
                  <a:outerShdw blurRad="38100" dist="38100" dir="2700000" algn="tl">
                    <a:srgbClr val="C0C0C0"/>
                  </a:outerShdw>
                </a:effectLst>
                <a:latin typeface="楷体_GB2312" pitchFamily="49" charset="-122"/>
                <a:ea typeface="楷体_GB2312" pitchFamily="49" charset="-122"/>
              </a:rPr>
              <a:t>分钟</a:t>
            </a:r>
          </a:p>
          <a:p>
            <a:pPr lvl="2" algn="just">
              <a:lnSpc>
                <a:spcPct val="120000"/>
              </a:lnSpc>
              <a:spcBef>
                <a:spcPct val="20000"/>
              </a:spcBef>
              <a:buClr>
                <a:srgbClr val="008000"/>
              </a:buClr>
              <a:buSzPct val="50000"/>
              <a:buFont typeface="Wingdings" panose="05000000000000000000" pitchFamily="2" charset="2"/>
              <a:buChar char="l"/>
            </a:pPr>
            <a:r>
              <a:rPr lang="zh-CN" altLang="en-US" sz="2600" b="1">
                <a:effectLst>
                  <a:outerShdw blurRad="38100" dist="38100" dir="2700000" algn="tl">
                    <a:srgbClr val="C0C0C0"/>
                  </a:outerShdw>
                </a:effectLst>
                <a:latin typeface="楷体_GB2312" pitchFamily="49" charset="-122"/>
                <a:ea typeface="楷体_GB2312" pitchFamily="49" charset="-122"/>
              </a:rPr>
              <a:t> 按照某种规则建立检查点：写满一半时</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7528"/>
    </mc:Choice>
    <mc:Fallback xmlns="">
      <p:transition spd="slow" advTm="375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44771"/>
                                        </p:tgtEl>
                                        <p:attrNameLst>
                                          <p:attrName>style.visibility</p:attrName>
                                        </p:attrNameLst>
                                      </p:cBhvr>
                                      <p:to>
                                        <p:strVal val="visible"/>
                                      </p:to>
                                    </p:set>
                                    <p:animEffect transition="in" filter="wipe(left)">
                                      <p:cBhvr>
                                        <p:cTn id="7" dur="1000"/>
                                        <p:tgtEl>
                                          <p:spTgt spid="54477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44772">
                                            <p:bg/>
                                          </p:spTgt>
                                        </p:tgtEl>
                                        <p:attrNameLst>
                                          <p:attrName>style.visibility</p:attrName>
                                        </p:attrNameLst>
                                      </p:cBhvr>
                                      <p:to>
                                        <p:strVal val="visible"/>
                                      </p:to>
                                    </p:set>
                                    <p:animEffect transition="in" filter="wipe(up)">
                                      <p:cBhvr>
                                        <p:cTn id="12" dur="500"/>
                                        <p:tgtEl>
                                          <p:spTgt spid="544772">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44772">
                                            <p:txEl>
                                              <p:pRg st="0" end="0"/>
                                            </p:txEl>
                                          </p:spTgt>
                                        </p:tgtEl>
                                        <p:attrNameLst>
                                          <p:attrName>style.visibility</p:attrName>
                                        </p:attrNameLst>
                                      </p:cBhvr>
                                      <p:to>
                                        <p:strVal val="visible"/>
                                      </p:to>
                                    </p:set>
                                    <p:animEffect transition="in" filter="wipe(up)">
                                      <p:cBhvr>
                                        <p:cTn id="17" dur="500"/>
                                        <p:tgtEl>
                                          <p:spTgt spid="54477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44772">
                                            <p:txEl>
                                              <p:pRg st="1" end="1"/>
                                            </p:txEl>
                                          </p:spTgt>
                                        </p:tgtEl>
                                        <p:attrNameLst>
                                          <p:attrName>style.visibility</p:attrName>
                                        </p:attrNameLst>
                                      </p:cBhvr>
                                      <p:to>
                                        <p:strVal val="visible"/>
                                      </p:to>
                                    </p:set>
                                    <p:animEffect transition="in" filter="wipe(up)">
                                      <p:cBhvr>
                                        <p:cTn id="22" dur="500"/>
                                        <p:tgtEl>
                                          <p:spTgt spid="544772">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44772">
                                            <p:txEl>
                                              <p:pRg st="2" end="2"/>
                                            </p:txEl>
                                          </p:spTgt>
                                        </p:tgtEl>
                                        <p:attrNameLst>
                                          <p:attrName>style.visibility</p:attrName>
                                        </p:attrNameLst>
                                      </p:cBhvr>
                                      <p:to>
                                        <p:strVal val="visible"/>
                                      </p:to>
                                    </p:set>
                                    <p:animEffect transition="in" filter="wipe(up)">
                                      <p:cBhvr>
                                        <p:cTn id="27" dur="500"/>
                                        <p:tgtEl>
                                          <p:spTgt spid="544772">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44772">
                                            <p:txEl>
                                              <p:pRg st="3" end="3"/>
                                            </p:txEl>
                                          </p:spTgt>
                                        </p:tgtEl>
                                        <p:attrNameLst>
                                          <p:attrName>style.visibility</p:attrName>
                                        </p:attrNameLst>
                                      </p:cBhvr>
                                      <p:to>
                                        <p:strVal val="visible"/>
                                      </p:to>
                                    </p:set>
                                    <p:animEffect transition="in" filter="wipe(up)">
                                      <p:cBhvr>
                                        <p:cTn id="32" dur="500"/>
                                        <p:tgtEl>
                                          <p:spTgt spid="544772">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544772">
                                            <p:txEl>
                                              <p:pRg st="4" end="4"/>
                                            </p:txEl>
                                          </p:spTgt>
                                        </p:tgtEl>
                                        <p:attrNameLst>
                                          <p:attrName>style.visibility</p:attrName>
                                        </p:attrNameLst>
                                      </p:cBhvr>
                                      <p:to>
                                        <p:strVal val="visible"/>
                                      </p:to>
                                    </p:set>
                                    <p:animEffect transition="in" filter="wipe(up)">
                                      <p:cBhvr>
                                        <p:cTn id="37" dur="500"/>
                                        <p:tgtEl>
                                          <p:spTgt spid="54477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4771" grpId="0"/>
      <p:bldP spid="544772" grpId="0" build="p"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5794" name="Rectangle 2"/>
          <p:cNvSpPr>
            <a:spLocks noGrp="1" noRot="1" noChangeArrowheads="1"/>
          </p:cNvSpPr>
          <p:nvPr>
            <p:ph type="title"/>
          </p:nvPr>
        </p:nvSpPr>
        <p:spPr>
          <a:xfrm>
            <a:off x="1281113" y="325438"/>
            <a:ext cx="5670550"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四、具有检查点的恢复技术</a:t>
            </a:r>
          </a:p>
        </p:txBody>
      </p:sp>
      <p:sp>
        <p:nvSpPr>
          <p:cNvPr id="545795" name="Rectangle 3"/>
          <p:cNvSpPr>
            <a:spLocks noChangeArrowheads="1"/>
          </p:cNvSpPr>
          <p:nvPr/>
        </p:nvSpPr>
        <p:spPr bwMode="auto">
          <a:xfrm>
            <a:off x="611188" y="1187450"/>
            <a:ext cx="63373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1</a:t>
            </a:r>
            <a:r>
              <a:rPr lang="zh-CN" altLang="en-US" sz="3200">
                <a:solidFill>
                  <a:srgbClr val="660033"/>
                </a:solidFill>
                <a:ea typeface="华文新魏" panose="02010800040101010101" pitchFamily="2" charset="-122"/>
              </a:rPr>
              <a:t>、检查点</a:t>
            </a:r>
            <a:endParaRPr lang="en-US" altLang="zh-CN" sz="3200">
              <a:solidFill>
                <a:srgbClr val="660033"/>
              </a:solidFill>
              <a:ea typeface="华文新魏" panose="02010800040101010101" pitchFamily="2" charset="-122"/>
            </a:endParaRPr>
          </a:p>
        </p:txBody>
      </p:sp>
      <p:sp>
        <p:nvSpPr>
          <p:cNvPr id="545796" name="AutoShape 4"/>
          <p:cNvSpPr>
            <a:spLocks noChangeArrowheads="1"/>
          </p:cNvSpPr>
          <p:nvPr/>
        </p:nvSpPr>
        <p:spPr bwMode="auto">
          <a:xfrm>
            <a:off x="611188" y="2060575"/>
            <a:ext cx="7848600" cy="2305050"/>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40000"/>
              </a:spcBef>
              <a:buClr>
                <a:schemeClr val="folHlink"/>
              </a:buClr>
              <a:buSzPct val="60000"/>
              <a:buFont typeface="Wingdings" panose="05000000000000000000" pitchFamily="2" charset="2"/>
              <a:buNone/>
            </a:pPr>
            <a:r>
              <a:rPr lang="zh-CN" altLang="en-US" sz="2800" b="1">
                <a:latin typeface="Tahoma" panose="020B0604030504040204" pitchFamily="34" charset="0"/>
                <a:ea typeface="楷体_GB2312" pitchFamily="49" charset="-122"/>
              </a:rPr>
              <a:t>   （</a:t>
            </a:r>
            <a:r>
              <a:rPr lang="en-US" altLang="zh-CN" sz="2800" b="1">
                <a:latin typeface="Tahoma" panose="020B0604030504040204" pitchFamily="34" charset="0"/>
                <a:ea typeface="楷体_GB2312" pitchFamily="49" charset="-122"/>
              </a:rPr>
              <a:t>3</a:t>
            </a:r>
            <a:r>
              <a:rPr lang="zh-CN" altLang="en-US" sz="2800" b="1">
                <a:latin typeface="Tahoma" panose="020B0604030504040204" pitchFamily="34" charset="0"/>
                <a:ea typeface="楷体_GB2312" pitchFamily="49" charset="-122"/>
              </a:rPr>
              <a:t>）检查点记录：</a:t>
            </a:r>
            <a:endParaRPr lang="zh-CN" altLang="en-US" sz="2600" b="1">
              <a:effectLst>
                <a:outerShdw blurRad="38100" dist="38100" dir="2700000" algn="tl">
                  <a:srgbClr val="C0C0C0"/>
                </a:outerShdw>
              </a:effectLst>
              <a:latin typeface="楷体_GB2312" pitchFamily="49" charset="-122"/>
              <a:ea typeface="楷体_GB2312" pitchFamily="49" charset="-122"/>
            </a:endParaRPr>
          </a:p>
          <a:p>
            <a:pPr lvl="2" algn="just">
              <a:lnSpc>
                <a:spcPct val="120000"/>
              </a:lnSpc>
              <a:spcBef>
                <a:spcPct val="20000"/>
              </a:spcBef>
              <a:buClr>
                <a:srgbClr val="008000"/>
              </a:buClr>
              <a:buSzPct val="50000"/>
              <a:buFont typeface="Wingdings" panose="05000000000000000000" pitchFamily="2" charset="2"/>
              <a:buChar char="l"/>
            </a:pPr>
            <a:r>
              <a:rPr lang="zh-CN" altLang="en-US" sz="2600" b="1">
                <a:effectLst>
                  <a:outerShdw blurRad="38100" dist="38100" dir="2700000" algn="tl">
                    <a:srgbClr val="C0C0C0"/>
                  </a:outerShdw>
                </a:effectLst>
                <a:latin typeface="楷体_GB2312" pitchFamily="49" charset="-122"/>
                <a:ea typeface="楷体_GB2312" pitchFamily="49" charset="-122"/>
              </a:rPr>
              <a:t> 该时刻所有正在执行的事务的标识；</a:t>
            </a:r>
          </a:p>
          <a:p>
            <a:pPr lvl="2" algn="just">
              <a:lnSpc>
                <a:spcPct val="120000"/>
              </a:lnSpc>
              <a:spcBef>
                <a:spcPct val="20000"/>
              </a:spcBef>
              <a:buClr>
                <a:srgbClr val="008000"/>
              </a:buClr>
              <a:buSzPct val="50000"/>
              <a:buFont typeface="Wingdings" panose="05000000000000000000" pitchFamily="2" charset="2"/>
              <a:buChar char="l"/>
            </a:pPr>
            <a:r>
              <a:rPr lang="zh-CN" altLang="en-US" sz="2600" b="1">
                <a:effectLst>
                  <a:outerShdw blurRad="38100" dist="38100" dir="2700000" algn="tl">
                    <a:srgbClr val="C0C0C0"/>
                  </a:outerShdw>
                </a:effectLst>
                <a:latin typeface="楷体_GB2312" pitchFamily="49" charset="-122"/>
                <a:ea typeface="楷体_GB2312" pitchFamily="49" charset="-122"/>
              </a:rPr>
              <a:t> 该时刻所有正在执行的事务的最近一个运行记录在日志中的地址。</a:t>
            </a:r>
          </a:p>
        </p:txBody>
      </p:sp>
      <p:sp>
        <p:nvSpPr>
          <p:cNvPr id="545797" name="Rectangle 5"/>
          <p:cNvSpPr>
            <a:spLocks noChangeArrowheads="1"/>
          </p:cNvSpPr>
          <p:nvPr/>
        </p:nvSpPr>
        <p:spPr bwMode="auto">
          <a:xfrm>
            <a:off x="611188" y="4645025"/>
            <a:ext cx="5832475"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2</a:t>
            </a:r>
            <a:r>
              <a:rPr lang="zh-CN" altLang="en-US" sz="3200">
                <a:solidFill>
                  <a:srgbClr val="660033"/>
                </a:solidFill>
                <a:ea typeface="华文新魏" panose="02010800040101010101" pitchFamily="2" charset="-122"/>
              </a:rPr>
              <a:t>、重新开始文件</a:t>
            </a:r>
            <a:endParaRPr lang="en-US" altLang="zh-CN" sz="3200">
              <a:solidFill>
                <a:srgbClr val="660033"/>
              </a:solidFill>
              <a:ea typeface="华文新魏" panose="02010800040101010101" pitchFamily="2" charset="-122"/>
            </a:endParaRPr>
          </a:p>
        </p:txBody>
      </p:sp>
      <p:sp>
        <p:nvSpPr>
          <p:cNvPr id="545798" name="AutoShape 6"/>
          <p:cNvSpPr>
            <a:spLocks noChangeArrowheads="1"/>
          </p:cNvSpPr>
          <p:nvPr/>
        </p:nvSpPr>
        <p:spPr bwMode="auto">
          <a:xfrm>
            <a:off x="611188" y="5518150"/>
            <a:ext cx="7848600" cy="863600"/>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40000"/>
              </a:spcBef>
              <a:buClr>
                <a:schemeClr val="folHlink"/>
              </a:buClr>
              <a:buSzPct val="60000"/>
              <a:buFont typeface="Wingdings" panose="05000000000000000000" pitchFamily="2" charset="2"/>
              <a:buNone/>
            </a:pPr>
            <a:r>
              <a:rPr lang="zh-CN" altLang="en-US" sz="2800" b="1">
                <a:effectLst>
                  <a:outerShdw blurRad="38100" dist="38100" dir="2700000" algn="tl">
                    <a:srgbClr val="C0C0C0"/>
                  </a:outerShdw>
                </a:effectLst>
                <a:latin typeface="楷体_GB2312" pitchFamily="49" charset="-122"/>
                <a:ea typeface="楷体_GB2312" pitchFamily="49" charset="-122"/>
                <a:cs typeface="Times New Roman" panose="02020603050405020304" pitchFamily="18" charset="0"/>
              </a:rPr>
              <a:t>记录各个检查点记录在日志文件中的地址</a:t>
            </a:r>
            <a:r>
              <a:rPr lang="zh-CN" altLang="en-US" sz="2800" b="1">
                <a:latin typeface="Tahoma" panose="020B0604030504040204" pitchFamily="34" charset="0"/>
                <a:ea typeface="楷体_GB2312" pitchFamily="49" charset="-122"/>
                <a:cs typeface="Times New Roman" panose="02020603050405020304" pitchFamily="18" charset="0"/>
              </a:rPr>
              <a:t>。</a:t>
            </a:r>
            <a:endParaRPr lang="zh-CN" altLang="en-US" sz="2600" b="1">
              <a:effectLst>
                <a:outerShdw blurRad="38100" dist="38100" dir="2700000" algn="tl">
                  <a:srgbClr val="C0C0C0"/>
                </a:outerShdw>
              </a:effectLst>
              <a:latin typeface="楷体_GB2312" pitchFamily="49" charset="-122"/>
              <a:ea typeface="楷体_GB2312" pitchFamily="49" charset="-122"/>
              <a:cs typeface="Times New Roman" panose="02020603050405020304"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1964"/>
    </mc:Choice>
    <mc:Fallback xmlns="">
      <p:transition spd="slow" advTm="2196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45796">
                                            <p:bg/>
                                          </p:spTgt>
                                        </p:tgtEl>
                                        <p:attrNameLst>
                                          <p:attrName>style.visibility</p:attrName>
                                        </p:attrNameLst>
                                      </p:cBhvr>
                                      <p:to>
                                        <p:strVal val="visible"/>
                                      </p:to>
                                    </p:set>
                                    <p:animEffect transition="in" filter="wipe(up)">
                                      <p:cBhvr>
                                        <p:cTn id="7" dur="500"/>
                                        <p:tgtEl>
                                          <p:spTgt spid="545796">
                                            <p:bg/>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45796">
                                            <p:txEl>
                                              <p:pRg st="0" end="0"/>
                                            </p:txEl>
                                          </p:spTgt>
                                        </p:tgtEl>
                                        <p:attrNameLst>
                                          <p:attrName>style.visibility</p:attrName>
                                        </p:attrNameLst>
                                      </p:cBhvr>
                                      <p:to>
                                        <p:strVal val="visible"/>
                                      </p:to>
                                    </p:set>
                                    <p:animEffect transition="in" filter="wipe(up)">
                                      <p:cBhvr>
                                        <p:cTn id="11" dur="500"/>
                                        <p:tgtEl>
                                          <p:spTgt spid="545796">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545796">
                                            <p:txEl>
                                              <p:pRg st="1" end="1"/>
                                            </p:txEl>
                                          </p:spTgt>
                                        </p:tgtEl>
                                        <p:attrNameLst>
                                          <p:attrName>style.visibility</p:attrName>
                                        </p:attrNameLst>
                                      </p:cBhvr>
                                      <p:to>
                                        <p:strVal val="visible"/>
                                      </p:to>
                                    </p:set>
                                    <p:animEffect transition="in" filter="wipe(up)">
                                      <p:cBhvr>
                                        <p:cTn id="16" dur="500"/>
                                        <p:tgtEl>
                                          <p:spTgt spid="545796">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545796">
                                            <p:txEl>
                                              <p:pRg st="2" end="2"/>
                                            </p:txEl>
                                          </p:spTgt>
                                        </p:tgtEl>
                                        <p:attrNameLst>
                                          <p:attrName>style.visibility</p:attrName>
                                        </p:attrNameLst>
                                      </p:cBhvr>
                                      <p:to>
                                        <p:strVal val="visible"/>
                                      </p:to>
                                    </p:set>
                                    <p:animEffect transition="in" filter="wipe(up)">
                                      <p:cBhvr>
                                        <p:cTn id="21" dur="500"/>
                                        <p:tgtEl>
                                          <p:spTgt spid="545796">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45797"/>
                                        </p:tgtEl>
                                        <p:attrNameLst>
                                          <p:attrName>style.visibility</p:attrName>
                                        </p:attrNameLst>
                                      </p:cBhvr>
                                      <p:to>
                                        <p:strVal val="visible"/>
                                      </p:to>
                                    </p:set>
                                    <p:animEffect transition="in" filter="wipe(left)">
                                      <p:cBhvr>
                                        <p:cTn id="26" dur="1000"/>
                                        <p:tgtEl>
                                          <p:spTgt spid="54579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545798">
                                            <p:bg/>
                                          </p:spTgt>
                                        </p:tgtEl>
                                        <p:attrNameLst>
                                          <p:attrName>style.visibility</p:attrName>
                                        </p:attrNameLst>
                                      </p:cBhvr>
                                      <p:to>
                                        <p:strVal val="visible"/>
                                      </p:to>
                                    </p:set>
                                    <p:animEffect transition="in" filter="wipe(up)">
                                      <p:cBhvr>
                                        <p:cTn id="31" dur="500"/>
                                        <p:tgtEl>
                                          <p:spTgt spid="545798">
                                            <p:bg/>
                                          </p:spTgt>
                                        </p:tgtEl>
                                      </p:cBhvr>
                                    </p:animEffect>
                                  </p:childTnLst>
                                </p:cTn>
                              </p:par>
                            </p:childTnLst>
                          </p:cTn>
                        </p:par>
                        <p:par>
                          <p:cTn id="32" fill="hold">
                            <p:stCondLst>
                              <p:cond delay="500"/>
                            </p:stCondLst>
                            <p:childTnLst>
                              <p:par>
                                <p:cTn id="33" presetID="22" presetClass="entr" presetSubtype="1" fill="hold" grpId="0" nodeType="afterEffect">
                                  <p:stCondLst>
                                    <p:cond delay="0"/>
                                  </p:stCondLst>
                                  <p:childTnLst>
                                    <p:set>
                                      <p:cBhvr>
                                        <p:cTn id="34" dur="1" fill="hold">
                                          <p:stCondLst>
                                            <p:cond delay="0"/>
                                          </p:stCondLst>
                                        </p:cTn>
                                        <p:tgtEl>
                                          <p:spTgt spid="545798">
                                            <p:txEl>
                                              <p:pRg st="0" end="0"/>
                                            </p:txEl>
                                          </p:spTgt>
                                        </p:tgtEl>
                                        <p:attrNameLst>
                                          <p:attrName>style.visibility</p:attrName>
                                        </p:attrNameLst>
                                      </p:cBhvr>
                                      <p:to>
                                        <p:strVal val="visible"/>
                                      </p:to>
                                    </p:set>
                                    <p:animEffect transition="in" filter="wipe(up)">
                                      <p:cBhvr>
                                        <p:cTn id="35" dur="500"/>
                                        <p:tgtEl>
                                          <p:spTgt spid="54579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5796" grpId="0" build="p" animBg="1"/>
      <p:bldP spid="545797" grpId="0"/>
      <p:bldP spid="545798" grpId="0" build="p" animBg="1"/>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6818" name="Rectangle 2"/>
          <p:cNvSpPr>
            <a:spLocks noGrp="1" noRot="1" noChangeArrowheads="1"/>
          </p:cNvSpPr>
          <p:nvPr>
            <p:ph type="title"/>
          </p:nvPr>
        </p:nvSpPr>
        <p:spPr>
          <a:xfrm>
            <a:off x="1281113" y="325438"/>
            <a:ext cx="5670550"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四、具有检查点的恢复技术</a:t>
            </a:r>
          </a:p>
        </p:txBody>
      </p:sp>
      <p:sp>
        <p:nvSpPr>
          <p:cNvPr id="546819" name="Rectangle 3"/>
          <p:cNvSpPr>
            <a:spLocks noChangeArrowheads="1"/>
          </p:cNvSpPr>
          <p:nvPr/>
        </p:nvSpPr>
        <p:spPr bwMode="auto">
          <a:xfrm>
            <a:off x="611188" y="1187450"/>
            <a:ext cx="6697662"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3</a:t>
            </a:r>
            <a:r>
              <a:rPr lang="zh-CN" altLang="en-US" sz="3200">
                <a:solidFill>
                  <a:srgbClr val="660033"/>
                </a:solidFill>
                <a:ea typeface="华文新魏" panose="02010800040101010101" pitchFamily="2" charset="-122"/>
              </a:rPr>
              <a:t>、</a:t>
            </a:r>
            <a:r>
              <a:rPr lang="zh-CN" altLang="zh-CN" sz="3200">
                <a:solidFill>
                  <a:srgbClr val="660033"/>
                </a:solidFill>
                <a:ea typeface="华文新魏" panose="02010800040101010101" pitchFamily="2" charset="-122"/>
              </a:rPr>
              <a:t>检查点时刻执行的操作</a:t>
            </a:r>
            <a:endParaRPr lang="en-US" altLang="zh-CN" sz="3200">
              <a:solidFill>
                <a:srgbClr val="660033"/>
              </a:solidFill>
              <a:ea typeface="华文新魏" panose="02010800040101010101" pitchFamily="2" charset="-122"/>
            </a:endParaRPr>
          </a:p>
        </p:txBody>
      </p:sp>
      <p:sp>
        <p:nvSpPr>
          <p:cNvPr id="546820" name="AutoShape 4"/>
          <p:cNvSpPr>
            <a:spLocks noChangeArrowheads="1"/>
          </p:cNvSpPr>
          <p:nvPr/>
        </p:nvSpPr>
        <p:spPr bwMode="auto">
          <a:xfrm>
            <a:off x="611188" y="2060575"/>
            <a:ext cx="7848600" cy="4392613"/>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just">
              <a:lnSpc>
                <a:spcPct val="120000"/>
              </a:lnSpc>
              <a:spcBef>
                <a:spcPct val="20000"/>
              </a:spcBef>
              <a:buClr>
                <a:schemeClr val="folHlink"/>
              </a:buClr>
              <a:buSzPct val="60000"/>
              <a:buFont typeface="Wingdings" panose="05000000000000000000" pitchFamily="2" charset="2"/>
              <a:buNone/>
            </a:pPr>
            <a:r>
              <a:rPr lang="en-US" altLang="zh-CN" sz="2800" b="1">
                <a:effectLst>
                  <a:outerShdw blurRad="38100" dist="38100" dir="2700000" algn="tl">
                    <a:srgbClr val="C0C0C0"/>
                  </a:outerShdw>
                </a:effectLst>
                <a:latin typeface="楷体_GB2312" pitchFamily="49" charset="-122"/>
                <a:ea typeface="楷体_GB2312" pitchFamily="49" charset="-122"/>
              </a:rPr>
              <a:t> ①</a:t>
            </a:r>
            <a:r>
              <a:rPr lang="zh-CN" altLang="en-US" sz="2800" b="1">
                <a:effectLst>
                  <a:outerShdw blurRad="38100" dist="38100" dir="2700000" algn="tl">
                    <a:srgbClr val="C0C0C0"/>
                  </a:outerShdw>
                </a:effectLst>
                <a:latin typeface="楷体_GB2312" pitchFamily="49" charset="-122"/>
                <a:ea typeface="楷体_GB2312" pitchFamily="49" charset="-122"/>
              </a:rPr>
              <a:t>将当前日志缓冲区中的所有</a:t>
            </a:r>
            <a:r>
              <a:rPr lang="zh-CN" altLang="en-US" sz="2800" b="1">
                <a:solidFill>
                  <a:srgbClr val="0000FF"/>
                </a:solidFill>
                <a:effectLst>
                  <a:outerShdw blurRad="38100" dist="38100" dir="2700000" algn="tl">
                    <a:srgbClr val="C0C0C0"/>
                  </a:outerShdw>
                </a:effectLst>
                <a:latin typeface="楷体_GB2312" pitchFamily="49" charset="-122"/>
                <a:ea typeface="楷体_GB2312" pitchFamily="49" charset="-122"/>
              </a:rPr>
              <a:t>日志记录</a:t>
            </a:r>
            <a:r>
              <a:rPr lang="zh-CN" altLang="en-US" sz="2800" b="1">
                <a:effectLst>
                  <a:outerShdw blurRad="38100" dist="38100" dir="2700000" algn="tl">
                    <a:srgbClr val="C0C0C0"/>
                  </a:outerShdw>
                </a:effectLst>
                <a:latin typeface="楷体_GB2312" pitchFamily="49" charset="-122"/>
                <a:ea typeface="楷体_GB2312" pitchFamily="49" charset="-122"/>
              </a:rPr>
              <a:t>写入磁盘的日志文件中；</a:t>
            </a:r>
          </a:p>
          <a:p>
            <a:pPr algn="just">
              <a:lnSpc>
                <a:spcPct val="120000"/>
              </a:lnSpc>
              <a:spcBef>
                <a:spcPct val="20000"/>
              </a:spcBef>
              <a:buClr>
                <a:schemeClr val="folHlink"/>
              </a:buClr>
              <a:buSzPct val="60000"/>
              <a:buFont typeface="Wingdings" panose="05000000000000000000" pitchFamily="2" charset="2"/>
              <a:buNone/>
            </a:pPr>
            <a:r>
              <a:rPr lang="en-US" altLang="zh-CN" sz="2800" b="1">
                <a:solidFill>
                  <a:srgbClr val="CC00CC"/>
                </a:solidFill>
                <a:effectLst>
                  <a:outerShdw blurRad="38100" dist="38100" dir="2700000" algn="tl">
                    <a:srgbClr val="C0C0C0"/>
                  </a:outerShdw>
                </a:effectLst>
                <a:latin typeface="楷体_GB2312" pitchFamily="49" charset="-122"/>
                <a:ea typeface="楷体_GB2312" pitchFamily="49" charset="-122"/>
              </a:rPr>
              <a:t> </a:t>
            </a:r>
            <a:r>
              <a:rPr lang="en-US" altLang="zh-CN" sz="2800" b="1">
                <a:effectLst>
                  <a:outerShdw blurRad="38100" dist="38100" dir="2700000" algn="tl">
                    <a:srgbClr val="C0C0C0"/>
                  </a:outerShdw>
                </a:effectLst>
                <a:latin typeface="楷体_GB2312" pitchFamily="49" charset="-122"/>
                <a:ea typeface="楷体_GB2312" pitchFamily="49" charset="-122"/>
              </a:rPr>
              <a:t>②</a:t>
            </a:r>
            <a:r>
              <a:rPr lang="zh-CN" altLang="en-US" sz="2800" b="1">
                <a:effectLst>
                  <a:outerShdw blurRad="38100" dist="38100" dir="2700000" algn="tl">
                    <a:srgbClr val="C0C0C0"/>
                  </a:outerShdw>
                </a:effectLst>
                <a:latin typeface="楷体_GB2312" pitchFamily="49" charset="-122"/>
                <a:ea typeface="楷体_GB2312" pitchFamily="49" charset="-122"/>
              </a:rPr>
              <a:t>在日志文件中写入一个</a:t>
            </a:r>
            <a:r>
              <a:rPr lang="zh-CN" altLang="en-US" sz="2800" b="1">
                <a:solidFill>
                  <a:srgbClr val="0000FF"/>
                </a:solidFill>
                <a:effectLst>
                  <a:outerShdw blurRad="38100" dist="38100" dir="2700000" algn="tl">
                    <a:srgbClr val="C0C0C0"/>
                  </a:outerShdw>
                </a:effectLst>
                <a:latin typeface="楷体_GB2312" pitchFamily="49" charset="-122"/>
                <a:ea typeface="楷体_GB2312" pitchFamily="49" charset="-122"/>
              </a:rPr>
              <a:t>检查点记录；</a:t>
            </a:r>
          </a:p>
          <a:p>
            <a:pPr algn="just">
              <a:lnSpc>
                <a:spcPct val="120000"/>
              </a:lnSpc>
              <a:spcBef>
                <a:spcPct val="20000"/>
              </a:spcBef>
              <a:buClr>
                <a:schemeClr val="folHlink"/>
              </a:buClr>
              <a:buSzPct val="60000"/>
              <a:buFont typeface="Wingdings" panose="05000000000000000000" pitchFamily="2" charset="2"/>
              <a:buNone/>
            </a:pPr>
            <a:r>
              <a:rPr lang="en-US" altLang="zh-CN" sz="2800" b="1">
                <a:effectLst>
                  <a:outerShdw blurRad="38100" dist="38100" dir="2700000" algn="tl">
                    <a:srgbClr val="C0C0C0"/>
                  </a:outerShdw>
                </a:effectLst>
                <a:latin typeface="楷体_GB2312" pitchFamily="49" charset="-122"/>
                <a:ea typeface="楷体_GB2312" pitchFamily="49" charset="-122"/>
              </a:rPr>
              <a:t> ③</a:t>
            </a:r>
            <a:r>
              <a:rPr lang="zh-CN" altLang="en-US" sz="2800" b="1">
                <a:effectLst>
                  <a:outerShdw blurRad="38100" dist="38100" dir="2700000" algn="tl">
                    <a:srgbClr val="C0C0C0"/>
                  </a:outerShdw>
                </a:effectLst>
                <a:latin typeface="楷体_GB2312" pitchFamily="49" charset="-122"/>
                <a:ea typeface="楷体_GB2312" pitchFamily="49" charset="-122"/>
              </a:rPr>
              <a:t>将当前数据缓冲区的所有</a:t>
            </a:r>
            <a:r>
              <a:rPr lang="zh-CN" altLang="en-US" sz="2800" b="1">
                <a:solidFill>
                  <a:srgbClr val="0000FF"/>
                </a:solidFill>
                <a:effectLst>
                  <a:outerShdw blurRad="38100" dist="38100" dir="2700000" algn="tl">
                    <a:srgbClr val="C0C0C0"/>
                  </a:outerShdw>
                </a:effectLst>
                <a:latin typeface="楷体_GB2312" pitchFamily="49" charset="-122"/>
                <a:ea typeface="楷体_GB2312" pitchFamily="49" charset="-122"/>
              </a:rPr>
              <a:t>数据记录</a:t>
            </a:r>
            <a:r>
              <a:rPr lang="zh-CN" altLang="en-US" sz="2800" b="1">
                <a:effectLst>
                  <a:outerShdw blurRad="38100" dist="38100" dir="2700000" algn="tl">
                    <a:srgbClr val="C0C0C0"/>
                  </a:outerShdw>
                </a:effectLst>
                <a:latin typeface="楷体_GB2312" pitchFamily="49" charset="-122"/>
                <a:ea typeface="楷体_GB2312" pitchFamily="49" charset="-122"/>
              </a:rPr>
              <a:t>写入磁盘的数据库中；</a:t>
            </a:r>
          </a:p>
          <a:p>
            <a:pPr algn="just">
              <a:lnSpc>
                <a:spcPct val="120000"/>
              </a:lnSpc>
              <a:spcBef>
                <a:spcPct val="20000"/>
              </a:spcBef>
              <a:buClr>
                <a:schemeClr val="folHlink"/>
              </a:buClr>
              <a:buSzPct val="60000"/>
              <a:buFont typeface="Wingdings" panose="05000000000000000000" pitchFamily="2" charset="2"/>
              <a:buNone/>
            </a:pPr>
            <a:r>
              <a:rPr lang="en-US" altLang="zh-CN" sz="2800" b="1">
                <a:effectLst>
                  <a:outerShdw blurRad="38100" dist="38100" dir="2700000" algn="tl">
                    <a:srgbClr val="C0C0C0"/>
                  </a:outerShdw>
                </a:effectLst>
                <a:latin typeface="楷体_GB2312" pitchFamily="49" charset="-122"/>
                <a:ea typeface="楷体_GB2312" pitchFamily="49" charset="-122"/>
              </a:rPr>
              <a:t> ④</a:t>
            </a:r>
            <a:r>
              <a:rPr lang="zh-CN" altLang="en-US" sz="2800" b="1">
                <a:effectLst>
                  <a:outerShdw blurRad="38100" dist="38100" dir="2700000" algn="tl">
                    <a:srgbClr val="C0C0C0"/>
                  </a:outerShdw>
                </a:effectLst>
                <a:latin typeface="楷体_GB2312" pitchFamily="49" charset="-122"/>
                <a:ea typeface="楷体_GB2312" pitchFamily="49" charset="-122"/>
              </a:rPr>
              <a:t>把检查点记录在日志文件中的</a:t>
            </a:r>
            <a:r>
              <a:rPr lang="zh-CN" altLang="en-US" sz="2800" b="1">
                <a:solidFill>
                  <a:srgbClr val="0000FF"/>
                </a:solidFill>
                <a:effectLst>
                  <a:outerShdw blurRad="38100" dist="38100" dir="2700000" algn="tl">
                    <a:srgbClr val="C0C0C0"/>
                  </a:outerShdw>
                </a:effectLst>
                <a:latin typeface="楷体_GB2312" pitchFamily="49" charset="-122"/>
                <a:ea typeface="楷体_GB2312" pitchFamily="49" charset="-122"/>
              </a:rPr>
              <a:t>地址</a:t>
            </a:r>
            <a:r>
              <a:rPr lang="zh-CN" altLang="en-US" sz="2800" b="1">
                <a:effectLst>
                  <a:outerShdw blurRad="38100" dist="38100" dir="2700000" algn="tl">
                    <a:srgbClr val="C0C0C0"/>
                  </a:outerShdw>
                </a:effectLst>
                <a:latin typeface="楷体_GB2312" pitchFamily="49" charset="-122"/>
                <a:ea typeface="楷体_GB2312" pitchFamily="49" charset="-122"/>
              </a:rPr>
              <a:t>写入</a:t>
            </a:r>
            <a:r>
              <a:rPr lang="zh-CN" altLang="en-US" sz="2800" b="1">
                <a:effectLst>
                  <a:outerShdw blurRad="38100" dist="38100" dir="2700000" algn="tl">
                    <a:srgbClr val="C0C0C0"/>
                  </a:outerShdw>
                </a:effectLst>
                <a:ea typeface="楷体_GB2312" pitchFamily="49" charset="-122"/>
              </a:rPr>
              <a:t>“</a:t>
            </a:r>
            <a:r>
              <a:rPr lang="zh-CN" altLang="en-US" sz="2800" b="1">
                <a:effectLst>
                  <a:outerShdw blurRad="38100" dist="38100" dir="2700000" algn="tl">
                    <a:srgbClr val="C0C0C0"/>
                  </a:outerShdw>
                </a:effectLst>
                <a:latin typeface="楷体_GB2312" pitchFamily="49" charset="-122"/>
                <a:ea typeface="楷体_GB2312" pitchFamily="49" charset="-122"/>
              </a:rPr>
              <a:t>重新开始文件</a:t>
            </a:r>
            <a:r>
              <a:rPr lang="zh-CN" altLang="en-US" sz="2800" b="1">
                <a:effectLst>
                  <a:outerShdw blurRad="38100" dist="38100" dir="2700000" algn="tl">
                    <a:srgbClr val="C0C0C0"/>
                  </a:outerShdw>
                </a:effectLst>
                <a:ea typeface="楷体_GB2312" pitchFamily="49" charset="-122"/>
              </a:rPr>
              <a:t>”</a:t>
            </a:r>
            <a:r>
              <a:rPr lang="zh-CN" altLang="en-US" sz="2800" b="1">
                <a:effectLst>
                  <a:outerShdw blurRad="38100" dist="38100" dir="2700000" algn="tl">
                    <a:srgbClr val="C0C0C0"/>
                  </a:outerShdw>
                </a:effectLst>
                <a:latin typeface="楷体_GB2312" pitchFamily="49" charset="-122"/>
                <a:ea typeface="楷体_GB2312" pitchFamily="49" charset="-122"/>
              </a:rPr>
              <a:t>。</a:t>
            </a:r>
          </a:p>
        </p:txBody>
      </p:sp>
      <p:sp>
        <p:nvSpPr>
          <p:cNvPr id="147461" name="Rectangle 5"/>
          <p:cNvSpPr>
            <a:spLocks noChangeArrowheads="1"/>
          </p:cNvSpPr>
          <p:nvPr/>
        </p:nvSpPr>
        <p:spPr bwMode="auto">
          <a:xfrm>
            <a:off x="971550" y="2924175"/>
            <a:ext cx="6985000" cy="2008188"/>
          </a:xfrm>
          <a:prstGeom prst="rect">
            <a:avLst/>
          </a:prstGeom>
          <a:gradFill rotWithShape="1">
            <a:gsLst>
              <a:gs pos="0">
                <a:srgbClr val="99CC00"/>
              </a:gs>
              <a:gs pos="100000">
                <a:srgbClr val="475E00"/>
              </a:gs>
            </a:gsLst>
            <a:lin ang="5400000" scaled="1"/>
          </a:gradFill>
          <a:ln w="9525">
            <a:miter lim="800000"/>
          </a:ln>
          <a:effectLst/>
          <a:scene3d>
            <a:camera prst="legacyPerspectiveBottomLeft"/>
            <a:lightRig rig="legacyFlat3" dir="b"/>
          </a:scene3d>
          <a:sp3d extrusionH="430200" prstMaterial="legacyMatte">
            <a:bevelT w="13500" h="13500" prst="angle"/>
            <a:bevelB w="13500" h="13500" prst="angle"/>
            <a:extrusionClr>
              <a:schemeClr val="folHlink"/>
            </a:extrusionClr>
            <a:contourClr>
              <a:srgbClr val="99CC0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3200" b="1">
                <a:solidFill>
                  <a:srgbClr val="43FFFF"/>
                </a:solidFill>
                <a:effectLst>
                  <a:outerShdw blurRad="38100" dist="38100" dir="2700000" algn="tl">
                    <a:srgbClr val="000000"/>
                  </a:outerShdw>
                </a:effectLst>
                <a:latin typeface="Arial" panose="020B0604020202020204" pitchFamily="34" charset="0"/>
                <a:ea typeface="华文中宋" panose="02010600040101010101" pitchFamily="2" charset="-122"/>
              </a:rPr>
              <a:t>符合</a:t>
            </a:r>
            <a:r>
              <a:rPr kumimoji="0" lang="zh-CN" altLang="en-US" sz="3200" b="1">
                <a:solidFill>
                  <a:srgbClr val="43FFFF"/>
                </a:solidFill>
                <a:effectLst>
                  <a:outerShdw blurRad="38100" dist="38100" dir="2700000" algn="tl">
                    <a:srgbClr val="000000"/>
                  </a:outerShdw>
                </a:effectLst>
                <a:latin typeface="华文中宋" panose="02010600040101010101" pitchFamily="2" charset="-122"/>
                <a:ea typeface="华文中宋" panose="02010600040101010101" pitchFamily="2" charset="-122"/>
              </a:rPr>
              <a:t>“</a:t>
            </a:r>
            <a:r>
              <a:rPr kumimoji="0" lang="zh-CN" altLang="en-US" sz="3200" b="1">
                <a:solidFill>
                  <a:srgbClr val="43FFFF"/>
                </a:solidFill>
                <a:effectLst>
                  <a:outerShdw blurRad="38100" dist="38100" dir="2700000" algn="tl">
                    <a:srgbClr val="000000"/>
                  </a:outerShdw>
                </a:effectLst>
                <a:latin typeface="Arial" panose="020B0604020202020204" pitchFamily="34" charset="0"/>
                <a:ea typeface="华文中宋" panose="02010600040101010101" pitchFamily="2" charset="-122"/>
              </a:rPr>
              <a:t>日志记录优先写入</a:t>
            </a:r>
            <a:r>
              <a:rPr kumimoji="0" lang="zh-CN" altLang="en-US" sz="3200" b="1">
                <a:solidFill>
                  <a:srgbClr val="43FFFF"/>
                </a:solidFill>
                <a:effectLst>
                  <a:outerShdw blurRad="38100" dist="38100" dir="2700000" algn="tl">
                    <a:srgbClr val="000000"/>
                  </a:outerShdw>
                </a:effectLst>
                <a:latin typeface="华文中宋" panose="02010600040101010101" pitchFamily="2" charset="-122"/>
                <a:ea typeface="华文中宋" panose="02010600040101010101" pitchFamily="2" charset="-122"/>
              </a:rPr>
              <a:t>”</a:t>
            </a:r>
            <a:r>
              <a:rPr kumimoji="0" lang="zh-CN" altLang="en-US" sz="3200" b="1">
                <a:solidFill>
                  <a:srgbClr val="43FFFF"/>
                </a:solidFill>
                <a:effectLst>
                  <a:outerShdw blurRad="38100" dist="38100" dir="2700000" algn="tl">
                    <a:srgbClr val="000000"/>
                  </a:outerShdw>
                </a:effectLst>
                <a:latin typeface="Arial" panose="020B0604020202020204" pitchFamily="34" charset="0"/>
                <a:ea typeface="华文中宋" panose="02010600040101010101" pitchFamily="2" charset="-122"/>
              </a:rPr>
              <a:t>原则</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2013"/>
    </mc:Choice>
    <mc:Fallback xmlns="">
      <p:transition spd="slow" advTm="3201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46819"/>
                                        </p:tgtEl>
                                        <p:attrNameLst>
                                          <p:attrName>style.visibility</p:attrName>
                                        </p:attrNameLst>
                                      </p:cBhvr>
                                      <p:to>
                                        <p:strVal val="visible"/>
                                      </p:to>
                                    </p:set>
                                    <p:animEffect transition="in" filter="wipe(left)">
                                      <p:cBhvr>
                                        <p:cTn id="7" dur="1000"/>
                                        <p:tgtEl>
                                          <p:spTgt spid="5468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46820">
                                            <p:bg/>
                                          </p:spTgt>
                                        </p:tgtEl>
                                        <p:attrNameLst>
                                          <p:attrName>style.visibility</p:attrName>
                                        </p:attrNameLst>
                                      </p:cBhvr>
                                      <p:to>
                                        <p:strVal val="visible"/>
                                      </p:to>
                                    </p:set>
                                    <p:animEffect transition="in" filter="wipe(up)">
                                      <p:cBhvr>
                                        <p:cTn id="12" dur="500"/>
                                        <p:tgtEl>
                                          <p:spTgt spid="546820">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46820">
                                            <p:txEl>
                                              <p:pRg st="0" end="0"/>
                                            </p:txEl>
                                          </p:spTgt>
                                        </p:tgtEl>
                                        <p:attrNameLst>
                                          <p:attrName>style.visibility</p:attrName>
                                        </p:attrNameLst>
                                      </p:cBhvr>
                                      <p:to>
                                        <p:strVal val="visible"/>
                                      </p:to>
                                    </p:set>
                                    <p:animEffect transition="in" filter="wipe(up)">
                                      <p:cBhvr>
                                        <p:cTn id="17" dur="500"/>
                                        <p:tgtEl>
                                          <p:spTgt spid="54682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46820">
                                            <p:txEl>
                                              <p:pRg st="1" end="1"/>
                                            </p:txEl>
                                          </p:spTgt>
                                        </p:tgtEl>
                                        <p:attrNameLst>
                                          <p:attrName>style.visibility</p:attrName>
                                        </p:attrNameLst>
                                      </p:cBhvr>
                                      <p:to>
                                        <p:strVal val="visible"/>
                                      </p:to>
                                    </p:set>
                                    <p:animEffect transition="in" filter="wipe(up)">
                                      <p:cBhvr>
                                        <p:cTn id="22" dur="500"/>
                                        <p:tgtEl>
                                          <p:spTgt spid="546820">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46820">
                                            <p:txEl>
                                              <p:pRg st="2" end="2"/>
                                            </p:txEl>
                                          </p:spTgt>
                                        </p:tgtEl>
                                        <p:attrNameLst>
                                          <p:attrName>style.visibility</p:attrName>
                                        </p:attrNameLst>
                                      </p:cBhvr>
                                      <p:to>
                                        <p:strVal val="visible"/>
                                      </p:to>
                                    </p:set>
                                    <p:animEffect transition="in" filter="wipe(up)">
                                      <p:cBhvr>
                                        <p:cTn id="27" dur="500"/>
                                        <p:tgtEl>
                                          <p:spTgt spid="546820">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46820">
                                            <p:txEl>
                                              <p:pRg st="3" end="3"/>
                                            </p:txEl>
                                          </p:spTgt>
                                        </p:tgtEl>
                                        <p:attrNameLst>
                                          <p:attrName>style.visibility</p:attrName>
                                        </p:attrNameLst>
                                      </p:cBhvr>
                                      <p:to>
                                        <p:strVal val="visible"/>
                                      </p:to>
                                    </p:set>
                                    <p:animEffect transition="in" filter="wipe(up)">
                                      <p:cBhvr>
                                        <p:cTn id="32" dur="500"/>
                                        <p:tgtEl>
                                          <p:spTgt spid="546820">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147461"/>
                                        </p:tgtEl>
                                        <p:attrNameLst>
                                          <p:attrName>style.visibility</p:attrName>
                                        </p:attrNameLst>
                                      </p:cBhvr>
                                      <p:to>
                                        <p:strVal val="visible"/>
                                      </p:to>
                                    </p:set>
                                    <p:animEffect transition="in" filter="fade">
                                      <p:cBhvr>
                                        <p:cTn id="37" dur="500"/>
                                        <p:tgtEl>
                                          <p:spTgt spid="147461"/>
                                        </p:tgtEl>
                                      </p:cBhvr>
                                    </p:animEffect>
                                    <p:anim calcmode="lin" valueType="num">
                                      <p:cBhvr>
                                        <p:cTn id="38" dur="500" fill="hold"/>
                                        <p:tgtEl>
                                          <p:spTgt spid="147461"/>
                                        </p:tgtEl>
                                        <p:attrNameLst>
                                          <p:attrName>ppt_x</p:attrName>
                                        </p:attrNameLst>
                                      </p:cBhvr>
                                      <p:tavLst>
                                        <p:tav tm="0">
                                          <p:val>
                                            <p:strVal val="#ppt_x"/>
                                          </p:val>
                                        </p:tav>
                                        <p:tav tm="100000">
                                          <p:val>
                                            <p:strVal val="#ppt_x"/>
                                          </p:val>
                                        </p:tav>
                                      </p:tavLst>
                                    </p:anim>
                                    <p:anim calcmode="lin" valueType="num">
                                      <p:cBhvr>
                                        <p:cTn id="39" dur="500" fill="hold"/>
                                        <p:tgtEl>
                                          <p:spTgt spid="14746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6819" grpId="0"/>
      <p:bldP spid="546820" grpId="0" build="p" animBg="1"/>
      <p:bldP spid="14746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p:cNvSpPr>
            <a:spLocks noChangeArrowheads="1"/>
          </p:cNvSpPr>
          <p:nvPr/>
        </p:nvSpPr>
        <p:spPr bwMode="auto">
          <a:xfrm>
            <a:off x="0" y="32877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47843" name="Text Box 3"/>
          <p:cNvSpPr txBox="1">
            <a:spLocks noChangeArrowheads="1"/>
          </p:cNvSpPr>
          <p:nvPr/>
        </p:nvSpPr>
        <p:spPr bwMode="auto">
          <a:xfrm>
            <a:off x="1476375" y="2205038"/>
            <a:ext cx="919163" cy="73025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lIns="0" tIns="0" rIns="0" bIns="0">
            <a:spAutoFit/>
          </a:bodyPr>
          <a:lstStyle/>
          <a:p>
            <a:r>
              <a:rPr lang="en-US" altLang="en-US" sz="2400" b="1">
                <a:solidFill>
                  <a:srgbClr val="003399"/>
                </a:solidFill>
                <a:effectLst>
                  <a:outerShdw blurRad="38100" dist="38100" dir="2700000" algn="tl">
                    <a:srgbClr val="C0C0C0"/>
                  </a:outerShdw>
                </a:effectLst>
                <a:ea typeface="仿宋_GB2312" pitchFamily="49" charset="-122"/>
              </a:rPr>
              <a:t>不需要</a:t>
            </a:r>
            <a:endParaRPr lang="en-US" altLang="zh-CN" sz="2400" b="1">
              <a:solidFill>
                <a:srgbClr val="003399"/>
              </a:solidFill>
              <a:effectLst>
                <a:outerShdw blurRad="38100" dist="38100" dir="2700000" algn="tl">
                  <a:srgbClr val="C0C0C0"/>
                </a:outerShdw>
              </a:effectLst>
              <a:ea typeface="仿宋_GB2312" pitchFamily="49" charset="-122"/>
            </a:endParaRPr>
          </a:p>
          <a:p>
            <a:r>
              <a:rPr lang="en-US" altLang="en-US" sz="2400" b="1">
                <a:solidFill>
                  <a:srgbClr val="003399"/>
                </a:solidFill>
                <a:effectLst>
                  <a:outerShdw blurRad="38100" dist="38100" dir="2700000" algn="tl">
                    <a:srgbClr val="C0C0C0"/>
                  </a:outerShdw>
                </a:effectLst>
                <a:ea typeface="仿宋_GB2312" pitchFamily="49" charset="-122"/>
              </a:rPr>
              <a:t>Redo</a:t>
            </a:r>
            <a:endParaRPr lang="zh-CN" altLang="en-US" sz="2400" b="1">
              <a:solidFill>
                <a:srgbClr val="003399"/>
              </a:solidFill>
              <a:effectLst>
                <a:outerShdw blurRad="38100" dist="38100" dir="2700000" algn="tl">
                  <a:srgbClr val="C0C0C0"/>
                </a:outerShdw>
              </a:effectLst>
              <a:ea typeface="仿宋_GB2312" pitchFamily="49" charset="-122"/>
            </a:endParaRPr>
          </a:p>
        </p:txBody>
      </p:sp>
      <p:sp>
        <p:nvSpPr>
          <p:cNvPr id="547844" name="Text Box 4"/>
          <p:cNvSpPr txBox="1">
            <a:spLocks noChangeArrowheads="1"/>
          </p:cNvSpPr>
          <p:nvPr/>
        </p:nvSpPr>
        <p:spPr bwMode="auto">
          <a:xfrm>
            <a:off x="3516313" y="3160713"/>
            <a:ext cx="762000" cy="36512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lIns="0" tIns="0" rIns="0" bIns="0">
            <a:spAutoFit/>
          </a:bodyPr>
          <a:lstStyle/>
          <a:p>
            <a:r>
              <a:rPr lang="en-US" altLang="en-US" sz="2400" b="1">
                <a:solidFill>
                  <a:srgbClr val="003399"/>
                </a:solidFill>
                <a:effectLst>
                  <a:outerShdw blurRad="38100" dist="38100" dir="2700000" algn="tl">
                    <a:srgbClr val="C0C0C0"/>
                  </a:outerShdw>
                </a:effectLst>
                <a:ea typeface="仿宋_GB2312" pitchFamily="49" charset="-122"/>
              </a:rPr>
              <a:t>Redo</a:t>
            </a:r>
            <a:endParaRPr lang="zh-CN" altLang="en-US" sz="2400" b="1">
              <a:solidFill>
                <a:srgbClr val="003399"/>
              </a:solidFill>
              <a:effectLst>
                <a:outerShdw blurRad="38100" dist="38100" dir="2700000" algn="tl">
                  <a:srgbClr val="C0C0C0"/>
                </a:outerShdw>
              </a:effectLst>
              <a:ea typeface="仿宋_GB2312" pitchFamily="49" charset="-122"/>
            </a:endParaRPr>
          </a:p>
        </p:txBody>
      </p:sp>
      <p:sp>
        <p:nvSpPr>
          <p:cNvPr id="547845" name="Text Box 5"/>
          <p:cNvSpPr txBox="1">
            <a:spLocks noChangeArrowheads="1"/>
          </p:cNvSpPr>
          <p:nvPr/>
        </p:nvSpPr>
        <p:spPr bwMode="auto">
          <a:xfrm>
            <a:off x="7178675" y="3881438"/>
            <a:ext cx="777875" cy="36512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lIns="0" tIns="0" rIns="0" bIns="0">
            <a:spAutoFit/>
          </a:bodyPr>
          <a:lstStyle/>
          <a:p>
            <a:r>
              <a:rPr lang="en-US" altLang="en-US" sz="2400" b="1">
                <a:solidFill>
                  <a:srgbClr val="003399"/>
                </a:solidFill>
                <a:effectLst>
                  <a:outerShdw blurRad="38100" dist="38100" dir="2700000" algn="tl">
                    <a:srgbClr val="C0C0C0"/>
                  </a:outerShdw>
                </a:effectLst>
                <a:ea typeface="仿宋_GB2312" pitchFamily="49" charset="-122"/>
              </a:rPr>
              <a:t>Undo</a:t>
            </a:r>
            <a:endParaRPr lang="zh-CN" altLang="en-US" sz="2400" b="1">
              <a:solidFill>
                <a:srgbClr val="003399"/>
              </a:solidFill>
              <a:effectLst>
                <a:outerShdw blurRad="38100" dist="38100" dir="2700000" algn="tl">
                  <a:srgbClr val="C0C0C0"/>
                </a:outerShdw>
              </a:effectLst>
              <a:ea typeface="仿宋_GB2312" pitchFamily="49" charset="-122"/>
            </a:endParaRPr>
          </a:p>
        </p:txBody>
      </p:sp>
      <p:sp>
        <p:nvSpPr>
          <p:cNvPr id="547846" name="Text Box 6"/>
          <p:cNvSpPr txBox="1">
            <a:spLocks noChangeArrowheads="1"/>
          </p:cNvSpPr>
          <p:nvPr/>
        </p:nvSpPr>
        <p:spPr bwMode="auto">
          <a:xfrm>
            <a:off x="5100638" y="4773613"/>
            <a:ext cx="762000" cy="36512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lIns="0" tIns="0" rIns="0" bIns="0">
            <a:spAutoFit/>
          </a:bodyPr>
          <a:lstStyle/>
          <a:p>
            <a:r>
              <a:rPr lang="en-US" altLang="en-US" sz="2400" b="1">
                <a:solidFill>
                  <a:srgbClr val="003399"/>
                </a:solidFill>
                <a:effectLst>
                  <a:outerShdw blurRad="38100" dist="38100" dir="2700000" algn="tl">
                    <a:srgbClr val="C0C0C0"/>
                  </a:outerShdw>
                </a:effectLst>
                <a:ea typeface="仿宋_GB2312" pitchFamily="49" charset="-122"/>
              </a:rPr>
              <a:t>Redo</a:t>
            </a:r>
            <a:endParaRPr lang="zh-CN" altLang="en-US" sz="2400" b="1">
              <a:solidFill>
                <a:srgbClr val="003399"/>
              </a:solidFill>
              <a:effectLst>
                <a:outerShdw blurRad="38100" dist="38100" dir="2700000" algn="tl">
                  <a:srgbClr val="C0C0C0"/>
                </a:outerShdw>
              </a:effectLst>
              <a:ea typeface="仿宋_GB2312" pitchFamily="49" charset="-122"/>
            </a:endParaRPr>
          </a:p>
        </p:txBody>
      </p:sp>
      <p:grpSp>
        <p:nvGrpSpPr>
          <p:cNvPr id="547847" name="Group 7"/>
          <p:cNvGrpSpPr/>
          <p:nvPr/>
        </p:nvGrpSpPr>
        <p:grpSpPr bwMode="auto">
          <a:xfrm>
            <a:off x="611188" y="1265238"/>
            <a:ext cx="7943850" cy="5116512"/>
            <a:chOff x="385" y="615"/>
            <a:chExt cx="5004" cy="3223"/>
          </a:xfrm>
        </p:grpSpPr>
        <p:grpSp>
          <p:nvGrpSpPr>
            <p:cNvPr id="547848" name="Group 8"/>
            <p:cNvGrpSpPr/>
            <p:nvPr/>
          </p:nvGrpSpPr>
          <p:grpSpPr bwMode="auto">
            <a:xfrm>
              <a:off x="385" y="890"/>
              <a:ext cx="4536" cy="2948"/>
              <a:chOff x="2157" y="1752"/>
              <a:chExt cx="7020" cy="3588"/>
            </a:xfrm>
          </p:grpSpPr>
          <p:sp>
            <p:nvSpPr>
              <p:cNvPr id="547849" name="Line 9"/>
              <p:cNvSpPr>
                <a:spLocks noChangeShapeType="1"/>
              </p:cNvSpPr>
              <p:nvPr/>
            </p:nvSpPr>
            <p:spPr bwMode="auto">
              <a:xfrm>
                <a:off x="2157" y="1908"/>
                <a:ext cx="7020" cy="0"/>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47850" name="Line 10"/>
              <p:cNvSpPr>
                <a:spLocks noChangeShapeType="1"/>
              </p:cNvSpPr>
              <p:nvPr/>
            </p:nvSpPr>
            <p:spPr bwMode="auto">
              <a:xfrm>
                <a:off x="4137" y="1752"/>
                <a:ext cx="0" cy="3588"/>
              </a:xfrm>
              <a:prstGeom prst="line">
                <a:avLst/>
              </a:prstGeom>
              <a:noFill/>
              <a:ln w="28575">
                <a:solidFill>
                  <a:schemeClr val="bg2"/>
                </a:solidFill>
                <a:prstDash val="dash"/>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47851" name="Line 11"/>
              <p:cNvSpPr>
                <a:spLocks noChangeShapeType="1"/>
              </p:cNvSpPr>
              <p:nvPr/>
            </p:nvSpPr>
            <p:spPr bwMode="auto">
              <a:xfrm>
                <a:off x="7377" y="1752"/>
                <a:ext cx="0" cy="3588"/>
              </a:xfrm>
              <a:prstGeom prst="line">
                <a:avLst/>
              </a:prstGeom>
              <a:noFill/>
              <a:ln w="28575">
                <a:solidFill>
                  <a:schemeClr val="bg2"/>
                </a:solidFill>
                <a:prstDash val="dash"/>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47852" name="Line 12"/>
              <p:cNvSpPr>
                <a:spLocks noChangeShapeType="1"/>
              </p:cNvSpPr>
              <p:nvPr/>
            </p:nvSpPr>
            <p:spPr bwMode="auto">
              <a:xfrm>
                <a:off x="2157" y="2376"/>
                <a:ext cx="0" cy="312"/>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47853" name="Line 13"/>
              <p:cNvSpPr>
                <a:spLocks noChangeShapeType="1"/>
              </p:cNvSpPr>
              <p:nvPr/>
            </p:nvSpPr>
            <p:spPr bwMode="auto">
              <a:xfrm>
                <a:off x="2157" y="2532"/>
                <a:ext cx="720" cy="0"/>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47854" name="Line 14"/>
              <p:cNvSpPr>
                <a:spLocks noChangeShapeType="1"/>
              </p:cNvSpPr>
              <p:nvPr/>
            </p:nvSpPr>
            <p:spPr bwMode="auto">
              <a:xfrm>
                <a:off x="2877" y="2376"/>
                <a:ext cx="0" cy="312"/>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47855" name="Line 15"/>
              <p:cNvSpPr>
                <a:spLocks noChangeShapeType="1"/>
              </p:cNvSpPr>
              <p:nvPr/>
            </p:nvSpPr>
            <p:spPr bwMode="auto">
              <a:xfrm>
                <a:off x="2697" y="3000"/>
                <a:ext cx="0" cy="312"/>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47856" name="Line 16"/>
              <p:cNvSpPr>
                <a:spLocks noChangeShapeType="1"/>
              </p:cNvSpPr>
              <p:nvPr/>
            </p:nvSpPr>
            <p:spPr bwMode="auto">
              <a:xfrm>
                <a:off x="2697" y="3156"/>
                <a:ext cx="2160" cy="0"/>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47857" name="Line 17"/>
              <p:cNvSpPr>
                <a:spLocks noChangeShapeType="1"/>
              </p:cNvSpPr>
              <p:nvPr/>
            </p:nvSpPr>
            <p:spPr bwMode="auto">
              <a:xfrm>
                <a:off x="4857" y="3000"/>
                <a:ext cx="0" cy="312"/>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47858" name="Line 18"/>
              <p:cNvSpPr>
                <a:spLocks noChangeShapeType="1"/>
              </p:cNvSpPr>
              <p:nvPr/>
            </p:nvSpPr>
            <p:spPr bwMode="auto">
              <a:xfrm>
                <a:off x="3237" y="3624"/>
                <a:ext cx="0" cy="312"/>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47859" name="Line 19"/>
              <p:cNvSpPr>
                <a:spLocks noChangeShapeType="1"/>
              </p:cNvSpPr>
              <p:nvPr/>
            </p:nvSpPr>
            <p:spPr bwMode="auto">
              <a:xfrm>
                <a:off x="3237" y="3780"/>
                <a:ext cx="4140" cy="0"/>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47860" name="Line 20"/>
              <p:cNvSpPr>
                <a:spLocks noChangeShapeType="1"/>
              </p:cNvSpPr>
              <p:nvPr/>
            </p:nvSpPr>
            <p:spPr bwMode="auto">
              <a:xfrm>
                <a:off x="7377" y="3780"/>
                <a:ext cx="1080" cy="0"/>
              </a:xfrm>
              <a:prstGeom prst="line">
                <a:avLst/>
              </a:prstGeom>
              <a:noFill/>
              <a:ln w="28575">
                <a:solidFill>
                  <a:schemeClr val="bg2"/>
                </a:solidFill>
                <a:prstDash val="lgDash"/>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47861" name="Line 21"/>
              <p:cNvSpPr>
                <a:spLocks noChangeShapeType="1"/>
              </p:cNvSpPr>
              <p:nvPr/>
            </p:nvSpPr>
            <p:spPr bwMode="auto">
              <a:xfrm>
                <a:off x="8457" y="3624"/>
                <a:ext cx="0" cy="312"/>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47862" name="Line 22"/>
              <p:cNvSpPr>
                <a:spLocks noChangeShapeType="1"/>
              </p:cNvSpPr>
              <p:nvPr/>
            </p:nvSpPr>
            <p:spPr bwMode="auto">
              <a:xfrm>
                <a:off x="4317" y="4248"/>
                <a:ext cx="0" cy="312"/>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47863" name="Line 23"/>
              <p:cNvSpPr>
                <a:spLocks noChangeShapeType="1"/>
              </p:cNvSpPr>
              <p:nvPr/>
            </p:nvSpPr>
            <p:spPr bwMode="auto">
              <a:xfrm>
                <a:off x="4317" y="4404"/>
                <a:ext cx="2160" cy="0"/>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47864" name="Line 24"/>
              <p:cNvSpPr>
                <a:spLocks noChangeShapeType="1"/>
              </p:cNvSpPr>
              <p:nvPr/>
            </p:nvSpPr>
            <p:spPr bwMode="auto">
              <a:xfrm>
                <a:off x="6477" y="4248"/>
                <a:ext cx="0" cy="312"/>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47865" name="Line 25"/>
              <p:cNvSpPr>
                <a:spLocks noChangeShapeType="1"/>
              </p:cNvSpPr>
              <p:nvPr/>
            </p:nvSpPr>
            <p:spPr bwMode="auto">
              <a:xfrm>
                <a:off x="5217" y="4872"/>
                <a:ext cx="0" cy="312"/>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47866" name="Line 26"/>
              <p:cNvSpPr>
                <a:spLocks noChangeShapeType="1"/>
              </p:cNvSpPr>
              <p:nvPr/>
            </p:nvSpPr>
            <p:spPr bwMode="auto">
              <a:xfrm>
                <a:off x="5217" y="5028"/>
                <a:ext cx="2340" cy="0"/>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47867" name="Line 27"/>
              <p:cNvSpPr>
                <a:spLocks noChangeShapeType="1"/>
              </p:cNvSpPr>
              <p:nvPr/>
            </p:nvSpPr>
            <p:spPr bwMode="auto">
              <a:xfrm>
                <a:off x="8097" y="4872"/>
                <a:ext cx="0" cy="312"/>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47868" name="Line 28"/>
              <p:cNvSpPr>
                <a:spLocks noChangeShapeType="1"/>
              </p:cNvSpPr>
              <p:nvPr/>
            </p:nvSpPr>
            <p:spPr bwMode="auto">
              <a:xfrm>
                <a:off x="7557" y="5028"/>
                <a:ext cx="540" cy="0"/>
              </a:xfrm>
              <a:prstGeom prst="line">
                <a:avLst/>
              </a:prstGeom>
              <a:noFill/>
              <a:ln w="28575">
                <a:solidFill>
                  <a:schemeClr val="bg2"/>
                </a:solidFill>
                <a:prstDash val="lgDash"/>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sp>
          <p:nvSpPr>
            <p:cNvPr id="547869" name="Text Box 29"/>
            <p:cNvSpPr txBox="1">
              <a:spLocks noChangeArrowheads="1"/>
            </p:cNvSpPr>
            <p:nvPr/>
          </p:nvSpPr>
          <p:spPr bwMode="auto">
            <a:xfrm>
              <a:off x="1111" y="615"/>
              <a:ext cx="1064" cy="23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lIns="0" tIns="0" rIns="0" bIns="0">
              <a:spAutoFit/>
            </a:bodyPr>
            <a:lstStyle/>
            <a:p>
              <a:r>
                <a:rPr lang="en-US" altLang="zh-CN" sz="2400" b="1">
                  <a:solidFill>
                    <a:schemeClr val="bg2"/>
                  </a:solidFill>
                  <a:effectLst>
                    <a:outerShdw blurRad="38100" dist="38100" dir="2700000" algn="tl">
                      <a:srgbClr val="C0C0C0"/>
                    </a:outerShdw>
                  </a:effectLst>
                  <a:latin typeface="仿宋_GB2312" pitchFamily="49" charset="-122"/>
                  <a:ea typeface="仿宋_GB2312" pitchFamily="49" charset="-122"/>
                </a:rPr>
                <a:t>Tc(</a:t>
              </a:r>
              <a:r>
                <a:rPr lang="zh-CN" altLang="en-US" sz="2400" b="1">
                  <a:solidFill>
                    <a:schemeClr val="bg2"/>
                  </a:solidFill>
                  <a:effectLst>
                    <a:outerShdw blurRad="38100" dist="38100" dir="2700000" algn="tl">
                      <a:srgbClr val="C0C0C0"/>
                    </a:outerShdw>
                  </a:effectLst>
                  <a:latin typeface="仿宋_GB2312" pitchFamily="49" charset="-122"/>
                  <a:ea typeface="仿宋_GB2312" pitchFamily="49" charset="-122"/>
                </a:rPr>
                <a:t>检查点</a:t>
              </a:r>
              <a:r>
                <a:rPr lang="en-US" altLang="zh-CN" sz="2400" b="1">
                  <a:solidFill>
                    <a:schemeClr val="bg2"/>
                  </a:solidFill>
                  <a:effectLst>
                    <a:outerShdw blurRad="38100" dist="38100" dir="2700000" algn="tl">
                      <a:srgbClr val="C0C0C0"/>
                    </a:outerShdw>
                  </a:effectLst>
                  <a:latin typeface="仿宋_GB2312" pitchFamily="49" charset="-122"/>
                  <a:ea typeface="仿宋_GB2312" pitchFamily="49" charset="-122"/>
                </a:rPr>
                <a:t>) </a:t>
              </a:r>
              <a:endParaRPr lang="zh-CN" altLang="en-US" sz="2400" b="1">
                <a:solidFill>
                  <a:schemeClr val="bg2"/>
                </a:solidFill>
                <a:effectLst>
                  <a:outerShdw blurRad="38100" dist="38100" dir="2700000" algn="tl">
                    <a:srgbClr val="C0C0C0"/>
                  </a:outerShdw>
                </a:effectLst>
                <a:latin typeface="仿宋_GB2312" pitchFamily="49" charset="-122"/>
                <a:ea typeface="仿宋_GB2312" pitchFamily="49" charset="-122"/>
              </a:endParaRPr>
            </a:p>
          </p:txBody>
        </p:sp>
        <p:sp>
          <p:nvSpPr>
            <p:cNvPr id="547870" name="Text Box 30"/>
            <p:cNvSpPr txBox="1">
              <a:spLocks noChangeArrowheads="1"/>
            </p:cNvSpPr>
            <p:nvPr/>
          </p:nvSpPr>
          <p:spPr bwMode="auto">
            <a:xfrm>
              <a:off x="3207" y="617"/>
              <a:ext cx="1160" cy="23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lIns="0" tIns="0" rIns="0" bIns="0">
              <a:spAutoFit/>
            </a:bodyPr>
            <a:lstStyle/>
            <a:p>
              <a:r>
                <a:rPr lang="en-US" altLang="en-US" sz="2400" b="1">
                  <a:solidFill>
                    <a:schemeClr val="bg2"/>
                  </a:solidFill>
                  <a:effectLst>
                    <a:outerShdw blurRad="38100" dist="38100" dir="2700000" algn="tl">
                      <a:srgbClr val="C0C0C0"/>
                    </a:outerShdw>
                  </a:effectLst>
                  <a:latin typeface="仿宋_GB2312" pitchFamily="49" charset="-122"/>
                  <a:ea typeface="仿宋_GB2312" pitchFamily="49" charset="-122"/>
                </a:rPr>
                <a:t>Tf(系统故障)</a:t>
              </a:r>
              <a:endParaRPr lang="zh-CN" altLang="en-US" sz="2400" b="1">
                <a:solidFill>
                  <a:schemeClr val="bg2"/>
                </a:solidFill>
                <a:effectLst>
                  <a:outerShdw blurRad="38100" dist="38100" dir="2700000" algn="tl">
                    <a:srgbClr val="C0C0C0"/>
                  </a:outerShdw>
                </a:effectLst>
                <a:latin typeface="仿宋_GB2312" pitchFamily="49" charset="-122"/>
                <a:ea typeface="仿宋_GB2312" pitchFamily="49" charset="-122"/>
              </a:endParaRPr>
            </a:p>
          </p:txBody>
        </p:sp>
        <p:sp>
          <p:nvSpPr>
            <p:cNvPr id="547871" name="Text Box 31"/>
            <p:cNvSpPr txBox="1">
              <a:spLocks noChangeArrowheads="1"/>
            </p:cNvSpPr>
            <p:nvPr/>
          </p:nvSpPr>
          <p:spPr bwMode="auto">
            <a:xfrm>
              <a:off x="5003" y="881"/>
              <a:ext cx="386" cy="23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lIns="0" tIns="0" rIns="0" bIns="0">
              <a:spAutoFit/>
            </a:bodyPr>
            <a:lstStyle/>
            <a:p>
              <a:r>
                <a:rPr lang="en-US" altLang="en-US" sz="2400" b="1">
                  <a:solidFill>
                    <a:schemeClr val="bg2"/>
                  </a:solidFill>
                  <a:effectLst>
                    <a:outerShdw blurRad="38100" dist="38100" dir="2700000" algn="tl">
                      <a:srgbClr val="C0C0C0"/>
                    </a:outerShdw>
                  </a:effectLst>
                  <a:latin typeface="仿宋_GB2312" pitchFamily="49" charset="-122"/>
                  <a:ea typeface="仿宋_GB2312" pitchFamily="49" charset="-122"/>
                </a:rPr>
                <a:t>时间</a:t>
              </a:r>
              <a:endParaRPr lang="zh-CN" altLang="en-US" sz="2400" b="1">
                <a:solidFill>
                  <a:schemeClr val="bg2"/>
                </a:solidFill>
                <a:effectLst>
                  <a:outerShdw blurRad="38100" dist="38100" dir="2700000" algn="tl">
                    <a:srgbClr val="C0C0C0"/>
                  </a:outerShdw>
                </a:effectLst>
                <a:latin typeface="仿宋_GB2312" pitchFamily="49" charset="-122"/>
                <a:ea typeface="仿宋_GB2312" pitchFamily="49" charset="-122"/>
              </a:endParaRPr>
            </a:p>
          </p:txBody>
        </p:sp>
        <p:sp>
          <p:nvSpPr>
            <p:cNvPr id="547872" name="Text Box 32"/>
            <p:cNvSpPr txBox="1">
              <a:spLocks noChangeArrowheads="1"/>
            </p:cNvSpPr>
            <p:nvPr/>
          </p:nvSpPr>
          <p:spPr bwMode="auto">
            <a:xfrm>
              <a:off x="521" y="1207"/>
              <a:ext cx="194" cy="23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lIns="0" tIns="0" rIns="0" bIns="0">
              <a:spAutoFit/>
            </a:bodyPr>
            <a:lstStyle/>
            <a:p>
              <a:r>
                <a:rPr lang="en-US" altLang="en-US" sz="2400" b="1">
                  <a:solidFill>
                    <a:schemeClr val="bg2"/>
                  </a:solidFill>
                  <a:effectLst>
                    <a:outerShdw blurRad="38100" dist="38100" dir="2700000" algn="tl">
                      <a:srgbClr val="C0C0C0"/>
                    </a:outerShdw>
                  </a:effectLst>
                  <a:latin typeface="仿宋_GB2312" pitchFamily="49" charset="-122"/>
                  <a:ea typeface="仿宋_GB2312" pitchFamily="49" charset="-122"/>
                </a:rPr>
                <a:t>T1</a:t>
              </a:r>
              <a:endParaRPr lang="zh-CN" altLang="en-US" sz="2400" b="1">
                <a:solidFill>
                  <a:schemeClr val="bg2"/>
                </a:solidFill>
                <a:effectLst>
                  <a:outerShdw blurRad="38100" dist="38100" dir="2700000" algn="tl">
                    <a:srgbClr val="C0C0C0"/>
                  </a:outerShdw>
                </a:effectLst>
                <a:latin typeface="仿宋_GB2312" pitchFamily="49" charset="-122"/>
                <a:ea typeface="仿宋_GB2312" pitchFamily="49" charset="-122"/>
              </a:endParaRPr>
            </a:p>
          </p:txBody>
        </p:sp>
        <p:sp>
          <p:nvSpPr>
            <p:cNvPr id="547873" name="Text Box 33"/>
            <p:cNvSpPr txBox="1">
              <a:spLocks noChangeArrowheads="1"/>
            </p:cNvSpPr>
            <p:nvPr/>
          </p:nvSpPr>
          <p:spPr bwMode="auto">
            <a:xfrm>
              <a:off x="1293" y="1752"/>
              <a:ext cx="194" cy="23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lIns="0" tIns="0" rIns="0" bIns="0">
              <a:spAutoFit/>
            </a:bodyPr>
            <a:lstStyle/>
            <a:p>
              <a:r>
                <a:rPr lang="en-US" altLang="en-US" sz="2400" b="1">
                  <a:solidFill>
                    <a:schemeClr val="bg2"/>
                  </a:solidFill>
                  <a:effectLst>
                    <a:outerShdw blurRad="38100" dist="38100" dir="2700000" algn="tl">
                      <a:srgbClr val="C0C0C0"/>
                    </a:outerShdw>
                  </a:effectLst>
                  <a:latin typeface="仿宋_GB2312" pitchFamily="49" charset="-122"/>
                  <a:ea typeface="仿宋_GB2312" pitchFamily="49" charset="-122"/>
                </a:rPr>
                <a:t>T2</a:t>
              </a:r>
              <a:endParaRPr lang="zh-CN" altLang="en-US" sz="2400" b="1">
                <a:solidFill>
                  <a:schemeClr val="bg2"/>
                </a:solidFill>
                <a:effectLst>
                  <a:outerShdw blurRad="38100" dist="38100" dir="2700000" algn="tl">
                    <a:srgbClr val="C0C0C0"/>
                  </a:outerShdw>
                </a:effectLst>
                <a:latin typeface="仿宋_GB2312" pitchFamily="49" charset="-122"/>
                <a:ea typeface="仿宋_GB2312" pitchFamily="49" charset="-122"/>
              </a:endParaRPr>
            </a:p>
          </p:txBody>
        </p:sp>
        <p:sp>
          <p:nvSpPr>
            <p:cNvPr id="547874" name="Text Box 34"/>
            <p:cNvSpPr txBox="1">
              <a:spLocks noChangeArrowheads="1"/>
            </p:cNvSpPr>
            <p:nvPr/>
          </p:nvSpPr>
          <p:spPr bwMode="auto">
            <a:xfrm>
              <a:off x="2608" y="2251"/>
              <a:ext cx="194" cy="23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lIns="0" tIns="0" rIns="0" bIns="0">
              <a:spAutoFit/>
            </a:bodyPr>
            <a:lstStyle/>
            <a:p>
              <a:r>
                <a:rPr lang="en-US" altLang="en-US" sz="2400" b="1">
                  <a:solidFill>
                    <a:schemeClr val="bg2"/>
                  </a:solidFill>
                  <a:effectLst>
                    <a:outerShdw blurRad="38100" dist="38100" dir="2700000" algn="tl">
                      <a:srgbClr val="C0C0C0"/>
                    </a:outerShdw>
                  </a:effectLst>
                  <a:latin typeface="仿宋_GB2312" pitchFamily="49" charset="-122"/>
                  <a:ea typeface="仿宋_GB2312" pitchFamily="49" charset="-122"/>
                </a:rPr>
                <a:t>T3</a:t>
              </a:r>
              <a:endParaRPr lang="zh-CN" altLang="en-US" sz="2400" b="1">
                <a:solidFill>
                  <a:schemeClr val="bg2"/>
                </a:solidFill>
                <a:effectLst>
                  <a:outerShdw blurRad="38100" dist="38100" dir="2700000" algn="tl">
                    <a:srgbClr val="C0C0C0"/>
                  </a:outerShdw>
                </a:effectLst>
                <a:latin typeface="仿宋_GB2312" pitchFamily="49" charset="-122"/>
                <a:ea typeface="仿宋_GB2312" pitchFamily="49" charset="-122"/>
              </a:endParaRPr>
            </a:p>
          </p:txBody>
        </p:sp>
        <p:sp>
          <p:nvSpPr>
            <p:cNvPr id="547875" name="Text Box 35"/>
            <p:cNvSpPr txBox="1">
              <a:spLocks noChangeArrowheads="1"/>
            </p:cNvSpPr>
            <p:nvPr/>
          </p:nvSpPr>
          <p:spPr bwMode="auto">
            <a:xfrm>
              <a:off x="2371" y="2792"/>
              <a:ext cx="194" cy="23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lIns="0" tIns="0" rIns="0" bIns="0">
              <a:spAutoFit/>
            </a:bodyPr>
            <a:lstStyle/>
            <a:p>
              <a:r>
                <a:rPr lang="en-US" altLang="en-US" sz="2400" b="1">
                  <a:solidFill>
                    <a:schemeClr val="bg2"/>
                  </a:solidFill>
                  <a:effectLst>
                    <a:outerShdw blurRad="38100" dist="38100" dir="2700000" algn="tl">
                      <a:srgbClr val="C0C0C0"/>
                    </a:outerShdw>
                  </a:effectLst>
                  <a:latin typeface="仿宋_GB2312" pitchFamily="49" charset="-122"/>
                  <a:ea typeface="仿宋_GB2312" pitchFamily="49" charset="-122"/>
                </a:rPr>
                <a:t>T4</a:t>
              </a:r>
              <a:endParaRPr lang="zh-CN" altLang="en-US" sz="2400" b="1">
                <a:solidFill>
                  <a:schemeClr val="bg2"/>
                </a:solidFill>
                <a:effectLst>
                  <a:outerShdw blurRad="38100" dist="38100" dir="2700000" algn="tl">
                    <a:srgbClr val="C0C0C0"/>
                  </a:outerShdw>
                </a:effectLst>
                <a:latin typeface="仿宋_GB2312" pitchFamily="49" charset="-122"/>
                <a:ea typeface="仿宋_GB2312" pitchFamily="49" charset="-122"/>
              </a:endParaRPr>
            </a:p>
          </p:txBody>
        </p:sp>
        <p:sp>
          <p:nvSpPr>
            <p:cNvPr id="547876" name="Text Box 36"/>
            <p:cNvSpPr txBox="1">
              <a:spLocks noChangeArrowheads="1"/>
            </p:cNvSpPr>
            <p:nvPr/>
          </p:nvSpPr>
          <p:spPr bwMode="auto">
            <a:xfrm>
              <a:off x="3142" y="3294"/>
              <a:ext cx="194" cy="23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lIns="0" tIns="0" rIns="0" bIns="0">
              <a:spAutoFit/>
            </a:bodyPr>
            <a:lstStyle/>
            <a:p>
              <a:r>
                <a:rPr lang="en-US" altLang="en-US" sz="2400" b="1">
                  <a:solidFill>
                    <a:schemeClr val="bg2"/>
                  </a:solidFill>
                  <a:effectLst>
                    <a:outerShdw blurRad="38100" dist="38100" dir="2700000" algn="tl">
                      <a:srgbClr val="C0C0C0"/>
                    </a:outerShdw>
                  </a:effectLst>
                  <a:latin typeface="仿宋_GB2312" pitchFamily="49" charset="-122"/>
                  <a:ea typeface="仿宋_GB2312" pitchFamily="49" charset="-122"/>
                </a:rPr>
                <a:t>T5</a:t>
              </a:r>
              <a:endParaRPr lang="zh-CN" altLang="en-US" sz="2400" b="1">
                <a:solidFill>
                  <a:schemeClr val="bg2"/>
                </a:solidFill>
                <a:effectLst>
                  <a:outerShdw blurRad="38100" dist="38100" dir="2700000" algn="tl">
                    <a:srgbClr val="C0C0C0"/>
                  </a:outerShdw>
                </a:effectLst>
                <a:latin typeface="仿宋_GB2312" pitchFamily="49" charset="-122"/>
                <a:ea typeface="仿宋_GB2312" pitchFamily="49" charset="-122"/>
              </a:endParaRPr>
            </a:p>
          </p:txBody>
        </p:sp>
      </p:grpSp>
      <p:sp>
        <p:nvSpPr>
          <p:cNvPr id="547877" name="Text Box 37"/>
          <p:cNvSpPr txBox="1">
            <a:spLocks noChangeArrowheads="1"/>
          </p:cNvSpPr>
          <p:nvPr/>
        </p:nvSpPr>
        <p:spPr bwMode="auto">
          <a:xfrm>
            <a:off x="6829425" y="5608638"/>
            <a:ext cx="777875" cy="36512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lIns="0" tIns="0" rIns="0" bIns="0">
            <a:spAutoFit/>
          </a:bodyPr>
          <a:lstStyle/>
          <a:p>
            <a:r>
              <a:rPr lang="en-US" altLang="en-US" sz="2400" b="1">
                <a:solidFill>
                  <a:srgbClr val="003399"/>
                </a:solidFill>
                <a:effectLst>
                  <a:outerShdw blurRad="38100" dist="38100" dir="2700000" algn="tl">
                    <a:srgbClr val="C0C0C0"/>
                  </a:outerShdw>
                </a:effectLst>
                <a:ea typeface="仿宋_GB2312" pitchFamily="49" charset="-122"/>
              </a:rPr>
              <a:t>Undo</a:t>
            </a:r>
            <a:endParaRPr lang="zh-CN" altLang="en-US" sz="2400" b="1">
              <a:solidFill>
                <a:srgbClr val="003399"/>
              </a:solidFill>
              <a:effectLst>
                <a:outerShdw blurRad="38100" dist="38100" dir="2700000" algn="tl">
                  <a:srgbClr val="C0C0C0"/>
                </a:outerShdw>
              </a:effectLst>
              <a:ea typeface="仿宋_GB2312" pitchFamily="49" charset="-122"/>
            </a:endParaRPr>
          </a:p>
        </p:txBody>
      </p:sp>
      <p:sp>
        <p:nvSpPr>
          <p:cNvPr id="547878" name="Rectangle 38"/>
          <p:cNvSpPr>
            <a:spLocks noGrp="1" noRot="1" noChangeArrowheads="1"/>
          </p:cNvSpPr>
          <p:nvPr>
            <p:ph type="title"/>
          </p:nvPr>
        </p:nvSpPr>
        <p:spPr>
          <a:xfrm>
            <a:off x="1281113" y="325438"/>
            <a:ext cx="5670550"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四、具有检查点的恢复技术</a:t>
            </a:r>
          </a:p>
        </p:txBody>
      </p:sp>
      <p:sp>
        <p:nvSpPr>
          <p:cNvPr id="547879" name="Rectangle 39"/>
          <p:cNvSpPr>
            <a:spLocks noChangeArrowheads="1"/>
          </p:cNvSpPr>
          <p:nvPr/>
        </p:nvSpPr>
        <p:spPr bwMode="auto">
          <a:xfrm>
            <a:off x="611188" y="1260475"/>
            <a:ext cx="6697662"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4</a:t>
            </a:r>
            <a:r>
              <a:rPr lang="zh-CN" altLang="en-US" sz="3200">
                <a:solidFill>
                  <a:srgbClr val="660033"/>
                </a:solidFill>
                <a:ea typeface="华文新魏" panose="02010800040101010101" pitchFamily="2" charset="-122"/>
              </a:rPr>
              <a:t>、恢复策略</a:t>
            </a:r>
            <a:endParaRPr lang="en-US" altLang="zh-CN" sz="3200">
              <a:solidFill>
                <a:srgbClr val="660033"/>
              </a:solidFill>
              <a:ea typeface="华文新魏" panose="02010800040101010101" pitchFamily="2"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1693"/>
    </mc:Choice>
    <mc:Fallback xmlns="">
      <p:transition spd="slow" advTm="316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47879"/>
                                        </p:tgtEl>
                                        <p:attrNameLst>
                                          <p:attrName>style.visibility</p:attrName>
                                        </p:attrNameLst>
                                      </p:cBhvr>
                                      <p:to>
                                        <p:strVal val="visible"/>
                                      </p:to>
                                    </p:set>
                                    <p:animEffect transition="in" filter="wipe(left)">
                                      <p:cBhvr>
                                        <p:cTn id="7" dur="1000"/>
                                        <p:tgtEl>
                                          <p:spTgt spid="54787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2" fill="hold" grpId="1" nodeType="clickEffect">
                                  <p:stCondLst>
                                    <p:cond delay="0"/>
                                  </p:stCondLst>
                                  <p:childTnLst>
                                    <p:animEffect transition="out" filter="wipe(right)">
                                      <p:cBhvr>
                                        <p:cTn id="11" dur="1000"/>
                                        <p:tgtEl>
                                          <p:spTgt spid="547879"/>
                                        </p:tgtEl>
                                      </p:cBhvr>
                                    </p:animEffect>
                                    <p:set>
                                      <p:cBhvr>
                                        <p:cTn id="12" dur="1" fill="hold">
                                          <p:stCondLst>
                                            <p:cond delay="999"/>
                                          </p:stCondLst>
                                        </p:cTn>
                                        <p:tgtEl>
                                          <p:spTgt spid="547879"/>
                                        </p:tgtEl>
                                        <p:attrNameLst>
                                          <p:attrName>style.visibility</p:attrName>
                                        </p:attrNameLst>
                                      </p:cBhvr>
                                      <p:to>
                                        <p:strVal val="hidden"/>
                                      </p:to>
                                    </p:set>
                                  </p:childTnLst>
                                </p:cTn>
                              </p:par>
                            </p:childTnLst>
                          </p:cTn>
                        </p:par>
                        <p:par>
                          <p:cTn id="13" fill="hold">
                            <p:stCondLst>
                              <p:cond delay="1000"/>
                            </p:stCondLst>
                            <p:childTnLst>
                              <p:par>
                                <p:cTn id="14" presetID="18" presetClass="entr" presetSubtype="6" fill="hold" nodeType="afterEffect">
                                  <p:stCondLst>
                                    <p:cond delay="0"/>
                                  </p:stCondLst>
                                  <p:childTnLst>
                                    <p:set>
                                      <p:cBhvr>
                                        <p:cTn id="15" dur="1" fill="hold">
                                          <p:stCondLst>
                                            <p:cond delay="0"/>
                                          </p:stCondLst>
                                        </p:cTn>
                                        <p:tgtEl>
                                          <p:spTgt spid="547847"/>
                                        </p:tgtEl>
                                        <p:attrNameLst>
                                          <p:attrName>style.visibility</p:attrName>
                                        </p:attrNameLst>
                                      </p:cBhvr>
                                      <p:to>
                                        <p:strVal val="visible"/>
                                      </p:to>
                                    </p:set>
                                    <p:animEffect transition="in" filter="strips(downRight)">
                                      <p:cBhvr>
                                        <p:cTn id="16" dur="1000"/>
                                        <p:tgtEl>
                                          <p:spTgt spid="547847"/>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547843"/>
                                        </p:tgtEl>
                                        <p:attrNameLst>
                                          <p:attrName>style.visibility</p:attrName>
                                        </p:attrNameLst>
                                      </p:cBhvr>
                                      <p:to>
                                        <p:strVal val="visible"/>
                                      </p:to>
                                    </p:set>
                                    <p:anim calcmode="lin" valueType="num">
                                      <p:cBhvr>
                                        <p:cTn id="21" dur="1000" fill="hold"/>
                                        <p:tgtEl>
                                          <p:spTgt spid="547843"/>
                                        </p:tgtEl>
                                        <p:attrNameLst>
                                          <p:attrName>ppt_w</p:attrName>
                                        </p:attrNameLst>
                                      </p:cBhvr>
                                      <p:tavLst>
                                        <p:tav tm="0">
                                          <p:val>
                                            <p:fltVal val="0"/>
                                          </p:val>
                                        </p:tav>
                                        <p:tav tm="100000">
                                          <p:val>
                                            <p:strVal val="#ppt_w"/>
                                          </p:val>
                                        </p:tav>
                                      </p:tavLst>
                                    </p:anim>
                                    <p:anim calcmode="lin" valueType="num">
                                      <p:cBhvr>
                                        <p:cTn id="22" dur="1000" fill="hold"/>
                                        <p:tgtEl>
                                          <p:spTgt spid="547843"/>
                                        </p:tgtEl>
                                        <p:attrNameLst>
                                          <p:attrName>ppt_h</p:attrName>
                                        </p:attrNameLst>
                                      </p:cBhvr>
                                      <p:tavLst>
                                        <p:tav tm="0">
                                          <p:val>
                                            <p:fltVal val="0"/>
                                          </p:val>
                                        </p:tav>
                                        <p:tav tm="100000">
                                          <p:val>
                                            <p:strVal val="#ppt_h"/>
                                          </p:val>
                                        </p:tav>
                                      </p:tavLst>
                                    </p:anim>
                                    <p:animEffect transition="in" filter="fade">
                                      <p:cBhvr>
                                        <p:cTn id="23" dur="1000"/>
                                        <p:tgtEl>
                                          <p:spTgt spid="547843"/>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547844"/>
                                        </p:tgtEl>
                                        <p:attrNameLst>
                                          <p:attrName>style.visibility</p:attrName>
                                        </p:attrNameLst>
                                      </p:cBhvr>
                                      <p:to>
                                        <p:strVal val="visible"/>
                                      </p:to>
                                    </p:set>
                                    <p:anim calcmode="lin" valueType="num">
                                      <p:cBhvr>
                                        <p:cTn id="28" dur="1000" fill="hold"/>
                                        <p:tgtEl>
                                          <p:spTgt spid="547844"/>
                                        </p:tgtEl>
                                        <p:attrNameLst>
                                          <p:attrName>ppt_w</p:attrName>
                                        </p:attrNameLst>
                                      </p:cBhvr>
                                      <p:tavLst>
                                        <p:tav tm="0">
                                          <p:val>
                                            <p:fltVal val="0"/>
                                          </p:val>
                                        </p:tav>
                                        <p:tav tm="100000">
                                          <p:val>
                                            <p:strVal val="#ppt_w"/>
                                          </p:val>
                                        </p:tav>
                                      </p:tavLst>
                                    </p:anim>
                                    <p:anim calcmode="lin" valueType="num">
                                      <p:cBhvr>
                                        <p:cTn id="29" dur="1000" fill="hold"/>
                                        <p:tgtEl>
                                          <p:spTgt spid="547844"/>
                                        </p:tgtEl>
                                        <p:attrNameLst>
                                          <p:attrName>ppt_h</p:attrName>
                                        </p:attrNameLst>
                                      </p:cBhvr>
                                      <p:tavLst>
                                        <p:tav tm="0">
                                          <p:val>
                                            <p:fltVal val="0"/>
                                          </p:val>
                                        </p:tav>
                                        <p:tav tm="100000">
                                          <p:val>
                                            <p:strVal val="#ppt_h"/>
                                          </p:val>
                                        </p:tav>
                                      </p:tavLst>
                                    </p:anim>
                                    <p:animEffect transition="in" filter="fade">
                                      <p:cBhvr>
                                        <p:cTn id="30" dur="1000"/>
                                        <p:tgtEl>
                                          <p:spTgt spid="547844"/>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547845"/>
                                        </p:tgtEl>
                                        <p:attrNameLst>
                                          <p:attrName>style.visibility</p:attrName>
                                        </p:attrNameLst>
                                      </p:cBhvr>
                                      <p:to>
                                        <p:strVal val="visible"/>
                                      </p:to>
                                    </p:set>
                                    <p:anim calcmode="lin" valueType="num">
                                      <p:cBhvr>
                                        <p:cTn id="35" dur="1000" fill="hold"/>
                                        <p:tgtEl>
                                          <p:spTgt spid="547845"/>
                                        </p:tgtEl>
                                        <p:attrNameLst>
                                          <p:attrName>ppt_w</p:attrName>
                                        </p:attrNameLst>
                                      </p:cBhvr>
                                      <p:tavLst>
                                        <p:tav tm="0">
                                          <p:val>
                                            <p:fltVal val="0"/>
                                          </p:val>
                                        </p:tav>
                                        <p:tav tm="100000">
                                          <p:val>
                                            <p:strVal val="#ppt_w"/>
                                          </p:val>
                                        </p:tav>
                                      </p:tavLst>
                                    </p:anim>
                                    <p:anim calcmode="lin" valueType="num">
                                      <p:cBhvr>
                                        <p:cTn id="36" dur="1000" fill="hold"/>
                                        <p:tgtEl>
                                          <p:spTgt spid="547845"/>
                                        </p:tgtEl>
                                        <p:attrNameLst>
                                          <p:attrName>ppt_h</p:attrName>
                                        </p:attrNameLst>
                                      </p:cBhvr>
                                      <p:tavLst>
                                        <p:tav tm="0">
                                          <p:val>
                                            <p:fltVal val="0"/>
                                          </p:val>
                                        </p:tav>
                                        <p:tav tm="100000">
                                          <p:val>
                                            <p:strVal val="#ppt_h"/>
                                          </p:val>
                                        </p:tav>
                                      </p:tavLst>
                                    </p:anim>
                                    <p:animEffect transition="in" filter="fade">
                                      <p:cBhvr>
                                        <p:cTn id="37" dur="1000"/>
                                        <p:tgtEl>
                                          <p:spTgt spid="547845"/>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547846"/>
                                        </p:tgtEl>
                                        <p:attrNameLst>
                                          <p:attrName>style.visibility</p:attrName>
                                        </p:attrNameLst>
                                      </p:cBhvr>
                                      <p:to>
                                        <p:strVal val="visible"/>
                                      </p:to>
                                    </p:set>
                                    <p:anim calcmode="lin" valueType="num">
                                      <p:cBhvr>
                                        <p:cTn id="42" dur="1000" fill="hold"/>
                                        <p:tgtEl>
                                          <p:spTgt spid="547846"/>
                                        </p:tgtEl>
                                        <p:attrNameLst>
                                          <p:attrName>ppt_w</p:attrName>
                                        </p:attrNameLst>
                                      </p:cBhvr>
                                      <p:tavLst>
                                        <p:tav tm="0">
                                          <p:val>
                                            <p:fltVal val="0"/>
                                          </p:val>
                                        </p:tav>
                                        <p:tav tm="100000">
                                          <p:val>
                                            <p:strVal val="#ppt_w"/>
                                          </p:val>
                                        </p:tav>
                                      </p:tavLst>
                                    </p:anim>
                                    <p:anim calcmode="lin" valueType="num">
                                      <p:cBhvr>
                                        <p:cTn id="43" dur="1000" fill="hold"/>
                                        <p:tgtEl>
                                          <p:spTgt spid="547846"/>
                                        </p:tgtEl>
                                        <p:attrNameLst>
                                          <p:attrName>ppt_h</p:attrName>
                                        </p:attrNameLst>
                                      </p:cBhvr>
                                      <p:tavLst>
                                        <p:tav tm="0">
                                          <p:val>
                                            <p:fltVal val="0"/>
                                          </p:val>
                                        </p:tav>
                                        <p:tav tm="100000">
                                          <p:val>
                                            <p:strVal val="#ppt_h"/>
                                          </p:val>
                                        </p:tav>
                                      </p:tavLst>
                                    </p:anim>
                                    <p:animEffect transition="in" filter="fade">
                                      <p:cBhvr>
                                        <p:cTn id="44" dur="1000"/>
                                        <p:tgtEl>
                                          <p:spTgt spid="547846"/>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547877"/>
                                        </p:tgtEl>
                                        <p:attrNameLst>
                                          <p:attrName>style.visibility</p:attrName>
                                        </p:attrNameLst>
                                      </p:cBhvr>
                                      <p:to>
                                        <p:strVal val="visible"/>
                                      </p:to>
                                    </p:set>
                                    <p:anim calcmode="lin" valueType="num">
                                      <p:cBhvr>
                                        <p:cTn id="49" dur="1000" fill="hold"/>
                                        <p:tgtEl>
                                          <p:spTgt spid="547877"/>
                                        </p:tgtEl>
                                        <p:attrNameLst>
                                          <p:attrName>ppt_w</p:attrName>
                                        </p:attrNameLst>
                                      </p:cBhvr>
                                      <p:tavLst>
                                        <p:tav tm="0">
                                          <p:val>
                                            <p:fltVal val="0"/>
                                          </p:val>
                                        </p:tav>
                                        <p:tav tm="100000">
                                          <p:val>
                                            <p:strVal val="#ppt_w"/>
                                          </p:val>
                                        </p:tav>
                                      </p:tavLst>
                                    </p:anim>
                                    <p:anim calcmode="lin" valueType="num">
                                      <p:cBhvr>
                                        <p:cTn id="50" dur="1000" fill="hold"/>
                                        <p:tgtEl>
                                          <p:spTgt spid="547877"/>
                                        </p:tgtEl>
                                        <p:attrNameLst>
                                          <p:attrName>ppt_h</p:attrName>
                                        </p:attrNameLst>
                                      </p:cBhvr>
                                      <p:tavLst>
                                        <p:tav tm="0">
                                          <p:val>
                                            <p:fltVal val="0"/>
                                          </p:val>
                                        </p:tav>
                                        <p:tav tm="100000">
                                          <p:val>
                                            <p:strVal val="#ppt_h"/>
                                          </p:val>
                                        </p:tav>
                                      </p:tavLst>
                                    </p:anim>
                                    <p:animEffect transition="in" filter="fade">
                                      <p:cBhvr>
                                        <p:cTn id="51" dur="1000"/>
                                        <p:tgtEl>
                                          <p:spTgt spid="5478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7843" grpId="0"/>
      <p:bldP spid="547844" grpId="0"/>
      <p:bldP spid="547845" grpId="0"/>
      <p:bldP spid="547846" grpId="0"/>
      <p:bldP spid="547877" grpId="0"/>
      <p:bldP spid="547879" grpId="0"/>
      <p:bldP spid="547879" grpId="1"/>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8866" name="Rectangle 2"/>
          <p:cNvSpPr>
            <a:spLocks noChangeArrowheads="1"/>
          </p:cNvSpPr>
          <p:nvPr/>
        </p:nvSpPr>
        <p:spPr bwMode="auto">
          <a:xfrm>
            <a:off x="611188" y="1187450"/>
            <a:ext cx="6697662"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5</a:t>
            </a:r>
            <a:r>
              <a:rPr lang="zh-CN" altLang="en-US" sz="3200">
                <a:solidFill>
                  <a:srgbClr val="660033"/>
                </a:solidFill>
                <a:ea typeface="华文新魏" panose="02010800040101010101" pitchFamily="2" charset="-122"/>
              </a:rPr>
              <a:t>、恢复步骤</a:t>
            </a:r>
            <a:endParaRPr lang="en-US" altLang="zh-CN" sz="3200">
              <a:solidFill>
                <a:srgbClr val="660033"/>
              </a:solidFill>
              <a:ea typeface="华文新魏" panose="02010800040101010101" pitchFamily="2" charset="-122"/>
            </a:endParaRPr>
          </a:p>
        </p:txBody>
      </p:sp>
      <p:sp>
        <p:nvSpPr>
          <p:cNvPr id="548867" name="Rectangle 3"/>
          <p:cNvSpPr>
            <a:spLocks noGrp="1" noRot="1" noChangeArrowheads="1"/>
          </p:cNvSpPr>
          <p:nvPr>
            <p:ph type="title"/>
          </p:nvPr>
        </p:nvSpPr>
        <p:spPr>
          <a:xfrm>
            <a:off x="1276350" y="325438"/>
            <a:ext cx="5884863"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四、具有检查点的恢复技术</a:t>
            </a:r>
          </a:p>
        </p:txBody>
      </p:sp>
      <p:sp>
        <p:nvSpPr>
          <p:cNvPr id="548868" name="AutoShape 4"/>
          <p:cNvSpPr/>
          <p:nvPr/>
        </p:nvSpPr>
        <p:spPr bwMode="auto">
          <a:xfrm>
            <a:off x="4862513" y="2608263"/>
            <a:ext cx="360362" cy="2376487"/>
          </a:xfrm>
          <a:prstGeom prst="leftBrace">
            <a:avLst>
              <a:gd name="adj1" fmla="val 54956"/>
              <a:gd name="adj2" fmla="val 50000"/>
            </a:avLst>
          </a:prstGeom>
          <a:noFill/>
          <a:ln w="28575" cap="sq">
            <a:solidFill>
              <a:schemeClr val="bg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548869" name="Text Box 5"/>
          <p:cNvSpPr txBox="1">
            <a:spLocks noChangeArrowheads="1"/>
          </p:cNvSpPr>
          <p:nvPr/>
        </p:nvSpPr>
        <p:spPr bwMode="auto">
          <a:xfrm>
            <a:off x="5294313" y="1700213"/>
            <a:ext cx="503237" cy="1828800"/>
          </a:xfrm>
          <a:prstGeom prst="rect">
            <a:avLst/>
          </a:prstGeom>
          <a:solidFill>
            <a:schemeClr val="accent2"/>
          </a:solidFill>
          <a:ln w="28575" cap="sq" algn="ctr">
            <a:solidFill>
              <a:schemeClr val="bg2"/>
            </a:solidFill>
            <a:miter lim="800000"/>
            <a:headEnd type="none" w="sm" len="sm"/>
            <a:tailEnd type="none" w="sm" len="sm"/>
          </a:ln>
          <a:effectLst>
            <a:outerShdw dist="35921" dir="2700000" algn="ctr" rotWithShape="0">
              <a:schemeClr val="bg2"/>
            </a:outerShdw>
          </a:effectLst>
        </p:spPr>
        <p:txBody>
          <a:bodyPr>
            <a:spAutoFit/>
          </a:bodyPr>
          <a:lstStyle/>
          <a:p>
            <a:pPr algn="ctr"/>
            <a:r>
              <a:rPr lang="zh-CN" altLang="en-US" sz="2800" b="1">
                <a:solidFill>
                  <a:schemeClr val="bg2"/>
                </a:solidFill>
                <a:ea typeface="楷体_GB2312" pitchFamily="49" charset="-122"/>
              </a:rPr>
              <a:t>重做队列</a:t>
            </a:r>
          </a:p>
        </p:txBody>
      </p:sp>
      <p:sp>
        <p:nvSpPr>
          <p:cNvPr id="548870" name="Text Box 6"/>
          <p:cNvSpPr txBox="1">
            <a:spLocks noChangeArrowheads="1"/>
          </p:cNvSpPr>
          <p:nvPr/>
        </p:nvSpPr>
        <p:spPr bwMode="auto">
          <a:xfrm>
            <a:off x="5219700" y="4076700"/>
            <a:ext cx="577850" cy="1828800"/>
          </a:xfrm>
          <a:prstGeom prst="rect">
            <a:avLst/>
          </a:prstGeom>
          <a:solidFill>
            <a:srgbClr val="FE00FE"/>
          </a:solidFill>
          <a:ln w="28575" cap="sq" algn="ctr">
            <a:solidFill>
              <a:schemeClr val="bg2"/>
            </a:solidFill>
            <a:miter lim="800000"/>
            <a:headEnd type="none" w="sm" len="sm"/>
            <a:tailEnd type="none" w="sm" len="sm"/>
          </a:ln>
          <a:effectLst>
            <a:outerShdw dist="35921" dir="2700000" algn="ctr" rotWithShape="0">
              <a:schemeClr val="bg2"/>
            </a:outerShdw>
          </a:effectLst>
        </p:spPr>
        <p:txBody>
          <a:bodyPr>
            <a:spAutoFit/>
          </a:bodyPr>
          <a:lstStyle/>
          <a:p>
            <a:pPr algn="ctr"/>
            <a:r>
              <a:rPr lang="zh-CN" altLang="en-US" sz="2800" b="1">
                <a:solidFill>
                  <a:schemeClr val="bg2"/>
                </a:solidFill>
                <a:ea typeface="楷体_GB2312" pitchFamily="49" charset="-122"/>
              </a:rPr>
              <a:t>撤消队列</a:t>
            </a:r>
          </a:p>
        </p:txBody>
      </p:sp>
      <p:sp>
        <p:nvSpPr>
          <p:cNvPr id="548871" name="Text Box 7"/>
          <p:cNvSpPr txBox="1">
            <a:spLocks noChangeArrowheads="1"/>
          </p:cNvSpPr>
          <p:nvPr/>
        </p:nvSpPr>
        <p:spPr bwMode="auto">
          <a:xfrm>
            <a:off x="6475413" y="1730375"/>
            <a:ext cx="863600" cy="1770063"/>
          </a:xfrm>
          <a:prstGeom prst="rect">
            <a:avLst/>
          </a:prstGeom>
          <a:solidFill>
            <a:srgbClr val="FFCC99"/>
          </a:solidFill>
          <a:ln w="28575" cap="sq" algn="ctr">
            <a:solidFill>
              <a:schemeClr val="bg2"/>
            </a:solidFill>
            <a:miter lim="800000"/>
            <a:headEnd type="none" w="sm" len="sm"/>
            <a:tailEnd type="none" w="sm" len="sm"/>
          </a:ln>
          <a:effectLst>
            <a:outerShdw dist="35921" dir="2700000" algn="ctr" rotWithShape="0">
              <a:schemeClr val="bg2"/>
            </a:outerShdw>
          </a:effectLst>
        </p:spPr>
        <p:txBody>
          <a:bodyPr lIns="18000" tIns="10800" rIns="18000" bIns="10800" anchor="ctr" anchorCtr="1"/>
          <a:lstStyle/>
          <a:p>
            <a:r>
              <a:rPr lang="zh-CN" altLang="en-US" sz="2600" b="1">
                <a:solidFill>
                  <a:schemeClr val="bg2"/>
                </a:solidFill>
                <a:effectLst>
                  <a:outerShdw blurRad="38100" dist="38100" dir="2700000" algn="tl">
                    <a:srgbClr val="000000"/>
                  </a:outerShdw>
                </a:effectLst>
                <a:ea typeface="楷体_GB2312" pitchFamily="49" charset="-122"/>
              </a:rPr>
              <a:t>正向扫描日志文件</a:t>
            </a:r>
          </a:p>
        </p:txBody>
      </p:sp>
      <p:sp>
        <p:nvSpPr>
          <p:cNvPr id="548872" name="Text Box 8"/>
          <p:cNvSpPr txBox="1">
            <a:spLocks noChangeArrowheads="1"/>
          </p:cNvSpPr>
          <p:nvPr/>
        </p:nvSpPr>
        <p:spPr bwMode="auto">
          <a:xfrm>
            <a:off x="8029575" y="2060575"/>
            <a:ext cx="719138" cy="1368425"/>
          </a:xfrm>
          <a:prstGeom prst="rect">
            <a:avLst/>
          </a:prstGeom>
          <a:solidFill>
            <a:srgbClr val="00FFFF"/>
          </a:solidFill>
          <a:ln w="28575" cap="sq" algn="ctr">
            <a:solidFill>
              <a:schemeClr val="bg2"/>
            </a:solidFill>
            <a:miter lim="800000"/>
            <a:headEnd type="none" w="sm" len="sm"/>
            <a:tailEnd type="none" w="sm" len="sm"/>
          </a:ln>
          <a:effectLst>
            <a:outerShdw dist="35921" dir="2700000" algn="ctr" rotWithShape="0">
              <a:schemeClr val="bg2"/>
            </a:outerShdw>
          </a:effectLst>
        </p:spPr>
        <p:txBody>
          <a:bodyPr anchor="ctr" anchorCtr="1"/>
          <a:lstStyle/>
          <a:p>
            <a:pPr algn="ctr"/>
            <a:r>
              <a:rPr lang="zh-CN" altLang="en-US" sz="3200" b="1">
                <a:solidFill>
                  <a:schemeClr val="bg2"/>
                </a:solidFill>
                <a:effectLst>
                  <a:outerShdw blurRad="38100" dist="38100" dir="2700000" algn="tl">
                    <a:srgbClr val="000000"/>
                  </a:outerShdw>
                </a:effectLst>
                <a:ea typeface="楷体_GB2312" pitchFamily="49" charset="-122"/>
              </a:rPr>
              <a:t>重做</a:t>
            </a:r>
          </a:p>
        </p:txBody>
      </p:sp>
      <p:sp>
        <p:nvSpPr>
          <p:cNvPr id="548873" name="AutoShape 9"/>
          <p:cNvSpPr>
            <a:spLocks noChangeArrowheads="1"/>
          </p:cNvSpPr>
          <p:nvPr/>
        </p:nvSpPr>
        <p:spPr bwMode="auto">
          <a:xfrm>
            <a:off x="5799138" y="2349500"/>
            <a:ext cx="647700" cy="431800"/>
          </a:xfrm>
          <a:prstGeom prst="notchedRightArrow">
            <a:avLst>
              <a:gd name="adj1" fmla="val 50000"/>
              <a:gd name="adj2" fmla="val 37500"/>
            </a:avLst>
          </a:prstGeom>
          <a:solidFill>
            <a:srgbClr val="FFCC00"/>
          </a:solidFill>
          <a:ln w="28575" cap="sq">
            <a:solidFill>
              <a:schemeClr val="bg2"/>
            </a:solidFill>
            <a:miter lim="800000"/>
            <a:headEnd type="none" w="sm" len="sm"/>
            <a:tailEnd type="none" w="sm" len="sm"/>
          </a:ln>
          <a:effectLst>
            <a:outerShdw dist="35921" dir="2700000" algn="ctr" rotWithShape="0">
              <a:schemeClr val="bg2"/>
            </a:outerShdw>
          </a:effectLst>
        </p:spPr>
        <p:txBody>
          <a:bodyPr wrap="none" anchor="ctr"/>
          <a:lstStyle/>
          <a:p>
            <a:endParaRPr lang="zh-CN" altLang="en-US"/>
          </a:p>
        </p:txBody>
      </p:sp>
      <p:sp>
        <p:nvSpPr>
          <p:cNvPr id="548874" name="AutoShape 10"/>
          <p:cNvSpPr>
            <a:spLocks noChangeArrowheads="1"/>
          </p:cNvSpPr>
          <p:nvPr/>
        </p:nvSpPr>
        <p:spPr bwMode="auto">
          <a:xfrm>
            <a:off x="5799138" y="4725988"/>
            <a:ext cx="647700" cy="431800"/>
          </a:xfrm>
          <a:prstGeom prst="notchedRightArrow">
            <a:avLst>
              <a:gd name="adj1" fmla="val 50000"/>
              <a:gd name="adj2" fmla="val 37500"/>
            </a:avLst>
          </a:prstGeom>
          <a:solidFill>
            <a:srgbClr val="FFCC00"/>
          </a:solidFill>
          <a:ln w="28575" cap="sq">
            <a:solidFill>
              <a:schemeClr val="bg2"/>
            </a:solidFill>
            <a:miter lim="800000"/>
            <a:headEnd type="none" w="sm" len="sm"/>
            <a:tailEnd type="none" w="sm" len="sm"/>
          </a:ln>
          <a:effectLst>
            <a:outerShdw dist="35921" dir="2700000" algn="ctr" rotWithShape="0">
              <a:schemeClr val="bg2"/>
            </a:outerShdw>
          </a:effectLst>
        </p:spPr>
        <p:txBody>
          <a:bodyPr wrap="none" anchor="ctr"/>
          <a:lstStyle/>
          <a:p>
            <a:endParaRPr lang="zh-CN" altLang="en-US"/>
          </a:p>
        </p:txBody>
      </p:sp>
      <p:sp>
        <p:nvSpPr>
          <p:cNvPr id="548875" name="Text Box 11"/>
          <p:cNvSpPr txBox="1">
            <a:spLocks noChangeArrowheads="1"/>
          </p:cNvSpPr>
          <p:nvPr/>
        </p:nvSpPr>
        <p:spPr bwMode="auto">
          <a:xfrm>
            <a:off x="6475413" y="4076700"/>
            <a:ext cx="863600" cy="1873250"/>
          </a:xfrm>
          <a:prstGeom prst="rect">
            <a:avLst/>
          </a:prstGeom>
          <a:solidFill>
            <a:srgbClr val="FF81DE"/>
          </a:solidFill>
          <a:ln w="28575" cap="sq" algn="ctr">
            <a:solidFill>
              <a:schemeClr val="bg2"/>
            </a:solidFill>
            <a:miter lim="800000"/>
            <a:headEnd type="none" w="sm" len="sm"/>
            <a:tailEnd type="none" w="sm" len="sm"/>
          </a:ln>
          <a:effectLst>
            <a:outerShdw dist="35921" dir="2700000" algn="ctr" rotWithShape="0">
              <a:schemeClr val="bg2"/>
            </a:outerShdw>
          </a:effectLst>
        </p:spPr>
        <p:txBody>
          <a:bodyPr lIns="18000" tIns="10800" rIns="18000" bIns="10800" anchor="ctr" anchorCtr="1"/>
          <a:lstStyle/>
          <a:p>
            <a:r>
              <a:rPr lang="zh-CN" altLang="en-US" sz="2600" b="1">
                <a:solidFill>
                  <a:schemeClr val="bg2"/>
                </a:solidFill>
                <a:effectLst>
                  <a:outerShdw blurRad="38100" dist="38100" dir="2700000" algn="tl">
                    <a:srgbClr val="000000"/>
                  </a:outerShdw>
                </a:effectLst>
                <a:ea typeface="楷体_GB2312" pitchFamily="49" charset="-122"/>
              </a:rPr>
              <a:t>反向扫描日志文件</a:t>
            </a:r>
          </a:p>
        </p:txBody>
      </p:sp>
      <p:sp>
        <p:nvSpPr>
          <p:cNvPr id="548876" name="AutoShape 12"/>
          <p:cNvSpPr>
            <a:spLocks noChangeArrowheads="1"/>
          </p:cNvSpPr>
          <p:nvPr/>
        </p:nvSpPr>
        <p:spPr bwMode="auto">
          <a:xfrm>
            <a:off x="7353300" y="2347913"/>
            <a:ext cx="647700" cy="431800"/>
          </a:xfrm>
          <a:prstGeom prst="notchedRightArrow">
            <a:avLst>
              <a:gd name="adj1" fmla="val 50000"/>
              <a:gd name="adj2" fmla="val 37500"/>
            </a:avLst>
          </a:prstGeom>
          <a:solidFill>
            <a:srgbClr val="FFCC00"/>
          </a:solidFill>
          <a:ln w="28575" cap="sq">
            <a:solidFill>
              <a:schemeClr val="bg2"/>
            </a:solidFill>
            <a:miter lim="800000"/>
            <a:headEnd type="none" w="sm" len="sm"/>
            <a:tailEnd type="none" w="sm" len="sm"/>
          </a:ln>
          <a:effectLst>
            <a:outerShdw dist="35921" dir="2700000" algn="ctr" rotWithShape="0">
              <a:schemeClr val="bg2"/>
            </a:outerShdw>
          </a:effectLst>
        </p:spPr>
        <p:txBody>
          <a:bodyPr wrap="none" anchor="ctr"/>
          <a:lstStyle/>
          <a:p>
            <a:endParaRPr lang="zh-CN" altLang="en-US"/>
          </a:p>
        </p:txBody>
      </p:sp>
      <p:sp>
        <p:nvSpPr>
          <p:cNvPr id="548877" name="AutoShape 13"/>
          <p:cNvSpPr>
            <a:spLocks noChangeArrowheads="1"/>
          </p:cNvSpPr>
          <p:nvPr/>
        </p:nvSpPr>
        <p:spPr bwMode="auto">
          <a:xfrm>
            <a:off x="7353300" y="4724400"/>
            <a:ext cx="647700" cy="431800"/>
          </a:xfrm>
          <a:prstGeom prst="notchedRightArrow">
            <a:avLst>
              <a:gd name="adj1" fmla="val 50000"/>
              <a:gd name="adj2" fmla="val 37500"/>
            </a:avLst>
          </a:prstGeom>
          <a:solidFill>
            <a:srgbClr val="FFCC00"/>
          </a:solidFill>
          <a:ln w="28575" cap="sq">
            <a:solidFill>
              <a:schemeClr val="bg2"/>
            </a:solidFill>
            <a:miter lim="800000"/>
            <a:headEnd type="none" w="sm" len="sm"/>
            <a:tailEnd type="none" w="sm" len="sm"/>
          </a:ln>
          <a:effectLst>
            <a:outerShdw dist="35921" dir="2700000" algn="ctr" rotWithShape="0">
              <a:schemeClr val="bg2"/>
            </a:outerShdw>
          </a:effectLst>
        </p:spPr>
        <p:txBody>
          <a:bodyPr wrap="none" anchor="ctr"/>
          <a:lstStyle/>
          <a:p>
            <a:endParaRPr lang="zh-CN" altLang="en-US"/>
          </a:p>
        </p:txBody>
      </p:sp>
      <p:sp>
        <p:nvSpPr>
          <p:cNvPr id="548878" name="Text Box 14"/>
          <p:cNvSpPr txBox="1">
            <a:spLocks noChangeArrowheads="1"/>
          </p:cNvSpPr>
          <p:nvPr/>
        </p:nvSpPr>
        <p:spPr bwMode="auto">
          <a:xfrm>
            <a:off x="8029575" y="4437063"/>
            <a:ext cx="719138" cy="1296987"/>
          </a:xfrm>
          <a:prstGeom prst="rect">
            <a:avLst/>
          </a:prstGeom>
          <a:solidFill>
            <a:srgbClr val="66FF33"/>
          </a:solidFill>
          <a:ln w="28575" cap="sq" algn="ctr">
            <a:solidFill>
              <a:schemeClr val="bg2"/>
            </a:solidFill>
            <a:miter lim="800000"/>
            <a:headEnd type="none" w="sm" len="sm"/>
            <a:tailEnd type="none" w="sm" len="sm"/>
          </a:ln>
          <a:effectLst>
            <a:outerShdw dist="35921" dir="2700000" algn="ctr" rotWithShape="0">
              <a:schemeClr val="bg2"/>
            </a:outerShdw>
          </a:effectLst>
        </p:spPr>
        <p:txBody>
          <a:bodyPr anchor="ctr" anchorCtr="1"/>
          <a:lstStyle/>
          <a:p>
            <a:pPr algn="ctr"/>
            <a:r>
              <a:rPr lang="zh-CN" altLang="en-US" sz="3200" b="1">
                <a:solidFill>
                  <a:schemeClr val="bg2"/>
                </a:solidFill>
                <a:effectLst>
                  <a:outerShdw blurRad="38100" dist="38100" dir="2700000" algn="tl">
                    <a:srgbClr val="000000"/>
                  </a:outerShdw>
                </a:effectLst>
                <a:ea typeface="楷体_GB2312" pitchFamily="49" charset="-122"/>
              </a:rPr>
              <a:t>撤消</a:t>
            </a:r>
          </a:p>
        </p:txBody>
      </p:sp>
      <p:sp>
        <p:nvSpPr>
          <p:cNvPr id="548879" name="Text Box 15"/>
          <p:cNvSpPr txBox="1">
            <a:spLocks noChangeArrowheads="1"/>
          </p:cNvSpPr>
          <p:nvPr/>
        </p:nvSpPr>
        <p:spPr bwMode="auto">
          <a:xfrm>
            <a:off x="395288" y="2420938"/>
            <a:ext cx="719137" cy="2736850"/>
          </a:xfrm>
          <a:prstGeom prst="rect">
            <a:avLst/>
          </a:prstGeom>
          <a:solidFill>
            <a:srgbClr val="99CCFF"/>
          </a:solidFill>
          <a:ln w="28575" cap="sq">
            <a:solidFill>
              <a:schemeClr val="bg2"/>
            </a:solidFill>
            <a:miter lim="800000"/>
            <a:headEnd type="none" w="sm" len="sm"/>
            <a:tailEnd type="none" w="sm" len="sm"/>
          </a:ln>
          <a:effectLst>
            <a:outerShdw dist="35921" dir="2700000" algn="ctr" rotWithShape="0">
              <a:schemeClr val="bg2"/>
            </a:outerShdw>
          </a:effectLst>
        </p:spPr>
        <p:txBody>
          <a:bodyPr anchor="ctr" anchorCtr="1"/>
          <a:lstStyle/>
          <a:p>
            <a:pPr algn="ctr" fontAlgn="ctr"/>
            <a:r>
              <a:rPr lang="zh-CN" altLang="en-US" sz="2800" b="1">
                <a:solidFill>
                  <a:schemeClr val="bg2"/>
                </a:solidFill>
                <a:effectLst>
                  <a:outerShdw blurRad="38100" dist="38100" dir="2700000" algn="tl">
                    <a:srgbClr val="000000"/>
                  </a:outerShdw>
                </a:effectLst>
                <a:ea typeface="楷体_GB2312" pitchFamily="49" charset="-122"/>
              </a:rPr>
              <a:t>重新开始文件</a:t>
            </a:r>
          </a:p>
        </p:txBody>
      </p:sp>
      <p:grpSp>
        <p:nvGrpSpPr>
          <p:cNvPr id="548880" name="Group 16"/>
          <p:cNvGrpSpPr/>
          <p:nvPr/>
        </p:nvGrpSpPr>
        <p:grpSpPr bwMode="auto">
          <a:xfrm>
            <a:off x="1116013" y="2090738"/>
            <a:ext cx="647700" cy="3028950"/>
            <a:chOff x="703" y="1317"/>
            <a:chExt cx="408" cy="1908"/>
          </a:xfrm>
        </p:grpSpPr>
        <p:sp>
          <p:nvSpPr>
            <p:cNvPr id="548881" name="AutoShape 17"/>
            <p:cNvSpPr>
              <a:spLocks noChangeArrowheads="1"/>
            </p:cNvSpPr>
            <p:nvPr/>
          </p:nvSpPr>
          <p:spPr bwMode="auto">
            <a:xfrm>
              <a:off x="703" y="2250"/>
              <a:ext cx="408" cy="272"/>
            </a:xfrm>
            <a:prstGeom prst="notchedRightArrow">
              <a:avLst>
                <a:gd name="adj1" fmla="val 50000"/>
                <a:gd name="adj2" fmla="val 37500"/>
              </a:avLst>
            </a:prstGeom>
            <a:solidFill>
              <a:srgbClr val="FFCC00"/>
            </a:solidFill>
            <a:ln w="28575" cap="sq">
              <a:solidFill>
                <a:schemeClr val="bg2"/>
              </a:solidFill>
              <a:miter lim="800000"/>
              <a:headEnd type="none" w="sm" len="sm"/>
              <a:tailEnd type="none" w="sm" len="sm"/>
            </a:ln>
            <a:effectLst>
              <a:outerShdw dist="35921" dir="2700000" algn="ctr" rotWithShape="0">
                <a:schemeClr val="bg2"/>
              </a:outerShdw>
            </a:effectLst>
          </p:spPr>
          <p:txBody>
            <a:bodyPr wrap="none" anchor="ctr"/>
            <a:lstStyle/>
            <a:p>
              <a:endParaRPr lang="zh-CN" altLang="en-US"/>
            </a:p>
          </p:txBody>
        </p:sp>
        <p:sp>
          <p:nvSpPr>
            <p:cNvPr id="548882" name="Text Box 18"/>
            <p:cNvSpPr txBox="1">
              <a:spLocks noChangeArrowheads="1"/>
            </p:cNvSpPr>
            <p:nvPr/>
          </p:nvSpPr>
          <p:spPr bwMode="auto">
            <a:xfrm>
              <a:off x="730" y="1317"/>
              <a:ext cx="272" cy="97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2"/>
                  </a:solidFill>
                  <a:miter lim="800000"/>
                  <a:headEnd type="none" w="sm" len="sm"/>
                  <a:tailEnd type="none" w="sm" len="sm"/>
                </a14:hiddenLine>
              </a:ext>
            </a:extLst>
          </p:spPr>
          <p:txBody>
            <a:bodyPr>
              <a:spAutoFit/>
            </a:bodyPr>
            <a:lstStyle/>
            <a:p>
              <a:r>
                <a:rPr lang="zh-CN" altLang="en-US" sz="2400" b="1">
                  <a:solidFill>
                    <a:srgbClr val="CC0099"/>
                  </a:solidFill>
                  <a:effectLst>
                    <a:outerShdw blurRad="38100" dist="38100" dir="2700000" algn="tl">
                      <a:srgbClr val="C0C0C0"/>
                    </a:outerShdw>
                  </a:effectLst>
                  <a:latin typeface="楷体_GB2312" pitchFamily="49" charset="-122"/>
                  <a:ea typeface="楷体_GB2312" pitchFamily="49" charset="-122"/>
                </a:rPr>
                <a:t>最后</a:t>
              </a:r>
            </a:p>
            <a:p>
              <a:r>
                <a:rPr lang="zh-CN" altLang="en-US" sz="2400" b="1">
                  <a:solidFill>
                    <a:srgbClr val="CC0099"/>
                  </a:solidFill>
                  <a:effectLst>
                    <a:outerShdw blurRad="38100" dist="38100" dir="2700000" algn="tl">
                      <a:srgbClr val="C0C0C0"/>
                    </a:outerShdw>
                  </a:effectLst>
                  <a:latin typeface="楷体_GB2312" pitchFamily="49" charset="-122"/>
                  <a:ea typeface="楷体_GB2312" pitchFamily="49" charset="-122"/>
                </a:rPr>
                <a:t>检查</a:t>
              </a:r>
            </a:p>
          </p:txBody>
        </p:sp>
        <p:sp>
          <p:nvSpPr>
            <p:cNvPr id="548883" name="Text Box 19"/>
            <p:cNvSpPr txBox="1">
              <a:spLocks noChangeArrowheads="1"/>
            </p:cNvSpPr>
            <p:nvPr/>
          </p:nvSpPr>
          <p:spPr bwMode="auto">
            <a:xfrm>
              <a:off x="731" y="2477"/>
              <a:ext cx="317" cy="74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2"/>
                  </a:solidFill>
                  <a:miter lim="800000"/>
                  <a:headEnd type="none" w="sm" len="sm"/>
                  <a:tailEnd type="none" w="sm" len="sm"/>
                </a14:hiddenLine>
              </a:ext>
            </a:extLst>
          </p:spPr>
          <p:txBody>
            <a:bodyPr>
              <a:spAutoFit/>
            </a:bodyPr>
            <a:lstStyle/>
            <a:p>
              <a:r>
                <a:rPr lang="zh-CN" altLang="en-US" sz="2400" b="1">
                  <a:solidFill>
                    <a:srgbClr val="CC0099"/>
                  </a:solidFill>
                  <a:effectLst>
                    <a:outerShdw blurRad="38100" dist="38100" dir="2700000" algn="tl">
                      <a:srgbClr val="C0C0C0"/>
                    </a:outerShdw>
                  </a:effectLst>
                  <a:latin typeface="楷体_GB2312" pitchFamily="49" charset="-122"/>
                  <a:ea typeface="楷体_GB2312" pitchFamily="49" charset="-122"/>
                </a:rPr>
                <a:t>点地址</a:t>
              </a:r>
            </a:p>
          </p:txBody>
        </p:sp>
      </p:grpSp>
      <p:sp>
        <p:nvSpPr>
          <p:cNvPr id="548884" name="Text Box 20"/>
          <p:cNvSpPr txBox="1">
            <a:spLocks noChangeArrowheads="1"/>
          </p:cNvSpPr>
          <p:nvPr/>
        </p:nvSpPr>
        <p:spPr bwMode="auto">
          <a:xfrm>
            <a:off x="1692275" y="3079750"/>
            <a:ext cx="576263" cy="1789113"/>
          </a:xfrm>
          <a:prstGeom prst="rect">
            <a:avLst/>
          </a:prstGeom>
          <a:solidFill>
            <a:srgbClr val="FF7D25"/>
          </a:solidFill>
          <a:ln w="28575" cap="sq">
            <a:solidFill>
              <a:schemeClr val="bg2"/>
            </a:solidFill>
            <a:miter lim="800000"/>
            <a:headEnd type="none" w="sm" len="sm"/>
            <a:tailEnd type="none" w="sm" len="sm"/>
          </a:ln>
          <a:effectLst>
            <a:outerShdw dist="35921" dir="2700000" algn="ctr" rotWithShape="0">
              <a:schemeClr val="bg2"/>
            </a:outerShdw>
          </a:effectLst>
        </p:spPr>
        <p:txBody>
          <a:bodyPr anchor="ctr" anchorCtr="1"/>
          <a:lstStyle/>
          <a:p>
            <a:pPr algn="ctr"/>
            <a:r>
              <a:rPr lang="zh-CN" altLang="en-US" sz="2400" b="1">
                <a:solidFill>
                  <a:schemeClr val="bg2"/>
                </a:solidFill>
                <a:effectLst>
                  <a:outerShdw blurRad="38100" dist="38100" dir="2700000" algn="tl">
                    <a:srgbClr val="000000"/>
                  </a:outerShdw>
                </a:effectLst>
                <a:ea typeface="楷体_GB2312" pitchFamily="49" charset="-122"/>
              </a:rPr>
              <a:t>日志文件</a:t>
            </a:r>
          </a:p>
        </p:txBody>
      </p:sp>
      <p:sp>
        <p:nvSpPr>
          <p:cNvPr id="548885" name="AutoShape 21"/>
          <p:cNvSpPr>
            <a:spLocks noChangeArrowheads="1"/>
          </p:cNvSpPr>
          <p:nvPr/>
        </p:nvSpPr>
        <p:spPr bwMode="auto">
          <a:xfrm>
            <a:off x="2268538" y="3559175"/>
            <a:ext cx="647700" cy="431800"/>
          </a:xfrm>
          <a:prstGeom prst="notchedRightArrow">
            <a:avLst>
              <a:gd name="adj1" fmla="val 50000"/>
              <a:gd name="adj2" fmla="val 37500"/>
            </a:avLst>
          </a:prstGeom>
          <a:solidFill>
            <a:srgbClr val="FFCC00"/>
          </a:solidFill>
          <a:ln w="28575" cap="sq">
            <a:solidFill>
              <a:schemeClr val="bg2"/>
            </a:solidFill>
            <a:miter lim="800000"/>
            <a:headEnd type="none" w="sm" len="sm"/>
            <a:tailEnd type="none" w="sm" len="sm"/>
          </a:ln>
          <a:effectLst>
            <a:outerShdw dist="35921" dir="2700000" algn="ctr" rotWithShape="0">
              <a:schemeClr val="bg2"/>
            </a:outerShdw>
          </a:effectLst>
        </p:spPr>
        <p:txBody>
          <a:bodyPr wrap="none" anchor="ctr"/>
          <a:lstStyle/>
          <a:p>
            <a:endParaRPr lang="zh-CN" altLang="en-US"/>
          </a:p>
        </p:txBody>
      </p:sp>
      <p:sp>
        <p:nvSpPr>
          <p:cNvPr id="548886" name="Text Box 22"/>
          <p:cNvSpPr txBox="1">
            <a:spLocks noChangeArrowheads="1"/>
          </p:cNvSpPr>
          <p:nvPr/>
        </p:nvSpPr>
        <p:spPr bwMode="auto">
          <a:xfrm>
            <a:off x="2917825" y="2635250"/>
            <a:ext cx="503238" cy="2593975"/>
          </a:xfrm>
          <a:prstGeom prst="rect">
            <a:avLst/>
          </a:prstGeom>
          <a:solidFill>
            <a:srgbClr val="CCFFCC"/>
          </a:solidFill>
          <a:ln w="28575" cap="sq">
            <a:solidFill>
              <a:schemeClr val="bg2"/>
            </a:solidFill>
            <a:miter lim="800000"/>
            <a:headEnd type="none" w="sm" len="sm"/>
            <a:tailEnd type="none" w="sm" len="sm"/>
          </a:ln>
          <a:effectLst>
            <a:outerShdw dist="35921" dir="2700000" algn="ctr" rotWithShape="0">
              <a:schemeClr val="bg2"/>
            </a:outerShdw>
          </a:effectLst>
        </p:spPr>
        <p:txBody>
          <a:bodyPr anchor="ctr" anchorCtr="1"/>
          <a:lstStyle/>
          <a:p>
            <a:pPr algn="ctr"/>
            <a:r>
              <a:rPr lang="zh-CN" altLang="en-US" sz="2400" b="1">
                <a:solidFill>
                  <a:schemeClr val="bg2"/>
                </a:solidFill>
                <a:effectLst>
                  <a:outerShdw blurRad="38100" dist="38100" dir="2700000" algn="tl">
                    <a:srgbClr val="000000"/>
                  </a:outerShdw>
                </a:effectLst>
                <a:ea typeface="楷体_GB2312" pitchFamily="49" charset="-122"/>
              </a:rPr>
              <a:t>当时执行事务</a:t>
            </a:r>
          </a:p>
        </p:txBody>
      </p:sp>
      <p:grpSp>
        <p:nvGrpSpPr>
          <p:cNvPr id="548887" name="Group 23"/>
          <p:cNvGrpSpPr/>
          <p:nvPr/>
        </p:nvGrpSpPr>
        <p:grpSpPr bwMode="auto">
          <a:xfrm>
            <a:off x="3419475" y="2749550"/>
            <a:ext cx="1443038" cy="1974850"/>
            <a:chOff x="2154" y="1732"/>
            <a:chExt cx="909" cy="1244"/>
          </a:xfrm>
        </p:grpSpPr>
        <p:sp>
          <p:nvSpPr>
            <p:cNvPr id="548888" name="AutoShape 24"/>
            <p:cNvSpPr>
              <a:spLocks noChangeArrowheads="1"/>
            </p:cNvSpPr>
            <p:nvPr/>
          </p:nvSpPr>
          <p:spPr bwMode="auto">
            <a:xfrm>
              <a:off x="2154" y="2251"/>
              <a:ext cx="909" cy="272"/>
            </a:xfrm>
            <a:prstGeom prst="notchedRightArrow">
              <a:avLst>
                <a:gd name="adj1" fmla="val 50000"/>
                <a:gd name="adj2" fmla="val 83548"/>
              </a:avLst>
            </a:prstGeom>
            <a:solidFill>
              <a:srgbClr val="FFCC00"/>
            </a:solidFill>
            <a:ln w="28575" cap="sq">
              <a:solidFill>
                <a:schemeClr val="bg2"/>
              </a:solidFill>
              <a:miter lim="800000"/>
              <a:headEnd type="none" w="sm" len="sm"/>
              <a:tailEnd type="none" w="sm" len="sm"/>
            </a:ln>
            <a:effectLst>
              <a:outerShdw dist="35921" dir="2700000" algn="ctr" rotWithShape="0">
                <a:schemeClr val="bg2"/>
              </a:outerShdw>
            </a:effectLst>
          </p:spPr>
          <p:txBody>
            <a:bodyPr wrap="none" anchor="ctr"/>
            <a:lstStyle/>
            <a:p>
              <a:endParaRPr lang="zh-CN" altLang="en-US"/>
            </a:p>
          </p:txBody>
        </p:sp>
        <p:sp>
          <p:nvSpPr>
            <p:cNvPr id="548889" name="Text Box 25"/>
            <p:cNvSpPr txBox="1">
              <a:spLocks noChangeArrowheads="1"/>
            </p:cNvSpPr>
            <p:nvPr/>
          </p:nvSpPr>
          <p:spPr bwMode="auto">
            <a:xfrm>
              <a:off x="2154" y="1732"/>
              <a:ext cx="771" cy="51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2"/>
                  </a:solidFill>
                  <a:miter lim="800000"/>
                  <a:headEnd type="none" w="sm" len="sm"/>
                  <a:tailEnd type="none" w="sm" len="sm"/>
                </a14:hiddenLine>
              </a:ext>
            </a:extLst>
          </p:spPr>
          <p:txBody>
            <a:bodyPr>
              <a:spAutoFit/>
            </a:bodyPr>
            <a:lstStyle/>
            <a:p>
              <a:r>
                <a:rPr lang="zh-CN" altLang="en-US" sz="2400" b="1">
                  <a:solidFill>
                    <a:srgbClr val="008000"/>
                  </a:solidFill>
                  <a:effectLst>
                    <a:outerShdw blurRad="38100" dist="38100" dir="2700000" algn="tl">
                      <a:srgbClr val="C0C0C0"/>
                    </a:outerShdw>
                  </a:effectLst>
                  <a:latin typeface="楷体_GB2312" pitchFamily="49" charset="-122"/>
                  <a:ea typeface="楷体_GB2312" pitchFamily="49" charset="-122"/>
                </a:rPr>
                <a:t>从检查</a:t>
              </a:r>
            </a:p>
            <a:p>
              <a:r>
                <a:rPr lang="zh-CN" altLang="en-US" sz="2400" b="1">
                  <a:solidFill>
                    <a:srgbClr val="008000"/>
                  </a:solidFill>
                  <a:effectLst>
                    <a:outerShdw blurRad="38100" dist="38100" dir="2700000" algn="tl">
                      <a:srgbClr val="C0C0C0"/>
                    </a:outerShdw>
                  </a:effectLst>
                  <a:latin typeface="楷体_GB2312" pitchFamily="49" charset="-122"/>
                  <a:ea typeface="楷体_GB2312" pitchFamily="49" charset="-122"/>
                </a:rPr>
                <a:t>点扫描</a:t>
              </a:r>
            </a:p>
          </p:txBody>
        </p:sp>
        <p:sp>
          <p:nvSpPr>
            <p:cNvPr id="548890" name="Text Box 26"/>
            <p:cNvSpPr txBox="1">
              <a:spLocks noChangeArrowheads="1"/>
            </p:cNvSpPr>
            <p:nvPr/>
          </p:nvSpPr>
          <p:spPr bwMode="auto">
            <a:xfrm>
              <a:off x="2244" y="2458"/>
              <a:ext cx="545" cy="51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2"/>
                  </a:solidFill>
                  <a:miter lim="800000"/>
                  <a:headEnd type="none" w="sm" len="sm"/>
                  <a:tailEnd type="none" w="sm" len="sm"/>
                </a14:hiddenLine>
              </a:ext>
            </a:extLst>
          </p:spPr>
          <p:txBody>
            <a:bodyPr>
              <a:spAutoFit/>
            </a:bodyPr>
            <a:lstStyle/>
            <a:p>
              <a:r>
                <a:rPr lang="zh-CN" altLang="en-US" sz="2400" b="1">
                  <a:solidFill>
                    <a:srgbClr val="008000"/>
                  </a:solidFill>
                  <a:effectLst>
                    <a:outerShdw blurRad="38100" dist="38100" dir="2700000" algn="tl">
                      <a:srgbClr val="C0C0C0"/>
                    </a:outerShdw>
                  </a:effectLst>
                  <a:latin typeface="楷体_GB2312" pitchFamily="49" charset="-122"/>
                  <a:ea typeface="楷体_GB2312" pitchFamily="49" charset="-122"/>
                </a:rPr>
                <a:t>日志</a:t>
              </a:r>
            </a:p>
            <a:p>
              <a:r>
                <a:rPr lang="zh-CN" altLang="en-US" sz="2400" b="1">
                  <a:solidFill>
                    <a:srgbClr val="008000"/>
                  </a:solidFill>
                  <a:effectLst>
                    <a:outerShdw blurRad="38100" dist="38100" dir="2700000" algn="tl">
                      <a:srgbClr val="C0C0C0"/>
                    </a:outerShdw>
                  </a:effectLst>
                  <a:latin typeface="楷体_GB2312" pitchFamily="49" charset="-122"/>
                  <a:ea typeface="楷体_GB2312" pitchFamily="49" charset="-122"/>
                </a:rPr>
                <a:t>文件</a:t>
              </a:r>
            </a:p>
          </p:txBody>
        </p:sp>
      </p:grpSp>
      <p:sp>
        <p:nvSpPr>
          <p:cNvPr id="548891" name="AutoShape 6"/>
          <p:cNvSpPr>
            <a:spLocks noChangeArrowheads="1"/>
          </p:cNvSpPr>
          <p:nvPr/>
        </p:nvSpPr>
        <p:spPr bwMode="auto">
          <a:xfrm>
            <a:off x="2266950" y="1273175"/>
            <a:ext cx="6553200" cy="2300288"/>
          </a:xfrm>
          <a:prstGeom prst="roundRect">
            <a:avLst>
              <a:gd name="adj" fmla="val 13745"/>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sz="2800" b="1">
                <a:latin typeface="Tahoma" panose="020B0604030504040204" pitchFamily="34" charset="0"/>
                <a:ea typeface="楷体_GB2312" pitchFamily="49" charset="-122"/>
              </a:rPr>
              <a:t> （</a:t>
            </a:r>
            <a:r>
              <a:rPr kumimoji="0" lang="en-US" altLang="zh-CN" sz="2800" b="1">
                <a:latin typeface="Tahoma" panose="020B0604030504040204" pitchFamily="34" charset="0"/>
                <a:ea typeface="楷体_GB2312" pitchFamily="49" charset="-122"/>
              </a:rPr>
              <a:t>1</a:t>
            </a:r>
            <a:r>
              <a:rPr kumimoji="0" lang="zh-CN" altLang="en-US" sz="2800" b="1">
                <a:latin typeface="Tahoma" panose="020B0604030504040204" pitchFamily="34" charset="0"/>
                <a:ea typeface="楷体_GB2312" pitchFamily="49" charset="-122"/>
              </a:rPr>
              <a:t>）从重新开始文件中找到最后一个检查点记录在日志文件中的地址，由该地址在日志文件中找到最后一个检查点记录。</a:t>
            </a:r>
          </a:p>
        </p:txBody>
      </p:sp>
      <p:sp>
        <p:nvSpPr>
          <p:cNvPr id="548892" name="AutoShape 6"/>
          <p:cNvSpPr>
            <a:spLocks noChangeArrowheads="1"/>
          </p:cNvSpPr>
          <p:nvPr/>
        </p:nvSpPr>
        <p:spPr bwMode="auto">
          <a:xfrm>
            <a:off x="2339975" y="4365625"/>
            <a:ext cx="6553200" cy="2159000"/>
          </a:xfrm>
          <a:prstGeom prst="roundRect">
            <a:avLst>
              <a:gd name="adj" fmla="val 13745"/>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sz="2800" b="1">
                <a:latin typeface="Tahoma" panose="020B0604030504040204" pitchFamily="34" charset="0"/>
                <a:ea typeface="楷体_GB2312" pitchFamily="49" charset="-122"/>
              </a:rPr>
              <a:t> （</a:t>
            </a:r>
            <a:r>
              <a:rPr kumimoji="0" lang="en-US" altLang="zh-CN" sz="2800" b="1">
                <a:latin typeface="Tahoma" panose="020B0604030504040204" pitchFamily="34" charset="0"/>
                <a:ea typeface="楷体_GB2312" pitchFamily="49" charset="-122"/>
              </a:rPr>
              <a:t>2</a:t>
            </a:r>
            <a:r>
              <a:rPr kumimoji="0" lang="zh-CN" altLang="en-US" sz="2800" b="1">
                <a:latin typeface="Tahoma" panose="020B0604030504040204" pitchFamily="34" charset="0"/>
                <a:ea typeface="楷体_GB2312" pitchFamily="49" charset="-122"/>
              </a:rPr>
              <a:t>）由该检查点记录得到检查点建立时刻所有正在执行的事务，并设这些事务构成一个事务队列，并将事务队列暂时放入撤消队列，重做队列暂时为空。</a:t>
            </a:r>
          </a:p>
        </p:txBody>
      </p:sp>
      <p:sp>
        <p:nvSpPr>
          <p:cNvPr id="548893" name="AutoShape 6"/>
          <p:cNvSpPr>
            <a:spLocks noChangeArrowheads="1"/>
          </p:cNvSpPr>
          <p:nvPr/>
        </p:nvSpPr>
        <p:spPr bwMode="auto">
          <a:xfrm>
            <a:off x="2339975" y="4076700"/>
            <a:ext cx="6553200" cy="2447925"/>
          </a:xfrm>
          <a:prstGeom prst="roundRect">
            <a:avLst>
              <a:gd name="adj" fmla="val 13745"/>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sz="2800" b="1">
                <a:latin typeface="Tahoma" panose="020B0604030504040204" pitchFamily="34" charset="0"/>
                <a:ea typeface="楷体_GB2312" pitchFamily="49" charset="-122"/>
              </a:rPr>
              <a:t> （</a:t>
            </a:r>
            <a:r>
              <a:rPr kumimoji="0" lang="en-US" altLang="zh-CN" sz="2800" b="1">
                <a:latin typeface="Tahoma" panose="020B0604030504040204" pitchFamily="34" charset="0"/>
                <a:ea typeface="楷体_GB2312" pitchFamily="49" charset="-122"/>
              </a:rPr>
              <a:t>3</a:t>
            </a:r>
            <a:r>
              <a:rPr kumimoji="0" lang="zh-CN" altLang="en-US" sz="2800" b="1">
                <a:latin typeface="Tahoma" panose="020B0604030504040204" pitchFamily="34" charset="0"/>
                <a:ea typeface="楷体_GB2312" pitchFamily="49" charset="-122"/>
              </a:rPr>
              <a:t>）从检查点开始正向扫描日志文件，如有新开始的事务</a:t>
            </a:r>
            <a:r>
              <a:rPr kumimoji="0" lang="en-US" altLang="zh-CN" sz="2800" b="1">
                <a:latin typeface="Tahoma" panose="020B0604030504040204" pitchFamily="34" charset="0"/>
                <a:ea typeface="楷体_GB2312" pitchFamily="49" charset="-122"/>
              </a:rPr>
              <a:t>T</a:t>
            </a:r>
            <a:r>
              <a:rPr kumimoji="0" lang="en-US" altLang="zh-CN" sz="2800" b="1" baseline="-25000">
                <a:latin typeface="Tahoma" panose="020B0604030504040204" pitchFamily="34" charset="0"/>
                <a:ea typeface="楷体_GB2312" pitchFamily="49" charset="-122"/>
              </a:rPr>
              <a:t>i</a:t>
            </a:r>
            <a:r>
              <a:rPr kumimoji="0" lang="zh-CN" altLang="en-US" sz="2800" b="1">
                <a:latin typeface="Tahoma" panose="020B0604030504040204" pitchFamily="34" charset="0"/>
                <a:ea typeface="楷体_GB2312" pitchFamily="49" charset="-122"/>
              </a:rPr>
              <a:t>，把</a:t>
            </a:r>
            <a:r>
              <a:rPr kumimoji="0" lang="en-US" altLang="zh-CN" sz="2800" b="1">
                <a:latin typeface="Tahoma" panose="020B0604030504040204" pitchFamily="34" charset="0"/>
                <a:ea typeface="楷体_GB2312" pitchFamily="49" charset="-122"/>
              </a:rPr>
              <a:t>T</a:t>
            </a:r>
            <a:r>
              <a:rPr kumimoji="0" lang="en-US" altLang="zh-CN" sz="2800" b="1" baseline="-25000">
                <a:latin typeface="Tahoma" panose="020B0604030504040204" pitchFamily="34" charset="0"/>
                <a:ea typeface="楷体_GB2312" pitchFamily="49" charset="-122"/>
              </a:rPr>
              <a:t>i</a:t>
            </a:r>
            <a:r>
              <a:rPr kumimoji="0" lang="zh-CN" altLang="en-US" sz="2800" b="1">
                <a:latin typeface="Tahoma" panose="020B0604030504040204" pitchFamily="34" charset="0"/>
                <a:ea typeface="楷体_GB2312" pitchFamily="49" charset="-122"/>
              </a:rPr>
              <a:t>暂时放入撤消队列；如有提交的事务</a:t>
            </a:r>
            <a:r>
              <a:rPr kumimoji="0" lang="en-US" altLang="zh-CN" sz="2800" b="1">
                <a:latin typeface="Tahoma" panose="020B0604030504040204" pitchFamily="34" charset="0"/>
                <a:ea typeface="楷体_GB2312" pitchFamily="49" charset="-122"/>
              </a:rPr>
              <a:t>T</a:t>
            </a:r>
            <a:r>
              <a:rPr kumimoji="0" lang="en-US" altLang="zh-CN" sz="2800" b="1" baseline="-25000">
                <a:latin typeface="Tahoma" panose="020B0604030504040204" pitchFamily="34" charset="0"/>
                <a:ea typeface="楷体_GB2312" pitchFamily="49" charset="-122"/>
              </a:rPr>
              <a:t>j</a:t>
            </a:r>
            <a:r>
              <a:rPr kumimoji="0" lang="zh-CN" altLang="en-US" sz="2800" b="1">
                <a:latin typeface="Tahoma" panose="020B0604030504040204" pitchFamily="34" charset="0"/>
                <a:ea typeface="楷体_GB2312" pitchFamily="49" charset="-122"/>
              </a:rPr>
              <a:t>，把</a:t>
            </a:r>
            <a:r>
              <a:rPr kumimoji="0" lang="en-US" altLang="zh-CN" sz="2800" b="1">
                <a:latin typeface="Tahoma" panose="020B0604030504040204" pitchFamily="34" charset="0"/>
                <a:ea typeface="楷体_GB2312" pitchFamily="49" charset="-122"/>
              </a:rPr>
              <a:t>T</a:t>
            </a:r>
            <a:r>
              <a:rPr kumimoji="0" lang="en-US" altLang="zh-CN" sz="2800" b="1" baseline="-25000">
                <a:latin typeface="Tahoma" panose="020B0604030504040204" pitchFamily="34" charset="0"/>
                <a:ea typeface="楷体_GB2312" pitchFamily="49" charset="-122"/>
              </a:rPr>
              <a:t>j</a:t>
            </a:r>
            <a:r>
              <a:rPr kumimoji="0" lang="zh-CN" altLang="en-US" sz="2800" b="1">
                <a:latin typeface="Tahoma" panose="020B0604030504040204" pitchFamily="34" charset="0"/>
                <a:ea typeface="楷体_GB2312" pitchFamily="49" charset="-122"/>
              </a:rPr>
              <a:t>从撤消队列移到重做队列，直到日志文件结束。 </a:t>
            </a:r>
          </a:p>
        </p:txBody>
      </p:sp>
      <p:sp>
        <p:nvSpPr>
          <p:cNvPr id="548894" name="AutoShape 6"/>
          <p:cNvSpPr>
            <a:spLocks noChangeArrowheads="1"/>
          </p:cNvSpPr>
          <p:nvPr/>
        </p:nvSpPr>
        <p:spPr bwMode="auto">
          <a:xfrm>
            <a:off x="179388" y="2708275"/>
            <a:ext cx="4679950" cy="2232025"/>
          </a:xfrm>
          <a:prstGeom prst="roundRect">
            <a:avLst>
              <a:gd name="adj" fmla="val 13745"/>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sz="2800" b="1">
                <a:latin typeface="Tahoma" panose="020B0604030504040204" pitchFamily="34" charset="0"/>
                <a:ea typeface="楷体_GB2312" pitchFamily="49" charset="-122"/>
              </a:rPr>
              <a:t> （</a:t>
            </a:r>
            <a:r>
              <a:rPr kumimoji="0" lang="en-US" altLang="zh-CN" sz="2800" b="1">
                <a:latin typeface="Tahoma" panose="020B0604030504040204" pitchFamily="34" charset="0"/>
                <a:ea typeface="楷体_GB2312" pitchFamily="49" charset="-122"/>
              </a:rPr>
              <a:t>4</a:t>
            </a:r>
            <a:r>
              <a:rPr kumimoji="0" lang="zh-CN" altLang="en-US" sz="2800" b="1">
                <a:latin typeface="Tahoma" panose="020B0604030504040204" pitchFamily="34" charset="0"/>
                <a:ea typeface="楷体_GB2312" pitchFamily="49" charset="-122"/>
              </a:rPr>
              <a:t>）对撤消队列中的每个事务执行</a:t>
            </a:r>
            <a:r>
              <a:rPr kumimoji="0" lang="en-US" altLang="zh-CN" sz="2800" b="1">
                <a:latin typeface="Tahoma" panose="020B0604030504040204" pitchFamily="34" charset="0"/>
                <a:ea typeface="楷体_GB2312" pitchFamily="49" charset="-122"/>
              </a:rPr>
              <a:t>UNDO</a:t>
            </a:r>
            <a:r>
              <a:rPr kumimoji="0" lang="zh-CN" altLang="en-US" sz="2800" b="1">
                <a:latin typeface="Tahoma" panose="020B0604030504040204" pitchFamily="34" charset="0"/>
                <a:ea typeface="楷体_GB2312" pitchFamily="49" charset="-122"/>
              </a:rPr>
              <a:t>操作，对重做队列中的每个事务执行</a:t>
            </a:r>
            <a:r>
              <a:rPr kumimoji="0" lang="en-US" altLang="zh-CN" sz="2800" b="1">
                <a:latin typeface="Tahoma" panose="020B0604030504040204" pitchFamily="34" charset="0"/>
                <a:ea typeface="楷体_GB2312" pitchFamily="49" charset="-122"/>
              </a:rPr>
              <a:t>REDO</a:t>
            </a:r>
            <a:r>
              <a:rPr kumimoji="0" lang="zh-CN" altLang="en-US" sz="2800" b="1">
                <a:latin typeface="Tahoma" panose="020B0604030504040204" pitchFamily="34" charset="0"/>
                <a:ea typeface="楷体_GB2312" pitchFamily="49" charset="-122"/>
              </a:rPr>
              <a:t>操作。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91085"/>
    </mc:Choice>
    <mc:Fallback xmlns="">
      <p:transition spd="slow" advTm="9108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48866"/>
                                        </p:tgtEl>
                                        <p:attrNameLst>
                                          <p:attrName>style.visibility</p:attrName>
                                        </p:attrNameLst>
                                      </p:cBhvr>
                                      <p:to>
                                        <p:strVal val="visible"/>
                                      </p:to>
                                    </p:set>
                                    <p:animEffect transition="in" filter="wipe(left)">
                                      <p:cBhvr>
                                        <p:cTn id="7" dur="1000"/>
                                        <p:tgtEl>
                                          <p:spTgt spid="54886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548879"/>
                                        </p:tgtEl>
                                        <p:attrNameLst>
                                          <p:attrName>style.visibility</p:attrName>
                                        </p:attrNameLst>
                                      </p:cBhvr>
                                      <p:to>
                                        <p:strVal val="visible"/>
                                      </p:to>
                                    </p:set>
                                    <p:animEffect transition="in" filter="strips(downRight)">
                                      <p:cBhvr>
                                        <p:cTn id="12" dur="500"/>
                                        <p:tgtEl>
                                          <p:spTgt spid="548879"/>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548891"/>
                                        </p:tgtEl>
                                        <p:attrNameLst>
                                          <p:attrName>style.visibility</p:attrName>
                                        </p:attrNameLst>
                                      </p:cBhvr>
                                      <p:to>
                                        <p:strVal val="visible"/>
                                      </p:to>
                                    </p:set>
                                    <p:animEffect transition="in" filter="strips(downRight)">
                                      <p:cBhvr>
                                        <p:cTn id="17" dur="500"/>
                                        <p:tgtEl>
                                          <p:spTgt spid="54889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48880"/>
                                        </p:tgtEl>
                                        <p:attrNameLst>
                                          <p:attrName>style.visibility</p:attrName>
                                        </p:attrNameLst>
                                      </p:cBhvr>
                                      <p:to>
                                        <p:strVal val="visible"/>
                                      </p:to>
                                    </p:set>
                                    <p:animEffect transition="in" filter="wipe(left)">
                                      <p:cBhvr>
                                        <p:cTn id="22" dur="500"/>
                                        <p:tgtEl>
                                          <p:spTgt spid="548880"/>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548884"/>
                                        </p:tgtEl>
                                        <p:attrNameLst>
                                          <p:attrName>style.visibility</p:attrName>
                                        </p:attrNameLst>
                                      </p:cBhvr>
                                      <p:to>
                                        <p:strVal val="visible"/>
                                      </p:to>
                                    </p:set>
                                    <p:animEffect transition="in" filter="wipe(left)">
                                      <p:cBhvr>
                                        <p:cTn id="26" dur="500"/>
                                        <p:tgtEl>
                                          <p:spTgt spid="54888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xit" presetSubtype="4" fill="hold" grpId="1" nodeType="clickEffect">
                                  <p:stCondLst>
                                    <p:cond delay="0"/>
                                  </p:stCondLst>
                                  <p:childTnLst>
                                    <p:animEffect transition="out" filter="wipe(down)">
                                      <p:cBhvr>
                                        <p:cTn id="30" dur="500"/>
                                        <p:tgtEl>
                                          <p:spTgt spid="548891"/>
                                        </p:tgtEl>
                                      </p:cBhvr>
                                    </p:animEffect>
                                    <p:set>
                                      <p:cBhvr>
                                        <p:cTn id="31" dur="1" fill="hold">
                                          <p:stCondLst>
                                            <p:cond delay="499"/>
                                          </p:stCondLst>
                                        </p:cTn>
                                        <p:tgtEl>
                                          <p:spTgt spid="548891"/>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548885"/>
                                        </p:tgtEl>
                                        <p:attrNameLst>
                                          <p:attrName>style.visibility</p:attrName>
                                        </p:attrNameLst>
                                      </p:cBhvr>
                                      <p:to>
                                        <p:strVal val="visible"/>
                                      </p:to>
                                    </p:set>
                                    <p:animEffect transition="in" filter="wipe(left)">
                                      <p:cBhvr>
                                        <p:cTn id="36" dur="500"/>
                                        <p:tgtEl>
                                          <p:spTgt spid="548885"/>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548886"/>
                                        </p:tgtEl>
                                        <p:attrNameLst>
                                          <p:attrName>style.visibility</p:attrName>
                                        </p:attrNameLst>
                                      </p:cBhvr>
                                      <p:to>
                                        <p:strVal val="visible"/>
                                      </p:to>
                                    </p:set>
                                    <p:animEffect transition="in" filter="wipe(left)">
                                      <p:cBhvr>
                                        <p:cTn id="40" dur="500"/>
                                        <p:tgtEl>
                                          <p:spTgt spid="548886"/>
                                        </p:tgtEl>
                                      </p:cBhvr>
                                    </p:animEffect>
                                  </p:childTnLst>
                                </p:cTn>
                              </p:par>
                            </p:childTnLst>
                          </p:cTn>
                        </p:par>
                      </p:childTnLst>
                    </p:cTn>
                  </p:par>
                  <p:par>
                    <p:cTn id="41" fill="hold">
                      <p:stCondLst>
                        <p:cond delay="indefinite"/>
                      </p:stCondLst>
                      <p:childTnLst>
                        <p:par>
                          <p:cTn id="42" fill="hold">
                            <p:stCondLst>
                              <p:cond delay="0"/>
                            </p:stCondLst>
                            <p:childTnLst>
                              <p:par>
                                <p:cTn id="43" presetID="18" presetClass="entr" presetSubtype="6" fill="hold" grpId="0" nodeType="clickEffect">
                                  <p:stCondLst>
                                    <p:cond delay="0"/>
                                  </p:stCondLst>
                                  <p:childTnLst>
                                    <p:set>
                                      <p:cBhvr>
                                        <p:cTn id="44" dur="1" fill="hold">
                                          <p:stCondLst>
                                            <p:cond delay="0"/>
                                          </p:stCondLst>
                                        </p:cTn>
                                        <p:tgtEl>
                                          <p:spTgt spid="548892"/>
                                        </p:tgtEl>
                                        <p:attrNameLst>
                                          <p:attrName>style.visibility</p:attrName>
                                        </p:attrNameLst>
                                      </p:cBhvr>
                                      <p:to>
                                        <p:strVal val="visible"/>
                                      </p:to>
                                    </p:set>
                                    <p:animEffect transition="in" filter="strips(downRight)">
                                      <p:cBhvr>
                                        <p:cTn id="45" dur="500"/>
                                        <p:tgtEl>
                                          <p:spTgt spid="54889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xit" presetSubtype="4" fill="hold" grpId="1" nodeType="clickEffect">
                                  <p:stCondLst>
                                    <p:cond delay="0"/>
                                  </p:stCondLst>
                                  <p:childTnLst>
                                    <p:animEffect transition="out" filter="wipe(down)">
                                      <p:cBhvr>
                                        <p:cTn id="49" dur="500"/>
                                        <p:tgtEl>
                                          <p:spTgt spid="548892"/>
                                        </p:tgtEl>
                                      </p:cBhvr>
                                    </p:animEffect>
                                    <p:set>
                                      <p:cBhvr>
                                        <p:cTn id="50" dur="1" fill="hold">
                                          <p:stCondLst>
                                            <p:cond delay="499"/>
                                          </p:stCondLst>
                                        </p:cTn>
                                        <p:tgtEl>
                                          <p:spTgt spid="548892"/>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548887"/>
                                        </p:tgtEl>
                                        <p:attrNameLst>
                                          <p:attrName>style.visibility</p:attrName>
                                        </p:attrNameLst>
                                      </p:cBhvr>
                                      <p:to>
                                        <p:strVal val="visible"/>
                                      </p:to>
                                    </p:set>
                                    <p:animEffect transition="in" filter="wipe(left)">
                                      <p:cBhvr>
                                        <p:cTn id="55" dur="500"/>
                                        <p:tgtEl>
                                          <p:spTgt spid="548887"/>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548868"/>
                                        </p:tgtEl>
                                        <p:attrNameLst>
                                          <p:attrName>style.visibility</p:attrName>
                                        </p:attrNameLst>
                                      </p:cBhvr>
                                      <p:to>
                                        <p:strVal val="visible"/>
                                      </p:to>
                                    </p:set>
                                    <p:animEffect transition="in" filter="wipe(left)">
                                      <p:cBhvr>
                                        <p:cTn id="60" dur="500"/>
                                        <p:tgtEl>
                                          <p:spTgt spid="548868"/>
                                        </p:tgtEl>
                                      </p:cBhvr>
                                    </p:animEffect>
                                  </p:childTnLst>
                                </p:cTn>
                              </p:par>
                            </p:childTnLst>
                          </p:cTn>
                        </p:par>
                        <p:par>
                          <p:cTn id="61" fill="hold">
                            <p:stCondLst>
                              <p:cond delay="500"/>
                            </p:stCondLst>
                            <p:childTnLst>
                              <p:par>
                                <p:cTn id="62" presetID="22" presetClass="entr" presetSubtype="8" fill="hold" grpId="0" nodeType="afterEffect">
                                  <p:stCondLst>
                                    <p:cond delay="0"/>
                                  </p:stCondLst>
                                  <p:childTnLst>
                                    <p:set>
                                      <p:cBhvr>
                                        <p:cTn id="63" dur="1" fill="hold">
                                          <p:stCondLst>
                                            <p:cond delay="0"/>
                                          </p:stCondLst>
                                        </p:cTn>
                                        <p:tgtEl>
                                          <p:spTgt spid="548869"/>
                                        </p:tgtEl>
                                        <p:attrNameLst>
                                          <p:attrName>style.visibility</p:attrName>
                                        </p:attrNameLst>
                                      </p:cBhvr>
                                      <p:to>
                                        <p:strVal val="visible"/>
                                      </p:to>
                                    </p:set>
                                    <p:animEffect transition="in" filter="wipe(left)">
                                      <p:cBhvr>
                                        <p:cTn id="64" dur="500"/>
                                        <p:tgtEl>
                                          <p:spTgt spid="548869"/>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548870"/>
                                        </p:tgtEl>
                                        <p:attrNameLst>
                                          <p:attrName>style.visibility</p:attrName>
                                        </p:attrNameLst>
                                      </p:cBhvr>
                                      <p:to>
                                        <p:strVal val="visible"/>
                                      </p:to>
                                    </p:set>
                                    <p:animEffect transition="in" filter="wipe(left)">
                                      <p:cBhvr>
                                        <p:cTn id="67" dur="500"/>
                                        <p:tgtEl>
                                          <p:spTgt spid="548870"/>
                                        </p:tgtEl>
                                      </p:cBhvr>
                                    </p:animEffect>
                                  </p:childTnLst>
                                </p:cTn>
                              </p:par>
                            </p:childTnLst>
                          </p:cTn>
                        </p:par>
                      </p:childTnLst>
                    </p:cTn>
                  </p:par>
                  <p:par>
                    <p:cTn id="68" fill="hold">
                      <p:stCondLst>
                        <p:cond delay="indefinite"/>
                      </p:stCondLst>
                      <p:childTnLst>
                        <p:par>
                          <p:cTn id="69" fill="hold">
                            <p:stCondLst>
                              <p:cond delay="0"/>
                            </p:stCondLst>
                            <p:childTnLst>
                              <p:par>
                                <p:cTn id="70" presetID="18" presetClass="entr" presetSubtype="6" fill="hold" grpId="0" nodeType="clickEffect">
                                  <p:stCondLst>
                                    <p:cond delay="0"/>
                                  </p:stCondLst>
                                  <p:childTnLst>
                                    <p:set>
                                      <p:cBhvr>
                                        <p:cTn id="71" dur="1" fill="hold">
                                          <p:stCondLst>
                                            <p:cond delay="0"/>
                                          </p:stCondLst>
                                        </p:cTn>
                                        <p:tgtEl>
                                          <p:spTgt spid="548893"/>
                                        </p:tgtEl>
                                        <p:attrNameLst>
                                          <p:attrName>style.visibility</p:attrName>
                                        </p:attrNameLst>
                                      </p:cBhvr>
                                      <p:to>
                                        <p:strVal val="visible"/>
                                      </p:to>
                                    </p:set>
                                    <p:animEffect transition="in" filter="strips(downRight)">
                                      <p:cBhvr>
                                        <p:cTn id="72" dur="500"/>
                                        <p:tgtEl>
                                          <p:spTgt spid="548893"/>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xit" presetSubtype="4" fill="hold" grpId="1" nodeType="clickEffect">
                                  <p:stCondLst>
                                    <p:cond delay="0"/>
                                  </p:stCondLst>
                                  <p:childTnLst>
                                    <p:animEffect transition="out" filter="wipe(down)">
                                      <p:cBhvr>
                                        <p:cTn id="76" dur="500"/>
                                        <p:tgtEl>
                                          <p:spTgt spid="548893"/>
                                        </p:tgtEl>
                                      </p:cBhvr>
                                    </p:animEffect>
                                    <p:set>
                                      <p:cBhvr>
                                        <p:cTn id="77" dur="1" fill="hold">
                                          <p:stCondLst>
                                            <p:cond delay="499"/>
                                          </p:stCondLst>
                                        </p:cTn>
                                        <p:tgtEl>
                                          <p:spTgt spid="548893"/>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18" presetClass="entr" presetSubtype="6" fill="hold" grpId="0" nodeType="clickEffect">
                                  <p:stCondLst>
                                    <p:cond delay="0"/>
                                  </p:stCondLst>
                                  <p:childTnLst>
                                    <p:set>
                                      <p:cBhvr>
                                        <p:cTn id="81" dur="1" fill="hold">
                                          <p:stCondLst>
                                            <p:cond delay="0"/>
                                          </p:stCondLst>
                                        </p:cTn>
                                        <p:tgtEl>
                                          <p:spTgt spid="548894"/>
                                        </p:tgtEl>
                                        <p:attrNameLst>
                                          <p:attrName>style.visibility</p:attrName>
                                        </p:attrNameLst>
                                      </p:cBhvr>
                                      <p:to>
                                        <p:strVal val="visible"/>
                                      </p:to>
                                    </p:set>
                                    <p:animEffect transition="in" filter="strips(downRight)">
                                      <p:cBhvr>
                                        <p:cTn id="82" dur="500"/>
                                        <p:tgtEl>
                                          <p:spTgt spid="548894"/>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xit" presetSubtype="4" fill="hold" grpId="1" nodeType="clickEffect">
                                  <p:stCondLst>
                                    <p:cond delay="0"/>
                                  </p:stCondLst>
                                  <p:childTnLst>
                                    <p:animEffect transition="out" filter="wipe(down)">
                                      <p:cBhvr>
                                        <p:cTn id="86" dur="500"/>
                                        <p:tgtEl>
                                          <p:spTgt spid="548894"/>
                                        </p:tgtEl>
                                      </p:cBhvr>
                                    </p:animEffect>
                                    <p:set>
                                      <p:cBhvr>
                                        <p:cTn id="87" dur="1" fill="hold">
                                          <p:stCondLst>
                                            <p:cond delay="499"/>
                                          </p:stCondLst>
                                        </p:cTn>
                                        <p:tgtEl>
                                          <p:spTgt spid="548894"/>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548873"/>
                                        </p:tgtEl>
                                        <p:attrNameLst>
                                          <p:attrName>style.visibility</p:attrName>
                                        </p:attrNameLst>
                                      </p:cBhvr>
                                      <p:to>
                                        <p:strVal val="visible"/>
                                      </p:to>
                                    </p:set>
                                    <p:animEffect transition="in" filter="wipe(left)">
                                      <p:cBhvr>
                                        <p:cTn id="92" dur="500"/>
                                        <p:tgtEl>
                                          <p:spTgt spid="548873"/>
                                        </p:tgtEl>
                                      </p:cBhvr>
                                    </p:animEffect>
                                  </p:childTnLst>
                                </p:cTn>
                              </p:par>
                            </p:childTnLst>
                          </p:cTn>
                        </p:par>
                        <p:par>
                          <p:cTn id="93" fill="hold">
                            <p:stCondLst>
                              <p:cond delay="500"/>
                            </p:stCondLst>
                            <p:childTnLst>
                              <p:par>
                                <p:cTn id="94" presetID="22" presetClass="entr" presetSubtype="8" fill="hold" grpId="0" nodeType="afterEffect">
                                  <p:stCondLst>
                                    <p:cond delay="0"/>
                                  </p:stCondLst>
                                  <p:childTnLst>
                                    <p:set>
                                      <p:cBhvr>
                                        <p:cTn id="95" dur="1" fill="hold">
                                          <p:stCondLst>
                                            <p:cond delay="0"/>
                                          </p:stCondLst>
                                        </p:cTn>
                                        <p:tgtEl>
                                          <p:spTgt spid="548871"/>
                                        </p:tgtEl>
                                        <p:attrNameLst>
                                          <p:attrName>style.visibility</p:attrName>
                                        </p:attrNameLst>
                                      </p:cBhvr>
                                      <p:to>
                                        <p:strVal val="visible"/>
                                      </p:to>
                                    </p:set>
                                    <p:animEffect transition="in" filter="wipe(left)">
                                      <p:cBhvr>
                                        <p:cTn id="96" dur="500"/>
                                        <p:tgtEl>
                                          <p:spTgt spid="548871"/>
                                        </p:tgtEl>
                                      </p:cBhvr>
                                    </p:animEffect>
                                  </p:childTnLst>
                                </p:cTn>
                              </p:par>
                            </p:childTnLst>
                          </p:cTn>
                        </p:par>
                        <p:par>
                          <p:cTn id="97" fill="hold">
                            <p:stCondLst>
                              <p:cond delay="1000"/>
                            </p:stCondLst>
                            <p:childTnLst>
                              <p:par>
                                <p:cTn id="98" presetID="22" presetClass="entr" presetSubtype="8" fill="hold" nodeType="afterEffect">
                                  <p:stCondLst>
                                    <p:cond delay="0"/>
                                  </p:stCondLst>
                                  <p:childTnLst>
                                    <p:set>
                                      <p:cBhvr>
                                        <p:cTn id="99" dur="1" fill="hold">
                                          <p:stCondLst>
                                            <p:cond delay="0"/>
                                          </p:stCondLst>
                                        </p:cTn>
                                        <p:tgtEl>
                                          <p:spTgt spid="548876"/>
                                        </p:tgtEl>
                                        <p:attrNameLst>
                                          <p:attrName>style.visibility</p:attrName>
                                        </p:attrNameLst>
                                      </p:cBhvr>
                                      <p:to>
                                        <p:strVal val="visible"/>
                                      </p:to>
                                    </p:set>
                                    <p:animEffect transition="in" filter="wipe(left)">
                                      <p:cBhvr>
                                        <p:cTn id="100" dur="500"/>
                                        <p:tgtEl>
                                          <p:spTgt spid="548876"/>
                                        </p:tgtEl>
                                      </p:cBhvr>
                                    </p:animEffect>
                                  </p:childTnLst>
                                </p:cTn>
                              </p:par>
                            </p:childTnLst>
                          </p:cTn>
                        </p:par>
                        <p:par>
                          <p:cTn id="101" fill="hold">
                            <p:stCondLst>
                              <p:cond delay="1500"/>
                            </p:stCondLst>
                            <p:childTnLst>
                              <p:par>
                                <p:cTn id="102" presetID="22" presetClass="entr" presetSubtype="8" fill="hold" grpId="0" nodeType="afterEffect">
                                  <p:stCondLst>
                                    <p:cond delay="0"/>
                                  </p:stCondLst>
                                  <p:childTnLst>
                                    <p:set>
                                      <p:cBhvr>
                                        <p:cTn id="103" dur="1" fill="hold">
                                          <p:stCondLst>
                                            <p:cond delay="0"/>
                                          </p:stCondLst>
                                        </p:cTn>
                                        <p:tgtEl>
                                          <p:spTgt spid="548872"/>
                                        </p:tgtEl>
                                        <p:attrNameLst>
                                          <p:attrName>style.visibility</p:attrName>
                                        </p:attrNameLst>
                                      </p:cBhvr>
                                      <p:to>
                                        <p:strVal val="visible"/>
                                      </p:to>
                                    </p:set>
                                    <p:animEffect transition="in" filter="wipe(left)">
                                      <p:cBhvr>
                                        <p:cTn id="104" dur="500"/>
                                        <p:tgtEl>
                                          <p:spTgt spid="548872"/>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nodeType="clickEffect">
                                  <p:stCondLst>
                                    <p:cond delay="0"/>
                                  </p:stCondLst>
                                  <p:childTnLst>
                                    <p:set>
                                      <p:cBhvr>
                                        <p:cTn id="108" dur="1" fill="hold">
                                          <p:stCondLst>
                                            <p:cond delay="0"/>
                                          </p:stCondLst>
                                        </p:cTn>
                                        <p:tgtEl>
                                          <p:spTgt spid="548874"/>
                                        </p:tgtEl>
                                        <p:attrNameLst>
                                          <p:attrName>style.visibility</p:attrName>
                                        </p:attrNameLst>
                                      </p:cBhvr>
                                      <p:to>
                                        <p:strVal val="visible"/>
                                      </p:to>
                                    </p:set>
                                    <p:animEffect transition="in" filter="wipe(left)">
                                      <p:cBhvr>
                                        <p:cTn id="109" dur="500"/>
                                        <p:tgtEl>
                                          <p:spTgt spid="548874"/>
                                        </p:tgtEl>
                                      </p:cBhvr>
                                    </p:animEffect>
                                  </p:childTnLst>
                                </p:cTn>
                              </p:par>
                            </p:childTnLst>
                          </p:cTn>
                        </p:par>
                        <p:par>
                          <p:cTn id="110" fill="hold">
                            <p:stCondLst>
                              <p:cond delay="500"/>
                            </p:stCondLst>
                            <p:childTnLst>
                              <p:par>
                                <p:cTn id="111" presetID="22" presetClass="entr" presetSubtype="8" fill="hold" grpId="0" nodeType="afterEffect">
                                  <p:stCondLst>
                                    <p:cond delay="0"/>
                                  </p:stCondLst>
                                  <p:childTnLst>
                                    <p:set>
                                      <p:cBhvr>
                                        <p:cTn id="112" dur="1" fill="hold">
                                          <p:stCondLst>
                                            <p:cond delay="0"/>
                                          </p:stCondLst>
                                        </p:cTn>
                                        <p:tgtEl>
                                          <p:spTgt spid="548875"/>
                                        </p:tgtEl>
                                        <p:attrNameLst>
                                          <p:attrName>style.visibility</p:attrName>
                                        </p:attrNameLst>
                                      </p:cBhvr>
                                      <p:to>
                                        <p:strVal val="visible"/>
                                      </p:to>
                                    </p:set>
                                    <p:animEffect transition="in" filter="wipe(left)">
                                      <p:cBhvr>
                                        <p:cTn id="113" dur="500"/>
                                        <p:tgtEl>
                                          <p:spTgt spid="548875"/>
                                        </p:tgtEl>
                                      </p:cBhvr>
                                    </p:animEffect>
                                  </p:childTnLst>
                                </p:cTn>
                              </p:par>
                            </p:childTnLst>
                          </p:cTn>
                        </p:par>
                        <p:par>
                          <p:cTn id="114" fill="hold">
                            <p:stCondLst>
                              <p:cond delay="1000"/>
                            </p:stCondLst>
                            <p:childTnLst>
                              <p:par>
                                <p:cTn id="115" presetID="22" presetClass="entr" presetSubtype="8" fill="hold" nodeType="afterEffect">
                                  <p:stCondLst>
                                    <p:cond delay="0"/>
                                  </p:stCondLst>
                                  <p:childTnLst>
                                    <p:set>
                                      <p:cBhvr>
                                        <p:cTn id="116" dur="1" fill="hold">
                                          <p:stCondLst>
                                            <p:cond delay="0"/>
                                          </p:stCondLst>
                                        </p:cTn>
                                        <p:tgtEl>
                                          <p:spTgt spid="548877"/>
                                        </p:tgtEl>
                                        <p:attrNameLst>
                                          <p:attrName>style.visibility</p:attrName>
                                        </p:attrNameLst>
                                      </p:cBhvr>
                                      <p:to>
                                        <p:strVal val="visible"/>
                                      </p:to>
                                    </p:set>
                                    <p:animEffect transition="in" filter="wipe(left)">
                                      <p:cBhvr>
                                        <p:cTn id="117" dur="500"/>
                                        <p:tgtEl>
                                          <p:spTgt spid="548877"/>
                                        </p:tgtEl>
                                      </p:cBhvr>
                                    </p:animEffect>
                                  </p:childTnLst>
                                </p:cTn>
                              </p:par>
                            </p:childTnLst>
                          </p:cTn>
                        </p:par>
                        <p:par>
                          <p:cTn id="118" fill="hold">
                            <p:stCondLst>
                              <p:cond delay="1500"/>
                            </p:stCondLst>
                            <p:childTnLst>
                              <p:par>
                                <p:cTn id="119" presetID="22" presetClass="entr" presetSubtype="8" fill="hold" grpId="0" nodeType="afterEffect">
                                  <p:stCondLst>
                                    <p:cond delay="0"/>
                                  </p:stCondLst>
                                  <p:childTnLst>
                                    <p:set>
                                      <p:cBhvr>
                                        <p:cTn id="120" dur="1" fill="hold">
                                          <p:stCondLst>
                                            <p:cond delay="0"/>
                                          </p:stCondLst>
                                        </p:cTn>
                                        <p:tgtEl>
                                          <p:spTgt spid="548878"/>
                                        </p:tgtEl>
                                        <p:attrNameLst>
                                          <p:attrName>style.visibility</p:attrName>
                                        </p:attrNameLst>
                                      </p:cBhvr>
                                      <p:to>
                                        <p:strVal val="visible"/>
                                      </p:to>
                                    </p:set>
                                    <p:animEffect transition="in" filter="wipe(left)">
                                      <p:cBhvr>
                                        <p:cTn id="121" dur="500"/>
                                        <p:tgtEl>
                                          <p:spTgt spid="5488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8866" grpId="0"/>
      <p:bldP spid="548869" grpId="0" animBg="1"/>
      <p:bldP spid="548870" grpId="0" animBg="1"/>
      <p:bldP spid="548871" grpId="0" animBg="1"/>
      <p:bldP spid="548872" grpId="0" animBg="1"/>
      <p:bldP spid="548875" grpId="0" animBg="1"/>
      <p:bldP spid="548878" grpId="0" animBg="1"/>
      <p:bldP spid="548879" grpId="0" animBg="1"/>
      <p:bldP spid="548884" grpId="0" animBg="1"/>
      <p:bldP spid="548886" grpId="0" animBg="1"/>
      <p:bldP spid="548891" grpId="0" animBg="1"/>
      <p:bldP spid="548891" grpId="1" animBg="1"/>
      <p:bldP spid="548892" grpId="0" animBg="1"/>
      <p:bldP spid="548892" grpId="1" animBg="1"/>
      <p:bldP spid="548893" grpId="0" animBg="1"/>
      <p:bldP spid="548893" grpId="1" animBg="1"/>
      <p:bldP spid="548894" grpId="0" animBg="1"/>
      <p:bldP spid="548894" grpId="1"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Rectangle 2"/>
          <p:cNvSpPr>
            <a:spLocks noGrp="1" noRot="1" noChangeArrowheads="1"/>
          </p:cNvSpPr>
          <p:nvPr>
            <p:ph type="title"/>
          </p:nvPr>
        </p:nvSpPr>
        <p:spPr>
          <a:xfrm>
            <a:off x="1281113" y="325438"/>
            <a:ext cx="5670550"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五、数据库镜像</a:t>
            </a:r>
          </a:p>
        </p:txBody>
      </p:sp>
      <p:sp>
        <p:nvSpPr>
          <p:cNvPr id="550915" name="AutoShape 3"/>
          <p:cNvSpPr>
            <a:spLocks noChangeArrowheads="1"/>
          </p:cNvSpPr>
          <p:nvPr/>
        </p:nvSpPr>
        <p:spPr bwMode="auto">
          <a:xfrm>
            <a:off x="611188" y="1341438"/>
            <a:ext cx="7848600" cy="5111750"/>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40000"/>
              </a:spcBef>
              <a:buClr>
                <a:schemeClr val="folHlink"/>
              </a:buClr>
              <a:buSzPct val="60000"/>
              <a:buFont typeface="Wingdings" panose="05000000000000000000" pitchFamily="2" charset="2"/>
              <a:buNone/>
            </a:pPr>
            <a:r>
              <a:rPr lang="zh-CN" altLang="en-US" sz="2600" b="1">
                <a:latin typeface="Tahoma" panose="020B0604030504040204" pitchFamily="34" charset="0"/>
                <a:ea typeface="楷体_GB2312" pitchFamily="49" charset="-122"/>
              </a:rPr>
              <a:t>（</a:t>
            </a:r>
            <a:r>
              <a:rPr lang="en-US" altLang="zh-CN" sz="2600" b="1">
                <a:latin typeface="Tahoma" panose="020B0604030504040204" pitchFamily="34" charset="0"/>
                <a:ea typeface="楷体_GB2312" pitchFamily="49" charset="-122"/>
              </a:rPr>
              <a:t>1</a:t>
            </a:r>
            <a:r>
              <a:rPr lang="zh-CN" altLang="en-US" sz="2600" b="1">
                <a:latin typeface="Tahoma" panose="020B0604030504040204" pitchFamily="34" charset="0"/>
                <a:ea typeface="楷体_GB2312" pitchFamily="49" charset="-122"/>
              </a:rPr>
              <a:t>）起因</a:t>
            </a:r>
          </a:p>
          <a:p>
            <a:pPr>
              <a:lnSpc>
                <a:spcPct val="110000"/>
              </a:lnSpc>
              <a:spcBef>
                <a:spcPct val="40000"/>
              </a:spcBef>
              <a:buClr>
                <a:schemeClr val="folHlink"/>
              </a:buClr>
              <a:buSzPct val="60000"/>
              <a:buFont typeface="Wingdings" panose="05000000000000000000" pitchFamily="2" charset="2"/>
              <a:buNone/>
            </a:pPr>
            <a:r>
              <a:rPr lang="zh-CN" altLang="en-US" sz="2600" b="1">
                <a:latin typeface="Tahoma" panose="020B0604030504040204" pitchFamily="34" charset="0"/>
                <a:ea typeface="楷体_GB2312" pitchFamily="49" charset="-122"/>
              </a:rPr>
              <a:t>       介质故障是数据库系统中最严重的一种故障。当发生介质故障时，用户对数据库的应用处理全部中断，造成较大的数据信息损失。恢复费时。</a:t>
            </a:r>
          </a:p>
          <a:p>
            <a:pPr>
              <a:lnSpc>
                <a:spcPct val="110000"/>
              </a:lnSpc>
              <a:spcBef>
                <a:spcPct val="40000"/>
              </a:spcBef>
              <a:buClr>
                <a:schemeClr val="folHlink"/>
              </a:buClr>
              <a:buSzPct val="60000"/>
              <a:buFont typeface="Wingdings" panose="05000000000000000000" pitchFamily="2" charset="2"/>
              <a:buNone/>
            </a:pPr>
            <a:r>
              <a:rPr lang="zh-CN" altLang="en-US" sz="2600" b="1">
                <a:latin typeface="Tahoma" panose="020B0604030504040204" pitchFamily="34" charset="0"/>
                <a:ea typeface="楷体_GB2312" pitchFamily="49" charset="-122"/>
              </a:rPr>
              <a:t>（</a:t>
            </a:r>
            <a:r>
              <a:rPr lang="en-US" altLang="zh-CN" sz="2600" b="1">
                <a:latin typeface="Tahoma" panose="020B0604030504040204" pitchFamily="34" charset="0"/>
                <a:ea typeface="楷体_GB2312" pitchFamily="49" charset="-122"/>
              </a:rPr>
              <a:t>2</a:t>
            </a:r>
            <a:r>
              <a:rPr lang="zh-CN" altLang="en-US" sz="2600" b="1">
                <a:latin typeface="Tahoma" panose="020B0604030504040204" pitchFamily="34" charset="0"/>
                <a:ea typeface="楷体_GB2312" pitchFamily="49" charset="-122"/>
              </a:rPr>
              <a:t>）条件</a:t>
            </a:r>
          </a:p>
          <a:p>
            <a:pPr>
              <a:lnSpc>
                <a:spcPct val="110000"/>
              </a:lnSpc>
              <a:spcBef>
                <a:spcPct val="40000"/>
              </a:spcBef>
              <a:buClr>
                <a:schemeClr val="folHlink"/>
              </a:buClr>
              <a:buSzPct val="60000"/>
              <a:buFont typeface="Wingdings" panose="05000000000000000000" pitchFamily="2" charset="2"/>
              <a:buNone/>
            </a:pPr>
            <a:r>
              <a:rPr lang="zh-CN" altLang="en-US" sz="2600" b="1">
                <a:latin typeface="Tahoma" panose="020B0604030504040204" pitchFamily="34" charset="0"/>
                <a:ea typeface="楷体_GB2312" pitchFamily="49" charset="-122"/>
              </a:rPr>
              <a:t>        磁盘容量越来越大，价格越来越便宜。信息资源的重要性更加凸显。</a:t>
            </a:r>
          </a:p>
          <a:p>
            <a:pPr>
              <a:lnSpc>
                <a:spcPct val="110000"/>
              </a:lnSpc>
              <a:spcBef>
                <a:spcPct val="40000"/>
              </a:spcBef>
              <a:buClr>
                <a:schemeClr val="folHlink"/>
              </a:buClr>
              <a:buSzPct val="60000"/>
              <a:buFont typeface="Wingdings" panose="05000000000000000000" pitchFamily="2" charset="2"/>
              <a:buNone/>
            </a:pPr>
            <a:r>
              <a:rPr lang="zh-CN" altLang="en-US" sz="2600" b="1">
                <a:latin typeface="Tahoma" panose="020B0604030504040204" pitchFamily="34" charset="0"/>
                <a:ea typeface="楷体_GB2312" pitchFamily="49" charset="-122"/>
              </a:rPr>
              <a:t>（</a:t>
            </a:r>
            <a:r>
              <a:rPr lang="en-US" altLang="zh-CN" sz="2600" b="1">
                <a:latin typeface="Tahoma" panose="020B0604030504040204" pitchFamily="34" charset="0"/>
                <a:ea typeface="楷体_GB2312" pitchFamily="49" charset="-122"/>
              </a:rPr>
              <a:t>3</a:t>
            </a:r>
            <a:r>
              <a:rPr lang="zh-CN" altLang="en-US" sz="2600" b="1">
                <a:latin typeface="Tahoma" panose="020B0604030504040204" pitchFamily="34" charset="0"/>
                <a:ea typeface="楷体_GB2312" pitchFamily="49" charset="-122"/>
              </a:rPr>
              <a:t>）解决办法</a:t>
            </a:r>
          </a:p>
          <a:p>
            <a:pPr>
              <a:lnSpc>
                <a:spcPct val="110000"/>
              </a:lnSpc>
              <a:spcBef>
                <a:spcPct val="40000"/>
              </a:spcBef>
              <a:buClr>
                <a:schemeClr val="folHlink"/>
              </a:buClr>
              <a:buSzPct val="60000"/>
              <a:buFont typeface="Wingdings" panose="05000000000000000000" pitchFamily="2" charset="2"/>
              <a:buNone/>
            </a:pPr>
            <a:r>
              <a:rPr lang="zh-CN" altLang="en-US" sz="2600" b="1">
                <a:latin typeface="Tahoma" panose="020B0604030504040204" pitchFamily="34" charset="0"/>
                <a:ea typeface="楷体_GB2312" pitchFamily="49" charset="-122"/>
              </a:rPr>
              <a:t>        镜像磁盘技术。</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0940"/>
    </mc:Choice>
    <mc:Fallback xmlns="">
      <p:transition spd="slow" advTm="509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50915">
                                            <p:bg/>
                                          </p:spTgt>
                                        </p:tgtEl>
                                        <p:attrNameLst>
                                          <p:attrName>style.visibility</p:attrName>
                                        </p:attrNameLst>
                                      </p:cBhvr>
                                      <p:to>
                                        <p:strVal val="visible"/>
                                      </p:to>
                                    </p:set>
                                    <p:animEffect transition="in" filter="wipe(up)">
                                      <p:cBhvr>
                                        <p:cTn id="7" dur="500"/>
                                        <p:tgtEl>
                                          <p:spTgt spid="550915">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50915">
                                            <p:txEl>
                                              <p:pRg st="0" end="0"/>
                                            </p:txEl>
                                          </p:spTgt>
                                        </p:tgtEl>
                                        <p:attrNameLst>
                                          <p:attrName>style.visibility</p:attrName>
                                        </p:attrNameLst>
                                      </p:cBhvr>
                                      <p:to>
                                        <p:strVal val="visible"/>
                                      </p:to>
                                    </p:set>
                                    <p:animEffect transition="in" filter="wipe(up)">
                                      <p:cBhvr>
                                        <p:cTn id="12" dur="500"/>
                                        <p:tgtEl>
                                          <p:spTgt spid="55091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50915">
                                            <p:txEl>
                                              <p:pRg st="1" end="1"/>
                                            </p:txEl>
                                          </p:spTgt>
                                        </p:tgtEl>
                                        <p:attrNameLst>
                                          <p:attrName>style.visibility</p:attrName>
                                        </p:attrNameLst>
                                      </p:cBhvr>
                                      <p:to>
                                        <p:strVal val="visible"/>
                                      </p:to>
                                    </p:set>
                                    <p:animEffect transition="in" filter="wipe(up)">
                                      <p:cBhvr>
                                        <p:cTn id="17" dur="500"/>
                                        <p:tgtEl>
                                          <p:spTgt spid="55091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50915">
                                            <p:txEl>
                                              <p:pRg st="2" end="2"/>
                                            </p:txEl>
                                          </p:spTgt>
                                        </p:tgtEl>
                                        <p:attrNameLst>
                                          <p:attrName>style.visibility</p:attrName>
                                        </p:attrNameLst>
                                      </p:cBhvr>
                                      <p:to>
                                        <p:strVal val="visible"/>
                                      </p:to>
                                    </p:set>
                                    <p:animEffect transition="in" filter="wipe(up)">
                                      <p:cBhvr>
                                        <p:cTn id="22" dur="500"/>
                                        <p:tgtEl>
                                          <p:spTgt spid="55091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50915">
                                            <p:txEl>
                                              <p:pRg st="3" end="3"/>
                                            </p:txEl>
                                          </p:spTgt>
                                        </p:tgtEl>
                                        <p:attrNameLst>
                                          <p:attrName>style.visibility</p:attrName>
                                        </p:attrNameLst>
                                      </p:cBhvr>
                                      <p:to>
                                        <p:strVal val="visible"/>
                                      </p:to>
                                    </p:set>
                                    <p:animEffect transition="in" filter="wipe(up)">
                                      <p:cBhvr>
                                        <p:cTn id="27" dur="500"/>
                                        <p:tgtEl>
                                          <p:spTgt spid="55091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50915">
                                            <p:txEl>
                                              <p:pRg st="4" end="4"/>
                                            </p:txEl>
                                          </p:spTgt>
                                        </p:tgtEl>
                                        <p:attrNameLst>
                                          <p:attrName>style.visibility</p:attrName>
                                        </p:attrNameLst>
                                      </p:cBhvr>
                                      <p:to>
                                        <p:strVal val="visible"/>
                                      </p:to>
                                    </p:set>
                                    <p:animEffect transition="in" filter="wipe(up)">
                                      <p:cBhvr>
                                        <p:cTn id="32" dur="500"/>
                                        <p:tgtEl>
                                          <p:spTgt spid="55091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550915">
                                            <p:txEl>
                                              <p:pRg st="5" end="5"/>
                                            </p:txEl>
                                          </p:spTgt>
                                        </p:tgtEl>
                                        <p:attrNameLst>
                                          <p:attrName>style.visibility</p:attrName>
                                        </p:attrNameLst>
                                      </p:cBhvr>
                                      <p:to>
                                        <p:strVal val="visible"/>
                                      </p:to>
                                    </p:set>
                                    <p:animEffect transition="in" filter="wipe(up)">
                                      <p:cBhvr>
                                        <p:cTn id="37" dur="500"/>
                                        <p:tgtEl>
                                          <p:spTgt spid="5509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0915" grpId="0" build="p"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p:cNvSpPr>
            <a:spLocks noGrp="1" noRot="1" noChangeArrowheads="1"/>
          </p:cNvSpPr>
          <p:nvPr>
            <p:ph type="title"/>
          </p:nvPr>
        </p:nvSpPr>
        <p:spPr>
          <a:xfrm>
            <a:off x="1281113" y="325438"/>
            <a:ext cx="5670550"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五、数据库镜像</a:t>
            </a:r>
          </a:p>
        </p:txBody>
      </p:sp>
      <p:sp>
        <p:nvSpPr>
          <p:cNvPr id="551939" name="AutoShape 3"/>
          <p:cNvSpPr>
            <a:spLocks noChangeArrowheads="1"/>
          </p:cNvSpPr>
          <p:nvPr/>
        </p:nvSpPr>
        <p:spPr bwMode="auto">
          <a:xfrm>
            <a:off x="611188" y="1341438"/>
            <a:ext cx="7848600" cy="5111750"/>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50000"/>
              </a:spcBef>
              <a:buClr>
                <a:schemeClr val="folHlink"/>
              </a:buClr>
              <a:buSzPct val="60000"/>
              <a:buFont typeface="Wingdings" panose="05000000000000000000" pitchFamily="2" charset="2"/>
              <a:buNone/>
            </a:pPr>
            <a:r>
              <a:rPr lang="zh-CN" altLang="en-US" sz="2600" b="1">
                <a:latin typeface="Tahoma" panose="020B0604030504040204" pitchFamily="34" charset="0"/>
                <a:ea typeface="楷体_GB2312" pitchFamily="49" charset="-122"/>
              </a:rPr>
              <a:t>        镜像磁盘技术是指数据库以双复本的形式存于两个独立的磁盘系统中，两个磁盘系统有各自的磁盘控制器，一个磁盘称为主磁盘或主设备，另一个磁盘称为次磁盘或镜像设备，它们之间可以互相切换。</a:t>
            </a:r>
          </a:p>
          <a:p>
            <a:pPr>
              <a:lnSpc>
                <a:spcPct val="110000"/>
              </a:lnSpc>
              <a:spcBef>
                <a:spcPct val="50000"/>
              </a:spcBef>
              <a:buClr>
                <a:schemeClr val="folHlink"/>
              </a:buClr>
              <a:buSzPct val="60000"/>
              <a:buFont typeface="Wingdings" panose="05000000000000000000" pitchFamily="2" charset="2"/>
              <a:buNone/>
            </a:pPr>
            <a:r>
              <a:rPr lang="zh-CN" altLang="en-US" sz="2600" b="1">
                <a:latin typeface="Tahoma" panose="020B0604030504040204" pitchFamily="34" charset="0"/>
                <a:ea typeface="楷体_GB2312" pitchFamily="49" charset="-122"/>
              </a:rPr>
              <a:t>       在读数据时，可以选读其中任一磁盘；在写磁盘时，两个磁盘都写入相同的内容，一般先把数据发送到主磁盘，然后再发送到次磁盘。这种把所有写入主设备的数据也同时写入镜像设备的方式也称为数据库设备的动态</a:t>
            </a:r>
            <a:r>
              <a:rPr lang="zh-CN" altLang="en-US" sz="2600" b="1">
                <a:ea typeface="楷体_GB2312" pitchFamily="49" charset="-122"/>
              </a:rPr>
              <a:t>“</a:t>
            </a:r>
            <a:r>
              <a:rPr lang="zh-CN" altLang="en-US" sz="2600" b="1">
                <a:latin typeface="Tahoma" panose="020B0604030504040204" pitchFamily="34" charset="0"/>
                <a:ea typeface="楷体_GB2312" pitchFamily="49" charset="-122"/>
              </a:rPr>
              <a:t>复制</a:t>
            </a:r>
            <a:r>
              <a:rPr lang="zh-CN" altLang="en-US" sz="2600" b="1">
                <a:ea typeface="楷体_GB2312" pitchFamily="49" charset="-122"/>
              </a:rPr>
              <a:t>”</a:t>
            </a:r>
            <a:r>
              <a:rPr lang="zh-CN" altLang="en-US" sz="2600" b="1">
                <a:latin typeface="Tahoma" panose="020B0604030504040204" pitchFamily="34" charset="0"/>
                <a:ea typeface="楷体_GB2312" pitchFamily="49" charset="-122"/>
              </a:rPr>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8118"/>
    </mc:Choice>
    <mc:Fallback xmlns="">
      <p:transition spd="slow" advTm="4811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51939">
                                            <p:bg/>
                                          </p:spTgt>
                                        </p:tgtEl>
                                        <p:attrNameLst>
                                          <p:attrName>style.visibility</p:attrName>
                                        </p:attrNameLst>
                                      </p:cBhvr>
                                      <p:to>
                                        <p:strVal val="visible"/>
                                      </p:to>
                                    </p:set>
                                    <p:animEffect transition="in" filter="wipe(up)">
                                      <p:cBhvr>
                                        <p:cTn id="7" dur="500"/>
                                        <p:tgtEl>
                                          <p:spTgt spid="551939">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51939">
                                            <p:txEl>
                                              <p:pRg st="0" end="0"/>
                                            </p:txEl>
                                          </p:spTgt>
                                        </p:tgtEl>
                                        <p:attrNameLst>
                                          <p:attrName>style.visibility</p:attrName>
                                        </p:attrNameLst>
                                      </p:cBhvr>
                                      <p:to>
                                        <p:strVal val="visible"/>
                                      </p:to>
                                    </p:set>
                                    <p:animEffect transition="in" filter="wipe(up)">
                                      <p:cBhvr>
                                        <p:cTn id="12" dur="500"/>
                                        <p:tgtEl>
                                          <p:spTgt spid="55193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51939">
                                            <p:txEl>
                                              <p:pRg st="1" end="1"/>
                                            </p:txEl>
                                          </p:spTgt>
                                        </p:tgtEl>
                                        <p:attrNameLst>
                                          <p:attrName>style.visibility</p:attrName>
                                        </p:attrNameLst>
                                      </p:cBhvr>
                                      <p:to>
                                        <p:strVal val="visible"/>
                                      </p:to>
                                    </p:set>
                                    <p:animEffect transition="in" filter="wipe(up)">
                                      <p:cBhvr>
                                        <p:cTn id="17" dur="500"/>
                                        <p:tgtEl>
                                          <p:spTgt spid="5519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1939" grpId="0" build="p"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2" name="Rectangle 2"/>
          <p:cNvSpPr>
            <a:spLocks noGrp="1" noRot="1" noChangeArrowheads="1"/>
          </p:cNvSpPr>
          <p:nvPr>
            <p:ph type="title"/>
          </p:nvPr>
        </p:nvSpPr>
        <p:spPr>
          <a:xfrm>
            <a:off x="1281113" y="325438"/>
            <a:ext cx="5670550"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五、数据库镜像</a:t>
            </a:r>
          </a:p>
        </p:txBody>
      </p:sp>
      <p:sp>
        <p:nvSpPr>
          <p:cNvPr id="552963" name="AutoShape 3"/>
          <p:cNvSpPr>
            <a:spLocks noChangeArrowheads="1"/>
          </p:cNvSpPr>
          <p:nvPr/>
        </p:nvSpPr>
        <p:spPr bwMode="auto">
          <a:xfrm>
            <a:off x="611188" y="1341438"/>
            <a:ext cx="7848600" cy="5111750"/>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40000"/>
              </a:spcBef>
              <a:buClr>
                <a:schemeClr val="folHlink"/>
              </a:buClr>
              <a:buSzPct val="60000"/>
              <a:buFont typeface="Wingdings" panose="05000000000000000000" pitchFamily="2" charset="2"/>
              <a:buNone/>
            </a:pPr>
            <a:r>
              <a:rPr lang="zh-CN" altLang="en-US" sz="2600" b="1">
                <a:latin typeface="Tahoma" panose="020B0604030504040204" pitchFamily="34" charset="0"/>
                <a:ea typeface="楷体_GB2312" pitchFamily="49" charset="-122"/>
              </a:rPr>
              <a:t>（</a:t>
            </a:r>
            <a:r>
              <a:rPr lang="en-US" altLang="zh-CN" sz="2600" b="1">
                <a:latin typeface="Tahoma" panose="020B0604030504040204" pitchFamily="34" charset="0"/>
                <a:ea typeface="楷体_GB2312" pitchFamily="49" charset="-122"/>
              </a:rPr>
              <a:t>4</a:t>
            </a:r>
            <a:r>
              <a:rPr lang="zh-CN" altLang="en-US" sz="2600" b="1">
                <a:latin typeface="Tahoma" panose="020B0604030504040204" pitchFamily="34" charset="0"/>
                <a:ea typeface="楷体_GB2312" pitchFamily="49" charset="-122"/>
              </a:rPr>
              <a:t>）好处</a:t>
            </a:r>
          </a:p>
          <a:p>
            <a:pPr>
              <a:lnSpc>
                <a:spcPct val="110000"/>
              </a:lnSpc>
              <a:spcBef>
                <a:spcPct val="40000"/>
              </a:spcBef>
              <a:buClr>
                <a:schemeClr val="folHlink"/>
              </a:buClr>
              <a:buSzPct val="60000"/>
              <a:buFont typeface="Wingdings" panose="05000000000000000000" pitchFamily="2" charset="2"/>
              <a:buNone/>
            </a:pPr>
            <a:r>
              <a:rPr lang="zh-CN" altLang="en-US" sz="2600" b="1">
                <a:latin typeface="Tahoma" panose="020B0604030504040204" pitchFamily="34" charset="0"/>
                <a:ea typeface="楷体_GB2312" pitchFamily="49" charset="-122"/>
              </a:rPr>
              <a:t>        采用数据库镜像技术后，当其中一个磁盘因为介质故障而丢失数据时，就可由另一个磁盘保证系统的继续运行，并自动利用另一个磁盘数据进行数据库的恢复，不需要关闭系统和重装数据库后援副本。</a:t>
            </a:r>
          </a:p>
          <a:p>
            <a:pPr>
              <a:lnSpc>
                <a:spcPct val="110000"/>
              </a:lnSpc>
              <a:spcBef>
                <a:spcPct val="40000"/>
              </a:spcBef>
              <a:buClr>
                <a:schemeClr val="folHlink"/>
              </a:buClr>
              <a:buSzPct val="60000"/>
              <a:buFont typeface="Wingdings" panose="05000000000000000000" pitchFamily="2" charset="2"/>
              <a:buNone/>
            </a:pPr>
            <a:r>
              <a:rPr lang="zh-CN" altLang="en-US" sz="2600" b="1">
                <a:latin typeface="Tahoma" panose="020B0604030504040204" pitchFamily="34" charset="0"/>
                <a:ea typeface="楷体_GB2312" pitchFamily="49" charset="-122"/>
              </a:rPr>
              <a:t>（</a:t>
            </a:r>
            <a:r>
              <a:rPr lang="en-US" altLang="zh-CN" sz="2600" b="1">
                <a:latin typeface="Tahoma" panose="020B0604030504040204" pitchFamily="34" charset="0"/>
                <a:ea typeface="楷体_GB2312" pitchFamily="49" charset="-122"/>
              </a:rPr>
              <a:t>5</a:t>
            </a:r>
            <a:r>
              <a:rPr lang="zh-CN" altLang="en-US" sz="2600" b="1">
                <a:latin typeface="Tahoma" panose="020B0604030504040204" pitchFamily="34" charset="0"/>
                <a:ea typeface="楷体_GB2312" pitchFamily="49" charset="-122"/>
              </a:rPr>
              <a:t>）代价</a:t>
            </a:r>
          </a:p>
          <a:p>
            <a:pPr>
              <a:lnSpc>
                <a:spcPct val="110000"/>
              </a:lnSpc>
              <a:spcBef>
                <a:spcPct val="40000"/>
              </a:spcBef>
              <a:buClr>
                <a:schemeClr val="folHlink"/>
              </a:buClr>
              <a:buSzPct val="60000"/>
              <a:buFont typeface="Wingdings" panose="05000000000000000000" pitchFamily="2" charset="2"/>
              <a:buNone/>
            </a:pPr>
            <a:r>
              <a:rPr lang="zh-CN" altLang="en-US" sz="2600" b="1">
                <a:latin typeface="Tahoma" panose="020B0604030504040204" pitchFamily="34" charset="0"/>
                <a:ea typeface="楷体_GB2312" pitchFamily="49" charset="-122"/>
              </a:rPr>
              <a:t>      通过动态</a:t>
            </a:r>
            <a:r>
              <a:rPr lang="zh-CN" altLang="en-US" sz="2600" b="1">
                <a:ea typeface="楷体_GB2312" pitchFamily="49" charset="-122"/>
              </a:rPr>
              <a:t>“</a:t>
            </a:r>
            <a:r>
              <a:rPr lang="zh-CN" altLang="en-US" sz="2600" b="1">
                <a:latin typeface="Tahoma" panose="020B0604030504040204" pitchFamily="34" charset="0"/>
                <a:ea typeface="楷体_GB2312" pitchFamily="49" charset="-122"/>
              </a:rPr>
              <a:t>复制</a:t>
            </a:r>
            <a:r>
              <a:rPr lang="zh-CN" altLang="en-US" sz="2600" b="1">
                <a:ea typeface="楷体_GB2312" pitchFamily="49" charset="-122"/>
              </a:rPr>
              <a:t>”</a:t>
            </a:r>
            <a:r>
              <a:rPr lang="zh-CN" altLang="en-US" sz="2600" b="1">
                <a:latin typeface="Tahoma" panose="020B0604030504040204" pitchFamily="34" charset="0"/>
                <a:ea typeface="楷体_GB2312" pitchFamily="49" charset="-122"/>
              </a:rPr>
              <a:t>，磁盘镜像的两次数据存储操作会降低系统运行效率。实际应用中只选择镜像关键数据和日志文件。</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4816"/>
    </mc:Choice>
    <mc:Fallback xmlns="">
      <p:transition spd="slow" advTm="3481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52963">
                                            <p:bg/>
                                          </p:spTgt>
                                        </p:tgtEl>
                                        <p:attrNameLst>
                                          <p:attrName>style.visibility</p:attrName>
                                        </p:attrNameLst>
                                      </p:cBhvr>
                                      <p:to>
                                        <p:strVal val="visible"/>
                                      </p:to>
                                    </p:set>
                                    <p:animEffect transition="in" filter="wipe(up)">
                                      <p:cBhvr>
                                        <p:cTn id="7" dur="500"/>
                                        <p:tgtEl>
                                          <p:spTgt spid="552963">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52963">
                                            <p:txEl>
                                              <p:pRg st="0" end="0"/>
                                            </p:txEl>
                                          </p:spTgt>
                                        </p:tgtEl>
                                        <p:attrNameLst>
                                          <p:attrName>style.visibility</p:attrName>
                                        </p:attrNameLst>
                                      </p:cBhvr>
                                      <p:to>
                                        <p:strVal val="visible"/>
                                      </p:to>
                                    </p:set>
                                    <p:animEffect transition="in" filter="wipe(up)">
                                      <p:cBhvr>
                                        <p:cTn id="12" dur="500"/>
                                        <p:tgtEl>
                                          <p:spTgt spid="55296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52963">
                                            <p:txEl>
                                              <p:pRg st="1" end="1"/>
                                            </p:txEl>
                                          </p:spTgt>
                                        </p:tgtEl>
                                        <p:attrNameLst>
                                          <p:attrName>style.visibility</p:attrName>
                                        </p:attrNameLst>
                                      </p:cBhvr>
                                      <p:to>
                                        <p:strVal val="visible"/>
                                      </p:to>
                                    </p:set>
                                    <p:animEffect transition="in" filter="wipe(up)">
                                      <p:cBhvr>
                                        <p:cTn id="17" dur="500"/>
                                        <p:tgtEl>
                                          <p:spTgt spid="55296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52963">
                                            <p:txEl>
                                              <p:pRg st="2" end="2"/>
                                            </p:txEl>
                                          </p:spTgt>
                                        </p:tgtEl>
                                        <p:attrNameLst>
                                          <p:attrName>style.visibility</p:attrName>
                                        </p:attrNameLst>
                                      </p:cBhvr>
                                      <p:to>
                                        <p:strVal val="visible"/>
                                      </p:to>
                                    </p:set>
                                    <p:animEffect transition="in" filter="wipe(up)">
                                      <p:cBhvr>
                                        <p:cTn id="22" dur="500"/>
                                        <p:tgtEl>
                                          <p:spTgt spid="55296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52963">
                                            <p:txEl>
                                              <p:pRg st="3" end="3"/>
                                            </p:txEl>
                                          </p:spTgt>
                                        </p:tgtEl>
                                        <p:attrNameLst>
                                          <p:attrName>style.visibility</p:attrName>
                                        </p:attrNameLst>
                                      </p:cBhvr>
                                      <p:to>
                                        <p:strVal val="visible"/>
                                      </p:to>
                                    </p:set>
                                    <p:animEffect transition="in" filter="wipe(up)">
                                      <p:cBhvr>
                                        <p:cTn id="27" dur="500"/>
                                        <p:tgtEl>
                                          <p:spTgt spid="5529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63" grpId="0" build="p" animBg="1"/>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3986" name="Rectangle 2"/>
          <p:cNvSpPr>
            <a:spLocks noGrp="1" noRot="1" noChangeArrowheads="1"/>
          </p:cNvSpPr>
          <p:nvPr>
            <p:ph type="title"/>
          </p:nvPr>
        </p:nvSpPr>
        <p:spPr>
          <a:xfrm>
            <a:off x="1281113" y="325438"/>
            <a:ext cx="7107237"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仿宋_GB2312" pitchFamily="49" charset="-122"/>
              </a:rPr>
              <a:t>六、</a:t>
            </a:r>
            <a:r>
              <a:rPr lang="en-US" altLang="zh-CN" sz="2800">
                <a:latin typeface="仿宋_GB2312" pitchFamily="49" charset="-122"/>
              </a:rPr>
              <a:t>SQL Server</a:t>
            </a:r>
            <a:r>
              <a:rPr lang="zh-CN" altLang="en-US" sz="2800">
                <a:latin typeface="仿宋_GB2312" pitchFamily="49" charset="-122"/>
              </a:rPr>
              <a:t>数据库的备份和恢复</a:t>
            </a:r>
          </a:p>
        </p:txBody>
      </p:sp>
      <p:sp>
        <p:nvSpPr>
          <p:cNvPr id="553987" name="Rectangle 3"/>
          <p:cNvSpPr>
            <a:spLocks noChangeArrowheads="1"/>
          </p:cNvSpPr>
          <p:nvPr/>
        </p:nvSpPr>
        <p:spPr bwMode="auto">
          <a:xfrm>
            <a:off x="611188" y="1187450"/>
            <a:ext cx="6697662"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1</a:t>
            </a:r>
            <a:r>
              <a:rPr lang="zh-CN" altLang="en-US" sz="3200">
                <a:solidFill>
                  <a:srgbClr val="660033"/>
                </a:solidFill>
                <a:ea typeface="华文新魏" panose="02010800040101010101" pitchFamily="2" charset="-122"/>
              </a:rPr>
              <a:t>、数据库备份</a:t>
            </a:r>
            <a:endParaRPr lang="en-US" altLang="zh-CN" sz="3200">
              <a:solidFill>
                <a:srgbClr val="660033"/>
              </a:solidFill>
              <a:ea typeface="华文新魏" panose="02010800040101010101" pitchFamily="2" charset="-122"/>
            </a:endParaRPr>
          </a:p>
        </p:txBody>
      </p:sp>
      <p:sp>
        <p:nvSpPr>
          <p:cNvPr id="553988" name="AutoShape 4"/>
          <p:cNvSpPr>
            <a:spLocks noChangeArrowheads="1"/>
          </p:cNvSpPr>
          <p:nvPr/>
        </p:nvSpPr>
        <p:spPr bwMode="auto">
          <a:xfrm>
            <a:off x="539750" y="1916113"/>
            <a:ext cx="8064500" cy="4681537"/>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Ins="0" anchor="ctr"/>
          <a:lstStyle/>
          <a:p>
            <a:pPr>
              <a:lnSpc>
                <a:spcPct val="110000"/>
              </a:lnSpc>
              <a:spcBef>
                <a:spcPct val="50000"/>
              </a:spcBef>
              <a:buClr>
                <a:schemeClr val="folHlink"/>
              </a:buClr>
              <a:buSzPct val="60000"/>
              <a:buFont typeface="Wingdings" panose="05000000000000000000" pitchFamily="2" charset="2"/>
              <a:buNone/>
            </a:pPr>
            <a:r>
              <a:rPr lang="zh-CN" altLang="en-US" sz="2800" b="1">
                <a:latin typeface="Tahoma" panose="020B0604030504040204" pitchFamily="34" charset="0"/>
                <a:ea typeface="楷体_GB2312" pitchFamily="49" charset="-122"/>
              </a:rPr>
              <a:t>（</a:t>
            </a:r>
            <a:r>
              <a:rPr lang="en-US" altLang="zh-CN" sz="2800" b="1">
                <a:latin typeface="Tahoma" panose="020B0604030504040204" pitchFamily="34" charset="0"/>
                <a:ea typeface="楷体_GB2312" pitchFamily="49" charset="-122"/>
              </a:rPr>
              <a:t>1</a:t>
            </a:r>
            <a:r>
              <a:rPr lang="zh-CN" altLang="en-US" sz="2800" b="1">
                <a:latin typeface="Tahoma" panose="020B0604030504040204" pitchFamily="34" charset="0"/>
                <a:ea typeface="楷体_GB2312" pitchFamily="49" charset="-122"/>
              </a:rPr>
              <a:t>）数据库备份方式</a:t>
            </a:r>
          </a:p>
          <a:p>
            <a:pPr>
              <a:lnSpc>
                <a:spcPct val="110000"/>
              </a:lnSpc>
              <a:spcBef>
                <a:spcPct val="20000"/>
              </a:spcBef>
              <a:buClr>
                <a:srgbClr val="CC0099"/>
              </a:buClr>
              <a:buSzPct val="80000"/>
              <a:buFont typeface="Wingdings" panose="05000000000000000000" pitchFamily="2" charset="2"/>
              <a:buChar char="u"/>
            </a:pPr>
            <a:r>
              <a:rPr lang="zh-CN" altLang="en-US" sz="2400" b="1">
                <a:latin typeface="华文仿宋" panose="02010600040101010101" pitchFamily="2" charset="-122"/>
                <a:ea typeface="华文仿宋" panose="02010600040101010101" pitchFamily="2" charset="-122"/>
              </a:rPr>
              <a:t>    完整数据库备份</a:t>
            </a:r>
          </a:p>
          <a:p>
            <a:pPr>
              <a:lnSpc>
                <a:spcPct val="110000"/>
              </a:lnSpc>
              <a:spcBef>
                <a:spcPct val="20000"/>
              </a:spcBef>
              <a:buClr>
                <a:srgbClr val="CC0099"/>
              </a:buClr>
              <a:buSzPct val="80000"/>
              <a:buFont typeface="Wingdings" panose="05000000000000000000" pitchFamily="2" charset="2"/>
              <a:buChar char="u"/>
            </a:pPr>
            <a:r>
              <a:rPr lang="zh-CN" altLang="en-US" sz="2400" b="1">
                <a:latin typeface="华文仿宋" panose="02010600040101010101" pitchFamily="2" charset="-122"/>
                <a:ea typeface="华文仿宋" panose="02010600040101010101" pitchFamily="2" charset="-122"/>
              </a:rPr>
              <a:t>    差异数据库备份</a:t>
            </a:r>
          </a:p>
          <a:p>
            <a:pPr>
              <a:lnSpc>
                <a:spcPct val="110000"/>
              </a:lnSpc>
              <a:spcBef>
                <a:spcPct val="20000"/>
              </a:spcBef>
              <a:buClr>
                <a:srgbClr val="CC0099"/>
              </a:buClr>
              <a:buSzPct val="80000"/>
              <a:buFont typeface="Wingdings" panose="05000000000000000000" pitchFamily="2" charset="2"/>
              <a:buChar char="u"/>
            </a:pPr>
            <a:r>
              <a:rPr lang="zh-CN" altLang="en-US" sz="2400" b="1">
                <a:latin typeface="华文仿宋" panose="02010600040101010101" pitchFamily="2" charset="-122"/>
                <a:ea typeface="华文仿宋" panose="02010600040101010101" pitchFamily="2" charset="-122"/>
              </a:rPr>
              <a:t>    事务日志备份</a:t>
            </a:r>
          </a:p>
          <a:p>
            <a:pPr>
              <a:lnSpc>
                <a:spcPct val="110000"/>
              </a:lnSpc>
              <a:spcBef>
                <a:spcPct val="20000"/>
              </a:spcBef>
              <a:buClr>
                <a:srgbClr val="CC0099"/>
              </a:buClr>
              <a:buSzPct val="80000"/>
              <a:buFont typeface="Wingdings" panose="05000000000000000000" pitchFamily="2" charset="2"/>
              <a:buChar char="u"/>
            </a:pPr>
            <a:r>
              <a:rPr lang="zh-CN" altLang="en-US" sz="2400" b="1">
                <a:latin typeface="华文仿宋" panose="02010600040101010101" pitchFamily="2" charset="-122"/>
                <a:ea typeface="华文仿宋" panose="02010600040101010101" pitchFamily="2" charset="-122"/>
              </a:rPr>
              <a:t>    文件和文件组备份</a:t>
            </a:r>
          </a:p>
          <a:p>
            <a:pPr>
              <a:lnSpc>
                <a:spcPct val="110000"/>
              </a:lnSpc>
              <a:spcBef>
                <a:spcPct val="20000"/>
              </a:spcBef>
              <a:buClr>
                <a:srgbClr val="CC0099"/>
              </a:buClr>
              <a:buSzPct val="80000"/>
              <a:buFont typeface="Wingdings" panose="05000000000000000000" pitchFamily="2" charset="2"/>
              <a:buNone/>
            </a:pPr>
            <a:r>
              <a:rPr lang="zh-CN" altLang="en-US" sz="2800" b="1">
                <a:latin typeface="Tahoma" panose="020B0604030504040204" pitchFamily="34" charset="0"/>
                <a:ea typeface="楷体_GB2312" pitchFamily="49" charset="-122"/>
              </a:rPr>
              <a:t>（</a:t>
            </a:r>
            <a:r>
              <a:rPr lang="en-US" altLang="zh-CN" sz="2800" b="1">
                <a:latin typeface="Tahoma" panose="020B0604030504040204" pitchFamily="34" charset="0"/>
                <a:ea typeface="楷体_GB2312" pitchFamily="49" charset="-122"/>
              </a:rPr>
              <a:t>2</a:t>
            </a:r>
            <a:r>
              <a:rPr lang="zh-CN" altLang="en-US" sz="2800" b="1">
                <a:latin typeface="Tahoma" panose="020B0604030504040204" pitchFamily="34" charset="0"/>
                <a:ea typeface="楷体_GB2312" pitchFamily="49" charset="-122"/>
              </a:rPr>
              <a:t>）数据库备份设备</a:t>
            </a:r>
          </a:p>
          <a:p>
            <a:pPr>
              <a:lnSpc>
                <a:spcPct val="110000"/>
              </a:lnSpc>
              <a:spcBef>
                <a:spcPct val="20000"/>
              </a:spcBef>
              <a:buClr>
                <a:srgbClr val="CC0099"/>
              </a:buClr>
              <a:buSzPct val="80000"/>
              <a:buFont typeface="Wingdings" panose="05000000000000000000" pitchFamily="2" charset="2"/>
              <a:buChar char="u"/>
            </a:pPr>
            <a:r>
              <a:rPr lang="zh-CN" altLang="en-US" sz="2400" b="1">
                <a:latin typeface="华文仿宋" panose="02010600040101010101" pitchFamily="2" charset="-122"/>
                <a:ea typeface="华文仿宋" panose="02010600040101010101" pitchFamily="2" charset="-122"/>
              </a:rPr>
              <a:t>    备份设备是指用于存放被备份内容的存储介质设备</a:t>
            </a:r>
          </a:p>
          <a:p>
            <a:pPr>
              <a:lnSpc>
                <a:spcPct val="110000"/>
              </a:lnSpc>
              <a:spcBef>
                <a:spcPct val="20000"/>
              </a:spcBef>
              <a:buClr>
                <a:srgbClr val="CC0099"/>
              </a:buClr>
              <a:buSzPct val="80000"/>
              <a:buFont typeface="Wingdings" panose="05000000000000000000" pitchFamily="2" charset="2"/>
              <a:buChar char="u"/>
            </a:pPr>
            <a:r>
              <a:rPr lang="zh-CN" altLang="en-US" sz="2400" b="1">
                <a:latin typeface="华文仿宋" panose="02010600040101010101" pitchFamily="2" charset="-122"/>
                <a:ea typeface="华文仿宋" panose="02010600040101010101" pitchFamily="2" charset="-122"/>
              </a:rPr>
              <a:t>    磁盘备份设备和磁带备份设备</a:t>
            </a:r>
          </a:p>
          <a:p>
            <a:pPr>
              <a:lnSpc>
                <a:spcPct val="110000"/>
              </a:lnSpc>
              <a:spcBef>
                <a:spcPct val="20000"/>
              </a:spcBef>
              <a:buClr>
                <a:srgbClr val="CC0099"/>
              </a:buClr>
              <a:buSzPct val="80000"/>
              <a:buFont typeface="Wingdings" panose="05000000000000000000" pitchFamily="2" charset="2"/>
              <a:buChar char="u"/>
            </a:pPr>
            <a:r>
              <a:rPr lang="zh-CN" altLang="en-US" sz="2400" b="1">
                <a:latin typeface="华文仿宋" panose="02010600040101010101" pitchFamily="2" charset="-122"/>
                <a:ea typeface="华文仿宋" panose="02010600040101010101" pitchFamily="2" charset="-122"/>
              </a:rPr>
              <a:t> 逻辑设备名称是物理设备名称的别名，可引用物理设备</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4453"/>
    </mc:Choice>
    <mc:Fallback xmlns="">
      <p:transition spd="slow" advTm="344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53987"/>
                                        </p:tgtEl>
                                        <p:attrNameLst>
                                          <p:attrName>style.visibility</p:attrName>
                                        </p:attrNameLst>
                                      </p:cBhvr>
                                      <p:to>
                                        <p:strVal val="visible"/>
                                      </p:to>
                                    </p:set>
                                    <p:animEffect transition="in" filter="wipe(left)">
                                      <p:cBhvr>
                                        <p:cTn id="7" dur="1000"/>
                                        <p:tgtEl>
                                          <p:spTgt spid="55398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53988">
                                            <p:bg/>
                                          </p:spTgt>
                                        </p:tgtEl>
                                        <p:attrNameLst>
                                          <p:attrName>style.visibility</p:attrName>
                                        </p:attrNameLst>
                                      </p:cBhvr>
                                      <p:to>
                                        <p:strVal val="visible"/>
                                      </p:to>
                                    </p:set>
                                    <p:animEffect transition="in" filter="wipe(up)">
                                      <p:cBhvr>
                                        <p:cTn id="12" dur="500"/>
                                        <p:tgtEl>
                                          <p:spTgt spid="553988">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53988">
                                            <p:txEl>
                                              <p:pRg st="0" end="0"/>
                                            </p:txEl>
                                          </p:spTgt>
                                        </p:tgtEl>
                                        <p:attrNameLst>
                                          <p:attrName>style.visibility</p:attrName>
                                        </p:attrNameLst>
                                      </p:cBhvr>
                                      <p:to>
                                        <p:strVal val="visible"/>
                                      </p:to>
                                    </p:set>
                                    <p:animEffect transition="in" filter="wipe(up)">
                                      <p:cBhvr>
                                        <p:cTn id="17" dur="500"/>
                                        <p:tgtEl>
                                          <p:spTgt spid="55398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53988">
                                            <p:txEl>
                                              <p:pRg st="1" end="1"/>
                                            </p:txEl>
                                          </p:spTgt>
                                        </p:tgtEl>
                                        <p:attrNameLst>
                                          <p:attrName>style.visibility</p:attrName>
                                        </p:attrNameLst>
                                      </p:cBhvr>
                                      <p:to>
                                        <p:strVal val="visible"/>
                                      </p:to>
                                    </p:set>
                                    <p:animEffect transition="in" filter="wipe(up)">
                                      <p:cBhvr>
                                        <p:cTn id="22" dur="500"/>
                                        <p:tgtEl>
                                          <p:spTgt spid="553988">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53988">
                                            <p:txEl>
                                              <p:pRg st="2" end="2"/>
                                            </p:txEl>
                                          </p:spTgt>
                                        </p:tgtEl>
                                        <p:attrNameLst>
                                          <p:attrName>style.visibility</p:attrName>
                                        </p:attrNameLst>
                                      </p:cBhvr>
                                      <p:to>
                                        <p:strVal val="visible"/>
                                      </p:to>
                                    </p:set>
                                    <p:animEffect transition="in" filter="wipe(up)">
                                      <p:cBhvr>
                                        <p:cTn id="27" dur="500"/>
                                        <p:tgtEl>
                                          <p:spTgt spid="553988">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53988">
                                            <p:txEl>
                                              <p:pRg st="3" end="3"/>
                                            </p:txEl>
                                          </p:spTgt>
                                        </p:tgtEl>
                                        <p:attrNameLst>
                                          <p:attrName>style.visibility</p:attrName>
                                        </p:attrNameLst>
                                      </p:cBhvr>
                                      <p:to>
                                        <p:strVal val="visible"/>
                                      </p:to>
                                    </p:set>
                                    <p:animEffect transition="in" filter="wipe(up)">
                                      <p:cBhvr>
                                        <p:cTn id="32" dur="500"/>
                                        <p:tgtEl>
                                          <p:spTgt spid="553988">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553988">
                                            <p:txEl>
                                              <p:pRg st="4" end="4"/>
                                            </p:txEl>
                                          </p:spTgt>
                                        </p:tgtEl>
                                        <p:attrNameLst>
                                          <p:attrName>style.visibility</p:attrName>
                                        </p:attrNameLst>
                                      </p:cBhvr>
                                      <p:to>
                                        <p:strVal val="visible"/>
                                      </p:to>
                                    </p:set>
                                    <p:animEffect transition="in" filter="wipe(up)">
                                      <p:cBhvr>
                                        <p:cTn id="37" dur="500"/>
                                        <p:tgtEl>
                                          <p:spTgt spid="553988">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553988">
                                            <p:txEl>
                                              <p:pRg st="5" end="5"/>
                                            </p:txEl>
                                          </p:spTgt>
                                        </p:tgtEl>
                                        <p:attrNameLst>
                                          <p:attrName>style.visibility</p:attrName>
                                        </p:attrNameLst>
                                      </p:cBhvr>
                                      <p:to>
                                        <p:strVal val="visible"/>
                                      </p:to>
                                    </p:set>
                                    <p:animEffect transition="in" filter="wipe(up)">
                                      <p:cBhvr>
                                        <p:cTn id="42" dur="500"/>
                                        <p:tgtEl>
                                          <p:spTgt spid="553988">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553988">
                                            <p:txEl>
                                              <p:pRg st="6" end="6"/>
                                            </p:txEl>
                                          </p:spTgt>
                                        </p:tgtEl>
                                        <p:attrNameLst>
                                          <p:attrName>style.visibility</p:attrName>
                                        </p:attrNameLst>
                                      </p:cBhvr>
                                      <p:to>
                                        <p:strVal val="visible"/>
                                      </p:to>
                                    </p:set>
                                    <p:animEffect transition="in" filter="wipe(up)">
                                      <p:cBhvr>
                                        <p:cTn id="47" dur="500"/>
                                        <p:tgtEl>
                                          <p:spTgt spid="553988">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553988">
                                            <p:txEl>
                                              <p:pRg st="7" end="7"/>
                                            </p:txEl>
                                          </p:spTgt>
                                        </p:tgtEl>
                                        <p:attrNameLst>
                                          <p:attrName>style.visibility</p:attrName>
                                        </p:attrNameLst>
                                      </p:cBhvr>
                                      <p:to>
                                        <p:strVal val="visible"/>
                                      </p:to>
                                    </p:set>
                                    <p:animEffect transition="in" filter="wipe(up)">
                                      <p:cBhvr>
                                        <p:cTn id="52" dur="500"/>
                                        <p:tgtEl>
                                          <p:spTgt spid="553988">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553988">
                                            <p:txEl>
                                              <p:pRg st="8" end="8"/>
                                            </p:txEl>
                                          </p:spTgt>
                                        </p:tgtEl>
                                        <p:attrNameLst>
                                          <p:attrName>style.visibility</p:attrName>
                                        </p:attrNameLst>
                                      </p:cBhvr>
                                      <p:to>
                                        <p:strVal val="visible"/>
                                      </p:to>
                                    </p:set>
                                    <p:animEffect transition="in" filter="wipe(up)">
                                      <p:cBhvr>
                                        <p:cTn id="57" dur="500"/>
                                        <p:tgtEl>
                                          <p:spTgt spid="55398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87" grpId="0"/>
      <p:bldP spid="553988" grpId="0" build="p" animBg="1"/>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5010" name="Rectangle 2"/>
          <p:cNvSpPr>
            <a:spLocks noGrp="1" noRot="1" noChangeArrowheads="1"/>
          </p:cNvSpPr>
          <p:nvPr>
            <p:ph type="title"/>
          </p:nvPr>
        </p:nvSpPr>
        <p:spPr>
          <a:xfrm>
            <a:off x="1281113" y="325438"/>
            <a:ext cx="7107237"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仿宋_GB2312" pitchFamily="49" charset="-122"/>
              </a:rPr>
              <a:t>六、</a:t>
            </a:r>
            <a:r>
              <a:rPr lang="en-US" altLang="zh-CN" sz="2800">
                <a:latin typeface="仿宋_GB2312" pitchFamily="49" charset="-122"/>
              </a:rPr>
              <a:t>SQL Server</a:t>
            </a:r>
            <a:r>
              <a:rPr lang="zh-CN" altLang="en-US" sz="2800">
                <a:latin typeface="仿宋_GB2312" pitchFamily="49" charset="-122"/>
              </a:rPr>
              <a:t>数据库的备份和恢复</a:t>
            </a:r>
          </a:p>
        </p:txBody>
      </p:sp>
      <p:sp>
        <p:nvSpPr>
          <p:cNvPr id="555011" name="Rectangle 3"/>
          <p:cNvSpPr>
            <a:spLocks noChangeArrowheads="1"/>
          </p:cNvSpPr>
          <p:nvPr/>
        </p:nvSpPr>
        <p:spPr bwMode="auto">
          <a:xfrm>
            <a:off x="611188" y="1187450"/>
            <a:ext cx="6697662"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1</a:t>
            </a:r>
            <a:r>
              <a:rPr lang="zh-CN" altLang="en-US" sz="3200">
                <a:solidFill>
                  <a:srgbClr val="660033"/>
                </a:solidFill>
                <a:ea typeface="华文新魏" panose="02010800040101010101" pitchFamily="2" charset="-122"/>
              </a:rPr>
              <a:t>、数据库备份</a:t>
            </a:r>
            <a:endParaRPr lang="en-US" altLang="zh-CN" sz="3200">
              <a:solidFill>
                <a:srgbClr val="660033"/>
              </a:solidFill>
              <a:ea typeface="华文新魏" panose="02010800040101010101" pitchFamily="2" charset="-122"/>
            </a:endParaRPr>
          </a:p>
        </p:txBody>
      </p:sp>
      <p:sp>
        <p:nvSpPr>
          <p:cNvPr id="555012" name="AutoShape 4"/>
          <p:cNvSpPr>
            <a:spLocks noChangeArrowheads="1"/>
          </p:cNvSpPr>
          <p:nvPr/>
        </p:nvSpPr>
        <p:spPr bwMode="auto">
          <a:xfrm>
            <a:off x="539750" y="2205038"/>
            <a:ext cx="8064500" cy="3744912"/>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Ins="0" anchor="ctr"/>
          <a:lstStyle/>
          <a:p>
            <a:pPr>
              <a:lnSpc>
                <a:spcPct val="110000"/>
              </a:lnSpc>
              <a:spcBef>
                <a:spcPct val="50000"/>
              </a:spcBef>
              <a:buClr>
                <a:schemeClr val="folHlink"/>
              </a:buClr>
              <a:buSzPct val="60000"/>
              <a:buFont typeface="Wingdings" panose="05000000000000000000" pitchFamily="2" charset="2"/>
              <a:buNone/>
            </a:pPr>
            <a:r>
              <a:rPr lang="zh-CN" altLang="en-US" sz="2800" b="1">
                <a:latin typeface="Tahoma" panose="020B0604030504040204" pitchFamily="34" charset="0"/>
                <a:ea typeface="楷体_GB2312" pitchFamily="49" charset="-122"/>
              </a:rPr>
              <a:t>（</a:t>
            </a:r>
            <a:r>
              <a:rPr lang="en-US" altLang="zh-CN" sz="2800" b="1">
                <a:latin typeface="Tahoma" panose="020B0604030504040204" pitchFamily="34" charset="0"/>
                <a:ea typeface="楷体_GB2312" pitchFamily="49" charset="-122"/>
              </a:rPr>
              <a:t>3</a:t>
            </a:r>
            <a:r>
              <a:rPr lang="zh-CN" altLang="en-US" sz="2800" b="1">
                <a:latin typeface="Tahoma" panose="020B0604030504040204" pitchFamily="34" charset="0"/>
                <a:ea typeface="楷体_GB2312" pitchFamily="49" charset="-122"/>
              </a:rPr>
              <a:t>）备份数据库的</a:t>
            </a:r>
            <a:r>
              <a:rPr lang="en-US" altLang="zh-CN" sz="2800" b="1">
                <a:latin typeface="Tahoma" panose="020B0604030504040204" pitchFamily="34" charset="0"/>
                <a:ea typeface="楷体_GB2312" pitchFamily="49" charset="-122"/>
              </a:rPr>
              <a:t>SQL</a:t>
            </a:r>
            <a:r>
              <a:rPr lang="zh-CN" altLang="en-US" sz="2800" b="1">
                <a:latin typeface="Tahoma" panose="020B0604030504040204" pitchFamily="34" charset="0"/>
                <a:ea typeface="楷体_GB2312" pitchFamily="49" charset="-122"/>
              </a:rPr>
              <a:t>语句</a:t>
            </a:r>
          </a:p>
          <a:p>
            <a:pPr>
              <a:lnSpc>
                <a:spcPct val="110000"/>
              </a:lnSpc>
              <a:spcBef>
                <a:spcPct val="20000"/>
              </a:spcBef>
              <a:buClr>
                <a:srgbClr val="CC0099"/>
              </a:buClr>
              <a:buSzPct val="80000"/>
              <a:buFont typeface="Wingdings" panose="05000000000000000000" pitchFamily="2" charset="2"/>
              <a:buChar char="u"/>
            </a:pPr>
            <a:r>
              <a:rPr lang="en-US" altLang="zh-CN" sz="2400" b="1">
                <a:ea typeface="华文仿宋" panose="02010600040101010101" pitchFamily="2" charset="-122"/>
              </a:rPr>
              <a:t>BACKUP DATABASE &lt;</a:t>
            </a:r>
            <a:r>
              <a:rPr lang="zh-CN" altLang="en-US" sz="2400" b="1">
                <a:ea typeface="华文仿宋" panose="02010600040101010101" pitchFamily="2" charset="-122"/>
              </a:rPr>
              <a:t>数据库名</a:t>
            </a:r>
            <a:r>
              <a:rPr lang="en-US" altLang="zh-CN" sz="2400" b="1">
                <a:ea typeface="华文仿宋" panose="02010600040101010101" pitchFamily="2" charset="-122"/>
              </a:rPr>
              <a:t>&gt; TO &lt;</a:t>
            </a:r>
            <a:r>
              <a:rPr lang="zh-CN" altLang="en-US" sz="2400" b="1">
                <a:ea typeface="华文仿宋" panose="02010600040101010101" pitchFamily="2" charset="-122"/>
              </a:rPr>
              <a:t>备份设备</a:t>
            </a:r>
            <a:r>
              <a:rPr lang="en-US" altLang="zh-CN" sz="2400" b="1">
                <a:ea typeface="华文仿宋" panose="02010600040101010101" pitchFamily="2" charset="-122"/>
              </a:rPr>
              <a:t>&gt;</a:t>
            </a:r>
          </a:p>
          <a:p>
            <a:pPr>
              <a:lnSpc>
                <a:spcPct val="110000"/>
              </a:lnSpc>
              <a:spcBef>
                <a:spcPct val="20000"/>
              </a:spcBef>
              <a:buClr>
                <a:srgbClr val="CC0099"/>
              </a:buClr>
              <a:buSzPct val="80000"/>
              <a:buFont typeface="Wingdings" panose="05000000000000000000" pitchFamily="2" charset="2"/>
              <a:buChar char="u"/>
            </a:pPr>
            <a:r>
              <a:rPr lang="en-US" altLang="zh-CN" sz="2400" b="1">
                <a:ea typeface="华文仿宋" panose="02010600040101010101" pitchFamily="2" charset="-122"/>
              </a:rPr>
              <a:t>[WITH [ INIT | NOINIT ] [, DIFFERENTIAL ]]</a:t>
            </a:r>
          </a:p>
          <a:p>
            <a:pPr>
              <a:lnSpc>
                <a:spcPct val="110000"/>
              </a:lnSpc>
              <a:spcBef>
                <a:spcPct val="60000"/>
              </a:spcBef>
              <a:buClr>
                <a:srgbClr val="CC0099"/>
              </a:buClr>
              <a:buSzPct val="80000"/>
              <a:buFont typeface="Wingdings" panose="05000000000000000000" pitchFamily="2" charset="2"/>
              <a:buNone/>
            </a:pPr>
            <a:r>
              <a:rPr lang="zh-CN" altLang="en-US" sz="2800" b="1">
                <a:latin typeface="Tahoma" panose="020B0604030504040204" pitchFamily="34" charset="0"/>
                <a:ea typeface="楷体_GB2312" pitchFamily="49" charset="-122"/>
              </a:rPr>
              <a:t>（</a:t>
            </a:r>
            <a:r>
              <a:rPr lang="en-US" altLang="zh-CN" sz="2800" b="1">
                <a:latin typeface="Tahoma" panose="020B0604030504040204" pitchFamily="34" charset="0"/>
                <a:ea typeface="楷体_GB2312" pitchFamily="49" charset="-122"/>
              </a:rPr>
              <a:t>4</a:t>
            </a:r>
            <a:r>
              <a:rPr lang="zh-CN" altLang="en-US" sz="2800" b="1">
                <a:latin typeface="Tahoma" panose="020B0604030504040204" pitchFamily="34" charset="0"/>
                <a:ea typeface="楷体_GB2312" pitchFamily="49" charset="-122"/>
              </a:rPr>
              <a:t>）备份事务日志的</a:t>
            </a:r>
            <a:r>
              <a:rPr lang="en-US" altLang="zh-CN" sz="2800" b="1">
                <a:latin typeface="Tahoma" panose="020B0604030504040204" pitchFamily="34" charset="0"/>
                <a:ea typeface="楷体_GB2312" pitchFamily="49" charset="-122"/>
              </a:rPr>
              <a:t>SQL</a:t>
            </a:r>
            <a:r>
              <a:rPr lang="zh-CN" altLang="en-US" sz="2800" b="1">
                <a:latin typeface="Tahoma" panose="020B0604030504040204" pitchFamily="34" charset="0"/>
                <a:ea typeface="楷体_GB2312" pitchFamily="49" charset="-122"/>
              </a:rPr>
              <a:t>语句</a:t>
            </a:r>
          </a:p>
          <a:p>
            <a:pPr>
              <a:lnSpc>
                <a:spcPct val="110000"/>
              </a:lnSpc>
              <a:spcBef>
                <a:spcPct val="20000"/>
              </a:spcBef>
              <a:buClr>
                <a:srgbClr val="CC0099"/>
              </a:buClr>
              <a:buSzPct val="80000"/>
              <a:buFont typeface="Wingdings" panose="05000000000000000000" pitchFamily="2" charset="2"/>
              <a:buChar char="u"/>
            </a:pPr>
            <a:r>
              <a:rPr lang="zh-CN" altLang="en-US" sz="2400" b="1">
                <a:latin typeface="华文仿宋" panose="02010600040101010101" pitchFamily="2" charset="-122"/>
                <a:ea typeface="华文仿宋" panose="02010600040101010101" pitchFamily="2" charset="-122"/>
              </a:rPr>
              <a:t>    </a:t>
            </a:r>
            <a:r>
              <a:rPr lang="en-US" altLang="zh-CN" sz="2400" b="1">
                <a:ea typeface="华文仿宋" panose="02010600040101010101" pitchFamily="2" charset="-122"/>
              </a:rPr>
              <a:t>BACKUP LOG &lt;</a:t>
            </a:r>
            <a:r>
              <a:rPr lang="zh-CN" altLang="en-US" sz="2400" b="1">
                <a:ea typeface="华文仿宋" panose="02010600040101010101" pitchFamily="2" charset="-122"/>
              </a:rPr>
              <a:t>数据库名</a:t>
            </a:r>
            <a:r>
              <a:rPr lang="en-US" altLang="zh-CN" sz="2400" b="1">
                <a:ea typeface="华文仿宋" panose="02010600040101010101" pitchFamily="2" charset="-122"/>
              </a:rPr>
              <a:t>&gt; TO &lt;</a:t>
            </a:r>
            <a:r>
              <a:rPr lang="zh-CN" altLang="en-US" sz="2400" b="1">
                <a:ea typeface="华文仿宋" panose="02010600040101010101" pitchFamily="2" charset="-122"/>
              </a:rPr>
              <a:t>备份设备</a:t>
            </a:r>
            <a:r>
              <a:rPr lang="en-US" altLang="zh-CN" sz="2400" b="1">
                <a:ea typeface="华文仿宋" panose="02010600040101010101" pitchFamily="2" charset="-122"/>
              </a:rPr>
              <a:t>&gt;</a:t>
            </a:r>
          </a:p>
        </p:txBody>
      </p:sp>
      <p:sp>
        <p:nvSpPr>
          <p:cNvPr id="555013" name="Line 5"/>
          <p:cNvSpPr>
            <a:spLocks noChangeShapeType="1"/>
          </p:cNvSpPr>
          <p:nvPr/>
        </p:nvSpPr>
        <p:spPr bwMode="auto">
          <a:xfrm>
            <a:off x="1979613" y="4221163"/>
            <a:ext cx="792162" cy="0"/>
          </a:xfrm>
          <a:prstGeom prst="line">
            <a:avLst/>
          </a:prstGeom>
          <a:noFill/>
          <a:ln w="41275"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5014" name="AutoShape 6"/>
          <p:cNvSpPr>
            <a:spLocks noChangeArrowheads="1"/>
          </p:cNvSpPr>
          <p:nvPr/>
        </p:nvSpPr>
        <p:spPr bwMode="auto">
          <a:xfrm>
            <a:off x="4284663" y="1196975"/>
            <a:ext cx="3095625" cy="1798638"/>
          </a:xfrm>
          <a:prstGeom prst="wedgeRoundRectCallout">
            <a:avLst>
              <a:gd name="adj1" fmla="val -102306"/>
              <a:gd name="adj2" fmla="val 97662"/>
              <a:gd name="adj3" fmla="val 16667"/>
            </a:avLst>
          </a:prstGeom>
          <a:solidFill>
            <a:srgbClr val="99CCFF"/>
          </a:solidFill>
          <a:ln w="1905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2600" b="1">
                <a:effectLst>
                  <a:outerShdw blurRad="38100" dist="38100" dir="2700000" algn="tl">
                    <a:srgbClr val="FFFFFF"/>
                  </a:outerShdw>
                </a:effectLst>
                <a:ea typeface="楷体_GB2312" pitchFamily="49" charset="-122"/>
              </a:rPr>
              <a:t>   新的备份数据将覆盖备份设备上原来的备份数据</a:t>
            </a:r>
          </a:p>
        </p:txBody>
      </p:sp>
      <p:sp>
        <p:nvSpPr>
          <p:cNvPr id="555015" name="Line 7"/>
          <p:cNvSpPr>
            <a:spLocks noChangeShapeType="1"/>
          </p:cNvSpPr>
          <p:nvPr/>
        </p:nvSpPr>
        <p:spPr bwMode="auto">
          <a:xfrm>
            <a:off x="2916238" y="4221163"/>
            <a:ext cx="1295400" cy="0"/>
          </a:xfrm>
          <a:prstGeom prst="line">
            <a:avLst/>
          </a:prstGeom>
          <a:noFill/>
          <a:ln w="41275"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5016" name="AutoShape 8"/>
          <p:cNvSpPr>
            <a:spLocks noChangeArrowheads="1"/>
          </p:cNvSpPr>
          <p:nvPr/>
        </p:nvSpPr>
        <p:spPr bwMode="auto">
          <a:xfrm>
            <a:off x="5221288" y="1196975"/>
            <a:ext cx="3095625" cy="1798638"/>
          </a:xfrm>
          <a:prstGeom prst="wedgeRoundRectCallout">
            <a:avLst>
              <a:gd name="adj1" fmla="val -91231"/>
              <a:gd name="adj2" fmla="val 96954"/>
              <a:gd name="adj3" fmla="val 16667"/>
            </a:avLst>
          </a:prstGeom>
          <a:solidFill>
            <a:srgbClr val="CCFFCC"/>
          </a:solidFill>
          <a:ln w="1905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2600" b="1">
                <a:effectLst>
                  <a:outerShdw blurRad="38100" dist="38100" dir="2700000" algn="tl">
                    <a:srgbClr val="FFFFFF"/>
                  </a:outerShdw>
                </a:effectLst>
                <a:ea typeface="楷体_GB2312" pitchFamily="49" charset="-122"/>
              </a:rPr>
              <a:t>   新的备份数据将追加到备份设备上已备份数据的后面</a:t>
            </a:r>
          </a:p>
        </p:txBody>
      </p:sp>
      <p:sp>
        <p:nvSpPr>
          <p:cNvPr id="555017" name="Line 9"/>
          <p:cNvSpPr>
            <a:spLocks noChangeShapeType="1"/>
          </p:cNvSpPr>
          <p:nvPr/>
        </p:nvSpPr>
        <p:spPr bwMode="auto">
          <a:xfrm>
            <a:off x="4427538" y="4221163"/>
            <a:ext cx="2376487" cy="0"/>
          </a:xfrm>
          <a:prstGeom prst="line">
            <a:avLst/>
          </a:prstGeom>
          <a:noFill/>
          <a:ln w="41275"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5018" name="AutoShape 10"/>
          <p:cNvSpPr>
            <a:spLocks noChangeArrowheads="1"/>
          </p:cNvSpPr>
          <p:nvPr/>
        </p:nvSpPr>
        <p:spPr bwMode="auto">
          <a:xfrm>
            <a:off x="3276600" y="1484313"/>
            <a:ext cx="2878138" cy="1295400"/>
          </a:xfrm>
          <a:prstGeom prst="wedgeRoundRectCallout">
            <a:avLst>
              <a:gd name="adj1" fmla="val 44264"/>
              <a:gd name="adj2" fmla="val 125981"/>
              <a:gd name="adj3" fmla="val 16667"/>
            </a:avLst>
          </a:prstGeom>
          <a:solidFill>
            <a:srgbClr val="FFD9F5"/>
          </a:solidFill>
          <a:ln w="1905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2600" b="1">
                <a:effectLst>
                  <a:outerShdw blurRad="38100" dist="38100" dir="2700000" algn="tl">
                    <a:srgbClr val="FFFFFF"/>
                  </a:outerShdw>
                </a:effectLst>
                <a:ea typeface="楷体_GB2312" pitchFamily="49" charset="-122"/>
              </a:rPr>
              <a:t>   差异数据备份</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5590"/>
    </mc:Choice>
    <mc:Fallback xmlns="">
      <p:transition spd="slow" advTm="4559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55012">
                                            <p:txEl>
                                              <p:pRg st="0" end="0"/>
                                            </p:txEl>
                                          </p:spTgt>
                                        </p:tgtEl>
                                        <p:attrNameLst>
                                          <p:attrName>style.visibility</p:attrName>
                                        </p:attrNameLst>
                                      </p:cBhvr>
                                      <p:to>
                                        <p:strVal val="visible"/>
                                      </p:to>
                                    </p:set>
                                    <p:animEffect transition="in" filter="wipe(up)">
                                      <p:cBhvr>
                                        <p:cTn id="7" dur="500"/>
                                        <p:tgtEl>
                                          <p:spTgt spid="5550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55012">
                                            <p:txEl>
                                              <p:pRg st="1" end="1"/>
                                            </p:txEl>
                                          </p:spTgt>
                                        </p:tgtEl>
                                        <p:attrNameLst>
                                          <p:attrName>style.visibility</p:attrName>
                                        </p:attrNameLst>
                                      </p:cBhvr>
                                      <p:to>
                                        <p:strVal val="visible"/>
                                      </p:to>
                                    </p:set>
                                    <p:animEffect transition="in" filter="wipe(up)">
                                      <p:cBhvr>
                                        <p:cTn id="12" dur="500"/>
                                        <p:tgtEl>
                                          <p:spTgt spid="5550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55012">
                                            <p:txEl>
                                              <p:pRg st="2" end="2"/>
                                            </p:txEl>
                                          </p:spTgt>
                                        </p:tgtEl>
                                        <p:attrNameLst>
                                          <p:attrName>style.visibility</p:attrName>
                                        </p:attrNameLst>
                                      </p:cBhvr>
                                      <p:to>
                                        <p:strVal val="visible"/>
                                      </p:to>
                                    </p:set>
                                    <p:animEffect transition="in" filter="wipe(up)">
                                      <p:cBhvr>
                                        <p:cTn id="17" dur="500"/>
                                        <p:tgtEl>
                                          <p:spTgt spid="5550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55013"/>
                                        </p:tgtEl>
                                        <p:attrNameLst>
                                          <p:attrName>style.visibility</p:attrName>
                                        </p:attrNameLst>
                                      </p:cBhvr>
                                      <p:to>
                                        <p:strVal val="visible"/>
                                      </p:to>
                                    </p:set>
                                    <p:animEffect transition="in" filter="wipe(left)">
                                      <p:cBhvr>
                                        <p:cTn id="22" dur="500"/>
                                        <p:tgtEl>
                                          <p:spTgt spid="555013"/>
                                        </p:tgtEl>
                                      </p:cBhvr>
                                    </p:animEffect>
                                  </p:childTnLst>
                                </p:cTn>
                              </p:par>
                            </p:childTnLst>
                          </p:cTn>
                        </p:par>
                        <p:par>
                          <p:cTn id="23" fill="hold">
                            <p:stCondLst>
                              <p:cond delay="500"/>
                            </p:stCondLst>
                            <p:childTnLst>
                              <p:par>
                                <p:cTn id="24" presetID="22" presetClass="entr" presetSubtype="4" fill="hold" grpId="0" nodeType="afterEffect">
                                  <p:stCondLst>
                                    <p:cond delay="0"/>
                                  </p:stCondLst>
                                  <p:childTnLst>
                                    <p:set>
                                      <p:cBhvr>
                                        <p:cTn id="25" dur="1" fill="hold">
                                          <p:stCondLst>
                                            <p:cond delay="0"/>
                                          </p:stCondLst>
                                        </p:cTn>
                                        <p:tgtEl>
                                          <p:spTgt spid="555014"/>
                                        </p:tgtEl>
                                        <p:attrNameLst>
                                          <p:attrName>style.visibility</p:attrName>
                                        </p:attrNameLst>
                                      </p:cBhvr>
                                      <p:to>
                                        <p:strVal val="visible"/>
                                      </p:to>
                                    </p:set>
                                    <p:animEffect transition="in" filter="wipe(down)">
                                      <p:cBhvr>
                                        <p:cTn id="26" dur="500"/>
                                        <p:tgtEl>
                                          <p:spTgt spid="55501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xit" presetSubtype="8" fill="hold" nodeType="clickEffect">
                                  <p:stCondLst>
                                    <p:cond delay="0"/>
                                  </p:stCondLst>
                                  <p:childTnLst>
                                    <p:animEffect transition="out" filter="wipe(left)">
                                      <p:cBhvr>
                                        <p:cTn id="30" dur="500"/>
                                        <p:tgtEl>
                                          <p:spTgt spid="555013"/>
                                        </p:tgtEl>
                                      </p:cBhvr>
                                    </p:animEffect>
                                    <p:set>
                                      <p:cBhvr>
                                        <p:cTn id="31" dur="1" fill="hold">
                                          <p:stCondLst>
                                            <p:cond delay="499"/>
                                          </p:stCondLst>
                                        </p:cTn>
                                        <p:tgtEl>
                                          <p:spTgt spid="555013"/>
                                        </p:tgtEl>
                                        <p:attrNameLst>
                                          <p:attrName>style.visibility</p:attrName>
                                        </p:attrNameLst>
                                      </p:cBhvr>
                                      <p:to>
                                        <p:strVal val="hidden"/>
                                      </p:to>
                                    </p:set>
                                  </p:childTnLst>
                                </p:cTn>
                              </p:par>
                              <p:par>
                                <p:cTn id="32" presetID="22" presetClass="exit" presetSubtype="8" fill="hold" grpId="1" nodeType="withEffect">
                                  <p:stCondLst>
                                    <p:cond delay="0"/>
                                  </p:stCondLst>
                                  <p:childTnLst>
                                    <p:animEffect transition="out" filter="wipe(left)">
                                      <p:cBhvr>
                                        <p:cTn id="33" dur="500"/>
                                        <p:tgtEl>
                                          <p:spTgt spid="555014"/>
                                        </p:tgtEl>
                                      </p:cBhvr>
                                    </p:animEffect>
                                    <p:set>
                                      <p:cBhvr>
                                        <p:cTn id="34" dur="1" fill="hold">
                                          <p:stCondLst>
                                            <p:cond delay="499"/>
                                          </p:stCondLst>
                                        </p:cTn>
                                        <p:tgtEl>
                                          <p:spTgt spid="555014"/>
                                        </p:tgtEl>
                                        <p:attrNameLst>
                                          <p:attrName>style.visibility</p:attrName>
                                        </p:attrNameLst>
                                      </p:cBhvr>
                                      <p:to>
                                        <p:strVal val="hidden"/>
                                      </p:to>
                                    </p:se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555015"/>
                                        </p:tgtEl>
                                        <p:attrNameLst>
                                          <p:attrName>style.visibility</p:attrName>
                                        </p:attrNameLst>
                                      </p:cBhvr>
                                      <p:to>
                                        <p:strVal val="visible"/>
                                      </p:to>
                                    </p:set>
                                    <p:animEffect transition="in" filter="wipe(left)">
                                      <p:cBhvr>
                                        <p:cTn id="38" dur="500"/>
                                        <p:tgtEl>
                                          <p:spTgt spid="555015"/>
                                        </p:tgtEl>
                                      </p:cBhvr>
                                    </p:animEffect>
                                  </p:childTnLst>
                                </p:cTn>
                              </p:par>
                            </p:childTnLst>
                          </p:cTn>
                        </p:par>
                        <p:par>
                          <p:cTn id="39" fill="hold">
                            <p:stCondLst>
                              <p:cond delay="1000"/>
                            </p:stCondLst>
                            <p:childTnLst>
                              <p:par>
                                <p:cTn id="40" presetID="22" presetClass="entr" presetSubtype="4" fill="hold" grpId="0" nodeType="afterEffect">
                                  <p:stCondLst>
                                    <p:cond delay="0"/>
                                  </p:stCondLst>
                                  <p:childTnLst>
                                    <p:set>
                                      <p:cBhvr>
                                        <p:cTn id="41" dur="1" fill="hold">
                                          <p:stCondLst>
                                            <p:cond delay="0"/>
                                          </p:stCondLst>
                                        </p:cTn>
                                        <p:tgtEl>
                                          <p:spTgt spid="555016"/>
                                        </p:tgtEl>
                                        <p:attrNameLst>
                                          <p:attrName>style.visibility</p:attrName>
                                        </p:attrNameLst>
                                      </p:cBhvr>
                                      <p:to>
                                        <p:strVal val="visible"/>
                                      </p:to>
                                    </p:set>
                                    <p:animEffect transition="in" filter="wipe(down)">
                                      <p:cBhvr>
                                        <p:cTn id="42" dur="500"/>
                                        <p:tgtEl>
                                          <p:spTgt spid="55501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xit" presetSubtype="8" fill="hold" nodeType="clickEffect">
                                  <p:stCondLst>
                                    <p:cond delay="0"/>
                                  </p:stCondLst>
                                  <p:childTnLst>
                                    <p:animEffect transition="out" filter="wipe(left)">
                                      <p:cBhvr>
                                        <p:cTn id="46" dur="500"/>
                                        <p:tgtEl>
                                          <p:spTgt spid="555015"/>
                                        </p:tgtEl>
                                      </p:cBhvr>
                                    </p:animEffect>
                                    <p:set>
                                      <p:cBhvr>
                                        <p:cTn id="47" dur="1" fill="hold">
                                          <p:stCondLst>
                                            <p:cond delay="499"/>
                                          </p:stCondLst>
                                        </p:cTn>
                                        <p:tgtEl>
                                          <p:spTgt spid="555015"/>
                                        </p:tgtEl>
                                        <p:attrNameLst>
                                          <p:attrName>style.visibility</p:attrName>
                                        </p:attrNameLst>
                                      </p:cBhvr>
                                      <p:to>
                                        <p:strVal val="hidden"/>
                                      </p:to>
                                    </p:set>
                                  </p:childTnLst>
                                </p:cTn>
                              </p:par>
                              <p:par>
                                <p:cTn id="48" presetID="22" presetClass="exit" presetSubtype="8" fill="hold" grpId="1" nodeType="withEffect">
                                  <p:stCondLst>
                                    <p:cond delay="0"/>
                                  </p:stCondLst>
                                  <p:childTnLst>
                                    <p:animEffect transition="out" filter="wipe(left)">
                                      <p:cBhvr>
                                        <p:cTn id="49" dur="500"/>
                                        <p:tgtEl>
                                          <p:spTgt spid="555016"/>
                                        </p:tgtEl>
                                      </p:cBhvr>
                                    </p:animEffect>
                                    <p:set>
                                      <p:cBhvr>
                                        <p:cTn id="50" dur="1" fill="hold">
                                          <p:stCondLst>
                                            <p:cond delay="499"/>
                                          </p:stCondLst>
                                        </p:cTn>
                                        <p:tgtEl>
                                          <p:spTgt spid="555016"/>
                                        </p:tgtEl>
                                        <p:attrNameLst>
                                          <p:attrName>style.visibility</p:attrName>
                                        </p:attrNameLst>
                                      </p:cBhvr>
                                      <p:to>
                                        <p:strVal val="hidden"/>
                                      </p:to>
                                    </p:set>
                                  </p:childTnLst>
                                </p:cTn>
                              </p:par>
                            </p:childTnLst>
                          </p:cTn>
                        </p:par>
                        <p:par>
                          <p:cTn id="51" fill="hold">
                            <p:stCondLst>
                              <p:cond delay="500"/>
                            </p:stCondLst>
                            <p:childTnLst>
                              <p:par>
                                <p:cTn id="52" presetID="22" presetClass="entr" presetSubtype="8" fill="hold" nodeType="afterEffect">
                                  <p:stCondLst>
                                    <p:cond delay="0"/>
                                  </p:stCondLst>
                                  <p:childTnLst>
                                    <p:set>
                                      <p:cBhvr>
                                        <p:cTn id="53" dur="1" fill="hold">
                                          <p:stCondLst>
                                            <p:cond delay="0"/>
                                          </p:stCondLst>
                                        </p:cTn>
                                        <p:tgtEl>
                                          <p:spTgt spid="555017"/>
                                        </p:tgtEl>
                                        <p:attrNameLst>
                                          <p:attrName>style.visibility</p:attrName>
                                        </p:attrNameLst>
                                      </p:cBhvr>
                                      <p:to>
                                        <p:strVal val="visible"/>
                                      </p:to>
                                    </p:set>
                                    <p:animEffect transition="in" filter="wipe(left)">
                                      <p:cBhvr>
                                        <p:cTn id="54" dur="500"/>
                                        <p:tgtEl>
                                          <p:spTgt spid="555017"/>
                                        </p:tgtEl>
                                      </p:cBhvr>
                                    </p:animEffect>
                                  </p:childTnLst>
                                </p:cTn>
                              </p:par>
                            </p:childTnLst>
                          </p:cTn>
                        </p:par>
                        <p:par>
                          <p:cTn id="55" fill="hold">
                            <p:stCondLst>
                              <p:cond delay="1000"/>
                            </p:stCondLst>
                            <p:childTnLst>
                              <p:par>
                                <p:cTn id="56" presetID="22" presetClass="entr" presetSubtype="4" fill="hold" grpId="0" nodeType="afterEffect">
                                  <p:stCondLst>
                                    <p:cond delay="0"/>
                                  </p:stCondLst>
                                  <p:childTnLst>
                                    <p:set>
                                      <p:cBhvr>
                                        <p:cTn id="57" dur="1" fill="hold">
                                          <p:stCondLst>
                                            <p:cond delay="0"/>
                                          </p:stCondLst>
                                        </p:cTn>
                                        <p:tgtEl>
                                          <p:spTgt spid="555018"/>
                                        </p:tgtEl>
                                        <p:attrNameLst>
                                          <p:attrName>style.visibility</p:attrName>
                                        </p:attrNameLst>
                                      </p:cBhvr>
                                      <p:to>
                                        <p:strVal val="visible"/>
                                      </p:to>
                                    </p:set>
                                    <p:animEffect transition="in" filter="wipe(down)">
                                      <p:cBhvr>
                                        <p:cTn id="58" dur="500"/>
                                        <p:tgtEl>
                                          <p:spTgt spid="555018"/>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xit" presetSubtype="8" fill="hold" grpId="1" nodeType="clickEffect">
                                  <p:stCondLst>
                                    <p:cond delay="0"/>
                                  </p:stCondLst>
                                  <p:childTnLst>
                                    <p:animEffect transition="out" filter="wipe(left)">
                                      <p:cBhvr>
                                        <p:cTn id="62" dur="500"/>
                                        <p:tgtEl>
                                          <p:spTgt spid="555018"/>
                                        </p:tgtEl>
                                      </p:cBhvr>
                                    </p:animEffect>
                                    <p:set>
                                      <p:cBhvr>
                                        <p:cTn id="63" dur="1" fill="hold">
                                          <p:stCondLst>
                                            <p:cond delay="499"/>
                                          </p:stCondLst>
                                        </p:cTn>
                                        <p:tgtEl>
                                          <p:spTgt spid="555018"/>
                                        </p:tgtEl>
                                        <p:attrNameLst>
                                          <p:attrName>style.visibility</p:attrName>
                                        </p:attrNameLst>
                                      </p:cBhvr>
                                      <p:to>
                                        <p:strVal val="hidden"/>
                                      </p:to>
                                    </p:set>
                                  </p:childTnLst>
                                </p:cTn>
                              </p:par>
                              <p:par>
                                <p:cTn id="64" presetID="22" presetClass="exit" presetSubtype="8" fill="hold" nodeType="withEffect">
                                  <p:stCondLst>
                                    <p:cond delay="0"/>
                                  </p:stCondLst>
                                  <p:childTnLst>
                                    <p:animEffect transition="out" filter="wipe(left)">
                                      <p:cBhvr>
                                        <p:cTn id="65" dur="500"/>
                                        <p:tgtEl>
                                          <p:spTgt spid="555017"/>
                                        </p:tgtEl>
                                      </p:cBhvr>
                                    </p:animEffect>
                                    <p:set>
                                      <p:cBhvr>
                                        <p:cTn id="66" dur="1" fill="hold">
                                          <p:stCondLst>
                                            <p:cond delay="499"/>
                                          </p:stCondLst>
                                        </p:cTn>
                                        <p:tgtEl>
                                          <p:spTgt spid="555017"/>
                                        </p:tgtEl>
                                        <p:attrNameLst>
                                          <p:attrName>style.visibility</p:attrName>
                                        </p:attrNameLst>
                                      </p:cBhvr>
                                      <p:to>
                                        <p:strVal val="hidden"/>
                                      </p:to>
                                    </p:set>
                                  </p:childTnLst>
                                </p:cTn>
                              </p:par>
                            </p:childTnLst>
                          </p:cTn>
                        </p:par>
                        <p:par>
                          <p:cTn id="67" fill="hold">
                            <p:stCondLst>
                              <p:cond delay="500"/>
                            </p:stCondLst>
                            <p:childTnLst>
                              <p:par>
                                <p:cTn id="68" presetID="22" presetClass="entr" presetSubtype="1" fill="hold" grpId="0" nodeType="afterEffect">
                                  <p:stCondLst>
                                    <p:cond delay="0"/>
                                  </p:stCondLst>
                                  <p:childTnLst>
                                    <p:set>
                                      <p:cBhvr>
                                        <p:cTn id="69" dur="1" fill="hold">
                                          <p:stCondLst>
                                            <p:cond delay="0"/>
                                          </p:stCondLst>
                                        </p:cTn>
                                        <p:tgtEl>
                                          <p:spTgt spid="555012">
                                            <p:txEl>
                                              <p:pRg st="3" end="3"/>
                                            </p:txEl>
                                          </p:spTgt>
                                        </p:tgtEl>
                                        <p:attrNameLst>
                                          <p:attrName>style.visibility</p:attrName>
                                        </p:attrNameLst>
                                      </p:cBhvr>
                                      <p:to>
                                        <p:strVal val="visible"/>
                                      </p:to>
                                    </p:set>
                                    <p:animEffect transition="in" filter="wipe(up)">
                                      <p:cBhvr>
                                        <p:cTn id="70" dur="500"/>
                                        <p:tgtEl>
                                          <p:spTgt spid="555012">
                                            <p:txEl>
                                              <p:pRg st="3" end="3"/>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grpId="0" nodeType="clickEffect">
                                  <p:stCondLst>
                                    <p:cond delay="0"/>
                                  </p:stCondLst>
                                  <p:childTnLst>
                                    <p:set>
                                      <p:cBhvr>
                                        <p:cTn id="74" dur="1" fill="hold">
                                          <p:stCondLst>
                                            <p:cond delay="0"/>
                                          </p:stCondLst>
                                        </p:cTn>
                                        <p:tgtEl>
                                          <p:spTgt spid="555012">
                                            <p:txEl>
                                              <p:pRg st="4" end="4"/>
                                            </p:txEl>
                                          </p:spTgt>
                                        </p:tgtEl>
                                        <p:attrNameLst>
                                          <p:attrName>style.visibility</p:attrName>
                                        </p:attrNameLst>
                                      </p:cBhvr>
                                      <p:to>
                                        <p:strVal val="visible"/>
                                      </p:to>
                                    </p:set>
                                    <p:animEffect transition="in" filter="wipe(up)">
                                      <p:cBhvr>
                                        <p:cTn id="75" dur="500"/>
                                        <p:tgtEl>
                                          <p:spTgt spid="5550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5012" grpId="0" uiExpand="1" build="p"/>
      <p:bldP spid="555014" grpId="0" animBg="1"/>
      <p:bldP spid="555014" grpId="1" animBg="1"/>
      <p:bldP spid="555016" grpId="0" animBg="1"/>
      <p:bldP spid="555016" grpId="1" animBg="1"/>
      <p:bldP spid="555018" grpId="0" animBg="1"/>
      <p:bldP spid="555018" grpId="1" animBg="1"/>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6034" name="Rectangle 2"/>
          <p:cNvSpPr>
            <a:spLocks noGrp="1" noRot="1" noChangeArrowheads="1"/>
          </p:cNvSpPr>
          <p:nvPr>
            <p:ph type="title"/>
          </p:nvPr>
        </p:nvSpPr>
        <p:spPr>
          <a:xfrm>
            <a:off x="1281113" y="325438"/>
            <a:ext cx="7107237"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仿宋_GB2312" pitchFamily="49" charset="-122"/>
              </a:rPr>
              <a:t>六、</a:t>
            </a:r>
            <a:r>
              <a:rPr lang="en-US" altLang="zh-CN" sz="2800">
                <a:latin typeface="仿宋_GB2312" pitchFamily="49" charset="-122"/>
              </a:rPr>
              <a:t>SQL Server</a:t>
            </a:r>
            <a:r>
              <a:rPr lang="zh-CN" altLang="en-US" sz="2800">
                <a:latin typeface="仿宋_GB2312" pitchFamily="49" charset="-122"/>
              </a:rPr>
              <a:t>数据库的备份和恢复</a:t>
            </a:r>
          </a:p>
        </p:txBody>
      </p:sp>
      <p:sp>
        <p:nvSpPr>
          <p:cNvPr id="556035" name="Rectangle 3"/>
          <p:cNvSpPr>
            <a:spLocks noChangeArrowheads="1"/>
          </p:cNvSpPr>
          <p:nvPr/>
        </p:nvSpPr>
        <p:spPr bwMode="auto">
          <a:xfrm>
            <a:off x="611188" y="1187450"/>
            <a:ext cx="6697662"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200">
                <a:solidFill>
                  <a:srgbClr val="660033"/>
                </a:solidFill>
                <a:ea typeface="华文新魏" panose="02010800040101010101" pitchFamily="2" charset="-122"/>
              </a:rPr>
              <a:t>2</a:t>
            </a:r>
            <a:r>
              <a:rPr lang="zh-CN" altLang="en-US" sz="3200">
                <a:solidFill>
                  <a:srgbClr val="660033"/>
                </a:solidFill>
                <a:ea typeface="华文新魏" panose="02010800040101010101" pitchFamily="2" charset="-122"/>
              </a:rPr>
              <a:t>、数据库恢复</a:t>
            </a:r>
            <a:endParaRPr lang="en-US" altLang="zh-CN" sz="3200">
              <a:solidFill>
                <a:srgbClr val="660033"/>
              </a:solidFill>
              <a:ea typeface="华文新魏" panose="02010800040101010101" pitchFamily="2" charset="-122"/>
            </a:endParaRPr>
          </a:p>
        </p:txBody>
      </p:sp>
      <p:sp>
        <p:nvSpPr>
          <p:cNvPr id="556036" name="AutoShape 4"/>
          <p:cNvSpPr>
            <a:spLocks noChangeArrowheads="1"/>
          </p:cNvSpPr>
          <p:nvPr/>
        </p:nvSpPr>
        <p:spPr bwMode="auto">
          <a:xfrm>
            <a:off x="539750" y="1916113"/>
            <a:ext cx="8064500" cy="4681537"/>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Ins="0" anchor="ctr"/>
          <a:lstStyle/>
          <a:p>
            <a:pPr>
              <a:lnSpc>
                <a:spcPct val="110000"/>
              </a:lnSpc>
              <a:spcBef>
                <a:spcPct val="50000"/>
              </a:spcBef>
              <a:buClr>
                <a:schemeClr val="folHlink"/>
              </a:buClr>
              <a:buSzPct val="60000"/>
              <a:buFont typeface="Wingdings" panose="05000000000000000000" pitchFamily="2" charset="2"/>
              <a:buNone/>
            </a:pPr>
            <a:r>
              <a:rPr lang="zh-CN" altLang="en-US" sz="2800" b="1">
                <a:latin typeface="Tahoma" panose="020B0604030504040204" pitchFamily="34" charset="0"/>
                <a:ea typeface="楷体_GB2312" pitchFamily="49" charset="-122"/>
              </a:rPr>
              <a:t>（</a:t>
            </a:r>
            <a:r>
              <a:rPr lang="en-US" altLang="zh-CN" sz="2800" b="1">
                <a:latin typeface="Tahoma" panose="020B0604030504040204" pitchFamily="34" charset="0"/>
                <a:ea typeface="楷体_GB2312" pitchFamily="49" charset="-122"/>
              </a:rPr>
              <a:t>1</a:t>
            </a:r>
            <a:r>
              <a:rPr lang="zh-CN" altLang="en-US" sz="2800" b="1">
                <a:latin typeface="Tahoma" panose="020B0604030504040204" pitchFamily="34" charset="0"/>
                <a:ea typeface="楷体_GB2312" pitchFamily="49" charset="-122"/>
              </a:rPr>
              <a:t>）数据库恢复是通过加载备份内容并应用事务日志重建数据库的过程。</a:t>
            </a:r>
          </a:p>
          <a:p>
            <a:pPr>
              <a:lnSpc>
                <a:spcPct val="110000"/>
              </a:lnSpc>
              <a:spcBef>
                <a:spcPct val="50000"/>
              </a:spcBef>
              <a:buClr>
                <a:schemeClr val="folHlink"/>
              </a:buClr>
              <a:buSzPct val="60000"/>
              <a:buFont typeface="Wingdings" panose="05000000000000000000" pitchFamily="2" charset="2"/>
              <a:buNone/>
            </a:pPr>
            <a:r>
              <a:rPr lang="zh-CN" altLang="en-US" sz="2800" b="1">
                <a:latin typeface="Tahoma" panose="020B0604030504040204" pitchFamily="34" charset="0"/>
                <a:ea typeface="楷体_GB2312" pitchFamily="49" charset="-122"/>
              </a:rPr>
              <a:t>（</a:t>
            </a:r>
            <a:r>
              <a:rPr lang="en-US" altLang="zh-CN" sz="2800" b="1">
                <a:latin typeface="Tahoma" panose="020B0604030504040204" pitchFamily="34" charset="0"/>
                <a:ea typeface="楷体_GB2312" pitchFamily="49" charset="-122"/>
              </a:rPr>
              <a:t>2</a:t>
            </a:r>
            <a:r>
              <a:rPr lang="zh-CN" altLang="en-US" sz="2800" b="1">
                <a:latin typeface="Tahoma" panose="020B0604030504040204" pitchFamily="34" charset="0"/>
                <a:ea typeface="楷体_GB2312" pitchFamily="49" charset="-122"/>
              </a:rPr>
              <a:t>）数据库恢复过程中用户不能使用数据库。</a:t>
            </a:r>
          </a:p>
          <a:p>
            <a:pPr>
              <a:lnSpc>
                <a:spcPct val="110000"/>
              </a:lnSpc>
              <a:spcBef>
                <a:spcPct val="50000"/>
              </a:spcBef>
              <a:buClr>
                <a:schemeClr val="folHlink"/>
              </a:buClr>
              <a:buSzPct val="60000"/>
              <a:buFont typeface="Wingdings" panose="05000000000000000000" pitchFamily="2" charset="2"/>
              <a:buNone/>
            </a:pPr>
            <a:r>
              <a:rPr lang="zh-CN" altLang="en-US" sz="2800" b="1">
                <a:latin typeface="Tahoma" panose="020B0604030504040204" pitchFamily="34" charset="0"/>
                <a:ea typeface="楷体_GB2312" pitchFamily="49" charset="-122"/>
              </a:rPr>
              <a:t>（</a:t>
            </a:r>
            <a:r>
              <a:rPr lang="en-US" altLang="zh-CN" sz="2800" b="1">
                <a:latin typeface="Tahoma" panose="020B0604030504040204" pitchFamily="34" charset="0"/>
                <a:ea typeface="楷体_GB2312" pitchFamily="49" charset="-122"/>
              </a:rPr>
              <a:t>3</a:t>
            </a:r>
            <a:r>
              <a:rPr lang="zh-CN" altLang="en-US" sz="2800" b="1">
                <a:latin typeface="Tahoma" panose="020B0604030504040204" pitchFamily="34" charset="0"/>
                <a:ea typeface="楷体_GB2312" pitchFamily="49" charset="-122"/>
              </a:rPr>
              <a:t>）语法</a:t>
            </a:r>
          </a:p>
          <a:p>
            <a:pPr>
              <a:lnSpc>
                <a:spcPct val="110000"/>
              </a:lnSpc>
              <a:spcBef>
                <a:spcPct val="20000"/>
              </a:spcBef>
              <a:buClr>
                <a:srgbClr val="CC0099"/>
              </a:buClr>
              <a:buSzPct val="80000"/>
              <a:buFont typeface="Wingdings" panose="05000000000000000000" pitchFamily="2" charset="2"/>
              <a:buChar char="u"/>
            </a:pPr>
            <a:r>
              <a:rPr lang="zh-CN" altLang="en-US" sz="2400" b="1">
                <a:latin typeface="华文仿宋" panose="02010600040101010101" pitchFamily="2" charset="-122"/>
                <a:ea typeface="华文仿宋" panose="02010600040101010101" pitchFamily="2" charset="-122"/>
              </a:rPr>
              <a:t> </a:t>
            </a:r>
            <a:r>
              <a:rPr lang="en-US" altLang="zh-CN" sz="2400" b="1">
                <a:ea typeface="华文仿宋" panose="02010600040101010101" pitchFamily="2" charset="-122"/>
              </a:rPr>
              <a:t>RESTORE DATABASE</a:t>
            </a:r>
            <a:r>
              <a:rPr lang="en-US" altLang="zh-CN" sz="2400" b="1">
                <a:solidFill>
                  <a:schemeClr val="hlink"/>
                </a:solidFill>
                <a:ea typeface="华文仿宋" panose="02010600040101010101" pitchFamily="2" charset="-122"/>
              </a:rPr>
              <a:t>/LOG</a:t>
            </a:r>
            <a:r>
              <a:rPr lang="en-US" altLang="zh-CN" sz="2400" b="1">
                <a:ea typeface="华文仿宋" panose="02010600040101010101" pitchFamily="2" charset="-122"/>
              </a:rPr>
              <a:t> &lt;</a:t>
            </a:r>
            <a:r>
              <a:rPr lang="zh-CN" altLang="en-US" sz="2400" b="1">
                <a:ea typeface="华文仿宋" panose="02010600040101010101" pitchFamily="2" charset="-122"/>
              </a:rPr>
              <a:t>数据库名</a:t>
            </a:r>
            <a:r>
              <a:rPr lang="en-US" altLang="zh-CN" sz="2400" b="1">
                <a:ea typeface="华文仿宋" panose="02010600040101010101" pitchFamily="2" charset="-122"/>
              </a:rPr>
              <a:t>&gt; FROM &lt;</a:t>
            </a:r>
            <a:r>
              <a:rPr lang="zh-CN" altLang="en-US" sz="2400" b="1">
                <a:ea typeface="华文仿宋" panose="02010600040101010101" pitchFamily="2" charset="-122"/>
              </a:rPr>
              <a:t>备份设备</a:t>
            </a:r>
            <a:r>
              <a:rPr lang="en-US" altLang="zh-CN" sz="2400" b="1">
                <a:ea typeface="华文仿宋" panose="02010600040101010101" pitchFamily="2" charset="-122"/>
              </a:rPr>
              <a:t>&gt;</a:t>
            </a:r>
          </a:p>
          <a:p>
            <a:pPr>
              <a:lnSpc>
                <a:spcPct val="110000"/>
              </a:lnSpc>
              <a:spcBef>
                <a:spcPct val="20000"/>
              </a:spcBef>
              <a:buClr>
                <a:srgbClr val="CC0099"/>
              </a:buClr>
              <a:buSzPct val="80000"/>
              <a:buFont typeface="Wingdings" panose="05000000000000000000" pitchFamily="2" charset="2"/>
              <a:buChar char="u"/>
            </a:pPr>
            <a:r>
              <a:rPr lang="en-US" altLang="zh-CN" sz="2400" b="1">
                <a:ea typeface="华文仿宋" panose="02010600040101010101" pitchFamily="2" charset="-122"/>
              </a:rPr>
              <a:t> [ WITH [ FILE=n ]</a:t>
            </a:r>
          </a:p>
          <a:p>
            <a:pPr>
              <a:lnSpc>
                <a:spcPct val="110000"/>
              </a:lnSpc>
              <a:spcBef>
                <a:spcPct val="20000"/>
              </a:spcBef>
              <a:buClr>
                <a:srgbClr val="CC0099"/>
              </a:buClr>
              <a:buSzPct val="80000"/>
              <a:buFont typeface="Wingdings" panose="05000000000000000000" pitchFamily="2" charset="2"/>
              <a:buChar char="u"/>
            </a:pPr>
            <a:r>
              <a:rPr lang="en-US" altLang="zh-CN" sz="2400" b="1">
                <a:ea typeface="华文仿宋" panose="02010600040101010101" pitchFamily="2" charset="-122"/>
              </a:rPr>
              <a:t> [ , NORECOVERY | RECOVERY] [ , REPLACE ] ]</a:t>
            </a:r>
            <a:endParaRPr lang="zh-CN" altLang="en-US" sz="2400" b="1">
              <a:ea typeface="华文仿宋" panose="02010600040101010101" pitchFamily="2"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2927"/>
    </mc:Choice>
    <mc:Fallback xmlns="">
      <p:transition spd="slow" advTm="2292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56035"/>
                                        </p:tgtEl>
                                        <p:attrNameLst>
                                          <p:attrName>style.visibility</p:attrName>
                                        </p:attrNameLst>
                                      </p:cBhvr>
                                      <p:to>
                                        <p:strVal val="visible"/>
                                      </p:to>
                                    </p:set>
                                    <p:animEffect transition="in" filter="wipe(left)">
                                      <p:cBhvr>
                                        <p:cTn id="7" dur="1000"/>
                                        <p:tgtEl>
                                          <p:spTgt spid="5560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56036">
                                            <p:bg/>
                                          </p:spTgt>
                                        </p:tgtEl>
                                        <p:attrNameLst>
                                          <p:attrName>style.visibility</p:attrName>
                                        </p:attrNameLst>
                                      </p:cBhvr>
                                      <p:to>
                                        <p:strVal val="visible"/>
                                      </p:to>
                                    </p:set>
                                    <p:animEffect transition="in" filter="wipe(up)">
                                      <p:cBhvr>
                                        <p:cTn id="12" dur="500"/>
                                        <p:tgtEl>
                                          <p:spTgt spid="556036">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56036">
                                            <p:txEl>
                                              <p:pRg st="0" end="0"/>
                                            </p:txEl>
                                          </p:spTgt>
                                        </p:tgtEl>
                                        <p:attrNameLst>
                                          <p:attrName>style.visibility</p:attrName>
                                        </p:attrNameLst>
                                      </p:cBhvr>
                                      <p:to>
                                        <p:strVal val="visible"/>
                                      </p:to>
                                    </p:set>
                                    <p:animEffect transition="in" filter="wipe(up)">
                                      <p:cBhvr>
                                        <p:cTn id="17" dur="500"/>
                                        <p:tgtEl>
                                          <p:spTgt spid="55603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56036">
                                            <p:txEl>
                                              <p:pRg st="1" end="1"/>
                                            </p:txEl>
                                          </p:spTgt>
                                        </p:tgtEl>
                                        <p:attrNameLst>
                                          <p:attrName>style.visibility</p:attrName>
                                        </p:attrNameLst>
                                      </p:cBhvr>
                                      <p:to>
                                        <p:strVal val="visible"/>
                                      </p:to>
                                    </p:set>
                                    <p:animEffect transition="in" filter="wipe(up)">
                                      <p:cBhvr>
                                        <p:cTn id="22" dur="500"/>
                                        <p:tgtEl>
                                          <p:spTgt spid="55603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56036">
                                            <p:txEl>
                                              <p:pRg st="2" end="2"/>
                                            </p:txEl>
                                          </p:spTgt>
                                        </p:tgtEl>
                                        <p:attrNameLst>
                                          <p:attrName>style.visibility</p:attrName>
                                        </p:attrNameLst>
                                      </p:cBhvr>
                                      <p:to>
                                        <p:strVal val="visible"/>
                                      </p:to>
                                    </p:set>
                                    <p:animEffect transition="in" filter="wipe(up)">
                                      <p:cBhvr>
                                        <p:cTn id="27" dur="500"/>
                                        <p:tgtEl>
                                          <p:spTgt spid="556036">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56036">
                                            <p:txEl>
                                              <p:pRg st="3" end="3"/>
                                            </p:txEl>
                                          </p:spTgt>
                                        </p:tgtEl>
                                        <p:attrNameLst>
                                          <p:attrName>style.visibility</p:attrName>
                                        </p:attrNameLst>
                                      </p:cBhvr>
                                      <p:to>
                                        <p:strVal val="visible"/>
                                      </p:to>
                                    </p:set>
                                    <p:animEffect transition="in" filter="wipe(up)">
                                      <p:cBhvr>
                                        <p:cTn id="32" dur="500"/>
                                        <p:tgtEl>
                                          <p:spTgt spid="556036">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556036">
                                            <p:txEl>
                                              <p:pRg st="4" end="4"/>
                                            </p:txEl>
                                          </p:spTgt>
                                        </p:tgtEl>
                                        <p:attrNameLst>
                                          <p:attrName>style.visibility</p:attrName>
                                        </p:attrNameLst>
                                      </p:cBhvr>
                                      <p:to>
                                        <p:strVal val="visible"/>
                                      </p:to>
                                    </p:set>
                                    <p:animEffect transition="in" filter="wipe(up)">
                                      <p:cBhvr>
                                        <p:cTn id="37" dur="500"/>
                                        <p:tgtEl>
                                          <p:spTgt spid="556036">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556036">
                                            <p:txEl>
                                              <p:pRg st="5" end="5"/>
                                            </p:txEl>
                                          </p:spTgt>
                                        </p:tgtEl>
                                        <p:attrNameLst>
                                          <p:attrName>style.visibility</p:attrName>
                                        </p:attrNameLst>
                                      </p:cBhvr>
                                      <p:to>
                                        <p:strVal val="visible"/>
                                      </p:to>
                                    </p:set>
                                    <p:animEffect transition="in" filter="wipe(up)">
                                      <p:cBhvr>
                                        <p:cTn id="42" dur="500"/>
                                        <p:tgtEl>
                                          <p:spTgt spid="55603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35" grpId="0"/>
      <p:bldP spid="556036" grpId="0" build="p"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p:cNvSpPr>
            <a:spLocks noGrp="1" noRot="1" noChangeArrowheads="1"/>
          </p:cNvSpPr>
          <p:nvPr>
            <p:ph type="title"/>
          </p:nvPr>
        </p:nvSpPr>
        <p:spPr>
          <a:xfrm>
            <a:off x="1279525" y="363538"/>
            <a:ext cx="5672138"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总结</a:t>
            </a:r>
          </a:p>
        </p:txBody>
      </p:sp>
      <p:sp>
        <p:nvSpPr>
          <p:cNvPr id="558083" name="AutoShape 3"/>
          <p:cNvSpPr>
            <a:spLocks noChangeArrowheads="1"/>
          </p:cNvSpPr>
          <p:nvPr/>
        </p:nvSpPr>
        <p:spPr bwMode="auto">
          <a:xfrm>
            <a:off x="539750" y="1196975"/>
            <a:ext cx="8064500" cy="4681538"/>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Ins="0" anchor="ctr"/>
          <a:lstStyle/>
          <a:p>
            <a:pPr algn="just">
              <a:lnSpc>
                <a:spcPct val="120000"/>
              </a:lnSpc>
              <a:spcBef>
                <a:spcPct val="20000"/>
              </a:spcBef>
              <a:buClr>
                <a:schemeClr val="folHlink"/>
              </a:buClr>
              <a:buSzPct val="60000"/>
              <a:buFont typeface="Wingdings" panose="05000000000000000000" pitchFamily="2" charset="2"/>
              <a:buNone/>
            </a:pPr>
            <a:r>
              <a:rPr lang="en-US" altLang="zh-CN" sz="2800" b="1">
                <a:effectLst>
                  <a:outerShdw blurRad="38100" dist="38100" dir="2700000" algn="tl">
                    <a:srgbClr val="C0C0C0"/>
                  </a:outerShdw>
                </a:effectLst>
                <a:latin typeface="楷体_GB2312" pitchFamily="49" charset="-122"/>
                <a:ea typeface="楷体_GB2312" pitchFamily="49" charset="-122"/>
              </a:rPr>
              <a:t>1、平时做好两件事：</a:t>
            </a:r>
            <a:r>
              <a:rPr lang="en-US" altLang="zh-CN" sz="2800" b="1">
                <a:solidFill>
                  <a:srgbClr val="FF0000"/>
                </a:solidFill>
                <a:effectLst>
                  <a:outerShdw blurRad="38100" dist="38100" dir="2700000" algn="tl">
                    <a:srgbClr val="C0C0C0"/>
                  </a:outerShdw>
                </a:effectLst>
                <a:latin typeface="楷体_GB2312" pitchFamily="49" charset="-122"/>
                <a:ea typeface="楷体_GB2312" pitchFamily="49" charset="-122"/>
              </a:rPr>
              <a:t>数据转储</a:t>
            </a:r>
            <a:r>
              <a:rPr lang="en-US" altLang="zh-CN" sz="2800" b="1">
                <a:effectLst>
                  <a:outerShdw blurRad="38100" dist="38100" dir="2700000" algn="tl">
                    <a:srgbClr val="C0C0C0"/>
                  </a:outerShdw>
                </a:effectLst>
                <a:latin typeface="楷体_GB2312" pitchFamily="49" charset="-122"/>
                <a:ea typeface="楷体_GB2312" pitchFamily="49" charset="-122"/>
              </a:rPr>
              <a:t>和</a:t>
            </a:r>
            <a:r>
              <a:rPr lang="en-US" altLang="zh-CN" sz="2800" b="1">
                <a:solidFill>
                  <a:srgbClr val="FF0000"/>
                </a:solidFill>
                <a:effectLst>
                  <a:outerShdw blurRad="38100" dist="38100" dir="2700000" algn="tl">
                    <a:srgbClr val="C0C0C0"/>
                  </a:outerShdw>
                </a:effectLst>
                <a:latin typeface="楷体_GB2312" pitchFamily="49" charset="-122"/>
                <a:ea typeface="楷体_GB2312" pitchFamily="49" charset="-122"/>
              </a:rPr>
              <a:t>建立日志</a:t>
            </a:r>
            <a:r>
              <a:rPr lang="en-US" altLang="zh-CN" sz="2800" b="1">
                <a:effectLst>
                  <a:outerShdw blurRad="38100" dist="38100" dir="2700000" algn="tl">
                    <a:srgbClr val="C0C0C0"/>
                  </a:outerShdw>
                </a:effectLst>
                <a:latin typeface="楷体_GB2312" pitchFamily="49" charset="-122"/>
                <a:ea typeface="楷体_GB2312" pitchFamily="49" charset="-122"/>
              </a:rPr>
              <a:t>。</a:t>
            </a:r>
          </a:p>
          <a:p>
            <a:pPr algn="just">
              <a:lnSpc>
                <a:spcPct val="120000"/>
              </a:lnSpc>
              <a:spcBef>
                <a:spcPct val="20000"/>
              </a:spcBef>
              <a:buClr>
                <a:schemeClr val="folHlink"/>
              </a:buClr>
              <a:buSzPct val="60000"/>
              <a:buFont typeface="Wingdings" panose="05000000000000000000" pitchFamily="2" charset="2"/>
              <a:buNone/>
            </a:pPr>
            <a:r>
              <a:rPr lang="en-US" altLang="zh-CN" sz="2800" b="1">
                <a:effectLst>
                  <a:outerShdw blurRad="38100" dist="38100" dir="2700000" algn="tl">
                    <a:srgbClr val="C0C0C0"/>
                  </a:outerShdw>
                </a:effectLst>
                <a:latin typeface="楷体_GB2312" pitchFamily="49" charset="-122"/>
                <a:ea typeface="楷体_GB2312" pitchFamily="49" charset="-122"/>
              </a:rPr>
              <a:t>① 周期</a:t>
            </a:r>
            <a:r>
              <a:rPr lang="zh-CN" altLang="en-US" sz="2800" b="1">
                <a:effectLst>
                  <a:outerShdw blurRad="38100" dist="38100" dir="2700000" algn="tl">
                    <a:srgbClr val="C0C0C0"/>
                  </a:outerShdw>
                </a:effectLst>
                <a:latin typeface="楷体_GB2312" pitchFamily="49" charset="-122"/>
                <a:ea typeface="楷体_GB2312" pitchFamily="49" charset="-122"/>
              </a:rPr>
              <a:t>性地对整个数据库进行拷贝，转储到另一个磁盘或磁带一类存储介质中；</a:t>
            </a:r>
          </a:p>
          <a:p>
            <a:pPr algn="just">
              <a:lnSpc>
                <a:spcPct val="120000"/>
              </a:lnSpc>
              <a:spcBef>
                <a:spcPct val="20000"/>
              </a:spcBef>
              <a:buClr>
                <a:schemeClr val="folHlink"/>
              </a:buClr>
              <a:buSzPct val="60000"/>
              <a:buFont typeface="Wingdings" panose="05000000000000000000" pitchFamily="2" charset="2"/>
              <a:buNone/>
            </a:pPr>
            <a:r>
              <a:rPr lang="en-US" altLang="zh-CN" sz="2800" b="1">
                <a:effectLst>
                  <a:outerShdw blurRad="38100" dist="38100" dir="2700000" algn="tl">
                    <a:srgbClr val="C0C0C0"/>
                  </a:outerShdw>
                </a:effectLst>
                <a:latin typeface="楷体_GB2312" pitchFamily="49" charset="-122"/>
                <a:ea typeface="楷体_GB2312" pitchFamily="49" charset="-122"/>
              </a:rPr>
              <a:t>②建立日志数据库，记录事务的开始、结束标志，记录事务对数据库的每一次插入、删除和修改前后的值，写到</a:t>
            </a:r>
            <a:r>
              <a:rPr lang="en-US" altLang="zh-CN" sz="2800" b="1">
                <a:effectLst>
                  <a:outerShdw blurRad="38100" dist="38100" dir="2700000" algn="tl">
                    <a:srgbClr val="C0C0C0"/>
                  </a:outerShdw>
                </a:effectLst>
                <a:ea typeface="楷体_GB2312" pitchFamily="49" charset="-122"/>
              </a:rPr>
              <a:t>“</a:t>
            </a:r>
            <a:r>
              <a:rPr lang="en-US" altLang="zh-CN" sz="2800" b="1">
                <a:effectLst>
                  <a:outerShdw blurRad="38100" dist="38100" dir="2700000" algn="tl">
                    <a:srgbClr val="C0C0C0"/>
                  </a:outerShdw>
                </a:effectLst>
                <a:latin typeface="楷体_GB2312" pitchFamily="49" charset="-122"/>
                <a:ea typeface="楷体_GB2312" pitchFamily="49" charset="-122"/>
              </a:rPr>
              <a:t>日志</a:t>
            </a:r>
            <a:r>
              <a:rPr lang="en-US" altLang="zh-CN" sz="2800" b="1">
                <a:effectLst>
                  <a:outerShdw blurRad="38100" dist="38100" dir="2700000" algn="tl">
                    <a:srgbClr val="C0C0C0"/>
                  </a:outerShdw>
                </a:effectLst>
                <a:ea typeface="楷体_GB2312" pitchFamily="49" charset="-122"/>
              </a:rPr>
              <a:t>”</a:t>
            </a:r>
            <a:r>
              <a:rPr lang="en-US" altLang="zh-CN" sz="2800" b="1">
                <a:effectLst>
                  <a:outerShdw blurRad="38100" dist="38100" dir="2700000" algn="tl">
                    <a:srgbClr val="C0C0C0"/>
                  </a:outerShdw>
                </a:effectLst>
                <a:latin typeface="楷体_GB2312" pitchFamily="49" charset="-122"/>
                <a:ea typeface="楷体_GB2312" pitchFamily="49" charset="-122"/>
              </a:rPr>
              <a:t>库中，以便有案可查</a:t>
            </a:r>
            <a:r>
              <a:rPr lang="zh-CN" altLang="en-US" sz="2800" b="1">
                <a:effectLst>
                  <a:outerShdw blurRad="38100" dist="38100" dir="2700000" algn="tl">
                    <a:srgbClr val="C0C0C0"/>
                  </a:outerShdw>
                </a:effectLst>
                <a:latin typeface="楷体_GB2312" pitchFamily="49" charset="-122"/>
                <a:ea typeface="楷体_GB2312" pitchFamily="49" charset="-122"/>
              </a:rPr>
              <a:t>。</a:t>
            </a:r>
          </a:p>
        </p:txBody>
      </p:sp>
    </p:spTree>
    <p:custDataLst>
      <p:tags r:id="rId1"/>
    </p:custDataLst>
  </p:cSld>
  <p:clrMapOvr>
    <a:masterClrMapping/>
  </p:clrMapOvr>
  <p:transition advTm="22839"/>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58083">
                                            <p:bg/>
                                          </p:spTgt>
                                        </p:tgtEl>
                                        <p:attrNameLst>
                                          <p:attrName>style.visibility</p:attrName>
                                        </p:attrNameLst>
                                      </p:cBhvr>
                                      <p:to>
                                        <p:strVal val="visible"/>
                                      </p:to>
                                    </p:set>
                                    <p:animEffect transition="in" filter="wipe(up)">
                                      <p:cBhvr>
                                        <p:cTn id="7" dur="500"/>
                                        <p:tgtEl>
                                          <p:spTgt spid="558083">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58083">
                                            <p:txEl>
                                              <p:pRg st="0" end="0"/>
                                            </p:txEl>
                                          </p:spTgt>
                                        </p:tgtEl>
                                        <p:attrNameLst>
                                          <p:attrName>style.visibility</p:attrName>
                                        </p:attrNameLst>
                                      </p:cBhvr>
                                      <p:to>
                                        <p:strVal val="visible"/>
                                      </p:to>
                                    </p:set>
                                    <p:animEffect transition="in" filter="wipe(up)">
                                      <p:cBhvr>
                                        <p:cTn id="12" dur="500"/>
                                        <p:tgtEl>
                                          <p:spTgt spid="55808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58083">
                                            <p:txEl>
                                              <p:pRg st="1" end="1"/>
                                            </p:txEl>
                                          </p:spTgt>
                                        </p:tgtEl>
                                        <p:attrNameLst>
                                          <p:attrName>style.visibility</p:attrName>
                                        </p:attrNameLst>
                                      </p:cBhvr>
                                      <p:to>
                                        <p:strVal val="visible"/>
                                      </p:to>
                                    </p:set>
                                    <p:animEffect transition="in" filter="wipe(up)">
                                      <p:cBhvr>
                                        <p:cTn id="17" dur="500"/>
                                        <p:tgtEl>
                                          <p:spTgt spid="55808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58083">
                                            <p:txEl>
                                              <p:pRg st="2" end="2"/>
                                            </p:txEl>
                                          </p:spTgt>
                                        </p:tgtEl>
                                        <p:attrNameLst>
                                          <p:attrName>style.visibility</p:attrName>
                                        </p:attrNameLst>
                                      </p:cBhvr>
                                      <p:to>
                                        <p:strVal val="visible"/>
                                      </p:to>
                                    </p:set>
                                    <p:animEffect transition="in" filter="wipe(up)">
                                      <p:cBhvr>
                                        <p:cTn id="22" dur="500"/>
                                        <p:tgtEl>
                                          <p:spTgt spid="5580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083" grpId="0" build="p"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Rot="1" noChangeArrowheads="1"/>
          </p:cNvSpPr>
          <p:nvPr>
            <p:ph type="title"/>
          </p:nvPr>
        </p:nvSpPr>
        <p:spPr>
          <a:xfrm>
            <a:off x="1279525" y="363538"/>
            <a:ext cx="5672138"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总结</a:t>
            </a:r>
          </a:p>
        </p:txBody>
      </p:sp>
      <p:sp>
        <p:nvSpPr>
          <p:cNvPr id="559107" name="AutoShape 3"/>
          <p:cNvSpPr>
            <a:spLocks noChangeArrowheads="1"/>
          </p:cNvSpPr>
          <p:nvPr/>
        </p:nvSpPr>
        <p:spPr bwMode="auto">
          <a:xfrm>
            <a:off x="539750" y="1196975"/>
            <a:ext cx="8064500" cy="4681538"/>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Ins="0" anchor="ctr"/>
          <a:lstStyle/>
          <a:p>
            <a:pPr algn="just">
              <a:lnSpc>
                <a:spcPct val="120000"/>
              </a:lnSpc>
              <a:spcBef>
                <a:spcPct val="20000"/>
              </a:spcBef>
              <a:buClr>
                <a:schemeClr val="folHlink"/>
              </a:buClr>
              <a:buSzPct val="60000"/>
              <a:buFont typeface="Wingdings" panose="05000000000000000000" pitchFamily="2" charset="2"/>
              <a:buNone/>
            </a:pPr>
            <a:r>
              <a:rPr lang="en-US" altLang="zh-CN" sz="2800" b="1">
                <a:effectLst>
                  <a:outerShdw blurRad="38100" dist="38100" dir="2700000" algn="tl">
                    <a:srgbClr val="C0C0C0"/>
                  </a:outerShdw>
                </a:effectLst>
                <a:latin typeface="楷体_GB2312" pitchFamily="49" charset="-122"/>
                <a:ea typeface="楷体_GB2312" pitchFamily="49" charset="-122"/>
              </a:rPr>
              <a:t>2</a:t>
            </a:r>
            <a:r>
              <a:rPr lang="zh-CN" altLang="en-US" sz="2800" b="1">
                <a:effectLst>
                  <a:outerShdw blurRad="38100" dist="38100" dir="2700000" algn="tl">
                    <a:srgbClr val="C0C0C0"/>
                  </a:outerShdw>
                </a:effectLst>
                <a:latin typeface="楷体_GB2312" pitchFamily="49" charset="-122"/>
                <a:ea typeface="楷体_GB2312" pitchFamily="49" charset="-122"/>
              </a:rPr>
              <a:t>、一旦发生数据库故障，分两种情况进行处理：</a:t>
            </a:r>
          </a:p>
          <a:p>
            <a:pPr algn="just">
              <a:lnSpc>
                <a:spcPct val="120000"/>
              </a:lnSpc>
              <a:spcBef>
                <a:spcPct val="20000"/>
              </a:spcBef>
              <a:buClr>
                <a:schemeClr val="folHlink"/>
              </a:buClr>
              <a:buSzPct val="60000"/>
              <a:buFont typeface="Wingdings" panose="05000000000000000000" pitchFamily="2" charset="2"/>
              <a:buNone/>
            </a:pPr>
            <a:r>
              <a:rPr lang="zh-CN" altLang="en-US" sz="2800" b="1">
                <a:effectLst>
                  <a:outerShdw blurRad="38100" dist="38100" dir="2700000" algn="tl">
                    <a:srgbClr val="C0C0C0"/>
                  </a:outerShdw>
                </a:effectLst>
                <a:latin typeface="楷体_GB2312" pitchFamily="49" charset="-122"/>
                <a:ea typeface="楷体_GB2312" pitchFamily="49" charset="-122"/>
              </a:rPr>
              <a:t>① 如果数据库已被破坏，就要装入最近一次拷贝的数据库备份到新的磁盘，然后利用日志执行</a:t>
            </a:r>
            <a:r>
              <a:rPr lang="zh-CN" altLang="en-US" sz="2800" b="1">
                <a:effectLst>
                  <a:outerShdw blurRad="38100" dist="38100" dir="2700000" algn="tl">
                    <a:srgbClr val="C0C0C0"/>
                  </a:outerShdw>
                </a:effectLst>
                <a:ea typeface="楷体_GB2312" pitchFamily="49" charset="-122"/>
              </a:rPr>
              <a:t>“</a:t>
            </a:r>
            <a:r>
              <a:rPr lang="zh-CN" altLang="en-US" sz="2800" b="1">
                <a:effectLst>
                  <a:outerShdw blurRad="38100" dist="38100" dir="2700000" algn="tl">
                    <a:srgbClr val="C0C0C0"/>
                  </a:outerShdw>
                </a:effectLst>
                <a:latin typeface="楷体_GB2312" pitchFamily="49" charset="-122"/>
                <a:ea typeface="楷体_GB2312" pitchFamily="49" charset="-122"/>
              </a:rPr>
              <a:t>重做</a:t>
            </a:r>
            <a:r>
              <a:rPr lang="zh-CN" altLang="en-US" sz="2800" b="1">
                <a:effectLst>
                  <a:outerShdw blurRad="38100" dist="38100" dir="2700000" algn="tl">
                    <a:srgbClr val="C0C0C0"/>
                  </a:outerShdw>
                </a:effectLst>
                <a:ea typeface="楷体_GB2312" pitchFamily="49" charset="-122"/>
              </a:rPr>
              <a:t>”</a:t>
            </a:r>
            <a:r>
              <a:rPr lang="zh-CN" altLang="en-US" sz="2800" b="1">
                <a:effectLst>
                  <a:outerShdw blurRad="38100" dist="38100" dir="2700000" algn="tl">
                    <a:srgbClr val="C0C0C0"/>
                  </a:outerShdw>
                </a:effectLst>
                <a:latin typeface="楷体_GB2312" pitchFamily="49" charset="-122"/>
                <a:ea typeface="楷体_GB2312" pitchFamily="49" charset="-122"/>
              </a:rPr>
              <a:t>（</a:t>
            </a:r>
            <a:r>
              <a:rPr lang="en-US" altLang="zh-CN" sz="2800" b="1">
                <a:effectLst>
                  <a:outerShdw blurRad="38100" dist="38100" dir="2700000" algn="tl">
                    <a:srgbClr val="C0C0C0"/>
                  </a:outerShdw>
                </a:effectLst>
                <a:latin typeface="楷体_GB2312" pitchFamily="49" charset="-122"/>
                <a:ea typeface="楷体_GB2312" pitchFamily="49" charset="-122"/>
              </a:rPr>
              <a:t>REDO</a:t>
            </a:r>
            <a:r>
              <a:rPr lang="zh-CN" altLang="en-US" sz="2800" b="1">
                <a:effectLst>
                  <a:outerShdw blurRad="38100" dist="38100" dir="2700000" algn="tl">
                    <a:srgbClr val="C0C0C0"/>
                  </a:outerShdw>
                </a:effectLst>
                <a:latin typeface="楷体_GB2312" pitchFamily="49" charset="-122"/>
                <a:ea typeface="楷体_GB2312" pitchFamily="49" charset="-122"/>
              </a:rPr>
              <a:t>）处理，将这两个数据库状态之间的所有更新重新做一遍。这样既恢复了原有的数据库，又没有丢失对数据库的更新操作；</a:t>
            </a:r>
          </a:p>
        </p:txBody>
      </p:sp>
    </p:spTree>
    <p:custDataLst>
      <p:tags r:id="rId1"/>
    </p:custDataLst>
  </p:cSld>
  <p:clrMapOvr>
    <a:masterClrMapping/>
  </p:clrMapOvr>
  <p:transition advTm="17146"/>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59107">
                                            <p:bg/>
                                          </p:spTgt>
                                        </p:tgtEl>
                                        <p:attrNameLst>
                                          <p:attrName>style.visibility</p:attrName>
                                        </p:attrNameLst>
                                      </p:cBhvr>
                                      <p:to>
                                        <p:strVal val="visible"/>
                                      </p:to>
                                    </p:set>
                                    <p:animEffect transition="in" filter="wipe(up)">
                                      <p:cBhvr>
                                        <p:cTn id="7" dur="500"/>
                                        <p:tgtEl>
                                          <p:spTgt spid="559107">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59107">
                                            <p:txEl>
                                              <p:pRg st="0" end="0"/>
                                            </p:txEl>
                                          </p:spTgt>
                                        </p:tgtEl>
                                        <p:attrNameLst>
                                          <p:attrName>style.visibility</p:attrName>
                                        </p:attrNameLst>
                                      </p:cBhvr>
                                      <p:to>
                                        <p:strVal val="visible"/>
                                      </p:to>
                                    </p:set>
                                    <p:animEffect transition="in" filter="wipe(up)">
                                      <p:cBhvr>
                                        <p:cTn id="12" dur="500"/>
                                        <p:tgtEl>
                                          <p:spTgt spid="55910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59107">
                                            <p:txEl>
                                              <p:pRg st="1" end="1"/>
                                            </p:txEl>
                                          </p:spTgt>
                                        </p:tgtEl>
                                        <p:attrNameLst>
                                          <p:attrName>style.visibility</p:attrName>
                                        </p:attrNameLst>
                                      </p:cBhvr>
                                      <p:to>
                                        <p:strVal val="visible"/>
                                      </p:to>
                                    </p:set>
                                    <p:animEffect transition="in" filter="wipe(up)">
                                      <p:cBhvr>
                                        <p:cTn id="17" dur="500"/>
                                        <p:tgtEl>
                                          <p:spTgt spid="55910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9107" grpId="0" build="p"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2"/>
          <p:cNvSpPr>
            <a:spLocks noGrp="1" noRot="1" noChangeArrowheads="1"/>
          </p:cNvSpPr>
          <p:nvPr>
            <p:ph type="title"/>
          </p:nvPr>
        </p:nvSpPr>
        <p:spPr>
          <a:xfrm>
            <a:off x="1279525" y="363538"/>
            <a:ext cx="5672138"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rPr>
              <a:t>总结</a:t>
            </a:r>
          </a:p>
        </p:txBody>
      </p:sp>
      <p:sp>
        <p:nvSpPr>
          <p:cNvPr id="560131" name="AutoShape 3"/>
          <p:cNvSpPr>
            <a:spLocks noChangeArrowheads="1"/>
          </p:cNvSpPr>
          <p:nvPr/>
        </p:nvSpPr>
        <p:spPr bwMode="auto">
          <a:xfrm>
            <a:off x="539750" y="1844675"/>
            <a:ext cx="8064500" cy="3240088"/>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Ins="0" anchor="ctr"/>
          <a:lstStyle/>
          <a:p>
            <a:pPr algn="just">
              <a:lnSpc>
                <a:spcPct val="110000"/>
              </a:lnSpc>
              <a:spcBef>
                <a:spcPct val="20000"/>
              </a:spcBef>
              <a:buClr>
                <a:schemeClr val="folHlink"/>
              </a:buClr>
              <a:buSzPct val="60000"/>
              <a:buFont typeface="Wingdings" panose="05000000000000000000" pitchFamily="2" charset="2"/>
              <a:buNone/>
            </a:pPr>
            <a:r>
              <a:rPr lang="zh-CN" altLang="en-US" sz="2800" b="1">
                <a:effectLst>
                  <a:outerShdw blurRad="38100" dist="38100" dir="2700000" algn="tl">
                    <a:srgbClr val="C0C0C0"/>
                  </a:outerShdw>
                </a:effectLst>
                <a:latin typeface="楷体_GB2312" pitchFamily="49" charset="-122"/>
                <a:ea typeface="楷体_GB2312" pitchFamily="49" charset="-122"/>
              </a:rPr>
              <a:t>② 如果数据库未被破坏，但某些数据不可靠，这时不必去拷贝数据库备份，只要通过日志执行</a:t>
            </a:r>
            <a:r>
              <a:rPr lang="zh-CN" altLang="en-US" sz="2800" b="1">
                <a:effectLst>
                  <a:outerShdw blurRad="38100" dist="38100" dir="2700000" algn="tl">
                    <a:srgbClr val="C0C0C0"/>
                  </a:outerShdw>
                </a:effectLst>
                <a:ea typeface="楷体_GB2312" pitchFamily="49" charset="-122"/>
              </a:rPr>
              <a:t>“</a:t>
            </a:r>
            <a:r>
              <a:rPr lang="zh-CN" altLang="en-US" sz="2800" b="1">
                <a:effectLst>
                  <a:outerShdw blurRad="38100" dist="38100" dir="2700000" algn="tl">
                    <a:srgbClr val="C0C0C0"/>
                  </a:outerShdw>
                </a:effectLst>
                <a:latin typeface="楷体_GB2312" pitchFamily="49" charset="-122"/>
                <a:ea typeface="楷体_GB2312" pitchFamily="49" charset="-122"/>
              </a:rPr>
              <a:t>撤销</a:t>
            </a:r>
            <a:r>
              <a:rPr lang="zh-CN" altLang="en-US" sz="2800" b="1">
                <a:effectLst>
                  <a:outerShdw blurRad="38100" dist="38100" dir="2700000" algn="tl">
                    <a:srgbClr val="C0C0C0"/>
                  </a:outerShdw>
                </a:effectLst>
                <a:ea typeface="楷体_GB2312" pitchFamily="49" charset="-122"/>
              </a:rPr>
              <a:t>”</a:t>
            </a:r>
            <a:r>
              <a:rPr lang="zh-CN" altLang="en-US" sz="2800" b="1">
                <a:effectLst>
                  <a:outerShdw blurRad="38100" dist="38100" dir="2700000" algn="tl">
                    <a:srgbClr val="C0C0C0"/>
                  </a:outerShdw>
                </a:effectLst>
                <a:latin typeface="楷体_GB2312" pitchFamily="49" charset="-122"/>
                <a:ea typeface="楷体_GB2312" pitchFamily="49" charset="-122"/>
              </a:rPr>
              <a:t>（</a:t>
            </a:r>
            <a:r>
              <a:rPr lang="en-US" altLang="zh-CN" sz="2800" b="1">
                <a:effectLst>
                  <a:outerShdw blurRad="38100" dist="38100" dir="2700000" algn="tl">
                    <a:srgbClr val="C0C0C0"/>
                  </a:outerShdw>
                </a:effectLst>
                <a:latin typeface="楷体_GB2312" pitchFamily="49" charset="-122"/>
                <a:ea typeface="楷体_GB2312" pitchFamily="49" charset="-122"/>
              </a:rPr>
              <a:t>UNDO</a:t>
            </a:r>
            <a:r>
              <a:rPr lang="zh-CN" altLang="en-US" sz="2800" b="1">
                <a:effectLst>
                  <a:outerShdw blurRad="38100" dist="38100" dir="2700000" algn="tl">
                    <a:srgbClr val="C0C0C0"/>
                  </a:outerShdw>
                </a:effectLst>
                <a:latin typeface="楷体_GB2312" pitchFamily="49" charset="-122"/>
                <a:ea typeface="楷体_GB2312" pitchFamily="49" charset="-122"/>
              </a:rPr>
              <a:t>）处理，撤销所有不可靠的更新，把数据库恢复到正确的状态。</a:t>
            </a:r>
          </a:p>
          <a:p>
            <a:pPr algn="just">
              <a:lnSpc>
                <a:spcPct val="110000"/>
              </a:lnSpc>
              <a:spcBef>
                <a:spcPct val="20000"/>
              </a:spcBef>
              <a:buClr>
                <a:schemeClr val="folHlink"/>
              </a:buClr>
              <a:buSzPct val="60000"/>
              <a:buFont typeface="Wingdings" panose="05000000000000000000" pitchFamily="2" charset="2"/>
              <a:buNone/>
            </a:pPr>
            <a:endParaRPr lang="zh-CN" altLang="en-US" sz="2800" b="1">
              <a:effectLst>
                <a:outerShdw blurRad="38100" dist="38100" dir="2700000" algn="tl">
                  <a:srgbClr val="C0C0C0"/>
                </a:outerShdw>
              </a:effectLst>
              <a:latin typeface="楷体_GB2312" pitchFamily="49" charset="-122"/>
              <a:ea typeface="楷体_GB2312" pitchFamily="49" charset="-122"/>
            </a:endParaRPr>
          </a:p>
        </p:txBody>
      </p:sp>
    </p:spTree>
    <p:custDataLst>
      <p:tags r:id="rId1"/>
    </p:custDataLst>
  </p:cSld>
  <p:clrMapOvr>
    <a:masterClrMapping/>
  </p:clrMapOvr>
  <p:transition advTm="15183"/>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60131">
                                            <p:bg/>
                                          </p:spTgt>
                                        </p:tgtEl>
                                        <p:attrNameLst>
                                          <p:attrName>style.visibility</p:attrName>
                                        </p:attrNameLst>
                                      </p:cBhvr>
                                      <p:to>
                                        <p:strVal val="visible"/>
                                      </p:to>
                                    </p:set>
                                    <p:animEffect transition="in" filter="wipe(up)">
                                      <p:cBhvr>
                                        <p:cTn id="7" dur="500"/>
                                        <p:tgtEl>
                                          <p:spTgt spid="560131">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60131">
                                            <p:txEl>
                                              <p:pRg st="0" end="0"/>
                                            </p:txEl>
                                          </p:spTgt>
                                        </p:tgtEl>
                                        <p:attrNameLst>
                                          <p:attrName>style.visibility</p:attrName>
                                        </p:attrNameLst>
                                      </p:cBhvr>
                                      <p:to>
                                        <p:strVal val="visible"/>
                                      </p:to>
                                    </p:set>
                                    <p:animEffect transition="in" filter="wipe(up)">
                                      <p:cBhvr>
                                        <p:cTn id="12" dur="500"/>
                                        <p:tgtEl>
                                          <p:spTgt spid="5601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0131" grpId="0" build="p"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Rectangle 2"/>
          <p:cNvSpPr>
            <a:spLocks noChangeArrowheads="1"/>
          </p:cNvSpPr>
          <p:nvPr/>
        </p:nvSpPr>
        <p:spPr bwMode="auto">
          <a:xfrm>
            <a:off x="971550" y="2276475"/>
            <a:ext cx="1943100" cy="647700"/>
          </a:xfrm>
          <a:prstGeom prst="rect">
            <a:avLst/>
          </a:prstGeom>
          <a:solidFill>
            <a:srgbClr val="000080"/>
          </a:solidFill>
          <a:ln w="9525">
            <a:solidFill>
              <a:schemeClr val="tx1"/>
            </a:solidFill>
            <a:miter lim="800000"/>
          </a:ln>
          <a:effectLst>
            <a:outerShdw dist="63500" dir="2212194" algn="ctr" rotWithShape="0">
              <a:schemeClr val="tx1"/>
            </a:outerShdw>
          </a:effectLst>
        </p:spPr>
        <p:txBody>
          <a:bodyPr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bg2"/>
              </a:buClr>
              <a:buFont typeface="Monotype Sorts" pitchFamily="2" charset="2"/>
              <a:buNone/>
            </a:pPr>
            <a:r>
              <a:rPr lang="zh-CN" altLang="en-US" b="1">
                <a:solidFill>
                  <a:srgbClr val="FFFF00"/>
                </a:solidFill>
                <a:latin typeface="黑体" panose="02010609060101010101" pitchFamily="49" charset="-122"/>
                <a:ea typeface="黑体" panose="02010609060101010101" pitchFamily="49" charset="-122"/>
              </a:rPr>
              <a:t>数据库故障</a:t>
            </a:r>
            <a:r>
              <a:rPr lang="zh-CN" altLang="en-US" b="1">
                <a:solidFill>
                  <a:srgbClr val="66FFFF"/>
                </a:solidFill>
                <a:latin typeface="黑体" panose="02010609060101010101" pitchFamily="49" charset="-122"/>
                <a:ea typeface="黑体" panose="02010609060101010101" pitchFamily="49" charset="-122"/>
              </a:rPr>
              <a:t> </a:t>
            </a:r>
          </a:p>
        </p:txBody>
      </p:sp>
      <p:sp>
        <p:nvSpPr>
          <p:cNvPr id="561155" name="AutoShape 3"/>
          <p:cNvSpPr/>
          <p:nvPr/>
        </p:nvSpPr>
        <p:spPr bwMode="auto">
          <a:xfrm>
            <a:off x="3060700" y="1268413"/>
            <a:ext cx="142875" cy="2665412"/>
          </a:xfrm>
          <a:prstGeom prst="leftBrace">
            <a:avLst>
              <a:gd name="adj1" fmla="val 155463"/>
              <a:gd name="adj2" fmla="val 50000"/>
            </a:avLst>
          </a:prstGeom>
          <a:noFill/>
          <a:ln w="31750" cap="sq">
            <a:solidFill>
              <a:srgbClr val="0000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solidFill>
                  <a:srgbClr val="99CCFF"/>
                </a:solidFill>
              </a14:hiddenFill>
            </a:ext>
          </a:extLst>
        </p:spPr>
        <p:txBody>
          <a:bodyPr wrap="none" anchor="ctr"/>
          <a:lstStyle/>
          <a:p>
            <a:endParaRPr lang="zh-CN" altLang="en-US"/>
          </a:p>
        </p:txBody>
      </p:sp>
      <p:sp>
        <p:nvSpPr>
          <p:cNvPr id="561156" name="Rectangle 4"/>
          <p:cNvSpPr>
            <a:spLocks noChangeArrowheads="1"/>
          </p:cNvSpPr>
          <p:nvPr/>
        </p:nvSpPr>
        <p:spPr bwMode="auto">
          <a:xfrm>
            <a:off x="3421063" y="3644900"/>
            <a:ext cx="1511300" cy="504825"/>
          </a:xfrm>
          <a:prstGeom prst="rect">
            <a:avLst/>
          </a:prstGeom>
          <a:solidFill>
            <a:srgbClr val="CCFFFF"/>
          </a:solidFill>
          <a:ln w="9525" algn="ctr">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bg2"/>
              </a:buClr>
              <a:buFont typeface="Monotype Sorts" pitchFamily="2" charset="2"/>
              <a:buNone/>
            </a:pPr>
            <a:r>
              <a:rPr lang="zh-CN" altLang="en-US" b="1">
                <a:solidFill>
                  <a:srgbClr val="CC0000"/>
                </a:solidFill>
                <a:latin typeface="黑体" panose="02010609060101010101" pitchFamily="49" charset="-122"/>
                <a:ea typeface="黑体" panose="02010609060101010101" pitchFamily="49" charset="-122"/>
              </a:rPr>
              <a:t>介质故障</a:t>
            </a:r>
            <a:endParaRPr lang="zh-CN" altLang="en-US" b="1">
              <a:solidFill>
                <a:srgbClr val="080808"/>
              </a:solidFill>
              <a:latin typeface="黑体" panose="02010609060101010101" pitchFamily="49" charset="-122"/>
              <a:ea typeface="黑体" panose="02010609060101010101" pitchFamily="49" charset="-122"/>
            </a:endParaRPr>
          </a:p>
        </p:txBody>
      </p:sp>
      <p:sp>
        <p:nvSpPr>
          <p:cNvPr id="561157" name="AutoShape 5"/>
          <p:cNvSpPr>
            <a:spLocks noChangeArrowheads="1"/>
          </p:cNvSpPr>
          <p:nvPr/>
        </p:nvSpPr>
        <p:spPr bwMode="auto">
          <a:xfrm rot="5400000">
            <a:off x="1042987" y="3789363"/>
            <a:ext cx="1871663" cy="287338"/>
          </a:xfrm>
          <a:prstGeom prst="rightArrow">
            <a:avLst>
              <a:gd name="adj1" fmla="val 49694"/>
              <a:gd name="adj2" fmla="val 66133"/>
            </a:avLst>
          </a:prstGeom>
          <a:solidFill>
            <a:srgbClr val="00FF00"/>
          </a:solidFill>
          <a:ln w="12700" cap="sq">
            <a:solidFill>
              <a:schemeClr val="tx1"/>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sp>
        <p:nvSpPr>
          <p:cNvPr id="561158" name="Rectangle 6"/>
          <p:cNvSpPr>
            <a:spLocks noChangeArrowheads="1"/>
          </p:cNvSpPr>
          <p:nvPr/>
        </p:nvSpPr>
        <p:spPr bwMode="auto">
          <a:xfrm>
            <a:off x="1403350" y="4906963"/>
            <a:ext cx="1441450" cy="576262"/>
          </a:xfrm>
          <a:prstGeom prst="rect">
            <a:avLst/>
          </a:prstGeom>
          <a:solidFill>
            <a:srgbClr val="CCFFFF"/>
          </a:solidFill>
          <a:ln w="9525">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bg2"/>
              </a:buClr>
              <a:buFont typeface="Monotype Sorts" pitchFamily="2" charset="2"/>
              <a:buNone/>
            </a:pPr>
            <a:r>
              <a:rPr lang="zh-CN" altLang="en-US" b="1">
                <a:solidFill>
                  <a:srgbClr val="003399"/>
                </a:solidFill>
                <a:effectLst>
                  <a:outerShdw blurRad="38100" dist="38100" dir="2700000" algn="tl">
                    <a:srgbClr val="000000"/>
                  </a:outerShdw>
                </a:effectLst>
                <a:latin typeface="黑体" panose="02010609060101010101" pitchFamily="49" charset="-122"/>
                <a:ea typeface="黑体" panose="02010609060101010101" pitchFamily="49" charset="-122"/>
              </a:rPr>
              <a:t>恢复方式</a:t>
            </a:r>
          </a:p>
        </p:txBody>
      </p:sp>
      <p:sp>
        <p:nvSpPr>
          <p:cNvPr id="561159" name="Rectangle 7"/>
          <p:cNvSpPr>
            <a:spLocks noGrp="1" noChangeArrowheads="1"/>
          </p:cNvSpPr>
          <p:nvPr>
            <p:ph type="title"/>
          </p:nvPr>
        </p:nvSpPr>
        <p:spPr>
          <a:noFill/>
          <a:effectLst>
            <a:outerShdw dist="17961" dir="2700000" algn="ctr" rotWithShape="0">
              <a:schemeClr val="tx1"/>
            </a:outerShdw>
          </a:effectLst>
        </p:spPr>
        <p:txBody>
          <a:bodyPr anchor="ctr"/>
          <a:lstStyle/>
          <a:p>
            <a:r>
              <a:rPr lang="zh-CN" altLang="en-US" sz="3300">
                <a:ea typeface="隶书" panose="02010509060101010101" pitchFamily="49" charset="-122"/>
              </a:rPr>
              <a:t>小结</a:t>
            </a:r>
          </a:p>
        </p:txBody>
      </p:sp>
      <p:sp>
        <p:nvSpPr>
          <p:cNvPr id="561160" name="Text Box 8"/>
          <p:cNvSpPr txBox="1">
            <a:spLocks noChangeArrowheads="1"/>
          </p:cNvSpPr>
          <p:nvPr/>
        </p:nvSpPr>
        <p:spPr bwMode="auto">
          <a:xfrm>
            <a:off x="3490913" y="4691063"/>
            <a:ext cx="1512887" cy="466725"/>
          </a:xfrm>
          <a:prstGeom prst="rect">
            <a:avLst/>
          </a:prstGeom>
          <a:solidFill>
            <a:srgbClr val="006600"/>
          </a:solidFill>
          <a:ln w="9525" algn="ctr">
            <a:solidFill>
              <a:schemeClr val="tx2"/>
            </a:solidFill>
            <a:miter lim="800000"/>
          </a:ln>
          <a:effectLst>
            <a:outerShdw dist="35921" dir="2700000" algn="ctr" rotWithShape="0">
              <a:schemeClr val="tx2"/>
            </a:outerShdw>
          </a:effectLst>
        </p:spPr>
        <p:txBody>
          <a:bodyPr>
            <a:spAutoFit/>
          </a:bodyPr>
          <a:lstStyle/>
          <a:p>
            <a:pPr algn="ctr">
              <a:spcBef>
                <a:spcPct val="50000"/>
              </a:spcBef>
            </a:pPr>
            <a:r>
              <a:rPr kumimoji="1" lang="zh-CN" altLang="en-US" sz="2400" b="1">
                <a:solidFill>
                  <a:schemeClr val="bg1"/>
                </a:solidFill>
                <a:latin typeface="Comic Sans MS" panose="030F0702030302020204" pitchFamily="66" charset="0"/>
                <a:ea typeface="黑体" panose="02010609060101010101" pitchFamily="49" charset="-122"/>
              </a:rPr>
              <a:t>数据转储</a:t>
            </a:r>
          </a:p>
        </p:txBody>
      </p:sp>
      <p:sp>
        <p:nvSpPr>
          <p:cNvPr id="561161" name="Text Box 9"/>
          <p:cNvSpPr txBox="1">
            <a:spLocks noChangeArrowheads="1"/>
          </p:cNvSpPr>
          <p:nvPr/>
        </p:nvSpPr>
        <p:spPr bwMode="auto">
          <a:xfrm>
            <a:off x="3492500" y="5338763"/>
            <a:ext cx="1511300" cy="466725"/>
          </a:xfrm>
          <a:prstGeom prst="rect">
            <a:avLst/>
          </a:prstGeom>
          <a:solidFill>
            <a:srgbClr val="006600"/>
          </a:solidFill>
          <a:ln w="9525" algn="ctr">
            <a:solidFill>
              <a:schemeClr val="tx2"/>
            </a:solidFill>
            <a:miter lim="800000"/>
          </a:ln>
          <a:effectLst>
            <a:outerShdw dist="35921" dir="2700000" algn="ctr" rotWithShape="0">
              <a:schemeClr val="tx2"/>
            </a:outerShdw>
          </a:effectLst>
        </p:spPr>
        <p:txBody>
          <a:bodyPr>
            <a:spAutoFit/>
          </a:bodyPr>
          <a:lstStyle/>
          <a:p>
            <a:pPr algn="ctr">
              <a:spcBef>
                <a:spcPct val="50000"/>
              </a:spcBef>
            </a:pPr>
            <a:r>
              <a:rPr kumimoji="1" lang="zh-CN" altLang="en-US" sz="2400" b="1">
                <a:solidFill>
                  <a:schemeClr val="bg1"/>
                </a:solidFill>
                <a:latin typeface="Comic Sans MS" panose="030F0702030302020204" pitchFamily="66" charset="0"/>
                <a:ea typeface="黑体" panose="02010609060101010101" pitchFamily="49" charset="-122"/>
              </a:rPr>
              <a:t>日志文件</a:t>
            </a:r>
          </a:p>
        </p:txBody>
      </p:sp>
      <p:sp>
        <p:nvSpPr>
          <p:cNvPr id="561162" name="AutoShape 10"/>
          <p:cNvSpPr/>
          <p:nvPr/>
        </p:nvSpPr>
        <p:spPr bwMode="auto">
          <a:xfrm>
            <a:off x="2914650" y="4691063"/>
            <a:ext cx="433388" cy="1077912"/>
          </a:xfrm>
          <a:prstGeom prst="leftBrace">
            <a:avLst>
              <a:gd name="adj1" fmla="val 20726"/>
              <a:gd name="adj2" fmla="val 50000"/>
            </a:avLst>
          </a:prstGeom>
          <a:noFill/>
          <a:ln w="28575">
            <a:solidFill>
              <a:schemeClr val="tx2"/>
            </a:solidFill>
            <a:round/>
          </a:ln>
          <a:effectLst>
            <a:outerShdw dist="35921" dir="2700000" algn="ctr" rotWithShape="0">
              <a:schemeClr val="tx2"/>
            </a:outerShdw>
          </a:effectLst>
          <a:extLst>
            <a:ext uri="{909E8E84-426E-40DD-AFC4-6F175D3DCCD1}">
              <a14:hiddenFill xmlns:a14="http://schemas.microsoft.com/office/drawing/2010/main">
                <a:solidFill>
                  <a:srgbClr val="FFCC99"/>
                </a:solidFill>
              </a14:hiddenFill>
            </a:ext>
          </a:extLst>
        </p:spPr>
        <p:txBody>
          <a:bodyPr wrap="none" anchor="ctr"/>
          <a:lstStyle/>
          <a:p>
            <a:endParaRPr lang="zh-CN" altLang="en-US"/>
          </a:p>
        </p:txBody>
      </p:sp>
      <p:sp>
        <p:nvSpPr>
          <p:cNvPr id="561163" name="Rectangle 11"/>
          <p:cNvSpPr>
            <a:spLocks noChangeArrowheads="1"/>
          </p:cNvSpPr>
          <p:nvPr/>
        </p:nvSpPr>
        <p:spPr bwMode="auto">
          <a:xfrm>
            <a:off x="3421063" y="1196975"/>
            <a:ext cx="1511300" cy="504825"/>
          </a:xfrm>
          <a:prstGeom prst="rect">
            <a:avLst/>
          </a:prstGeom>
          <a:solidFill>
            <a:srgbClr val="CCFFFF"/>
          </a:solidFill>
          <a:ln w="9525" algn="ctr">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bg2"/>
              </a:buClr>
              <a:buFont typeface="Monotype Sorts" pitchFamily="2" charset="2"/>
              <a:buNone/>
            </a:pPr>
            <a:r>
              <a:rPr lang="zh-CN" altLang="en-US" b="1">
                <a:solidFill>
                  <a:srgbClr val="CC0000"/>
                </a:solidFill>
                <a:latin typeface="黑体" panose="02010609060101010101" pitchFamily="49" charset="-122"/>
                <a:ea typeface="黑体" panose="02010609060101010101" pitchFamily="49" charset="-122"/>
              </a:rPr>
              <a:t>事务故障</a:t>
            </a:r>
            <a:r>
              <a:rPr lang="zh-CN" altLang="en-US" b="1">
                <a:solidFill>
                  <a:srgbClr val="080808"/>
                </a:solidFill>
                <a:latin typeface="黑体" panose="02010609060101010101" pitchFamily="49" charset="-122"/>
                <a:ea typeface="黑体" panose="02010609060101010101" pitchFamily="49" charset="-122"/>
              </a:rPr>
              <a:t> </a:t>
            </a:r>
          </a:p>
        </p:txBody>
      </p:sp>
      <p:sp>
        <p:nvSpPr>
          <p:cNvPr id="561164" name="Rectangle 12"/>
          <p:cNvSpPr>
            <a:spLocks noChangeArrowheads="1"/>
          </p:cNvSpPr>
          <p:nvPr/>
        </p:nvSpPr>
        <p:spPr bwMode="auto">
          <a:xfrm>
            <a:off x="3422650" y="2420938"/>
            <a:ext cx="1511300" cy="431800"/>
          </a:xfrm>
          <a:prstGeom prst="rect">
            <a:avLst/>
          </a:prstGeom>
          <a:solidFill>
            <a:srgbClr val="CCFFFF"/>
          </a:solidFill>
          <a:ln w="9525" algn="ctr">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bg2"/>
              </a:buClr>
              <a:buFont typeface="Monotype Sorts" pitchFamily="2" charset="2"/>
              <a:buNone/>
            </a:pPr>
            <a:r>
              <a:rPr lang="zh-CN" altLang="en-US" b="1">
                <a:solidFill>
                  <a:srgbClr val="CC0000"/>
                </a:solidFill>
                <a:latin typeface="黑体" panose="02010609060101010101" pitchFamily="49" charset="-122"/>
                <a:ea typeface="黑体" panose="02010609060101010101" pitchFamily="49" charset="-122"/>
              </a:rPr>
              <a:t>系统故障</a:t>
            </a:r>
            <a:r>
              <a:rPr lang="zh-CN" altLang="en-US" b="1">
                <a:solidFill>
                  <a:srgbClr val="080808"/>
                </a:solidFill>
                <a:latin typeface="黑体" panose="02010609060101010101" pitchFamily="49" charset="-122"/>
                <a:ea typeface="黑体" panose="02010609060101010101" pitchFamily="49" charset="-122"/>
              </a:rPr>
              <a:t> </a:t>
            </a:r>
          </a:p>
        </p:txBody>
      </p:sp>
      <p:sp>
        <p:nvSpPr>
          <p:cNvPr id="561165" name="AutoShape 13"/>
          <p:cNvSpPr>
            <a:spLocks noChangeArrowheads="1"/>
          </p:cNvSpPr>
          <p:nvPr/>
        </p:nvSpPr>
        <p:spPr bwMode="auto">
          <a:xfrm>
            <a:off x="5508625" y="1052513"/>
            <a:ext cx="3167063" cy="936625"/>
          </a:xfrm>
          <a:prstGeom prst="wedgeRectCallout">
            <a:avLst>
              <a:gd name="adj1" fmla="val -66139"/>
              <a:gd name="adj2" fmla="val -3222"/>
            </a:avLst>
          </a:prstGeom>
          <a:solidFill>
            <a:srgbClr val="000066"/>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lstStyle/>
          <a:p>
            <a:pPr algn="ctr"/>
            <a:r>
              <a:rPr kumimoji="1" lang="zh-CN" altLang="en-US" sz="2400" b="1">
                <a:solidFill>
                  <a:schemeClr val="bg1"/>
                </a:solidFill>
                <a:effectLst>
                  <a:outerShdw blurRad="38100" dist="38100" dir="2700000" algn="tl">
                    <a:srgbClr val="000000"/>
                  </a:outerShdw>
                </a:effectLst>
                <a:latin typeface="楷体_GB2312" pitchFamily="49" charset="-122"/>
                <a:ea typeface="楷体_GB2312" pitchFamily="49" charset="-122"/>
              </a:rPr>
              <a:t>反向扫描日志文件，</a:t>
            </a:r>
            <a:r>
              <a:rPr kumimoji="1" lang="zh-CN" altLang="en-US" sz="2400" b="1">
                <a:solidFill>
                  <a:srgbClr val="FFFF66"/>
                </a:solidFill>
                <a:effectLst>
                  <a:outerShdw blurRad="38100" dist="38100" dir="2700000" algn="tl">
                    <a:srgbClr val="000000"/>
                  </a:outerShdw>
                </a:effectLst>
                <a:latin typeface="楷体_GB2312" pitchFamily="49" charset="-122"/>
                <a:ea typeface="楷体_GB2312" pitchFamily="49" charset="-122"/>
              </a:rPr>
              <a:t>撤消</a:t>
            </a:r>
            <a:r>
              <a:rPr kumimoji="1" lang="en-US" altLang="zh-CN" sz="2400" b="1">
                <a:solidFill>
                  <a:schemeClr val="bg1"/>
                </a:solidFill>
                <a:effectLst>
                  <a:outerShdw blurRad="38100" dist="38100" dir="2700000" algn="tl">
                    <a:srgbClr val="000000"/>
                  </a:outerShdw>
                </a:effectLst>
                <a:latin typeface="楷体_GB2312" pitchFamily="49" charset="-122"/>
                <a:ea typeface="楷体_GB2312" pitchFamily="49" charset="-122"/>
              </a:rPr>
              <a:t>(Undo)</a:t>
            </a:r>
            <a:endParaRPr kumimoji="1" lang="zh-CN" altLang="en-US" sz="2400" b="1">
              <a:solidFill>
                <a:schemeClr val="bg1"/>
              </a:solidFill>
              <a:effectLst>
                <a:outerShdw blurRad="38100" dist="38100" dir="2700000" algn="tl">
                  <a:srgbClr val="000000"/>
                </a:outerShdw>
              </a:effectLst>
              <a:latin typeface="楷体_GB2312" pitchFamily="49" charset="-122"/>
              <a:ea typeface="楷体_GB2312" pitchFamily="49" charset="-122"/>
            </a:endParaRPr>
          </a:p>
        </p:txBody>
      </p:sp>
      <p:sp>
        <p:nvSpPr>
          <p:cNvPr id="561166" name="AutoShape 14"/>
          <p:cNvSpPr>
            <a:spLocks noChangeArrowheads="1"/>
          </p:cNvSpPr>
          <p:nvPr/>
        </p:nvSpPr>
        <p:spPr bwMode="auto">
          <a:xfrm>
            <a:off x="5580063" y="2276475"/>
            <a:ext cx="3167062" cy="936625"/>
          </a:xfrm>
          <a:prstGeom prst="wedgeRectCallout">
            <a:avLst>
              <a:gd name="adj1" fmla="val -66139"/>
              <a:gd name="adj2" fmla="val -3222"/>
            </a:avLst>
          </a:prstGeom>
          <a:solidFill>
            <a:srgbClr val="000066"/>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lstStyle/>
          <a:p>
            <a:pPr algn="ctr"/>
            <a:r>
              <a:rPr kumimoji="1" lang="zh-CN" altLang="en-US" sz="2400" b="1">
                <a:solidFill>
                  <a:schemeClr val="bg1"/>
                </a:solidFill>
                <a:effectLst>
                  <a:outerShdw blurRad="38100" dist="38100" dir="2700000" algn="tl">
                    <a:srgbClr val="000000"/>
                  </a:outerShdw>
                </a:effectLst>
                <a:latin typeface="楷体_GB2312" pitchFamily="49" charset="-122"/>
                <a:ea typeface="楷体_GB2312" pitchFamily="49" charset="-122"/>
              </a:rPr>
              <a:t>已提交事务，</a:t>
            </a:r>
            <a:r>
              <a:rPr kumimoji="1" lang="zh-CN" altLang="en-US" sz="2400" b="1">
                <a:solidFill>
                  <a:srgbClr val="FFFF66"/>
                </a:solidFill>
                <a:effectLst>
                  <a:outerShdw blurRad="38100" dist="38100" dir="2700000" algn="tl">
                    <a:srgbClr val="000000"/>
                  </a:outerShdw>
                </a:effectLst>
                <a:latin typeface="楷体_GB2312" pitchFamily="49" charset="-122"/>
                <a:ea typeface="楷体_GB2312" pitchFamily="49" charset="-122"/>
              </a:rPr>
              <a:t>重做</a:t>
            </a:r>
            <a:r>
              <a:rPr kumimoji="1" lang="zh-CN" altLang="en-US" sz="2400" b="1">
                <a:solidFill>
                  <a:schemeClr val="bg1"/>
                </a:solidFill>
                <a:effectLst>
                  <a:outerShdw blurRad="38100" dist="38100" dir="2700000" algn="tl">
                    <a:srgbClr val="000000"/>
                  </a:outerShdw>
                </a:effectLst>
                <a:latin typeface="楷体_GB2312" pitchFamily="49" charset="-122"/>
                <a:ea typeface="楷体_GB2312" pitchFamily="49" charset="-122"/>
              </a:rPr>
              <a:t>；未提交事务，</a:t>
            </a:r>
            <a:r>
              <a:rPr kumimoji="1" lang="zh-CN" altLang="en-US" sz="2400" b="1">
                <a:solidFill>
                  <a:srgbClr val="FFFF66"/>
                </a:solidFill>
                <a:effectLst>
                  <a:outerShdw blurRad="38100" dist="38100" dir="2700000" algn="tl">
                    <a:srgbClr val="000000"/>
                  </a:outerShdw>
                </a:effectLst>
                <a:latin typeface="楷体_GB2312" pitchFamily="49" charset="-122"/>
                <a:ea typeface="楷体_GB2312" pitchFamily="49" charset="-122"/>
              </a:rPr>
              <a:t>撤消</a:t>
            </a:r>
          </a:p>
        </p:txBody>
      </p:sp>
      <p:sp>
        <p:nvSpPr>
          <p:cNvPr id="561167" name="AutoShape 15"/>
          <p:cNvSpPr>
            <a:spLocks noChangeArrowheads="1"/>
          </p:cNvSpPr>
          <p:nvPr/>
        </p:nvSpPr>
        <p:spPr bwMode="auto">
          <a:xfrm>
            <a:off x="5580063" y="3644900"/>
            <a:ext cx="3167062" cy="1223963"/>
          </a:xfrm>
          <a:prstGeom prst="wedgeRectCallout">
            <a:avLst>
              <a:gd name="adj1" fmla="val -69046"/>
              <a:gd name="adj2" fmla="val -34306"/>
            </a:avLst>
          </a:prstGeom>
          <a:solidFill>
            <a:srgbClr val="000066"/>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lstStyle/>
          <a:p>
            <a:pPr algn="ctr"/>
            <a:r>
              <a:rPr kumimoji="1" lang="zh-CN" altLang="en-US" sz="2400" b="1">
                <a:solidFill>
                  <a:schemeClr val="bg1"/>
                </a:solidFill>
                <a:effectLst>
                  <a:outerShdw blurRad="38100" dist="38100" dir="2700000" algn="tl">
                    <a:srgbClr val="000000"/>
                  </a:outerShdw>
                </a:effectLst>
                <a:latin typeface="楷体_GB2312" pitchFamily="49" charset="-122"/>
                <a:ea typeface="楷体_GB2312" pitchFamily="49" charset="-122"/>
              </a:rPr>
              <a:t>装入后援副本</a:t>
            </a:r>
          </a:p>
          <a:p>
            <a:pPr algn="ctr"/>
            <a:r>
              <a:rPr kumimoji="1" lang="zh-CN" altLang="en-US" sz="2400" b="1">
                <a:solidFill>
                  <a:schemeClr val="bg1"/>
                </a:solidFill>
                <a:effectLst>
                  <a:outerShdw blurRad="38100" dist="38100" dir="2700000" algn="tl">
                    <a:srgbClr val="000000"/>
                  </a:outerShdw>
                </a:effectLst>
                <a:latin typeface="楷体_GB2312" pitchFamily="49" charset="-122"/>
                <a:ea typeface="楷体_GB2312" pitchFamily="49" charset="-122"/>
              </a:rPr>
              <a:t>装入日志文件</a:t>
            </a:r>
          </a:p>
          <a:p>
            <a:pPr algn="ctr"/>
            <a:r>
              <a:rPr kumimoji="1" lang="zh-CN" altLang="en-US" sz="2400" b="1">
                <a:solidFill>
                  <a:schemeClr val="bg1"/>
                </a:solidFill>
                <a:effectLst>
                  <a:outerShdw blurRad="38100" dist="38100" dir="2700000" algn="tl">
                    <a:srgbClr val="000000"/>
                  </a:outerShdw>
                </a:effectLst>
                <a:latin typeface="楷体_GB2312" pitchFamily="49" charset="-122"/>
                <a:ea typeface="楷体_GB2312" pitchFamily="49" charset="-122"/>
              </a:rPr>
              <a:t>已完成事务，</a:t>
            </a:r>
            <a:r>
              <a:rPr kumimoji="1" lang="zh-CN" altLang="en-US" sz="2400" b="1">
                <a:solidFill>
                  <a:srgbClr val="FFFF66"/>
                </a:solidFill>
                <a:effectLst>
                  <a:outerShdw blurRad="38100" dist="38100" dir="2700000" algn="tl">
                    <a:srgbClr val="000000"/>
                  </a:outerShdw>
                </a:effectLst>
                <a:latin typeface="楷体_GB2312" pitchFamily="49" charset="-122"/>
                <a:ea typeface="楷体_GB2312" pitchFamily="49" charset="-122"/>
              </a:rPr>
              <a:t>重做</a:t>
            </a:r>
          </a:p>
        </p:txBody>
      </p:sp>
      <p:sp>
        <p:nvSpPr>
          <p:cNvPr id="561168" name="Rectangle 16"/>
          <p:cNvSpPr>
            <a:spLocks noChangeArrowheads="1"/>
          </p:cNvSpPr>
          <p:nvPr/>
        </p:nvSpPr>
        <p:spPr bwMode="auto">
          <a:xfrm>
            <a:off x="5724525" y="5373688"/>
            <a:ext cx="2447925" cy="792162"/>
          </a:xfrm>
          <a:prstGeom prst="rect">
            <a:avLst/>
          </a:prstGeom>
          <a:solidFill>
            <a:srgbClr val="008080"/>
          </a:solidFill>
          <a:ln w="9525" algn="ctr">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buClr>
                <a:schemeClr val="bg2"/>
              </a:buClr>
              <a:buFont typeface="Monotype Sorts" pitchFamily="2" charset="2"/>
              <a:buNone/>
            </a:pPr>
            <a:r>
              <a:rPr lang="zh-CN" altLang="en-US"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数据库镜像</a:t>
            </a:r>
            <a:endParaRPr lang="zh-CN" altLang="en-US" b="1" baseline="3000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Tree>
    <p:custDataLst>
      <p:tags r:id="rId1"/>
    </p:custDataLst>
  </p:cSld>
  <p:clrMapOvr>
    <a:masterClrMapping/>
  </p:clrMapOvr>
  <p:transition advTm="34822"/>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61154"/>
                                        </p:tgtEl>
                                        <p:attrNameLst>
                                          <p:attrName>style.visibility</p:attrName>
                                        </p:attrNameLst>
                                      </p:cBhvr>
                                      <p:to>
                                        <p:strVal val="visible"/>
                                      </p:to>
                                    </p:set>
                                    <p:animEffect transition="in" filter="blinds(horizontal)">
                                      <p:cBhvr>
                                        <p:cTn id="7" dur="500"/>
                                        <p:tgtEl>
                                          <p:spTgt spid="5611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61155"/>
                                        </p:tgtEl>
                                        <p:attrNameLst>
                                          <p:attrName>style.visibility</p:attrName>
                                        </p:attrNameLst>
                                      </p:cBhvr>
                                      <p:to>
                                        <p:strVal val="visible"/>
                                      </p:to>
                                    </p:set>
                                    <p:animEffect transition="in" filter="wipe(left)">
                                      <p:cBhvr>
                                        <p:cTn id="12" dur="500"/>
                                        <p:tgtEl>
                                          <p:spTgt spid="561155"/>
                                        </p:tgtEl>
                                      </p:cBhvr>
                                    </p:animEffect>
                                  </p:childTnLst>
                                </p:cTn>
                              </p:par>
                            </p:childTnLst>
                          </p:cTn>
                        </p:par>
                      </p:childTnLst>
                    </p:cTn>
                  </p:par>
                  <p:par>
                    <p:cTn id="13" fill="hold">
                      <p:stCondLst>
                        <p:cond delay="indefinite"/>
                      </p:stCondLst>
                      <p:childTnLst>
                        <p:par>
                          <p:cTn id="14" fill="hold">
                            <p:stCondLst>
                              <p:cond delay="0"/>
                            </p:stCondLst>
                            <p:childTnLst>
                              <p:par>
                                <p:cTn id="15" presetID="29" presetClass="entr" presetSubtype="0" fill="hold" grpId="0" nodeType="clickEffect">
                                  <p:stCondLst>
                                    <p:cond delay="0"/>
                                  </p:stCondLst>
                                  <p:childTnLst>
                                    <p:set>
                                      <p:cBhvr>
                                        <p:cTn id="16" dur="1" fill="hold">
                                          <p:stCondLst>
                                            <p:cond delay="0"/>
                                          </p:stCondLst>
                                        </p:cTn>
                                        <p:tgtEl>
                                          <p:spTgt spid="561163"/>
                                        </p:tgtEl>
                                        <p:attrNameLst>
                                          <p:attrName>style.visibility</p:attrName>
                                        </p:attrNameLst>
                                      </p:cBhvr>
                                      <p:to>
                                        <p:strVal val="visible"/>
                                      </p:to>
                                    </p:set>
                                    <p:anim calcmode="lin" valueType="num">
                                      <p:cBhvr>
                                        <p:cTn id="17" dur="1000" fill="hold"/>
                                        <p:tgtEl>
                                          <p:spTgt spid="561163"/>
                                        </p:tgtEl>
                                        <p:attrNameLst>
                                          <p:attrName>ppt_x</p:attrName>
                                        </p:attrNameLst>
                                      </p:cBhvr>
                                      <p:tavLst>
                                        <p:tav tm="0">
                                          <p:val>
                                            <p:strVal val="#ppt_x-.2"/>
                                          </p:val>
                                        </p:tav>
                                        <p:tav tm="100000">
                                          <p:val>
                                            <p:strVal val="#ppt_x"/>
                                          </p:val>
                                        </p:tav>
                                      </p:tavLst>
                                    </p:anim>
                                    <p:anim calcmode="lin" valueType="num">
                                      <p:cBhvr>
                                        <p:cTn id="18" dur="1000" fill="hold"/>
                                        <p:tgtEl>
                                          <p:spTgt spid="561163"/>
                                        </p:tgtEl>
                                        <p:attrNameLst>
                                          <p:attrName>ppt_y</p:attrName>
                                        </p:attrNameLst>
                                      </p:cBhvr>
                                      <p:tavLst>
                                        <p:tav tm="0">
                                          <p:val>
                                            <p:strVal val="#ppt_y"/>
                                          </p:val>
                                        </p:tav>
                                        <p:tav tm="100000">
                                          <p:val>
                                            <p:strVal val="#ppt_y"/>
                                          </p:val>
                                        </p:tav>
                                      </p:tavLst>
                                    </p:anim>
                                    <p:animEffect transition="in" filter="wipe(right)" prLst="gradientSize: 0.1">
                                      <p:cBhvr>
                                        <p:cTn id="19" dur="1000"/>
                                        <p:tgtEl>
                                          <p:spTgt spid="561163"/>
                                        </p:tgtEl>
                                      </p:cBhvr>
                                    </p:animEffect>
                                  </p:childTnLst>
                                </p:cTn>
                              </p:par>
                            </p:childTnLst>
                          </p:cTn>
                        </p:par>
                      </p:childTnLst>
                    </p:cTn>
                  </p:par>
                  <p:par>
                    <p:cTn id="20" fill="hold">
                      <p:stCondLst>
                        <p:cond delay="indefinite"/>
                      </p:stCondLst>
                      <p:childTnLst>
                        <p:par>
                          <p:cTn id="21" fill="hold">
                            <p:stCondLst>
                              <p:cond delay="0"/>
                            </p:stCondLst>
                            <p:childTnLst>
                              <p:par>
                                <p:cTn id="22" presetID="29" presetClass="entr" presetSubtype="0" fill="hold" grpId="0" nodeType="clickEffect">
                                  <p:stCondLst>
                                    <p:cond delay="0"/>
                                  </p:stCondLst>
                                  <p:childTnLst>
                                    <p:set>
                                      <p:cBhvr>
                                        <p:cTn id="23" dur="1" fill="hold">
                                          <p:stCondLst>
                                            <p:cond delay="0"/>
                                          </p:stCondLst>
                                        </p:cTn>
                                        <p:tgtEl>
                                          <p:spTgt spid="561164"/>
                                        </p:tgtEl>
                                        <p:attrNameLst>
                                          <p:attrName>style.visibility</p:attrName>
                                        </p:attrNameLst>
                                      </p:cBhvr>
                                      <p:to>
                                        <p:strVal val="visible"/>
                                      </p:to>
                                    </p:set>
                                    <p:anim calcmode="lin" valueType="num">
                                      <p:cBhvr>
                                        <p:cTn id="24" dur="1000" fill="hold"/>
                                        <p:tgtEl>
                                          <p:spTgt spid="561164"/>
                                        </p:tgtEl>
                                        <p:attrNameLst>
                                          <p:attrName>ppt_x</p:attrName>
                                        </p:attrNameLst>
                                      </p:cBhvr>
                                      <p:tavLst>
                                        <p:tav tm="0">
                                          <p:val>
                                            <p:strVal val="#ppt_x-.2"/>
                                          </p:val>
                                        </p:tav>
                                        <p:tav tm="100000">
                                          <p:val>
                                            <p:strVal val="#ppt_x"/>
                                          </p:val>
                                        </p:tav>
                                      </p:tavLst>
                                    </p:anim>
                                    <p:anim calcmode="lin" valueType="num">
                                      <p:cBhvr>
                                        <p:cTn id="25" dur="1000" fill="hold"/>
                                        <p:tgtEl>
                                          <p:spTgt spid="561164"/>
                                        </p:tgtEl>
                                        <p:attrNameLst>
                                          <p:attrName>ppt_y</p:attrName>
                                        </p:attrNameLst>
                                      </p:cBhvr>
                                      <p:tavLst>
                                        <p:tav tm="0">
                                          <p:val>
                                            <p:strVal val="#ppt_y"/>
                                          </p:val>
                                        </p:tav>
                                        <p:tav tm="100000">
                                          <p:val>
                                            <p:strVal val="#ppt_y"/>
                                          </p:val>
                                        </p:tav>
                                      </p:tavLst>
                                    </p:anim>
                                    <p:animEffect transition="in" filter="wipe(right)" prLst="gradientSize: 0.1">
                                      <p:cBhvr>
                                        <p:cTn id="26" dur="1000"/>
                                        <p:tgtEl>
                                          <p:spTgt spid="561164"/>
                                        </p:tgtEl>
                                      </p:cBhvr>
                                    </p:animEffect>
                                  </p:childTnLst>
                                </p:cTn>
                              </p:par>
                            </p:childTnLst>
                          </p:cTn>
                        </p:par>
                      </p:childTnLst>
                    </p:cTn>
                  </p:par>
                  <p:par>
                    <p:cTn id="27" fill="hold">
                      <p:stCondLst>
                        <p:cond delay="indefinite"/>
                      </p:stCondLst>
                      <p:childTnLst>
                        <p:par>
                          <p:cTn id="28" fill="hold">
                            <p:stCondLst>
                              <p:cond delay="0"/>
                            </p:stCondLst>
                            <p:childTnLst>
                              <p:par>
                                <p:cTn id="29" presetID="29" presetClass="entr" presetSubtype="0" fill="hold" grpId="0" nodeType="clickEffect">
                                  <p:stCondLst>
                                    <p:cond delay="0"/>
                                  </p:stCondLst>
                                  <p:childTnLst>
                                    <p:set>
                                      <p:cBhvr>
                                        <p:cTn id="30" dur="1" fill="hold">
                                          <p:stCondLst>
                                            <p:cond delay="0"/>
                                          </p:stCondLst>
                                        </p:cTn>
                                        <p:tgtEl>
                                          <p:spTgt spid="561156"/>
                                        </p:tgtEl>
                                        <p:attrNameLst>
                                          <p:attrName>style.visibility</p:attrName>
                                        </p:attrNameLst>
                                      </p:cBhvr>
                                      <p:to>
                                        <p:strVal val="visible"/>
                                      </p:to>
                                    </p:set>
                                    <p:anim calcmode="lin" valueType="num">
                                      <p:cBhvr>
                                        <p:cTn id="31" dur="1000" fill="hold"/>
                                        <p:tgtEl>
                                          <p:spTgt spid="561156"/>
                                        </p:tgtEl>
                                        <p:attrNameLst>
                                          <p:attrName>ppt_x</p:attrName>
                                        </p:attrNameLst>
                                      </p:cBhvr>
                                      <p:tavLst>
                                        <p:tav tm="0">
                                          <p:val>
                                            <p:strVal val="#ppt_x-.2"/>
                                          </p:val>
                                        </p:tav>
                                        <p:tav tm="100000">
                                          <p:val>
                                            <p:strVal val="#ppt_x"/>
                                          </p:val>
                                        </p:tav>
                                      </p:tavLst>
                                    </p:anim>
                                    <p:anim calcmode="lin" valueType="num">
                                      <p:cBhvr>
                                        <p:cTn id="32" dur="1000" fill="hold"/>
                                        <p:tgtEl>
                                          <p:spTgt spid="561156"/>
                                        </p:tgtEl>
                                        <p:attrNameLst>
                                          <p:attrName>ppt_y</p:attrName>
                                        </p:attrNameLst>
                                      </p:cBhvr>
                                      <p:tavLst>
                                        <p:tav tm="0">
                                          <p:val>
                                            <p:strVal val="#ppt_y"/>
                                          </p:val>
                                        </p:tav>
                                        <p:tav tm="100000">
                                          <p:val>
                                            <p:strVal val="#ppt_y"/>
                                          </p:val>
                                        </p:tav>
                                      </p:tavLst>
                                    </p:anim>
                                    <p:animEffect transition="in" filter="wipe(right)" prLst="gradientSize: 0.1">
                                      <p:cBhvr>
                                        <p:cTn id="33" dur="1000"/>
                                        <p:tgtEl>
                                          <p:spTgt spid="56115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561157"/>
                                        </p:tgtEl>
                                        <p:attrNameLst>
                                          <p:attrName>style.visibility</p:attrName>
                                        </p:attrNameLst>
                                      </p:cBhvr>
                                      <p:to>
                                        <p:strVal val="visible"/>
                                      </p:to>
                                    </p:set>
                                    <p:animEffect transition="in" filter="wipe(left)">
                                      <p:cBhvr>
                                        <p:cTn id="38" dur="500"/>
                                        <p:tgtEl>
                                          <p:spTgt spid="561157"/>
                                        </p:tgtEl>
                                      </p:cBhvr>
                                    </p:animEffect>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561158"/>
                                        </p:tgtEl>
                                        <p:attrNameLst>
                                          <p:attrName>style.visibility</p:attrName>
                                        </p:attrNameLst>
                                      </p:cBhvr>
                                      <p:to>
                                        <p:strVal val="visible"/>
                                      </p:to>
                                    </p:set>
                                    <p:animEffect transition="in" filter="wipe(left)">
                                      <p:cBhvr>
                                        <p:cTn id="42" dur="500"/>
                                        <p:tgtEl>
                                          <p:spTgt spid="56115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61162"/>
                                        </p:tgtEl>
                                        <p:attrNameLst>
                                          <p:attrName>style.visibility</p:attrName>
                                        </p:attrNameLst>
                                      </p:cBhvr>
                                      <p:to>
                                        <p:strVal val="visible"/>
                                      </p:to>
                                    </p:set>
                                    <p:animEffect transition="in" filter="wipe(left)">
                                      <p:cBhvr>
                                        <p:cTn id="47" dur="500"/>
                                        <p:tgtEl>
                                          <p:spTgt spid="56116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61160"/>
                                        </p:tgtEl>
                                        <p:attrNameLst>
                                          <p:attrName>style.visibility</p:attrName>
                                        </p:attrNameLst>
                                      </p:cBhvr>
                                      <p:to>
                                        <p:strVal val="visible"/>
                                      </p:to>
                                    </p:set>
                                    <p:animEffect transition="in" filter="wipe(left)">
                                      <p:cBhvr>
                                        <p:cTn id="52" dur="500"/>
                                        <p:tgtEl>
                                          <p:spTgt spid="56116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61161"/>
                                        </p:tgtEl>
                                        <p:attrNameLst>
                                          <p:attrName>style.visibility</p:attrName>
                                        </p:attrNameLst>
                                      </p:cBhvr>
                                      <p:to>
                                        <p:strVal val="visible"/>
                                      </p:to>
                                    </p:set>
                                    <p:animEffect transition="in" filter="wipe(left)">
                                      <p:cBhvr>
                                        <p:cTn id="57" dur="500"/>
                                        <p:tgtEl>
                                          <p:spTgt spid="56116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561165"/>
                                        </p:tgtEl>
                                        <p:attrNameLst>
                                          <p:attrName>style.visibility</p:attrName>
                                        </p:attrNameLst>
                                      </p:cBhvr>
                                      <p:to>
                                        <p:strVal val="visible"/>
                                      </p:to>
                                    </p:set>
                                    <p:animEffect transition="in" filter="wipe(up)">
                                      <p:cBhvr>
                                        <p:cTn id="62" dur="500"/>
                                        <p:tgtEl>
                                          <p:spTgt spid="56116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561166"/>
                                        </p:tgtEl>
                                        <p:attrNameLst>
                                          <p:attrName>style.visibility</p:attrName>
                                        </p:attrNameLst>
                                      </p:cBhvr>
                                      <p:to>
                                        <p:strVal val="visible"/>
                                      </p:to>
                                    </p:set>
                                    <p:animEffect transition="in" filter="wipe(up)">
                                      <p:cBhvr>
                                        <p:cTn id="67" dur="500"/>
                                        <p:tgtEl>
                                          <p:spTgt spid="56116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561167"/>
                                        </p:tgtEl>
                                        <p:attrNameLst>
                                          <p:attrName>style.visibility</p:attrName>
                                        </p:attrNameLst>
                                      </p:cBhvr>
                                      <p:to>
                                        <p:strVal val="visible"/>
                                      </p:to>
                                    </p:set>
                                    <p:animEffect transition="in" filter="wipe(up)">
                                      <p:cBhvr>
                                        <p:cTn id="72" dur="500"/>
                                        <p:tgtEl>
                                          <p:spTgt spid="561167"/>
                                        </p:tgtEl>
                                      </p:cBhvr>
                                    </p:animEffect>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561168"/>
                                        </p:tgtEl>
                                        <p:attrNameLst>
                                          <p:attrName>style.visibility</p:attrName>
                                        </p:attrNameLst>
                                      </p:cBhvr>
                                      <p:to>
                                        <p:strVal val="visible"/>
                                      </p:to>
                                    </p:set>
                                    <p:animEffect transition="in" filter="fade">
                                      <p:cBhvr>
                                        <p:cTn id="77" dur="1000"/>
                                        <p:tgtEl>
                                          <p:spTgt spid="561168"/>
                                        </p:tgtEl>
                                      </p:cBhvr>
                                    </p:animEffect>
                                    <p:anim calcmode="lin" valueType="num">
                                      <p:cBhvr>
                                        <p:cTn id="78" dur="1000" fill="hold"/>
                                        <p:tgtEl>
                                          <p:spTgt spid="561168"/>
                                        </p:tgtEl>
                                        <p:attrNameLst>
                                          <p:attrName>ppt_x</p:attrName>
                                        </p:attrNameLst>
                                      </p:cBhvr>
                                      <p:tavLst>
                                        <p:tav tm="0">
                                          <p:val>
                                            <p:strVal val="#ppt_x"/>
                                          </p:val>
                                        </p:tav>
                                        <p:tav tm="100000">
                                          <p:val>
                                            <p:strVal val="#ppt_x"/>
                                          </p:val>
                                        </p:tav>
                                      </p:tavLst>
                                    </p:anim>
                                    <p:anim calcmode="lin" valueType="num">
                                      <p:cBhvr>
                                        <p:cTn id="79" dur="1000" fill="hold"/>
                                        <p:tgtEl>
                                          <p:spTgt spid="56116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1154" grpId="0" animBg="1"/>
      <p:bldP spid="561156" grpId="0" animBg="1"/>
      <p:bldP spid="561158" grpId="0" animBg="1"/>
      <p:bldP spid="561160" grpId="0" animBg="1"/>
      <p:bldP spid="561161" grpId="0" animBg="1"/>
      <p:bldP spid="561163" grpId="0" animBg="1"/>
      <p:bldP spid="561164" grpId="0" animBg="1"/>
      <p:bldP spid="561165" grpId="0" animBg="1"/>
      <p:bldP spid="561166" grpId="0" animBg="1"/>
      <p:bldP spid="561167" grpId="0" animBg="1"/>
      <p:bldP spid="561168"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p:cNvSpPr>
            <a:spLocks noGrp="1" noChangeArrowheads="1"/>
          </p:cNvSpPr>
          <p:nvPr>
            <p:ph type="title"/>
          </p:nvPr>
        </p:nvSpPr>
        <p:spPr>
          <a:noFill/>
          <a:effectLst>
            <a:outerShdw dist="17961" dir="2700000" algn="ctr" rotWithShape="0">
              <a:schemeClr val="tx1"/>
            </a:outerShdw>
          </a:effectLst>
        </p:spPr>
        <p:txBody>
          <a:bodyPr anchor="ctr"/>
          <a:lstStyle/>
          <a:p>
            <a:r>
              <a:rPr lang="zh-CN" altLang="en-US" sz="3300">
                <a:ea typeface="隶书" panose="02010509060101010101" pitchFamily="49" charset="-122"/>
              </a:rPr>
              <a:t>小结</a:t>
            </a:r>
          </a:p>
        </p:txBody>
      </p:sp>
      <p:sp>
        <p:nvSpPr>
          <p:cNvPr id="563203" name="Text Box 3"/>
          <p:cNvSpPr txBox="1">
            <a:spLocks noChangeArrowheads="1"/>
          </p:cNvSpPr>
          <p:nvPr/>
        </p:nvSpPr>
        <p:spPr bwMode="auto">
          <a:xfrm>
            <a:off x="1476375" y="2914650"/>
            <a:ext cx="914400" cy="73025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lIns="0" tIns="0" rIns="0" bIns="0">
            <a:spAutoFit/>
          </a:bodyPr>
          <a:lstStyle/>
          <a:p>
            <a:r>
              <a:rPr lang="en-US" altLang="en-US" sz="2400" b="1">
                <a:solidFill>
                  <a:srgbClr val="003399"/>
                </a:solidFill>
                <a:effectLst>
                  <a:outerShdw blurRad="38100" dist="38100" dir="2700000" algn="tl">
                    <a:srgbClr val="C0C0C0"/>
                  </a:outerShdw>
                </a:effectLst>
                <a:latin typeface="仿宋_GB2312" pitchFamily="49" charset="-122"/>
                <a:ea typeface="仿宋_GB2312" pitchFamily="49" charset="-122"/>
              </a:rPr>
              <a:t>不需要</a:t>
            </a:r>
            <a:endParaRPr lang="en-US" altLang="zh-CN" sz="2400" b="1">
              <a:solidFill>
                <a:srgbClr val="003399"/>
              </a:solidFill>
              <a:effectLst>
                <a:outerShdw blurRad="38100" dist="38100" dir="2700000" algn="tl">
                  <a:srgbClr val="C0C0C0"/>
                </a:outerShdw>
              </a:effectLst>
              <a:latin typeface="仿宋_GB2312" pitchFamily="49" charset="-122"/>
              <a:ea typeface="仿宋_GB2312" pitchFamily="49" charset="-122"/>
            </a:endParaRPr>
          </a:p>
          <a:p>
            <a:r>
              <a:rPr lang="en-US" altLang="en-US" sz="2400" b="1">
                <a:solidFill>
                  <a:srgbClr val="003399"/>
                </a:solidFill>
                <a:effectLst>
                  <a:outerShdw blurRad="38100" dist="38100" dir="2700000" algn="tl">
                    <a:srgbClr val="C0C0C0"/>
                  </a:outerShdw>
                </a:effectLst>
                <a:latin typeface="仿宋_GB2312" pitchFamily="49" charset="-122"/>
                <a:ea typeface="仿宋_GB2312" pitchFamily="49" charset="-122"/>
              </a:rPr>
              <a:t>Redo</a:t>
            </a:r>
            <a:endParaRPr lang="zh-CN" altLang="en-US" sz="2400" b="1">
              <a:solidFill>
                <a:srgbClr val="003399"/>
              </a:solidFill>
              <a:effectLst>
                <a:outerShdw blurRad="38100" dist="38100" dir="2700000" algn="tl">
                  <a:srgbClr val="C0C0C0"/>
                </a:outerShdw>
              </a:effectLst>
              <a:latin typeface="仿宋_GB2312" pitchFamily="49" charset="-122"/>
              <a:ea typeface="仿宋_GB2312" pitchFamily="49" charset="-122"/>
            </a:endParaRPr>
          </a:p>
        </p:txBody>
      </p:sp>
      <p:sp>
        <p:nvSpPr>
          <p:cNvPr id="563204" name="Text Box 4"/>
          <p:cNvSpPr txBox="1">
            <a:spLocks noChangeArrowheads="1"/>
          </p:cNvSpPr>
          <p:nvPr/>
        </p:nvSpPr>
        <p:spPr bwMode="auto">
          <a:xfrm>
            <a:off x="3419475" y="3711575"/>
            <a:ext cx="609600" cy="36512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lIns="0" tIns="0" rIns="0" bIns="0">
            <a:spAutoFit/>
          </a:bodyPr>
          <a:lstStyle/>
          <a:p>
            <a:r>
              <a:rPr lang="en-US" altLang="en-US" sz="2400" b="1">
                <a:solidFill>
                  <a:srgbClr val="003399"/>
                </a:solidFill>
                <a:effectLst>
                  <a:outerShdw blurRad="38100" dist="38100" dir="2700000" algn="tl">
                    <a:srgbClr val="C0C0C0"/>
                  </a:outerShdw>
                </a:effectLst>
                <a:latin typeface="仿宋_GB2312" pitchFamily="49" charset="-122"/>
                <a:ea typeface="仿宋_GB2312" pitchFamily="49" charset="-122"/>
              </a:rPr>
              <a:t>Redo</a:t>
            </a:r>
            <a:endParaRPr lang="zh-CN" altLang="en-US" sz="2400" b="1">
              <a:solidFill>
                <a:srgbClr val="003399"/>
              </a:solidFill>
              <a:effectLst>
                <a:outerShdw blurRad="38100" dist="38100" dir="2700000" algn="tl">
                  <a:srgbClr val="C0C0C0"/>
                </a:outerShdw>
              </a:effectLst>
              <a:latin typeface="仿宋_GB2312" pitchFamily="49" charset="-122"/>
              <a:ea typeface="仿宋_GB2312" pitchFamily="49" charset="-122"/>
            </a:endParaRPr>
          </a:p>
        </p:txBody>
      </p:sp>
      <p:sp>
        <p:nvSpPr>
          <p:cNvPr id="563205" name="Text Box 5"/>
          <p:cNvSpPr txBox="1">
            <a:spLocks noChangeArrowheads="1"/>
          </p:cNvSpPr>
          <p:nvPr/>
        </p:nvSpPr>
        <p:spPr bwMode="auto">
          <a:xfrm>
            <a:off x="6948488" y="4503738"/>
            <a:ext cx="609600" cy="36512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lIns="0" tIns="0" rIns="0" bIns="0">
            <a:spAutoFit/>
          </a:bodyPr>
          <a:lstStyle/>
          <a:p>
            <a:r>
              <a:rPr lang="en-US" altLang="en-US" sz="2400" b="1">
                <a:solidFill>
                  <a:srgbClr val="003399"/>
                </a:solidFill>
                <a:effectLst>
                  <a:outerShdw blurRad="38100" dist="38100" dir="2700000" algn="tl">
                    <a:srgbClr val="C0C0C0"/>
                  </a:outerShdw>
                </a:effectLst>
                <a:latin typeface="仿宋_GB2312" pitchFamily="49" charset="-122"/>
                <a:ea typeface="仿宋_GB2312" pitchFamily="49" charset="-122"/>
              </a:rPr>
              <a:t>Undo</a:t>
            </a:r>
            <a:endParaRPr lang="zh-CN" altLang="en-US" sz="2400" b="1">
              <a:solidFill>
                <a:srgbClr val="003399"/>
              </a:solidFill>
              <a:effectLst>
                <a:outerShdw blurRad="38100" dist="38100" dir="2700000" algn="tl">
                  <a:srgbClr val="C0C0C0"/>
                </a:outerShdw>
              </a:effectLst>
              <a:latin typeface="仿宋_GB2312" pitchFamily="49" charset="-122"/>
              <a:ea typeface="仿宋_GB2312" pitchFamily="49" charset="-122"/>
            </a:endParaRPr>
          </a:p>
        </p:txBody>
      </p:sp>
      <p:sp>
        <p:nvSpPr>
          <p:cNvPr id="563206" name="Text Box 6"/>
          <p:cNvSpPr txBox="1">
            <a:spLocks noChangeArrowheads="1"/>
          </p:cNvSpPr>
          <p:nvPr/>
        </p:nvSpPr>
        <p:spPr bwMode="auto">
          <a:xfrm>
            <a:off x="5003800" y="5151438"/>
            <a:ext cx="609600" cy="36512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lIns="0" tIns="0" rIns="0" bIns="0">
            <a:spAutoFit/>
          </a:bodyPr>
          <a:lstStyle/>
          <a:p>
            <a:r>
              <a:rPr lang="en-US" altLang="en-US" sz="2400" b="1">
                <a:solidFill>
                  <a:srgbClr val="003399"/>
                </a:solidFill>
                <a:effectLst>
                  <a:outerShdw blurRad="38100" dist="38100" dir="2700000" algn="tl">
                    <a:srgbClr val="C0C0C0"/>
                  </a:outerShdw>
                </a:effectLst>
                <a:latin typeface="仿宋_GB2312" pitchFamily="49" charset="-122"/>
                <a:ea typeface="仿宋_GB2312" pitchFamily="49" charset="-122"/>
              </a:rPr>
              <a:t>Redo</a:t>
            </a:r>
            <a:endParaRPr lang="zh-CN" altLang="en-US" sz="2400" b="1">
              <a:solidFill>
                <a:srgbClr val="003399"/>
              </a:solidFill>
              <a:effectLst>
                <a:outerShdw blurRad="38100" dist="38100" dir="2700000" algn="tl">
                  <a:srgbClr val="C0C0C0"/>
                </a:outerShdw>
              </a:effectLst>
              <a:latin typeface="仿宋_GB2312" pitchFamily="49" charset="-122"/>
              <a:ea typeface="仿宋_GB2312" pitchFamily="49" charset="-122"/>
            </a:endParaRPr>
          </a:p>
        </p:txBody>
      </p:sp>
      <p:grpSp>
        <p:nvGrpSpPr>
          <p:cNvPr id="563207" name="Group 7"/>
          <p:cNvGrpSpPr/>
          <p:nvPr/>
        </p:nvGrpSpPr>
        <p:grpSpPr bwMode="auto">
          <a:xfrm>
            <a:off x="611188" y="1989138"/>
            <a:ext cx="7453312" cy="4535487"/>
            <a:chOff x="385" y="615"/>
            <a:chExt cx="5029" cy="3223"/>
          </a:xfrm>
        </p:grpSpPr>
        <p:grpSp>
          <p:nvGrpSpPr>
            <p:cNvPr id="563208" name="Group 8"/>
            <p:cNvGrpSpPr/>
            <p:nvPr/>
          </p:nvGrpSpPr>
          <p:grpSpPr bwMode="auto">
            <a:xfrm>
              <a:off x="385" y="890"/>
              <a:ext cx="4536" cy="2948"/>
              <a:chOff x="2157" y="1752"/>
              <a:chExt cx="7020" cy="3588"/>
            </a:xfrm>
          </p:grpSpPr>
          <p:sp>
            <p:nvSpPr>
              <p:cNvPr id="563209" name="Line 9"/>
              <p:cNvSpPr>
                <a:spLocks noChangeShapeType="1"/>
              </p:cNvSpPr>
              <p:nvPr/>
            </p:nvSpPr>
            <p:spPr bwMode="auto">
              <a:xfrm>
                <a:off x="2157" y="1908"/>
                <a:ext cx="7020" cy="0"/>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210" name="Line 10"/>
              <p:cNvSpPr>
                <a:spLocks noChangeShapeType="1"/>
              </p:cNvSpPr>
              <p:nvPr/>
            </p:nvSpPr>
            <p:spPr bwMode="auto">
              <a:xfrm>
                <a:off x="4137" y="1752"/>
                <a:ext cx="0" cy="3588"/>
              </a:xfrm>
              <a:prstGeom prst="line">
                <a:avLst/>
              </a:prstGeom>
              <a:noFill/>
              <a:ln w="28575">
                <a:solidFill>
                  <a:schemeClr val="bg2"/>
                </a:solidFill>
                <a:prstDash val="dash"/>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211" name="Line 11"/>
              <p:cNvSpPr>
                <a:spLocks noChangeShapeType="1"/>
              </p:cNvSpPr>
              <p:nvPr/>
            </p:nvSpPr>
            <p:spPr bwMode="auto">
              <a:xfrm>
                <a:off x="7377" y="1752"/>
                <a:ext cx="0" cy="3588"/>
              </a:xfrm>
              <a:prstGeom prst="line">
                <a:avLst/>
              </a:prstGeom>
              <a:noFill/>
              <a:ln w="28575">
                <a:solidFill>
                  <a:schemeClr val="bg2"/>
                </a:solidFill>
                <a:prstDash val="dash"/>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212" name="Line 12"/>
              <p:cNvSpPr>
                <a:spLocks noChangeShapeType="1"/>
              </p:cNvSpPr>
              <p:nvPr/>
            </p:nvSpPr>
            <p:spPr bwMode="auto">
              <a:xfrm>
                <a:off x="2157" y="2376"/>
                <a:ext cx="0" cy="312"/>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213" name="Line 13"/>
              <p:cNvSpPr>
                <a:spLocks noChangeShapeType="1"/>
              </p:cNvSpPr>
              <p:nvPr/>
            </p:nvSpPr>
            <p:spPr bwMode="auto">
              <a:xfrm>
                <a:off x="2157" y="2532"/>
                <a:ext cx="720" cy="0"/>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214" name="Line 14"/>
              <p:cNvSpPr>
                <a:spLocks noChangeShapeType="1"/>
              </p:cNvSpPr>
              <p:nvPr/>
            </p:nvSpPr>
            <p:spPr bwMode="auto">
              <a:xfrm>
                <a:off x="2877" y="2376"/>
                <a:ext cx="0" cy="312"/>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215" name="Line 15"/>
              <p:cNvSpPr>
                <a:spLocks noChangeShapeType="1"/>
              </p:cNvSpPr>
              <p:nvPr/>
            </p:nvSpPr>
            <p:spPr bwMode="auto">
              <a:xfrm>
                <a:off x="2697" y="3000"/>
                <a:ext cx="0" cy="312"/>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216" name="Line 16"/>
              <p:cNvSpPr>
                <a:spLocks noChangeShapeType="1"/>
              </p:cNvSpPr>
              <p:nvPr/>
            </p:nvSpPr>
            <p:spPr bwMode="auto">
              <a:xfrm>
                <a:off x="2697" y="3156"/>
                <a:ext cx="2160" cy="0"/>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217" name="Line 17"/>
              <p:cNvSpPr>
                <a:spLocks noChangeShapeType="1"/>
              </p:cNvSpPr>
              <p:nvPr/>
            </p:nvSpPr>
            <p:spPr bwMode="auto">
              <a:xfrm>
                <a:off x="4857" y="3000"/>
                <a:ext cx="0" cy="312"/>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218" name="Line 18"/>
              <p:cNvSpPr>
                <a:spLocks noChangeShapeType="1"/>
              </p:cNvSpPr>
              <p:nvPr/>
            </p:nvSpPr>
            <p:spPr bwMode="auto">
              <a:xfrm>
                <a:off x="3237" y="3624"/>
                <a:ext cx="0" cy="312"/>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219" name="Line 19"/>
              <p:cNvSpPr>
                <a:spLocks noChangeShapeType="1"/>
              </p:cNvSpPr>
              <p:nvPr/>
            </p:nvSpPr>
            <p:spPr bwMode="auto">
              <a:xfrm>
                <a:off x="3237" y="3780"/>
                <a:ext cx="4140" cy="0"/>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220" name="Line 20"/>
              <p:cNvSpPr>
                <a:spLocks noChangeShapeType="1"/>
              </p:cNvSpPr>
              <p:nvPr/>
            </p:nvSpPr>
            <p:spPr bwMode="auto">
              <a:xfrm>
                <a:off x="7377" y="3780"/>
                <a:ext cx="1080" cy="0"/>
              </a:xfrm>
              <a:prstGeom prst="line">
                <a:avLst/>
              </a:prstGeom>
              <a:noFill/>
              <a:ln w="28575">
                <a:solidFill>
                  <a:schemeClr val="bg2"/>
                </a:solidFill>
                <a:prstDash val="lgDash"/>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221" name="Line 21"/>
              <p:cNvSpPr>
                <a:spLocks noChangeShapeType="1"/>
              </p:cNvSpPr>
              <p:nvPr/>
            </p:nvSpPr>
            <p:spPr bwMode="auto">
              <a:xfrm>
                <a:off x="8457" y="3624"/>
                <a:ext cx="0" cy="312"/>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222" name="Line 22"/>
              <p:cNvSpPr>
                <a:spLocks noChangeShapeType="1"/>
              </p:cNvSpPr>
              <p:nvPr/>
            </p:nvSpPr>
            <p:spPr bwMode="auto">
              <a:xfrm>
                <a:off x="4317" y="4248"/>
                <a:ext cx="0" cy="312"/>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223" name="Line 23"/>
              <p:cNvSpPr>
                <a:spLocks noChangeShapeType="1"/>
              </p:cNvSpPr>
              <p:nvPr/>
            </p:nvSpPr>
            <p:spPr bwMode="auto">
              <a:xfrm>
                <a:off x="4317" y="4404"/>
                <a:ext cx="2160" cy="0"/>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224" name="Line 24"/>
              <p:cNvSpPr>
                <a:spLocks noChangeShapeType="1"/>
              </p:cNvSpPr>
              <p:nvPr/>
            </p:nvSpPr>
            <p:spPr bwMode="auto">
              <a:xfrm>
                <a:off x="6477" y="4248"/>
                <a:ext cx="0" cy="312"/>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225" name="Line 25"/>
              <p:cNvSpPr>
                <a:spLocks noChangeShapeType="1"/>
              </p:cNvSpPr>
              <p:nvPr/>
            </p:nvSpPr>
            <p:spPr bwMode="auto">
              <a:xfrm>
                <a:off x="5217" y="4872"/>
                <a:ext cx="0" cy="312"/>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226" name="Line 26"/>
              <p:cNvSpPr>
                <a:spLocks noChangeShapeType="1"/>
              </p:cNvSpPr>
              <p:nvPr/>
            </p:nvSpPr>
            <p:spPr bwMode="auto">
              <a:xfrm>
                <a:off x="5217" y="5028"/>
                <a:ext cx="2340" cy="0"/>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227" name="Line 27"/>
              <p:cNvSpPr>
                <a:spLocks noChangeShapeType="1"/>
              </p:cNvSpPr>
              <p:nvPr/>
            </p:nvSpPr>
            <p:spPr bwMode="auto">
              <a:xfrm>
                <a:off x="8097" y="4872"/>
                <a:ext cx="0" cy="312"/>
              </a:xfrm>
              <a:prstGeom prst="line">
                <a:avLst/>
              </a:prstGeom>
              <a:noFill/>
              <a:ln w="28575">
                <a:solidFill>
                  <a:schemeClr val="bg2"/>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228" name="Line 28"/>
              <p:cNvSpPr>
                <a:spLocks noChangeShapeType="1"/>
              </p:cNvSpPr>
              <p:nvPr/>
            </p:nvSpPr>
            <p:spPr bwMode="auto">
              <a:xfrm>
                <a:off x="7557" y="5028"/>
                <a:ext cx="540" cy="0"/>
              </a:xfrm>
              <a:prstGeom prst="line">
                <a:avLst/>
              </a:prstGeom>
              <a:noFill/>
              <a:ln w="28575">
                <a:solidFill>
                  <a:schemeClr val="bg2"/>
                </a:solidFill>
                <a:prstDash val="lgDash"/>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sp>
          <p:nvSpPr>
            <p:cNvPr id="563229" name="Text Box 29"/>
            <p:cNvSpPr txBox="1">
              <a:spLocks noChangeArrowheads="1"/>
            </p:cNvSpPr>
            <p:nvPr/>
          </p:nvSpPr>
          <p:spPr bwMode="auto">
            <a:xfrm>
              <a:off x="1111" y="615"/>
              <a:ext cx="1131" cy="259"/>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lIns="0" tIns="0" rIns="0" bIns="0">
              <a:spAutoFit/>
            </a:bodyPr>
            <a:lstStyle/>
            <a:p>
              <a:r>
                <a:rPr lang="en-US" altLang="zh-CN" sz="2400" b="1">
                  <a:solidFill>
                    <a:schemeClr val="bg2"/>
                  </a:solidFill>
                  <a:effectLst>
                    <a:outerShdw blurRad="38100" dist="38100" dir="2700000" algn="tl">
                      <a:srgbClr val="C0C0C0"/>
                    </a:outerShdw>
                  </a:effectLst>
                  <a:latin typeface="仿宋_GB2312" pitchFamily="49" charset="-122"/>
                  <a:ea typeface="仿宋_GB2312" pitchFamily="49" charset="-122"/>
                </a:rPr>
                <a:t>Tc(</a:t>
              </a:r>
              <a:r>
                <a:rPr lang="zh-CN" altLang="en-US" sz="2400" b="1">
                  <a:solidFill>
                    <a:schemeClr val="bg2"/>
                  </a:solidFill>
                  <a:effectLst>
                    <a:outerShdw blurRad="38100" dist="38100" dir="2700000" algn="tl">
                      <a:srgbClr val="C0C0C0"/>
                    </a:outerShdw>
                  </a:effectLst>
                  <a:latin typeface="仿宋_GB2312" pitchFamily="49" charset="-122"/>
                  <a:ea typeface="仿宋_GB2312" pitchFamily="49" charset="-122"/>
                </a:rPr>
                <a:t>检查点</a:t>
              </a:r>
              <a:r>
                <a:rPr lang="en-US" altLang="zh-CN" sz="2400" b="1">
                  <a:solidFill>
                    <a:schemeClr val="bg2"/>
                  </a:solidFill>
                  <a:effectLst>
                    <a:outerShdw blurRad="38100" dist="38100" dir="2700000" algn="tl">
                      <a:srgbClr val="C0C0C0"/>
                    </a:outerShdw>
                  </a:effectLst>
                  <a:latin typeface="仿宋_GB2312" pitchFamily="49" charset="-122"/>
                  <a:ea typeface="仿宋_GB2312" pitchFamily="49" charset="-122"/>
                </a:rPr>
                <a:t>) </a:t>
              </a:r>
              <a:endParaRPr lang="zh-CN" altLang="en-US" sz="2400" b="1">
                <a:solidFill>
                  <a:schemeClr val="bg2"/>
                </a:solidFill>
                <a:effectLst>
                  <a:outerShdw blurRad="38100" dist="38100" dir="2700000" algn="tl">
                    <a:srgbClr val="C0C0C0"/>
                  </a:outerShdw>
                </a:effectLst>
                <a:latin typeface="仿宋_GB2312" pitchFamily="49" charset="-122"/>
                <a:ea typeface="仿宋_GB2312" pitchFamily="49" charset="-122"/>
              </a:endParaRPr>
            </a:p>
          </p:txBody>
        </p:sp>
        <p:sp>
          <p:nvSpPr>
            <p:cNvPr id="563230" name="Text Box 30"/>
            <p:cNvSpPr txBox="1">
              <a:spLocks noChangeArrowheads="1"/>
            </p:cNvSpPr>
            <p:nvPr/>
          </p:nvSpPr>
          <p:spPr bwMode="auto">
            <a:xfrm>
              <a:off x="3207" y="617"/>
              <a:ext cx="1234" cy="26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lIns="0" tIns="0" rIns="0" bIns="0">
              <a:spAutoFit/>
            </a:bodyPr>
            <a:lstStyle/>
            <a:p>
              <a:r>
                <a:rPr lang="en-US" altLang="en-US" sz="2400" b="1">
                  <a:solidFill>
                    <a:schemeClr val="bg2"/>
                  </a:solidFill>
                  <a:effectLst>
                    <a:outerShdw blurRad="38100" dist="38100" dir="2700000" algn="tl">
                      <a:srgbClr val="C0C0C0"/>
                    </a:outerShdw>
                  </a:effectLst>
                  <a:latin typeface="仿宋_GB2312" pitchFamily="49" charset="-122"/>
                  <a:ea typeface="仿宋_GB2312" pitchFamily="49" charset="-122"/>
                </a:rPr>
                <a:t>Tf(系统故障)</a:t>
              </a:r>
              <a:endParaRPr lang="zh-CN" altLang="en-US" sz="2400" b="1">
                <a:solidFill>
                  <a:schemeClr val="bg2"/>
                </a:solidFill>
                <a:effectLst>
                  <a:outerShdw blurRad="38100" dist="38100" dir="2700000" algn="tl">
                    <a:srgbClr val="C0C0C0"/>
                  </a:outerShdw>
                </a:effectLst>
                <a:latin typeface="仿宋_GB2312" pitchFamily="49" charset="-122"/>
                <a:ea typeface="仿宋_GB2312" pitchFamily="49" charset="-122"/>
              </a:endParaRPr>
            </a:p>
          </p:txBody>
        </p:sp>
        <p:sp>
          <p:nvSpPr>
            <p:cNvPr id="563231" name="Text Box 31"/>
            <p:cNvSpPr txBox="1">
              <a:spLocks noChangeArrowheads="1"/>
            </p:cNvSpPr>
            <p:nvPr/>
          </p:nvSpPr>
          <p:spPr bwMode="auto">
            <a:xfrm>
              <a:off x="5002" y="881"/>
              <a:ext cx="412" cy="26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lIns="0" tIns="0" rIns="0" bIns="0">
              <a:spAutoFit/>
            </a:bodyPr>
            <a:lstStyle/>
            <a:p>
              <a:r>
                <a:rPr lang="en-US" altLang="en-US" sz="2400" b="1">
                  <a:solidFill>
                    <a:schemeClr val="bg2"/>
                  </a:solidFill>
                  <a:effectLst>
                    <a:outerShdw blurRad="38100" dist="38100" dir="2700000" algn="tl">
                      <a:srgbClr val="C0C0C0"/>
                    </a:outerShdw>
                  </a:effectLst>
                  <a:latin typeface="仿宋_GB2312" pitchFamily="49" charset="-122"/>
                  <a:ea typeface="仿宋_GB2312" pitchFamily="49" charset="-122"/>
                </a:rPr>
                <a:t>时间</a:t>
              </a:r>
              <a:endParaRPr lang="zh-CN" altLang="en-US" sz="2400" b="1">
                <a:solidFill>
                  <a:schemeClr val="bg2"/>
                </a:solidFill>
                <a:effectLst>
                  <a:outerShdw blurRad="38100" dist="38100" dir="2700000" algn="tl">
                    <a:srgbClr val="C0C0C0"/>
                  </a:outerShdw>
                </a:effectLst>
                <a:latin typeface="仿宋_GB2312" pitchFamily="49" charset="-122"/>
                <a:ea typeface="仿宋_GB2312" pitchFamily="49" charset="-122"/>
              </a:endParaRPr>
            </a:p>
          </p:txBody>
        </p:sp>
        <p:sp>
          <p:nvSpPr>
            <p:cNvPr id="563232" name="Text Box 32"/>
            <p:cNvSpPr txBox="1">
              <a:spLocks noChangeArrowheads="1"/>
            </p:cNvSpPr>
            <p:nvPr/>
          </p:nvSpPr>
          <p:spPr bwMode="auto">
            <a:xfrm>
              <a:off x="521" y="1207"/>
              <a:ext cx="206" cy="26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lIns="0" tIns="0" rIns="0" bIns="0">
              <a:spAutoFit/>
            </a:bodyPr>
            <a:lstStyle/>
            <a:p>
              <a:r>
                <a:rPr lang="en-US" altLang="en-US" sz="2400" b="1">
                  <a:solidFill>
                    <a:schemeClr val="bg2"/>
                  </a:solidFill>
                  <a:effectLst>
                    <a:outerShdw blurRad="38100" dist="38100" dir="2700000" algn="tl">
                      <a:srgbClr val="C0C0C0"/>
                    </a:outerShdw>
                  </a:effectLst>
                  <a:latin typeface="仿宋_GB2312" pitchFamily="49" charset="-122"/>
                  <a:ea typeface="仿宋_GB2312" pitchFamily="49" charset="-122"/>
                </a:rPr>
                <a:t>T1</a:t>
              </a:r>
              <a:endParaRPr lang="zh-CN" altLang="en-US" sz="2400" b="1">
                <a:solidFill>
                  <a:schemeClr val="bg2"/>
                </a:solidFill>
                <a:effectLst>
                  <a:outerShdw blurRad="38100" dist="38100" dir="2700000" algn="tl">
                    <a:srgbClr val="C0C0C0"/>
                  </a:outerShdw>
                </a:effectLst>
                <a:latin typeface="仿宋_GB2312" pitchFamily="49" charset="-122"/>
                <a:ea typeface="仿宋_GB2312" pitchFamily="49" charset="-122"/>
              </a:endParaRPr>
            </a:p>
          </p:txBody>
        </p:sp>
        <p:sp>
          <p:nvSpPr>
            <p:cNvPr id="563233" name="Text Box 33"/>
            <p:cNvSpPr txBox="1">
              <a:spLocks noChangeArrowheads="1"/>
            </p:cNvSpPr>
            <p:nvPr/>
          </p:nvSpPr>
          <p:spPr bwMode="auto">
            <a:xfrm>
              <a:off x="1293" y="1752"/>
              <a:ext cx="206" cy="26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lIns="0" tIns="0" rIns="0" bIns="0">
              <a:spAutoFit/>
            </a:bodyPr>
            <a:lstStyle/>
            <a:p>
              <a:r>
                <a:rPr lang="en-US" altLang="en-US" sz="2400" b="1">
                  <a:solidFill>
                    <a:schemeClr val="bg2"/>
                  </a:solidFill>
                  <a:effectLst>
                    <a:outerShdw blurRad="38100" dist="38100" dir="2700000" algn="tl">
                      <a:srgbClr val="C0C0C0"/>
                    </a:outerShdw>
                  </a:effectLst>
                  <a:latin typeface="仿宋_GB2312" pitchFamily="49" charset="-122"/>
                  <a:ea typeface="仿宋_GB2312" pitchFamily="49" charset="-122"/>
                </a:rPr>
                <a:t>T2</a:t>
              </a:r>
              <a:endParaRPr lang="zh-CN" altLang="en-US" sz="2400" b="1">
                <a:solidFill>
                  <a:schemeClr val="bg2"/>
                </a:solidFill>
                <a:effectLst>
                  <a:outerShdw blurRad="38100" dist="38100" dir="2700000" algn="tl">
                    <a:srgbClr val="C0C0C0"/>
                  </a:outerShdw>
                </a:effectLst>
                <a:latin typeface="仿宋_GB2312" pitchFamily="49" charset="-122"/>
                <a:ea typeface="仿宋_GB2312" pitchFamily="49" charset="-122"/>
              </a:endParaRPr>
            </a:p>
          </p:txBody>
        </p:sp>
        <p:sp>
          <p:nvSpPr>
            <p:cNvPr id="563234" name="Text Box 34"/>
            <p:cNvSpPr txBox="1">
              <a:spLocks noChangeArrowheads="1"/>
            </p:cNvSpPr>
            <p:nvPr/>
          </p:nvSpPr>
          <p:spPr bwMode="auto">
            <a:xfrm>
              <a:off x="2609" y="2251"/>
              <a:ext cx="205" cy="259"/>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lIns="0" tIns="0" rIns="0" bIns="0">
              <a:spAutoFit/>
            </a:bodyPr>
            <a:lstStyle/>
            <a:p>
              <a:r>
                <a:rPr lang="en-US" altLang="en-US" sz="2400" b="1">
                  <a:solidFill>
                    <a:schemeClr val="bg2"/>
                  </a:solidFill>
                  <a:effectLst>
                    <a:outerShdw blurRad="38100" dist="38100" dir="2700000" algn="tl">
                      <a:srgbClr val="C0C0C0"/>
                    </a:outerShdw>
                  </a:effectLst>
                  <a:latin typeface="仿宋_GB2312" pitchFamily="49" charset="-122"/>
                  <a:ea typeface="仿宋_GB2312" pitchFamily="49" charset="-122"/>
                </a:rPr>
                <a:t>T3</a:t>
              </a:r>
              <a:endParaRPr lang="zh-CN" altLang="en-US" sz="2400" b="1">
                <a:solidFill>
                  <a:schemeClr val="bg2"/>
                </a:solidFill>
                <a:effectLst>
                  <a:outerShdw blurRad="38100" dist="38100" dir="2700000" algn="tl">
                    <a:srgbClr val="C0C0C0"/>
                  </a:outerShdw>
                </a:effectLst>
                <a:latin typeface="仿宋_GB2312" pitchFamily="49" charset="-122"/>
                <a:ea typeface="仿宋_GB2312" pitchFamily="49" charset="-122"/>
              </a:endParaRPr>
            </a:p>
          </p:txBody>
        </p:sp>
        <p:sp>
          <p:nvSpPr>
            <p:cNvPr id="563235" name="Text Box 35"/>
            <p:cNvSpPr txBox="1">
              <a:spLocks noChangeArrowheads="1"/>
            </p:cNvSpPr>
            <p:nvPr/>
          </p:nvSpPr>
          <p:spPr bwMode="auto">
            <a:xfrm>
              <a:off x="2371" y="2792"/>
              <a:ext cx="205" cy="26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lIns="0" tIns="0" rIns="0" bIns="0">
              <a:spAutoFit/>
            </a:bodyPr>
            <a:lstStyle/>
            <a:p>
              <a:r>
                <a:rPr lang="en-US" altLang="en-US" sz="2400" b="1">
                  <a:solidFill>
                    <a:schemeClr val="bg2"/>
                  </a:solidFill>
                  <a:effectLst>
                    <a:outerShdw blurRad="38100" dist="38100" dir="2700000" algn="tl">
                      <a:srgbClr val="C0C0C0"/>
                    </a:outerShdw>
                  </a:effectLst>
                  <a:latin typeface="仿宋_GB2312" pitchFamily="49" charset="-122"/>
                  <a:ea typeface="仿宋_GB2312" pitchFamily="49" charset="-122"/>
                </a:rPr>
                <a:t>T4</a:t>
              </a:r>
              <a:endParaRPr lang="zh-CN" altLang="en-US" sz="2400" b="1">
                <a:solidFill>
                  <a:schemeClr val="bg2"/>
                </a:solidFill>
                <a:effectLst>
                  <a:outerShdw blurRad="38100" dist="38100" dir="2700000" algn="tl">
                    <a:srgbClr val="C0C0C0"/>
                  </a:outerShdw>
                </a:effectLst>
                <a:latin typeface="仿宋_GB2312" pitchFamily="49" charset="-122"/>
                <a:ea typeface="仿宋_GB2312" pitchFamily="49" charset="-122"/>
              </a:endParaRPr>
            </a:p>
          </p:txBody>
        </p:sp>
        <p:sp>
          <p:nvSpPr>
            <p:cNvPr id="563236" name="Text Box 36"/>
            <p:cNvSpPr txBox="1">
              <a:spLocks noChangeArrowheads="1"/>
            </p:cNvSpPr>
            <p:nvPr/>
          </p:nvSpPr>
          <p:spPr bwMode="auto">
            <a:xfrm>
              <a:off x="3142" y="3294"/>
              <a:ext cx="206" cy="26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lIns="0" tIns="0" rIns="0" bIns="0">
              <a:spAutoFit/>
            </a:bodyPr>
            <a:lstStyle/>
            <a:p>
              <a:r>
                <a:rPr lang="en-US" altLang="en-US" sz="2400" b="1">
                  <a:solidFill>
                    <a:schemeClr val="bg2"/>
                  </a:solidFill>
                  <a:effectLst>
                    <a:outerShdw blurRad="38100" dist="38100" dir="2700000" algn="tl">
                      <a:srgbClr val="C0C0C0"/>
                    </a:outerShdw>
                  </a:effectLst>
                  <a:latin typeface="仿宋_GB2312" pitchFamily="49" charset="-122"/>
                  <a:ea typeface="仿宋_GB2312" pitchFamily="49" charset="-122"/>
                </a:rPr>
                <a:t>T5</a:t>
              </a:r>
              <a:endParaRPr lang="zh-CN" altLang="en-US" sz="2400" b="1">
                <a:solidFill>
                  <a:schemeClr val="bg2"/>
                </a:solidFill>
                <a:effectLst>
                  <a:outerShdw blurRad="38100" dist="38100" dir="2700000" algn="tl">
                    <a:srgbClr val="C0C0C0"/>
                  </a:outerShdw>
                </a:effectLst>
                <a:latin typeface="仿宋_GB2312" pitchFamily="49" charset="-122"/>
                <a:ea typeface="仿宋_GB2312" pitchFamily="49" charset="-122"/>
              </a:endParaRPr>
            </a:p>
          </p:txBody>
        </p:sp>
      </p:grpSp>
      <p:sp>
        <p:nvSpPr>
          <p:cNvPr id="563237" name="Text Box 37"/>
          <p:cNvSpPr txBox="1">
            <a:spLocks noChangeArrowheads="1"/>
          </p:cNvSpPr>
          <p:nvPr/>
        </p:nvSpPr>
        <p:spPr bwMode="auto">
          <a:xfrm>
            <a:off x="6588125" y="5943600"/>
            <a:ext cx="609600" cy="36512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lIns="0" tIns="0" rIns="0" bIns="0">
            <a:spAutoFit/>
          </a:bodyPr>
          <a:lstStyle/>
          <a:p>
            <a:r>
              <a:rPr lang="en-US" altLang="en-US" sz="2400" b="1">
                <a:solidFill>
                  <a:srgbClr val="003399"/>
                </a:solidFill>
                <a:effectLst>
                  <a:outerShdw blurRad="38100" dist="38100" dir="2700000" algn="tl">
                    <a:srgbClr val="C0C0C0"/>
                  </a:outerShdw>
                </a:effectLst>
                <a:latin typeface="仿宋_GB2312" pitchFamily="49" charset="-122"/>
                <a:ea typeface="仿宋_GB2312" pitchFamily="49" charset="-122"/>
              </a:rPr>
              <a:t>Undo</a:t>
            </a:r>
            <a:endParaRPr lang="zh-CN" altLang="en-US" sz="2400" b="1">
              <a:solidFill>
                <a:srgbClr val="003399"/>
              </a:solidFill>
              <a:effectLst>
                <a:outerShdw blurRad="38100" dist="38100" dir="2700000" algn="tl">
                  <a:srgbClr val="C0C0C0"/>
                </a:outerShdw>
              </a:effectLst>
              <a:latin typeface="仿宋_GB2312" pitchFamily="49" charset="-122"/>
              <a:ea typeface="仿宋_GB2312" pitchFamily="49" charset="-122"/>
            </a:endParaRPr>
          </a:p>
        </p:txBody>
      </p:sp>
      <p:sp>
        <p:nvSpPr>
          <p:cNvPr id="563238" name="Rectangle 38"/>
          <p:cNvSpPr>
            <a:spLocks noChangeArrowheads="1"/>
          </p:cNvSpPr>
          <p:nvPr/>
        </p:nvSpPr>
        <p:spPr bwMode="auto">
          <a:xfrm>
            <a:off x="2124075" y="1052513"/>
            <a:ext cx="1584325" cy="576262"/>
          </a:xfrm>
          <a:prstGeom prst="rect">
            <a:avLst/>
          </a:prstGeom>
          <a:solidFill>
            <a:srgbClr val="CCFFFF"/>
          </a:solidFill>
          <a:ln w="9525">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bg2"/>
              </a:buClr>
              <a:buFont typeface="Monotype Sorts" pitchFamily="2" charset="2"/>
              <a:buNone/>
            </a:pPr>
            <a:r>
              <a:rPr lang="zh-CN" altLang="en-US" b="1">
                <a:solidFill>
                  <a:srgbClr val="003399"/>
                </a:solidFill>
                <a:effectLst>
                  <a:outerShdw blurRad="38100" dist="38100" dir="2700000" algn="tl">
                    <a:srgbClr val="000000"/>
                  </a:outerShdw>
                </a:effectLst>
                <a:latin typeface="黑体" panose="02010609060101010101" pitchFamily="49" charset="-122"/>
                <a:ea typeface="黑体" panose="02010609060101010101" pitchFamily="49" charset="-122"/>
              </a:rPr>
              <a:t>日志文件</a:t>
            </a:r>
          </a:p>
        </p:txBody>
      </p:sp>
      <p:sp>
        <p:nvSpPr>
          <p:cNvPr id="563239" name="Rectangle 39"/>
          <p:cNvSpPr>
            <a:spLocks noChangeArrowheads="1"/>
          </p:cNvSpPr>
          <p:nvPr/>
        </p:nvSpPr>
        <p:spPr bwMode="auto">
          <a:xfrm>
            <a:off x="4572000" y="1052513"/>
            <a:ext cx="1223963" cy="503237"/>
          </a:xfrm>
          <a:prstGeom prst="rect">
            <a:avLst/>
          </a:prstGeom>
          <a:solidFill>
            <a:srgbClr val="D5EFFF"/>
          </a:solidFill>
          <a:ln w="9525">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bg2"/>
              </a:buClr>
              <a:buFont typeface="Monotype Sorts" pitchFamily="2" charset="2"/>
              <a:buNone/>
            </a:pPr>
            <a:r>
              <a:rPr lang="zh-CN" altLang="en-US" sz="2200" b="1">
                <a:solidFill>
                  <a:srgbClr val="CC0066"/>
                </a:solidFill>
                <a:effectLst>
                  <a:outerShdw blurRad="38100" dist="38100" dir="2700000" algn="tl">
                    <a:srgbClr val="000000"/>
                  </a:outerShdw>
                </a:effectLst>
                <a:latin typeface="楷体_GB2312" pitchFamily="49" charset="-122"/>
                <a:ea typeface="楷体_GB2312" pitchFamily="49" charset="-122"/>
              </a:rPr>
              <a:t>检查点</a:t>
            </a:r>
          </a:p>
        </p:txBody>
      </p:sp>
      <p:sp>
        <p:nvSpPr>
          <p:cNvPr id="563240" name="AutoShape 40"/>
          <p:cNvSpPr>
            <a:spLocks noChangeArrowheads="1"/>
          </p:cNvSpPr>
          <p:nvPr/>
        </p:nvSpPr>
        <p:spPr bwMode="auto">
          <a:xfrm>
            <a:off x="3708400" y="1196975"/>
            <a:ext cx="863600" cy="287338"/>
          </a:xfrm>
          <a:prstGeom prst="rightArrow">
            <a:avLst>
              <a:gd name="adj1" fmla="val 49694"/>
              <a:gd name="adj2" fmla="val 30514"/>
            </a:avLst>
          </a:prstGeom>
          <a:solidFill>
            <a:srgbClr val="00FF00"/>
          </a:solidFill>
          <a:ln w="12700" cap="sq">
            <a:solidFill>
              <a:schemeClr val="tx1"/>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sp>
        <p:nvSpPr>
          <p:cNvPr id="563241" name="Text Box 41"/>
          <p:cNvSpPr txBox="1">
            <a:spLocks noChangeArrowheads="1"/>
          </p:cNvSpPr>
          <p:nvPr/>
        </p:nvSpPr>
        <p:spPr bwMode="auto">
          <a:xfrm>
            <a:off x="6734175" y="1052513"/>
            <a:ext cx="2014538" cy="504825"/>
          </a:xfrm>
          <a:prstGeom prst="rect">
            <a:avLst/>
          </a:prstGeom>
          <a:solidFill>
            <a:srgbClr val="006600"/>
          </a:solidFill>
          <a:ln w="9525" algn="ctr">
            <a:solidFill>
              <a:schemeClr val="tx2"/>
            </a:solidFill>
            <a:miter lim="800000"/>
          </a:ln>
          <a:effectLst>
            <a:outerShdw dist="35921" dir="2700000" algn="ctr" rotWithShape="0">
              <a:schemeClr val="tx2"/>
            </a:outerShdw>
          </a:effectLst>
        </p:spPr>
        <p:txBody>
          <a:bodyPr anchor="ctr" anchorCtr="1"/>
          <a:lstStyle/>
          <a:p>
            <a:pPr algn="ctr">
              <a:spcBef>
                <a:spcPct val="50000"/>
              </a:spcBef>
            </a:pPr>
            <a:r>
              <a:rPr kumimoji="1" lang="zh-CN" altLang="en-US" sz="2200" b="1">
                <a:solidFill>
                  <a:srgbClr val="FFFF00"/>
                </a:solidFill>
                <a:effectLst>
                  <a:outerShdw blurRad="38100" dist="38100" dir="2700000" algn="tl">
                    <a:srgbClr val="000000"/>
                  </a:outerShdw>
                </a:effectLst>
                <a:latin typeface="Times New Roman" panose="02020603050405020304" pitchFamily="18" charset="0"/>
              </a:rPr>
              <a:t>重新开始文件</a:t>
            </a:r>
            <a:endParaRPr kumimoji="1" lang="zh-CN" altLang="en-US" sz="2200" b="1">
              <a:solidFill>
                <a:schemeClr val="bg1"/>
              </a:solidFill>
              <a:latin typeface="Comic Sans MS" panose="030F0702030302020204" pitchFamily="66" charset="0"/>
              <a:ea typeface="黑体" panose="02010609060101010101" pitchFamily="49" charset="-122"/>
            </a:endParaRPr>
          </a:p>
        </p:txBody>
      </p:sp>
      <p:sp>
        <p:nvSpPr>
          <p:cNvPr id="563242" name="AutoShape 42"/>
          <p:cNvSpPr>
            <a:spLocks noChangeArrowheads="1"/>
          </p:cNvSpPr>
          <p:nvPr/>
        </p:nvSpPr>
        <p:spPr bwMode="auto">
          <a:xfrm flipH="1">
            <a:off x="5867400" y="1196975"/>
            <a:ext cx="863600" cy="287338"/>
          </a:xfrm>
          <a:prstGeom prst="rightArrow">
            <a:avLst>
              <a:gd name="adj1" fmla="val 49694"/>
              <a:gd name="adj2" fmla="val 30514"/>
            </a:avLst>
          </a:prstGeom>
          <a:solidFill>
            <a:srgbClr val="FFFF4F"/>
          </a:solidFill>
          <a:ln w="12700" cap="sq">
            <a:solidFill>
              <a:schemeClr val="tx1"/>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spTree>
    <p:custDataLst>
      <p:tags r:id="rId1"/>
    </p:custDataLst>
  </p:cSld>
  <p:clrMapOvr>
    <a:masterClrMapping/>
  </p:clrMapOvr>
  <p:transition advTm="13933"/>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63238"/>
                                        </p:tgtEl>
                                        <p:attrNameLst>
                                          <p:attrName>style.visibility</p:attrName>
                                        </p:attrNameLst>
                                      </p:cBhvr>
                                      <p:to>
                                        <p:strVal val="visible"/>
                                      </p:to>
                                    </p:set>
                                    <p:animEffect transition="in" filter="wipe(up)">
                                      <p:cBhvr>
                                        <p:cTn id="7" dur="500"/>
                                        <p:tgtEl>
                                          <p:spTgt spid="5632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63240"/>
                                        </p:tgtEl>
                                        <p:attrNameLst>
                                          <p:attrName>style.visibility</p:attrName>
                                        </p:attrNameLst>
                                      </p:cBhvr>
                                      <p:to>
                                        <p:strVal val="visible"/>
                                      </p:to>
                                    </p:set>
                                    <p:animEffect transition="in" filter="wipe(left)">
                                      <p:cBhvr>
                                        <p:cTn id="12" dur="500"/>
                                        <p:tgtEl>
                                          <p:spTgt spid="563240"/>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563239"/>
                                        </p:tgtEl>
                                        <p:attrNameLst>
                                          <p:attrName>style.visibility</p:attrName>
                                        </p:attrNameLst>
                                      </p:cBhvr>
                                      <p:to>
                                        <p:strVal val="visible"/>
                                      </p:to>
                                    </p:set>
                                    <p:animEffect transition="in" filter="wipe(left)">
                                      <p:cBhvr>
                                        <p:cTn id="15" dur="500"/>
                                        <p:tgtEl>
                                          <p:spTgt spid="56323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63241"/>
                                        </p:tgtEl>
                                        <p:attrNameLst>
                                          <p:attrName>style.visibility</p:attrName>
                                        </p:attrNameLst>
                                      </p:cBhvr>
                                      <p:to>
                                        <p:strVal val="visible"/>
                                      </p:to>
                                    </p:set>
                                    <p:animEffect transition="in" filter="wipe(left)">
                                      <p:cBhvr>
                                        <p:cTn id="20" dur="500"/>
                                        <p:tgtEl>
                                          <p:spTgt spid="563241"/>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563242"/>
                                        </p:tgtEl>
                                        <p:attrNameLst>
                                          <p:attrName>style.visibility</p:attrName>
                                        </p:attrNameLst>
                                      </p:cBhvr>
                                      <p:to>
                                        <p:strVal val="visible"/>
                                      </p:to>
                                    </p:set>
                                    <p:animEffect transition="in" filter="wipe(left)">
                                      <p:cBhvr>
                                        <p:cTn id="24" dur="500"/>
                                        <p:tgtEl>
                                          <p:spTgt spid="563242"/>
                                        </p:tgtEl>
                                      </p:cBhvr>
                                    </p:animEffect>
                                  </p:childTnLst>
                                </p:cTn>
                              </p:par>
                            </p:childTnLst>
                          </p:cTn>
                        </p:par>
                      </p:childTnLst>
                    </p:cTn>
                  </p:par>
                  <p:par>
                    <p:cTn id="25" fill="hold">
                      <p:stCondLst>
                        <p:cond delay="indefinite"/>
                      </p:stCondLst>
                      <p:childTnLst>
                        <p:par>
                          <p:cTn id="26" fill="hold">
                            <p:stCondLst>
                              <p:cond delay="0"/>
                            </p:stCondLst>
                            <p:childTnLst>
                              <p:par>
                                <p:cTn id="27" presetID="47" presetClass="entr" presetSubtype="0" fill="hold" nodeType="clickEffect">
                                  <p:stCondLst>
                                    <p:cond delay="0"/>
                                  </p:stCondLst>
                                  <p:childTnLst>
                                    <p:set>
                                      <p:cBhvr>
                                        <p:cTn id="28" dur="1" fill="hold">
                                          <p:stCondLst>
                                            <p:cond delay="0"/>
                                          </p:stCondLst>
                                        </p:cTn>
                                        <p:tgtEl>
                                          <p:spTgt spid="563207"/>
                                        </p:tgtEl>
                                        <p:attrNameLst>
                                          <p:attrName>style.visibility</p:attrName>
                                        </p:attrNameLst>
                                      </p:cBhvr>
                                      <p:to>
                                        <p:strVal val="visible"/>
                                      </p:to>
                                    </p:set>
                                    <p:animEffect transition="in" filter="fade">
                                      <p:cBhvr>
                                        <p:cTn id="29" dur="1000"/>
                                        <p:tgtEl>
                                          <p:spTgt spid="563207"/>
                                        </p:tgtEl>
                                      </p:cBhvr>
                                    </p:animEffect>
                                    <p:anim calcmode="lin" valueType="num">
                                      <p:cBhvr>
                                        <p:cTn id="30" dur="1000" fill="hold"/>
                                        <p:tgtEl>
                                          <p:spTgt spid="563207"/>
                                        </p:tgtEl>
                                        <p:attrNameLst>
                                          <p:attrName>ppt_x</p:attrName>
                                        </p:attrNameLst>
                                      </p:cBhvr>
                                      <p:tavLst>
                                        <p:tav tm="0">
                                          <p:val>
                                            <p:strVal val="#ppt_x"/>
                                          </p:val>
                                        </p:tav>
                                        <p:tav tm="100000">
                                          <p:val>
                                            <p:strVal val="#ppt_x"/>
                                          </p:val>
                                        </p:tav>
                                      </p:tavLst>
                                    </p:anim>
                                    <p:anim calcmode="lin" valueType="num">
                                      <p:cBhvr>
                                        <p:cTn id="31" dur="1000" fill="hold"/>
                                        <p:tgtEl>
                                          <p:spTgt spid="563207"/>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563203"/>
                                        </p:tgtEl>
                                        <p:attrNameLst>
                                          <p:attrName>style.visibility</p:attrName>
                                        </p:attrNameLst>
                                      </p:cBhvr>
                                      <p:to>
                                        <p:strVal val="visible"/>
                                      </p:to>
                                    </p:set>
                                    <p:anim calcmode="lin" valueType="num">
                                      <p:cBhvr>
                                        <p:cTn id="36" dur="1000" fill="hold"/>
                                        <p:tgtEl>
                                          <p:spTgt spid="563203"/>
                                        </p:tgtEl>
                                        <p:attrNameLst>
                                          <p:attrName>ppt_w</p:attrName>
                                        </p:attrNameLst>
                                      </p:cBhvr>
                                      <p:tavLst>
                                        <p:tav tm="0">
                                          <p:val>
                                            <p:fltVal val="0"/>
                                          </p:val>
                                        </p:tav>
                                        <p:tav tm="100000">
                                          <p:val>
                                            <p:strVal val="#ppt_w"/>
                                          </p:val>
                                        </p:tav>
                                      </p:tavLst>
                                    </p:anim>
                                    <p:anim calcmode="lin" valueType="num">
                                      <p:cBhvr>
                                        <p:cTn id="37" dur="1000" fill="hold"/>
                                        <p:tgtEl>
                                          <p:spTgt spid="563203"/>
                                        </p:tgtEl>
                                        <p:attrNameLst>
                                          <p:attrName>ppt_h</p:attrName>
                                        </p:attrNameLst>
                                      </p:cBhvr>
                                      <p:tavLst>
                                        <p:tav tm="0">
                                          <p:val>
                                            <p:fltVal val="0"/>
                                          </p:val>
                                        </p:tav>
                                        <p:tav tm="100000">
                                          <p:val>
                                            <p:strVal val="#ppt_h"/>
                                          </p:val>
                                        </p:tav>
                                      </p:tavLst>
                                    </p:anim>
                                    <p:animEffect transition="in" filter="fade">
                                      <p:cBhvr>
                                        <p:cTn id="38" dur="1000"/>
                                        <p:tgtEl>
                                          <p:spTgt spid="563203"/>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563204"/>
                                        </p:tgtEl>
                                        <p:attrNameLst>
                                          <p:attrName>style.visibility</p:attrName>
                                        </p:attrNameLst>
                                      </p:cBhvr>
                                      <p:to>
                                        <p:strVal val="visible"/>
                                      </p:to>
                                    </p:set>
                                    <p:anim calcmode="lin" valueType="num">
                                      <p:cBhvr>
                                        <p:cTn id="43" dur="1000" fill="hold"/>
                                        <p:tgtEl>
                                          <p:spTgt spid="563204"/>
                                        </p:tgtEl>
                                        <p:attrNameLst>
                                          <p:attrName>ppt_w</p:attrName>
                                        </p:attrNameLst>
                                      </p:cBhvr>
                                      <p:tavLst>
                                        <p:tav tm="0">
                                          <p:val>
                                            <p:fltVal val="0"/>
                                          </p:val>
                                        </p:tav>
                                        <p:tav tm="100000">
                                          <p:val>
                                            <p:strVal val="#ppt_w"/>
                                          </p:val>
                                        </p:tav>
                                      </p:tavLst>
                                    </p:anim>
                                    <p:anim calcmode="lin" valueType="num">
                                      <p:cBhvr>
                                        <p:cTn id="44" dur="1000" fill="hold"/>
                                        <p:tgtEl>
                                          <p:spTgt spid="563204"/>
                                        </p:tgtEl>
                                        <p:attrNameLst>
                                          <p:attrName>ppt_h</p:attrName>
                                        </p:attrNameLst>
                                      </p:cBhvr>
                                      <p:tavLst>
                                        <p:tav tm="0">
                                          <p:val>
                                            <p:fltVal val="0"/>
                                          </p:val>
                                        </p:tav>
                                        <p:tav tm="100000">
                                          <p:val>
                                            <p:strVal val="#ppt_h"/>
                                          </p:val>
                                        </p:tav>
                                      </p:tavLst>
                                    </p:anim>
                                    <p:animEffect transition="in" filter="fade">
                                      <p:cBhvr>
                                        <p:cTn id="45" dur="1000"/>
                                        <p:tgtEl>
                                          <p:spTgt spid="563204"/>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563205"/>
                                        </p:tgtEl>
                                        <p:attrNameLst>
                                          <p:attrName>style.visibility</p:attrName>
                                        </p:attrNameLst>
                                      </p:cBhvr>
                                      <p:to>
                                        <p:strVal val="visible"/>
                                      </p:to>
                                    </p:set>
                                    <p:anim calcmode="lin" valueType="num">
                                      <p:cBhvr>
                                        <p:cTn id="50" dur="1000" fill="hold"/>
                                        <p:tgtEl>
                                          <p:spTgt spid="563205"/>
                                        </p:tgtEl>
                                        <p:attrNameLst>
                                          <p:attrName>ppt_w</p:attrName>
                                        </p:attrNameLst>
                                      </p:cBhvr>
                                      <p:tavLst>
                                        <p:tav tm="0">
                                          <p:val>
                                            <p:fltVal val="0"/>
                                          </p:val>
                                        </p:tav>
                                        <p:tav tm="100000">
                                          <p:val>
                                            <p:strVal val="#ppt_w"/>
                                          </p:val>
                                        </p:tav>
                                      </p:tavLst>
                                    </p:anim>
                                    <p:anim calcmode="lin" valueType="num">
                                      <p:cBhvr>
                                        <p:cTn id="51" dur="1000" fill="hold"/>
                                        <p:tgtEl>
                                          <p:spTgt spid="563205"/>
                                        </p:tgtEl>
                                        <p:attrNameLst>
                                          <p:attrName>ppt_h</p:attrName>
                                        </p:attrNameLst>
                                      </p:cBhvr>
                                      <p:tavLst>
                                        <p:tav tm="0">
                                          <p:val>
                                            <p:fltVal val="0"/>
                                          </p:val>
                                        </p:tav>
                                        <p:tav tm="100000">
                                          <p:val>
                                            <p:strVal val="#ppt_h"/>
                                          </p:val>
                                        </p:tav>
                                      </p:tavLst>
                                    </p:anim>
                                    <p:animEffect transition="in" filter="fade">
                                      <p:cBhvr>
                                        <p:cTn id="52" dur="1000"/>
                                        <p:tgtEl>
                                          <p:spTgt spid="563205"/>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563206"/>
                                        </p:tgtEl>
                                        <p:attrNameLst>
                                          <p:attrName>style.visibility</p:attrName>
                                        </p:attrNameLst>
                                      </p:cBhvr>
                                      <p:to>
                                        <p:strVal val="visible"/>
                                      </p:to>
                                    </p:set>
                                    <p:anim calcmode="lin" valueType="num">
                                      <p:cBhvr>
                                        <p:cTn id="57" dur="1000" fill="hold"/>
                                        <p:tgtEl>
                                          <p:spTgt spid="563206"/>
                                        </p:tgtEl>
                                        <p:attrNameLst>
                                          <p:attrName>ppt_w</p:attrName>
                                        </p:attrNameLst>
                                      </p:cBhvr>
                                      <p:tavLst>
                                        <p:tav tm="0">
                                          <p:val>
                                            <p:fltVal val="0"/>
                                          </p:val>
                                        </p:tav>
                                        <p:tav tm="100000">
                                          <p:val>
                                            <p:strVal val="#ppt_w"/>
                                          </p:val>
                                        </p:tav>
                                      </p:tavLst>
                                    </p:anim>
                                    <p:anim calcmode="lin" valueType="num">
                                      <p:cBhvr>
                                        <p:cTn id="58" dur="1000" fill="hold"/>
                                        <p:tgtEl>
                                          <p:spTgt spid="563206"/>
                                        </p:tgtEl>
                                        <p:attrNameLst>
                                          <p:attrName>ppt_h</p:attrName>
                                        </p:attrNameLst>
                                      </p:cBhvr>
                                      <p:tavLst>
                                        <p:tav tm="0">
                                          <p:val>
                                            <p:fltVal val="0"/>
                                          </p:val>
                                        </p:tav>
                                        <p:tav tm="100000">
                                          <p:val>
                                            <p:strVal val="#ppt_h"/>
                                          </p:val>
                                        </p:tav>
                                      </p:tavLst>
                                    </p:anim>
                                    <p:animEffect transition="in" filter="fade">
                                      <p:cBhvr>
                                        <p:cTn id="59" dur="1000"/>
                                        <p:tgtEl>
                                          <p:spTgt spid="563206"/>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grpId="0" nodeType="clickEffect">
                                  <p:stCondLst>
                                    <p:cond delay="0"/>
                                  </p:stCondLst>
                                  <p:childTnLst>
                                    <p:set>
                                      <p:cBhvr>
                                        <p:cTn id="63" dur="1" fill="hold">
                                          <p:stCondLst>
                                            <p:cond delay="0"/>
                                          </p:stCondLst>
                                        </p:cTn>
                                        <p:tgtEl>
                                          <p:spTgt spid="563237"/>
                                        </p:tgtEl>
                                        <p:attrNameLst>
                                          <p:attrName>style.visibility</p:attrName>
                                        </p:attrNameLst>
                                      </p:cBhvr>
                                      <p:to>
                                        <p:strVal val="visible"/>
                                      </p:to>
                                    </p:set>
                                    <p:anim calcmode="lin" valueType="num">
                                      <p:cBhvr>
                                        <p:cTn id="64" dur="1000" fill="hold"/>
                                        <p:tgtEl>
                                          <p:spTgt spid="563237"/>
                                        </p:tgtEl>
                                        <p:attrNameLst>
                                          <p:attrName>ppt_w</p:attrName>
                                        </p:attrNameLst>
                                      </p:cBhvr>
                                      <p:tavLst>
                                        <p:tav tm="0">
                                          <p:val>
                                            <p:fltVal val="0"/>
                                          </p:val>
                                        </p:tav>
                                        <p:tav tm="100000">
                                          <p:val>
                                            <p:strVal val="#ppt_w"/>
                                          </p:val>
                                        </p:tav>
                                      </p:tavLst>
                                    </p:anim>
                                    <p:anim calcmode="lin" valueType="num">
                                      <p:cBhvr>
                                        <p:cTn id="65" dur="1000" fill="hold"/>
                                        <p:tgtEl>
                                          <p:spTgt spid="563237"/>
                                        </p:tgtEl>
                                        <p:attrNameLst>
                                          <p:attrName>ppt_h</p:attrName>
                                        </p:attrNameLst>
                                      </p:cBhvr>
                                      <p:tavLst>
                                        <p:tav tm="0">
                                          <p:val>
                                            <p:fltVal val="0"/>
                                          </p:val>
                                        </p:tav>
                                        <p:tav tm="100000">
                                          <p:val>
                                            <p:strVal val="#ppt_h"/>
                                          </p:val>
                                        </p:tav>
                                      </p:tavLst>
                                    </p:anim>
                                    <p:animEffect transition="in" filter="fade">
                                      <p:cBhvr>
                                        <p:cTn id="66" dur="1000"/>
                                        <p:tgtEl>
                                          <p:spTgt spid="563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03" grpId="0"/>
      <p:bldP spid="563204" grpId="0"/>
      <p:bldP spid="563205" grpId="0"/>
      <p:bldP spid="563206" grpId="0"/>
      <p:bldP spid="563237" grpId="0"/>
      <p:bldP spid="563238" grpId="0" animBg="1"/>
      <p:bldP spid="563239" grpId="0" animBg="1"/>
      <p:bldP spid="563241"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TIMING" val="|1"/>
</p:tagLst>
</file>

<file path=ppt/tags/tag2.xml><?xml version="1.0" encoding="utf-8"?>
<p:tagLst xmlns:a="http://schemas.openxmlformats.org/drawingml/2006/main" xmlns:r="http://schemas.openxmlformats.org/officeDocument/2006/relationships" xmlns:p="http://schemas.openxmlformats.org/presentationml/2006/main">
  <p:tag name="TIMING" val="|0.6|3.6|2.4|1.7|2.9|1.8"/>
</p:tagLst>
</file>

<file path=ppt/tags/tag3.xml><?xml version="1.0" encoding="utf-8"?>
<p:tagLst xmlns:a="http://schemas.openxmlformats.org/drawingml/2006/main" xmlns:r="http://schemas.openxmlformats.org/officeDocument/2006/relationships" xmlns:p="http://schemas.openxmlformats.org/presentationml/2006/main">
  <p:tag name="TIMING" val="|0.8|1.3|1.5"/>
</p:tagLst>
</file>

<file path=ppt/tags/tag4.xml><?xml version="1.0" encoding="utf-8"?>
<p:tagLst xmlns:a="http://schemas.openxmlformats.org/drawingml/2006/main" xmlns:r="http://schemas.openxmlformats.org/officeDocument/2006/relationships" xmlns:p="http://schemas.openxmlformats.org/presentationml/2006/main">
  <p:tag name="TIMING" val="|0.8|1.1|43.3"/>
</p:tagLst>
</file>

<file path=ppt/tags/tag5.xml><?xml version="1.0" encoding="utf-8"?>
<p:tagLst xmlns:a="http://schemas.openxmlformats.org/drawingml/2006/main" xmlns:r="http://schemas.openxmlformats.org/officeDocument/2006/relationships" xmlns:p="http://schemas.openxmlformats.org/presentationml/2006/main">
  <p:tag name="TIMING" val="|2.1|1|19"/>
</p:tagLst>
</file>

<file path=ppt/tags/tag6.xml><?xml version="1.0" encoding="utf-8"?>
<p:tagLst xmlns:a="http://schemas.openxmlformats.org/drawingml/2006/main" xmlns:r="http://schemas.openxmlformats.org/officeDocument/2006/relationships" xmlns:p="http://schemas.openxmlformats.org/presentationml/2006/main">
  <p:tag name="TIMING" val="|1.9|0.9|14.9"/>
</p:tagLst>
</file>

<file path=ppt/tags/tag7.xml><?xml version="1.0" encoding="utf-8"?>
<p:tagLst xmlns:a="http://schemas.openxmlformats.org/drawingml/2006/main" xmlns:r="http://schemas.openxmlformats.org/officeDocument/2006/relationships" xmlns:p="http://schemas.openxmlformats.org/presentationml/2006/main">
  <p:tag name="TIMING" val="|0.9|5.1|5.4|1.4|5.7|3.2|4.5|4.9"/>
</p:tagLst>
</file>

<file path=ppt/tags/tag8.xml><?xml version="1.0" encoding="utf-8"?>
<p:tagLst xmlns:a="http://schemas.openxmlformats.org/drawingml/2006/main" xmlns:r="http://schemas.openxmlformats.org/officeDocument/2006/relationships" xmlns:p="http://schemas.openxmlformats.org/presentationml/2006/main">
  <p:tag name="TIMING" val="|1|1.6|13.7"/>
</p:tagLst>
</file>

<file path=ppt/tags/tag9.xml><?xml version="1.0" encoding="utf-8"?>
<p:tagLst xmlns:a="http://schemas.openxmlformats.org/drawingml/2006/main" xmlns:r="http://schemas.openxmlformats.org/officeDocument/2006/relationships" xmlns:p="http://schemas.openxmlformats.org/presentationml/2006/main">
  <p:tag name="TIMING" val="|0.5|1"/>
</p:tagLst>
</file>

<file path=ppt/tags/tag10.xml><?xml version="1.0" encoding="utf-8"?>
<p:tagLst xmlns:a="http://schemas.openxmlformats.org/drawingml/2006/main" xmlns:r="http://schemas.openxmlformats.org/officeDocument/2006/relationships" xmlns:p="http://schemas.openxmlformats.org/presentationml/2006/main">
  <p:tag name="TIMING" val="|0.8|1.3"/>
</p:tagLst>
</file>

<file path=ppt/tags/tag11.xml><?xml version="1.0" encoding="utf-8"?>
<p:tagLst xmlns:a="http://schemas.openxmlformats.org/drawingml/2006/main" xmlns:r="http://schemas.openxmlformats.org/officeDocument/2006/relationships" xmlns:p="http://schemas.openxmlformats.org/presentationml/2006/main">
  <p:tag name="TIMING" val="|0.6|4.1|12.1|5.1"/>
</p:tagLst>
</file>

<file path=ppt/tags/tag12.xml><?xml version="1.0" encoding="utf-8"?>
<p:tagLst xmlns:a="http://schemas.openxmlformats.org/drawingml/2006/main" xmlns:r="http://schemas.openxmlformats.org/officeDocument/2006/relationships" xmlns:p="http://schemas.openxmlformats.org/presentationml/2006/main">
  <p:tag name="TIMING" val="|0.7|2.3|8.1|14.9"/>
</p:tagLst>
</file>

<file path=ppt/tags/tag13.xml><?xml version="1.0" encoding="utf-8"?>
<p:tagLst xmlns:a="http://schemas.openxmlformats.org/drawingml/2006/main" xmlns:r="http://schemas.openxmlformats.org/officeDocument/2006/relationships" xmlns:p="http://schemas.openxmlformats.org/presentationml/2006/main">
  <p:tag name="TIMING" val="|1.2|1|2.2"/>
</p:tagLst>
</file>

<file path=ppt/tags/tag14.xml><?xml version="1.0" encoding="utf-8"?>
<p:tagLst xmlns:a="http://schemas.openxmlformats.org/drawingml/2006/main" xmlns:r="http://schemas.openxmlformats.org/officeDocument/2006/relationships" xmlns:p="http://schemas.openxmlformats.org/presentationml/2006/main">
  <p:tag name="TIMING" val="|0.7|1"/>
</p:tagLst>
</file>

<file path=ppt/tags/tag15.xml><?xml version="1.0" encoding="utf-8"?>
<p:tagLst xmlns:a="http://schemas.openxmlformats.org/drawingml/2006/main" xmlns:r="http://schemas.openxmlformats.org/officeDocument/2006/relationships" xmlns:p="http://schemas.openxmlformats.org/presentationml/2006/main">
  <p:tag name="TIMING" val="|1|4.5"/>
</p:tagLst>
</file>

<file path=ppt/tags/tag16.xml><?xml version="1.0" encoding="utf-8"?>
<p:tagLst xmlns:a="http://schemas.openxmlformats.org/drawingml/2006/main" xmlns:r="http://schemas.openxmlformats.org/officeDocument/2006/relationships" xmlns:p="http://schemas.openxmlformats.org/presentationml/2006/main">
  <p:tag name="TIMING" val="|0.9|3.8|2.2|0.2|4.9|1.2"/>
</p:tagLst>
</file>

<file path=ppt/tags/tag17.xml><?xml version="1.0" encoding="utf-8"?>
<p:tagLst xmlns:a="http://schemas.openxmlformats.org/drawingml/2006/main" xmlns:r="http://schemas.openxmlformats.org/officeDocument/2006/relationships" xmlns:p="http://schemas.openxmlformats.org/presentationml/2006/main">
  <p:tag name="TIMING" val="|1|2.3"/>
</p:tagLst>
</file>

<file path=ppt/tags/tag18.xml><?xml version="1.0" encoding="utf-8"?>
<p:tagLst xmlns:a="http://schemas.openxmlformats.org/drawingml/2006/main" xmlns:r="http://schemas.openxmlformats.org/officeDocument/2006/relationships" xmlns:p="http://schemas.openxmlformats.org/presentationml/2006/main">
  <p:tag name="TIMING" val="|0.6|0.9|2|1.4|0.9|1.6|16.6|1|0.9|17.1"/>
</p:tagLst>
</file>

<file path=ppt/tags/tag19.xml><?xml version="1.0" encoding="utf-8"?>
<p:tagLst xmlns:a="http://schemas.openxmlformats.org/drawingml/2006/main" xmlns:r="http://schemas.openxmlformats.org/officeDocument/2006/relationships" xmlns:p="http://schemas.openxmlformats.org/presentationml/2006/main">
  <p:tag name="TIMING" val="|0.6|0.9|3.2"/>
</p:tagLst>
</file>

<file path=ppt/tags/tag20.xml><?xml version="1.0" encoding="utf-8"?>
<p:tagLst xmlns:a="http://schemas.openxmlformats.org/drawingml/2006/main" xmlns:r="http://schemas.openxmlformats.org/officeDocument/2006/relationships" xmlns:p="http://schemas.openxmlformats.org/presentationml/2006/main">
  <p:tag name="TIMING" val="|0.5|0.7|0.8|1.9|9.9|4.6"/>
</p:tagLst>
</file>

<file path=ppt/tags/tag21.xml><?xml version="1.0" encoding="utf-8"?>
<p:tagLst xmlns:a="http://schemas.openxmlformats.org/drawingml/2006/main" xmlns:r="http://schemas.openxmlformats.org/officeDocument/2006/relationships" xmlns:p="http://schemas.openxmlformats.org/presentationml/2006/main">
  <p:tag name="TIMING" val="|1|1.1|9.8|9.6"/>
</p:tagLst>
</file>

<file path=ppt/tags/tag22.xml><?xml version="1.0" encoding="utf-8"?>
<p:tagLst xmlns:a="http://schemas.openxmlformats.org/drawingml/2006/main" xmlns:r="http://schemas.openxmlformats.org/officeDocument/2006/relationships" xmlns:p="http://schemas.openxmlformats.org/presentationml/2006/main">
  <p:tag name="TIMING" val="|0.5|0.5|0.8|13.5|3.8|0.6|0.6"/>
</p:tagLst>
</file>

<file path=ppt/tags/tag23.xml><?xml version="1.0" encoding="utf-8"?>
<p:tagLst xmlns:a="http://schemas.openxmlformats.org/drawingml/2006/main" xmlns:r="http://schemas.openxmlformats.org/officeDocument/2006/relationships" xmlns:p="http://schemas.openxmlformats.org/presentationml/2006/main">
  <p:tag name="TIMING" val="|0.5"/>
</p:tagLst>
</file>

<file path=ppt/tags/tag24.xml><?xml version="1.0" encoding="utf-8"?>
<p:tagLst xmlns:a="http://schemas.openxmlformats.org/drawingml/2006/main" xmlns:r="http://schemas.openxmlformats.org/officeDocument/2006/relationships" xmlns:p="http://schemas.openxmlformats.org/presentationml/2006/main">
  <p:tag name="TIMING" val="|2.7|0.7|6.3|0.7|9.9"/>
</p:tagLst>
</file>

<file path=ppt/tags/tag25.xml><?xml version="1.0" encoding="utf-8"?>
<p:tagLst xmlns:a="http://schemas.openxmlformats.org/drawingml/2006/main" xmlns:r="http://schemas.openxmlformats.org/officeDocument/2006/relationships" xmlns:p="http://schemas.openxmlformats.org/presentationml/2006/main">
  <p:tag name="TIMING" val="|0.4|0.6|1.3|16.2|5.6"/>
</p:tagLst>
</file>

<file path=ppt/tags/tag26.xml><?xml version="1.0" encoding="utf-8"?>
<p:tagLst xmlns:a="http://schemas.openxmlformats.org/drawingml/2006/main" xmlns:r="http://schemas.openxmlformats.org/officeDocument/2006/relationships" xmlns:p="http://schemas.openxmlformats.org/presentationml/2006/main">
  <p:tag name="TIMING" val="|0.4|0.5|0.7|1.5|15.6"/>
</p:tagLst>
</file>

<file path=ppt/tags/tag27.xml><?xml version="1.0" encoding="utf-8"?>
<p:tagLst xmlns:a="http://schemas.openxmlformats.org/drawingml/2006/main" xmlns:r="http://schemas.openxmlformats.org/officeDocument/2006/relationships" xmlns:p="http://schemas.openxmlformats.org/presentationml/2006/main">
  <p:tag name="TIMING" val="|0.4|2.2|1.3"/>
</p:tagLst>
</file>

<file path=ppt/tags/tag28.xml><?xml version="1.0" encoding="utf-8"?>
<p:tagLst xmlns:a="http://schemas.openxmlformats.org/drawingml/2006/main" xmlns:r="http://schemas.openxmlformats.org/officeDocument/2006/relationships" xmlns:p="http://schemas.openxmlformats.org/presentationml/2006/main">
  <p:tag name="TIMING" val="|0.4|1.1|0.7|0.8|1|0.5|12.2"/>
</p:tagLst>
</file>

<file path=ppt/tags/tag29.xml><?xml version="1.0" encoding="utf-8"?>
<p:tagLst xmlns:a="http://schemas.openxmlformats.org/drawingml/2006/main" xmlns:r="http://schemas.openxmlformats.org/officeDocument/2006/relationships" xmlns:p="http://schemas.openxmlformats.org/presentationml/2006/main">
  <p:tag name="TIMING" val="|0.6|0.8|10.2|0.9|9.8"/>
</p:tagLst>
</file>

<file path=ppt/tags/tag30.xml><?xml version="1.0" encoding="utf-8"?>
<p:tagLst xmlns:a="http://schemas.openxmlformats.org/drawingml/2006/main" xmlns:r="http://schemas.openxmlformats.org/officeDocument/2006/relationships" xmlns:p="http://schemas.openxmlformats.org/presentationml/2006/main">
  <p:tag name="TIMING" val="|0.4|0.7|0.6|0.6"/>
</p:tagLst>
</file>

<file path=ppt/tags/tag31.xml><?xml version="1.0" encoding="utf-8"?>
<p:tagLst xmlns:a="http://schemas.openxmlformats.org/drawingml/2006/main" xmlns:r="http://schemas.openxmlformats.org/officeDocument/2006/relationships" xmlns:p="http://schemas.openxmlformats.org/presentationml/2006/main">
  <p:tag name="TIMING" val="|0.5|0.9|1|12.6"/>
</p:tagLst>
</file>

<file path=ppt/tags/tag32.xml><?xml version="1.0" encoding="utf-8"?>
<p:tagLst xmlns:a="http://schemas.openxmlformats.org/drawingml/2006/main" xmlns:r="http://schemas.openxmlformats.org/officeDocument/2006/relationships" xmlns:p="http://schemas.openxmlformats.org/presentationml/2006/main">
  <p:tag name="TIMING" val="|0.7|1|0.7|0.9|2.5"/>
</p:tagLst>
</file>

<file path=ppt/tags/tag33.xml><?xml version="1.0" encoding="utf-8"?>
<p:tagLst xmlns:a="http://schemas.openxmlformats.org/drawingml/2006/main" xmlns:r="http://schemas.openxmlformats.org/officeDocument/2006/relationships" xmlns:p="http://schemas.openxmlformats.org/presentationml/2006/main">
  <p:tag name="TIMING" val="|0.7|1.1|5.2|0.8|0.6|22.2"/>
</p:tagLst>
</file>

<file path=ppt/tags/tag34.xml><?xml version="1.0" encoding="utf-8"?>
<p:tagLst xmlns:a="http://schemas.openxmlformats.org/drawingml/2006/main" xmlns:r="http://schemas.openxmlformats.org/officeDocument/2006/relationships" xmlns:p="http://schemas.openxmlformats.org/presentationml/2006/main">
  <p:tag name="TIMING" val="|0.3|2.5|0.9|9.2|1.5"/>
</p:tagLst>
</file>

<file path=ppt/tags/tag35.xml><?xml version="1.0" encoding="utf-8"?>
<p:tagLst xmlns:a="http://schemas.openxmlformats.org/drawingml/2006/main" xmlns:r="http://schemas.openxmlformats.org/officeDocument/2006/relationships" xmlns:p="http://schemas.openxmlformats.org/presentationml/2006/main">
  <p:tag name="TIMING" val="|1.3|0.9|8.4|3.8|6.8|6.7"/>
</p:tagLst>
</file>

<file path=ppt/tags/tag36.xml><?xml version="1.0" encoding="utf-8"?>
<p:tagLst xmlns:a="http://schemas.openxmlformats.org/drawingml/2006/main" xmlns:r="http://schemas.openxmlformats.org/officeDocument/2006/relationships" xmlns:p="http://schemas.openxmlformats.org/presentationml/2006/main">
  <p:tag name="TIMING" val="|1|0.6|13.2|5.6|6.1|2.1"/>
</p:tagLst>
</file>

<file path=ppt/tags/tag37.xml><?xml version="1.0" encoding="utf-8"?>
<p:tagLst xmlns:a="http://schemas.openxmlformats.org/drawingml/2006/main" xmlns:r="http://schemas.openxmlformats.org/officeDocument/2006/relationships" xmlns:p="http://schemas.openxmlformats.org/presentationml/2006/main">
  <p:tag name="TIMING" val="|0.7|3|11.7|8.4|0.8|1.3|23.3|1.3|1.9|8.2|21.7|0.8|5|0.5|0.5"/>
</p:tagLst>
</file>

<file path=ppt/tags/tag38.xml><?xml version="1.0" encoding="utf-8"?>
<p:tagLst xmlns:a="http://schemas.openxmlformats.org/drawingml/2006/main" xmlns:r="http://schemas.openxmlformats.org/officeDocument/2006/relationships" xmlns:p="http://schemas.openxmlformats.org/presentationml/2006/main">
  <p:tag name="TIMING" val="|0.7|0.6|0.6|17.7|2.8|14|0.8"/>
</p:tagLst>
</file>

<file path=ppt/tags/tag39.xml><?xml version="1.0" encoding="utf-8"?>
<p:tagLst xmlns:a="http://schemas.openxmlformats.org/drawingml/2006/main" xmlns:r="http://schemas.openxmlformats.org/officeDocument/2006/relationships" xmlns:p="http://schemas.openxmlformats.org/presentationml/2006/main">
  <p:tag name="TIMING" val="|0.3|0.5|24"/>
</p:tagLst>
</file>

<file path=ppt/tags/tag40.xml><?xml version="1.0" encoding="utf-8"?>
<p:tagLst xmlns:a="http://schemas.openxmlformats.org/drawingml/2006/main" xmlns:r="http://schemas.openxmlformats.org/officeDocument/2006/relationships" xmlns:p="http://schemas.openxmlformats.org/presentationml/2006/main">
  <p:tag name="TIMING" val="|0.3|0.5|0.6|0.7|15.5"/>
</p:tagLst>
</file>

<file path=ppt/tags/tag41.xml><?xml version="1.0" encoding="utf-8"?>
<p:tagLst xmlns:a="http://schemas.openxmlformats.org/drawingml/2006/main" xmlns:r="http://schemas.openxmlformats.org/officeDocument/2006/relationships" xmlns:p="http://schemas.openxmlformats.org/presentationml/2006/main">
  <p:tag name="TIMING" val="|1.3|0.8|0.6|0.2|0.3|1.3|6.1|4.1|0.3|1.1"/>
</p:tagLst>
</file>

<file path=ppt/tags/tag42.xml><?xml version="1.0" encoding="utf-8"?>
<p:tagLst xmlns:a="http://schemas.openxmlformats.org/drawingml/2006/main" xmlns:r="http://schemas.openxmlformats.org/officeDocument/2006/relationships" xmlns:p="http://schemas.openxmlformats.org/presentationml/2006/main">
  <p:tag name="TIMING" val="|0.5|2.2|2.3|1.3|14.7|13.7|2.4|1"/>
</p:tagLst>
</file>

<file path=ppt/tags/tag43.xml><?xml version="1.0" encoding="utf-8"?>
<p:tagLst xmlns:a="http://schemas.openxmlformats.org/drawingml/2006/main" xmlns:r="http://schemas.openxmlformats.org/officeDocument/2006/relationships" xmlns:p="http://schemas.openxmlformats.org/presentationml/2006/main">
  <p:tag name="TIMING" val="|1.5|0.9|6.1|4.6|1.2|3.5|3.3"/>
</p:tagLst>
</file>

<file path=ppt/tags/tag44.xml><?xml version="1.0" encoding="utf-8"?>
<p:tagLst xmlns:a="http://schemas.openxmlformats.org/drawingml/2006/main" xmlns:r="http://schemas.openxmlformats.org/officeDocument/2006/relationships" xmlns:p="http://schemas.openxmlformats.org/presentationml/2006/main">
  <p:tag name="TIMING" val="|1|2|1.1|0.7"/>
</p:tagLst>
</file>

<file path=ppt/tags/tag45.xml><?xml version="1.0" encoding="utf-8"?>
<p:tagLst xmlns:a="http://schemas.openxmlformats.org/drawingml/2006/main" xmlns:r="http://schemas.openxmlformats.org/officeDocument/2006/relationships" xmlns:p="http://schemas.openxmlformats.org/presentationml/2006/main">
  <p:tag name="TIMING" val="|0.5|0.5|0.8"/>
</p:tagLst>
</file>

<file path=ppt/tags/tag46.xml><?xml version="1.0" encoding="utf-8"?>
<p:tagLst xmlns:a="http://schemas.openxmlformats.org/drawingml/2006/main" xmlns:r="http://schemas.openxmlformats.org/officeDocument/2006/relationships" xmlns:p="http://schemas.openxmlformats.org/presentationml/2006/main">
  <p:tag name="TIMING" val="|0.4|0.8"/>
</p:tagLst>
</file>

<file path=ppt/tags/tag47.xml><?xml version="1.0" encoding="utf-8"?>
<p:tagLst xmlns:a="http://schemas.openxmlformats.org/drawingml/2006/main" xmlns:r="http://schemas.openxmlformats.org/officeDocument/2006/relationships" xmlns:p="http://schemas.openxmlformats.org/presentationml/2006/main">
  <p:tag name="TIMING" val="|0.6|1.6|1.1|0.7|1.3|1.3|1|1.2|2.6|2.7|0.6|0.6|15.4"/>
</p:tagLst>
</file>

<file path=ppt/tags/tag48.xml><?xml version="1.0" encoding="utf-8"?>
<p:tagLst xmlns:a="http://schemas.openxmlformats.org/drawingml/2006/main" xmlns:r="http://schemas.openxmlformats.org/officeDocument/2006/relationships" xmlns:p="http://schemas.openxmlformats.org/presentationml/2006/main">
  <p:tag name="TIMING" val="|0.6|0.7|1.2|0.8|2.1|3.8|0.5|0.7|0.8"/>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幼圆"/>
        <a:cs typeface=""/>
      </a:majorFont>
      <a:minorFont>
        <a:latin typeface="Tahoma"/>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3510</Words>
  <Application>Microsoft Office PowerPoint</Application>
  <PresentationFormat>全屏显示(4:3)</PresentationFormat>
  <Paragraphs>385</Paragraphs>
  <Slides>51</Slides>
  <Notes>9</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51</vt:i4>
      </vt:variant>
    </vt:vector>
  </HeadingPairs>
  <TitlesOfParts>
    <vt:vector size="68" baseType="lpstr">
      <vt:lpstr>Monotype Sorts</vt:lpstr>
      <vt:lpstr>仿宋_GB2312</vt:lpstr>
      <vt:lpstr>黑体</vt:lpstr>
      <vt:lpstr>华文仿宋</vt:lpstr>
      <vt:lpstr>华文新魏</vt:lpstr>
      <vt:lpstr>华文中宋</vt:lpstr>
      <vt:lpstr>楷体_GB2312</vt:lpstr>
      <vt:lpstr>隶书</vt:lpstr>
      <vt:lpstr>宋体</vt:lpstr>
      <vt:lpstr>Arial</vt:lpstr>
      <vt:lpstr>Calibri</vt:lpstr>
      <vt:lpstr>Comic Sans MS</vt:lpstr>
      <vt:lpstr>Tahoma</vt:lpstr>
      <vt:lpstr>Times New Roman</vt:lpstr>
      <vt:lpstr>Trebuchet MS</vt:lpstr>
      <vt:lpstr>Wingdings</vt:lpstr>
      <vt:lpstr>Blends</vt:lpstr>
      <vt:lpstr>第10章  数据库保护技术</vt:lpstr>
      <vt:lpstr>PowerPoint 演示文稿</vt:lpstr>
      <vt:lpstr>10.4   数据库恢复</vt:lpstr>
      <vt:lpstr>主要内容</vt:lpstr>
      <vt:lpstr>一、数据库的故障分类</vt:lpstr>
      <vt:lpstr>一、数据库的故障分类</vt:lpstr>
      <vt:lpstr>一、数据库的故障分类</vt:lpstr>
      <vt:lpstr>一、数据库的故障分类</vt:lpstr>
      <vt:lpstr>二、数据库故障的基本恢复方式</vt:lpstr>
      <vt:lpstr>二、数据库故障的基本恢复方式</vt:lpstr>
      <vt:lpstr>二、数据库故障的基本恢复方式</vt:lpstr>
      <vt:lpstr>二、数据库故障的基本恢复方式</vt:lpstr>
      <vt:lpstr>二、数据库故障的基本恢复方式</vt:lpstr>
      <vt:lpstr>二、数据库故障的基本恢复方式</vt:lpstr>
      <vt:lpstr>二、数据库故障的基本恢复方式</vt:lpstr>
      <vt:lpstr>二、数据库故障的基本恢复方式</vt:lpstr>
      <vt:lpstr>二、数据库故障的基本恢复方式</vt:lpstr>
      <vt:lpstr>二、数据库故障的基本恢复方式</vt:lpstr>
      <vt:lpstr>二、数据库故障的基本恢复方式</vt:lpstr>
      <vt:lpstr>二、数据库故障的基本恢复方式</vt:lpstr>
      <vt:lpstr>二、数据库故障的基本恢复方式</vt:lpstr>
      <vt:lpstr>二、数据库故障的基本恢复方式</vt:lpstr>
      <vt:lpstr>二、数据库故障的基本恢复方式</vt:lpstr>
      <vt:lpstr>三、恢复策略</vt:lpstr>
      <vt:lpstr>三、恢复策略</vt:lpstr>
      <vt:lpstr>三、恢复策略</vt:lpstr>
      <vt:lpstr>三、恢复策略</vt:lpstr>
      <vt:lpstr>三、恢复策略</vt:lpstr>
      <vt:lpstr>三、恢复策略</vt:lpstr>
      <vt:lpstr>三、恢复策略</vt:lpstr>
      <vt:lpstr>三、恢复策略</vt:lpstr>
      <vt:lpstr>三、恢复策略</vt:lpstr>
      <vt:lpstr>三、恢复策略</vt:lpstr>
      <vt:lpstr>三、恢复策略</vt:lpstr>
      <vt:lpstr>三、恢复策略</vt:lpstr>
      <vt:lpstr>四、具有检查点的恢复技术</vt:lpstr>
      <vt:lpstr>四、具有检查点的恢复技术</vt:lpstr>
      <vt:lpstr>四、具有检查点的恢复技术</vt:lpstr>
      <vt:lpstr>四、具有检查点的恢复技术</vt:lpstr>
      <vt:lpstr>四、具有检查点的恢复技术</vt:lpstr>
      <vt:lpstr>五、数据库镜像</vt:lpstr>
      <vt:lpstr>五、数据库镜像</vt:lpstr>
      <vt:lpstr>五、数据库镜像</vt:lpstr>
      <vt:lpstr>六、SQL Server数据库的备份和恢复</vt:lpstr>
      <vt:lpstr>六、SQL Server数据库的备份和恢复</vt:lpstr>
      <vt:lpstr>六、SQL Server数据库的备份和恢复</vt:lpstr>
      <vt:lpstr>总结</vt:lpstr>
      <vt:lpstr>总结</vt:lpstr>
      <vt:lpstr>总结</vt:lpstr>
      <vt:lpstr>小结</vt:lpstr>
      <vt:lpstr>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乔淋漓的冷汗</dc:creator>
  <cp:lastModifiedBy>乔 淋漓的冷汗</cp:lastModifiedBy>
  <cp:revision>506</cp:revision>
  <cp:lastPrinted>2000-08-23T09:10:00Z</cp:lastPrinted>
  <dcterms:created xsi:type="dcterms:W3CDTF">2113-01-01T00:00:00Z</dcterms:created>
  <dcterms:modified xsi:type="dcterms:W3CDTF">2021-04-20T14:56:12Z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2052-11.3.0.8775</vt:lpwstr>
  </property>
</Properties>
</file>