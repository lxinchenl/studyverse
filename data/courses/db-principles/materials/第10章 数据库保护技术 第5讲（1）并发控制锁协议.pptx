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559" r:id="rId2"/>
    <p:sldId id="533" r:id="rId3"/>
    <p:sldId id="524" r:id="rId4"/>
    <p:sldId id="525" r:id="rId5"/>
    <p:sldId id="477" r:id="rId6"/>
    <p:sldId id="540" r:id="rId7"/>
    <p:sldId id="478" r:id="rId8"/>
    <p:sldId id="479" r:id="rId9"/>
    <p:sldId id="511" r:id="rId10"/>
    <p:sldId id="512" r:id="rId11"/>
    <p:sldId id="542" r:id="rId12"/>
    <p:sldId id="535" r:id="rId13"/>
    <p:sldId id="543" r:id="rId14"/>
    <p:sldId id="537" r:id="rId15"/>
    <p:sldId id="544" r:id="rId16"/>
    <p:sldId id="513" r:id="rId17"/>
    <p:sldId id="482" r:id="rId18"/>
    <p:sldId id="558" r:id="rId19"/>
    <p:sldId id="483" r:id="rId20"/>
    <p:sldId id="484" r:id="rId21"/>
    <p:sldId id="603" r:id="rId22"/>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6699"/>
    <a:srgbClr val="C0C0C0"/>
    <a:srgbClr val="E2C5FF"/>
    <a:srgbClr val="005400"/>
    <a:srgbClr val="003200"/>
    <a:srgbClr val="0000FF"/>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610" autoAdjust="0"/>
  </p:normalViewPr>
  <p:slideViewPr>
    <p:cSldViewPr>
      <p:cViewPr varScale="1">
        <p:scale>
          <a:sx n="124" d="100"/>
          <a:sy n="124" d="100"/>
        </p:scale>
        <p:origin x="1220" y="76"/>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lvl1pPr>
              <a:defRPr kumimoji="1" sz="1200">
                <a:solidFill>
                  <a:schemeClr val="tx2"/>
                </a:solidFill>
                <a:latin typeface="Times New Roman" panose="02020603050405020304" pitchFamily="18" charset="0"/>
              </a:defRPr>
            </a:lvl1pPr>
          </a:lstStyle>
          <a:p>
            <a:endParaRPr lang="zh-CN" altLang="en-US"/>
          </a:p>
        </p:txBody>
      </p:sp>
      <p:sp>
        <p:nvSpPr>
          <p:cNvPr id="107523" name="Rectangle 3"/>
          <p:cNvSpPr>
            <a:spLocks noGrp="1" noChangeArrowheads="1"/>
          </p:cNvSpPr>
          <p:nvPr>
            <p:ph type="dt" sz="quarter" idx="1"/>
          </p:nvPr>
        </p:nvSpPr>
        <p:spPr bwMode="auto">
          <a:xfrm>
            <a:off x="3810000" y="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lvl1pPr algn="r">
              <a:defRPr kumimoji="1" sz="1200">
                <a:solidFill>
                  <a:schemeClr val="tx2"/>
                </a:solidFill>
                <a:latin typeface="Times New Roman" panose="02020603050405020304" pitchFamily="18" charset="0"/>
              </a:defRPr>
            </a:lvl1pPr>
          </a:lstStyle>
          <a:p>
            <a:endParaRPr lang="en-US" altLang="zh-CN"/>
          </a:p>
        </p:txBody>
      </p:sp>
      <p:sp>
        <p:nvSpPr>
          <p:cNvPr id="107524" name="Rectangle 4"/>
          <p:cNvSpPr>
            <a:spLocks noGrp="1" noChangeArrowheads="1"/>
          </p:cNvSpPr>
          <p:nvPr>
            <p:ph type="ftr" sz="quarter" idx="2"/>
          </p:nvPr>
        </p:nvSpPr>
        <p:spPr bwMode="auto">
          <a:xfrm>
            <a:off x="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defRPr kumimoji="1" sz="1200">
                <a:solidFill>
                  <a:schemeClr val="tx2"/>
                </a:solidFill>
                <a:latin typeface="Times New Roman" panose="02020603050405020304" pitchFamily="18" charset="0"/>
              </a:defRPr>
            </a:lvl1pPr>
          </a:lstStyle>
          <a:p>
            <a:endParaRPr lang="en-US" altLang="zh-CN"/>
          </a:p>
        </p:txBody>
      </p:sp>
      <p:sp>
        <p:nvSpPr>
          <p:cNvPr id="107525" name="Rectangle 5"/>
          <p:cNvSpPr>
            <a:spLocks noGrp="1" noChangeArrowheads="1"/>
          </p:cNvSpPr>
          <p:nvPr>
            <p:ph type="sldNum" sz="quarter" idx="3"/>
          </p:nvPr>
        </p:nvSpPr>
        <p:spPr bwMode="auto">
          <a:xfrm>
            <a:off x="3810000" y="9372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lgn="r">
              <a:defRPr kumimoji="1" sz="1200">
                <a:solidFill>
                  <a:schemeClr val="tx2"/>
                </a:solidFill>
                <a:latin typeface="Times New Roman" panose="02020603050405020304" pitchFamily="18" charset="0"/>
              </a:defRPr>
            </a:lvl1pPr>
          </a:lstStyle>
          <a:p>
            <a:fld id="{C8E51A4A-93B7-4BEC-8573-072BE3239731}"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3282" name="Rectangle 2"/>
          <p:cNvSpPr>
            <a:spLocks noGrp="1" noChangeArrowheads="1"/>
          </p:cNvSpPr>
          <p:nvPr>
            <p:ph type="hdr" sz="quarter"/>
          </p:nvPr>
        </p:nvSpPr>
        <p:spPr bwMode="auto">
          <a:xfrm>
            <a:off x="0" y="0"/>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353283" name="Rectangle 3"/>
          <p:cNvSpPr>
            <a:spLocks noGrp="1" noChangeArrowheads="1"/>
          </p:cNvSpPr>
          <p:nvPr>
            <p:ph type="dt" idx="1"/>
          </p:nvPr>
        </p:nvSpPr>
        <p:spPr bwMode="auto">
          <a:xfrm>
            <a:off x="3773488" y="0"/>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353284" name="Rectangle 4"/>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3285" name="Rectangle 5"/>
          <p:cNvSpPr>
            <a:spLocks noGrp="1" noChangeArrowheads="1"/>
          </p:cNvSpPr>
          <p:nvPr>
            <p:ph type="body" sz="quarter" idx="3"/>
          </p:nvPr>
        </p:nvSpPr>
        <p:spPr bwMode="auto">
          <a:xfrm>
            <a:off x="666750" y="4670425"/>
            <a:ext cx="5329238" cy="442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53286" name="Rectangle 6"/>
          <p:cNvSpPr>
            <a:spLocks noGrp="1" noChangeArrowheads="1"/>
          </p:cNvSpPr>
          <p:nvPr>
            <p:ph type="ftr" sz="quarter" idx="4"/>
          </p:nvPr>
        </p:nvSpPr>
        <p:spPr bwMode="auto">
          <a:xfrm>
            <a:off x="0" y="9339263"/>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353287" name="Rectangle 7"/>
          <p:cNvSpPr>
            <a:spLocks noGrp="1" noChangeArrowheads="1"/>
          </p:cNvSpPr>
          <p:nvPr>
            <p:ph type="sldNum" sz="quarter" idx="5"/>
          </p:nvPr>
        </p:nvSpPr>
        <p:spPr bwMode="auto">
          <a:xfrm>
            <a:off x="3773488" y="9339263"/>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D987E1EA-1169-4B5A-BA37-02DA2BE35E46}"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7CFCB94-EC79-4143-9D64-924C2B45622E}" type="slidenum">
              <a:rPr lang="zh-CN" altLang="en-US"/>
              <a:t>1</a:t>
            </a:fld>
            <a:endParaRPr lang="en-US" altLang="zh-CN"/>
          </a:p>
        </p:txBody>
      </p:sp>
      <p:sp>
        <p:nvSpPr>
          <p:cNvPr id="500738" name="Rectangle 2"/>
          <p:cNvSpPr>
            <a:spLocks noGrp="1" noRot="1" noChangeAspect="1" noChangeArrowheads="1" noTextEdit="1"/>
          </p:cNvSpPr>
          <p:nvPr>
            <p:ph type="sldImg"/>
          </p:nvPr>
        </p:nvSpPr>
        <p:spPr/>
      </p:sp>
      <p:sp>
        <p:nvSpPr>
          <p:cNvPr id="50073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ChangeArrowheads="1" noTextEdit="1"/>
          </p:cNvSpPr>
          <p:nvPr>
            <p:ph type="sldImg" idx="4294967295"/>
          </p:nvPr>
        </p:nvSpPr>
        <p:spPr/>
      </p:sp>
      <p:sp>
        <p:nvSpPr>
          <p:cNvPr id="122883" name="备注占位符 2"/>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88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l"/>
            <a:fld id="{7575C283-C298-428F-88E5-46C97DD62DEE}" type="slidenum">
              <a:rPr lang="zh-CN" altLang="en-US" sz="1800" smtClean="0"/>
              <a:t>21</a:t>
            </a:fld>
            <a:endParaRPr lang="zh-CN" altLang="en-US" sz="1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grpSp>
        <p:nvGrpSpPr>
          <p:cNvPr id="435202" name="Group 2"/>
          <p:cNvGrpSpPr/>
          <p:nvPr/>
        </p:nvGrpSpPr>
        <p:grpSpPr bwMode="auto">
          <a:xfrm>
            <a:off x="0" y="2438400"/>
            <a:ext cx="9009063" cy="1052513"/>
            <a:chOff x="0" y="1536"/>
            <a:chExt cx="5675" cy="663"/>
          </a:xfrm>
        </p:grpSpPr>
        <p:grpSp>
          <p:nvGrpSpPr>
            <p:cNvPr id="435203" name="Group 3"/>
            <p:cNvGrpSpPr/>
            <p:nvPr/>
          </p:nvGrpSpPr>
          <p:grpSpPr bwMode="auto">
            <a:xfrm>
              <a:off x="183" y="1604"/>
              <a:ext cx="448" cy="299"/>
              <a:chOff x="720" y="336"/>
              <a:chExt cx="624" cy="432"/>
            </a:xfrm>
          </p:grpSpPr>
          <p:sp>
            <p:nvSpPr>
              <p:cNvPr id="435204"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5205"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35206" name="Group 6"/>
            <p:cNvGrpSpPr/>
            <p:nvPr/>
          </p:nvGrpSpPr>
          <p:grpSpPr bwMode="auto">
            <a:xfrm>
              <a:off x="261" y="1870"/>
              <a:ext cx="465" cy="299"/>
              <a:chOff x="912" y="2640"/>
              <a:chExt cx="672" cy="432"/>
            </a:xfrm>
          </p:grpSpPr>
          <p:sp>
            <p:nvSpPr>
              <p:cNvPr id="435207"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5208"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520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5210"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521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5212" name="Rectangle 12"/>
          <p:cNvSpPr>
            <a:spLocks noGrp="1" noChangeArrowheads="1"/>
          </p:cNvSpPr>
          <p:nvPr>
            <p:ph type="ctrTitle"/>
          </p:nvPr>
        </p:nvSpPr>
        <p:spPr>
          <a:xfrm>
            <a:off x="827088" y="1676400"/>
            <a:ext cx="8137525" cy="1462088"/>
          </a:xfrm>
        </p:spPr>
        <p:txBody>
          <a:bodyPr/>
          <a:lstStyle>
            <a:lvl1pPr algn="ctr">
              <a:defRPr sz="4400">
                <a:ea typeface="隶书" panose="02010509060101010101" pitchFamily="49" charset="-122"/>
              </a:defRPr>
            </a:lvl1pPr>
          </a:lstStyle>
          <a:p>
            <a:pPr lvl="0"/>
            <a:r>
              <a:rPr lang="zh-CN" altLang="en-US" noProof="0"/>
              <a:t>单击此处编辑母版标题样式</a:t>
            </a:r>
          </a:p>
        </p:txBody>
      </p:sp>
      <p:sp>
        <p:nvSpPr>
          <p:cNvPr id="435213" name="Rectangle 13"/>
          <p:cNvSpPr>
            <a:spLocks noGrp="1" noChangeArrowheads="1"/>
          </p:cNvSpPr>
          <p:nvPr>
            <p:ph type="subTitle" idx="1"/>
          </p:nvPr>
        </p:nvSpPr>
        <p:spPr>
          <a:xfrm>
            <a:off x="1371600" y="3886200"/>
            <a:ext cx="6400800" cy="1752600"/>
          </a:xfrm>
        </p:spPr>
        <p:txBody>
          <a:bodyPr/>
          <a:lstStyle>
            <a:lvl1pPr marL="0" indent="0" algn="ctr">
              <a:defRPr/>
            </a:lvl1pPr>
          </a:lstStyle>
          <a:p>
            <a:pPr lvl="0"/>
            <a:r>
              <a:rPr lang="zh-CN" altLang="en-US" noProof="0"/>
              <a:t>单击此处编辑母版副标题样式</a:t>
            </a:r>
          </a:p>
        </p:txBody>
      </p:sp>
      <p:sp>
        <p:nvSpPr>
          <p:cNvPr id="435214"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p>
        </p:txBody>
      </p:sp>
      <p:sp>
        <p:nvSpPr>
          <p:cNvPr id="435215"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
        <p:nvSpPr>
          <p:cNvPr id="435216"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7FCD2392-619F-4637-9829-77072196B570}" type="slidenum">
              <a:rPr lang="zh-CN" altLang="en-US"/>
              <a:t>‹#›</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435212"/>
                                        </p:tgtEl>
                                        <p:attrNameLst>
                                          <p:attrName>style.visibility</p:attrName>
                                        </p:attrNameLst>
                                      </p:cBhvr>
                                      <p:to>
                                        <p:strVal val="visible"/>
                                      </p:to>
                                    </p:set>
                                    <p:animEffect transition="in" filter="plus(in)">
                                      <p:cBhvr>
                                        <p:cTn id="7" dur="1000"/>
                                        <p:tgtEl>
                                          <p:spTgt spid="435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12"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21A4BA2F-23F6-4437-A056-3B37F7C1ABE4}"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B6CAA9D-80BD-46AC-9CD8-3E660037252C}"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46E3E54-910C-41A8-A99B-C681B021AB3E}"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E706021F-B6B9-4561-B2C5-762D4C01A9BB}"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73EF1019-FCE5-4CCB-B1FE-2BCA9D804A3C}"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8AF09DD3-A0C1-4775-8F5B-AADDD336C68D}"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5EF9E53-1719-4300-84C6-59E0840839DA}"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AFDFD04-A61C-4F4E-8110-4C5DB06DBDCE}"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3DECCB0-DF8A-462A-BAD6-81BAE8CEF287}"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1175" y="214313"/>
            <a:ext cx="2082800" cy="63833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214313"/>
            <a:ext cx="6097587" cy="63833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031F933-E3F0-4517-997E-3CD898373C48}"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622300"/>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1162050" y="6243638"/>
            <a:ext cx="1905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657600" y="6243638"/>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42150" y="6243638"/>
            <a:ext cx="1905000" cy="457200"/>
          </a:xfrm>
        </p:spPr>
        <p:txBody>
          <a:bodyPr/>
          <a:lstStyle>
            <a:lvl1pPr>
              <a:defRPr/>
            </a:lvl1pPr>
          </a:lstStyle>
          <a:p>
            <a:fld id="{9A4FAF9E-31B5-4974-A3A4-0BC73EAA4168}"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34178" name="Rectangle 2"/>
          <p:cNvSpPr>
            <a:spLocks noChangeArrowheads="1"/>
          </p:cNvSpPr>
          <p:nvPr/>
        </p:nvSpPr>
        <p:spPr bwMode="ltGray">
          <a:xfrm>
            <a:off x="417513" y="25241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79" name="Rectangle 3"/>
          <p:cNvSpPr>
            <a:spLocks noChangeArrowheads="1"/>
          </p:cNvSpPr>
          <p:nvPr/>
        </p:nvSpPr>
        <p:spPr bwMode="ltGray">
          <a:xfrm>
            <a:off x="800100" y="25241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0" name="Rectangle 4"/>
          <p:cNvSpPr>
            <a:spLocks noChangeArrowheads="1"/>
          </p:cNvSpPr>
          <p:nvPr/>
        </p:nvSpPr>
        <p:spPr bwMode="ltGray">
          <a:xfrm>
            <a:off x="541338" y="67468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1" name="Rectangle 5"/>
          <p:cNvSpPr>
            <a:spLocks noChangeArrowheads="1"/>
          </p:cNvSpPr>
          <p:nvPr/>
        </p:nvSpPr>
        <p:spPr bwMode="ltGray">
          <a:xfrm>
            <a:off x="911225" y="67468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2" name="Rectangle 6"/>
          <p:cNvSpPr>
            <a:spLocks noChangeArrowheads="1"/>
          </p:cNvSpPr>
          <p:nvPr/>
        </p:nvSpPr>
        <p:spPr bwMode="ltGray">
          <a:xfrm>
            <a:off x="127000" y="60166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3" name="Rectangle 7"/>
          <p:cNvSpPr>
            <a:spLocks noChangeArrowheads="1"/>
          </p:cNvSpPr>
          <p:nvPr/>
        </p:nvSpPr>
        <p:spPr bwMode="gray">
          <a:xfrm>
            <a:off x="762000" y="14446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4" name="Rectangle 8"/>
          <p:cNvSpPr>
            <a:spLocks noChangeArrowheads="1"/>
          </p:cNvSpPr>
          <p:nvPr/>
        </p:nvSpPr>
        <p:spPr bwMode="gray">
          <a:xfrm>
            <a:off x="442913" y="935038"/>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434185" name="Rectangle 9"/>
          <p:cNvSpPr>
            <a:spLocks noGrp="1" noChangeArrowheads="1"/>
          </p:cNvSpPr>
          <p:nvPr>
            <p:ph type="title"/>
          </p:nvPr>
        </p:nvSpPr>
        <p:spPr bwMode="auto">
          <a:xfrm>
            <a:off x="1150938" y="214313"/>
            <a:ext cx="7793037"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a:t>单击此处编辑母版标题样式</a:t>
            </a:r>
          </a:p>
        </p:txBody>
      </p:sp>
      <p:sp>
        <p:nvSpPr>
          <p:cNvPr id="434186" name="Rectangle 10"/>
          <p:cNvSpPr>
            <a:spLocks noGrp="1" noChangeArrowheads="1"/>
          </p:cNvSpPr>
          <p:nvPr>
            <p:ph type="body" idx="1"/>
          </p:nvPr>
        </p:nvSpPr>
        <p:spPr bwMode="auto">
          <a:xfrm>
            <a:off x="611188" y="1258888"/>
            <a:ext cx="7993062"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34187"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400">
                <a:latin typeface="+mn-lt"/>
              </a:defRPr>
            </a:lvl1pPr>
          </a:lstStyle>
          <a:p>
            <a:endParaRPr lang="en-US" altLang="zh-CN"/>
          </a:p>
        </p:txBody>
      </p:sp>
      <p:sp>
        <p:nvSpPr>
          <p:cNvPr id="434188"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400">
                <a:latin typeface="+mn-lt"/>
              </a:defRPr>
            </a:lvl1pPr>
          </a:lstStyle>
          <a:p>
            <a:endParaRPr lang="en-US" altLang="zh-CN"/>
          </a:p>
        </p:txBody>
      </p:sp>
      <p:sp>
        <p:nvSpPr>
          <p:cNvPr id="434189"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400">
                <a:latin typeface="+mn-lt"/>
              </a:defRPr>
            </a:lvl1pPr>
          </a:lstStyle>
          <a:p>
            <a:fld id="{CC3B28D2-3F22-45CB-9FAD-741B6013A95B}"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4186">
                                            <p:txEl>
                                              <p:pRg st="0" end="0"/>
                                            </p:txEl>
                                          </p:spTgt>
                                        </p:tgtEl>
                                        <p:attrNameLst>
                                          <p:attrName>style.visibility</p:attrName>
                                        </p:attrNameLst>
                                      </p:cBhvr>
                                      <p:to>
                                        <p:strVal val="visible"/>
                                      </p:to>
                                    </p:set>
                                    <p:animEffect transition="in" filter="wipe(left)">
                                      <p:cBhvr>
                                        <p:cTn id="7" dur="1000"/>
                                        <p:tgtEl>
                                          <p:spTgt spid="434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4186">
                                            <p:txEl>
                                              <p:pRg st="1" end="1"/>
                                            </p:txEl>
                                          </p:spTgt>
                                        </p:tgtEl>
                                        <p:attrNameLst>
                                          <p:attrName>style.visibility</p:attrName>
                                        </p:attrNameLst>
                                      </p:cBhvr>
                                      <p:to>
                                        <p:strVal val="visible"/>
                                      </p:to>
                                    </p:set>
                                    <p:animEffect transition="in" filter="wipe(left)">
                                      <p:cBhvr>
                                        <p:cTn id="12" dur="1000"/>
                                        <p:tgtEl>
                                          <p:spTgt spid="434186">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34186">
                                            <p:txEl>
                                              <p:pRg st="2" end="2"/>
                                            </p:txEl>
                                          </p:spTgt>
                                        </p:tgtEl>
                                        <p:attrNameLst>
                                          <p:attrName>style.visibility</p:attrName>
                                        </p:attrNameLst>
                                      </p:cBhvr>
                                      <p:to>
                                        <p:strVal val="visible"/>
                                      </p:to>
                                    </p:set>
                                    <p:animEffect transition="in" filter="wipe(left)">
                                      <p:cBhvr>
                                        <p:cTn id="15" dur="1000"/>
                                        <p:tgtEl>
                                          <p:spTgt spid="434186">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34186">
                                            <p:txEl>
                                              <p:pRg st="3" end="3"/>
                                            </p:txEl>
                                          </p:spTgt>
                                        </p:tgtEl>
                                        <p:attrNameLst>
                                          <p:attrName>style.visibility</p:attrName>
                                        </p:attrNameLst>
                                      </p:cBhvr>
                                      <p:to>
                                        <p:strVal val="visible"/>
                                      </p:to>
                                    </p:set>
                                    <p:animEffect transition="in" filter="wipe(left)">
                                      <p:cBhvr>
                                        <p:cTn id="18" dur="1000"/>
                                        <p:tgtEl>
                                          <p:spTgt spid="434186">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34186">
                                            <p:txEl>
                                              <p:pRg st="4" end="4"/>
                                            </p:txEl>
                                          </p:spTgt>
                                        </p:tgtEl>
                                        <p:attrNameLst>
                                          <p:attrName>style.visibility</p:attrName>
                                        </p:attrNameLst>
                                      </p:cBhvr>
                                      <p:to>
                                        <p:strVal val="visible"/>
                                      </p:to>
                                    </p:set>
                                    <p:animEffect transition="in" filter="wipe(left)">
                                      <p:cBhvr>
                                        <p:cTn id="21" dur="1000"/>
                                        <p:tgtEl>
                                          <p:spTgt spid="43418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86" grpId="0" build="p">
        <p:tmplLst>
          <p:tmpl lvl="1">
            <p:tnLst>
              <p:par>
                <p:cTn presetID="22" presetClass="entr" presetSubtype="8" fill="hold" nodeType="clickEffect">
                  <p:stCondLst>
                    <p:cond delay="0"/>
                  </p:stCondLst>
                  <p:childTnLst>
                    <p:set>
                      <p:cBhvr>
                        <p:cTn dur="1" fill="hold">
                          <p:stCondLst>
                            <p:cond delay="0"/>
                          </p:stCondLst>
                        </p:cTn>
                        <p:tgtEl>
                          <p:spTgt spid="434186"/>
                        </p:tgtEl>
                        <p:attrNameLst>
                          <p:attrName>style.visibility</p:attrName>
                        </p:attrNameLst>
                      </p:cBhvr>
                      <p:to>
                        <p:strVal val="visible"/>
                      </p:to>
                    </p:set>
                    <p:animEffect transition="in" filter="wipe(left)">
                      <p:cBhvr>
                        <p:cTn dur="1000"/>
                        <p:tgtEl>
                          <p:spTgt spid="434186"/>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434186"/>
                        </p:tgtEl>
                        <p:attrNameLst>
                          <p:attrName>style.visibility</p:attrName>
                        </p:attrNameLst>
                      </p:cBhvr>
                      <p:to>
                        <p:strVal val="visible"/>
                      </p:to>
                    </p:set>
                    <p:animEffect transition="in" filter="wipe(left)">
                      <p:cBhvr>
                        <p:cTn dur="1000"/>
                        <p:tgtEl>
                          <p:spTgt spid="434186"/>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434186"/>
                        </p:tgtEl>
                        <p:attrNameLst>
                          <p:attrName>style.visibility</p:attrName>
                        </p:attrNameLst>
                      </p:cBhvr>
                      <p:to>
                        <p:strVal val="visible"/>
                      </p:to>
                    </p:set>
                    <p:animEffect transition="in" filter="wipe(left)">
                      <p:cBhvr>
                        <p:cTn dur="1000"/>
                        <p:tgtEl>
                          <p:spTgt spid="434186"/>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434186"/>
                        </p:tgtEl>
                        <p:attrNameLst>
                          <p:attrName>style.visibility</p:attrName>
                        </p:attrNameLst>
                      </p:cBhvr>
                      <p:to>
                        <p:strVal val="visible"/>
                      </p:to>
                    </p:set>
                    <p:animEffect transition="in" filter="wipe(left)">
                      <p:cBhvr>
                        <p:cTn dur="1000"/>
                        <p:tgtEl>
                          <p:spTgt spid="434186"/>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434186"/>
                        </p:tgtEl>
                        <p:attrNameLst>
                          <p:attrName>style.visibility</p:attrName>
                        </p:attrNameLst>
                      </p:cBhvr>
                      <p:to>
                        <p:strVal val="visible"/>
                      </p:to>
                    </p:set>
                    <p:animEffect transition="in" filter="wipe(left)">
                      <p:cBhvr>
                        <p:cTn dur="1000"/>
                        <p:tgtEl>
                          <p:spTgt spid="434186"/>
                        </p:tgtEl>
                      </p:cBhvr>
                    </p:animEffect>
                  </p:childTnLst>
                </p:cTn>
              </p:par>
            </p:tnLst>
          </p:tmpl>
        </p:tmplLst>
      </p:bldP>
    </p:bldLst>
  </p:timing>
  <p:txStyles>
    <p:titleStyle>
      <a:lvl1pPr algn="l" rtl="0" fontAlgn="base">
        <a:spcBef>
          <a:spcPct val="0"/>
        </a:spcBef>
        <a:spcAft>
          <a:spcPct val="0"/>
        </a:spcAft>
        <a:defRPr sz="3200" b="1" kern="1200">
          <a:solidFill>
            <a:schemeClr val="tx2"/>
          </a:solidFill>
          <a:effectLst>
            <a:outerShdw blurRad="38100" dist="38100" dir="2700000" algn="tl">
              <a:srgbClr val="C0C0C0"/>
            </a:outerShdw>
          </a:effectLst>
          <a:latin typeface="+mj-lt"/>
          <a:ea typeface="+mj-ea"/>
          <a:cs typeface="+mj-cs"/>
        </a:defRPr>
      </a:lvl1pPr>
      <a:lvl2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sz="32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9714" name="Rectangle 2"/>
          <p:cNvSpPr>
            <a:spLocks noGrp="1" noChangeArrowheads="1"/>
          </p:cNvSpPr>
          <p:nvPr>
            <p:ph type="ctrTitle"/>
          </p:nvPr>
        </p:nvSpPr>
        <p:spPr>
          <a:effectLst>
            <a:outerShdw dist="17961" dir="2700000" algn="ctr" rotWithShape="0">
              <a:schemeClr val="tx1"/>
            </a:outerShdw>
          </a:effectLst>
        </p:spPr>
        <p:txBody>
          <a:bodyPr/>
          <a:lstStyle/>
          <a:p>
            <a:r>
              <a:rPr lang="zh-CN" altLang="en-US">
                <a:effectLst/>
              </a:rPr>
              <a:t>第</a:t>
            </a:r>
            <a:r>
              <a:rPr lang="en-US" altLang="zh-CN">
                <a:effectLst/>
              </a:rPr>
              <a:t>10</a:t>
            </a:r>
            <a:r>
              <a:rPr lang="zh-CN" altLang="en-US">
                <a:effectLst/>
              </a:rPr>
              <a:t>章  数据库保护技术</a:t>
            </a:r>
            <a:endParaRPr lang="en-US" altLang="zh-CN">
              <a:effectLst/>
            </a:endParaRPr>
          </a:p>
        </p:txBody>
      </p:sp>
      <p:sp>
        <p:nvSpPr>
          <p:cNvPr id="499716" name="Rectangle 4"/>
          <p:cNvSpPr>
            <a:spLocks noChangeArrowheads="1"/>
          </p:cNvSpPr>
          <p:nvPr/>
        </p:nvSpPr>
        <p:spPr bwMode="auto">
          <a:xfrm>
            <a:off x="107950" y="80963"/>
            <a:ext cx="3743325"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pPr algn="ctr"/>
            <a:r>
              <a:rPr lang="zh-CN" altLang="en-US" sz="2800" b="1">
                <a:solidFill>
                  <a:srgbClr val="993300"/>
                </a:solidFill>
                <a:effectLst>
                  <a:outerShdw blurRad="38100" dist="38100" dir="2700000" algn="tl">
                    <a:srgbClr val="000000"/>
                  </a:outerShdw>
                </a:effectLst>
                <a:ea typeface="隶书" panose="02010509060101010101" pitchFamily="49" charset="-122"/>
              </a:rPr>
              <a:t>数据库系统原理及应用</a:t>
            </a:r>
            <a:endParaRPr kumimoji="1" lang="zh-CN" altLang="en-US" sz="3000" b="1">
              <a:solidFill>
                <a:srgbClr val="000000"/>
              </a:solidFill>
              <a:effectLst>
                <a:outerShdw blurRad="38100" dist="38100" dir="2700000" algn="tl">
                  <a:srgbClr val="FFFFFF"/>
                </a:outerShdw>
              </a:effectLst>
              <a:latin typeface="Times New Roman" panose="02020603050405020304" pitchFamily="18" charset="0"/>
              <a:ea typeface="楷体_GB2312" pitchFamily="49" charset="-122"/>
            </a:endParaRPr>
          </a:p>
        </p:txBody>
      </p:sp>
      <p:sp>
        <p:nvSpPr>
          <p:cNvPr id="499717" name="Rectangle 5"/>
          <p:cNvSpPr>
            <a:spLocks noChangeArrowheads="1"/>
          </p:cNvSpPr>
          <p:nvPr/>
        </p:nvSpPr>
        <p:spPr bwMode="auto">
          <a:xfrm>
            <a:off x="1763713" y="3357563"/>
            <a:ext cx="59055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gn="ctr">
              <a:lnSpc>
                <a:spcPct val="120000"/>
              </a:lnSpc>
              <a:spcBef>
                <a:spcPct val="20000"/>
              </a:spcBef>
              <a:buClr>
                <a:schemeClr val="hlink"/>
              </a:buClr>
              <a:buSzPct val="55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ctr">
              <a:lnSpc>
                <a:spcPct val="120000"/>
              </a:lnSpc>
              <a:spcBef>
                <a:spcPct val="20000"/>
              </a:spcBef>
              <a:buClr>
                <a:schemeClr val="folHlink"/>
              </a:buClr>
              <a:buSzPct val="5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ctr">
              <a:lnSpc>
                <a:spcPct val="120000"/>
              </a:lnSpc>
              <a:spcBef>
                <a:spcPct val="20000"/>
              </a:spcBef>
              <a:buClr>
                <a:schemeClr val="accent2"/>
              </a:buClr>
              <a:buSzPct val="55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ctr">
              <a:lnSpc>
                <a:spcPct val="120000"/>
              </a:lnSpc>
              <a:spcBef>
                <a:spcPct val="20000"/>
              </a:spcBef>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algn="ctr" fontAlgn="base">
              <a:lnSpc>
                <a:spcPct val="120000"/>
              </a:lnSpc>
              <a:spcBef>
                <a:spcPct val="20000"/>
              </a:spcBef>
              <a:spcAft>
                <a:spcPct val="0"/>
              </a:spcAft>
              <a:buClr>
                <a:schemeClr val="accent1"/>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00000"/>
              </a:lnSpc>
              <a:spcBef>
                <a:spcPct val="0"/>
              </a:spcBef>
              <a:buClrTx/>
              <a:buSzTx/>
              <a:buFontTx/>
              <a:buNone/>
            </a:pPr>
            <a:r>
              <a:rPr lang="zh-CN" altLang="en-US" sz="4000">
                <a:solidFill>
                  <a:srgbClr val="003366"/>
                </a:solidFill>
                <a:latin typeface="华文新魏" panose="02010800040101010101" pitchFamily="2" charset="-122"/>
                <a:ea typeface="华文新魏" panose="02010800040101010101" pitchFamily="2" charset="-122"/>
              </a:rPr>
              <a:t>（第五讲）</a:t>
            </a:r>
          </a:p>
        </p:txBody>
      </p:sp>
    </p:spTree>
  </p:cSld>
  <p:clrMapOvr>
    <a:masterClrMapping/>
  </p:clrMapOvr>
  <mc:AlternateContent xmlns:mc="http://schemas.openxmlformats.org/markup-compatibility/2006" xmlns:p14="http://schemas.microsoft.com/office/powerpoint/2010/main">
    <mc:Choice Requires="p14">
      <p:transition spd="slow" p14:dur="2000" advTm="4233"/>
    </mc:Choice>
    <mc:Fallback xmlns="">
      <p:transition spd="slow" advTm="42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99716"/>
                                        </p:tgtEl>
                                        <p:attrNameLst>
                                          <p:attrName>style.visibility</p:attrName>
                                        </p:attrNameLst>
                                      </p:cBhvr>
                                      <p:to>
                                        <p:strVal val="visible"/>
                                      </p:to>
                                    </p:set>
                                    <p:animEffect transition="in" filter="box(out)">
                                      <p:cBhvr>
                                        <p:cTn id="7" dur="1000"/>
                                        <p:tgtEl>
                                          <p:spTgt spid="499716"/>
                                        </p:tgtEl>
                                      </p:cBhvr>
                                    </p:animEffect>
                                  </p:childTnLst>
                                </p:cTn>
                              </p:par>
                            </p:childTnLst>
                          </p:cTn>
                        </p:par>
                        <p:par>
                          <p:cTn id="8" fill="hold">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499714"/>
                                        </p:tgtEl>
                                        <p:attrNameLst>
                                          <p:attrName>style.visibility</p:attrName>
                                        </p:attrNameLst>
                                      </p:cBhvr>
                                      <p:to>
                                        <p:strVal val="visible"/>
                                      </p:to>
                                    </p:set>
                                    <p:animEffect transition="in" filter="plus(in)">
                                      <p:cBhvr>
                                        <p:cTn id="11" dur="1000"/>
                                        <p:tgtEl>
                                          <p:spTgt spid="499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4" grpId="0"/>
      <p:bldP spid="4997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5" name="Rectangle 3"/>
          <p:cNvSpPr>
            <a:spLocks noChangeAspect="1" noChangeArrowheads="1"/>
          </p:cNvSpPr>
          <p:nvPr/>
        </p:nvSpPr>
        <p:spPr bwMode="auto">
          <a:xfrm>
            <a:off x="323850" y="1196975"/>
            <a:ext cx="8496300" cy="5040313"/>
          </a:xfrm>
          <a:prstGeom prst="rect">
            <a:avLst/>
          </a:prstGeom>
          <a:gradFill rotWithShape="1">
            <a:gsLst>
              <a:gs pos="0">
                <a:srgbClr val="C5ECFF"/>
              </a:gs>
              <a:gs pos="100000">
                <a:srgbClr val="C5ECFF">
                  <a:gamma/>
                  <a:tint val="28627"/>
                  <a:invGamma/>
                </a:srgbClr>
              </a:gs>
            </a:gsLst>
            <a:lin ang="5400000" scaled="1"/>
          </a:gradFill>
          <a:ln w="57150" cmpd="thickThin">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63877" name="Rectangle 5"/>
          <p:cNvSpPr>
            <a:spLocks noChangeArrowheads="1"/>
          </p:cNvSpPr>
          <p:nvPr/>
        </p:nvSpPr>
        <p:spPr bwMode="auto">
          <a:xfrm>
            <a:off x="468313" y="1484313"/>
            <a:ext cx="8208962" cy="4464050"/>
          </a:xfrm>
          <a:prstGeom prst="rect">
            <a:avLst/>
          </a:prstGeom>
          <a:noFill/>
          <a:ln w="9525">
            <a:solidFill>
              <a:srgbClr val="00CC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spcBef>
                <a:spcPct val="40000"/>
              </a:spcBef>
            </a:pPr>
            <a:r>
              <a:rPr lang="zh-CN" altLang="en-US" sz="2600">
                <a:latin typeface="楷体_GB2312" pitchFamily="49" charset="-122"/>
                <a:ea typeface="楷体_GB2312" pitchFamily="49" charset="-122"/>
              </a:rPr>
              <a:t>  数据库是一个可以供多个用户共同使用的共享资源。</a:t>
            </a:r>
          </a:p>
          <a:p>
            <a:pPr>
              <a:spcBef>
                <a:spcPct val="40000"/>
              </a:spcBef>
            </a:pPr>
            <a:r>
              <a:rPr lang="zh-CN" altLang="en-US" sz="2600">
                <a:latin typeface="楷体_GB2312" pitchFamily="49" charset="-122"/>
                <a:ea typeface="楷体_GB2312" pitchFamily="49" charset="-122"/>
              </a:rPr>
              <a:t>  多个事务可以对同一数据同时进行操作，即</a:t>
            </a:r>
            <a:r>
              <a:rPr lang="zh-CN" altLang="en-US" sz="2600">
                <a:latin typeface="Arial" panose="020B0604020202020204" pitchFamily="34" charset="0"/>
                <a:ea typeface="楷体_GB2312" pitchFamily="49" charset="-122"/>
              </a:rPr>
              <a:t>“</a:t>
            </a:r>
            <a:r>
              <a:rPr lang="zh-CN" altLang="en-US" sz="2600">
                <a:latin typeface="楷体_GB2312" pitchFamily="49" charset="-122"/>
                <a:ea typeface="楷体_GB2312" pitchFamily="49" charset="-122"/>
              </a:rPr>
              <a:t>并发操作</a:t>
            </a:r>
            <a:r>
              <a:rPr lang="zh-CN" altLang="en-US" sz="2600">
                <a:latin typeface="Arial" panose="020B0604020202020204" pitchFamily="34" charset="0"/>
                <a:ea typeface="楷体_GB2312" pitchFamily="49" charset="-122"/>
              </a:rPr>
              <a:t>”</a:t>
            </a:r>
            <a:r>
              <a:rPr lang="zh-CN" altLang="en-US" sz="2600">
                <a:latin typeface="楷体_GB2312" pitchFamily="49" charset="-122"/>
                <a:ea typeface="楷体_GB2312" pitchFamily="49" charset="-122"/>
              </a:rPr>
              <a:t>。</a:t>
            </a:r>
          </a:p>
          <a:p>
            <a:pPr>
              <a:spcBef>
                <a:spcPct val="40000"/>
              </a:spcBef>
            </a:pPr>
            <a:r>
              <a:rPr lang="zh-CN" altLang="en-US" sz="2600">
                <a:latin typeface="楷体_GB2312" pitchFamily="49" charset="-122"/>
                <a:ea typeface="楷体_GB2312" pitchFamily="49" charset="-122"/>
              </a:rPr>
              <a:t>   问题是：可能会破坏数据库的完整性。</a:t>
            </a:r>
            <a:r>
              <a:rPr lang="zh-CN" altLang="en-US" sz="2600" b="0">
                <a:latin typeface="黑体" panose="02010609060101010101" pitchFamily="49" charset="-122"/>
                <a:ea typeface="黑体" panose="02010609060101010101" pitchFamily="49" charset="-122"/>
              </a:rPr>
              <a:t> </a:t>
            </a:r>
          </a:p>
          <a:p>
            <a:pPr>
              <a:spcBef>
                <a:spcPct val="40000"/>
              </a:spcBef>
            </a:pPr>
            <a:r>
              <a:rPr lang="zh-CN" altLang="en-US" sz="2600" b="0">
                <a:latin typeface="黑体" panose="02010609060101010101" pitchFamily="49" charset="-122"/>
                <a:ea typeface="黑体" panose="02010609060101010101" pitchFamily="49" charset="-122"/>
              </a:rPr>
              <a:t>    </a:t>
            </a:r>
            <a:r>
              <a:rPr lang="zh-CN" altLang="en-US" sz="2600" b="0">
                <a:solidFill>
                  <a:schemeClr val="hlink"/>
                </a:solidFill>
                <a:latin typeface="黑体" panose="02010609060101010101" pitchFamily="49" charset="-122"/>
                <a:ea typeface="黑体" panose="02010609060101010101" pitchFamily="49" charset="-122"/>
              </a:rPr>
              <a:t>怎么办呢？</a:t>
            </a:r>
          </a:p>
          <a:p>
            <a:pPr>
              <a:spcBef>
                <a:spcPct val="40000"/>
              </a:spcBef>
            </a:pPr>
            <a:r>
              <a:rPr lang="zh-CN" altLang="en-US" sz="2600" b="0">
                <a:solidFill>
                  <a:schemeClr val="hlink"/>
                </a:solidFill>
                <a:latin typeface="黑体" panose="02010609060101010101" pitchFamily="49" charset="-122"/>
                <a:ea typeface="黑体" panose="02010609060101010101" pitchFamily="49" charset="-122"/>
              </a:rPr>
              <a:t>    </a:t>
            </a:r>
            <a:r>
              <a:rPr lang="zh-CN" altLang="en-US" sz="2600" b="0">
                <a:solidFill>
                  <a:srgbClr val="0000CC"/>
                </a:solidFill>
                <a:latin typeface="黑体" panose="02010609060101010101" pitchFamily="49" charset="-122"/>
                <a:ea typeface="黑体" panose="02010609060101010101" pitchFamily="49" charset="-122"/>
              </a:rPr>
              <a:t>控制多个用户如何同时访问和更改共享数据而不会彼此冲突的方法称为</a:t>
            </a:r>
            <a:r>
              <a:rPr lang="zh-CN" altLang="en-US" sz="2600">
                <a:solidFill>
                  <a:srgbClr val="0000CC"/>
                </a:solidFill>
                <a:latin typeface="黑体" panose="02010609060101010101" pitchFamily="49" charset="-122"/>
                <a:ea typeface="黑体" panose="02010609060101010101" pitchFamily="49" charset="-122"/>
              </a:rPr>
              <a:t>并发控制</a:t>
            </a:r>
            <a:r>
              <a:rPr lang="zh-CN" altLang="en-US" sz="2600" b="0">
                <a:solidFill>
                  <a:srgbClr val="0000CC"/>
                </a:solidFill>
                <a:latin typeface="黑体" panose="02010609060101010101" pitchFamily="49" charset="-122"/>
                <a:ea typeface="黑体" panose="02010609060101010101"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9334"/>
    </mc:Choice>
    <mc:Fallback xmlns="">
      <p:transition spd="slow" advTm="593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463875"/>
                                        </p:tgtEl>
                                        <p:attrNameLst>
                                          <p:attrName>style.visibility</p:attrName>
                                        </p:attrNameLst>
                                      </p:cBhvr>
                                      <p:to>
                                        <p:strVal val="visible"/>
                                      </p:to>
                                    </p:set>
                                    <p:anim calcmode="lin" valueType="num">
                                      <p:cBhvr>
                                        <p:cTn id="7" dur="1000" fill="hold"/>
                                        <p:tgtEl>
                                          <p:spTgt spid="463875"/>
                                        </p:tgtEl>
                                        <p:attrNameLst>
                                          <p:attrName>ppt_w</p:attrName>
                                        </p:attrNameLst>
                                      </p:cBhvr>
                                      <p:tavLst>
                                        <p:tav tm="0">
                                          <p:val>
                                            <p:fltVal val="0"/>
                                          </p:val>
                                        </p:tav>
                                        <p:tav tm="100000">
                                          <p:val>
                                            <p:strVal val="#ppt_w"/>
                                          </p:val>
                                        </p:tav>
                                      </p:tavLst>
                                    </p:anim>
                                    <p:anim calcmode="lin" valueType="num">
                                      <p:cBhvr>
                                        <p:cTn id="8" dur="1000" fill="hold"/>
                                        <p:tgtEl>
                                          <p:spTgt spid="463875"/>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63877">
                                            <p:txEl>
                                              <p:pRg st="0" end="0"/>
                                            </p:txEl>
                                          </p:spTgt>
                                        </p:tgtEl>
                                        <p:attrNameLst>
                                          <p:attrName>style.visibility</p:attrName>
                                        </p:attrNameLst>
                                      </p:cBhvr>
                                      <p:to>
                                        <p:strVal val="visible"/>
                                      </p:to>
                                    </p:set>
                                    <p:animEffect transition="in" filter="wipe(left)">
                                      <p:cBhvr>
                                        <p:cTn id="13" dur="500"/>
                                        <p:tgtEl>
                                          <p:spTgt spid="46387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63877">
                                            <p:txEl>
                                              <p:pRg st="1" end="1"/>
                                            </p:txEl>
                                          </p:spTgt>
                                        </p:tgtEl>
                                        <p:attrNameLst>
                                          <p:attrName>style.visibility</p:attrName>
                                        </p:attrNameLst>
                                      </p:cBhvr>
                                      <p:to>
                                        <p:strVal val="visible"/>
                                      </p:to>
                                    </p:set>
                                    <p:animEffect transition="in" filter="wipe(left)">
                                      <p:cBhvr>
                                        <p:cTn id="18" dur="500"/>
                                        <p:tgtEl>
                                          <p:spTgt spid="46387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63877">
                                            <p:txEl>
                                              <p:pRg st="2" end="2"/>
                                            </p:txEl>
                                          </p:spTgt>
                                        </p:tgtEl>
                                        <p:attrNameLst>
                                          <p:attrName>style.visibility</p:attrName>
                                        </p:attrNameLst>
                                      </p:cBhvr>
                                      <p:to>
                                        <p:strVal val="visible"/>
                                      </p:to>
                                    </p:set>
                                    <p:animEffect transition="in" filter="wipe(left)">
                                      <p:cBhvr>
                                        <p:cTn id="23" dur="500"/>
                                        <p:tgtEl>
                                          <p:spTgt spid="46387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63877">
                                            <p:txEl>
                                              <p:pRg st="3" end="3"/>
                                            </p:txEl>
                                          </p:spTgt>
                                        </p:tgtEl>
                                        <p:attrNameLst>
                                          <p:attrName>style.visibility</p:attrName>
                                        </p:attrNameLst>
                                      </p:cBhvr>
                                      <p:to>
                                        <p:strVal val="visible"/>
                                      </p:to>
                                    </p:set>
                                    <p:animEffect transition="in" filter="wipe(left)">
                                      <p:cBhvr>
                                        <p:cTn id="28" dur="500"/>
                                        <p:tgtEl>
                                          <p:spTgt spid="463877">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63877">
                                            <p:txEl>
                                              <p:pRg st="4" end="4"/>
                                            </p:txEl>
                                          </p:spTgt>
                                        </p:tgtEl>
                                        <p:attrNameLst>
                                          <p:attrName>style.visibility</p:attrName>
                                        </p:attrNameLst>
                                      </p:cBhvr>
                                      <p:to>
                                        <p:strVal val="visible"/>
                                      </p:to>
                                    </p:set>
                                    <p:animEffect transition="in" filter="wipe(left)">
                                      <p:cBhvr>
                                        <p:cTn id="33" dur="500"/>
                                        <p:tgtEl>
                                          <p:spTgt spid="4638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8274" name="Rectangle 2"/>
          <p:cNvSpPr>
            <a:spLocks noGrp="1" noChangeArrowheads="1"/>
          </p:cNvSpPr>
          <p:nvPr>
            <p:ph type="ctrTitle"/>
          </p:nvPr>
        </p:nvSpPr>
        <p:spPr/>
        <p:txBody>
          <a:bodyPr/>
          <a:lstStyle/>
          <a:p>
            <a:r>
              <a:rPr lang="en-US" altLang="zh-CN"/>
              <a:t>10.5  </a:t>
            </a:r>
            <a:r>
              <a:rPr lang="zh-CN" altLang="en-US"/>
              <a:t>并发控制</a:t>
            </a:r>
            <a:endParaRPr lang="en-US" altLang="zh-CN"/>
          </a:p>
        </p:txBody>
      </p:sp>
      <p:sp>
        <p:nvSpPr>
          <p:cNvPr id="438275" name="Rectangle 3"/>
          <p:cNvSpPr>
            <a:spLocks noGrp="1" noChangeArrowheads="1"/>
          </p:cNvSpPr>
          <p:nvPr>
            <p:ph type="subTitle" idx="1"/>
          </p:nvPr>
        </p:nvSpPr>
        <p:spPr>
          <a:xfrm>
            <a:off x="1474788" y="3140075"/>
            <a:ext cx="5905500" cy="792163"/>
          </a:xfrm>
        </p:spPr>
        <p:txBody>
          <a:bodyPr/>
          <a:lstStyle/>
          <a:p>
            <a:endParaRPr lang="zh-CN" altLang="en-US"/>
          </a:p>
        </p:txBody>
      </p:sp>
      <p:sp>
        <p:nvSpPr>
          <p:cNvPr id="438276" name="Rectangle 4"/>
          <p:cNvSpPr>
            <a:spLocks noChangeArrowheads="1"/>
          </p:cNvSpPr>
          <p:nvPr/>
        </p:nvSpPr>
        <p:spPr bwMode="auto">
          <a:xfrm>
            <a:off x="71438" y="80963"/>
            <a:ext cx="4645025"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r>
              <a:rPr lang="zh-CN" altLang="en-US" sz="2800" b="1">
                <a:solidFill>
                  <a:srgbClr val="993300"/>
                </a:solidFill>
                <a:effectLst>
                  <a:outerShdw blurRad="38100" dist="38100" dir="2700000" algn="tl">
                    <a:srgbClr val="000000"/>
                  </a:outerShdw>
                </a:effectLst>
                <a:ea typeface="隶书" panose="02010509060101010101" pitchFamily="49" charset="-122"/>
              </a:rPr>
              <a:t>第</a:t>
            </a:r>
            <a:r>
              <a:rPr lang="en-US" altLang="zh-CN" sz="2800" b="1">
                <a:solidFill>
                  <a:srgbClr val="993300"/>
                </a:solidFill>
                <a:effectLst>
                  <a:outerShdw blurRad="38100" dist="38100" dir="2700000" algn="tl">
                    <a:srgbClr val="000000"/>
                  </a:outerShdw>
                </a:effectLst>
                <a:ea typeface="隶书" panose="02010509060101010101" pitchFamily="49" charset="-122"/>
              </a:rPr>
              <a:t>10</a:t>
            </a:r>
            <a:r>
              <a:rPr lang="zh-CN" altLang="en-US" sz="2800" b="1">
                <a:solidFill>
                  <a:srgbClr val="993300"/>
                </a:solidFill>
                <a:effectLst>
                  <a:outerShdw blurRad="38100" dist="38100" dir="2700000" algn="tl">
                    <a:srgbClr val="000000"/>
                  </a:outerShdw>
                </a:effectLst>
                <a:ea typeface="隶书" panose="02010509060101010101" pitchFamily="49" charset="-122"/>
              </a:rPr>
              <a:t>章  数据库保护技术</a:t>
            </a:r>
          </a:p>
        </p:txBody>
      </p:sp>
    </p:spTree>
  </p:cSld>
  <p:clrMapOvr>
    <a:masterClrMapping/>
  </p:clrMapOvr>
  <p:transition advTm="173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38276"/>
                                        </p:tgtEl>
                                        <p:attrNameLst>
                                          <p:attrName>style.visibility</p:attrName>
                                        </p:attrNameLst>
                                      </p:cBhvr>
                                      <p:to>
                                        <p:strVal val="visible"/>
                                      </p:to>
                                    </p:set>
                                    <p:animEffect transition="in" filter="box(out)">
                                      <p:cBhvr>
                                        <p:cTn id="7" dur="1000"/>
                                        <p:tgtEl>
                                          <p:spTgt spid="438276"/>
                                        </p:tgtEl>
                                      </p:cBhvr>
                                    </p:animEffect>
                                  </p:childTnLst>
                                </p:cTn>
                              </p:par>
                            </p:childTnLst>
                          </p:cTn>
                        </p:par>
                        <p:par>
                          <p:cTn id="8" fill="hold">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438274"/>
                                        </p:tgtEl>
                                        <p:attrNameLst>
                                          <p:attrName>style.visibility</p:attrName>
                                        </p:attrNameLst>
                                      </p:cBhvr>
                                      <p:to>
                                        <p:strVal val="visible"/>
                                      </p:to>
                                    </p:set>
                                    <p:animEffect transition="in" filter="plus(in)">
                                      <p:cBhvr>
                                        <p:cTn id="11" dur="1000"/>
                                        <p:tgtEl>
                                          <p:spTgt spid="438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4" grpId="0"/>
      <p:bldP spid="438276"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a:effectLst>
            <a:outerShdw dist="17961" dir="2700000" algn="ctr" rotWithShape="0">
              <a:schemeClr val="tx1"/>
            </a:outerShdw>
          </a:effectLst>
        </p:spPr>
        <p:txBody>
          <a:bodyPr/>
          <a:lstStyle/>
          <a:p>
            <a:r>
              <a:rPr lang="zh-CN" altLang="en-US" sz="2800">
                <a:effectLst/>
                <a:ea typeface="幼圆" panose="02010509060101010101" pitchFamily="49" charset="-122"/>
              </a:rPr>
              <a:t>主要内容</a:t>
            </a:r>
          </a:p>
        </p:txBody>
      </p:sp>
      <p:grpSp>
        <p:nvGrpSpPr>
          <p:cNvPr id="442373" name="Group 5"/>
          <p:cNvGrpSpPr/>
          <p:nvPr/>
        </p:nvGrpSpPr>
        <p:grpSpPr bwMode="auto">
          <a:xfrm>
            <a:off x="1547813" y="2089150"/>
            <a:ext cx="5334000" cy="530225"/>
            <a:chOff x="1248" y="1671"/>
            <a:chExt cx="3360" cy="334"/>
          </a:xfrm>
        </p:grpSpPr>
        <p:grpSp>
          <p:nvGrpSpPr>
            <p:cNvPr id="442374" name="Group 3"/>
            <p:cNvGrpSpPr/>
            <p:nvPr/>
          </p:nvGrpSpPr>
          <p:grpSpPr bwMode="auto">
            <a:xfrm>
              <a:off x="1248" y="1680"/>
              <a:ext cx="3360" cy="323"/>
              <a:chOff x="1543" y="1728"/>
              <a:chExt cx="3493" cy="323"/>
            </a:xfrm>
          </p:grpSpPr>
          <p:sp>
            <p:nvSpPr>
              <p:cNvPr id="2" name="AutoShape 4"/>
              <p:cNvSpPr>
                <a:spLocks noChangeArrowheads="1"/>
              </p:cNvSpPr>
              <p:nvPr/>
            </p:nvSpPr>
            <p:spPr bwMode="gray">
              <a:xfrm>
                <a:off x="1543" y="1728"/>
                <a:ext cx="3493" cy="323"/>
              </a:xfrm>
              <a:prstGeom prst="roundRect">
                <a:avLst>
                  <a:gd name="adj" fmla="val 16667"/>
                </a:avLst>
              </a:prstGeom>
              <a:gradFill rotWithShape="1">
                <a:gsLst>
                  <a:gs pos="0">
                    <a:srgbClr val="48BE67"/>
                  </a:gs>
                  <a:gs pos="100000">
                    <a:srgbClr val="48BE67">
                      <a:gamma/>
                      <a:tint val="36471"/>
                      <a:invGamma/>
                    </a:srgbClr>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42376" name="AutoShape 5"/>
              <p:cNvSpPr>
                <a:spLocks noChangeArrowheads="1"/>
              </p:cNvSpPr>
              <p:nvPr/>
            </p:nvSpPr>
            <p:spPr bwMode="gray">
              <a:xfrm>
                <a:off x="1573" y="1965"/>
                <a:ext cx="3443" cy="83"/>
              </a:xfrm>
              <a:prstGeom prst="roundRect">
                <a:avLst>
                  <a:gd name="adj" fmla="val 50000"/>
                </a:avLst>
              </a:prstGeom>
              <a:gradFill rotWithShape="1">
                <a:gsLst>
                  <a:gs pos="0">
                    <a:srgbClr val="82F094">
                      <a:alpha val="0"/>
                    </a:srgbClr>
                  </a:gs>
                  <a:gs pos="100000">
                    <a:srgbClr val="91F2A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377" name="AutoShape 6"/>
              <p:cNvSpPr>
                <a:spLocks noChangeArrowheads="1"/>
              </p:cNvSpPr>
              <p:nvPr/>
            </p:nvSpPr>
            <p:spPr bwMode="gray">
              <a:xfrm>
                <a:off x="1573" y="1735"/>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42378" name="Text Box 7"/>
            <p:cNvSpPr txBox="1">
              <a:spLocks noChangeArrowheads="1"/>
            </p:cNvSpPr>
            <p:nvPr/>
          </p:nvSpPr>
          <p:spPr bwMode="gray">
            <a:xfrm>
              <a:off x="1824" y="1671"/>
              <a:ext cx="2734"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600" b="1">
                  <a:effectLst>
                    <a:outerShdw blurRad="38100" dist="38100" dir="2700000" algn="tl">
                      <a:srgbClr val="C0C0C0"/>
                    </a:outerShdw>
                  </a:effectLst>
                  <a:latin typeface="楷体_GB2312" pitchFamily="49" charset="-122"/>
                  <a:ea typeface="楷体_GB2312" pitchFamily="49" charset="-122"/>
                </a:rPr>
                <a:t> </a:t>
              </a:r>
              <a:r>
                <a:rPr kumimoji="0" lang="zh-CN" altLang="zh-CN" sz="2600" b="1">
                  <a:effectLst>
                    <a:outerShdw blurRad="38100" dist="38100" dir="2700000" algn="tl">
                      <a:srgbClr val="C0C0C0"/>
                    </a:outerShdw>
                  </a:effectLst>
                  <a:latin typeface="楷体_GB2312" pitchFamily="49" charset="-122"/>
                  <a:ea typeface="楷体_GB2312" pitchFamily="49" charset="-122"/>
                </a:rPr>
                <a:t>锁</a:t>
              </a:r>
              <a:endParaRPr kumimoji="0" lang="en-US" altLang="zh-CN" sz="2600" b="1">
                <a:effectLst>
                  <a:outerShdw blurRad="38100" dist="38100" dir="2700000" algn="tl">
                    <a:srgbClr val="C0C0C0"/>
                  </a:outerShdw>
                </a:effectLst>
                <a:latin typeface="楷体_GB2312" pitchFamily="49" charset="-122"/>
                <a:ea typeface="楷体_GB2312" pitchFamily="49" charset="-122"/>
              </a:endParaRPr>
            </a:p>
          </p:txBody>
        </p:sp>
        <p:grpSp>
          <p:nvGrpSpPr>
            <p:cNvPr id="442379" name="Group 8"/>
            <p:cNvGrpSpPr/>
            <p:nvPr/>
          </p:nvGrpSpPr>
          <p:grpSpPr bwMode="auto">
            <a:xfrm>
              <a:off x="1487" y="1682"/>
              <a:ext cx="337" cy="323"/>
              <a:chOff x="1287" y="587"/>
              <a:chExt cx="670" cy="647"/>
            </a:xfrm>
          </p:grpSpPr>
          <p:sp>
            <p:nvSpPr>
              <p:cNvPr id="442380" name="Oval 9"/>
              <p:cNvSpPr>
                <a:spLocks noChangeArrowheads="1"/>
              </p:cNvSpPr>
              <p:nvPr/>
            </p:nvSpPr>
            <p:spPr bwMode="gray">
              <a:xfrm>
                <a:off x="1287" y="612"/>
                <a:ext cx="670" cy="608"/>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381" name="Oval 10"/>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382" name="Oval 11"/>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383" name="Oval 12"/>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384" name="Oval 13"/>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endParaRPr kumimoji="0" lang="zh-CN" altLang="zh-CN" sz="1800">
                  <a:latin typeface="Calibri" panose="020F0502020204030204" pitchFamily="34" charset="0"/>
                </a:endParaRPr>
              </a:p>
            </p:txBody>
          </p:sp>
        </p:grpSp>
        <p:sp>
          <p:nvSpPr>
            <p:cNvPr id="442385" name="Text Box 14"/>
            <p:cNvSpPr txBox="1">
              <a:spLocks noChangeArrowheads="1"/>
            </p:cNvSpPr>
            <p:nvPr/>
          </p:nvSpPr>
          <p:spPr bwMode="gray">
            <a:xfrm>
              <a:off x="1536" y="168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en-US" altLang="zh-CN">
                  <a:solidFill>
                    <a:srgbClr val="000000"/>
                  </a:solidFill>
                  <a:latin typeface="Calibri" panose="020F0502020204030204" pitchFamily="34" charset="0"/>
                </a:rPr>
                <a:t>2</a:t>
              </a:r>
            </a:p>
          </p:txBody>
        </p:sp>
      </p:grpSp>
      <p:grpSp>
        <p:nvGrpSpPr>
          <p:cNvPr id="442386" name="Group 18"/>
          <p:cNvGrpSpPr/>
          <p:nvPr/>
        </p:nvGrpSpPr>
        <p:grpSpPr bwMode="auto">
          <a:xfrm>
            <a:off x="1547813" y="2830513"/>
            <a:ext cx="5400675" cy="522287"/>
            <a:chOff x="975" y="1737"/>
            <a:chExt cx="3402" cy="329"/>
          </a:xfrm>
        </p:grpSpPr>
        <p:grpSp>
          <p:nvGrpSpPr>
            <p:cNvPr id="442387" name="Group 16"/>
            <p:cNvGrpSpPr/>
            <p:nvPr/>
          </p:nvGrpSpPr>
          <p:grpSpPr bwMode="auto">
            <a:xfrm>
              <a:off x="975" y="1743"/>
              <a:ext cx="3402" cy="323"/>
              <a:chOff x="1543" y="1728"/>
              <a:chExt cx="3493" cy="323"/>
            </a:xfrm>
          </p:grpSpPr>
          <p:sp>
            <p:nvSpPr>
              <p:cNvPr id="3" name="AutoShape 17"/>
              <p:cNvSpPr>
                <a:spLocks noChangeArrowheads="1"/>
              </p:cNvSpPr>
              <p:nvPr/>
            </p:nvSpPr>
            <p:spPr bwMode="gray">
              <a:xfrm>
                <a:off x="1543" y="1728"/>
                <a:ext cx="3493" cy="323"/>
              </a:xfrm>
              <a:prstGeom prst="roundRect">
                <a:avLst>
                  <a:gd name="adj" fmla="val 16667"/>
                </a:avLst>
              </a:prstGeom>
              <a:gradFill rotWithShape="1">
                <a:gsLst>
                  <a:gs pos="0">
                    <a:srgbClr val="80D4F2"/>
                  </a:gs>
                  <a:gs pos="100000">
                    <a:srgbClr val="3CA1E6"/>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42389" name="AutoShape 18"/>
              <p:cNvSpPr>
                <a:spLocks noChangeArrowheads="1"/>
              </p:cNvSpPr>
              <p:nvPr/>
            </p:nvSpPr>
            <p:spPr bwMode="gray">
              <a:xfrm>
                <a:off x="1573" y="1965"/>
                <a:ext cx="3443" cy="83"/>
              </a:xfrm>
              <a:prstGeom prst="roundRect">
                <a:avLst>
                  <a:gd name="adj" fmla="val 50000"/>
                </a:avLst>
              </a:prstGeom>
              <a:gradFill rotWithShape="1">
                <a:gsLst>
                  <a:gs pos="0">
                    <a:srgbClr val="80D4F2">
                      <a:alpha val="0"/>
                    </a:srgbClr>
                  </a:gs>
                  <a:gs pos="100000">
                    <a:srgbClr val="8FD9F4"/>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390" name="AutoShape 19"/>
              <p:cNvSpPr>
                <a:spLocks noChangeArrowheads="1"/>
              </p:cNvSpPr>
              <p:nvPr/>
            </p:nvSpPr>
            <p:spPr bwMode="gray">
              <a:xfrm>
                <a:off x="1573" y="1735"/>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42391" name="Text Box 20"/>
            <p:cNvSpPr txBox="1">
              <a:spLocks noChangeArrowheads="1"/>
            </p:cNvSpPr>
            <p:nvPr/>
          </p:nvSpPr>
          <p:spPr bwMode="gray">
            <a:xfrm>
              <a:off x="1483" y="1752"/>
              <a:ext cx="2814"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600" b="1">
                  <a:effectLst>
                    <a:outerShdw blurRad="38100" dist="38100" dir="2700000" algn="tl">
                      <a:srgbClr val="C0C0C0"/>
                    </a:outerShdw>
                  </a:effectLst>
                  <a:latin typeface="楷体_GB2312" pitchFamily="49" charset="-122"/>
                  <a:ea typeface="楷体_GB2312" pitchFamily="49" charset="-122"/>
                </a:rPr>
                <a:t>  </a:t>
              </a:r>
              <a:r>
                <a:rPr kumimoji="0" lang="zh-CN" altLang="zh-CN" sz="2600" b="1">
                  <a:effectLst>
                    <a:outerShdw blurRad="38100" dist="38100" dir="2700000" algn="tl">
                      <a:srgbClr val="C0C0C0"/>
                    </a:outerShdw>
                  </a:effectLst>
                  <a:latin typeface="楷体_GB2312" pitchFamily="49" charset="-122"/>
                  <a:ea typeface="楷体_GB2312" pitchFamily="49" charset="-122"/>
                </a:rPr>
                <a:t>锁协议</a:t>
              </a:r>
              <a:endParaRPr kumimoji="0" lang="en-US" altLang="zh-CN" sz="2600" b="1">
                <a:effectLst>
                  <a:outerShdw blurRad="38100" dist="38100" dir="2700000" algn="tl">
                    <a:srgbClr val="C0C0C0"/>
                  </a:outerShdw>
                </a:effectLst>
                <a:latin typeface="楷体_GB2312" pitchFamily="49" charset="-122"/>
                <a:ea typeface="楷体_GB2312" pitchFamily="49" charset="-122"/>
              </a:endParaRPr>
            </a:p>
          </p:txBody>
        </p:sp>
        <p:grpSp>
          <p:nvGrpSpPr>
            <p:cNvPr id="442392" name="Group 21"/>
            <p:cNvGrpSpPr/>
            <p:nvPr/>
          </p:nvGrpSpPr>
          <p:grpSpPr bwMode="auto">
            <a:xfrm>
              <a:off x="1221" y="1737"/>
              <a:ext cx="344" cy="323"/>
              <a:chOff x="1287" y="587"/>
              <a:chExt cx="670" cy="647"/>
            </a:xfrm>
          </p:grpSpPr>
          <p:sp>
            <p:nvSpPr>
              <p:cNvPr id="442393" name="Oval 22"/>
              <p:cNvSpPr>
                <a:spLocks noChangeArrowheads="1"/>
              </p:cNvSpPr>
              <p:nvPr/>
            </p:nvSpPr>
            <p:spPr bwMode="gray">
              <a:xfrm>
                <a:off x="1287" y="612"/>
                <a:ext cx="670" cy="608"/>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394" name="Oval 23"/>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395" name="Oval 24"/>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396" name="Oval 25"/>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397" name="Oval 26"/>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endParaRPr kumimoji="0" lang="zh-CN" altLang="zh-CN" sz="1800">
                  <a:latin typeface="Calibri" panose="020F0502020204030204" pitchFamily="34" charset="0"/>
                </a:endParaRPr>
              </a:p>
            </p:txBody>
          </p:sp>
        </p:grpSp>
        <p:sp>
          <p:nvSpPr>
            <p:cNvPr id="442398" name="Text Box 27"/>
            <p:cNvSpPr txBox="1">
              <a:spLocks noChangeArrowheads="1"/>
            </p:cNvSpPr>
            <p:nvPr/>
          </p:nvSpPr>
          <p:spPr bwMode="gray">
            <a:xfrm>
              <a:off x="1282" y="1752"/>
              <a:ext cx="2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en-US" altLang="zh-CN">
                  <a:solidFill>
                    <a:srgbClr val="000000"/>
                  </a:solidFill>
                  <a:latin typeface="Calibri" panose="020F0502020204030204" pitchFamily="34" charset="0"/>
                </a:rPr>
                <a:t>3</a:t>
              </a:r>
            </a:p>
          </p:txBody>
        </p:sp>
      </p:grpSp>
      <p:grpSp>
        <p:nvGrpSpPr>
          <p:cNvPr id="442464" name="Group 96"/>
          <p:cNvGrpSpPr/>
          <p:nvPr/>
        </p:nvGrpSpPr>
        <p:grpSpPr bwMode="auto">
          <a:xfrm>
            <a:off x="1547813" y="1341438"/>
            <a:ext cx="6280150" cy="523875"/>
            <a:chOff x="1101" y="1026"/>
            <a:chExt cx="3956" cy="330"/>
          </a:xfrm>
        </p:grpSpPr>
        <p:grpSp>
          <p:nvGrpSpPr>
            <p:cNvPr id="442400" name="Group 55"/>
            <p:cNvGrpSpPr/>
            <p:nvPr/>
          </p:nvGrpSpPr>
          <p:grpSpPr bwMode="auto">
            <a:xfrm>
              <a:off x="1101" y="1026"/>
              <a:ext cx="3956" cy="323"/>
              <a:chOff x="1543" y="1728"/>
              <a:chExt cx="3493" cy="323"/>
            </a:xfrm>
          </p:grpSpPr>
          <p:sp>
            <p:nvSpPr>
              <p:cNvPr id="18488" name="AutoShape 56"/>
              <p:cNvSpPr>
                <a:spLocks noChangeArrowheads="1"/>
              </p:cNvSpPr>
              <p:nvPr/>
            </p:nvSpPr>
            <p:spPr bwMode="gray">
              <a:xfrm>
                <a:off x="1543" y="1728"/>
                <a:ext cx="3493" cy="323"/>
              </a:xfrm>
              <a:prstGeom prst="roundRect">
                <a:avLst>
                  <a:gd name="adj" fmla="val 16667"/>
                </a:avLst>
              </a:prstGeom>
              <a:gradFill rotWithShape="1">
                <a:gsLst>
                  <a:gs pos="0">
                    <a:srgbClr val="EAC924"/>
                  </a:gs>
                  <a:gs pos="100000">
                    <a:srgbClr val="EAC924">
                      <a:gamma/>
                      <a:tint val="36471"/>
                      <a:invGamma/>
                    </a:srgbClr>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42402" name="AutoShape 57"/>
              <p:cNvSpPr>
                <a:spLocks noChangeArrowheads="1"/>
              </p:cNvSpPr>
              <p:nvPr/>
            </p:nvSpPr>
            <p:spPr bwMode="gray">
              <a:xfrm>
                <a:off x="1573" y="1965"/>
                <a:ext cx="3443" cy="83"/>
              </a:xfrm>
              <a:prstGeom prst="roundRect">
                <a:avLst>
                  <a:gd name="adj" fmla="val 50000"/>
                </a:avLst>
              </a:prstGeom>
              <a:gradFill rotWithShape="1">
                <a:gsLst>
                  <a:gs pos="0">
                    <a:srgbClr val="EAC924">
                      <a:alpha val="0"/>
                    </a:srgbClr>
                  </a:gs>
                  <a:gs pos="100000">
                    <a:srgbClr val="EDD03F"/>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03" name="AutoShape 58"/>
              <p:cNvSpPr>
                <a:spLocks noChangeArrowheads="1"/>
              </p:cNvSpPr>
              <p:nvPr/>
            </p:nvSpPr>
            <p:spPr bwMode="gray">
              <a:xfrm>
                <a:off x="1573" y="1735"/>
                <a:ext cx="3443" cy="83"/>
              </a:xfrm>
              <a:prstGeom prst="roundRect">
                <a:avLst>
                  <a:gd name="adj" fmla="val 50000"/>
                </a:avLst>
              </a:prstGeom>
              <a:gradFill rotWithShape="1">
                <a:gsLst>
                  <a:gs pos="0">
                    <a:srgbClr val="F8EDB6"/>
                  </a:gs>
                  <a:gs pos="100000">
                    <a:srgbClr val="EAC924">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42404" name="Text Box 59"/>
            <p:cNvSpPr txBox="1">
              <a:spLocks noChangeArrowheads="1"/>
            </p:cNvSpPr>
            <p:nvPr/>
          </p:nvSpPr>
          <p:spPr bwMode="gray">
            <a:xfrm>
              <a:off x="1736" y="1043"/>
              <a:ext cx="3113"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zh-CN" sz="2600" b="1" dirty="0">
                  <a:effectLst>
                    <a:outerShdw blurRad="38100" dist="38100" dir="2700000" algn="tl">
                      <a:srgbClr val="C0C0C0"/>
                    </a:outerShdw>
                  </a:effectLst>
                  <a:latin typeface="楷体_GB2312" pitchFamily="49" charset="-122"/>
                  <a:ea typeface="楷体_GB2312" pitchFamily="49" charset="-122"/>
                </a:rPr>
                <a:t>并发操作带来的数据不一致问题</a:t>
              </a:r>
              <a:endParaRPr kumimoji="0" lang="en-US" altLang="zh-CN" sz="2600" b="1" dirty="0">
                <a:effectLst>
                  <a:outerShdw blurRad="38100" dist="38100" dir="2700000" algn="tl">
                    <a:srgbClr val="C0C0C0"/>
                  </a:outerShdw>
                </a:effectLst>
                <a:latin typeface="楷体_GB2312" pitchFamily="49" charset="-122"/>
                <a:ea typeface="楷体_GB2312" pitchFamily="49" charset="-122"/>
              </a:endParaRPr>
            </a:p>
          </p:txBody>
        </p:sp>
        <p:grpSp>
          <p:nvGrpSpPr>
            <p:cNvPr id="442405" name="Group 60"/>
            <p:cNvGrpSpPr/>
            <p:nvPr/>
          </p:nvGrpSpPr>
          <p:grpSpPr bwMode="auto">
            <a:xfrm>
              <a:off x="1338" y="1028"/>
              <a:ext cx="319" cy="323"/>
              <a:chOff x="1287" y="587"/>
              <a:chExt cx="670" cy="647"/>
            </a:xfrm>
          </p:grpSpPr>
          <p:sp>
            <p:nvSpPr>
              <p:cNvPr id="442406" name="Oval 61"/>
              <p:cNvSpPr>
                <a:spLocks noChangeArrowheads="1"/>
              </p:cNvSpPr>
              <p:nvPr/>
            </p:nvSpPr>
            <p:spPr bwMode="gray">
              <a:xfrm>
                <a:off x="1287" y="612"/>
                <a:ext cx="670" cy="608"/>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07" name="Oval 62"/>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08" name="Oval 63"/>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09" name="Oval 64"/>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10" name="Oval 65"/>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endParaRPr kumimoji="0" lang="zh-CN" altLang="zh-CN" sz="1800">
                  <a:latin typeface="Calibri" panose="020F0502020204030204" pitchFamily="34" charset="0"/>
                </a:endParaRPr>
              </a:p>
            </p:txBody>
          </p:sp>
        </p:grpSp>
        <p:sp>
          <p:nvSpPr>
            <p:cNvPr id="442411" name="Text Box 66"/>
            <p:cNvSpPr txBox="1">
              <a:spLocks noChangeArrowheads="1"/>
            </p:cNvSpPr>
            <p:nvPr/>
          </p:nvSpPr>
          <p:spPr bwMode="gray">
            <a:xfrm>
              <a:off x="1396" y="1034"/>
              <a:ext cx="331"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en-US" altLang="zh-CN">
                  <a:solidFill>
                    <a:srgbClr val="000000"/>
                  </a:solidFill>
                  <a:latin typeface="Calibri" panose="020F0502020204030204" pitchFamily="34" charset="0"/>
                </a:rPr>
                <a:t>1</a:t>
              </a:r>
            </a:p>
          </p:txBody>
        </p:sp>
      </p:grpSp>
      <p:grpSp>
        <p:nvGrpSpPr>
          <p:cNvPr id="442465" name="Group 97"/>
          <p:cNvGrpSpPr/>
          <p:nvPr/>
        </p:nvGrpSpPr>
        <p:grpSpPr bwMode="auto">
          <a:xfrm>
            <a:off x="1547813" y="3573463"/>
            <a:ext cx="6064250" cy="522287"/>
            <a:chOff x="1101" y="2432"/>
            <a:chExt cx="3820" cy="329"/>
          </a:xfrm>
        </p:grpSpPr>
        <p:grpSp>
          <p:nvGrpSpPr>
            <p:cNvPr id="442413" name="Group 3"/>
            <p:cNvGrpSpPr/>
            <p:nvPr/>
          </p:nvGrpSpPr>
          <p:grpSpPr bwMode="auto">
            <a:xfrm>
              <a:off x="1101" y="2432"/>
              <a:ext cx="3820" cy="329"/>
              <a:chOff x="1543" y="1728"/>
              <a:chExt cx="3493" cy="323"/>
            </a:xfrm>
          </p:grpSpPr>
          <p:sp>
            <p:nvSpPr>
              <p:cNvPr id="18436" name="AutoShape 4"/>
              <p:cNvSpPr>
                <a:spLocks noChangeArrowheads="1"/>
              </p:cNvSpPr>
              <p:nvPr/>
            </p:nvSpPr>
            <p:spPr bwMode="gray">
              <a:xfrm>
                <a:off x="1543" y="1728"/>
                <a:ext cx="3493" cy="323"/>
              </a:xfrm>
              <a:prstGeom prst="roundRect">
                <a:avLst>
                  <a:gd name="adj" fmla="val 16667"/>
                </a:avLst>
              </a:prstGeom>
              <a:gradFill rotWithShape="1">
                <a:gsLst>
                  <a:gs pos="0">
                    <a:srgbClr val="48BE67"/>
                  </a:gs>
                  <a:gs pos="100000">
                    <a:srgbClr val="48BE67">
                      <a:gamma/>
                      <a:tint val="36471"/>
                      <a:invGamma/>
                    </a:srgbClr>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42415" name="AutoShape 5"/>
              <p:cNvSpPr>
                <a:spLocks noChangeArrowheads="1"/>
              </p:cNvSpPr>
              <p:nvPr/>
            </p:nvSpPr>
            <p:spPr bwMode="gray">
              <a:xfrm>
                <a:off x="1573" y="1965"/>
                <a:ext cx="3443" cy="83"/>
              </a:xfrm>
              <a:prstGeom prst="roundRect">
                <a:avLst>
                  <a:gd name="adj" fmla="val 50000"/>
                </a:avLst>
              </a:prstGeom>
              <a:gradFill rotWithShape="1">
                <a:gsLst>
                  <a:gs pos="0">
                    <a:srgbClr val="82F094">
                      <a:alpha val="0"/>
                    </a:srgbClr>
                  </a:gs>
                  <a:gs pos="100000">
                    <a:srgbClr val="91F2A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16" name="AutoShape 6"/>
              <p:cNvSpPr>
                <a:spLocks noChangeArrowheads="1"/>
              </p:cNvSpPr>
              <p:nvPr/>
            </p:nvSpPr>
            <p:spPr bwMode="gray">
              <a:xfrm>
                <a:off x="1573" y="1735"/>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42417" name="Text Box 7"/>
            <p:cNvSpPr txBox="1">
              <a:spLocks noChangeArrowheads="1"/>
            </p:cNvSpPr>
            <p:nvPr/>
          </p:nvSpPr>
          <p:spPr bwMode="gray">
            <a:xfrm>
              <a:off x="1736" y="2432"/>
              <a:ext cx="3114"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600" b="1">
                  <a:effectLst>
                    <a:outerShdw blurRad="38100" dist="38100" dir="2700000" algn="tl">
                      <a:srgbClr val="C0C0C0"/>
                    </a:outerShdw>
                  </a:effectLst>
                  <a:latin typeface="楷体_GB2312" pitchFamily="49" charset="-122"/>
                  <a:ea typeface="楷体_GB2312" pitchFamily="49" charset="-122"/>
                </a:rPr>
                <a:t>封锁带来的问题：活锁和死锁</a:t>
              </a:r>
            </a:p>
          </p:txBody>
        </p:sp>
        <p:grpSp>
          <p:nvGrpSpPr>
            <p:cNvPr id="442418" name="Group 8"/>
            <p:cNvGrpSpPr/>
            <p:nvPr/>
          </p:nvGrpSpPr>
          <p:grpSpPr bwMode="auto">
            <a:xfrm>
              <a:off x="1373" y="2434"/>
              <a:ext cx="331" cy="322"/>
              <a:chOff x="1287" y="587"/>
              <a:chExt cx="670" cy="647"/>
            </a:xfrm>
          </p:grpSpPr>
          <p:sp>
            <p:nvSpPr>
              <p:cNvPr id="442419" name="Oval 9"/>
              <p:cNvSpPr>
                <a:spLocks noChangeArrowheads="1"/>
              </p:cNvSpPr>
              <p:nvPr/>
            </p:nvSpPr>
            <p:spPr bwMode="gray">
              <a:xfrm>
                <a:off x="1287" y="611"/>
                <a:ext cx="670" cy="609"/>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20" name="Oval 10"/>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21" name="Oval 11"/>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22" name="Oval 12"/>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23" name="Oval 13"/>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endParaRPr kumimoji="0" lang="zh-CN" altLang="zh-CN" sz="1800">
                  <a:latin typeface="Calibri" panose="020F0502020204030204" pitchFamily="34" charset="0"/>
                </a:endParaRPr>
              </a:p>
            </p:txBody>
          </p:sp>
        </p:grpSp>
        <p:sp>
          <p:nvSpPr>
            <p:cNvPr id="442424" name="Text Box 14"/>
            <p:cNvSpPr txBox="1">
              <a:spLocks noChangeArrowheads="1"/>
            </p:cNvSpPr>
            <p:nvPr/>
          </p:nvSpPr>
          <p:spPr bwMode="gray">
            <a:xfrm>
              <a:off x="1383" y="2440"/>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en-US" altLang="zh-CN">
                  <a:solidFill>
                    <a:srgbClr val="000000"/>
                  </a:solidFill>
                  <a:latin typeface="Calibri" panose="020F0502020204030204" pitchFamily="34" charset="0"/>
                </a:rPr>
                <a:t>4</a:t>
              </a:r>
            </a:p>
          </p:txBody>
        </p:sp>
      </p:grpSp>
      <p:grpSp>
        <p:nvGrpSpPr>
          <p:cNvPr id="442425" name="Group 57"/>
          <p:cNvGrpSpPr/>
          <p:nvPr/>
        </p:nvGrpSpPr>
        <p:grpSpPr bwMode="auto">
          <a:xfrm>
            <a:off x="1547813" y="4300538"/>
            <a:ext cx="5402262" cy="525462"/>
            <a:chOff x="975" y="2663"/>
            <a:chExt cx="3403" cy="331"/>
          </a:xfrm>
        </p:grpSpPr>
        <p:grpSp>
          <p:nvGrpSpPr>
            <p:cNvPr id="442426" name="Group 16"/>
            <p:cNvGrpSpPr/>
            <p:nvPr/>
          </p:nvGrpSpPr>
          <p:grpSpPr bwMode="auto">
            <a:xfrm>
              <a:off x="975" y="2669"/>
              <a:ext cx="3403" cy="325"/>
              <a:chOff x="1543" y="1728"/>
              <a:chExt cx="3493" cy="323"/>
            </a:xfrm>
          </p:grpSpPr>
          <p:sp>
            <p:nvSpPr>
              <p:cNvPr id="4" name="AutoShape 17"/>
              <p:cNvSpPr>
                <a:spLocks noChangeArrowheads="1"/>
              </p:cNvSpPr>
              <p:nvPr/>
            </p:nvSpPr>
            <p:spPr bwMode="gray">
              <a:xfrm>
                <a:off x="1543" y="1728"/>
                <a:ext cx="3493" cy="323"/>
              </a:xfrm>
              <a:prstGeom prst="roundRect">
                <a:avLst>
                  <a:gd name="adj" fmla="val 16667"/>
                </a:avLst>
              </a:prstGeom>
              <a:gradFill rotWithShape="1">
                <a:gsLst>
                  <a:gs pos="0">
                    <a:srgbClr val="80D4F2"/>
                  </a:gs>
                  <a:gs pos="100000">
                    <a:srgbClr val="3CA1E6"/>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42428" name="AutoShape 18"/>
              <p:cNvSpPr>
                <a:spLocks noChangeArrowheads="1"/>
              </p:cNvSpPr>
              <p:nvPr/>
            </p:nvSpPr>
            <p:spPr bwMode="gray">
              <a:xfrm>
                <a:off x="1573" y="1965"/>
                <a:ext cx="3443" cy="83"/>
              </a:xfrm>
              <a:prstGeom prst="roundRect">
                <a:avLst>
                  <a:gd name="adj" fmla="val 50000"/>
                </a:avLst>
              </a:prstGeom>
              <a:gradFill rotWithShape="1">
                <a:gsLst>
                  <a:gs pos="0">
                    <a:srgbClr val="80D4F2">
                      <a:alpha val="0"/>
                    </a:srgbClr>
                  </a:gs>
                  <a:gs pos="100000">
                    <a:srgbClr val="8FD9F4"/>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29" name="AutoShape 19"/>
              <p:cNvSpPr>
                <a:spLocks noChangeArrowheads="1"/>
              </p:cNvSpPr>
              <p:nvPr/>
            </p:nvSpPr>
            <p:spPr bwMode="gray">
              <a:xfrm>
                <a:off x="1573" y="1735"/>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42430" name="Text Box 20"/>
            <p:cNvSpPr txBox="1">
              <a:spLocks noChangeArrowheads="1"/>
            </p:cNvSpPr>
            <p:nvPr/>
          </p:nvSpPr>
          <p:spPr bwMode="gray">
            <a:xfrm>
              <a:off x="1603" y="2668"/>
              <a:ext cx="204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600" b="1">
                  <a:effectLst>
                    <a:outerShdw blurRad="38100" dist="38100" dir="2700000" algn="tl">
                      <a:srgbClr val="C0C0C0"/>
                    </a:outerShdw>
                  </a:effectLst>
                  <a:latin typeface="楷体_GB2312" pitchFamily="49" charset="-122"/>
                  <a:ea typeface="楷体_GB2312" pitchFamily="49" charset="-122"/>
                </a:rPr>
                <a:t>并发调度的可串行性</a:t>
              </a:r>
            </a:p>
          </p:txBody>
        </p:sp>
        <p:grpSp>
          <p:nvGrpSpPr>
            <p:cNvPr id="442431" name="Group 21"/>
            <p:cNvGrpSpPr/>
            <p:nvPr/>
          </p:nvGrpSpPr>
          <p:grpSpPr bwMode="auto">
            <a:xfrm>
              <a:off x="1217" y="2663"/>
              <a:ext cx="341" cy="325"/>
              <a:chOff x="1287" y="587"/>
              <a:chExt cx="670" cy="647"/>
            </a:xfrm>
          </p:grpSpPr>
          <p:sp>
            <p:nvSpPr>
              <p:cNvPr id="442432" name="Oval 22"/>
              <p:cNvSpPr>
                <a:spLocks noChangeArrowheads="1"/>
              </p:cNvSpPr>
              <p:nvPr/>
            </p:nvSpPr>
            <p:spPr bwMode="gray">
              <a:xfrm>
                <a:off x="1287" y="612"/>
                <a:ext cx="670" cy="608"/>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33" name="Oval 23"/>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34" name="Oval 24"/>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35" name="Oval 25"/>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36" name="Oval 26"/>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endParaRPr kumimoji="0" lang="zh-CN" altLang="zh-CN" sz="1800">
                  <a:latin typeface="Calibri" panose="020F0502020204030204" pitchFamily="34" charset="0"/>
                </a:endParaRPr>
              </a:p>
            </p:txBody>
          </p:sp>
        </p:grpSp>
        <p:sp>
          <p:nvSpPr>
            <p:cNvPr id="442437" name="Text Box 27"/>
            <p:cNvSpPr txBox="1">
              <a:spLocks noChangeArrowheads="1"/>
            </p:cNvSpPr>
            <p:nvPr/>
          </p:nvSpPr>
          <p:spPr bwMode="gray">
            <a:xfrm>
              <a:off x="1267" y="2669"/>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en-US" altLang="zh-CN">
                  <a:solidFill>
                    <a:srgbClr val="000000"/>
                  </a:solidFill>
                  <a:latin typeface="Calibri" panose="020F0502020204030204" pitchFamily="34" charset="0"/>
                </a:rPr>
                <a:t>5</a:t>
              </a:r>
            </a:p>
          </p:txBody>
        </p:sp>
      </p:grpSp>
      <p:grpSp>
        <p:nvGrpSpPr>
          <p:cNvPr id="442438" name="Group 70"/>
          <p:cNvGrpSpPr/>
          <p:nvPr/>
        </p:nvGrpSpPr>
        <p:grpSpPr bwMode="auto">
          <a:xfrm>
            <a:off x="1547813" y="5014913"/>
            <a:ext cx="5402262" cy="525462"/>
            <a:chOff x="975" y="3645"/>
            <a:chExt cx="3403" cy="331"/>
          </a:xfrm>
        </p:grpSpPr>
        <p:grpSp>
          <p:nvGrpSpPr>
            <p:cNvPr id="442439" name="Group 42"/>
            <p:cNvGrpSpPr/>
            <p:nvPr/>
          </p:nvGrpSpPr>
          <p:grpSpPr bwMode="auto">
            <a:xfrm>
              <a:off x="975" y="3645"/>
              <a:ext cx="3403" cy="329"/>
              <a:chOff x="1543" y="1728"/>
              <a:chExt cx="3493" cy="323"/>
            </a:xfrm>
          </p:grpSpPr>
          <p:sp>
            <p:nvSpPr>
              <p:cNvPr id="18475" name="AutoShape 43"/>
              <p:cNvSpPr>
                <a:spLocks noChangeArrowheads="1"/>
              </p:cNvSpPr>
              <p:nvPr/>
            </p:nvSpPr>
            <p:spPr bwMode="gray">
              <a:xfrm>
                <a:off x="1543" y="1728"/>
                <a:ext cx="3493" cy="323"/>
              </a:xfrm>
              <a:prstGeom prst="roundRect">
                <a:avLst>
                  <a:gd name="adj" fmla="val 16667"/>
                </a:avLst>
              </a:prstGeom>
              <a:gradFill rotWithShape="1">
                <a:gsLst>
                  <a:gs pos="0">
                    <a:srgbClr val="ED9E85"/>
                  </a:gs>
                  <a:gs pos="100000">
                    <a:srgbClr val="ED9E85">
                      <a:gamma/>
                      <a:tint val="36471"/>
                      <a:invGamma/>
                    </a:srgbClr>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42441" name="AutoShape 44"/>
              <p:cNvSpPr>
                <a:spLocks noChangeArrowheads="1"/>
              </p:cNvSpPr>
              <p:nvPr/>
            </p:nvSpPr>
            <p:spPr bwMode="gray">
              <a:xfrm>
                <a:off x="1573" y="1965"/>
                <a:ext cx="3443" cy="83"/>
              </a:xfrm>
              <a:prstGeom prst="roundRect">
                <a:avLst>
                  <a:gd name="adj" fmla="val 50000"/>
                </a:avLst>
              </a:prstGeom>
              <a:gradFill rotWithShape="1">
                <a:gsLst>
                  <a:gs pos="0">
                    <a:srgbClr val="ED9E85">
                      <a:alpha val="0"/>
                    </a:srgbClr>
                  </a:gs>
                  <a:gs pos="100000">
                    <a:srgbClr val="EFAA94"/>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42" name="AutoShape 45"/>
              <p:cNvSpPr>
                <a:spLocks noChangeArrowheads="1"/>
              </p:cNvSpPr>
              <p:nvPr/>
            </p:nvSpPr>
            <p:spPr bwMode="gray">
              <a:xfrm>
                <a:off x="1573" y="1735"/>
                <a:ext cx="3443" cy="83"/>
              </a:xfrm>
              <a:prstGeom prst="roundRect">
                <a:avLst>
                  <a:gd name="adj" fmla="val 50000"/>
                </a:avLst>
              </a:prstGeom>
              <a:gradFill rotWithShape="1">
                <a:gsLst>
                  <a:gs pos="0">
                    <a:srgbClr val="F9DFD6"/>
                  </a:gs>
                  <a:gs pos="100000">
                    <a:srgbClr val="ED9E85">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42443" name="Text Box 46"/>
            <p:cNvSpPr txBox="1">
              <a:spLocks noChangeArrowheads="1"/>
            </p:cNvSpPr>
            <p:nvPr/>
          </p:nvSpPr>
          <p:spPr bwMode="gray">
            <a:xfrm>
              <a:off x="1603" y="3645"/>
              <a:ext cx="2729"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600" b="1">
                  <a:effectLst>
                    <a:outerShdw blurRad="38100" dist="38100" dir="2700000" algn="tl">
                      <a:srgbClr val="C0C0C0"/>
                    </a:outerShdw>
                  </a:effectLst>
                  <a:latin typeface="楷体_GB2312" pitchFamily="49" charset="-122"/>
                  <a:ea typeface="楷体_GB2312" pitchFamily="49" charset="-122"/>
                </a:rPr>
                <a:t>两段锁协议</a:t>
              </a:r>
            </a:p>
          </p:txBody>
        </p:sp>
        <p:grpSp>
          <p:nvGrpSpPr>
            <p:cNvPr id="442444" name="Group 47"/>
            <p:cNvGrpSpPr/>
            <p:nvPr/>
          </p:nvGrpSpPr>
          <p:grpSpPr bwMode="auto">
            <a:xfrm>
              <a:off x="1217" y="3647"/>
              <a:ext cx="341" cy="329"/>
              <a:chOff x="1287" y="587"/>
              <a:chExt cx="670" cy="647"/>
            </a:xfrm>
          </p:grpSpPr>
          <p:sp>
            <p:nvSpPr>
              <p:cNvPr id="442445" name="Oval 48"/>
              <p:cNvSpPr>
                <a:spLocks noChangeArrowheads="1"/>
              </p:cNvSpPr>
              <p:nvPr/>
            </p:nvSpPr>
            <p:spPr bwMode="gray">
              <a:xfrm>
                <a:off x="1287" y="618"/>
                <a:ext cx="670" cy="5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46" name="Oval 49"/>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47" name="Oval 50"/>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48" name="Oval 51"/>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49" name="Oval 52"/>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endParaRPr kumimoji="0" lang="zh-CN" altLang="zh-CN" sz="1800">
                  <a:latin typeface="Calibri" panose="020F0502020204030204" pitchFamily="34" charset="0"/>
                </a:endParaRPr>
              </a:p>
            </p:txBody>
          </p:sp>
        </p:grpSp>
        <p:sp>
          <p:nvSpPr>
            <p:cNvPr id="442450" name="Text Box 53"/>
            <p:cNvSpPr txBox="1">
              <a:spLocks noChangeArrowheads="1"/>
            </p:cNvSpPr>
            <p:nvPr/>
          </p:nvSpPr>
          <p:spPr bwMode="gray">
            <a:xfrm>
              <a:off x="1267" y="3653"/>
              <a:ext cx="2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r>
                <a:rPr kumimoji="0" lang="en-US" altLang="zh-CN">
                  <a:solidFill>
                    <a:srgbClr val="000000"/>
                  </a:solidFill>
                  <a:latin typeface="Calibri" panose="020F0502020204030204" pitchFamily="34" charset="0"/>
                </a:rPr>
                <a:t>6</a:t>
              </a:r>
            </a:p>
          </p:txBody>
        </p:sp>
      </p:grpSp>
      <p:grpSp>
        <p:nvGrpSpPr>
          <p:cNvPr id="442466" name="Group 98"/>
          <p:cNvGrpSpPr/>
          <p:nvPr/>
        </p:nvGrpSpPr>
        <p:grpSpPr bwMode="auto">
          <a:xfrm>
            <a:off x="1563688" y="5734050"/>
            <a:ext cx="5400675" cy="522288"/>
            <a:chOff x="975" y="1737"/>
            <a:chExt cx="3402" cy="329"/>
          </a:xfrm>
        </p:grpSpPr>
        <p:grpSp>
          <p:nvGrpSpPr>
            <p:cNvPr id="442467" name="Group 16"/>
            <p:cNvGrpSpPr/>
            <p:nvPr/>
          </p:nvGrpSpPr>
          <p:grpSpPr bwMode="auto">
            <a:xfrm>
              <a:off x="975" y="1743"/>
              <a:ext cx="3402" cy="323"/>
              <a:chOff x="1543" y="1728"/>
              <a:chExt cx="3493" cy="323"/>
            </a:xfrm>
          </p:grpSpPr>
          <p:sp>
            <p:nvSpPr>
              <p:cNvPr id="18449" name="AutoShape 17"/>
              <p:cNvSpPr>
                <a:spLocks noChangeArrowheads="1"/>
              </p:cNvSpPr>
              <p:nvPr/>
            </p:nvSpPr>
            <p:spPr bwMode="gray">
              <a:xfrm>
                <a:off x="1543" y="1728"/>
                <a:ext cx="3493" cy="323"/>
              </a:xfrm>
              <a:prstGeom prst="roundRect">
                <a:avLst>
                  <a:gd name="adj" fmla="val 16667"/>
                </a:avLst>
              </a:prstGeom>
              <a:gradFill rotWithShape="1">
                <a:gsLst>
                  <a:gs pos="0">
                    <a:srgbClr val="80D4F2"/>
                  </a:gs>
                  <a:gs pos="100000">
                    <a:srgbClr val="3CA1E6"/>
                  </a:gs>
                </a:gsLst>
                <a:lin ang="5400000" scaled="1"/>
              </a:gradFill>
              <a:ln>
                <a:noFill/>
              </a:ln>
              <a:effectLst>
                <a:outerShdw dist="35921" dir="2700000" algn="ctr" rotWithShape="0">
                  <a:srgbClr val="B2B2B2"/>
                </a:outerShdw>
              </a:effectLst>
            </p:spPr>
            <p:txBody>
              <a:bodyPr wrap="none" anchor="ctr"/>
              <a:lstStyle/>
              <a:p>
                <a:pPr fontAlgn="auto">
                  <a:spcBef>
                    <a:spcPts val="0"/>
                  </a:spcBef>
                  <a:spcAft>
                    <a:spcPts val="0"/>
                  </a:spcAft>
                  <a:defRPr/>
                </a:pPr>
                <a:endParaRPr lang="zh-CN" altLang="en-US">
                  <a:latin typeface="+mn-lt"/>
                  <a:ea typeface="+mn-ea"/>
                </a:endParaRPr>
              </a:p>
            </p:txBody>
          </p:sp>
          <p:sp>
            <p:nvSpPr>
              <p:cNvPr id="442469" name="AutoShape 18"/>
              <p:cNvSpPr>
                <a:spLocks noChangeArrowheads="1"/>
              </p:cNvSpPr>
              <p:nvPr/>
            </p:nvSpPr>
            <p:spPr bwMode="gray">
              <a:xfrm>
                <a:off x="1573" y="1965"/>
                <a:ext cx="3443" cy="83"/>
              </a:xfrm>
              <a:prstGeom prst="roundRect">
                <a:avLst>
                  <a:gd name="adj" fmla="val 50000"/>
                </a:avLst>
              </a:prstGeom>
              <a:gradFill rotWithShape="1">
                <a:gsLst>
                  <a:gs pos="0">
                    <a:srgbClr val="80D4F2">
                      <a:alpha val="0"/>
                    </a:srgbClr>
                  </a:gs>
                  <a:gs pos="100000">
                    <a:srgbClr val="8FD9F4"/>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70" name="AutoShape 19"/>
              <p:cNvSpPr>
                <a:spLocks noChangeArrowheads="1"/>
              </p:cNvSpPr>
              <p:nvPr/>
            </p:nvSpPr>
            <p:spPr bwMode="gray">
              <a:xfrm>
                <a:off x="1573" y="1735"/>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grpSp>
        <p:sp>
          <p:nvSpPr>
            <p:cNvPr id="442471" name="Text Box 20"/>
            <p:cNvSpPr txBox="1">
              <a:spLocks noChangeArrowheads="1"/>
            </p:cNvSpPr>
            <p:nvPr/>
          </p:nvSpPr>
          <p:spPr bwMode="gray">
            <a:xfrm>
              <a:off x="1553" y="1752"/>
              <a:ext cx="2814"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zh-CN" altLang="en-US" sz="2600" b="1" dirty="0">
                  <a:effectLst>
                    <a:outerShdw blurRad="38100" dist="38100" dir="2700000" algn="tl">
                      <a:srgbClr val="C0C0C0"/>
                    </a:outerShdw>
                  </a:effectLst>
                  <a:latin typeface="楷体_GB2312" pitchFamily="49" charset="-122"/>
                  <a:ea typeface="楷体_GB2312" pitchFamily="49" charset="-122"/>
                </a:rPr>
                <a:t> </a:t>
              </a:r>
              <a:r>
                <a:rPr kumimoji="0" lang="zh-CN" altLang="zh-CN" sz="2600" b="1" dirty="0">
                  <a:effectLst>
                    <a:outerShdw blurRad="38100" dist="38100" dir="2700000" algn="tl">
                      <a:srgbClr val="C0C0C0"/>
                    </a:outerShdw>
                  </a:effectLst>
                  <a:latin typeface="楷体_GB2312" pitchFamily="49" charset="-122"/>
                  <a:ea typeface="楷体_GB2312" pitchFamily="49" charset="-122"/>
                </a:rPr>
                <a:t>锁</a:t>
              </a:r>
              <a:r>
                <a:rPr kumimoji="0" lang="zh-CN" altLang="en-US" sz="2600" b="1" dirty="0">
                  <a:effectLst>
                    <a:outerShdw blurRad="38100" dist="38100" dir="2700000" algn="tl">
                      <a:srgbClr val="C0C0C0"/>
                    </a:outerShdw>
                  </a:effectLst>
                  <a:latin typeface="楷体_GB2312" pitchFamily="49" charset="-122"/>
                  <a:ea typeface="楷体_GB2312" pitchFamily="49" charset="-122"/>
                </a:rPr>
                <a:t>的粒度</a:t>
              </a:r>
              <a:endParaRPr kumimoji="0" lang="en-US" altLang="zh-CN" sz="2600" b="1" dirty="0">
                <a:effectLst>
                  <a:outerShdw blurRad="38100" dist="38100" dir="2700000" algn="tl">
                    <a:srgbClr val="C0C0C0"/>
                  </a:outerShdw>
                </a:effectLst>
                <a:latin typeface="楷体_GB2312" pitchFamily="49" charset="-122"/>
                <a:ea typeface="楷体_GB2312" pitchFamily="49" charset="-122"/>
              </a:endParaRPr>
            </a:p>
          </p:txBody>
        </p:sp>
        <p:grpSp>
          <p:nvGrpSpPr>
            <p:cNvPr id="442472" name="Group 21"/>
            <p:cNvGrpSpPr/>
            <p:nvPr/>
          </p:nvGrpSpPr>
          <p:grpSpPr bwMode="auto">
            <a:xfrm>
              <a:off x="1221" y="1737"/>
              <a:ext cx="344" cy="323"/>
              <a:chOff x="1287" y="587"/>
              <a:chExt cx="670" cy="647"/>
            </a:xfrm>
          </p:grpSpPr>
          <p:sp>
            <p:nvSpPr>
              <p:cNvPr id="442473" name="Oval 22"/>
              <p:cNvSpPr>
                <a:spLocks noChangeArrowheads="1"/>
              </p:cNvSpPr>
              <p:nvPr/>
            </p:nvSpPr>
            <p:spPr bwMode="gray">
              <a:xfrm>
                <a:off x="1287" y="612"/>
                <a:ext cx="670" cy="608"/>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74" name="Oval 23"/>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75" name="Oval 24"/>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76" name="Oval 25"/>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kumimoji="0" lang="zh-CN" altLang="en-US" sz="1800">
                  <a:latin typeface="Calibri" panose="020F0502020204030204" pitchFamily="34" charset="0"/>
                </a:endParaRPr>
              </a:p>
            </p:txBody>
          </p:sp>
          <p:sp>
            <p:nvSpPr>
              <p:cNvPr id="442477" name="Oval 26"/>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endParaRPr kumimoji="0" lang="zh-CN" altLang="zh-CN" sz="1800">
                  <a:latin typeface="Calibri" panose="020F0502020204030204" pitchFamily="34" charset="0"/>
                </a:endParaRPr>
              </a:p>
            </p:txBody>
          </p:sp>
        </p:grpSp>
        <p:sp>
          <p:nvSpPr>
            <p:cNvPr id="442478" name="Text Box 27"/>
            <p:cNvSpPr txBox="1">
              <a:spLocks noChangeArrowheads="1"/>
            </p:cNvSpPr>
            <p:nvPr/>
          </p:nvSpPr>
          <p:spPr bwMode="gray">
            <a:xfrm>
              <a:off x="1282" y="1752"/>
              <a:ext cx="2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kumimoji="0" lang="en-US" altLang="zh-CN">
                  <a:solidFill>
                    <a:srgbClr val="000000"/>
                  </a:solidFill>
                  <a:latin typeface="Calibri" panose="020F0502020204030204" pitchFamily="34" charset="0"/>
                </a:rPr>
                <a:t>7</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025"/>
    </mc:Choice>
    <mc:Fallback xmlns="">
      <p:transition spd="slow" advTm="190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2464"/>
                                        </p:tgtEl>
                                        <p:attrNameLst>
                                          <p:attrName>style.visibility</p:attrName>
                                        </p:attrNameLst>
                                      </p:cBhvr>
                                      <p:to>
                                        <p:strVal val="visible"/>
                                      </p:to>
                                    </p:set>
                                    <p:animEffect transition="in" filter="wipe(left)">
                                      <p:cBhvr>
                                        <p:cTn id="7" dur="500"/>
                                        <p:tgtEl>
                                          <p:spTgt spid="442464"/>
                                        </p:tgtEl>
                                      </p:cBhvr>
                                    </p:animEffect>
                                  </p:childTnLst>
                                </p:cTn>
                              </p:par>
                              <p:par>
                                <p:cTn id="8" presetID="22" presetClass="entr" presetSubtype="8" fill="hold" nodeType="withEffect">
                                  <p:stCondLst>
                                    <p:cond delay="0"/>
                                  </p:stCondLst>
                                  <p:childTnLst>
                                    <p:set>
                                      <p:cBhvr>
                                        <p:cTn id="9" dur="1" fill="hold">
                                          <p:stCondLst>
                                            <p:cond delay="0"/>
                                          </p:stCondLst>
                                        </p:cTn>
                                        <p:tgtEl>
                                          <p:spTgt spid="442373"/>
                                        </p:tgtEl>
                                        <p:attrNameLst>
                                          <p:attrName>style.visibility</p:attrName>
                                        </p:attrNameLst>
                                      </p:cBhvr>
                                      <p:to>
                                        <p:strVal val="visible"/>
                                      </p:to>
                                    </p:set>
                                    <p:animEffect transition="in" filter="wipe(left)">
                                      <p:cBhvr>
                                        <p:cTn id="10" dur="500"/>
                                        <p:tgtEl>
                                          <p:spTgt spid="442373"/>
                                        </p:tgtEl>
                                      </p:cBhvr>
                                    </p:animEffect>
                                  </p:childTnLst>
                                </p:cTn>
                              </p:par>
                              <p:par>
                                <p:cTn id="11" presetID="22" presetClass="entr" presetSubtype="8" fill="hold" nodeType="withEffect">
                                  <p:stCondLst>
                                    <p:cond delay="0"/>
                                  </p:stCondLst>
                                  <p:childTnLst>
                                    <p:set>
                                      <p:cBhvr>
                                        <p:cTn id="12" dur="1" fill="hold">
                                          <p:stCondLst>
                                            <p:cond delay="0"/>
                                          </p:stCondLst>
                                        </p:cTn>
                                        <p:tgtEl>
                                          <p:spTgt spid="442386"/>
                                        </p:tgtEl>
                                        <p:attrNameLst>
                                          <p:attrName>style.visibility</p:attrName>
                                        </p:attrNameLst>
                                      </p:cBhvr>
                                      <p:to>
                                        <p:strVal val="visible"/>
                                      </p:to>
                                    </p:set>
                                    <p:animEffect transition="in" filter="wipe(left)">
                                      <p:cBhvr>
                                        <p:cTn id="13" dur="500"/>
                                        <p:tgtEl>
                                          <p:spTgt spid="442386"/>
                                        </p:tgtEl>
                                      </p:cBhvr>
                                    </p:animEffect>
                                  </p:childTnLst>
                                </p:cTn>
                              </p:par>
                              <p:par>
                                <p:cTn id="14" presetID="22" presetClass="entr" presetSubtype="8" fill="hold" nodeType="withEffect">
                                  <p:stCondLst>
                                    <p:cond delay="0"/>
                                  </p:stCondLst>
                                  <p:childTnLst>
                                    <p:set>
                                      <p:cBhvr>
                                        <p:cTn id="15" dur="1" fill="hold">
                                          <p:stCondLst>
                                            <p:cond delay="0"/>
                                          </p:stCondLst>
                                        </p:cTn>
                                        <p:tgtEl>
                                          <p:spTgt spid="442465"/>
                                        </p:tgtEl>
                                        <p:attrNameLst>
                                          <p:attrName>style.visibility</p:attrName>
                                        </p:attrNameLst>
                                      </p:cBhvr>
                                      <p:to>
                                        <p:strVal val="visible"/>
                                      </p:to>
                                    </p:set>
                                    <p:animEffect transition="in" filter="wipe(left)">
                                      <p:cBhvr>
                                        <p:cTn id="16" dur="500"/>
                                        <p:tgtEl>
                                          <p:spTgt spid="442465"/>
                                        </p:tgtEl>
                                      </p:cBhvr>
                                    </p:animEffect>
                                  </p:childTnLst>
                                </p:cTn>
                              </p:par>
                              <p:par>
                                <p:cTn id="17" presetID="22" presetClass="entr" presetSubtype="8" fill="hold" nodeType="withEffect">
                                  <p:stCondLst>
                                    <p:cond delay="0"/>
                                  </p:stCondLst>
                                  <p:childTnLst>
                                    <p:set>
                                      <p:cBhvr>
                                        <p:cTn id="18" dur="1" fill="hold">
                                          <p:stCondLst>
                                            <p:cond delay="0"/>
                                          </p:stCondLst>
                                        </p:cTn>
                                        <p:tgtEl>
                                          <p:spTgt spid="442425"/>
                                        </p:tgtEl>
                                        <p:attrNameLst>
                                          <p:attrName>style.visibility</p:attrName>
                                        </p:attrNameLst>
                                      </p:cBhvr>
                                      <p:to>
                                        <p:strVal val="visible"/>
                                      </p:to>
                                    </p:set>
                                    <p:animEffect transition="in" filter="wipe(left)">
                                      <p:cBhvr>
                                        <p:cTn id="19" dur="500"/>
                                        <p:tgtEl>
                                          <p:spTgt spid="442425"/>
                                        </p:tgtEl>
                                      </p:cBhvr>
                                    </p:animEffect>
                                  </p:childTnLst>
                                </p:cTn>
                              </p:par>
                              <p:par>
                                <p:cTn id="20" presetID="22" presetClass="entr" presetSubtype="8" fill="hold" nodeType="withEffect">
                                  <p:stCondLst>
                                    <p:cond delay="0"/>
                                  </p:stCondLst>
                                  <p:childTnLst>
                                    <p:set>
                                      <p:cBhvr>
                                        <p:cTn id="21" dur="1" fill="hold">
                                          <p:stCondLst>
                                            <p:cond delay="0"/>
                                          </p:stCondLst>
                                        </p:cTn>
                                        <p:tgtEl>
                                          <p:spTgt spid="442438"/>
                                        </p:tgtEl>
                                        <p:attrNameLst>
                                          <p:attrName>style.visibility</p:attrName>
                                        </p:attrNameLst>
                                      </p:cBhvr>
                                      <p:to>
                                        <p:strVal val="visible"/>
                                      </p:to>
                                    </p:set>
                                    <p:animEffect transition="in" filter="wipe(left)">
                                      <p:cBhvr>
                                        <p:cTn id="22" dur="500"/>
                                        <p:tgtEl>
                                          <p:spTgt spid="442438"/>
                                        </p:tgtEl>
                                      </p:cBhvr>
                                    </p:animEffect>
                                  </p:childTnLst>
                                </p:cTn>
                              </p:par>
                              <p:par>
                                <p:cTn id="23" presetID="22" presetClass="entr" presetSubtype="8" fill="hold" nodeType="withEffect">
                                  <p:stCondLst>
                                    <p:cond delay="0"/>
                                  </p:stCondLst>
                                  <p:childTnLst>
                                    <p:set>
                                      <p:cBhvr>
                                        <p:cTn id="24" dur="1" fill="hold">
                                          <p:stCondLst>
                                            <p:cond delay="0"/>
                                          </p:stCondLst>
                                        </p:cTn>
                                        <p:tgtEl>
                                          <p:spTgt spid="442466"/>
                                        </p:tgtEl>
                                        <p:attrNameLst>
                                          <p:attrName>style.visibility</p:attrName>
                                        </p:attrNameLst>
                                      </p:cBhvr>
                                      <p:to>
                                        <p:strVal val="visible"/>
                                      </p:to>
                                    </p:set>
                                    <p:animEffect transition="in" filter="wipe(left)">
                                      <p:cBhvr>
                                        <p:cTn id="25" dur="500"/>
                                        <p:tgtEl>
                                          <p:spTgt spid="442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2" name="Rectangle 4"/>
          <p:cNvSpPr>
            <a:spLocks noGrp="1" noRot="1" noChangeArrowheads="1"/>
          </p:cNvSpPr>
          <p:nvPr>
            <p:ph type="title"/>
          </p:nvPr>
        </p:nvSpPr>
        <p:spPr>
          <a:xfrm>
            <a:off x="1281113" y="271463"/>
            <a:ext cx="7394575"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一、数据库并发操作带来的数据不一致问题</a:t>
            </a:r>
          </a:p>
        </p:txBody>
      </p:sp>
      <p:sp>
        <p:nvSpPr>
          <p:cNvPr id="288922" name="AutoShape 154"/>
          <p:cNvSpPr>
            <a:spLocks noChangeArrowheads="1"/>
          </p:cNvSpPr>
          <p:nvPr/>
        </p:nvSpPr>
        <p:spPr bwMode="auto">
          <a:xfrm>
            <a:off x="395288" y="1268413"/>
            <a:ext cx="8353425" cy="5183187"/>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30000"/>
              </a:spcBef>
              <a:buClr>
                <a:srgbClr val="009900"/>
              </a:buClr>
              <a:buSzPct val="70000"/>
              <a:buFont typeface="Wingdings" panose="05000000000000000000" pitchFamily="2" charset="2"/>
              <a:buNone/>
            </a:pPr>
            <a:r>
              <a:rPr lang="zh-CN" altLang="en-US" sz="2800" b="1">
                <a:solidFill>
                  <a:srgbClr val="000000"/>
                </a:solidFill>
                <a:effectLst>
                  <a:outerShdw blurRad="38100" dist="38100" dir="2700000" algn="tl">
                    <a:srgbClr val="C0C0C0"/>
                  </a:outerShdw>
                </a:effectLst>
                <a:latin typeface="宋体" panose="02010600030101010101" pitchFamily="2" charset="-122"/>
                <a:cs typeface="Times New Roman" panose="02020603050405020304" pitchFamily="18" charset="0"/>
              </a:rPr>
              <a:t>例</a:t>
            </a:r>
            <a:r>
              <a:rPr lang="en-US" altLang="zh-CN" sz="2800" b="1">
                <a:solidFill>
                  <a:srgbClr val="000000"/>
                </a:solidFill>
                <a:effectLst>
                  <a:outerShdw blurRad="38100" dist="38100" dir="2700000" algn="tl">
                    <a:srgbClr val="C0C0C0"/>
                  </a:outerShdw>
                </a:effectLst>
                <a:latin typeface="宋体" panose="02010600030101010101" pitchFamily="2" charset="-122"/>
                <a:cs typeface="Times New Roman" panose="02020603050405020304" pitchFamily="18" charset="0"/>
              </a:rPr>
              <a:t>10.11  </a:t>
            </a:r>
            <a:r>
              <a:rPr lang="zh-CN" altLang="en-US" sz="2800" b="1">
                <a:solidFill>
                  <a:srgbClr val="000000"/>
                </a:solidFill>
                <a:effectLst>
                  <a:outerShdw blurRad="38100" dist="38100" dir="2700000" algn="tl">
                    <a:srgbClr val="C0C0C0"/>
                  </a:outerShdw>
                </a:effectLst>
                <a:latin typeface="宋体" panose="02010600030101010101" pitchFamily="2" charset="-122"/>
                <a:cs typeface="Times New Roman" panose="02020603050405020304" pitchFamily="18" charset="0"/>
              </a:rPr>
              <a:t>在一个飞机订票系统中，可能会出现下列的一些业务活动序列。</a:t>
            </a:r>
          </a:p>
          <a:p>
            <a:pPr>
              <a:lnSpc>
                <a:spcPct val="110000"/>
              </a:lnSpc>
              <a:spcBef>
                <a:spcPct val="30000"/>
              </a:spcBef>
              <a:buClr>
                <a:srgbClr val="009900"/>
              </a:buClr>
              <a:buSzPct val="70000"/>
              <a:buFont typeface="Wingdings" panose="05000000000000000000" pitchFamily="2" charset="2"/>
              <a:buNone/>
            </a:pP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1</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）甲售票点读航班</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X</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的机票余额数为</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A=25</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t>
            </a:r>
          </a:p>
          <a:p>
            <a:pPr>
              <a:lnSpc>
                <a:spcPct val="110000"/>
              </a:lnSpc>
              <a:spcBef>
                <a:spcPct val="30000"/>
              </a:spcBef>
              <a:buClr>
                <a:srgbClr val="009900"/>
              </a:buClr>
              <a:buSzPct val="70000"/>
              <a:buFont typeface="Wingdings" panose="05000000000000000000" pitchFamily="2" charset="2"/>
              <a:buNone/>
            </a:pP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2</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）紧接着，乙售票点读同一航班</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X</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的机票余额数为</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A=25</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t>
            </a:r>
          </a:p>
          <a:p>
            <a:pPr>
              <a:lnSpc>
                <a:spcPct val="110000"/>
              </a:lnSpc>
              <a:spcBef>
                <a:spcPct val="30000"/>
              </a:spcBef>
              <a:buClr>
                <a:srgbClr val="009900"/>
              </a:buClr>
              <a:buSzPct val="70000"/>
              <a:buFont typeface="Wingdings" panose="05000000000000000000" pitchFamily="2" charset="2"/>
              <a:buNone/>
            </a:pP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3</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）甲售票点卖出一张机票，修改机票余额数</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A=A-1</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为</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24</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，并把</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写回数据库。</a:t>
            </a:r>
          </a:p>
          <a:p>
            <a:pPr>
              <a:lnSpc>
                <a:spcPct val="110000"/>
              </a:lnSpc>
              <a:spcBef>
                <a:spcPct val="30000"/>
              </a:spcBef>
              <a:buClr>
                <a:srgbClr val="009900"/>
              </a:buClr>
              <a:buSzPct val="70000"/>
              <a:buFont typeface="Wingdings" panose="05000000000000000000" pitchFamily="2" charset="2"/>
              <a:buNone/>
            </a:pP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4</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）乙售票点也卖出一张票，同样修改机票数</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A=A-1</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为</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24</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，并把</a:t>
            </a:r>
            <a:r>
              <a:rPr lang="en-US" altLang="zh-CN"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A</a:t>
            </a:r>
            <a:r>
              <a:rPr lang="zh-CN" altLang="en-US" sz="2800" b="1">
                <a:solidFill>
                  <a:srgbClr val="000000"/>
                </a:solidFill>
                <a:effectLst>
                  <a:outerShdw blurRad="38100" dist="38100" dir="2700000" algn="tl">
                    <a:srgbClr val="C0C0C0"/>
                  </a:outerShdw>
                </a:effectLst>
                <a:latin typeface="Tahoma" panose="020B0604030504040204" pitchFamily="34" charset="0"/>
                <a:ea typeface="楷体_GB2312" pitchFamily="49" charset="-122"/>
                <a:cs typeface="Times New Roman" panose="02020603050405020304" pitchFamily="18" charset="0"/>
              </a:rPr>
              <a:t>写回数据库。</a:t>
            </a:r>
          </a:p>
        </p:txBody>
      </p:sp>
      <p:sp>
        <p:nvSpPr>
          <p:cNvPr id="288923" name="Rectangle 155"/>
          <p:cNvSpPr>
            <a:spLocks noChangeArrowheads="1"/>
          </p:cNvSpPr>
          <p:nvPr/>
        </p:nvSpPr>
        <p:spPr bwMode="auto">
          <a:xfrm>
            <a:off x="755650" y="3284538"/>
            <a:ext cx="7632700" cy="1728787"/>
          </a:xfrm>
          <a:prstGeom prst="rect">
            <a:avLst/>
          </a:prstGeom>
          <a:solidFill>
            <a:srgbClr val="00CCFF"/>
          </a:solidFill>
          <a:ln w="28575" cap="sq">
            <a:solidFill>
              <a:schemeClr val="bg2"/>
            </a:solidFill>
            <a:miter lim="800000"/>
            <a:headEnd type="none" w="sm" len="sm"/>
            <a:tailEnd type="none" w="sm" len="sm"/>
          </a:ln>
          <a:effectLst>
            <a:outerShdw dist="35921" dir="2700000" algn="ctr" rotWithShape="0">
              <a:schemeClr val="bg2"/>
            </a:outerShdw>
          </a:effectLst>
        </p:spPr>
        <p:txBody>
          <a:bodyPr anchor="ctr"/>
          <a:lstStyle/>
          <a:p>
            <a:r>
              <a:rPr lang="zh-CN" altLang="en-US" sz="3200" b="1">
                <a:solidFill>
                  <a:schemeClr val="bg2"/>
                </a:solidFill>
                <a:effectLst>
                  <a:outerShdw blurRad="38100" dist="38100" dir="2700000" algn="tl">
                    <a:srgbClr val="000000"/>
                  </a:outerShdw>
                </a:effectLst>
                <a:latin typeface="华文中宋" panose="02010600040101010101" pitchFamily="2" charset="-122"/>
                <a:ea typeface="华文中宋" panose="02010600040101010101" pitchFamily="2" charset="-122"/>
              </a:rPr>
              <a:t>  实际卖了</a:t>
            </a:r>
            <a:r>
              <a:rPr lang="en-US" altLang="zh-CN" sz="3200" b="1">
                <a:solidFill>
                  <a:schemeClr val="bg2"/>
                </a:solidFill>
                <a:effectLst>
                  <a:outerShdw blurRad="38100" dist="38100" dir="2700000" algn="tl">
                    <a:srgbClr val="000000"/>
                  </a:outerShdw>
                </a:effectLst>
                <a:latin typeface="华文中宋" panose="02010600040101010101" pitchFamily="2" charset="-122"/>
                <a:ea typeface="华文中宋" panose="02010600040101010101" pitchFamily="2" charset="-122"/>
              </a:rPr>
              <a:t>2</a:t>
            </a:r>
            <a:r>
              <a:rPr lang="zh-CN" altLang="en-US" sz="3200" b="1">
                <a:solidFill>
                  <a:schemeClr val="bg2"/>
                </a:solidFill>
                <a:effectLst>
                  <a:outerShdw blurRad="38100" dist="38100" dir="2700000" algn="tl">
                    <a:srgbClr val="000000"/>
                  </a:outerShdw>
                </a:effectLst>
                <a:latin typeface="华文中宋" panose="02010600040101010101" pitchFamily="2" charset="-122"/>
                <a:ea typeface="华文中宋" panose="02010600040101010101" pitchFamily="2" charset="-122"/>
              </a:rPr>
              <a:t>张票，但余额数只减少</a:t>
            </a:r>
            <a:r>
              <a:rPr lang="en-US" altLang="zh-CN" sz="3200" b="1">
                <a:solidFill>
                  <a:schemeClr val="bg2"/>
                </a:solidFill>
                <a:effectLst>
                  <a:outerShdw blurRad="38100" dist="38100" dir="2700000" algn="tl">
                    <a:srgbClr val="000000"/>
                  </a:outerShdw>
                </a:effectLst>
                <a:latin typeface="华文中宋" panose="02010600040101010101" pitchFamily="2" charset="-122"/>
                <a:ea typeface="华文中宋" panose="02010600040101010101" pitchFamily="2" charset="-122"/>
              </a:rPr>
              <a:t>1</a:t>
            </a:r>
            <a:r>
              <a:rPr lang="zh-CN" altLang="en-US" sz="3200" b="1">
                <a:solidFill>
                  <a:schemeClr val="bg2"/>
                </a:solidFill>
                <a:effectLst>
                  <a:outerShdw blurRad="38100" dist="38100" dir="2700000" algn="tl">
                    <a:srgbClr val="000000"/>
                  </a:outerShdw>
                </a:effectLst>
                <a:latin typeface="华文中宋" panose="02010600040101010101" pitchFamily="2" charset="-122"/>
                <a:ea typeface="华文中宋" panose="02010600040101010101" pitchFamily="2" charset="-122"/>
              </a:rPr>
              <a:t>张！</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3325"/>
    </mc:Choice>
    <mc:Fallback xmlns="">
      <p:transition spd="slow" advTm="733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8922">
                                            <p:bg/>
                                          </p:spTgt>
                                        </p:tgtEl>
                                        <p:attrNameLst>
                                          <p:attrName>style.visibility</p:attrName>
                                        </p:attrNameLst>
                                      </p:cBhvr>
                                      <p:to>
                                        <p:strVal val="visible"/>
                                      </p:to>
                                    </p:set>
                                    <p:animEffect transition="in" filter="wipe(up)">
                                      <p:cBhvr>
                                        <p:cTn id="7" dur="500"/>
                                        <p:tgtEl>
                                          <p:spTgt spid="288922">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8922">
                                            <p:txEl>
                                              <p:pRg st="0" end="0"/>
                                            </p:txEl>
                                          </p:spTgt>
                                        </p:tgtEl>
                                        <p:attrNameLst>
                                          <p:attrName>style.visibility</p:attrName>
                                        </p:attrNameLst>
                                      </p:cBhvr>
                                      <p:to>
                                        <p:strVal val="visible"/>
                                      </p:to>
                                    </p:set>
                                    <p:animEffect transition="in" filter="wipe(up)">
                                      <p:cBhvr>
                                        <p:cTn id="12" dur="500"/>
                                        <p:tgtEl>
                                          <p:spTgt spid="2889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88922">
                                            <p:txEl>
                                              <p:pRg st="1" end="1"/>
                                            </p:txEl>
                                          </p:spTgt>
                                        </p:tgtEl>
                                        <p:attrNameLst>
                                          <p:attrName>style.visibility</p:attrName>
                                        </p:attrNameLst>
                                      </p:cBhvr>
                                      <p:to>
                                        <p:strVal val="visible"/>
                                      </p:to>
                                    </p:set>
                                    <p:animEffect transition="in" filter="wipe(up)">
                                      <p:cBhvr>
                                        <p:cTn id="17" dur="500"/>
                                        <p:tgtEl>
                                          <p:spTgt spid="28892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88922">
                                            <p:txEl>
                                              <p:pRg st="2" end="2"/>
                                            </p:txEl>
                                          </p:spTgt>
                                        </p:tgtEl>
                                        <p:attrNameLst>
                                          <p:attrName>style.visibility</p:attrName>
                                        </p:attrNameLst>
                                      </p:cBhvr>
                                      <p:to>
                                        <p:strVal val="visible"/>
                                      </p:to>
                                    </p:set>
                                    <p:animEffect transition="in" filter="wipe(up)">
                                      <p:cBhvr>
                                        <p:cTn id="22" dur="500"/>
                                        <p:tgtEl>
                                          <p:spTgt spid="28892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88922">
                                            <p:txEl>
                                              <p:pRg st="3" end="3"/>
                                            </p:txEl>
                                          </p:spTgt>
                                        </p:tgtEl>
                                        <p:attrNameLst>
                                          <p:attrName>style.visibility</p:attrName>
                                        </p:attrNameLst>
                                      </p:cBhvr>
                                      <p:to>
                                        <p:strVal val="visible"/>
                                      </p:to>
                                    </p:set>
                                    <p:animEffect transition="in" filter="wipe(up)">
                                      <p:cBhvr>
                                        <p:cTn id="27" dur="500"/>
                                        <p:tgtEl>
                                          <p:spTgt spid="28892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88922">
                                            <p:txEl>
                                              <p:pRg st="4" end="4"/>
                                            </p:txEl>
                                          </p:spTgt>
                                        </p:tgtEl>
                                        <p:attrNameLst>
                                          <p:attrName>style.visibility</p:attrName>
                                        </p:attrNameLst>
                                      </p:cBhvr>
                                      <p:to>
                                        <p:strVal val="visible"/>
                                      </p:to>
                                    </p:set>
                                    <p:animEffect transition="in" filter="wipe(up)">
                                      <p:cBhvr>
                                        <p:cTn id="32" dur="500"/>
                                        <p:tgtEl>
                                          <p:spTgt spid="28892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88923"/>
                                        </p:tgtEl>
                                        <p:attrNameLst>
                                          <p:attrName>style.visibility</p:attrName>
                                        </p:attrNameLst>
                                      </p:cBhvr>
                                      <p:to>
                                        <p:strVal val="visible"/>
                                      </p:to>
                                    </p:set>
                                    <p:anim calcmode="lin" valueType="num">
                                      <p:cBhvr additive="base">
                                        <p:cTn id="37" dur="500" fill="hold"/>
                                        <p:tgtEl>
                                          <p:spTgt spid="288923"/>
                                        </p:tgtEl>
                                        <p:attrNameLst>
                                          <p:attrName>ppt_x</p:attrName>
                                        </p:attrNameLst>
                                      </p:cBhvr>
                                      <p:tavLst>
                                        <p:tav tm="0">
                                          <p:val>
                                            <p:strVal val="1+#ppt_w/2"/>
                                          </p:val>
                                        </p:tav>
                                        <p:tav tm="100000">
                                          <p:val>
                                            <p:strVal val="#ppt_x"/>
                                          </p:val>
                                        </p:tav>
                                      </p:tavLst>
                                    </p:anim>
                                    <p:anim calcmode="lin" valueType="num">
                                      <p:cBhvr additive="base">
                                        <p:cTn id="38" dur="500" fill="hold"/>
                                        <p:tgtEl>
                                          <p:spTgt spid="2889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922" grpId="0" build="p" animBg="1"/>
      <p:bldP spid="2889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p:cNvSpPr>
            <a:spLocks noGrp="1" noRot="1" noChangeArrowheads="1"/>
          </p:cNvSpPr>
          <p:nvPr>
            <p:ph type="title"/>
          </p:nvPr>
        </p:nvSpPr>
        <p:spPr>
          <a:xfrm>
            <a:off x="1281113" y="271463"/>
            <a:ext cx="7394575"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一、数据库并发操作带来的数据不一致问题</a:t>
            </a:r>
          </a:p>
        </p:txBody>
      </p:sp>
      <p:graphicFrame>
        <p:nvGraphicFramePr>
          <p:cNvPr id="473091" name="Group 3"/>
          <p:cNvGraphicFramePr>
            <a:graphicFrameLocks noGrp="1"/>
          </p:cNvGraphicFramePr>
          <p:nvPr/>
        </p:nvGraphicFramePr>
        <p:xfrm>
          <a:off x="1042988" y="1435100"/>
          <a:ext cx="7127875" cy="4377010"/>
        </p:xfrm>
        <a:graphic>
          <a:graphicData uri="http://schemas.openxmlformats.org/drawingml/2006/table">
            <a:tbl>
              <a:tblPr/>
              <a:tblGrid>
                <a:gridCol w="935037">
                  <a:extLst>
                    <a:ext uri="{9D8B030D-6E8A-4147-A177-3AD203B41FA5}">
                      <a16:colId xmlns:a16="http://schemas.microsoft.com/office/drawing/2014/main" val="20000"/>
                    </a:ext>
                  </a:extLst>
                </a:gridCol>
                <a:gridCol w="2159000">
                  <a:extLst>
                    <a:ext uri="{9D8B030D-6E8A-4147-A177-3AD203B41FA5}">
                      <a16:colId xmlns:a16="http://schemas.microsoft.com/office/drawing/2014/main" val="20001"/>
                    </a:ext>
                  </a:extLst>
                </a:gridCol>
                <a:gridCol w="2162175">
                  <a:extLst>
                    <a:ext uri="{9D8B030D-6E8A-4147-A177-3AD203B41FA5}">
                      <a16:colId xmlns:a16="http://schemas.microsoft.com/office/drawing/2014/main" val="20002"/>
                    </a:ext>
                  </a:extLst>
                </a:gridCol>
                <a:gridCol w="1871663">
                  <a:extLst>
                    <a:ext uri="{9D8B030D-6E8A-4147-A177-3AD203B41FA5}">
                      <a16:colId xmlns:a16="http://schemas.microsoft.com/office/drawing/2014/main" val="20003"/>
                    </a:ext>
                  </a:extLst>
                </a:gridCol>
              </a:tblGrid>
              <a:tr h="4064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时间</a:t>
                      </a: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T1</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事务</a:t>
                      </a: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T2</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事务</a:t>
                      </a: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DB</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中的</a:t>
                      </a: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A</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值</a:t>
                      </a: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064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t0</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25</a:t>
                      </a: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064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t1</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read(A)</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064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t2</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read(A)</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064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t3</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A:=A-1</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064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t4</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write(A)</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064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t5</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24</a:t>
                      </a: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064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t6</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A:=A-1</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4064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t7</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write(A)</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4064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t8</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24</a:t>
                      </a:r>
                    </a:p>
                  </a:txBody>
                  <a:tcPr marL="90000" marR="90000" marT="18000" marB="180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73148" name="AutoShape 60"/>
          <p:cNvSpPr>
            <a:spLocks noChangeArrowheads="1"/>
          </p:cNvSpPr>
          <p:nvPr/>
        </p:nvSpPr>
        <p:spPr bwMode="auto">
          <a:xfrm>
            <a:off x="4645025" y="4005263"/>
            <a:ext cx="2519363" cy="1152525"/>
          </a:xfrm>
          <a:prstGeom prst="foldedCorner">
            <a:avLst>
              <a:gd name="adj" fmla="val 12500"/>
            </a:avLst>
          </a:prstGeom>
          <a:solidFill>
            <a:srgbClr val="333399"/>
          </a:solidFill>
          <a:ln w="25400" cap="sq">
            <a:solidFill>
              <a:schemeClr val="bg2"/>
            </a:solidFill>
            <a:round/>
            <a:headEnd type="none" w="sm" len="sm"/>
            <a:tailEnd type="none" w="sm" len="sm"/>
          </a:ln>
          <a:effectLst>
            <a:outerShdw dist="71842" dir="2700000" algn="ctr" rotWithShape="0">
              <a:schemeClr val="bg2"/>
            </a:outerShdw>
          </a:effectLst>
        </p:spPr>
        <p:txBody>
          <a:bodyPr wrap="none" anchor="ctr"/>
          <a:lstStyle/>
          <a:p>
            <a:pPr algn="ctr"/>
            <a:r>
              <a:rPr lang="zh-CN" altLang="en-US" sz="2800" b="1">
                <a:solidFill>
                  <a:srgbClr val="66FFFF"/>
                </a:solidFill>
                <a:effectLst>
                  <a:outerShdw blurRad="38100" dist="38100" dir="2700000" algn="tl">
                    <a:srgbClr val="000000"/>
                  </a:outerShdw>
                </a:effectLst>
                <a:ea typeface="楷体_GB2312" pitchFamily="49" charset="-122"/>
              </a:rPr>
              <a:t>丢失修改</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5922"/>
    </mc:Choice>
    <mc:Fallback xmlns="">
      <p:transition spd="slow" advTm="18592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73148"/>
                                        </p:tgtEl>
                                        <p:attrNameLst>
                                          <p:attrName>style.visibility</p:attrName>
                                        </p:attrNameLst>
                                      </p:cBhvr>
                                      <p:to>
                                        <p:strVal val="visible"/>
                                      </p:to>
                                    </p:set>
                                    <p:anim calcmode="lin" valueType="num">
                                      <p:cBhvr>
                                        <p:cTn id="7" dur="500" fill="hold"/>
                                        <p:tgtEl>
                                          <p:spTgt spid="473148"/>
                                        </p:tgtEl>
                                        <p:attrNameLst>
                                          <p:attrName>ppt_w</p:attrName>
                                        </p:attrNameLst>
                                      </p:cBhvr>
                                      <p:tavLst>
                                        <p:tav tm="0">
                                          <p:val>
                                            <p:fltVal val="0"/>
                                          </p:val>
                                        </p:tav>
                                        <p:tav tm="100000">
                                          <p:val>
                                            <p:strVal val="#ppt_w"/>
                                          </p:val>
                                        </p:tav>
                                      </p:tavLst>
                                    </p:anim>
                                    <p:anim calcmode="lin" valueType="num">
                                      <p:cBhvr>
                                        <p:cTn id="8" dur="500" fill="hold"/>
                                        <p:tgtEl>
                                          <p:spTgt spid="473148"/>
                                        </p:tgtEl>
                                        <p:attrNameLst>
                                          <p:attrName>ppt_h</p:attrName>
                                        </p:attrNameLst>
                                      </p:cBhvr>
                                      <p:tavLst>
                                        <p:tav tm="0">
                                          <p:val>
                                            <p:fltVal val="0"/>
                                          </p:val>
                                        </p:tav>
                                        <p:tav tm="100000">
                                          <p:val>
                                            <p:strVal val="#ppt_h"/>
                                          </p:val>
                                        </p:tav>
                                      </p:tavLst>
                                    </p:anim>
                                    <p:animEffect transition="in" filter="fade">
                                      <p:cBhvr>
                                        <p:cTn id="9" dur="500"/>
                                        <p:tgtEl>
                                          <p:spTgt spid="473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14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6" name="Rectangle 4"/>
          <p:cNvSpPr>
            <a:spLocks noGrp="1" noRot="1" noChangeArrowheads="1"/>
          </p:cNvSpPr>
          <p:nvPr>
            <p:ph type="title"/>
          </p:nvPr>
        </p:nvSpPr>
        <p:spPr>
          <a:xfrm>
            <a:off x="1281113" y="349250"/>
            <a:ext cx="7516812"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一、数据库并发操作带来的数据不一致问题</a:t>
            </a:r>
          </a:p>
        </p:txBody>
      </p:sp>
      <p:graphicFrame>
        <p:nvGraphicFramePr>
          <p:cNvPr id="289960" name="Group 168"/>
          <p:cNvGraphicFramePr>
            <a:graphicFrameLocks noGrp="1"/>
          </p:cNvGraphicFramePr>
          <p:nvPr/>
        </p:nvGraphicFramePr>
        <p:xfrm>
          <a:off x="973138" y="1989138"/>
          <a:ext cx="7343775" cy="3462084"/>
        </p:xfrm>
        <a:graphic>
          <a:graphicData uri="http://schemas.openxmlformats.org/drawingml/2006/table">
            <a:tbl>
              <a:tblPr/>
              <a:tblGrid>
                <a:gridCol w="1079500">
                  <a:extLst>
                    <a:ext uri="{9D8B030D-6E8A-4147-A177-3AD203B41FA5}">
                      <a16:colId xmlns:a16="http://schemas.microsoft.com/office/drawing/2014/main" val="20000"/>
                    </a:ext>
                  </a:extLst>
                </a:gridCol>
                <a:gridCol w="2232025">
                  <a:extLst>
                    <a:ext uri="{9D8B030D-6E8A-4147-A177-3AD203B41FA5}">
                      <a16:colId xmlns:a16="http://schemas.microsoft.com/office/drawing/2014/main" val="20001"/>
                    </a:ext>
                  </a:extLst>
                </a:gridCol>
                <a:gridCol w="2160587">
                  <a:extLst>
                    <a:ext uri="{9D8B030D-6E8A-4147-A177-3AD203B41FA5}">
                      <a16:colId xmlns:a16="http://schemas.microsoft.com/office/drawing/2014/main" val="20002"/>
                    </a:ext>
                  </a:extLst>
                </a:gridCol>
                <a:gridCol w="1871663">
                  <a:extLst>
                    <a:ext uri="{9D8B030D-6E8A-4147-A177-3AD203B41FA5}">
                      <a16:colId xmlns:a16="http://schemas.microsoft.com/office/drawing/2014/main" val="20003"/>
                    </a:ext>
                  </a:extLst>
                </a:gridCol>
              </a:tblGrid>
              <a:tr h="503238">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时间</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T1</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事务</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T2</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事务</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DB</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中的</a:t>
                      </a: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A</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值</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81013">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t0</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25</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794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t1</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read(A)</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81013">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t2</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read(A)</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794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t3</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A:=A-10</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81013">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t4</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write(A)</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794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t5</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15</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89956" name="AutoShape 164"/>
          <p:cNvSpPr>
            <a:spLocks noChangeArrowheads="1"/>
          </p:cNvSpPr>
          <p:nvPr/>
        </p:nvSpPr>
        <p:spPr bwMode="auto">
          <a:xfrm>
            <a:off x="4645025" y="4005263"/>
            <a:ext cx="2519363" cy="1152525"/>
          </a:xfrm>
          <a:prstGeom prst="foldedCorner">
            <a:avLst>
              <a:gd name="adj" fmla="val 12500"/>
            </a:avLst>
          </a:prstGeom>
          <a:solidFill>
            <a:srgbClr val="333399"/>
          </a:solidFill>
          <a:ln w="25400" cap="sq">
            <a:solidFill>
              <a:schemeClr val="bg2"/>
            </a:solidFill>
            <a:round/>
            <a:headEnd type="none" w="sm" len="sm"/>
            <a:tailEnd type="none" w="sm" len="sm"/>
          </a:ln>
          <a:effectLst>
            <a:outerShdw dist="71842" dir="2700000" algn="ctr" rotWithShape="0">
              <a:schemeClr val="bg2"/>
            </a:outerShdw>
          </a:effectLst>
        </p:spPr>
        <p:txBody>
          <a:bodyPr wrap="none" anchor="ctr"/>
          <a:lstStyle/>
          <a:p>
            <a:pPr algn="ctr"/>
            <a:r>
              <a:rPr lang="zh-CN" altLang="en-US" sz="2800" b="1">
                <a:solidFill>
                  <a:srgbClr val="66FFFF"/>
                </a:solidFill>
                <a:effectLst>
                  <a:outerShdw blurRad="38100" dist="38100" dir="2700000" algn="tl">
                    <a:srgbClr val="000000"/>
                  </a:outerShdw>
                </a:effectLst>
                <a:ea typeface="楷体_GB2312" pitchFamily="49" charset="-122"/>
              </a:rPr>
              <a:t>读过时数据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3345"/>
    </mc:Choice>
    <mc:Fallback xmlns="">
      <p:transition spd="slow" advTm="433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89956"/>
                                        </p:tgtEl>
                                        <p:attrNameLst>
                                          <p:attrName>style.visibility</p:attrName>
                                        </p:attrNameLst>
                                      </p:cBhvr>
                                      <p:to>
                                        <p:strVal val="visible"/>
                                      </p:to>
                                    </p:set>
                                    <p:anim calcmode="lin" valueType="num">
                                      <p:cBhvr>
                                        <p:cTn id="7" dur="500" fill="hold"/>
                                        <p:tgtEl>
                                          <p:spTgt spid="289956"/>
                                        </p:tgtEl>
                                        <p:attrNameLst>
                                          <p:attrName>ppt_w</p:attrName>
                                        </p:attrNameLst>
                                      </p:cBhvr>
                                      <p:tavLst>
                                        <p:tav tm="0">
                                          <p:val>
                                            <p:fltVal val="0"/>
                                          </p:val>
                                        </p:tav>
                                        <p:tav tm="100000">
                                          <p:val>
                                            <p:strVal val="#ppt_w"/>
                                          </p:val>
                                        </p:tav>
                                      </p:tavLst>
                                    </p:anim>
                                    <p:anim calcmode="lin" valueType="num">
                                      <p:cBhvr>
                                        <p:cTn id="8" dur="500" fill="hold"/>
                                        <p:tgtEl>
                                          <p:spTgt spid="289956"/>
                                        </p:tgtEl>
                                        <p:attrNameLst>
                                          <p:attrName>ppt_h</p:attrName>
                                        </p:attrNameLst>
                                      </p:cBhvr>
                                      <p:tavLst>
                                        <p:tav tm="0">
                                          <p:val>
                                            <p:fltVal val="0"/>
                                          </p:val>
                                        </p:tav>
                                        <p:tav tm="100000">
                                          <p:val>
                                            <p:strVal val="#ppt_h"/>
                                          </p:val>
                                        </p:tav>
                                      </p:tavLst>
                                    </p:anim>
                                    <p:animEffect transition="in" filter="fade">
                                      <p:cBhvr>
                                        <p:cTn id="9" dur="500"/>
                                        <p:tgtEl>
                                          <p:spTgt spid="289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95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20" name="Rectangle 4"/>
          <p:cNvSpPr>
            <a:spLocks noGrp="1" noRot="1" noChangeArrowheads="1"/>
          </p:cNvSpPr>
          <p:nvPr>
            <p:ph type="title"/>
          </p:nvPr>
        </p:nvSpPr>
        <p:spPr>
          <a:xfrm>
            <a:off x="1281113" y="271463"/>
            <a:ext cx="7175500"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一、数据库并发操作带来的数据不一致问题</a:t>
            </a:r>
          </a:p>
        </p:txBody>
      </p:sp>
      <p:graphicFrame>
        <p:nvGraphicFramePr>
          <p:cNvPr id="290998" name="Group 182"/>
          <p:cNvGraphicFramePr>
            <a:graphicFrameLocks noGrp="1"/>
          </p:cNvGraphicFramePr>
          <p:nvPr/>
        </p:nvGraphicFramePr>
        <p:xfrm>
          <a:off x="1189038" y="1504950"/>
          <a:ext cx="7127875" cy="3945128"/>
        </p:xfrm>
        <a:graphic>
          <a:graphicData uri="http://schemas.openxmlformats.org/drawingml/2006/table">
            <a:tbl>
              <a:tblPr/>
              <a:tblGrid>
                <a:gridCol w="1079500">
                  <a:extLst>
                    <a:ext uri="{9D8B030D-6E8A-4147-A177-3AD203B41FA5}">
                      <a16:colId xmlns:a16="http://schemas.microsoft.com/office/drawing/2014/main" val="20000"/>
                    </a:ext>
                  </a:extLst>
                </a:gridCol>
                <a:gridCol w="2160587">
                  <a:extLst>
                    <a:ext uri="{9D8B030D-6E8A-4147-A177-3AD203B41FA5}">
                      <a16:colId xmlns:a16="http://schemas.microsoft.com/office/drawing/2014/main" val="20001"/>
                    </a:ext>
                  </a:extLst>
                </a:gridCol>
                <a:gridCol w="2087563">
                  <a:extLst>
                    <a:ext uri="{9D8B030D-6E8A-4147-A177-3AD203B41FA5}">
                      <a16:colId xmlns:a16="http://schemas.microsoft.com/office/drawing/2014/main" val="20002"/>
                    </a:ext>
                  </a:extLst>
                </a:gridCol>
                <a:gridCol w="1800225">
                  <a:extLst>
                    <a:ext uri="{9D8B030D-6E8A-4147-A177-3AD203B41FA5}">
                      <a16:colId xmlns:a16="http://schemas.microsoft.com/office/drawing/2014/main" val="20003"/>
                    </a:ext>
                  </a:extLst>
                </a:gridCol>
              </a:tblGrid>
              <a:tr h="4794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时间</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T1</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事务</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T2</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事务</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DB</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中的</a:t>
                      </a: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A</a:t>
                      </a:r>
                      <a:r>
                        <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值</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81013">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t0</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25</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794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t1</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read(A)</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794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t2</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A:=A-10</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794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t3</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write(A)</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81013">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t4</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read(A)</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15</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794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t5</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ROLLBACK</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794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t6</a:t>
                      </a: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endParaRPr kumimoji="0" lang="zh-CN" altLang="en-US"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chemeClr val="tx1"/>
                          </a:solidFill>
                          <a:effectLst>
                            <a:outerShdw blurRad="38100" dist="38100" dir="2700000" algn="tl">
                              <a:srgbClr val="C0C0C0"/>
                            </a:outerShdw>
                          </a:effectLst>
                          <a:latin typeface="仿宋_GB2312" pitchFamily="49" charset="-122"/>
                          <a:ea typeface="仿宋_GB2312" pitchFamily="49" charset="-122"/>
                        </a:rPr>
                        <a:t>25</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90995" name="AutoShape 179"/>
          <p:cNvSpPr>
            <a:spLocks noChangeArrowheads="1"/>
          </p:cNvSpPr>
          <p:nvPr/>
        </p:nvSpPr>
        <p:spPr bwMode="auto">
          <a:xfrm>
            <a:off x="4645025" y="4005263"/>
            <a:ext cx="2519363" cy="1152525"/>
          </a:xfrm>
          <a:prstGeom prst="foldedCorner">
            <a:avLst>
              <a:gd name="adj" fmla="val 12500"/>
            </a:avLst>
          </a:prstGeom>
          <a:solidFill>
            <a:srgbClr val="333399"/>
          </a:solidFill>
          <a:ln w="25400" cap="sq">
            <a:solidFill>
              <a:schemeClr val="bg2"/>
            </a:solidFill>
            <a:round/>
            <a:headEnd type="none" w="sm" len="sm"/>
            <a:tailEnd type="none" w="sm" len="sm"/>
          </a:ln>
          <a:effectLst>
            <a:outerShdw dist="71842" dir="2700000" algn="ctr" rotWithShape="0">
              <a:schemeClr val="bg2"/>
            </a:outerShdw>
          </a:effectLst>
        </p:spPr>
        <p:txBody>
          <a:bodyPr wrap="none" anchor="ctr"/>
          <a:lstStyle/>
          <a:p>
            <a:pPr algn="ctr"/>
            <a:r>
              <a:rPr lang="zh-CN" altLang="en-US" sz="2800" b="1">
                <a:solidFill>
                  <a:srgbClr val="66FFFF"/>
                </a:solidFill>
                <a:effectLst>
                  <a:outerShdw blurRad="38100" dist="38100" dir="2700000" algn="tl">
                    <a:srgbClr val="000000"/>
                  </a:outerShdw>
                </a:effectLst>
                <a:ea typeface="楷体_GB2312" pitchFamily="49" charset="-122"/>
              </a:rPr>
              <a:t>读“脏”数据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6462"/>
    </mc:Choice>
    <mc:Fallback xmlns="">
      <p:transition spd="slow" advTm="464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90995"/>
                                        </p:tgtEl>
                                        <p:attrNameLst>
                                          <p:attrName>style.visibility</p:attrName>
                                        </p:attrNameLst>
                                      </p:cBhvr>
                                      <p:to>
                                        <p:strVal val="visible"/>
                                      </p:to>
                                    </p:set>
                                    <p:anim calcmode="lin" valueType="num">
                                      <p:cBhvr>
                                        <p:cTn id="7" dur="500" fill="hold"/>
                                        <p:tgtEl>
                                          <p:spTgt spid="290995"/>
                                        </p:tgtEl>
                                        <p:attrNameLst>
                                          <p:attrName>ppt_w</p:attrName>
                                        </p:attrNameLst>
                                      </p:cBhvr>
                                      <p:tavLst>
                                        <p:tav tm="0">
                                          <p:val>
                                            <p:fltVal val="0"/>
                                          </p:val>
                                        </p:tav>
                                        <p:tav tm="100000">
                                          <p:val>
                                            <p:strVal val="#ppt_w"/>
                                          </p:val>
                                        </p:tav>
                                      </p:tavLst>
                                    </p:anim>
                                    <p:anim calcmode="lin" valueType="num">
                                      <p:cBhvr>
                                        <p:cTn id="8" dur="500" fill="hold"/>
                                        <p:tgtEl>
                                          <p:spTgt spid="290995"/>
                                        </p:tgtEl>
                                        <p:attrNameLst>
                                          <p:attrName>ppt_h</p:attrName>
                                        </p:attrNameLst>
                                      </p:cBhvr>
                                      <p:tavLst>
                                        <p:tav tm="0">
                                          <p:val>
                                            <p:fltVal val="0"/>
                                          </p:val>
                                        </p:tav>
                                        <p:tav tm="100000">
                                          <p:val>
                                            <p:strVal val="#ppt_h"/>
                                          </p:val>
                                        </p:tav>
                                      </p:tavLst>
                                    </p:anim>
                                    <p:animEffect transition="in" filter="fade">
                                      <p:cBhvr>
                                        <p:cTn id="9" dur="500"/>
                                        <p:tgtEl>
                                          <p:spTgt spid="2909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99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1" name="Rectangle 3"/>
          <p:cNvSpPr>
            <a:spLocks noGrp="1" noRot="1" noChangeArrowheads="1"/>
          </p:cNvSpPr>
          <p:nvPr>
            <p:ph type="title"/>
          </p:nvPr>
        </p:nvSpPr>
        <p:spPr>
          <a:xfrm>
            <a:off x="1281113" y="323850"/>
            <a:ext cx="7175500" cy="392113"/>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一、数据库并发操作带来的数据不一致问题</a:t>
            </a:r>
          </a:p>
        </p:txBody>
      </p:sp>
      <p:sp>
        <p:nvSpPr>
          <p:cNvPr id="396339" name="AutoShape 51"/>
          <p:cNvSpPr>
            <a:spLocks noChangeArrowheads="1"/>
          </p:cNvSpPr>
          <p:nvPr/>
        </p:nvSpPr>
        <p:spPr bwMode="auto">
          <a:xfrm>
            <a:off x="1258888" y="1484313"/>
            <a:ext cx="6119812" cy="1368425"/>
          </a:xfrm>
          <a:prstGeom prst="foldedCorner">
            <a:avLst>
              <a:gd name="adj" fmla="val 12500"/>
            </a:avLst>
          </a:prstGeom>
          <a:solidFill>
            <a:srgbClr val="333399"/>
          </a:solidFill>
          <a:ln w="25400" cap="sq">
            <a:solidFill>
              <a:schemeClr val="bg2"/>
            </a:solidFill>
            <a:round/>
            <a:headEnd type="none" w="sm" len="sm"/>
            <a:tailEnd type="none" w="sm" len="sm"/>
          </a:ln>
          <a:effectLst>
            <a:outerShdw dist="71842" dir="2700000" algn="ctr" rotWithShape="0">
              <a:schemeClr val="bg2"/>
            </a:outerShdw>
          </a:effectLst>
        </p:spPr>
        <p:txBody>
          <a:bodyPr wrap="none" anchor="ctr"/>
          <a:lstStyle/>
          <a:p>
            <a:r>
              <a:rPr lang="zh-CN" altLang="en-US" sz="2800" b="1">
                <a:solidFill>
                  <a:srgbClr val="66FFFF"/>
                </a:solidFill>
                <a:effectLst>
                  <a:outerShdw blurRad="38100" dist="38100" dir="2700000" algn="tl">
                    <a:srgbClr val="000000"/>
                  </a:outerShdw>
                </a:effectLst>
                <a:ea typeface="楷体_GB2312" pitchFamily="49" charset="-122"/>
              </a:rPr>
              <a:t>产生原因：</a:t>
            </a:r>
          </a:p>
          <a:p>
            <a:pPr>
              <a:lnSpc>
                <a:spcPct val="120000"/>
              </a:lnSpc>
              <a:spcBef>
                <a:spcPct val="20000"/>
              </a:spcBef>
            </a:pPr>
            <a:r>
              <a:rPr lang="zh-CN" altLang="en-US" sz="2800" b="1">
                <a:solidFill>
                  <a:srgbClr val="66FFFF"/>
                </a:solidFill>
                <a:effectLst>
                  <a:outerShdw blurRad="38100" dist="38100" dir="2700000" algn="tl">
                    <a:srgbClr val="000000"/>
                  </a:outerShdw>
                </a:effectLst>
                <a:ea typeface="楷体_GB2312" pitchFamily="49" charset="-122"/>
              </a:rPr>
              <a:t>       </a:t>
            </a:r>
            <a:r>
              <a:rPr lang="zh-CN" altLang="en-US" sz="2800" b="1">
                <a:solidFill>
                  <a:srgbClr val="FFFF66"/>
                </a:solidFill>
                <a:effectLst>
                  <a:outerShdw blurRad="38100" dist="38100" dir="2700000" algn="tl">
                    <a:srgbClr val="000000"/>
                  </a:outerShdw>
                </a:effectLst>
                <a:ea typeface="楷体_GB2312" pitchFamily="49" charset="-122"/>
              </a:rPr>
              <a:t>并发操作破坏了事务的隔离性。</a:t>
            </a:r>
          </a:p>
        </p:txBody>
      </p:sp>
      <p:sp>
        <p:nvSpPr>
          <p:cNvPr id="396341" name="AutoShape 53"/>
          <p:cNvSpPr>
            <a:spLocks noChangeArrowheads="1"/>
          </p:cNvSpPr>
          <p:nvPr/>
        </p:nvSpPr>
        <p:spPr bwMode="auto">
          <a:xfrm>
            <a:off x="827088" y="3213100"/>
            <a:ext cx="7343775" cy="2592388"/>
          </a:xfrm>
          <a:prstGeom prst="flowChartProcess">
            <a:avLst/>
          </a:prstGeom>
          <a:gradFill rotWithShape="1">
            <a:gsLst>
              <a:gs pos="0">
                <a:schemeClr val="folHlink">
                  <a:alpha val="80000"/>
                </a:schemeClr>
              </a:gs>
              <a:gs pos="100000">
                <a:schemeClr val="bg1"/>
              </a:gs>
            </a:gsLst>
            <a:lin ang="5400000" scaled="1"/>
          </a:gra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spcBef>
                <a:spcPct val="30000"/>
              </a:spcBef>
              <a:spcAft>
                <a:spcPct val="20000"/>
              </a:spcAft>
            </a:pPr>
            <a:r>
              <a:rPr lang="zh-CN" altLang="en-US" sz="2800" b="1">
                <a:latin typeface="楷体_GB2312" pitchFamily="49" charset="-122"/>
                <a:ea typeface="楷体_GB2312" pitchFamily="49" charset="-122"/>
              </a:rPr>
              <a:t>     并发控制就是通过正确的调度方式，使一个用户事务的执行不受其它事务的干扰，从而避免造成数据的不一致性。</a:t>
            </a:r>
          </a:p>
          <a:p>
            <a:pPr>
              <a:spcBef>
                <a:spcPct val="30000"/>
              </a:spcBef>
              <a:spcAft>
                <a:spcPct val="20000"/>
              </a:spcAft>
            </a:pPr>
            <a:r>
              <a:rPr lang="zh-CN" altLang="en-US" sz="2800" b="1">
                <a:solidFill>
                  <a:srgbClr val="FF0066"/>
                </a:solidFill>
                <a:latin typeface="楷体_GB2312" pitchFamily="49" charset="-122"/>
                <a:ea typeface="楷体_GB2312" pitchFamily="49" charset="-122"/>
              </a:rPr>
              <a:t>    并发控制的主要技术就是</a:t>
            </a:r>
            <a:r>
              <a:rPr lang="zh-CN" altLang="en-US" sz="2800" b="1">
                <a:solidFill>
                  <a:srgbClr val="FF0066"/>
                </a:solidFill>
                <a:ea typeface="楷体_GB2312" pitchFamily="49" charset="-122"/>
              </a:rPr>
              <a:t>“</a:t>
            </a:r>
            <a:r>
              <a:rPr lang="zh-CN" altLang="en-US" sz="2800" b="1">
                <a:solidFill>
                  <a:srgbClr val="FF0066"/>
                </a:solidFill>
                <a:latin typeface="楷体_GB2312" pitchFamily="49" charset="-122"/>
                <a:ea typeface="楷体_GB2312" pitchFamily="49" charset="-122"/>
              </a:rPr>
              <a:t>锁</a:t>
            </a:r>
            <a:r>
              <a:rPr lang="zh-CN" altLang="en-US" sz="2800" b="1">
                <a:solidFill>
                  <a:srgbClr val="FF0066"/>
                </a:solidFill>
                <a:ea typeface="楷体_GB2312" pitchFamily="49" charset="-122"/>
              </a:rPr>
              <a:t>”</a:t>
            </a:r>
            <a:r>
              <a:rPr lang="zh-CN" altLang="en-US" sz="2800" b="1">
                <a:solidFill>
                  <a:srgbClr val="FF0066"/>
                </a:solidFill>
                <a:latin typeface="楷体_GB2312" pitchFamily="49" charset="-122"/>
                <a:ea typeface="楷体_GB2312"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624"/>
    </mc:Choice>
    <mc:Fallback xmlns="">
      <p:transition spd="slow" advTm="336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96339"/>
                                        </p:tgtEl>
                                        <p:attrNameLst>
                                          <p:attrName>style.visibility</p:attrName>
                                        </p:attrNameLst>
                                      </p:cBhvr>
                                      <p:to>
                                        <p:strVal val="visible"/>
                                      </p:to>
                                    </p:set>
                                    <p:anim calcmode="lin" valueType="num">
                                      <p:cBhvr>
                                        <p:cTn id="7" dur="500" fill="hold"/>
                                        <p:tgtEl>
                                          <p:spTgt spid="396339"/>
                                        </p:tgtEl>
                                        <p:attrNameLst>
                                          <p:attrName>ppt_w</p:attrName>
                                        </p:attrNameLst>
                                      </p:cBhvr>
                                      <p:tavLst>
                                        <p:tav tm="0">
                                          <p:val>
                                            <p:fltVal val="0"/>
                                          </p:val>
                                        </p:tav>
                                        <p:tav tm="100000">
                                          <p:val>
                                            <p:strVal val="#ppt_w"/>
                                          </p:val>
                                        </p:tav>
                                      </p:tavLst>
                                    </p:anim>
                                    <p:anim calcmode="lin" valueType="num">
                                      <p:cBhvr>
                                        <p:cTn id="8" dur="500" fill="hold"/>
                                        <p:tgtEl>
                                          <p:spTgt spid="396339"/>
                                        </p:tgtEl>
                                        <p:attrNameLst>
                                          <p:attrName>ppt_h</p:attrName>
                                        </p:attrNameLst>
                                      </p:cBhvr>
                                      <p:tavLst>
                                        <p:tav tm="0">
                                          <p:val>
                                            <p:fltVal val="0"/>
                                          </p:val>
                                        </p:tav>
                                        <p:tav tm="100000">
                                          <p:val>
                                            <p:strVal val="#ppt_h"/>
                                          </p:val>
                                        </p:tav>
                                      </p:tavLst>
                                    </p:anim>
                                    <p:animEffect transition="in" filter="fade">
                                      <p:cBhvr>
                                        <p:cTn id="9" dur="500"/>
                                        <p:tgtEl>
                                          <p:spTgt spid="396339"/>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396341"/>
                                        </p:tgtEl>
                                        <p:attrNameLst>
                                          <p:attrName>style.visibility</p:attrName>
                                        </p:attrNameLst>
                                      </p:cBhvr>
                                      <p:to>
                                        <p:strVal val="visible"/>
                                      </p:to>
                                    </p:set>
                                    <p:animEffect transition="in" filter="wipe(up)">
                                      <p:cBhvr>
                                        <p:cTn id="14" dur="1000"/>
                                        <p:tgtEl>
                                          <p:spTgt spid="396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339" grpId="0" animBg="1"/>
      <p:bldP spid="39634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5" name="Rectangle 3"/>
          <p:cNvSpPr>
            <a:spLocks noGrp="1" noRot="1" noChangeArrowheads="1"/>
          </p:cNvSpPr>
          <p:nvPr>
            <p:ph type="title"/>
          </p:nvPr>
        </p:nvSpPr>
        <p:spPr>
          <a:xfrm>
            <a:off x="1281113" y="325438"/>
            <a:ext cx="6656387"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二、锁</a:t>
            </a:r>
          </a:p>
        </p:txBody>
      </p:sp>
      <p:sp>
        <p:nvSpPr>
          <p:cNvPr id="397318" name="AutoShape 6"/>
          <p:cNvSpPr>
            <a:spLocks noChangeArrowheads="1"/>
          </p:cNvSpPr>
          <p:nvPr/>
        </p:nvSpPr>
        <p:spPr bwMode="auto">
          <a:xfrm>
            <a:off x="755650" y="1484313"/>
            <a:ext cx="7416800" cy="4824412"/>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30000"/>
              </a:spcBef>
            </a:pPr>
            <a:r>
              <a:rPr lang="zh-CN" altLang="en-US" sz="2800" b="1">
                <a:effectLst>
                  <a:outerShdw blurRad="38100" dist="38100" dir="2700000" algn="tl">
                    <a:srgbClr val="C0C0C0"/>
                  </a:outerShdw>
                </a:effectLst>
                <a:latin typeface="楷体_GB2312" pitchFamily="49" charset="-122"/>
                <a:ea typeface="楷体_GB2312" pitchFamily="49" charset="-122"/>
              </a:rPr>
              <a:t>    数据库系统进行并发控制的基本方法是对被操作的数据所在项进行加锁。</a:t>
            </a:r>
          </a:p>
          <a:p>
            <a:pPr>
              <a:lnSpc>
                <a:spcPct val="110000"/>
              </a:lnSpc>
              <a:spcBef>
                <a:spcPct val="30000"/>
              </a:spcBef>
            </a:pPr>
            <a:r>
              <a:rPr lang="zh-CN" altLang="en-US" sz="2800" b="1">
                <a:effectLst>
                  <a:outerShdw blurRad="38100" dist="38100" dir="2700000" algn="tl">
                    <a:srgbClr val="C0C0C0"/>
                  </a:outerShdw>
                </a:effectLst>
                <a:latin typeface="楷体_GB2312" pitchFamily="49" charset="-122"/>
                <a:ea typeface="楷体_GB2312" pitchFamily="49" charset="-122"/>
              </a:rPr>
              <a:t>    项是数据库中能被加锁的数据单位，可以是表中某几个字段，也可以是表中若干记录，或者是某个表，甚至是整个数据库。</a:t>
            </a:r>
            <a:r>
              <a:rPr lang="zh-CN" altLang="en-US" sz="2800" b="1">
                <a:solidFill>
                  <a:schemeClr val="hlink"/>
                </a:solidFill>
                <a:effectLst>
                  <a:outerShdw blurRad="38100" dist="38100" dir="2700000" algn="tl">
                    <a:srgbClr val="C0C0C0"/>
                  </a:outerShdw>
                </a:effectLst>
                <a:latin typeface="楷体_GB2312" pitchFamily="49" charset="-122"/>
                <a:ea typeface="楷体_GB2312" pitchFamily="49" charset="-122"/>
              </a:rPr>
              <a:t>    </a:t>
            </a:r>
          </a:p>
          <a:p>
            <a:pPr>
              <a:lnSpc>
                <a:spcPct val="110000"/>
              </a:lnSpc>
              <a:spcBef>
                <a:spcPct val="30000"/>
              </a:spcBef>
            </a:pPr>
            <a:r>
              <a:rPr lang="zh-CN" altLang="en-US" sz="2800" b="1">
                <a:solidFill>
                  <a:schemeClr val="hlink"/>
                </a:solidFill>
                <a:effectLst>
                  <a:outerShdw blurRad="38100" dist="38100" dir="2700000" algn="tl">
                    <a:srgbClr val="C0C0C0"/>
                  </a:outerShdw>
                </a:effectLst>
                <a:latin typeface="楷体_GB2312" pitchFamily="49" charset="-122"/>
                <a:ea typeface="楷体_GB2312" pitchFamily="49" charset="-122"/>
              </a:rPr>
              <a:t>    锁</a:t>
            </a:r>
            <a:r>
              <a:rPr lang="zh-CN" altLang="en-US" sz="2800" b="1">
                <a:effectLst>
                  <a:outerShdw blurRad="38100" dist="38100" dir="2700000" algn="tl">
                    <a:srgbClr val="C0C0C0"/>
                  </a:outerShdw>
                </a:effectLst>
                <a:latin typeface="楷体_GB2312" pitchFamily="49" charset="-122"/>
                <a:ea typeface="楷体_GB2312" pitchFamily="49" charset="-122"/>
              </a:rPr>
              <a:t>是防止存取同一资源的用户之间出现不正确地修改数据或不正确地更改数据结构的一种机制。</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3316"/>
    </mc:Choice>
    <mc:Fallback xmlns="">
      <p:transition spd="slow" advTm="433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97318">
                                            <p:bg/>
                                          </p:spTgt>
                                        </p:tgtEl>
                                        <p:attrNameLst>
                                          <p:attrName>style.visibility</p:attrName>
                                        </p:attrNameLst>
                                      </p:cBhvr>
                                      <p:to>
                                        <p:strVal val="visible"/>
                                      </p:to>
                                    </p:set>
                                    <p:animEffect transition="in" filter="wipe(up)">
                                      <p:cBhvr>
                                        <p:cTn id="7" dur="500"/>
                                        <p:tgtEl>
                                          <p:spTgt spid="397318">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97318">
                                            <p:txEl>
                                              <p:pRg st="0" end="0"/>
                                            </p:txEl>
                                          </p:spTgt>
                                        </p:tgtEl>
                                        <p:attrNameLst>
                                          <p:attrName>style.visibility</p:attrName>
                                        </p:attrNameLst>
                                      </p:cBhvr>
                                      <p:to>
                                        <p:strVal val="visible"/>
                                      </p:to>
                                    </p:set>
                                    <p:animEffect transition="in" filter="wipe(up)">
                                      <p:cBhvr>
                                        <p:cTn id="12" dur="500"/>
                                        <p:tgtEl>
                                          <p:spTgt spid="3973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97318">
                                            <p:txEl>
                                              <p:pRg st="1" end="1"/>
                                            </p:txEl>
                                          </p:spTgt>
                                        </p:tgtEl>
                                        <p:attrNameLst>
                                          <p:attrName>style.visibility</p:attrName>
                                        </p:attrNameLst>
                                      </p:cBhvr>
                                      <p:to>
                                        <p:strVal val="visible"/>
                                      </p:to>
                                    </p:set>
                                    <p:animEffect transition="in" filter="wipe(up)">
                                      <p:cBhvr>
                                        <p:cTn id="17" dur="500"/>
                                        <p:tgtEl>
                                          <p:spTgt spid="39731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97318">
                                            <p:txEl>
                                              <p:pRg st="2" end="2"/>
                                            </p:txEl>
                                          </p:spTgt>
                                        </p:tgtEl>
                                        <p:attrNameLst>
                                          <p:attrName>style.visibility</p:attrName>
                                        </p:attrNameLst>
                                      </p:cBhvr>
                                      <p:to>
                                        <p:strVal val="visible"/>
                                      </p:to>
                                    </p:set>
                                    <p:animEffect transition="in" filter="wipe(up)">
                                      <p:cBhvr>
                                        <p:cTn id="22" dur="500"/>
                                        <p:tgtEl>
                                          <p:spTgt spid="3973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8"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Rot="1" noChangeArrowheads="1"/>
          </p:cNvSpPr>
          <p:nvPr>
            <p:ph type="title"/>
          </p:nvPr>
        </p:nvSpPr>
        <p:spPr>
          <a:xfrm>
            <a:off x="1281113" y="325438"/>
            <a:ext cx="6656387"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二、锁</a:t>
            </a:r>
          </a:p>
        </p:txBody>
      </p:sp>
      <p:sp>
        <p:nvSpPr>
          <p:cNvPr id="475139"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1</a:t>
            </a:r>
            <a:r>
              <a:rPr lang="en-US" altLang="en-US" sz="3200">
                <a:solidFill>
                  <a:srgbClr val="660033"/>
                </a:solidFill>
                <a:ea typeface="华文新魏" panose="02010800040101010101" pitchFamily="2" charset="-122"/>
              </a:rPr>
              <a:t>、</a:t>
            </a:r>
            <a:r>
              <a:rPr lang="zh-CN" altLang="en-US" sz="3200">
                <a:solidFill>
                  <a:srgbClr val="660033"/>
                </a:solidFill>
                <a:ea typeface="华文新魏" panose="02010800040101010101" pitchFamily="2" charset="-122"/>
              </a:rPr>
              <a:t>排他锁（</a:t>
            </a:r>
            <a:r>
              <a:rPr lang="en-US" altLang="zh-CN" sz="3200">
                <a:solidFill>
                  <a:srgbClr val="660033"/>
                </a:solidFill>
                <a:ea typeface="华文新魏" panose="02010800040101010101" pitchFamily="2" charset="-122"/>
              </a:rPr>
              <a:t>X</a:t>
            </a:r>
            <a:r>
              <a:rPr lang="zh-CN" altLang="en-US" sz="3200">
                <a:solidFill>
                  <a:srgbClr val="660033"/>
                </a:solidFill>
                <a:ea typeface="华文新魏" panose="02010800040101010101" pitchFamily="2" charset="-122"/>
              </a:rPr>
              <a:t>锁）</a:t>
            </a:r>
          </a:p>
        </p:txBody>
      </p:sp>
      <p:sp>
        <p:nvSpPr>
          <p:cNvPr id="475141" name="AutoShape 5"/>
          <p:cNvSpPr>
            <a:spLocks noChangeArrowheads="1"/>
          </p:cNvSpPr>
          <p:nvPr/>
        </p:nvSpPr>
        <p:spPr bwMode="auto">
          <a:xfrm>
            <a:off x="755650" y="2060575"/>
            <a:ext cx="7416800" cy="410527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2800" b="1">
                <a:effectLst>
                  <a:outerShdw blurRad="38100" dist="38100" dir="2700000" algn="tl">
                    <a:srgbClr val="C0C0C0"/>
                  </a:outerShdw>
                </a:effectLst>
                <a:latin typeface="楷体_GB2312" pitchFamily="49" charset="-122"/>
                <a:ea typeface="楷体_GB2312" pitchFamily="49" charset="-122"/>
              </a:rPr>
              <a:t>   当某个事务</a:t>
            </a:r>
            <a:r>
              <a:rPr lang="en-US" altLang="zh-CN" sz="2800" b="1">
                <a:effectLst>
                  <a:outerShdw blurRad="38100" dist="38100" dir="2700000" algn="tl">
                    <a:srgbClr val="C0C0C0"/>
                  </a:outerShdw>
                </a:effectLst>
                <a:latin typeface="楷体_GB2312" pitchFamily="49" charset="-122"/>
                <a:ea typeface="楷体_GB2312" pitchFamily="49" charset="-122"/>
              </a:rPr>
              <a:t>T</a:t>
            </a:r>
            <a:r>
              <a:rPr lang="zh-CN" altLang="en-US" sz="2800" b="1">
                <a:effectLst>
                  <a:outerShdw blurRad="38100" dist="38100" dir="2700000" algn="tl">
                    <a:srgbClr val="C0C0C0"/>
                  </a:outerShdw>
                </a:effectLst>
                <a:latin typeface="楷体_GB2312" pitchFamily="49" charset="-122"/>
                <a:ea typeface="楷体_GB2312" pitchFamily="49" charset="-122"/>
              </a:rPr>
              <a:t>为修改某个数据项</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且不允许其它事务修改该数据项，或不允许其它事务对该数据项加</a:t>
            </a:r>
            <a:r>
              <a:rPr lang="en-US" altLang="zh-CN" sz="2800" b="1">
                <a:effectLst>
                  <a:outerShdw blurRad="38100" dist="38100" dir="2700000" algn="tl">
                    <a:srgbClr val="C0C0C0"/>
                  </a:outerShdw>
                </a:effectLst>
                <a:latin typeface="楷体_GB2312" pitchFamily="49" charset="-122"/>
                <a:ea typeface="楷体_GB2312" pitchFamily="49" charset="-122"/>
              </a:rPr>
              <a:t>S</a:t>
            </a:r>
            <a:r>
              <a:rPr lang="zh-CN" altLang="en-US" sz="2800" b="1">
                <a:effectLst>
                  <a:outerShdw blurRad="38100" dist="38100" dir="2700000" algn="tl">
                    <a:srgbClr val="C0C0C0"/>
                  </a:outerShdw>
                </a:effectLst>
                <a:latin typeface="楷体_GB2312" pitchFamily="49" charset="-122"/>
                <a:ea typeface="楷体_GB2312" pitchFamily="49" charset="-122"/>
              </a:rPr>
              <a:t>锁时，则该事务可以对</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加排他锁，</a:t>
            </a:r>
            <a:r>
              <a:rPr lang="zh-CN" altLang="en-US" sz="2800" b="1">
                <a:solidFill>
                  <a:schemeClr val="hlink"/>
                </a:solidFill>
                <a:effectLst>
                  <a:outerShdw blurRad="38100" dist="38100" dir="2700000" algn="tl">
                    <a:srgbClr val="C0C0C0"/>
                  </a:outerShdw>
                </a:effectLst>
                <a:latin typeface="楷体_GB2312" pitchFamily="49" charset="-122"/>
                <a:ea typeface="楷体_GB2312" pitchFamily="49" charset="-122"/>
              </a:rPr>
              <a:t>排他锁</a:t>
            </a:r>
            <a:r>
              <a:rPr lang="zh-CN" altLang="en-US" sz="2800" b="1">
                <a:effectLst>
                  <a:outerShdw blurRad="38100" dist="38100" dir="2700000" algn="tl">
                    <a:srgbClr val="C0C0C0"/>
                  </a:outerShdw>
                </a:effectLst>
                <a:latin typeface="楷体_GB2312" pitchFamily="49" charset="-122"/>
                <a:ea typeface="楷体_GB2312" pitchFamily="49" charset="-122"/>
              </a:rPr>
              <a:t>又称为写锁。</a:t>
            </a:r>
          </a:p>
          <a:p>
            <a:pPr>
              <a:lnSpc>
                <a:spcPct val="110000"/>
              </a:lnSpc>
              <a:spcBef>
                <a:spcPct val="25000"/>
              </a:spcBef>
            </a:pPr>
            <a:r>
              <a:rPr lang="zh-CN" altLang="en-US" sz="2800" b="1">
                <a:effectLst>
                  <a:outerShdw blurRad="38100" dist="38100" dir="2700000" algn="tl">
                    <a:srgbClr val="C0C0C0"/>
                  </a:outerShdw>
                </a:effectLst>
                <a:latin typeface="楷体_GB2312" pitchFamily="49" charset="-122"/>
                <a:ea typeface="楷体_GB2312" pitchFamily="49" charset="-122"/>
              </a:rPr>
              <a:t>   </a:t>
            </a:r>
            <a:r>
              <a:rPr lang="zh-CN" altLang="en-US" sz="2800" b="1">
                <a:solidFill>
                  <a:schemeClr val="folHlink"/>
                </a:solidFill>
                <a:effectLst>
                  <a:outerShdw blurRad="38100" dist="38100" dir="2700000" algn="tl">
                    <a:srgbClr val="C0C0C0"/>
                  </a:outerShdw>
                </a:effectLst>
                <a:latin typeface="楷体_GB2312" pitchFamily="49" charset="-122"/>
                <a:ea typeface="楷体_GB2312" pitchFamily="49" charset="-122"/>
              </a:rPr>
              <a:t>本事务：</a:t>
            </a:r>
            <a:r>
              <a:rPr lang="zh-CN" altLang="en-US" sz="2800" b="1">
                <a:effectLst>
                  <a:outerShdw blurRad="38100" dist="38100" dir="2700000" algn="tl">
                    <a:srgbClr val="C0C0C0"/>
                  </a:outerShdw>
                </a:effectLst>
                <a:latin typeface="楷体_GB2312" pitchFamily="49" charset="-122"/>
                <a:ea typeface="楷体_GB2312" pitchFamily="49" charset="-122"/>
              </a:rPr>
              <a:t>读</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，修改</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a:t>
            </a:r>
          </a:p>
          <a:p>
            <a:pPr>
              <a:lnSpc>
                <a:spcPct val="110000"/>
              </a:lnSpc>
              <a:spcBef>
                <a:spcPct val="25000"/>
              </a:spcBef>
            </a:pPr>
            <a:r>
              <a:rPr lang="en-US" altLang="zh-CN" sz="2800" b="1">
                <a:effectLst>
                  <a:outerShdw blurRad="38100" dist="38100" dir="2700000" algn="tl">
                    <a:srgbClr val="C0C0C0"/>
                  </a:outerShdw>
                </a:effectLst>
                <a:latin typeface="楷体_GB2312" pitchFamily="49" charset="-122"/>
                <a:ea typeface="楷体_GB2312" pitchFamily="49" charset="-122"/>
              </a:rPr>
              <a:t>   </a:t>
            </a:r>
            <a:r>
              <a:rPr lang="zh-CN" altLang="en-US" sz="2800" b="1">
                <a:solidFill>
                  <a:srgbClr val="006666"/>
                </a:solidFill>
                <a:effectLst>
                  <a:outerShdw blurRad="38100" dist="38100" dir="2700000" algn="tl">
                    <a:srgbClr val="C0C0C0"/>
                  </a:outerShdw>
                </a:effectLst>
                <a:latin typeface="楷体_GB2312" pitchFamily="49" charset="-122"/>
                <a:ea typeface="楷体_GB2312" pitchFamily="49" charset="-122"/>
              </a:rPr>
              <a:t>其它事务：</a:t>
            </a:r>
            <a:r>
              <a:rPr lang="zh-CN" altLang="en-US" sz="2800" b="1">
                <a:effectLst>
                  <a:outerShdw blurRad="38100" dist="38100" dir="2700000" algn="tl">
                    <a:srgbClr val="C0C0C0"/>
                  </a:outerShdw>
                </a:effectLst>
                <a:latin typeface="楷体_GB2312" pitchFamily="49" charset="-122"/>
                <a:ea typeface="楷体_GB2312" pitchFamily="49" charset="-122"/>
              </a:rPr>
              <a:t>不能读</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，不能修改</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7068"/>
    </mc:Choice>
    <mc:Fallback xmlns="">
      <p:transition spd="slow" advTm="670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5139"/>
                                        </p:tgtEl>
                                        <p:attrNameLst>
                                          <p:attrName>style.visibility</p:attrName>
                                        </p:attrNameLst>
                                      </p:cBhvr>
                                      <p:to>
                                        <p:strVal val="visible"/>
                                      </p:to>
                                    </p:set>
                                    <p:animEffect transition="in" filter="wipe(left)">
                                      <p:cBhvr>
                                        <p:cTn id="7" dur="1000"/>
                                        <p:tgtEl>
                                          <p:spTgt spid="4751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75141">
                                            <p:bg/>
                                          </p:spTgt>
                                        </p:tgtEl>
                                        <p:attrNameLst>
                                          <p:attrName>style.visibility</p:attrName>
                                        </p:attrNameLst>
                                      </p:cBhvr>
                                      <p:to>
                                        <p:strVal val="visible"/>
                                      </p:to>
                                    </p:set>
                                    <p:animEffect transition="in" filter="wipe(up)">
                                      <p:cBhvr>
                                        <p:cTn id="12" dur="500"/>
                                        <p:tgtEl>
                                          <p:spTgt spid="475141">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75141">
                                            <p:txEl>
                                              <p:pRg st="0" end="0"/>
                                            </p:txEl>
                                          </p:spTgt>
                                        </p:tgtEl>
                                        <p:attrNameLst>
                                          <p:attrName>style.visibility</p:attrName>
                                        </p:attrNameLst>
                                      </p:cBhvr>
                                      <p:to>
                                        <p:strVal val="visible"/>
                                      </p:to>
                                    </p:set>
                                    <p:animEffect transition="in" filter="wipe(up)">
                                      <p:cBhvr>
                                        <p:cTn id="17" dur="500"/>
                                        <p:tgtEl>
                                          <p:spTgt spid="47514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75141">
                                            <p:txEl>
                                              <p:pRg st="1" end="1"/>
                                            </p:txEl>
                                          </p:spTgt>
                                        </p:tgtEl>
                                        <p:attrNameLst>
                                          <p:attrName>style.visibility</p:attrName>
                                        </p:attrNameLst>
                                      </p:cBhvr>
                                      <p:to>
                                        <p:strVal val="visible"/>
                                      </p:to>
                                    </p:set>
                                    <p:animEffect transition="in" filter="wipe(up)">
                                      <p:cBhvr>
                                        <p:cTn id="22" dur="500"/>
                                        <p:tgtEl>
                                          <p:spTgt spid="47514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75141">
                                            <p:txEl>
                                              <p:pRg st="2" end="2"/>
                                            </p:txEl>
                                          </p:spTgt>
                                        </p:tgtEl>
                                        <p:attrNameLst>
                                          <p:attrName>style.visibility</p:attrName>
                                        </p:attrNameLst>
                                      </p:cBhvr>
                                      <p:to>
                                        <p:strVal val="visible"/>
                                      </p:to>
                                    </p:set>
                                    <p:animEffect transition="in" filter="wipe(up)">
                                      <p:cBhvr>
                                        <p:cTn id="27" dur="500"/>
                                        <p:tgtEl>
                                          <p:spTgt spid="4751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p:bldP spid="475141"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3" name="Rectangle 3"/>
          <p:cNvSpPr>
            <a:spLocks noGrp="1" noRot="1" noChangeArrowheads="1"/>
          </p:cNvSpPr>
          <p:nvPr>
            <p:ph type="title"/>
          </p:nvPr>
        </p:nvSpPr>
        <p:spPr>
          <a:xfrm>
            <a:off x="1281113" y="325438"/>
            <a:ext cx="6656387"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二、锁</a:t>
            </a:r>
          </a:p>
        </p:txBody>
      </p:sp>
      <p:sp>
        <p:nvSpPr>
          <p:cNvPr id="465926" name="AutoShape 6"/>
          <p:cNvSpPr>
            <a:spLocks noChangeArrowheads="1"/>
          </p:cNvSpPr>
          <p:nvPr/>
        </p:nvSpPr>
        <p:spPr bwMode="auto">
          <a:xfrm>
            <a:off x="468313" y="1196975"/>
            <a:ext cx="8207375" cy="1223963"/>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a:lnSpc>
                <a:spcPct val="110000"/>
              </a:lnSpc>
              <a:spcBef>
                <a:spcPct val="20000"/>
              </a:spcBef>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宋体" panose="02010600030101010101" pitchFamily="2" charset="-122"/>
              </a:rPr>
              <a:t>例：加排他锁情况。</a:t>
            </a:r>
          </a:p>
          <a:p>
            <a:pPr algn="just">
              <a:lnSpc>
                <a:spcPct val="11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latin typeface="楷体_GB2312" pitchFamily="49" charset="-122"/>
                <a:ea typeface="楷体_GB2312" pitchFamily="49" charset="-122"/>
              </a:rPr>
              <a:t>   在</a:t>
            </a:r>
            <a:r>
              <a:rPr lang="en-US" altLang="zh-CN" sz="2400" b="1">
                <a:effectLst>
                  <a:outerShdw blurRad="38100" dist="38100" dir="2700000" algn="tl">
                    <a:srgbClr val="C0C0C0"/>
                  </a:outerShdw>
                </a:effectLst>
                <a:latin typeface="楷体_GB2312" pitchFamily="49" charset="-122"/>
                <a:ea typeface="楷体_GB2312" pitchFamily="49" charset="-122"/>
              </a:rPr>
              <a:t>SQL Server</a:t>
            </a:r>
            <a:r>
              <a:rPr lang="zh-CN" altLang="en-US" sz="2400" b="1">
                <a:effectLst>
                  <a:outerShdw blurRad="38100" dist="38100" dir="2700000" algn="tl">
                    <a:srgbClr val="C0C0C0"/>
                  </a:outerShdw>
                </a:effectLst>
                <a:latin typeface="楷体_GB2312" pitchFamily="49" charset="-122"/>
                <a:ea typeface="楷体_GB2312" pitchFamily="49" charset="-122"/>
              </a:rPr>
              <a:t>中，新建两个连接，分别执行以下语句：</a:t>
            </a:r>
          </a:p>
        </p:txBody>
      </p:sp>
      <p:sp>
        <p:nvSpPr>
          <p:cNvPr id="490570" name="AutoShape 74"/>
          <p:cNvSpPr>
            <a:spLocks noChangeArrowheads="1"/>
          </p:cNvSpPr>
          <p:nvPr/>
        </p:nvSpPr>
        <p:spPr bwMode="gray">
          <a:xfrm>
            <a:off x="179388" y="2493963"/>
            <a:ext cx="4464050" cy="4103687"/>
          </a:xfrm>
          <a:prstGeom prst="roundRect">
            <a:avLst>
              <a:gd name="adj" fmla="val 10347"/>
            </a:avLst>
          </a:prstGeom>
          <a:gradFill rotWithShape="1">
            <a:gsLst>
              <a:gs pos="0">
                <a:srgbClr val="CCECFF"/>
              </a:gs>
              <a:gs pos="100000">
                <a:srgbClr val="CCECFF">
                  <a:gamma/>
                  <a:tint val="0"/>
                  <a:invGamma/>
                </a:srgbClr>
              </a:gs>
            </a:gsLst>
            <a:lin ang="18900000" scaled="1"/>
          </a:gradFill>
          <a:ln w="50800">
            <a:solidFill>
              <a:srgbClr val="7099E2"/>
            </a:solidFill>
            <a:round/>
          </a:ln>
          <a:effectLst>
            <a:outerShdw dist="107763" dir="2700000" algn="ctr" rotWithShape="0">
              <a:srgbClr val="C0C0C0">
                <a:alpha val="50000"/>
              </a:srgbClr>
            </a:outerShdw>
          </a:effectLst>
        </p:spPr>
        <p:txBody>
          <a:bodyPr wrap="none" anchor="ctr"/>
          <a:lstStyle/>
          <a:p>
            <a:pPr>
              <a:defRPr/>
            </a:pPr>
            <a:endParaRPr lang="zh-CN" altLang="en-US"/>
          </a:p>
        </p:txBody>
      </p:sp>
      <p:sp>
        <p:nvSpPr>
          <p:cNvPr id="490576" name="AutoShape 80"/>
          <p:cNvSpPr>
            <a:spLocks noChangeArrowheads="1"/>
          </p:cNvSpPr>
          <p:nvPr/>
        </p:nvSpPr>
        <p:spPr bwMode="gray">
          <a:xfrm>
            <a:off x="4787900" y="2509838"/>
            <a:ext cx="4105275" cy="4014787"/>
          </a:xfrm>
          <a:prstGeom prst="roundRect">
            <a:avLst>
              <a:gd name="adj" fmla="val 10347"/>
            </a:avLst>
          </a:prstGeom>
          <a:gradFill rotWithShape="1">
            <a:gsLst>
              <a:gs pos="0">
                <a:srgbClr val="D8F4BE">
                  <a:gamma/>
                  <a:tint val="0"/>
                  <a:invGamma/>
                </a:srgbClr>
              </a:gs>
              <a:gs pos="100000">
                <a:srgbClr val="D8F4BE"/>
              </a:gs>
            </a:gsLst>
            <a:lin ang="2700000" scaled="1"/>
          </a:gradFill>
          <a:ln w="50800">
            <a:solidFill>
              <a:srgbClr val="44988C"/>
            </a:solidFill>
            <a:round/>
          </a:ln>
          <a:effectLst>
            <a:outerShdw dist="107763" dir="2700000" algn="ctr" rotWithShape="0">
              <a:srgbClr val="C0C0C0">
                <a:alpha val="50000"/>
              </a:srgbClr>
            </a:outerShdw>
          </a:effectLst>
        </p:spPr>
        <p:txBody>
          <a:bodyPr wrap="none" anchor="ctr"/>
          <a:lstStyle/>
          <a:p>
            <a:pPr>
              <a:defRPr/>
            </a:pPr>
            <a:endParaRPr lang="zh-CN" altLang="en-US"/>
          </a:p>
        </p:txBody>
      </p:sp>
      <p:sp>
        <p:nvSpPr>
          <p:cNvPr id="465938" name="Rectangle 18"/>
          <p:cNvSpPr>
            <a:spLocks noChangeArrowheads="1"/>
          </p:cNvSpPr>
          <p:nvPr/>
        </p:nvSpPr>
        <p:spPr bwMode="auto">
          <a:xfrm>
            <a:off x="179388" y="2636838"/>
            <a:ext cx="4176712" cy="381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10000"/>
              </a:spcBef>
            </a:pPr>
            <a:r>
              <a:rPr lang="en-US" altLang="zh-CN" sz="2400" b="1" noProof="1">
                <a:solidFill>
                  <a:srgbClr val="0000FF"/>
                </a:solidFill>
                <a:effectLst>
                  <a:outerShdw blurRad="38100" dist="38100" dir="2700000" algn="tl">
                    <a:srgbClr val="C0C0C0"/>
                  </a:outerShdw>
                </a:effectLst>
              </a:rPr>
              <a:t>USE </a:t>
            </a:r>
            <a:r>
              <a:rPr lang="en-US" altLang="zh-CN" sz="2400" b="1" noProof="1">
                <a:effectLst>
                  <a:outerShdw blurRad="38100" dist="38100" dir="2700000" algn="tl">
                    <a:srgbClr val="C0C0C0"/>
                  </a:outerShdw>
                </a:effectLst>
              </a:rPr>
              <a:t>JXGL</a:t>
            </a:r>
          </a:p>
          <a:p>
            <a:pPr>
              <a:lnSpc>
                <a:spcPct val="120000"/>
              </a:lnSpc>
              <a:spcBef>
                <a:spcPct val="10000"/>
              </a:spcBef>
            </a:pPr>
            <a:r>
              <a:rPr lang="en-US" altLang="zh-CN" sz="2400" b="1" noProof="1">
                <a:solidFill>
                  <a:srgbClr val="0000FF"/>
                </a:solidFill>
                <a:effectLst>
                  <a:outerShdw blurRad="38100" dist="38100" dir="2700000" algn="tl">
                    <a:srgbClr val="C0C0C0"/>
                  </a:outerShdw>
                </a:effectLst>
              </a:rPr>
              <a:t>BEGIN TRANSACTION</a:t>
            </a:r>
            <a:r>
              <a:rPr lang="en-US" altLang="zh-CN" sz="2400" b="1">
                <a:solidFill>
                  <a:srgbClr val="0000FF"/>
                </a:solidFill>
                <a:effectLst>
                  <a:outerShdw blurRad="38100" dist="38100" dir="2700000" algn="tl">
                    <a:srgbClr val="C0C0C0"/>
                  </a:outerShdw>
                </a:effectLst>
              </a:rPr>
              <a:t> T1</a:t>
            </a:r>
            <a:endParaRPr lang="en-US" altLang="zh-CN" sz="2400" b="1" noProof="1">
              <a:solidFill>
                <a:srgbClr val="0000FF"/>
              </a:solidFill>
              <a:effectLst>
                <a:outerShdw blurRad="38100" dist="38100" dir="2700000" algn="tl">
                  <a:srgbClr val="C0C0C0"/>
                </a:outerShdw>
              </a:effectLst>
            </a:endParaRPr>
          </a:p>
          <a:p>
            <a:pPr>
              <a:lnSpc>
                <a:spcPct val="120000"/>
              </a:lnSpc>
              <a:spcBef>
                <a:spcPct val="10000"/>
              </a:spcBef>
            </a:pPr>
            <a:r>
              <a:rPr lang="en-US" altLang="zh-CN" sz="2400" b="1" noProof="1">
                <a:solidFill>
                  <a:srgbClr val="0000FF"/>
                </a:solidFill>
                <a:effectLst>
                  <a:outerShdw blurRad="38100" dist="38100" dir="2700000" algn="tl">
                    <a:srgbClr val="C0C0C0"/>
                  </a:outerShdw>
                </a:effectLst>
              </a:rPr>
              <a:t>UPDATE </a:t>
            </a:r>
            <a:r>
              <a:rPr lang="en-US" altLang="zh-CN" sz="2400" b="1" noProof="1">
                <a:effectLst>
                  <a:outerShdw blurRad="38100" dist="38100" dir="2700000" algn="tl">
                    <a:srgbClr val="C0C0C0"/>
                  </a:outerShdw>
                </a:effectLst>
              </a:rPr>
              <a:t>S1</a:t>
            </a:r>
          </a:p>
          <a:p>
            <a:pPr>
              <a:lnSpc>
                <a:spcPct val="120000"/>
              </a:lnSpc>
              <a:spcBef>
                <a:spcPct val="10000"/>
              </a:spcBef>
            </a:pPr>
            <a:r>
              <a:rPr lang="en-US" altLang="zh-CN" sz="2400" b="1" noProof="1">
                <a:solidFill>
                  <a:srgbClr val="0000FF"/>
                </a:solidFill>
                <a:effectLst>
                  <a:outerShdw blurRad="38100" dist="38100" dir="2700000" algn="tl">
                    <a:srgbClr val="C0C0C0"/>
                  </a:outerShdw>
                </a:effectLst>
              </a:rPr>
              <a:t>SET </a:t>
            </a:r>
            <a:r>
              <a:rPr lang="en-US" altLang="zh-CN" sz="2400" b="1" noProof="1">
                <a:effectLst>
                  <a:outerShdw blurRad="38100" dist="38100" dir="2700000" algn="tl">
                    <a:srgbClr val="C0C0C0"/>
                  </a:outerShdw>
                </a:effectLst>
              </a:rPr>
              <a:t>sname</a:t>
            </a:r>
            <a:r>
              <a:rPr lang="en-US" altLang="zh-CN" sz="2400" b="1" noProof="1">
                <a:solidFill>
                  <a:srgbClr val="808080"/>
                </a:solidFill>
                <a:effectLst>
                  <a:outerShdw blurRad="38100" dist="38100" dir="2700000" algn="tl">
                    <a:srgbClr val="C0C0C0"/>
                  </a:outerShdw>
                </a:effectLst>
              </a:rPr>
              <a:t>=</a:t>
            </a:r>
            <a:r>
              <a:rPr lang="en-US" altLang="zh-CN" sz="2400" b="1" noProof="1">
                <a:solidFill>
                  <a:srgbClr val="FF0000"/>
                </a:solidFill>
                <a:effectLst>
                  <a:outerShdw blurRad="38100" dist="38100" dir="2700000" algn="tl">
                    <a:srgbClr val="C0C0C0"/>
                  </a:outerShdw>
                </a:effectLst>
              </a:rPr>
              <a:t>'aaaa' </a:t>
            </a:r>
            <a:endParaRPr lang="en-US" altLang="zh-CN" sz="2400" b="1">
              <a:solidFill>
                <a:srgbClr val="FF0000"/>
              </a:solidFill>
              <a:effectLst>
                <a:outerShdw blurRad="38100" dist="38100" dir="2700000" algn="tl">
                  <a:srgbClr val="C0C0C0"/>
                </a:outerShdw>
              </a:effectLst>
            </a:endParaRPr>
          </a:p>
          <a:p>
            <a:pPr>
              <a:lnSpc>
                <a:spcPct val="120000"/>
              </a:lnSpc>
              <a:spcBef>
                <a:spcPct val="10000"/>
              </a:spcBef>
            </a:pPr>
            <a:r>
              <a:rPr lang="en-US" altLang="zh-CN" sz="2400" b="1" noProof="1">
                <a:solidFill>
                  <a:srgbClr val="0000FF"/>
                </a:solidFill>
                <a:effectLst>
                  <a:outerShdw blurRad="38100" dist="38100" dir="2700000" algn="tl">
                    <a:srgbClr val="C0C0C0"/>
                  </a:outerShdw>
                </a:effectLst>
              </a:rPr>
              <a:t>WHERE </a:t>
            </a:r>
            <a:r>
              <a:rPr lang="en-US" altLang="zh-CN" sz="2400" b="1">
                <a:effectLst>
                  <a:outerShdw blurRad="38100" dist="38100" dir="2700000" algn="tl">
                    <a:srgbClr val="C0C0C0"/>
                  </a:outerShdw>
                </a:effectLst>
              </a:rPr>
              <a:t>S</a:t>
            </a:r>
            <a:r>
              <a:rPr lang="en-US" altLang="zh-CN" sz="2400" b="1" noProof="1">
                <a:effectLst>
                  <a:outerShdw blurRad="38100" dist="38100" dir="2700000" algn="tl">
                    <a:srgbClr val="C0C0C0"/>
                  </a:outerShdw>
                </a:effectLst>
              </a:rPr>
              <a:t>#</a:t>
            </a:r>
            <a:r>
              <a:rPr lang="en-US" altLang="zh-CN" sz="2400" b="1" noProof="1">
                <a:solidFill>
                  <a:srgbClr val="808080"/>
                </a:solidFill>
                <a:effectLst>
                  <a:outerShdw blurRad="38100" dist="38100" dir="2700000" algn="tl">
                    <a:srgbClr val="C0C0C0"/>
                  </a:outerShdw>
                </a:effectLst>
              </a:rPr>
              <a:t>=</a:t>
            </a:r>
            <a:r>
              <a:rPr lang="en-US" altLang="zh-CN" sz="2400" b="1" noProof="1">
                <a:solidFill>
                  <a:srgbClr val="FF0000"/>
                </a:solidFill>
                <a:effectLst>
                  <a:outerShdw blurRad="38100" dist="38100" dir="2700000" algn="tl">
                    <a:srgbClr val="C0C0C0"/>
                  </a:outerShdw>
                </a:effectLst>
              </a:rPr>
              <a:t>'200401001'</a:t>
            </a:r>
          </a:p>
          <a:p>
            <a:pPr>
              <a:lnSpc>
                <a:spcPct val="120000"/>
              </a:lnSpc>
              <a:spcBef>
                <a:spcPct val="10000"/>
              </a:spcBef>
            </a:pPr>
            <a:r>
              <a:rPr lang="en-US" altLang="zh-CN" sz="2400" b="1" noProof="1">
                <a:solidFill>
                  <a:srgbClr val="0000FF"/>
                </a:solidFill>
                <a:effectLst>
                  <a:outerShdw blurRad="38100" dist="38100" dir="2700000" algn="tl">
                    <a:srgbClr val="C0C0C0"/>
                  </a:outerShdw>
                </a:effectLst>
              </a:rPr>
              <a:t>WAITFOR delay </a:t>
            </a:r>
            <a:r>
              <a:rPr lang="en-US" altLang="zh-CN" sz="2400" b="1" noProof="1">
                <a:solidFill>
                  <a:srgbClr val="FF0000"/>
                </a:solidFill>
                <a:effectLst>
                  <a:outerShdw blurRad="38100" dist="38100" dir="2700000" algn="tl">
                    <a:srgbClr val="C0C0C0"/>
                  </a:outerShdw>
                </a:effectLst>
              </a:rPr>
              <a:t>'00:00:</a:t>
            </a:r>
            <a:r>
              <a:rPr lang="en-US" altLang="zh-CN" sz="2400" b="1">
                <a:solidFill>
                  <a:srgbClr val="FF0000"/>
                </a:solidFill>
                <a:effectLst>
                  <a:outerShdw blurRad="38100" dist="38100" dir="2700000" algn="tl">
                    <a:srgbClr val="C0C0C0"/>
                  </a:outerShdw>
                </a:effectLst>
              </a:rPr>
              <a:t>3</a:t>
            </a:r>
            <a:r>
              <a:rPr lang="en-US" altLang="zh-CN" sz="2400" b="1" noProof="1">
                <a:solidFill>
                  <a:srgbClr val="FF0000"/>
                </a:solidFill>
                <a:effectLst>
                  <a:outerShdw blurRad="38100" dist="38100" dir="2700000" algn="tl">
                    <a:srgbClr val="C0C0C0"/>
                  </a:outerShdw>
                </a:effectLst>
              </a:rPr>
              <a:t>0'        </a:t>
            </a:r>
            <a:r>
              <a:rPr lang="en-US" altLang="zh-CN" sz="2400" b="1" noProof="1">
                <a:solidFill>
                  <a:srgbClr val="008000"/>
                </a:solidFill>
                <a:effectLst>
                  <a:outerShdw blurRad="38100" dist="38100" dir="2700000" algn="tl">
                    <a:srgbClr val="C0C0C0"/>
                  </a:outerShdw>
                </a:effectLst>
              </a:rPr>
              <a:t>--</a:t>
            </a:r>
            <a:r>
              <a:rPr lang="zh-CN" altLang="en-US" sz="2400" b="1" noProof="1">
                <a:solidFill>
                  <a:srgbClr val="008000"/>
                </a:solidFill>
                <a:effectLst>
                  <a:outerShdw blurRad="38100" dist="38100" dir="2700000" algn="tl">
                    <a:srgbClr val="C0C0C0"/>
                  </a:outerShdw>
                </a:effectLst>
              </a:rPr>
              <a:t>等待</a:t>
            </a:r>
            <a:r>
              <a:rPr lang="en-US" altLang="zh-CN" sz="2400" b="1">
                <a:solidFill>
                  <a:srgbClr val="008000"/>
                </a:solidFill>
                <a:effectLst>
                  <a:outerShdw blurRad="38100" dist="38100" dir="2700000" algn="tl">
                    <a:srgbClr val="C0C0C0"/>
                  </a:outerShdw>
                </a:effectLst>
              </a:rPr>
              <a:t>30</a:t>
            </a:r>
            <a:r>
              <a:rPr lang="zh-CN" altLang="en-US" sz="2400" b="1" noProof="1">
                <a:solidFill>
                  <a:srgbClr val="008000"/>
                </a:solidFill>
                <a:effectLst>
                  <a:outerShdw blurRad="38100" dist="38100" dir="2700000" algn="tl">
                    <a:srgbClr val="C0C0C0"/>
                  </a:outerShdw>
                </a:effectLst>
              </a:rPr>
              <a:t>秒</a:t>
            </a:r>
          </a:p>
          <a:p>
            <a:pPr>
              <a:lnSpc>
                <a:spcPct val="120000"/>
              </a:lnSpc>
              <a:spcBef>
                <a:spcPct val="10000"/>
              </a:spcBef>
            </a:pPr>
            <a:r>
              <a:rPr lang="en-US" altLang="zh-CN" sz="2400" b="1" noProof="1">
                <a:solidFill>
                  <a:srgbClr val="0000FF"/>
                </a:solidFill>
                <a:effectLst>
                  <a:outerShdw blurRad="38100" dist="38100" dir="2700000" algn="tl">
                    <a:srgbClr val="C0C0C0"/>
                  </a:outerShdw>
                </a:effectLst>
              </a:rPr>
              <a:t>COMMIT TRANSACTION</a:t>
            </a:r>
            <a:r>
              <a:rPr lang="en-US" altLang="zh-CN" sz="2400" b="1">
                <a:solidFill>
                  <a:srgbClr val="0000FF"/>
                </a:solidFill>
                <a:effectLst>
                  <a:outerShdw blurRad="38100" dist="38100" dir="2700000" algn="tl">
                    <a:srgbClr val="C0C0C0"/>
                  </a:outerShdw>
                </a:effectLst>
              </a:rPr>
              <a:t> T1</a:t>
            </a:r>
            <a:endParaRPr lang="zh-CN" altLang="en-US" sz="2400" b="1">
              <a:solidFill>
                <a:srgbClr val="0000FF"/>
              </a:solidFill>
              <a:effectLst>
                <a:outerShdw blurRad="38100" dist="38100" dir="2700000" algn="tl">
                  <a:srgbClr val="C0C0C0"/>
                </a:outerShdw>
              </a:effectLst>
            </a:endParaRPr>
          </a:p>
        </p:txBody>
      </p:sp>
      <p:sp>
        <p:nvSpPr>
          <p:cNvPr id="465939" name="Rectangle 19"/>
          <p:cNvSpPr>
            <a:spLocks noChangeArrowheads="1"/>
          </p:cNvSpPr>
          <p:nvPr/>
        </p:nvSpPr>
        <p:spPr bwMode="auto">
          <a:xfrm>
            <a:off x="4787900" y="2924175"/>
            <a:ext cx="4176713" cy="239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10000"/>
              </a:spcBef>
            </a:pPr>
            <a:r>
              <a:rPr lang="en-US" altLang="zh-CN" sz="2400" b="1">
                <a:solidFill>
                  <a:srgbClr val="0000FF"/>
                </a:solidFill>
                <a:effectLst>
                  <a:outerShdw blurRad="38100" dist="38100" dir="2700000" algn="tl">
                    <a:srgbClr val="C0C0C0"/>
                  </a:outerShdw>
                </a:effectLst>
              </a:rPr>
              <a:t>USE</a:t>
            </a:r>
            <a:r>
              <a:rPr lang="en-US" altLang="zh-CN" sz="2400" b="1">
                <a:effectLst>
                  <a:outerShdw blurRad="38100" dist="38100" dir="2700000" algn="tl">
                    <a:srgbClr val="C0C0C0"/>
                  </a:outerShdw>
                </a:effectLst>
              </a:rPr>
              <a:t> JXGL</a:t>
            </a:r>
          </a:p>
          <a:p>
            <a:pPr>
              <a:lnSpc>
                <a:spcPct val="120000"/>
              </a:lnSpc>
              <a:spcBef>
                <a:spcPct val="10000"/>
              </a:spcBef>
            </a:pPr>
            <a:r>
              <a:rPr lang="en-US" altLang="zh-CN" sz="2400" b="1">
                <a:solidFill>
                  <a:srgbClr val="0000FF"/>
                </a:solidFill>
                <a:effectLst>
                  <a:outerShdw blurRad="38100" dist="38100" dir="2700000" algn="tl">
                    <a:srgbClr val="C0C0C0"/>
                  </a:outerShdw>
                </a:effectLst>
              </a:rPr>
              <a:t>BEGIN TRANSACTION</a:t>
            </a:r>
            <a:r>
              <a:rPr lang="en-US" altLang="zh-CN" sz="2400">
                <a:solidFill>
                  <a:srgbClr val="0000FF"/>
                </a:solidFill>
                <a:effectLst>
                  <a:outerShdw blurRad="38100" dist="38100" dir="2700000" algn="tl">
                    <a:srgbClr val="C0C0C0"/>
                  </a:outerShdw>
                </a:effectLst>
              </a:rPr>
              <a:t> </a:t>
            </a:r>
            <a:r>
              <a:rPr lang="en-US" altLang="zh-CN" sz="2400" b="1">
                <a:solidFill>
                  <a:srgbClr val="0000FF"/>
                </a:solidFill>
                <a:effectLst>
                  <a:outerShdw blurRad="38100" dist="38100" dir="2700000" algn="tl">
                    <a:srgbClr val="C0C0C0"/>
                  </a:outerShdw>
                </a:effectLst>
              </a:rPr>
              <a:t>T2</a:t>
            </a:r>
          </a:p>
          <a:p>
            <a:pPr>
              <a:lnSpc>
                <a:spcPct val="120000"/>
              </a:lnSpc>
              <a:spcBef>
                <a:spcPct val="10000"/>
              </a:spcBef>
            </a:pPr>
            <a:r>
              <a:rPr lang="en-US" altLang="zh-CN" sz="2400" b="1">
                <a:solidFill>
                  <a:srgbClr val="0000FF"/>
                </a:solidFill>
                <a:effectLst>
                  <a:outerShdw blurRad="38100" dist="38100" dir="2700000" algn="tl">
                    <a:srgbClr val="C0C0C0"/>
                  </a:outerShdw>
                </a:effectLst>
              </a:rPr>
              <a:t>SELECT</a:t>
            </a:r>
            <a:r>
              <a:rPr lang="en-US" altLang="zh-CN" sz="2400" b="1">
                <a:effectLst>
                  <a:outerShdw blurRad="38100" dist="38100" dir="2700000" algn="tl">
                    <a:srgbClr val="C0C0C0"/>
                  </a:outerShdw>
                </a:effectLst>
              </a:rPr>
              <a:t> </a:t>
            </a:r>
            <a:r>
              <a:rPr lang="en-US" altLang="zh-CN" sz="2400" b="1">
                <a:solidFill>
                  <a:srgbClr val="808080"/>
                </a:solidFill>
                <a:effectLst>
                  <a:outerShdw blurRad="38100" dist="38100" dir="2700000" algn="tl">
                    <a:srgbClr val="C0C0C0"/>
                  </a:outerShdw>
                </a:effectLst>
              </a:rPr>
              <a:t>*</a:t>
            </a:r>
            <a:r>
              <a:rPr lang="en-US" altLang="zh-CN" sz="2400" b="1">
                <a:effectLst>
                  <a:outerShdw blurRad="38100" dist="38100" dir="2700000" algn="tl">
                    <a:srgbClr val="C0C0C0"/>
                  </a:outerShdw>
                </a:effectLst>
              </a:rPr>
              <a:t> </a:t>
            </a:r>
            <a:r>
              <a:rPr lang="en-US" altLang="zh-CN" sz="2400" b="1">
                <a:solidFill>
                  <a:srgbClr val="0000FF"/>
                </a:solidFill>
                <a:effectLst>
                  <a:outerShdw blurRad="38100" dist="38100" dir="2700000" algn="tl">
                    <a:srgbClr val="C0C0C0"/>
                  </a:outerShdw>
                </a:effectLst>
              </a:rPr>
              <a:t>FROM</a:t>
            </a:r>
            <a:r>
              <a:rPr lang="en-US" altLang="zh-CN" sz="2400" b="1">
                <a:effectLst>
                  <a:outerShdw blurRad="38100" dist="38100" dir="2700000" algn="tl">
                    <a:srgbClr val="C0C0C0"/>
                  </a:outerShdw>
                </a:effectLst>
              </a:rPr>
              <a:t> S1 </a:t>
            </a:r>
            <a:r>
              <a:rPr lang="en-US" altLang="zh-CN" sz="2400" b="1">
                <a:solidFill>
                  <a:srgbClr val="0000FF"/>
                </a:solidFill>
                <a:effectLst>
                  <a:outerShdw blurRad="38100" dist="38100" dir="2700000" algn="tl">
                    <a:srgbClr val="C0C0C0"/>
                  </a:outerShdw>
                </a:effectLst>
              </a:rPr>
              <a:t>WHERE</a:t>
            </a:r>
            <a:r>
              <a:rPr lang="en-US" altLang="zh-CN" sz="2400" b="1">
                <a:effectLst>
                  <a:outerShdw blurRad="38100" dist="38100" dir="2700000" algn="tl">
                    <a:srgbClr val="C0C0C0"/>
                  </a:outerShdw>
                </a:effectLst>
              </a:rPr>
              <a:t> S#</a:t>
            </a:r>
            <a:r>
              <a:rPr lang="en-US" altLang="zh-CN" sz="2400" b="1">
                <a:solidFill>
                  <a:srgbClr val="808080"/>
                </a:solidFill>
                <a:effectLst>
                  <a:outerShdw blurRad="38100" dist="38100" dir="2700000" algn="tl">
                    <a:srgbClr val="C0C0C0"/>
                  </a:outerShdw>
                </a:effectLst>
              </a:rPr>
              <a:t>=</a:t>
            </a:r>
            <a:r>
              <a:rPr lang="en-US" altLang="zh-CN" sz="2400" b="1">
                <a:solidFill>
                  <a:srgbClr val="FF0000"/>
                </a:solidFill>
                <a:effectLst>
                  <a:outerShdw blurRad="38100" dist="38100" dir="2700000" algn="tl">
                    <a:srgbClr val="C0C0C0"/>
                  </a:outerShdw>
                </a:effectLst>
              </a:rPr>
              <a:t>'200401001'</a:t>
            </a:r>
            <a:r>
              <a:rPr lang="en-US" altLang="zh-CN" sz="2400" b="1">
                <a:effectLst>
                  <a:outerShdw blurRad="38100" dist="38100" dir="2700000" algn="tl">
                    <a:srgbClr val="C0C0C0"/>
                  </a:outerShdw>
                </a:effectLst>
              </a:rPr>
              <a:t>;</a:t>
            </a:r>
          </a:p>
          <a:p>
            <a:pPr>
              <a:lnSpc>
                <a:spcPct val="120000"/>
              </a:lnSpc>
              <a:spcBef>
                <a:spcPct val="10000"/>
              </a:spcBef>
            </a:pPr>
            <a:r>
              <a:rPr lang="en-US" altLang="zh-CN" sz="2400" b="1">
                <a:solidFill>
                  <a:srgbClr val="0000FF"/>
                </a:solidFill>
                <a:effectLst>
                  <a:outerShdw blurRad="38100" dist="38100" dir="2700000" algn="tl">
                    <a:srgbClr val="C0C0C0"/>
                  </a:outerShdw>
                </a:effectLst>
              </a:rPr>
              <a:t>COMMIT TRANSACTION T2</a:t>
            </a:r>
            <a:endParaRPr lang="zh-CN" altLang="en-US" sz="2400" b="1">
              <a:solidFill>
                <a:srgbClr val="0000FF"/>
              </a:solidFill>
              <a:effectLst>
                <a:outerShdw blurRad="38100" dist="38100" dir="2700000" algn="tl">
                  <a:srgbClr val="C0C0C0"/>
                </a:outerShdw>
              </a:effectLst>
            </a:endParaRPr>
          </a:p>
        </p:txBody>
      </p:sp>
      <p:sp>
        <p:nvSpPr>
          <p:cNvPr id="465940" name="Rectangle 20"/>
          <p:cNvSpPr>
            <a:spLocks noChangeArrowheads="1"/>
          </p:cNvSpPr>
          <p:nvPr/>
        </p:nvSpPr>
        <p:spPr bwMode="auto">
          <a:xfrm>
            <a:off x="395288" y="1052513"/>
            <a:ext cx="8280400" cy="1584325"/>
          </a:xfrm>
          <a:prstGeom prst="rect">
            <a:avLst/>
          </a:prstGeom>
          <a:gradFill rotWithShape="1">
            <a:gsLst>
              <a:gs pos="0">
                <a:srgbClr val="3366FF"/>
              </a:gs>
              <a:gs pos="100000">
                <a:srgbClr val="3366FF">
                  <a:gamma/>
                  <a:shade val="46275"/>
                  <a:invGamma/>
                </a:srgbClr>
              </a:gs>
            </a:gsLst>
            <a:lin ang="5400000" scaled="1"/>
          </a:gradFill>
          <a:ln w="254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800" b="1">
                <a:solidFill>
                  <a:srgbClr val="FFFF00"/>
                </a:solidFill>
                <a:latin typeface="楷体_GB2312" pitchFamily="49" charset="-122"/>
                <a:ea typeface="楷体_GB2312" pitchFamily="49" charset="-122"/>
              </a:rPr>
              <a:t>    若同时执行以下两个语句，则第二个</a:t>
            </a:r>
            <a:r>
              <a:rPr lang="en-US" altLang="zh-CN" sz="2800" b="1">
                <a:solidFill>
                  <a:srgbClr val="FFFF00"/>
                </a:solidFill>
                <a:latin typeface="楷体_GB2312" pitchFamily="49" charset="-122"/>
                <a:ea typeface="楷体_GB2312" pitchFamily="49" charset="-122"/>
              </a:rPr>
              <a:t>SELECT</a:t>
            </a:r>
            <a:r>
              <a:rPr lang="zh-CN" altLang="en-US" sz="2800" b="1">
                <a:solidFill>
                  <a:srgbClr val="FFFF00"/>
                </a:solidFill>
                <a:latin typeface="楷体_GB2312" pitchFamily="49" charset="-122"/>
                <a:ea typeface="楷体_GB2312" pitchFamily="49" charset="-122"/>
              </a:rPr>
              <a:t>查询要等待</a:t>
            </a:r>
            <a:r>
              <a:rPr lang="en-US" altLang="zh-CN" sz="2800" b="1">
                <a:solidFill>
                  <a:srgbClr val="FFFF00"/>
                </a:solidFill>
                <a:latin typeface="楷体_GB2312" pitchFamily="49" charset="-122"/>
                <a:ea typeface="楷体_GB2312" pitchFamily="49" charset="-122"/>
              </a:rPr>
              <a:t>30</a:t>
            </a:r>
            <a:r>
              <a:rPr lang="zh-CN" altLang="en-US" sz="2800" b="1">
                <a:solidFill>
                  <a:srgbClr val="FFFF00"/>
                </a:solidFill>
                <a:latin typeface="楷体_GB2312" pitchFamily="49" charset="-122"/>
                <a:ea typeface="楷体_GB2312" pitchFamily="49" charset="-122"/>
              </a:rPr>
              <a:t>秒，即等待</a:t>
            </a:r>
            <a:r>
              <a:rPr lang="en-US" altLang="zh-CN" sz="2800" b="1">
                <a:solidFill>
                  <a:srgbClr val="FFFF00"/>
                </a:solidFill>
                <a:latin typeface="楷体_GB2312" pitchFamily="49" charset="-122"/>
                <a:ea typeface="楷体_GB2312" pitchFamily="49" charset="-122"/>
              </a:rPr>
              <a:t>UPDATE</a:t>
            </a:r>
            <a:r>
              <a:rPr lang="zh-CN" altLang="en-US" sz="2800" b="1">
                <a:solidFill>
                  <a:srgbClr val="FFFF00"/>
                </a:solidFill>
                <a:latin typeface="楷体_GB2312" pitchFamily="49" charset="-122"/>
                <a:ea typeface="楷体_GB2312" pitchFamily="49" charset="-122"/>
              </a:rPr>
              <a:t>语句（系统为它自动加了排他锁）执行完毕，才能执行。</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4690"/>
    </mc:Choice>
    <mc:Fallback xmlns="">
      <p:transition spd="slow" advTm="846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65926">
                                            <p:bg/>
                                          </p:spTgt>
                                        </p:tgtEl>
                                        <p:attrNameLst>
                                          <p:attrName>style.visibility</p:attrName>
                                        </p:attrNameLst>
                                      </p:cBhvr>
                                      <p:to>
                                        <p:strVal val="visible"/>
                                      </p:to>
                                    </p:set>
                                    <p:animEffect transition="in" filter="wipe(up)">
                                      <p:cBhvr>
                                        <p:cTn id="7" dur="500"/>
                                        <p:tgtEl>
                                          <p:spTgt spid="465926">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65926">
                                            <p:txEl>
                                              <p:pRg st="0" end="0"/>
                                            </p:txEl>
                                          </p:spTgt>
                                        </p:tgtEl>
                                        <p:attrNameLst>
                                          <p:attrName>style.visibility</p:attrName>
                                        </p:attrNameLst>
                                      </p:cBhvr>
                                      <p:to>
                                        <p:strVal val="visible"/>
                                      </p:to>
                                    </p:set>
                                    <p:animEffect transition="in" filter="wipe(up)">
                                      <p:cBhvr>
                                        <p:cTn id="12" dur="500"/>
                                        <p:tgtEl>
                                          <p:spTgt spid="4659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65926">
                                            <p:txEl>
                                              <p:pRg st="1" end="1"/>
                                            </p:txEl>
                                          </p:spTgt>
                                        </p:tgtEl>
                                        <p:attrNameLst>
                                          <p:attrName>style.visibility</p:attrName>
                                        </p:attrNameLst>
                                      </p:cBhvr>
                                      <p:to>
                                        <p:strVal val="visible"/>
                                      </p:to>
                                    </p:set>
                                    <p:animEffect transition="in" filter="wipe(up)">
                                      <p:cBhvr>
                                        <p:cTn id="17" dur="500"/>
                                        <p:tgtEl>
                                          <p:spTgt spid="46592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490570"/>
                                        </p:tgtEl>
                                        <p:attrNameLst>
                                          <p:attrName>style.visibility</p:attrName>
                                        </p:attrNameLst>
                                      </p:cBhvr>
                                      <p:to>
                                        <p:strVal val="visible"/>
                                      </p:to>
                                    </p:set>
                                    <p:animEffect transition="in" filter="strips(downLeft)">
                                      <p:cBhvr>
                                        <p:cTn id="22" dur="1000"/>
                                        <p:tgtEl>
                                          <p:spTgt spid="4905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65938">
                                            <p:txEl>
                                              <p:pRg st="0" end="0"/>
                                            </p:txEl>
                                          </p:spTgt>
                                        </p:tgtEl>
                                        <p:attrNameLst>
                                          <p:attrName>style.visibility</p:attrName>
                                        </p:attrNameLst>
                                      </p:cBhvr>
                                      <p:to>
                                        <p:strVal val="visible"/>
                                      </p:to>
                                    </p:set>
                                    <p:animEffect transition="in" filter="wipe(up)">
                                      <p:cBhvr>
                                        <p:cTn id="27" dur="500"/>
                                        <p:tgtEl>
                                          <p:spTgt spid="465938">
                                            <p:txEl>
                                              <p:pRg st="0" end="0"/>
                                            </p:txEl>
                                          </p:spTgt>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465938">
                                            <p:txEl>
                                              <p:pRg st="1" end="1"/>
                                            </p:txEl>
                                          </p:spTgt>
                                        </p:tgtEl>
                                        <p:attrNameLst>
                                          <p:attrName>style.visibility</p:attrName>
                                        </p:attrNameLst>
                                      </p:cBhvr>
                                      <p:to>
                                        <p:strVal val="visible"/>
                                      </p:to>
                                    </p:set>
                                    <p:animEffect transition="in" filter="wipe(up)">
                                      <p:cBhvr>
                                        <p:cTn id="31" dur="500"/>
                                        <p:tgtEl>
                                          <p:spTgt spid="465938">
                                            <p:txEl>
                                              <p:pRg st="1" end="1"/>
                                            </p:txEl>
                                          </p:spTgt>
                                        </p:tgtEl>
                                      </p:cBhvr>
                                    </p:animEffect>
                                  </p:childTnLst>
                                </p:cTn>
                              </p:par>
                            </p:childTnLst>
                          </p:cTn>
                        </p:par>
                        <p:par>
                          <p:cTn id="32" fill="hold">
                            <p:stCondLst>
                              <p:cond delay="1000"/>
                            </p:stCondLst>
                            <p:childTnLst>
                              <p:par>
                                <p:cTn id="33" presetID="22" presetClass="entr" presetSubtype="1" fill="hold" grpId="0" nodeType="afterEffect">
                                  <p:stCondLst>
                                    <p:cond delay="0"/>
                                  </p:stCondLst>
                                  <p:childTnLst>
                                    <p:set>
                                      <p:cBhvr>
                                        <p:cTn id="34" dur="1" fill="hold">
                                          <p:stCondLst>
                                            <p:cond delay="0"/>
                                          </p:stCondLst>
                                        </p:cTn>
                                        <p:tgtEl>
                                          <p:spTgt spid="465938">
                                            <p:txEl>
                                              <p:pRg st="2" end="2"/>
                                            </p:txEl>
                                          </p:spTgt>
                                        </p:tgtEl>
                                        <p:attrNameLst>
                                          <p:attrName>style.visibility</p:attrName>
                                        </p:attrNameLst>
                                      </p:cBhvr>
                                      <p:to>
                                        <p:strVal val="visible"/>
                                      </p:to>
                                    </p:set>
                                    <p:animEffect transition="in" filter="wipe(up)">
                                      <p:cBhvr>
                                        <p:cTn id="35" dur="500"/>
                                        <p:tgtEl>
                                          <p:spTgt spid="465938">
                                            <p:txEl>
                                              <p:pRg st="2" end="2"/>
                                            </p:txEl>
                                          </p:spTgt>
                                        </p:tgtEl>
                                      </p:cBhvr>
                                    </p:animEffect>
                                  </p:childTnLst>
                                </p:cTn>
                              </p:par>
                            </p:childTnLst>
                          </p:cTn>
                        </p:par>
                        <p:par>
                          <p:cTn id="36" fill="hold">
                            <p:stCondLst>
                              <p:cond delay="1500"/>
                            </p:stCondLst>
                            <p:childTnLst>
                              <p:par>
                                <p:cTn id="37" presetID="22" presetClass="entr" presetSubtype="1" fill="hold" grpId="0" nodeType="afterEffect">
                                  <p:stCondLst>
                                    <p:cond delay="0"/>
                                  </p:stCondLst>
                                  <p:childTnLst>
                                    <p:set>
                                      <p:cBhvr>
                                        <p:cTn id="38" dur="1" fill="hold">
                                          <p:stCondLst>
                                            <p:cond delay="0"/>
                                          </p:stCondLst>
                                        </p:cTn>
                                        <p:tgtEl>
                                          <p:spTgt spid="465938">
                                            <p:txEl>
                                              <p:pRg st="3" end="3"/>
                                            </p:txEl>
                                          </p:spTgt>
                                        </p:tgtEl>
                                        <p:attrNameLst>
                                          <p:attrName>style.visibility</p:attrName>
                                        </p:attrNameLst>
                                      </p:cBhvr>
                                      <p:to>
                                        <p:strVal val="visible"/>
                                      </p:to>
                                    </p:set>
                                    <p:animEffect transition="in" filter="wipe(up)">
                                      <p:cBhvr>
                                        <p:cTn id="39" dur="500"/>
                                        <p:tgtEl>
                                          <p:spTgt spid="465938">
                                            <p:txEl>
                                              <p:pRg st="3" end="3"/>
                                            </p:txEl>
                                          </p:spTgt>
                                        </p:tgtEl>
                                      </p:cBhvr>
                                    </p:animEffect>
                                  </p:childTnLst>
                                </p:cTn>
                              </p:par>
                            </p:childTnLst>
                          </p:cTn>
                        </p:par>
                        <p:par>
                          <p:cTn id="40" fill="hold">
                            <p:stCondLst>
                              <p:cond delay="2000"/>
                            </p:stCondLst>
                            <p:childTnLst>
                              <p:par>
                                <p:cTn id="41" presetID="22" presetClass="entr" presetSubtype="1" fill="hold" grpId="0" nodeType="afterEffect">
                                  <p:stCondLst>
                                    <p:cond delay="0"/>
                                  </p:stCondLst>
                                  <p:childTnLst>
                                    <p:set>
                                      <p:cBhvr>
                                        <p:cTn id="42" dur="1" fill="hold">
                                          <p:stCondLst>
                                            <p:cond delay="0"/>
                                          </p:stCondLst>
                                        </p:cTn>
                                        <p:tgtEl>
                                          <p:spTgt spid="465938">
                                            <p:txEl>
                                              <p:pRg st="4" end="4"/>
                                            </p:txEl>
                                          </p:spTgt>
                                        </p:tgtEl>
                                        <p:attrNameLst>
                                          <p:attrName>style.visibility</p:attrName>
                                        </p:attrNameLst>
                                      </p:cBhvr>
                                      <p:to>
                                        <p:strVal val="visible"/>
                                      </p:to>
                                    </p:set>
                                    <p:animEffect transition="in" filter="wipe(up)">
                                      <p:cBhvr>
                                        <p:cTn id="43" dur="500"/>
                                        <p:tgtEl>
                                          <p:spTgt spid="465938">
                                            <p:txEl>
                                              <p:pRg st="4" end="4"/>
                                            </p:txEl>
                                          </p:spTgt>
                                        </p:tgtEl>
                                      </p:cBhvr>
                                    </p:animEffect>
                                  </p:childTnLst>
                                </p:cTn>
                              </p:par>
                            </p:childTnLst>
                          </p:cTn>
                        </p:par>
                        <p:par>
                          <p:cTn id="44" fill="hold">
                            <p:stCondLst>
                              <p:cond delay="2500"/>
                            </p:stCondLst>
                            <p:childTnLst>
                              <p:par>
                                <p:cTn id="45" presetID="22" presetClass="entr" presetSubtype="1" fill="hold" grpId="0" nodeType="afterEffect">
                                  <p:stCondLst>
                                    <p:cond delay="0"/>
                                  </p:stCondLst>
                                  <p:childTnLst>
                                    <p:set>
                                      <p:cBhvr>
                                        <p:cTn id="46" dur="1" fill="hold">
                                          <p:stCondLst>
                                            <p:cond delay="0"/>
                                          </p:stCondLst>
                                        </p:cTn>
                                        <p:tgtEl>
                                          <p:spTgt spid="465938">
                                            <p:txEl>
                                              <p:pRg st="5" end="5"/>
                                            </p:txEl>
                                          </p:spTgt>
                                        </p:tgtEl>
                                        <p:attrNameLst>
                                          <p:attrName>style.visibility</p:attrName>
                                        </p:attrNameLst>
                                      </p:cBhvr>
                                      <p:to>
                                        <p:strVal val="visible"/>
                                      </p:to>
                                    </p:set>
                                    <p:animEffect transition="in" filter="wipe(up)">
                                      <p:cBhvr>
                                        <p:cTn id="47" dur="500"/>
                                        <p:tgtEl>
                                          <p:spTgt spid="465938">
                                            <p:txEl>
                                              <p:pRg st="5" end="5"/>
                                            </p:txEl>
                                          </p:spTgt>
                                        </p:tgtEl>
                                      </p:cBhvr>
                                    </p:animEffect>
                                  </p:childTnLst>
                                </p:cTn>
                              </p:par>
                            </p:childTnLst>
                          </p:cTn>
                        </p:par>
                        <p:par>
                          <p:cTn id="48" fill="hold">
                            <p:stCondLst>
                              <p:cond delay="3000"/>
                            </p:stCondLst>
                            <p:childTnLst>
                              <p:par>
                                <p:cTn id="49" presetID="22" presetClass="entr" presetSubtype="1" fill="hold" grpId="0" nodeType="afterEffect">
                                  <p:stCondLst>
                                    <p:cond delay="0"/>
                                  </p:stCondLst>
                                  <p:childTnLst>
                                    <p:set>
                                      <p:cBhvr>
                                        <p:cTn id="50" dur="1" fill="hold">
                                          <p:stCondLst>
                                            <p:cond delay="0"/>
                                          </p:stCondLst>
                                        </p:cTn>
                                        <p:tgtEl>
                                          <p:spTgt spid="465938">
                                            <p:txEl>
                                              <p:pRg st="6" end="6"/>
                                            </p:txEl>
                                          </p:spTgt>
                                        </p:tgtEl>
                                        <p:attrNameLst>
                                          <p:attrName>style.visibility</p:attrName>
                                        </p:attrNameLst>
                                      </p:cBhvr>
                                      <p:to>
                                        <p:strVal val="visible"/>
                                      </p:to>
                                    </p:set>
                                    <p:animEffect transition="in" filter="wipe(up)">
                                      <p:cBhvr>
                                        <p:cTn id="51" dur="500"/>
                                        <p:tgtEl>
                                          <p:spTgt spid="465938">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6" fill="hold" grpId="0" nodeType="clickEffect">
                                  <p:stCondLst>
                                    <p:cond delay="0"/>
                                  </p:stCondLst>
                                  <p:childTnLst>
                                    <p:set>
                                      <p:cBhvr>
                                        <p:cTn id="55" dur="1" fill="hold">
                                          <p:stCondLst>
                                            <p:cond delay="0"/>
                                          </p:stCondLst>
                                        </p:cTn>
                                        <p:tgtEl>
                                          <p:spTgt spid="490576"/>
                                        </p:tgtEl>
                                        <p:attrNameLst>
                                          <p:attrName>style.visibility</p:attrName>
                                        </p:attrNameLst>
                                      </p:cBhvr>
                                      <p:to>
                                        <p:strVal val="visible"/>
                                      </p:to>
                                    </p:set>
                                    <p:animEffect transition="in" filter="strips(downRight)">
                                      <p:cBhvr>
                                        <p:cTn id="56" dur="1000"/>
                                        <p:tgtEl>
                                          <p:spTgt spid="49057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465939">
                                            <p:txEl>
                                              <p:pRg st="0" end="0"/>
                                            </p:txEl>
                                          </p:spTgt>
                                        </p:tgtEl>
                                        <p:attrNameLst>
                                          <p:attrName>style.visibility</p:attrName>
                                        </p:attrNameLst>
                                      </p:cBhvr>
                                      <p:to>
                                        <p:strVal val="visible"/>
                                      </p:to>
                                    </p:set>
                                    <p:animEffect transition="in" filter="wipe(up)">
                                      <p:cBhvr>
                                        <p:cTn id="61" dur="500"/>
                                        <p:tgtEl>
                                          <p:spTgt spid="465939">
                                            <p:txEl>
                                              <p:pRg st="0" end="0"/>
                                            </p:txEl>
                                          </p:spTgt>
                                        </p:tgtEl>
                                      </p:cBhvr>
                                    </p:animEffect>
                                  </p:childTnLst>
                                </p:cTn>
                              </p:par>
                            </p:childTnLst>
                          </p:cTn>
                        </p:par>
                        <p:par>
                          <p:cTn id="62" fill="hold">
                            <p:stCondLst>
                              <p:cond delay="500"/>
                            </p:stCondLst>
                            <p:childTnLst>
                              <p:par>
                                <p:cTn id="63" presetID="22" presetClass="entr" presetSubtype="1" fill="hold" grpId="0" nodeType="afterEffect">
                                  <p:stCondLst>
                                    <p:cond delay="0"/>
                                  </p:stCondLst>
                                  <p:childTnLst>
                                    <p:set>
                                      <p:cBhvr>
                                        <p:cTn id="64" dur="1" fill="hold">
                                          <p:stCondLst>
                                            <p:cond delay="0"/>
                                          </p:stCondLst>
                                        </p:cTn>
                                        <p:tgtEl>
                                          <p:spTgt spid="465939">
                                            <p:txEl>
                                              <p:pRg st="1" end="1"/>
                                            </p:txEl>
                                          </p:spTgt>
                                        </p:tgtEl>
                                        <p:attrNameLst>
                                          <p:attrName>style.visibility</p:attrName>
                                        </p:attrNameLst>
                                      </p:cBhvr>
                                      <p:to>
                                        <p:strVal val="visible"/>
                                      </p:to>
                                    </p:set>
                                    <p:animEffect transition="in" filter="wipe(up)">
                                      <p:cBhvr>
                                        <p:cTn id="65" dur="500"/>
                                        <p:tgtEl>
                                          <p:spTgt spid="465939">
                                            <p:txEl>
                                              <p:pRg st="1" end="1"/>
                                            </p:txEl>
                                          </p:spTgt>
                                        </p:tgtEl>
                                      </p:cBhvr>
                                    </p:animEffect>
                                  </p:childTnLst>
                                </p:cTn>
                              </p:par>
                            </p:childTnLst>
                          </p:cTn>
                        </p:par>
                        <p:par>
                          <p:cTn id="66" fill="hold">
                            <p:stCondLst>
                              <p:cond delay="1000"/>
                            </p:stCondLst>
                            <p:childTnLst>
                              <p:par>
                                <p:cTn id="67" presetID="22" presetClass="entr" presetSubtype="1" fill="hold" grpId="0" nodeType="afterEffect">
                                  <p:stCondLst>
                                    <p:cond delay="0"/>
                                  </p:stCondLst>
                                  <p:childTnLst>
                                    <p:set>
                                      <p:cBhvr>
                                        <p:cTn id="68" dur="1" fill="hold">
                                          <p:stCondLst>
                                            <p:cond delay="0"/>
                                          </p:stCondLst>
                                        </p:cTn>
                                        <p:tgtEl>
                                          <p:spTgt spid="465939">
                                            <p:txEl>
                                              <p:pRg st="2" end="2"/>
                                            </p:txEl>
                                          </p:spTgt>
                                        </p:tgtEl>
                                        <p:attrNameLst>
                                          <p:attrName>style.visibility</p:attrName>
                                        </p:attrNameLst>
                                      </p:cBhvr>
                                      <p:to>
                                        <p:strVal val="visible"/>
                                      </p:to>
                                    </p:set>
                                    <p:animEffect transition="in" filter="wipe(up)">
                                      <p:cBhvr>
                                        <p:cTn id="69" dur="500"/>
                                        <p:tgtEl>
                                          <p:spTgt spid="465939">
                                            <p:txEl>
                                              <p:pRg st="2" end="2"/>
                                            </p:txEl>
                                          </p:spTgt>
                                        </p:tgtEl>
                                      </p:cBhvr>
                                    </p:animEffect>
                                  </p:childTnLst>
                                </p:cTn>
                              </p:par>
                            </p:childTnLst>
                          </p:cTn>
                        </p:par>
                        <p:par>
                          <p:cTn id="70" fill="hold">
                            <p:stCondLst>
                              <p:cond delay="1500"/>
                            </p:stCondLst>
                            <p:childTnLst>
                              <p:par>
                                <p:cTn id="71" presetID="22" presetClass="entr" presetSubtype="1" fill="hold" grpId="0" nodeType="afterEffect">
                                  <p:stCondLst>
                                    <p:cond delay="0"/>
                                  </p:stCondLst>
                                  <p:childTnLst>
                                    <p:set>
                                      <p:cBhvr>
                                        <p:cTn id="72" dur="1" fill="hold">
                                          <p:stCondLst>
                                            <p:cond delay="0"/>
                                          </p:stCondLst>
                                        </p:cTn>
                                        <p:tgtEl>
                                          <p:spTgt spid="465939">
                                            <p:txEl>
                                              <p:pRg st="3" end="3"/>
                                            </p:txEl>
                                          </p:spTgt>
                                        </p:tgtEl>
                                        <p:attrNameLst>
                                          <p:attrName>style.visibility</p:attrName>
                                        </p:attrNameLst>
                                      </p:cBhvr>
                                      <p:to>
                                        <p:strVal val="visible"/>
                                      </p:to>
                                    </p:set>
                                    <p:animEffect transition="in" filter="wipe(up)">
                                      <p:cBhvr>
                                        <p:cTn id="73" dur="500"/>
                                        <p:tgtEl>
                                          <p:spTgt spid="465939">
                                            <p:txEl>
                                              <p:pRg st="3" end="3"/>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47" presetClass="entr" presetSubtype="0" fill="hold" grpId="0" nodeType="clickEffect">
                                  <p:stCondLst>
                                    <p:cond delay="0"/>
                                  </p:stCondLst>
                                  <p:childTnLst>
                                    <p:set>
                                      <p:cBhvr>
                                        <p:cTn id="77" dur="1" fill="hold">
                                          <p:stCondLst>
                                            <p:cond delay="0"/>
                                          </p:stCondLst>
                                        </p:cTn>
                                        <p:tgtEl>
                                          <p:spTgt spid="465940"/>
                                        </p:tgtEl>
                                        <p:attrNameLst>
                                          <p:attrName>style.visibility</p:attrName>
                                        </p:attrNameLst>
                                      </p:cBhvr>
                                      <p:to>
                                        <p:strVal val="visible"/>
                                      </p:to>
                                    </p:set>
                                    <p:animEffect transition="in" filter="fade">
                                      <p:cBhvr>
                                        <p:cTn id="78" dur="1000"/>
                                        <p:tgtEl>
                                          <p:spTgt spid="465940"/>
                                        </p:tgtEl>
                                      </p:cBhvr>
                                    </p:animEffect>
                                    <p:anim calcmode="lin" valueType="num">
                                      <p:cBhvr>
                                        <p:cTn id="79" dur="1000" fill="hold"/>
                                        <p:tgtEl>
                                          <p:spTgt spid="465940"/>
                                        </p:tgtEl>
                                        <p:attrNameLst>
                                          <p:attrName>ppt_x</p:attrName>
                                        </p:attrNameLst>
                                      </p:cBhvr>
                                      <p:tavLst>
                                        <p:tav tm="0">
                                          <p:val>
                                            <p:strVal val="#ppt_x"/>
                                          </p:val>
                                        </p:tav>
                                        <p:tav tm="100000">
                                          <p:val>
                                            <p:strVal val="#ppt_x"/>
                                          </p:val>
                                        </p:tav>
                                      </p:tavLst>
                                    </p:anim>
                                    <p:anim calcmode="lin" valueType="num">
                                      <p:cBhvr>
                                        <p:cTn id="80" dur="1000" fill="hold"/>
                                        <p:tgtEl>
                                          <p:spTgt spid="4659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6" grpId="0" build="p" animBg="1"/>
      <p:bldP spid="490570" grpId="0" animBg="1"/>
      <p:bldP spid="490576" grpId="0" animBg="1"/>
      <p:bldP spid="465938" grpId="0" uiExpand="1" build="p"/>
      <p:bldP spid="465939" grpId="0" uiExpand="1" build="p"/>
      <p:bldP spid="46594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Rot="1" noChangeArrowheads="1"/>
          </p:cNvSpPr>
          <p:nvPr>
            <p:ph type="title"/>
          </p:nvPr>
        </p:nvSpPr>
        <p:spPr>
          <a:xfrm>
            <a:off x="1281113" y="325438"/>
            <a:ext cx="6656387"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二、锁</a:t>
            </a:r>
          </a:p>
        </p:txBody>
      </p:sp>
      <p:sp>
        <p:nvSpPr>
          <p:cNvPr id="477187"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2</a:t>
            </a:r>
            <a:r>
              <a:rPr lang="en-US" altLang="en-US" sz="3200">
                <a:solidFill>
                  <a:srgbClr val="660033"/>
                </a:solidFill>
                <a:ea typeface="华文新魏" panose="02010800040101010101" pitchFamily="2" charset="-122"/>
              </a:rPr>
              <a:t>、</a:t>
            </a:r>
            <a:r>
              <a:rPr lang="zh-CN" altLang="en-US" sz="3200">
                <a:solidFill>
                  <a:srgbClr val="660033"/>
                </a:solidFill>
                <a:ea typeface="华文新魏" panose="02010800040101010101" pitchFamily="2" charset="-122"/>
              </a:rPr>
              <a:t>共享锁（</a:t>
            </a:r>
            <a:r>
              <a:rPr lang="en-US" altLang="zh-CN" sz="3200">
                <a:solidFill>
                  <a:srgbClr val="660033"/>
                </a:solidFill>
                <a:ea typeface="华文新魏" panose="02010800040101010101" pitchFamily="2" charset="-122"/>
              </a:rPr>
              <a:t>S</a:t>
            </a:r>
            <a:r>
              <a:rPr lang="zh-CN" altLang="en-US" sz="3200">
                <a:solidFill>
                  <a:srgbClr val="660033"/>
                </a:solidFill>
                <a:ea typeface="华文新魏" panose="02010800040101010101" pitchFamily="2" charset="-122"/>
              </a:rPr>
              <a:t>锁）</a:t>
            </a:r>
          </a:p>
        </p:txBody>
      </p:sp>
      <p:sp>
        <p:nvSpPr>
          <p:cNvPr id="477188" name="AutoShape 4"/>
          <p:cNvSpPr>
            <a:spLocks noChangeArrowheads="1"/>
          </p:cNvSpPr>
          <p:nvPr/>
        </p:nvSpPr>
        <p:spPr bwMode="auto">
          <a:xfrm>
            <a:off x="755650" y="2060575"/>
            <a:ext cx="7416800" cy="410527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2800" b="1">
                <a:effectLst>
                  <a:outerShdw blurRad="38100" dist="38100" dir="2700000" algn="tl">
                    <a:srgbClr val="C0C0C0"/>
                  </a:outerShdw>
                </a:effectLst>
                <a:latin typeface="楷体_GB2312" pitchFamily="49" charset="-122"/>
                <a:ea typeface="楷体_GB2312" pitchFamily="49" charset="-122"/>
              </a:rPr>
              <a:t> 当某个事务</a:t>
            </a:r>
            <a:r>
              <a:rPr lang="en-US" altLang="zh-CN" sz="2800" b="1">
                <a:effectLst>
                  <a:outerShdw blurRad="38100" dist="38100" dir="2700000" algn="tl">
                    <a:srgbClr val="C0C0C0"/>
                  </a:outerShdw>
                </a:effectLst>
                <a:latin typeface="楷体_GB2312" pitchFamily="49" charset="-122"/>
                <a:ea typeface="楷体_GB2312" pitchFamily="49" charset="-122"/>
              </a:rPr>
              <a:t>T</a:t>
            </a:r>
            <a:r>
              <a:rPr lang="zh-CN" altLang="en-US" sz="2800" b="1">
                <a:effectLst>
                  <a:outerShdw blurRad="38100" dist="38100" dir="2700000" algn="tl">
                    <a:srgbClr val="C0C0C0"/>
                  </a:outerShdw>
                </a:effectLst>
                <a:latin typeface="楷体_GB2312" pitchFamily="49" charset="-122"/>
                <a:ea typeface="楷体_GB2312" pitchFamily="49" charset="-122"/>
              </a:rPr>
              <a:t>希望阻止其它事务修改正为它读取的某个数据项</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时，则该事务可以对</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加</a:t>
            </a:r>
            <a:r>
              <a:rPr lang="zh-CN" altLang="en-US" sz="2800" b="1">
                <a:solidFill>
                  <a:schemeClr val="hlink"/>
                </a:solidFill>
                <a:effectLst>
                  <a:outerShdw blurRad="38100" dist="38100" dir="2700000" algn="tl">
                    <a:srgbClr val="C0C0C0"/>
                  </a:outerShdw>
                </a:effectLst>
                <a:latin typeface="楷体_GB2312" pitchFamily="49" charset="-122"/>
                <a:ea typeface="楷体_GB2312" pitchFamily="49" charset="-122"/>
              </a:rPr>
              <a:t>共享锁</a:t>
            </a:r>
            <a:r>
              <a:rPr lang="zh-CN" altLang="en-US" sz="2800" b="1">
                <a:effectLst>
                  <a:outerShdw blurRad="38100" dist="38100" dir="2700000" algn="tl">
                    <a:srgbClr val="C0C0C0"/>
                  </a:outerShdw>
                </a:effectLst>
                <a:latin typeface="楷体_GB2312" pitchFamily="49" charset="-122"/>
                <a:ea typeface="楷体_GB2312" pitchFamily="49" charset="-122"/>
              </a:rPr>
              <a:t>，共享锁又称为读锁。</a:t>
            </a:r>
          </a:p>
          <a:p>
            <a:pPr>
              <a:lnSpc>
                <a:spcPct val="110000"/>
              </a:lnSpc>
              <a:spcBef>
                <a:spcPct val="25000"/>
              </a:spcBef>
            </a:pPr>
            <a:r>
              <a:rPr lang="zh-CN" altLang="en-US" sz="2800" b="1">
                <a:effectLst>
                  <a:outerShdw blurRad="38100" dist="38100" dir="2700000" algn="tl">
                    <a:srgbClr val="C0C0C0"/>
                  </a:outerShdw>
                </a:effectLst>
                <a:latin typeface="楷体_GB2312" pitchFamily="49" charset="-122"/>
                <a:ea typeface="楷体_GB2312" pitchFamily="49" charset="-122"/>
              </a:rPr>
              <a:t>   </a:t>
            </a:r>
            <a:r>
              <a:rPr lang="zh-CN" altLang="en-US" sz="2800" b="1">
                <a:solidFill>
                  <a:schemeClr val="folHlink"/>
                </a:solidFill>
                <a:effectLst>
                  <a:outerShdw blurRad="38100" dist="38100" dir="2700000" algn="tl">
                    <a:srgbClr val="C0C0C0"/>
                  </a:outerShdw>
                </a:effectLst>
                <a:latin typeface="楷体_GB2312" pitchFamily="49" charset="-122"/>
                <a:ea typeface="楷体_GB2312" pitchFamily="49" charset="-122"/>
              </a:rPr>
              <a:t>本事务：</a:t>
            </a:r>
            <a:r>
              <a:rPr lang="zh-CN" altLang="en-US" sz="2800" b="1">
                <a:effectLst>
                  <a:outerShdw blurRad="38100" dist="38100" dir="2700000" algn="tl">
                    <a:srgbClr val="C0C0C0"/>
                  </a:outerShdw>
                </a:effectLst>
                <a:latin typeface="楷体_GB2312" pitchFamily="49" charset="-122"/>
                <a:ea typeface="楷体_GB2312" pitchFamily="49" charset="-122"/>
              </a:rPr>
              <a:t>读</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，不能修改</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a:t>
            </a:r>
          </a:p>
          <a:p>
            <a:pPr>
              <a:lnSpc>
                <a:spcPct val="110000"/>
              </a:lnSpc>
              <a:spcBef>
                <a:spcPct val="25000"/>
              </a:spcBef>
            </a:pPr>
            <a:r>
              <a:rPr lang="en-US" altLang="zh-CN" sz="2800" b="1">
                <a:effectLst>
                  <a:outerShdw blurRad="38100" dist="38100" dir="2700000" algn="tl">
                    <a:srgbClr val="C0C0C0"/>
                  </a:outerShdw>
                </a:effectLst>
                <a:latin typeface="楷体_GB2312" pitchFamily="49" charset="-122"/>
                <a:ea typeface="楷体_GB2312" pitchFamily="49" charset="-122"/>
              </a:rPr>
              <a:t>   </a:t>
            </a:r>
            <a:r>
              <a:rPr lang="zh-CN" altLang="en-US" sz="2800" b="1">
                <a:solidFill>
                  <a:srgbClr val="006666"/>
                </a:solidFill>
                <a:effectLst>
                  <a:outerShdw blurRad="38100" dist="38100" dir="2700000" algn="tl">
                    <a:srgbClr val="C0C0C0"/>
                  </a:outerShdw>
                </a:effectLst>
                <a:latin typeface="楷体_GB2312" pitchFamily="49" charset="-122"/>
                <a:ea typeface="楷体_GB2312" pitchFamily="49" charset="-122"/>
              </a:rPr>
              <a:t>其它事务：</a:t>
            </a:r>
            <a:r>
              <a:rPr lang="zh-CN" altLang="en-US" sz="2800" b="1">
                <a:effectLst>
                  <a:outerShdw blurRad="38100" dist="38100" dir="2700000" algn="tl">
                    <a:srgbClr val="C0C0C0"/>
                  </a:outerShdw>
                </a:effectLst>
                <a:latin typeface="楷体_GB2312" pitchFamily="49" charset="-122"/>
                <a:ea typeface="楷体_GB2312" pitchFamily="49" charset="-122"/>
              </a:rPr>
              <a:t>可以读</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，不能修改</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8805"/>
    </mc:Choice>
    <mc:Fallback xmlns="">
      <p:transition spd="slow" advTm="388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7187"/>
                                        </p:tgtEl>
                                        <p:attrNameLst>
                                          <p:attrName>style.visibility</p:attrName>
                                        </p:attrNameLst>
                                      </p:cBhvr>
                                      <p:to>
                                        <p:strVal val="visible"/>
                                      </p:to>
                                    </p:set>
                                    <p:animEffect transition="in" filter="wipe(left)">
                                      <p:cBhvr>
                                        <p:cTn id="7" dur="1000"/>
                                        <p:tgtEl>
                                          <p:spTgt spid="4771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77188">
                                            <p:bg/>
                                          </p:spTgt>
                                        </p:tgtEl>
                                        <p:attrNameLst>
                                          <p:attrName>style.visibility</p:attrName>
                                        </p:attrNameLst>
                                      </p:cBhvr>
                                      <p:to>
                                        <p:strVal val="visible"/>
                                      </p:to>
                                    </p:set>
                                    <p:animEffect transition="in" filter="wipe(up)">
                                      <p:cBhvr>
                                        <p:cTn id="12" dur="500"/>
                                        <p:tgtEl>
                                          <p:spTgt spid="477188">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77188">
                                            <p:txEl>
                                              <p:pRg st="0" end="0"/>
                                            </p:txEl>
                                          </p:spTgt>
                                        </p:tgtEl>
                                        <p:attrNameLst>
                                          <p:attrName>style.visibility</p:attrName>
                                        </p:attrNameLst>
                                      </p:cBhvr>
                                      <p:to>
                                        <p:strVal val="visible"/>
                                      </p:to>
                                    </p:set>
                                    <p:animEffect transition="in" filter="wipe(up)">
                                      <p:cBhvr>
                                        <p:cTn id="17" dur="500"/>
                                        <p:tgtEl>
                                          <p:spTgt spid="47718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77188">
                                            <p:txEl>
                                              <p:pRg st="1" end="1"/>
                                            </p:txEl>
                                          </p:spTgt>
                                        </p:tgtEl>
                                        <p:attrNameLst>
                                          <p:attrName>style.visibility</p:attrName>
                                        </p:attrNameLst>
                                      </p:cBhvr>
                                      <p:to>
                                        <p:strVal val="visible"/>
                                      </p:to>
                                    </p:set>
                                    <p:animEffect transition="in" filter="wipe(up)">
                                      <p:cBhvr>
                                        <p:cTn id="22" dur="500"/>
                                        <p:tgtEl>
                                          <p:spTgt spid="47718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77188">
                                            <p:txEl>
                                              <p:pRg st="2" end="2"/>
                                            </p:txEl>
                                          </p:spTgt>
                                        </p:tgtEl>
                                        <p:attrNameLst>
                                          <p:attrName>style.visibility</p:attrName>
                                        </p:attrNameLst>
                                      </p:cBhvr>
                                      <p:to>
                                        <p:strVal val="visible"/>
                                      </p:to>
                                    </p:set>
                                    <p:animEffect transition="in" filter="wipe(up)">
                                      <p:cBhvr>
                                        <p:cTn id="27" dur="500"/>
                                        <p:tgtEl>
                                          <p:spTgt spid="4771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7" grpId="0"/>
      <p:bldP spid="477188"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body" idx="1"/>
          </p:nvPr>
        </p:nvSpPr>
        <p:spPr>
          <a:xfrm>
            <a:off x="323850" y="1125538"/>
            <a:ext cx="8569325" cy="5111750"/>
          </a:xfrm>
        </p:spPr>
        <p:txBody>
          <a:bodyPr/>
          <a:lstStyle/>
          <a:p>
            <a:pPr marL="533400" indent="-533400" algn="just"/>
            <a:r>
              <a:rPr lang="zh-CN" altLang="en-US" sz="3200">
                <a:latin typeface="宋体" panose="02010600030101010101" pitchFamily="2" charset="-122"/>
              </a:rPr>
              <a:t>例：查看加共享锁情况。</a:t>
            </a:r>
          </a:p>
          <a:p>
            <a:pPr marL="533400" indent="-533400" algn="just"/>
            <a:r>
              <a:rPr lang="zh-CN" altLang="en-US">
                <a:latin typeface="楷体_GB2312" pitchFamily="49" charset="-122"/>
                <a:ea typeface="楷体_GB2312" pitchFamily="49" charset="-122"/>
              </a:rPr>
              <a:t>     在</a:t>
            </a:r>
            <a:r>
              <a:rPr lang="en-US" altLang="zh-CN">
                <a:latin typeface="楷体_GB2312" pitchFamily="49" charset="-122"/>
                <a:ea typeface="楷体_GB2312" pitchFamily="49" charset="-122"/>
              </a:rPr>
              <a:t>SQL Server</a:t>
            </a:r>
            <a:r>
              <a:rPr lang="zh-CN" altLang="en-US">
                <a:latin typeface="楷体_GB2312" pitchFamily="49" charset="-122"/>
                <a:ea typeface="楷体_GB2312" pitchFamily="49" charset="-122"/>
              </a:rPr>
              <a:t>中，运行</a:t>
            </a:r>
            <a:r>
              <a:rPr lang="en-US" altLang="zh-CN">
                <a:latin typeface="楷体_GB2312" pitchFamily="49" charset="-122"/>
                <a:ea typeface="楷体_GB2312" pitchFamily="49" charset="-122"/>
              </a:rPr>
              <a:t>SELECT</a:t>
            </a:r>
            <a:r>
              <a:rPr lang="zh-CN" altLang="en-US">
                <a:latin typeface="楷体_GB2312" pitchFamily="49" charset="-122"/>
                <a:ea typeface="楷体_GB2312" pitchFamily="49" charset="-122"/>
              </a:rPr>
              <a:t>事务。选择</a:t>
            </a:r>
            <a:r>
              <a:rPr lang="zh-CN" altLang="en-US">
                <a:latin typeface="Arial" panose="020B0604020202020204" pitchFamily="34" charset="0"/>
                <a:ea typeface="楷体_GB2312" pitchFamily="49" charset="-122"/>
              </a:rPr>
              <a:t>“</a:t>
            </a:r>
            <a:r>
              <a:rPr lang="zh-CN" altLang="en-US">
                <a:latin typeface="楷体_GB2312" pitchFamily="49" charset="-122"/>
                <a:ea typeface="楷体_GB2312" pitchFamily="49" charset="-122"/>
              </a:rPr>
              <a:t>对象资源管理器</a:t>
            </a:r>
            <a:r>
              <a:rPr lang="zh-CN" altLang="en-US">
                <a:latin typeface="Arial" panose="020B0604020202020204" pitchFamily="34" charset="0"/>
                <a:ea typeface="楷体_GB2312" pitchFamily="49" charset="-122"/>
              </a:rPr>
              <a:t>”</a:t>
            </a:r>
            <a:r>
              <a:rPr lang="zh-CN" altLang="en-US">
                <a:latin typeface="楷体_GB2312" pitchFamily="49" charset="-122"/>
                <a:ea typeface="楷体_GB2312" pitchFamily="49" charset="-122"/>
              </a:rPr>
              <a:t>，展开</a:t>
            </a:r>
            <a:r>
              <a:rPr lang="zh-CN" altLang="en-US">
                <a:latin typeface="Arial" panose="020B0604020202020204" pitchFamily="34" charset="0"/>
                <a:ea typeface="楷体_GB2312" pitchFamily="49" charset="-122"/>
              </a:rPr>
              <a:t>“</a:t>
            </a:r>
            <a:r>
              <a:rPr lang="zh-CN" altLang="en-US">
                <a:latin typeface="楷体_GB2312" pitchFamily="49" charset="-122"/>
                <a:ea typeface="楷体_GB2312" pitchFamily="49" charset="-122"/>
              </a:rPr>
              <a:t>管理</a:t>
            </a:r>
            <a:r>
              <a:rPr lang="zh-CN" altLang="en-US">
                <a:latin typeface="Arial" panose="020B0604020202020204" pitchFamily="34" charset="0"/>
                <a:ea typeface="楷体_GB2312" pitchFamily="49" charset="-122"/>
              </a:rPr>
              <a:t>”</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&gt;</a:t>
            </a:r>
            <a:r>
              <a:rPr lang="en-US" altLang="zh-CN">
                <a:latin typeface="Arial" panose="020B0604020202020204" pitchFamily="34" charset="0"/>
                <a:ea typeface="楷体_GB2312" pitchFamily="49" charset="-122"/>
              </a:rPr>
              <a:t>“</a:t>
            </a:r>
            <a:r>
              <a:rPr lang="zh-CN" altLang="en-US">
                <a:latin typeface="楷体_GB2312" pitchFamily="49" charset="-122"/>
                <a:ea typeface="楷体_GB2312" pitchFamily="49" charset="-122"/>
              </a:rPr>
              <a:t>活动监视器</a:t>
            </a:r>
            <a:r>
              <a:rPr lang="zh-CN" altLang="en-US">
                <a:latin typeface="Arial" panose="020B0604020202020204" pitchFamily="34" charset="0"/>
                <a:ea typeface="楷体_GB2312" pitchFamily="49" charset="-122"/>
              </a:rPr>
              <a:t>”</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&gt;</a:t>
            </a:r>
            <a:r>
              <a:rPr lang="en-US" altLang="zh-CN">
                <a:latin typeface="Arial" panose="020B0604020202020204" pitchFamily="34" charset="0"/>
                <a:ea typeface="楷体_GB2312" pitchFamily="49" charset="-122"/>
              </a:rPr>
              <a:t>“</a:t>
            </a:r>
            <a:r>
              <a:rPr lang="zh-CN" altLang="en-US">
                <a:latin typeface="楷体_GB2312" pitchFamily="49" charset="-122"/>
                <a:ea typeface="楷体_GB2312" pitchFamily="49" charset="-122"/>
              </a:rPr>
              <a:t>选择按对象分类的锁</a:t>
            </a:r>
            <a:r>
              <a:rPr lang="zh-CN" altLang="en-US">
                <a:latin typeface="Arial" panose="020B0604020202020204" pitchFamily="34" charset="0"/>
                <a:ea typeface="楷体_GB2312" pitchFamily="49" charset="-122"/>
              </a:rPr>
              <a:t>”</a:t>
            </a:r>
            <a:r>
              <a:rPr lang="zh-CN" altLang="en-US">
                <a:latin typeface="楷体_GB2312" pitchFamily="49" charset="-122"/>
                <a:ea typeface="楷体_GB2312" pitchFamily="49" charset="-122"/>
              </a:rPr>
              <a:t>。可看到锁的具体信息。</a:t>
            </a:r>
          </a:p>
        </p:txBody>
      </p:sp>
      <p:sp>
        <p:nvSpPr>
          <p:cNvPr id="467971" name="Rectangle 3"/>
          <p:cNvSpPr>
            <a:spLocks noGrp="1" noRot="1" noChangeArrowheads="1"/>
          </p:cNvSpPr>
          <p:nvPr>
            <p:ph type="title"/>
          </p:nvPr>
        </p:nvSpPr>
        <p:spPr>
          <a:xfrm>
            <a:off x="1281113" y="325438"/>
            <a:ext cx="6656387"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二、锁</a:t>
            </a:r>
          </a:p>
        </p:txBody>
      </p:sp>
      <p:pic>
        <p:nvPicPr>
          <p:cNvPr id="467972" name="Picture 4"/>
          <p:cNvPicPr>
            <a:picLocks noChangeAspect="1" noChangeArrowheads="1"/>
          </p:cNvPicPr>
          <p:nvPr/>
        </p:nvPicPr>
        <p:blipFill>
          <a:blip r:embed="rId3">
            <a:extLst>
              <a:ext uri="{28A0092B-C50C-407E-A947-70E740481C1C}">
                <a14:useLocalDpi xmlns:a14="http://schemas.microsoft.com/office/drawing/2010/main" val="0"/>
              </a:ext>
            </a:extLst>
          </a:blip>
          <a:srcRect t="27480" r="79506" b="32834"/>
          <a:stretch>
            <a:fillRect/>
          </a:stretch>
        </p:blipFill>
        <p:spPr bwMode="auto">
          <a:xfrm>
            <a:off x="611188" y="2133600"/>
            <a:ext cx="3392487"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79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196975"/>
            <a:ext cx="7789863" cy="471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002"/>
    </mc:Choice>
    <mc:Fallback xmlns="">
      <p:transition spd="slow" advTm="180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467972"/>
                                        </p:tgtEl>
                                        <p:attrNameLst>
                                          <p:attrName>style.visibility</p:attrName>
                                        </p:attrNameLst>
                                      </p:cBhvr>
                                      <p:to>
                                        <p:strVal val="visible"/>
                                      </p:to>
                                    </p:set>
                                    <p:anim calcmode="lin" valueType="num">
                                      <p:cBhvr>
                                        <p:cTn id="7" dur="1000" fill="hold"/>
                                        <p:tgtEl>
                                          <p:spTgt spid="467972"/>
                                        </p:tgtEl>
                                        <p:attrNameLst>
                                          <p:attrName>ppt_x</p:attrName>
                                        </p:attrNameLst>
                                      </p:cBhvr>
                                      <p:tavLst>
                                        <p:tav tm="0">
                                          <p:val>
                                            <p:strVal val="#ppt_x-.2"/>
                                          </p:val>
                                        </p:tav>
                                        <p:tav tm="100000">
                                          <p:val>
                                            <p:strVal val="#ppt_x"/>
                                          </p:val>
                                        </p:tav>
                                      </p:tavLst>
                                    </p:anim>
                                    <p:anim calcmode="lin" valueType="num">
                                      <p:cBhvr>
                                        <p:cTn id="8" dur="1000" fill="hold"/>
                                        <p:tgtEl>
                                          <p:spTgt spid="467972"/>
                                        </p:tgtEl>
                                        <p:attrNameLst>
                                          <p:attrName>ppt_y</p:attrName>
                                        </p:attrNameLst>
                                      </p:cBhvr>
                                      <p:tavLst>
                                        <p:tav tm="0">
                                          <p:val>
                                            <p:strVal val="#ppt_y"/>
                                          </p:val>
                                        </p:tav>
                                        <p:tav tm="100000">
                                          <p:val>
                                            <p:strVal val="#ppt_y"/>
                                          </p:val>
                                        </p:tav>
                                      </p:tavLst>
                                    </p:anim>
                                    <p:animEffect transition="in" filter="wipe(right)" prLst="gradientSize: 0.1">
                                      <p:cBhvr>
                                        <p:cTn id="9" dur="1000"/>
                                        <p:tgtEl>
                                          <p:spTgt spid="467972"/>
                                        </p:tgtEl>
                                      </p:cBhvr>
                                    </p:animEffect>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467973"/>
                                        </p:tgtEl>
                                        <p:attrNameLst>
                                          <p:attrName>style.visibility</p:attrName>
                                        </p:attrNameLst>
                                      </p:cBhvr>
                                      <p:to>
                                        <p:strVal val="visible"/>
                                      </p:to>
                                    </p:set>
                                    <p:animEffect transition="in" filter="fade">
                                      <p:cBhvr>
                                        <p:cTn id="14" dur="1000"/>
                                        <p:tgtEl>
                                          <p:spTgt spid="467973"/>
                                        </p:tgtEl>
                                      </p:cBhvr>
                                    </p:animEffect>
                                    <p:anim calcmode="lin" valueType="num">
                                      <p:cBhvr>
                                        <p:cTn id="15" dur="1000" fill="hold"/>
                                        <p:tgtEl>
                                          <p:spTgt spid="467973"/>
                                        </p:tgtEl>
                                        <p:attrNameLst>
                                          <p:attrName>ppt_x</p:attrName>
                                        </p:attrNameLst>
                                      </p:cBhvr>
                                      <p:tavLst>
                                        <p:tav tm="0">
                                          <p:val>
                                            <p:strVal val="#ppt_x"/>
                                          </p:val>
                                        </p:tav>
                                        <p:tav tm="100000">
                                          <p:val>
                                            <p:strVal val="#ppt_x"/>
                                          </p:val>
                                        </p:tav>
                                      </p:tavLst>
                                    </p:anim>
                                    <p:anim calcmode="lin" valueType="num">
                                      <p:cBhvr>
                                        <p:cTn id="16" dur="1000" fill="hold"/>
                                        <p:tgtEl>
                                          <p:spTgt spid="4679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Rot="1" noChangeArrowheads="1"/>
          </p:cNvSpPr>
          <p:nvPr>
            <p:ph type="title"/>
          </p:nvPr>
        </p:nvSpPr>
        <p:spPr>
          <a:xfrm>
            <a:off x="1281113" y="325438"/>
            <a:ext cx="6656387"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二、锁</a:t>
            </a:r>
          </a:p>
        </p:txBody>
      </p:sp>
      <p:sp>
        <p:nvSpPr>
          <p:cNvPr id="478211" name="Rectangle 3"/>
          <p:cNvSpPr>
            <a:spLocks noChangeArrowheads="1"/>
          </p:cNvSpPr>
          <p:nvPr/>
        </p:nvSpPr>
        <p:spPr bwMode="auto">
          <a:xfrm>
            <a:off x="611188" y="1187450"/>
            <a:ext cx="80645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3</a:t>
            </a:r>
            <a:r>
              <a:rPr lang="en-US" altLang="en-US" sz="3200">
                <a:solidFill>
                  <a:srgbClr val="660033"/>
                </a:solidFill>
                <a:ea typeface="华文新魏" panose="02010800040101010101" pitchFamily="2" charset="-122"/>
              </a:rPr>
              <a:t>、</a:t>
            </a:r>
            <a:r>
              <a:rPr lang="zh-CN" altLang="en-US" sz="3200">
                <a:solidFill>
                  <a:srgbClr val="660033"/>
                </a:solidFill>
                <a:ea typeface="华文新魏" panose="02010800040101010101" pitchFamily="2" charset="-122"/>
              </a:rPr>
              <a:t>共享更新锁（</a:t>
            </a:r>
            <a:r>
              <a:rPr lang="en-US" altLang="zh-CN" sz="3200">
                <a:solidFill>
                  <a:srgbClr val="660033"/>
                </a:solidFill>
                <a:ea typeface="华文新魏" panose="02010800040101010101" pitchFamily="2" charset="-122"/>
              </a:rPr>
              <a:t>SU</a:t>
            </a:r>
            <a:r>
              <a:rPr lang="zh-CN" altLang="en-US" sz="3200">
                <a:solidFill>
                  <a:srgbClr val="660033"/>
                </a:solidFill>
                <a:ea typeface="华文新魏" panose="02010800040101010101" pitchFamily="2" charset="-122"/>
              </a:rPr>
              <a:t>锁）</a:t>
            </a:r>
          </a:p>
        </p:txBody>
      </p:sp>
      <p:sp>
        <p:nvSpPr>
          <p:cNvPr id="478212" name="AutoShape 4"/>
          <p:cNvSpPr>
            <a:spLocks noChangeArrowheads="1"/>
          </p:cNvSpPr>
          <p:nvPr/>
        </p:nvSpPr>
        <p:spPr bwMode="auto">
          <a:xfrm>
            <a:off x="755650" y="2060575"/>
            <a:ext cx="7416800" cy="410527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2800" b="1">
                <a:effectLst>
                  <a:outerShdw blurRad="38100" dist="38100" dir="2700000" algn="tl">
                    <a:srgbClr val="C0C0C0"/>
                  </a:outerShdw>
                </a:effectLst>
                <a:latin typeface="楷体_GB2312" pitchFamily="49" charset="-122"/>
                <a:ea typeface="楷体_GB2312" pitchFamily="49" charset="-122"/>
              </a:rPr>
              <a:t>   </a:t>
            </a:r>
            <a:r>
              <a:rPr lang="zh-CN" altLang="en-US" sz="2800" b="1">
                <a:solidFill>
                  <a:schemeClr val="hlink"/>
                </a:solidFill>
                <a:effectLst>
                  <a:outerShdw blurRad="38100" dist="38100" dir="2700000" algn="tl">
                    <a:srgbClr val="C0C0C0"/>
                  </a:outerShdw>
                </a:effectLst>
                <a:latin typeface="楷体_GB2312" pitchFamily="49" charset="-122"/>
                <a:ea typeface="楷体_GB2312" pitchFamily="49" charset="-122"/>
              </a:rPr>
              <a:t>共享更新锁</a:t>
            </a:r>
            <a:r>
              <a:rPr lang="zh-CN" altLang="en-US" sz="2800" b="1">
                <a:effectLst>
                  <a:outerShdw blurRad="38100" dist="38100" dir="2700000" algn="tl">
                    <a:srgbClr val="C0C0C0"/>
                  </a:outerShdw>
                </a:effectLst>
                <a:latin typeface="楷体_GB2312" pitchFamily="49" charset="-122"/>
                <a:ea typeface="楷体_GB2312" pitchFamily="49" charset="-122"/>
              </a:rPr>
              <a:t>通常用于一个事务</a:t>
            </a:r>
            <a:r>
              <a:rPr lang="en-US" altLang="zh-CN" sz="2800" b="1">
                <a:effectLst>
                  <a:outerShdw blurRad="38100" dist="38100" dir="2700000" algn="tl">
                    <a:srgbClr val="C0C0C0"/>
                  </a:outerShdw>
                </a:effectLst>
                <a:latin typeface="楷体_GB2312" pitchFamily="49" charset="-122"/>
                <a:ea typeface="楷体_GB2312" pitchFamily="49" charset="-122"/>
              </a:rPr>
              <a:t>T</a:t>
            </a:r>
            <a:r>
              <a:rPr lang="zh-CN" altLang="en-US" sz="2800" b="1">
                <a:effectLst>
                  <a:outerShdw blurRad="38100" dist="38100" dir="2700000" algn="tl">
                    <a:srgbClr val="C0C0C0"/>
                  </a:outerShdw>
                </a:effectLst>
                <a:latin typeface="楷体_GB2312" pitchFamily="49" charset="-122"/>
                <a:ea typeface="楷体_GB2312" pitchFamily="49" charset="-122"/>
              </a:rPr>
              <a:t>预先设定对某个表中的一行或几行的更新权利。</a:t>
            </a:r>
            <a:r>
              <a:rPr lang="en-US" altLang="zh-CN" sz="2800" b="1">
                <a:effectLst>
                  <a:outerShdw blurRad="38100" dist="38100" dir="2700000" algn="tl">
                    <a:srgbClr val="C0C0C0"/>
                  </a:outerShdw>
                </a:effectLst>
                <a:latin typeface="楷体_GB2312" pitchFamily="49" charset="-122"/>
                <a:ea typeface="楷体_GB2312" pitchFamily="49" charset="-122"/>
              </a:rPr>
              <a:t>SU</a:t>
            </a:r>
            <a:r>
              <a:rPr lang="zh-CN" altLang="en-US" sz="2800" b="1">
                <a:effectLst>
                  <a:outerShdw blurRad="38100" dist="38100" dir="2700000" algn="tl">
                    <a:srgbClr val="C0C0C0"/>
                  </a:outerShdw>
                </a:effectLst>
                <a:latin typeface="楷体_GB2312" pitchFamily="49" charset="-122"/>
                <a:ea typeface="楷体_GB2312" pitchFamily="49" charset="-122"/>
              </a:rPr>
              <a:t>锁允许其他事务查询该表，或允许其他事务对该表再加</a:t>
            </a:r>
            <a:r>
              <a:rPr lang="en-US" altLang="zh-CN" sz="2800" b="1">
                <a:effectLst>
                  <a:outerShdw blurRad="38100" dist="38100" dir="2700000" algn="tl">
                    <a:srgbClr val="C0C0C0"/>
                  </a:outerShdw>
                </a:effectLst>
                <a:latin typeface="楷体_GB2312" pitchFamily="49" charset="-122"/>
                <a:ea typeface="楷体_GB2312" pitchFamily="49" charset="-122"/>
              </a:rPr>
              <a:t>SU</a:t>
            </a:r>
            <a:r>
              <a:rPr lang="zh-CN" altLang="en-US" sz="2800" b="1">
                <a:effectLst>
                  <a:outerShdw blurRad="38100" dist="38100" dir="2700000" algn="tl">
                    <a:srgbClr val="C0C0C0"/>
                  </a:outerShdw>
                </a:effectLst>
                <a:latin typeface="楷体_GB2312" pitchFamily="49" charset="-122"/>
                <a:ea typeface="楷体_GB2312" pitchFamily="49" charset="-122"/>
              </a:rPr>
              <a:t>锁。</a:t>
            </a:r>
          </a:p>
          <a:p>
            <a:pPr>
              <a:lnSpc>
                <a:spcPct val="110000"/>
              </a:lnSpc>
              <a:spcBef>
                <a:spcPct val="25000"/>
              </a:spcBef>
            </a:pPr>
            <a:r>
              <a:rPr lang="zh-CN" altLang="en-US" sz="2800" b="1">
                <a:effectLst>
                  <a:outerShdw blurRad="38100" dist="38100" dir="2700000" algn="tl">
                    <a:srgbClr val="C0C0C0"/>
                  </a:outerShdw>
                </a:effectLst>
                <a:latin typeface="楷体_GB2312" pitchFamily="49" charset="-122"/>
                <a:ea typeface="楷体_GB2312" pitchFamily="49" charset="-122"/>
              </a:rPr>
              <a:t>   </a:t>
            </a:r>
            <a:r>
              <a:rPr lang="zh-CN" altLang="en-US" sz="2800" b="1">
                <a:solidFill>
                  <a:schemeClr val="folHlink"/>
                </a:solidFill>
                <a:effectLst>
                  <a:outerShdw blurRad="38100" dist="38100" dir="2700000" algn="tl">
                    <a:srgbClr val="C0C0C0"/>
                  </a:outerShdw>
                </a:effectLst>
                <a:latin typeface="楷体_GB2312" pitchFamily="49" charset="-122"/>
                <a:ea typeface="楷体_GB2312" pitchFamily="49" charset="-122"/>
              </a:rPr>
              <a:t>本事务：</a:t>
            </a:r>
            <a:r>
              <a:rPr lang="zh-CN" altLang="en-US" sz="2800" b="1">
                <a:effectLst>
                  <a:outerShdw blurRad="38100" dist="38100" dir="2700000" algn="tl">
                    <a:srgbClr val="C0C0C0"/>
                  </a:outerShdw>
                </a:effectLst>
                <a:latin typeface="楷体_GB2312" pitchFamily="49" charset="-122"/>
                <a:ea typeface="楷体_GB2312" pitchFamily="49" charset="-122"/>
              </a:rPr>
              <a:t>读</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，更新</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a:t>
            </a:r>
          </a:p>
          <a:p>
            <a:pPr>
              <a:lnSpc>
                <a:spcPct val="110000"/>
              </a:lnSpc>
              <a:spcBef>
                <a:spcPct val="25000"/>
              </a:spcBef>
            </a:pPr>
            <a:r>
              <a:rPr lang="zh-CN" altLang="en-US" sz="2800" b="1">
                <a:effectLst>
                  <a:outerShdw blurRad="38100" dist="38100" dir="2700000" algn="tl">
                    <a:srgbClr val="C0C0C0"/>
                  </a:outerShdw>
                </a:effectLst>
                <a:latin typeface="楷体_GB2312" pitchFamily="49" charset="-122"/>
                <a:ea typeface="楷体_GB2312" pitchFamily="49" charset="-122"/>
              </a:rPr>
              <a:t>   </a:t>
            </a:r>
            <a:r>
              <a:rPr lang="zh-CN" altLang="en-US" sz="2800" b="1">
                <a:solidFill>
                  <a:srgbClr val="006666"/>
                </a:solidFill>
                <a:effectLst>
                  <a:outerShdw blurRad="38100" dist="38100" dir="2700000" algn="tl">
                    <a:srgbClr val="C0C0C0"/>
                  </a:outerShdw>
                </a:effectLst>
                <a:latin typeface="楷体_GB2312" pitchFamily="49" charset="-122"/>
                <a:ea typeface="楷体_GB2312" pitchFamily="49" charset="-122"/>
              </a:rPr>
              <a:t>其他事务：</a:t>
            </a:r>
            <a:r>
              <a:rPr lang="zh-CN" altLang="en-US" sz="2800" b="1">
                <a:effectLst>
                  <a:outerShdw blurRad="38100" dist="38100" dir="2700000" algn="tl">
                    <a:srgbClr val="C0C0C0"/>
                  </a:outerShdw>
                </a:effectLst>
                <a:latin typeface="楷体_GB2312" pitchFamily="49" charset="-122"/>
                <a:ea typeface="楷体_GB2312" pitchFamily="49" charset="-122"/>
              </a:rPr>
              <a:t>不能对</a:t>
            </a:r>
            <a:r>
              <a:rPr lang="en-US" altLang="zh-CN" sz="2800" b="1">
                <a:effectLst>
                  <a:outerShdw blurRad="38100" dist="38100" dir="2700000" algn="tl">
                    <a:srgbClr val="C0C0C0"/>
                  </a:outerShdw>
                </a:effectLst>
                <a:latin typeface="楷体_GB2312" pitchFamily="49" charset="-122"/>
                <a:ea typeface="楷体_GB2312" pitchFamily="49" charset="-122"/>
              </a:rPr>
              <a:t>A</a:t>
            </a:r>
            <a:r>
              <a:rPr lang="zh-CN" altLang="en-US" sz="2800" b="1">
                <a:effectLst>
                  <a:outerShdw blurRad="38100" dist="38100" dir="2700000" algn="tl">
                    <a:srgbClr val="C0C0C0"/>
                  </a:outerShdw>
                </a:effectLst>
                <a:latin typeface="楷体_GB2312" pitchFamily="49" charset="-122"/>
                <a:ea typeface="楷体_GB2312" pitchFamily="49" charset="-122"/>
              </a:rPr>
              <a:t>加</a:t>
            </a:r>
            <a:r>
              <a:rPr lang="en-US" altLang="zh-CN" sz="2800" b="1">
                <a:effectLst>
                  <a:outerShdw blurRad="38100" dist="38100" dir="2700000" algn="tl">
                    <a:srgbClr val="C0C0C0"/>
                  </a:outerShdw>
                </a:effectLst>
                <a:latin typeface="楷体_GB2312" pitchFamily="49" charset="-122"/>
                <a:ea typeface="楷体_GB2312" pitchFamily="49" charset="-122"/>
              </a:rPr>
              <a:t>X</a:t>
            </a:r>
            <a:r>
              <a:rPr lang="zh-CN" altLang="en-US" sz="2800" b="1">
                <a:effectLst>
                  <a:outerShdw blurRad="38100" dist="38100" dir="2700000" algn="tl">
                    <a:srgbClr val="C0C0C0"/>
                  </a:outerShdw>
                </a:effectLst>
                <a:latin typeface="楷体_GB2312" pitchFamily="49" charset="-122"/>
                <a:ea typeface="楷体_GB2312" pitchFamily="49" charset="-122"/>
              </a:rPr>
              <a:t>锁。</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630"/>
    </mc:Choice>
    <mc:Fallback xmlns="">
      <p:transition spd="slow" advTm="39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8211"/>
                                        </p:tgtEl>
                                        <p:attrNameLst>
                                          <p:attrName>style.visibility</p:attrName>
                                        </p:attrNameLst>
                                      </p:cBhvr>
                                      <p:to>
                                        <p:strVal val="visible"/>
                                      </p:to>
                                    </p:set>
                                    <p:animEffect transition="in" filter="wipe(left)">
                                      <p:cBhvr>
                                        <p:cTn id="7" dur="1000"/>
                                        <p:tgtEl>
                                          <p:spTgt spid="4782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78212">
                                            <p:bg/>
                                          </p:spTgt>
                                        </p:tgtEl>
                                        <p:attrNameLst>
                                          <p:attrName>style.visibility</p:attrName>
                                        </p:attrNameLst>
                                      </p:cBhvr>
                                      <p:to>
                                        <p:strVal val="visible"/>
                                      </p:to>
                                    </p:set>
                                    <p:animEffect transition="in" filter="wipe(up)">
                                      <p:cBhvr>
                                        <p:cTn id="12" dur="500"/>
                                        <p:tgtEl>
                                          <p:spTgt spid="478212">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78212">
                                            <p:txEl>
                                              <p:pRg st="0" end="0"/>
                                            </p:txEl>
                                          </p:spTgt>
                                        </p:tgtEl>
                                        <p:attrNameLst>
                                          <p:attrName>style.visibility</p:attrName>
                                        </p:attrNameLst>
                                      </p:cBhvr>
                                      <p:to>
                                        <p:strVal val="visible"/>
                                      </p:to>
                                    </p:set>
                                    <p:animEffect transition="in" filter="wipe(up)">
                                      <p:cBhvr>
                                        <p:cTn id="17" dur="500"/>
                                        <p:tgtEl>
                                          <p:spTgt spid="47821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78212">
                                            <p:txEl>
                                              <p:pRg st="1" end="1"/>
                                            </p:txEl>
                                          </p:spTgt>
                                        </p:tgtEl>
                                        <p:attrNameLst>
                                          <p:attrName>style.visibility</p:attrName>
                                        </p:attrNameLst>
                                      </p:cBhvr>
                                      <p:to>
                                        <p:strVal val="visible"/>
                                      </p:to>
                                    </p:set>
                                    <p:animEffect transition="in" filter="wipe(up)">
                                      <p:cBhvr>
                                        <p:cTn id="22" dur="500"/>
                                        <p:tgtEl>
                                          <p:spTgt spid="47821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78212">
                                            <p:txEl>
                                              <p:pRg st="2" end="2"/>
                                            </p:txEl>
                                          </p:spTgt>
                                        </p:tgtEl>
                                        <p:attrNameLst>
                                          <p:attrName>style.visibility</p:attrName>
                                        </p:attrNameLst>
                                      </p:cBhvr>
                                      <p:to>
                                        <p:strVal val="visible"/>
                                      </p:to>
                                    </p:set>
                                    <p:animEffect transition="in" filter="wipe(up)">
                                      <p:cBhvr>
                                        <p:cTn id="27" dur="500"/>
                                        <p:tgtEl>
                                          <p:spTgt spid="4782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p:bldP spid="478212"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9" name="Rectangle 3"/>
          <p:cNvSpPr>
            <a:spLocks noGrp="1" noRot="1" noChangeArrowheads="1"/>
          </p:cNvSpPr>
          <p:nvPr>
            <p:ph type="title"/>
          </p:nvPr>
        </p:nvSpPr>
        <p:spPr>
          <a:xfrm>
            <a:off x="1281113" y="325438"/>
            <a:ext cx="6656387" cy="390525"/>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二、锁</a:t>
            </a:r>
          </a:p>
        </p:txBody>
      </p:sp>
      <p:graphicFrame>
        <p:nvGraphicFramePr>
          <p:cNvPr id="398468" name="Group 132"/>
          <p:cNvGraphicFramePr>
            <a:graphicFrameLocks noGrp="1"/>
          </p:cNvGraphicFramePr>
          <p:nvPr/>
        </p:nvGraphicFramePr>
        <p:xfrm>
          <a:off x="971550" y="2492375"/>
          <a:ext cx="7345363" cy="3065468"/>
        </p:xfrm>
        <a:graphic>
          <a:graphicData uri="http://schemas.openxmlformats.org/drawingml/2006/table">
            <a:tbl>
              <a:tblPr/>
              <a:tblGrid>
                <a:gridCol w="1512888">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gridCol w="1512887">
                  <a:extLst>
                    <a:ext uri="{9D8B030D-6E8A-4147-A177-3AD203B41FA5}">
                      <a16:colId xmlns:a16="http://schemas.microsoft.com/office/drawing/2014/main" val="20002"/>
                    </a:ext>
                  </a:extLst>
                </a:gridCol>
                <a:gridCol w="1439863">
                  <a:extLst>
                    <a:ext uri="{9D8B030D-6E8A-4147-A177-3AD203B41FA5}">
                      <a16:colId xmlns:a16="http://schemas.microsoft.com/office/drawing/2014/main" val="20003"/>
                    </a:ext>
                  </a:extLst>
                </a:gridCol>
                <a:gridCol w="1368425">
                  <a:extLst>
                    <a:ext uri="{9D8B030D-6E8A-4147-A177-3AD203B41FA5}">
                      <a16:colId xmlns:a16="http://schemas.microsoft.com/office/drawing/2014/main" val="20004"/>
                    </a:ext>
                  </a:extLst>
                </a:gridCol>
              </a:tblGrid>
              <a:tr h="696913">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chemeClr val="tx1"/>
                          </a:solidFill>
                          <a:effectLst>
                            <a:outerShdw blurRad="38100" dist="38100" dir="2700000" algn="tl">
                              <a:srgbClr val="C0C0C0"/>
                            </a:outerShdw>
                          </a:effectLst>
                          <a:latin typeface="Tahoma" panose="020B0604030504040204" pitchFamily="34" charset="0"/>
                          <a:ea typeface="华文中宋" panose="02010600040101010101" pitchFamily="2" charset="-122"/>
                        </a:rPr>
                        <a:t>锁</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008000"/>
                          </a:solidFill>
                          <a:effectLst>
                            <a:outerShdw blurRad="38100" dist="38100" dir="2700000" algn="tl">
                              <a:srgbClr val="C0C0C0"/>
                            </a:outerShdw>
                          </a:effectLst>
                          <a:latin typeface="Tahoma" panose="020B0604030504040204" pitchFamily="34" charset="0"/>
                          <a:ea typeface="宋体" panose="02010600030101010101" pitchFamily="2" charset="-122"/>
                        </a:rPr>
                        <a:t>S</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008000"/>
                          </a:solidFill>
                          <a:effectLst>
                            <a:outerShdw blurRad="38100" dist="38100" dir="2700000" algn="tl">
                              <a:srgbClr val="C0C0C0"/>
                            </a:outerShdw>
                          </a:effectLst>
                          <a:latin typeface="Tahoma" panose="020B0604030504040204" pitchFamily="34" charset="0"/>
                          <a:ea typeface="宋体" panose="02010600030101010101" pitchFamily="2" charset="-122"/>
                        </a:rPr>
                        <a:t>SU</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008000"/>
                          </a:solidFill>
                          <a:effectLst>
                            <a:outerShdw blurRad="38100" dist="38100" dir="2700000" algn="tl">
                              <a:srgbClr val="C0C0C0"/>
                            </a:outerShdw>
                          </a:effectLst>
                          <a:latin typeface="Tahoma" panose="020B0604030504040204" pitchFamily="34" charset="0"/>
                          <a:ea typeface="宋体" panose="02010600030101010101" pitchFamily="2" charset="-122"/>
                        </a:rPr>
                        <a:t>X</a:t>
                      </a:r>
                    </a:p>
                  </a:txBody>
                  <a:tcPr marL="90000" marR="90000" marT="46800" marB="46800" anchor="ctr" anchorCtr="1" horzOverflow="overflow">
                    <a:lnL w="28575" cap="flat" cmpd="sng" algn="ctr">
                      <a:solidFill>
                        <a:schemeClr val="bg2"/>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008000"/>
                          </a:solidFill>
                          <a:effectLst>
                            <a:outerShdw blurRad="38100" dist="38100" dir="2700000" algn="tl">
                              <a:srgbClr val="C0C0C0"/>
                            </a:outerShdw>
                          </a:effectLst>
                          <a:latin typeface="Tahoma" panose="020B0604030504040204" pitchFamily="34" charset="0"/>
                          <a:ea typeface="宋体" panose="02010600030101010101" pitchFamily="2" charset="-122"/>
                        </a:rPr>
                        <a:t>－</a:t>
                      </a:r>
                    </a:p>
                  </a:txBody>
                  <a:tcPr marL="90000" marR="90000" marT="46800" marB="46800" anchor="ctr" anchorCtr="1" horzOverflow="overflow">
                    <a:lnL w="12700" cap="flat" cmpd="sng" algn="ctr">
                      <a:solidFill>
                        <a:schemeClr val="tx1"/>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96913">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008000"/>
                          </a:solidFill>
                          <a:effectLst>
                            <a:outerShdw blurRad="38100" dist="38100" dir="2700000" algn="tl">
                              <a:srgbClr val="C0C0C0"/>
                            </a:outerShdw>
                          </a:effectLst>
                          <a:latin typeface="Tahoma" panose="020B0604030504040204" pitchFamily="34" charset="0"/>
                          <a:ea typeface="宋体" panose="02010600030101010101" pitchFamily="2" charset="-122"/>
                        </a:rPr>
                        <a:t>S</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endParaRPr kumimoji="0" lang="en-US" altLang="zh-CN"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endParaRP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4963">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008000"/>
                          </a:solidFill>
                          <a:effectLst>
                            <a:outerShdw blurRad="38100" dist="38100" dir="2700000" algn="tl">
                              <a:srgbClr val="C0C0C0"/>
                            </a:outerShdw>
                          </a:effectLst>
                          <a:latin typeface="Tahoma" panose="020B0604030504040204" pitchFamily="34" charset="0"/>
                          <a:ea typeface="宋体" panose="02010600030101010101" pitchFamily="2" charset="-122"/>
                        </a:rPr>
                        <a:t>SU</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3812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008000"/>
                          </a:solidFill>
                          <a:effectLst>
                            <a:outerShdw blurRad="38100" dist="38100" dir="2700000" algn="tl">
                              <a:srgbClr val="C0C0C0"/>
                            </a:outerShdw>
                          </a:effectLst>
                          <a:latin typeface="Tahoma" panose="020B0604030504040204" pitchFamily="34" charset="0"/>
                          <a:ea typeface="宋体" panose="02010600030101010101" pitchFamily="2" charset="-122"/>
                        </a:rPr>
                        <a:t>X</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en-US" altLang="zh-CN"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98475">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008000"/>
                          </a:solidFill>
                          <a:effectLst>
                            <a:outerShdw blurRad="38100" dist="38100" dir="2700000" algn="tl">
                              <a:srgbClr val="C0C0C0"/>
                            </a:outerShdw>
                          </a:effectLst>
                          <a:latin typeface="Tahoma" panose="020B0604030504040204" pitchFamily="34" charset="0"/>
                          <a:ea typeface="宋体" panose="02010600030101010101" pitchFamily="2" charset="-12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p>
                  </a:txBody>
                  <a:tcPr marL="90000" marR="90000" marT="46800" marB="46800" anchor="ctr" anchorCtr="1" horzOverflow="overflow">
                    <a:lnL w="28575" cap="flat" cmpd="sng" algn="ctr">
                      <a:solidFill>
                        <a:schemeClr val="bg2"/>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en-US" sz="2800" b="1" i="0" u="none" strike="noStrike" cap="none" normalizeH="0" baseline="0">
                          <a:ln>
                            <a:noFill/>
                          </a:ln>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sym typeface="Wingdings" panose="05000000000000000000" pitchFamily="2" charset="2"/>
                        </a:rPr>
                        <a:t></a:t>
                      </a:r>
                    </a:p>
                  </a:txBody>
                  <a:tcPr marL="90000" marR="90000" marT="46800" marB="46800" anchor="ctr" anchorCtr="1" horzOverflow="overflow">
                    <a:lnL w="12700" cap="flat" cmpd="sng" algn="ctr">
                      <a:solidFill>
                        <a:schemeClr val="tx1"/>
                      </a:solidFill>
                      <a:prstDash val="solid"/>
                      <a:round/>
                      <a:headEnd type="none" w="sm" len="sm"/>
                      <a:tailEnd type="none" w="sm" len="sm"/>
                    </a:lnL>
                    <a:lnR w="28575" cap="flat" cmpd="sng" algn="ctr">
                      <a:solidFill>
                        <a:schemeClr val="bg2"/>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98388" name="Rectangle 52"/>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4</a:t>
            </a:r>
            <a:r>
              <a:rPr lang="en-US" altLang="en-US" sz="3200">
                <a:solidFill>
                  <a:srgbClr val="660033"/>
                </a:solidFill>
                <a:ea typeface="华文新魏" panose="02010800040101010101" pitchFamily="2" charset="-122"/>
              </a:rPr>
              <a:t>、</a:t>
            </a:r>
            <a:r>
              <a:rPr lang="zh-CN" altLang="en-US" sz="3200">
                <a:solidFill>
                  <a:srgbClr val="660033"/>
                </a:solidFill>
                <a:ea typeface="华文新魏" panose="02010800040101010101" pitchFamily="2" charset="-122"/>
              </a:rPr>
              <a:t>共存相容矩阵</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293"/>
    </mc:Choice>
    <mc:Fallback xmlns="">
      <p:transition spd="slow" advTm="82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8388"/>
                                        </p:tgtEl>
                                        <p:attrNameLst>
                                          <p:attrName>style.visibility</p:attrName>
                                        </p:attrNameLst>
                                      </p:cBhvr>
                                      <p:to>
                                        <p:strVal val="visible"/>
                                      </p:to>
                                    </p:set>
                                    <p:animEffect transition="in" filter="wipe(left)">
                                      <p:cBhvr>
                                        <p:cTn id="7" dur="1000"/>
                                        <p:tgtEl>
                                          <p:spTgt spid="398388"/>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398468"/>
                                        </p:tgtEl>
                                        <p:attrNameLst>
                                          <p:attrName>style.visibility</p:attrName>
                                        </p:attrNameLst>
                                      </p:cBhvr>
                                      <p:to>
                                        <p:strVal val="visible"/>
                                      </p:to>
                                    </p:set>
                                    <p:animEffect transition="in" filter="fade">
                                      <p:cBhvr>
                                        <p:cTn id="12" dur="1000"/>
                                        <p:tgtEl>
                                          <p:spTgt spid="398468"/>
                                        </p:tgtEl>
                                      </p:cBhvr>
                                    </p:animEffect>
                                    <p:anim calcmode="lin" valueType="num">
                                      <p:cBhvr>
                                        <p:cTn id="13" dur="1000" fill="hold"/>
                                        <p:tgtEl>
                                          <p:spTgt spid="398468"/>
                                        </p:tgtEl>
                                        <p:attrNameLst>
                                          <p:attrName>ppt_x</p:attrName>
                                        </p:attrNameLst>
                                      </p:cBhvr>
                                      <p:tavLst>
                                        <p:tav tm="0">
                                          <p:val>
                                            <p:strVal val="#ppt_x"/>
                                          </p:val>
                                        </p:tav>
                                        <p:tav tm="100000">
                                          <p:val>
                                            <p:strVal val="#ppt_x"/>
                                          </p:val>
                                        </p:tav>
                                      </p:tavLst>
                                    </p:anim>
                                    <p:anim calcmode="lin" valueType="num">
                                      <p:cBhvr>
                                        <p:cTn id="14" dur="1000" fill="hold"/>
                                        <p:tgtEl>
                                          <p:spTgt spid="3984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8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2" name="Rectangle 4"/>
          <p:cNvSpPr>
            <a:spLocks noGrp="1" noRot="1" noChangeArrowheads="1"/>
          </p:cNvSpPr>
          <p:nvPr>
            <p:ph type="title"/>
          </p:nvPr>
        </p:nvSpPr>
        <p:spPr>
          <a:xfrm>
            <a:off x="1281113" y="271463"/>
            <a:ext cx="6656387"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三、锁协议</a:t>
            </a:r>
          </a:p>
        </p:txBody>
      </p:sp>
      <p:sp>
        <p:nvSpPr>
          <p:cNvPr id="293923" name="AutoShape 35"/>
          <p:cNvSpPr>
            <a:spLocks noChangeArrowheads="1"/>
          </p:cNvSpPr>
          <p:nvPr/>
        </p:nvSpPr>
        <p:spPr bwMode="auto">
          <a:xfrm>
            <a:off x="755650" y="1628775"/>
            <a:ext cx="7416800" cy="4105275"/>
          </a:xfrm>
          <a:prstGeom prst="roundRect">
            <a:avLst>
              <a:gd name="adj" fmla="val 9130"/>
            </a:avLst>
          </a:prstGeom>
          <a:solidFill>
            <a:schemeClr val="bg1"/>
          </a:solidFill>
          <a:ln w="38100">
            <a:solidFill>
              <a:srgbClr val="6666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10000"/>
              </a:lnSpc>
              <a:spcBef>
                <a:spcPct val="25000"/>
              </a:spcBef>
            </a:pPr>
            <a:r>
              <a:rPr lang="zh-CN" altLang="en-US" sz="2800" b="1">
                <a:effectLst>
                  <a:outerShdw blurRad="38100" dist="38100" dir="2700000" algn="tl">
                    <a:srgbClr val="C0C0C0"/>
                  </a:outerShdw>
                </a:effectLst>
                <a:latin typeface="楷体_GB2312" pitchFamily="49" charset="-122"/>
                <a:ea typeface="楷体_GB2312" pitchFamily="49" charset="-122"/>
              </a:rPr>
              <a:t>    当一个事务</a:t>
            </a:r>
            <a:r>
              <a:rPr lang="en-US" altLang="zh-CN" sz="2800" b="1">
                <a:effectLst>
                  <a:outerShdw blurRad="38100" dist="38100" dir="2700000" algn="tl">
                    <a:srgbClr val="C0C0C0"/>
                  </a:outerShdw>
                </a:effectLst>
                <a:latin typeface="楷体_GB2312" pitchFamily="49" charset="-122"/>
                <a:ea typeface="楷体_GB2312" pitchFamily="49" charset="-122"/>
              </a:rPr>
              <a:t>T</a:t>
            </a:r>
            <a:r>
              <a:rPr lang="zh-CN" altLang="en-US" sz="2800" b="1">
                <a:effectLst>
                  <a:outerShdw blurRad="38100" dist="38100" dir="2700000" algn="tl">
                    <a:srgbClr val="C0C0C0"/>
                  </a:outerShdw>
                </a:effectLst>
                <a:latin typeface="楷体_GB2312" pitchFamily="49" charset="-122"/>
                <a:ea typeface="楷体_GB2312" pitchFamily="49" charset="-122"/>
              </a:rPr>
              <a:t>要对某个项加锁时，必须遵守某种规则，比如在什么条件下可以申请</a:t>
            </a:r>
            <a:r>
              <a:rPr lang="en-US" altLang="zh-CN" sz="2800" b="1">
                <a:effectLst>
                  <a:outerShdw blurRad="38100" dist="38100" dir="2700000" algn="tl">
                    <a:srgbClr val="C0C0C0"/>
                  </a:outerShdw>
                </a:effectLst>
                <a:latin typeface="楷体_GB2312" pitchFamily="49" charset="-122"/>
                <a:ea typeface="楷体_GB2312" pitchFamily="49" charset="-122"/>
              </a:rPr>
              <a:t>S</a:t>
            </a:r>
            <a:r>
              <a:rPr lang="zh-CN" altLang="en-US" sz="2800" b="1">
                <a:effectLst>
                  <a:outerShdw blurRad="38100" dist="38100" dir="2700000" algn="tl">
                    <a:srgbClr val="C0C0C0"/>
                  </a:outerShdw>
                </a:effectLst>
                <a:latin typeface="楷体_GB2312" pitchFamily="49" charset="-122"/>
                <a:ea typeface="楷体_GB2312" pitchFamily="49" charset="-122"/>
              </a:rPr>
              <a:t>锁或</a:t>
            </a:r>
            <a:r>
              <a:rPr lang="en-US" altLang="zh-CN" sz="2800" b="1">
                <a:effectLst>
                  <a:outerShdw blurRad="38100" dist="38100" dir="2700000" algn="tl">
                    <a:srgbClr val="C0C0C0"/>
                  </a:outerShdw>
                </a:effectLst>
                <a:latin typeface="楷体_GB2312" pitchFamily="49" charset="-122"/>
                <a:ea typeface="楷体_GB2312" pitchFamily="49" charset="-122"/>
              </a:rPr>
              <a:t>X</a:t>
            </a:r>
            <a:r>
              <a:rPr lang="zh-CN" altLang="en-US" sz="2800" b="1">
                <a:effectLst>
                  <a:outerShdw blurRad="38100" dist="38100" dir="2700000" algn="tl">
                    <a:srgbClr val="C0C0C0"/>
                  </a:outerShdw>
                </a:effectLst>
                <a:latin typeface="楷体_GB2312" pitchFamily="49" charset="-122"/>
                <a:ea typeface="楷体_GB2312" pitchFamily="49" charset="-122"/>
              </a:rPr>
              <a:t>锁，持锁时间如何确定、何时释放锁等。</a:t>
            </a:r>
          </a:p>
          <a:p>
            <a:pPr>
              <a:lnSpc>
                <a:spcPct val="110000"/>
              </a:lnSpc>
              <a:spcBef>
                <a:spcPct val="25000"/>
              </a:spcBef>
            </a:pPr>
            <a:r>
              <a:rPr lang="zh-CN" altLang="en-US" sz="2800" b="1">
                <a:effectLst>
                  <a:outerShdw blurRad="38100" dist="38100" dir="2700000" algn="tl">
                    <a:srgbClr val="C0C0C0"/>
                  </a:outerShdw>
                </a:effectLst>
                <a:latin typeface="楷体_GB2312" pitchFamily="49" charset="-122"/>
                <a:ea typeface="楷体_GB2312" pitchFamily="49" charset="-122"/>
              </a:rPr>
              <a:t>    这些规则称为</a:t>
            </a:r>
            <a:r>
              <a:rPr lang="zh-CN" altLang="en-US" sz="2800" b="1">
                <a:solidFill>
                  <a:schemeClr val="hlink"/>
                </a:solidFill>
                <a:effectLst>
                  <a:outerShdw blurRad="38100" dist="38100" dir="2700000" algn="tl">
                    <a:srgbClr val="C0C0C0"/>
                  </a:outerShdw>
                </a:effectLst>
                <a:latin typeface="楷体_GB2312" pitchFamily="49" charset="-122"/>
                <a:ea typeface="楷体_GB2312" pitchFamily="49" charset="-122"/>
              </a:rPr>
              <a:t>锁协议</a:t>
            </a:r>
            <a:r>
              <a:rPr lang="zh-CN" altLang="en-US" sz="2800" b="1">
                <a:effectLst>
                  <a:outerShdw blurRad="38100" dist="38100" dir="2700000" algn="tl">
                    <a:srgbClr val="C0C0C0"/>
                  </a:outerShdw>
                </a:effectLst>
                <a:latin typeface="楷体_GB2312" pitchFamily="49" charset="-122"/>
                <a:ea typeface="楷体_GB2312" pitchFamily="49" charset="-122"/>
              </a:rPr>
              <a:t>。</a:t>
            </a:r>
          </a:p>
          <a:p>
            <a:pPr>
              <a:lnSpc>
                <a:spcPct val="110000"/>
              </a:lnSpc>
              <a:spcBef>
                <a:spcPct val="25000"/>
              </a:spcBef>
            </a:pPr>
            <a:r>
              <a:rPr lang="zh-CN" altLang="en-US" sz="2800" b="1">
                <a:effectLst>
                  <a:outerShdw blurRad="38100" dist="38100" dir="2700000" algn="tl">
                    <a:srgbClr val="C0C0C0"/>
                  </a:outerShdw>
                </a:effectLst>
                <a:latin typeface="楷体_GB2312" pitchFamily="49" charset="-122"/>
                <a:ea typeface="楷体_GB2312" pitchFamily="49" charset="-122"/>
              </a:rPr>
              <a:t>    对加锁方式规定不同的规则，形成了不同的锁协议。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049"/>
    </mc:Choice>
    <mc:Fallback xmlns="">
      <p:transition spd="slow" advTm="3004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3923">
                                            <p:bg/>
                                          </p:spTgt>
                                        </p:tgtEl>
                                        <p:attrNameLst>
                                          <p:attrName>style.visibility</p:attrName>
                                        </p:attrNameLst>
                                      </p:cBhvr>
                                      <p:to>
                                        <p:strVal val="visible"/>
                                      </p:to>
                                    </p:set>
                                    <p:animEffect transition="in" filter="wipe(up)">
                                      <p:cBhvr>
                                        <p:cTn id="7" dur="500"/>
                                        <p:tgtEl>
                                          <p:spTgt spid="29392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93923">
                                            <p:txEl>
                                              <p:pRg st="0" end="0"/>
                                            </p:txEl>
                                          </p:spTgt>
                                        </p:tgtEl>
                                        <p:attrNameLst>
                                          <p:attrName>style.visibility</p:attrName>
                                        </p:attrNameLst>
                                      </p:cBhvr>
                                      <p:to>
                                        <p:strVal val="visible"/>
                                      </p:to>
                                    </p:set>
                                    <p:animEffect transition="in" filter="wipe(up)">
                                      <p:cBhvr>
                                        <p:cTn id="12" dur="500"/>
                                        <p:tgtEl>
                                          <p:spTgt spid="2939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93923">
                                            <p:txEl>
                                              <p:pRg st="1" end="1"/>
                                            </p:txEl>
                                          </p:spTgt>
                                        </p:tgtEl>
                                        <p:attrNameLst>
                                          <p:attrName>style.visibility</p:attrName>
                                        </p:attrNameLst>
                                      </p:cBhvr>
                                      <p:to>
                                        <p:strVal val="visible"/>
                                      </p:to>
                                    </p:set>
                                    <p:animEffect transition="in" filter="wipe(up)">
                                      <p:cBhvr>
                                        <p:cTn id="17" dur="500"/>
                                        <p:tgtEl>
                                          <p:spTgt spid="2939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93923">
                                            <p:txEl>
                                              <p:pRg st="2" end="2"/>
                                            </p:txEl>
                                          </p:spTgt>
                                        </p:tgtEl>
                                        <p:attrNameLst>
                                          <p:attrName>style.visibility</p:attrName>
                                        </p:attrNameLst>
                                      </p:cBhvr>
                                      <p:to>
                                        <p:strVal val="visible"/>
                                      </p:to>
                                    </p:set>
                                    <p:animEffect transition="in" filter="wipe(up)">
                                      <p:cBhvr>
                                        <p:cTn id="22" dur="500"/>
                                        <p:tgtEl>
                                          <p:spTgt spid="2939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923"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Rot="1" noChangeArrowheads="1"/>
          </p:cNvSpPr>
          <p:nvPr>
            <p:ph type="title"/>
          </p:nvPr>
        </p:nvSpPr>
        <p:spPr>
          <a:xfrm>
            <a:off x="1281113" y="271463"/>
            <a:ext cx="6656387"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三、锁协议</a:t>
            </a:r>
          </a:p>
        </p:txBody>
      </p:sp>
      <p:grpSp>
        <p:nvGrpSpPr>
          <p:cNvPr id="497667" name="Group 3"/>
          <p:cNvGrpSpPr/>
          <p:nvPr/>
        </p:nvGrpSpPr>
        <p:grpSpPr bwMode="auto">
          <a:xfrm>
            <a:off x="684213" y="2154238"/>
            <a:ext cx="7850187" cy="2427287"/>
            <a:chOff x="431" y="1162"/>
            <a:chExt cx="4945" cy="1529"/>
          </a:xfrm>
        </p:grpSpPr>
        <p:sp>
          <p:nvSpPr>
            <p:cNvPr id="497668" name="Text Box 4"/>
            <p:cNvSpPr txBox="1">
              <a:spLocks noChangeArrowheads="1"/>
            </p:cNvSpPr>
            <p:nvPr/>
          </p:nvSpPr>
          <p:spPr bwMode="auto">
            <a:xfrm>
              <a:off x="431" y="1162"/>
              <a:ext cx="1056" cy="54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lstStyle/>
            <a:p>
              <a:r>
                <a:rPr lang="zh-CN" altLang="en-US" sz="2400" b="1">
                  <a:solidFill>
                    <a:srgbClr val="008000"/>
                  </a:solidFill>
                  <a:ea typeface="楷体_GB2312" pitchFamily="49" charset="-122"/>
                </a:rPr>
                <a:t>事务</a:t>
              </a:r>
              <a:r>
                <a:rPr lang="en-US" altLang="zh-CN" sz="2400" b="1">
                  <a:solidFill>
                    <a:srgbClr val="008000"/>
                  </a:solidFill>
                  <a:ea typeface="楷体_GB2312" pitchFamily="49" charset="-122"/>
                </a:rPr>
                <a:t>T</a:t>
              </a:r>
              <a:r>
                <a:rPr lang="zh-CN" altLang="en-US" sz="2400" b="1">
                  <a:solidFill>
                    <a:srgbClr val="008000"/>
                  </a:solidFill>
                  <a:ea typeface="楷体_GB2312" pitchFamily="49" charset="-122"/>
                </a:rPr>
                <a:t>要修</a:t>
              </a:r>
            </a:p>
            <a:p>
              <a:r>
                <a:rPr lang="zh-CN" altLang="en-US" sz="2400" b="1">
                  <a:solidFill>
                    <a:srgbClr val="008000"/>
                  </a:solidFill>
                  <a:ea typeface="楷体_GB2312" pitchFamily="49" charset="-122"/>
                </a:rPr>
                <a:t>改数据</a:t>
              </a:r>
              <a:r>
                <a:rPr lang="en-US" altLang="zh-CN" sz="2400" b="1">
                  <a:solidFill>
                    <a:srgbClr val="008000"/>
                  </a:solidFill>
                  <a:ea typeface="楷体_GB2312" pitchFamily="49" charset="-122"/>
                </a:rPr>
                <a:t>R</a:t>
              </a:r>
              <a:r>
                <a:rPr lang="zh-CN" altLang="en-US" sz="2400" b="1">
                  <a:solidFill>
                    <a:srgbClr val="008000"/>
                  </a:solidFill>
                  <a:ea typeface="楷体_GB2312" pitchFamily="49" charset="-122"/>
                </a:rPr>
                <a:t>：</a:t>
              </a:r>
            </a:p>
          </p:txBody>
        </p:sp>
        <p:grpSp>
          <p:nvGrpSpPr>
            <p:cNvPr id="497669" name="Group 5"/>
            <p:cNvGrpSpPr/>
            <p:nvPr/>
          </p:nvGrpSpPr>
          <p:grpSpPr bwMode="auto">
            <a:xfrm>
              <a:off x="1465" y="1162"/>
              <a:ext cx="3911" cy="1529"/>
              <a:chOff x="1465" y="1345"/>
              <a:chExt cx="3911" cy="1529"/>
            </a:xfrm>
          </p:grpSpPr>
          <p:sp>
            <p:nvSpPr>
              <p:cNvPr id="497670" name="AutoShape 6"/>
              <p:cNvSpPr>
                <a:spLocks noChangeArrowheads="1"/>
              </p:cNvSpPr>
              <p:nvPr/>
            </p:nvSpPr>
            <p:spPr bwMode="auto">
              <a:xfrm>
                <a:off x="1565" y="1662"/>
                <a:ext cx="1588" cy="589"/>
              </a:xfrm>
              <a:prstGeom prst="diamond">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pPr algn="ctr"/>
                <a:r>
                  <a:rPr lang="zh-CN" altLang="en-US" sz="2400" b="1">
                    <a:solidFill>
                      <a:schemeClr val="bg2"/>
                    </a:solidFill>
                    <a:effectLst>
                      <a:outerShdw blurRad="38100" dist="38100" dir="2700000" algn="tl">
                        <a:srgbClr val="000000"/>
                      </a:outerShdw>
                    </a:effectLst>
                    <a:ea typeface="楷体_GB2312" pitchFamily="49" charset="-122"/>
                  </a:rPr>
                  <a:t>申请加</a:t>
                </a:r>
                <a:r>
                  <a:rPr lang="en-US" altLang="zh-CN" sz="2400" b="1">
                    <a:solidFill>
                      <a:schemeClr val="bg2"/>
                    </a:solidFill>
                    <a:effectLst>
                      <a:outerShdw blurRad="38100" dist="38100" dir="2700000" algn="tl">
                        <a:srgbClr val="000000"/>
                      </a:outerShdw>
                    </a:effectLst>
                    <a:ea typeface="楷体_GB2312" pitchFamily="49" charset="-122"/>
                  </a:rPr>
                  <a:t>X</a:t>
                </a:r>
                <a:r>
                  <a:rPr lang="zh-CN" altLang="en-US" sz="2400" b="1">
                    <a:solidFill>
                      <a:schemeClr val="bg2"/>
                    </a:solidFill>
                    <a:effectLst>
                      <a:outerShdw blurRad="38100" dist="38100" dir="2700000" algn="tl">
                        <a:srgbClr val="000000"/>
                      </a:outerShdw>
                    </a:effectLst>
                    <a:ea typeface="楷体_GB2312" pitchFamily="49" charset="-122"/>
                  </a:rPr>
                  <a:t>锁？</a:t>
                </a:r>
              </a:p>
            </p:txBody>
          </p:sp>
          <p:sp>
            <p:nvSpPr>
              <p:cNvPr id="497671" name="Text Box 7"/>
              <p:cNvSpPr txBox="1">
                <a:spLocks noChangeArrowheads="1"/>
              </p:cNvSpPr>
              <p:nvPr/>
            </p:nvSpPr>
            <p:spPr bwMode="auto">
              <a:xfrm>
                <a:off x="1927" y="2568"/>
                <a:ext cx="1043" cy="30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400" b="1">
                    <a:solidFill>
                      <a:schemeClr val="bg2"/>
                    </a:solidFill>
                    <a:effectLst>
                      <a:outerShdw blurRad="38100" dist="38100" dir="2700000" algn="tl">
                        <a:srgbClr val="000000"/>
                      </a:outerShdw>
                    </a:effectLst>
                    <a:ea typeface="楷体_GB2312" pitchFamily="49" charset="-122"/>
                  </a:rPr>
                  <a:t>等待</a:t>
                </a:r>
              </a:p>
            </p:txBody>
          </p:sp>
          <p:sp>
            <p:nvSpPr>
              <p:cNvPr id="497672" name="Text Box 8"/>
              <p:cNvSpPr txBox="1">
                <a:spLocks noChangeArrowheads="1"/>
              </p:cNvSpPr>
              <p:nvPr/>
            </p:nvSpPr>
            <p:spPr bwMode="auto">
              <a:xfrm>
                <a:off x="3560" y="1770"/>
                <a:ext cx="681" cy="30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400" b="1">
                    <a:solidFill>
                      <a:schemeClr val="bg2"/>
                    </a:solidFill>
                    <a:effectLst>
                      <a:outerShdw blurRad="38100" dist="38100" dir="2700000" algn="tl">
                        <a:srgbClr val="000000"/>
                      </a:outerShdw>
                    </a:effectLst>
                    <a:ea typeface="楷体_GB2312" pitchFamily="49" charset="-122"/>
                  </a:rPr>
                  <a:t>加</a:t>
                </a:r>
                <a:r>
                  <a:rPr lang="en-US" altLang="zh-CN" sz="2400" b="1">
                    <a:solidFill>
                      <a:schemeClr val="bg2"/>
                    </a:solidFill>
                    <a:effectLst>
                      <a:outerShdw blurRad="38100" dist="38100" dir="2700000" algn="tl">
                        <a:srgbClr val="000000"/>
                      </a:outerShdw>
                    </a:effectLst>
                    <a:ea typeface="楷体_GB2312" pitchFamily="49" charset="-122"/>
                  </a:rPr>
                  <a:t>X</a:t>
                </a:r>
                <a:r>
                  <a:rPr lang="zh-CN" altLang="en-US" sz="2400" b="1">
                    <a:solidFill>
                      <a:schemeClr val="bg2"/>
                    </a:solidFill>
                    <a:effectLst>
                      <a:outerShdw blurRad="38100" dist="38100" dir="2700000" algn="tl">
                        <a:srgbClr val="000000"/>
                      </a:outerShdw>
                    </a:effectLst>
                    <a:ea typeface="楷体_GB2312" pitchFamily="49" charset="-122"/>
                  </a:rPr>
                  <a:t>锁</a:t>
                </a:r>
              </a:p>
            </p:txBody>
          </p:sp>
          <p:sp>
            <p:nvSpPr>
              <p:cNvPr id="497673" name="Line 9"/>
              <p:cNvSpPr>
                <a:spLocks noChangeShapeType="1"/>
              </p:cNvSpPr>
              <p:nvPr/>
            </p:nvSpPr>
            <p:spPr bwMode="auto">
              <a:xfrm>
                <a:off x="2354" y="1345"/>
                <a:ext cx="0" cy="317"/>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97674" name="Line 10"/>
              <p:cNvSpPr>
                <a:spLocks noChangeShapeType="1"/>
              </p:cNvSpPr>
              <p:nvPr/>
            </p:nvSpPr>
            <p:spPr bwMode="auto">
              <a:xfrm>
                <a:off x="2354" y="2240"/>
                <a:ext cx="0" cy="317"/>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97675" name="Line 11"/>
              <p:cNvSpPr>
                <a:spLocks noChangeShapeType="1"/>
              </p:cNvSpPr>
              <p:nvPr/>
            </p:nvSpPr>
            <p:spPr bwMode="auto">
              <a:xfrm>
                <a:off x="3152" y="1960"/>
                <a:ext cx="408"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97676" name="Line 12"/>
              <p:cNvSpPr>
                <a:spLocks noChangeShapeType="1"/>
              </p:cNvSpPr>
              <p:nvPr/>
            </p:nvSpPr>
            <p:spPr bwMode="auto">
              <a:xfrm>
                <a:off x="1465" y="2731"/>
                <a:ext cx="453" cy="0"/>
              </a:xfrm>
              <a:prstGeom prst="line">
                <a:avLst/>
              </a:prstGeom>
              <a:noFill/>
              <a:ln w="28575" cap="sq">
                <a:solidFill>
                  <a:schemeClr val="bg2"/>
                </a:solidFill>
                <a:round/>
                <a:headEnd type="triangle" w="lg" len="med"/>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97677" name="Line 13"/>
              <p:cNvSpPr>
                <a:spLocks noChangeShapeType="1"/>
              </p:cNvSpPr>
              <p:nvPr/>
            </p:nvSpPr>
            <p:spPr bwMode="auto">
              <a:xfrm>
                <a:off x="1474" y="1485"/>
                <a:ext cx="0" cy="1247"/>
              </a:xfrm>
              <a:prstGeom prst="line">
                <a:avLst/>
              </a:prstGeom>
              <a:noFill/>
              <a:ln w="28575" cap="sq">
                <a:solidFill>
                  <a:schemeClr val="bg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97678" name="Line 14"/>
              <p:cNvSpPr>
                <a:spLocks noChangeShapeType="1"/>
              </p:cNvSpPr>
              <p:nvPr/>
            </p:nvSpPr>
            <p:spPr bwMode="auto">
              <a:xfrm>
                <a:off x="1474" y="1480"/>
                <a:ext cx="861"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97679" name="Text Box 15"/>
              <p:cNvSpPr txBox="1">
                <a:spLocks noChangeArrowheads="1"/>
              </p:cNvSpPr>
              <p:nvPr/>
            </p:nvSpPr>
            <p:spPr bwMode="auto">
              <a:xfrm>
                <a:off x="3198" y="1634"/>
                <a:ext cx="244"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wrap="none">
                <a:spAutoFit/>
              </a:bodyPr>
              <a:lstStyle/>
              <a:p>
                <a:r>
                  <a:rPr lang="en-US" altLang="zh-CN" sz="2400" b="1">
                    <a:solidFill>
                      <a:schemeClr val="bg2"/>
                    </a:solidFill>
                    <a:ea typeface="楷体_GB2312" pitchFamily="49" charset="-122"/>
                  </a:rPr>
                  <a:t>Y</a:t>
                </a:r>
              </a:p>
            </p:txBody>
          </p:sp>
          <p:sp>
            <p:nvSpPr>
              <p:cNvPr id="497680" name="Text Box 16"/>
              <p:cNvSpPr txBox="1">
                <a:spLocks noChangeArrowheads="1"/>
              </p:cNvSpPr>
              <p:nvPr/>
            </p:nvSpPr>
            <p:spPr bwMode="auto">
              <a:xfrm>
                <a:off x="2426" y="2224"/>
                <a:ext cx="255"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wrap="none">
                <a:spAutoFit/>
              </a:bodyPr>
              <a:lstStyle/>
              <a:p>
                <a:r>
                  <a:rPr lang="en-US" altLang="zh-CN" sz="2400" b="1">
                    <a:solidFill>
                      <a:schemeClr val="bg2"/>
                    </a:solidFill>
                    <a:ea typeface="楷体_GB2312" pitchFamily="49" charset="-122"/>
                  </a:rPr>
                  <a:t>N</a:t>
                </a:r>
              </a:p>
            </p:txBody>
          </p:sp>
          <p:sp>
            <p:nvSpPr>
              <p:cNvPr id="497681" name="Text Box 17"/>
              <p:cNvSpPr txBox="1">
                <a:spLocks noChangeArrowheads="1"/>
              </p:cNvSpPr>
              <p:nvPr/>
            </p:nvSpPr>
            <p:spPr bwMode="auto">
              <a:xfrm>
                <a:off x="4513" y="1688"/>
                <a:ext cx="863" cy="53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lIns="18000" rIns="18000">
                <a:spAutoFit/>
              </a:bodyPr>
              <a:lstStyle/>
              <a:p>
                <a:pPr algn="ctr"/>
                <a:r>
                  <a:rPr lang="en-US" altLang="zh-CN" sz="2400" b="1">
                    <a:solidFill>
                      <a:schemeClr val="bg2"/>
                    </a:solidFill>
                    <a:effectLst>
                      <a:outerShdw blurRad="38100" dist="38100" dir="2700000" algn="tl">
                        <a:srgbClr val="000000"/>
                      </a:outerShdw>
                    </a:effectLst>
                    <a:ea typeface="楷体_GB2312" pitchFamily="49" charset="-122"/>
                  </a:rPr>
                  <a:t>T</a:t>
                </a:r>
                <a:r>
                  <a:rPr lang="zh-CN" altLang="en-US" sz="2400" b="1">
                    <a:solidFill>
                      <a:schemeClr val="bg2"/>
                    </a:solidFill>
                    <a:effectLst>
                      <a:outerShdw blurRad="38100" dist="38100" dir="2700000" algn="tl">
                        <a:srgbClr val="000000"/>
                      </a:outerShdw>
                    </a:effectLst>
                    <a:ea typeface="楷体_GB2312" pitchFamily="49" charset="-122"/>
                  </a:rPr>
                  <a:t>结束</a:t>
                </a:r>
              </a:p>
              <a:p>
                <a:pPr algn="ctr"/>
                <a:r>
                  <a:rPr lang="zh-CN" altLang="en-US" sz="2400" b="1">
                    <a:solidFill>
                      <a:schemeClr val="bg2"/>
                    </a:solidFill>
                    <a:effectLst>
                      <a:outerShdw blurRad="38100" dist="38100" dir="2700000" algn="tl">
                        <a:srgbClr val="000000"/>
                      </a:outerShdw>
                    </a:effectLst>
                    <a:ea typeface="楷体_GB2312" pitchFamily="49" charset="-122"/>
                  </a:rPr>
                  <a:t>释放</a:t>
                </a:r>
                <a:r>
                  <a:rPr lang="en-US" altLang="zh-CN" sz="2400" b="1">
                    <a:solidFill>
                      <a:schemeClr val="bg2"/>
                    </a:solidFill>
                    <a:effectLst>
                      <a:outerShdw blurRad="38100" dist="38100" dir="2700000" algn="tl">
                        <a:srgbClr val="000000"/>
                      </a:outerShdw>
                    </a:effectLst>
                    <a:ea typeface="楷体_GB2312" pitchFamily="49" charset="-122"/>
                  </a:rPr>
                  <a:t>X</a:t>
                </a:r>
                <a:r>
                  <a:rPr lang="zh-CN" altLang="en-US" sz="2400" b="1">
                    <a:solidFill>
                      <a:schemeClr val="bg2"/>
                    </a:solidFill>
                    <a:effectLst>
                      <a:outerShdw blurRad="38100" dist="38100" dir="2700000" algn="tl">
                        <a:srgbClr val="000000"/>
                      </a:outerShdw>
                    </a:effectLst>
                    <a:ea typeface="楷体_GB2312" pitchFamily="49" charset="-122"/>
                  </a:rPr>
                  <a:t>锁</a:t>
                </a:r>
              </a:p>
            </p:txBody>
          </p:sp>
          <p:sp>
            <p:nvSpPr>
              <p:cNvPr id="497682" name="Line 18"/>
              <p:cNvSpPr>
                <a:spLocks noChangeShapeType="1"/>
              </p:cNvSpPr>
              <p:nvPr/>
            </p:nvSpPr>
            <p:spPr bwMode="auto">
              <a:xfrm>
                <a:off x="4240" y="1960"/>
                <a:ext cx="272"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497683" name="Rectangle 19"/>
          <p:cNvSpPr>
            <a:spLocks noChangeArrowheads="1"/>
          </p:cNvSpPr>
          <p:nvPr/>
        </p:nvSpPr>
        <p:spPr bwMode="auto">
          <a:xfrm>
            <a:off x="395288" y="4938713"/>
            <a:ext cx="8424862" cy="144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1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ea typeface="楷体_GB2312" pitchFamily="49" charset="-122"/>
              </a:rPr>
              <a:t>   本事务：读</a:t>
            </a:r>
            <a:r>
              <a:rPr lang="en-US" altLang="zh-CN" sz="2400" b="1">
                <a:effectLst>
                  <a:outerShdw blurRad="38100" dist="38100" dir="2700000" algn="tl">
                    <a:srgbClr val="C0C0C0"/>
                  </a:outerShdw>
                </a:effectLst>
                <a:ea typeface="楷体_GB2312" pitchFamily="49" charset="-122"/>
              </a:rPr>
              <a:t>R</a:t>
            </a:r>
            <a:r>
              <a:rPr lang="zh-CN" altLang="en-US" sz="2400" b="1">
                <a:effectLst>
                  <a:outerShdw blurRad="38100" dist="38100" dir="2700000" algn="tl">
                    <a:srgbClr val="C0C0C0"/>
                  </a:outerShdw>
                </a:effectLst>
                <a:ea typeface="楷体_GB2312" pitchFamily="49" charset="-122"/>
              </a:rPr>
              <a:t>，修改</a:t>
            </a:r>
            <a:r>
              <a:rPr lang="en-US" altLang="zh-CN" sz="2400" b="1">
                <a:effectLst>
                  <a:outerShdw blurRad="38100" dist="38100" dir="2700000" algn="tl">
                    <a:srgbClr val="C0C0C0"/>
                  </a:outerShdw>
                </a:effectLst>
                <a:ea typeface="楷体_GB2312" pitchFamily="49" charset="-122"/>
              </a:rPr>
              <a:t>R</a:t>
            </a:r>
            <a:r>
              <a:rPr lang="zh-CN" altLang="en-US" sz="2400" b="1">
                <a:effectLst>
                  <a:outerShdw blurRad="38100" dist="38100" dir="2700000" algn="tl">
                    <a:srgbClr val="C0C0C0"/>
                  </a:outerShdw>
                </a:effectLst>
                <a:ea typeface="楷体_GB2312" pitchFamily="49" charset="-122"/>
              </a:rPr>
              <a:t>；用</a:t>
            </a:r>
            <a:r>
              <a:rPr lang="en-US" altLang="zh-CN" sz="2400" b="1">
                <a:effectLst>
                  <a:outerShdw blurRad="38100" dist="38100" dir="2700000" algn="tl">
                    <a:srgbClr val="C0C0C0"/>
                  </a:outerShdw>
                </a:effectLst>
                <a:ea typeface="楷体_GB2312" pitchFamily="49" charset="-122"/>
              </a:rPr>
              <a:t>COMMIT</a:t>
            </a:r>
            <a:r>
              <a:rPr lang="zh-CN" altLang="en-US" sz="2400" b="1">
                <a:effectLst>
                  <a:outerShdw blurRad="38100" dist="38100" dir="2700000" algn="tl">
                    <a:srgbClr val="C0C0C0"/>
                  </a:outerShdw>
                </a:effectLst>
                <a:ea typeface="楷体_GB2312" pitchFamily="49" charset="-122"/>
              </a:rPr>
              <a:t>和</a:t>
            </a:r>
            <a:r>
              <a:rPr lang="en-US" altLang="zh-CN" sz="2400" b="1">
                <a:effectLst>
                  <a:outerShdw blurRad="38100" dist="38100" dir="2700000" algn="tl">
                    <a:srgbClr val="C0C0C0"/>
                  </a:outerShdw>
                </a:effectLst>
                <a:ea typeface="楷体_GB2312" pitchFamily="49" charset="-122"/>
              </a:rPr>
              <a:t>ROLLBACK</a:t>
            </a:r>
            <a:r>
              <a:rPr lang="zh-CN" altLang="en-US" sz="2400" b="1">
                <a:effectLst>
                  <a:outerShdw blurRad="38100" dist="38100" dir="2700000" algn="tl">
                    <a:srgbClr val="C0C0C0"/>
                  </a:outerShdw>
                </a:effectLst>
                <a:ea typeface="楷体_GB2312" pitchFamily="49" charset="-122"/>
              </a:rPr>
              <a:t>释放</a:t>
            </a:r>
            <a:r>
              <a:rPr lang="en-US" altLang="zh-CN" sz="2400" b="1">
                <a:effectLst>
                  <a:outerShdw blurRad="38100" dist="38100" dir="2700000" algn="tl">
                    <a:srgbClr val="C0C0C0"/>
                  </a:outerShdw>
                </a:effectLst>
                <a:ea typeface="楷体_GB2312" pitchFamily="49" charset="-122"/>
              </a:rPr>
              <a:t>X</a:t>
            </a:r>
            <a:r>
              <a:rPr lang="zh-CN" altLang="en-US" sz="2400" b="1">
                <a:effectLst>
                  <a:outerShdw blurRad="38100" dist="38100" dir="2700000" algn="tl">
                    <a:srgbClr val="C0C0C0"/>
                  </a:outerShdw>
                </a:effectLst>
                <a:ea typeface="楷体_GB2312" pitchFamily="49" charset="-122"/>
              </a:rPr>
              <a:t>锁</a:t>
            </a:r>
          </a:p>
          <a:p>
            <a:pPr algn="just">
              <a:lnSpc>
                <a:spcPct val="11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ea typeface="楷体_GB2312" pitchFamily="49" charset="-122"/>
              </a:rPr>
              <a:t>   其它事务：在</a:t>
            </a:r>
            <a:r>
              <a:rPr lang="en-US" altLang="zh-CN" sz="2400" b="1">
                <a:effectLst>
                  <a:outerShdw blurRad="38100" dist="38100" dir="2700000" algn="tl">
                    <a:srgbClr val="C0C0C0"/>
                  </a:outerShdw>
                </a:effectLst>
                <a:ea typeface="楷体_GB2312" pitchFamily="49" charset="-122"/>
              </a:rPr>
              <a:t>T</a:t>
            </a:r>
            <a:r>
              <a:rPr lang="zh-CN" altLang="en-US" sz="2400" b="1">
                <a:effectLst>
                  <a:outerShdw blurRad="38100" dist="38100" dir="2700000" algn="tl">
                    <a:srgbClr val="C0C0C0"/>
                  </a:outerShdw>
                </a:effectLst>
                <a:ea typeface="楷体_GB2312" pitchFamily="49" charset="-122"/>
              </a:rPr>
              <a:t>结束前不能读</a:t>
            </a:r>
            <a:r>
              <a:rPr lang="en-US" altLang="zh-CN" sz="2400" b="1">
                <a:effectLst>
                  <a:outerShdw blurRad="38100" dist="38100" dir="2700000" algn="tl">
                    <a:srgbClr val="C0C0C0"/>
                  </a:outerShdw>
                </a:effectLst>
                <a:ea typeface="楷体_GB2312" pitchFamily="49" charset="-122"/>
              </a:rPr>
              <a:t>R</a:t>
            </a:r>
            <a:r>
              <a:rPr lang="zh-CN" altLang="en-US" sz="2400" b="1">
                <a:effectLst>
                  <a:outerShdw blurRad="38100" dist="38100" dir="2700000" algn="tl">
                    <a:srgbClr val="C0C0C0"/>
                  </a:outerShdw>
                </a:effectLst>
                <a:ea typeface="楷体_GB2312" pitchFamily="49" charset="-122"/>
              </a:rPr>
              <a:t>，也不能修改</a:t>
            </a:r>
            <a:r>
              <a:rPr lang="en-US" altLang="zh-CN" sz="2400" b="1">
                <a:effectLst>
                  <a:outerShdw blurRad="38100" dist="38100" dir="2700000" algn="tl">
                    <a:srgbClr val="C0C0C0"/>
                  </a:outerShdw>
                </a:effectLst>
                <a:ea typeface="楷体_GB2312" pitchFamily="49" charset="-122"/>
              </a:rPr>
              <a:t>R</a:t>
            </a:r>
          </a:p>
          <a:p>
            <a:pPr algn="just">
              <a:lnSpc>
                <a:spcPct val="11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ea typeface="楷体_GB2312" pitchFamily="49" charset="-122"/>
              </a:rPr>
              <a:t>   </a:t>
            </a:r>
            <a:r>
              <a:rPr lang="zh-CN" altLang="en-US" sz="2400" b="1">
                <a:solidFill>
                  <a:srgbClr val="0000FF"/>
                </a:solidFill>
                <a:effectLst>
                  <a:outerShdw blurRad="38100" dist="38100" dir="2700000" algn="tl">
                    <a:srgbClr val="C0C0C0"/>
                  </a:outerShdw>
                </a:effectLst>
                <a:ea typeface="楷体_GB2312" pitchFamily="49" charset="-122"/>
              </a:rPr>
              <a:t>作用：</a:t>
            </a:r>
            <a:r>
              <a:rPr lang="zh-CN" altLang="en-US" sz="2400" b="1">
                <a:effectLst>
                  <a:outerShdw blurRad="38100" dist="38100" dir="2700000" algn="tl">
                    <a:srgbClr val="C0C0C0"/>
                  </a:outerShdw>
                </a:effectLst>
                <a:ea typeface="楷体_GB2312" pitchFamily="49" charset="-122"/>
              </a:rPr>
              <a:t>防止丢失修改。</a:t>
            </a:r>
          </a:p>
        </p:txBody>
      </p:sp>
      <p:sp>
        <p:nvSpPr>
          <p:cNvPr id="497684" name="Rectangle 20"/>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1</a:t>
            </a:r>
            <a:r>
              <a:rPr lang="en-US" altLang="en-US" sz="3200">
                <a:solidFill>
                  <a:srgbClr val="660033"/>
                </a:solidFill>
                <a:ea typeface="华文新魏" panose="02010800040101010101" pitchFamily="2" charset="-122"/>
              </a:rPr>
              <a:t>、</a:t>
            </a:r>
            <a:r>
              <a:rPr lang="zh-CN" altLang="en-US" sz="3200">
                <a:solidFill>
                  <a:srgbClr val="660033"/>
                </a:solidFill>
                <a:ea typeface="华文新魏" panose="02010800040101010101" pitchFamily="2" charset="-122"/>
              </a:rPr>
              <a:t>一级锁协议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7939"/>
    </mc:Choice>
    <mc:Fallback xmlns="">
      <p:transition spd="slow" advTm="579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7684"/>
                                        </p:tgtEl>
                                        <p:attrNameLst>
                                          <p:attrName>style.visibility</p:attrName>
                                        </p:attrNameLst>
                                      </p:cBhvr>
                                      <p:to>
                                        <p:strVal val="visible"/>
                                      </p:to>
                                    </p:set>
                                    <p:animEffect transition="in" filter="wipe(left)">
                                      <p:cBhvr>
                                        <p:cTn id="7" dur="1000"/>
                                        <p:tgtEl>
                                          <p:spTgt spid="49768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97667"/>
                                        </p:tgtEl>
                                        <p:attrNameLst>
                                          <p:attrName>style.visibility</p:attrName>
                                        </p:attrNameLst>
                                      </p:cBhvr>
                                      <p:to>
                                        <p:strVal val="visible"/>
                                      </p:to>
                                    </p:set>
                                    <p:animEffect transition="in" filter="fade">
                                      <p:cBhvr>
                                        <p:cTn id="12" dur="1000"/>
                                        <p:tgtEl>
                                          <p:spTgt spid="497667"/>
                                        </p:tgtEl>
                                      </p:cBhvr>
                                    </p:animEffect>
                                    <p:anim calcmode="lin" valueType="num">
                                      <p:cBhvr>
                                        <p:cTn id="13" dur="1000" fill="hold"/>
                                        <p:tgtEl>
                                          <p:spTgt spid="497667"/>
                                        </p:tgtEl>
                                        <p:attrNameLst>
                                          <p:attrName>ppt_x</p:attrName>
                                        </p:attrNameLst>
                                      </p:cBhvr>
                                      <p:tavLst>
                                        <p:tav tm="0">
                                          <p:val>
                                            <p:strVal val="#ppt_x"/>
                                          </p:val>
                                        </p:tav>
                                        <p:tav tm="100000">
                                          <p:val>
                                            <p:strVal val="#ppt_x"/>
                                          </p:val>
                                        </p:tav>
                                      </p:tavLst>
                                    </p:anim>
                                    <p:anim calcmode="lin" valueType="num">
                                      <p:cBhvr>
                                        <p:cTn id="14" dur="1000" fill="hold"/>
                                        <p:tgtEl>
                                          <p:spTgt spid="49766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97683">
                                            <p:txEl>
                                              <p:pRg st="0" end="0"/>
                                            </p:txEl>
                                          </p:spTgt>
                                        </p:tgtEl>
                                        <p:attrNameLst>
                                          <p:attrName>style.visibility</p:attrName>
                                        </p:attrNameLst>
                                      </p:cBhvr>
                                      <p:to>
                                        <p:strVal val="visible"/>
                                      </p:to>
                                    </p:set>
                                    <p:animEffect transition="in" filter="wipe(left)">
                                      <p:cBhvr>
                                        <p:cTn id="19" dur="500"/>
                                        <p:tgtEl>
                                          <p:spTgt spid="49768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97683">
                                            <p:txEl>
                                              <p:pRg st="1" end="1"/>
                                            </p:txEl>
                                          </p:spTgt>
                                        </p:tgtEl>
                                        <p:attrNameLst>
                                          <p:attrName>style.visibility</p:attrName>
                                        </p:attrNameLst>
                                      </p:cBhvr>
                                      <p:to>
                                        <p:strVal val="visible"/>
                                      </p:to>
                                    </p:set>
                                    <p:animEffect transition="in" filter="wipe(left)">
                                      <p:cBhvr>
                                        <p:cTn id="24" dur="500"/>
                                        <p:tgtEl>
                                          <p:spTgt spid="49768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97683">
                                            <p:txEl>
                                              <p:pRg st="2" end="2"/>
                                            </p:txEl>
                                          </p:spTgt>
                                        </p:tgtEl>
                                        <p:attrNameLst>
                                          <p:attrName>style.visibility</p:attrName>
                                        </p:attrNameLst>
                                      </p:cBhvr>
                                      <p:to>
                                        <p:strVal val="visible"/>
                                      </p:to>
                                    </p:set>
                                    <p:animEffect transition="in" filter="wipe(left)">
                                      <p:cBhvr>
                                        <p:cTn id="29" dur="500"/>
                                        <p:tgtEl>
                                          <p:spTgt spid="4976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83" grpId="0" build="p"/>
      <p:bldP spid="49768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6" name="Rectangle 4"/>
          <p:cNvSpPr>
            <a:spLocks noGrp="1" noRot="1" noChangeArrowheads="1"/>
          </p:cNvSpPr>
          <p:nvPr>
            <p:ph type="title"/>
          </p:nvPr>
        </p:nvSpPr>
        <p:spPr>
          <a:xfrm>
            <a:off x="1281113" y="271463"/>
            <a:ext cx="6656387"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三、锁协议</a:t>
            </a:r>
          </a:p>
        </p:txBody>
      </p:sp>
      <p:grpSp>
        <p:nvGrpSpPr>
          <p:cNvPr id="294936" name="Group 24"/>
          <p:cNvGrpSpPr/>
          <p:nvPr/>
        </p:nvGrpSpPr>
        <p:grpSpPr bwMode="auto">
          <a:xfrm>
            <a:off x="684213" y="2081213"/>
            <a:ext cx="7920037" cy="2427287"/>
            <a:chOff x="431" y="1207"/>
            <a:chExt cx="4989" cy="1529"/>
          </a:xfrm>
        </p:grpSpPr>
        <p:sp>
          <p:nvSpPr>
            <p:cNvPr id="294918" name="Text Box 6"/>
            <p:cNvSpPr txBox="1">
              <a:spLocks noChangeArrowheads="1"/>
            </p:cNvSpPr>
            <p:nvPr/>
          </p:nvSpPr>
          <p:spPr bwMode="auto">
            <a:xfrm>
              <a:off x="431" y="1207"/>
              <a:ext cx="1056" cy="54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lstStyle/>
            <a:p>
              <a:r>
                <a:rPr lang="zh-CN" altLang="en-US" sz="2400" b="1">
                  <a:solidFill>
                    <a:srgbClr val="008000"/>
                  </a:solidFill>
                  <a:ea typeface="楷体_GB2312" pitchFamily="49" charset="-122"/>
                </a:rPr>
                <a:t>事务</a:t>
              </a:r>
              <a:r>
                <a:rPr lang="en-US" altLang="zh-CN" sz="2400" b="1">
                  <a:solidFill>
                    <a:srgbClr val="008000"/>
                  </a:solidFill>
                  <a:ea typeface="楷体_GB2312" pitchFamily="49" charset="-122"/>
                </a:rPr>
                <a:t>T</a:t>
              </a:r>
              <a:r>
                <a:rPr lang="zh-CN" altLang="en-US" sz="2400" b="1">
                  <a:solidFill>
                    <a:srgbClr val="008000"/>
                  </a:solidFill>
                  <a:ea typeface="楷体_GB2312" pitchFamily="49" charset="-122"/>
                </a:rPr>
                <a:t>要读数据</a:t>
              </a:r>
              <a:r>
                <a:rPr lang="en-US" altLang="zh-CN" sz="2400" b="1">
                  <a:solidFill>
                    <a:srgbClr val="008000"/>
                  </a:solidFill>
                  <a:ea typeface="楷体_GB2312" pitchFamily="49" charset="-122"/>
                </a:rPr>
                <a:t>R</a:t>
              </a:r>
              <a:r>
                <a:rPr lang="zh-CN" altLang="en-US" sz="2400" b="1">
                  <a:solidFill>
                    <a:srgbClr val="008000"/>
                  </a:solidFill>
                  <a:ea typeface="楷体_GB2312" pitchFamily="49" charset="-122"/>
                </a:rPr>
                <a:t>：</a:t>
              </a:r>
            </a:p>
          </p:txBody>
        </p:sp>
        <p:sp>
          <p:nvSpPr>
            <p:cNvPr id="294920" name="AutoShape 8"/>
            <p:cNvSpPr>
              <a:spLocks noChangeArrowheads="1"/>
            </p:cNvSpPr>
            <p:nvPr/>
          </p:nvSpPr>
          <p:spPr bwMode="auto">
            <a:xfrm>
              <a:off x="1565" y="1524"/>
              <a:ext cx="1588" cy="589"/>
            </a:xfrm>
            <a:prstGeom prst="diamond">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pPr algn="ctr"/>
              <a:r>
                <a:rPr lang="zh-CN" altLang="en-US" sz="2400" b="1">
                  <a:solidFill>
                    <a:schemeClr val="bg2"/>
                  </a:solidFill>
                  <a:ea typeface="楷体_GB2312" pitchFamily="49" charset="-122"/>
                </a:rPr>
                <a:t>申请加</a:t>
              </a:r>
              <a:r>
                <a:rPr lang="en-US" altLang="zh-CN" sz="2400" b="1">
                  <a:solidFill>
                    <a:schemeClr val="bg2"/>
                  </a:solidFill>
                  <a:ea typeface="楷体_GB2312" pitchFamily="49" charset="-122"/>
                </a:rPr>
                <a:t>S</a:t>
              </a:r>
              <a:r>
                <a:rPr lang="zh-CN" altLang="en-US" sz="2400" b="1">
                  <a:solidFill>
                    <a:schemeClr val="bg2"/>
                  </a:solidFill>
                  <a:ea typeface="楷体_GB2312" pitchFamily="49" charset="-122"/>
                </a:rPr>
                <a:t>锁？</a:t>
              </a:r>
            </a:p>
          </p:txBody>
        </p:sp>
        <p:sp>
          <p:nvSpPr>
            <p:cNvPr id="294921" name="Text Box 9"/>
            <p:cNvSpPr txBox="1">
              <a:spLocks noChangeArrowheads="1"/>
            </p:cNvSpPr>
            <p:nvPr/>
          </p:nvSpPr>
          <p:spPr bwMode="auto">
            <a:xfrm>
              <a:off x="1927" y="2430"/>
              <a:ext cx="1043" cy="30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400" b="1">
                  <a:solidFill>
                    <a:schemeClr val="bg2"/>
                  </a:solidFill>
                  <a:ea typeface="楷体_GB2312" pitchFamily="49" charset="-122"/>
                </a:rPr>
                <a:t>等待</a:t>
              </a:r>
            </a:p>
          </p:txBody>
        </p:sp>
        <p:sp>
          <p:nvSpPr>
            <p:cNvPr id="294922" name="Text Box 10"/>
            <p:cNvSpPr txBox="1">
              <a:spLocks noChangeArrowheads="1"/>
            </p:cNvSpPr>
            <p:nvPr/>
          </p:nvSpPr>
          <p:spPr bwMode="auto">
            <a:xfrm>
              <a:off x="3560" y="1550"/>
              <a:ext cx="726" cy="53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400" b="1">
                  <a:solidFill>
                    <a:schemeClr val="bg2"/>
                  </a:solidFill>
                  <a:ea typeface="楷体_GB2312" pitchFamily="49" charset="-122"/>
                </a:rPr>
                <a:t>加</a:t>
              </a:r>
              <a:r>
                <a:rPr lang="en-US" altLang="zh-CN" sz="2400" b="1">
                  <a:solidFill>
                    <a:schemeClr val="bg2"/>
                  </a:solidFill>
                  <a:ea typeface="楷体_GB2312" pitchFamily="49" charset="-122"/>
                </a:rPr>
                <a:t>S</a:t>
              </a:r>
              <a:r>
                <a:rPr lang="zh-CN" altLang="en-US" sz="2400" b="1">
                  <a:solidFill>
                    <a:schemeClr val="bg2"/>
                  </a:solidFill>
                  <a:ea typeface="楷体_GB2312" pitchFamily="49" charset="-122"/>
                </a:rPr>
                <a:t>锁</a:t>
              </a:r>
            </a:p>
            <a:p>
              <a:pPr algn="ctr"/>
              <a:r>
                <a:rPr lang="zh-CN" altLang="en-US" sz="2400" b="1">
                  <a:solidFill>
                    <a:schemeClr val="bg2"/>
                  </a:solidFill>
                  <a:ea typeface="楷体_GB2312" pitchFamily="49" charset="-122"/>
                </a:rPr>
                <a:t>读数据</a:t>
              </a:r>
            </a:p>
          </p:txBody>
        </p:sp>
        <p:sp>
          <p:nvSpPr>
            <p:cNvPr id="294923" name="Line 11"/>
            <p:cNvSpPr>
              <a:spLocks noChangeShapeType="1"/>
            </p:cNvSpPr>
            <p:nvPr/>
          </p:nvSpPr>
          <p:spPr bwMode="auto">
            <a:xfrm>
              <a:off x="2354" y="1207"/>
              <a:ext cx="0" cy="317"/>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4924" name="Line 12"/>
            <p:cNvSpPr>
              <a:spLocks noChangeShapeType="1"/>
            </p:cNvSpPr>
            <p:nvPr/>
          </p:nvSpPr>
          <p:spPr bwMode="auto">
            <a:xfrm>
              <a:off x="2354" y="2102"/>
              <a:ext cx="0" cy="317"/>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4925" name="Line 13"/>
            <p:cNvSpPr>
              <a:spLocks noChangeShapeType="1"/>
            </p:cNvSpPr>
            <p:nvPr/>
          </p:nvSpPr>
          <p:spPr bwMode="auto">
            <a:xfrm>
              <a:off x="3152" y="1822"/>
              <a:ext cx="408"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4926" name="Line 14"/>
            <p:cNvSpPr>
              <a:spLocks noChangeShapeType="1"/>
            </p:cNvSpPr>
            <p:nvPr/>
          </p:nvSpPr>
          <p:spPr bwMode="auto">
            <a:xfrm>
              <a:off x="1465" y="2593"/>
              <a:ext cx="453" cy="0"/>
            </a:xfrm>
            <a:prstGeom prst="line">
              <a:avLst/>
            </a:prstGeom>
            <a:noFill/>
            <a:ln w="28575" cap="sq">
              <a:solidFill>
                <a:schemeClr val="bg2"/>
              </a:solidFill>
              <a:round/>
              <a:headEnd type="triangle" w="lg" len="med"/>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4927" name="Line 15"/>
            <p:cNvSpPr>
              <a:spLocks noChangeShapeType="1"/>
            </p:cNvSpPr>
            <p:nvPr/>
          </p:nvSpPr>
          <p:spPr bwMode="auto">
            <a:xfrm>
              <a:off x="1474" y="1347"/>
              <a:ext cx="0" cy="1247"/>
            </a:xfrm>
            <a:prstGeom prst="line">
              <a:avLst/>
            </a:prstGeom>
            <a:noFill/>
            <a:ln w="28575" cap="sq">
              <a:solidFill>
                <a:schemeClr val="bg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4928" name="Line 16"/>
            <p:cNvSpPr>
              <a:spLocks noChangeShapeType="1"/>
            </p:cNvSpPr>
            <p:nvPr/>
          </p:nvSpPr>
          <p:spPr bwMode="auto">
            <a:xfrm>
              <a:off x="1474" y="1342"/>
              <a:ext cx="861"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4929" name="Text Box 17"/>
            <p:cNvSpPr txBox="1">
              <a:spLocks noChangeArrowheads="1"/>
            </p:cNvSpPr>
            <p:nvPr/>
          </p:nvSpPr>
          <p:spPr bwMode="auto">
            <a:xfrm>
              <a:off x="3198" y="1496"/>
              <a:ext cx="244"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wrap="none">
              <a:spAutoFit/>
            </a:bodyPr>
            <a:lstStyle/>
            <a:p>
              <a:r>
                <a:rPr lang="en-US" altLang="zh-CN" sz="2400" b="1">
                  <a:solidFill>
                    <a:schemeClr val="bg2"/>
                  </a:solidFill>
                  <a:ea typeface="楷体_GB2312" pitchFamily="49" charset="-122"/>
                </a:rPr>
                <a:t>Y</a:t>
              </a:r>
            </a:p>
          </p:txBody>
        </p:sp>
        <p:sp>
          <p:nvSpPr>
            <p:cNvPr id="294930" name="Text Box 18"/>
            <p:cNvSpPr txBox="1">
              <a:spLocks noChangeArrowheads="1"/>
            </p:cNvSpPr>
            <p:nvPr/>
          </p:nvSpPr>
          <p:spPr bwMode="auto">
            <a:xfrm>
              <a:off x="2426" y="2086"/>
              <a:ext cx="255"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wrap="none">
              <a:spAutoFit/>
            </a:bodyPr>
            <a:lstStyle/>
            <a:p>
              <a:r>
                <a:rPr lang="en-US" altLang="zh-CN" sz="2400" b="1">
                  <a:solidFill>
                    <a:schemeClr val="bg2"/>
                  </a:solidFill>
                  <a:ea typeface="楷体_GB2312" pitchFamily="49" charset="-122"/>
                </a:rPr>
                <a:t>N</a:t>
              </a:r>
            </a:p>
          </p:txBody>
        </p:sp>
        <p:sp>
          <p:nvSpPr>
            <p:cNvPr id="294932" name="Line 20"/>
            <p:cNvSpPr>
              <a:spLocks noChangeShapeType="1"/>
            </p:cNvSpPr>
            <p:nvPr/>
          </p:nvSpPr>
          <p:spPr bwMode="auto">
            <a:xfrm>
              <a:off x="4286" y="1822"/>
              <a:ext cx="272"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4935" name="Text Box 23"/>
            <p:cNvSpPr txBox="1">
              <a:spLocks noChangeArrowheads="1"/>
            </p:cNvSpPr>
            <p:nvPr/>
          </p:nvSpPr>
          <p:spPr bwMode="auto">
            <a:xfrm>
              <a:off x="4557" y="1641"/>
              <a:ext cx="863" cy="30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lIns="18000" rIns="18000">
              <a:spAutoFit/>
            </a:bodyPr>
            <a:lstStyle/>
            <a:p>
              <a:pPr algn="ctr"/>
              <a:r>
                <a:rPr lang="zh-CN" altLang="en-US" sz="2400" b="1">
                  <a:solidFill>
                    <a:schemeClr val="bg2"/>
                  </a:solidFill>
                  <a:ea typeface="楷体_GB2312" pitchFamily="49" charset="-122"/>
                </a:rPr>
                <a:t>释放</a:t>
              </a:r>
              <a:r>
                <a:rPr lang="en-US" altLang="zh-CN" sz="2400" b="1">
                  <a:solidFill>
                    <a:schemeClr val="bg2"/>
                  </a:solidFill>
                  <a:ea typeface="楷体_GB2312" pitchFamily="49" charset="-122"/>
                </a:rPr>
                <a:t>S</a:t>
              </a:r>
              <a:r>
                <a:rPr lang="zh-CN" altLang="en-US" sz="2400" b="1">
                  <a:solidFill>
                    <a:schemeClr val="bg2"/>
                  </a:solidFill>
                  <a:ea typeface="楷体_GB2312" pitchFamily="49" charset="-122"/>
                </a:rPr>
                <a:t>锁</a:t>
              </a:r>
            </a:p>
          </p:txBody>
        </p:sp>
      </p:grpSp>
      <p:sp>
        <p:nvSpPr>
          <p:cNvPr id="294938" name="Rectangle 26"/>
          <p:cNvSpPr>
            <a:spLocks noChangeArrowheads="1"/>
          </p:cNvSpPr>
          <p:nvPr/>
        </p:nvSpPr>
        <p:spPr bwMode="auto">
          <a:xfrm>
            <a:off x="395288" y="4679950"/>
            <a:ext cx="8424862"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1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ea typeface="楷体_GB2312" pitchFamily="49" charset="-122"/>
              </a:rPr>
              <a:t>   本事务：读</a:t>
            </a:r>
            <a:r>
              <a:rPr lang="en-US" altLang="zh-CN" sz="2400" b="1">
                <a:effectLst>
                  <a:outerShdw blurRad="38100" dist="38100" dir="2700000" algn="tl">
                    <a:srgbClr val="C0C0C0"/>
                  </a:outerShdw>
                </a:effectLst>
                <a:ea typeface="楷体_GB2312" pitchFamily="49" charset="-122"/>
              </a:rPr>
              <a:t>R</a:t>
            </a:r>
            <a:r>
              <a:rPr lang="zh-CN" altLang="en-US" sz="2400" b="1">
                <a:effectLst>
                  <a:outerShdw blurRad="38100" dist="38100" dir="2700000" algn="tl">
                    <a:srgbClr val="C0C0C0"/>
                  </a:outerShdw>
                </a:effectLst>
                <a:ea typeface="楷体_GB2312" pitchFamily="49" charset="-122"/>
              </a:rPr>
              <a:t>，不能修改</a:t>
            </a:r>
            <a:r>
              <a:rPr lang="en-US" altLang="zh-CN" sz="2400" b="1">
                <a:effectLst>
                  <a:outerShdw blurRad="38100" dist="38100" dir="2700000" algn="tl">
                    <a:srgbClr val="C0C0C0"/>
                  </a:outerShdw>
                </a:effectLst>
                <a:ea typeface="楷体_GB2312" pitchFamily="49" charset="-122"/>
              </a:rPr>
              <a:t>R </a:t>
            </a:r>
            <a:r>
              <a:rPr lang="zh-CN" altLang="en-US" sz="2400" b="1">
                <a:effectLst>
                  <a:outerShdw blurRad="38100" dist="38100" dir="2700000" algn="tl">
                    <a:srgbClr val="C0C0C0"/>
                  </a:outerShdw>
                </a:effectLst>
                <a:ea typeface="楷体_GB2312" pitchFamily="49" charset="-122"/>
              </a:rPr>
              <a:t>；用</a:t>
            </a:r>
            <a:r>
              <a:rPr lang="en-US" altLang="en-US" sz="2400" b="1">
                <a:effectLst>
                  <a:outerShdw blurRad="38100" dist="38100" dir="2700000" algn="tl">
                    <a:srgbClr val="C0C0C0"/>
                  </a:outerShdw>
                </a:effectLst>
                <a:ea typeface="楷体_GB2312" pitchFamily="49" charset="-122"/>
              </a:rPr>
              <a:t>UNLOCK</a:t>
            </a:r>
            <a:r>
              <a:rPr lang="zh-CN" altLang="en-US" sz="2400" b="1">
                <a:effectLst>
                  <a:outerShdw blurRad="38100" dist="38100" dir="2700000" algn="tl">
                    <a:srgbClr val="C0C0C0"/>
                  </a:outerShdw>
                </a:effectLst>
                <a:ea typeface="楷体_GB2312" pitchFamily="49" charset="-122"/>
              </a:rPr>
              <a:t> 释放</a:t>
            </a:r>
            <a:r>
              <a:rPr lang="en-US" altLang="zh-CN" sz="2400" b="1">
                <a:effectLst>
                  <a:outerShdw blurRad="38100" dist="38100" dir="2700000" algn="tl">
                    <a:srgbClr val="C0C0C0"/>
                  </a:outerShdw>
                </a:effectLst>
                <a:ea typeface="楷体_GB2312" pitchFamily="49" charset="-122"/>
              </a:rPr>
              <a:t>S</a:t>
            </a:r>
            <a:r>
              <a:rPr lang="zh-CN" altLang="en-US" sz="2400" b="1">
                <a:effectLst>
                  <a:outerShdw blurRad="38100" dist="38100" dir="2700000" algn="tl">
                    <a:srgbClr val="C0C0C0"/>
                  </a:outerShdw>
                </a:effectLst>
                <a:ea typeface="楷体_GB2312" pitchFamily="49" charset="-122"/>
              </a:rPr>
              <a:t>锁</a:t>
            </a:r>
            <a:r>
              <a:rPr lang="en-US" altLang="zh-CN" sz="2400" b="1">
                <a:effectLst>
                  <a:outerShdw blurRad="38100" dist="38100" dir="2700000" algn="tl">
                    <a:srgbClr val="C0C0C0"/>
                  </a:outerShdw>
                </a:effectLst>
                <a:ea typeface="楷体_GB2312" pitchFamily="49" charset="-122"/>
              </a:rPr>
              <a:t>(</a:t>
            </a:r>
            <a:r>
              <a:rPr lang="zh-CN" altLang="en-US" sz="2400" b="1">
                <a:effectLst>
                  <a:outerShdw blurRad="38100" dist="38100" dir="2700000" algn="tl">
                    <a:srgbClr val="C0C0C0"/>
                  </a:outerShdw>
                </a:effectLst>
                <a:ea typeface="楷体_GB2312" pitchFamily="49" charset="-122"/>
              </a:rPr>
              <a:t>不需等</a:t>
            </a:r>
            <a:r>
              <a:rPr lang="en-US" altLang="zh-CN" sz="2400" b="1">
                <a:effectLst>
                  <a:outerShdw blurRad="38100" dist="38100" dir="2700000" algn="tl">
                    <a:srgbClr val="C0C0C0"/>
                  </a:outerShdw>
                </a:effectLst>
                <a:ea typeface="楷体_GB2312" pitchFamily="49" charset="-122"/>
              </a:rPr>
              <a:t>T</a:t>
            </a:r>
            <a:r>
              <a:rPr lang="zh-CN" altLang="en-US" sz="2400" b="1">
                <a:effectLst>
                  <a:outerShdw blurRad="38100" dist="38100" dir="2700000" algn="tl">
                    <a:srgbClr val="C0C0C0"/>
                  </a:outerShdw>
                </a:effectLst>
                <a:ea typeface="楷体_GB2312" pitchFamily="49" charset="-122"/>
              </a:rPr>
              <a:t>结束</a:t>
            </a:r>
            <a:r>
              <a:rPr lang="en-US" altLang="zh-CN" sz="2400" b="1">
                <a:effectLst>
                  <a:outerShdw blurRad="38100" dist="38100" dir="2700000" algn="tl">
                    <a:srgbClr val="C0C0C0"/>
                  </a:outerShdw>
                </a:effectLst>
                <a:ea typeface="楷体_GB2312" pitchFamily="49" charset="-122"/>
              </a:rPr>
              <a:t>)</a:t>
            </a:r>
          </a:p>
          <a:p>
            <a:pPr algn="just">
              <a:lnSpc>
                <a:spcPct val="11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ea typeface="楷体_GB2312" pitchFamily="49" charset="-122"/>
              </a:rPr>
              <a:t>   其它事务：可加</a:t>
            </a:r>
            <a:r>
              <a:rPr lang="en-US" altLang="zh-CN" sz="2400" b="1">
                <a:effectLst>
                  <a:outerShdw blurRad="38100" dist="38100" dir="2700000" algn="tl">
                    <a:srgbClr val="C0C0C0"/>
                  </a:outerShdw>
                </a:effectLst>
                <a:ea typeface="楷体_GB2312" pitchFamily="49" charset="-122"/>
              </a:rPr>
              <a:t>S</a:t>
            </a:r>
            <a:r>
              <a:rPr lang="zh-CN" altLang="en-US" sz="2400" b="1">
                <a:effectLst>
                  <a:outerShdw blurRad="38100" dist="38100" dir="2700000" algn="tl">
                    <a:srgbClr val="C0C0C0"/>
                  </a:outerShdw>
                </a:effectLst>
                <a:ea typeface="楷体_GB2312" pitchFamily="49" charset="-122"/>
              </a:rPr>
              <a:t>锁读</a:t>
            </a:r>
            <a:r>
              <a:rPr lang="en-US" altLang="zh-CN" sz="2400" b="1">
                <a:effectLst>
                  <a:outerShdw blurRad="38100" dist="38100" dir="2700000" algn="tl">
                    <a:srgbClr val="C0C0C0"/>
                  </a:outerShdw>
                </a:effectLst>
                <a:ea typeface="楷体_GB2312" pitchFamily="49" charset="-122"/>
              </a:rPr>
              <a:t>R</a:t>
            </a:r>
            <a:r>
              <a:rPr lang="zh-CN" altLang="en-US" sz="2400" b="1">
                <a:effectLst>
                  <a:outerShdw blurRad="38100" dist="38100" dir="2700000" algn="tl">
                    <a:srgbClr val="C0C0C0"/>
                  </a:outerShdw>
                </a:effectLst>
                <a:ea typeface="楷体_GB2312" pitchFamily="49" charset="-122"/>
              </a:rPr>
              <a:t>，不能修改</a:t>
            </a:r>
            <a:r>
              <a:rPr lang="en-US" altLang="zh-CN" sz="2400" b="1">
                <a:effectLst>
                  <a:outerShdw blurRad="38100" dist="38100" dir="2700000" algn="tl">
                    <a:srgbClr val="C0C0C0"/>
                  </a:outerShdw>
                </a:effectLst>
                <a:ea typeface="楷体_GB2312" pitchFamily="49" charset="-122"/>
              </a:rPr>
              <a:t>R</a:t>
            </a:r>
          </a:p>
          <a:p>
            <a:pPr algn="just">
              <a:lnSpc>
                <a:spcPct val="11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ea typeface="楷体_GB2312" pitchFamily="49" charset="-122"/>
              </a:rPr>
              <a:t>   </a:t>
            </a:r>
            <a:r>
              <a:rPr lang="zh-CN" altLang="en-US" sz="2400" b="1">
                <a:solidFill>
                  <a:srgbClr val="0000FF"/>
                </a:solidFill>
                <a:effectLst>
                  <a:outerShdw blurRad="38100" dist="38100" dir="2700000" algn="tl">
                    <a:srgbClr val="C0C0C0"/>
                  </a:outerShdw>
                </a:effectLst>
                <a:ea typeface="楷体_GB2312" pitchFamily="49" charset="-122"/>
              </a:rPr>
              <a:t>作用：</a:t>
            </a:r>
            <a:r>
              <a:rPr lang="zh-CN" altLang="en-US" sz="2400" b="1">
                <a:effectLst>
                  <a:outerShdw blurRad="38100" dist="38100" dir="2700000" algn="tl">
                    <a:srgbClr val="C0C0C0"/>
                  </a:outerShdw>
                </a:effectLst>
                <a:ea typeface="楷体_GB2312" pitchFamily="49" charset="-122"/>
              </a:rPr>
              <a:t>防止丢失修改，防止读“脏”数据。</a:t>
            </a:r>
          </a:p>
        </p:txBody>
      </p:sp>
      <p:sp>
        <p:nvSpPr>
          <p:cNvPr id="294940" name="Rectangle 28"/>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2</a:t>
            </a:r>
            <a:r>
              <a:rPr lang="en-US" altLang="en-US" sz="3200">
                <a:solidFill>
                  <a:srgbClr val="660033"/>
                </a:solidFill>
                <a:ea typeface="华文新魏" panose="02010800040101010101" pitchFamily="2" charset="-122"/>
              </a:rPr>
              <a:t>、</a:t>
            </a:r>
            <a:r>
              <a:rPr lang="zh-CN" altLang="en-US" sz="3200">
                <a:solidFill>
                  <a:srgbClr val="660033"/>
                </a:solidFill>
                <a:ea typeface="华文新魏" panose="02010800040101010101" pitchFamily="2" charset="-122"/>
              </a:rPr>
              <a:t>二级锁协议：一级锁协议</a:t>
            </a:r>
            <a:r>
              <a:rPr lang="en-US" altLang="zh-CN" sz="3200">
                <a:solidFill>
                  <a:srgbClr val="660033"/>
                </a:solidFill>
                <a:ea typeface="华文新魏" panose="02010800040101010101" pitchFamily="2"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3099"/>
    </mc:Choice>
    <mc:Fallback xmlns="">
      <p:transition spd="slow" advTm="730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4940"/>
                                        </p:tgtEl>
                                        <p:attrNameLst>
                                          <p:attrName>style.visibility</p:attrName>
                                        </p:attrNameLst>
                                      </p:cBhvr>
                                      <p:to>
                                        <p:strVal val="visible"/>
                                      </p:to>
                                    </p:set>
                                    <p:animEffect transition="in" filter="wipe(left)">
                                      <p:cBhvr>
                                        <p:cTn id="7" dur="1000"/>
                                        <p:tgtEl>
                                          <p:spTgt spid="294940"/>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294936"/>
                                        </p:tgtEl>
                                        <p:attrNameLst>
                                          <p:attrName>style.visibility</p:attrName>
                                        </p:attrNameLst>
                                      </p:cBhvr>
                                      <p:to>
                                        <p:strVal val="visible"/>
                                      </p:to>
                                    </p:set>
                                    <p:animEffect transition="in" filter="fade">
                                      <p:cBhvr>
                                        <p:cTn id="12" dur="1000"/>
                                        <p:tgtEl>
                                          <p:spTgt spid="294936"/>
                                        </p:tgtEl>
                                      </p:cBhvr>
                                    </p:animEffect>
                                    <p:anim calcmode="lin" valueType="num">
                                      <p:cBhvr>
                                        <p:cTn id="13" dur="1000" fill="hold"/>
                                        <p:tgtEl>
                                          <p:spTgt spid="294936"/>
                                        </p:tgtEl>
                                        <p:attrNameLst>
                                          <p:attrName>ppt_x</p:attrName>
                                        </p:attrNameLst>
                                      </p:cBhvr>
                                      <p:tavLst>
                                        <p:tav tm="0">
                                          <p:val>
                                            <p:strVal val="#ppt_x"/>
                                          </p:val>
                                        </p:tav>
                                        <p:tav tm="100000">
                                          <p:val>
                                            <p:strVal val="#ppt_x"/>
                                          </p:val>
                                        </p:tav>
                                      </p:tavLst>
                                    </p:anim>
                                    <p:anim calcmode="lin" valueType="num">
                                      <p:cBhvr>
                                        <p:cTn id="14" dur="1000" fill="hold"/>
                                        <p:tgtEl>
                                          <p:spTgt spid="29493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94938">
                                            <p:txEl>
                                              <p:pRg st="0" end="0"/>
                                            </p:txEl>
                                          </p:spTgt>
                                        </p:tgtEl>
                                        <p:attrNameLst>
                                          <p:attrName>style.visibility</p:attrName>
                                        </p:attrNameLst>
                                      </p:cBhvr>
                                      <p:to>
                                        <p:strVal val="visible"/>
                                      </p:to>
                                    </p:set>
                                    <p:animEffect transition="in" filter="wipe(left)">
                                      <p:cBhvr>
                                        <p:cTn id="19" dur="500"/>
                                        <p:tgtEl>
                                          <p:spTgt spid="294938">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94938">
                                            <p:txEl>
                                              <p:pRg st="1" end="1"/>
                                            </p:txEl>
                                          </p:spTgt>
                                        </p:tgtEl>
                                        <p:attrNameLst>
                                          <p:attrName>style.visibility</p:attrName>
                                        </p:attrNameLst>
                                      </p:cBhvr>
                                      <p:to>
                                        <p:strVal val="visible"/>
                                      </p:to>
                                    </p:set>
                                    <p:animEffect transition="in" filter="wipe(left)">
                                      <p:cBhvr>
                                        <p:cTn id="24" dur="500"/>
                                        <p:tgtEl>
                                          <p:spTgt spid="294938">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94938">
                                            <p:txEl>
                                              <p:pRg st="2" end="2"/>
                                            </p:txEl>
                                          </p:spTgt>
                                        </p:tgtEl>
                                        <p:attrNameLst>
                                          <p:attrName>style.visibility</p:attrName>
                                        </p:attrNameLst>
                                      </p:cBhvr>
                                      <p:to>
                                        <p:strVal val="visible"/>
                                      </p:to>
                                    </p:set>
                                    <p:animEffect transition="in" filter="wipe(left)">
                                      <p:cBhvr>
                                        <p:cTn id="29" dur="500"/>
                                        <p:tgtEl>
                                          <p:spTgt spid="2949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38" grpId="0" uiExpand="1" build="p"/>
      <p:bldP spid="2949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40" name="Rectangle 4"/>
          <p:cNvSpPr>
            <a:spLocks noGrp="1" noRot="1" noChangeArrowheads="1"/>
          </p:cNvSpPr>
          <p:nvPr>
            <p:ph type="title"/>
          </p:nvPr>
        </p:nvSpPr>
        <p:spPr>
          <a:xfrm>
            <a:off x="1281113" y="271463"/>
            <a:ext cx="6656387" cy="392112"/>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anchor="ctr"/>
          <a:lstStyle/>
          <a:p>
            <a:r>
              <a:rPr lang="zh-CN" altLang="en-US" sz="2800">
                <a:latin typeface="幼圆" panose="02010509060101010101" pitchFamily="49" charset="-122"/>
                <a:ea typeface="幼圆" panose="02010509060101010101" pitchFamily="49" charset="-122"/>
              </a:rPr>
              <a:t>三、锁协议</a:t>
            </a:r>
          </a:p>
        </p:txBody>
      </p:sp>
      <p:grpSp>
        <p:nvGrpSpPr>
          <p:cNvPr id="295957" name="Group 21"/>
          <p:cNvGrpSpPr/>
          <p:nvPr/>
        </p:nvGrpSpPr>
        <p:grpSpPr bwMode="auto">
          <a:xfrm>
            <a:off x="684213" y="2009775"/>
            <a:ext cx="7920037" cy="2427288"/>
            <a:chOff x="431" y="1207"/>
            <a:chExt cx="4989" cy="1529"/>
          </a:xfrm>
        </p:grpSpPr>
        <p:sp>
          <p:nvSpPr>
            <p:cNvPr id="295942" name="Text Box 6"/>
            <p:cNvSpPr txBox="1">
              <a:spLocks noChangeArrowheads="1"/>
            </p:cNvSpPr>
            <p:nvPr/>
          </p:nvSpPr>
          <p:spPr bwMode="auto">
            <a:xfrm>
              <a:off x="431" y="1207"/>
              <a:ext cx="1056" cy="54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a:lstStyle/>
            <a:p>
              <a:r>
                <a:rPr lang="zh-CN" altLang="en-US" sz="2400" b="1">
                  <a:solidFill>
                    <a:srgbClr val="008000"/>
                  </a:solidFill>
                  <a:ea typeface="楷体_GB2312" pitchFamily="49" charset="-122"/>
                </a:rPr>
                <a:t>事务</a:t>
              </a:r>
              <a:r>
                <a:rPr lang="en-US" altLang="zh-CN" sz="2400" b="1">
                  <a:solidFill>
                    <a:srgbClr val="008000"/>
                  </a:solidFill>
                  <a:ea typeface="楷体_GB2312" pitchFamily="49" charset="-122"/>
                </a:rPr>
                <a:t>T</a:t>
              </a:r>
              <a:r>
                <a:rPr lang="zh-CN" altLang="en-US" sz="2400" b="1">
                  <a:solidFill>
                    <a:srgbClr val="008000"/>
                  </a:solidFill>
                  <a:ea typeface="楷体_GB2312" pitchFamily="49" charset="-122"/>
                </a:rPr>
                <a:t>要读数据</a:t>
              </a:r>
              <a:r>
                <a:rPr lang="en-US" altLang="zh-CN" sz="2400" b="1">
                  <a:solidFill>
                    <a:srgbClr val="008000"/>
                  </a:solidFill>
                  <a:ea typeface="楷体_GB2312" pitchFamily="49" charset="-122"/>
                </a:rPr>
                <a:t>R</a:t>
              </a:r>
              <a:r>
                <a:rPr lang="zh-CN" altLang="en-US" sz="2400" b="1">
                  <a:solidFill>
                    <a:srgbClr val="008000"/>
                  </a:solidFill>
                  <a:ea typeface="楷体_GB2312" pitchFamily="49" charset="-122"/>
                </a:rPr>
                <a:t>：</a:t>
              </a:r>
            </a:p>
          </p:txBody>
        </p:sp>
        <p:sp>
          <p:nvSpPr>
            <p:cNvPr id="295943" name="AutoShape 7"/>
            <p:cNvSpPr>
              <a:spLocks noChangeArrowheads="1"/>
            </p:cNvSpPr>
            <p:nvPr/>
          </p:nvSpPr>
          <p:spPr bwMode="auto">
            <a:xfrm>
              <a:off x="1565" y="1524"/>
              <a:ext cx="1588" cy="589"/>
            </a:xfrm>
            <a:prstGeom prst="diamond">
              <a:avLst/>
            </a:prstGeom>
            <a:solidFill>
              <a:srgbClr val="FFCC00"/>
            </a:solidFill>
            <a:ln w="28575" cap="sq">
              <a:solidFill>
                <a:schemeClr val="bg2"/>
              </a:solidFill>
              <a:miter lim="800000"/>
              <a:headEnd type="none" w="sm" len="sm"/>
              <a:tailEnd type="none" w="sm" len="sm"/>
            </a:ln>
            <a:effectLst>
              <a:outerShdw dist="35921" dir="2700000" algn="ctr" rotWithShape="0">
                <a:schemeClr val="bg2"/>
              </a:outerShdw>
            </a:effectLst>
          </p:spPr>
          <p:txBody>
            <a:bodyPr wrap="none" anchor="ctr"/>
            <a:lstStyle/>
            <a:p>
              <a:pPr algn="ctr"/>
              <a:r>
                <a:rPr lang="zh-CN" altLang="en-US" sz="2400" b="1">
                  <a:solidFill>
                    <a:schemeClr val="bg2"/>
                  </a:solidFill>
                  <a:effectLst>
                    <a:outerShdw blurRad="38100" dist="38100" dir="2700000" algn="tl">
                      <a:srgbClr val="000000"/>
                    </a:outerShdw>
                  </a:effectLst>
                  <a:ea typeface="楷体_GB2312" pitchFamily="49" charset="-122"/>
                </a:rPr>
                <a:t>申请加</a:t>
              </a:r>
              <a:r>
                <a:rPr lang="en-US" altLang="zh-CN" sz="2400" b="1">
                  <a:solidFill>
                    <a:schemeClr val="bg2"/>
                  </a:solidFill>
                  <a:effectLst>
                    <a:outerShdw blurRad="38100" dist="38100" dir="2700000" algn="tl">
                      <a:srgbClr val="000000"/>
                    </a:outerShdw>
                  </a:effectLst>
                  <a:ea typeface="楷体_GB2312" pitchFamily="49" charset="-122"/>
                </a:rPr>
                <a:t>S</a:t>
              </a:r>
              <a:r>
                <a:rPr lang="zh-CN" altLang="en-US" sz="2400" b="1">
                  <a:solidFill>
                    <a:schemeClr val="bg2"/>
                  </a:solidFill>
                  <a:effectLst>
                    <a:outerShdw blurRad="38100" dist="38100" dir="2700000" algn="tl">
                      <a:srgbClr val="000000"/>
                    </a:outerShdw>
                  </a:effectLst>
                  <a:ea typeface="楷体_GB2312" pitchFamily="49" charset="-122"/>
                </a:rPr>
                <a:t>锁？</a:t>
              </a:r>
            </a:p>
          </p:txBody>
        </p:sp>
        <p:sp>
          <p:nvSpPr>
            <p:cNvPr id="295944" name="Text Box 8"/>
            <p:cNvSpPr txBox="1">
              <a:spLocks noChangeArrowheads="1"/>
            </p:cNvSpPr>
            <p:nvPr/>
          </p:nvSpPr>
          <p:spPr bwMode="auto">
            <a:xfrm>
              <a:off x="1927" y="2430"/>
              <a:ext cx="1043" cy="30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400" b="1">
                  <a:solidFill>
                    <a:schemeClr val="bg2"/>
                  </a:solidFill>
                  <a:effectLst>
                    <a:outerShdw blurRad="38100" dist="38100" dir="2700000" algn="tl">
                      <a:srgbClr val="000000"/>
                    </a:outerShdw>
                  </a:effectLst>
                  <a:ea typeface="楷体_GB2312" pitchFamily="49" charset="-122"/>
                </a:rPr>
                <a:t>等待</a:t>
              </a:r>
            </a:p>
          </p:txBody>
        </p:sp>
        <p:sp>
          <p:nvSpPr>
            <p:cNvPr id="295945" name="Text Box 9"/>
            <p:cNvSpPr txBox="1">
              <a:spLocks noChangeArrowheads="1"/>
            </p:cNvSpPr>
            <p:nvPr/>
          </p:nvSpPr>
          <p:spPr bwMode="auto">
            <a:xfrm>
              <a:off x="3560" y="1550"/>
              <a:ext cx="726" cy="53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a:spAutoFit/>
            </a:bodyPr>
            <a:lstStyle/>
            <a:p>
              <a:pPr algn="ctr"/>
              <a:r>
                <a:rPr lang="zh-CN" altLang="en-US" sz="2400" b="1">
                  <a:solidFill>
                    <a:schemeClr val="bg2"/>
                  </a:solidFill>
                  <a:effectLst>
                    <a:outerShdw blurRad="38100" dist="38100" dir="2700000" algn="tl">
                      <a:srgbClr val="000000"/>
                    </a:outerShdw>
                  </a:effectLst>
                  <a:ea typeface="楷体_GB2312" pitchFamily="49" charset="-122"/>
                </a:rPr>
                <a:t>加</a:t>
              </a:r>
              <a:r>
                <a:rPr lang="en-US" altLang="zh-CN" sz="2400" b="1">
                  <a:solidFill>
                    <a:schemeClr val="bg2"/>
                  </a:solidFill>
                  <a:effectLst>
                    <a:outerShdw blurRad="38100" dist="38100" dir="2700000" algn="tl">
                      <a:srgbClr val="000000"/>
                    </a:outerShdw>
                  </a:effectLst>
                  <a:ea typeface="楷体_GB2312" pitchFamily="49" charset="-122"/>
                </a:rPr>
                <a:t>S</a:t>
              </a:r>
              <a:r>
                <a:rPr lang="zh-CN" altLang="en-US" sz="2400" b="1">
                  <a:solidFill>
                    <a:schemeClr val="bg2"/>
                  </a:solidFill>
                  <a:effectLst>
                    <a:outerShdw blurRad="38100" dist="38100" dir="2700000" algn="tl">
                      <a:srgbClr val="000000"/>
                    </a:outerShdw>
                  </a:effectLst>
                  <a:ea typeface="楷体_GB2312" pitchFamily="49" charset="-122"/>
                </a:rPr>
                <a:t>锁</a:t>
              </a:r>
            </a:p>
            <a:p>
              <a:pPr algn="ctr"/>
              <a:r>
                <a:rPr lang="zh-CN" altLang="en-US" sz="2400" b="1">
                  <a:solidFill>
                    <a:schemeClr val="bg2"/>
                  </a:solidFill>
                  <a:effectLst>
                    <a:outerShdw blurRad="38100" dist="38100" dir="2700000" algn="tl">
                      <a:srgbClr val="000000"/>
                    </a:outerShdw>
                  </a:effectLst>
                  <a:ea typeface="楷体_GB2312" pitchFamily="49" charset="-122"/>
                </a:rPr>
                <a:t>读数据</a:t>
              </a:r>
            </a:p>
          </p:txBody>
        </p:sp>
        <p:sp>
          <p:nvSpPr>
            <p:cNvPr id="295946" name="Line 10"/>
            <p:cNvSpPr>
              <a:spLocks noChangeShapeType="1"/>
            </p:cNvSpPr>
            <p:nvPr/>
          </p:nvSpPr>
          <p:spPr bwMode="auto">
            <a:xfrm>
              <a:off x="2354" y="1207"/>
              <a:ext cx="0" cy="317"/>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5947" name="Line 11"/>
            <p:cNvSpPr>
              <a:spLocks noChangeShapeType="1"/>
            </p:cNvSpPr>
            <p:nvPr/>
          </p:nvSpPr>
          <p:spPr bwMode="auto">
            <a:xfrm>
              <a:off x="2354" y="2102"/>
              <a:ext cx="0" cy="317"/>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5948" name="Line 12"/>
            <p:cNvSpPr>
              <a:spLocks noChangeShapeType="1"/>
            </p:cNvSpPr>
            <p:nvPr/>
          </p:nvSpPr>
          <p:spPr bwMode="auto">
            <a:xfrm>
              <a:off x="3152" y="1822"/>
              <a:ext cx="408"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5949" name="Line 13"/>
            <p:cNvSpPr>
              <a:spLocks noChangeShapeType="1"/>
            </p:cNvSpPr>
            <p:nvPr/>
          </p:nvSpPr>
          <p:spPr bwMode="auto">
            <a:xfrm>
              <a:off x="1465" y="2593"/>
              <a:ext cx="453" cy="0"/>
            </a:xfrm>
            <a:prstGeom prst="line">
              <a:avLst/>
            </a:prstGeom>
            <a:noFill/>
            <a:ln w="28575" cap="sq">
              <a:solidFill>
                <a:schemeClr val="bg2"/>
              </a:solidFill>
              <a:round/>
              <a:headEnd type="triangle" w="lg" len="med"/>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5950" name="Line 14"/>
            <p:cNvSpPr>
              <a:spLocks noChangeShapeType="1"/>
            </p:cNvSpPr>
            <p:nvPr/>
          </p:nvSpPr>
          <p:spPr bwMode="auto">
            <a:xfrm>
              <a:off x="1474" y="1347"/>
              <a:ext cx="0" cy="1247"/>
            </a:xfrm>
            <a:prstGeom prst="line">
              <a:avLst/>
            </a:prstGeom>
            <a:noFill/>
            <a:ln w="28575" cap="sq">
              <a:solidFill>
                <a:schemeClr val="bg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5951" name="Line 15"/>
            <p:cNvSpPr>
              <a:spLocks noChangeShapeType="1"/>
            </p:cNvSpPr>
            <p:nvPr/>
          </p:nvSpPr>
          <p:spPr bwMode="auto">
            <a:xfrm>
              <a:off x="1474" y="1342"/>
              <a:ext cx="861"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5952" name="Text Box 16"/>
            <p:cNvSpPr txBox="1">
              <a:spLocks noChangeArrowheads="1"/>
            </p:cNvSpPr>
            <p:nvPr/>
          </p:nvSpPr>
          <p:spPr bwMode="auto">
            <a:xfrm>
              <a:off x="3198" y="1496"/>
              <a:ext cx="244"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wrap="none">
              <a:spAutoFit/>
            </a:bodyPr>
            <a:lstStyle/>
            <a:p>
              <a:r>
                <a:rPr lang="en-US" altLang="zh-CN" sz="2400" b="1">
                  <a:solidFill>
                    <a:schemeClr val="bg2"/>
                  </a:solidFill>
                  <a:ea typeface="楷体_GB2312" pitchFamily="49" charset="-122"/>
                </a:rPr>
                <a:t>Y</a:t>
              </a:r>
            </a:p>
          </p:txBody>
        </p:sp>
        <p:sp>
          <p:nvSpPr>
            <p:cNvPr id="295953" name="Text Box 17"/>
            <p:cNvSpPr txBox="1">
              <a:spLocks noChangeArrowheads="1"/>
            </p:cNvSpPr>
            <p:nvPr/>
          </p:nvSpPr>
          <p:spPr bwMode="auto">
            <a:xfrm>
              <a:off x="2426" y="2086"/>
              <a:ext cx="255" cy="28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Lst>
          </p:spPr>
          <p:txBody>
            <a:bodyPr wrap="none">
              <a:spAutoFit/>
            </a:bodyPr>
            <a:lstStyle/>
            <a:p>
              <a:r>
                <a:rPr lang="en-US" altLang="zh-CN" sz="2400" b="1">
                  <a:solidFill>
                    <a:schemeClr val="bg2"/>
                  </a:solidFill>
                  <a:ea typeface="楷体_GB2312" pitchFamily="49" charset="-122"/>
                </a:rPr>
                <a:t>N</a:t>
              </a:r>
            </a:p>
          </p:txBody>
        </p:sp>
        <p:sp>
          <p:nvSpPr>
            <p:cNvPr id="295955" name="Line 19"/>
            <p:cNvSpPr>
              <a:spLocks noChangeShapeType="1"/>
            </p:cNvSpPr>
            <p:nvPr/>
          </p:nvSpPr>
          <p:spPr bwMode="auto">
            <a:xfrm>
              <a:off x="4286" y="1822"/>
              <a:ext cx="272" cy="0"/>
            </a:xfrm>
            <a:prstGeom prst="line">
              <a:avLst/>
            </a:prstGeom>
            <a:noFill/>
            <a:ln w="28575" cap="sq">
              <a:solidFill>
                <a:schemeClr val="bg2"/>
              </a:solidFill>
              <a:round/>
              <a:headEnd type="none" w="sm" len="sm"/>
              <a:tailEnd type="triangle"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95956" name="Text Box 20"/>
            <p:cNvSpPr txBox="1">
              <a:spLocks noChangeArrowheads="1"/>
            </p:cNvSpPr>
            <p:nvPr/>
          </p:nvSpPr>
          <p:spPr bwMode="auto">
            <a:xfrm>
              <a:off x="4557" y="1549"/>
              <a:ext cx="863" cy="536"/>
            </a:xfrm>
            <a:prstGeom prst="rect">
              <a:avLst/>
            </a:prstGeom>
            <a:solidFill>
              <a:srgbClr val="99CCFF"/>
            </a:solidFill>
            <a:ln w="28575" cap="sq" algn="ctr">
              <a:solidFill>
                <a:schemeClr val="bg2"/>
              </a:solidFill>
              <a:miter lim="800000"/>
              <a:headEnd type="none" w="sm" len="sm"/>
              <a:tailEnd type="none" w="sm" len="sm"/>
            </a:ln>
            <a:effectLst>
              <a:outerShdw dist="35921" dir="2700000" algn="ctr" rotWithShape="0">
                <a:schemeClr val="bg2"/>
              </a:outerShdw>
            </a:effectLst>
          </p:spPr>
          <p:txBody>
            <a:bodyPr lIns="18000" rIns="18000">
              <a:spAutoFit/>
            </a:bodyPr>
            <a:lstStyle/>
            <a:p>
              <a:pPr algn="ctr"/>
              <a:r>
                <a:rPr lang="en-US" altLang="zh-CN" sz="2400" b="1">
                  <a:solidFill>
                    <a:schemeClr val="bg2"/>
                  </a:solidFill>
                  <a:effectLst>
                    <a:outerShdw blurRad="38100" dist="38100" dir="2700000" algn="tl">
                      <a:srgbClr val="000000"/>
                    </a:outerShdw>
                  </a:effectLst>
                  <a:ea typeface="楷体_GB2312" pitchFamily="49" charset="-122"/>
                </a:rPr>
                <a:t>T</a:t>
              </a:r>
              <a:r>
                <a:rPr lang="zh-CN" altLang="en-US" sz="2400" b="1">
                  <a:solidFill>
                    <a:schemeClr val="bg2"/>
                  </a:solidFill>
                  <a:effectLst>
                    <a:outerShdw blurRad="38100" dist="38100" dir="2700000" algn="tl">
                      <a:srgbClr val="000000"/>
                    </a:outerShdw>
                  </a:effectLst>
                  <a:ea typeface="楷体_GB2312" pitchFamily="49" charset="-122"/>
                </a:rPr>
                <a:t>结束</a:t>
              </a:r>
            </a:p>
            <a:p>
              <a:pPr algn="ctr"/>
              <a:r>
                <a:rPr lang="zh-CN" altLang="en-US" sz="2400" b="1">
                  <a:solidFill>
                    <a:schemeClr val="bg2"/>
                  </a:solidFill>
                  <a:effectLst>
                    <a:outerShdw blurRad="38100" dist="38100" dir="2700000" algn="tl">
                      <a:srgbClr val="000000"/>
                    </a:outerShdw>
                  </a:effectLst>
                  <a:ea typeface="楷体_GB2312" pitchFamily="49" charset="-122"/>
                </a:rPr>
                <a:t>释放</a:t>
              </a:r>
              <a:r>
                <a:rPr lang="en-US" altLang="zh-CN" sz="2400" b="1">
                  <a:solidFill>
                    <a:schemeClr val="bg2"/>
                  </a:solidFill>
                  <a:effectLst>
                    <a:outerShdw blurRad="38100" dist="38100" dir="2700000" algn="tl">
                      <a:srgbClr val="000000"/>
                    </a:outerShdw>
                  </a:effectLst>
                  <a:ea typeface="楷体_GB2312" pitchFamily="49" charset="-122"/>
                </a:rPr>
                <a:t>S</a:t>
              </a:r>
              <a:r>
                <a:rPr lang="zh-CN" altLang="en-US" sz="2400" b="1">
                  <a:solidFill>
                    <a:schemeClr val="bg2"/>
                  </a:solidFill>
                  <a:effectLst>
                    <a:outerShdw blurRad="38100" dist="38100" dir="2700000" algn="tl">
                      <a:srgbClr val="000000"/>
                    </a:outerShdw>
                  </a:effectLst>
                  <a:ea typeface="楷体_GB2312" pitchFamily="49" charset="-122"/>
                </a:rPr>
                <a:t>锁</a:t>
              </a:r>
            </a:p>
          </p:txBody>
        </p:sp>
      </p:grpSp>
      <p:sp>
        <p:nvSpPr>
          <p:cNvPr id="295959" name="Rectangle 23"/>
          <p:cNvSpPr>
            <a:spLocks noChangeArrowheads="1"/>
          </p:cNvSpPr>
          <p:nvPr/>
        </p:nvSpPr>
        <p:spPr bwMode="auto">
          <a:xfrm>
            <a:off x="539750" y="4938713"/>
            <a:ext cx="8280400" cy="144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1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ea typeface="楷体_GB2312" pitchFamily="49" charset="-122"/>
              </a:rPr>
              <a:t>本事务：读</a:t>
            </a:r>
            <a:r>
              <a:rPr lang="en-US" altLang="zh-CN" sz="2400" b="1">
                <a:effectLst>
                  <a:outerShdw blurRad="38100" dist="38100" dir="2700000" algn="tl">
                    <a:srgbClr val="C0C0C0"/>
                  </a:outerShdw>
                </a:effectLst>
                <a:ea typeface="楷体_GB2312" pitchFamily="49" charset="-122"/>
              </a:rPr>
              <a:t>R</a:t>
            </a:r>
            <a:r>
              <a:rPr lang="zh-CN" altLang="en-US" sz="2400" b="1">
                <a:effectLst>
                  <a:outerShdw blurRad="38100" dist="38100" dir="2700000" algn="tl">
                    <a:srgbClr val="C0C0C0"/>
                  </a:outerShdw>
                </a:effectLst>
                <a:ea typeface="楷体_GB2312" pitchFamily="49" charset="-122"/>
              </a:rPr>
              <a:t>，不能修改</a:t>
            </a:r>
            <a:r>
              <a:rPr lang="en-US" altLang="zh-CN" sz="2400" b="1">
                <a:effectLst>
                  <a:outerShdw blurRad="38100" dist="38100" dir="2700000" algn="tl">
                    <a:srgbClr val="C0C0C0"/>
                  </a:outerShdw>
                </a:effectLst>
                <a:ea typeface="楷体_GB2312" pitchFamily="49" charset="-122"/>
              </a:rPr>
              <a:t>R</a:t>
            </a:r>
            <a:r>
              <a:rPr lang="zh-CN" altLang="en-US" sz="2400" b="1">
                <a:effectLst>
                  <a:outerShdw blurRad="38100" dist="38100" dir="2700000" algn="tl">
                    <a:srgbClr val="C0C0C0"/>
                  </a:outerShdw>
                </a:effectLst>
                <a:ea typeface="楷体_GB2312" pitchFamily="49" charset="-122"/>
              </a:rPr>
              <a:t>；用</a:t>
            </a:r>
            <a:r>
              <a:rPr lang="en-US" altLang="zh-CN" sz="2400" b="1">
                <a:effectLst>
                  <a:outerShdw blurRad="38100" dist="38100" dir="2700000" algn="tl">
                    <a:srgbClr val="C0C0C0"/>
                  </a:outerShdw>
                </a:effectLst>
                <a:ea typeface="楷体_GB2312" pitchFamily="49" charset="-122"/>
              </a:rPr>
              <a:t>COMMIT</a:t>
            </a:r>
            <a:r>
              <a:rPr lang="zh-CN" altLang="en-US" sz="2400" b="1">
                <a:effectLst>
                  <a:outerShdw blurRad="38100" dist="38100" dir="2700000" algn="tl">
                    <a:srgbClr val="C0C0C0"/>
                  </a:outerShdw>
                </a:effectLst>
                <a:ea typeface="楷体_GB2312" pitchFamily="49" charset="-122"/>
              </a:rPr>
              <a:t>和</a:t>
            </a:r>
            <a:r>
              <a:rPr lang="en-US" altLang="zh-CN" sz="2400" b="1">
                <a:effectLst>
                  <a:outerShdw blurRad="38100" dist="38100" dir="2700000" algn="tl">
                    <a:srgbClr val="C0C0C0"/>
                  </a:outerShdw>
                </a:effectLst>
                <a:ea typeface="楷体_GB2312" pitchFamily="49" charset="-122"/>
              </a:rPr>
              <a:t>ROLLBACK</a:t>
            </a:r>
            <a:r>
              <a:rPr lang="zh-CN" altLang="en-US" sz="2400" b="1">
                <a:effectLst>
                  <a:outerShdw blurRad="38100" dist="38100" dir="2700000" algn="tl">
                    <a:srgbClr val="C0C0C0"/>
                  </a:outerShdw>
                </a:effectLst>
                <a:ea typeface="楷体_GB2312" pitchFamily="49" charset="-122"/>
              </a:rPr>
              <a:t>释放</a:t>
            </a:r>
          </a:p>
          <a:p>
            <a:pPr algn="just">
              <a:lnSpc>
                <a:spcPct val="110000"/>
              </a:lnSpc>
              <a:spcBef>
                <a:spcPct val="20000"/>
              </a:spcBef>
              <a:buClr>
                <a:schemeClr val="folHlink"/>
              </a:buClr>
              <a:buSzPct val="60000"/>
              <a:buFont typeface="Wingdings" panose="05000000000000000000" pitchFamily="2" charset="2"/>
              <a:buNone/>
            </a:pPr>
            <a:r>
              <a:rPr lang="zh-CN" altLang="en-US" sz="2400" b="1">
                <a:effectLst>
                  <a:outerShdw blurRad="38100" dist="38100" dir="2700000" algn="tl">
                    <a:srgbClr val="C0C0C0"/>
                  </a:outerShdw>
                </a:effectLst>
                <a:ea typeface="楷体_GB2312" pitchFamily="49" charset="-122"/>
              </a:rPr>
              <a:t>其它事务：可加</a:t>
            </a:r>
            <a:r>
              <a:rPr lang="en-US" altLang="zh-CN" sz="2400" b="1">
                <a:effectLst>
                  <a:outerShdw blurRad="38100" dist="38100" dir="2700000" algn="tl">
                    <a:srgbClr val="C0C0C0"/>
                  </a:outerShdw>
                </a:effectLst>
                <a:ea typeface="楷体_GB2312" pitchFamily="49" charset="-122"/>
              </a:rPr>
              <a:t>S</a:t>
            </a:r>
            <a:r>
              <a:rPr lang="zh-CN" altLang="en-US" sz="2400" b="1">
                <a:effectLst>
                  <a:outerShdw blurRad="38100" dist="38100" dir="2700000" algn="tl">
                    <a:srgbClr val="C0C0C0"/>
                  </a:outerShdw>
                </a:effectLst>
                <a:ea typeface="楷体_GB2312" pitchFamily="49" charset="-122"/>
              </a:rPr>
              <a:t>锁读</a:t>
            </a:r>
            <a:r>
              <a:rPr lang="en-US" altLang="zh-CN" sz="2400" b="1">
                <a:effectLst>
                  <a:outerShdw blurRad="38100" dist="38100" dir="2700000" algn="tl">
                    <a:srgbClr val="C0C0C0"/>
                  </a:outerShdw>
                </a:effectLst>
                <a:ea typeface="楷体_GB2312" pitchFamily="49" charset="-122"/>
              </a:rPr>
              <a:t>R</a:t>
            </a:r>
            <a:r>
              <a:rPr lang="zh-CN" altLang="en-US" sz="2400" b="1">
                <a:effectLst>
                  <a:outerShdw blurRad="38100" dist="38100" dir="2700000" algn="tl">
                    <a:srgbClr val="C0C0C0"/>
                  </a:outerShdw>
                </a:effectLst>
                <a:ea typeface="楷体_GB2312" pitchFamily="49" charset="-122"/>
              </a:rPr>
              <a:t>，不能修改</a:t>
            </a:r>
            <a:r>
              <a:rPr lang="en-US" altLang="zh-CN" sz="2400" b="1">
                <a:effectLst>
                  <a:outerShdw blurRad="38100" dist="38100" dir="2700000" algn="tl">
                    <a:srgbClr val="C0C0C0"/>
                  </a:outerShdw>
                </a:effectLst>
                <a:ea typeface="楷体_GB2312" pitchFamily="49" charset="-122"/>
              </a:rPr>
              <a:t>R</a:t>
            </a:r>
          </a:p>
          <a:p>
            <a:pPr algn="just">
              <a:lnSpc>
                <a:spcPct val="110000"/>
              </a:lnSpc>
              <a:spcBef>
                <a:spcPct val="20000"/>
              </a:spcBef>
              <a:buClr>
                <a:schemeClr val="folHlink"/>
              </a:buClr>
              <a:buSzPct val="60000"/>
              <a:buFont typeface="Wingdings" panose="05000000000000000000" pitchFamily="2" charset="2"/>
              <a:buNone/>
            </a:pPr>
            <a:r>
              <a:rPr lang="zh-CN" altLang="en-US" sz="2400" b="1">
                <a:solidFill>
                  <a:srgbClr val="0000FF"/>
                </a:solidFill>
                <a:effectLst>
                  <a:outerShdw blurRad="38100" dist="38100" dir="2700000" algn="tl">
                    <a:srgbClr val="C0C0C0"/>
                  </a:outerShdw>
                </a:effectLst>
                <a:ea typeface="楷体_GB2312" pitchFamily="49" charset="-122"/>
              </a:rPr>
              <a:t>作用：</a:t>
            </a:r>
            <a:r>
              <a:rPr lang="zh-CN" altLang="en-US" sz="2400" b="1">
                <a:effectLst>
                  <a:outerShdw blurRad="38100" dist="38100" dir="2700000" algn="tl">
                    <a:srgbClr val="C0C0C0"/>
                  </a:outerShdw>
                </a:effectLst>
                <a:ea typeface="楷体_GB2312" pitchFamily="49" charset="-122"/>
              </a:rPr>
              <a:t>防止丢失修改，防止读“脏”数据，防止读过时数据。</a:t>
            </a:r>
          </a:p>
        </p:txBody>
      </p:sp>
      <p:sp>
        <p:nvSpPr>
          <p:cNvPr id="295961" name="Rectangle 25"/>
          <p:cNvSpPr>
            <a:spLocks noChangeArrowheads="1"/>
          </p:cNvSpPr>
          <p:nvPr/>
        </p:nvSpPr>
        <p:spPr bwMode="auto">
          <a:xfrm>
            <a:off x="611188" y="1187450"/>
            <a:ext cx="662463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r>
              <a:rPr lang="en-US" altLang="zh-CN" sz="3200">
                <a:solidFill>
                  <a:srgbClr val="660033"/>
                </a:solidFill>
                <a:ea typeface="华文新魏" panose="02010800040101010101" pitchFamily="2" charset="-122"/>
              </a:rPr>
              <a:t>3</a:t>
            </a:r>
            <a:r>
              <a:rPr lang="en-US" altLang="en-US" sz="3200">
                <a:solidFill>
                  <a:srgbClr val="660033"/>
                </a:solidFill>
                <a:ea typeface="华文新魏" panose="02010800040101010101" pitchFamily="2" charset="-122"/>
              </a:rPr>
              <a:t>、</a:t>
            </a:r>
            <a:r>
              <a:rPr lang="zh-CN" altLang="en-US" sz="3200">
                <a:solidFill>
                  <a:srgbClr val="660033"/>
                </a:solidFill>
                <a:ea typeface="华文新魏" panose="02010800040101010101" pitchFamily="2" charset="-122"/>
              </a:rPr>
              <a:t>三级锁协议：一级锁协议</a:t>
            </a:r>
            <a:r>
              <a:rPr lang="en-US" altLang="zh-CN" sz="3200">
                <a:solidFill>
                  <a:srgbClr val="660033"/>
                </a:solidFill>
                <a:ea typeface="华文新魏" panose="02010800040101010101" pitchFamily="2"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2588"/>
    </mc:Choice>
    <mc:Fallback xmlns="">
      <p:transition spd="slow" advTm="625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5961"/>
                                        </p:tgtEl>
                                        <p:attrNameLst>
                                          <p:attrName>style.visibility</p:attrName>
                                        </p:attrNameLst>
                                      </p:cBhvr>
                                      <p:to>
                                        <p:strVal val="visible"/>
                                      </p:to>
                                    </p:set>
                                    <p:animEffect transition="in" filter="wipe(left)">
                                      <p:cBhvr>
                                        <p:cTn id="7" dur="1000"/>
                                        <p:tgtEl>
                                          <p:spTgt spid="295961"/>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295957"/>
                                        </p:tgtEl>
                                        <p:attrNameLst>
                                          <p:attrName>style.visibility</p:attrName>
                                        </p:attrNameLst>
                                      </p:cBhvr>
                                      <p:to>
                                        <p:strVal val="visible"/>
                                      </p:to>
                                    </p:set>
                                    <p:animEffect transition="in" filter="fade">
                                      <p:cBhvr>
                                        <p:cTn id="12" dur="1000"/>
                                        <p:tgtEl>
                                          <p:spTgt spid="295957"/>
                                        </p:tgtEl>
                                      </p:cBhvr>
                                    </p:animEffect>
                                    <p:anim calcmode="lin" valueType="num">
                                      <p:cBhvr>
                                        <p:cTn id="13" dur="1000" fill="hold"/>
                                        <p:tgtEl>
                                          <p:spTgt spid="295957"/>
                                        </p:tgtEl>
                                        <p:attrNameLst>
                                          <p:attrName>ppt_x</p:attrName>
                                        </p:attrNameLst>
                                      </p:cBhvr>
                                      <p:tavLst>
                                        <p:tav tm="0">
                                          <p:val>
                                            <p:strVal val="#ppt_x"/>
                                          </p:val>
                                        </p:tav>
                                        <p:tav tm="100000">
                                          <p:val>
                                            <p:strVal val="#ppt_x"/>
                                          </p:val>
                                        </p:tav>
                                      </p:tavLst>
                                    </p:anim>
                                    <p:anim calcmode="lin" valueType="num">
                                      <p:cBhvr>
                                        <p:cTn id="14" dur="1000" fill="hold"/>
                                        <p:tgtEl>
                                          <p:spTgt spid="29595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95959">
                                            <p:txEl>
                                              <p:pRg st="0" end="0"/>
                                            </p:txEl>
                                          </p:spTgt>
                                        </p:tgtEl>
                                        <p:attrNameLst>
                                          <p:attrName>style.visibility</p:attrName>
                                        </p:attrNameLst>
                                      </p:cBhvr>
                                      <p:to>
                                        <p:strVal val="visible"/>
                                      </p:to>
                                    </p:set>
                                    <p:animEffect transition="in" filter="wipe(left)">
                                      <p:cBhvr>
                                        <p:cTn id="19" dur="500"/>
                                        <p:tgtEl>
                                          <p:spTgt spid="29595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95959">
                                            <p:txEl>
                                              <p:pRg st="1" end="1"/>
                                            </p:txEl>
                                          </p:spTgt>
                                        </p:tgtEl>
                                        <p:attrNameLst>
                                          <p:attrName>style.visibility</p:attrName>
                                        </p:attrNameLst>
                                      </p:cBhvr>
                                      <p:to>
                                        <p:strVal val="visible"/>
                                      </p:to>
                                    </p:set>
                                    <p:animEffect transition="in" filter="wipe(left)">
                                      <p:cBhvr>
                                        <p:cTn id="24" dur="500"/>
                                        <p:tgtEl>
                                          <p:spTgt spid="29595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95959">
                                            <p:txEl>
                                              <p:pRg st="2" end="2"/>
                                            </p:txEl>
                                          </p:spTgt>
                                        </p:tgtEl>
                                        <p:attrNameLst>
                                          <p:attrName>style.visibility</p:attrName>
                                        </p:attrNameLst>
                                      </p:cBhvr>
                                      <p:to>
                                        <p:strVal val="visible"/>
                                      </p:to>
                                    </p:set>
                                    <p:animEffect transition="in" filter="wipe(left)">
                                      <p:cBhvr>
                                        <p:cTn id="29" dur="500"/>
                                        <p:tgtEl>
                                          <p:spTgt spid="2959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59" grpId="0" uiExpand="1" build="p"/>
      <p:bldP spid="29596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858" name="组合 14"/>
          <p:cNvGrpSpPr/>
          <p:nvPr>
            <p:custDataLst>
              <p:tags r:id="rId2"/>
            </p:custDataLst>
          </p:nvPr>
        </p:nvGrpSpPr>
        <p:grpSpPr bwMode="auto">
          <a:xfrm>
            <a:off x="2600325" y="2987359"/>
            <a:ext cx="3943350" cy="879475"/>
            <a:chOff x="3305429" y="3718304"/>
            <a:chExt cx="4111571" cy="917396"/>
          </a:xfrm>
        </p:grpSpPr>
        <p:grpSp>
          <p:nvGrpSpPr>
            <p:cNvPr id="14" name="组合 13"/>
            <p:cNvGrpSpPr/>
            <p:nvPr/>
          </p:nvGrpSpPr>
          <p:grpSpPr>
            <a:xfrm>
              <a:off x="3991083" y="3807491"/>
              <a:ext cx="539750" cy="743879"/>
              <a:chOff x="2467083" y="3299490"/>
              <a:chExt cx="539750" cy="743879"/>
            </a:xfrm>
            <a:solidFill>
              <a:schemeClr val="accent3"/>
            </a:solidFill>
          </p:grpSpPr>
          <p:sp>
            <p:nvSpPr>
              <p:cNvPr id="11" name="矩形 10"/>
              <p:cNvSpPr/>
              <p:nvPr/>
            </p:nvSpPr>
            <p:spPr>
              <a:xfrm>
                <a:off x="2467876" y="3598068"/>
                <a:ext cx="533400" cy="150019"/>
              </a:xfrm>
              <a:prstGeom prst="rect">
                <a:avLst/>
              </a:prstGeom>
              <a:solidFill>
                <a:srgbClr val="F2E6B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5" name="矩形 4"/>
              <p:cNvSpPr/>
              <p:nvPr/>
            </p:nvSpPr>
            <p:spPr>
              <a:xfrm>
                <a:off x="2467083" y="3299491"/>
                <a:ext cx="165100" cy="742940"/>
              </a:xfrm>
              <a:prstGeom prst="rect">
                <a:avLst/>
              </a:prstGeom>
              <a:solidFill>
                <a:srgbClr val="FFC000"/>
              </a:solidFill>
              <a:ln>
                <a:noFill/>
              </a:ln>
              <a:effectLst>
                <a:outerShdw blurRad="508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6" name="矩形 5"/>
              <p:cNvSpPr/>
              <p:nvPr/>
            </p:nvSpPr>
            <p:spPr>
              <a:xfrm>
                <a:off x="2841733" y="3299490"/>
                <a:ext cx="165100" cy="743879"/>
              </a:xfrm>
              <a:prstGeom prst="rect">
                <a:avLst/>
              </a:prstGeom>
              <a:solidFill>
                <a:srgbClr val="FFC000"/>
              </a:solidFill>
              <a:ln>
                <a:noFill/>
              </a:ln>
              <a:effectLst>
                <a:outerShdw blurRad="50800" dist="12700" dir="108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2" name="组合 1"/>
            <p:cNvGrpSpPr/>
            <p:nvPr/>
          </p:nvGrpSpPr>
          <p:grpSpPr>
            <a:xfrm>
              <a:off x="3305429" y="3809872"/>
              <a:ext cx="533400" cy="742950"/>
              <a:chOff x="1781429" y="3301872"/>
              <a:chExt cx="533400" cy="742950"/>
            </a:xfrm>
            <a:solidFill>
              <a:schemeClr val="accent1"/>
            </a:solidFill>
          </p:grpSpPr>
          <p:sp>
            <p:nvSpPr>
              <p:cNvPr id="4" name="矩形 3"/>
              <p:cNvSpPr/>
              <p:nvPr/>
            </p:nvSpPr>
            <p:spPr>
              <a:xfrm>
                <a:off x="1965579" y="3428872"/>
                <a:ext cx="171450" cy="615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3" name="矩形 2"/>
              <p:cNvSpPr/>
              <p:nvPr/>
            </p:nvSpPr>
            <p:spPr>
              <a:xfrm>
                <a:off x="1781429" y="3301872"/>
                <a:ext cx="533400" cy="165100"/>
              </a:xfrm>
              <a:prstGeom prst="rect">
                <a:avLst/>
              </a:prstGeom>
              <a:grpFill/>
              <a:ln>
                <a:noFill/>
              </a:ln>
              <a:effectLst>
                <a:outerShdw blurRad="508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16" name="组合 15"/>
            <p:cNvGrpSpPr/>
            <p:nvPr/>
          </p:nvGrpSpPr>
          <p:grpSpPr>
            <a:xfrm>
              <a:off x="4680670" y="3767996"/>
              <a:ext cx="372214" cy="824410"/>
              <a:chOff x="3156670" y="3259996"/>
              <a:chExt cx="372214" cy="824410"/>
            </a:xfrm>
            <a:solidFill>
              <a:schemeClr val="accent2"/>
            </a:solidFill>
          </p:grpSpPr>
          <p:sp>
            <p:nvSpPr>
              <p:cNvPr id="19" name="任意多边形 18"/>
              <p:cNvSpPr/>
              <p:nvPr/>
            </p:nvSpPr>
            <p:spPr>
              <a:xfrm rot="20653324" flipH="1">
                <a:off x="3363784" y="3267206"/>
                <a:ext cx="165100" cy="817200"/>
              </a:xfrm>
              <a:custGeom>
                <a:avLst/>
                <a:gdLst>
                  <a:gd name="connsiteX0" fmla="*/ 0 w 165100"/>
                  <a:gd name="connsiteY0" fmla="*/ 46650 h 803016"/>
                  <a:gd name="connsiteX1" fmla="*/ 165100 w 165100"/>
                  <a:gd name="connsiteY1" fmla="*/ 0 h 803016"/>
                  <a:gd name="connsiteX2" fmla="*/ 165100 w 165100"/>
                  <a:gd name="connsiteY2" fmla="*/ 756366 h 803016"/>
                  <a:gd name="connsiteX3" fmla="*/ 0 w 165100"/>
                  <a:gd name="connsiteY3" fmla="*/ 803016 h 803016"/>
                </a:gdLst>
                <a:ahLst/>
                <a:cxnLst>
                  <a:cxn ang="0">
                    <a:pos x="connsiteX0" y="connsiteY0"/>
                  </a:cxn>
                  <a:cxn ang="0">
                    <a:pos x="connsiteX1" y="connsiteY1"/>
                  </a:cxn>
                  <a:cxn ang="0">
                    <a:pos x="connsiteX2" y="connsiteY2"/>
                  </a:cxn>
                  <a:cxn ang="0">
                    <a:pos x="connsiteX3" y="connsiteY3"/>
                  </a:cxn>
                </a:cxnLst>
                <a:rect l="l" t="t" r="r" b="b"/>
                <a:pathLst>
                  <a:path w="165100" h="803016">
                    <a:moveTo>
                      <a:pt x="0" y="46650"/>
                    </a:moveTo>
                    <a:lnTo>
                      <a:pt x="165100" y="0"/>
                    </a:lnTo>
                    <a:lnTo>
                      <a:pt x="165100" y="756366"/>
                    </a:lnTo>
                    <a:lnTo>
                      <a:pt x="0" y="80301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18" name="任意多边形 17"/>
              <p:cNvSpPr/>
              <p:nvPr/>
            </p:nvSpPr>
            <p:spPr>
              <a:xfrm rot="946676">
                <a:off x="3156670" y="3259996"/>
                <a:ext cx="165100" cy="820800"/>
              </a:xfrm>
              <a:custGeom>
                <a:avLst/>
                <a:gdLst>
                  <a:gd name="connsiteX0" fmla="*/ 0 w 165100"/>
                  <a:gd name="connsiteY0" fmla="*/ 46650 h 803016"/>
                  <a:gd name="connsiteX1" fmla="*/ 165100 w 165100"/>
                  <a:gd name="connsiteY1" fmla="*/ 0 h 803016"/>
                  <a:gd name="connsiteX2" fmla="*/ 165100 w 165100"/>
                  <a:gd name="connsiteY2" fmla="*/ 756366 h 803016"/>
                  <a:gd name="connsiteX3" fmla="*/ 0 w 165100"/>
                  <a:gd name="connsiteY3" fmla="*/ 803016 h 803016"/>
                </a:gdLst>
                <a:ahLst/>
                <a:cxnLst>
                  <a:cxn ang="0">
                    <a:pos x="connsiteX0" y="connsiteY0"/>
                  </a:cxn>
                  <a:cxn ang="0">
                    <a:pos x="connsiteX1" y="connsiteY1"/>
                  </a:cxn>
                  <a:cxn ang="0">
                    <a:pos x="connsiteX2" y="connsiteY2"/>
                  </a:cxn>
                  <a:cxn ang="0">
                    <a:pos x="connsiteX3" y="connsiteY3"/>
                  </a:cxn>
                </a:cxnLst>
                <a:rect l="l" t="t" r="r" b="b"/>
                <a:pathLst>
                  <a:path w="165100" h="803016">
                    <a:moveTo>
                      <a:pt x="0" y="46650"/>
                    </a:moveTo>
                    <a:lnTo>
                      <a:pt x="165100" y="0"/>
                    </a:lnTo>
                    <a:lnTo>
                      <a:pt x="165100" y="756366"/>
                    </a:lnTo>
                    <a:lnTo>
                      <a:pt x="0" y="803016"/>
                    </a:lnTo>
                    <a:close/>
                  </a:path>
                </a:pathLst>
              </a:custGeom>
              <a:grpFill/>
              <a:ln>
                <a:noFill/>
              </a:ln>
              <a:effectLst>
                <a:outerShdw blurRad="50800" dist="12700" dir="6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20" name="组合 19"/>
            <p:cNvGrpSpPr/>
            <p:nvPr/>
          </p:nvGrpSpPr>
          <p:grpSpPr>
            <a:xfrm>
              <a:off x="5900771" y="3718304"/>
              <a:ext cx="397565" cy="917396"/>
              <a:chOff x="4376770" y="3210304"/>
              <a:chExt cx="397565" cy="917396"/>
            </a:xfrm>
            <a:solidFill>
              <a:schemeClr val="accent5"/>
            </a:solidFill>
          </p:grpSpPr>
          <p:sp>
            <p:nvSpPr>
              <p:cNvPr id="9" name="矩形 8"/>
              <p:cNvSpPr/>
              <p:nvPr/>
            </p:nvSpPr>
            <p:spPr>
              <a:xfrm>
                <a:off x="4376770" y="3299491"/>
                <a:ext cx="165100" cy="745200"/>
              </a:xfrm>
              <a:prstGeom prst="rect">
                <a:avLst/>
              </a:prstGeom>
              <a:grpFill/>
              <a:ln>
                <a:noFill/>
              </a:ln>
              <a:effectLst>
                <a:outerShdw blurRad="508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51" name="任意多边形 50"/>
              <p:cNvSpPr/>
              <p:nvPr/>
            </p:nvSpPr>
            <p:spPr>
              <a:xfrm rot="19577384" flipH="1">
                <a:off x="4633589" y="3556267"/>
                <a:ext cx="140746" cy="571433"/>
              </a:xfrm>
              <a:custGeom>
                <a:avLst/>
                <a:gdLst>
                  <a:gd name="connsiteX0" fmla="*/ 0 w 140625"/>
                  <a:gd name="connsiteY0" fmla="*/ 34686 h 568792"/>
                  <a:gd name="connsiteX1" fmla="*/ 0 w 140625"/>
                  <a:gd name="connsiteY1" fmla="*/ 568792 h 568792"/>
                  <a:gd name="connsiteX2" fmla="*/ 41733 w 140625"/>
                  <a:gd name="connsiteY2" fmla="*/ 547251 h 568792"/>
                  <a:gd name="connsiteX3" fmla="*/ 140625 w 140625"/>
                  <a:gd name="connsiteY3" fmla="*/ 481273 h 568792"/>
                  <a:gd name="connsiteX4" fmla="*/ 140625 w 140625"/>
                  <a:gd name="connsiteY4" fmla="*/ 0 h 568792"/>
                  <a:gd name="connsiteX0-1" fmla="*/ 3299 w 143924"/>
                  <a:gd name="connsiteY0-2" fmla="*/ 34686 h 576719"/>
                  <a:gd name="connsiteX1-3" fmla="*/ 0 w 143924"/>
                  <a:gd name="connsiteY1-4" fmla="*/ 576719 h 576719"/>
                  <a:gd name="connsiteX2-5" fmla="*/ 45032 w 143924"/>
                  <a:gd name="connsiteY2-6" fmla="*/ 547251 h 576719"/>
                  <a:gd name="connsiteX3-7" fmla="*/ 143924 w 143924"/>
                  <a:gd name="connsiteY3-8" fmla="*/ 481273 h 576719"/>
                  <a:gd name="connsiteX4-9" fmla="*/ 143924 w 143924"/>
                  <a:gd name="connsiteY4-10" fmla="*/ 0 h 576719"/>
                  <a:gd name="connsiteX5" fmla="*/ 3299 w 143924"/>
                  <a:gd name="connsiteY5" fmla="*/ 34686 h 576719"/>
                  <a:gd name="connsiteX0-11" fmla="*/ 121 w 140746"/>
                  <a:gd name="connsiteY0-12" fmla="*/ 34686 h 571433"/>
                  <a:gd name="connsiteX1-13" fmla="*/ 4745 w 140746"/>
                  <a:gd name="connsiteY1-14" fmla="*/ 571433 h 571433"/>
                  <a:gd name="connsiteX2-15" fmla="*/ 41854 w 140746"/>
                  <a:gd name="connsiteY2-16" fmla="*/ 547251 h 571433"/>
                  <a:gd name="connsiteX3-17" fmla="*/ 140746 w 140746"/>
                  <a:gd name="connsiteY3-18" fmla="*/ 481273 h 571433"/>
                  <a:gd name="connsiteX4-19" fmla="*/ 140746 w 140746"/>
                  <a:gd name="connsiteY4-20" fmla="*/ 0 h 571433"/>
                  <a:gd name="connsiteX5-21" fmla="*/ 121 w 140746"/>
                  <a:gd name="connsiteY5-22" fmla="*/ 34686 h 571433"/>
                </a:gdLst>
                <a:ahLst/>
                <a:cxnLst>
                  <a:cxn ang="0">
                    <a:pos x="connsiteX0-11" y="connsiteY0-12"/>
                  </a:cxn>
                  <a:cxn ang="0">
                    <a:pos x="connsiteX1-13" y="connsiteY1-14"/>
                  </a:cxn>
                  <a:cxn ang="0">
                    <a:pos x="connsiteX2-15" y="connsiteY2-16"/>
                  </a:cxn>
                  <a:cxn ang="0">
                    <a:pos x="connsiteX3-17" y="connsiteY3-18"/>
                  </a:cxn>
                  <a:cxn ang="0">
                    <a:pos x="connsiteX4-19" y="connsiteY4-20"/>
                  </a:cxn>
                  <a:cxn ang="0">
                    <a:pos x="connsiteX5-21" y="connsiteY5-22"/>
                  </a:cxn>
                </a:cxnLst>
                <a:rect l="l" t="t" r="r" b="b"/>
                <a:pathLst>
                  <a:path w="140746" h="571433">
                    <a:moveTo>
                      <a:pt x="121" y="34686"/>
                    </a:moveTo>
                    <a:cubicBezTo>
                      <a:pt x="-979" y="215364"/>
                      <a:pt x="5845" y="390755"/>
                      <a:pt x="4745" y="571433"/>
                    </a:cubicBezTo>
                    <a:lnTo>
                      <a:pt x="41854" y="547251"/>
                    </a:lnTo>
                    <a:lnTo>
                      <a:pt x="140746" y="481273"/>
                    </a:lnTo>
                    <a:lnTo>
                      <a:pt x="140746" y="0"/>
                    </a:lnTo>
                    <a:lnTo>
                      <a:pt x="121" y="3468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52" name="任意多边形 51"/>
              <p:cNvSpPr/>
              <p:nvPr/>
            </p:nvSpPr>
            <p:spPr>
              <a:xfrm rot="2022616" flipH="1" flipV="1">
                <a:off x="4627500" y="3210304"/>
                <a:ext cx="140625" cy="572703"/>
              </a:xfrm>
              <a:custGeom>
                <a:avLst/>
                <a:gdLst>
                  <a:gd name="connsiteX0" fmla="*/ 140625 w 140625"/>
                  <a:gd name="connsiteY0" fmla="*/ 478871 h 567419"/>
                  <a:gd name="connsiteX1" fmla="*/ 34632 w 140625"/>
                  <a:gd name="connsiteY1" fmla="*/ 549587 h 567419"/>
                  <a:gd name="connsiteX2" fmla="*/ 0 w 140625"/>
                  <a:gd name="connsiteY2" fmla="*/ 567419 h 567419"/>
                  <a:gd name="connsiteX3" fmla="*/ 0 w 140625"/>
                  <a:gd name="connsiteY3" fmla="*/ 34602 h 567419"/>
                  <a:gd name="connsiteX4" fmla="*/ 140625 w 140625"/>
                  <a:gd name="connsiteY4" fmla="*/ 0 h 567419"/>
                  <a:gd name="connsiteX0-1" fmla="*/ 140625 w 140625"/>
                  <a:gd name="connsiteY0-2" fmla="*/ 478871 h 567419"/>
                  <a:gd name="connsiteX1-3" fmla="*/ 34632 w 140625"/>
                  <a:gd name="connsiteY1-4" fmla="*/ 549587 h 567419"/>
                  <a:gd name="connsiteX2-5" fmla="*/ 0 w 140625"/>
                  <a:gd name="connsiteY2-6" fmla="*/ 567419 h 567419"/>
                  <a:gd name="connsiteX3-7" fmla="*/ 0 w 140625"/>
                  <a:gd name="connsiteY3-8" fmla="*/ 34602 h 567419"/>
                  <a:gd name="connsiteX4-9" fmla="*/ 140625 w 140625"/>
                  <a:gd name="connsiteY4-10" fmla="*/ 0 h 567419"/>
                  <a:gd name="connsiteX5" fmla="*/ 140625 w 140625"/>
                  <a:gd name="connsiteY5" fmla="*/ 478871 h 567419"/>
                  <a:gd name="connsiteX0-11" fmla="*/ 140625 w 140625"/>
                  <a:gd name="connsiteY0-12" fmla="*/ 478871 h 572703"/>
                  <a:gd name="connsiteX1-13" fmla="*/ 34632 w 140625"/>
                  <a:gd name="connsiteY1-14" fmla="*/ 549587 h 572703"/>
                  <a:gd name="connsiteX2-15" fmla="*/ 662 w 140625"/>
                  <a:gd name="connsiteY2-16" fmla="*/ 572703 h 572703"/>
                  <a:gd name="connsiteX3-17" fmla="*/ 0 w 140625"/>
                  <a:gd name="connsiteY3-18" fmla="*/ 34602 h 572703"/>
                  <a:gd name="connsiteX4-19" fmla="*/ 140625 w 140625"/>
                  <a:gd name="connsiteY4-20" fmla="*/ 0 h 572703"/>
                  <a:gd name="connsiteX5-21" fmla="*/ 140625 w 140625"/>
                  <a:gd name="connsiteY5-22" fmla="*/ 478871 h 572703"/>
                </a:gdLst>
                <a:ahLst/>
                <a:cxnLst>
                  <a:cxn ang="0">
                    <a:pos x="connsiteX0-11" y="connsiteY0-12"/>
                  </a:cxn>
                  <a:cxn ang="0">
                    <a:pos x="connsiteX1-13" y="connsiteY1-14"/>
                  </a:cxn>
                  <a:cxn ang="0">
                    <a:pos x="connsiteX2-15" y="connsiteY2-16"/>
                  </a:cxn>
                  <a:cxn ang="0">
                    <a:pos x="connsiteX3-17" y="connsiteY3-18"/>
                  </a:cxn>
                  <a:cxn ang="0">
                    <a:pos x="connsiteX4-19" y="connsiteY4-20"/>
                  </a:cxn>
                  <a:cxn ang="0">
                    <a:pos x="connsiteX5-21" y="connsiteY5-22"/>
                  </a:cxn>
                </a:cxnLst>
                <a:rect l="l" t="t" r="r" b="b"/>
                <a:pathLst>
                  <a:path w="140625" h="572703">
                    <a:moveTo>
                      <a:pt x="140625" y="478871"/>
                    </a:moveTo>
                    <a:lnTo>
                      <a:pt x="34632" y="549587"/>
                    </a:lnTo>
                    <a:lnTo>
                      <a:pt x="662" y="572703"/>
                    </a:lnTo>
                    <a:cubicBezTo>
                      <a:pt x="441" y="393336"/>
                      <a:pt x="221" y="213969"/>
                      <a:pt x="0" y="34602"/>
                    </a:cubicBezTo>
                    <a:lnTo>
                      <a:pt x="140625" y="0"/>
                    </a:lnTo>
                    <a:lnTo>
                      <a:pt x="140625" y="47887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21" name="组合 20"/>
            <p:cNvGrpSpPr/>
            <p:nvPr/>
          </p:nvGrpSpPr>
          <p:grpSpPr>
            <a:xfrm>
              <a:off x="6470312" y="3748226"/>
              <a:ext cx="528705" cy="884627"/>
              <a:chOff x="4946311" y="3240225"/>
              <a:chExt cx="528705" cy="884627"/>
            </a:xfrm>
            <a:solidFill>
              <a:schemeClr val="accent3"/>
            </a:solidFill>
          </p:grpSpPr>
          <p:sp>
            <p:nvSpPr>
              <p:cNvPr id="12" name="矩形 11"/>
              <p:cNvSpPr/>
              <p:nvPr/>
            </p:nvSpPr>
            <p:spPr>
              <a:xfrm>
                <a:off x="4997973" y="3299491"/>
                <a:ext cx="477043" cy="165100"/>
              </a:xfrm>
              <a:prstGeom prst="rect">
                <a:avLst/>
              </a:prstGeom>
              <a:solidFill>
                <a:schemeClr val="accent6">
                  <a:lumMod val="20000"/>
                  <a:lumOff val="80000"/>
                </a:schemeClr>
              </a:solidFill>
              <a:ln>
                <a:noFill/>
              </a:ln>
              <a:effectLst>
                <a:outerShdw blurRad="25400" dist="12700" dir="10800000" algn="t"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13" name="矩形 12"/>
              <p:cNvSpPr/>
              <p:nvPr/>
            </p:nvSpPr>
            <p:spPr>
              <a:xfrm>
                <a:off x="4946311" y="3879722"/>
                <a:ext cx="456475" cy="1651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55" name="任意多边形 54"/>
              <p:cNvSpPr/>
              <p:nvPr/>
            </p:nvSpPr>
            <p:spPr>
              <a:xfrm rot="19318059" flipH="1">
                <a:off x="5109070" y="3240225"/>
                <a:ext cx="172591" cy="884627"/>
              </a:xfrm>
              <a:custGeom>
                <a:avLst/>
                <a:gdLst>
                  <a:gd name="connsiteX0" fmla="*/ 26795 w 172591"/>
                  <a:gd name="connsiteY0" fmla="*/ 0 h 884627"/>
                  <a:gd name="connsiteX1" fmla="*/ 0 w 172591"/>
                  <a:gd name="connsiteY1" fmla="*/ 20959 h 884627"/>
                  <a:gd name="connsiteX2" fmla="*/ 0 w 172591"/>
                  <a:gd name="connsiteY2" fmla="*/ 814160 h 884627"/>
                  <a:gd name="connsiteX3" fmla="*/ 106651 w 172591"/>
                  <a:gd name="connsiteY3" fmla="*/ 884627 h 884627"/>
                  <a:gd name="connsiteX4" fmla="*/ 172591 w 172591"/>
                  <a:gd name="connsiteY4" fmla="*/ 832304 h 884627"/>
                  <a:gd name="connsiteX5" fmla="*/ 172591 w 172591"/>
                  <a:gd name="connsiteY5" fmla="*/ 96332 h 884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591" h="884627">
                    <a:moveTo>
                      <a:pt x="26795" y="0"/>
                    </a:moveTo>
                    <a:lnTo>
                      <a:pt x="0" y="20959"/>
                    </a:lnTo>
                    <a:lnTo>
                      <a:pt x="0" y="814160"/>
                    </a:lnTo>
                    <a:lnTo>
                      <a:pt x="106651" y="884627"/>
                    </a:lnTo>
                    <a:lnTo>
                      <a:pt x="172591" y="832304"/>
                    </a:lnTo>
                    <a:lnTo>
                      <a:pt x="172591" y="96332"/>
                    </a:lnTo>
                    <a:close/>
                  </a:path>
                </a:pathLst>
              </a:custGeom>
              <a:solidFill>
                <a:schemeClr val="accent6">
                  <a:lumMod val="40000"/>
                  <a:lumOff val="60000"/>
                </a:schemeClr>
              </a:solidFill>
              <a:ln>
                <a:noFill/>
              </a:ln>
              <a:effectLst>
                <a:outerShdw blurRad="508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22" name="组合 21"/>
            <p:cNvGrpSpPr/>
            <p:nvPr/>
          </p:nvGrpSpPr>
          <p:grpSpPr>
            <a:xfrm>
              <a:off x="7251900" y="3807492"/>
              <a:ext cx="165100" cy="745331"/>
              <a:chOff x="5727900" y="3299491"/>
              <a:chExt cx="165100" cy="745331"/>
            </a:xfrm>
            <a:solidFill>
              <a:schemeClr val="accent2"/>
            </a:solidFill>
          </p:grpSpPr>
          <p:sp>
            <p:nvSpPr>
              <p:cNvPr id="10" name="矩形 9"/>
              <p:cNvSpPr/>
              <p:nvPr/>
            </p:nvSpPr>
            <p:spPr>
              <a:xfrm>
                <a:off x="5727900" y="3299491"/>
                <a:ext cx="165100" cy="536943"/>
              </a:xfrm>
              <a:prstGeom prst="rect">
                <a:avLst/>
              </a:prstGeom>
              <a:grpFill/>
              <a:ln>
                <a:noFill/>
              </a:ln>
              <a:effectLst>
                <a:outerShdw blurRad="254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35" name="椭圆 34"/>
              <p:cNvSpPr/>
              <p:nvPr/>
            </p:nvSpPr>
            <p:spPr>
              <a:xfrm>
                <a:off x="5727900" y="3879722"/>
                <a:ext cx="165100" cy="165100"/>
              </a:xfrm>
              <a:prstGeom prst="ellipse">
                <a:avLst/>
              </a:prstGeom>
              <a:grpFill/>
              <a:ln>
                <a:noFill/>
              </a:ln>
              <a:effectLst>
                <a:outerShdw blurRad="254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nvGrpSpPr>
            <p:cNvPr id="17" name="组合 16"/>
            <p:cNvGrpSpPr/>
            <p:nvPr/>
          </p:nvGrpSpPr>
          <p:grpSpPr>
            <a:xfrm>
              <a:off x="5203209" y="3722366"/>
              <a:ext cx="547688" cy="904312"/>
              <a:chOff x="3679209" y="3214366"/>
              <a:chExt cx="547688" cy="904312"/>
            </a:xfrm>
            <a:solidFill>
              <a:schemeClr val="accent1"/>
            </a:solidFill>
          </p:grpSpPr>
          <p:sp>
            <p:nvSpPr>
              <p:cNvPr id="7" name="矩形 6"/>
              <p:cNvSpPr/>
              <p:nvPr/>
            </p:nvSpPr>
            <p:spPr>
              <a:xfrm>
                <a:off x="3679209" y="3299491"/>
                <a:ext cx="165100" cy="745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26" name="任意多边形 25"/>
              <p:cNvSpPr/>
              <p:nvPr/>
            </p:nvSpPr>
            <p:spPr>
              <a:xfrm rot="19848040" flipH="1">
                <a:off x="3864430" y="3214366"/>
                <a:ext cx="169748" cy="904312"/>
              </a:xfrm>
              <a:custGeom>
                <a:avLst/>
                <a:gdLst>
                  <a:gd name="connsiteX0" fmla="*/ 141593 w 165100"/>
                  <a:gd name="connsiteY0" fmla="*/ 0 h 904312"/>
                  <a:gd name="connsiteX1" fmla="*/ 0 w 165100"/>
                  <a:gd name="connsiteY1" fmla="*/ 79132 h 904312"/>
                  <a:gd name="connsiteX2" fmla="*/ 0 w 165100"/>
                  <a:gd name="connsiteY2" fmla="*/ 868605 h 904312"/>
                  <a:gd name="connsiteX3" fmla="*/ 19955 w 165100"/>
                  <a:gd name="connsiteY3" fmla="*/ 904312 h 904312"/>
                  <a:gd name="connsiteX4" fmla="*/ 165100 w 165100"/>
                  <a:gd name="connsiteY4" fmla="*/ 823196 h 904312"/>
                  <a:gd name="connsiteX5" fmla="*/ 165100 w 165100"/>
                  <a:gd name="connsiteY5" fmla="*/ 42063 h 904312"/>
                  <a:gd name="connsiteX0-1" fmla="*/ 141593 w 169748"/>
                  <a:gd name="connsiteY0-2" fmla="*/ 0 h 904312"/>
                  <a:gd name="connsiteX1-3" fmla="*/ 0 w 169748"/>
                  <a:gd name="connsiteY1-4" fmla="*/ 79132 h 904312"/>
                  <a:gd name="connsiteX2-5" fmla="*/ 0 w 169748"/>
                  <a:gd name="connsiteY2-6" fmla="*/ 868605 h 904312"/>
                  <a:gd name="connsiteX3-7" fmla="*/ 19955 w 169748"/>
                  <a:gd name="connsiteY3-8" fmla="*/ 904312 h 904312"/>
                  <a:gd name="connsiteX4-9" fmla="*/ 169748 w 169748"/>
                  <a:gd name="connsiteY4-10" fmla="*/ 831511 h 904312"/>
                  <a:gd name="connsiteX5-11" fmla="*/ 165100 w 169748"/>
                  <a:gd name="connsiteY5-12" fmla="*/ 42063 h 904312"/>
                  <a:gd name="connsiteX6" fmla="*/ 141593 w 169748"/>
                  <a:gd name="connsiteY6" fmla="*/ 0 h 9043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 y="connsiteY6"/>
                  </a:cxn>
                </a:cxnLst>
                <a:rect l="l" t="t" r="r" b="b"/>
                <a:pathLst>
                  <a:path w="169748" h="904312">
                    <a:moveTo>
                      <a:pt x="141593" y="0"/>
                    </a:moveTo>
                    <a:lnTo>
                      <a:pt x="0" y="79132"/>
                    </a:lnTo>
                    <a:lnTo>
                      <a:pt x="0" y="868605"/>
                    </a:lnTo>
                    <a:lnTo>
                      <a:pt x="19955" y="904312"/>
                    </a:lnTo>
                    <a:lnTo>
                      <a:pt x="169748" y="831511"/>
                    </a:lnTo>
                    <a:cubicBezTo>
                      <a:pt x="168199" y="568362"/>
                      <a:pt x="166649" y="305212"/>
                      <a:pt x="165100" y="42063"/>
                    </a:cubicBezTo>
                    <a:lnTo>
                      <a:pt x="141593" y="0"/>
                    </a:lnTo>
                    <a:close/>
                  </a:path>
                </a:pathLst>
              </a:custGeom>
              <a:grpFill/>
              <a:ln>
                <a:noFill/>
              </a:ln>
              <a:effectLst>
                <a:outerShdw blurRad="50800" dist="12700" dir="60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sp>
            <p:nvSpPr>
              <p:cNvPr id="8" name="矩形 7"/>
              <p:cNvSpPr/>
              <p:nvPr/>
            </p:nvSpPr>
            <p:spPr>
              <a:xfrm>
                <a:off x="4061797" y="3297485"/>
                <a:ext cx="165100" cy="745885"/>
              </a:xfrm>
              <a:prstGeom prst="rect">
                <a:avLst/>
              </a:prstGeom>
              <a:grpFill/>
              <a:ln>
                <a:noFill/>
              </a:ln>
              <a:effectLst>
                <a:outerShdw blurRad="50800" dist="12700" dir="108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buFont typeface="Arial" panose="020B0604020202020204" pitchFamily="34" charset="0"/>
                  <a:buNone/>
                  <a:defRPr/>
                </a:pPr>
                <a:endParaRPr lang="zh-CN" altLang="en-US" sz="1350" noProof="1"/>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19"/>
    </mc:Choice>
    <mc:Fallback xmlns="">
      <p:transition spd="slow" advTm="91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3.7|18|8.8|5.9|10.6"/>
</p:tagLst>
</file>

<file path=ppt/tags/tag2.xml><?xml version="1.0" encoding="utf-8"?>
<p:tagLst xmlns:a="http://schemas.openxmlformats.org/drawingml/2006/main" xmlns:r="http://schemas.openxmlformats.org/officeDocument/2006/relationships" xmlns:p="http://schemas.openxmlformats.org/presentationml/2006/main">
  <p:tag name="TIMING" val="|1.4"/>
</p:tagLst>
</file>

<file path=ppt/tags/tag3.xml><?xml version="1.0" encoding="utf-8"?>
<p:tagLst xmlns:a="http://schemas.openxmlformats.org/drawingml/2006/main" xmlns:r="http://schemas.openxmlformats.org/officeDocument/2006/relationships" xmlns:p="http://schemas.openxmlformats.org/presentationml/2006/main">
  <p:tag name="TIMING" val="|8|1.8|8.2|1.9|5.9|11.7|20.9"/>
</p:tagLst>
</file>

<file path=ppt/tags/tag4.xml><?xml version="1.0" encoding="utf-8"?>
<p:tagLst xmlns:a="http://schemas.openxmlformats.org/drawingml/2006/main" xmlns:r="http://schemas.openxmlformats.org/officeDocument/2006/relationships" xmlns:p="http://schemas.openxmlformats.org/presentationml/2006/main">
  <p:tag name="TIMING" val="|179.1"/>
</p:tagLst>
</file>

<file path=ppt/tags/tag5.xml><?xml version="1.0" encoding="utf-8"?>
<p:tagLst xmlns:a="http://schemas.openxmlformats.org/drawingml/2006/main" xmlns:r="http://schemas.openxmlformats.org/officeDocument/2006/relationships" xmlns:p="http://schemas.openxmlformats.org/presentationml/2006/main">
  <p:tag name="TIMING" val="|9.3"/>
</p:tagLst>
</file>

<file path=ppt/tags/tag6.xml><?xml version="1.0" encoding="utf-8"?>
<p:tagLst xmlns:a="http://schemas.openxmlformats.org/drawingml/2006/main" xmlns:r="http://schemas.openxmlformats.org/officeDocument/2006/relationships" xmlns:p="http://schemas.openxmlformats.org/presentationml/2006/main">
  <p:tag name="TIMING" val="|15.1"/>
</p:tagLst>
</file>

<file path=ppt/tags/tag7.xml><?xml version="1.0" encoding="utf-8"?>
<p:tagLst xmlns:a="http://schemas.openxmlformats.org/drawingml/2006/main" xmlns:r="http://schemas.openxmlformats.org/officeDocument/2006/relationships" xmlns:p="http://schemas.openxmlformats.org/presentationml/2006/main">
  <p:tag name="TIMING" val="|5|3.2"/>
</p:tagLst>
</file>

<file path=ppt/tags/tag8.xml><?xml version="1.0" encoding="utf-8"?>
<p:tagLst xmlns:a="http://schemas.openxmlformats.org/drawingml/2006/main" xmlns:r="http://schemas.openxmlformats.org/officeDocument/2006/relationships" xmlns:p="http://schemas.openxmlformats.org/presentationml/2006/main">
  <p:tag name="TIMING" val="|1.1|1.3|5.8|18.1"/>
</p:tagLst>
</file>

<file path=ppt/tags/tag9.xml><?xml version="1.0" encoding="utf-8"?>
<p:tagLst xmlns:a="http://schemas.openxmlformats.org/drawingml/2006/main" xmlns:r="http://schemas.openxmlformats.org/officeDocument/2006/relationships" xmlns:p="http://schemas.openxmlformats.org/presentationml/2006/main">
  <p:tag name="TIMING" val="|2.4|3.8|24.8|13.8"/>
</p:tagLst>
</file>

<file path=ppt/tags/tag10.xml><?xml version="1.0" encoding="utf-8"?>
<p:tagLst xmlns:a="http://schemas.openxmlformats.org/drawingml/2006/main" xmlns:r="http://schemas.openxmlformats.org/officeDocument/2006/relationships" xmlns:p="http://schemas.openxmlformats.org/presentationml/2006/main">
  <p:tag name="TIMING" val="|1.1|1.4|1.3|1|1.5|1.4|7.2|26.1"/>
</p:tagLst>
</file>

<file path=ppt/tags/tag11.xml><?xml version="1.0" encoding="utf-8"?>
<p:tagLst xmlns:a="http://schemas.openxmlformats.org/drawingml/2006/main" xmlns:r="http://schemas.openxmlformats.org/officeDocument/2006/relationships" xmlns:p="http://schemas.openxmlformats.org/presentationml/2006/main">
  <p:tag name="TIMING" val="|2.9|2.1|14.8|7.6"/>
</p:tagLst>
</file>

<file path=ppt/tags/tag12.xml><?xml version="1.0" encoding="utf-8"?>
<p:tagLst xmlns:a="http://schemas.openxmlformats.org/drawingml/2006/main" xmlns:r="http://schemas.openxmlformats.org/officeDocument/2006/relationships" xmlns:p="http://schemas.openxmlformats.org/presentationml/2006/main">
  <p:tag name="TIMING" val="|0.6|0.8|8.3|5.6"/>
</p:tagLst>
</file>

<file path=ppt/tags/tag13.xml><?xml version="1.0" encoding="utf-8"?>
<p:tagLst xmlns:a="http://schemas.openxmlformats.org/drawingml/2006/main" xmlns:r="http://schemas.openxmlformats.org/officeDocument/2006/relationships" xmlns:p="http://schemas.openxmlformats.org/presentationml/2006/main">
  <p:tag name="TIMING" val="|3.6|1.3|19.4|8.6"/>
</p:tagLst>
</file>

<file path=ppt/tags/tag14.xml><?xml version="1.0" encoding="utf-8"?>
<p:tagLst xmlns:a="http://schemas.openxmlformats.org/drawingml/2006/main" xmlns:r="http://schemas.openxmlformats.org/officeDocument/2006/relationships" xmlns:p="http://schemas.openxmlformats.org/presentationml/2006/main">
  <p:tag name="TIMING" val="|0.8|0.8"/>
</p:tagLst>
</file>

<file path=ppt/tags/tag15.xml><?xml version="1.0" encoding="utf-8"?>
<p:tagLst xmlns:a="http://schemas.openxmlformats.org/drawingml/2006/main" xmlns:r="http://schemas.openxmlformats.org/officeDocument/2006/relationships" xmlns:p="http://schemas.openxmlformats.org/presentationml/2006/main">
  <p:tag name="TIMING" val="|1.2|0.9|17.6|3.1"/>
</p:tagLst>
</file>

<file path=ppt/tags/tag16.xml><?xml version="1.0" encoding="utf-8"?>
<p:tagLst xmlns:a="http://schemas.openxmlformats.org/drawingml/2006/main" xmlns:r="http://schemas.openxmlformats.org/officeDocument/2006/relationships" xmlns:p="http://schemas.openxmlformats.org/presentationml/2006/main">
  <p:tag name="TIMING" val="|2|8.3|32.5|6.2"/>
</p:tagLst>
</file>

<file path=ppt/tags/tag17.xml><?xml version="1.0" encoding="utf-8"?>
<p:tagLst xmlns:a="http://schemas.openxmlformats.org/drawingml/2006/main" xmlns:r="http://schemas.openxmlformats.org/officeDocument/2006/relationships" xmlns:p="http://schemas.openxmlformats.org/presentationml/2006/main">
  <p:tag name="TIMING" val="|4.8|36.3|18.3|6.2"/>
</p:tagLst>
</file>

<file path=ppt/tags/tag18.xml><?xml version="1.0" encoding="utf-8"?>
<p:tagLst xmlns:a="http://schemas.openxmlformats.org/drawingml/2006/main" xmlns:r="http://schemas.openxmlformats.org/officeDocument/2006/relationships" xmlns:p="http://schemas.openxmlformats.org/presentationml/2006/main">
  <p:tag name="TIMING" val="|3.1|13.1|31.8|4.2"/>
</p:tagLst>
</file>

<file path=ppt/tags/tag19.xml><?xml version="1.0" encoding="utf-8"?>
<p:tagLst xmlns:a="http://schemas.openxmlformats.org/drawingml/2006/main" xmlns:r="http://schemas.openxmlformats.org/officeDocument/2006/relationships" xmlns:p="http://schemas.openxmlformats.org/presentationml/2006/main">
  <p:tag name="MH" val="20151104162715"/>
  <p:tag name="MH_LIBRARY" val="GRAPHIC"/>
  <p:tag name="KSO_WM_TEMPLATE_CATEGORY" val="custom"/>
  <p:tag name="KSO_WM_TEMPLATE_INDEX" val="160200"/>
  <p:tag name="KSO_WM_TAG_VERSION" val="1.0"/>
  <p:tag name="KSO_WM_SLIDE_ID" val="custom160200_29"/>
  <p:tag name="KSO_WM_SLIDE_INDEX" val="29"/>
  <p:tag name="KSO_WM_SLIDE_ITEM_CNT" val="0"/>
  <p:tag name="KSO_WM_SLIDE_TYPE" val="endPage"/>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200_29*i*0"/>
  <p:tag name="KSO_WM_TEMPLATE_CATEGORY" val="custom"/>
  <p:tag name="KSO_WM_TEMPLATE_INDEX" val="160200"/>
  <p:tag name="KSO_WM_UNIT_INDEX" val="0"/>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1305</Words>
  <Application>Microsoft Office PowerPoint</Application>
  <PresentationFormat>全屏显示(4:3)</PresentationFormat>
  <Paragraphs>211</Paragraphs>
  <Slides>21</Slides>
  <Notes>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vt:i4>
      </vt:variant>
    </vt:vector>
  </HeadingPairs>
  <TitlesOfParts>
    <vt:vector size="34" baseType="lpstr">
      <vt:lpstr>仿宋_GB2312</vt:lpstr>
      <vt:lpstr>黑体</vt:lpstr>
      <vt:lpstr>华文新魏</vt:lpstr>
      <vt:lpstr>华文中宋</vt:lpstr>
      <vt:lpstr>楷体_GB2312</vt:lpstr>
      <vt:lpstr>宋体</vt:lpstr>
      <vt:lpstr>幼圆</vt:lpstr>
      <vt:lpstr>Arial</vt:lpstr>
      <vt:lpstr>Calibri</vt:lpstr>
      <vt:lpstr>Tahoma</vt:lpstr>
      <vt:lpstr>Times New Roman</vt:lpstr>
      <vt:lpstr>Wingdings</vt:lpstr>
      <vt:lpstr>Blends</vt:lpstr>
      <vt:lpstr>第10章  数据库保护技术</vt:lpstr>
      <vt:lpstr>PowerPoint 演示文稿</vt:lpstr>
      <vt:lpstr>10.5  并发控制</vt:lpstr>
      <vt:lpstr>主要内容</vt:lpstr>
      <vt:lpstr>一、数据库并发操作带来的数据不一致问题</vt:lpstr>
      <vt:lpstr>一、数据库并发操作带来的数据不一致问题</vt:lpstr>
      <vt:lpstr>一、数据库并发操作带来的数据不一致问题</vt:lpstr>
      <vt:lpstr>一、数据库并发操作带来的数据不一致问题</vt:lpstr>
      <vt:lpstr>一、数据库并发操作带来的数据不一致问题</vt:lpstr>
      <vt:lpstr>二、锁</vt:lpstr>
      <vt:lpstr>二、锁</vt:lpstr>
      <vt:lpstr>二、锁</vt:lpstr>
      <vt:lpstr>二、锁</vt:lpstr>
      <vt:lpstr>二、锁</vt:lpstr>
      <vt:lpstr>二、锁</vt:lpstr>
      <vt:lpstr>二、锁</vt:lpstr>
      <vt:lpstr>三、锁协议</vt:lpstr>
      <vt:lpstr>三、锁协议</vt:lpstr>
      <vt:lpstr>三、锁协议</vt:lpstr>
      <vt:lpstr>三、锁协议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535</cp:revision>
  <cp:lastPrinted>2000-08-23T09:10:00Z</cp:lastPrinted>
  <dcterms:created xsi:type="dcterms:W3CDTF">2113-01-01T00:00:00Z</dcterms:created>
  <dcterms:modified xsi:type="dcterms:W3CDTF">2021-04-20T14:58:15Z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