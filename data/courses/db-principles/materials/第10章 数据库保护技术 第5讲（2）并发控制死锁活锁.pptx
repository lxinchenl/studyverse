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485" r:id="rId2"/>
    <p:sldId id="545" r:id="rId3"/>
    <p:sldId id="534" r:id="rId4"/>
    <p:sldId id="539" r:id="rId5"/>
    <p:sldId id="560" r:id="rId6"/>
    <p:sldId id="561" r:id="rId7"/>
    <p:sldId id="562" r:id="rId8"/>
    <p:sldId id="563" r:id="rId9"/>
    <p:sldId id="564" r:id="rId10"/>
    <p:sldId id="565" r:id="rId11"/>
    <p:sldId id="566" r:id="rId12"/>
    <p:sldId id="567" r:id="rId13"/>
    <p:sldId id="568" r:id="rId14"/>
    <p:sldId id="569" r:id="rId15"/>
    <p:sldId id="570" r:id="rId16"/>
    <p:sldId id="571" r:id="rId17"/>
    <p:sldId id="572" r:id="rId18"/>
    <p:sldId id="573" r:id="rId19"/>
    <p:sldId id="574" r:id="rId20"/>
    <p:sldId id="575" r:id="rId21"/>
    <p:sldId id="576" r:id="rId22"/>
    <p:sldId id="577" r:id="rId23"/>
    <p:sldId id="578" r:id="rId24"/>
    <p:sldId id="603" r:id="rId25"/>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6699"/>
    <a:srgbClr val="C0C0C0"/>
    <a:srgbClr val="E2C5FF"/>
    <a:srgbClr val="005400"/>
    <a:srgbClr val="003200"/>
    <a:srgbClr val="0000FF"/>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10" autoAdjust="0"/>
  </p:normalViewPr>
  <p:slideViewPr>
    <p:cSldViewPr>
      <p:cViewPr varScale="1">
        <p:scale>
          <a:sx n="124" d="100"/>
          <a:sy n="124" d="100"/>
        </p:scale>
        <p:origin x="1220" y="76"/>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defRPr kumimoji="1" sz="1200">
                <a:solidFill>
                  <a:schemeClr val="tx2"/>
                </a:solidFill>
                <a:latin typeface="Times New Roman" panose="02020603050405020304" pitchFamily="18" charset="0"/>
              </a:defRPr>
            </a:lvl1pPr>
          </a:lstStyle>
          <a:p>
            <a:endParaRPr lang="zh-CN" altLang="en-US"/>
          </a:p>
        </p:txBody>
      </p:sp>
      <p:sp>
        <p:nvSpPr>
          <p:cNvPr id="107523" name="Rectangle 3"/>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lgn="r">
              <a:defRPr kumimoji="1" sz="1200">
                <a:solidFill>
                  <a:schemeClr val="tx2"/>
                </a:solidFill>
                <a:latin typeface="Times New Roman" panose="02020603050405020304" pitchFamily="18" charset="0"/>
              </a:defRPr>
            </a:lvl1pPr>
          </a:lstStyle>
          <a:p>
            <a:endParaRPr lang="en-US" altLang="zh-CN"/>
          </a:p>
        </p:txBody>
      </p:sp>
      <p:sp>
        <p:nvSpPr>
          <p:cNvPr id="107524" name="Rectangle 4"/>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defRPr kumimoji="1" sz="1200">
                <a:solidFill>
                  <a:schemeClr val="tx2"/>
                </a:solidFill>
                <a:latin typeface="Times New Roman" panose="02020603050405020304" pitchFamily="18" charset="0"/>
              </a:defRPr>
            </a:lvl1pPr>
          </a:lstStyle>
          <a:p>
            <a:endParaRPr lang="en-US" altLang="zh-CN"/>
          </a:p>
        </p:txBody>
      </p:sp>
      <p:sp>
        <p:nvSpPr>
          <p:cNvPr id="107525" name="Rectangle 5"/>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r">
              <a:defRPr kumimoji="1" sz="1200">
                <a:solidFill>
                  <a:schemeClr val="tx2"/>
                </a:solidFill>
                <a:latin typeface="Times New Roman" panose="02020603050405020304" pitchFamily="18" charset="0"/>
              </a:defRPr>
            </a:lvl1pPr>
          </a:lstStyle>
          <a:p>
            <a:fld id="{C8E51A4A-93B7-4BEC-8573-072BE3239731}"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3282" name="Rectangle 2"/>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353283" name="Rectangle 3"/>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53284" name="Rectangle 4"/>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3285" name="Rectangle 5"/>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53286" name="Rectangle 6"/>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53287" name="Rectangle 7"/>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D987E1EA-1169-4B5A-BA37-02DA2BE35E46}"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37BE6EF-0E69-4847-8144-F83E4E5D408B}" type="slidenum">
              <a:rPr lang="zh-CN" altLang="en-US"/>
              <a:t>22</a:t>
            </a:fld>
            <a:endParaRPr lang="en-US" altLang="zh-CN"/>
          </a:p>
        </p:txBody>
      </p:sp>
      <p:sp>
        <p:nvSpPr>
          <p:cNvPr id="522242" name="Rectangle 2"/>
          <p:cNvSpPr>
            <a:spLocks noGrp="1" noRot="1" noChangeAspect="1" noChangeArrowheads="1" noTextEdit="1"/>
          </p:cNvSpPr>
          <p:nvPr>
            <p:ph type="sldImg"/>
          </p:nvPr>
        </p:nvSpPr>
        <p:spPr/>
      </p:sp>
      <p:sp>
        <p:nvSpPr>
          <p:cNvPr id="52224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10754C4-FDFB-4BA0-9659-0F57C0E1C46D}" type="slidenum">
              <a:rPr lang="zh-CN" altLang="en-US"/>
              <a:t>23</a:t>
            </a:fld>
            <a:endParaRPr lang="en-US" altLang="zh-CN"/>
          </a:p>
        </p:txBody>
      </p:sp>
      <p:sp>
        <p:nvSpPr>
          <p:cNvPr id="524290" name="Rectangle 2"/>
          <p:cNvSpPr>
            <a:spLocks noGrp="1" noRot="1" noChangeAspect="1" noChangeArrowheads="1" noTextEdit="1"/>
          </p:cNvSpPr>
          <p:nvPr>
            <p:ph type="sldImg"/>
          </p:nvPr>
        </p:nvSpPr>
        <p:spPr/>
      </p:sp>
      <p:sp>
        <p:nvSpPr>
          <p:cNvPr id="52429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ChangeArrowheads="1" noTextEdit="1"/>
          </p:cNvSpPr>
          <p:nvPr>
            <p:ph type="sldImg" idx="4294967295"/>
          </p:nvPr>
        </p:nvSpPr>
        <p:spPr/>
      </p:sp>
      <p:sp>
        <p:nvSpPr>
          <p:cNvPr id="122883"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fld id="{7575C283-C298-428F-88E5-46C97DD62DEE}" type="slidenum">
              <a:rPr lang="zh-CN" altLang="en-US" sz="1800" smtClean="0"/>
              <a:t>24</a:t>
            </a:fld>
            <a:endParaRPr lang="zh-CN" altLang="en-US" sz="1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435202" name="Group 2"/>
          <p:cNvGrpSpPr/>
          <p:nvPr/>
        </p:nvGrpSpPr>
        <p:grpSpPr bwMode="auto">
          <a:xfrm>
            <a:off x="0" y="2438400"/>
            <a:ext cx="9009063" cy="1052513"/>
            <a:chOff x="0" y="1536"/>
            <a:chExt cx="5675" cy="663"/>
          </a:xfrm>
        </p:grpSpPr>
        <p:grpSp>
          <p:nvGrpSpPr>
            <p:cNvPr id="435203" name="Group 3"/>
            <p:cNvGrpSpPr/>
            <p:nvPr/>
          </p:nvGrpSpPr>
          <p:grpSpPr bwMode="auto">
            <a:xfrm>
              <a:off x="183" y="1604"/>
              <a:ext cx="448" cy="299"/>
              <a:chOff x="720" y="336"/>
              <a:chExt cx="624" cy="432"/>
            </a:xfrm>
          </p:grpSpPr>
          <p:sp>
            <p:nvSpPr>
              <p:cNvPr id="435204"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0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5206" name="Group 6"/>
            <p:cNvGrpSpPr/>
            <p:nvPr/>
          </p:nvGrpSpPr>
          <p:grpSpPr bwMode="auto">
            <a:xfrm>
              <a:off x="261" y="1870"/>
              <a:ext cx="465" cy="299"/>
              <a:chOff x="912" y="2640"/>
              <a:chExt cx="672" cy="432"/>
            </a:xfrm>
          </p:grpSpPr>
          <p:sp>
            <p:nvSpPr>
              <p:cNvPr id="435207"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08"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520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10"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1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5212" name="Rectangle 12"/>
          <p:cNvSpPr>
            <a:spLocks noGrp="1" noChangeArrowheads="1"/>
          </p:cNvSpPr>
          <p:nvPr>
            <p:ph type="ctrTitle"/>
          </p:nvPr>
        </p:nvSpPr>
        <p:spPr>
          <a:xfrm>
            <a:off x="827088" y="1676400"/>
            <a:ext cx="8137525" cy="1462088"/>
          </a:xfrm>
        </p:spPr>
        <p:txBody>
          <a:bodyPr/>
          <a:lstStyle>
            <a:lvl1pPr algn="ctr">
              <a:defRPr sz="4400">
                <a:ea typeface="隶书" panose="02010509060101010101" pitchFamily="49" charset="-122"/>
              </a:defRPr>
            </a:lvl1pPr>
          </a:lstStyle>
          <a:p>
            <a:pPr lvl="0"/>
            <a:r>
              <a:rPr lang="zh-CN" altLang="en-US" noProof="0"/>
              <a:t>单击此处编辑母版标题样式</a:t>
            </a:r>
          </a:p>
        </p:txBody>
      </p:sp>
      <p:sp>
        <p:nvSpPr>
          <p:cNvPr id="435213" name="Rectangle 13"/>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435214"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435215"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435216"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7FCD2392-619F-4637-9829-77072196B570}" type="slidenum">
              <a:rPr lang="zh-CN" altLang="en-US"/>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435212"/>
                                        </p:tgtEl>
                                        <p:attrNameLst>
                                          <p:attrName>style.visibility</p:attrName>
                                        </p:attrNameLst>
                                      </p:cBhvr>
                                      <p:to>
                                        <p:strVal val="visible"/>
                                      </p:to>
                                    </p:set>
                                    <p:animEffect transition="in" filter="plus(in)">
                                      <p:cBhvr>
                                        <p:cTn id="7" dur="1000"/>
                                        <p:tgtEl>
                                          <p:spTgt spid="435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12"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1A4BA2F-23F6-4437-A056-3B37F7C1ABE4}"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B6CAA9D-80BD-46AC-9CD8-3E660037252C}"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46E3E54-910C-41A8-A99B-C681B021AB3E}"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706021F-B6B9-4561-B2C5-762D4C01A9BB}"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73EF1019-FCE5-4CCB-B1FE-2BCA9D804A3C}"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8AF09DD3-A0C1-4775-8F5B-AADDD336C68D}"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5EF9E53-1719-4300-84C6-59E0840839DA}"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AFDFD04-A61C-4F4E-8110-4C5DB06DBDCE}"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3DECCB0-DF8A-462A-BAD6-81BAE8CEF287}"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031F933-E3F0-4517-997E-3CD898373C48}"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622300"/>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1162050" y="6243638"/>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657600" y="6243638"/>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42150" y="6243638"/>
            <a:ext cx="1905000" cy="457200"/>
          </a:xfrm>
        </p:spPr>
        <p:txBody>
          <a:bodyPr/>
          <a:lstStyle>
            <a:lvl1pPr>
              <a:defRPr/>
            </a:lvl1pPr>
          </a:lstStyle>
          <a:p>
            <a:fld id="{9A4FAF9E-31B5-4974-A3A4-0BC73EAA4168}"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34178" name="Rectangle 2"/>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79" name="Rectangle 3"/>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0" name="Rectangle 4"/>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1" name="Rectangle 5"/>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2" name="Rectangle 6"/>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3" name="Rectangle 7"/>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4" name="Rectangle 8"/>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5" name="Rectangle 9"/>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434186" name="Rectangle 10"/>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3418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atin typeface="+mn-lt"/>
              </a:defRPr>
            </a:lvl1pPr>
          </a:lstStyle>
          <a:p>
            <a:endParaRPr lang="en-US" altLang="zh-CN"/>
          </a:p>
        </p:txBody>
      </p:sp>
      <p:sp>
        <p:nvSpPr>
          <p:cNvPr id="434188"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atin typeface="+mn-lt"/>
              </a:defRPr>
            </a:lvl1pPr>
          </a:lstStyle>
          <a:p>
            <a:endParaRPr lang="en-US" altLang="zh-CN"/>
          </a:p>
        </p:txBody>
      </p:sp>
      <p:sp>
        <p:nvSpPr>
          <p:cNvPr id="434189"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atin typeface="+mn-lt"/>
              </a:defRPr>
            </a:lvl1pPr>
          </a:lstStyle>
          <a:p>
            <a:fld id="{CC3B28D2-3F22-45CB-9FAD-741B6013A95B}"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4186">
                                            <p:txEl>
                                              <p:pRg st="0" end="0"/>
                                            </p:txEl>
                                          </p:spTgt>
                                        </p:tgtEl>
                                        <p:attrNameLst>
                                          <p:attrName>style.visibility</p:attrName>
                                        </p:attrNameLst>
                                      </p:cBhvr>
                                      <p:to>
                                        <p:strVal val="visible"/>
                                      </p:to>
                                    </p:set>
                                    <p:animEffect transition="in" filter="wipe(left)">
                                      <p:cBhvr>
                                        <p:cTn id="7" dur="1000"/>
                                        <p:tgtEl>
                                          <p:spTgt spid="434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4186">
                                            <p:txEl>
                                              <p:pRg st="1" end="1"/>
                                            </p:txEl>
                                          </p:spTgt>
                                        </p:tgtEl>
                                        <p:attrNameLst>
                                          <p:attrName>style.visibility</p:attrName>
                                        </p:attrNameLst>
                                      </p:cBhvr>
                                      <p:to>
                                        <p:strVal val="visible"/>
                                      </p:to>
                                    </p:set>
                                    <p:animEffect transition="in" filter="wipe(left)">
                                      <p:cBhvr>
                                        <p:cTn id="12" dur="1000"/>
                                        <p:tgtEl>
                                          <p:spTgt spid="434186">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34186">
                                            <p:txEl>
                                              <p:pRg st="2" end="2"/>
                                            </p:txEl>
                                          </p:spTgt>
                                        </p:tgtEl>
                                        <p:attrNameLst>
                                          <p:attrName>style.visibility</p:attrName>
                                        </p:attrNameLst>
                                      </p:cBhvr>
                                      <p:to>
                                        <p:strVal val="visible"/>
                                      </p:to>
                                    </p:set>
                                    <p:animEffect transition="in" filter="wipe(left)">
                                      <p:cBhvr>
                                        <p:cTn id="15" dur="1000"/>
                                        <p:tgtEl>
                                          <p:spTgt spid="43418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34186">
                                            <p:txEl>
                                              <p:pRg st="3" end="3"/>
                                            </p:txEl>
                                          </p:spTgt>
                                        </p:tgtEl>
                                        <p:attrNameLst>
                                          <p:attrName>style.visibility</p:attrName>
                                        </p:attrNameLst>
                                      </p:cBhvr>
                                      <p:to>
                                        <p:strVal val="visible"/>
                                      </p:to>
                                    </p:set>
                                    <p:animEffect transition="in" filter="wipe(left)">
                                      <p:cBhvr>
                                        <p:cTn id="18" dur="1000"/>
                                        <p:tgtEl>
                                          <p:spTgt spid="43418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34186">
                                            <p:txEl>
                                              <p:pRg st="4" end="4"/>
                                            </p:txEl>
                                          </p:spTgt>
                                        </p:tgtEl>
                                        <p:attrNameLst>
                                          <p:attrName>style.visibility</p:attrName>
                                        </p:attrNameLst>
                                      </p:cBhvr>
                                      <p:to>
                                        <p:strVal val="visible"/>
                                      </p:to>
                                    </p:set>
                                    <p:animEffect transition="in" filter="wipe(left)">
                                      <p:cBhvr>
                                        <p:cTn id="21" dur="1000"/>
                                        <p:tgtEl>
                                          <p:spTgt spid="43418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86" grpId="0" build="p">
        <p:tmplLst>
          <p:tmpl lvl="1">
            <p:tnLst>
              <p:par>
                <p:cTn presetID="22" presetClass="entr" presetSubtype="8" fill="hold" nodeType="click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Lst>
      </p:bldP>
    </p:bldLst>
  </p:timing>
  <p:txStyles>
    <p:titleStyle>
      <a:lvl1pPr algn="l" rtl="0" fontAlgn="base">
        <a:spcBef>
          <a:spcPct val="0"/>
        </a:spcBef>
        <a:spcAft>
          <a:spcPct val="0"/>
        </a:spcAft>
        <a:defRPr sz="32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4" name="Rectangle 4"/>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296966" name="Rectangle 6"/>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1</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活锁</a:t>
            </a:r>
            <a:endParaRPr lang="en-US" altLang="zh-CN" sz="3200">
              <a:solidFill>
                <a:srgbClr val="660033"/>
              </a:solidFill>
              <a:ea typeface="华文新魏" panose="02010800040101010101" pitchFamily="2" charset="-122"/>
            </a:endParaRPr>
          </a:p>
        </p:txBody>
      </p:sp>
      <p:grpSp>
        <p:nvGrpSpPr>
          <p:cNvPr id="296974" name="Group 33"/>
          <p:cNvGrpSpPr/>
          <p:nvPr/>
        </p:nvGrpSpPr>
        <p:grpSpPr bwMode="auto">
          <a:xfrm>
            <a:off x="3348038" y="1412875"/>
            <a:ext cx="1944687" cy="1943100"/>
            <a:chOff x="0" y="0"/>
            <a:chExt cx="901" cy="888"/>
          </a:xfrm>
        </p:grpSpPr>
        <p:pic>
          <p:nvPicPr>
            <p:cNvPr id="296975" name="Picture 34"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01"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91" name="Oval 35"/>
            <p:cNvSpPr>
              <a:spLocks noChangeArrowheads="1"/>
            </p:cNvSpPr>
            <p:nvPr/>
          </p:nvSpPr>
          <p:spPr bwMode="auto">
            <a:xfrm>
              <a:off x="0" y="0"/>
              <a:ext cx="895" cy="888"/>
            </a:xfrm>
            <a:prstGeom prst="ellipse">
              <a:avLst/>
            </a:prstGeom>
            <a:gradFill rotWithShape="1">
              <a:gsLst>
                <a:gs pos="0">
                  <a:srgbClr val="FFFF99">
                    <a:gamma/>
                    <a:shade val="26275"/>
                    <a:invGamma/>
                    <a:alpha val="89999"/>
                  </a:srgbClr>
                </a:gs>
                <a:gs pos="50000">
                  <a:srgbClr val="FFFF99">
                    <a:alpha val="45000"/>
                  </a:srgbClr>
                </a:gs>
                <a:gs pos="100000">
                  <a:srgbClr val="FFFF99">
                    <a:gamma/>
                    <a:shade val="26275"/>
                    <a:invGamma/>
                    <a:alpha val="89999"/>
                  </a:srgbClr>
                </a:gs>
              </a:gsLst>
              <a:lin ang="5400000" scaled="1"/>
            </a:gradFill>
            <a:ln w="57150" cmpd="sng">
              <a:solidFill>
                <a:srgbClr val="F8F8F8"/>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296979" name="未知"/>
            <p:cNvSpPr/>
            <p:nvPr/>
          </p:nvSpPr>
          <p:spPr bwMode="auto">
            <a:xfrm>
              <a:off x="93" y="18"/>
              <a:ext cx="703" cy="308"/>
            </a:xfrm>
            <a:custGeom>
              <a:avLst/>
              <a:gdLst>
                <a:gd name="T0" fmla="*/ 692 w 1321"/>
                <a:gd name="T1" fmla="*/ 173 h 712"/>
                <a:gd name="T2" fmla="*/ 701 w 1321"/>
                <a:gd name="T3" fmla="*/ 191 h 712"/>
                <a:gd name="T4" fmla="*/ 703 w 1321"/>
                <a:gd name="T5" fmla="*/ 208 h 712"/>
                <a:gd name="T6" fmla="*/ 700 w 1321"/>
                <a:gd name="T7" fmla="*/ 223 h 712"/>
                <a:gd name="T8" fmla="*/ 691 w 1321"/>
                <a:gd name="T9" fmla="*/ 238 h 712"/>
                <a:gd name="T10" fmla="*/ 677 w 1321"/>
                <a:gd name="T11" fmla="*/ 250 h 712"/>
                <a:gd name="T12" fmla="*/ 659 w 1321"/>
                <a:gd name="T13" fmla="*/ 261 h 712"/>
                <a:gd name="T14" fmla="*/ 636 w 1321"/>
                <a:gd name="T15" fmla="*/ 272 h 712"/>
                <a:gd name="T16" fmla="*/ 610 w 1321"/>
                <a:gd name="T17" fmla="*/ 281 h 712"/>
                <a:gd name="T18" fmla="*/ 581 w 1321"/>
                <a:gd name="T19" fmla="*/ 289 h 712"/>
                <a:gd name="T20" fmla="*/ 549 w 1321"/>
                <a:gd name="T21" fmla="*/ 295 h 712"/>
                <a:gd name="T22" fmla="*/ 515 w 1321"/>
                <a:gd name="T23" fmla="*/ 300 h 712"/>
                <a:gd name="T24" fmla="*/ 477 w 1321"/>
                <a:gd name="T25" fmla="*/ 305 h 712"/>
                <a:gd name="T26" fmla="*/ 439 w 1321"/>
                <a:gd name="T27" fmla="*/ 307 h 712"/>
                <a:gd name="T28" fmla="*/ 423 w 1321"/>
                <a:gd name="T29" fmla="*/ 308 h 712"/>
                <a:gd name="T30" fmla="*/ 253 w 1321"/>
                <a:gd name="T31" fmla="*/ 308 h 712"/>
                <a:gd name="T32" fmla="*/ 251 w 1321"/>
                <a:gd name="T33" fmla="*/ 308 h 712"/>
                <a:gd name="T34" fmla="*/ 218 w 1321"/>
                <a:gd name="T35" fmla="*/ 306 h 712"/>
                <a:gd name="T36" fmla="*/ 185 w 1321"/>
                <a:gd name="T37" fmla="*/ 305 h 712"/>
                <a:gd name="T38" fmla="*/ 154 w 1321"/>
                <a:gd name="T39" fmla="*/ 301 h 712"/>
                <a:gd name="T40" fmla="*/ 125 w 1321"/>
                <a:gd name="T41" fmla="*/ 298 h 712"/>
                <a:gd name="T42" fmla="*/ 99 w 1321"/>
                <a:gd name="T43" fmla="*/ 293 h 712"/>
                <a:gd name="T44" fmla="*/ 75 w 1321"/>
                <a:gd name="T45" fmla="*/ 287 h 712"/>
                <a:gd name="T46" fmla="*/ 54 w 1321"/>
                <a:gd name="T47" fmla="*/ 280 h 712"/>
                <a:gd name="T48" fmla="*/ 36 w 1321"/>
                <a:gd name="T49" fmla="*/ 273 h 712"/>
                <a:gd name="T50" fmla="*/ 21 w 1321"/>
                <a:gd name="T51" fmla="*/ 263 h 712"/>
                <a:gd name="T52" fmla="*/ 10 w 1321"/>
                <a:gd name="T53" fmla="*/ 252 h 712"/>
                <a:gd name="T54" fmla="*/ 3 w 1321"/>
                <a:gd name="T55" fmla="*/ 240 h 712"/>
                <a:gd name="T56" fmla="*/ 0 w 1321"/>
                <a:gd name="T57" fmla="*/ 227 h 712"/>
                <a:gd name="T58" fmla="*/ 0 w 1321"/>
                <a:gd name="T59" fmla="*/ 225 h 712"/>
                <a:gd name="T60" fmla="*/ 2 w 1321"/>
                <a:gd name="T61" fmla="*/ 211 h 712"/>
                <a:gd name="T62" fmla="*/ 9 w 1321"/>
                <a:gd name="T63" fmla="*/ 193 h 712"/>
                <a:gd name="T64" fmla="*/ 27 w 1321"/>
                <a:gd name="T65" fmla="*/ 160 h 712"/>
                <a:gd name="T66" fmla="*/ 50 w 1321"/>
                <a:gd name="T67" fmla="*/ 129 h 712"/>
                <a:gd name="T68" fmla="*/ 78 w 1321"/>
                <a:gd name="T69" fmla="*/ 102 h 712"/>
                <a:gd name="T70" fmla="*/ 109 w 1321"/>
                <a:gd name="T71" fmla="*/ 76 h 712"/>
                <a:gd name="T72" fmla="*/ 144 w 1321"/>
                <a:gd name="T73" fmla="*/ 54 h 712"/>
                <a:gd name="T74" fmla="*/ 181 w 1321"/>
                <a:gd name="T75" fmla="*/ 35 h 712"/>
                <a:gd name="T76" fmla="*/ 221 w 1321"/>
                <a:gd name="T77" fmla="*/ 20 h 712"/>
                <a:gd name="T78" fmla="*/ 264 w 1321"/>
                <a:gd name="T79" fmla="*/ 9 h 712"/>
                <a:gd name="T80" fmla="*/ 309 w 1321"/>
                <a:gd name="T81" fmla="*/ 3 h 712"/>
                <a:gd name="T82" fmla="*/ 355 w 1321"/>
                <a:gd name="T83" fmla="*/ 0 h 712"/>
                <a:gd name="T84" fmla="*/ 355 w 1321"/>
                <a:gd name="T85" fmla="*/ 0 h 712"/>
                <a:gd name="T86" fmla="*/ 404 w 1321"/>
                <a:gd name="T87" fmla="*/ 3 h 712"/>
                <a:gd name="T88" fmla="*/ 451 w 1321"/>
                <a:gd name="T89" fmla="*/ 10 h 712"/>
                <a:gd name="T90" fmla="*/ 496 w 1321"/>
                <a:gd name="T91" fmla="*/ 23 h 712"/>
                <a:gd name="T92" fmla="*/ 537 w 1321"/>
                <a:gd name="T93" fmla="*/ 39 h 712"/>
                <a:gd name="T94" fmla="*/ 576 w 1321"/>
                <a:gd name="T95" fmla="*/ 59 h 712"/>
                <a:gd name="T96" fmla="*/ 611 w 1321"/>
                <a:gd name="T97" fmla="*/ 84 h 712"/>
                <a:gd name="T98" fmla="*/ 643 w 1321"/>
                <a:gd name="T99" fmla="*/ 111 h 712"/>
                <a:gd name="T100" fmla="*/ 669 w 1321"/>
                <a:gd name="T101" fmla="*/ 141 h 712"/>
                <a:gd name="T102" fmla="*/ 692 w 1321"/>
                <a:gd name="T103" fmla="*/ 173 h 712"/>
                <a:gd name="T104" fmla="*/ 692 w 1321"/>
                <a:gd name="T105" fmla="*/ 17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E2E1B7"/>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296980" name="Group 37"/>
            <p:cNvGrpSpPr/>
            <p:nvPr/>
          </p:nvGrpSpPr>
          <p:grpSpPr bwMode="auto">
            <a:xfrm rot="-1297425" flipH="1" flipV="1">
              <a:off x="68" y="693"/>
              <a:ext cx="781" cy="188"/>
              <a:chOff x="0" y="0"/>
              <a:chExt cx="893" cy="246"/>
            </a:xfrm>
          </p:grpSpPr>
          <p:grpSp>
            <p:nvGrpSpPr>
              <p:cNvPr id="296981" name="Group 38"/>
              <p:cNvGrpSpPr/>
              <p:nvPr/>
            </p:nvGrpSpPr>
            <p:grpSpPr bwMode="auto">
              <a:xfrm>
                <a:off x="0" y="0"/>
                <a:ext cx="743" cy="185"/>
                <a:chOff x="0" y="0"/>
                <a:chExt cx="1118" cy="279"/>
              </a:xfrm>
            </p:grpSpPr>
            <p:sp>
              <p:nvSpPr>
                <p:cNvPr id="296982" name="AutoShape 39"/>
                <p:cNvSpPr>
                  <a:spLocks noChangeArrowheads="1"/>
                </p:cNvSpPr>
                <p:nvPr/>
              </p:nvSpPr>
              <p:spPr bwMode="auto">
                <a:xfrm rot="5263130">
                  <a:off x="293" y="-294"/>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96983" name="AutoShape 40"/>
                <p:cNvSpPr>
                  <a:spLocks noChangeArrowheads="1"/>
                </p:cNvSpPr>
                <p:nvPr/>
              </p:nvSpPr>
              <p:spPr bwMode="auto">
                <a:xfrm rot="6078281">
                  <a:off x="429" y="-294"/>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96984" name="AutoShape 41"/>
                <p:cNvSpPr>
                  <a:spLocks noChangeArrowheads="1"/>
                </p:cNvSpPr>
                <p:nvPr/>
              </p:nvSpPr>
              <p:spPr bwMode="auto">
                <a:xfrm rot="6373927">
                  <a:off x="505" y="-272"/>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96985" name="AutoShape 42"/>
                <p:cNvSpPr>
                  <a:spLocks noChangeArrowheads="1"/>
                </p:cNvSpPr>
                <p:nvPr/>
              </p:nvSpPr>
              <p:spPr bwMode="auto">
                <a:xfrm rot="6906312">
                  <a:off x="595" y="-242"/>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grpSp>
            <p:nvGrpSpPr>
              <p:cNvPr id="296986" name="Group 43"/>
              <p:cNvGrpSpPr/>
              <p:nvPr/>
            </p:nvGrpSpPr>
            <p:grpSpPr bwMode="auto">
              <a:xfrm rot="1353540">
                <a:off x="150" y="60"/>
                <a:ext cx="743" cy="186"/>
                <a:chOff x="0" y="0"/>
                <a:chExt cx="1118" cy="279"/>
              </a:xfrm>
            </p:grpSpPr>
            <p:sp>
              <p:nvSpPr>
                <p:cNvPr id="296987" name="AutoShape 44"/>
                <p:cNvSpPr>
                  <a:spLocks noChangeArrowheads="1"/>
                </p:cNvSpPr>
                <p:nvPr/>
              </p:nvSpPr>
              <p:spPr bwMode="auto">
                <a:xfrm rot="5263130">
                  <a:off x="293" y="-294"/>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96988" name="AutoShape 45"/>
                <p:cNvSpPr>
                  <a:spLocks noChangeArrowheads="1"/>
                </p:cNvSpPr>
                <p:nvPr/>
              </p:nvSpPr>
              <p:spPr bwMode="auto">
                <a:xfrm rot="6078281">
                  <a:off x="429" y="-294"/>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96989" name="AutoShape 46"/>
                <p:cNvSpPr>
                  <a:spLocks noChangeArrowheads="1"/>
                </p:cNvSpPr>
                <p:nvPr/>
              </p:nvSpPr>
              <p:spPr bwMode="auto">
                <a:xfrm rot="6373927">
                  <a:off x="505" y="-272"/>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sp>
              <p:nvSpPr>
                <p:cNvPr id="296990" name="AutoShape 47"/>
                <p:cNvSpPr>
                  <a:spLocks noChangeArrowheads="1"/>
                </p:cNvSpPr>
                <p:nvPr/>
              </p:nvSpPr>
              <p:spPr bwMode="auto">
                <a:xfrm rot="6906312">
                  <a:off x="595" y="-242"/>
                  <a:ext cx="227" cy="816"/>
                </a:xfrm>
                <a:prstGeom prst="moon">
                  <a:avLst>
                    <a:gd name="adj" fmla="val 49773"/>
                  </a:avLst>
                </a:prstGeom>
                <a:solidFill>
                  <a:srgbClr val="F8F8F8">
                    <a:alpha val="3922"/>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Arial" panose="020B0604020202020204" pitchFamily="34" charset="0"/>
                  </a:endParaRPr>
                </a:p>
              </p:txBody>
            </p:sp>
          </p:grpSp>
        </p:grpSp>
      </p:grpSp>
      <p:sp>
        <p:nvSpPr>
          <p:cNvPr id="296991" name="Text Box 48"/>
          <p:cNvSpPr txBox="1">
            <a:spLocks noChangeArrowheads="1"/>
          </p:cNvSpPr>
          <p:nvPr/>
        </p:nvSpPr>
        <p:spPr bwMode="auto">
          <a:xfrm>
            <a:off x="3635375" y="1844675"/>
            <a:ext cx="14398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zh-CN" altLang="en-US" sz="3200" b="1">
                <a:solidFill>
                  <a:srgbClr val="080808"/>
                </a:solidFill>
                <a:latin typeface="Arial" panose="020B0604020202020204" pitchFamily="34" charset="0"/>
                <a:ea typeface="楷体_GB2312" pitchFamily="49" charset="-122"/>
                <a:cs typeface="Arial" panose="020B0604020202020204" pitchFamily="34" charset="0"/>
              </a:rPr>
              <a:t>数据项R</a:t>
            </a:r>
            <a:endParaRPr kumimoji="0" lang="zh-CN" altLang="zh-CN" sz="3200" b="1">
              <a:solidFill>
                <a:srgbClr val="080808"/>
              </a:solidFill>
              <a:latin typeface="Arial" panose="020B0604020202020204" pitchFamily="34" charset="0"/>
              <a:ea typeface="楷体_GB2312" pitchFamily="49" charset="-122"/>
              <a:cs typeface="Arial" panose="020B0604020202020204" pitchFamily="34" charset="0"/>
            </a:endParaRPr>
          </a:p>
        </p:txBody>
      </p:sp>
      <p:grpSp>
        <p:nvGrpSpPr>
          <p:cNvPr id="297014" name="Group 54"/>
          <p:cNvGrpSpPr/>
          <p:nvPr/>
        </p:nvGrpSpPr>
        <p:grpSpPr bwMode="auto">
          <a:xfrm>
            <a:off x="1908175" y="3933825"/>
            <a:ext cx="792163" cy="1582738"/>
            <a:chOff x="2381" y="2750"/>
            <a:chExt cx="499" cy="997"/>
          </a:xfrm>
        </p:grpSpPr>
        <p:grpSp>
          <p:nvGrpSpPr>
            <p:cNvPr id="296998" name="Group 38"/>
            <p:cNvGrpSpPr/>
            <p:nvPr/>
          </p:nvGrpSpPr>
          <p:grpSpPr bwMode="auto">
            <a:xfrm>
              <a:off x="2381" y="2750"/>
              <a:ext cx="499" cy="997"/>
              <a:chOff x="2304" y="1344"/>
              <a:chExt cx="498" cy="1245"/>
            </a:xfrm>
          </p:grpSpPr>
          <p:sp>
            <p:nvSpPr>
              <p:cNvPr id="296999" name="Freeform 39"/>
              <p:cNvSpPr/>
              <p:nvPr/>
            </p:nvSpPr>
            <p:spPr bwMode="gray">
              <a:xfrm>
                <a:off x="2425" y="1344"/>
                <a:ext cx="233" cy="254"/>
              </a:xfrm>
              <a:custGeom>
                <a:avLst/>
                <a:gdLst>
                  <a:gd name="T0" fmla="*/ 133 w 267"/>
                  <a:gd name="T1" fmla="*/ 0 h 292"/>
                  <a:gd name="T2" fmla="*/ 161 w 267"/>
                  <a:gd name="T3" fmla="*/ 3 h 292"/>
                  <a:gd name="T4" fmla="*/ 186 w 267"/>
                  <a:gd name="T5" fmla="*/ 12 h 292"/>
                  <a:gd name="T6" fmla="*/ 209 w 267"/>
                  <a:gd name="T7" fmla="*/ 25 h 292"/>
                  <a:gd name="T8" fmla="*/ 228 w 267"/>
                  <a:gd name="T9" fmla="*/ 42 h 292"/>
                  <a:gd name="T10" fmla="*/ 245 w 267"/>
                  <a:gd name="T11" fmla="*/ 64 h 292"/>
                  <a:gd name="T12" fmla="*/ 257 w 267"/>
                  <a:gd name="T13" fmla="*/ 88 h 292"/>
                  <a:gd name="T14" fmla="*/ 265 w 267"/>
                  <a:gd name="T15" fmla="*/ 116 h 292"/>
                  <a:gd name="T16" fmla="*/ 267 w 267"/>
                  <a:gd name="T17" fmla="*/ 146 h 292"/>
                  <a:gd name="T18" fmla="*/ 265 w 267"/>
                  <a:gd name="T19" fmla="*/ 175 h 292"/>
                  <a:gd name="T20" fmla="*/ 257 w 267"/>
                  <a:gd name="T21" fmla="*/ 203 h 292"/>
                  <a:gd name="T22" fmla="*/ 245 w 267"/>
                  <a:gd name="T23" fmla="*/ 227 h 292"/>
                  <a:gd name="T24" fmla="*/ 228 w 267"/>
                  <a:gd name="T25" fmla="*/ 249 h 292"/>
                  <a:gd name="T26" fmla="*/ 209 w 267"/>
                  <a:gd name="T27" fmla="*/ 267 h 292"/>
                  <a:gd name="T28" fmla="*/ 186 w 267"/>
                  <a:gd name="T29" fmla="*/ 281 h 292"/>
                  <a:gd name="T30" fmla="*/ 161 w 267"/>
                  <a:gd name="T31" fmla="*/ 289 h 292"/>
                  <a:gd name="T32" fmla="*/ 133 w 267"/>
                  <a:gd name="T33" fmla="*/ 292 h 292"/>
                  <a:gd name="T34" fmla="*/ 103 w 267"/>
                  <a:gd name="T35" fmla="*/ 288 h 292"/>
                  <a:gd name="T36" fmla="*/ 75 w 267"/>
                  <a:gd name="T37" fmla="*/ 277 h 292"/>
                  <a:gd name="T38" fmla="*/ 51 w 267"/>
                  <a:gd name="T39" fmla="*/ 260 h 292"/>
                  <a:gd name="T40" fmla="*/ 29 w 267"/>
                  <a:gd name="T41" fmla="*/ 237 h 292"/>
                  <a:gd name="T42" fmla="*/ 13 w 267"/>
                  <a:gd name="T43" fmla="*/ 210 h 292"/>
                  <a:gd name="T44" fmla="*/ 4 w 267"/>
                  <a:gd name="T45" fmla="*/ 178 h 292"/>
                  <a:gd name="T46" fmla="*/ 0 w 267"/>
                  <a:gd name="T47" fmla="*/ 146 h 292"/>
                  <a:gd name="T48" fmla="*/ 4 w 267"/>
                  <a:gd name="T49" fmla="*/ 113 h 292"/>
                  <a:gd name="T50" fmla="*/ 13 w 267"/>
                  <a:gd name="T51" fmla="*/ 81 h 292"/>
                  <a:gd name="T52" fmla="*/ 29 w 267"/>
                  <a:gd name="T53" fmla="*/ 54 h 292"/>
                  <a:gd name="T54" fmla="*/ 51 w 267"/>
                  <a:gd name="T55" fmla="*/ 32 h 292"/>
                  <a:gd name="T56" fmla="*/ 75 w 267"/>
                  <a:gd name="T57" fmla="*/ 14 h 292"/>
                  <a:gd name="T58" fmla="*/ 103 w 267"/>
                  <a:gd name="T59" fmla="*/ 3 h 292"/>
                  <a:gd name="T60" fmla="*/ 133 w 267"/>
                  <a:gd name="T61"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solidFill>
                <a:srgbClr val="99CC00"/>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sp>
            <p:nvSpPr>
              <p:cNvPr id="297000" name="Freeform 40"/>
              <p:cNvSpPr/>
              <p:nvPr/>
            </p:nvSpPr>
            <p:spPr bwMode="gray">
              <a:xfrm>
                <a:off x="2304" y="1625"/>
                <a:ext cx="498" cy="964"/>
              </a:xfrm>
              <a:custGeom>
                <a:avLst/>
                <a:gdLst>
                  <a:gd name="T0" fmla="*/ 72 w 573"/>
                  <a:gd name="T1" fmla="*/ 5 h 1111"/>
                  <a:gd name="T2" fmla="*/ 30 w 573"/>
                  <a:gd name="T3" fmla="*/ 32 h 1111"/>
                  <a:gd name="T4" fmla="*/ 4 w 573"/>
                  <a:gd name="T5" fmla="*/ 75 h 1111"/>
                  <a:gd name="T6" fmla="*/ 0 w 573"/>
                  <a:gd name="T7" fmla="*/ 509 h 1111"/>
                  <a:gd name="T8" fmla="*/ 1 w 573"/>
                  <a:gd name="T9" fmla="*/ 516 h 1111"/>
                  <a:gd name="T10" fmla="*/ 9 w 573"/>
                  <a:gd name="T11" fmla="*/ 533 h 1111"/>
                  <a:gd name="T12" fmla="*/ 26 w 573"/>
                  <a:gd name="T13" fmla="*/ 550 h 1111"/>
                  <a:gd name="T14" fmla="*/ 56 w 573"/>
                  <a:gd name="T15" fmla="*/ 557 h 1111"/>
                  <a:gd name="T16" fmla="*/ 84 w 573"/>
                  <a:gd name="T17" fmla="*/ 551 h 1111"/>
                  <a:gd name="T18" fmla="*/ 100 w 573"/>
                  <a:gd name="T19" fmla="*/ 534 h 1111"/>
                  <a:gd name="T20" fmla="*/ 106 w 573"/>
                  <a:gd name="T21" fmla="*/ 516 h 1111"/>
                  <a:gd name="T22" fmla="*/ 108 w 573"/>
                  <a:gd name="T23" fmla="*/ 503 h 1111"/>
                  <a:gd name="T24" fmla="*/ 108 w 573"/>
                  <a:gd name="T25" fmla="*/ 166 h 1111"/>
                  <a:gd name="T26" fmla="*/ 135 w 573"/>
                  <a:gd name="T27" fmla="*/ 1066 h 1111"/>
                  <a:gd name="T28" fmla="*/ 138 w 573"/>
                  <a:gd name="T29" fmla="*/ 1073 h 1111"/>
                  <a:gd name="T30" fmla="*/ 151 w 573"/>
                  <a:gd name="T31" fmla="*/ 1089 h 1111"/>
                  <a:gd name="T32" fmla="*/ 174 w 573"/>
                  <a:gd name="T33" fmla="*/ 1105 h 1111"/>
                  <a:gd name="T34" fmla="*/ 199 w 573"/>
                  <a:gd name="T35" fmla="*/ 1111 h 1111"/>
                  <a:gd name="T36" fmla="*/ 227 w 573"/>
                  <a:gd name="T37" fmla="*/ 1110 h 1111"/>
                  <a:gd name="T38" fmla="*/ 255 w 573"/>
                  <a:gd name="T39" fmla="*/ 1097 h 1111"/>
                  <a:gd name="T40" fmla="*/ 272 w 573"/>
                  <a:gd name="T41" fmla="*/ 1080 h 1111"/>
                  <a:gd name="T42" fmla="*/ 278 w 573"/>
                  <a:gd name="T43" fmla="*/ 1068 h 1111"/>
                  <a:gd name="T44" fmla="*/ 279 w 573"/>
                  <a:gd name="T45" fmla="*/ 499 h 1111"/>
                  <a:gd name="T46" fmla="*/ 302 w 573"/>
                  <a:gd name="T47" fmla="*/ 503 h 1111"/>
                  <a:gd name="T48" fmla="*/ 302 w 573"/>
                  <a:gd name="T49" fmla="*/ 534 h 1111"/>
                  <a:gd name="T50" fmla="*/ 304 w 573"/>
                  <a:gd name="T51" fmla="*/ 590 h 1111"/>
                  <a:gd name="T52" fmla="*/ 304 w 573"/>
                  <a:gd name="T53" fmla="*/ 664 h 1111"/>
                  <a:gd name="T54" fmla="*/ 304 w 573"/>
                  <a:gd name="T55" fmla="*/ 750 h 1111"/>
                  <a:gd name="T56" fmla="*/ 304 w 573"/>
                  <a:gd name="T57" fmla="*/ 838 h 1111"/>
                  <a:gd name="T58" fmla="*/ 305 w 573"/>
                  <a:gd name="T59" fmla="*/ 926 h 1111"/>
                  <a:gd name="T60" fmla="*/ 305 w 573"/>
                  <a:gd name="T61" fmla="*/ 1004 h 1111"/>
                  <a:gd name="T62" fmla="*/ 305 w 573"/>
                  <a:gd name="T63" fmla="*/ 1066 h 1111"/>
                  <a:gd name="T64" fmla="*/ 306 w 573"/>
                  <a:gd name="T65" fmla="*/ 1073 h 1111"/>
                  <a:gd name="T66" fmla="*/ 315 w 573"/>
                  <a:gd name="T67" fmla="*/ 1088 h 1111"/>
                  <a:gd name="T68" fmla="*/ 335 w 573"/>
                  <a:gd name="T69" fmla="*/ 1103 h 1111"/>
                  <a:gd name="T70" fmla="*/ 372 w 573"/>
                  <a:gd name="T71" fmla="*/ 1111 h 1111"/>
                  <a:gd name="T72" fmla="*/ 408 w 573"/>
                  <a:gd name="T73" fmla="*/ 1103 h 1111"/>
                  <a:gd name="T74" fmla="*/ 429 w 573"/>
                  <a:gd name="T75" fmla="*/ 1089 h 1111"/>
                  <a:gd name="T76" fmla="*/ 437 w 573"/>
                  <a:gd name="T77" fmla="*/ 1073 h 1111"/>
                  <a:gd name="T78" fmla="*/ 438 w 573"/>
                  <a:gd name="T79" fmla="*/ 1067 h 1111"/>
                  <a:gd name="T80" fmla="*/ 466 w 573"/>
                  <a:gd name="T81" fmla="*/ 166 h 1111"/>
                  <a:gd name="T82" fmla="*/ 468 w 573"/>
                  <a:gd name="T83" fmla="*/ 503 h 1111"/>
                  <a:gd name="T84" fmla="*/ 472 w 573"/>
                  <a:gd name="T85" fmla="*/ 517 h 1111"/>
                  <a:gd name="T86" fmla="*/ 483 w 573"/>
                  <a:gd name="T87" fmla="*/ 537 h 1111"/>
                  <a:gd name="T88" fmla="*/ 505 w 573"/>
                  <a:gd name="T89" fmla="*/ 551 h 1111"/>
                  <a:gd name="T90" fmla="*/ 536 w 573"/>
                  <a:gd name="T91" fmla="*/ 551 h 1111"/>
                  <a:gd name="T92" fmla="*/ 557 w 573"/>
                  <a:gd name="T93" fmla="*/ 537 h 1111"/>
                  <a:gd name="T94" fmla="*/ 570 w 573"/>
                  <a:gd name="T95" fmla="*/ 517 h 1111"/>
                  <a:gd name="T96" fmla="*/ 573 w 573"/>
                  <a:gd name="T97" fmla="*/ 508 h 1111"/>
                  <a:gd name="T98" fmla="*/ 572 w 573"/>
                  <a:gd name="T99" fmla="*/ 68 h 1111"/>
                  <a:gd name="T100" fmla="*/ 546 w 573"/>
                  <a:gd name="T101" fmla="*/ 28 h 1111"/>
                  <a:gd name="T102" fmla="*/ 506 w 573"/>
                  <a:gd name="T103" fmla="*/ 4 h 1111"/>
                  <a:gd name="T104" fmla="*/ 94 w 573"/>
                  <a:gd name="T105" fmla="*/ 0 h 1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solidFill>
                <a:srgbClr val="99CC00"/>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grpSp>
        <p:sp>
          <p:nvSpPr>
            <p:cNvPr id="297010" name="Rectangle 50"/>
            <p:cNvSpPr>
              <a:spLocks noChangeArrowheads="1"/>
            </p:cNvSpPr>
            <p:nvPr/>
          </p:nvSpPr>
          <p:spPr bwMode="auto">
            <a:xfrm>
              <a:off x="2457" y="3044"/>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80808"/>
                  </a:solidFill>
                </a:rPr>
                <a:t>T3</a:t>
              </a:r>
            </a:p>
          </p:txBody>
        </p:sp>
      </p:grpSp>
      <p:grpSp>
        <p:nvGrpSpPr>
          <p:cNvPr id="297016" name="Group 56"/>
          <p:cNvGrpSpPr/>
          <p:nvPr/>
        </p:nvGrpSpPr>
        <p:grpSpPr bwMode="auto">
          <a:xfrm>
            <a:off x="2844800" y="3932238"/>
            <a:ext cx="790575" cy="1584325"/>
            <a:chOff x="3846" y="2659"/>
            <a:chExt cx="498" cy="998"/>
          </a:xfrm>
        </p:grpSpPr>
        <p:grpSp>
          <p:nvGrpSpPr>
            <p:cNvPr id="297004" name="Group 44"/>
            <p:cNvGrpSpPr/>
            <p:nvPr/>
          </p:nvGrpSpPr>
          <p:grpSpPr bwMode="auto">
            <a:xfrm>
              <a:off x="3846" y="2659"/>
              <a:ext cx="498" cy="998"/>
              <a:chOff x="2304" y="1344"/>
              <a:chExt cx="498" cy="1245"/>
            </a:xfrm>
          </p:grpSpPr>
          <p:sp>
            <p:nvSpPr>
              <p:cNvPr id="297005" name="Freeform 45"/>
              <p:cNvSpPr/>
              <p:nvPr/>
            </p:nvSpPr>
            <p:spPr bwMode="gray">
              <a:xfrm>
                <a:off x="2425" y="1344"/>
                <a:ext cx="233" cy="254"/>
              </a:xfrm>
              <a:custGeom>
                <a:avLst/>
                <a:gdLst>
                  <a:gd name="T0" fmla="*/ 133 w 267"/>
                  <a:gd name="T1" fmla="*/ 0 h 292"/>
                  <a:gd name="T2" fmla="*/ 161 w 267"/>
                  <a:gd name="T3" fmla="*/ 3 h 292"/>
                  <a:gd name="T4" fmla="*/ 186 w 267"/>
                  <a:gd name="T5" fmla="*/ 12 h 292"/>
                  <a:gd name="T6" fmla="*/ 209 w 267"/>
                  <a:gd name="T7" fmla="*/ 25 h 292"/>
                  <a:gd name="T8" fmla="*/ 228 w 267"/>
                  <a:gd name="T9" fmla="*/ 42 h 292"/>
                  <a:gd name="T10" fmla="*/ 245 w 267"/>
                  <a:gd name="T11" fmla="*/ 64 h 292"/>
                  <a:gd name="T12" fmla="*/ 257 w 267"/>
                  <a:gd name="T13" fmla="*/ 88 h 292"/>
                  <a:gd name="T14" fmla="*/ 265 w 267"/>
                  <a:gd name="T15" fmla="*/ 116 h 292"/>
                  <a:gd name="T16" fmla="*/ 267 w 267"/>
                  <a:gd name="T17" fmla="*/ 146 h 292"/>
                  <a:gd name="T18" fmla="*/ 265 w 267"/>
                  <a:gd name="T19" fmla="*/ 175 h 292"/>
                  <a:gd name="T20" fmla="*/ 257 w 267"/>
                  <a:gd name="T21" fmla="*/ 203 h 292"/>
                  <a:gd name="T22" fmla="*/ 245 w 267"/>
                  <a:gd name="T23" fmla="*/ 227 h 292"/>
                  <a:gd name="T24" fmla="*/ 228 w 267"/>
                  <a:gd name="T25" fmla="*/ 249 h 292"/>
                  <a:gd name="T26" fmla="*/ 209 w 267"/>
                  <a:gd name="T27" fmla="*/ 267 h 292"/>
                  <a:gd name="T28" fmla="*/ 186 w 267"/>
                  <a:gd name="T29" fmla="*/ 281 h 292"/>
                  <a:gd name="T30" fmla="*/ 161 w 267"/>
                  <a:gd name="T31" fmla="*/ 289 h 292"/>
                  <a:gd name="T32" fmla="*/ 133 w 267"/>
                  <a:gd name="T33" fmla="*/ 292 h 292"/>
                  <a:gd name="T34" fmla="*/ 103 w 267"/>
                  <a:gd name="T35" fmla="*/ 288 h 292"/>
                  <a:gd name="T36" fmla="*/ 75 w 267"/>
                  <a:gd name="T37" fmla="*/ 277 h 292"/>
                  <a:gd name="T38" fmla="*/ 51 w 267"/>
                  <a:gd name="T39" fmla="*/ 260 h 292"/>
                  <a:gd name="T40" fmla="*/ 29 w 267"/>
                  <a:gd name="T41" fmla="*/ 237 h 292"/>
                  <a:gd name="T42" fmla="*/ 13 w 267"/>
                  <a:gd name="T43" fmla="*/ 210 h 292"/>
                  <a:gd name="T44" fmla="*/ 4 w 267"/>
                  <a:gd name="T45" fmla="*/ 178 h 292"/>
                  <a:gd name="T46" fmla="*/ 0 w 267"/>
                  <a:gd name="T47" fmla="*/ 146 h 292"/>
                  <a:gd name="T48" fmla="*/ 4 w 267"/>
                  <a:gd name="T49" fmla="*/ 113 h 292"/>
                  <a:gd name="T50" fmla="*/ 13 w 267"/>
                  <a:gd name="T51" fmla="*/ 81 h 292"/>
                  <a:gd name="T52" fmla="*/ 29 w 267"/>
                  <a:gd name="T53" fmla="*/ 54 h 292"/>
                  <a:gd name="T54" fmla="*/ 51 w 267"/>
                  <a:gd name="T55" fmla="*/ 32 h 292"/>
                  <a:gd name="T56" fmla="*/ 75 w 267"/>
                  <a:gd name="T57" fmla="*/ 14 h 292"/>
                  <a:gd name="T58" fmla="*/ 103 w 267"/>
                  <a:gd name="T59" fmla="*/ 3 h 292"/>
                  <a:gd name="T60" fmla="*/ 133 w 267"/>
                  <a:gd name="T61"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solidFill>
                <a:schemeClr val="folHlink"/>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sp>
            <p:nvSpPr>
              <p:cNvPr id="297006" name="Freeform 46"/>
              <p:cNvSpPr/>
              <p:nvPr/>
            </p:nvSpPr>
            <p:spPr bwMode="gray">
              <a:xfrm>
                <a:off x="2304" y="1625"/>
                <a:ext cx="498" cy="964"/>
              </a:xfrm>
              <a:custGeom>
                <a:avLst/>
                <a:gdLst>
                  <a:gd name="T0" fmla="*/ 72 w 573"/>
                  <a:gd name="T1" fmla="*/ 5 h 1111"/>
                  <a:gd name="T2" fmla="*/ 30 w 573"/>
                  <a:gd name="T3" fmla="*/ 32 h 1111"/>
                  <a:gd name="T4" fmla="*/ 4 w 573"/>
                  <a:gd name="T5" fmla="*/ 75 h 1111"/>
                  <a:gd name="T6" fmla="*/ 0 w 573"/>
                  <a:gd name="T7" fmla="*/ 509 h 1111"/>
                  <a:gd name="T8" fmla="*/ 1 w 573"/>
                  <a:gd name="T9" fmla="*/ 516 h 1111"/>
                  <a:gd name="T10" fmla="*/ 9 w 573"/>
                  <a:gd name="T11" fmla="*/ 533 h 1111"/>
                  <a:gd name="T12" fmla="*/ 26 w 573"/>
                  <a:gd name="T13" fmla="*/ 550 h 1111"/>
                  <a:gd name="T14" fmla="*/ 56 w 573"/>
                  <a:gd name="T15" fmla="*/ 557 h 1111"/>
                  <a:gd name="T16" fmla="*/ 84 w 573"/>
                  <a:gd name="T17" fmla="*/ 551 h 1111"/>
                  <a:gd name="T18" fmla="*/ 100 w 573"/>
                  <a:gd name="T19" fmla="*/ 534 h 1111"/>
                  <a:gd name="T20" fmla="*/ 106 w 573"/>
                  <a:gd name="T21" fmla="*/ 516 h 1111"/>
                  <a:gd name="T22" fmla="*/ 108 w 573"/>
                  <a:gd name="T23" fmla="*/ 503 h 1111"/>
                  <a:gd name="T24" fmla="*/ 108 w 573"/>
                  <a:gd name="T25" fmla="*/ 166 h 1111"/>
                  <a:gd name="T26" fmla="*/ 135 w 573"/>
                  <a:gd name="T27" fmla="*/ 1066 h 1111"/>
                  <a:gd name="T28" fmla="*/ 138 w 573"/>
                  <a:gd name="T29" fmla="*/ 1073 h 1111"/>
                  <a:gd name="T30" fmla="*/ 151 w 573"/>
                  <a:gd name="T31" fmla="*/ 1089 h 1111"/>
                  <a:gd name="T32" fmla="*/ 174 w 573"/>
                  <a:gd name="T33" fmla="*/ 1105 h 1111"/>
                  <a:gd name="T34" fmla="*/ 199 w 573"/>
                  <a:gd name="T35" fmla="*/ 1111 h 1111"/>
                  <a:gd name="T36" fmla="*/ 227 w 573"/>
                  <a:gd name="T37" fmla="*/ 1110 h 1111"/>
                  <a:gd name="T38" fmla="*/ 255 w 573"/>
                  <a:gd name="T39" fmla="*/ 1097 h 1111"/>
                  <a:gd name="T40" fmla="*/ 272 w 573"/>
                  <a:gd name="T41" fmla="*/ 1080 h 1111"/>
                  <a:gd name="T42" fmla="*/ 278 w 573"/>
                  <a:gd name="T43" fmla="*/ 1068 h 1111"/>
                  <a:gd name="T44" fmla="*/ 279 w 573"/>
                  <a:gd name="T45" fmla="*/ 499 h 1111"/>
                  <a:gd name="T46" fmla="*/ 302 w 573"/>
                  <a:gd name="T47" fmla="*/ 503 h 1111"/>
                  <a:gd name="T48" fmla="*/ 302 w 573"/>
                  <a:gd name="T49" fmla="*/ 534 h 1111"/>
                  <a:gd name="T50" fmla="*/ 304 w 573"/>
                  <a:gd name="T51" fmla="*/ 590 h 1111"/>
                  <a:gd name="T52" fmla="*/ 304 w 573"/>
                  <a:gd name="T53" fmla="*/ 664 h 1111"/>
                  <a:gd name="T54" fmla="*/ 304 w 573"/>
                  <a:gd name="T55" fmla="*/ 750 h 1111"/>
                  <a:gd name="T56" fmla="*/ 304 w 573"/>
                  <a:gd name="T57" fmla="*/ 838 h 1111"/>
                  <a:gd name="T58" fmla="*/ 305 w 573"/>
                  <a:gd name="T59" fmla="*/ 926 h 1111"/>
                  <a:gd name="T60" fmla="*/ 305 w 573"/>
                  <a:gd name="T61" fmla="*/ 1004 h 1111"/>
                  <a:gd name="T62" fmla="*/ 305 w 573"/>
                  <a:gd name="T63" fmla="*/ 1066 h 1111"/>
                  <a:gd name="T64" fmla="*/ 306 w 573"/>
                  <a:gd name="T65" fmla="*/ 1073 h 1111"/>
                  <a:gd name="T66" fmla="*/ 315 w 573"/>
                  <a:gd name="T67" fmla="*/ 1088 h 1111"/>
                  <a:gd name="T68" fmla="*/ 335 w 573"/>
                  <a:gd name="T69" fmla="*/ 1103 h 1111"/>
                  <a:gd name="T70" fmla="*/ 372 w 573"/>
                  <a:gd name="T71" fmla="*/ 1111 h 1111"/>
                  <a:gd name="T72" fmla="*/ 408 w 573"/>
                  <a:gd name="T73" fmla="*/ 1103 h 1111"/>
                  <a:gd name="T74" fmla="*/ 429 w 573"/>
                  <a:gd name="T75" fmla="*/ 1089 h 1111"/>
                  <a:gd name="T76" fmla="*/ 437 w 573"/>
                  <a:gd name="T77" fmla="*/ 1073 h 1111"/>
                  <a:gd name="T78" fmla="*/ 438 w 573"/>
                  <a:gd name="T79" fmla="*/ 1067 h 1111"/>
                  <a:gd name="T80" fmla="*/ 466 w 573"/>
                  <a:gd name="T81" fmla="*/ 166 h 1111"/>
                  <a:gd name="T82" fmla="*/ 468 w 573"/>
                  <a:gd name="T83" fmla="*/ 503 h 1111"/>
                  <a:gd name="T84" fmla="*/ 472 w 573"/>
                  <a:gd name="T85" fmla="*/ 517 h 1111"/>
                  <a:gd name="T86" fmla="*/ 483 w 573"/>
                  <a:gd name="T87" fmla="*/ 537 h 1111"/>
                  <a:gd name="T88" fmla="*/ 505 w 573"/>
                  <a:gd name="T89" fmla="*/ 551 h 1111"/>
                  <a:gd name="T90" fmla="*/ 536 w 573"/>
                  <a:gd name="T91" fmla="*/ 551 h 1111"/>
                  <a:gd name="T92" fmla="*/ 557 w 573"/>
                  <a:gd name="T93" fmla="*/ 537 h 1111"/>
                  <a:gd name="T94" fmla="*/ 570 w 573"/>
                  <a:gd name="T95" fmla="*/ 517 h 1111"/>
                  <a:gd name="T96" fmla="*/ 573 w 573"/>
                  <a:gd name="T97" fmla="*/ 508 h 1111"/>
                  <a:gd name="T98" fmla="*/ 572 w 573"/>
                  <a:gd name="T99" fmla="*/ 68 h 1111"/>
                  <a:gd name="T100" fmla="*/ 546 w 573"/>
                  <a:gd name="T101" fmla="*/ 28 h 1111"/>
                  <a:gd name="T102" fmla="*/ 506 w 573"/>
                  <a:gd name="T103" fmla="*/ 4 h 1111"/>
                  <a:gd name="T104" fmla="*/ 94 w 573"/>
                  <a:gd name="T105" fmla="*/ 0 h 1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solidFill>
                <a:schemeClr val="folHlink"/>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grpSp>
        <p:sp>
          <p:nvSpPr>
            <p:cNvPr id="297011" name="Rectangle 51"/>
            <p:cNvSpPr>
              <a:spLocks noChangeArrowheads="1"/>
            </p:cNvSpPr>
            <p:nvPr/>
          </p:nvSpPr>
          <p:spPr bwMode="auto">
            <a:xfrm>
              <a:off x="3923" y="2954"/>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80808"/>
                  </a:solidFill>
                </a:rPr>
                <a:t>T1</a:t>
              </a:r>
            </a:p>
          </p:txBody>
        </p:sp>
      </p:grpSp>
      <p:grpSp>
        <p:nvGrpSpPr>
          <p:cNvPr id="297017" name="Group 57"/>
          <p:cNvGrpSpPr/>
          <p:nvPr/>
        </p:nvGrpSpPr>
        <p:grpSpPr bwMode="auto">
          <a:xfrm>
            <a:off x="2844800" y="3932238"/>
            <a:ext cx="790575" cy="1584325"/>
            <a:chOff x="4422" y="2659"/>
            <a:chExt cx="498" cy="998"/>
          </a:xfrm>
        </p:grpSpPr>
        <p:grpSp>
          <p:nvGrpSpPr>
            <p:cNvPr id="297007" name="Group 47"/>
            <p:cNvGrpSpPr/>
            <p:nvPr/>
          </p:nvGrpSpPr>
          <p:grpSpPr bwMode="auto">
            <a:xfrm>
              <a:off x="4422" y="2659"/>
              <a:ext cx="498" cy="998"/>
              <a:chOff x="2880" y="1344"/>
              <a:chExt cx="498" cy="1245"/>
            </a:xfrm>
          </p:grpSpPr>
          <p:sp>
            <p:nvSpPr>
              <p:cNvPr id="297008" name="Freeform 48"/>
              <p:cNvSpPr/>
              <p:nvPr/>
            </p:nvSpPr>
            <p:spPr bwMode="gray">
              <a:xfrm>
                <a:off x="3001" y="1344"/>
                <a:ext cx="233" cy="254"/>
              </a:xfrm>
              <a:custGeom>
                <a:avLst/>
                <a:gdLst>
                  <a:gd name="T0" fmla="*/ 133 w 267"/>
                  <a:gd name="T1" fmla="*/ 0 h 292"/>
                  <a:gd name="T2" fmla="*/ 161 w 267"/>
                  <a:gd name="T3" fmla="*/ 3 h 292"/>
                  <a:gd name="T4" fmla="*/ 186 w 267"/>
                  <a:gd name="T5" fmla="*/ 12 h 292"/>
                  <a:gd name="T6" fmla="*/ 209 w 267"/>
                  <a:gd name="T7" fmla="*/ 25 h 292"/>
                  <a:gd name="T8" fmla="*/ 228 w 267"/>
                  <a:gd name="T9" fmla="*/ 42 h 292"/>
                  <a:gd name="T10" fmla="*/ 245 w 267"/>
                  <a:gd name="T11" fmla="*/ 64 h 292"/>
                  <a:gd name="T12" fmla="*/ 257 w 267"/>
                  <a:gd name="T13" fmla="*/ 88 h 292"/>
                  <a:gd name="T14" fmla="*/ 265 w 267"/>
                  <a:gd name="T15" fmla="*/ 116 h 292"/>
                  <a:gd name="T16" fmla="*/ 267 w 267"/>
                  <a:gd name="T17" fmla="*/ 146 h 292"/>
                  <a:gd name="T18" fmla="*/ 265 w 267"/>
                  <a:gd name="T19" fmla="*/ 175 h 292"/>
                  <a:gd name="T20" fmla="*/ 257 w 267"/>
                  <a:gd name="T21" fmla="*/ 203 h 292"/>
                  <a:gd name="T22" fmla="*/ 245 w 267"/>
                  <a:gd name="T23" fmla="*/ 227 h 292"/>
                  <a:gd name="T24" fmla="*/ 228 w 267"/>
                  <a:gd name="T25" fmla="*/ 249 h 292"/>
                  <a:gd name="T26" fmla="*/ 209 w 267"/>
                  <a:gd name="T27" fmla="*/ 267 h 292"/>
                  <a:gd name="T28" fmla="*/ 186 w 267"/>
                  <a:gd name="T29" fmla="*/ 281 h 292"/>
                  <a:gd name="T30" fmla="*/ 161 w 267"/>
                  <a:gd name="T31" fmla="*/ 289 h 292"/>
                  <a:gd name="T32" fmla="*/ 133 w 267"/>
                  <a:gd name="T33" fmla="*/ 292 h 292"/>
                  <a:gd name="T34" fmla="*/ 103 w 267"/>
                  <a:gd name="T35" fmla="*/ 288 h 292"/>
                  <a:gd name="T36" fmla="*/ 75 w 267"/>
                  <a:gd name="T37" fmla="*/ 277 h 292"/>
                  <a:gd name="T38" fmla="*/ 51 w 267"/>
                  <a:gd name="T39" fmla="*/ 260 h 292"/>
                  <a:gd name="T40" fmla="*/ 29 w 267"/>
                  <a:gd name="T41" fmla="*/ 237 h 292"/>
                  <a:gd name="T42" fmla="*/ 13 w 267"/>
                  <a:gd name="T43" fmla="*/ 210 h 292"/>
                  <a:gd name="T44" fmla="*/ 4 w 267"/>
                  <a:gd name="T45" fmla="*/ 178 h 292"/>
                  <a:gd name="T46" fmla="*/ 0 w 267"/>
                  <a:gd name="T47" fmla="*/ 146 h 292"/>
                  <a:gd name="T48" fmla="*/ 4 w 267"/>
                  <a:gd name="T49" fmla="*/ 113 h 292"/>
                  <a:gd name="T50" fmla="*/ 13 w 267"/>
                  <a:gd name="T51" fmla="*/ 81 h 292"/>
                  <a:gd name="T52" fmla="*/ 29 w 267"/>
                  <a:gd name="T53" fmla="*/ 54 h 292"/>
                  <a:gd name="T54" fmla="*/ 51 w 267"/>
                  <a:gd name="T55" fmla="*/ 32 h 292"/>
                  <a:gd name="T56" fmla="*/ 75 w 267"/>
                  <a:gd name="T57" fmla="*/ 14 h 292"/>
                  <a:gd name="T58" fmla="*/ 103 w 267"/>
                  <a:gd name="T59" fmla="*/ 3 h 292"/>
                  <a:gd name="T60" fmla="*/ 133 w 267"/>
                  <a:gd name="T61"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solidFill>
                <a:schemeClr val="accent1"/>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sp>
            <p:nvSpPr>
              <p:cNvPr id="297009" name="Freeform 49"/>
              <p:cNvSpPr/>
              <p:nvPr/>
            </p:nvSpPr>
            <p:spPr bwMode="gray">
              <a:xfrm>
                <a:off x="2880" y="1625"/>
                <a:ext cx="498" cy="964"/>
              </a:xfrm>
              <a:custGeom>
                <a:avLst/>
                <a:gdLst>
                  <a:gd name="T0" fmla="*/ 72 w 573"/>
                  <a:gd name="T1" fmla="*/ 5 h 1111"/>
                  <a:gd name="T2" fmla="*/ 30 w 573"/>
                  <a:gd name="T3" fmla="*/ 32 h 1111"/>
                  <a:gd name="T4" fmla="*/ 4 w 573"/>
                  <a:gd name="T5" fmla="*/ 75 h 1111"/>
                  <a:gd name="T6" fmla="*/ 0 w 573"/>
                  <a:gd name="T7" fmla="*/ 509 h 1111"/>
                  <a:gd name="T8" fmla="*/ 1 w 573"/>
                  <a:gd name="T9" fmla="*/ 516 h 1111"/>
                  <a:gd name="T10" fmla="*/ 9 w 573"/>
                  <a:gd name="T11" fmla="*/ 533 h 1111"/>
                  <a:gd name="T12" fmla="*/ 26 w 573"/>
                  <a:gd name="T13" fmla="*/ 550 h 1111"/>
                  <a:gd name="T14" fmla="*/ 56 w 573"/>
                  <a:gd name="T15" fmla="*/ 557 h 1111"/>
                  <a:gd name="T16" fmla="*/ 84 w 573"/>
                  <a:gd name="T17" fmla="*/ 551 h 1111"/>
                  <a:gd name="T18" fmla="*/ 100 w 573"/>
                  <a:gd name="T19" fmla="*/ 534 h 1111"/>
                  <a:gd name="T20" fmla="*/ 106 w 573"/>
                  <a:gd name="T21" fmla="*/ 516 h 1111"/>
                  <a:gd name="T22" fmla="*/ 108 w 573"/>
                  <a:gd name="T23" fmla="*/ 503 h 1111"/>
                  <a:gd name="T24" fmla="*/ 108 w 573"/>
                  <a:gd name="T25" fmla="*/ 166 h 1111"/>
                  <a:gd name="T26" fmla="*/ 135 w 573"/>
                  <a:gd name="T27" fmla="*/ 1066 h 1111"/>
                  <a:gd name="T28" fmla="*/ 138 w 573"/>
                  <a:gd name="T29" fmla="*/ 1073 h 1111"/>
                  <a:gd name="T30" fmla="*/ 151 w 573"/>
                  <a:gd name="T31" fmla="*/ 1089 h 1111"/>
                  <a:gd name="T32" fmla="*/ 174 w 573"/>
                  <a:gd name="T33" fmla="*/ 1105 h 1111"/>
                  <a:gd name="T34" fmla="*/ 199 w 573"/>
                  <a:gd name="T35" fmla="*/ 1111 h 1111"/>
                  <a:gd name="T36" fmla="*/ 227 w 573"/>
                  <a:gd name="T37" fmla="*/ 1110 h 1111"/>
                  <a:gd name="T38" fmla="*/ 255 w 573"/>
                  <a:gd name="T39" fmla="*/ 1097 h 1111"/>
                  <a:gd name="T40" fmla="*/ 272 w 573"/>
                  <a:gd name="T41" fmla="*/ 1080 h 1111"/>
                  <a:gd name="T42" fmla="*/ 278 w 573"/>
                  <a:gd name="T43" fmla="*/ 1068 h 1111"/>
                  <a:gd name="T44" fmla="*/ 279 w 573"/>
                  <a:gd name="T45" fmla="*/ 499 h 1111"/>
                  <a:gd name="T46" fmla="*/ 302 w 573"/>
                  <a:gd name="T47" fmla="*/ 503 h 1111"/>
                  <a:gd name="T48" fmla="*/ 302 w 573"/>
                  <a:gd name="T49" fmla="*/ 534 h 1111"/>
                  <a:gd name="T50" fmla="*/ 304 w 573"/>
                  <a:gd name="T51" fmla="*/ 590 h 1111"/>
                  <a:gd name="T52" fmla="*/ 304 w 573"/>
                  <a:gd name="T53" fmla="*/ 664 h 1111"/>
                  <a:gd name="T54" fmla="*/ 304 w 573"/>
                  <a:gd name="T55" fmla="*/ 750 h 1111"/>
                  <a:gd name="T56" fmla="*/ 304 w 573"/>
                  <a:gd name="T57" fmla="*/ 838 h 1111"/>
                  <a:gd name="T58" fmla="*/ 305 w 573"/>
                  <a:gd name="T59" fmla="*/ 926 h 1111"/>
                  <a:gd name="T60" fmla="*/ 305 w 573"/>
                  <a:gd name="T61" fmla="*/ 1004 h 1111"/>
                  <a:gd name="T62" fmla="*/ 305 w 573"/>
                  <a:gd name="T63" fmla="*/ 1066 h 1111"/>
                  <a:gd name="T64" fmla="*/ 306 w 573"/>
                  <a:gd name="T65" fmla="*/ 1073 h 1111"/>
                  <a:gd name="T66" fmla="*/ 315 w 573"/>
                  <a:gd name="T67" fmla="*/ 1088 h 1111"/>
                  <a:gd name="T68" fmla="*/ 335 w 573"/>
                  <a:gd name="T69" fmla="*/ 1103 h 1111"/>
                  <a:gd name="T70" fmla="*/ 372 w 573"/>
                  <a:gd name="T71" fmla="*/ 1111 h 1111"/>
                  <a:gd name="T72" fmla="*/ 408 w 573"/>
                  <a:gd name="T73" fmla="*/ 1103 h 1111"/>
                  <a:gd name="T74" fmla="*/ 429 w 573"/>
                  <a:gd name="T75" fmla="*/ 1089 h 1111"/>
                  <a:gd name="T76" fmla="*/ 437 w 573"/>
                  <a:gd name="T77" fmla="*/ 1073 h 1111"/>
                  <a:gd name="T78" fmla="*/ 438 w 573"/>
                  <a:gd name="T79" fmla="*/ 1067 h 1111"/>
                  <a:gd name="T80" fmla="*/ 466 w 573"/>
                  <a:gd name="T81" fmla="*/ 166 h 1111"/>
                  <a:gd name="T82" fmla="*/ 468 w 573"/>
                  <a:gd name="T83" fmla="*/ 503 h 1111"/>
                  <a:gd name="T84" fmla="*/ 472 w 573"/>
                  <a:gd name="T85" fmla="*/ 517 h 1111"/>
                  <a:gd name="T86" fmla="*/ 483 w 573"/>
                  <a:gd name="T87" fmla="*/ 537 h 1111"/>
                  <a:gd name="T88" fmla="*/ 505 w 573"/>
                  <a:gd name="T89" fmla="*/ 551 h 1111"/>
                  <a:gd name="T90" fmla="*/ 536 w 573"/>
                  <a:gd name="T91" fmla="*/ 551 h 1111"/>
                  <a:gd name="T92" fmla="*/ 557 w 573"/>
                  <a:gd name="T93" fmla="*/ 537 h 1111"/>
                  <a:gd name="T94" fmla="*/ 570 w 573"/>
                  <a:gd name="T95" fmla="*/ 517 h 1111"/>
                  <a:gd name="T96" fmla="*/ 573 w 573"/>
                  <a:gd name="T97" fmla="*/ 508 h 1111"/>
                  <a:gd name="T98" fmla="*/ 572 w 573"/>
                  <a:gd name="T99" fmla="*/ 68 h 1111"/>
                  <a:gd name="T100" fmla="*/ 546 w 573"/>
                  <a:gd name="T101" fmla="*/ 28 h 1111"/>
                  <a:gd name="T102" fmla="*/ 506 w 573"/>
                  <a:gd name="T103" fmla="*/ 4 h 1111"/>
                  <a:gd name="T104" fmla="*/ 94 w 573"/>
                  <a:gd name="T105" fmla="*/ 0 h 1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solidFill>
                <a:schemeClr val="accent1"/>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grpSp>
        <p:sp>
          <p:nvSpPr>
            <p:cNvPr id="297012" name="Rectangle 52"/>
            <p:cNvSpPr>
              <a:spLocks noChangeArrowheads="1"/>
            </p:cNvSpPr>
            <p:nvPr/>
          </p:nvSpPr>
          <p:spPr bwMode="auto">
            <a:xfrm>
              <a:off x="4468" y="2931"/>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80808"/>
                  </a:solidFill>
                </a:rPr>
                <a:t>T2</a:t>
              </a:r>
            </a:p>
          </p:txBody>
        </p:sp>
      </p:grpSp>
      <p:grpSp>
        <p:nvGrpSpPr>
          <p:cNvPr id="297015" name="Group 55"/>
          <p:cNvGrpSpPr/>
          <p:nvPr/>
        </p:nvGrpSpPr>
        <p:grpSpPr bwMode="auto">
          <a:xfrm>
            <a:off x="1619250" y="3935413"/>
            <a:ext cx="792163" cy="1582737"/>
            <a:chOff x="3002" y="2750"/>
            <a:chExt cx="499" cy="997"/>
          </a:xfrm>
        </p:grpSpPr>
        <p:grpSp>
          <p:nvGrpSpPr>
            <p:cNvPr id="297001" name="Group 41"/>
            <p:cNvGrpSpPr/>
            <p:nvPr/>
          </p:nvGrpSpPr>
          <p:grpSpPr bwMode="auto">
            <a:xfrm>
              <a:off x="3002" y="2750"/>
              <a:ext cx="499" cy="997"/>
              <a:chOff x="2880" y="1344"/>
              <a:chExt cx="498" cy="1245"/>
            </a:xfrm>
          </p:grpSpPr>
          <p:sp>
            <p:nvSpPr>
              <p:cNvPr id="297002" name="Freeform 42"/>
              <p:cNvSpPr/>
              <p:nvPr/>
            </p:nvSpPr>
            <p:spPr bwMode="gray">
              <a:xfrm>
                <a:off x="3001" y="1344"/>
                <a:ext cx="233" cy="254"/>
              </a:xfrm>
              <a:custGeom>
                <a:avLst/>
                <a:gdLst>
                  <a:gd name="T0" fmla="*/ 133 w 267"/>
                  <a:gd name="T1" fmla="*/ 0 h 292"/>
                  <a:gd name="T2" fmla="*/ 161 w 267"/>
                  <a:gd name="T3" fmla="*/ 3 h 292"/>
                  <a:gd name="T4" fmla="*/ 186 w 267"/>
                  <a:gd name="T5" fmla="*/ 12 h 292"/>
                  <a:gd name="T6" fmla="*/ 209 w 267"/>
                  <a:gd name="T7" fmla="*/ 25 h 292"/>
                  <a:gd name="T8" fmla="*/ 228 w 267"/>
                  <a:gd name="T9" fmla="*/ 42 h 292"/>
                  <a:gd name="T10" fmla="*/ 245 w 267"/>
                  <a:gd name="T11" fmla="*/ 64 h 292"/>
                  <a:gd name="T12" fmla="*/ 257 w 267"/>
                  <a:gd name="T13" fmla="*/ 88 h 292"/>
                  <a:gd name="T14" fmla="*/ 265 w 267"/>
                  <a:gd name="T15" fmla="*/ 116 h 292"/>
                  <a:gd name="T16" fmla="*/ 267 w 267"/>
                  <a:gd name="T17" fmla="*/ 146 h 292"/>
                  <a:gd name="T18" fmla="*/ 265 w 267"/>
                  <a:gd name="T19" fmla="*/ 175 h 292"/>
                  <a:gd name="T20" fmla="*/ 257 w 267"/>
                  <a:gd name="T21" fmla="*/ 203 h 292"/>
                  <a:gd name="T22" fmla="*/ 245 w 267"/>
                  <a:gd name="T23" fmla="*/ 227 h 292"/>
                  <a:gd name="T24" fmla="*/ 228 w 267"/>
                  <a:gd name="T25" fmla="*/ 249 h 292"/>
                  <a:gd name="T26" fmla="*/ 209 w 267"/>
                  <a:gd name="T27" fmla="*/ 267 h 292"/>
                  <a:gd name="T28" fmla="*/ 186 w 267"/>
                  <a:gd name="T29" fmla="*/ 281 h 292"/>
                  <a:gd name="T30" fmla="*/ 161 w 267"/>
                  <a:gd name="T31" fmla="*/ 289 h 292"/>
                  <a:gd name="T32" fmla="*/ 133 w 267"/>
                  <a:gd name="T33" fmla="*/ 292 h 292"/>
                  <a:gd name="T34" fmla="*/ 103 w 267"/>
                  <a:gd name="T35" fmla="*/ 288 h 292"/>
                  <a:gd name="T36" fmla="*/ 75 w 267"/>
                  <a:gd name="T37" fmla="*/ 277 h 292"/>
                  <a:gd name="T38" fmla="*/ 51 w 267"/>
                  <a:gd name="T39" fmla="*/ 260 h 292"/>
                  <a:gd name="T40" fmla="*/ 29 w 267"/>
                  <a:gd name="T41" fmla="*/ 237 h 292"/>
                  <a:gd name="T42" fmla="*/ 13 w 267"/>
                  <a:gd name="T43" fmla="*/ 210 h 292"/>
                  <a:gd name="T44" fmla="*/ 4 w 267"/>
                  <a:gd name="T45" fmla="*/ 178 h 292"/>
                  <a:gd name="T46" fmla="*/ 0 w 267"/>
                  <a:gd name="T47" fmla="*/ 146 h 292"/>
                  <a:gd name="T48" fmla="*/ 4 w 267"/>
                  <a:gd name="T49" fmla="*/ 113 h 292"/>
                  <a:gd name="T50" fmla="*/ 13 w 267"/>
                  <a:gd name="T51" fmla="*/ 81 h 292"/>
                  <a:gd name="T52" fmla="*/ 29 w 267"/>
                  <a:gd name="T53" fmla="*/ 54 h 292"/>
                  <a:gd name="T54" fmla="*/ 51 w 267"/>
                  <a:gd name="T55" fmla="*/ 32 h 292"/>
                  <a:gd name="T56" fmla="*/ 75 w 267"/>
                  <a:gd name="T57" fmla="*/ 14 h 292"/>
                  <a:gd name="T58" fmla="*/ 103 w 267"/>
                  <a:gd name="T59" fmla="*/ 3 h 292"/>
                  <a:gd name="T60" fmla="*/ 133 w 267"/>
                  <a:gd name="T61"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7" h="292">
                    <a:moveTo>
                      <a:pt x="133" y="0"/>
                    </a:moveTo>
                    <a:lnTo>
                      <a:pt x="161" y="3"/>
                    </a:lnTo>
                    <a:lnTo>
                      <a:pt x="186" y="12"/>
                    </a:lnTo>
                    <a:lnTo>
                      <a:pt x="209" y="25"/>
                    </a:lnTo>
                    <a:lnTo>
                      <a:pt x="228" y="42"/>
                    </a:lnTo>
                    <a:lnTo>
                      <a:pt x="245" y="64"/>
                    </a:lnTo>
                    <a:lnTo>
                      <a:pt x="257" y="88"/>
                    </a:lnTo>
                    <a:lnTo>
                      <a:pt x="265" y="116"/>
                    </a:lnTo>
                    <a:lnTo>
                      <a:pt x="267" y="146"/>
                    </a:lnTo>
                    <a:lnTo>
                      <a:pt x="265" y="175"/>
                    </a:lnTo>
                    <a:lnTo>
                      <a:pt x="257" y="203"/>
                    </a:lnTo>
                    <a:lnTo>
                      <a:pt x="245" y="227"/>
                    </a:lnTo>
                    <a:lnTo>
                      <a:pt x="228" y="249"/>
                    </a:lnTo>
                    <a:lnTo>
                      <a:pt x="209" y="267"/>
                    </a:lnTo>
                    <a:lnTo>
                      <a:pt x="186" y="281"/>
                    </a:lnTo>
                    <a:lnTo>
                      <a:pt x="161" y="289"/>
                    </a:lnTo>
                    <a:lnTo>
                      <a:pt x="133" y="292"/>
                    </a:lnTo>
                    <a:lnTo>
                      <a:pt x="103" y="288"/>
                    </a:lnTo>
                    <a:lnTo>
                      <a:pt x="75" y="277"/>
                    </a:lnTo>
                    <a:lnTo>
                      <a:pt x="51" y="260"/>
                    </a:lnTo>
                    <a:lnTo>
                      <a:pt x="29" y="237"/>
                    </a:lnTo>
                    <a:lnTo>
                      <a:pt x="13" y="210"/>
                    </a:lnTo>
                    <a:lnTo>
                      <a:pt x="4" y="178"/>
                    </a:lnTo>
                    <a:lnTo>
                      <a:pt x="0" y="146"/>
                    </a:lnTo>
                    <a:lnTo>
                      <a:pt x="4" y="113"/>
                    </a:lnTo>
                    <a:lnTo>
                      <a:pt x="13" y="81"/>
                    </a:lnTo>
                    <a:lnTo>
                      <a:pt x="29" y="54"/>
                    </a:lnTo>
                    <a:lnTo>
                      <a:pt x="51" y="32"/>
                    </a:lnTo>
                    <a:lnTo>
                      <a:pt x="75" y="14"/>
                    </a:lnTo>
                    <a:lnTo>
                      <a:pt x="103" y="3"/>
                    </a:lnTo>
                    <a:lnTo>
                      <a:pt x="133" y="0"/>
                    </a:lnTo>
                    <a:close/>
                  </a:path>
                </a:pathLst>
              </a:custGeom>
              <a:solidFill>
                <a:srgbClr val="BBE0E3"/>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sp>
            <p:nvSpPr>
              <p:cNvPr id="297003" name="Freeform 43"/>
              <p:cNvSpPr/>
              <p:nvPr/>
            </p:nvSpPr>
            <p:spPr bwMode="gray">
              <a:xfrm>
                <a:off x="2880" y="1625"/>
                <a:ext cx="498" cy="964"/>
              </a:xfrm>
              <a:custGeom>
                <a:avLst/>
                <a:gdLst>
                  <a:gd name="T0" fmla="*/ 72 w 573"/>
                  <a:gd name="T1" fmla="*/ 5 h 1111"/>
                  <a:gd name="T2" fmla="*/ 30 w 573"/>
                  <a:gd name="T3" fmla="*/ 32 h 1111"/>
                  <a:gd name="T4" fmla="*/ 4 w 573"/>
                  <a:gd name="T5" fmla="*/ 75 h 1111"/>
                  <a:gd name="T6" fmla="*/ 0 w 573"/>
                  <a:gd name="T7" fmla="*/ 509 h 1111"/>
                  <a:gd name="T8" fmla="*/ 1 w 573"/>
                  <a:gd name="T9" fmla="*/ 516 h 1111"/>
                  <a:gd name="T10" fmla="*/ 9 w 573"/>
                  <a:gd name="T11" fmla="*/ 533 h 1111"/>
                  <a:gd name="T12" fmla="*/ 26 w 573"/>
                  <a:gd name="T13" fmla="*/ 550 h 1111"/>
                  <a:gd name="T14" fmla="*/ 56 w 573"/>
                  <a:gd name="T15" fmla="*/ 557 h 1111"/>
                  <a:gd name="T16" fmla="*/ 84 w 573"/>
                  <a:gd name="T17" fmla="*/ 551 h 1111"/>
                  <a:gd name="T18" fmla="*/ 100 w 573"/>
                  <a:gd name="T19" fmla="*/ 534 h 1111"/>
                  <a:gd name="T20" fmla="*/ 106 w 573"/>
                  <a:gd name="T21" fmla="*/ 516 h 1111"/>
                  <a:gd name="T22" fmla="*/ 108 w 573"/>
                  <a:gd name="T23" fmla="*/ 503 h 1111"/>
                  <a:gd name="T24" fmla="*/ 108 w 573"/>
                  <a:gd name="T25" fmla="*/ 166 h 1111"/>
                  <a:gd name="T26" fmla="*/ 135 w 573"/>
                  <a:gd name="T27" fmla="*/ 1066 h 1111"/>
                  <a:gd name="T28" fmla="*/ 138 w 573"/>
                  <a:gd name="T29" fmla="*/ 1073 h 1111"/>
                  <a:gd name="T30" fmla="*/ 151 w 573"/>
                  <a:gd name="T31" fmla="*/ 1089 h 1111"/>
                  <a:gd name="T32" fmla="*/ 174 w 573"/>
                  <a:gd name="T33" fmla="*/ 1105 h 1111"/>
                  <a:gd name="T34" fmla="*/ 199 w 573"/>
                  <a:gd name="T35" fmla="*/ 1111 h 1111"/>
                  <a:gd name="T36" fmla="*/ 227 w 573"/>
                  <a:gd name="T37" fmla="*/ 1110 h 1111"/>
                  <a:gd name="T38" fmla="*/ 255 w 573"/>
                  <a:gd name="T39" fmla="*/ 1097 h 1111"/>
                  <a:gd name="T40" fmla="*/ 272 w 573"/>
                  <a:gd name="T41" fmla="*/ 1080 h 1111"/>
                  <a:gd name="T42" fmla="*/ 278 w 573"/>
                  <a:gd name="T43" fmla="*/ 1068 h 1111"/>
                  <a:gd name="T44" fmla="*/ 279 w 573"/>
                  <a:gd name="T45" fmla="*/ 499 h 1111"/>
                  <a:gd name="T46" fmla="*/ 302 w 573"/>
                  <a:gd name="T47" fmla="*/ 503 h 1111"/>
                  <a:gd name="T48" fmla="*/ 302 w 573"/>
                  <a:gd name="T49" fmla="*/ 534 h 1111"/>
                  <a:gd name="T50" fmla="*/ 304 w 573"/>
                  <a:gd name="T51" fmla="*/ 590 h 1111"/>
                  <a:gd name="T52" fmla="*/ 304 w 573"/>
                  <a:gd name="T53" fmla="*/ 664 h 1111"/>
                  <a:gd name="T54" fmla="*/ 304 w 573"/>
                  <a:gd name="T55" fmla="*/ 750 h 1111"/>
                  <a:gd name="T56" fmla="*/ 304 w 573"/>
                  <a:gd name="T57" fmla="*/ 838 h 1111"/>
                  <a:gd name="T58" fmla="*/ 305 w 573"/>
                  <a:gd name="T59" fmla="*/ 926 h 1111"/>
                  <a:gd name="T60" fmla="*/ 305 w 573"/>
                  <a:gd name="T61" fmla="*/ 1004 h 1111"/>
                  <a:gd name="T62" fmla="*/ 305 w 573"/>
                  <a:gd name="T63" fmla="*/ 1066 h 1111"/>
                  <a:gd name="T64" fmla="*/ 306 w 573"/>
                  <a:gd name="T65" fmla="*/ 1073 h 1111"/>
                  <a:gd name="T66" fmla="*/ 315 w 573"/>
                  <a:gd name="T67" fmla="*/ 1088 h 1111"/>
                  <a:gd name="T68" fmla="*/ 335 w 573"/>
                  <a:gd name="T69" fmla="*/ 1103 h 1111"/>
                  <a:gd name="T70" fmla="*/ 372 w 573"/>
                  <a:gd name="T71" fmla="*/ 1111 h 1111"/>
                  <a:gd name="T72" fmla="*/ 408 w 573"/>
                  <a:gd name="T73" fmla="*/ 1103 h 1111"/>
                  <a:gd name="T74" fmla="*/ 429 w 573"/>
                  <a:gd name="T75" fmla="*/ 1089 h 1111"/>
                  <a:gd name="T76" fmla="*/ 437 w 573"/>
                  <a:gd name="T77" fmla="*/ 1073 h 1111"/>
                  <a:gd name="T78" fmla="*/ 438 w 573"/>
                  <a:gd name="T79" fmla="*/ 1067 h 1111"/>
                  <a:gd name="T80" fmla="*/ 466 w 573"/>
                  <a:gd name="T81" fmla="*/ 166 h 1111"/>
                  <a:gd name="T82" fmla="*/ 468 w 573"/>
                  <a:gd name="T83" fmla="*/ 503 h 1111"/>
                  <a:gd name="T84" fmla="*/ 472 w 573"/>
                  <a:gd name="T85" fmla="*/ 517 h 1111"/>
                  <a:gd name="T86" fmla="*/ 483 w 573"/>
                  <a:gd name="T87" fmla="*/ 537 h 1111"/>
                  <a:gd name="T88" fmla="*/ 505 w 573"/>
                  <a:gd name="T89" fmla="*/ 551 h 1111"/>
                  <a:gd name="T90" fmla="*/ 536 w 573"/>
                  <a:gd name="T91" fmla="*/ 551 h 1111"/>
                  <a:gd name="T92" fmla="*/ 557 w 573"/>
                  <a:gd name="T93" fmla="*/ 537 h 1111"/>
                  <a:gd name="T94" fmla="*/ 570 w 573"/>
                  <a:gd name="T95" fmla="*/ 517 h 1111"/>
                  <a:gd name="T96" fmla="*/ 573 w 573"/>
                  <a:gd name="T97" fmla="*/ 508 h 1111"/>
                  <a:gd name="T98" fmla="*/ 572 w 573"/>
                  <a:gd name="T99" fmla="*/ 68 h 1111"/>
                  <a:gd name="T100" fmla="*/ 546 w 573"/>
                  <a:gd name="T101" fmla="*/ 28 h 1111"/>
                  <a:gd name="T102" fmla="*/ 506 w 573"/>
                  <a:gd name="T103" fmla="*/ 4 h 1111"/>
                  <a:gd name="T104" fmla="*/ 94 w 573"/>
                  <a:gd name="T105" fmla="*/ 0 h 1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73" h="1111">
                    <a:moveTo>
                      <a:pt x="94" y="0"/>
                    </a:moveTo>
                    <a:lnTo>
                      <a:pt x="72" y="5"/>
                    </a:lnTo>
                    <a:lnTo>
                      <a:pt x="50" y="16"/>
                    </a:lnTo>
                    <a:lnTo>
                      <a:pt x="30" y="32"/>
                    </a:lnTo>
                    <a:lnTo>
                      <a:pt x="15" y="53"/>
                    </a:lnTo>
                    <a:lnTo>
                      <a:pt x="4" y="75"/>
                    </a:lnTo>
                    <a:lnTo>
                      <a:pt x="0" y="99"/>
                    </a:lnTo>
                    <a:lnTo>
                      <a:pt x="0" y="509"/>
                    </a:lnTo>
                    <a:lnTo>
                      <a:pt x="0" y="511"/>
                    </a:lnTo>
                    <a:lnTo>
                      <a:pt x="1" y="516"/>
                    </a:lnTo>
                    <a:lnTo>
                      <a:pt x="4" y="525"/>
                    </a:lnTo>
                    <a:lnTo>
                      <a:pt x="9" y="533"/>
                    </a:lnTo>
                    <a:lnTo>
                      <a:pt x="16" y="543"/>
                    </a:lnTo>
                    <a:lnTo>
                      <a:pt x="26" y="550"/>
                    </a:lnTo>
                    <a:lnTo>
                      <a:pt x="39" y="556"/>
                    </a:lnTo>
                    <a:lnTo>
                      <a:pt x="56" y="557"/>
                    </a:lnTo>
                    <a:lnTo>
                      <a:pt x="72" y="556"/>
                    </a:lnTo>
                    <a:lnTo>
                      <a:pt x="84" y="551"/>
                    </a:lnTo>
                    <a:lnTo>
                      <a:pt x="92" y="543"/>
                    </a:lnTo>
                    <a:lnTo>
                      <a:pt x="100" y="534"/>
                    </a:lnTo>
                    <a:lnTo>
                      <a:pt x="103" y="525"/>
                    </a:lnTo>
                    <a:lnTo>
                      <a:pt x="106" y="516"/>
                    </a:lnTo>
                    <a:lnTo>
                      <a:pt x="107" y="508"/>
                    </a:lnTo>
                    <a:lnTo>
                      <a:pt x="108" y="503"/>
                    </a:lnTo>
                    <a:lnTo>
                      <a:pt x="108" y="500"/>
                    </a:lnTo>
                    <a:lnTo>
                      <a:pt x="108" y="166"/>
                    </a:lnTo>
                    <a:lnTo>
                      <a:pt x="134" y="167"/>
                    </a:lnTo>
                    <a:lnTo>
                      <a:pt x="135" y="1066"/>
                    </a:lnTo>
                    <a:lnTo>
                      <a:pt x="136" y="1068"/>
                    </a:lnTo>
                    <a:lnTo>
                      <a:pt x="138" y="1073"/>
                    </a:lnTo>
                    <a:lnTo>
                      <a:pt x="143" y="1080"/>
                    </a:lnTo>
                    <a:lnTo>
                      <a:pt x="151" y="1089"/>
                    </a:lnTo>
                    <a:lnTo>
                      <a:pt x="162" y="1097"/>
                    </a:lnTo>
                    <a:lnTo>
                      <a:pt x="174" y="1105"/>
                    </a:lnTo>
                    <a:lnTo>
                      <a:pt x="189" y="1110"/>
                    </a:lnTo>
                    <a:lnTo>
                      <a:pt x="199" y="1111"/>
                    </a:lnTo>
                    <a:lnTo>
                      <a:pt x="217" y="1111"/>
                    </a:lnTo>
                    <a:lnTo>
                      <a:pt x="227" y="1110"/>
                    </a:lnTo>
                    <a:lnTo>
                      <a:pt x="243" y="1105"/>
                    </a:lnTo>
                    <a:lnTo>
                      <a:pt x="255" y="1097"/>
                    </a:lnTo>
                    <a:lnTo>
                      <a:pt x="265" y="1089"/>
                    </a:lnTo>
                    <a:lnTo>
                      <a:pt x="272" y="1080"/>
                    </a:lnTo>
                    <a:lnTo>
                      <a:pt x="276" y="1073"/>
                    </a:lnTo>
                    <a:lnTo>
                      <a:pt x="278" y="1068"/>
                    </a:lnTo>
                    <a:lnTo>
                      <a:pt x="279" y="1066"/>
                    </a:lnTo>
                    <a:lnTo>
                      <a:pt x="279" y="499"/>
                    </a:lnTo>
                    <a:lnTo>
                      <a:pt x="302" y="499"/>
                    </a:lnTo>
                    <a:lnTo>
                      <a:pt x="302" y="503"/>
                    </a:lnTo>
                    <a:lnTo>
                      <a:pt x="302" y="515"/>
                    </a:lnTo>
                    <a:lnTo>
                      <a:pt x="302" y="534"/>
                    </a:lnTo>
                    <a:lnTo>
                      <a:pt x="302" y="560"/>
                    </a:lnTo>
                    <a:lnTo>
                      <a:pt x="304" y="590"/>
                    </a:lnTo>
                    <a:lnTo>
                      <a:pt x="304" y="626"/>
                    </a:lnTo>
                    <a:lnTo>
                      <a:pt x="304" y="664"/>
                    </a:lnTo>
                    <a:lnTo>
                      <a:pt x="304" y="706"/>
                    </a:lnTo>
                    <a:lnTo>
                      <a:pt x="304" y="750"/>
                    </a:lnTo>
                    <a:lnTo>
                      <a:pt x="304" y="793"/>
                    </a:lnTo>
                    <a:lnTo>
                      <a:pt x="304" y="838"/>
                    </a:lnTo>
                    <a:lnTo>
                      <a:pt x="305" y="882"/>
                    </a:lnTo>
                    <a:lnTo>
                      <a:pt x="305" y="926"/>
                    </a:lnTo>
                    <a:lnTo>
                      <a:pt x="305" y="966"/>
                    </a:lnTo>
                    <a:lnTo>
                      <a:pt x="305" y="1004"/>
                    </a:lnTo>
                    <a:lnTo>
                      <a:pt x="305" y="1037"/>
                    </a:lnTo>
                    <a:lnTo>
                      <a:pt x="305" y="1066"/>
                    </a:lnTo>
                    <a:lnTo>
                      <a:pt x="305" y="1067"/>
                    </a:lnTo>
                    <a:lnTo>
                      <a:pt x="306" y="1073"/>
                    </a:lnTo>
                    <a:lnTo>
                      <a:pt x="310" y="1079"/>
                    </a:lnTo>
                    <a:lnTo>
                      <a:pt x="315" y="1088"/>
                    </a:lnTo>
                    <a:lnTo>
                      <a:pt x="323" y="1096"/>
                    </a:lnTo>
                    <a:lnTo>
                      <a:pt x="335" y="1103"/>
                    </a:lnTo>
                    <a:lnTo>
                      <a:pt x="351" y="1108"/>
                    </a:lnTo>
                    <a:lnTo>
                      <a:pt x="372" y="1111"/>
                    </a:lnTo>
                    <a:lnTo>
                      <a:pt x="392" y="1108"/>
                    </a:lnTo>
                    <a:lnTo>
                      <a:pt x="408" y="1103"/>
                    </a:lnTo>
                    <a:lnTo>
                      <a:pt x="420" y="1096"/>
                    </a:lnTo>
                    <a:lnTo>
                      <a:pt x="429" y="1089"/>
                    </a:lnTo>
                    <a:lnTo>
                      <a:pt x="434" y="1080"/>
                    </a:lnTo>
                    <a:lnTo>
                      <a:pt x="437" y="1073"/>
                    </a:lnTo>
                    <a:lnTo>
                      <a:pt x="438" y="1068"/>
                    </a:lnTo>
                    <a:lnTo>
                      <a:pt x="438" y="1067"/>
                    </a:lnTo>
                    <a:lnTo>
                      <a:pt x="440" y="166"/>
                    </a:lnTo>
                    <a:lnTo>
                      <a:pt x="466" y="166"/>
                    </a:lnTo>
                    <a:lnTo>
                      <a:pt x="466" y="500"/>
                    </a:lnTo>
                    <a:lnTo>
                      <a:pt x="468" y="503"/>
                    </a:lnTo>
                    <a:lnTo>
                      <a:pt x="469" y="509"/>
                    </a:lnTo>
                    <a:lnTo>
                      <a:pt x="472" y="517"/>
                    </a:lnTo>
                    <a:lnTo>
                      <a:pt x="477" y="527"/>
                    </a:lnTo>
                    <a:lnTo>
                      <a:pt x="483" y="537"/>
                    </a:lnTo>
                    <a:lnTo>
                      <a:pt x="493" y="545"/>
                    </a:lnTo>
                    <a:lnTo>
                      <a:pt x="505" y="551"/>
                    </a:lnTo>
                    <a:lnTo>
                      <a:pt x="520" y="554"/>
                    </a:lnTo>
                    <a:lnTo>
                      <a:pt x="536" y="551"/>
                    </a:lnTo>
                    <a:lnTo>
                      <a:pt x="548" y="545"/>
                    </a:lnTo>
                    <a:lnTo>
                      <a:pt x="557" y="537"/>
                    </a:lnTo>
                    <a:lnTo>
                      <a:pt x="563" y="527"/>
                    </a:lnTo>
                    <a:lnTo>
                      <a:pt x="570" y="517"/>
                    </a:lnTo>
                    <a:lnTo>
                      <a:pt x="573" y="510"/>
                    </a:lnTo>
                    <a:lnTo>
                      <a:pt x="573" y="508"/>
                    </a:lnTo>
                    <a:lnTo>
                      <a:pt x="573" y="79"/>
                    </a:lnTo>
                    <a:lnTo>
                      <a:pt x="572" y="68"/>
                    </a:lnTo>
                    <a:lnTo>
                      <a:pt x="561" y="47"/>
                    </a:lnTo>
                    <a:lnTo>
                      <a:pt x="546" y="28"/>
                    </a:lnTo>
                    <a:lnTo>
                      <a:pt x="528" y="14"/>
                    </a:lnTo>
                    <a:lnTo>
                      <a:pt x="506" y="4"/>
                    </a:lnTo>
                    <a:lnTo>
                      <a:pt x="485" y="0"/>
                    </a:lnTo>
                    <a:lnTo>
                      <a:pt x="94" y="0"/>
                    </a:lnTo>
                    <a:lnTo>
                      <a:pt x="94" y="0"/>
                    </a:lnTo>
                    <a:close/>
                  </a:path>
                </a:pathLst>
              </a:custGeom>
              <a:solidFill>
                <a:srgbClr val="BBE0E3"/>
              </a:solidFill>
              <a:ln>
                <a:noFill/>
              </a:ln>
              <a:effectLst/>
              <a:extLst>
                <a:ext uri="{91240B29-F687-4F45-9708-019B960494DF}">
                  <a14:hiddenLine xmlns:a14="http://schemas.microsoft.com/office/drawing/2010/main" w="0">
                    <a:solidFill>
                      <a:srgbClr val="F7F161"/>
                    </a:solidFill>
                    <a:prstDash val="solid"/>
                    <a:round/>
                  </a14:hiddenLine>
                </a:ext>
                <a:ext uri="{AF507438-7753-43E0-B8FC-AC1667EBCBE1}">
                  <a14:hiddenEffects xmlns:a14="http://schemas.microsoft.com/office/drawing/2010/main">
                    <a:effectLst>
                      <a:outerShdw dist="91581" dir="3378596" algn="ctr" rotWithShape="0">
                        <a:srgbClr val="000000">
                          <a:alpha val="50000"/>
                        </a:srgbClr>
                      </a:outerShdw>
                    </a:effectLst>
                  </a14:hiddenEffects>
                </a:ext>
              </a:extLst>
            </p:spPr>
            <p:txBody>
              <a:bodyPr/>
              <a:lstStyle/>
              <a:p>
                <a:endParaRPr lang="zh-CN" altLang="en-US"/>
              </a:p>
            </p:txBody>
          </p:sp>
        </p:grpSp>
        <p:sp>
          <p:nvSpPr>
            <p:cNvPr id="297013" name="Rectangle 53"/>
            <p:cNvSpPr>
              <a:spLocks noChangeArrowheads="1"/>
            </p:cNvSpPr>
            <p:nvPr/>
          </p:nvSpPr>
          <p:spPr bwMode="auto">
            <a:xfrm>
              <a:off x="3061" y="3022"/>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80808"/>
                  </a:solidFill>
                </a:rPr>
                <a:t>T4</a:t>
              </a:r>
            </a:p>
          </p:txBody>
        </p:sp>
      </p:grpSp>
      <p:sp>
        <p:nvSpPr>
          <p:cNvPr id="297018" name="AutoShape 58"/>
          <p:cNvSpPr>
            <a:spLocks noChangeArrowheads="1"/>
          </p:cNvSpPr>
          <p:nvPr/>
        </p:nvSpPr>
        <p:spPr bwMode="auto">
          <a:xfrm>
            <a:off x="3779838" y="3573463"/>
            <a:ext cx="5113337" cy="2735262"/>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这种可能存在某个事务永远处于等待状态、得不到封锁的机会的现象，称为活锁。</a:t>
            </a:r>
          </a:p>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解决方法：</a:t>
            </a:r>
            <a:r>
              <a:rPr lang="zh-CN" altLang="en-US" sz="2800" b="1">
                <a:solidFill>
                  <a:schemeClr val="hlink"/>
                </a:solidFill>
                <a:effectLst>
                  <a:outerShdw blurRad="38100" dist="38100" dir="2700000" algn="tl">
                    <a:srgbClr val="C0C0C0"/>
                  </a:outerShdw>
                </a:effectLst>
                <a:ea typeface="楷体_GB2312" pitchFamily="49" charset="-122"/>
              </a:rPr>
              <a:t>先来者先执行</a:t>
            </a:r>
            <a:r>
              <a:rPr lang="zh-CN" altLang="en-US" sz="2800" b="1">
                <a:effectLst>
                  <a:outerShdw blurRad="38100" dist="38100" dir="2700000" algn="tl">
                    <a:srgbClr val="C0C0C0"/>
                  </a:outerShdw>
                </a:effectLst>
                <a:ea typeface="楷体_GB2312"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647"/>
    </mc:Choice>
    <mc:Fallback xmlns="">
      <p:transition spd="slow" advTm="566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6966"/>
                                        </p:tgtEl>
                                        <p:attrNameLst>
                                          <p:attrName>style.visibility</p:attrName>
                                        </p:attrNameLst>
                                      </p:cBhvr>
                                      <p:to>
                                        <p:strVal val="visible"/>
                                      </p:to>
                                    </p:set>
                                    <p:animEffect transition="in" filter="wipe(left)">
                                      <p:cBhvr>
                                        <p:cTn id="7" dur="1000"/>
                                        <p:tgtEl>
                                          <p:spTgt spid="296966"/>
                                        </p:tgtEl>
                                      </p:cBhvr>
                                    </p:animEffect>
                                  </p:childTnLst>
                                </p:cTn>
                              </p:par>
                            </p:childTnLst>
                          </p:cTn>
                        </p:par>
                      </p:childTnLst>
                    </p:cTn>
                  </p:par>
                  <p:par>
                    <p:cTn id="8" fill="hold">
                      <p:stCondLst>
                        <p:cond delay="indefinite"/>
                      </p:stCondLst>
                      <p:childTnLst>
                        <p:par>
                          <p:cTn id="9" fill="hold">
                            <p:stCondLst>
                              <p:cond delay="0"/>
                            </p:stCondLst>
                            <p:childTnLst>
                              <p:par>
                                <p:cTn id="10" presetID="30" presetClass="entr" presetSubtype="0" fill="hold" nodeType="clickEffect">
                                  <p:stCondLst>
                                    <p:cond delay="0"/>
                                  </p:stCondLst>
                                  <p:childTnLst>
                                    <p:set>
                                      <p:cBhvr>
                                        <p:cTn id="11" dur="1" fill="hold">
                                          <p:stCondLst>
                                            <p:cond delay="0"/>
                                          </p:stCondLst>
                                        </p:cTn>
                                        <p:tgtEl>
                                          <p:spTgt spid="296974"/>
                                        </p:tgtEl>
                                        <p:attrNameLst>
                                          <p:attrName>style.visibility</p:attrName>
                                        </p:attrNameLst>
                                      </p:cBhvr>
                                      <p:to>
                                        <p:strVal val="visible"/>
                                      </p:to>
                                    </p:set>
                                    <p:animEffect transition="in" filter="fade">
                                      <p:cBhvr>
                                        <p:cTn id="12" dur="800" decel="100000"/>
                                        <p:tgtEl>
                                          <p:spTgt spid="296974"/>
                                        </p:tgtEl>
                                      </p:cBhvr>
                                    </p:animEffect>
                                    <p:anim calcmode="lin" valueType="num">
                                      <p:cBhvr>
                                        <p:cTn id="13" dur="800" decel="100000" fill="hold"/>
                                        <p:tgtEl>
                                          <p:spTgt spid="296974"/>
                                        </p:tgtEl>
                                        <p:attrNameLst>
                                          <p:attrName>style.rotation</p:attrName>
                                        </p:attrNameLst>
                                      </p:cBhvr>
                                      <p:tavLst>
                                        <p:tav tm="0">
                                          <p:val>
                                            <p:fltVal val="-90"/>
                                          </p:val>
                                        </p:tav>
                                        <p:tav tm="100000">
                                          <p:val>
                                            <p:fltVal val="0"/>
                                          </p:val>
                                        </p:tav>
                                      </p:tavLst>
                                    </p:anim>
                                    <p:anim calcmode="lin" valueType="num">
                                      <p:cBhvr>
                                        <p:cTn id="14" dur="800" decel="100000" fill="hold"/>
                                        <p:tgtEl>
                                          <p:spTgt spid="296974"/>
                                        </p:tgtEl>
                                        <p:attrNameLst>
                                          <p:attrName>ppt_x</p:attrName>
                                        </p:attrNameLst>
                                      </p:cBhvr>
                                      <p:tavLst>
                                        <p:tav tm="0">
                                          <p:val>
                                            <p:strVal val="#ppt_x+0.4"/>
                                          </p:val>
                                        </p:tav>
                                        <p:tav tm="100000">
                                          <p:val>
                                            <p:strVal val="#ppt_x-0.05"/>
                                          </p:val>
                                        </p:tav>
                                      </p:tavLst>
                                    </p:anim>
                                    <p:anim calcmode="lin" valueType="num">
                                      <p:cBhvr>
                                        <p:cTn id="15" dur="800" decel="100000" fill="hold"/>
                                        <p:tgtEl>
                                          <p:spTgt spid="296974"/>
                                        </p:tgtEl>
                                        <p:attrNameLst>
                                          <p:attrName>ppt_y</p:attrName>
                                        </p:attrNameLst>
                                      </p:cBhvr>
                                      <p:tavLst>
                                        <p:tav tm="0">
                                          <p:val>
                                            <p:strVal val="#ppt_y-0.4"/>
                                          </p:val>
                                        </p:tav>
                                        <p:tav tm="100000">
                                          <p:val>
                                            <p:strVal val="#ppt_y+0.1"/>
                                          </p:val>
                                        </p:tav>
                                      </p:tavLst>
                                    </p:anim>
                                    <p:anim calcmode="lin" valueType="num">
                                      <p:cBhvr>
                                        <p:cTn id="16" dur="200" accel="100000" fill="hold">
                                          <p:stCondLst>
                                            <p:cond delay="800"/>
                                          </p:stCondLst>
                                        </p:cTn>
                                        <p:tgtEl>
                                          <p:spTgt spid="296974"/>
                                        </p:tgtEl>
                                        <p:attrNameLst>
                                          <p:attrName>ppt_x</p:attrName>
                                        </p:attrNameLst>
                                      </p:cBhvr>
                                      <p:tavLst>
                                        <p:tav tm="0">
                                          <p:val>
                                            <p:strVal val="#ppt_x-0.05"/>
                                          </p:val>
                                        </p:tav>
                                        <p:tav tm="100000">
                                          <p:val>
                                            <p:strVal val="#ppt_x"/>
                                          </p:val>
                                        </p:tav>
                                      </p:tavLst>
                                    </p:anim>
                                    <p:anim calcmode="lin" valueType="num">
                                      <p:cBhvr>
                                        <p:cTn id="17" dur="200" accel="100000" fill="hold">
                                          <p:stCondLst>
                                            <p:cond delay="800"/>
                                          </p:stCondLst>
                                        </p:cTn>
                                        <p:tgtEl>
                                          <p:spTgt spid="296974"/>
                                        </p:tgtEl>
                                        <p:attrNameLst>
                                          <p:attrName>ppt_y</p:attrName>
                                        </p:attrNameLst>
                                      </p:cBhvr>
                                      <p:tavLst>
                                        <p:tav tm="0">
                                          <p:val>
                                            <p:strVal val="#ppt_y+0.1"/>
                                          </p:val>
                                        </p:tav>
                                        <p:tav tm="100000">
                                          <p:val>
                                            <p:strVal val="#ppt_y"/>
                                          </p:val>
                                        </p:tav>
                                      </p:tavLst>
                                    </p:anim>
                                  </p:childTnLst>
                                </p:cTn>
                              </p:par>
                              <p:par>
                                <p:cTn id="18" presetID="30" presetClass="entr" presetSubtype="0" fill="hold" grpId="0" nodeType="withEffect">
                                  <p:stCondLst>
                                    <p:cond delay="0"/>
                                  </p:stCondLst>
                                  <p:childTnLst>
                                    <p:set>
                                      <p:cBhvr>
                                        <p:cTn id="19" dur="1" fill="hold">
                                          <p:stCondLst>
                                            <p:cond delay="0"/>
                                          </p:stCondLst>
                                        </p:cTn>
                                        <p:tgtEl>
                                          <p:spTgt spid="296991"/>
                                        </p:tgtEl>
                                        <p:attrNameLst>
                                          <p:attrName>style.visibility</p:attrName>
                                        </p:attrNameLst>
                                      </p:cBhvr>
                                      <p:to>
                                        <p:strVal val="visible"/>
                                      </p:to>
                                    </p:set>
                                    <p:animEffect transition="in" filter="fade">
                                      <p:cBhvr>
                                        <p:cTn id="20" dur="800" decel="100000"/>
                                        <p:tgtEl>
                                          <p:spTgt spid="296991"/>
                                        </p:tgtEl>
                                      </p:cBhvr>
                                    </p:animEffect>
                                    <p:anim calcmode="lin" valueType="num">
                                      <p:cBhvr>
                                        <p:cTn id="21" dur="800" decel="100000" fill="hold"/>
                                        <p:tgtEl>
                                          <p:spTgt spid="296991"/>
                                        </p:tgtEl>
                                        <p:attrNameLst>
                                          <p:attrName>style.rotation</p:attrName>
                                        </p:attrNameLst>
                                      </p:cBhvr>
                                      <p:tavLst>
                                        <p:tav tm="0">
                                          <p:val>
                                            <p:fltVal val="-90"/>
                                          </p:val>
                                        </p:tav>
                                        <p:tav tm="100000">
                                          <p:val>
                                            <p:fltVal val="0"/>
                                          </p:val>
                                        </p:tav>
                                      </p:tavLst>
                                    </p:anim>
                                    <p:anim calcmode="lin" valueType="num">
                                      <p:cBhvr>
                                        <p:cTn id="22" dur="800" decel="100000" fill="hold"/>
                                        <p:tgtEl>
                                          <p:spTgt spid="296991"/>
                                        </p:tgtEl>
                                        <p:attrNameLst>
                                          <p:attrName>ppt_x</p:attrName>
                                        </p:attrNameLst>
                                      </p:cBhvr>
                                      <p:tavLst>
                                        <p:tav tm="0">
                                          <p:val>
                                            <p:strVal val="#ppt_x+0.4"/>
                                          </p:val>
                                        </p:tav>
                                        <p:tav tm="100000">
                                          <p:val>
                                            <p:strVal val="#ppt_x-0.05"/>
                                          </p:val>
                                        </p:tav>
                                      </p:tavLst>
                                    </p:anim>
                                    <p:anim calcmode="lin" valueType="num">
                                      <p:cBhvr>
                                        <p:cTn id="23" dur="800" decel="100000" fill="hold"/>
                                        <p:tgtEl>
                                          <p:spTgt spid="296991"/>
                                        </p:tgtEl>
                                        <p:attrNameLst>
                                          <p:attrName>ppt_y</p:attrName>
                                        </p:attrNameLst>
                                      </p:cBhvr>
                                      <p:tavLst>
                                        <p:tav tm="0">
                                          <p:val>
                                            <p:strVal val="#ppt_y-0.4"/>
                                          </p:val>
                                        </p:tav>
                                        <p:tav tm="100000">
                                          <p:val>
                                            <p:strVal val="#ppt_y+0.1"/>
                                          </p:val>
                                        </p:tav>
                                      </p:tavLst>
                                    </p:anim>
                                    <p:anim calcmode="lin" valueType="num">
                                      <p:cBhvr>
                                        <p:cTn id="24" dur="200" accel="100000" fill="hold">
                                          <p:stCondLst>
                                            <p:cond delay="800"/>
                                          </p:stCondLst>
                                        </p:cTn>
                                        <p:tgtEl>
                                          <p:spTgt spid="296991"/>
                                        </p:tgtEl>
                                        <p:attrNameLst>
                                          <p:attrName>ppt_x</p:attrName>
                                        </p:attrNameLst>
                                      </p:cBhvr>
                                      <p:tavLst>
                                        <p:tav tm="0">
                                          <p:val>
                                            <p:strVal val="#ppt_x-0.05"/>
                                          </p:val>
                                        </p:tav>
                                        <p:tav tm="100000">
                                          <p:val>
                                            <p:strVal val="#ppt_x"/>
                                          </p:val>
                                        </p:tav>
                                      </p:tavLst>
                                    </p:anim>
                                    <p:anim calcmode="lin" valueType="num">
                                      <p:cBhvr>
                                        <p:cTn id="25" dur="200" accel="100000" fill="hold">
                                          <p:stCondLst>
                                            <p:cond delay="800"/>
                                          </p:stCondLst>
                                        </p:cTn>
                                        <p:tgtEl>
                                          <p:spTgt spid="296991"/>
                                        </p:tgtEl>
                                        <p:attrNameLst>
                                          <p:attrName>ppt_y</p:attrName>
                                        </p:attrNameLst>
                                      </p:cBhvr>
                                      <p:tavLst>
                                        <p:tav tm="0">
                                          <p:val>
                                            <p:strVal val="#ppt_y+0.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297016"/>
                                        </p:tgtEl>
                                        <p:attrNameLst>
                                          <p:attrName>style.visibility</p:attrName>
                                        </p:attrNameLst>
                                      </p:cBhvr>
                                      <p:to>
                                        <p:strVal val="visible"/>
                                      </p:to>
                                    </p:set>
                                    <p:anim calcmode="lin" valueType="num">
                                      <p:cBhvr additive="base">
                                        <p:cTn id="30" dur="500" fill="hold"/>
                                        <p:tgtEl>
                                          <p:spTgt spid="297016"/>
                                        </p:tgtEl>
                                        <p:attrNameLst>
                                          <p:attrName>ppt_x</p:attrName>
                                        </p:attrNameLst>
                                      </p:cBhvr>
                                      <p:tavLst>
                                        <p:tav tm="0">
                                          <p:val>
                                            <p:strVal val="0-#ppt_w/2"/>
                                          </p:val>
                                        </p:tav>
                                        <p:tav tm="100000">
                                          <p:val>
                                            <p:strVal val="#ppt_x"/>
                                          </p:val>
                                        </p:tav>
                                      </p:tavLst>
                                    </p:anim>
                                    <p:anim calcmode="lin" valueType="num">
                                      <p:cBhvr additive="base">
                                        <p:cTn id="31" dur="500" fill="hold"/>
                                        <p:tgtEl>
                                          <p:spTgt spid="29701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2.5E-6 -3.33333E-6 C 0.03368 0.00556 0.06771 0.01158 0.08646 -0.00115 C 0.10521 -0.01389 0.10591 -0.05185 0.11216 -0.07662 C 0.11823 -0.10115 0.12101 -0.12291 0.12309 -0.1493 C 0.12535 -0.17546 0.12448 -0.20625 0.12518 -0.23472 C 0.1257 -0.26296 0.12674 -0.30555 0.12709 -0.3199 " pathEditMode="relative" rAng="858720" ptsTypes="aaaaaA">
                                      <p:cBhvr>
                                        <p:cTn id="35" dur="2000" fill="hold"/>
                                        <p:tgtEl>
                                          <p:spTgt spid="297016"/>
                                        </p:tgtEl>
                                        <p:attrNameLst>
                                          <p:attrName>ppt_x</p:attrName>
                                          <p:attrName>ppt_y</p:attrName>
                                        </p:attrNameLst>
                                      </p:cBhvr>
                                      <p:rCtr x="8073" y="-15417"/>
                                    </p:animMotion>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297017"/>
                                        </p:tgtEl>
                                        <p:attrNameLst>
                                          <p:attrName>style.visibility</p:attrName>
                                        </p:attrNameLst>
                                      </p:cBhvr>
                                      <p:to>
                                        <p:strVal val="visible"/>
                                      </p:to>
                                    </p:set>
                                    <p:anim calcmode="lin" valueType="num">
                                      <p:cBhvr additive="base">
                                        <p:cTn id="40" dur="500" fill="hold"/>
                                        <p:tgtEl>
                                          <p:spTgt spid="297017"/>
                                        </p:tgtEl>
                                        <p:attrNameLst>
                                          <p:attrName>ppt_x</p:attrName>
                                        </p:attrNameLst>
                                      </p:cBhvr>
                                      <p:tavLst>
                                        <p:tav tm="0">
                                          <p:val>
                                            <p:strVal val="0-#ppt_w/2"/>
                                          </p:val>
                                        </p:tav>
                                        <p:tav tm="100000">
                                          <p:val>
                                            <p:strVal val="#ppt_x"/>
                                          </p:val>
                                        </p:tav>
                                      </p:tavLst>
                                    </p:anim>
                                    <p:anim calcmode="lin" valueType="num">
                                      <p:cBhvr additive="base">
                                        <p:cTn id="41" dur="500" fill="hold"/>
                                        <p:tgtEl>
                                          <p:spTgt spid="297017"/>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297014"/>
                                        </p:tgtEl>
                                        <p:attrNameLst>
                                          <p:attrName>style.visibility</p:attrName>
                                        </p:attrNameLst>
                                      </p:cBhvr>
                                      <p:to>
                                        <p:strVal val="visible"/>
                                      </p:to>
                                    </p:set>
                                    <p:anim calcmode="lin" valueType="num">
                                      <p:cBhvr additive="base">
                                        <p:cTn id="46" dur="500" fill="hold"/>
                                        <p:tgtEl>
                                          <p:spTgt spid="297014"/>
                                        </p:tgtEl>
                                        <p:attrNameLst>
                                          <p:attrName>ppt_x</p:attrName>
                                        </p:attrNameLst>
                                      </p:cBhvr>
                                      <p:tavLst>
                                        <p:tav tm="0">
                                          <p:val>
                                            <p:strVal val="0-#ppt_w/2"/>
                                          </p:val>
                                        </p:tav>
                                        <p:tav tm="100000">
                                          <p:val>
                                            <p:strVal val="#ppt_x"/>
                                          </p:val>
                                        </p:tav>
                                      </p:tavLst>
                                    </p:anim>
                                    <p:anim calcmode="lin" valueType="num">
                                      <p:cBhvr additive="base">
                                        <p:cTn id="47" dur="500" fill="hold"/>
                                        <p:tgtEl>
                                          <p:spTgt spid="297014"/>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xit" presetSubtype="1" fill="hold" nodeType="clickEffect">
                                  <p:stCondLst>
                                    <p:cond delay="0"/>
                                  </p:stCondLst>
                                  <p:childTnLst>
                                    <p:anim calcmode="lin" valueType="num">
                                      <p:cBhvr additive="base">
                                        <p:cTn id="51" dur="500"/>
                                        <p:tgtEl>
                                          <p:spTgt spid="297016"/>
                                        </p:tgtEl>
                                        <p:attrNameLst>
                                          <p:attrName>ppt_x</p:attrName>
                                        </p:attrNameLst>
                                      </p:cBhvr>
                                      <p:tavLst>
                                        <p:tav tm="0">
                                          <p:val>
                                            <p:strVal val="ppt_x"/>
                                          </p:val>
                                        </p:tav>
                                        <p:tav tm="100000">
                                          <p:val>
                                            <p:strVal val="ppt_x"/>
                                          </p:val>
                                        </p:tav>
                                      </p:tavLst>
                                    </p:anim>
                                    <p:anim calcmode="lin" valueType="num">
                                      <p:cBhvr additive="base">
                                        <p:cTn id="52" dur="500"/>
                                        <p:tgtEl>
                                          <p:spTgt spid="297016"/>
                                        </p:tgtEl>
                                        <p:attrNameLst>
                                          <p:attrName>ppt_y</p:attrName>
                                        </p:attrNameLst>
                                      </p:cBhvr>
                                      <p:tavLst>
                                        <p:tav tm="0">
                                          <p:val>
                                            <p:strVal val="ppt_y"/>
                                          </p:val>
                                        </p:tav>
                                        <p:tav tm="100000">
                                          <p:val>
                                            <p:strVal val="0-ppt_h/2"/>
                                          </p:val>
                                        </p:tav>
                                      </p:tavLst>
                                    </p:anim>
                                    <p:set>
                                      <p:cBhvr>
                                        <p:cTn id="53" dur="1" fill="hold">
                                          <p:stCondLst>
                                            <p:cond delay="499"/>
                                          </p:stCondLst>
                                        </p:cTn>
                                        <p:tgtEl>
                                          <p:spTgt spid="297016"/>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nodeType="clickEffect">
                                  <p:stCondLst>
                                    <p:cond delay="0"/>
                                  </p:stCondLst>
                                  <p:childTnLst>
                                    <p:animMotion origin="layout" path="M 2.77778E-7 0.00116 C 0.09601 0.02755 0.19253 0.05417 0.22812 -0.00232 C 0.26389 -0.0588 0.23819 -0.19745 0.2125 -0.33588 " pathEditMode="relative" rAng="0" ptsTypes="aaA">
                                      <p:cBhvr>
                                        <p:cTn id="57" dur="2000" fill="hold"/>
                                        <p:tgtEl>
                                          <p:spTgt spid="297014"/>
                                        </p:tgtEl>
                                        <p:attrNameLst>
                                          <p:attrName>ppt_x</p:attrName>
                                          <p:attrName>ppt_y</p:attrName>
                                        </p:attrNameLst>
                                      </p:cBhvr>
                                      <p:rCtr x="13194" y="-14213"/>
                                    </p:animMotion>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297015"/>
                                        </p:tgtEl>
                                        <p:attrNameLst>
                                          <p:attrName>style.visibility</p:attrName>
                                        </p:attrNameLst>
                                      </p:cBhvr>
                                      <p:to>
                                        <p:strVal val="visible"/>
                                      </p:to>
                                    </p:set>
                                    <p:anim calcmode="lin" valueType="num">
                                      <p:cBhvr additive="base">
                                        <p:cTn id="62" dur="500" fill="hold"/>
                                        <p:tgtEl>
                                          <p:spTgt spid="297015"/>
                                        </p:tgtEl>
                                        <p:attrNameLst>
                                          <p:attrName>ppt_x</p:attrName>
                                        </p:attrNameLst>
                                      </p:cBhvr>
                                      <p:tavLst>
                                        <p:tav tm="0">
                                          <p:val>
                                            <p:strVal val="0-#ppt_w/2"/>
                                          </p:val>
                                        </p:tav>
                                        <p:tav tm="100000">
                                          <p:val>
                                            <p:strVal val="#ppt_x"/>
                                          </p:val>
                                        </p:tav>
                                      </p:tavLst>
                                    </p:anim>
                                    <p:anim calcmode="lin" valueType="num">
                                      <p:cBhvr additive="base">
                                        <p:cTn id="63" dur="500" fill="hold"/>
                                        <p:tgtEl>
                                          <p:spTgt spid="297015"/>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xit" presetSubtype="1" fill="hold" nodeType="clickEffect">
                                  <p:stCondLst>
                                    <p:cond delay="0"/>
                                  </p:stCondLst>
                                  <p:childTnLst>
                                    <p:anim calcmode="lin" valueType="num">
                                      <p:cBhvr additive="base">
                                        <p:cTn id="67" dur="500"/>
                                        <p:tgtEl>
                                          <p:spTgt spid="297014"/>
                                        </p:tgtEl>
                                        <p:attrNameLst>
                                          <p:attrName>ppt_x</p:attrName>
                                        </p:attrNameLst>
                                      </p:cBhvr>
                                      <p:tavLst>
                                        <p:tav tm="0">
                                          <p:val>
                                            <p:strVal val="ppt_x"/>
                                          </p:val>
                                        </p:tav>
                                        <p:tav tm="100000">
                                          <p:val>
                                            <p:strVal val="ppt_x"/>
                                          </p:val>
                                        </p:tav>
                                      </p:tavLst>
                                    </p:anim>
                                    <p:anim calcmode="lin" valueType="num">
                                      <p:cBhvr additive="base">
                                        <p:cTn id="68" dur="500"/>
                                        <p:tgtEl>
                                          <p:spTgt spid="297014"/>
                                        </p:tgtEl>
                                        <p:attrNameLst>
                                          <p:attrName>ppt_y</p:attrName>
                                        </p:attrNameLst>
                                      </p:cBhvr>
                                      <p:tavLst>
                                        <p:tav tm="0">
                                          <p:val>
                                            <p:strVal val="ppt_y"/>
                                          </p:val>
                                        </p:tav>
                                        <p:tav tm="100000">
                                          <p:val>
                                            <p:strVal val="0-ppt_h/2"/>
                                          </p:val>
                                        </p:tav>
                                      </p:tavLst>
                                    </p:anim>
                                    <p:set>
                                      <p:cBhvr>
                                        <p:cTn id="69" dur="1" fill="hold">
                                          <p:stCondLst>
                                            <p:cond delay="499"/>
                                          </p:stCondLst>
                                        </p:cTn>
                                        <p:tgtEl>
                                          <p:spTgt spid="297014"/>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0" presetClass="path" presetSubtype="0" accel="50000" decel="50000" fill="hold" nodeType="clickEffect">
                                  <p:stCondLst>
                                    <p:cond delay="0"/>
                                  </p:stCondLst>
                                  <p:childTnLst>
                                    <p:animMotion origin="layout" path="M -1.66667E-6 1.11111E-6 C 0.10695 0.03449 0.21424 0.06944 0.2566 0.01435 C 0.29913 -0.04074 0.27639 -0.18542 0.25417 -0.32963 " pathEditMode="relative" rAng="0" ptsTypes="aaA">
                                      <p:cBhvr>
                                        <p:cTn id="73" dur="2000" fill="hold"/>
                                        <p:tgtEl>
                                          <p:spTgt spid="297015"/>
                                        </p:tgtEl>
                                        <p:attrNameLst>
                                          <p:attrName>ppt_x</p:attrName>
                                          <p:attrName>ppt_y</p:attrName>
                                        </p:attrNameLst>
                                      </p:cBhvr>
                                      <p:rCtr x="14948" y="-13009"/>
                                    </p:animMotion>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297018">
                                            <p:bg/>
                                          </p:spTgt>
                                        </p:tgtEl>
                                        <p:attrNameLst>
                                          <p:attrName>style.visibility</p:attrName>
                                        </p:attrNameLst>
                                      </p:cBhvr>
                                      <p:to>
                                        <p:strVal val="visible"/>
                                      </p:to>
                                    </p:set>
                                    <p:animEffect transition="in" filter="wipe(up)">
                                      <p:cBhvr>
                                        <p:cTn id="78" dur="500"/>
                                        <p:tgtEl>
                                          <p:spTgt spid="297018">
                                            <p:bg/>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297018">
                                            <p:txEl>
                                              <p:pRg st="0" end="0"/>
                                            </p:txEl>
                                          </p:spTgt>
                                        </p:tgtEl>
                                        <p:attrNameLst>
                                          <p:attrName>style.visibility</p:attrName>
                                        </p:attrNameLst>
                                      </p:cBhvr>
                                      <p:to>
                                        <p:strVal val="visible"/>
                                      </p:to>
                                    </p:set>
                                    <p:animEffect transition="in" filter="wipe(up)">
                                      <p:cBhvr>
                                        <p:cTn id="83" dur="500"/>
                                        <p:tgtEl>
                                          <p:spTgt spid="297018">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297018">
                                            <p:txEl>
                                              <p:pRg st="1" end="1"/>
                                            </p:txEl>
                                          </p:spTgt>
                                        </p:tgtEl>
                                        <p:attrNameLst>
                                          <p:attrName>style.visibility</p:attrName>
                                        </p:attrNameLst>
                                      </p:cBhvr>
                                      <p:to>
                                        <p:strVal val="visible"/>
                                      </p:to>
                                    </p:set>
                                    <p:animEffect transition="in" filter="wipe(up)">
                                      <p:cBhvr>
                                        <p:cTn id="88" dur="500"/>
                                        <p:tgtEl>
                                          <p:spTgt spid="2970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6" grpId="0"/>
      <p:bldP spid="296991" grpId="0"/>
      <p:bldP spid="297018"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481283"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2</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死锁</a:t>
            </a:r>
            <a:endParaRPr lang="en-US" altLang="zh-CN" sz="3200">
              <a:solidFill>
                <a:srgbClr val="660033"/>
              </a:solidFill>
              <a:ea typeface="华文新魏" panose="02010800040101010101" pitchFamily="2" charset="-122"/>
            </a:endParaRPr>
          </a:p>
        </p:txBody>
      </p:sp>
      <p:sp>
        <p:nvSpPr>
          <p:cNvPr id="481284" name="AutoShape 4"/>
          <p:cNvSpPr>
            <a:spLocks noChangeArrowheads="1"/>
          </p:cNvSpPr>
          <p:nvPr/>
        </p:nvSpPr>
        <p:spPr bwMode="auto">
          <a:xfrm>
            <a:off x="395288" y="4076700"/>
            <a:ext cx="8353425" cy="237648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两个或两个以上的事务都处于等待状态，每个事务都在等待其中另一个事务解除封锁，它才能继续执行下去，结果任何一个事务都无法继续执行，这种现象称为死锁。</a:t>
            </a:r>
          </a:p>
        </p:txBody>
      </p:sp>
      <p:sp>
        <p:nvSpPr>
          <p:cNvPr id="481286" name="AutoShape 6"/>
          <p:cNvSpPr>
            <a:spLocks noChangeArrowheads="1"/>
          </p:cNvSpPr>
          <p:nvPr/>
        </p:nvSpPr>
        <p:spPr bwMode="auto">
          <a:xfrm>
            <a:off x="3995738" y="1773238"/>
            <a:ext cx="863600" cy="790575"/>
          </a:xfrm>
          <a:prstGeom prst="flowChartConnector">
            <a:avLst/>
          </a:prstGeom>
          <a:solidFill>
            <a:srgbClr val="FF9900"/>
          </a:solidFill>
          <a:ln w="28575" cap="sq">
            <a:solidFill>
              <a:schemeClr val="bg2"/>
            </a:solidFill>
            <a:round/>
            <a:headEnd type="none" w="sm" len="sm"/>
            <a:tailEnd type="none" w="sm" len="sm"/>
          </a:ln>
          <a:effectLst>
            <a:outerShdw dist="35921" dir="2700000" algn="ctr" rotWithShape="0">
              <a:schemeClr val="bg2"/>
            </a:outerShdw>
          </a:effectLst>
        </p:spPr>
        <p:txBody>
          <a:bodyPr wrap="none" anchor="ctr"/>
          <a:lstStyle/>
          <a:p>
            <a:pPr algn="ctr"/>
            <a:r>
              <a:rPr lang="en-US" altLang="zh-CN" sz="2400" b="1">
                <a:solidFill>
                  <a:schemeClr val="bg2"/>
                </a:solidFill>
                <a:ea typeface="楷体_GB2312" pitchFamily="49" charset="-122"/>
              </a:rPr>
              <a:t>R1</a:t>
            </a:r>
          </a:p>
        </p:txBody>
      </p:sp>
      <p:sp>
        <p:nvSpPr>
          <p:cNvPr id="481287" name="AutoShape 7"/>
          <p:cNvSpPr>
            <a:spLocks noChangeArrowheads="1"/>
          </p:cNvSpPr>
          <p:nvPr/>
        </p:nvSpPr>
        <p:spPr bwMode="auto">
          <a:xfrm>
            <a:off x="3995738" y="3070225"/>
            <a:ext cx="863600" cy="790575"/>
          </a:xfrm>
          <a:prstGeom prst="flowChartConnector">
            <a:avLst/>
          </a:prstGeom>
          <a:solidFill>
            <a:srgbClr val="FF9900"/>
          </a:solidFill>
          <a:ln w="28575" cap="sq">
            <a:solidFill>
              <a:schemeClr val="bg2"/>
            </a:solidFill>
            <a:round/>
            <a:headEnd type="none" w="sm" len="sm"/>
            <a:tailEnd type="none" w="sm" len="sm"/>
          </a:ln>
          <a:effectLst>
            <a:outerShdw dist="35921" dir="2700000" algn="ctr" rotWithShape="0">
              <a:schemeClr val="bg2"/>
            </a:outerShdw>
          </a:effectLst>
        </p:spPr>
        <p:txBody>
          <a:bodyPr wrap="none" anchor="ctr"/>
          <a:lstStyle/>
          <a:p>
            <a:pPr algn="ctr"/>
            <a:r>
              <a:rPr lang="en-US" altLang="zh-CN" sz="2400" b="1">
                <a:solidFill>
                  <a:schemeClr val="bg2"/>
                </a:solidFill>
                <a:ea typeface="楷体_GB2312" pitchFamily="49" charset="-122"/>
              </a:rPr>
              <a:t>R2</a:t>
            </a:r>
          </a:p>
        </p:txBody>
      </p:sp>
      <p:sp>
        <p:nvSpPr>
          <p:cNvPr id="481288" name="Rectangle 8"/>
          <p:cNvSpPr>
            <a:spLocks noChangeArrowheads="1"/>
          </p:cNvSpPr>
          <p:nvPr/>
        </p:nvSpPr>
        <p:spPr bwMode="auto">
          <a:xfrm>
            <a:off x="2195513" y="2563813"/>
            <a:ext cx="792162" cy="576262"/>
          </a:xfrm>
          <a:prstGeom prst="rect">
            <a:avLst/>
          </a:prstGeom>
          <a:solidFill>
            <a:srgbClr val="00CCFF"/>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pPr algn="ctr"/>
            <a:r>
              <a:rPr lang="en-US" altLang="zh-CN" sz="2400" b="1">
                <a:solidFill>
                  <a:schemeClr val="bg2"/>
                </a:solidFill>
                <a:ea typeface="楷体_GB2312" pitchFamily="49" charset="-122"/>
              </a:rPr>
              <a:t>T1</a:t>
            </a:r>
          </a:p>
        </p:txBody>
      </p:sp>
      <p:sp>
        <p:nvSpPr>
          <p:cNvPr id="481289" name="Rectangle 9"/>
          <p:cNvSpPr>
            <a:spLocks noChangeArrowheads="1"/>
          </p:cNvSpPr>
          <p:nvPr/>
        </p:nvSpPr>
        <p:spPr bwMode="auto">
          <a:xfrm>
            <a:off x="5867400" y="2563813"/>
            <a:ext cx="792163" cy="576262"/>
          </a:xfrm>
          <a:prstGeom prst="rect">
            <a:avLst/>
          </a:prstGeom>
          <a:solidFill>
            <a:srgbClr val="00CCFF"/>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pPr algn="ctr"/>
            <a:r>
              <a:rPr lang="en-US" altLang="zh-CN" sz="2400" b="1">
                <a:solidFill>
                  <a:schemeClr val="bg2"/>
                </a:solidFill>
                <a:ea typeface="楷体_GB2312" pitchFamily="49" charset="-122"/>
              </a:rPr>
              <a:t>T2</a:t>
            </a:r>
          </a:p>
        </p:txBody>
      </p:sp>
      <p:sp>
        <p:nvSpPr>
          <p:cNvPr id="481290" name="Line 10"/>
          <p:cNvSpPr>
            <a:spLocks noChangeShapeType="1"/>
          </p:cNvSpPr>
          <p:nvPr/>
        </p:nvSpPr>
        <p:spPr bwMode="auto">
          <a:xfrm flipV="1">
            <a:off x="2987675" y="2205038"/>
            <a:ext cx="1008063" cy="50323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1291" name="Line 11"/>
          <p:cNvSpPr>
            <a:spLocks noChangeShapeType="1"/>
          </p:cNvSpPr>
          <p:nvPr/>
        </p:nvSpPr>
        <p:spPr bwMode="auto">
          <a:xfrm flipV="1">
            <a:off x="4859338" y="2997200"/>
            <a:ext cx="1008062" cy="503238"/>
          </a:xfrm>
          <a:prstGeom prst="line">
            <a:avLst/>
          </a:prstGeom>
          <a:noFill/>
          <a:ln w="28575" cap="sq">
            <a:solidFill>
              <a:schemeClr val="bg2"/>
            </a:solidFill>
            <a:round/>
            <a:headEnd type="triangle" w="lg" len="med"/>
            <a:tailEnd type="non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1292" name="Line 12"/>
          <p:cNvSpPr>
            <a:spLocks noChangeShapeType="1"/>
          </p:cNvSpPr>
          <p:nvPr/>
        </p:nvSpPr>
        <p:spPr bwMode="auto">
          <a:xfrm>
            <a:off x="2987675" y="2997200"/>
            <a:ext cx="1008063" cy="431800"/>
          </a:xfrm>
          <a:prstGeom prst="line">
            <a:avLst/>
          </a:prstGeom>
          <a:noFill/>
          <a:ln w="28575">
            <a:solidFill>
              <a:schemeClr val="bg2"/>
            </a:solidFill>
            <a:prstDash val="dash"/>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1293" name="Line 13"/>
          <p:cNvSpPr>
            <a:spLocks noChangeShapeType="1"/>
          </p:cNvSpPr>
          <p:nvPr/>
        </p:nvSpPr>
        <p:spPr bwMode="auto">
          <a:xfrm>
            <a:off x="4816475" y="2347913"/>
            <a:ext cx="1050925" cy="433387"/>
          </a:xfrm>
          <a:prstGeom prst="line">
            <a:avLst/>
          </a:prstGeom>
          <a:noFill/>
          <a:ln w="28575">
            <a:solidFill>
              <a:schemeClr val="bg2"/>
            </a:solidFill>
            <a:prstDash val="dash"/>
            <a:round/>
            <a:headEnd type="triangle" w="lg" len="med"/>
            <a:tailEnd type="non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81294" name="Text Box 14"/>
          <p:cNvSpPr txBox="1">
            <a:spLocks noChangeArrowheads="1"/>
          </p:cNvSpPr>
          <p:nvPr/>
        </p:nvSpPr>
        <p:spPr bwMode="auto">
          <a:xfrm>
            <a:off x="3144838" y="1963738"/>
            <a:ext cx="490537" cy="457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en-US" altLang="zh-CN" sz="2400" b="1">
                <a:latin typeface="楷体_GB2312" pitchFamily="49" charset="-122"/>
                <a:ea typeface="楷体_GB2312" pitchFamily="49" charset="-122"/>
              </a:rPr>
              <a:t>①</a:t>
            </a:r>
          </a:p>
        </p:txBody>
      </p:sp>
      <p:sp>
        <p:nvSpPr>
          <p:cNvPr id="481295" name="Text Box 15"/>
          <p:cNvSpPr txBox="1">
            <a:spLocks noChangeArrowheads="1"/>
          </p:cNvSpPr>
          <p:nvPr/>
        </p:nvSpPr>
        <p:spPr bwMode="auto">
          <a:xfrm>
            <a:off x="5232400" y="3259138"/>
            <a:ext cx="492125" cy="457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en-US" altLang="zh-CN" sz="2400" b="1">
                <a:latin typeface="楷体_GB2312" pitchFamily="49" charset="-122"/>
                <a:ea typeface="楷体_GB2312" pitchFamily="49" charset="-122"/>
              </a:rPr>
              <a:t>②</a:t>
            </a:r>
          </a:p>
        </p:txBody>
      </p:sp>
      <p:sp>
        <p:nvSpPr>
          <p:cNvPr id="481296" name="Text Box 16"/>
          <p:cNvSpPr txBox="1">
            <a:spLocks noChangeArrowheads="1"/>
          </p:cNvSpPr>
          <p:nvPr/>
        </p:nvSpPr>
        <p:spPr bwMode="auto">
          <a:xfrm>
            <a:off x="5219700" y="1989138"/>
            <a:ext cx="490538" cy="457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en-US" altLang="zh-CN" sz="2400" b="1">
                <a:latin typeface="楷体_GB2312" pitchFamily="49" charset="-122"/>
                <a:ea typeface="楷体_GB2312" pitchFamily="49" charset="-122"/>
              </a:rPr>
              <a:t>④</a:t>
            </a:r>
          </a:p>
        </p:txBody>
      </p:sp>
      <p:sp>
        <p:nvSpPr>
          <p:cNvPr id="481297" name="Text Box 17"/>
          <p:cNvSpPr txBox="1">
            <a:spLocks noChangeArrowheads="1"/>
          </p:cNvSpPr>
          <p:nvPr/>
        </p:nvSpPr>
        <p:spPr bwMode="auto">
          <a:xfrm>
            <a:off x="3144838" y="3284538"/>
            <a:ext cx="490537" cy="457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spAutoFit/>
          </a:bodyPr>
          <a:lstStyle/>
          <a:p>
            <a:r>
              <a:rPr lang="en-US" altLang="zh-CN" sz="2400" b="1">
                <a:latin typeface="楷体_GB2312" pitchFamily="49" charset="-122"/>
                <a:ea typeface="楷体_GB2312" pitchFamily="49" charset="-122"/>
              </a:rPr>
              <a:t>③</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0862"/>
    </mc:Choice>
    <mc:Fallback xmlns="">
      <p:transition spd="slow" advTm="808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1283"/>
                                        </p:tgtEl>
                                        <p:attrNameLst>
                                          <p:attrName>style.visibility</p:attrName>
                                        </p:attrNameLst>
                                      </p:cBhvr>
                                      <p:to>
                                        <p:strVal val="visible"/>
                                      </p:to>
                                    </p:set>
                                    <p:animEffect transition="in" filter="wipe(left)">
                                      <p:cBhvr>
                                        <p:cTn id="7" dur="1000"/>
                                        <p:tgtEl>
                                          <p:spTgt spid="48128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81288"/>
                                        </p:tgtEl>
                                        <p:attrNameLst>
                                          <p:attrName>style.visibility</p:attrName>
                                        </p:attrNameLst>
                                      </p:cBhvr>
                                      <p:to>
                                        <p:strVal val="visible"/>
                                      </p:to>
                                    </p:set>
                                    <p:anim calcmode="lin" valueType="num">
                                      <p:cBhvr additive="base">
                                        <p:cTn id="12" dur="500" fill="hold"/>
                                        <p:tgtEl>
                                          <p:spTgt spid="481288"/>
                                        </p:tgtEl>
                                        <p:attrNameLst>
                                          <p:attrName>ppt_x</p:attrName>
                                        </p:attrNameLst>
                                      </p:cBhvr>
                                      <p:tavLst>
                                        <p:tav tm="0">
                                          <p:val>
                                            <p:strVal val="0-#ppt_w/2"/>
                                          </p:val>
                                        </p:tav>
                                        <p:tav tm="100000">
                                          <p:val>
                                            <p:strVal val="#ppt_x"/>
                                          </p:val>
                                        </p:tav>
                                      </p:tavLst>
                                    </p:anim>
                                    <p:anim calcmode="lin" valueType="num">
                                      <p:cBhvr additive="base">
                                        <p:cTn id="13" dur="500" fill="hold"/>
                                        <p:tgtEl>
                                          <p:spTgt spid="48128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81286"/>
                                        </p:tgtEl>
                                        <p:attrNameLst>
                                          <p:attrName>style.visibility</p:attrName>
                                        </p:attrNameLst>
                                      </p:cBhvr>
                                      <p:to>
                                        <p:strVal val="visible"/>
                                      </p:to>
                                    </p:set>
                                    <p:animEffect transition="in" filter="blinds(horizontal)">
                                      <p:cBhvr>
                                        <p:cTn id="18" dur="500"/>
                                        <p:tgtEl>
                                          <p:spTgt spid="48128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81290"/>
                                        </p:tgtEl>
                                        <p:attrNameLst>
                                          <p:attrName>style.visibility</p:attrName>
                                        </p:attrNameLst>
                                      </p:cBhvr>
                                      <p:to>
                                        <p:strVal val="visible"/>
                                      </p:to>
                                    </p:set>
                                    <p:animEffect transition="in" filter="wipe(down)">
                                      <p:cBhvr>
                                        <p:cTn id="23" dur="500"/>
                                        <p:tgtEl>
                                          <p:spTgt spid="481290"/>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81294"/>
                                        </p:tgtEl>
                                        <p:attrNameLst>
                                          <p:attrName>style.visibility</p:attrName>
                                        </p:attrNameLst>
                                      </p:cBhvr>
                                      <p:to>
                                        <p:strVal val="visible"/>
                                      </p:to>
                                    </p:set>
                                    <p:animEffect transition="in" filter="wipe(down)">
                                      <p:cBhvr>
                                        <p:cTn id="26" dur="500"/>
                                        <p:tgtEl>
                                          <p:spTgt spid="48129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81289"/>
                                        </p:tgtEl>
                                        <p:attrNameLst>
                                          <p:attrName>style.visibility</p:attrName>
                                        </p:attrNameLst>
                                      </p:cBhvr>
                                      <p:to>
                                        <p:strVal val="visible"/>
                                      </p:to>
                                    </p:set>
                                    <p:anim calcmode="lin" valueType="num">
                                      <p:cBhvr additive="base">
                                        <p:cTn id="31" dur="500" fill="hold"/>
                                        <p:tgtEl>
                                          <p:spTgt spid="481289"/>
                                        </p:tgtEl>
                                        <p:attrNameLst>
                                          <p:attrName>ppt_x</p:attrName>
                                        </p:attrNameLst>
                                      </p:cBhvr>
                                      <p:tavLst>
                                        <p:tav tm="0">
                                          <p:val>
                                            <p:strVal val="1+#ppt_w/2"/>
                                          </p:val>
                                        </p:tav>
                                        <p:tav tm="100000">
                                          <p:val>
                                            <p:strVal val="#ppt_x"/>
                                          </p:val>
                                        </p:tav>
                                      </p:tavLst>
                                    </p:anim>
                                    <p:anim calcmode="lin" valueType="num">
                                      <p:cBhvr additive="base">
                                        <p:cTn id="32" dur="500" fill="hold"/>
                                        <p:tgtEl>
                                          <p:spTgt spid="48128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81287"/>
                                        </p:tgtEl>
                                        <p:attrNameLst>
                                          <p:attrName>style.visibility</p:attrName>
                                        </p:attrNameLst>
                                      </p:cBhvr>
                                      <p:to>
                                        <p:strVal val="visible"/>
                                      </p:to>
                                    </p:set>
                                    <p:animEffect transition="in" filter="blinds(horizontal)">
                                      <p:cBhvr>
                                        <p:cTn id="37" dur="500"/>
                                        <p:tgtEl>
                                          <p:spTgt spid="48128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481291"/>
                                        </p:tgtEl>
                                        <p:attrNameLst>
                                          <p:attrName>style.visibility</p:attrName>
                                        </p:attrNameLst>
                                      </p:cBhvr>
                                      <p:to>
                                        <p:strVal val="visible"/>
                                      </p:to>
                                    </p:set>
                                    <p:animEffect transition="in" filter="wipe(right)">
                                      <p:cBhvr>
                                        <p:cTn id="42" dur="500"/>
                                        <p:tgtEl>
                                          <p:spTgt spid="481291"/>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481295"/>
                                        </p:tgtEl>
                                        <p:attrNameLst>
                                          <p:attrName>style.visibility</p:attrName>
                                        </p:attrNameLst>
                                      </p:cBhvr>
                                      <p:to>
                                        <p:strVal val="visible"/>
                                      </p:to>
                                    </p:set>
                                    <p:animEffect transition="in" filter="wipe(right)">
                                      <p:cBhvr>
                                        <p:cTn id="45" dur="500"/>
                                        <p:tgtEl>
                                          <p:spTgt spid="48129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81292"/>
                                        </p:tgtEl>
                                        <p:attrNameLst>
                                          <p:attrName>style.visibility</p:attrName>
                                        </p:attrNameLst>
                                      </p:cBhvr>
                                      <p:to>
                                        <p:strVal val="visible"/>
                                      </p:to>
                                    </p:set>
                                    <p:animEffect transition="in" filter="wipe(left)">
                                      <p:cBhvr>
                                        <p:cTn id="50" dur="500"/>
                                        <p:tgtEl>
                                          <p:spTgt spid="481292"/>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481297"/>
                                        </p:tgtEl>
                                        <p:attrNameLst>
                                          <p:attrName>style.visibility</p:attrName>
                                        </p:attrNameLst>
                                      </p:cBhvr>
                                      <p:to>
                                        <p:strVal val="visible"/>
                                      </p:to>
                                    </p:set>
                                    <p:animEffect transition="in" filter="wipe(left)">
                                      <p:cBhvr>
                                        <p:cTn id="53" dur="500"/>
                                        <p:tgtEl>
                                          <p:spTgt spid="48129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481293"/>
                                        </p:tgtEl>
                                        <p:attrNameLst>
                                          <p:attrName>style.visibility</p:attrName>
                                        </p:attrNameLst>
                                      </p:cBhvr>
                                      <p:to>
                                        <p:strVal val="visible"/>
                                      </p:to>
                                    </p:set>
                                    <p:animEffect transition="in" filter="wipe(down)">
                                      <p:cBhvr>
                                        <p:cTn id="58" dur="500"/>
                                        <p:tgtEl>
                                          <p:spTgt spid="481293"/>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481296"/>
                                        </p:tgtEl>
                                        <p:attrNameLst>
                                          <p:attrName>style.visibility</p:attrName>
                                        </p:attrNameLst>
                                      </p:cBhvr>
                                      <p:to>
                                        <p:strVal val="visible"/>
                                      </p:to>
                                    </p:set>
                                    <p:animEffect transition="in" filter="wipe(down)">
                                      <p:cBhvr>
                                        <p:cTn id="61" dur="500"/>
                                        <p:tgtEl>
                                          <p:spTgt spid="48129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481284">
                                            <p:bg/>
                                          </p:spTgt>
                                        </p:tgtEl>
                                        <p:attrNameLst>
                                          <p:attrName>style.visibility</p:attrName>
                                        </p:attrNameLst>
                                      </p:cBhvr>
                                      <p:to>
                                        <p:strVal val="visible"/>
                                      </p:to>
                                    </p:set>
                                    <p:animEffect transition="in" filter="wipe(up)">
                                      <p:cBhvr>
                                        <p:cTn id="66" dur="500"/>
                                        <p:tgtEl>
                                          <p:spTgt spid="481284">
                                            <p:bg/>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481284">
                                            <p:txEl>
                                              <p:pRg st="0" end="0"/>
                                            </p:txEl>
                                          </p:spTgt>
                                        </p:tgtEl>
                                        <p:attrNameLst>
                                          <p:attrName>style.visibility</p:attrName>
                                        </p:attrNameLst>
                                      </p:cBhvr>
                                      <p:to>
                                        <p:strVal val="visible"/>
                                      </p:to>
                                    </p:set>
                                    <p:animEffect transition="in" filter="wipe(up)">
                                      <p:cBhvr>
                                        <p:cTn id="71" dur="500"/>
                                        <p:tgtEl>
                                          <p:spTgt spid="4812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3" grpId="0"/>
      <p:bldP spid="481284" grpId="0" build="p" animBg="1"/>
      <p:bldP spid="481286" grpId="0" animBg="1"/>
      <p:bldP spid="481287" grpId="0" animBg="1"/>
      <p:bldP spid="481288" grpId="0" animBg="1"/>
      <p:bldP spid="481289" grpId="0" animBg="1"/>
      <p:bldP spid="481294" grpId="0"/>
      <p:bldP spid="481295" grpId="0"/>
      <p:bldP spid="481296" grpId="0"/>
      <p:bldP spid="48129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464915" name="AutoShape 19"/>
          <p:cNvSpPr>
            <a:spLocks noChangeArrowheads="1"/>
          </p:cNvSpPr>
          <p:nvPr/>
        </p:nvSpPr>
        <p:spPr bwMode="auto">
          <a:xfrm>
            <a:off x="468313" y="981075"/>
            <a:ext cx="8207375" cy="143986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1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宋体" panose="02010600030101010101" pitchFamily="2" charset="-122"/>
              </a:rPr>
              <a:t>例：本例制造了一起死锁，由</a:t>
            </a:r>
            <a:r>
              <a:rPr lang="en-US" altLang="zh-CN" sz="2800" b="1">
                <a:effectLst>
                  <a:outerShdw blurRad="38100" dist="38100" dir="2700000" algn="tl">
                    <a:srgbClr val="C0C0C0"/>
                  </a:outerShdw>
                </a:effectLst>
                <a:latin typeface="宋体" panose="02010600030101010101" pitchFamily="2" charset="-122"/>
              </a:rPr>
              <a:t>SQL Server</a:t>
            </a:r>
            <a:r>
              <a:rPr lang="zh-CN" altLang="en-US" sz="2800" b="1">
                <a:effectLst>
                  <a:outerShdw blurRad="38100" dist="38100" dir="2700000" algn="tl">
                    <a:srgbClr val="C0C0C0"/>
                  </a:outerShdw>
                </a:effectLst>
                <a:latin typeface="宋体" panose="02010600030101010101" pitchFamily="2" charset="-122"/>
              </a:rPr>
              <a:t>检测和处理死锁。</a:t>
            </a:r>
            <a:r>
              <a:rPr lang="zh-CN" altLang="en-US" sz="2400" b="1">
                <a:effectLst>
                  <a:outerShdw blurRad="38100" dist="38100" dir="2700000" algn="tl">
                    <a:srgbClr val="C0C0C0"/>
                  </a:outerShdw>
                </a:effectLst>
                <a:latin typeface="楷体_GB2312" pitchFamily="49" charset="-122"/>
                <a:ea typeface="楷体_GB2312" pitchFamily="49" charset="-122"/>
              </a:rPr>
              <a:t>在</a:t>
            </a:r>
            <a:r>
              <a:rPr lang="en-US" altLang="zh-CN" sz="2400" b="1">
                <a:effectLst>
                  <a:outerShdw blurRad="38100" dist="38100" dir="2700000" algn="tl">
                    <a:srgbClr val="C0C0C0"/>
                  </a:outerShdw>
                </a:effectLst>
                <a:latin typeface="楷体_GB2312" pitchFamily="49" charset="-122"/>
                <a:ea typeface="楷体_GB2312" pitchFamily="49" charset="-122"/>
              </a:rPr>
              <a:t>SQL Server</a:t>
            </a:r>
            <a:r>
              <a:rPr lang="zh-CN" altLang="en-US" sz="2400" b="1">
                <a:effectLst>
                  <a:outerShdw blurRad="38100" dist="38100" dir="2700000" algn="tl">
                    <a:srgbClr val="C0C0C0"/>
                  </a:outerShdw>
                </a:effectLst>
                <a:latin typeface="楷体_GB2312" pitchFamily="49" charset="-122"/>
                <a:ea typeface="楷体_GB2312" pitchFamily="49" charset="-122"/>
              </a:rPr>
              <a:t>中，新建两个连接，分别执行以下语句：</a:t>
            </a:r>
          </a:p>
        </p:txBody>
      </p:sp>
      <p:sp>
        <p:nvSpPr>
          <p:cNvPr id="490570" name="AutoShape 74"/>
          <p:cNvSpPr>
            <a:spLocks noChangeArrowheads="1"/>
          </p:cNvSpPr>
          <p:nvPr/>
        </p:nvSpPr>
        <p:spPr bwMode="gray">
          <a:xfrm>
            <a:off x="179388" y="2493963"/>
            <a:ext cx="4321175" cy="4103687"/>
          </a:xfrm>
          <a:prstGeom prst="roundRect">
            <a:avLst>
              <a:gd name="adj" fmla="val 10347"/>
            </a:avLst>
          </a:prstGeom>
          <a:gradFill rotWithShape="1">
            <a:gsLst>
              <a:gs pos="0">
                <a:srgbClr val="CCECFF"/>
              </a:gs>
              <a:gs pos="100000">
                <a:srgbClr val="CCECFF">
                  <a:gamma/>
                  <a:tint val="0"/>
                  <a:invGamma/>
                </a:srgbClr>
              </a:gs>
            </a:gsLst>
            <a:lin ang="18900000" scaled="1"/>
          </a:gradFill>
          <a:ln w="50800">
            <a:solidFill>
              <a:srgbClr val="7099E2"/>
            </a:solidFill>
            <a:round/>
          </a:ln>
          <a:effectLst>
            <a:outerShdw dist="107763" dir="2700000" algn="ctr" rotWithShape="0">
              <a:srgbClr val="C0C0C0">
                <a:alpha val="50000"/>
              </a:srgbClr>
            </a:outerShdw>
          </a:effectLst>
        </p:spPr>
        <p:txBody>
          <a:bodyPr wrap="none" anchor="ctr"/>
          <a:lstStyle/>
          <a:p>
            <a:pPr>
              <a:defRPr/>
            </a:pPr>
            <a:endParaRPr lang="zh-CN" altLang="en-US"/>
          </a:p>
        </p:txBody>
      </p:sp>
      <p:sp>
        <p:nvSpPr>
          <p:cNvPr id="490576" name="AutoShape 80"/>
          <p:cNvSpPr>
            <a:spLocks noChangeArrowheads="1"/>
          </p:cNvSpPr>
          <p:nvPr/>
        </p:nvSpPr>
        <p:spPr bwMode="gray">
          <a:xfrm>
            <a:off x="4643438" y="2509838"/>
            <a:ext cx="4249737" cy="4014787"/>
          </a:xfrm>
          <a:prstGeom prst="roundRect">
            <a:avLst>
              <a:gd name="adj" fmla="val 10347"/>
            </a:avLst>
          </a:prstGeom>
          <a:gradFill rotWithShape="1">
            <a:gsLst>
              <a:gs pos="0">
                <a:srgbClr val="D8F4BE">
                  <a:gamma/>
                  <a:tint val="0"/>
                  <a:invGamma/>
                </a:srgbClr>
              </a:gs>
              <a:gs pos="100000">
                <a:srgbClr val="D8F4BE"/>
              </a:gs>
            </a:gsLst>
            <a:lin ang="2700000" scaled="1"/>
          </a:gradFill>
          <a:ln w="50800">
            <a:solidFill>
              <a:srgbClr val="44988C"/>
            </a:solidFill>
            <a:round/>
          </a:ln>
          <a:effectLst>
            <a:outerShdw dist="107763" dir="2700000" algn="ctr" rotWithShape="0">
              <a:srgbClr val="C0C0C0">
                <a:alpha val="50000"/>
              </a:srgbClr>
            </a:outerShdw>
          </a:effectLst>
        </p:spPr>
        <p:txBody>
          <a:bodyPr wrap="none" anchor="ctr"/>
          <a:lstStyle/>
          <a:p>
            <a:pPr>
              <a:defRPr/>
            </a:pPr>
            <a:endParaRPr lang="zh-CN" altLang="en-US"/>
          </a:p>
        </p:txBody>
      </p:sp>
      <p:sp>
        <p:nvSpPr>
          <p:cNvPr id="464918" name="Rectangle 22"/>
          <p:cNvSpPr>
            <a:spLocks noChangeArrowheads="1"/>
          </p:cNvSpPr>
          <p:nvPr/>
        </p:nvSpPr>
        <p:spPr bwMode="auto">
          <a:xfrm>
            <a:off x="250825" y="2636838"/>
            <a:ext cx="4176713" cy="334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spcBef>
                <a:spcPct val="20000"/>
              </a:spcBef>
              <a:spcAft>
                <a:spcPct val="40000"/>
              </a:spcAft>
              <a:buClr>
                <a:schemeClr val="folHlink"/>
              </a:buClr>
              <a:buSzPct val="60000"/>
              <a:buFont typeface="Wingdings" panose="05000000000000000000" pitchFamily="2" charset="2"/>
              <a:buNone/>
            </a:pPr>
            <a:r>
              <a:rPr lang="en-US" altLang="zh-CN" sz="2400" b="1">
                <a:effectLst>
                  <a:outerShdw blurRad="38100" dist="38100" dir="2700000" algn="tl">
                    <a:srgbClr val="C0C0C0"/>
                  </a:outerShdw>
                </a:effectLst>
                <a:latin typeface="楷体_GB2312" pitchFamily="49" charset="-122"/>
                <a:ea typeface="楷体_GB2312" pitchFamily="49" charset="-122"/>
              </a:rPr>
              <a:t>(1)</a:t>
            </a:r>
            <a:r>
              <a:rPr lang="zh-CN" altLang="en-US" sz="2400" b="1">
                <a:effectLst>
                  <a:outerShdw blurRad="38100" dist="38100" dir="2700000" algn="tl">
                    <a:srgbClr val="C0C0C0"/>
                  </a:outerShdw>
                </a:effectLst>
                <a:latin typeface="楷体_GB2312" pitchFamily="49" charset="-122"/>
                <a:ea typeface="楷体_GB2312" pitchFamily="49" charset="-122"/>
              </a:rPr>
              <a:t>事务</a:t>
            </a:r>
            <a:r>
              <a:rPr lang="en-US" altLang="zh-CN" sz="2400" b="1">
                <a:effectLst>
                  <a:outerShdw blurRad="38100" dist="38100" dir="2700000" algn="tl">
                    <a:srgbClr val="C0C0C0"/>
                  </a:outerShdw>
                </a:effectLst>
                <a:latin typeface="楷体_GB2312" pitchFamily="49" charset="-122"/>
                <a:ea typeface="楷体_GB2312" pitchFamily="49" charset="-122"/>
              </a:rPr>
              <a:t>T1</a:t>
            </a:r>
            <a:r>
              <a:rPr lang="zh-CN" altLang="en-US" sz="2400" b="1">
                <a:effectLst>
                  <a:outerShdw blurRad="38100" dist="38100" dir="2700000" algn="tl">
                    <a:srgbClr val="C0C0C0"/>
                  </a:outerShdw>
                </a:effectLst>
                <a:latin typeface="楷体_GB2312" pitchFamily="49" charset="-122"/>
                <a:ea typeface="楷体_GB2312" pitchFamily="49" charset="-122"/>
              </a:rPr>
              <a:t>在数据库中创建一个表</a:t>
            </a:r>
            <a:r>
              <a:rPr lang="en-US" altLang="zh-CN" sz="2400" b="1">
                <a:effectLst>
                  <a:outerShdw blurRad="38100" dist="38100" dir="2700000" algn="tl">
                    <a:srgbClr val="C0C0C0"/>
                  </a:outerShdw>
                </a:effectLst>
                <a:latin typeface="楷体_GB2312" pitchFamily="49" charset="-122"/>
                <a:ea typeface="楷体_GB2312" pitchFamily="49" charset="-122"/>
              </a:rPr>
              <a:t>t1</a:t>
            </a:r>
            <a:r>
              <a:rPr lang="zh-CN" altLang="en-US" sz="2400" b="1">
                <a:effectLst>
                  <a:outerShdw blurRad="38100" dist="38100" dir="2700000" algn="tl">
                    <a:srgbClr val="C0C0C0"/>
                  </a:outerShdw>
                </a:effectLst>
                <a:latin typeface="楷体_GB2312" pitchFamily="49" charset="-122"/>
                <a:ea typeface="楷体_GB2312" pitchFamily="49" charset="-122"/>
              </a:rPr>
              <a:t>，并在不关闭事务的情况下插入数据。</a:t>
            </a:r>
          </a:p>
          <a:p>
            <a:pPr algn="just">
              <a:lnSpc>
                <a:spcPct val="110000"/>
              </a:lnSpc>
              <a:spcBef>
                <a:spcPct val="20000"/>
              </a:spcBef>
              <a:buClr>
                <a:schemeClr val="folHlink"/>
              </a:buClr>
              <a:buSzPct val="60000"/>
              <a:buFont typeface="Wingdings" panose="05000000000000000000" pitchFamily="2" charset="2"/>
              <a:buNone/>
            </a:pPr>
            <a:r>
              <a:rPr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USE</a:t>
            </a: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 </a:t>
            </a:r>
            <a:r>
              <a:rPr lang="en-US" altLang="zh-CN" sz="2400" b="1" noProof="1">
                <a:effectLst>
                  <a:outerShdw blurRad="38100" dist="38100" dir="2700000" algn="tl">
                    <a:srgbClr val="C0C0C0"/>
                  </a:outerShdw>
                </a:effectLst>
                <a:latin typeface="楷体_GB2312" pitchFamily="49" charset="-122"/>
                <a:ea typeface="楷体_GB2312" pitchFamily="49" charset="-122"/>
              </a:rPr>
              <a:t>JXGL</a:t>
            </a:r>
          </a:p>
          <a:p>
            <a:pPr algn="just">
              <a:lnSpc>
                <a:spcPct val="110000"/>
              </a:lnSpc>
              <a:spcBef>
                <a:spcPct val="20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CREATE TABLE </a:t>
            </a:r>
            <a:r>
              <a:rPr lang="en-US" altLang="zh-CN" sz="2400" b="1" noProof="1">
                <a:effectLst>
                  <a:outerShdw blurRad="38100" dist="38100" dir="2700000" algn="tl">
                    <a:srgbClr val="C0C0C0"/>
                  </a:outerShdw>
                </a:effectLst>
                <a:latin typeface="楷体_GB2312" pitchFamily="49" charset="-122"/>
                <a:ea typeface="楷体_GB2312" pitchFamily="49" charset="-122"/>
              </a:rPr>
              <a:t>t1</a:t>
            </a: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 </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r>
              <a:rPr lang="en-US" altLang="zh-CN" sz="2400" b="1" noProof="1">
                <a:effectLst>
                  <a:outerShdw blurRad="38100" dist="38100" dir="2700000" algn="tl">
                    <a:srgbClr val="C0C0C0"/>
                  </a:outerShdw>
                </a:effectLst>
                <a:latin typeface="楷体_GB2312" pitchFamily="49" charset="-122"/>
                <a:ea typeface="楷体_GB2312" pitchFamily="49" charset="-122"/>
              </a:rPr>
              <a:t>i</a:t>
            </a:r>
            <a:r>
              <a:rPr lang="en-US" altLang="zh-CN" sz="2400" b="1">
                <a:solidFill>
                  <a:srgbClr val="808080"/>
                </a:solidFill>
                <a:effectLst>
                  <a:outerShdw blurRad="38100" dist="38100" dir="2700000" algn="tl">
                    <a:srgbClr val="C0C0C0"/>
                  </a:outerShdw>
                </a:effectLst>
                <a:latin typeface="楷体_GB2312" pitchFamily="49" charset="-122"/>
                <a:ea typeface="楷体_GB2312" pitchFamily="49" charset="-122"/>
              </a:rPr>
              <a:t> </a:t>
            </a: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int</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p>
          <a:p>
            <a:pPr algn="just">
              <a:lnSpc>
                <a:spcPct val="110000"/>
              </a:lnSpc>
              <a:spcBef>
                <a:spcPct val="20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BEGIN TRANSACTION</a:t>
            </a:r>
            <a:r>
              <a:rPr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 </a:t>
            </a:r>
            <a:r>
              <a:rPr lang="en-US" altLang="zh-CN" sz="2400" b="1">
                <a:effectLst>
                  <a:outerShdw blurRad="38100" dist="38100" dir="2700000" algn="tl">
                    <a:srgbClr val="C0C0C0"/>
                  </a:outerShdw>
                </a:effectLst>
                <a:latin typeface="楷体_GB2312" pitchFamily="49" charset="-122"/>
                <a:ea typeface="楷体_GB2312" pitchFamily="49" charset="-122"/>
              </a:rPr>
              <a:t>T1</a:t>
            </a:r>
            <a:endParaRPr lang="en-US" altLang="zh-CN" sz="2400" b="1" noProof="1">
              <a:effectLst>
                <a:outerShdw blurRad="38100" dist="38100" dir="2700000" algn="tl">
                  <a:srgbClr val="C0C0C0"/>
                </a:outerShdw>
              </a:effectLst>
              <a:latin typeface="楷体_GB2312" pitchFamily="49" charset="-122"/>
              <a:ea typeface="楷体_GB2312" pitchFamily="49" charset="-122"/>
            </a:endParaRPr>
          </a:p>
          <a:p>
            <a:pPr algn="just">
              <a:lnSpc>
                <a:spcPct val="110000"/>
              </a:lnSpc>
              <a:spcBef>
                <a:spcPct val="20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INSERT INTO </a:t>
            </a:r>
            <a:r>
              <a:rPr lang="en-US" altLang="zh-CN" sz="2400" b="1" noProof="1">
                <a:effectLst>
                  <a:outerShdw blurRad="38100" dist="38100" dir="2700000" algn="tl">
                    <a:srgbClr val="C0C0C0"/>
                  </a:outerShdw>
                </a:effectLst>
                <a:latin typeface="楷体_GB2312" pitchFamily="49" charset="-122"/>
                <a:ea typeface="楷体_GB2312" pitchFamily="49" charset="-122"/>
              </a:rPr>
              <a:t>t1 </a:t>
            </a: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 VALUES</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r>
              <a:rPr lang="en-US" altLang="zh-CN" sz="2400" b="1" noProof="1">
                <a:effectLst>
                  <a:outerShdw blurRad="38100" dist="38100" dir="2700000" algn="tl">
                    <a:srgbClr val="C0C0C0"/>
                  </a:outerShdw>
                </a:effectLst>
                <a:latin typeface="楷体_GB2312" pitchFamily="49" charset="-122"/>
                <a:ea typeface="楷体_GB2312" pitchFamily="49" charset="-122"/>
              </a:rPr>
              <a:t>1</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endParaRPr lang="zh-CN" altLang="en-US" sz="2400" b="1">
              <a:solidFill>
                <a:srgbClr val="808080"/>
              </a:solidFill>
              <a:effectLst>
                <a:outerShdw blurRad="38100" dist="38100" dir="2700000" algn="tl">
                  <a:srgbClr val="C0C0C0"/>
                </a:outerShdw>
              </a:effectLst>
              <a:latin typeface="楷体_GB2312" pitchFamily="49" charset="-122"/>
              <a:ea typeface="楷体_GB2312" pitchFamily="49" charset="-122"/>
            </a:endParaRPr>
          </a:p>
        </p:txBody>
      </p:sp>
      <p:sp>
        <p:nvSpPr>
          <p:cNvPr id="464919" name="Rectangle 23"/>
          <p:cNvSpPr>
            <a:spLocks noChangeArrowheads="1"/>
          </p:cNvSpPr>
          <p:nvPr/>
        </p:nvSpPr>
        <p:spPr bwMode="auto">
          <a:xfrm>
            <a:off x="4643438" y="2636838"/>
            <a:ext cx="4176712" cy="343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20000"/>
              </a:spcBef>
              <a:spcAft>
                <a:spcPct val="50000"/>
              </a:spcAft>
              <a:buClr>
                <a:schemeClr val="folHlink"/>
              </a:buClr>
              <a:buSzPct val="60000"/>
              <a:buFont typeface="Wingdings" panose="05000000000000000000" pitchFamily="2" charset="2"/>
              <a:buNone/>
            </a:pPr>
            <a:r>
              <a:rPr lang="en-US" altLang="zh-CN" sz="2400" b="1">
                <a:effectLst>
                  <a:outerShdw blurRad="38100" dist="38100" dir="2700000" algn="tl">
                    <a:srgbClr val="C0C0C0"/>
                  </a:outerShdw>
                </a:effectLst>
                <a:latin typeface="楷体_GB2312" pitchFamily="49" charset="-122"/>
                <a:ea typeface="楷体_GB2312" pitchFamily="49" charset="-122"/>
              </a:rPr>
              <a:t>(2)</a:t>
            </a:r>
            <a:r>
              <a:rPr lang="zh-CN" altLang="en-US" sz="2400" b="1">
                <a:effectLst>
                  <a:outerShdw blurRad="38100" dist="38100" dir="2700000" algn="tl">
                    <a:srgbClr val="C0C0C0"/>
                  </a:outerShdw>
                </a:effectLst>
                <a:latin typeface="楷体_GB2312" pitchFamily="49" charset="-122"/>
                <a:ea typeface="楷体_GB2312" pitchFamily="49" charset="-122"/>
              </a:rPr>
              <a:t>打开第二个查询窗口执行事务</a:t>
            </a:r>
            <a:r>
              <a:rPr lang="en-US" altLang="zh-CN" sz="2400" b="1">
                <a:effectLst>
                  <a:outerShdw blurRad="38100" dist="38100" dir="2700000" algn="tl">
                    <a:srgbClr val="C0C0C0"/>
                  </a:outerShdw>
                </a:effectLst>
                <a:latin typeface="楷体_GB2312" pitchFamily="49" charset="-122"/>
                <a:ea typeface="楷体_GB2312" pitchFamily="49" charset="-122"/>
              </a:rPr>
              <a:t>T2</a:t>
            </a:r>
            <a:r>
              <a:rPr lang="zh-CN" altLang="en-US" sz="2400" b="1">
                <a:effectLst>
                  <a:outerShdw blurRad="38100" dist="38100" dir="2700000" algn="tl">
                    <a:srgbClr val="C0C0C0"/>
                  </a:outerShdw>
                </a:effectLst>
                <a:latin typeface="楷体_GB2312" pitchFamily="49" charset="-122"/>
                <a:ea typeface="楷体_GB2312" pitchFamily="49" charset="-122"/>
              </a:rPr>
              <a:t>。</a:t>
            </a:r>
          </a:p>
          <a:p>
            <a:pPr algn="just">
              <a:lnSpc>
                <a:spcPct val="110000"/>
              </a:lnSpc>
              <a:spcBef>
                <a:spcPct val="15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USE </a:t>
            </a:r>
            <a:r>
              <a:rPr lang="en-US" altLang="zh-CN" sz="2400" b="1" noProof="1">
                <a:effectLst>
                  <a:outerShdw blurRad="38100" dist="38100" dir="2700000" algn="tl">
                    <a:srgbClr val="C0C0C0"/>
                  </a:outerShdw>
                </a:effectLst>
                <a:latin typeface="楷体_GB2312" pitchFamily="49" charset="-122"/>
                <a:ea typeface="楷体_GB2312" pitchFamily="49" charset="-122"/>
              </a:rPr>
              <a:t>JXGL</a:t>
            </a:r>
          </a:p>
          <a:p>
            <a:pPr algn="just">
              <a:lnSpc>
                <a:spcPct val="110000"/>
              </a:lnSpc>
              <a:spcBef>
                <a:spcPct val="15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CREATE TABLE </a:t>
            </a:r>
            <a:r>
              <a:rPr lang="en-US" altLang="zh-CN" sz="2400" b="1" noProof="1">
                <a:effectLst>
                  <a:outerShdw blurRad="38100" dist="38100" dir="2700000" algn="tl">
                    <a:srgbClr val="C0C0C0"/>
                  </a:outerShdw>
                </a:effectLst>
                <a:latin typeface="楷体_GB2312" pitchFamily="49" charset="-122"/>
                <a:ea typeface="楷体_GB2312" pitchFamily="49" charset="-122"/>
              </a:rPr>
              <a:t>t2</a:t>
            </a:r>
            <a:r>
              <a:rPr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 </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r>
              <a:rPr lang="en-US" altLang="zh-CN" sz="2400" b="1" noProof="1">
                <a:effectLst>
                  <a:outerShdw blurRad="38100" dist="38100" dir="2700000" algn="tl">
                    <a:srgbClr val="C0C0C0"/>
                  </a:outerShdw>
                </a:effectLst>
                <a:latin typeface="楷体_GB2312" pitchFamily="49" charset="-122"/>
                <a:ea typeface="楷体_GB2312" pitchFamily="49" charset="-122"/>
              </a:rPr>
              <a:t>i</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 </a:t>
            </a: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int</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p>
          <a:p>
            <a:pPr algn="just">
              <a:lnSpc>
                <a:spcPct val="110000"/>
              </a:lnSpc>
              <a:spcBef>
                <a:spcPct val="15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BEGIN TRANSACTION</a:t>
            </a:r>
            <a:r>
              <a:rPr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 </a:t>
            </a:r>
            <a:r>
              <a:rPr lang="en-US" altLang="zh-CN" sz="2400" b="1">
                <a:effectLst>
                  <a:outerShdw blurRad="38100" dist="38100" dir="2700000" algn="tl">
                    <a:srgbClr val="C0C0C0"/>
                  </a:outerShdw>
                </a:effectLst>
                <a:latin typeface="楷体_GB2312" pitchFamily="49" charset="-122"/>
                <a:ea typeface="楷体_GB2312" pitchFamily="49" charset="-122"/>
              </a:rPr>
              <a:t>T2</a:t>
            </a:r>
            <a:endParaRPr lang="en-US" altLang="zh-CN" sz="2400" b="1" noProof="1">
              <a:effectLst>
                <a:outerShdw blurRad="38100" dist="38100" dir="2700000" algn="tl">
                  <a:srgbClr val="C0C0C0"/>
                </a:outerShdw>
              </a:effectLst>
              <a:latin typeface="楷体_GB2312" pitchFamily="49" charset="-122"/>
              <a:ea typeface="楷体_GB2312" pitchFamily="49" charset="-122"/>
            </a:endParaRPr>
          </a:p>
          <a:p>
            <a:pPr algn="just">
              <a:lnSpc>
                <a:spcPct val="110000"/>
              </a:lnSpc>
              <a:spcBef>
                <a:spcPct val="15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INSERT INTO </a:t>
            </a:r>
            <a:r>
              <a:rPr lang="en-US" altLang="zh-CN" sz="2400" b="1" noProof="1">
                <a:effectLst>
                  <a:outerShdw blurRad="38100" dist="38100" dir="2700000" algn="tl">
                    <a:srgbClr val="C0C0C0"/>
                  </a:outerShdw>
                </a:effectLst>
                <a:latin typeface="楷体_GB2312" pitchFamily="49" charset="-122"/>
                <a:ea typeface="楷体_GB2312" pitchFamily="49" charset="-122"/>
              </a:rPr>
              <a:t>t2</a:t>
            </a: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  VALUES</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r>
              <a:rPr lang="en-US" altLang="zh-CN" sz="2400" b="1" noProof="1">
                <a:effectLst>
                  <a:outerShdw blurRad="38100" dist="38100" dir="2700000" algn="tl">
                    <a:srgbClr val="C0C0C0"/>
                  </a:outerShdw>
                </a:effectLst>
                <a:latin typeface="楷体_GB2312" pitchFamily="49" charset="-122"/>
                <a:ea typeface="楷体_GB2312" pitchFamily="49" charset="-122"/>
              </a:rPr>
              <a:t>1</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a:t>
            </a:r>
            <a:r>
              <a:rPr lang="en-US" altLang="zh-CN" sz="2400" b="1">
                <a:solidFill>
                  <a:srgbClr val="808080"/>
                </a:solidFill>
                <a:effectLst>
                  <a:outerShdw blurRad="38100" dist="38100" dir="2700000" algn="tl">
                    <a:srgbClr val="C0C0C0"/>
                  </a:outerShdw>
                </a:effectLst>
                <a:latin typeface="楷体_GB2312" pitchFamily="49" charset="-122"/>
                <a:ea typeface="楷体_GB2312" pitchFamily="49" charset="-122"/>
              </a:rPr>
              <a:t>;</a:t>
            </a:r>
          </a:p>
          <a:p>
            <a:pPr algn="just">
              <a:lnSpc>
                <a:spcPct val="110000"/>
              </a:lnSpc>
              <a:spcBef>
                <a:spcPct val="15000"/>
              </a:spcBef>
              <a:buClr>
                <a:schemeClr val="folHlink"/>
              </a:buClr>
              <a:buSzPct val="60000"/>
              <a:buFont typeface="Wingdings" panose="05000000000000000000" pitchFamily="2" charset="2"/>
              <a:buNone/>
            </a:pP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UPDATE </a:t>
            </a:r>
            <a:r>
              <a:rPr lang="en-US" altLang="zh-CN" sz="2400" b="1" noProof="1">
                <a:effectLst>
                  <a:outerShdw blurRad="38100" dist="38100" dir="2700000" algn="tl">
                    <a:srgbClr val="C0C0C0"/>
                  </a:outerShdw>
                </a:effectLst>
                <a:latin typeface="楷体_GB2312" pitchFamily="49" charset="-122"/>
                <a:ea typeface="楷体_GB2312" pitchFamily="49" charset="-122"/>
              </a:rPr>
              <a:t>t1</a:t>
            </a:r>
            <a:r>
              <a:rPr lang="en-US" altLang="zh-CN" sz="2400" b="1" noProof="1">
                <a:solidFill>
                  <a:srgbClr val="0000FF"/>
                </a:solidFill>
                <a:effectLst>
                  <a:outerShdw blurRad="38100" dist="38100" dir="2700000" algn="tl">
                    <a:srgbClr val="C0C0C0"/>
                  </a:outerShdw>
                </a:effectLst>
                <a:latin typeface="楷体_GB2312" pitchFamily="49" charset="-122"/>
                <a:ea typeface="楷体_GB2312" pitchFamily="49" charset="-122"/>
              </a:rPr>
              <a:t> set </a:t>
            </a:r>
            <a:r>
              <a:rPr lang="en-US" altLang="zh-CN" sz="2400" b="1" noProof="1">
                <a:effectLst>
                  <a:outerShdw blurRad="38100" dist="38100" dir="2700000" algn="tl">
                    <a:srgbClr val="C0C0C0"/>
                  </a:outerShdw>
                </a:effectLst>
                <a:latin typeface="楷体_GB2312" pitchFamily="49" charset="-122"/>
                <a:ea typeface="楷体_GB2312" pitchFamily="49" charset="-122"/>
              </a:rPr>
              <a:t>i</a:t>
            </a:r>
            <a:r>
              <a:rPr lang="en-US" altLang="zh-CN" sz="2400" b="1" noProof="1">
                <a:solidFill>
                  <a:srgbClr val="808080"/>
                </a:solidFill>
                <a:effectLst>
                  <a:outerShdw blurRad="38100" dist="38100" dir="2700000" algn="tl">
                    <a:srgbClr val="C0C0C0"/>
                  </a:outerShdw>
                </a:effectLst>
                <a:latin typeface="楷体_GB2312" pitchFamily="49" charset="-122"/>
                <a:ea typeface="楷体_GB2312" pitchFamily="49" charset="-122"/>
              </a:rPr>
              <a:t>=2;</a:t>
            </a:r>
            <a:endParaRPr lang="zh-CN" altLang="en-US" sz="2400" b="1">
              <a:solidFill>
                <a:srgbClr val="0000FF"/>
              </a:solidFill>
              <a:effectLst>
                <a:outerShdw blurRad="38100" dist="38100" dir="2700000" algn="tl">
                  <a:srgbClr val="C0C0C0"/>
                </a:outerShdw>
              </a:effectLst>
            </a:endParaRPr>
          </a:p>
        </p:txBody>
      </p:sp>
      <p:sp>
        <p:nvSpPr>
          <p:cNvPr id="464921" name="Rectangle 25"/>
          <p:cNvSpPr>
            <a:spLocks noChangeArrowheads="1"/>
          </p:cNvSpPr>
          <p:nvPr/>
        </p:nvSpPr>
        <p:spPr bwMode="auto">
          <a:xfrm>
            <a:off x="682625" y="1125538"/>
            <a:ext cx="7777163" cy="1152525"/>
          </a:xfrm>
          <a:prstGeom prst="rect">
            <a:avLst/>
          </a:prstGeom>
          <a:gradFill rotWithShape="1">
            <a:gsLst>
              <a:gs pos="0">
                <a:srgbClr val="3366FF"/>
              </a:gs>
              <a:gs pos="100000">
                <a:srgbClr val="3366FF">
                  <a:gamma/>
                  <a:shade val="46275"/>
                  <a:invGamma/>
                </a:srgbClr>
              </a:gs>
            </a:gsLst>
            <a:lin ang="5400000" scaled="1"/>
          </a:gradFill>
          <a:ln w="254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800" b="1">
                <a:solidFill>
                  <a:srgbClr val="FFFF00"/>
                </a:solidFill>
                <a:latin typeface="楷体_GB2312" pitchFamily="49" charset="-122"/>
                <a:ea typeface="楷体_GB2312" pitchFamily="49" charset="-122"/>
              </a:rPr>
              <a:t>    由于在查询</a:t>
            </a:r>
            <a:r>
              <a:rPr lang="en-US" altLang="zh-CN" sz="2800" b="1">
                <a:solidFill>
                  <a:srgbClr val="FFFF00"/>
                </a:solidFill>
                <a:latin typeface="楷体_GB2312" pitchFamily="49" charset="-122"/>
                <a:ea typeface="楷体_GB2312" pitchFamily="49" charset="-122"/>
              </a:rPr>
              <a:t>1</a:t>
            </a:r>
            <a:r>
              <a:rPr lang="zh-CN" altLang="en-US" sz="2800" b="1">
                <a:solidFill>
                  <a:srgbClr val="FFFF00"/>
                </a:solidFill>
                <a:latin typeface="楷体_GB2312" pitchFamily="49" charset="-122"/>
                <a:ea typeface="楷体_GB2312" pitchFamily="49" charset="-122"/>
              </a:rPr>
              <a:t>中的事务</a:t>
            </a:r>
            <a:r>
              <a:rPr lang="en-US" altLang="zh-CN" sz="2800" b="1">
                <a:solidFill>
                  <a:srgbClr val="FFFF00"/>
                </a:solidFill>
                <a:latin typeface="楷体_GB2312" pitchFamily="49" charset="-122"/>
                <a:ea typeface="楷体_GB2312" pitchFamily="49" charset="-122"/>
              </a:rPr>
              <a:t>T1</a:t>
            </a:r>
            <a:r>
              <a:rPr lang="zh-CN" altLang="en-US" sz="2800" b="1">
                <a:solidFill>
                  <a:srgbClr val="FFFF00"/>
                </a:solidFill>
                <a:latin typeface="楷体_GB2312" pitchFamily="49" charset="-122"/>
                <a:ea typeface="楷体_GB2312" pitchFamily="49" charset="-122"/>
              </a:rPr>
              <a:t>没有提交，因此事务</a:t>
            </a:r>
            <a:r>
              <a:rPr lang="en-US" altLang="zh-CN" sz="2800" b="1">
                <a:solidFill>
                  <a:srgbClr val="FFFF00"/>
                </a:solidFill>
                <a:latin typeface="楷体_GB2312" pitchFamily="49" charset="-122"/>
                <a:ea typeface="楷体_GB2312" pitchFamily="49" charset="-122"/>
              </a:rPr>
              <a:t>T2</a:t>
            </a:r>
            <a:r>
              <a:rPr lang="zh-CN" altLang="en-US" sz="2800" b="1">
                <a:solidFill>
                  <a:srgbClr val="FFFF00"/>
                </a:solidFill>
                <a:latin typeface="楷体_GB2312" pitchFamily="49" charset="-122"/>
                <a:ea typeface="楷体_GB2312" pitchFamily="49" charset="-122"/>
              </a:rPr>
              <a:t>被阻塞。</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288"/>
    </mc:Choice>
    <mc:Fallback xmlns="">
      <p:transition spd="slow" advTm="432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4915">
                                            <p:bg/>
                                          </p:spTgt>
                                        </p:tgtEl>
                                        <p:attrNameLst>
                                          <p:attrName>style.visibility</p:attrName>
                                        </p:attrNameLst>
                                      </p:cBhvr>
                                      <p:to>
                                        <p:strVal val="visible"/>
                                      </p:to>
                                    </p:set>
                                    <p:animEffect transition="in" filter="wipe(up)">
                                      <p:cBhvr>
                                        <p:cTn id="7" dur="500"/>
                                        <p:tgtEl>
                                          <p:spTgt spid="46491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64915">
                                            <p:txEl>
                                              <p:pRg st="0" end="0"/>
                                            </p:txEl>
                                          </p:spTgt>
                                        </p:tgtEl>
                                        <p:attrNameLst>
                                          <p:attrName>style.visibility</p:attrName>
                                        </p:attrNameLst>
                                      </p:cBhvr>
                                      <p:to>
                                        <p:strVal val="visible"/>
                                      </p:to>
                                    </p:set>
                                    <p:animEffect transition="in" filter="wipe(up)">
                                      <p:cBhvr>
                                        <p:cTn id="12" dur="500"/>
                                        <p:tgtEl>
                                          <p:spTgt spid="4649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490570"/>
                                        </p:tgtEl>
                                        <p:attrNameLst>
                                          <p:attrName>style.visibility</p:attrName>
                                        </p:attrNameLst>
                                      </p:cBhvr>
                                      <p:to>
                                        <p:strVal val="visible"/>
                                      </p:to>
                                    </p:set>
                                    <p:animEffect transition="in" filter="strips(downLeft)">
                                      <p:cBhvr>
                                        <p:cTn id="17" dur="1000"/>
                                        <p:tgtEl>
                                          <p:spTgt spid="4905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64918">
                                            <p:txEl>
                                              <p:pRg st="0" end="0"/>
                                            </p:txEl>
                                          </p:spTgt>
                                        </p:tgtEl>
                                        <p:attrNameLst>
                                          <p:attrName>style.visibility</p:attrName>
                                        </p:attrNameLst>
                                      </p:cBhvr>
                                      <p:to>
                                        <p:strVal val="visible"/>
                                      </p:to>
                                    </p:set>
                                    <p:animEffect transition="in" filter="wipe(up)">
                                      <p:cBhvr>
                                        <p:cTn id="22" dur="500"/>
                                        <p:tgtEl>
                                          <p:spTgt spid="4649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64918">
                                            <p:txEl>
                                              <p:pRg st="1" end="1"/>
                                            </p:txEl>
                                          </p:spTgt>
                                        </p:tgtEl>
                                        <p:attrNameLst>
                                          <p:attrName>style.visibility</p:attrName>
                                        </p:attrNameLst>
                                      </p:cBhvr>
                                      <p:to>
                                        <p:strVal val="visible"/>
                                      </p:to>
                                    </p:set>
                                    <p:animEffect transition="in" filter="wipe(up)">
                                      <p:cBhvr>
                                        <p:cTn id="27" dur="500"/>
                                        <p:tgtEl>
                                          <p:spTgt spid="464918">
                                            <p:txEl>
                                              <p:pRg st="1" end="1"/>
                                            </p:txEl>
                                          </p:spTgt>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464918">
                                            <p:txEl>
                                              <p:pRg st="2" end="2"/>
                                            </p:txEl>
                                          </p:spTgt>
                                        </p:tgtEl>
                                        <p:attrNameLst>
                                          <p:attrName>style.visibility</p:attrName>
                                        </p:attrNameLst>
                                      </p:cBhvr>
                                      <p:to>
                                        <p:strVal val="visible"/>
                                      </p:to>
                                    </p:set>
                                    <p:animEffect transition="in" filter="wipe(up)">
                                      <p:cBhvr>
                                        <p:cTn id="31" dur="500"/>
                                        <p:tgtEl>
                                          <p:spTgt spid="464918">
                                            <p:txEl>
                                              <p:pRg st="2" end="2"/>
                                            </p:txEl>
                                          </p:spTgt>
                                        </p:tgtEl>
                                      </p:cBhvr>
                                    </p:animEffec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464918">
                                            <p:txEl>
                                              <p:pRg st="3" end="3"/>
                                            </p:txEl>
                                          </p:spTgt>
                                        </p:tgtEl>
                                        <p:attrNameLst>
                                          <p:attrName>style.visibility</p:attrName>
                                        </p:attrNameLst>
                                      </p:cBhvr>
                                      <p:to>
                                        <p:strVal val="visible"/>
                                      </p:to>
                                    </p:set>
                                    <p:animEffect transition="in" filter="wipe(up)">
                                      <p:cBhvr>
                                        <p:cTn id="35" dur="500"/>
                                        <p:tgtEl>
                                          <p:spTgt spid="464918">
                                            <p:txEl>
                                              <p:pRg st="3" end="3"/>
                                            </p:txEl>
                                          </p:spTgt>
                                        </p:tgtEl>
                                      </p:cBhvr>
                                    </p:animEffect>
                                  </p:childTnLst>
                                </p:cTn>
                              </p:par>
                            </p:childTnLst>
                          </p:cTn>
                        </p:par>
                        <p:par>
                          <p:cTn id="36" fill="hold">
                            <p:stCondLst>
                              <p:cond delay="1500"/>
                            </p:stCondLst>
                            <p:childTnLst>
                              <p:par>
                                <p:cTn id="37" presetID="22" presetClass="entr" presetSubtype="1" fill="hold" grpId="0" nodeType="afterEffect">
                                  <p:stCondLst>
                                    <p:cond delay="0"/>
                                  </p:stCondLst>
                                  <p:childTnLst>
                                    <p:set>
                                      <p:cBhvr>
                                        <p:cTn id="38" dur="1" fill="hold">
                                          <p:stCondLst>
                                            <p:cond delay="0"/>
                                          </p:stCondLst>
                                        </p:cTn>
                                        <p:tgtEl>
                                          <p:spTgt spid="464918">
                                            <p:txEl>
                                              <p:pRg st="4" end="4"/>
                                            </p:txEl>
                                          </p:spTgt>
                                        </p:tgtEl>
                                        <p:attrNameLst>
                                          <p:attrName>style.visibility</p:attrName>
                                        </p:attrNameLst>
                                      </p:cBhvr>
                                      <p:to>
                                        <p:strVal val="visible"/>
                                      </p:to>
                                    </p:set>
                                    <p:animEffect transition="in" filter="wipe(up)">
                                      <p:cBhvr>
                                        <p:cTn id="39" dur="500"/>
                                        <p:tgtEl>
                                          <p:spTgt spid="464918">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490576"/>
                                        </p:tgtEl>
                                        <p:attrNameLst>
                                          <p:attrName>style.visibility</p:attrName>
                                        </p:attrNameLst>
                                      </p:cBhvr>
                                      <p:to>
                                        <p:strVal val="visible"/>
                                      </p:to>
                                    </p:set>
                                    <p:animEffect transition="in" filter="strips(downRight)">
                                      <p:cBhvr>
                                        <p:cTn id="44" dur="1000"/>
                                        <p:tgtEl>
                                          <p:spTgt spid="49057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464919">
                                            <p:txEl>
                                              <p:pRg st="0" end="0"/>
                                            </p:txEl>
                                          </p:spTgt>
                                        </p:tgtEl>
                                        <p:attrNameLst>
                                          <p:attrName>style.visibility</p:attrName>
                                        </p:attrNameLst>
                                      </p:cBhvr>
                                      <p:to>
                                        <p:strVal val="visible"/>
                                      </p:to>
                                    </p:set>
                                    <p:animEffect transition="in" filter="wipe(up)">
                                      <p:cBhvr>
                                        <p:cTn id="49" dur="500"/>
                                        <p:tgtEl>
                                          <p:spTgt spid="464919">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464919">
                                            <p:txEl>
                                              <p:pRg st="1" end="1"/>
                                            </p:txEl>
                                          </p:spTgt>
                                        </p:tgtEl>
                                        <p:attrNameLst>
                                          <p:attrName>style.visibility</p:attrName>
                                        </p:attrNameLst>
                                      </p:cBhvr>
                                      <p:to>
                                        <p:strVal val="visible"/>
                                      </p:to>
                                    </p:set>
                                    <p:animEffect transition="in" filter="wipe(up)">
                                      <p:cBhvr>
                                        <p:cTn id="54" dur="500"/>
                                        <p:tgtEl>
                                          <p:spTgt spid="464919">
                                            <p:txEl>
                                              <p:pRg st="1" end="1"/>
                                            </p:txEl>
                                          </p:spTgt>
                                        </p:tgtEl>
                                      </p:cBhvr>
                                    </p:animEffect>
                                  </p:childTnLst>
                                </p:cTn>
                              </p:par>
                            </p:childTnLst>
                          </p:cTn>
                        </p:par>
                        <p:par>
                          <p:cTn id="55" fill="hold">
                            <p:stCondLst>
                              <p:cond delay="500"/>
                            </p:stCondLst>
                            <p:childTnLst>
                              <p:par>
                                <p:cTn id="56" presetID="22" presetClass="entr" presetSubtype="1" fill="hold" grpId="0" nodeType="afterEffect">
                                  <p:stCondLst>
                                    <p:cond delay="0"/>
                                  </p:stCondLst>
                                  <p:childTnLst>
                                    <p:set>
                                      <p:cBhvr>
                                        <p:cTn id="57" dur="1" fill="hold">
                                          <p:stCondLst>
                                            <p:cond delay="0"/>
                                          </p:stCondLst>
                                        </p:cTn>
                                        <p:tgtEl>
                                          <p:spTgt spid="464919">
                                            <p:txEl>
                                              <p:pRg st="2" end="2"/>
                                            </p:txEl>
                                          </p:spTgt>
                                        </p:tgtEl>
                                        <p:attrNameLst>
                                          <p:attrName>style.visibility</p:attrName>
                                        </p:attrNameLst>
                                      </p:cBhvr>
                                      <p:to>
                                        <p:strVal val="visible"/>
                                      </p:to>
                                    </p:set>
                                    <p:animEffect transition="in" filter="wipe(up)">
                                      <p:cBhvr>
                                        <p:cTn id="58" dur="500"/>
                                        <p:tgtEl>
                                          <p:spTgt spid="464919">
                                            <p:txEl>
                                              <p:pRg st="2" end="2"/>
                                            </p:txEl>
                                          </p:spTgt>
                                        </p:tgtEl>
                                      </p:cBhvr>
                                    </p:animEffect>
                                  </p:childTnLst>
                                </p:cTn>
                              </p:par>
                            </p:childTnLst>
                          </p:cTn>
                        </p:par>
                        <p:par>
                          <p:cTn id="59" fill="hold">
                            <p:stCondLst>
                              <p:cond delay="1000"/>
                            </p:stCondLst>
                            <p:childTnLst>
                              <p:par>
                                <p:cTn id="60" presetID="22" presetClass="entr" presetSubtype="1" fill="hold" grpId="0" nodeType="afterEffect">
                                  <p:stCondLst>
                                    <p:cond delay="0"/>
                                  </p:stCondLst>
                                  <p:childTnLst>
                                    <p:set>
                                      <p:cBhvr>
                                        <p:cTn id="61" dur="1" fill="hold">
                                          <p:stCondLst>
                                            <p:cond delay="0"/>
                                          </p:stCondLst>
                                        </p:cTn>
                                        <p:tgtEl>
                                          <p:spTgt spid="464919">
                                            <p:txEl>
                                              <p:pRg st="3" end="3"/>
                                            </p:txEl>
                                          </p:spTgt>
                                        </p:tgtEl>
                                        <p:attrNameLst>
                                          <p:attrName>style.visibility</p:attrName>
                                        </p:attrNameLst>
                                      </p:cBhvr>
                                      <p:to>
                                        <p:strVal val="visible"/>
                                      </p:to>
                                    </p:set>
                                    <p:animEffect transition="in" filter="wipe(up)">
                                      <p:cBhvr>
                                        <p:cTn id="62" dur="500"/>
                                        <p:tgtEl>
                                          <p:spTgt spid="464919">
                                            <p:txEl>
                                              <p:pRg st="3" end="3"/>
                                            </p:txEl>
                                          </p:spTgt>
                                        </p:tgtEl>
                                      </p:cBhvr>
                                    </p:animEffect>
                                  </p:childTnLst>
                                </p:cTn>
                              </p:par>
                            </p:childTnLst>
                          </p:cTn>
                        </p:par>
                        <p:par>
                          <p:cTn id="63" fill="hold">
                            <p:stCondLst>
                              <p:cond delay="1500"/>
                            </p:stCondLst>
                            <p:childTnLst>
                              <p:par>
                                <p:cTn id="64" presetID="22" presetClass="entr" presetSubtype="1" fill="hold" grpId="0" nodeType="afterEffect">
                                  <p:stCondLst>
                                    <p:cond delay="0"/>
                                  </p:stCondLst>
                                  <p:childTnLst>
                                    <p:set>
                                      <p:cBhvr>
                                        <p:cTn id="65" dur="1" fill="hold">
                                          <p:stCondLst>
                                            <p:cond delay="0"/>
                                          </p:stCondLst>
                                        </p:cTn>
                                        <p:tgtEl>
                                          <p:spTgt spid="464919">
                                            <p:txEl>
                                              <p:pRg st="4" end="4"/>
                                            </p:txEl>
                                          </p:spTgt>
                                        </p:tgtEl>
                                        <p:attrNameLst>
                                          <p:attrName>style.visibility</p:attrName>
                                        </p:attrNameLst>
                                      </p:cBhvr>
                                      <p:to>
                                        <p:strVal val="visible"/>
                                      </p:to>
                                    </p:set>
                                    <p:animEffect transition="in" filter="wipe(up)">
                                      <p:cBhvr>
                                        <p:cTn id="66" dur="500"/>
                                        <p:tgtEl>
                                          <p:spTgt spid="464919">
                                            <p:txEl>
                                              <p:pRg st="4" end="4"/>
                                            </p:txEl>
                                          </p:spTgt>
                                        </p:tgtEl>
                                      </p:cBhvr>
                                    </p:animEffect>
                                  </p:childTnLst>
                                </p:cTn>
                              </p:par>
                            </p:childTnLst>
                          </p:cTn>
                        </p:par>
                        <p:par>
                          <p:cTn id="67" fill="hold">
                            <p:stCondLst>
                              <p:cond delay="2000"/>
                            </p:stCondLst>
                            <p:childTnLst>
                              <p:par>
                                <p:cTn id="68" presetID="22" presetClass="entr" presetSubtype="1" fill="hold" grpId="0" nodeType="afterEffect">
                                  <p:stCondLst>
                                    <p:cond delay="0"/>
                                  </p:stCondLst>
                                  <p:childTnLst>
                                    <p:set>
                                      <p:cBhvr>
                                        <p:cTn id="69" dur="1" fill="hold">
                                          <p:stCondLst>
                                            <p:cond delay="0"/>
                                          </p:stCondLst>
                                        </p:cTn>
                                        <p:tgtEl>
                                          <p:spTgt spid="464919">
                                            <p:txEl>
                                              <p:pRg st="5" end="5"/>
                                            </p:txEl>
                                          </p:spTgt>
                                        </p:tgtEl>
                                        <p:attrNameLst>
                                          <p:attrName>style.visibility</p:attrName>
                                        </p:attrNameLst>
                                      </p:cBhvr>
                                      <p:to>
                                        <p:strVal val="visible"/>
                                      </p:to>
                                    </p:set>
                                    <p:animEffect transition="in" filter="wipe(up)">
                                      <p:cBhvr>
                                        <p:cTn id="70" dur="500"/>
                                        <p:tgtEl>
                                          <p:spTgt spid="464919">
                                            <p:txEl>
                                              <p:pRg st="5" end="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47" presetClass="entr" presetSubtype="0" fill="hold" grpId="0" nodeType="clickEffect">
                                  <p:stCondLst>
                                    <p:cond delay="0"/>
                                  </p:stCondLst>
                                  <p:childTnLst>
                                    <p:set>
                                      <p:cBhvr>
                                        <p:cTn id="74" dur="1" fill="hold">
                                          <p:stCondLst>
                                            <p:cond delay="0"/>
                                          </p:stCondLst>
                                        </p:cTn>
                                        <p:tgtEl>
                                          <p:spTgt spid="464921"/>
                                        </p:tgtEl>
                                        <p:attrNameLst>
                                          <p:attrName>style.visibility</p:attrName>
                                        </p:attrNameLst>
                                      </p:cBhvr>
                                      <p:to>
                                        <p:strVal val="visible"/>
                                      </p:to>
                                    </p:set>
                                    <p:animEffect transition="in" filter="fade">
                                      <p:cBhvr>
                                        <p:cTn id="75" dur="1000"/>
                                        <p:tgtEl>
                                          <p:spTgt spid="464921"/>
                                        </p:tgtEl>
                                      </p:cBhvr>
                                    </p:animEffect>
                                    <p:anim calcmode="lin" valueType="num">
                                      <p:cBhvr>
                                        <p:cTn id="76" dur="1000" fill="hold"/>
                                        <p:tgtEl>
                                          <p:spTgt spid="464921"/>
                                        </p:tgtEl>
                                        <p:attrNameLst>
                                          <p:attrName>ppt_x</p:attrName>
                                        </p:attrNameLst>
                                      </p:cBhvr>
                                      <p:tavLst>
                                        <p:tav tm="0">
                                          <p:val>
                                            <p:strVal val="#ppt_x"/>
                                          </p:val>
                                        </p:tav>
                                        <p:tav tm="100000">
                                          <p:val>
                                            <p:strVal val="#ppt_x"/>
                                          </p:val>
                                        </p:tav>
                                      </p:tavLst>
                                    </p:anim>
                                    <p:anim calcmode="lin" valueType="num">
                                      <p:cBhvr>
                                        <p:cTn id="77" dur="1000" fill="hold"/>
                                        <p:tgtEl>
                                          <p:spTgt spid="4649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15" grpId="0" uiExpand="1" build="p" animBg="1"/>
      <p:bldP spid="490570" grpId="0" animBg="1"/>
      <p:bldP spid="490576" grpId="0" animBg="1"/>
      <p:bldP spid="464918" grpId="0" uiExpand="1" build="p"/>
      <p:bldP spid="464919" grpId="0" build="p"/>
      <p:bldP spid="4649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body" idx="1"/>
          </p:nvPr>
        </p:nvSpPr>
        <p:spPr>
          <a:xfrm>
            <a:off x="592138" y="1341438"/>
            <a:ext cx="8083550" cy="5111750"/>
          </a:xfrm>
        </p:spPr>
        <p:txBody>
          <a:bodyPr/>
          <a:lstStyle/>
          <a:p>
            <a:pPr marL="533400" indent="-533400" algn="just"/>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）切换回第一个查询窗口，执行如下语句。</a:t>
            </a:r>
          </a:p>
          <a:p>
            <a:pPr marL="533400" indent="-533400" algn="just"/>
            <a:endParaRPr lang="zh-CN" altLang="zh-CN" noProof="1">
              <a:latin typeface="楷体_GB2312" pitchFamily="49" charset="-122"/>
              <a:ea typeface="楷体_GB2312" pitchFamily="49" charset="-122"/>
            </a:endParaRPr>
          </a:p>
          <a:p>
            <a:pPr marL="533400" indent="-533400" algn="just"/>
            <a:r>
              <a:rPr lang="en-US" altLang="zh-CN">
                <a:solidFill>
                  <a:srgbClr val="0000FF"/>
                </a:solidFill>
                <a:latin typeface="楷体_GB2312" pitchFamily="49" charset="-122"/>
                <a:ea typeface="楷体_GB2312" pitchFamily="49" charset="-122"/>
              </a:rPr>
              <a:t>   </a:t>
            </a:r>
            <a:r>
              <a:rPr lang="en-US" altLang="en-US" noProof="1">
                <a:solidFill>
                  <a:srgbClr val="0000FF"/>
                </a:solidFill>
                <a:latin typeface="楷体_GB2312" pitchFamily="49" charset="-122"/>
                <a:ea typeface="楷体_GB2312" pitchFamily="49" charset="-122"/>
              </a:rPr>
              <a:t>UPDATE </a:t>
            </a:r>
            <a:r>
              <a:rPr lang="en-US" altLang="en-US" noProof="1">
                <a:latin typeface="楷体_GB2312" pitchFamily="49" charset="-122"/>
                <a:ea typeface="楷体_GB2312" pitchFamily="49" charset="-122"/>
              </a:rPr>
              <a:t>t2</a:t>
            </a:r>
            <a:r>
              <a:rPr lang="en-US" altLang="en-US" noProof="1">
                <a:solidFill>
                  <a:srgbClr val="0000FF"/>
                </a:solidFill>
                <a:latin typeface="楷体_GB2312" pitchFamily="49" charset="-122"/>
                <a:ea typeface="楷体_GB2312" pitchFamily="49" charset="-122"/>
              </a:rPr>
              <a:t> SET </a:t>
            </a:r>
            <a:r>
              <a:rPr lang="en-US" altLang="en-US" noProof="1">
                <a:latin typeface="楷体_GB2312" pitchFamily="49" charset="-122"/>
                <a:ea typeface="楷体_GB2312" pitchFamily="49" charset="-122"/>
              </a:rPr>
              <a:t>i</a:t>
            </a:r>
            <a:r>
              <a:rPr lang="en-US" altLang="en-US" noProof="1">
                <a:solidFill>
                  <a:srgbClr val="808080"/>
                </a:solidFill>
                <a:latin typeface="楷体_GB2312" pitchFamily="49" charset="-122"/>
                <a:ea typeface="楷体_GB2312" pitchFamily="49" charset="-122"/>
              </a:rPr>
              <a:t>=</a:t>
            </a:r>
            <a:r>
              <a:rPr lang="en-US" altLang="en-US" noProof="1">
                <a:latin typeface="楷体_GB2312" pitchFamily="49" charset="-122"/>
                <a:ea typeface="楷体_GB2312" pitchFamily="49" charset="-122"/>
              </a:rPr>
              <a:t>3</a:t>
            </a:r>
            <a:r>
              <a:rPr lang="en-US" altLang="en-US" noProof="1">
                <a:solidFill>
                  <a:srgbClr val="808080"/>
                </a:solidFill>
                <a:latin typeface="楷体_GB2312" pitchFamily="49" charset="-122"/>
                <a:ea typeface="楷体_GB2312" pitchFamily="49" charset="-122"/>
              </a:rPr>
              <a:t>;</a:t>
            </a:r>
            <a:endParaRPr lang="zh-CN" altLang="en-US">
              <a:solidFill>
                <a:srgbClr val="808080"/>
              </a:solidFill>
              <a:latin typeface="楷体_GB2312" pitchFamily="49" charset="-122"/>
              <a:ea typeface="楷体_GB2312" pitchFamily="49" charset="-122"/>
            </a:endParaRPr>
          </a:p>
        </p:txBody>
      </p:sp>
      <p:sp>
        <p:nvSpPr>
          <p:cNvPr id="470019" name="Rectangle 3"/>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pic>
        <p:nvPicPr>
          <p:cNvPr id="4700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052513"/>
            <a:ext cx="6810375" cy="509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292"/>
    </mc:Choice>
    <mc:Fallback xmlns="">
      <p:transition spd="slow" advTm="182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70021"/>
                                        </p:tgtEl>
                                        <p:attrNameLst>
                                          <p:attrName>style.visibility</p:attrName>
                                        </p:attrNameLst>
                                      </p:cBhvr>
                                      <p:to>
                                        <p:strVal val="visible"/>
                                      </p:to>
                                    </p:set>
                                    <p:animEffect transition="in" filter="fade">
                                      <p:cBhvr>
                                        <p:cTn id="7" dur="1000"/>
                                        <p:tgtEl>
                                          <p:spTgt spid="470021"/>
                                        </p:tgtEl>
                                      </p:cBhvr>
                                    </p:animEffect>
                                    <p:anim calcmode="lin" valueType="num">
                                      <p:cBhvr>
                                        <p:cTn id="8" dur="1000" fill="hold"/>
                                        <p:tgtEl>
                                          <p:spTgt spid="470021"/>
                                        </p:tgtEl>
                                        <p:attrNameLst>
                                          <p:attrName>ppt_x</p:attrName>
                                        </p:attrNameLst>
                                      </p:cBhvr>
                                      <p:tavLst>
                                        <p:tav tm="0">
                                          <p:val>
                                            <p:strVal val="#ppt_x"/>
                                          </p:val>
                                        </p:tav>
                                        <p:tav tm="100000">
                                          <p:val>
                                            <p:strVal val="#ppt_x"/>
                                          </p:val>
                                        </p:tav>
                                      </p:tavLst>
                                    </p:anim>
                                    <p:anim calcmode="lin" valueType="num">
                                      <p:cBhvr>
                                        <p:cTn id="9" dur="1000" fill="hold"/>
                                        <p:tgtEl>
                                          <p:spTgt spid="4700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Rectangle 3"/>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503815" name="AutoShape 7"/>
          <p:cNvSpPr>
            <a:spLocks noChangeArrowheads="1"/>
          </p:cNvSpPr>
          <p:nvPr/>
        </p:nvSpPr>
        <p:spPr bwMode="auto">
          <a:xfrm>
            <a:off x="2124075" y="2349500"/>
            <a:ext cx="3960813" cy="3024188"/>
          </a:xfrm>
          <a:prstGeom prst="roundRect">
            <a:avLst>
              <a:gd name="adj" fmla="val 913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666699"/>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3200" b="1">
                <a:effectLst>
                  <a:outerShdw blurRad="38100" dist="38100" dir="2700000" algn="tl">
                    <a:srgbClr val="C0C0C0"/>
                  </a:outerShdw>
                </a:effectLst>
                <a:ea typeface="楷体_GB2312" pitchFamily="49" charset="-122"/>
              </a:rPr>
              <a:t>死锁的解决办法</a:t>
            </a:r>
          </a:p>
        </p:txBody>
      </p:sp>
      <p:sp>
        <p:nvSpPr>
          <p:cNvPr id="503816" name="WordArt 8"/>
          <p:cNvSpPr>
            <a:spLocks noChangeArrowheads="1" noChangeShapeType="1" noTextEdit="1"/>
          </p:cNvSpPr>
          <p:nvPr/>
        </p:nvSpPr>
        <p:spPr bwMode="auto">
          <a:xfrm>
            <a:off x="5580063" y="2708275"/>
            <a:ext cx="1439862" cy="2305050"/>
          </a:xfrm>
          <a:prstGeom prst="rect">
            <a:avLst/>
          </a:prstGeom>
          <a:extLst>
            <a:ext uri="{AF507438-7753-43E0-B8FC-AC1667EBCBE1}">
              <a14:hiddenEffects xmlns:a14="http://schemas.microsoft.com/office/drawing/2010/main">
                <a:effectLst/>
              </a14:hiddenEffects>
            </a:ext>
          </a:extLst>
        </p:spPr>
        <p:txBody>
          <a:bodyPr wrap="none" fromWordArt="1">
            <a:prstTxWarp prst="textInflate">
              <a:avLst>
                <a:gd name="adj" fmla="val 13634"/>
              </a:avLst>
            </a:prstTxWarp>
          </a:bodyPr>
          <a:lstStyle/>
          <a:p>
            <a:pPr algn="ctr"/>
            <a:r>
              <a:rPr lang="zh-CN" altLang="en-US" sz="4800" b="1" i="1" kern="10">
                <a:ln w="9525" cap="sq">
                  <a:solidFill>
                    <a:schemeClr val="bg2"/>
                  </a:solidFill>
                  <a:round/>
                  <a:headEnd type="none" w="sm" len="sm"/>
                  <a:tailEnd type="none" w="sm" len="sm"/>
                </a:ln>
                <a:solidFill>
                  <a:srgbClr val="CC3300"/>
                </a:solidFill>
                <a:latin typeface="隶书" panose="02010509060101010101" pitchFamily="49" charset="-122"/>
                <a:ea typeface="隶书" panose="02010509060101010101"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655"/>
    </mc:Choice>
    <mc:Fallback xmlns="">
      <p:transition spd="slow" advTm="116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3815">
                                            <p:txEl>
                                              <p:pRg st="0" end="0"/>
                                            </p:txEl>
                                          </p:spTgt>
                                        </p:tgtEl>
                                        <p:attrNameLst>
                                          <p:attrName>style.visibility</p:attrName>
                                        </p:attrNameLst>
                                      </p:cBhvr>
                                      <p:to>
                                        <p:strVal val="visible"/>
                                      </p:to>
                                    </p:set>
                                    <p:animEffect transition="in" filter="wipe(up)">
                                      <p:cBhvr>
                                        <p:cTn id="7" dur="500"/>
                                        <p:tgtEl>
                                          <p:spTgt spid="503815">
                                            <p:txEl>
                                              <p:pRg st="0" end="0"/>
                                            </p:txEl>
                                          </p:spTgt>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503816"/>
                                        </p:tgtEl>
                                        <p:attrNameLst>
                                          <p:attrName>style.visibility</p:attrName>
                                        </p:attrNameLst>
                                      </p:cBhvr>
                                      <p:to>
                                        <p:strVal val="visible"/>
                                      </p:to>
                                    </p:set>
                                    <p:anim calcmode="lin" valueType="num">
                                      <p:cBhvr additive="base">
                                        <p:cTn id="11" dur="500" fill="hold"/>
                                        <p:tgtEl>
                                          <p:spTgt spid="503816"/>
                                        </p:tgtEl>
                                        <p:attrNameLst>
                                          <p:attrName>ppt_x</p:attrName>
                                        </p:attrNameLst>
                                      </p:cBhvr>
                                      <p:tavLst>
                                        <p:tav tm="0">
                                          <p:val>
                                            <p:strVal val="1+#ppt_w/2"/>
                                          </p:val>
                                        </p:tav>
                                        <p:tav tm="100000">
                                          <p:val>
                                            <p:strVal val="#ppt_x"/>
                                          </p:val>
                                        </p:tav>
                                      </p:tavLst>
                                    </p:anim>
                                    <p:anim calcmode="lin" valueType="num">
                                      <p:cBhvr additive="base">
                                        <p:cTn id="12" dur="500" fill="hold"/>
                                        <p:tgtEl>
                                          <p:spTgt spid="5038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504835"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3</a:t>
            </a:r>
            <a:r>
              <a:rPr lang="zh-CN" altLang="en-US" sz="3200">
                <a:solidFill>
                  <a:srgbClr val="660033"/>
                </a:solidFill>
                <a:ea typeface="华文新魏" panose="02010800040101010101" pitchFamily="2" charset="-122"/>
              </a:rPr>
              <a:t>、死锁的预防</a:t>
            </a:r>
            <a:endParaRPr lang="en-US" altLang="zh-CN" sz="3200">
              <a:solidFill>
                <a:srgbClr val="660033"/>
              </a:solidFill>
              <a:ea typeface="华文新魏" panose="02010800040101010101" pitchFamily="2" charset="-122"/>
            </a:endParaRPr>
          </a:p>
        </p:txBody>
      </p:sp>
      <p:sp>
        <p:nvSpPr>
          <p:cNvPr id="504836" name="AutoShape 4"/>
          <p:cNvSpPr>
            <a:spLocks noChangeArrowheads="1"/>
          </p:cNvSpPr>
          <p:nvPr/>
        </p:nvSpPr>
        <p:spPr bwMode="auto">
          <a:xfrm>
            <a:off x="395288" y="2349500"/>
            <a:ext cx="8353425" cy="302418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a:t>
            </a:r>
            <a:r>
              <a:rPr lang="en-US" altLang="zh-CN" sz="2800" b="1">
                <a:effectLst>
                  <a:outerShdw blurRad="38100" dist="38100" dir="2700000" algn="tl">
                    <a:srgbClr val="C0C0C0"/>
                  </a:outerShdw>
                </a:effectLst>
                <a:ea typeface="楷体_GB2312" pitchFamily="49" charset="-122"/>
              </a:rPr>
              <a:t>1</a:t>
            </a:r>
            <a:r>
              <a:rPr lang="zh-CN" altLang="en-US" sz="2800" b="1">
                <a:effectLst>
                  <a:outerShdw blurRad="38100" dist="38100" dir="2700000" algn="tl">
                    <a:srgbClr val="C0C0C0"/>
                  </a:outerShdw>
                </a:effectLst>
                <a:ea typeface="楷体_GB2312" pitchFamily="49" charset="-122"/>
              </a:rPr>
              <a:t>）一次加锁法</a:t>
            </a:r>
          </a:p>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要求每个事务必须对所有要使用的数据项一次性地全部加锁，否则就不能继续执行。</a:t>
            </a:r>
          </a:p>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a:t>
            </a:r>
            <a:r>
              <a:rPr lang="zh-CN" altLang="en-US" sz="2800" b="1">
                <a:solidFill>
                  <a:schemeClr val="hlink"/>
                </a:solidFill>
                <a:effectLst>
                  <a:outerShdw blurRad="38100" dist="38100" dir="2700000" algn="tl">
                    <a:srgbClr val="C0C0C0"/>
                  </a:outerShdw>
                </a:effectLst>
                <a:ea typeface="楷体_GB2312" pitchFamily="49" charset="-122"/>
              </a:rPr>
              <a:t>缺点：</a:t>
            </a:r>
            <a:r>
              <a:rPr lang="zh-CN" altLang="en-US" sz="2800" b="1">
                <a:effectLst>
                  <a:outerShdw blurRad="38100" dist="38100" dir="2700000" algn="tl">
                    <a:srgbClr val="C0C0C0"/>
                  </a:outerShdw>
                </a:effectLst>
                <a:ea typeface="楷体_GB2312" pitchFamily="49" charset="-122"/>
              </a:rPr>
              <a:t>扩大了锁的范围，降低了系统的并发度。</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933"/>
    </mc:Choice>
    <mc:Fallback xmlns="">
      <p:transition spd="slow" advTm="58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4835"/>
                                        </p:tgtEl>
                                        <p:attrNameLst>
                                          <p:attrName>style.visibility</p:attrName>
                                        </p:attrNameLst>
                                      </p:cBhvr>
                                      <p:to>
                                        <p:strVal val="visible"/>
                                      </p:to>
                                    </p:set>
                                    <p:animEffect transition="in" filter="wipe(left)">
                                      <p:cBhvr>
                                        <p:cTn id="7" dur="1000"/>
                                        <p:tgtEl>
                                          <p:spTgt spid="5048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4836">
                                            <p:bg/>
                                          </p:spTgt>
                                        </p:tgtEl>
                                        <p:attrNameLst>
                                          <p:attrName>style.visibility</p:attrName>
                                        </p:attrNameLst>
                                      </p:cBhvr>
                                      <p:to>
                                        <p:strVal val="visible"/>
                                      </p:to>
                                    </p:set>
                                    <p:animEffect transition="in" filter="wipe(up)">
                                      <p:cBhvr>
                                        <p:cTn id="12" dur="500"/>
                                        <p:tgtEl>
                                          <p:spTgt spid="504836">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4836">
                                            <p:txEl>
                                              <p:pRg st="0" end="0"/>
                                            </p:txEl>
                                          </p:spTgt>
                                        </p:tgtEl>
                                        <p:attrNameLst>
                                          <p:attrName>style.visibility</p:attrName>
                                        </p:attrNameLst>
                                      </p:cBhvr>
                                      <p:to>
                                        <p:strVal val="visible"/>
                                      </p:to>
                                    </p:set>
                                    <p:animEffect transition="in" filter="wipe(up)">
                                      <p:cBhvr>
                                        <p:cTn id="17" dur="500"/>
                                        <p:tgtEl>
                                          <p:spTgt spid="50483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4836">
                                            <p:txEl>
                                              <p:pRg st="1" end="1"/>
                                            </p:txEl>
                                          </p:spTgt>
                                        </p:tgtEl>
                                        <p:attrNameLst>
                                          <p:attrName>style.visibility</p:attrName>
                                        </p:attrNameLst>
                                      </p:cBhvr>
                                      <p:to>
                                        <p:strVal val="visible"/>
                                      </p:to>
                                    </p:set>
                                    <p:animEffect transition="in" filter="wipe(up)">
                                      <p:cBhvr>
                                        <p:cTn id="22" dur="500"/>
                                        <p:tgtEl>
                                          <p:spTgt spid="50483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4836">
                                            <p:txEl>
                                              <p:pRg st="2" end="2"/>
                                            </p:txEl>
                                          </p:spTgt>
                                        </p:tgtEl>
                                        <p:attrNameLst>
                                          <p:attrName>style.visibility</p:attrName>
                                        </p:attrNameLst>
                                      </p:cBhvr>
                                      <p:to>
                                        <p:strVal val="visible"/>
                                      </p:to>
                                    </p:set>
                                    <p:animEffect transition="in" filter="wipe(up)">
                                      <p:cBhvr>
                                        <p:cTn id="27" dur="500"/>
                                        <p:tgtEl>
                                          <p:spTgt spid="5048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5" grpId="0"/>
      <p:bldP spid="50483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505859"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3</a:t>
            </a:r>
            <a:r>
              <a:rPr lang="zh-CN" altLang="en-US" sz="3200">
                <a:solidFill>
                  <a:srgbClr val="660033"/>
                </a:solidFill>
                <a:ea typeface="华文新魏" panose="02010800040101010101" pitchFamily="2" charset="-122"/>
              </a:rPr>
              <a:t>、死锁的预防</a:t>
            </a:r>
            <a:endParaRPr lang="en-US" altLang="zh-CN" sz="3200">
              <a:solidFill>
                <a:srgbClr val="660033"/>
              </a:solidFill>
              <a:ea typeface="华文新魏" panose="02010800040101010101" pitchFamily="2" charset="-122"/>
            </a:endParaRPr>
          </a:p>
        </p:txBody>
      </p:sp>
      <p:sp>
        <p:nvSpPr>
          <p:cNvPr id="505860" name="AutoShape 4"/>
          <p:cNvSpPr>
            <a:spLocks noChangeArrowheads="1"/>
          </p:cNvSpPr>
          <p:nvPr/>
        </p:nvSpPr>
        <p:spPr bwMode="auto">
          <a:xfrm>
            <a:off x="395288" y="2349500"/>
            <a:ext cx="8353425" cy="302418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a:t>
            </a:r>
            <a:r>
              <a:rPr lang="en-US" altLang="zh-CN" sz="2800" b="1">
                <a:effectLst>
                  <a:outerShdw blurRad="38100" dist="38100" dir="2700000" algn="tl">
                    <a:srgbClr val="C0C0C0"/>
                  </a:outerShdw>
                </a:effectLst>
                <a:ea typeface="楷体_GB2312" pitchFamily="49" charset="-122"/>
              </a:rPr>
              <a:t>2</a:t>
            </a:r>
            <a:r>
              <a:rPr lang="zh-CN" altLang="en-US" sz="2800" b="1">
                <a:effectLst>
                  <a:outerShdw blurRad="38100" dist="38100" dir="2700000" algn="tl">
                    <a:srgbClr val="C0C0C0"/>
                  </a:outerShdw>
                </a:effectLst>
                <a:ea typeface="楷体_GB2312" pitchFamily="49" charset="-122"/>
              </a:rPr>
              <a:t>）顺序加锁法</a:t>
            </a:r>
          </a:p>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预先对数据项规定一个加锁顺序，所有事务都按这个顺序进行加锁。</a:t>
            </a:r>
          </a:p>
          <a:p>
            <a:pPr>
              <a:lnSpc>
                <a:spcPct val="110000"/>
              </a:lnSpc>
              <a:spcBef>
                <a:spcPct val="25000"/>
              </a:spcBef>
            </a:pPr>
            <a:r>
              <a:rPr lang="zh-CN" altLang="en-US" sz="2800" b="1">
                <a:solidFill>
                  <a:schemeClr val="hlink"/>
                </a:solidFill>
                <a:effectLst>
                  <a:outerShdw blurRad="38100" dist="38100" dir="2700000" algn="tl">
                    <a:srgbClr val="C0C0C0"/>
                  </a:outerShdw>
                </a:effectLst>
                <a:ea typeface="楷体_GB2312" pitchFamily="49" charset="-122"/>
              </a:rPr>
              <a:t>   缺点：</a:t>
            </a:r>
            <a:r>
              <a:rPr lang="zh-CN" altLang="en-US" sz="2800" b="1">
                <a:effectLst>
                  <a:outerShdw blurRad="38100" dist="38100" dir="2700000" algn="tl">
                    <a:srgbClr val="C0C0C0"/>
                  </a:outerShdw>
                </a:effectLst>
                <a:ea typeface="楷体_GB2312" pitchFamily="49" charset="-122"/>
              </a:rPr>
              <a:t>很难按规定的顺序进行加锁。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994"/>
    </mc:Choice>
    <mc:Fallback xmlns="">
      <p:transition spd="slow" advTm="399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5860">
                                            <p:bg/>
                                          </p:spTgt>
                                        </p:tgtEl>
                                        <p:attrNameLst>
                                          <p:attrName>style.visibility</p:attrName>
                                        </p:attrNameLst>
                                      </p:cBhvr>
                                      <p:to>
                                        <p:strVal val="visible"/>
                                      </p:to>
                                    </p:set>
                                    <p:animEffect transition="in" filter="wipe(up)">
                                      <p:cBhvr>
                                        <p:cTn id="7" dur="500"/>
                                        <p:tgtEl>
                                          <p:spTgt spid="505860">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5860">
                                            <p:txEl>
                                              <p:pRg st="0" end="0"/>
                                            </p:txEl>
                                          </p:spTgt>
                                        </p:tgtEl>
                                        <p:attrNameLst>
                                          <p:attrName>style.visibility</p:attrName>
                                        </p:attrNameLst>
                                      </p:cBhvr>
                                      <p:to>
                                        <p:strVal val="visible"/>
                                      </p:to>
                                    </p:set>
                                    <p:animEffect transition="in" filter="wipe(up)">
                                      <p:cBhvr>
                                        <p:cTn id="12" dur="500"/>
                                        <p:tgtEl>
                                          <p:spTgt spid="50586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5860">
                                            <p:txEl>
                                              <p:pRg st="1" end="1"/>
                                            </p:txEl>
                                          </p:spTgt>
                                        </p:tgtEl>
                                        <p:attrNameLst>
                                          <p:attrName>style.visibility</p:attrName>
                                        </p:attrNameLst>
                                      </p:cBhvr>
                                      <p:to>
                                        <p:strVal val="visible"/>
                                      </p:to>
                                    </p:set>
                                    <p:animEffect transition="in" filter="wipe(up)">
                                      <p:cBhvr>
                                        <p:cTn id="17" dur="500"/>
                                        <p:tgtEl>
                                          <p:spTgt spid="50586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5860">
                                            <p:txEl>
                                              <p:pRg st="2" end="2"/>
                                            </p:txEl>
                                          </p:spTgt>
                                        </p:tgtEl>
                                        <p:attrNameLst>
                                          <p:attrName>style.visibility</p:attrName>
                                        </p:attrNameLst>
                                      </p:cBhvr>
                                      <p:to>
                                        <p:strVal val="visible"/>
                                      </p:to>
                                    </p:set>
                                    <p:animEffect transition="in" filter="wipe(up)">
                                      <p:cBhvr>
                                        <p:cTn id="22" dur="500"/>
                                        <p:tgtEl>
                                          <p:spTgt spid="5058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60"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506883"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4</a:t>
            </a:r>
            <a:r>
              <a:rPr lang="zh-CN" altLang="en-US" sz="3200">
                <a:solidFill>
                  <a:srgbClr val="660033"/>
                </a:solidFill>
                <a:ea typeface="华文新魏" panose="02010800040101010101" pitchFamily="2" charset="-122"/>
              </a:rPr>
              <a:t>、死锁的检测与解除</a:t>
            </a:r>
            <a:endParaRPr lang="en-US" altLang="zh-CN" sz="3200">
              <a:solidFill>
                <a:srgbClr val="660033"/>
              </a:solidFill>
              <a:ea typeface="华文新魏" panose="02010800040101010101" pitchFamily="2" charset="-122"/>
            </a:endParaRPr>
          </a:p>
        </p:txBody>
      </p:sp>
      <p:sp>
        <p:nvSpPr>
          <p:cNvPr id="506884" name="AutoShape 4"/>
          <p:cNvSpPr>
            <a:spLocks noChangeArrowheads="1"/>
          </p:cNvSpPr>
          <p:nvPr/>
        </p:nvSpPr>
        <p:spPr bwMode="auto">
          <a:xfrm>
            <a:off x="395288" y="2060575"/>
            <a:ext cx="8353425" cy="4464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a:t>
            </a:r>
            <a:r>
              <a:rPr lang="en-US" altLang="zh-CN" sz="2800" b="1">
                <a:effectLst>
                  <a:outerShdw blurRad="38100" dist="38100" dir="2700000" algn="tl">
                    <a:srgbClr val="C0C0C0"/>
                  </a:outerShdw>
                </a:effectLst>
                <a:ea typeface="楷体_GB2312" pitchFamily="49" charset="-122"/>
              </a:rPr>
              <a:t>1</a:t>
            </a:r>
            <a:r>
              <a:rPr lang="zh-CN" altLang="en-US" sz="2800" b="1">
                <a:effectLst>
                  <a:outerShdw blurRad="38100" dist="38100" dir="2700000" algn="tl">
                    <a:srgbClr val="C0C0C0"/>
                  </a:outerShdw>
                </a:effectLst>
                <a:ea typeface="楷体_GB2312" pitchFamily="49" charset="-122"/>
              </a:rPr>
              <a:t>）超时法</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      如果一个事务的等待时间超过了规定的时限，就认为发生了死锁。</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   </a:t>
            </a:r>
            <a:r>
              <a:rPr lang="zh-CN" altLang="en-US" sz="2600" b="1">
                <a:solidFill>
                  <a:schemeClr val="hlink"/>
                </a:solidFill>
                <a:effectLst>
                  <a:outerShdw blurRad="38100" dist="38100" dir="2700000" algn="tl">
                    <a:srgbClr val="C0C0C0"/>
                  </a:outerShdw>
                </a:effectLst>
                <a:ea typeface="楷体_GB2312" pitchFamily="49" charset="-122"/>
              </a:rPr>
              <a:t>优点：</a:t>
            </a:r>
            <a:r>
              <a:rPr lang="zh-CN" altLang="en-US" sz="2600" b="1">
                <a:effectLst>
                  <a:outerShdw blurRad="38100" dist="38100" dir="2700000" algn="tl">
                    <a:srgbClr val="C0C0C0"/>
                  </a:outerShdw>
                </a:effectLst>
                <a:ea typeface="楷体_GB2312" pitchFamily="49" charset="-122"/>
              </a:rPr>
              <a:t>实现简单。</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   </a:t>
            </a:r>
            <a:r>
              <a:rPr lang="zh-CN" altLang="en-US" sz="2600" b="1">
                <a:solidFill>
                  <a:srgbClr val="0000FF"/>
                </a:solidFill>
                <a:effectLst>
                  <a:outerShdw blurRad="38100" dist="38100" dir="2700000" algn="tl">
                    <a:srgbClr val="C0C0C0"/>
                  </a:outerShdw>
                </a:effectLst>
                <a:ea typeface="楷体_GB2312" pitchFamily="49" charset="-122"/>
              </a:rPr>
              <a:t>缺点：</a:t>
            </a:r>
            <a:r>
              <a:rPr lang="zh-CN" altLang="en-US" sz="2600" b="1">
                <a:effectLst>
                  <a:outerShdw blurRad="38100" dist="38100" dir="2700000" algn="tl">
                    <a:srgbClr val="C0C0C0"/>
                  </a:outerShdw>
                </a:effectLst>
                <a:ea typeface="楷体_GB2312" pitchFamily="49" charset="-122"/>
              </a:rPr>
              <a:t>一是有可能误判死锁；</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              二是若时限设置的太长，可能出现死锁发生后不能及时发现的情况。</a:t>
            </a:r>
            <a:r>
              <a:rPr lang="zh-CN" altLang="en-US" sz="2800" b="1">
                <a:effectLst>
                  <a:outerShdw blurRad="38100" dist="38100" dir="2700000" algn="tl">
                    <a:srgbClr val="C0C0C0"/>
                  </a:outerShdw>
                </a:effectLst>
                <a:ea typeface="楷体_GB2312" pitchFamily="49" charset="-122"/>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526"/>
    </mc:Choice>
    <mc:Fallback xmlns="">
      <p:transition spd="slow" advTm="605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6883"/>
                                        </p:tgtEl>
                                        <p:attrNameLst>
                                          <p:attrName>style.visibility</p:attrName>
                                        </p:attrNameLst>
                                      </p:cBhvr>
                                      <p:to>
                                        <p:strVal val="visible"/>
                                      </p:to>
                                    </p:set>
                                    <p:animEffect transition="in" filter="wipe(left)">
                                      <p:cBhvr>
                                        <p:cTn id="7" dur="500"/>
                                        <p:tgtEl>
                                          <p:spTgt spid="5068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6884">
                                            <p:bg/>
                                          </p:spTgt>
                                        </p:tgtEl>
                                        <p:attrNameLst>
                                          <p:attrName>style.visibility</p:attrName>
                                        </p:attrNameLst>
                                      </p:cBhvr>
                                      <p:to>
                                        <p:strVal val="visible"/>
                                      </p:to>
                                    </p:set>
                                    <p:animEffect transition="in" filter="wipe(up)">
                                      <p:cBhvr>
                                        <p:cTn id="12" dur="500"/>
                                        <p:tgtEl>
                                          <p:spTgt spid="506884">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6884">
                                            <p:txEl>
                                              <p:pRg st="0" end="0"/>
                                            </p:txEl>
                                          </p:spTgt>
                                        </p:tgtEl>
                                        <p:attrNameLst>
                                          <p:attrName>style.visibility</p:attrName>
                                        </p:attrNameLst>
                                      </p:cBhvr>
                                      <p:to>
                                        <p:strVal val="visible"/>
                                      </p:to>
                                    </p:set>
                                    <p:animEffect transition="in" filter="wipe(up)">
                                      <p:cBhvr>
                                        <p:cTn id="17" dur="500"/>
                                        <p:tgtEl>
                                          <p:spTgt spid="50688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6884">
                                            <p:txEl>
                                              <p:pRg st="1" end="1"/>
                                            </p:txEl>
                                          </p:spTgt>
                                        </p:tgtEl>
                                        <p:attrNameLst>
                                          <p:attrName>style.visibility</p:attrName>
                                        </p:attrNameLst>
                                      </p:cBhvr>
                                      <p:to>
                                        <p:strVal val="visible"/>
                                      </p:to>
                                    </p:set>
                                    <p:animEffect transition="in" filter="wipe(up)">
                                      <p:cBhvr>
                                        <p:cTn id="22" dur="500"/>
                                        <p:tgtEl>
                                          <p:spTgt spid="50688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6884">
                                            <p:txEl>
                                              <p:pRg st="2" end="2"/>
                                            </p:txEl>
                                          </p:spTgt>
                                        </p:tgtEl>
                                        <p:attrNameLst>
                                          <p:attrName>style.visibility</p:attrName>
                                        </p:attrNameLst>
                                      </p:cBhvr>
                                      <p:to>
                                        <p:strVal val="visible"/>
                                      </p:to>
                                    </p:set>
                                    <p:animEffect transition="in" filter="wipe(up)">
                                      <p:cBhvr>
                                        <p:cTn id="27" dur="500"/>
                                        <p:tgtEl>
                                          <p:spTgt spid="50688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6884">
                                            <p:txEl>
                                              <p:pRg st="3" end="3"/>
                                            </p:txEl>
                                          </p:spTgt>
                                        </p:tgtEl>
                                        <p:attrNameLst>
                                          <p:attrName>style.visibility</p:attrName>
                                        </p:attrNameLst>
                                      </p:cBhvr>
                                      <p:to>
                                        <p:strVal val="visible"/>
                                      </p:to>
                                    </p:set>
                                    <p:animEffect transition="in" filter="wipe(up)">
                                      <p:cBhvr>
                                        <p:cTn id="32" dur="500"/>
                                        <p:tgtEl>
                                          <p:spTgt spid="50688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06884">
                                            <p:txEl>
                                              <p:pRg st="4" end="4"/>
                                            </p:txEl>
                                          </p:spTgt>
                                        </p:tgtEl>
                                        <p:attrNameLst>
                                          <p:attrName>style.visibility</p:attrName>
                                        </p:attrNameLst>
                                      </p:cBhvr>
                                      <p:to>
                                        <p:strVal val="visible"/>
                                      </p:to>
                                    </p:set>
                                    <p:animEffect transition="in" filter="wipe(up)">
                                      <p:cBhvr>
                                        <p:cTn id="37" dur="500"/>
                                        <p:tgtEl>
                                          <p:spTgt spid="50688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3" grpId="0"/>
      <p:bldP spid="506884"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507907"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4</a:t>
            </a:r>
            <a:r>
              <a:rPr lang="zh-CN" altLang="en-US" sz="3200">
                <a:solidFill>
                  <a:srgbClr val="660033"/>
                </a:solidFill>
                <a:ea typeface="华文新魏" panose="02010800040101010101" pitchFamily="2" charset="-122"/>
              </a:rPr>
              <a:t>、死锁的检测与解除</a:t>
            </a:r>
            <a:endParaRPr lang="en-US" altLang="zh-CN" sz="3200">
              <a:solidFill>
                <a:srgbClr val="660033"/>
              </a:solidFill>
              <a:ea typeface="华文新魏" panose="02010800040101010101" pitchFamily="2" charset="-122"/>
            </a:endParaRPr>
          </a:p>
        </p:txBody>
      </p:sp>
      <p:sp>
        <p:nvSpPr>
          <p:cNvPr id="507908" name="AutoShape 4"/>
          <p:cNvSpPr>
            <a:spLocks noChangeArrowheads="1"/>
          </p:cNvSpPr>
          <p:nvPr/>
        </p:nvSpPr>
        <p:spPr bwMode="auto">
          <a:xfrm>
            <a:off x="395288" y="2060575"/>
            <a:ext cx="8353425" cy="4464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ea typeface="楷体_GB2312" pitchFamily="49" charset="-122"/>
              </a:rPr>
              <a:t> （</a:t>
            </a:r>
            <a:r>
              <a:rPr lang="en-US" altLang="zh-CN" sz="2800" b="1">
                <a:effectLst>
                  <a:outerShdw blurRad="38100" dist="38100" dir="2700000" algn="tl">
                    <a:srgbClr val="C0C0C0"/>
                  </a:outerShdw>
                </a:effectLst>
                <a:ea typeface="楷体_GB2312" pitchFamily="49" charset="-122"/>
              </a:rPr>
              <a:t>2</a:t>
            </a:r>
            <a:r>
              <a:rPr lang="zh-CN" altLang="en-US" sz="2800" b="1">
                <a:effectLst>
                  <a:outerShdw blurRad="38100" dist="38100" dir="2700000" algn="tl">
                    <a:srgbClr val="C0C0C0"/>
                  </a:outerShdw>
                </a:effectLst>
                <a:ea typeface="楷体_GB2312" pitchFamily="49" charset="-122"/>
              </a:rPr>
              <a:t>）有向等待图法</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①检测死锁</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      画一个表示事务等待关系的有向等待图</a:t>
            </a:r>
            <a:r>
              <a:rPr lang="en-US" altLang="zh-CN" sz="2600" b="1">
                <a:effectLst>
                  <a:outerShdw blurRad="38100" dist="38100" dir="2700000" algn="tl">
                    <a:srgbClr val="C0C0C0"/>
                  </a:outerShdw>
                </a:effectLst>
                <a:ea typeface="楷体_GB2312" pitchFamily="49" charset="-122"/>
              </a:rPr>
              <a:t>G=(V, E)</a:t>
            </a:r>
            <a:r>
              <a:rPr lang="zh-CN" altLang="en-US" sz="2600" b="1">
                <a:effectLst>
                  <a:outerShdw blurRad="38100" dist="38100" dir="2700000" algn="tl">
                    <a:srgbClr val="C0C0C0"/>
                  </a:outerShdw>
                </a:effectLst>
                <a:ea typeface="楷体_GB2312" pitchFamily="49" charset="-122"/>
              </a:rPr>
              <a:t>。其中</a:t>
            </a:r>
            <a:r>
              <a:rPr lang="en-US" altLang="zh-CN" sz="2600" b="1">
                <a:effectLst>
                  <a:outerShdw blurRad="38100" dist="38100" dir="2700000" algn="tl">
                    <a:srgbClr val="C0C0C0"/>
                  </a:outerShdw>
                </a:effectLst>
                <a:ea typeface="楷体_GB2312" pitchFamily="49" charset="-122"/>
              </a:rPr>
              <a:t>V</a:t>
            </a:r>
            <a:r>
              <a:rPr lang="zh-CN" altLang="en-US" sz="2600" b="1">
                <a:effectLst>
                  <a:outerShdw blurRad="38100" dist="38100" dir="2700000" algn="tl">
                    <a:srgbClr val="C0C0C0"/>
                  </a:outerShdw>
                </a:effectLst>
                <a:ea typeface="楷体_GB2312" pitchFamily="49" charset="-122"/>
              </a:rPr>
              <a:t>为结点集合，每个结点表示一个正在运行的事务；</a:t>
            </a:r>
            <a:r>
              <a:rPr lang="en-US" altLang="zh-CN" sz="2600" b="1">
                <a:effectLst>
                  <a:outerShdw blurRad="38100" dist="38100" dir="2700000" algn="tl">
                    <a:srgbClr val="C0C0C0"/>
                  </a:outerShdw>
                </a:effectLst>
                <a:ea typeface="楷体_GB2312" pitchFamily="49" charset="-122"/>
              </a:rPr>
              <a:t>E</a:t>
            </a:r>
            <a:r>
              <a:rPr lang="zh-CN" altLang="en-US" sz="2600" b="1">
                <a:effectLst>
                  <a:outerShdw blurRad="38100" dist="38100" dir="2700000" algn="tl">
                    <a:srgbClr val="C0C0C0"/>
                  </a:outerShdw>
                </a:effectLst>
                <a:ea typeface="楷体_GB2312" pitchFamily="49" charset="-122"/>
              </a:rPr>
              <a:t>为有向边集合，每条有向边表示事务的等待关系：若</a:t>
            </a:r>
            <a:r>
              <a:rPr lang="en-US" altLang="zh-CN" sz="2600" b="1">
                <a:effectLst>
                  <a:outerShdw blurRad="38100" dist="38100" dir="2700000" algn="tl">
                    <a:srgbClr val="C0C0C0"/>
                  </a:outerShdw>
                </a:effectLst>
                <a:ea typeface="楷体_GB2312" pitchFamily="49" charset="-122"/>
              </a:rPr>
              <a:t>T1</a:t>
            </a:r>
            <a:r>
              <a:rPr lang="zh-CN" altLang="en-US" sz="2600" b="1">
                <a:effectLst>
                  <a:outerShdw blurRad="38100" dist="38100" dir="2700000" algn="tl">
                    <a:srgbClr val="C0C0C0"/>
                  </a:outerShdw>
                </a:effectLst>
                <a:ea typeface="楷体_GB2312" pitchFamily="49" charset="-122"/>
              </a:rPr>
              <a:t>正在等待给被</a:t>
            </a:r>
            <a:r>
              <a:rPr lang="en-US" altLang="zh-CN" sz="2600" b="1">
                <a:effectLst>
                  <a:outerShdw blurRad="38100" dist="38100" dir="2700000" algn="tl">
                    <a:srgbClr val="C0C0C0"/>
                  </a:outerShdw>
                </a:effectLst>
                <a:ea typeface="楷体_GB2312" pitchFamily="49" charset="-122"/>
              </a:rPr>
              <a:t>T2</a:t>
            </a:r>
            <a:r>
              <a:rPr lang="zh-CN" altLang="en-US" sz="2600" b="1">
                <a:effectLst>
                  <a:outerShdw blurRad="38100" dist="38100" dir="2700000" algn="tl">
                    <a:srgbClr val="C0C0C0"/>
                  </a:outerShdw>
                </a:effectLst>
                <a:ea typeface="楷体_GB2312" pitchFamily="49" charset="-122"/>
              </a:rPr>
              <a:t>锁住的数据项加锁，则在</a:t>
            </a:r>
            <a:r>
              <a:rPr lang="en-US" altLang="zh-CN" sz="2600" b="1">
                <a:effectLst>
                  <a:outerShdw blurRad="38100" dist="38100" dir="2700000" algn="tl">
                    <a:srgbClr val="C0C0C0"/>
                  </a:outerShdw>
                </a:effectLst>
                <a:ea typeface="楷体_GB2312" pitchFamily="49" charset="-122"/>
              </a:rPr>
              <a:t>T1</a:t>
            </a:r>
            <a:r>
              <a:rPr lang="zh-CN" altLang="en-US" sz="2600" b="1">
                <a:effectLst>
                  <a:outerShdw blurRad="38100" dist="38100" dir="2700000" algn="tl">
                    <a:srgbClr val="C0C0C0"/>
                  </a:outerShdw>
                </a:effectLst>
                <a:ea typeface="楷体_GB2312" pitchFamily="49" charset="-122"/>
              </a:rPr>
              <a:t>和</a:t>
            </a:r>
            <a:r>
              <a:rPr lang="en-US" altLang="zh-CN" sz="2600" b="1">
                <a:effectLst>
                  <a:outerShdw blurRad="38100" dist="38100" dir="2700000" algn="tl">
                    <a:srgbClr val="C0C0C0"/>
                  </a:outerShdw>
                </a:effectLst>
                <a:ea typeface="楷体_GB2312" pitchFamily="49" charset="-122"/>
              </a:rPr>
              <a:t>T2</a:t>
            </a:r>
            <a:r>
              <a:rPr lang="zh-CN" altLang="en-US" sz="2600" b="1">
                <a:effectLst>
                  <a:outerShdw blurRad="38100" dist="38100" dir="2700000" algn="tl">
                    <a:srgbClr val="C0C0C0"/>
                  </a:outerShdw>
                </a:effectLst>
                <a:ea typeface="楷体_GB2312" pitchFamily="49" charset="-122"/>
              </a:rPr>
              <a:t>之间划一条有向边，方向是</a:t>
            </a:r>
            <a:r>
              <a:rPr lang="en-US" altLang="zh-CN" sz="2600" b="1">
                <a:effectLst>
                  <a:outerShdw blurRad="38100" dist="38100" dir="2700000" algn="tl">
                    <a:srgbClr val="C0C0C0"/>
                  </a:outerShdw>
                </a:effectLst>
                <a:ea typeface="楷体_GB2312" pitchFamily="49" charset="-122"/>
              </a:rPr>
              <a:t>T1</a:t>
            </a:r>
            <a:r>
              <a:rPr lang="zh-CN" altLang="en-US" sz="2600" b="1">
                <a:effectLst>
                  <a:outerShdw blurRad="38100" dist="38100" dir="2700000" algn="tl">
                    <a:srgbClr val="C0C0C0"/>
                  </a:outerShdw>
                </a:effectLst>
                <a:ea typeface="楷体_GB2312" pitchFamily="49" charset="-122"/>
              </a:rPr>
              <a:t>指向</a:t>
            </a:r>
            <a:r>
              <a:rPr lang="en-US" altLang="zh-CN" sz="2600" b="1">
                <a:effectLst>
                  <a:outerShdw blurRad="38100" dist="38100" dir="2700000" algn="tl">
                    <a:srgbClr val="C0C0C0"/>
                  </a:outerShdw>
                </a:effectLst>
                <a:ea typeface="楷体_GB2312" pitchFamily="49" charset="-122"/>
              </a:rPr>
              <a:t>T2</a:t>
            </a:r>
            <a:r>
              <a:rPr lang="zh-CN" altLang="en-US" sz="2600" b="1">
                <a:effectLst>
                  <a:outerShdw blurRad="38100" dist="38100" dir="2700000" algn="tl">
                    <a:srgbClr val="C0C0C0"/>
                  </a:outerShdw>
                </a:effectLst>
                <a:ea typeface="楷体_GB2312" pitchFamily="49" charset="-122"/>
              </a:rPr>
              <a:t>。</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      事务的有向等待图动态地反映了所有事务的等待情况。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4234"/>
    </mc:Choice>
    <mc:Fallback xmlns="">
      <p:transition spd="slow" advTm="542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7907"/>
                                        </p:tgtEl>
                                        <p:attrNameLst>
                                          <p:attrName>style.visibility</p:attrName>
                                        </p:attrNameLst>
                                      </p:cBhvr>
                                      <p:to>
                                        <p:strVal val="visible"/>
                                      </p:to>
                                    </p:set>
                                    <p:animEffect transition="in" filter="wipe(left)">
                                      <p:cBhvr>
                                        <p:cTn id="7" dur="500"/>
                                        <p:tgtEl>
                                          <p:spTgt spid="5079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7908">
                                            <p:bg/>
                                          </p:spTgt>
                                        </p:tgtEl>
                                        <p:attrNameLst>
                                          <p:attrName>style.visibility</p:attrName>
                                        </p:attrNameLst>
                                      </p:cBhvr>
                                      <p:to>
                                        <p:strVal val="visible"/>
                                      </p:to>
                                    </p:set>
                                    <p:animEffect transition="in" filter="wipe(up)">
                                      <p:cBhvr>
                                        <p:cTn id="12" dur="500"/>
                                        <p:tgtEl>
                                          <p:spTgt spid="507908">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7908">
                                            <p:txEl>
                                              <p:pRg st="0" end="0"/>
                                            </p:txEl>
                                          </p:spTgt>
                                        </p:tgtEl>
                                        <p:attrNameLst>
                                          <p:attrName>style.visibility</p:attrName>
                                        </p:attrNameLst>
                                      </p:cBhvr>
                                      <p:to>
                                        <p:strVal val="visible"/>
                                      </p:to>
                                    </p:set>
                                    <p:animEffect transition="in" filter="wipe(up)">
                                      <p:cBhvr>
                                        <p:cTn id="17" dur="500"/>
                                        <p:tgtEl>
                                          <p:spTgt spid="50790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7908">
                                            <p:txEl>
                                              <p:pRg st="1" end="1"/>
                                            </p:txEl>
                                          </p:spTgt>
                                        </p:tgtEl>
                                        <p:attrNameLst>
                                          <p:attrName>style.visibility</p:attrName>
                                        </p:attrNameLst>
                                      </p:cBhvr>
                                      <p:to>
                                        <p:strVal val="visible"/>
                                      </p:to>
                                    </p:set>
                                    <p:animEffect transition="in" filter="wipe(up)">
                                      <p:cBhvr>
                                        <p:cTn id="22" dur="500"/>
                                        <p:tgtEl>
                                          <p:spTgt spid="50790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7908">
                                            <p:txEl>
                                              <p:pRg st="2" end="2"/>
                                            </p:txEl>
                                          </p:spTgt>
                                        </p:tgtEl>
                                        <p:attrNameLst>
                                          <p:attrName>style.visibility</p:attrName>
                                        </p:attrNameLst>
                                      </p:cBhvr>
                                      <p:to>
                                        <p:strVal val="visible"/>
                                      </p:to>
                                    </p:set>
                                    <p:animEffect transition="in" filter="wipe(up)">
                                      <p:cBhvr>
                                        <p:cTn id="27" dur="500"/>
                                        <p:tgtEl>
                                          <p:spTgt spid="50790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7908">
                                            <p:txEl>
                                              <p:pRg st="3" end="3"/>
                                            </p:txEl>
                                          </p:spTgt>
                                        </p:tgtEl>
                                        <p:attrNameLst>
                                          <p:attrName>style.visibility</p:attrName>
                                        </p:attrNameLst>
                                      </p:cBhvr>
                                      <p:to>
                                        <p:strVal val="visible"/>
                                      </p:to>
                                    </p:set>
                                    <p:animEffect transition="in" filter="wipe(up)">
                                      <p:cBhvr>
                                        <p:cTn id="32" dur="500"/>
                                        <p:tgtEl>
                                          <p:spTgt spid="50790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7" grpId="0"/>
      <p:bldP spid="507908"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Rot="1" noChangeArrowheads="1"/>
          </p:cNvSpPr>
          <p:nvPr>
            <p:ph type="title"/>
          </p:nvPr>
        </p:nvSpPr>
        <p:spPr>
          <a:xfrm>
            <a:off x="1281113" y="285750"/>
            <a:ext cx="6656387"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四、封锁带来的问题－－活锁和死锁</a:t>
            </a:r>
          </a:p>
        </p:txBody>
      </p:sp>
      <p:sp>
        <p:nvSpPr>
          <p:cNvPr id="508931"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4</a:t>
            </a:r>
            <a:r>
              <a:rPr lang="zh-CN" altLang="en-US" sz="3200">
                <a:solidFill>
                  <a:srgbClr val="660033"/>
                </a:solidFill>
                <a:ea typeface="华文新魏" panose="02010800040101010101" pitchFamily="2" charset="-122"/>
              </a:rPr>
              <a:t>、死锁的检测与解除</a:t>
            </a:r>
            <a:endParaRPr lang="en-US" altLang="zh-CN" sz="3200">
              <a:solidFill>
                <a:srgbClr val="660033"/>
              </a:solidFill>
              <a:ea typeface="华文新魏" panose="02010800040101010101" pitchFamily="2" charset="-122"/>
            </a:endParaRPr>
          </a:p>
        </p:txBody>
      </p:sp>
      <p:sp>
        <p:nvSpPr>
          <p:cNvPr id="508932" name="AutoShape 4"/>
          <p:cNvSpPr>
            <a:spLocks noChangeArrowheads="1"/>
          </p:cNvSpPr>
          <p:nvPr/>
        </p:nvSpPr>
        <p:spPr bwMode="auto">
          <a:xfrm>
            <a:off x="395288" y="2060575"/>
            <a:ext cx="8353425" cy="4464050"/>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spcAft>
                <a:spcPct val="50000"/>
              </a:spcAft>
            </a:pPr>
            <a:r>
              <a:rPr lang="zh-CN" altLang="en-US" sz="2600" b="1">
                <a:effectLst>
                  <a:outerShdw blurRad="38100" dist="38100" dir="2700000" algn="tl">
                    <a:srgbClr val="C0C0C0"/>
                  </a:outerShdw>
                </a:effectLst>
                <a:ea typeface="楷体_GB2312" pitchFamily="49" charset="-122"/>
              </a:rPr>
              <a:t>       有向等待图中的每个回路意味着死锁的存在；如果无任何回路，则表示无死锁产生。并发控制子系统周期性地（比如每隔</a:t>
            </a:r>
            <a:r>
              <a:rPr lang="en-US" altLang="zh-CN" sz="2600" b="1">
                <a:effectLst>
                  <a:outerShdw blurRad="38100" dist="38100" dir="2700000" algn="tl">
                    <a:srgbClr val="C0C0C0"/>
                  </a:outerShdw>
                </a:effectLst>
                <a:ea typeface="楷体_GB2312" pitchFamily="49" charset="-122"/>
              </a:rPr>
              <a:t>0.5</a:t>
            </a:r>
            <a:r>
              <a:rPr lang="zh-CN" altLang="en-US" sz="2600" b="1">
                <a:effectLst>
                  <a:outerShdw blurRad="38100" dist="38100" dir="2700000" algn="tl">
                    <a:srgbClr val="C0C0C0"/>
                  </a:outerShdw>
                </a:effectLst>
                <a:ea typeface="楷体_GB2312" pitchFamily="49" charset="-122"/>
              </a:rPr>
              <a:t>分钟）检测事务的有向等待图，如果发现有向等待图中存在回路，就表示系统中出现了死锁。</a:t>
            </a:r>
          </a:p>
          <a:p>
            <a:pPr>
              <a:lnSpc>
                <a:spcPct val="110000"/>
              </a:lnSpc>
              <a:spcBef>
                <a:spcPct val="25000"/>
              </a:spcBef>
            </a:pPr>
            <a:r>
              <a:rPr lang="zh-CN" altLang="en-US" sz="2600" b="1">
                <a:effectLst>
                  <a:outerShdw blurRad="38100" dist="38100" dir="2700000" algn="tl">
                    <a:srgbClr val="C0C0C0"/>
                  </a:outerShdw>
                </a:effectLst>
                <a:ea typeface="楷体_GB2312" pitchFamily="49" charset="-122"/>
              </a:rPr>
              <a:t>②解除死锁：</a:t>
            </a:r>
            <a:r>
              <a:rPr lang="en-US" altLang="zh-CN" sz="2600" b="1">
                <a:effectLst>
                  <a:outerShdw blurRad="38100" dist="38100" dir="2700000" algn="tl">
                    <a:srgbClr val="C0C0C0"/>
                  </a:outerShdw>
                </a:effectLst>
                <a:ea typeface="楷体_GB2312" pitchFamily="49" charset="-122"/>
              </a:rPr>
              <a:t>DBMS</a:t>
            </a:r>
            <a:r>
              <a:rPr lang="zh-CN" altLang="en-US" sz="2600" b="1">
                <a:effectLst>
                  <a:outerShdw blurRad="38100" dist="38100" dir="2700000" algn="tl">
                    <a:srgbClr val="C0C0C0"/>
                  </a:outerShdw>
                </a:effectLst>
                <a:ea typeface="楷体_GB2312" pitchFamily="49" charset="-122"/>
              </a:rPr>
              <a:t>的并发控制子系统检测到死锁后，选择一个处理死锁代价最小的事务，将其撤消，释放它持有的所有锁。</a:t>
            </a:r>
            <a:endParaRPr lang="en-US" altLang="zh-CN" sz="2600" b="1">
              <a:effectLst>
                <a:outerShdw blurRad="38100" dist="38100" dir="2700000" algn="tl">
                  <a:srgbClr val="C0C0C0"/>
                </a:outerShdw>
              </a:effectLst>
              <a:ea typeface="楷体_GB2312"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748"/>
    </mc:Choice>
    <mc:Fallback xmlns="">
      <p:transition spd="slow" advTm="497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8932">
                                            <p:bg/>
                                          </p:spTgt>
                                        </p:tgtEl>
                                        <p:attrNameLst>
                                          <p:attrName>style.visibility</p:attrName>
                                        </p:attrNameLst>
                                      </p:cBhvr>
                                      <p:to>
                                        <p:strVal val="visible"/>
                                      </p:to>
                                    </p:set>
                                    <p:animEffect transition="in" filter="wipe(up)">
                                      <p:cBhvr>
                                        <p:cTn id="7" dur="500"/>
                                        <p:tgtEl>
                                          <p:spTgt spid="508932">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8932">
                                            <p:txEl>
                                              <p:pRg st="0" end="0"/>
                                            </p:txEl>
                                          </p:spTgt>
                                        </p:tgtEl>
                                        <p:attrNameLst>
                                          <p:attrName>style.visibility</p:attrName>
                                        </p:attrNameLst>
                                      </p:cBhvr>
                                      <p:to>
                                        <p:strVal val="visible"/>
                                      </p:to>
                                    </p:set>
                                    <p:animEffect transition="in" filter="wipe(up)">
                                      <p:cBhvr>
                                        <p:cTn id="12" dur="500"/>
                                        <p:tgtEl>
                                          <p:spTgt spid="5089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8932">
                                            <p:txEl>
                                              <p:pRg st="1" end="1"/>
                                            </p:txEl>
                                          </p:spTgt>
                                        </p:tgtEl>
                                        <p:attrNameLst>
                                          <p:attrName>style.visibility</p:attrName>
                                        </p:attrNameLst>
                                      </p:cBhvr>
                                      <p:to>
                                        <p:strVal val="visible"/>
                                      </p:to>
                                    </p:set>
                                    <p:animEffect transition="in" filter="wipe(up)">
                                      <p:cBhvr>
                                        <p:cTn id="17" dur="500"/>
                                        <p:tgtEl>
                                          <p:spTgt spid="5089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2"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Rot="1" noChangeArrowheads="1"/>
          </p:cNvSpPr>
          <p:nvPr>
            <p:ph type="title"/>
          </p:nvPr>
        </p:nvSpPr>
        <p:spPr>
          <a:xfrm>
            <a:off x="1276350" y="284163"/>
            <a:ext cx="690880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五、并发调度的可串行性</a:t>
            </a:r>
          </a:p>
        </p:txBody>
      </p:sp>
      <p:sp>
        <p:nvSpPr>
          <p:cNvPr id="509955"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、事务的调度</a:t>
            </a:r>
            <a:endParaRPr lang="en-US" altLang="zh-CN" sz="3200">
              <a:solidFill>
                <a:srgbClr val="660033"/>
              </a:solidFill>
              <a:ea typeface="华文新魏" panose="02010800040101010101" pitchFamily="2" charset="-122"/>
            </a:endParaRPr>
          </a:p>
        </p:txBody>
      </p:sp>
      <p:sp>
        <p:nvSpPr>
          <p:cNvPr id="509956" name="AutoShape 4"/>
          <p:cNvSpPr>
            <a:spLocks noChangeArrowheads="1"/>
          </p:cNvSpPr>
          <p:nvPr/>
        </p:nvSpPr>
        <p:spPr bwMode="auto">
          <a:xfrm>
            <a:off x="395288" y="2349500"/>
            <a:ext cx="8353425" cy="302418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楷体_GB2312" pitchFamily="49" charset="-122"/>
                <a:ea typeface="楷体_GB2312" pitchFamily="49" charset="-122"/>
              </a:rPr>
              <a:t>  调度：按某一执行次序安排的事务执行的步骤。</a:t>
            </a:r>
          </a:p>
          <a:p>
            <a:pPr algn="just">
              <a:lnSpc>
                <a:spcPct val="12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rgbClr val="CC3300"/>
                </a:solidFill>
                <a:effectLst>
                  <a:outerShdw blurRad="38100" dist="38100" dir="2700000" algn="tl">
                    <a:srgbClr val="C0C0C0"/>
                  </a:outerShdw>
                </a:effectLst>
                <a:latin typeface="楷体_GB2312" pitchFamily="49" charset="-122"/>
                <a:ea typeface="楷体_GB2312" pitchFamily="49" charset="-122"/>
              </a:rPr>
              <a:t>串行调度</a:t>
            </a:r>
            <a:r>
              <a:rPr lang="zh-CN" altLang="en-US" sz="2800" b="1">
                <a:effectLst>
                  <a:outerShdw blurRad="38100" dist="38100" dir="2700000" algn="tl">
                    <a:srgbClr val="C0C0C0"/>
                  </a:outerShdw>
                </a:effectLst>
                <a:latin typeface="楷体_GB2312" pitchFamily="49" charset="-122"/>
                <a:ea typeface="楷体_GB2312" pitchFamily="49" charset="-122"/>
              </a:rPr>
              <a:t>：多个事务</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依次</a:t>
            </a:r>
            <a:r>
              <a:rPr lang="zh-CN" altLang="en-US" sz="2800" b="1">
                <a:effectLst>
                  <a:outerShdw blurRad="38100" dist="38100" dir="2700000" algn="tl">
                    <a:srgbClr val="C0C0C0"/>
                  </a:outerShdw>
                </a:effectLst>
                <a:latin typeface="楷体_GB2312" pitchFamily="49" charset="-122"/>
                <a:ea typeface="楷体_GB2312" pitchFamily="49" charset="-122"/>
              </a:rPr>
              <a:t>执行。</a:t>
            </a:r>
          </a:p>
          <a:p>
            <a:pPr algn="just">
              <a:lnSpc>
                <a:spcPct val="12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rgbClr val="CC3300"/>
                </a:solidFill>
                <a:effectLst>
                  <a:outerShdw blurRad="38100" dist="38100" dir="2700000" algn="tl">
                    <a:srgbClr val="C0C0C0"/>
                  </a:outerShdw>
                </a:effectLst>
                <a:latin typeface="楷体_GB2312" pitchFamily="49" charset="-122"/>
                <a:ea typeface="楷体_GB2312" pitchFamily="49" charset="-122"/>
              </a:rPr>
              <a:t>并发调度</a:t>
            </a:r>
            <a:r>
              <a:rPr lang="zh-CN" altLang="en-US" sz="2800" b="1">
                <a:effectLst>
                  <a:outerShdw blurRad="38100" dist="38100" dir="2700000" algn="tl">
                    <a:srgbClr val="C0C0C0"/>
                  </a:outerShdw>
                </a:effectLst>
                <a:latin typeface="楷体_GB2312" pitchFamily="49" charset="-122"/>
                <a:ea typeface="楷体_GB2312" pitchFamily="49" charset="-122"/>
              </a:rPr>
              <a:t>：利用</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分时</a:t>
            </a:r>
            <a:r>
              <a:rPr lang="zh-CN" altLang="en-US" sz="2800" b="1">
                <a:effectLst>
                  <a:outerShdw blurRad="38100" dist="38100" dir="2700000" algn="tl">
                    <a:srgbClr val="C0C0C0"/>
                  </a:outerShdw>
                </a:effectLst>
                <a:latin typeface="楷体_GB2312" pitchFamily="49" charset="-122"/>
                <a:ea typeface="楷体_GB2312" pitchFamily="49" charset="-122"/>
              </a:rPr>
              <a:t>方法</a:t>
            </a: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同时</a:t>
            </a:r>
            <a:r>
              <a:rPr lang="zh-CN" altLang="en-US" sz="2800" b="1">
                <a:effectLst>
                  <a:outerShdw blurRad="38100" dist="38100" dir="2700000" algn="tl">
                    <a:srgbClr val="C0C0C0"/>
                  </a:outerShdw>
                </a:effectLst>
                <a:latin typeface="楷体_GB2312" pitchFamily="49" charset="-122"/>
                <a:ea typeface="楷体_GB2312" pitchFamily="49" charset="-122"/>
              </a:rPr>
              <a:t>处理多个事务。</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454"/>
    </mc:Choice>
    <mc:Fallback xmlns="">
      <p:transition spd="slow" advTm="174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9955"/>
                                        </p:tgtEl>
                                        <p:attrNameLst>
                                          <p:attrName>style.visibility</p:attrName>
                                        </p:attrNameLst>
                                      </p:cBhvr>
                                      <p:to>
                                        <p:strVal val="visible"/>
                                      </p:to>
                                    </p:set>
                                    <p:animEffect transition="in" filter="wipe(left)">
                                      <p:cBhvr>
                                        <p:cTn id="7" dur="1000"/>
                                        <p:tgtEl>
                                          <p:spTgt spid="5099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9956">
                                            <p:bg/>
                                          </p:spTgt>
                                        </p:tgtEl>
                                        <p:attrNameLst>
                                          <p:attrName>style.visibility</p:attrName>
                                        </p:attrNameLst>
                                      </p:cBhvr>
                                      <p:to>
                                        <p:strVal val="visible"/>
                                      </p:to>
                                    </p:set>
                                    <p:animEffect transition="in" filter="wipe(up)">
                                      <p:cBhvr>
                                        <p:cTn id="12" dur="500"/>
                                        <p:tgtEl>
                                          <p:spTgt spid="509956">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9956">
                                            <p:txEl>
                                              <p:pRg st="0" end="0"/>
                                            </p:txEl>
                                          </p:spTgt>
                                        </p:tgtEl>
                                        <p:attrNameLst>
                                          <p:attrName>style.visibility</p:attrName>
                                        </p:attrNameLst>
                                      </p:cBhvr>
                                      <p:to>
                                        <p:strVal val="visible"/>
                                      </p:to>
                                    </p:set>
                                    <p:animEffect transition="in" filter="wipe(up)">
                                      <p:cBhvr>
                                        <p:cTn id="17" dur="500"/>
                                        <p:tgtEl>
                                          <p:spTgt spid="50995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9956">
                                            <p:txEl>
                                              <p:pRg st="1" end="1"/>
                                            </p:txEl>
                                          </p:spTgt>
                                        </p:tgtEl>
                                        <p:attrNameLst>
                                          <p:attrName>style.visibility</p:attrName>
                                        </p:attrNameLst>
                                      </p:cBhvr>
                                      <p:to>
                                        <p:strVal val="visible"/>
                                      </p:to>
                                    </p:set>
                                    <p:animEffect transition="in" filter="wipe(up)">
                                      <p:cBhvr>
                                        <p:cTn id="22" dur="500"/>
                                        <p:tgtEl>
                                          <p:spTgt spid="50995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9956">
                                            <p:txEl>
                                              <p:pRg st="2" end="2"/>
                                            </p:txEl>
                                          </p:spTgt>
                                        </p:tgtEl>
                                        <p:attrNameLst>
                                          <p:attrName>style.visibility</p:attrName>
                                        </p:attrNameLst>
                                      </p:cBhvr>
                                      <p:to>
                                        <p:strVal val="visible"/>
                                      </p:to>
                                    </p:set>
                                    <p:animEffect transition="in" filter="wipe(up)">
                                      <p:cBhvr>
                                        <p:cTn id="27" dur="500"/>
                                        <p:tgtEl>
                                          <p:spTgt spid="50995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5" grpId="0"/>
      <p:bldP spid="509956"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Rot="1" noChangeArrowheads="1"/>
          </p:cNvSpPr>
          <p:nvPr>
            <p:ph type="title"/>
          </p:nvPr>
        </p:nvSpPr>
        <p:spPr>
          <a:xfrm>
            <a:off x="1276350" y="284163"/>
            <a:ext cx="690880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五、并发调度的可串行性</a:t>
            </a:r>
          </a:p>
        </p:txBody>
      </p:sp>
      <p:sp>
        <p:nvSpPr>
          <p:cNvPr id="510979"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、可串行化调度</a:t>
            </a:r>
            <a:endParaRPr lang="en-US" altLang="zh-CN" sz="3200">
              <a:solidFill>
                <a:srgbClr val="660033"/>
              </a:solidFill>
              <a:ea typeface="华文新魏" panose="02010800040101010101" pitchFamily="2" charset="-122"/>
            </a:endParaRPr>
          </a:p>
        </p:txBody>
      </p:sp>
      <p:sp>
        <p:nvSpPr>
          <p:cNvPr id="510980" name="AutoShape 4"/>
          <p:cNvSpPr>
            <a:spLocks noChangeArrowheads="1"/>
          </p:cNvSpPr>
          <p:nvPr/>
        </p:nvSpPr>
        <p:spPr bwMode="auto">
          <a:xfrm>
            <a:off x="395288" y="2349500"/>
            <a:ext cx="8353425" cy="251936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pPr>
            <a:r>
              <a:rPr lang="zh-CN" altLang="en-US" sz="2800" b="1">
                <a:effectLst>
                  <a:outerShdw blurRad="38100" dist="38100" dir="2700000" algn="tl">
                    <a:srgbClr val="C0C0C0"/>
                  </a:outerShdw>
                </a:effectLst>
                <a:latin typeface="楷体_GB2312" pitchFamily="49" charset="-122"/>
                <a:ea typeface="楷体_GB2312" pitchFamily="49" charset="-122"/>
              </a:rPr>
              <a:t>    多个事务的并发执行是正确的，当且仅当其结果与按某一顺序串行地执行它们时的结果相同，称这种调度为</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可串行化调度</a:t>
            </a:r>
            <a:r>
              <a:rPr lang="zh-CN" altLang="en-US" sz="2800" b="1">
                <a:effectLst>
                  <a:outerShdw blurRad="38100" dist="38100" dir="2700000" algn="tl">
                    <a:srgbClr val="C0C0C0"/>
                  </a:outerShdw>
                </a:effectLst>
                <a:latin typeface="楷体_GB2312" pitchFamily="49" charset="-122"/>
                <a:ea typeface="楷体_GB2312"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606"/>
    </mc:Choice>
    <mc:Fallback xmlns="">
      <p:transition spd="slow" advTm="166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0979"/>
                                        </p:tgtEl>
                                        <p:attrNameLst>
                                          <p:attrName>style.visibility</p:attrName>
                                        </p:attrNameLst>
                                      </p:cBhvr>
                                      <p:to>
                                        <p:strVal val="visible"/>
                                      </p:to>
                                    </p:set>
                                    <p:animEffect transition="in" filter="wipe(left)">
                                      <p:cBhvr>
                                        <p:cTn id="7" dur="1000"/>
                                        <p:tgtEl>
                                          <p:spTgt spid="5109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0980">
                                            <p:bg/>
                                          </p:spTgt>
                                        </p:tgtEl>
                                        <p:attrNameLst>
                                          <p:attrName>style.visibility</p:attrName>
                                        </p:attrNameLst>
                                      </p:cBhvr>
                                      <p:to>
                                        <p:strVal val="visible"/>
                                      </p:to>
                                    </p:set>
                                    <p:animEffect transition="in" filter="wipe(up)">
                                      <p:cBhvr>
                                        <p:cTn id="12" dur="500"/>
                                        <p:tgtEl>
                                          <p:spTgt spid="510980">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0980">
                                            <p:txEl>
                                              <p:pRg st="0" end="0"/>
                                            </p:txEl>
                                          </p:spTgt>
                                        </p:tgtEl>
                                        <p:attrNameLst>
                                          <p:attrName>style.visibility</p:attrName>
                                        </p:attrNameLst>
                                      </p:cBhvr>
                                      <p:to>
                                        <p:strVal val="visible"/>
                                      </p:to>
                                    </p:set>
                                    <p:animEffect transition="in" filter="wipe(up)">
                                      <p:cBhvr>
                                        <p:cTn id="17" dur="500"/>
                                        <p:tgtEl>
                                          <p:spTgt spid="5109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9" grpId="0"/>
      <p:bldP spid="510980"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body" idx="1"/>
          </p:nvPr>
        </p:nvSpPr>
        <p:spPr>
          <a:xfrm>
            <a:off x="592138" y="1484313"/>
            <a:ext cx="7940675" cy="4537075"/>
          </a:xfrm>
        </p:spPr>
        <p:txBody>
          <a:bodyPr/>
          <a:lstStyle/>
          <a:p>
            <a:pPr marL="533400" indent="-533400" algn="just"/>
            <a:r>
              <a:rPr lang="zh-CN" altLang="en-US">
                <a:latin typeface="华文中宋" panose="02010600040101010101" pitchFamily="2" charset="-122"/>
                <a:ea typeface="华文中宋" panose="02010600040101010101" pitchFamily="2" charset="-122"/>
              </a:rPr>
              <a:t>例</a:t>
            </a:r>
            <a:r>
              <a:rPr lang="en-US" altLang="zh-CN">
                <a:latin typeface="华文中宋" panose="02010600040101010101" pitchFamily="2" charset="-122"/>
                <a:ea typeface="华文中宋" panose="02010600040101010101" pitchFamily="2" charset="-122"/>
              </a:rPr>
              <a:t>10.12 </a:t>
            </a:r>
            <a:r>
              <a:rPr lang="zh-CN" altLang="en-US">
                <a:latin typeface="华文中宋" panose="02010600040101010101" pitchFamily="2" charset="-122"/>
                <a:ea typeface="华文中宋" panose="02010600040101010101" pitchFamily="2" charset="-122"/>
              </a:rPr>
              <a:t>通过银行的转账业务，来说明事务调度及可串行化调度的相关概念。假设有事务</a:t>
            </a:r>
            <a:r>
              <a:rPr lang="en-US" altLang="zh-CN">
                <a:latin typeface="华文中宋" panose="02010600040101010101" pitchFamily="2" charset="-122"/>
                <a:ea typeface="华文中宋" panose="02010600040101010101" pitchFamily="2" charset="-122"/>
              </a:rPr>
              <a:t>T1</a:t>
            </a:r>
            <a:r>
              <a:rPr lang="zh-CN" altLang="en-US">
                <a:latin typeface="华文中宋" panose="02010600040101010101" pitchFamily="2" charset="-122"/>
                <a:ea typeface="华文中宋" panose="02010600040101010101" pitchFamily="2" charset="-122"/>
              </a:rPr>
              <a:t>和事务</a:t>
            </a:r>
            <a:r>
              <a:rPr lang="en-US" altLang="zh-CN">
                <a:latin typeface="华文中宋" panose="02010600040101010101" pitchFamily="2" charset="-122"/>
                <a:ea typeface="华文中宋" panose="02010600040101010101" pitchFamily="2" charset="-122"/>
              </a:rPr>
              <a:t>T2</a:t>
            </a:r>
            <a:r>
              <a:rPr lang="zh-CN" altLang="en-US">
                <a:latin typeface="华文中宋" panose="02010600040101010101" pitchFamily="2" charset="-122"/>
                <a:ea typeface="华文中宋" panose="02010600040101010101" pitchFamily="2" charset="-122"/>
              </a:rPr>
              <a:t>。</a:t>
            </a:r>
          </a:p>
          <a:p>
            <a:pPr marL="533400" indent="-533400" algn="just"/>
            <a:r>
              <a:rPr lang="en-US" altLang="zh-CN">
                <a:solidFill>
                  <a:srgbClr val="0000FF"/>
                </a:solidFill>
                <a:latin typeface="楷体_GB2312" pitchFamily="49" charset="-122"/>
                <a:ea typeface="楷体_GB2312" pitchFamily="49" charset="-122"/>
              </a:rPr>
              <a:t>事务T1：从账号A将数量为100的款项转到账号B；</a:t>
            </a:r>
          </a:p>
          <a:p>
            <a:pPr marL="533400" indent="-533400" algn="just"/>
            <a:r>
              <a:rPr lang="en-US" altLang="zh-CN">
                <a:solidFill>
                  <a:srgbClr val="005400"/>
                </a:solidFill>
                <a:latin typeface="楷体_GB2312" pitchFamily="49" charset="-122"/>
                <a:ea typeface="楷体_GB2312" pitchFamily="49" charset="-122"/>
              </a:rPr>
              <a:t>事务T2：从账号B将20％的款项转到账号C。</a:t>
            </a:r>
          </a:p>
          <a:p>
            <a:pPr marL="533400" indent="-533400" algn="just"/>
            <a:r>
              <a:rPr lang="en-US" altLang="zh-CN">
                <a:latin typeface="楷体_GB2312" pitchFamily="49" charset="-122"/>
                <a:ea typeface="楷体_GB2312" pitchFamily="49" charset="-122"/>
              </a:rPr>
              <a:t>假设A、B和C的初值分别为600、300和100。</a:t>
            </a:r>
            <a:endParaRPr lang="zh-CN" altLang="en-US">
              <a:latin typeface="楷体_GB2312" pitchFamily="49" charset="-122"/>
              <a:ea typeface="楷体_GB2312" pitchFamily="49" charset="-122"/>
            </a:endParaRPr>
          </a:p>
        </p:txBody>
      </p:sp>
      <p:sp>
        <p:nvSpPr>
          <p:cNvPr id="512003" name="Rectangle 3"/>
          <p:cNvSpPr>
            <a:spLocks noGrp="1" noRot="1" noChangeArrowheads="1"/>
          </p:cNvSpPr>
          <p:nvPr>
            <p:ph type="title"/>
          </p:nvPr>
        </p:nvSpPr>
        <p:spPr>
          <a:xfrm>
            <a:off x="1276350" y="284163"/>
            <a:ext cx="690880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五、并发调度的可串行性</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9753"/>
    </mc:Choice>
    <mc:Fallback xmlns="">
      <p:transition spd="slow" advTm="2975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3026" name="Group 2"/>
          <p:cNvGrpSpPr/>
          <p:nvPr/>
        </p:nvGrpSpPr>
        <p:grpSpPr bwMode="auto">
          <a:xfrm>
            <a:off x="611188" y="849313"/>
            <a:ext cx="3573462" cy="5748337"/>
            <a:chOff x="385" y="535"/>
            <a:chExt cx="2251" cy="3621"/>
          </a:xfrm>
        </p:grpSpPr>
        <p:sp>
          <p:nvSpPr>
            <p:cNvPr id="513027" name="Text Box 3"/>
            <p:cNvSpPr txBox="1">
              <a:spLocks noChangeArrowheads="1"/>
            </p:cNvSpPr>
            <p:nvPr/>
          </p:nvSpPr>
          <p:spPr bwMode="auto">
            <a:xfrm>
              <a:off x="1135" y="3785"/>
              <a:ext cx="500" cy="371"/>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88000"/>
                </a:lnSpc>
              </a:pPr>
              <a:r>
                <a:rPr lang="en-US" altLang="zh-CN" sz="2000" b="1">
                  <a:ea typeface="仿宋_GB2312" pitchFamily="49" charset="-122"/>
                </a:rPr>
                <a:t>(a)</a:t>
              </a:r>
            </a:p>
          </p:txBody>
        </p:sp>
        <p:sp>
          <p:nvSpPr>
            <p:cNvPr id="513028" name="Text Box 4"/>
            <p:cNvSpPr txBox="1">
              <a:spLocks noChangeArrowheads="1"/>
            </p:cNvSpPr>
            <p:nvPr/>
          </p:nvSpPr>
          <p:spPr bwMode="auto">
            <a:xfrm>
              <a:off x="1758" y="608"/>
              <a:ext cx="501" cy="29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88000"/>
                </a:lnSpc>
              </a:pPr>
              <a:r>
                <a:rPr lang="en-US" altLang="zh-CN" sz="2800" b="1">
                  <a:solidFill>
                    <a:srgbClr val="0000FF"/>
                  </a:solidFill>
                  <a:ea typeface="仿宋_GB2312" pitchFamily="49" charset="-122"/>
                </a:rPr>
                <a:t>T2</a:t>
              </a:r>
            </a:p>
          </p:txBody>
        </p:sp>
        <p:sp>
          <p:nvSpPr>
            <p:cNvPr id="513029" name="Text Box 5"/>
            <p:cNvSpPr txBox="1">
              <a:spLocks noChangeArrowheads="1"/>
            </p:cNvSpPr>
            <p:nvPr/>
          </p:nvSpPr>
          <p:spPr bwMode="auto">
            <a:xfrm>
              <a:off x="385" y="943"/>
              <a:ext cx="875" cy="148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Read(A)</a:t>
              </a:r>
            </a:p>
            <a:p>
              <a:pPr algn="just">
                <a:lnSpc>
                  <a:spcPct val="104000"/>
                </a:lnSpc>
              </a:pPr>
              <a:r>
                <a:rPr lang="en-US" altLang="zh-CN" sz="2000" b="1">
                  <a:ea typeface="仿宋_GB2312" pitchFamily="49" charset="-122"/>
                </a:rPr>
                <a:t>A:=A-100</a:t>
              </a:r>
            </a:p>
            <a:p>
              <a:pPr algn="just">
                <a:lnSpc>
                  <a:spcPct val="104000"/>
                </a:lnSpc>
              </a:pPr>
              <a:r>
                <a:rPr lang="en-US" altLang="zh-CN" sz="2000" b="1">
                  <a:ea typeface="仿宋_GB2312" pitchFamily="49" charset="-122"/>
                </a:rPr>
                <a:t>Write(A)</a:t>
              </a:r>
            </a:p>
            <a:p>
              <a:pPr algn="just">
                <a:lnSpc>
                  <a:spcPct val="104000"/>
                </a:lnSpc>
              </a:pPr>
              <a:r>
                <a:rPr lang="en-US" altLang="zh-CN" sz="2000" b="1">
                  <a:ea typeface="仿宋_GB2312" pitchFamily="49" charset="-122"/>
                </a:rPr>
                <a:t>Read(B)</a:t>
              </a:r>
            </a:p>
            <a:p>
              <a:pPr algn="just">
                <a:lnSpc>
                  <a:spcPct val="104000"/>
                </a:lnSpc>
              </a:pPr>
              <a:r>
                <a:rPr lang="en-US" altLang="zh-CN" sz="2000" b="1">
                  <a:ea typeface="仿宋_GB2312" pitchFamily="49" charset="-122"/>
                </a:rPr>
                <a:t>B:=B+100</a:t>
              </a:r>
            </a:p>
            <a:p>
              <a:pPr algn="just">
                <a:lnSpc>
                  <a:spcPct val="104000"/>
                </a:lnSpc>
              </a:pPr>
              <a:r>
                <a:rPr lang="en-US" altLang="zh-CN" sz="2000" b="1">
                  <a:ea typeface="仿宋_GB2312" pitchFamily="49" charset="-122"/>
                </a:rPr>
                <a:t>Write(B)	</a:t>
              </a:r>
            </a:p>
            <a:p>
              <a:endParaRPr lang="en-US" altLang="zh-CN" sz="2000" b="1">
                <a:ea typeface="仿宋_GB2312" pitchFamily="49" charset="-122"/>
              </a:endParaRPr>
            </a:p>
          </p:txBody>
        </p:sp>
        <p:sp>
          <p:nvSpPr>
            <p:cNvPr id="513030" name="Text Box 6"/>
            <p:cNvSpPr txBox="1">
              <a:spLocks noChangeArrowheads="1"/>
            </p:cNvSpPr>
            <p:nvPr/>
          </p:nvSpPr>
          <p:spPr bwMode="auto">
            <a:xfrm>
              <a:off x="1510" y="2179"/>
              <a:ext cx="1126" cy="1606"/>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Read(B)     </a:t>
              </a:r>
            </a:p>
            <a:p>
              <a:pPr algn="just">
                <a:lnSpc>
                  <a:spcPct val="104000"/>
                </a:lnSpc>
              </a:pPr>
              <a:r>
                <a:rPr lang="en-US" altLang="zh-CN" sz="2000" b="1">
                  <a:ea typeface="仿宋_GB2312" pitchFamily="49" charset="-122"/>
                </a:rPr>
                <a:t>Temp:=B*0.2</a:t>
              </a:r>
            </a:p>
            <a:p>
              <a:pPr algn="just">
                <a:lnSpc>
                  <a:spcPct val="104000"/>
                </a:lnSpc>
              </a:pPr>
              <a:r>
                <a:rPr lang="en-US" altLang="zh-CN" sz="2000" b="1">
                  <a:ea typeface="仿宋_GB2312" pitchFamily="49" charset="-122"/>
                </a:rPr>
                <a:t>B:=B-temp</a:t>
              </a:r>
            </a:p>
            <a:p>
              <a:pPr algn="just">
                <a:lnSpc>
                  <a:spcPct val="104000"/>
                </a:lnSpc>
              </a:pPr>
              <a:r>
                <a:rPr lang="en-US" altLang="zh-CN" sz="2000" b="1">
                  <a:ea typeface="仿宋_GB2312" pitchFamily="49" charset="-122"/>
                </a:rPr>
                <a:t>Write(B)</a:t>
              </a:r>
            </a:p>
            <a:p>
              <a:pPr algn="just">
                <a:lnSpc>
                  <a:spcPct val="104000"/>
                </a:lnSpc>
              </a:pPr>
              <a:r>
                <a:rPr lang="en-US" altLang="zh-CN" sz="2000" b="1">
                  <a:ea typeface="仿宋_GB2312" pitchFamily="49" charset="-122"/>
                </a:rPr>
                <a:t>Read(C)</a:t>
              </a:r>
            </a:p>
            <a:p>
              <a:pPr algn="just">
                <a:lnSpc>
                  <a:spcPct val="104000"/>
                </a:lnSpc>
              </a:pPr>
              <a:r>
                <a:rPr lang="en-US" altLang="zh-CN" sz="2000" b="1">
                  <a:ea typeface="仿宋_GB2312" pitchFamily="49" charset="-122"/>
                </a:rPr>
                <a:t>C:=C+temp</a:t>
              </a:r>
            </a:p>
            <a:p>
              <a:pPr algn="just">
                <a:lnSpc>
                  <a:spcPct val="104000"/>
                </a:lnSpc>
              </a:pPr>
              <a:r>
                <a:rPr lang="en-US" altLang="zh-CN" sz="2000" b="1">
                  <a:ea typeface="仿宋_GB2312" pitchFamily="49" charset="-122"/>
                </a:rPr>
                <a:t>Write(C)</a:t>
              </a:r>
            </a:p>
          </p:txBody>
        </p:sp>
        <p:sp>
          <p:nvSpPr>
            <p:cNvPr id="513031" name="Text Box 7"/>
            <p:cNvSpPr txBox="1">
              <a:spLocks noChangeArrowheads="1"/>
            </p:cNvSpPr>
            <p:nvPr/>
          </p:nvSpPr>
          <p:spPr bwMode="auto">
            <a:xfrm>
              <a:off x="510" y="608"/>
              <a:ext cx="501" cy="29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88000"/>
                </a:lnSpc>
              </a:pPr>
              <a:r>
                <a:rPr lang="en-US" altLang="zh-CN" sz="2800" b="1">
                  <a:solidFill>
                    <a:srgbClr val="0000FF"/>
                  </a:solidFill>
                  <a:ea typeface="仿宋_GB2312" pitchFamily="49" charset="-122"/>
                </a:rPr>
                <a:t>T1</a:t>
              </a:r>
            </a:p>
          </p:txBody>
        </p:sp>
        <p:sp>
          <p:nvSpPr>
            <p:cNvPr id="513032" name="Line 8"/>
            <p:cNvSpPr>
              <a:spLocks noChangeShapeType="1"/>
            </p:cNvSpPr>
            <p:nvPr/>
          </p:nvSpPr>
          <p:spPr bwMode="auto">
            <a:xfrm>
              <a:off x="385" y="535"/>
              <a:ext cx="2251"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3" name="Line 9"/>
            <p:cNvSpPr>
              <a:spLocks noChangeShapeType="1"/>
            </p:cNvSpPr>
            <p:nvPr/>
          </p:nvSpPr>
          <p:spPr bwMode="auto">
            <a:xfrm>
              <a:off x="1386" y="535"/>
              <a:ext cx="0" cy="3213"/>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4" name="Line 10"/>
            <p:cNvSpPr>
              <a:spLocks noChangeShapeType="1"/>
            </p:cNvSpPr>
            <p:nvPr/>
          </p:nvSpPr>
          <p:spPr bwMode="auto">
            <a:xfrm>
              <a:off x="385" y="3748"/>
              <a:ext cx="2251"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5" name="Line 11"/>
            <p:cNvSpPr>
              <a:spLocks noChangeShapeType="1"/>
            </p:cNvSpPr>
            <p:nvPr/>
          </p:nvSpPr>
          <p:spPr bwMode="auto">
            <a:xfrm>
              <a:off x="385" y="906"/>
              <a:ext cx="2251"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13036" name="Group 12"/>
          <p:cNvGrpSpPr/>
          <p:nvPr/>
        </p:nvGrpSpPr>
        <p:grpSpPr bwMode="auto">
          <a:xfrm>
            <a:off x="4978400" y="849313"/>
            <a:ext cx="3770313" cy="5748337"/>
            <a:chOff x="3136" y="535"/>
            <a:chExt cx="2375" cy="3621"/>
          </a:xfrm>
        </p:grpSpPr>
        <p:sp>
          <p:nvSpPr>
            <p:cNvPr id="513037" name="Text Box 13"/>
            <p:cNvSpPr txBox="1">
              <a:spLocks noChangeArrowheads="1"/>
            </p:cNvSpPr>
            <p:nvPr/>
          </p:nvSpPr>
          <p:spPr bwMode="auto">
            <a:xfrm>
              <a:off x="4136" y="3785"/>
              <a:ext cx="500" cy="371"/>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88000"/>
                </a:lnSpc>
              </a:pPr>
              <a:r>
                <a:rPr lang="en-US" altLang="zh-CN" sz="2000" b="1">
                  <a:ea typeface="仿宋_GB2312" pitchFamily="49" charset="-122"/>
                </a:rPr>
                <a:t>(b)</a:t>
              </a:r>
            </a:p>
          </p:txBody>
        </p:sp>
        <p:sp>
          <p:nvSpPr>
            <p:cNvPr id="513038" name="Text Box 14"/>
            <p:cNvSpPr txBox="1">
              <a:spLocks noChangeArrowheads="1"/>
            </p:cNvSpPr>
            <p:nvPr/>
          </p:nvSpPr>
          <p:spPr bwMode="auto">
            <a:xfrm>
              <a:off x="4386" y="943"/>
              <a:ext cx="1125" cy="1606"/>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Read(B) </a:t>
              </a:r>
            </a:p>
            <a:p>
              <a:pPr algn="just">
                <a:lnSpc>
                  <a:spcPct val="104000"/>
                </a:lnSpc>
              </a:pPr>
              <a:r>
                <a:rPr lang="en-US" altLang="zh-CN" sz="2000" b="1">
                  <a:ea typeface="仿宋_GB2312" pitchFamily="49" charset="-122"/>
                </a:rPr>
                <a:t>Temp:=B*0.2</a:t>
              </a:r>
            </a:p>
            <a:p>
              <a:pPr algn="just">
                <a:lnSpc>
                  <a:spcPct val="104000"/>
                </a:lnSpc>
              </a:pPr>
              <a:r>
                <a:rPr lang="en-US" altLang="zh-CN" sz="2000" b="1">
                  <a:ea typeface="仿宋_GB2312" pitchFamily="49" charset="-122"/>
                </a:rPr>
                <a:t>B:=B-temp</a:t>
              </a:r>
            </a:p>
            <a:p>
              <a:pPr algn="just">
                <a:lnSpc>
                  <a:spcPct val="104000"/>
                </a:lnSpc>
              </a:pPr>
              <a:r>
                <a:rPr lang="en-US" altLang="zh-CN" sz="2000" b="1">
                  <a:ea typeface="仿宋_GB2312" pitchFamily="49" charset="-122"/>
                </a:rPr>
                <a:t>Write(B)</a:t>
              </a:r>
            </a:p>
            <a:p>
              <a:pPr algn="just">
                <a:lnSpc>
                  <a:spcPct val="104000"/>
                </a:lnSpc>
              </a:pPr>
              <a:r>
                <a:rPr lang="en-US" altLang="zh-CN" sz="2000" b="1">
                  <a:ea typeface="仿宋_GB2312" pitchFamily="49" charset="-122"/>
                </a:rPr>
                <a:t>Read(C)</a:t>
              </a:r>
            </a:p>
            <a:p>
              <a:pPr algn="just">
                <a:lnSpc>
                  <a:spcPct val="104000"/>
                </a:lnSpc>
              </a:pPr>
              <a:r>
                <a:rPr lang="en-US" altLang="zh-CN" sz="2000" b="1">
                  <a:ea typeface="仿宋_GB2312" pitchFamily="49" charset="-122"/>
                </a:rPr>
                <a:t>C:=C+temp</a:t>
              </a:r>
            </a:p>
            <a:p>
              <a:pPr algn="just">
                <a:lnSpc>
                  <a:spcPct val="104000"/>
                </a:lnSpc>
              </a:pPr>
              <a:r>
                <a:rPr lang="en-US" altLang="zh-CN" sz="2000" b="1">
                  <a:ea typeface="仿宋_GB2312" pitchFamily="49" charset="-122"/>
                </a:rPr>
                <a:t>Write(C)</a:t>
              </a:r>
            </a:p>
          </p:txBody>
        </p:sp>
        <p:sp>
          <p:nvSpPr>
            <p:cNvPr id="513039" name="Text Box 15"/>
            <p:cNvSpPr txBox="1">
              <a:spLocks noChangeArrowheads="1"/>
            </p:cNvSpPr>
            <p:nvPr/>
          </p:nvSpPr>
          <p:spPr bwMode="auto">
            <a:xfrm>
              <a:off x="3260" y="2302"/>
              <a:ext cx="876" cy="1607"/>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Read(A)</a:t>
              </a:r>
            </a:p>
            <a:p>
              <a:pPr algn="just">
                <a:lnSpc>
                  <a:spcPct val="104000"/>
                </a:lnSpc>
              </a:pPr>
              <a:r>
                <a:rPr lang="en-US" altLang="zh-CN" sz="2000" b="1">
                  <a:ea typeface="仿宋_GB2312" pitchFamily="49" charset="-122"/>
                </a:rPr>
                <a:t>A:=A-100</a:t>
              </a:r>
            </a:p>
            <a:p>
              <a:pPr algn="just">
                <a:lnSpc>
                  <a:spcPct val="104000"/>
                </a:lnSpc>
              </a:pPr>
              <a:r>
                <a:rPr lang="en-US" altLang="zh-CN" sz="2000" b="1">
                  <a:ea typeface="仿宋_GB2312" pitchFamily="49" charset="-122"/>
                </a:rPr>
                <a:t>Write(A)</a:t>
              </a:r>
            </a:p>
            <a:p>
              <a:pPr algn="just">
                <a:lnSpc>
                  <a:spcPct val="104000"/>
                </a:lnSpc>
              </a:pPr>
              <a:r>
                <a:rPr lang="en-US" altLang="zh-CN" sz="2000" b="1">
                  <a:ea typeface="仿宋_GB2312" pitchFamily="49" charset="-122"/>
                </a:rPr>
                <a:t>Read(B)</a:t>
              </a:r>
            </a:p>
            <a:p>
              <a:pPr algn="just">
                <a:lnSpc>
                  <a:spcPct val="104000"/>
                </a:lnSpc>
              </a:pPr>
              <a:r>
                <a:rPr lang="en-US" altLang="zh-CN" sz="2000" b="1">
                  <a:ea typeface="仿宋_GB2312" pitchFamily="49" charset="-122"/>
                </a:rPr>
                <a:t>B:=B+100</a:t>
              </a:r>
            </a:p>
            <a:p>
              <a:pPr algn="just">
                <a:lnSpc>
                  <a:spcPct val="104000"/>
                </a:lnSpc>
              </a:pPr>
              <a:r>
                <a:rPr lang="en-US" altLang="zh-CN" sz="2000" b="1">
                  <a:ea typeface="仿宋_GB2312" pitchFamily="49" charset="-122"/>
                </a:rPr>
                <a:t>Write(B)</a:t>
              </a:r>
            </a:p>
          </p:txBody>
        </p:sp>
        <p:sp>
          <p:nvSpPr>
            <p:cNvPr id="513040" name="Text Box 16"/>
            <p:cNvSpPr txBox="1">
              <a:spLocks noChangeArrowheads="1"/>
            </p:cNvSpPr>
            <p:nvPr/>
          </p:nvSpPr>
          <p:spPr bwMode="auto">
            <a:xfrm>
              <a:off x="4510" y="608"/>
              <a:ext cx="501" cy="29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88000"/>
                </a:lnSpc>
              </a:pPr>
              <a:r>
                <a:rPr lang="en-US" altLang="zh-CN" sz="2800" b="1">
                  <a:solidFill>
                    <a:srgbClr val="0000FF"/>
                  </a:solidFill>
                  <a:ea typeface="仿宋_GB2312" pitchFamily="49" charset="-122"/>
                </a:rPr>
                <a:t>T2</a:t>
              </a:r>
            </a:p>
          </p:txBody>
        </p:sp>
        <p:sp>
          <p:nvSpPr>
            <p:cNvPr id="513041" name="Text Box 17"/>
            <p:cNvSpPr txBox="1">
              <a:spLocks noChangeArrowheads="1"/>
            </p:cNvSpPr>
            <p:nvPr/>
          </p:nvSpPr>
          <p:spPr bwMode="auto">
            <a:xfrm>
              <a:off x="3386" y="608"/>
              <a:ext cx="500" cy="29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88000"/>
                </a:lnSpc>
              </a:pPr>
              <a:r>
                <a:rPr lang="en-US" altLang="zh-CN" sz="2800" b="1">
                  <a:solidFill>
                    <a:srgbClr val="0000FF"/>
                  </a:solidFill>
                  <a:ea typeface="仿宋_GB2312" pitchFamily="49" charset="-122"/>
                </a:rPr>
                <a:t>T1</a:t>
              </a:r>
            </a:p>
          </p:txBody>
        </p:sp>
        <p:sp>
          <p:nvSpPr>
            <p:cNvPr id="513042" name="Line 18"/>
            <p:cNvSpPr>
              <a:spLocks noChangeShapeType="1"/>
            </p:cNvSpPr>
            <p:nvPr/>
          </p:nvSpPr>
          <p:spPr bwMode="auto">
            <a:xfrm>
              <a:off x="3136" y="535"/>
              <a:ext cx="225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43" name="Line 19"/>
            <p:cNvSpPr>
              <a:spLocks noChangeShapeType="1"/>
            </p:cNvSpPr>
            <p:nvPr/>
          </p:nvSpPr>
          <p:spPr bwMode="auto">
            <a:xfrm>
              <a:off x="4261" y="535"/>
              <a:ext cx="0" cy="3213"/>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44" name="Line 20"/>
            <p:cNvSpPr>
              <a:spLocks noChangeShapeType="1"/>
            </p:cNvSpPr>
            <p:nvPr/>
          </p:nvSpPr>
          <p:spPr bwMode="auto">
            <a:xfrm>
              <a:off x="3136" y="906"/>
              <a:ext cx="225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45" name="Line 21"/>
            <p:cNvSpPr>
              <a:spLocks noChangeShapeType="1"/>
            </p:cNvSpPr>
            <p:nvPr/>
          </p:nvSpPr>
          <p:spPr bwMode="auto">
            <a:xfrm>
              <a:off x="3136" y="3748"/>
              <a:ext cx="225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005"/>
    </mc:Choice>
    <mc:Fallback xmlns="">
      <p:transition spd="slow" advTm="600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13026"/>
                                        </p:tgtEl>
                                        <p:attrNameLst>
                                          <p:attrName>style.visibility</p:attrName>
                                        </p:attrNameLst>
                                      </p:cBhvr>
                                      <p:to>
                                        <p:strVal val="visible"/>
                                      </p:to>
                                    </p:set>
                                    <p:animEffect transition="in" filter="wipe(up)">
                                      <p:cBhvr>
                                        <p:cTn id="7" dur="500"/>
                                        <p:tgtEl>
                                          <p:spTgt spid="513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13036"/>
                                        </p:tgtEl>
                                        <p:attrNameLst>
                                          <p:attrName>style.visibility</p:attrName>
                                        </p:attrNameLst>
                                      </p:cBhvr>
                                      <p:to>
                                        <p:strVal val="visible"/>
                                      </p:to>
                                    </p:set>
                                    <p:animEffect transition="in" filter="wipe(up)">
                                      <p:cBhvr>
                                        <p:cTn id="12" dur="500"/>
                                        <p:tgtEl>
                                          <p:spTgt spid="513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Text Box 2"/>
          <p:cNvSpPr txBox="1">
            <a:spLocks noChangeArrowheads="1"/>
          </p:cNvSpPr>
          <p:nvPr/>
        </p:nvSpPr>
        <p:spPr bwMode="auto">
          <a:xfrm>
            <a:off x="755650" y="1444625"/>
            <a:ext cx="1395413" cy="1219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Read(A)</a:t>
            </a:r>
          </a:p>
          <a:p>
            <a:pPr algn="just">
              <a:lnSpc>
                <a:spcPct val="104000"/>
              </a:lnSpc>
            </a:pPr>
            <a:r>
              <a:rPr lang="en-US" altLang="zh-CN" sz="2000" b="1">
                <a:ea typeface="仿宋_GB2312" pitchFamily="49" charset="-122"/>
              </a:rPr>
              <a:t>A:=A-100</a:t>
            </a:r>
          </a:p>
          <a:p>
            <a:pPr algn="just">
              <a:lnSpc>
                <a:spcPct val="104000"/>
              </a:lnSpc>
            </a:pPr>
            <a:r>
              <a:rPr lang="en-US" altLang="zh-CN" sz="2000" b="1">
                <a:ea typeface="仿宋_GB2312" pitchFamily="49" charset="-122"/>
              </a:rPr>
              <a:t>Write(A)	</a:t>
            </a:r>
          </a:p>
        </p:txBody>
      </p:sp>
      <p:sp>
        <p:nvSpPr>
          <p:cNvPr id="514051" name="Text Box 3"/>
          <p:cNvSpPr txBox="1">
            <a:spLocks noChangeArrowheads="1"/>
          </p:cNvSpPr>
          <p:nvPr/>
        </p:nvSpPr>
        <p:spPr bwMode="auto">
          <a:xfrm>
            <a:off x="2551113" y="2305050"/>
            <a:ext cx="1793875" cy="157797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Read(B)</a:t>
            </a:r>
          </a:p>
          <a:p>
            <a:pPr algn="just">
              <a:lnSpc>
                <a:spcPct val="104000"/>
              </a:lnSpc>
            </a:pPr>
            <a:r>
              <a:rPr lang="en-US" altLang="zh-CN" sz="2000" b="1">
                <a:ea typeface="仿宋_GB2312" pitchFamily="49" charset="-122"/>
              </a:rPr>
              <a:t>Temp:=B*0.2</a:t>
            </a:r>
          </a:p>
          <a:p>
            <a:pPr algn="just">
              <a:lnSpc>
                <a:spcPct val="104000"/>
              </a:lnSpc>
            </a:pPr>
            <a:r>
              <a:rPr lang="en-US" altLang="zh-CN" sz="2000" b="1">
                <a:ea typeface="仿宋_GB2312" pitchFamily="49" charset="-122"/>
              </a:rPr>
              <a:t>B:=B-temp</a:t>
            </a:r>
          </a:p>
          <a:p>
            <a:pPr algn="just">
              <a:lnSpc>
                <a:spcPct val="104000"/>
              </a:lnSpc>
            </a:pPr>
            <a:r>
              <a:rPr lang="en-US" altLang="zh-CN" sz="2000" b="1">
                <a:ea typeface="仿宋_GB2312" pitchFamily="49" charset="-122"/>
              </a:rPr>
              <a:t>Write(B)</a:t>
            </a:r>
          </a:p>
        </p:txBody>
      </p:sp>
      <p:sp>
        <p:nvSpPr>
          <p:cNvPr id="514052" name="Text Box 4"/>
          <p:cNvSpPr txBox="1">
            <a:spLocks noChangeArrowheads="1"/>
          </p:cNvSpPr>
          <p:nvPr/>
        </p:nvSpPr>
        <p:spPr bwMode="auto">
          <a:xfrm>
            <a:off x="755650" y="3679825"/>
            <a:ext cx="1395413" cy="12207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Read(B)</a:t>
            </a:r>
          </a:p>
          <a:p>
            <a:pPr algn="just">
              <a:lnSpc>
                <a:spcPct val="104000"/>
              </a:lnSpc>
            </a:pPr>
            <a:r>
              <a:rPr lang="en-US" altLang="zh-CN" sz="2000" b="1">
                <a:ea typeface="仿宋_GB2312" pitchFamily="49" charset="-122"/>
              </a:rPr>
              <a:t>B:=B+100</a:t>
            </a:r>
          </a:p>
          <a:p>
            <a:pPr algn="just">
              <a:lnSpc>
                <a:spcPct val="104000"/>
              </a:lnSpc>
            </a:pPr>
            <a:r>
              <a:rPr lang="en-US" altLang="zh-CN" sz="2000" b="1">
                <a:ea typeface="仿宋_GB2312" pitchFamily="49" charset="-122"/>
              </a:rPr>
              <a:t>Write(B)	</a:t>
            </a:r>
          </a:p>
        </p:txBody>
      </p:sp>
      <p:sp>
        <p:nvSpPr>
          <p:cNvPr id="514053" name="Text Box 5"/>
          <p:cNvSpPr txBox="1">
            <a:spLocks noChangeArrowheads="1"/>
          </p:cNvSpPr>
          <p:nvPr/>
        </p:nvSpPr>
        <p:spPr bwMode="auto">
          <a:xfrm>
            <a:off x="2551113" y="4695825"/>
            <a:ext cx="1593850" cy="12207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Read(C)</a:t>
            </a:r>
          </a:p>
          <a:p>
            <a:pPr algn="just">
              <a:lnSpc>
                <a:spcPct val="104000"/>
              </a:lnSpc>
            </a:pPr>
            <a:r>
              <a:rPr lang="en-US" altLang="zh-CN" sz="2000" b="1">
                <a:ea typeface="仿宋_GB2312" pitchFamily="49" charset="-122"/>
              </a:rPr>
              <a:t>C:=C+temp</a:t>
            </a:r>
          </a:p>
          <a:p>
            <a:pPr algn="just">
              <a:lnSpc>
                <a:spcPct val="104000"/>
              </a:lnSpc>
            </a:pPr>
            <a:r>
              <a:rPr lang="en-US" altLang="zh-CN" sz="2000" b="1">
                <a:ea typeface="仿宋_GB2312" pitchFamily="49" charset="-122"/>
              </a:rPr>
              <a:t>Write(C)</a:t>
            </a:r>
          </a:p>
        </p:txBody>
      </p:sp>
      <p:sp>
        <p:nvSpPr>
          <p:cNvPr id="514054" name="Text Box 6"/>
          <p:cNvSpPr txBox="1">
            <a:spLocks noChangeArrowheads="1"/>
          </p:cNvSpPr>
          <p:nvPr/>
        </p:nvSpPr>
        <p:spPr bwMode="auto">
          <a:xfrm>
            <a:off x="4943475" y="1444625"/>
            <a:ext cx="1395413" cy="40640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Read(A)</a:t>
            </a:r>
          </a:p>
          <a:p>
            <a:pPr algn="just">
              <a:lnSpc>
                <a:spcPct val="104000"/>
              </a:lnSpc>
            </a:pPr>
            <a:r>
              <a:rPr lang="en-US" altLang="zh-CN" sz="2000" b="1">
                <a:ea typeface="仿宋_GB2312" pitchFamily="49" charset="-122"/>
              </a:rPr>
              <a:t>A:=A-100</a:t>
            </a:r>
          </a:p>
          <a:p>
            <a:pPr algn="just">
              <a:lnSpc>
                <a:spcPct val="104000"/>
              </a:lnSpc>
            </a:pPr>
            <a:endParaRPr lang="en-US" altLang="zh-CN" sz="2000" b="1">
              <a:ea typeface="仿宋_GB2312" pitchFamily="49" charset="-122"/>
            </a:endParaRPr>
          </a:p>
          <a:p>
            <a:pPr algn="just">
              <a:lnSpc>
                <a:spcPct val="104000"/>
              </a:lnSpc>
            </a:pPr>
            <a:endParaRPr lang="en-US" altLang="zh-CN" sz="2000" b="1">
              <a:ea typeface="仿宋_GB2312" pitchFamily="49" charset="-122"/>
            </a:endParaRPr>
          </a:p>
          <a:p>
            <a:pPr algn="just">
              <a:lnSpc>
                <a:spcPct val="104000"/>
              </a:lnSpc>
            </a:pPr>
            <a:endParaRPr lang="en-US" altLang="zh-CN" sz="2000" b="1">
              <a:ea typeface="仿宋_GB2312" pitchFamily="49" charset="-122"/>
            </a:endParaRPr>
          </a:p>
          <a:p>
            <a:pPr algn="just">
              <a:lnSpc>
                <a:spcPct val="104000"/>
              </a:lnSpc>
            </a:pPr>
            <a:r>
              <a:rPr lang="en-US" altLang="zh-CN" sz="2000" b="1">
                <a:ea typeface="仿宋_GB2312" pitchFamily="49" charset="-122"/>
              </a:rPr>
              <a:t>Write(A)</a:t>
            </a:r>
          </a:p>
          <a:p>
            <a:pPr algn="just">
              <a:lnSpc>
                <a:spcPct val="104000"/>
              </a:lnSpc>
            </a:pPr>
            <a:r>
              <a:rPr lang="en-US" altLang="zh-CN" sz="2000" b="1">
                <a:ea typeface="仿宋_GB2312" pitchFamily="49" charset="-122"/>
              </a:rPr>
              <a:t>Read(B)</a:t>
            </a:r>
          </a:p>
          <a:p>
            <a:pPr algn="just">
              <a:lnSpc>
                <a:spcPct val="104000"/>
              </a:lnSpc>
            </a:pPr>
            <a:endParaRPr lang="en-US" altLang="zh-CN" sz="2000" b="1">
              <a:ea typeface="仿宋_GB2312" pitchFamily="49" charset="-122"/>
            </a:endParaRPr>
          </a:p>
          <a:p>
            <a:pPr algn="just">
              <a:lnSpc>
                <a:spcPct val="104000"/>
              </a:lnSpc>
            </a:pPr>
            <a:endParaRPr lang="en-US" altLang="zh-CN" sz="2000" b="1">
              <a:ea typeface="仿宋_GB2312" pitchFamily="49" charset="-122"/>
            </a:endParaRPr>
          </a:p>
          <a:p>
            <a:pPr algn="just">
              <a:lnSpc>
                <a:spcPct val="104000"/>
              </a:lnSpc>
            </a:pPr>
            <a:r>
              <a:rPr lang="en-US" altLang="zh-CN" sz="2000" b="1">
                <a:ea typeface="仿宋_GB2312" pitchFamily="49" charset="-122"/>
              </a:rPr>
              <a:t>B:=B+100</a:t>
            </a:r>
          </a:p>
          <a:p>
            <a:pPr algn="just">
              <a:lnSpc>
                <a:spcPct val="104000"/>
              </a:lnSpc>
            </a:pPr>
            <a:r>
              <a:rPr lang="en-US" altLang="zh-CN" sz="2000" b="1">
                <a:ea typeface="仿宋_GB2312" pitchFamily="49" charset="-122"/>
              </a:rPr>
              <a:t>Write(B)</a:t>
            </a:r>
          </a:p>
        </p:txBody>
      </p:sp>
      <p:sp>
        <p:nvSpPr>
          <p:cNvPr id="514055" name="Text Box 7"/>
          <p:cNvSpPr txBox="1">
            <a:spLocks noChangeArrowheads="1"/>
          </p:cNvSpPr>
          <p:nvPr/>
        </p:nvSpPr>
        <p:spPr bwMode="auto">
          <a:xfrm>
            <a:off x="6737350" y="2054225"/>
            <a:ext cx="1795463" cy="38623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Read(B) </a:t>
            </a:r>
          </a:p>
          <a:p>
            <a:pPr algn="just">
              <a:lnSpc>
                <a:spcPct val="104000"/>
              </a:lnSpc>
            </a:pPr>
            <a:r>
              <a:rPr lang="en-US" altLang="zh-CN" sz="2000" b="1">
                <a:ea typeface="仿宋_GB2312" pitchFamily="49" charset="-122"/>
              </a:rPr>
              <a:t>Temp:=B*0.2</a:t>
            </a:r>
          </a:p>
          <a:p>
            <a:pPr algn="just">
              <a:lnSpc>
                <a:spcPct val="104000"/>
              </a:lnSpc>
            </a:pPr>
            <a:r>
              <a:rPr lang="en-US" altLang="zh-CN" sz="2000" b="1">
                <a:ea typeface="仿宋_GB2312" pitchFamily="49" charset="-122"/>
              </a:rPr>
              <a:t>B:=B-temp</a:t>
            </a:r>
          </a:p>
          <a:p>
            <a:pPr algn="just">
              <a:lnSpc>
                <a:spcPct val="104000"/>
              </a:lnSpc>
            </a:pPr>
            <a:endParaRPr lang="en-US" altLang="zh-CN" sz="2000" b="1">
              <a:ea typeface="仿宋_GB2312" pitchFamily="49" charset="-122"/>
            </a:endParaRPr>
          </a:p>
          <a:p>
            <a:pPr algn="just">
              <a:lnSpc>
                <a:spcPct val="104000"/>
              </a:lnSpc>
            </a:pPr>
            <a:endParaRPr lang="en-US" altLang="zh-CN" sz="2000" b="1">
              <a:ea typeface="仿宋_GB2312" pitchFamily="49" charset="-122"/>
            </a:endParaRPr>
          </a:p>
          <a:p>
            <a:pPr algn="just">
              <a:lnSpc>
                <a:spcPct val="104000"/>
              </a:lnSpc>
            </a:pPr>
            <a:r>
              <a:rPr lang="en-US" altLang="zh-CN" sz="2000" b="1">
                <a:ea typeface="仿宋_GB2312" pitchFamily="49" charset="-122"/>
              </a:rPr>
              <a:t>Write(B)</a:t>
            </a:r>
          </a:p>
          <a:p>
            <a:pPr algn="just">
              <a:lnSpc>
                <a:spcPct val="104000"/>
              </a:lnSpc>
            </a:pPr>
            <a:r>
              <a:rPr lang="en-US" altLang="zh-CN" sz="2000" b="1">
                <a:ea typeface="仿宋_GB2312" pitchFamily="49" charset="-122"/>
              </a:rPr>
              <a:t>Read(C)	</a:t>
            </a:r>
          </a:p>
          <a:p>
            <a:pPr algn="just">
              <a:lnSpc>
                <a:spcPct val="104000"/>
              </a:lnSpc>
            </a:pPr>
            <a:endParaRPr lang="en-US" altLang="zh-CN" sz="2000" b="1">
              <a:ea typeface="仿宋_GB2312" pitchFamily="49" charset="-122"/>
            </a:endParaRPr>
          </a:p>
          <a:p>
            <a:pPr algn="just">
              <a:lnSpc>
                <a:spcPct val="104000"/>
              </a:lnSpc>
            </a:pPr>
            <a:endParaRPr lang="en-US" altLang="zh-CN" sz="2000" b="1">
              <a:ea typeface="仿宋_GB2312" pitchFamily="49" charset="-122"/>
            </a:endParaRPr>
          </a:p>
          <a:p>
            <a:pPr algn="just">
              <a:lnSpc>
                <a:spcPct val="104000"/>
              </a:lnSpc>
            </a:pPr>
            <a:r>
              <a:rPr lang="en-US" altLang="zh-CN" sz="2000" b="1">
                <a:ea typeface="仿宋_GB2312" pitchFamily="49" charset="-122"/>
              </a:rPr>
              <a:t>C:=C+temp</a:t>
            </a:r>
          </a:p>
          <a:p>
            <a:pPr algn="just">
              <a:lnSpc>
                <a:spcPct val="104000"/>
              </a:lnSpc>
            </a:pPr>
            <a:r>
              <a:rPr lang="en-US" altLang="zh-CN" sz="2000" b="1">
                <a:ea typeface="仿宋_GB2312" pitchFamily="49" charset="-122"/>
              </a:rPr>
              <a:t>Write(C)</a:t>
            </a:r>
          </a:p>
        </p:txBody>
      </p:sp>
      <p:grpSp>
        <p:nvGrpSpPr>
          <p:cNvPr id="514056" name="Group 8"/>
          <p:cNvGrpSpPr/>
          <p:nvPr/>
        </p:nvGrpSpPr>
        <p:grpSpPr bwMode="auto">
          <a:xfrm>
            <a:off x="755650" y="835025"/>
            <a:ext cx="3589338" cy="5689600"/>
            <a:chOff x="476" y="526"/>
            <a:chExt cx="2261" cy="3584"/>
          </a:xfrm>
        </p:grpSpPr>
        <p:sp>
          <p:nvSpPr>
            <p:cNvPr id="514057" name="Text Box 9"/>
            <p:cNvSpPr txBox="1">
              <a:spLocks noChangeArrowheads="1"/>
            </p:cNvSpPr>
            <p:nvPr/>
          </p:nvSpPr>
          <p:spPr bwMode="auto">
            <a:xfrm>
              <a:off x="725" y="526"/>
              <a:ext cx="503" cy="29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800" b="1">
                  <a:solidFill>
                    <a:srgbClr val="0000FF"/>
                  </a:solidFill>
                  <a:ea typeface="仿宋_GB2312" pitchFamily="49" charset="-122"/>
                </a:rPr>
                <a:t>T1</a:t>
              </a:r>
            </a:p>
          </p:txBody>
        </p:sp>
        <p:sp>
          <p:nvSpPr>
            <p:cNvPr id="514058" name="Text Box 10"/>
            <p:cNvSpPr txBox="1">
              <a:spLocks noChangeArrowheads="1"/>
            </p:cNvSpPr>
            <p:nvPr/>
          </p:nvSpPr>
          <p:spPr bwMode="auto">
            <a:xfrm>
              <a:off x="1983" y="526"/>
              <a:ext cx="503" cy="33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800" b="1">
                  <a:solidFill>
                    <a:srgbClr val="0000FF"/>
                  </a:solidFill>
                  <a:ea typeface="仿宋_GB2312" pitchFamily="49" charset="-122"/>
                </a:rPr>
                <a:t>T2</a:t>
              </a:r>
            </a:p>
          </p:txBody>
        </p:sp>
        <p:sp>
          <p:nvSpPr>
            <p:cNvPr id="514059" name="Text Box 11"/>
            <p:cNvSpPr txBox="1">
              <a:spLocks noChangeArrowheads="1"/>
            </p:cNvSpPr>
            <p:nvPr/>
          </p:nvSpPr>
          <p:spPr bwMode="auto">
            <a:xfrm>
              <a:off x="1228" y="3719"/>
              <a:ext cx="753" cy="391"/>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(c)</a:t>
              </a:r>
            </a:p>
          </p:txBody>
        </p:sp>
        <p:sp>
          <p:nvSpPr>
            <p:cNvPr id="514060" name="Line 12"/>
            <p:cNvSpPr>
              <a:spLocks noChangeShapeType="1"/>
            </p:cNvSpPr>
            <p:nvPr/>
          </p:nvSpPr>
          <p:spPr bwMode="auto">
            <a:xfrm>
              <a:off x="1481" y="526"/>
              <a:ext cx="0" cy="3201"/>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4061" name="Line 13"/>
            <p:cNvSpPr>
              <a:spLocks noChangeShapeType="1"/>
            </p:cNvSpPr>
            <p:nvPr/>
          </p:nvSpPr>
          <p:spPr bwMode="auto">
            <a:xfrm>
              <a:off x="476" y="526"/>
              <a:ext cx="2261" cy="0"/>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4062" name="Line 14"/>
            <p:cNvSpPr>
              <a:spLocks noChangeShapeType="1"/>
            </p:cNvSpPr>
            <p:nvPr/>
          </p:nvSpPr>
          <p:spPr bwMode="auto">
            <a:xfrm>
              <a:off x="476" y="910"/>
              <a:ext cx="2261" cy="0"/>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4063" name="Line 15"/>
            <p:cNvSpPr>
              <a:spLocks noChangeShapeType="1"/>
            </p:cNvSpPr>
            <p:nvPr/>
          </p:nvSpPr>
          <p:spPr bwMode="auto">
            <a:xfrm>
              <a:off x="476" y="3727"/>
              <a:ext cx="2261" cy="0"/>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514064" name="Group 16"/>
          <p:cNvGrpSpPr/>
          <p:nvPr/>
        </p:nvGrpSpPr>
        <p:grpSpPr bwMode="auto">
          <a:xfrm>
            <a:off x="4943475" y="835025"/>
            <a:ext cx="3389313" cy="5689600"/>
            <a:chOff x="3114" y="526"/>
            <a:chExt cx="2135" cy="3584"/>
          </a:xfrm>
        </p:grpSpPr>
        <p:sp>
          <p:nvSpPr>
            <p:cNvPr id="514065" name="Text Box 17"/>
            <p:cNvSpPr txBox="1">
              <a:spLocks noChangeArrowheads="1"/>
            </p:cNvSpPr>
            <p:nvPr/>
          </p:nvSpPr>
          <p:spPr bwMode="auto">
            <a:xfrm>
              <a:off x="3491" y="526"/>
              <a:ext cx="502" cy="321"/>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800" b="1">
                  <a:solidFill>
                    <a:srgbClr val="0000FF"/>
                  </a:solidFill>
                  <a:ea typeface="仿宋_GB2312" pitchFamily="49" charset="-122"/>
                </a:rPr>
                <a:t>T1</a:t>
              </a:r>
            </a:p>
          </p:txBody>
        </p:sp>
        <p:sp>
          <p:nvSpPr>
            <p:cNvPr id="514066" name="Text Box 18"/>
            <p:cNvSpPr txBox="1">
              <a:spLocks noChangeArrowheads="1"/>
            </p:cNvSpPr>
            <p:nvPr/>
          </p:nvSpPr>
          <p:spPr bwMode="auto">
            <a:xfrm>
              <a:off x="4496" y="526"/>
              <a:ext cx="502" cy="321"/>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800" b="1">
                  <a:solidFill>
                    <a:srgbClr val="0000FF"/>
                  </a:solidFill>
                  <a:ea typeface="仿宋_GB2312" pitchFamily="49" charset="-122"/>
                </a:rPr>
                <a:t>T2</a:t>
              </a:r>
            </a:p>
          </p:txBody>
        </p:sp>
        <p:sp>
          <p:nvSpPr>
            <p:cNvPr id="514067" name="Text Box 19"/>
            <p:cNvSpPr txBox="1">
              <a:spLocks noChangeArrowheads="1"/>
            </p:cNvSpPr>
            <p:nvPr/>
          </p:nvSpPr>
          <p:spPr bwMode="auto">
            <a:xfrm>
              <a:off x="3868" y="3719"/>
              <a:ext cx="628" cy="391"/>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pPr algn="just">
                <a:lnSpc>
                  <a:spcPct val="104000"/>
                </a:lnSpc>
              </a:pPr>
              <a:r>
                <a:rPr lang="en-US" altLang="zh-CN" sz="2000" b="1">
                  <a:ea typeface="仿宋_GB2312" pitchFamily="49" charset="-122"/>
                </a:rPr>
                <a:t>(d)</a:t>
              </a:r>
            </a:p>
          </p:txBody>
        </p:sp>
        <p:sp>
          <p:nvSpPr>
            <p:cNvPr id="514068" name="Line 20"/>
            <p:cNvSpPr>
              <a:spLocks noChangeShapeType="1"/>
            </p:cNvSpPr>
            <p:nvPr/>
          </p:nvSpPr>
          <p:spPr bwMode="auto">
            <a:xfrm>
              <a:off x="4119" y="526"/>
              <a:ext cx="0" cy="3201"/>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4069" name="Line 21"/>
            <p:cNvSpPr>
              <a:spLocks noChangeShapeType="1"/>
            </p:cNvSpPr>
            <p:nvPr/>
          </p:nvSpPr>
          <p:spPr bwMode="auto">
            <a:xfrm>
              <a:off x="3114" y="526"/>
              <a:ext cx="2135" cy="0"/>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4070" name="Line 22"/>
            <p:cNvSpPr>
              <a:spLocks noChangeShapeType="1"/>
            </p:cNvSpPr>
            <p:nvPr/>
          </p:nvSpPr>
          <p:spPr bwMode="auto">
            <a:xfrm>
              <a:off x="3114" y="910"/>
              <a:ext cx="2135" cy="0"/>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4071" name="Line 23"/>
            <p:cNvSpPr>
              <a:spLocks noChangeShapeType="1"/>
            </p:cNvSpPr>
            <p:nvPr/>
          </p:nvSpPr>
          <p:spPr bwMode="auto">
            <a:xfrm>
              <a:off x="3114" y="3727"/>
              <a:ext cx="2135" cy="0"/>
            </a:xfrm>
            <a:prstGeom prst="line">
              <a:avLst/>
            </a:prstGeom>
            <a:noFill/>
            <a:ln w="28575">
              <a:solidFill>
                <a:schemeClr val="bg2"/>
              </a:solidFill>
              <a:rou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5607"/>
    </mc:Choice>
    <mc:Fallback xmlns="">
      <p:transition spd="slow" advTm="1456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14056"/>
                                        </p:tgtEl>
                                        <p:attrNameLst>
                                          <p:attrName>style.visibility</p:attrName>
                                        </p:attrNameLst>
                                      </p:cBhvr>
                                      <p:to>
                                        <p:strVal val="visible"/>
                                      </p:to>
                                    </p:set>
                                    <p:animEffect transition="in" filter="fade">
                                      <p:cBhvr>
                                        <p:cTn id="7" dur="1000"/>
                                        <p:tgtEl>
                                          <p:spTgt spid="514056"/>
                                        </p:tgtEl>
                                      </p:cBhvr>
                                    </p:animEffect>
                                    <p:anim calcmode="lin" valueType="num">
                                      <p:cBhvr>
                                        <p:cTn id="8" dur="1000" fill="hold"/>
                                        <p:tgtEl>
                                          <p:spTgt spid="514056"/>
                                        </p:tgtEl>
                                        <p:attrNameLst>
                                          <p:attrName>ppt_x</p:attrName>
                                        </p:attrNameLst>
                                      </p:cBhvr>
                                      <p:tavLst>
                                        <p:tav tm="0">
                                          <p:val>
                                            <p:strVal val="#ppt_x"/>
                                          </p:val>
                                        </p:tav>
                                        <p:tav tm="100000">
                                          <p:val>
                                            <p:strVal val="#ppt_x"/>
                                          </p:val>
                                        </p:tav>
                                      </p:tavLst>
                                    </p:anim>
                                    <p:anim calcmode="lin" valueType="num">
                                      <p:cBhvr>
                                        <p:cTn id="9" dur="1000" fill="hold"/>
                                        <p:tgtEl>
                                          <p:spTgt spid="51405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514050"/>
                                        </p:tgtEl>
                                        <p:attrNameLst>
                                          <p:attrName>style.visibility</p:attrName>
                                        </p:attrNameLst>
                                      </p:cBhvr>
                                      <p:to>
                                        <p:strVal val="visible"/>
                                      </p:to>
                                    </p:set>
                                    <p:animEffect transition="in" filter="wipe(up)">
                                      <p:cBhvr>
                                        <p:cTn id="14" dur="1000"/>
                                        <p:tgtEl>
                                          <p:spTgt spid="51405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14051"/>
                                        </p:tgtEl>
                                        <p:attrNameLst>
                                          <p:attrName>style.visibility</p:attrName>
                                        </p:attrNameLst>
                                      </p:cBhvr>
                                      <p:to>
                                        <p:strVal val="visible"/>
                                      </p:to>
                                    </p:set>
                                    <p:animEffect transition="in" filter="wipe(up)">
                                      <p:cBhvr>
                                        <p:cTn id="19" dur="1000"/>
                                        <p:tgtEl>
                                          <p:spTgt spid="51405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14052"/>
                                        </p:tgtEl>
                                        <p:attrNameLst>
                                          <p:attrName>style.visibility</p:attrName>
                                        </p:attrNameLst>
                                      </p:cBhvr>
                                      <p:to>
                                        <p:strVal val="visible"/>
                                      </p:to>
                                    </p:set>
                                    <p:animEffect transition="in" filter="wipe(up)">
                                      <p:cBhvr>
                                        <p:cTn id="24" dur="1000"/>
                                        <p:tgtEl>
                                          <p:spTgt spid="51405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14053"/>
                                        </p:tgtEl>
                                        <p:attrNameLst>
                                          <p:attrName>style.visibility</p:attrName>
                                        </p:attrNameLst>
                                      </p:cBhvr>
                                      <p:to>
                                        <p:strVal val="visible"/>
                                      </p:to>
                                    </p:set>
                                    <p:animEffect transition="in" filter="wipe(up)">
                                      <p:cBhvr>
                                        <p:cTn id="29" dur="1000"/>
                                        <p:tgtEl>
                                          <p:spTgt spid="514053"/>
                                        </p:tgtEl>
                                      </p:cBhvr>
                                    </p:animEffect>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nodeType="clickEffect">
                                  <p:stCondLst>
                                    <p:cond delay="0"/>
                                  </p:stCondLst>
                                  <p:childTnLst>
                                    <p:set>
                                      <p:cBhvr>
                                        <p:cTn id="33" dur="1" fill="hold">
                                          <p:stCondLst>
                                            <p:cond delay="0"/>
                                          </p:stCondLst>
                                        </p:cTn>
                                        <p:tgtEl>
                                          <p:spTgt spid="514064"/>
                                        </p:tgtEl>
                                        <p:attrNameLst>
                                          <p:attrName>style.visibility</p:attrName>
                                        </p:attrNameLst>
                                      </p:cBhvr>
                                      <p:to>
                                        <p:strVal val="visible"/>
                                      </p:to>
                                    </p:set>
                                    <p:animEffect transition="in" filter="fade">
                                      <p:cBhvr>
                                        <p:cTn id="34" dur="1000"/>
                                        <p:tgtEl>
                                          <p:spTgt spid="514064"/>
                                        </p:tgtEl>
                                      </p:cBhvr>
                                    </p:animEffect>
                                    <p:anim calcmode="lin" valueType="num">
                                      <p:cBhvr>
                                        <p:cTn id="35" dur="1000" fill="hold"/>
                                        <p:tgtEl>
                                          <p:spTgt spid="514064"/>
                                        </p:tgtEl>
                                        <p:attrNameLst>
                                          <p:attrName>ppt_x</p:attrName>
                                        </p:attrNameLst>
                                      </p:cBhvr>
                                      <p:tavLst>
                                        <p:tav tm="0">
                                          <p:val>
                                            <p:strVal val="#ppt_x"/>
                                          </p:val>
                                        </p:tav>
                                        <p:tav tm="100000">
                                          <p:val>
                                            <p:strVal val="#ppt_x"/>
                                          </p:val>
                                        </p:tav>
                                      </p:tavLst>
                                    </p:anim>
                                    <p:anim calcmode="lin" valueType="num">
                                      <p:cBhvr>
                                        <p:cTn id="36" dur="1000" fill="hold"/>
                                        <p:tgtEl>
                                          <p:spTgt spid="51406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514054">
                                            <p:txEl>
                                              <p:pRg st="0" end="0"/>
                                            </p:txEl>
                                          </p:spTgt>
                                        </p:tgtEl>
                                        <p:attrNameLst>
                                          <p:attrName>style.visibility</p:attrName>
                                        </p:attrNameLst>
                                      </p:cBhvr>
                                      <p:to>
                                        <p:strVal val="visible"/>
                                      </p:to>
                                    </p:set>
                                    <p:animEffect transition="in" filter="wipe(up)">
                                      <p:cBhvr>
                                        <p:cTn id="41" dur="500"/>
                                        <p:tgtEl>
                                          <p:spTgt spid="514054">
                                            <p:txEl>
                                              <p:pRg st="0" end="0"/>
                                            </p:txEl>
                                          </p:spTgt>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514054">
                                            <p:txEl>
                                              <p:pRg st="1" end="1"/>
                                            </p:txEl>
                                          </p:spTgt>
                                        </p:tgtEl>
                                        <p:attrNameLst>
                                          <p:attrName>style.visibility</p:attrName>
                                        </p:attrNameLst>
                                      </p:cBhvr>
                                      <p:to>
                                        <p:strVal val="visible"/>
                                      </p:to>
                                    </p:set>
                                    <p:animEffect transition="in" filter="wipe(up)">
                                      <p:cBhvr>
                                        <p:cTn id="45" dur="500"/>
                                        <p:tgtEl>
                                          <p:spTgt spid="51405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514055">
                                            <p:txEl>
                                              <p:pRg st="0" end="0"/>
                                            </p:txEl>
                                          </p:spTgt>
                                        </p:tgtEl>
                                        <p:attrNameLst>
                                          <p:attrName>style.visibility</p:attrName>
                                        </p:attrNameLst>
                                      </p:cBhvr>
                                      <p:to>
                                        <p:strVal val="visible"/>
                                      </p:to>
                                    </p:set>
                                    <p:animEffect transition="in" filter="wipe(up)">
                                      <p:cBhvr>
                                        <p:cTn id="50" dur="500"/>
                                        <p:tgtEl>
                                          <p:spTgt spid="514055">
                                            <p:txEl>
                                              <p:pRg st="0" end="0"/>
                                            </p:txEl>
                                          </p:spTgt>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514055">
                                            <p:txEl>
                                              <p:pRg st="1" end="1"/>
                                            </p:txEl>
                                          </p:spTgt>
                                        </p:tgtEl>
                                        <p:attrNameLst>
                                          <p:attrName>style.visibility</p:attrName>
                                        </p:attrNameLst>
                                      </p:cBhvr>
                                      <p:to>
                                        <p:strVal val="visible"/>
                                      </p:to>
                                    </p:set>
                                    <p:animEffect transition="in" filter="wipe(up)">
                                      <p:cBhvr>
                                        <p:cTn id="54" dur="500"/>
                                        <p:tgtEl>
                                          <p:spTgt spid="514055">
                                            <p:txEl>
                                              <p:pRg st="1" end="1"/>
                                            </p:txEl>
                                          </p:spTgt>
                                        </p:tgtEl>
                                      </p:cBhvr>
                                    </p:animEffect>
                                  </p:childTnLst>
                                </p:cTn>
                              </p:par>
                            </p:childTnLst>
                          </p:cTn>
                        </p:par>
                        <p:par>
                          <p:cTn id="55" fill="hold">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514055">
                                            <p:txEl>
                                              <p:pRg st="2" end="2"/>
                                            </p:txEl>
                                          </p:spTgt>
                                        </p:tgtEl>
                                        <p:attrNameLst>
                                          <p:attrName>style.visibility</p:attrName>
                                        </p:attrNameLst>
                                      </p:cBhvr>
                                      <p:to>
                                        <p:strVal val="visible"/>
                                      </p:to>
                                    </p:set>
                                    <p:animEffect transition="in" filter="wipe(up)">
                                      <p:cBhvr>
                                        <p:cTn id="58" dur="500"/>
                                        <p:tgtEl>
                                          <p:spTgt spid="514055">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514054">
                                            <p:txEl>
                                              <p:pRg st="5" end="5"/>
                                            </p:txEl>
                                          </p:spTgt>
                                        </p:tgtEl>
                                        <p:attrNameLst>
                                          <p:attrName>style.visibility</p:attrName>
                                        </p:attrNameLst>
                                      </p:cBhvr>
                                      <p:to>
                                        <p:strVal val="visible"/>
                                      </p:to>
                                    </p:set>
                                    <p:animEffect transition="in" filter="wipe(up)">
                                      <p:cBhvr>
                                        <p:cTn id="63" dur="500"/>
                                        <p:tgtEl>
                                          <p:spTgt spid="514054">
                                            <p:txEl>
                                              <p:pRg st="5" end="5"/>
                                            </p:txEl>
                                          </p:spTgt>
                                        </p:tgtEl>
                                      </p:cBhvr>
                                    </p:animEffect>
                                  </p:childTnLst>
                                </p:cTn>
                              </p:par>
                            </p:childTnLst>
                          </p:cTn>
                        </p:par>
                        <p:par>
                          <p:cTn id="64" fill="hold">
                            <p:stCondLst>
                              <p:cond delay="500"/>
                            </p:stCondLst>
                            <p:childTnLst>
                              <p:par>
                                <p:cTn id="65" presetID="22" presetClass="entr" presetSubtype="1" fill="hold" grpId="0" nodeType="afterEffect">
                                  <p:stCondLst>
                                    <p:cond delay="0"/>
                                  </p:stCondLst>
                                  <p:childTnLst>
                                    <p:set>
                                      <p:cBhvr>
                                        <p:cTn id="66" dur="1" fill="hold">
                                          <p:stCondLst>
                                            <p:cond delay="0"/>
                                          </p:stCondLst>
                                        </p:cTn>
                                        <p:tgtEl>
                                          <p:spTgt spid="514054">
                                            <p:txEl>
                                              <p:pRg st="6" end="6"/>
                                            </p:txEl>
                                          </p:spTgt>
                                        </p:tgtEl>
                                        <p:attrNameLst>
                                          <p:attrName>style.visibility</p:attrName>
                                        </p:attrNameLst>
                                      </p:cBhvr>
                                      <p:to>
                                        <p:strVal val="visible"/>
                                      </p:to>
                                    </p:set>
                                    <p:animEffect transition="in" filter="wipe(up)">
                                      <p:cBhvr>
                                        <p:cTn id="67" dur="500"/>
                                        <p:tgtEl>
                                          <p:spTgt spid="514054">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514055">
                                            <p:txEl>
                                              <p:pRg st="5" end="5"/>
                                            </p:txEl>
                                          </p:spTgt>
                                        </p:tgtEl>
                                        <p:attrNameLst>
                                          <p:attrName>style.visibility</p:attrName>
                                        </p:attrNameLst>
                                      </p:cBhvr>
                                      <p:to>
                                        <p:strVal val="visible"/>
                                      </p:to>
                                    </p:set>
                                    <p:animEffect transition="in" filter="wipe(up)">
                                      <p:cBhvr>
                                        <p:cTn id="72" dur="500"/>
                                        <p:tgtEl>
                                          <p:spTgt spid="514055">
                                            <p:txEl>
                                              <p:pRg st="5" end="5"/>
                                            </p:txEl>
                                          </p:spTgt>
                                        </p:tgtEl>
                                      </p:cBhvr>
                                    </p:animEffect>
                                  </p:childTnLst>
                                </p:cTn>
                              </p:par>
                            </p:childTnLst>
                          </p:cTn>
                        </p:par>
                        <p:par>
                          <p:cTn id="73" fill="hold">
                            <p:stCondLst>
                              <p:cond delay="500"/>
                            </p:stCondLst>
                            <p:childTnLst>
                              <p:par>
                                <p:cTn id="74" presetID="22" presetClass="entr" presetSubtype="1" fill="hold" grpId="0" nodeType="afterEffect">
                                  <p:stCondLst>
                                    <p:cond delay="0"/>
                                  </p:stCondLst>
                                  <p:childTnLst>
                                    <p:set>
                                      <p:cBhvr>
                                        <p:cTn id="75" dur="1" fill="hold">
                                          <p:stCondLst>
                                            <p:cond delay="0"/>
                                          </p:stCondLst>
                                        </p:cTn>
                                        <p:tgtEl>
                                          <p:spTgt spid="514055">
                                            <p:txEl>
                                              <p:pRg st="6" end="6"/>
                                            </p:txEl>
                                          </p:spTgt>
                                        </p:tgtEl>
                                        <p:attrNameLst>
                                          <p:attrName>style.visibility</p:attrName>
                                        </p:attrNameLst>
                                      </p:cBhvr>
                                      <p:to>
                                        <p:strVal val="visible"/>
                                      </p:to>
                                    </p:set>
                                    <p:animEffect transition="in" filter="wipe(up)">
                                      <p:cBhvr>
                                        <p:cTn id="76" dur="500"/>
                                        <p:tgtEl>
                                          <p:spTgt spid="514055">
                                            <p:txEl>
                                              <p:pRg st="6" end="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514054">
                                            <p:txEl>
                                              <p:pRg st="9" end="9"/>
                                            </p:txEl>
                                          </p:spTgt>
                                        </p:tgtEl>
                                        <p:attrNameLst>
                                          <p:attrName>style.visibility</p:attrName>
                                        </p:attrNameLst>
                                      </p:cBhvr>
                                      <p:to>
                                        <p:strVal val="visible"/>
                                      </p:to>
                                    </p:set>
                                    <p:animEffect transition="in" filter="wipe(up)">
                                      <p:cBhvr>
                                        <p:cTn id="81" dur="500"/>
                                        <p:tgtEl>
                                          <p:spTgt spid="514054">
                                            <p:txEl>
                                              <p:pRg st="9" end="9"/>
                                            </p:txEl>
                                          </p:spTgt>
                                        </p:tgtEl>
                                      </p:cBhvr>
                                    </p:animEffect>
                                  </p:childTnLst>
                                </p:cTn>
                              </p:par>
                            </p:childTnLst>
                          </p:cTn>
                        </p:par>
                        <p:par>
                          <p:cTn id="82" fill="hold">
                            <p:stCondLst>
                              <p:cond delay="500"/>
                            </p:stCondLst>
                            <p:childTnLst>
                              <p:par>
                                <p:cTn id="83" presetID="22" presetClass="entr" presetSubtype="1" fill="hold" grpId="0" nodeType="afterEffect">
                                  <p:stCondLst>
                                    <p:cond delay="0"/>
                                  </p:stCondLst>
                                  <p:childTnLst>
                                    <p:set>
                                      <p:cBhvr>
                                        <p:cTn id="84" dur="1" fill="hold">
                                          <p:stCondLst>
                                            <p:cond delay="0"/>
                                          </p:stCondLst>
                                        </p:cTn>
                                        <p:tgtEl>
                                          <p:spTgt spid="514054">
                                            <p:txEl>
                                              <p:pRg st="10" end="10"/>
                                            </p:txEl>
                                          </p:spTgt>
                                        </p:tgtEl>
                                        <p:attrNameLst>
                                          <p:attrName>style.visibility</p:attrName>
                                        </p:attrNameLst>
                                      </p:cBhvr>
                                      <p:to>
                                        <p:strVal val="visible"/>
                                      </p:to>
                                    </p:set>
                                    <p:animEffect transition="in" filter="wipe(up)">
                                      <p:cBhvr>
                                        <p:cTn id="85" dur="500"/>
                                        <p:tgtEl>
                                          <p:spTgt spid="514054">
                                            <p:txEl>
                                              <p:pRg st="10" end="1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514055">
                                            <p:txEl>
                                              <p:pRg st="9" end="9"/>
                                            </p:txEl>
                                          </p:spTgt>
                                        </p:tgtEl>
                                        <p:attrNameLst>
                                          <p:attrName>style.visibility</p:attrName>
                                        </p:attrNameLst>
                                      </p:cBhvr>
                                      <p:to>
                                        <p:strVal val="visible"/>
                                      </p:to>
                                    </p:set>
                                    <p:animEffect transition="in" filter="wipe(up)">
                                      <p:cBhvr>
                                        <p:cTn id="90" dur="500"/>
                                        <p:tgtEl>
                                          <p:spTgt spid="514055">
                                            <p:txEl>
                                              <p:pRg st="9" end="9"/>
                                            </p:txEl>
                                          </p:spTgt>
                                        </p:tgtEl>
                                      </p:cBhvr>
                                    </p:animEffect>
                                  </p:childTnLst>
                                </p:cTn>
                              </p:par>
                            </p:childTnLst>
                          </p:cTn>
                        </p:par>
                        <p:par>
                          <p:cTn id="91" fill="hold">
                            <p:stCondLst>
                              <p:cond delay="500"/>
                            </p:stCondLst>
                            <p:childTnLst>
                              <p:par>
                                <p:cTn id="92" presetID="22" presetClass="entr" presetSubtype="1" fill="hold" grpId="0" nodeType="afterEffect">
                                  <p:stCondLst>
                                    <p:cond delay="0"/>
                                  </p:stCondLst>
                                  <p:childTnLst>
                                    <p:set>
                                      <p:cBhvr>
                                        <p:cTn id="93" dur="1" fill="hold">
                                          <p:stCondLst>
                                            <p:cond delay="0"/>
                                          </p:stCondLst>
                                        </p:cTn>
                                        <p:tgtEl>
                                          <p:spTgt spid="514055">
                                            <p:txEl>
                                              <p:pRg st="10" end="10"/>
                                            </p:txEl>
                                          </p:spTgt>
                                        </p:tgtEl>
                                        <p:attrNameLst>
                                          <p:attrName>style.visibility</p:attrName>
                                        </p:attrNameLst>
                                      </p:cBhvr>
                                      <p:to>
                                        <p:strVal val="visible"/>
                                      </p:to>
                                    </p:set>
                                    <p:animEffect transition="in" filter="wipe(up)">
                                      <p:cBhvr>
                                        <p:cTn id="94" dur="500"/>
                                        <p:tgtEl>
                                          <p:spTgt spid="51405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0" grpId="0"/>
      <p:bldP spid="514051" grpId="0"/>
      <p:bldP spid="514052" grpId="0"/>
      <p:bldP spid="514053" grpId="0"/>
      <p:bldP spid="514054" grpId="0" build="p"/>
      <p:bldP spid="51405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Rot="1" noChangeArrowheads="1"/>
          </p:cNvSpPr>
          <p:nvPr>
            <p:ph type="title"/>
          </p:nvPr>
        </p:nvSpPr>
        <p:spPr>
          <a:xfrm>
            <a:off x="1281113" y="2841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六、两段锁协议</a:t>
            </a:r>
          </a:p>
        </p:txBody>
      </p:sp>
      <p:sp>
        <p:nvSpPr>
          <p:cNvPr id="515075"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、定义</a:t>
            </a:r>
            <a:endParaRPr lang="en-US" altLang="zh-CN" sz="3200">
              <a:solidFill>
                <a:srgbClr val="660033"/>
              </a:solidFill>
              <a:ea typeface="华文新魏" panose="02010800040101010101" pitchFamily="2" charset="-122"/>
            </a:endParaRPr>
          </a:p>
        </p:txBody>
      </p:sp>
      <p:sp>
        <p:nvSpPr>
          <p:cNvPr id="515076" name="AutoShape 4"/>
          <p:cNvSpPr>
            <a:spLocks noChangeArrowheads="1"/>
          </p:cNvSpPr>
          <p:nvPr/>
        </p:nvSpPr>
        <p:spPr bwMode="auto">
          <a:xfrm>
            <a:off x="395288" y="2133600"/>
            <a:ext cx="8353425" cy="417512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50000"/>
              </a:spcBef>
            </a:pPr>
            <a:r>
              <a:rPr lang="zh-CN" altLang="en-US" sz="2800" b="1">
                <a:effectLst>
                  <a:outerShdw blurRad="38100" dist="38100" dir="2700000" algn="tl">
                    <a:srgbClr val="C0C0C0"/>
                  </a:outerShdw>
                </a:effectLst>
                <a:latin typeface="楷体_GB2312" pitchFamily="49" charset="-122"/>
                <a:ea typeface="楷体_GB2312" pitchFamily="49" charset="-122"/>
              </a:rPr>
              <a:t>   在每一个事务中，所有的加锁语句都在解锁语句之前的规则称为</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两段锁协议</a:t>
            </a:r>
            <a:r>
              <a:rPr lang="zh-CN" altLang="en-US" sz="2800" b="1">
                <a:effectLst>
                  <a:outerShdw blurRad="38100" dist="38100" dir="2700000" algn="tl">
                    <a:srgbClr val="C0C0C0"/>
                  </a:outerShdw>
                </a:effectLst>
                <a:latin typeface="楷体_GB2312" pitchFamily="49" charset="-122"/>
                <a:ea typeface="楷体_GB2312" pitchFamily="49" charset="-122"/>
              </a:rPr>
              <a:t>。</a:t>
            </a:r>
          </a:p>
          <a:p>
            <a:pPr>
              <a:lnSpc>
                <a:spcPct val="120000"/>
              </a:lnSpc>
              <a:spcBef>
                <a:spcPct val="50000"/>
              </a:spcBef>
              <a:buClr>
                <a:srgbClr val="FF0066"/>
              </a:buClr>
              <a:buFont typeface="Wingdings" panose="05000000000000000000" pitchFamily="2" charset="2"/>
              <a:buChar char="l"/>
            </a:pPr>
            <a:r>
              <a:rPr lang="zh-CN" altLang="en-US" sz="2800" b="1">
                <a:solidFill>
                  <a:srgbClr val="0000FF"/>
                </a:solidFill>
                <a:effectLst>
                  <a:outerShdw blurRad="38100" dist="38100" dir="2700000" algn="tl">
                    <a:srgbClr val="C0C0C0"/>
                  </a:outerShdw>
                </a:effectLst>
                <a:latin typeface="楷体_GB2312" pitchFamily="49" charset="-122"/>
                <a:ea typeface="楷体_GB2312" pitchFamily="49" charset="-122"/>
              </a:rPr>
              <a:t>加锁段（扩展阶段）：</a:t>
            </a:r>
            <a:r>
              <a:rPr lang="zh-CN" altLang="en-US" sz="2800" b="1">
                <a:effectLst>
                  <a:outerShdw blurRad="38100" dist="38100" dir="2700000" algn="tl">
                    <a:srgbClr val="C0C0C0"/>
                  </a:outerShdw>
                </a:effectLst>
                <a:latin typeface="楷体_GB2312" pitchFamily="49" charset="-122"/>
                <a:ea typeface="楷体_GB2312" pitchFamily="49" charset="-122"/>
              </a:rPr>
              <a:t>事务可以申请获得任何数据项上的任何类型的锁，但是不能释放任何锁。</a:t>
            </a:r>
          </a:p>
          <a:p>
            <a:pPr>
              <a:lnSpc>
                <a:spcPct val="120000"/>
              </a:lnSpc>
              <a:spcBef>
                <a:spcPct val="50000"/>
              </a:spcBef>
              <a:buClr>
                <a:srgbClr val="FF0066"/>
              </a:buClr>
              <a:buFont typeface="Wingdings" panose="05000000000000000000" pitchFamily="2" charset="2"/>
              <a:buChar char="l"/>
            </a:pPr>
            <a:r>
              <a:rPr lang="zh-CN" altLang="en-US" sz="2800" b="1">
                <a:solidFill>
                  <a:srgbClr val="009900"/>
                </a:solidFill>
                <a:effectLst>
                  <a:outerShdw blurRad="38100" dist="38100" dir="2700000" algn="tl">
                    <a:srgbClr val="C0C0C0"/>
                  </a:outerShdw>
                </a:effectLst>
                <a:latin typeface="楷体_GB2312" pitchFamily="49" charset="-122"/>
                <a:ea typeface="楷体_GB2312" pitchFamily="49" charset="-122"/>
              </a:rPr>
              <a:t>解锁段（收缩阶段）：</a:t>
            </a:r>
            <a:r>
              <a:rPr lang="zh-CN" altLang="en-US" sz="2800" b="1">
                <a:effectLst>
                  <a:outerShdw blurRad="38100" dist="38100" dir="2700000" algn="tl">
                    <a:srgbClr val="C0C0C0"/>
                  </a:outerShdw>
                </a:effectLst>
                <a:latin typeface="楷体_GB2312" pitchFamily="49" charset="-122"/>
                <a:ea typeface="楷体_GB2312" pitchFamily="49" charset="-122"/>
              </a:rPr>
              <a:t>事务可以释放任何数据项上的任何类型的琐，但是不能再申请任何琐。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075"/>
    </mc:Choice>
    <mc:Fallback xmlns="">
      <p:transition spd="slow" advTm="330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5075"/>
                                        </p:tgtEl>
                                        <p:attrNameLst>
                                          <p:attrName>style.visibility</p:attrName>
                                        </p:attrNameLst>
                                      </p:cBhvr>
                                      <p:to>
                                        <p:strVal val="visible"/>
                                      </p:to>
                                    </p:set>
                                    <p:animEffect transition="in" filter="wipe(left)">
                                      <p:cBhvr>
                                        <p:cTn id="7" dur="1000"/>
                                        <p:tgtEl>
                                          <p:spTgt spid="5150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5076">
                                            <p:bg/>
                                          </p:spTgt>
                                        </p:tgtEl>
                                        <p:attrNameLst>
                                          <p:attrName>style.visibility</p:attrName>
                                        </p:attrNameLst>
                                      </p:cBhvr>
                                      <p:to>
                                        <p:strVal val="visible"/>
                                      </p:to>
                                    </p:set>
                                    <p:animEffect transition="in" filter="wipe(up)">
                                      <p:cBhvr>
                                        <p:cTn id="12" dur="500"/>
                                        <p:tgtEl>
                                          <p:spTgt spid="515076">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5076">
                                            <p:txEl>
                                              <p:pRg st="0" end="0"/>
                                            </p:txEl>
                                          </p:spTgt>
                                        </p:tgtEl>
                                        <p:attrNameLst>
                                          <p:attrName>style.visibility</p:attrName>
                                        </p:attrNameLst>
                                      </p:cBhvr>
                                      <p:to>
                                        <p:strVal val="visible"/>
                                      </p:to>
                                    </p:set>
                                    <p:animEffect transition="in" filter="wipe(up)">
                                      <p:cBhvr>
                                        <p:cTn id="17" dur="500"/>
                                        <p:tgtEl>
                                          <p:spTgt spid="51507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5076">
                                            <p:txEl>
                                              <p:pRg st="1" end="1"/>
                                            </p:txEl>
                                          </p:spTgt>
                                        </p:tgtEl>
                                        <p:attrNameLst>
                                          <p:attrName>style.visibility</p:attrName>
                                        </p:attrNameLst>
                                      </p:cBhvr>
                                      <p:to>
                                        <p:strVal val="visible"/>
                                      </p:to>
                                    </p:set>
                                    <p:animEffect transition="in" filter="wipe(up)">
                                      <p:cBhvr>
                                        <p:cTn id="22" dur="500"/>
                                        <p:tgtEl>
                                          <p:spTgt spid="51507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5076">
                                            <p:txEl>
                                              <p:pRg st="2" end="2"/>
                                            </p:txEl>
                                          </p:spTgt>
                                        </p:tgtEl>
                                        <p:attrNameLst>
                                          <p:attrName>style.visibility</p:attrName>
                                        </p:attrNameLst>
                                      </p:cBhvr>
                                      <p:to>
                                        <p:strVal val="visible"/>
                                      </p:to>
                                    </p:set>
                                    <p:animEffect transition="in" filter="wipe(up)">
                                      <p:cBhvr>
                                        <p:cTn id="27" dur="500"/>
                                        <p:tgtEl>
                                          <p:spTgt spid="5150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5" grpId="0"/>
      <p:bldP spid="515076"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Rot="1" noChangeArrowheads="1"/>
          </p:cNvSpPr>
          <p:nvPr>
            <p:ph type="title"/>
          </p:nvPr>
        </p:nvSpPr>
        <p:spPr>
          <a:xfrm>
            <a:off x="1281113" y="2841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六、两段锁协议</a:t>
            </a:r>
          </a:p>
        </p:txBody>
      </p:sp>
      <p:sp>
        <p:nvSpPr>
          <p:cNvPr id="516099" name="Rectangle 3"/>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、两段锁协议</a:t>
            </a:r>
            <a:endParaRPr lang="en-US" altLang="zh-CN" sz="3200">
              <a:solidFill>
                <a:srgbClr val="660033"/>
              </a:solidFill>
              <a:ea typeface="华文新魏" panose="02010800040101010101" pitchFamily="2" charset="-122"/>
            </a:endParaRPr>
          </a:p>
        </p:txBody>
      </p:sp>
      <p:sp>
        <p:nvSpPr>
          <p:cNvPr id="516100" name="AutoShape 4"/>
          <p:cNvSpPr>
            <a:spLocks noChangeArrowheads="1"/>
          </p:cNvSpPr>
          <p:nvPr/>
        </p:nvSpPr>
        <p:spPr bwMode="auto">
          <a:xfrm>
            <a:off x="395288" y="2133600"/>
            <a:ext cx="8353425" cy="4319588"/>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2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楷体_GB2312" pitchFamily="49" charset="-122"/>
                <a:ea typeface="楷体_GB2312" pitchFamily="49" charset="-122"/>
              </a:rPr>
              <a:t> ① 两段锁协议和可串行化调度</a:t>
            </a:r>
          </a:p>
          <a:p>
            <a:pPr algn="just">
              <a:lnSpc>
                <a:spcPct val="120000"/>
              </a:lnSpc>
              <a:spcBef>
                <a:spcPct val="20000"/>
              </a:spcBef>
              <a:buClr>
                <a:schemeClr val="folHlink"/>
              </a:buClr>
              <a:buSzPct val="60000"/>
              <a:buFont typeface="Wingdings" panose="05000000000000000000" pitchFamily="2" charset="2"/>
              <a:buNone/>
            </a:pPr>
            <a:r>
              <a:rPr lang="zh-CN" altLang="en-US" sz="2600" b="1">
                <a:effectLst>
                  <a:outerShdw blurRad="38100" dist="38100" dir="2700000" algn="tl">
                    <a:srgbClr val="C0C0C0"/>
                  </a:outerShdw>
                </a:effectLst>
                <a:latin typeface="楷体_GB2312" pitchFamily="49" charset="-122"/>
                <a:ea typeface="楷体_GB2312" pitchFamily="49" charset="-122"/>
              </a:rPr>
              <a:t>     若并发执行的所有事务均遵守</a:t>
            </a:r>
            <a:r>
              <a:rPr lang="zh-CN" altLang="en-US" sz="2600" b="1">
                <a:solidFill>
                  <a:schemeClr val="hlink"/>
                </a:solidFill>
                <a:effectLst>
                  <a:outerShdw blurRad="38100" dist="38100" dir="2700000" algn="tl">
                    <a:srgbClr val="C0C0C0"/>
                  </a:outerShdw>
                </a:effectLst>
                <a:latin typeface="楷体_GB2312" pitchFamily="49" charset="-122"/>
                <a:ea typeface="楷体_GB2312" pitchFamily="49" charset="-122"/>
              </a:rPr>
              <a:t>两段锁协议</a:t>
            </a:r>
            <a:r>
              <a:rPr lang="zh-CN" altLang="en-US" sz="2600" b="1">
                <a:effectLst>
                  <a:outerShdw blurRad="38100" dist="38100" dir="2700000" algn="tl">
                    <a:srgbClr val="C0C0C0"/>
                  </a:outerShdw>
                </a:effectLst>
                <a:latin typeface="楷体_GB2312" pitchFamily="49" charset="-122"/>
                <a:ea typeface="楷体_GB2312" pitchFamily="49" charset="-122"/>
              </a:rPr>
              <a:t>，则对这些事务的任何并发调度策略都是可串行化的（</a:t>
            </a:r>
            <a:r>
              <a:rPr lang="zh-CN" altLang="en-US" sz="2600" b="1">
                <a:solidFill>
                  <a:srgbClr val="0000FF"/>
                </a:solidFill>
                <a:effectLst>
                  <a:outerShdw blurRad="38100" dist="38100" dir="2700000" algn="tl">
                    <a:srgbClr val="C0C0C0"/>
                  </a:outerShdw>
                </a:effectLst>
                <a:latin typeface="楷体_GB2312" pitchFamily="49" charset="-122"/>
                <a:ea typeface="楷体_GB2312" pitchFamily="49" charset="-122"/>
              </a:rPr>
              <a:t>充分条件，不是必要条件</a:t>
            </a:r>
            <a:r>
              <a:rPr lang="zh-CN" altLang="en-US" sz="2600" b="1">
                <a:effectLst>
                  <a:outerShdw blurRad="38100" dist="38100" dir="2700000" algn="tl">
                    <a:srgbClr val="C0C0C0"/>
                  </a:outerShdw>
                </a:effectLst>
                <a:latin typeface="楷体_GB2312" pitchFamily="49" charset="-122"/>
                <a:ea typeface="楷体_GB2312" pitchFamily="49" charset="-122"/>
              </a:rPr>
              <a:t>）。</a:t>
            </a:r>
          </a:p>
          <a:p>
            <a:pPr algn="just">
              <a:lnSpc>
                <a:spcPct val="120000"/>
              </a:lnSpc>
              <a:spcBef>
                <a:spcPct val="20000"/>
              </a:spcBef>
              <a:buClr>
                <a:schemeClr val="folHlink"/>
              </a:buClr>
              <a:buSzPct val="60000"/>
              <a:buFont typeface="Wingdings" panose="05000000000000000000" pitchFamily="2" charset="2"/>
              <a:buNone/>
            </a:pPr>
            <a:r>
              <a:rPr lang="en-US" altLang="zh-CN" sz="2800" b="1">
                <a:effectLst>
                  <a:outerShdw blurRad="38100" dist="38100" dir="2700000" algn="tl">
                    <a:srgbClr val="C0C0C0"/>
                  </a:outerShdw>
                </a:effectLst>
                <a:latin typeface="楷体_GB2312" pitchFamily="49" charset="-122"/>
                <a:ea typeface="楷体_GB2312" pitchFamily="49" charset="-122"/>
              </a:rPr>
              <a:t> ② </a:t>
            </a:r>
            <a:r>
              <a:rPr lang="zh-CN" altLang="en-US" sz="2800" b="1">
                <a:effectLst>
                  <a:outerShdw blurRad="38100" dist="38100" dir="2700000" algn="tl">
                    <a:srgbClr val="C0C0C0"/>
                  </a:outerShdw>
                </a:effectLst>
                <a:latin typeface="楷体_GB2312" pitchFamily="49" charset="-122"/>
                <a:ea typeface="楷体_GB2312" pitchFamily="49" charset="-122"/>
              </a:rPr>
              <a:t>两段锁协议和一次加锁法</a:t>
            </a:r>
          </a:p>
          <a:p>
            <a:pPr algn="just">
              <a:lnSpc>
                <a:spcPct val="120000"/>
              </a:lnSpc>
              <a:spcBef>
                <a:spcPct val="20000"/>
              </a:spcBef>
              <a:buClr>
                <a:schemeClr val="folHlink"/>
              </a:buClr>
              <a:buSzPct val="60000"/>
              <a:buFont typeface="Wingdings" panose="05000000000000000000" pitchFamily="2" charset="2"/>
              <a:buNone/>
            </a:pPr>
            <a:r>
              <a:rPr lang="zh-CN" altLang="en-US" sz="2600" b="1">
                <a:effectLst>
                  <a:outerShdw blurRad="38100" dist="38100" dir="2700000" algn="tl">
                    <a:srgbClr val="C0C0C0"/>
                  </a:outerShdw>
                </a:effectLst>
                <a:latin typeface="楷体_GB2312" pitchFamily="49" charset="-122"/>
                <a:ea typeface="楷体_GB2312" pitchFamily="49" charset="-122"/>
              </a:rPr>
              <a:t>    一次加锁法遵守两段锁协议；</a:t>
            </a:r>
          </a:p>
          <a:p>
            <a:pPr algn="just">
              <a:lnSpc>
                <a:spcPct val="120000"/>
              </a:lnSpc>
              <a:spcBef>
                <a:spcPct val="20000"/>
              </a:spcBef>
              <a:buClr>
                <a:schemeClr val="folHlink"/>
              </a:buClr>
              <a:buSzPct val="60000"/>
              <a:buFont typeface="Wingdings" panose="05000000000000000000" pitchFamily="2" charset="2"/>
              <a:buNone/>
            </a:pPr>
            <a:r>
              <a:rPr lang="zh-CN" altLang="en-US" sz="2600" b="1">
                <a:effectLst>
                  <a:outerShdw blurRad="38100" dist="38100" dir="2700000" algn="tl">
                    <a:srgbClr val="C0C0C0"/>
                  </a:outerShdw>
                </a:effectLst>
                <a:latin typeface="楷体_GB2312" pitchFamily="49" charset="-122"/>
                <a:ea typeface="楷体_GB2312" pitchFamily="49" charset="-122"/>
              </a:rPr>
              <a:t>    遵守两段锁协议的事务并不遵守一次加锁法。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384"/>
    </mc:Choice>
    <mc:Fallback xmlns="">
      <p:transition spd="slow" advTm="353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6099"/>
                                        </p:tgtEl>
                                        <p:attrNameLst>
                                          <p:attrName>style.visibility</p:attrName>
                                        </p:attrNameLst>
                                      </p:cBhvr>
                                      <p:to>
                                        <p:strVal val="visible"/>
                                      </p:to>
                                    </p:set>
                                    <p:animEffect transition="in" filter="wipe(left)">
                                      <p:cBhvr>
                                        <p:cTn id="7" dur="1000"/>
                                        <p:tgtEl>
                                          <p:spTgt spid="5160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6100">
                                            <p:bg/>
                                          </p:spTgt>
                                        </p:tgtEl>
                                        <p:attrNameLst>
                                          <p:attrName>style.visibility</p:attrName>
                                        </p:attrNameLst>
                                      </p:cBhvr>
                                      <p:to>
                                        <p:strVal val="visible"/>
                                      </p:to>
                                    </p:set>
                                    <p:animEffect transition="in" filter="wipe(up)">
                                      <p:cBhvr>
                                        <p:cTn id="12" dur="500"/>
                                        <p:tgtEl>
                                          <p:spTgt spid="516100">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6100">
                                            <p:txEl>
                                              <p:pRg st="0" end="0"/>
                                            </p:txEl>
                                          </p:spTgt>
                                        </p:tgtEl>
                                        <p:attrNameLst>
                                          <p:attrName>style.visibility</p:attrName>
                                        </p:attrNameLst>
                                      </p:cBhvr>
                                      <p:to>
                                        <p:strVal val="visible"/>
                                      </p:to>
                                    </p:set>
                                    <p:animEffect transition="in" filter="wipe(up)">
                                      <p:cBhvr>
                                        <p:cTn id="17" dur="500"/>
                                        <p:tgtEl>
                                          <p:spTgt spid="51610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6100">
                                            <p:txEl>
                                              <p:pRg st="1" end="1"/>
                                            </p:txEl>
                                          </p:spTgt>
                                        </p:tgtEl>
                                        <p:attrNameLst>
                                          <p:attrName>style.visibility</p:attrName>
                                        </p:attrNameLst>
                                      </p:cBhvr>
                                      <p:to>
                                        <p:strVal val="visible"/>
                                      </p:to>
                                    </p:set>
                                    <p:animEffect transition="in" filter="wipe(up)">
                                      <p:cBhvr>
                                        <p:cTn id="22" dur="500"/>
                                        <p:tgtEl>
                                          <p:spTgt spid="51610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6100">
                                            <p:txEl>
                                              <p:pRg st="2" end="2"/>
                                            </p:txEl>
                                          </p:spTgt>
                                        </p:tgtEl>
                                        <p:attrNameLst>
                                          <p:attrName>style.visibility</p:attrName>
                                        </p:attrNameLst>
                                      </p:cBhvr>
                                      <p:to>
                                        <p:strVal val="visible"/>
                                      </p:to>
                                    </p:set>
                                    <p:animEffect transition="in" filter="wipe(up)">
                                      <p:cBhvr>
                                        <p:cTn id="27" dur="500"/>
                                        <p:tgtEl>
                                          <p:spTgt spid="51610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16100">
                                            <p:txEl>
                                              <p:pRg st="3" end="3"/>
                                            </p:txEl>
                                          </p:spTgt>
                                        </p:tgtEl>
                                        <p:attrNameLst>
                                          <p:attrName>style.visibility</p:attrName>
                                        </p:attrNameLst>
                                      </p:cBhvr>
                                      <p:to>
                                        <p:strVal val="visible"/>
                                      </p:to>
                                    </p:set>
                                    <p:animEffect transition="in" filter="wipe(up)">
                                      <p:cBhvr>
                                        <p:cTn id="32" dur="500"/>
                                        <p:tgtEl>
                                          <p:spTgt spid="516100">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16100">
                                            <p:txEl>
                                              <p:pRg st="4" end="4"/>
                                            </p:txEl>
                                          </p:spTgt>
                                        </p:tgtEl>
                                        <p:attrNameLst>
                                          <p:attrName>style.visibility</p:attrName>
                                        </p:attrNameLst>
                                      </p:cBhvr>
                                      <p:to>
                                        <p:strVal val="visible"/>
                                      </p:to>
                                    </p:set>
                                    <p:animEffect transition="in" filter="wipe(up)">
                                      <p:cBhvr>
                                        <p:cTn id="37" dur="500"/>
                                        <p:tgtEl>
                                          <p:spTgt spid="5161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099" grpId="0"/>
      <p:bldP spid="516100"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Rot="1" noChangeArrowheads="1"/>
          </p:cNvSpPr>
          <p:nvPr>
            <p:ph type="title"/>
          </p:nvPr>
        </p:nvSpPr>
        <p:spPr>
          <a:xfrm>
            <a:off x="1281113" y="2841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七、锁的粒度</a:t>
            </a:r>
          </a:p>
        </p:txBody>
      </p:sp>
      <p:sp>
        <p:nvSpPr>
          <p:cNvPr id="517123" name="AutoShape 3"/>
          <p:cNvSpPr>
            <a:spLocks noChangeArrowheads="1"/>
          </p:cNvSpPr>
          <p:nvPr/>
        </p:nvSpPr>
        <p:spPr bwMode="auto">
          <a:xfrm>
            <a:off x="395288" y="1773238"/>
            <a:ext cx="8353425" cy="417512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50000"/>
              </a:spcBef>
            </a:pPr>
            <a:r>
              <a:rPr lang="zh-CN" altLang="en-US" sz="2800" b="1">
                <a:effectLst>
                  <a:outerShdw blurRad="38100" dist="38100" dir="2700000" algn="tl">
                    <a:srgbClr val="C0C0C0"/>
                  </a:outerShdw>
                </a:effectLst>
                <a:latin typeface="楷体_GB2312" pitchFamily="49" charset="-122"/>
                <a:ea typeface="楷体_GB2312" pitchFamily="49" charset="-122"/>
              </a:rPr>
              <a:t>   加锁项的大小称为</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锁的粒度</a:t>
            </a:r>
            <a:r>
              <a:rPr lang="zh-CN" altLang="en-US" sz="2800" b="1">
                <a:effectLst>
                  <a:outerShdw blurRad="38100" dist="38100" dir="2700000" algn="tl">
                    <a:srgbClr val="C0C0C0"/>
                  </a:outerShdw>
                </a:effectLst>
                <a:latin typeface="楷体_GB2312" pitchFamily="49" charset="-122"/>
                <a:ea typeface="楷体_GB2312" pitchFamily="49" charset="-122"/>
              </a:rPr>
              <a:t>。</a:t>
            </a:r>
          </a:p>
          <a:p>
            <a:pPr>
              <a:lnSpc>
                <a:spcPct val="120000"/>
              </a:lnSpc>
              <a:spcBef>
                <a:spcPct val="50000"/>
              </a:spcBef>
            </a:pPr>
            <a:r>
              <a:rPr lang="zh-CN" altLang="en-US" sz="2800" b="1">
                <a:effectLst>
                  <a:outerShdw blurRad="38100" dist="38100" dir="2700000" algn="tl">
                    <a:srgbClr val="C0C0C0"/>
                  </a:outerShdw>
                </a:effectLst>
                <a:latin typeface="楷体_GB2312" pitchFamily="49" charset="-122"/>
                <a:ea typeface="楷体_GB2312" pitchFamily="49" charset="-122"/>
              </a:rPr>
              <a:t>   当锁的粒度较小时，数据库所能加锁的项就较多，即同时可更多的事务并行操作，系统开销较大；当锁的粒度较大时，事务加锁的项就较少，事务的并行度就会降低，但系统开销较小。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711"/>
    </mc:Choice>
    <mc:Fallback xmlns="">
      <p:transition spd="slow" advTm="3571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7123">
                                            <p:bg/>
                                          </p:spTgt>
                                        </p:tgtEl>
                                        <p:attrNameLst>
                                          <p:attrName>style.visibility</p:attrName>
                                        </p:attrNameLst>
                                      </p:cBhvr>
                                      <p:to>
                                        <p:strVal val="visible"/>
                                      </p:to>
                                    </p:set>
                                    <p:animEffect transition="in" filter="wipe(up)">
                                      <p:cBhvr>
                                        <p:cTn id="7" dur="500"/>
                                        <p:tgtEl>
                                          <p:spTgt spid="51712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7123">
                                            <p:txEl>
                                              <p:pRg st="0" end="0"/>
                                            </p:txEl>
                                          </p:spTgt>
                                        </p:tgtEl>
                                        <p:attrNameLst>
                                          <p:attrName>style.visibility</p:attrName>
                                        </p:attrNameLst>
                                      </p:cBhvr>
                                      <p:to>
                                        <p:strVal val="visible"/>
                                      </p:to>
                                    </p:set>
                                    <p:animEffect transition="in" filter="wipe(up)">
                                      <p:cBhvr>
                                        <p:cTn id="12" dur="500"/>
                                        <p:tgtEl>
                                          <p:spTgt spid="5171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7123">
                                            <p:txEl>
                                              <p:pRg st="1" end="1"/>
                                            </p:txEl>
                                          </p:spTgt>
                                        </p:tgtEl>
                                        <p:attrNameLst>
                                          <p:attrName>style.visibility</p:attrName>
                                        </p:attrNameLst>
                                      </p:cBhvr>
                                      <p:to>
                                        <p:strVal val="visible"/>
                                      </p:to>
                                    </p:set>
                                    <p:animEffect transition="in" filter="wipe(up)">
                                      <p:cBhvr>
                                        <p:cTn id="17" dur="500"/>
                                        <p:tgtEl>
                                          <p:spTgt spid="517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Rot="1" noChangeArrowheads="1"/>
          </p:cNvSpPr>
          <p:nvPr>
            <p:ph type="title"/>
          </p:nvPr>
        </p:nvSpPr>
        <p:spPr>
          <a:xfrm>
            <a:off x="1281113" y="2841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七、锁的粒度</a:t>
            </a:r>
          </a:p>
        </p:txBody>
      </p:sp>
      <p:sp>
        <p:nvSpPr>
          <p:cNvPr id="518147" name="Rectangle 3"/>
          <p:cNvSpPr>
            <a:spLocks noChangeArrowheads="1"/>
          </p:cNvSpPr>
          <p:nvPr/>
        </p:nvSpPr>
        <p:spPr bwMode="auto">
          <a:xfrm>
            <a:off x="611188" y="1196975"/>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、多粒度锁</a:t>
            </a:r>
            <a:endParaRPr lang="en-US" altLang="zh-CN" sz="3200">
              <a:solidFill>
                <a:srgbClr val="660033"/>
              </a:solidFill>
              <a:ea typeface="华文新魏" panose="02010800040101010101" pitchFamily="2" charset="-122"/>
            </a:endParaRPr>
          </a:p>
        </p:txBody>
      </p:sp>
      <p:sp>
        <p:nvSpPr>
          <p:cNvPr id="518148" name="AutoShape 4"/>
          <p:cNvSpPr>
            <a:spLocks noChangeArrowheads="1"/>
          </p:cNvSpPr>
          <p:nvPr/>
        </p:nvSpPr>
        <p:spPr bwMode="auto">
          <a:xfrm>
            <a:off x="323850" y="2133600"/>
            <a:ext cx="4176713" cy="417512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50000"/>
              </a:spcBef>
            </a:pPr>
            <a:r>
              <a:rPr lang="zh-CN" altLang="en-US" sz="2600" b="1">
                <a:effectLst>
                  <a:outerShdw blurRad="38100" dist="38100" dir="2700000" algn="tl">
                    <a:srgbClr val="C0C0C0"/>
                  </a:outerShdw>
                </a:effectLst>
                <a:latin typeface="楷体_GB2312" pitchFamily="49" charset="-122"/>
                <a:ea typeface="楷体_GB2312" pitchFamily="49" charset="-122"/>
              </a:rPr>
              <a:t>  如果在一个系统中可同时提供多种锁粒度供不同的事务选择，则称这种加锁方法为</a:t>
            </a:r>
            <a:r>
              <a:rPr lang="zh-CN" altLang="en-US" sz="2600" b="1">
                <a:solidFill>
                  <a:schemeClr val="hlink"/>
                </a:solidFill>
                <a:effectLst>
                  <a:outerShdw blurRad="38100" dist="38100" dir="2700000" algn="tl">
                    <a:srgbClr val="C0C0C0"/>
                  </a:outerShdw>
                </a:effectLst>
                <a:latin typeface="楷体_GB2312" pitchFamily="49" charset="-122"/>
                <a:ea typeface="楷体_GB2312" pitchFamily="49" charset="-122"/>
              </a:rPr>
              <a:t>多粒度锁</a:t>
            </a:r>
            <a:r>
              <a:rPr lang="zh-CN" altLang="en-US" sz="2600" b="1">
                <a:effectLst>
                  <a:outerShdw blurRad="38100" dist="38100" dir="2700000" algn="tl">
                    <a:srgbClr val="C0C0C0"/>
                  </a:outerShdw>
                </a:effectLst>
                <a:latin typeface="楷体_GB2312" pitchFamily="49" charset="-122"/>
                <a:ea typeface="楷体_GB2312" pitchFamily="49" charset="-122"/>
              </a:rPr>
              <a:t>。</a:t>
            </a:r>
          </a:p>
          <a:p>
            <a:pPr>
              <a:lnSpc>
                <a:spcPct val="120000"/>
              </a:lnSpc>
              <a:spcBef>
                <a:spcPct val="50000"/>
              </a:spcBef>
            </a:pPr>
            <a:r>
              <a:rPr lang="zh-CN" altLang="en-US" sz="2600" b="1">
                <a:effectLst>
                  <a:outerShdw blurRad="38100" dist="38100" dir="2700000" algn="tl">
                    <a:srgbClr val="C0C0C0"/>
                  </a:outerShdw>
                </a:effectLst>
                <a:latin typeface="楷体_GB2312" pitchFamily="49" charset="-122"/>
                <a:ea typeface="楷体_GB2312" pitchFamily="49" charset="-122"/>
              </a:rPr>
              <a:t>  最优效果：选择锁粒度时，同时考虑锁系统开销和并发度两个因素。</a:t>
            </a:r>
          </a:p>
        </p:txBody>
      </p:sp>
      <p:sp>
        <p:nvSpPr>
          <p:cNvPr id="518149" name="Text Box 5"/>
          <p:cNvSpPr txBox="1">
            <a:spLocks noChangeArrowheads="1"/>
          </p:cNvSpPr>
          <p:nvPr/>
        </p:nvSpPr>
        <p:spPr bwMode="auto">
          <a:xfrm>
            <a:off x="6156325" y="2089150"/>
            <a:ext cx="133191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000" b="1">
                <a:effectLst>
                  <a:outerShdw blurRad="38100" dist="38100" dir="2700000" algn="tl">
                    <a:srgbClr val="C0C0C0"/>
                  </a:outerShdw>
                </a:effectLst>
                <a:ea typeface="楷体_GB2312" pitchFamily="49" charset="-122"/>
              </a:rPr>
              <a:t>数据库</a:t>
            </a:r>
          </a:p>
        </p:txBody>
      </p:sp>
      <p:sp>
        <p:nvSpPr>
          <p:cNvPr id="518150" name="Text Box 6"/>
          <p:cNvSpPr txBox="1">
            <a:spLocks noChangeArrowheads="1"/>
          </p:cNvSpPr>
          <p:nvPr/>
        </p:nvSpPr>
        <p:spPr bwMode="auto">
          <a:xfrm>
            <a:off x="5148263" y="3419475"/>
            <a:ext cx="13652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000" b="1">
                <a:effectLst>
                  <a:outerShdw blurRad="38100" dist="38100" dir="2700000" algn="tl">
                    <a:srgbClr val="C0C0C0"/>
                  </a:outerShdw>
                </a:effectLst>
                <a:ea typeface="楷体_GB2312" pitchFamily="49" charset="-122"/>
              </a:rPr>
              <a:t>关系</a:t>
            </a:r>
            <a:r>
              <a:rPr lang="en-US" altLang="zh-CN" sz="3000" b="1">
                <a:effectLst>
                  <a:outerShdw blurRad="38100" dist="38100" dir="2700000" algn="tl">
                    <a:srgbClr val="C0C0C0"/>
                  </a:outerShdw>
                </a:effectLst>
                <a:ea typeface="楷体_GB2312" pitchFamily="49" charset="-122"/>
              </a:rPr>
              <a:t>R</a:t>
            </a:r>
            <a:r>
              <a:rPr lang="en-US" altLang="zh-CN" sz="3000" b="1" baseline="-25000">
                <a:effectLst>
                  <a:outerShdw blurRad="38100" dist="38100" dir="2700000" algn="tl">
                    <a:srgbClr val="C0C0C0"/>
                  </a:outerShdw>
                </a:effectLst>
                <a:ea typeface="楷体_GB2312" pitchFamily="49" charset="-122"/>
              </a:rPr>
              <a:t>1</a:t>
            </a:r>
          </a:p>
        </p:txBody>
      </p:sp>
      <p:sp>
        <p:nvSpPr>
          <p:cNvPr id="518151" name="Text Box 7"/>
          <p:cNvSpPr txBox="1">
            <a:spLocks noChangeArrowheads="1"/>
          </p:cNvSpPr>
          <p:nvPr/>
        </p:nvSpPr>
        <p:spPr bwMode="auto">
          <a:xfrm>
            <a:off x="7091363" y="3397250"/>
            <a:ext cx="13795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000" b="1">
                <a:effectLst>
                  <a:outerShdw blurRad="38100" dist="38100" dir="2700000" algn="tl">
                    <a:srgbClr val="C0C0C0"/>
                  </a:outerShdw>
                </a:effectLst>
                <a:ea typeface="楷体_GB2312" pitchFamily="49" charset="-122"/>
              </a:rPr>
              <a:t>关系</a:t>
            </a:r>
            <a:r>
              <a:rPr lang="en-US" altLang="zh-CN" sz="3000" b="1">
                <a:effectLst>
                  <a:outerShdw blurRad="38100" dist="38100" dir="2700000" algn="tl">
                    <a:srgbClr val="C0C0C0"/>
                  </a:outerShdw>
                </a:effectLst>
                <a:ea typeface="楷体_GB2312" pitchFamily="49" charset="-122"/>
              </a:rPr>
              <a:t>R</a:t>
            </a:r>
            <a:r>
              <a:rPr lang="en-US" altLang="zh-CN" sz="3000" b="1" baseline="-25000">
                <a:effectLst>
                  <a:outerShdw blurRad="38100" dist="38100" dir="2700000" algn="tl">
                    <a:srgbClr val="C0C0C0"/>
                  </a:outerShdw>
                </a:effectLst>
                <a:ea typeface="楷体_GB2312" pitchFamily="49" charset="-122"/>
              </a:rPr>
              <a:t>n</a:t>
            </a:r>
          </a:p>
        </p:txBody>
      </p:sp>
      <p:sp>
        <p:nvSpPr>
          <p:cNvPr id="518152" name="Text Box 8"/>
          <p:cNvSpPr txBox="1">
            <a:spLocks noChangeArrowheads="1"/>
          </p:cNvSpPr>
          <p:nvPr/>
        </p:nvSpPr>
        <p:spPr bwMode="auto">
          <a:xfrm>
            <a:off x="4572000" y="4724400"/>
            <a:ext cx="20955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700" b="1">
                <a:effectLst>
                  <a:outerShdw blurRad="38100" dist="38100" dir="2700000" algn="tl">
                    <a:srgbClr val="C0C0C0"/>
                  </a:outerShdw>
                </a:effectLst>
                <a:ea typeface="楷体_GB2312" pitchFamily="49" charset="-122"/>
              </a:rPr>
              <a:t>元组 </a:t>
            </a:r>
            <a:r>
              <a:rPr lang="en-US" altLang="zh-CN" sz="2700" b="1">
                <a:effectLst>
                  <a:outerShdw blurRad="38100" dist="38100" dir="2700000" algn="tl">
                    <a:srgbClr val="C0C0C0"/>
                  </a:outerShdw>
                </a:effectLst>
                <a:ea typeface="楷体_GB2312" pitchFamily="49" charset="-122"/>
              </a:rPr>
              <a:t>… </a:t>
            </a:r>
            <a:r>
              <a:rPr lang="zh-CN" altLang="en-US" sz="2700" b="1">
                <a:effectLst>
                  <a:outerShdw blurRad="38100" dist="38100" dir="2700000" algn="tl">
                    <a:srgbClr val="C0C0C0"/>
                  </a:outerShdw>
                </a:effectLst>
                <a:ea typeface="楷体_GB2312" pitchFamily="49" charset="-122"/>
              </a:rPr>
              <a:t>元组</a:t>
            </a:r>
          </a:p>
        </p:txBody>
      </p:sp>
      <p:sp>
        <p:nvSpPr>
          <p:cNvPr id="518153" name="Text Box 9"/>
          <p:cNvSpPr txBox="1">
            <a:spLocks noChangeArrowheads="1"/>
          </p:cNvSpPr>
          <p:nvPr/>
        </p:nvSpPr>
        <p:spPr bwMode="auto">
          <a:xfrm>
            <a:off x="6940550" y="4751388"/>
            <a:ext cx="20955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700" b="1">
                <a:effectLst>
                  <a:outerShdw blurRad="38100" dist="38100" dir="2700000" algn="tl">
                    <a:srgbClr val="C0C0C0"/>
                  </a:outerShdw>
                </a:effectLst>
                <a:ea typeface="楷体_GB2312" pitchFamily="49" charset="-122"/>
              </a:rPr>
              <a:t>元组 </a:t>
            </a:r>
            <a:r>
              <a:rPr lang="en-US" altLang="zh-CN" sz="2700" b="1">
                <a:effectLst>
                  <a:outerShdw blurRad="38100" dist="38100" dir="2700000" algn="tl">
                    <a:srgbClr val="C0C0C0"/>
                  </a:outerShdw>
                </a:effectLst>
                <a:ea typeface="楷体_GB2312" pitchFamily="49" charset="-122"/>
              </a:rPr>
              <a:t>… </a:t>
            </a:r>
            <a:r>
              <a:rPr lang="zh-CN" altLang="en-US" sz="2700" b="1">
                <a:effectLst>
                  <a:outerShdw blurRad="38100" dist="38100" dir="2700000" algn="tl">
                    <a:srgbClr val="C0C0C0"/>
                  </a:outerShdw>
                </a:effectLst>
                <a:ea typeface="楷体_GB2312" pitchFamily="49" charset="-122"/>
              </a:rPr>
              <a:t>元组</a:t>
            </a:r>
          </a:p>
        </p:txBody>
      </p:sp>
      <p:sp>
        <p:nvSpPr>
          <p:cNvPr id="518154" name="Line 10"/>
          <p:cNvSpPr>
            <a:spLocks noChangeShapeType="1"/>
          </p:cNvSpPr>
          <p:nvPr/>
        </p:nvSpPr>
        <p:spPr bwMode="auto">
          <a:xfrm flipH="1">
            <a:off x="5940425" y="2600325"/>
            <a:ext cx="863600" cy="863600"/>
          </a:xfrm>
          <a:prstGeom prst="line">
            <a:avLst/>
          </a:prstGeom>
          <a:noFill/>
          <a:ln w="508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55" name="Line 11"/>
          <p:cNvSpPr>
            <a:spLocks noChangeShapeType="1"/>
          </p:cNvSpPr>
          <p:nvPr/>
        </p:nvSpPr>
        <p:spPr bwMode="auto">
          <a:xfrm>
            <a:off x="6804025" y="2600325"/>
            <a:ext cx="863600" cy="863600"/>
          </a:xfrm>
          <a:prstGeom prst="line">
            <a:avLst/>
          </a:prstGeom>
          <a:noFill/>
          <a:ln w="508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56" name="Line 12"/>
          <p:cNvSpPr>
            <a:spLocks noChangeShapeType="1"/>
          </p:cNvSpPr>
          <p:nvPr/>
        </p:nvSpPr>
        <p:spPr bwMode="auto">
          <a:xfrm flipH="1">
            <a:off x="5076825" y="3895725"/>
            <a:ext cx="719138" cy="865188"/>
          </a:xfrm>
          <a:prstGeom prst="line">
            <a:avLst/>
          </a:prstGeom>
          <a:noFill/>
          <a:ln w="508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57" name="Line 13"/>
          <p:cNvSpPr>
            <a:spLocks noChangeShapeType="1"/>
          </p:cNvSpPr>
          <p:nvPr/>
        </p:nvSpPr>
        <p:spPr bwMode="auto">
          <a:xfrm>
            <a:off x="5795963" y="3895725"/>
            <a:ext cx="431800" cy="936625"/>
          </a:xfrm>
          <a:prstGeom prst="line">
            <a:avLst/>
          </a:prstGeom>
          <a:noFill/>
          <a:ln w="508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58" name="Line 14"/>
          <p:cNvSpPr>
            <a:spLocks noChangeShapeType="1"/>
          </p:cNvSpPr>
          <p:nvPr/>
        </p:nvSpPr>
        <p:spPr bwMode="auto">
          <a:xfrm flipH="1">
            <a:off x="7380288" y="3895725"/>
            <a:ext cx="504825" cy="936625"/>
          </a:xfrm>
          <a:prstGeom prst="line">
            <a:avLst/>
          </a:prstGeom>
          <a:noFill/>
          <a:ln w="508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59" name="Line 15"/>
          <p:cNvSpPr>
            <a:spLocks noChangeShapeType="1"/>
          </p:cNvSpPr>
          <p:nvPr/>
        </p:nvSpPr>
        <p:spPr bwMode="auto">
          <a:xfrm>
            <a:off x="7885113" y="3895725"/>
            <a:ext cx="647700" cy="936625"/>
          </a:xfrm>
          <a:prstGeom prst="line">
            <a:avLst/>
          </a:prstGeom>
          <a:noFill/>
          <a:ln w="508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60" name="Text Box 16"/>
          <p:cNvSpPr txBox="1">
            <a:spLocks noChangeArrowheads="1"/>
          </p:cNvSpPr>
          <p:nvPr/>
        </p:nvSpPr>
        <p:spPr bwMode="auto">
          <a:xfrm>
            <a:off x="5940425" y="5589588"/>
            <a:ext cx="171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effectLst>
                  <a:outerShdw blurRad="38100" dist="38100" dir="2700000" algn="tl">
                    <a:srgbClr val="C0C0C0"/>
                  </a:outerShdw>
                </a:effectLst>
              </a:rPr>
              <a:t>三级粒度树</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848"/>
    </mc:Choice>
    <mc:Fallback xmlns="">
      <p:transition spd="slow" advTm="398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8147"/>
                                        </p:tgtEl>
                                        <p:attrNameLst>
                                          <p:attrName>style.visibility</p:attrName>
                                        </p:attrNameLst>
                                      </p:cBhvr>
                                      <p:to>
                                        <p:strVal val="visible"/>
                                      </p:to>
                                    </p:set>
                                    <p:animEffect transition="in" filter="wipe(left)">
                                      <p:cBhvr>
                                        <p:cTn id="7" dur="1000"/>
                                        <p:tgtEl>
                                          <p:spTgt spid="5181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8148">
                                            <p:bg/>
                                          </p:spTgt>
                                        </p:tgtEl>
                                        <p:attrNameLst>
                                          <p:attrName>style.visibility</p:attrName>
                                        </p:attrNameLst>
                                      </p:cBhvr>
                                      <p:to>
                                        <p:strVal val="visible"/>
                                      </p:to>
                                    </p:set>
                                    <p:animEffect transition="in" filter="wipe(up)">
                                      <p:cBhvr>
                                        <p:cTn id="12" dur="500"/>
                                        <p:tgtEl>
                                          <p:spTgt spid="518148">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8148">
                                            <p:txEl>
                                              <p:pRg st="0" end="0"/>
                                            </p:txEl>
                                          </p:spTgt>
                                        </p:tgtEl>
                                        <p:attrNameLst>
                                          <p:attrName>style.visibility</p:attrName>
                                        </p:attrNameLst>
                                      </p:cBhvr>
                                      <p:to>
                                        <p:strVal val="visible"/>
                                      </p:to>
                                    </p:set>
                                    <p:animEffect transition="in" filter="wipe(up)">
                                      <p:cBhvr>
                                        <p:cTn id="17" dur="500"/>
                                        <p:tgtEl>
                                          <p:spTgt spid="51814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8148">
                                            <p:txEl>
                                              <p:pRg st="1" end="1"/>
                                            </p:txEl>
                                          </p:spTgt>
                                        </p:tgtEl>
                                        <p:attrNameLst>
                                          <p:attrName>style.visibility</p:attrName>
                                        </p:attrNameLst>
                                      </p:cBhvr>
                                      <p:to>
                                        <p:strVal val="visible"/>
                                      </p:to>
                                    </p:set>
                                    <p:animEffect transition="in" filter="wipe(up)">
                                      <p:cBhvr>
                                        <p:cTn id="22" dur="500"/>
                                        <p:tgtEl>
                                          <p:spTgt spid="51814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8149"/>
                                        </p:tgtEl>
                                        <p:attrNameLst>
                                          <p:attrName>style.visibility</p:attrName>
                                        </p:attrNameLst>
                                      </p:cBhvr>
                                      <p:to>
                                        <p:strVal val="visible"/>
                                      </p:to>
                                    </p:set>
                                    <p:animEffect transition="in" filter="wipe(up)">
                                      <p:cBhvr>
                                        <p:cTn id="27" dur="500"/>
                                        <p:tgtEl>
                                          <p:spTgt spid="5181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518154"/>
                                        </p:tgtEl>
                                        <p:attrNameLst>
                                          <p:attrName>style.visibility</p:attrName>
                                        </p:attrNameLst>
                                      </p:cBhvr>
                                      <p:to>
                                        <p:strVal val="visible"/>
                                      </p:to>
                                    </p:set>
                                    <p:animEffect transition="in" filter="wipe(up)">
                                      <p:cBhvr>
                                        <p:cTn id="32" dur="500"/>
                                        <p:tgtEl>
                                          <p:spTgt spid="518154"/>
                                        </p:tgtEl>
                                      </p:cBhvr>
                                    </p:animEffect>
                                  </p:childTnLst>
                                </p:cTn>
                              </p:par>
                              <p:par>
                                <p:cTn id="33" presetID="22" presetClass="entr" presetSubtype="1" fill="hold" nodeType="withEffect">
                                  <p:stCondLst>
                                    <p:cond delay="0"/>
                                  </p:stCondLst>
                                  <p:childTnLst>
                                    <p:set>
                                      <p:cBhvr>
                                        <p:cTn id="34" dur="1" fill="hold">
                                          <p:stCondLst>
                                            <p:cond delay="0"/>
                                          </p:stCondLst>
                                        </p:cTn>
                                        <p:tgtEl>
                                          <p:spTgt spid="518155"/>
                                        </p:tgtEl>
                                        <p:attrNameLst>
                                          <p:attrName>style.visibility</p:attrName>
                                        </p:attrNameLst>
                                      </p:cBhvr>
                                      <p:to>
                                        <p:strVal val="visible"/>
                                      </p:to>
                                    </p:set>
                                    <p:animEffect transition="in" filter="wipe(up)">
                                      <p:cBhvr>
                                        <p:cTn id="35" dur="500"/>
                                        <p:tgtEl>
                                          <p:spTgt spid="518155"/>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518150"/>
                                        </p:tgtEl>
                                        <p:attrNameLst>
                                          <p:attrName>style.visibility</p:attrName>
                                        </p:attrNameLst>
                                      </p:cBhvr>
                                      <p:to>
                                        <p:strVal val="visible"/>
                                      </p:to>
                                    </p:set>
                                    <p:animEffect transition="in" filter="wipe(up)">
                                      <p:cBhvr>
                                        <p:cTn id="39" dur="500"/>
                                        <p:tgtEl>
                                          <p:spTgt spid="518150"/>
                                        </p:tgtEl>
                                      </p:cBhvr>
                                    </p:animEffect>
                                  </p:childTnLst>
                                </p:cTn>
                              </p:par>
                              <p:par>
                                <p:cTn id="40" presetID="22" presetClass="entr" presetSubtype="1" fill="hold" nodeType="withEffect">
                                  <p:stCondLst>
                                    <p:cond delay="0"/>
                                  </p:stCondLst>
                                  <p:childTnLst>
                                    <p:set>
                                      <p:cBhvr>
                                        <p:cTn id="41" dur="1" fill="hold">
                                          <p:stCondLst>
                                            <p:cond delay="0"/>
                                          </p:stCondLst>
                                        </p:cTn>
                                        <p:tgtEl>
                                          <p:spTgt spid="518151"/>
                                        </p:tgtEl>
                                        <p:attrNameLst>
                                          <p:attrName>style.visibility</p:attrName>
                                        </p:attrNameLst>
                                      </p:cBhvr>
                                      <p:to>
                                        <p:strVal val="visible"/>
                                      </p:to>
                                    </p:set>
                                    <p:animEffect transition="in" filter="wipe(up)">
                                      <p:cBhvr>
                                        <p:cTn id="42" dur="500"/>
                                        <p:tgtEl>
                                          <p:spTgt spid="51815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18156"/>
                                        </p:tgtEl>
                                        <p:attrNameLst>
                                          <p:attrName>style.visibility</p:attrName>
                                        </p:attrNameLst>
                                      </p:cBhvr>
                                      <p:to>
                                        <p:strVal val="visible"/>
                                      </p:to>
                                    </p:set>
                                    <p:animEffect transition="in" filter="wipe(up)">
                                      <p:cBhvr>
                                        <p:cTn id="47" dur="500"/>
                                        <p:tgtEl>
                                          <p:spTgt spid="518156"/>
                                        </p:tgtEl>
                                      </p:cBhvr>
                                    </p:animEffect>
                                  </p:childTnLst>
                                </p:cTn>
                              </p:par>
                              <p:par>
                                <p:cTn id="48" presetID="22" presetClass="entr" presetSubtype="1" fill="hold" nodeType="withEffect">
                                  <p:stCondLst>
                                    <p:cond delay="0"/>
                                  </p:stCondLst>
                                  <p:childTnLst>
                                    <p:set>
                                      <p:cBhvr>
                                        <p:cTn id="49" dur="1" fill="hold">
                                          <p:stCondLst>
                                            <p:cond delay="0"/>
                                          </p:stCondLst>
                                        </p:cTn>
                                        <p:tgtEl>
                                          <p:spTgt spid="518157"/>
                                        </p:tgtEl>
                                        <p:attrNameLst>
                                          <p:attrName>style.visibility</p:attrName>
                                        </p:attrNameLst>
                                      </p:cBhvr>
                                      <p:to>
                                        <p:strVal val="visible"/>
                                      </p:to>
                                    </p:set>
                                    <p:animEffect transition="in" filter="wipe(up)">
                                      <p:cBhvr>
                                        <p:cTn id="50" dur="500"/>
                                        <p:tgtEl>
                                          <p:spTgt spid="518157"/>
                                        </p:tgtEl>
                                      </p:cBhvr>
                                    </p:animEffect>
                                  </p:childTnLst>
                                </p:cTn>
                              </p:par>
                              <p:par>
                                <p:cTn id="51" presetID="22" presetClass="entr" presetSubtype="1" fill="hold" nodeType="withEffect">
                                  <p:stCondLst>
                                    <p:cond delay="0"/>
                                  </p:stCondLst>
                                  <p:childTnLst>
                                    <p:set>
                                      <p:cBhvr>
                                        <p:cTn id="52" dur="1" fill="hold">
                                          <p:stCondLst>
                                            <p:cond delay="0"/>
                                          </p:stCondLst>
                                        </p:cTn>
                                        <p:tgtEl>
                                          <p:spTgt spid="518152"/>
                                        </p:tgtEl>
                                        <p:attrNameLst>
                                          <p:attrName>style.visibility</p:attrName>
                                        </p:attrNameLst>
                                      </p:cBhvr>
                                      <p:to>
                                        <p:strVal val="visible"/>
                                      </p:to>
                                    </p:set>
                                    <p:animEffect transition="in" filter="wipe(up)">
                                      <p:cBhvr>
                                        <p:cTn id="53" dur="500"/>
                                        <p:tgtEl>
                                          <p:spTgt spid="51815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518158"/>
                                        </p:tgtEl>
                                        <p:attrNameLst>
                                          <p:attrName>style.visibility</p:attrName>
                                        </p:attrNameLst>
                                      </p:cBhvr>
                                      <p:to>
                                        <p:strVal val="visible"/>
                                      </p:to>
                                    </p:set>
                                    <p:animEffect transition="in" filter="wipe(up)">
                                      <p:cBhvr>
                                        <p:cTn id="58" dur="500"/>
                                        <p:tgtEl>
                                          <p:spTgt spid="518158"/>
                                        </p:tgtEl>
                                      </p:cBhvr>
                                    </p:animEffect>
                                  </p:childTnLst>
                                </p:cTn>
                              </p:par>
                              <p:par>
                                <p:cTn id="59" presetID="22" presetClass="entr" presetSubtype="1" fill="hold" nodeType="withEffect">
                                  <p:stCondLst>
                                    <p:cond delay="0"/>
                                  </p:stCondLst>
                                  <p:childTnLst>
                                    <p:set>
                                      <p:cBhvr>
                                        <p:cTn id="60" dur="1" fill="hold">
                                          <p:stCondLst>
                                            <p:cond delay="0"/>
                                          </p:stCondLst>
                                        </p:cTn>
                                        <p:tgtEl>
                                          <p:spTgt spid="518159"/>
                                        </p:tgtEl>
                                        <p:attrNameLst>
                                          <p:attrName>style.visibility</p:attrName>
                                        </p:attrNameLst>
                                      </p:cBhvr>
                                      <p:to>
                                        <p:strVal val="visible"/>
                                      </p:to>
                                    </p:set>
                                    <p:animEffect transition="in" filter="wipe(up)">
                                      <p:cBhvr>
                                        <p:cTn id="61" dur="500"/>
                                        <p:tgtEl>
                                          <p:spTgt spid="518159"/>
                                        </p:tgtEl>
                                      </p:cBhvr>
                                    </p:animEffect>
                                  </p:childTnLst>
                                </p:cTn>
                              </p:par>
                              <p:par>
                                <p:cTn id="62" presetID="22" presetClass="entr" presetSubtype="1" fill="hold" nodeType="withEffect">
                                  <p:stCondLst>
                                    <p:cond delay="0"/>
                                  </p:stCondLst>
                                  <p:childTnLst>
                                    <p:set>
                                      <p:cBhvr>
                                        <p:cTn id="63" dur="1" fill="hold">
                                          <p:stCondLst>
                                            <p:cond delay="0"/>
                                          </p:stCondLst>
                                        </p:cTn>
                                        <p:tgtEl>
                                          <p:spTgt spid="518153"/>
                                        </p:tgtEl>
                                        <p:attrNameLst>
                                          <p:attrName>style.visibility</p:attrName>
                                        </p:attrNameLst>
                                      </p:cBhvr>
                                      <p:to>
                                        <p:strVal val="visible"/>
                                      </p:to>
                                    </p:set>
                                    <p:animEffect transition="in" filter="wipe(up)">
                                      <p:cBhvr>
                                        <p:cTn id="64" dur="500"/>
                                        <p:tgtEl>
                                          <p:spTgt spid="518153"/>
                                        </p:tgtEl>
                                      </p:cBhvr>
                                    </p:animEffect>
                                  </p:childTnLst>
                                </p:cTn>
                              </p:par>
                              <p:par>
                                <p:cTn id="65" presetID="22" presetClass="entr" presetSubtype="1" fill="hold" nodeType="withEffect">
                                  <p:stCondLst>
                                    <p:cond delay="0"/>
                                  </p:stCondLst>
                                  <p:childTnLst>
                                    <p:set>
                                      <p:cBhvr>
                                        <p:cTn id="66" dur="1" fill="hold">
                                          <p:stCondLst>
                                            <p:cond delay="0"/>
                                          </p:stCondLst>
                                        </p:cTn>
                                        <p:tgtEl>
                                          <p:spTgt spid="518160"/>
                                        </p:tgtEl>
                                        <p:attrNameLst>
                                          <p:attrName>style.visibility</p:attrName>
                                        </p:attrNameLst>
                                      </p:cBhvr>
                                      <p:to>
                                        <p:strVal val="visible"/>
                                      </p:to>
                                    </p:set>
                                    <p:animEffect transition="in" filter="wipe(up)">
                                      <p:cBhvr>
                                        <p:cTn id="67" dur="500"/>
                                        <p:tgtEl>
                                          <p:spTgt spid="518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7" grpId="0"/>
      <p:bldP spid="518148" grpId="0" build="p" animBg="1"/>
      <p:bldP spid="51814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Rot="1" noChangeArrowheads="1"/>
          </p:cNvSpPr>
          <p:nvPr>
            <p:ph type="title"/>
          </p:nvPr>
        </p:nvSpPr>
        <p:spPr>
          <a:xfrm>
            <a:off x="1281113" y="2841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七、锁的粒度</a:t>
            </a:r>
          </a:p>
        </p:txBody>
      </p:sp>
      <p:sp>
        <p:nvSpPr>
          <p:cNvPr id="519171" name="Rectangle 3"/>
          <p:cNvSpPr>
            <a:spLocks noChangeArrowheads="1"/>
          </p:cNvSpPr>
          <p:nvPr/>
        </p:nvSpPr>
        <p:spPr bwMode="auto">
          <a:xfrm>
            <a:off x="611188" y="1125538"/>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1</a:t>
            </a:r>
            <a:r>
              <a:rPr lang="zh-CN" altLang="en-US" sz="3200">
                <a:solidFill>
                  <a:srgbClr val="660033"/>
                </a:solidFill>
                <a:ea typeface="华文新魏" panose="02010800040101010101" pitchFamily="2" charset="-122"/>
              </a:rPr>
              <a:t>、多粒度锁</a:t>
            </a:r>
            <a:endParaRPr lang="en-US" altLang="zh-CN" sz="3200">
              <a:solidFill>
                <a:srgbClr val="660033"/>
              </a:solidFill>
              <a:ea typeface="华文新魏" panose="02010800040101010101" pitchFamily="2" charset="-122"/>
            </a:endParaRPr>
          </a:p>
        </p:txBody>
      </p:sp>
      <p:sp>
        <p:nvSpPr>
          <p:cNvPr id="519172" name="AutoShape 4"/>
          <p:cNvSpPr>
            <a:spLocks noChangeArrowheads="1"/>
          </p:cNvSpPr>
          <p:nvPr/>
        </p:nvSpPr>
        <p:spPr bwMode="auto">
          <a:xfrm>
            <a:off x="396875" y="1916113"/>
            <a:ext cx="8351838" cy="4681537"/>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spcBef>
                <a:spcPct val="50000"/>
              </a:spcBef>
            </a:pPr>
            <a:r>
              <a:rPr lang="zh-CN" altLang="en-US" sz="2600" b="1">
                <a:effectLst>
                  <a:outerShdw blurRad="38100" dist="38100" dir="2700000" algn="tl">
                    <a:srgbClr val="C0C0C0"/>
                  </a:outerShdw>
                </a:effectLst>
                <a:latin typeface="楷体_GB2312" pitchFamily="49" charset="-122"/>
                <a:ea typeface="楷体_GB2312" pitchFamily="49" charset="-122"/>
              </a:rPr>
              <a:t>  多粒度锁协议允许多粒度树中的每个结点被独立地加锁。对一个结点加锁意味着这个结点的所有后裔结点也被加以同样类型的锁。</a:t>
            </a:r>
          </a:p>
          <a:p>
            <a:pPr>
              <a:lnSpc>
                <a:spcPct val="120000"/>
              </a:lnSpc>
              <a:spcBef>
                <a:spcPct val="50000"/>
              </a:spcBef>
            </a:pPr>
            <a:r>
              <a:rPr lang="zh-CN" altLang="en-US" sz="2600" b="1">
                <a:effectLst>
                  <a:outerShdw blurRad="38100" dist="38100" dir="2700000" algn="tl">
                    <a:srgbClr val="C0C0C0"/>
                  </a:outerShdw>
                </a:effectLst>
                <a:latin typeface="楷体_GB2312" pitchFamily="49" charset="-122"/>
                <a:ea typeface="楷体_GB2312" pitchFamily="49" charset="-122"/>
              </a:rPr>
              <a:t>   </a:t>
            </a:r>
            <a:r>
              <a:rPr lang="zh-CN" altLang="en-US" sz="2600" b="1">
                <a:solidFill>
                  <a:srgbClr val="0000FF"/>
                </a:solidFill>
                <a:effectLst>
                  <a:outerShdw blurRad="38100" dist="38100" dir="2700000" algn="tl">
                    <a:srgbClr val="C0C0C0"/>
                  </a:outerShdw>
                </a:effectLst>
                <a:latin typeface="楷体_GB2312" pitchFamily="49" charset="-122"/>
                <a:ea typeface="楷体_GB2312" pitchFamily="49" charset="-122"/>
              </a:rPr>
              <a:t>显式锁：</a:t>
            </a:r>
            <a:r>
              <a:rPr lang="zh-CN" altLang="en-US" sz="2600" b="1">
                <a:effectLst>
                  <a:outerShdw blurRad="38100" dist="38100" dir="2700000" algn="tl">
                    <a:srgbClr val="C0C0C0"/>
                  </a:outerShdw>
                </a:effectLst>
                <a:latin typeface="楷体_GB2312" pitchFamily="49" charset="-122"/>
                <a:ea typeface="楷体_GB2312" pitchFamily="49" charset="-122"/>
              </a:rPr>
              <a:t>事务的请求直接加到数据项上的锁；</a:t>
            </a:r>
          </a:p>
          <a:p>
            <a:pPr>
              <a:lnSpc>
                <a:spcPct val="120000"/>
              </a:lnSpc>
              <a:spcBef>
                <a:spcPct val="50000"/>
              </a:spcBef>
            </a:pPr>
            <a:r>
              <a:rPr lang="zh-CN" altLang="en-US" sz="2600" b="1">
                <a:effectLst>
                  <a:outerShdw blurRad="38100" dist="38100" dir="2700000" algn="tl">
                    <a:srgbClr val="C0C0C0"/>
                  </a:outerShdw>
                </a:effectLst>
                <a:latin typeface="楷体_GB2312" pitchFamily="49" charset="-122"/>
                <a:ea typeface="楷体_GB2312" pitchFamily="49" charset="-122"/>
              </a:rPr>
              <a:t>   </a:t>
            </a:r>
            <a:r>
              <a:rPr lang="zh-CN" altLang="en-US" sz="2600" b="1">
                <a:solidFill>
                  <a:srgbClr val="009900"/>
                </a:solidFill>
                <a:effectLst>
                  <a:outerShdw blurRad="38100" dist="38100" dir="2700000" algn="tl">
                    <a:srgbClr val="C0C0C0"/>
                  </a:outerShdw>
                </a:effectLst>
                <a:latin typeface="楷体_GB2312" pitchFamily="49" charset="-122"/>
                <a:ea typeface="楷体_GB2312" pitchFamily="49" charset="-122"/>
              </a:rPr>
              <a:t>隐式锁：</a:t>
            </a:r>
            <a:r>
              <a:rPr lang="zh-CN" altLang="en-US" sz="2600" b="1">
                <a:effectLst>
                  <a:outerShdw blurRad="38100" dist="38100" dir="2700000" algn="tl">
                    <a:srgbClr val="C0C0C0"/>
                  </a:outerShdw>
                </a:effectLst>
                <a:latin typeface="楷体_GB2312" pitchFamily="49" charset="-122"/>
                <a:ea typeface="楷体_GB2312" pitchFamily="49" charset="-122"/>
              </a:rPr>
              <a:t>该数据项没有独立加锁，但由于其上级结点加锁而使该数据项被加锁了。</a:t>
            </a:r>
          </a:p>
          <a:p>
            <a:pPr>
              <a:lnSpc>
                <a:spcPct val="120000"/>
              </a:lnSpc>
              <a:spcBef>
                <a:spcPct val="50000"/>
              </a:spcBef>
            </a:pPr>
            <a:r>
              <a:rPr lang="zh-CN" altLang="en-US" sz="2600" b="1">
                <a:effectLst>
                  <a:outerShdw blurRad="38100" dist="38100" dir="2700000" algn="tl">
                    <a:srgbClr val="C0C0C0"/>
                  </a:outerShdw>
                </a:effectLst>
                <a:latin typeface="楷体_GB2312" pitchFamily="49" charset="-122"/>
                <a:ea typeface="楷体_GB2312" pitchFamily="49" charset="-122"/>
              </a:rPr>
              <a:t>   </a:t>
            </a:r>
            <a:r>
              <a:rPr lang="zh-CN" altLang="en-US" sz="2600" b="1">
                <a:solidFill>
                  <a:schemeClr val="hlink"/>
                </a:solidFill>
                <a:effectLst>
                  <a:outerShdw blurRad="38100" dist="38100" dir="2700000" algn="tl">
                    <a:srgbClr val="C0C0C0"/>
                  </a:outerShdw>
                </a:effectLst>
                <a:latin typeface="楷体_GB2312" pitchFamily="49" charset="-122"/>
                <a:ea typeface="楷体_GB2312" pitchFamily="49" charset="-122"/>
              </a:rPr>
              <a:t>加锁检查：</a:t>
            </a:r>
            <a:r>
              <a:rPr lang="zh-CN" altLang="en-US" sz="2600" b="1">
                <a:effectLst>
                  <a:outerShdw blurRad="38100" dist="38100" dir="2700000" algn="tl">
                    <a:srgbClr val="C0C0C0"/>
                  </a:outerShdw>
                </a:effectLst>
                <a:latin typeface="楷体_GB2312" pitchFamily="49" charset="-122"/>
                <a:ea typeface="楷体_GB2312" pitchFamily="49" charset="-122"/>
              </a:rPr>
              <a:t>对数据项加锁时，既要检查是否有显式锁冲突，还要检查是否有隐式锁冲突。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299"/>
    </mc:Choice>
    <mc:Fallback xmlns="">
      <p:transition spd="slow" advTm="5029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9172">
                                            <p:bg/>
                                          </p:spTgt>
                                        </p:tgtEl>
                                        <p:attrNameLst>
                                          <p:attrName>style.visibility</p:attrName>
                                        </p:attrNameLst>
                                      </p:cBhvr>
                                      <p:to>
                                        <p:strVal val="visible"/>
                                      </p:to>
                                    </p:set>
                                    <p:animEffect transition="in" filter="wipe(up)">
                                      <p:cBhvr>
                                        <p:cTn id="7" dur="500"/>
                                        <p:tgtEl>
                                          <p:spTgt spid="519172">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9172">
                                            <p:txEl>
                                              <p:pRg st="0" end="0"/>
                                            </p:txEl>
                                          </p:spTgt>
                                        </p:tgtEl>
                                        <p:attrNameLst>
                                          <p:attrName>style.visibility</p:attrName>
                                        </p:attrNameLst>
                                      </p:cBhvr>
                                      <p:to>
                                        <p:strVal val="visible"/>
                                      </p:to>
                                    </p:set>
                                    <p:animEffect transition="in" filter="wipe(up)">
                                      <p:cBhvr>
                                        <p:cTn id="12" dur="500"/>
                                        <p:tgtEl>
                                          <p:spTgt spid="51917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9172">
                                            <p:txEl>
                                              <p:pRg st="1" end="1"/>
                                            </p:txEl>
                                          </p:spTgt>
                                        </p:tgtEl>
                                        <p:attrNameLst>
                                          <p:attrName>style.visibility</p:attrName>
                                        </p:attrNameLst>
                                      </p:cBhvr>
                                      <p:to>
                                        <p:strVal val="visible"/>
                                      </p:to>
                                    </p:set>
                                    <p:animEffect transition="in" filter="wipe(up)">
                                      <p:cBhvr>
                                        <p:cTn id="17" dur="500"/>
                                        <p:tgtEl>
                                          <p:spTgt spid="51917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9172">
                                            <p:txEl>
                                              <p:pRg st="2" end="2"/>
                                            </p:txEl>
                                          </p:spTgt>
                                        </p:tgtEl>
                                        <p:attrNameLst>
                                          <p:attrName>style.visibility</p:attrName>
                                        </p:attrNameLst>
                                      </p:cBhvr>
                                      <p:to>
                                        <p:strVal val="visible"/>
                                      </p:to>
                                    </p:set>
                                    <p:animEffect transition="in" filter="wipe(up)">
                                      <p:cBhvr>
                                        <p:cTn id="22" dur="500"/>
                                        <p:tgtEl>
                                          <p:spTgt spid="51917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9172">
                                            <p:txEl>
                                              <p:pRg st="3" end="3"/>
                                            </p:txEl>
                                          </p:spTgt>
                                        </p:tgtEl>
                                        <p:attrNameLst>
                                          <p:attrName>style.visibility</p:attrName>
                                        </p:attrNameLst>
                                      </p:cBhvr>
                                      <p:to>
                                        <p:strVal val="visible"/>
                                      </p:to>
                                    </p:set>
                                    <p:animEffect transition="in" filter="wipe(up)">
                                      <p:cBhvr>
                                        <p:cTn id="27" dur="500"/>
                                        <p:tgtEl>
                                          <p:spTgt spid="5191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2"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Rot="1" noChangeArrowheads="1"/>
          </p:cNvSpPr>
          <p:nvPr>
            <p:ph type="title"/>
          </p:nvPr>
        </p:nvSpPr>
        <p:spPr>
          <a:xfrm>
            <a:off x="1281113" y="2841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七、锁的粒度</a:t>
            </a:r>
          </a:p>
        </p:txBody>
      </p:sp>
      <p:sp>
        <p:nvSpPr>
          <p:cNvPr id="520195" name="AutoShape 3"/>
          <p:cNvSpPr>
            <a:spLocks noChangeArrowheads="1"/>
          </p:cNvSpPr>
          <p:nvPr/>
        </p:nvSpPr>
        <p:spPr bwMode="auto">
          <a:xfrm>
            <a:off x="396875" y="1844675"/>
            <a:ext cx="8351838" cy="482441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30000"/>
              </a:spcBef>
            </a:pPr>
            <a:r>
              <a:rPr lang="zh-CN" altLang="en-US" sz="2600" b="1">
                <a:effectLst>
                  <a:outerShdw blurRad="38100" dist="38100" dir="2700000" algn="tl">
                    <a:srgbClr val="C0C0C0"/>
                  </a:outerShdw>
                </a:effectLst>
                <a:latin typeface="楷体_GB2312" pitchFamily="49" charset="-122"/>
                <a:ea typeface="楷体_GB2312" pitchFamily="49" charset="-122"/>
              </a:rPr>
              <a:t>    </a:t>
            </a:r>
            <a:r>
              <a:rPr lang="zh-CN" altLang="en-US" sz="2600" b="1">
                <a:solidFill>
                  <a:schemeClr val="hlink"/>
                </a:solidFill>
                <a:effectLst>
                  <a:outerShdw blurRad="38100" dist="38100" dir="2700000" algn="tl">
                    <a:srgbClr val="C0C0C0"/>
                  </a:outerShdw>
                </a:effectLst>
                <a:latin typeface="楷体_GB2312" pitchFamily="49" charset="-122"/>
                <a:ea typeface="楷体_GB2312" pitchFamily="49" charset="-122"/>
              </a:rPr>
              <a:t>意向锁</a:t>
            </a:r>
            <a:r>
              <a:rPr lang="zh-CN" altLang="en-US" sz="2600" b="1">
                <a:effectLst>
                  <a:outerShdw blurRad="38100" dist="38100" dir="2700000" algn="tl">
                    <a:srgbClr val="C0C0C0"/>
                  </a:outerShdw>
                </a:effectLst>
                <a:latin typeface="楷体_GB2312" pitchFamily="49" charset="-122"/>
                <a:ea typeface="楷体_GB2312" pitchFamily="49" charset="-122"/>
              </a:rPr>
              <a:t>是指，如果对一个结点加意向锁，则说明该结点的下层结点正在被加锁；对任一结点加锁时，必须先对它的上层结点加意向锁。</a:t>
            </a:r>
          </a:p>
          <a:p>
            <a:pPr>
              <a:lnSpc>
                <a:spcPct val="110000"/>
              </a:lnSpc>
              <a:spcBef>
                <a:spcPct val="30000"/>
              </a:spcBef>
            </a:pPr>
            <a:r>
              <a:rPr lang="zh-CN" altLang="en-US" sz="2600" b="1">
                <a:effectLst>
                  <a:outerShdw blurRad="38100" dist="38100" dir="2700000" algn="tl">
                    <a:srgbClr val="C0C0C0"/>
                  </a:outerShdw>
                </a:effectLst>
                <a:latin typeface="楷体_GB2312" pitchFamily="49" charset="-122"/>
                <a:ea typeface="楷体_GB2312" pitchFamily="49" charset="-122"/>
              </a:rPr>
              <a:t>   例如，当某事务要对任一元组加锁时，必须先对该元组所在的关系加意向锁。这样，事务</a:t>
            </a:r>
            <a:r>
              <a:rPr lang="en-US" altLang="zh-CN" sz="2600" b="1">
                <a:effectLst>
                  <a:outerShdw blurRad="38100" dist="38100" dir="2700000" algn="tl">
                    <a:srgbClr val="C0C0C0"/>
                  </a:outerShdw>
                </a:effectLst>
                <a:latin typeface="楷体_GB2312" pitchFamily="49" charset="-122"/>
                <a:ea typeface="楷体_GB2312" pitchFamily="49" charset="-122"/>
              </a:rPr>
              <a:t>T</a:t>
            </a:r>
            <a:r>
              <a:rPr lang="zh-CN" altLang="en-US" sz="2600" b="1">
                <a:effectLst>
                  <a:outerShdw blurRad="38100" dist="38100" dir="2700000" algn="tl">
                    <a:srgbClr val="C0C0C0"/>
                  </a:outerShdw>
                </a:effectLst>
                <a:latin typeface="楷体_GB2312" pitchFamily="49" charset="-122"/>
                <a:ea typeface="楷体_GB2312" pitchFamily="49" charset="-122"/>
              </a:rPr>
              <a:t>要对关系</a:t>
            </a:r>
            <a:r>
              <a:rPr lang="en-US" altLang="zh-CN" sz="2600" b="1">
                <a:effectLst>
                  <a:outerShdw blurRad="38100" dist="38100" dir="2700000" algn="tl">
                    <a:srgbClr val="C0C0C0"/>
                  </a:outerShdw>
                </a:effectLst>
                <a:latin typeface="楷体_GB2312" pitchFamily="49" charset="-122"/>
                <a:ea typeface="楷体_GB2312" pitchFamily="49" charset="-122"/>
              </a:rPr>
              <a:t>R</a:t>
            </a:r>
            <a:r>
              <a:rPr lang="zh-CN" altLang="en-US" sz="2600" b="1">
                <a:effectLst>
                  <a:outerShdw blurRad="38100" dist="38100" dir="2700000" algn="tl">
                    <a:srgbClr val="C0C0C0"/>
                  </a:outerShdw>
                </a:effectLst>
                <a:latin typeface="楷体_GB2312" pitchFamily="49" charset="-122"/>
                <a:ea typeface="楷体_GB2312" pitchFamily="49" charset="-122"/>
              </a:rPr>
              <a:t>加</a:t>
            </a:r>
            <a:r>
              <a:rPr lang="en-US" altLang="zh-CN" sz="2600" b="1">
                <a:effectLst>
                  <a:outerShdw blurRad="38100" dist="38100" dir="2700000" algn="tl">
                    <a:srgbClr val="C0C0C0"/>
                  </a:outerShdw>
                </a:effectLst>
                <a:latin typeface="楷体_GB2312" pitchFamily="49" charset="-122"/>
                <a:ea typeface="楷体_GB2312" pitchFamily="49" charset="-122"/>
              </a:rPr>
              <a:t>X</a:t>
            </a:r>
            <a:r>
              <a:rPr lang="zh-CN" altLang="en-US" sz="2600" b="1">
                <a:effectLst>
                  <a:outerShdw blurRad="38100" dist="38100" dir="2700000" algn="tl">
                    <a:srgbClr val="C0C0C0"/>
                  </a:outerShdw>
                </a:effectLst>
                <a:latin typeface="楷体_GB2312" pitchFamily="49" charset="-122"/>
                <a:ea typeface="楷体_GB2312" pitchFamily="49" charset="-122"/>
              </a:rPr>
              <a:t>锁时，系统只要检查根结点数据库和关系</a:t>
            </a:r>
            <a:r>
              <a:rPr lang="en-US" altLang="zh-CN" sz="2600" b="1">
                <a:effectLst>
                  <a:outerShdw blurRad="38100" dist="38100" dir="2700000" algn="tl">
                    <a:srgbClr val="C0C0C0"/>
                  </a:outerShdw>
                </a:effectLst>
                <a:latin typeface="楷体_GB2312" pitchFamily="49" charset="-122"/>
                <a:ea typeface="楷体_GB2312" pitchFamily="49" charset="-122"/>
              </a:rPr>
              <a:t>R</a:t>
            </a:r>
            <a:r>
              <a:rPr lang="zh-CN" altLang="en-US" sz="2600" b="1">
                <a:effectLst>
                  <a:outerShdw blurRad="38100" dist="38100" dir="2700000" algn="tl">
                    <a:srgbClr val="C0C0C0"/>
                  </a:outerShdw>
                </a:effectLst>
                <a:latin typeface="楷体_GB2312" pitchFamily="49" charset="-122"/>
                <a:ea typeface="楷体_GB2312" pitchFamily="49" charset="-122"/>
              </a:rPr>
              <a:t>是否已加了不相容的锁，而不再需要搜索和检查</a:t>
            </a:r>
            <a:r>
              <a:rPr lang="en-US" altLang="zh-CN" sz="2600" b="1">
                <a:effectLst>
                  <a:outerShdw blurRad="38100" dist="38100" dir="2700000" algn="tl">
                    <a:srgbClr val="C0C0C0"/>
                  </a:outerShdw>
                </a:effectLst>
                <a:latin typeface="楷体_GB2312" pitchFamily="49" charset="-122"/>
                <a:ea typeface="楷体_GB2312" pitchFamily="49" charset="-122"/>
              </a:rPr>
              <a:t>R</a:t>
            </a:r>
            <a:r>
              <a:rPr lang="zh-CN" altLang="en-US" sz="2600" b="1">
                <a:effectLst>
                  <a:outerShdw blurRad="38100" dist="38100" dir="2700000" algn="tl">
                    <a:srgbClr val="C0C0C0"/>
                  </a:outerShdw>
                </a:effectLst>
                <a:latin typeface="楷体_GB2312" pitchFamily="49" charset="-122"/>
                <a:ea typeface="楷体_GB2312" pitchFamily="49" charset="-122"/>
              </a:rPr>
              <a:t>中的每一个元组是否加了</a:t>
            </a:r>
            <a:r>
              <a:rPr lang="en-US" altLang="zh-CN" sz="2600" b="1">
                <a:effectLst>
                  <a:outerShdw blurRad="38100" dist="38100" dir="2700000" algn="tl">
                    <a:srgbClr val="C0C0C0"/>
                  </a:outerShdw>
                </a:effectLst>
                <a:latin typeface="楷体_GB2312" pitchFamily="49" charset="-122"/>
                <a:ea typeface="楷体_GB2312" pitchFamily="49" charset="-122"/>
              </a:rPr>
              <a:t>X</a:t>
            </a:r>
            <a:r>
              <a:rPr lang="zh-CN" altLang="en-US" sz="2600" b="1">
                <a:effectLst>
                  <a:outerShdw blurRad="38100" dist="38100" dir="2700000" algn="tl">
                    <a:srgbClr val="C0C0C0"/>
                  </a:outerShdw>
                </a:effectLst>
                <a:latin typeface="楷体_GB2312" pitchFamily="49" charset="-122"/>
                <a:ea typeface="楷体_GB2312" pitchFamily="49" charset="-122"/>
              </a:rPr>
              <a:t>锁。</a:t>
            </a:r>
          </a:p>
          <a:p>
            <a:pPr>
              <a:lnSpc>
                <a:spcPct val="110000"/>
              </a:lnSpc>
              <a:spcBef>
                <a:spcPct val="30000"/>
              </a:spcBef>
            </a:pPr>
            <a:r>
              <a:rPr lang="zh-CN" altLang="en-US" sz="2600" b="1">
                <a:effectLst>
                  <a:outerShdw blurRad="38100" dist="38100" dir="2700000" algn="tl">
                    <a:srgbClr val="C0C0C0"/>
                  </a:outerShdw>
                </a:effectLst>
                <a:latin typeface="楷体_GB2312" pitchFamily="49" charset="-122"/>
                <a:ea typeface="楷体_GB2312" pitchFamily="49" charset="-122"/>
              </a:rPr>
              <a:t>   申请锁时按自上而下的次序进行；释放锁时按自下而上的次序进行。</a:t>
            </a:r>
          </a:p>
        </p:txBody>
      </p:sp>
      <p:sp>
        <p:nvSpPr>
          <p:cNvPr id="520196" name="Rectangle 4"/>
          <p:cNvSpPr>
            <a:spLocks noChangeArrowheads="1"/>
          </p:cNvSpPr>
          <p:nvPr/>
        </p:nvSpPr>
        <p:spPr bwMode="auto">
          <a:xfrm>
            <a:off x="611188" y="1125538"/>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spcBef>
                <a:spcPct val="0"/>
              </a:spcBef>
            </a:pPr>
            <a:r>
              <a:rPr lang="en-US" altLang="zh-CN" sz="3200">
                <a:solidFill>
                  <a:srgbClr val="660033"/>
                </a:solidFill>
                <a:ea typeface="华文新魏" panose="02010800040101010101" pitchFamily="2" charset="-122"/>
              </a:rPr>
              <a:t>2</a:t>
            </a:r>
            <a:r>
              <a:rPr lang="zh-CN" altLang="en-US" sz="3200">
                <a:solidFill>
                  <a:srgbClr val="660033"/>
                </a:solidFill>
                <a:ea typeface="华文新魏" panose="02010800040101010101" pitchFamily="2" charset="-122"/>
              </a:rPr>
              <a:t>、意向锁</a:t>
            </a:r>
            <a:endParaRPr lang="en-US" altLang="zh-CN" sz="3200">
              <a:solidFill>
                <a:srgbClr val="660033"/>
              </a:solidFill>
              <a:ea typeface="华文新魏" panose="02010800040101010101" pitchFamily="2"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4998"/>
    </mc:Choice>
    <mc:Fallback xmlns="">
      <p:transition spd="slow" advTm="549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0196"/>
                                        </p:tgtEl>
                                        <p:attrNameLst>
                                          <p:attrName>style.visibility</p:attrName>
                                        </p:attrNameLst>
                                      </p:cBhvr>
                                      <p:to>
                                        <p:strVal val="visible"/>
                                      </p:to>
                                    </p:set>
                                    <p:animEffect transition="in" filter="wipe(left)">
                                      <p:cBhvr>
                                        <p:cTn id="7" dur="1000"/>
                                        <p:tgtEl>
                                          <p:spTgt spid="5201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20195">
                                            <p:bg/>
                                          </p:spTgt>
                                        </p:tgtEl>
                                        <p:attrNameLst>
                                          <p:attrName>style.visibility</p:attrName>
                                        </p:attrNameLst>
                                      </p:cBhvr>
                                      <p:to>
                                        <p:strVal val="visible"/>
                                      </p:to>
                                    </p:set>
                                    <p:animEffect transition="in" filter="wipe(up)">
                                      <p:cBhvr>
                                        <p:cTn id="12" dur="500"/>
                                        <p:tgtEl>
                                          <p:spTgt spid="520195">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20195">
                                            <p:txEl>
                                              <p:pRg st="0" end="0"/>
                                            </p:txEl>
                                          </p:spTgt>
                                        </p:tgtEl>
                                        <p:attrNameLst>
                                          <p:attrName>style.visibility</p:attrName>
                                        </p:attrNameLst>
                                      </p:cBhvr>
                                      <p:to>
                                        <p:strVal val="visible"/>
                                      </p:to>
                                    </p:set>
                                    <p:animEffect transition="in" filter="wipe(up)">
                                      <p:cBhvr>
                                        <p:cTn id="17" dur="500"/>
                                        <p:tgtEl>
                                          <p:spTgt spid="52019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20195">
                                            <p:txEl>
                                              <p:pRg st="1" end="1"/>
                                            </p:txEl>
                                          </p:spTgt>
                                        </p:tgtEl>
                                        <p:attrNameLst>
                                          <p:attrName>style.visibility</p:attrName>
                                        </p:attrNameLst>
                                      </p:cBhvr>
                                      <p:to>
                                        <p:strVal val="visible"/>
                                      </p:to>
                                    </p:set>
                                    <p:animEffect transition="in" filter="wipe(up)">
                                      <p:cBhvr>
                                        <p:cTn id="22" dur="500"/>
                                        <p:tgtEl>
                                          <p:spTgt spid="52019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20195">
                                            <p:txEl>
                                              <p:pRg st="2" end="2"/>
                                            </p:txEl>
                                          </p:spTgt>
                                        </p:tgtEl>
                                        <p:attrNameLst>
                                          <p:attrName>style.visibility</p:attrName>
                                        </p:attrNameLst>
                                      </p:cBhvr>
                                      <p:to>
                                        <p:strVal val="visible"/>
                                      </p:to>
                                    </p:set>
                                    <p:animEffect transition="in" filter="wipe(up)">
                                      <p:cBhvr>
                                        <p:cTn id="27" dur="500"/>
                                        <p:tgtEl>
                                          <p:spTgt spid="520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build="p" animBg="1"/>
      <p:bldP spid="52019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ChangeArrowheads="1"/>
          </p:cNvSpPr>
          <p:nvPr/>
        </p:nvSpPr>
        <p:spPr bwMode="auto">
          <a:xfrm>
            <a:off x="754063" y="1773238"/>
            <a:ext cx="1800225" cy="1196975"/>
          </a:xfrm>
          <a:prstGeom prst="rect">
            <a:avLst/>
          </a:prstGeom>
          <a:solidFill>
            <a:srgbClr val="C5E2FF"/>
          </a:solidFill>
          <a:ln w="9525" algn="ctr">
            <a:solidFill>
              <a:schemeClr val="tx2"/>
            </a:solidFill>
            <a:miter lim="800000"/>
          </a:ln>
          <a:effectLst>
            <a:outerShdw dist="35921" dir="2700000" algn="ctr" rotWithShape="0">
              <a:schemeClr val="tx2"/>
            </a:outerShdw>
          </a:effectLst>
        </p:spPr>
        <p:txBody>
          <a:bodyPr>
            <a:spAutoFit/>
          </a:bodyPr>
          <a:lstStyle/>
          <a:p>
            <a:pPr algn="ctr">
              <a:spcBef>
                <a:spcPct val="50000"/>
              </a:spcBef>
            </a:pPr>
            <a:r>
              <a:rPr kumimoji="1" lang="zh-CN" altLang="en-US" sz="2400" b="1">
                <a:solidFill>
                  <a:srgbClr val="0000CC"/>
                </a:solidFill>
                <a:latin typeface="Comic Sans MS" panose="030F0702030302020204" pitchFamily="66" charset="0"/>
                <a:ea typeface="黑体" panose="02010609060101010101" pitchFamily="49" charset="-122"/>
              </a:rPr>
              <a:t>并发操作带来数据不一致问题</a:t>
            </a:r>
          </a:p>
        </p:txBody>
      </p:sp>
      <p:grpSp>
        <p:nvGrpSpPr>
          <p:cNvPr id="521219" name="Group 3"/>
          <p:cNvGrpSpPr/>
          <p:nvPr/>
        </p:nvGrpSpPr>
        <p:grpSpPr bwMode="auto">
          <a:xfrm>
            <a:off x="2627313" y="1773238"/>
            <a:ext cx="3313112" cy="576262"/>
            <a:chOff x="1836" y="2205"/>
            <a:chExt cx="2450" cy="365"/>
          </a:xfrm>
        </p:grpSpPr>
        <p:sp>
          <p:nvSpPr>
            <p:cNvPr id="521220" name="AutoShape 4"/>
            <p:cNvSpPr>
              <a:spLocks noChangeArrowheads="1"/>
            </p:cNvSpPr>
            <p:nvPr/>
          </p:nvSpPr>
          <p:spPr bwMode="auto">
            <a:xfrm>
              <a:off x="1836" y="2315"/>
              <a:ext cx="1724" cy="163"/>
            </a:xfrm>
            <a:prstGeom prst="rightArrow">
              <a:avLst>
                <a:gd name="adj1" fmla="val 49694"/>
                <a:gd name="adj2" fmla="val 107383"/>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1221" name="Rectangle 5"/>
            <p:cNvSpPr>
              <a:spLocks noChangeArrowheads="1"/>
            </p:cNvSpPr>
            <p:nvPr/>
          </p:nvSpPr>
          <p:spPr bwMode="auto">
            <a:xfrm>
              <a:off x="3606" y="2205"/>
              <a:ext cx="680" cy="365"/>
            </a:xfrm>
            <a:prstGeom prst="rect">
              <a:avLst/>
            </a:prstGeom>
            <a:solidFill>
              <a:srgbClr val="CCFF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锁</a:t>
              </a:r>
            </a:p>
          </p:txBody>
        </p:sp>
      </p:grpSp>
      <p:sp>
        <p:nvSpPr>
          <p:cNvPr id="521222" name="Rectangle 6"/>
          <p:cNvSpPr>
            <a:spLocks noGrp="1" noChangeArrowheads="1"/>
          </p:cNvSpPr>
          <p:nvPr>
            <p:ph type="title"/>
          </p:nvPr>
        </p:nvSpPr>
        <p:spPr>
          <a:noFill/>
          <a:effectLst>
            <a:outerShdw dist="17961" dir="2700000" algn="ctr" rotWithShape="0">
              <a:schemeClr val="tx1"/>
            </a:outerShdw>
          </a:effectLst>
        </p:spPr>
        <p:txBody>
          <a:bodyPr anchor="ctr"/>
          <a:lstStyle/>
          <a:p>
            <a:r>
              <a:rPr lang="zh-CN" altLang="en-US" sz="3300">
                <a:ea typeface="隶书" panose="02010509060101010101" pitchFamily="49" charset="-122"/>
              </a:rPr>
              <a:t>小 结</a:t>
            </a:r>
          </a:p>
        </p:txBody>
      </p:sp>
      <p:sp>
        <p:nvSpPr>
          <p:cNvPr id="521223" name="Text Box 7"/>
          <p:cNvSpPr txBox="1">
            <a:spLocks noChangeArrowheads="1"/>
          </p:cNvSpPr>
          <p:nvPr/>
        </p:nvSpPr>
        <p:spPr bwMode="auto">
          <a:xfrm>
            <a:off x="6443663" y="1125538"/>
            <a:ext cx="1727200" cy="466725"/>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a:spAutoFit/>
          </a:bodyPr>
          <a:lstStyle/>
          <a:p>
            <a:pPr algn="ctr">
              <a:spcBef>
                <a:spcPct val="50000"/>
              </a:spcBef>
            </a:pPr>
            <a:r>
              <a:rPr kumimoji="1" lang="zh-CN" altLang="en-US" sz="2400" b="1">
                <a:solidFill>
                  <a:schemeClr val="bg1"/>
                </a:solidFill>
                <a:latin typeface="Comic Sans MS" panose="030F0702030302020204" pitchFamily="66" charset="0"/>
                <a:ea typeface="黑体" panose="02010609060101010101" pitchFamily="49" charset="-122"/>
              </a:rPr>
              <a:t>排他锁</a:t>
            </a:r>
          </a:p>
        </p:txBody>
      </p:sp>
      <p:sp>
        <p:nvSpPr>
          <p:cNvPr id="521224" name="Text Box 8"/>
          <p:cNvSpPr txBox="1">
            <a:spLocks noChangeArrowheads="1"/>
          </p:cNvSpPr>
          <p:nvPr/>
        </p:nvSpPr>
        <p:spPr bwMode="auto">
          <a:xfrm>
            <a:off x="6443663" y="1917700"/>
            <a:ext cx="1727200" cy="466725"/>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a:spAutoFit/>
          </a:bodyPr>
          <a:lstStyle/>
          <a:p>
            <a:pPr algn="ctr">
              <a:spcBef>
                <a:spcPct val="50000"/>
              </a:spcBef>
            </a:pPr>
            <a:r>
              <a:rPr kumimoji="1" lang="zh-CN" altLang="en-US" sz="2400" b="1">
                <a:solidFill>
                  <a:schemeClr val="bg1"/>
                </a:solidFill>
                <a:latin typeface="Times New Roman" panose="02020603050405020304" pitchFamily="18" charset="0"/>
                <a:ea typeface="黑体" panose="02010609060101010101" pitchFamily="49" charset="-122"/>
              </a:rPr>
              <a:t>共享锁</a:t>
            </a:r>
            <a:endParaRPr kumimoji="1" lang="zh-CN" altLang="en-US" sz="2400" b="1">
              <a:solidFill>
                <a:schemeClr val="bg1"/>
              </a:solidFill>
              <a:latin typeface="Comic Sans MS" panose="030F0702030302020204" pitchFamily="66" charset="0"/>
              <a:ea typeface="黑体" panose="02010609060101010101" pitchFamily="49" charset="-122"/>
            </a:endParaRPr>
          </a:p>
        </p:txBody>
      </p:sp>
      <p:sp>
        <p:nvSpPr>
          <p:cNvPr id="521225" name="AutoShape 9"/>
          <p:cNvSpPr/>
          <p:nvPr/>
        </p:nvSpPr>
        <p:spPr bwMode="auto">
          <a:xfrm>
            <a:off x="6156325" y="1414463"/>
            <a:ext cx="287338" cy="1366837"/>
          </a:xfrm>
          <a:prstGeom prst="leftBrace">
            <a:avLst>
              <a:gd name="adj1" fmla="val 39641"/>
              <a:gd name="adj2" fmla="val 50000"/>
            </a:avLst>
          </a:prstGeom>
          <a:noFill/>
          <a:ln w="28575">
            <a:solidFill>
              <a:schemeClr val="tx2"/>
            </a:solidFill>
            <a:round/>
          </a:ln>
          <a:effectLst>
            <a:outerShdw dist="35921" dir="2700000" algn="ctr" rotWithShape="0">
              <a:schemeClr val="tx2"/>
            </a:outerShdw>
          </a:effectLst>
          <a:extLst>
            <a:ext uri="{909E8E84-426E-40DD-AFC4-6F175D3DCCD1}">
              <a14:hiddenFill xmlns:a14="http://schemas.microsoft.com/office/drawing/2010/main">
                <a:solidFill>
                  <a:srgbClr val="FFCC99"/>
                </a:solidFill>
              </a14:hiddenFill>
            </a:ext>
          </a:extLst>
        </p:spPr>
        <p:txBody>
          <a:bodyPr wrap="none" anchor="ctr"/>
          <a:lstStyle/>
          <a:p>
            <a:endParaRPr lang="zh-CN" altLang="en-US"/>
          </a:p>
        </p:txBody>
      </p:sp>
      <p:sp>
        <p:nvSpPr>
          <p:cNvPr id="521226" name="Rectangle 10"/>
          <p:cNvSpPr>
            <a:spLocks noChangeArrowheads="1"/>
          </p:cNvSpPr>
          <p:nvPr/>
        </p:nvSpPr>
        <p:spPr bwMode="auto">
          <a:xfrm>
            <a:off x="3130550" y="2349500"/>
            <a:ext cx="1512888" cy="504825"/>
          </a:xfrm>
          <a:prstGeom prst="rect">
            <a:avLst/>
          </a:prstGeom>
          <a:solidFill>
            <a:srgbClr val="CCFFCC"/>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rPr>
              <a:t>解决方法</a:t>
            </a:r>
            <a:endParaRPr lang="en-US" altLang="zh-CN"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1227" name="Text Box 11"/>
          <p:cNvSpPr txBox="1">
            <a:spLocks noChangeArrowheads="1"/>
          </p:cNvSpPr>
          <p:nvPr/>
        </p:nvSpPr>
        <p:spPr bwMode="auto">
          <a:xfrm>
            <a:off x="6443663" y="2747963"/>
            <a:ext cx="1727200" cy="466725"/>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a:spAutoFit/>
          </a:bodyPr>
          <a:lstStyle/>
          <a:p>
            <a:pPr algn="ctr">
              <a:spcBef>
                <a:spcPct val="50000"/>
              </a:spcBef>
            </a:pPr>
            <a:r>
              <a:rPr kumimoji="1" lang="zh-CN" altLang="en-US" sz="2400" b="1">
                <a:solidFill>
                  <a:schemeClr val="bg1"/>
                </a:solidFill>
                <a:latin typeface="Times New Roman" panose="02020603050405020304" pitchFamily="18" charset="0"/>
                <a:ea typeface="黑体" panose="02010609060101010101" pitchFamily="49" charset="-122"/>
              </a:rPr>
              <a:t>共享更新锁</a:t>
            </a:r>
            <a:endParaRPr kumimoji="1" lang="zh-CN" altLang="en-US" sz="2400" b="1">
              <a:solidFill>
                <a:schemeClr val="bg1"/>
              </a:solidFill>
              <a:latin typeface="Comic Sans MS" panose="030F0702030302020204" pitchFamily="66" charset="0"/>
              <a:ea typeface="黑体" panose="02010609060101010101" pitchFamily="49" charset="-122"/>
            </a:endParaRPr>
          </a:p>
        </p:txBody>
      </p:sp>
      <p:sp>
        <p:nvSpPr>
          <p:cNvPr id="521228" name="AutoShape 12"/>
          <p:cNvSpPr>
            <a:spLocks noChangeArrowheads="1"/>
          </p:cNvSpPr>
          <p:nvPr/>
        </p:nvSpPr>
        <p:spPr bwMode="auto">
          <a:xfrm rot="16200000" flipH="1">
            <a:off x="4931569" y="2853532"/>
            <a:ext cx="1152525" cy="287337"/>
          </a:xfrm>
          <a:prstGeom prst="rightArrow">
            <a:avLst>
              <a:gd name="adj1" fmla="val 49694"/>
              <a:gd name="adj2" fmla="val 40723"/>
            </a:avLst>
          </a:prstGeom>
          <a:solidFill>
            <a:srgbClr val="FFFF4F"/>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1229" name="Rectangle 13"/>
          <p:cNvSpPr>
            <a:spLocks noChangeArrowheads="1"/>
          </p:cNvSpPr>
          <p:nvPr/>
        </p:nvSpPr>
        <p:spPr bwMode="auto">
          <a:xfrm>
            <a:off x="4787900" y="3716338"/>
            <a:ext cx="1512888" cy="504825"/>
          </a:xfrm>
          <a:prstGeom prst="rect">
            <a:avLst/>
          </a:prstGeom>
          <a:solidFill>
            <a:srgbClr val="CCFFCC"/>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006600"/>
                </a:solidFill>
                <a:effectLst>
                  <a:outerShdw blurRad="38100" dist="38100" dir="2700000" algn="tl">
                    <a:srgbClr val="000000"/>
                  </a:outerShdw>
                </a:effectLst>
                <a:latin typeface="黑体" panose="02010609060101010101" pitchFamily="49" charset="-122"/>
                <a:ea typeface="黑体" panose="02010609060101010101" pitchFamily="49" charset="-122"/>
              </a:rPr>
              <a:t>锁协议</a:t>
            </a:r>
            <a:endParaRPr lang="en-US" altLang="zh-CN" b="1">
              <a:solidFill>
                <a:srgbClr val="0066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1230" name="Rectangle 14"/>
          <p:cNvSpPr>
            <a:spLocks noChangeArrowheads="1"/>
          </p:cNvSpPr>
          <p:nvPr/>
        </p:nvSpPr>
        <p:spPr bwMode="auto">
          <a:xfrm>
            <a:off x="827088" y="4437063"/>
            <a:ext cx="1657350" cy="792162"/>
          </a:xfrm>
          <a:prstGeom prst="rect">
            <a:avLst/>
          </a:prstGeom>
          <a:solidFill>
            <a:srgbClr val="008080"/>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并发操作</a:t>
            </a:r>
            <a:endParaRPr lang="zh-CN" altLang="en-US" b="1" baseline="3000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1231" name="Line 15"/>
          <p:cNvSpPr>
            <a:spLocks noChangeShapeType="1"/>
          </p:cNvSpPr>
          <p:nvPr/>
        </p:nvSpPr>
        <p:spPr bwMode="auto">
          <a:xfrm>
            <a:off x="2555875" y="4868863"/>
            <a:ext cx="4103688" cy="0"/>
          </a:xfrm>
          <a:prstGeom prst="line">
            <a:avLst/>
          </a:prstGeom>
          <a:noFill/>
          <a:ln w="635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1232" name="Line 16"/>
          <p:cNvSpPr>
            <a:spLocks noChangeShapeType="1"/>
          </p:cNvSpPr>
          <p:nvPr/>
        </p:nvSpPr>
        <p:spPr bwMode="auto">
          <a:xfrm>
            <a:off x="7380288" y="3284538"/>
            <a:ext cx="0" cy="1008062"/>
          </a:xfrm>
          <a:prstGeom prst="line">
            <a:avLst/>
          </a:prstGeom>
          <a:noFill/>
          <a:ln w="635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1233" name="Rectangle 17"/>
          <p:cNvSpPr>
            <a:spLocks noChangeArrowheads="1"/>
          </p:cNvSpPr>
          <p:nvPr/>
        </p:nvSpPr>
        <p:spPr bwMode="auto">
          <a:xfrm>
            <a:off x="6731000" y="4365625"/>
            <a:ext cx="1512888" cy="504825"/>
          </a:xfrm>
          <a:prstGeom prst="rect">
            <a:avLst/>
          </a:prstGeom>
          <a:solidFill>
            <a:srgbClr val="CCFFCC"/>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rPr>
              <a:t>活锁</a:t>
            </a:r>
            <a:endParaRPr lang="en-US" altLang="zh-CN"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1234" name="Rectangle 18"/>
          <p:cNvSpPr>
            <a:spLocks noChangeArrowheads="1"/>
          </p:cNvSpPr>
          <p:nvPr/>
        </p:nvSpPr>
        <p:spPr bwMode="auto">
          <a:xfrm>
            <a:off x="6731000" y="4941888"/>
            <a:ext cx="1512888" cy="504825"/>
          </a:xfrm>
          <a:prstGeom prst="rect">
            <a:avLst/>
          </a:prstGeom>
          <a:solidFill>
            <a:srgbClr val="CCFFCC"/>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rPr>
              <a:t>死锁</a:t>
            </a:r>
            <a:endParaRPr lang="en-US" altLang="zh-CN"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1235" name="AutoShape 19"/>
          <p:cNvSpPr>
            <a:spLocks noChangeArrowheads="1"/>
          </p:cNvSpPr>
          <p:nvPr/>
        </p:nvSpPr>
        <p:spPr bwMode="auto">
          <a:xfrm>
            <a:off x="2124075" y="5734050"/>
            <a:ext cx="1944688" cy="792163"/>
          </a:xfrm>
          <a:prstGeom prst="wedgeRoundRectCallout">
            <a:avLst>
              <a:gd name="adj1" fmla="val -61347"/>
              <a:gd name="adj2" fmla="val -115130"/>
              <a:gd name="adj3" fmla="val 16667"/>
            </a:avLst>
          </a:prstGeom>
          <a:solidFill>
            <a:srgbClr val="CCFFCC"/>
          </a:solidFill>
          <a:ln w="25400" cap="sq">
            <a:solidFill>
              <a:srgbClr val="008080"/>
            </a:solidFill>
            <a:miter lim="800000"/>
            <a:headEnd type="none" w="sm" len="sm"/>
            <a:tailEnd type="none" w="sm" len="sm"/>
          </a:ln>
          <a:effectLst>
            <a:outerShdw dist="35921" dir="2700000" algn="ctr" rotWithShape="0">
              <a:schemeClr val="bg2"/>
            </a:outerShdw>
          </a:effectLst>
        </p:spPr>
        <p:txBody>
          <a:bodyPr anchor="ctr"/>
          <a:lstStyle/>
          <a:p>
            <a:pPr algn="ctr"/>
            <a:r>
              <a:rPr lang="zh-CN" altLang="en-US" sz="2600" b="1">
                <a:solidFill>
                  <a:srgbClr val="006600"/>
                </a:solidFill>
                <a:effectLst>
                  <a:outerShdw blurRad="38100" dist="38100" dir="2700000" algn="tl">
                    <a:srgbClr val="000000"/>
                  </a:outerShdw>
                </a:effectLst>
                <a:ea typeface="楷体_GB2312" pitchFamily="49" charset="-122"/>
              </a:rPr>
              <a:t>可串行化</a:t>
            </a:r>
          </a:p>
        </p:txBody>
      </p:sp>
      <p:sp>
        <p:nvSpPr>
          <p:cNvPr id="521236" name="Rectangle 20"/>
          <p:cNvSpPr>
            <a:spLocks noChangeArrowheads="1"/>
          </p:cNvSpPr>
          <p:nvPr/>
        </p:nvSpPr>
        <p:spPr bwMode="auto">
          <a:xfrm>
            <a:off x="3132138" y="5013325"/>
            <a:ext cx="1800225" cy="647700"/>
          </a:xfrm>
          <a:prstGeom prst="rect">
            <a:avLst/>
          </a:prstGeom>
          <a:solidFill>
            <a:srgbClr val="FFFF99"/>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006600"/>
                </a:solidFill>
                <a:effectLst>
                  <a:outerShdw blurRad="38100" dist="38100" dir="2700000" algn="tl">
                    <a:srgbClr val="000000"/>
                  </a:outerShdw>
                </a:effectLst>
                <a:latin typeface="黑体" panose="02010609060101010101" pitchFamily="49" charset="-122"/>
                <a:ea typeface="黑体" panose="02010609060101010101" pitchFamily="49" charset="-122"/>
              </a:rPr>
              <a:t>两段锁协议</a:t>
            </a:r>
            <a:endParaRPr lang="en-US" altLang="zh-CN" b="1">
              <a:solidFill>
                <a:srgbClr val="0066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1237" name="Rectangle 21"/>
          <p:cNvSpPr>
            <a:spLocks noChangeArrowheads="1"/>
          </p:cNvSpPr>
          <p:nvPr/>
        </p:nvSpPr>
        <p:spPr bwMode="auto">
          <a:xfrm>
            <a:off x="4860925" y="5445125"/>
            <a:ext cx="1800225" cy="647700"/>
          </a:xfrm>
          <a:prstGeom prst="rect">
            <a:avLst/>
          </a:prstGeom>
          <a:solidFill>
            <a:srgbClr val="E2C5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0000FF"/>
                </a:solidFill>
                <a:effectLst>
                  <a:outerShdw blurRad="38100" dist="38100" dir="2700000" algn="tl">
                    <a:srgbClr val="000000"/>
                  </a:outerShdw>
                </a:effectLst>
                <a:latin typeface="黑体" panose="02010609060101010101" pitchFamily="49" charset="-122"/>
                <a:ea typeface="黑体" panose="02010609060101010101" pitchFamily="49" charset="-122"/>
              </a:rPr>
              <a:t>多粒度锁</a:t>
            </a:r>
            <a:endParaRPr lang="en-US" altLang="zh-CN" b="1">
              <a:solidFill>
                <a:srgbClr val="0000FF"/>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Tree>
    <p:custDataLst>
      <p:tags r:id="rId1"/>
    </p:custDataLst>
  </p:cSld>
  <p:clrMapOvr>
    <a:masterClrMapping/>
  </p:clrMapOvr>
  <p:transition advTm="2576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1218"/>
                                        </p:tgtEl>
                                        <p:attrNameLst>
                                          <p:attrName>style.visibility</p:attrName>
                                        </p:attrNameLst>
                                      </p:cBhvr>
                                      <p:to>
                                        <p:strVal val="visible"/>
                                      </p:to>
                                    </p:set>
                                    <p:animEffect transition="in" filter="wipe(left)">
                                      <p:cBhvr>
                                        <p:cTn id="7" dur="1000"/>
                                        <p:tgtEl>
                                          <p:spTgt spid="5212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1226"/>
                                        </p:tgtEl>
                                        <p:attrNameLst>
                                          <p:attrName>style.visibility</p:attrName>
                                        </p:attrNameLst>
                                      </p:cBhvr>
                                      <p:to>
                                        <p:strVal val="visible"/>
                                      </p:to>
                                    </p:set>
                                    <p:animEffect transition="in" filter="wipe(left)">
                                      <p:cBhvr>
                                        <p:cTn id="12" dur="500"/>
                                        <p:tgtEl>
                                          <p:spTgt spid="5212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1219"/>
                                        </p:tgtEl>
                                        <p:attrNameLst>
                                          <p:attrName>style.visibility</p:attrName>
                                        </p:attrNameLst>
                                      </p:cBhvr>
                                      <p:to>
                                        <p:strVal val="visible"/>
                                      </p:to>
                                    </p:set>
                                    <p:animEffect transition="in" filter="wipe(left)">
                                      <p:cBhvr>
                                        <p:cTn id="17" dur="1000"/>
                                        <p:tgtEl>
                                          <p:spTgt spid="5212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21225"/>
                                        </p:tgtEl>
                                        <p:attrNameLst>
                                          <p:attrName>style.visibility</p:attrName>
                                        </p:attrNameLst>
                                      </p:cBhvr>
                                      <p:to>
                                        <p:strVal val="visible"/>
                                      </p:to>
                                    </p:set>
                                    <p:animEffect transition="in" filter="wipe(left)">
                                      <p:cBhvr>
                                        <p:cTn id="22" dur="500"/>
                                        <p:tgtEl>
                                          <p:spTgt spid="5212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1223"/>
                                        </p:tgtEl>
                                        <p:attrNameLst>
                                          <p:attrName>style.visibility</p:attrName>
                                        </p:attrNameLst>
                                      </p:cBhvr>
                                      <p:to>
                                        <p:strVal val="visible"/>
                                      </p:to>
                                    </p:set>
                                    <p:animEffect transition="in" filter="wipe(left)">
                                      <p:cBhvr>
                                        <p:cTn id="27" dur="500"/>
                                        <p:tgtEl>
                                          <p:spTgt spid="5212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21224"/>
                                        </p:tgtEl>
                                        <p:attrNameLst>
                                          <p:attrName>style.visibility</p:attrName>
                                        </p:attrNameLst>
                                      </p:cBhvr>
                                      <p:to>
                                        <p:strVal val="visible"/>
                                      </p:to>
                                    </p:set>
                                    <p:animEffect transition="in" filter="wipe(left)">
                                      <p:cBhvr>
                                        <p:cTn id="32" dur="500"/>
                                        <p:tgtEl>
                                          <p:spTgt spid="5212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1227"/>
                                        </p:tgtEl>
                                        <p:attrNameLst>
                                          <p:attrName>style.visibility</p:attrName>
                                        </p:attrNameLst>
                                      </p:cBhvr>
                                      <p:to>
                                        <p:strVal val="visible"/>
                                      </p:to>
                                    </p:set>
                                    <p:animEffect transition="in" filter="wipe(left)">
                                      <p:cBhvr>
                                        <p:cTn id="37" dur="500"/>
                                        <p:tgtEl>
                                          <p:spTgt spid="521227"/>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521228"/>
                                        </p:tgtEl>
                                        <p:attrNameLst>
                                          <p:attrName>style.visibility</p:attrName>
                                        </p:attrNameLst>
                                      </p:cBhvr>
                                      <p:to>
                                        <p:strVal val="visible"/>
                                      </p:to>
                                    </p:set>
                                    <p:animEffect transition="in" filter="wipe(left)">
                                      <p:cBhvr>
                                        <p:cTn id="41" dur="500"/>
                                        <p:tgtEl>
                                          <p:spTgt spid="5212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21229"/>
                                        </p:tgtEl>
                                        <p:attrNameLst>
                                          <p:attrName>style.visibility</p:attrName>
                                        </p:attrNameLst>
                                      </p:cBhvr>
                                      <p:to>
                                        <p:strVal val="visible"/>
                                      </p:to>
                                    </p:set>
                                    <p:animEffect transition="in" filter="wipe(left)">
                                      <p:cBhvr>
                                        <p:cTn id="46" dur="500"/>
                                        <p:tgtEl>
                                          <p:spTgt spid="521229"/>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21230"/>
                                        </p:tgtEl>
                                        <p:attrNameLst>
                                          <p:attrName>style.visibility</p:attrName>
                                        </p:attrNameLst>
                                      </p:cBhvr>
                                      <p:to>
                                        <p:strVal val="visible"/>
                                      </p:to>
                                    </p:set>
                                    <p:animEffect transition="in" filter="fade">
                                      <p:cBhvr>
                                        <p:cTn id="51" dur="1000"/>
                                        <p:tgtEl>
                                          <p:spTgt spid="521230"/>
                                        </p:tgtEl>
                                      </p:cBhvr>
                                    </p:animEffect>
                                    <p:anim calcmode="lin" valueType="num">
                                      <p:cBhvr>
                                        <p:cTn id="52" dur="1000" fill="hold"/>
                                        <p:tgtEl>
                                          <p:spTgt spid="521230"/>
                                        </p:tgtEl>
                                        <p:attrNameLst>
                                          <p:attrName>ppt_x</p:attrName>
                                        </p:attrNameLst>
                                      </p:cBhvr>
                                      <p:tavLst>
                                        <p:tav tm="0">
                                          <p:val>
                                            <p:strVal val="#ppt_x"/>
                                          </p:val>
                                        </p:tav>
                                        <p:tav tm="100000">
                                          <p:val>
                                            <p:strVal val="#ppt_x"/>
                                          </p:val>
                                        </p:tav>
                                      </p:tavLst>
                                    </p:anim>
                                    <p:anim calcmode="lin" valueType="num">
                                      <p:cBhvr>
                                        <p:cTn id="53" dur="1000" fill="hold"/>
                                        <p:tgtEl>
                                          <p:spTgt spid="52123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21231"/>
                                        </p:tgtEl>
                                        <p:attrNameLst>
                                          <p:attrName>style.visibility</p:attrName>
                                        </p:attrNameLst>
                                      </p:cBhvr>
                                      <p:to>
                                        <p:strVal val="visible"/>
                                      </p:to>
                                    </p:set>
                                    <p:animEffect transition="in" filter="wipe(left)">
                                      <p:cBhvr>
                                        <p:cTn id="58" dur="500"/>
                                        <p:tgtEl>
                                          <p:spTgt spid="521231"/>
                                        </p:tgtEl>
                                      </p:cBhvr>
                                    </p:animEffect>
                                  </p:childTnLst>
                                </p:cTn>
                              </p:par>
                              <p:par>
                                <p:cTn id="59" presetID="22" presetClass="entr" presetSubtype="1" fill="hold" nodeType="withEffect">
                                  <p:stCondLst>
                                    <p:cond delay="0"/>
                                  </p:stCondLst>
                                  <p:childTnLst>
                                    <p:set>
                                      <p:cBhvr>
                                        <p:cTn id="60" dur="1" fill="hold">
                                          <p:stCondLst>
                                            <p:cond delay="0"/>
                                          </p:stCondLst>
                                        </p:cTn>
                                        <p:tgtEl>
                                          <p:spTgt spid="521232"/>
                                        </p:tgtEl>
                                        <p:attrNameLst>
                                          <p:attrName>style.visibility</p:attrName>
                                        </p:attrNameLst>
                                      </p:cBhvr>
                                      <p:to>
                                        <p:strVal val="visible"/>
                                      </p:to>
                                    </p:set>
                                    <p:animEffect transition="in" filter="wipe(up)">
                                      <p:cBhvr>
                                        <p:cTn id="61" dur="500"/>
                                        <p:tgtEl>
                                          <p:spTgt spid="52123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521233"/>
                                        </p:tgtEl>
                                        <p:attrNameLst>
                                          <p:attrName>style.visibility</p:attrName>
                                        </p:attrNameLst>
                                      </p:cBhvr>
                                      <p:to>
                                        <p:strVal val="visible"/>
                                      </p:to>
                                    </p:set>
                                    <p:animEffect transition="in" filter="wipe(left)">
                                      <p:cBhvr>
                                        <p:cTn id="66" dur="500"/>
                                        <p:tgtEl>
                                          <p:spTgt spid="521233"/>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521234"/>
                                        </p:tgtEl>
                                        <p:attrNameLst>
                                          <p:attrName>style.visibility</p:attrName>
                                        </p:attrNameLst>
                                      </p:cBhvr>
                                      <p:to>
                                        <p:strVal val="visible"/>
                                      </p:to>
                                    </p:set>
                                    <p:animEffect transition="in" filter="wipe(left)">
                                      <p:cBhvr>
                                        <p:cTn id="70" dur="500"/>
                                        <p:tgtEl>
                                          <p:spTgt spid="52123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521235"/>
                                        </p:tgtEl>
                                        <p:attrNameLst>
                                          <p:attrName>style.visibility</p:attrName>
                                        </p:attrNameLst>
                                      </p:cBhvr>
                                      <p:to>
                                        <p:strVal val="visible"/>
                                      </p:to>
                                    </p:set>
                                    <p:animEffect transition="in" filter="wipe(up)">
                                      <p:cBhvr>
                                        <p:cTn id="75" dur="500"/>
                                        <p:tgtEl>
                                          <p:spTgt spid="52123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521236"/>
                                        </p:tgtEl>
                                        <p:attrNameLst>
                                          <p:attrName>style.visibility</p:attrName>
                                        </p:attrNameLst>
                                      </p:cBhvr>
                                      <p:to>
                                        <p:strVal val="visible"/>
                                      </p:to>
                                    </p:set>
                                    <p:animEffect transition="in" filter="wipe(left)">
                                      <p:cBhvr>
                                        <p:cTn id="80" dur="500"/>
                                        <p:tgtEl>
                                          <p:spTgt spid="52123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521237"/>
                                        </p:tgtEl>
                                        <p:attrNameLst>
                                          <p:attrName>style.visibility</p:attrName>
                                        </p:attrNameLst>
                                      </p:cBhvr>
                                      <p:to>
                                        <p:strVal val="visible"/>
                                      </p:to>
                                    </p:set>
                                    <p:animEffect transition="in" filter="wipe(left)">
                                      <p:cBhvr>
                                        <p:cTn id="85" dur="500"/>
                                        <p:tgtEl>
                                          <p:spTgt spid="521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18" grpId="0" animBg="1"/>
      <p:bldP spid="521223" grpId="0" animBg="1"/>
      <p:bldP spid="521224" grpId="0" animBg="1"/>
      <p:bldP spid="521226" grpId="0" animBg="1"/>
      <p:bldP spid="521227" grpId="0" animBg="1"/>
      <p:bldP spid="521229" grpId="0" animBg="1"/>
      <p:bldP spid="521230" grpId="0" animBg="1"/>
      <p:bldP spid="521233" grpId="0" animBg="1"/>
      <p:bldP spid="521234" grpId="0" animBg="1"/>
      <p:bldP spid="521235" grpId="0" animBg="1"/>
      <p:bldP spid="521236" grpId="0" animBg="1"/>
      <p:bldP spid="52123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Rot="1" noChangeArrowheads="1"/>
          </p:cNvSpPr>
          <p:nvPr>
            <p:ph type="title"/>
          </p:nvPr>
        </p:nvSpPr>
        <p:spPr>
          <a:xfrm>
            <a:off x="1403350" y="188913"/>
            <a:ext cx="2957513" cy="720725"/>
          </a:xfrm>
          <a:noFill/>
          <a:effectLst>
            <a:outerShdw dist="17961" dir="2700000" algn="ctr" rotWithShape="0">
              <a:schemeClr val="bg2"/>
            </a:outerShdw>
          </a:effectLst>
        </p:spPr>
        <p:txBody>
          <a:bodyPr anchor="ctr"/>
          <a:lstStyle/>
          <a:p>
            <a:r>
              <a:rPr lang="zh-CN" altLang="en-US" sz="2800" b="0">
                <a:solidFill>
                  <a:srgbClr val="993366"/>
                </a:solidFill>
                <a:ea typeface="隶书" panose="02010509060101010101" pitchFamily="49" charset="-122"/>
              </a:rPr>
              <a:t>本章总结</a:t>
            </a:r>
          </a:p>
        </p:txBody>
      </p:sp>
      <p:sp>
        <p:nvSpPr>
          <p:cNvPr id="523267" name="AutoShape 3"/>
          <p:cNvSpPr/>
          <p:nvPr/>
        </p:nvSpPr>
        <p:spPr bwMode="auto">
          <a:xfrm rot="5400000">
            <a:off x="4246563" y="-1577975"/>
            <a:ext cx="363538" cy="6624637"/>
          </a:xfrm>
          <a:prstGeom prst="leftBrace">
            <a:avLst>
              <a:gd name="adj1" fmla="val 151856"/>
              <a:gd name="adj2" fmla="val 50000"/>
            </a:avLst>
          </a:prstGeom>
          <a:noFill/>
          <a:ln w="25400" cap="sq">
            <a:solidFill>
              <a:schemeClr val="tx1"/>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wrap="none" lIns="0" tIns="0" rIns="0" bIns="0" anchor="ctr"/>
          <a:lstStyle/>
          <a:p>
            <a:endParaRPr lang="zh-CN" altLang="en-US"/>
          </a:p>
        </p:txBody>
      </p:sp>
      <p:sp>
        <p:nvSpPr>
          <p:cNvPr id="523268" name="Rectangle 4"/>
          <p:cNvSpPr>
            <a:spLocks noChangeArrowheads="1"/>
          </p:cNvSpPr>
          <p:nvPr/>
        </p:nvSpPr>
        <p:spPr bwMode="auto">
          <a:xfrm>
            <a:off x="5435600" y="1989138"/>
            <a:ext cx="1657350" cy="503237"/>
          </a:xfrm>
          <a:prstGeom prst="rect">
            <a:avLst/>
          </a:prstGeom>
          <a:solidFill>
            <a:srgbClr val="CCCCFF"/>
          </a:solidFill>
          <a:ln w="9525" algn="ctr">
            <a:solidFill>
              <a:srgbClr val="000000"/>
            </a:solidFill>
            <a:miter lim="800000"/>
          </a:ln>
          <a:effectLst>
            <a:outerShdw dist="53882" dir="2700000" algn="ctr" rotWithShape="0">
              <a:schemeClr val="bg2"/>
            </a:outerShdw>
          </a:effectLst>
        </p:spPr>
        <p:txBody>
          <a:bodyPr lIns="0" tIns="0" rIns="0" bIns="0" anchor="ctr"/>
          <a:lstStyle/>
          <a:p>
            <a:pPr algn="ctr"/>
            <a:r>
              <a:rPr lang="zh-CN" altLang="en-US" sz="2400" b="1">
                <a:effectLst>
                  <a:outerShdw blurRad="38100" dist="38100" dir="2700000" algn="tl">
                    <a:srgbClr val="FFFFFF"/>
                  </a:outerShdw>
                </a:effectLst>
                <a:ea typeface="楷体_GB2312" pitchFamily="49" charset="-122"/>
              </a:rPr>
              <a:t>数据库恢复</a:t>
            </a:r>
          </a:p>
        </p:txBody>
      </p:sp>
      <p:sp>
        <p:nvSpPr>
          <p:cNvPr id="523269" name="Rectangle 5"/>
          <p:cNvSpPr>
            <a:spLocks noChangeArrowheads="1"/>
          </p:cNvSpPr>
          <p:nvPr/>
        </p:nvSpPr>
        <p:spPr bwMode="auto">
          <a:xfrm>
            <a:off x="7451725" y="1989138"/>
            <a:ext cx="1368425" cy="503237"/>
          </a:xfrm>
          <a:prstGeom prst="rect">
            <a:avLst/>
          </a:prstGeom>
          <a:solidFill>
            <a:srgbClr val="CCCCFF"/>
          </a:solidFill>
          <a:ln w="9525" algn="ctr">
            <a:solidFill>
              <a:srgbClr val="000000"/>
            </a:solidFill>
            <a:miter lim="800000"/>
          </a:ln>
          <a:effectLst>
            <a:outerShdw dist="53882" dir="2700000" algn="ctr" rotWithShape="0">
              <a:schemeClr val="bg2"/>
            </a:outerShdw>
          </a:effectLst>
        </p:spPr>
        <p:txBody>
          <a:bodyPr lIns="0" tIns="0" rIns="0" bIns="0" anchor="ctr"/>
          <a:lstStyle/>
          <a:p>
            <a:pPr algn="ctr"/>
            <a:r>
              <a:rPr lang="zh-CN" altLang="en-US" sz="2400" b="1">
                <a:effectLst>
                  <a:outerShdw blurRad="38100" dist="38100" dir="2700000" algn="tl">
                    <a:srgbClr val="FFFFFF"/>
                  </a:outerShdw>
                </a:effectLst>
                <a:ea typeface="楷体_GB2312" pitchFamily="49" charset="-122"/>
              </a:rPr>
              <a:t>并发控制</a:t>
            </a:r>
          </a:p>
        </p:txBody>
      </p:sp>
      <p:sp>
        <p:nvSpPr>
          <p:cNvPr id="523270" name="Rectangle 6"/>
          <p:cNvSpPr>
            <a:spLocks noChangeArrowheads="1"/>
          </p:cNvSpPr>
          <p:nvPr/>
        </p:nvSpPr>
        <p:spPr bwMode="auto">
          <a:xfrm>
            <a:off x="1979613" y="1989138"/>
            <a:ext cx="1223962" cy="503237"/>
          </a:xfrm>
          <a:prstGeom prst="rect">
            <a:avLst/>
          </a:prstGeom>
          <a:solidFill>
            <a:srgbClr val="CCCCFF"/>
          </a:solidFill>
          <a:ln w="9525" algn="ctr">
            <a:solidFill>
              <a:srgbClr val="000000"/>
            </a:solidFill>
            <a:miter lim="800000"/>
          </a:ln>
          <a:effectLst>
            <a:outerShdw dist="53882" dir="2700000" algn="ctr" rotWithShape="0">
              <a:schemeClr val="bg2"/>
            </a:outerShdw>
          </a:effectLst>
        </p:spPr>
        <p:txBody>
          <a:bodyPr lIns="0" tIns="0" rIns="0" bIns="0" anchor="ctr"/>
          <a:lstStyle/>
          <a:p>
            <a:pPr algn="ctr"/>
            <a:r>
              <a:rPr lang="zh-CN" altLang="en-US" sz="2400" b="1">
                <a:effectLst>
                  <a:outerShdw blurRad="38100" dist="38100" dir="2700000" algn="tl">
                    <a:srgbClr val="FFFFFF"/>
                  </a:outerShdw>
                </a:effectLst>
                <a:ea typeface="楷体_GB2312" pitchFamily="49" charset="-122"/>
              </a:rPr>
              <a:t>安全性</a:t>
            </a:r>
          </a:p>
        </p:txBody>
      </p:sp>
      <p:sp>
        <p:nvSpPr>
          <p:cNvPr id="523271" name="Rectangle 7"/>
          <p:cNvSpPr>
            <a:spLocks noChangeArrowheads="1"/>
          </p:cNvSpPr>
          <p:nvPr/>
        </p:nvSpPr>
        <p:spPr bwMode="auto">
          <a:xfrm>
            <a:off x="3708400" y="1989138"/>
            <a:ext cx="1222375" cy="503237"/>
          </a:xfrm>
          <a:prstGeom prst="rect">
            <a:avLst/>
          </a:prstGeom>
          <a:solidFill>
            <a:srgbClr val="CCCCFF"/>
          </a:solidFill>
          <a:ln w="9525" algn="ctr">
            <a:solidFill>
              <a:srgbClr val="000000"/>
            </a:solidFill>
            <a:miter lim="800000"/>
          </a:ln>
          <a:effectLst>
            <a:outerShdw dist="53882" dir="2700000" algn="ctr" rotWithShape="0">
              <a:schemeClr val="bg2"/>
            </a:outerShdw>
          </a:effectLst>
        </p:spPr>
        <p:txBody>
          <a:bodyPr lIns="0" tIns="0" rIns="0" bIns="0" anchor="ctr"/>
          <a:lstStyle/>
          <a:p>
            <a:pPr algn="ctr"/>
            <a:r>
              <a:rPr lang="zh-CN" altLang="en-US" sz="2400" b="1">
                <a:effectLst>
                  <a:outerShdw blurRad="38100" dist="38100" dir="2700000" algn="tl">
                    <a:srgbClr val="FFFFFF"/>
                  </a:outerShdw>
                </a:effectLst>
                <a:ea typeface="楷体_GB2312" pitchFamily="49" charset="-122"/>
              </a:rPr>
              <a:t>完整性</a:t>
            </a:r>
          </a:p>
        </p:txBody>
      </p:sp>
      <p:sp>
        <p:nvSpPr>
          <p:cNvPr id="523272" name="Rectangle 8"/>
          <p:cNvSpPr>
            <a:spLocks noChangeArrowheads="1"/>
          </p:cNvSpPr>
          <p:nvPr/>
        </p:nvSpPr>
        <p:spPr bwMode="auto">
          <a:xfrm>
            <a:off x="3059113" y="981075"/>
            <a:ext cx="3097212" cy="504825"/>
          </a:xfrm>
          <a:prstGeom prst="rect">
            <a:avLst/>
          </a:prstGeom>
          <a:solidFill>
            <a:srgbClr val="CCFFCC"/>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rPr>
              <a:t>数据库保护技术</a:t>
            </a:r>
            <a:endParaRPr lang="en-US" altLang="zh-CN"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3273" name="Rectangle 9"/>
          <p:cNvSpPr>
            <a:spLocks noChangeArrowheads="1"/>
          </p:cNvSpPr>
          <p:nvPr/>
        </p:nvSpPr>
        <p:spPr bwMode="auto">
          <a:xfrm>
            <a:off x="395288" y="1989138"/>
            <a:ext cx="1079500" cy="503237"/>
          </a:xfrm>
          <a:prstGeom prst="rect">
            <a:avLst/>
          </a:prstGeom>
          <a:solidFill>
            <a:srgbClr val="CCCCFF"/>
          </a:solidFill>
          <a:ln w="9525" algn="ctr">
            <a:solidFill>
              <a:srgbClr val="000000"/>
            </a:solidFill>
            <a:miter lim="800000"/>
          </a:ln>
          <a:effectLst>
            <a:outerShdw dist="53882" dir="2700000" algn="ctr" rotWithShape="0">
              <a:schemeClr val="bg2"/>
            </a:outerShdw>
          </a:effectLst>
        </p:spPr>
        <p:txBody>
          <a:bodyPr lIns="0" tIns="0" rIns="0" bIns="0" anchor="ctr"/>
          <a:lstStyle/>
          <a:p>
            <a:pPr algn="ctr"/>
            <a:r>
              <a:rPr lang="zh-CN" altLang="en-US" sz="2400" b="1">
                <a:effectLst>
                  <a:outerShdw blurRad="38100" dist="38100" dir="2700000" algn="tl">
                    <a:srgbClr val="FFFFFF"/>
                  </a:outerShdw>
                </a:effectLst>
                <a:ea typeface="楷体_GB2312" pitchFamily="49" charset="-122"/>
              </a:rPr>
              <a:t>事务</a:t>
            </a:r>
          </a:p>
        </p:txBody>
      </p:sp>
      <p:sp>
        <p:nvSpPr>
          <p:cNvPr id="523274" name="AutoShape 10"/>
          <p:cNvSpPr>
            <a:spLocks noChangeArrowheads="1"/>
          </p:cNvSpPr>
          <p:nvPr/>
        </p:nvSpPr>
        <p:spPr bwMode="auto">
          <a:xfrm rot="16200000" flipH="1">
            <a:off x="323056" y="2997994"/>
            <a:ext cx="1152525" cy="287338"/>
          </a:xfrm>
          <a:prstGeom prst="rightArrow">
            <a:avLst>
              <a:gd name="adj1" fmla="val 49694"/>
              <a:gd name="adj2" fmla="val 40723"/>
            </a:avLst>
          </a:prstGeom>
          <a:solidFill>
            <a:srgbClr val="FFFF4F"/>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3275" name="Text Box 11"/>
          <p:cNvSpPr txBox="1">
            <a:spLocks noChangeArrowheads="1"/>
          </p:cNvSpPr>
          <p:nvPr/>
        </p:nvSpPr>
        <p:spPr bwMode="auto">
          <a:xfrm>
            <a:off x="250825" y="3789363"/>
            <a:ext cx="1152525" cy="1871662"/>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anchor="ctr" anchorCtr="1"/>
          <a:lstStyle/>
          <a:p>
            <a:pPr algn="ctr">
              <a:spcBef>
                <a:spcPct val="10000"/>
              </a:spcBef>
            </a:pPr>
            <a:r>
              <a:rPr kumimoji="1" lang="zh-CN" altLang="en-US" sz="2400" b="1">
                <a:solidFill>
                  <a:schemeClr val="bg1"/>
                </a:solidFill>
                <a:effectLst>
                  <a:outerShdw blurRad="38100" dist="38100" dir="2700000" algn="tl">
                    <a:srgbClr val="000000"/>
                  </a:outerShdw>
                </a:effectLst>
                <a:latin typeface="Comic Sans MS" panose="030F0702030302020204" pitchFamily="66" charset="0"/>
                <a:ea typeface="楷体_GB2312" pitchFamily="49" charset="-122"/>
              </a:rPr>
              <a:t>原子性</a:t>
            </a:r>
          </a:p>
          <a:p>
            <a:pPr algn="ctr">
              <a:spcBef>
                <a:spcPct val="10000"/>
              </a:spcBef>
            </a:pPr>
            <a:r>
              <a:rPr kumimoji="1" lang="zh-CN" altLang="en-US" sz="2400" b="1">
                <a:solidFill>
                  <a:schemeClr val="bg1"/>
                </a:solidFill>
                <a:effectLst>
                  <a:outerShdw blurRad="38100" dist="38100" dir="2700000" algn="tl">
                    <a:srgbClr val="000000"/>
                  </a:outerShdw>
                </a:effectLst>
                <a:latin typeface="Comic Sans MS" panose="030F0702030302020204" pitchFamily="66" charset="0"/>
                <a:ea typeface="楷体_GB2312" pitchFamily="49" charset="-122"/>
              </a:rPr>
              <a:t>一致性</a:t>
            </a:r>
          </a:p>
          <a:p>
            <a:pPr algn="ctr">
              <a:spcBef>
                <a:spcPct val="10000"/>
              </a:spcBef>
            </a:pPr>
            <a:r>
              <a:rPr kumimoji="1" lang="zh-CN" altLang="en-US" sz="2400" b="1">
                <a:solidFill>
                  <a:schemeClr val="bg1"/>
                </a:solidFill>
                <a:effectLst>
                  <a:outerShdw blurRad="38100" dist="38100" dir="2700000" algn="tl">
                    <a:srgbClr val="000000"/>
                  </a:outerShdw>
                </a:effectLst>
                <a:latin typeface="Comic Sans MS" panose="030F0702030302020204" pitchFamily="66" charset="0"/>
                <a:ea typeface="楷体_GB2312" pitchFamily="49" charset="-122"/>
              </a:rPr>
              <a:t>隔离性</a:t>
            </a:r>
          </a:p>
          <a:p>
            <a:pPr algn="ctr">
              <a:spcBef>
                <a:spcPct val="10000"/>
              </a:spcBef>
            </a:pPr>
            <a:r>
              <a:rPr kumimoji="1" lang="zh-CN" altLang="en-US" sz="2400" b="1">
                <a:solidFill>
                  <a:schemeClr val="bg1"/>
                </a:solidFill>
                <a:effectLst>
                  <a:outerShdw blurRad="38100" dist="38100" dir="2700000" algn="tl">
                    <a:srgbClr val="000000"/>
                  </a:outerShdw>
                </a:effectLst>
                <a:latin typeface="Comic Sans MS" panose="030F0702030302020204" pitchFamily="66" charset="0"/>
                <a:ea typeface="楷体_GB2312" pitchFamily="49" charset="-122"/>
              </a:rPr>
              <a:t>持久性</a:t>
            </a:r>
          </a:p>
        </p:txBody>
      </p:sp>
      <p:sp>
        <p:nvSpPr>
          <p:cNvPr id="523276" name="AutoShape 12"/>
          <p:cNvSpPr>
            <a:spLocks noChangeArrowheads="1"/>
          </p:cNvSpPr>
          <p:nvPr/>
        </p:nvSpPr>
        <p:spPr bwMode="auto">
          <a:xfrm rot="5400000">
            <a:off x="2412207" y="2637631"/>
            <a:ext cx="431800" cy="287337"/>
          </a:xfrm>
          <a:prstGeom prst="rightArrow">
            <a:avLst>
              <a:gd name="adj1" fmla="val 49694"/>
              <a:gd name="adj2" fmla="val 15257"/>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3277" name="Rectangle 13"/>
          <p:cNvSpPr>
            <a:spLocks noChangeArrowheads="1"/>
          </p:cNvSpPr>
          <p:nvPr/>
        </p:nvSpPr>
        <p:spPr bwMode="auto">
          <a:xfrm>
            <a:off x="1908175" y="3068638"/>
            <a:ext cx="1441450" cy="504825"/>
          </a:xfrm>
          <a:prstGeom prst="rect">
            <a:avLst/>
          </a:prstGeom>
          <a:solidFill>
            <a:srgbClr val="CCFF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楷体_GB2312" pitchFamily="49" charset="-122"/>
                <a:ea typeface="楷体_GB2312" pitchFamily="49" charset="-122"/>
              </a:rPr>
              <a:t>安全控制</a:t>
            </a:r>
          </a:p>
        </p:txBody>
      </p:sp>
      <p:sp>
        <p:nvSpPr>
          <p:cNvPr id="523278" name="Text Box 14"/>
          <p:cNvSpPr txBox="1">
            <a:spLocks noChangeArrowheads="1"/>
          </p:cNvSpPr>
          <p:nvPr/>
        </p:nvSpPr>
        <p:spPr bwMode="auto">
          <a:xfrm>
            <a:off x="1546225" y="4149725"/>
            <a:ext cx="2162175" cy="436563"/>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lIns="0" rIns="0">
            <a:spAutoFit/>
          </a:bodyPr>
          <a:lstStyle/>
          <a:p>
            <a:pPr algn="ctr">
              <a:spcBef>
                <a:spcPct val="50000"/>
              </a:spcBef>
            </a:pPr>
            <a:r>
              <a:rPr kumimoji="1" lang="zh-CN" altLang="en-US" sz="2200" b="1">
                <a:solidFill>
                  <a:srgbClr val="FFFF00"/>
                </a:solidFill>
                <a:effectLst>
                  <a:outerShdw blurRad="38100" dist="38100" dir="2700000" algn="tl">
                    <a:srgbClr val="000000"/>
                  </a:outerShdw>
                </a:effectLst>
                <a:latin typeface="楷体_GB2312" pitchFamily="49" charset="-122"/>
                <a:ea typeface="楷体_GB2312" pitchFamily="49" charset="-122"/>
              </a:rPr>
              <a:t>用户</a:t>
            </a:r>
            <a:r>
              <a:rPr kumimoji="1" lang="en-US" altLang="zh-CN" sz="2200" b="1">
                <a:solidFill>
                  <a:srgbClr val="FFFF00"/>
                </a:solidFill>
                <a:effectLst>
                  <a:outerShdw blurRad="38100" dist="38100" dir="2700000" algn="tl">
                    <a:srgbClr val="000000"/>
                  </a:outerShdw>
                </a:effectLst>
                <a:latin typeface="楷体_GB2312" pitchFamily="49" charset="-122"/>
                <a:ea typeface="楷体_GB2312" pitchFamily="49" charset="-122"/>
              </a:rPr>
              <a:t>:</a:t>
            </a:r>
            <a:r>
              <a:rPr kumimoji="1" lang="zh-CN" altLang="en-US" sz="2200" b="1">
                <a:solidFill>
                  <a:schemeClr val="bg1"/>
                </a:solidFill>
                <a:latin typeface="楷体_GB2312" pitchFamily="49" charset="-122"/>
                <a:ea typeface="楷体_GB2312" pitchFamily="49" charset="-122"/>
              </a:rPr>
              <a:t>标识和鉴别</a:t>
            </a:r>
          </a:p>
        </p:txBody>
      </p:sp>
      <p:sp>
        <p:nvSpPr>
          <p:cNvPr id="523279" name="Text Box 15"/>
          <p:cNvSpPr txBox="1">
            <a:spLocks noChangeArrowheads="1"/>
          </p:cNvSpPr>
          <p:nvPr/>
        </p:nvSpPr>
        <p:spPr bwMode="auto">
          <a:xfrm>
            <a:off x="1547813" y="4652963"/>
            <a:ext cx="2160587" cy="436562"/>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lIns="0" rIns="0">
            <a:spAutoFit/>
          </a:bodyPr>
          <a:lstStyle/>
          <a:p>
            <a:pPr algn="ctr">
              <a:spcBef>
                <a:spcPct val="50000"/>
              </a:spcBef>
            </a:pPr>
            <a:r>
              <a:rPr kumimoji="1" lang="en-US" altLang="zh-CN" sz="2200" b="1">
                <a:solidFill>
                  <a:srgbClr val="FFFF00"/>
                </a:solidFill>
                <a:effectLst>
                  <a:outerShdw blurRad="38100" dist="38100" dir="2700000" algn="tl">
                    <a:srgbClr val="000000"/>
                  </a:outerShdw>
                </a:effectLst>
                <a:latin typeface="楷体_GB2312" pitchFamily="49" charset="-122"/>
                <a:ea typeface="楷体_GB2312" pitchFamily="49" charset="-122"/>
              </a:rPr>
              <a:t>DBMS</a:t>
            </a:r>
            <a:r>
              <a:rPr kumimoji="1" lang="zh-CN" altLang="en-US" sz="2200" b="1">
                <a:solidFill>
                  <a:srgbClr val="FFFF00"/>
                </a:solidFill>
                <a:effectLst>
                  <a:outerShdw blurRad="38100" dist="38100" dir="2700000" algn="tl">
                    <a:srgbClr val="000000"/>
                  </a:outerShdw>
                </a:effectLst>
                <a:latin typeface="楷体_GB2312" pitchFamily="49" charset="-122"/>
                <a:ea typeface="楷体_GB2312" pitchFamily="49" charset="-122"/>
              </a:rPr>
              <a:t>：</a:t>
            </a:r>
            <a:r>
              <a:rPr kumimoji="1" lang="zh-CN" altLang="en-US" sz="2200" b="1">
                <a:solidFill>
                  <a:schemeClr val="bg1"/>
                </a:solidFill>
                <a:latin typeface="楷体_GB2312" pitchFamily="49" charset="-122"/>
                <a:ea typeface="楷体_GB2312" pitchFamily="49" charset="-122"/>
              </a:rPr>
              <a:t>存取控制</a:t>
            </a:r>
          </a:p>
        </p:txBody>
      </p:sp>
      <p:sp>
        <p:nvSpPr>
          <p:cNvPr id="523280" name="Text Box 16"/>
          <p:cNvSpPr txBox="1">
            <a:spLocks noChangeArrowheads="1"/>
          </p:cNvSpPr>
          <p:nvPr/>
        </p:nvSpPr>
        <p:spPr bwMode="auto">
          <a:xfrm>
            <a:off x="1547813" y="5157788"/>
            <a:ext cx="2160587" cy="436562"/>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lIns="0" rIns="0">
            <a:spAutoFit/>
          </a:bodyPr>
          <a:lstStyle/>
          <a:p>
            <a:pPr algn="ctr">
              <a:spcBef>
                <a:spcPct val="50000"/>
              </a:spcBef>
            </a:pPr>
            <a:r>
              <a:rPr kumimoji="1" lang="en-US" altLang="zh-CN" sz="2200" b="1">
                <a:solidFill>
                  <a:srgbClr val="FFFF00"/>
                </a:solidFill>
                <a:effectLst>
                  <a:outerShdw blurRad="38100" dist="38100" dir="2700000" algn="tl">
                    <a:srgbClr val="000000"/>
                  </a:outerShdw>
                </a:effectLst>
                <a:latin typeface="楷体_GB2312" pitchFamily="49" charset="-122"/>
                <a:ea typeface="楷体_GB2312" pitchFamily="49" charset="-122"/>
              </a:rPr>
              <a:t>OS</a:t>
            </a:r>
            <a:r>
              <a:rPr kumimoji="1" lang="zh-CN" altLang="en-US" sz="2200" b="1">
                <a:solidFill>
                  <a:srgbClr val="FFFF00"/>
                </a:solidFill>
                <a:effectLst>
                  <a:outerShdw blurRad="38100" dist="38100" dir="2700000" algn="tl">
                    <a:srgbClr val="000000"/>
                  </a:outerShdw>
                </a:effectLst>
                <a:latin typeface="楷体_GB2312" pitchFamily="49" charset="-122"/>
                <a:ea typeface="楷体_GB2312" pitchFamily="49" charset="-122"/>
              </a:rPr>
              <a:t>：</a:t>
            </a:r>
            <a:r>
              <a:rPr kumimoji="1" lang="zh-CN" altLang="en-US" sz="2200" b="1">
                <a:solidFill>
                  <a:schemeClr val="bg1"/>
                </a:solidFill>
                <a:latin typeface="楷体_GB2312" pitchFamily="49" charset="-122"/>
                <a:ea typeface="楷体_GB2312" pitchFamily="49" charset="-122"/>
              </a:rPr>
              <a:t>安全保护</a:t>
            </a:r>
          </a:p>
        </p:txBody>
      </p:sp>
      <p:sp>
        <p:nvSpPr>
          <p:cNvPr id="523281" name="Text Box 17"/>
          <p:cNvSpPr txBox="1">
            <a:spLocks noChangeArrowheads="1"/>
          </p:cNvSpPr>
          <p:nvPr/>
        </p:nvSpPr>
        <p:spPr bwMode="auto">
          <a:xfrm>
            <a:off x="1546225" y="5661025"/>
            <a:ext cx="2162175" cy="436563"/>
          </a:xfrm>
          <a:prstGeom prst="rect">
            <a:avLst/>
          </a:prstGeom>
          <a:solidFill>
            <a:srgbClr val="006600"/>
          </a:solidFill>
          <a:ln w="9525" algn="ctr">
            <a:solidFill>
              <a:schemeClr val="tx2"/>
            </a:solidFill>
            <a:miter lim="800000"/>
          </a:ln>
          <a:effectLst>
            <a:outerShdw dist="35921" dir="2700000" algn="ctr" rotWithShape="0">
              <a:schemeClr val="tx2"/>
            </a:outerShdw>
          </a:effectLst>
        </p:spPr>
        <p:txBody>
          <a:bodyPr lIns="0" rIns="0">
            <a:spAutoFit/>
          </a:bodyPr>
          <a:lstStyle/>
          <a:p>
            <a:pPr algn="ctr">
              <a:spcBef>
                <a:spcPct val="50000"/>
              </a:spcBef>
            </a:pPr>
            <a:r>
              <a:rPr kumimoji="1" lang="en-US" altLang="zh-CN" sz="2200" b="1">
                <a:solidFill>
                  <a:srgbClr val="FFFF00"/>
                </a:solidFill>
                <a:effectLst>
                  <a:outerShdw blurRad="38100" dist="38100" dir="2700000" algn="tl">
                    <a:srgbClr val="000000"/>
                  </a:outerShdw>
                </a:effectLst>
                <a:latin typeface="楷体_GB2312" pitchFamily="49" charset="-122"/>
                <a:ea typeface="楷体_GB2312" pitchFamily="49" charset="-122"/>
              </a:rPr>
              <a:t>DB</a:t>
            </a:r>
            <a:r>
              <a:rPr kumimoji="1" lang="zh-CN" altLang="en-US" sz="2200" b="1">
                <a:solidFill>
                  <a:srgbClr val="FFFF00"/>
                </a:solidFill>
                <a:effectLst>
                  <a:outerShdw blurRad="38100" dist="38100" dir="2700000" algn="tl">
                    <a:srgbClr val="000000"/>
                  </a:outerShdw>
                </a:effectLst>
                <a:latin typeface="楷体_GB2312" pitchFamily="49" charset="-122"/>
                <a:ea typeface="楷体_GB2312" pitchFamily="49" charset="-122"/>
              </a:rPr>
              <a:t>：</a:t>
            </a:r>
            <a:r>
              <a:rPr kumimoji="1" lang="zh-CN" altLang="en-US" sz="2200" b="1">
                <a:solidFill>
                  <a:schemeClr val="bg1"/>
                </a:solidFill>
                <a:latin typeface="楷体_GB2312" pitchFamily="49" charset="-122"/>
                <a:ea typeface="楷体_GB2312" pitchFamily="49" charset="-122"/>
              </a:rPr>
              <a:t>数据加密</a:t>
            </a:r>
          </a:p>
        </p:txBody>
      </p:sp>
      <p:sp>
        <p:nvSpPr>
          <p:cNvPr id="523282" name="AutoShape 18"/>
          <p:cNvSpPr>
            <a:spLocks noChangeArrowheads="1"/>
          </p:cNvSpPr>
          <p:nvPr/>
        </p:nvSpPr>
        <p:spPr bwMode="auto">
          <a:xfrm rot="16200000" flipH="1">
            <a:off x="2412207" y="3717131"/>
            <a:ext cx="431800" cy="287337"/>
          </a:xfrm>
          <a:prstGeom prst="rightArrow">
            <a:avLst>
              <a:gd name="adj1" fmla="val 49694"/>
              <a:gd name="adj2" fmla="val 15257"/>
            </a:avLst>
          </a:prstGeom>
          <a:solidFill>
            <a:srgbClr val="FFFF4F"/>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3283" name="Text Box 19"/>
          <p:cNvSpPr txBox="1">
            <a:spLocks noChangeArrowheads="1"/>
          </p:cNvSpPr>
          <p:nvPr/>
        </p:nvSpPr>
        <p:spPr bwMode="auto">
          <a:xfrm>
            <a:off x="3830638" y="3022600"/>
            <a:ext cx="544512" cy="1270000"/>
          </a:xfrm>
          <a:prstGeom prst="rect">
            <a:avLst/>
          </a:prstGeom>
          <a:solidFill>
            <a:srgbClr val="CCFFCC"/>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r>
              <a:rPr lang="zh-CN" altLang="en-US" sz="2200" b="1">
                <a:solidFill>
                  <a:srgbClr val="FF0066"/>
                </a:solidFill>
                <a:effectLst>
                  <a:outerShdw blurRad="38100" dist="38100" dir="2700000" algn="tl">
                    <a:srgbClr val="000000"/>
                  </a:outerShdw>
                </a:effectLst>
                <a:ea typeface="楷体_GB2312" pitchFamily="49" charset="-122"/>
              </a:rPr>
              <a:t>域级约束</a:t>
            </a:r>
          </a:p>
        </p:txBody>
      </p:sp>
      <p:sp>
        <p:nvSpPr>
          <p:cNvPr id="523284" name="Text Box 20"/>
          <p:cNvSpPr txBox="1">
            <a:spLocks noChangeArrowheads="1"/>
          </p:cNvSpPr>
          <p:nvPr/>
        </p:nvSpPr>
        <p:spPr bwMode="auto">
          <a:xfrm>
            <a:off x="4427538" y="3022600"/>
            <a:ext cx="544512" cy="1270000"/>
          </a:xfrm>
          <a:prstGeom prst="rect">
            <a:avLst/>
          </a:prstGeom>
          <a:solidFill>
            <a:srgbClr val="CCFFCC"/>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r>
              <a:rPr lang="zh-CN" altLang="en-US" sz="2200" b="1">
                <a:solidFill>
                  <a:srgbClr val="006600"/>
                </a:solidFill>
                <a:effectLst>
                  <a:outerShdw blurRad="38100" dist="38100" dir="2700000" algn="tl">
                    <a:srgbClr val="000000"/>
                  </a:outerShdw>
                </a:effectLst>
                <a:ea typeface="楷体_GB2312" pitchFamily="49" charset="-122"/>
              </a:rPr>
              <a:t>实体约束</a:t>
            </a:r>
          </a:p>
        </p:txBody>
      </p:sp>
      <p:sp>
        <p:nvSpPr>
          <p:cNvPr id="523285" name="AutoShape 21"/>
          <p:cNvSpPr>
            <a:spLocks noChangeArrowheads="1"/>
          </p:cNvSpPr>
          <p:nvPr/>
        </p:nvSpPr>
        <p:spPr bwMode="auto">
          <a:xfrm rot="16200000" flipH="1">
            <a:off x="4139407" y="2637631"/>
            <a:ext cx="431800" cy="287337"/>
          </a:xfrm>
          <a:prstGeom prst="rightArrow">
            <a:avLst>
              <a:gd name="adj1" fmla="val 49694"/>
              <a:gd name="adj2" fmla="val 15257"/>
            </a:avLst>
          </a:prstGeom>
          <a:solidFill>
            <a:srgbClr val="FFFF4F"/>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3286" name="AutoShape 22"/>
          <p:cNvSpPr>
            <a:spLocks noChangeArrowheads="1"/>
          </p:cNvSpPr>
          <p:nvPr/>
        </p:nvSpPr>
        <p:spPr bwMode="auto">
          <a:xfrm rot="5400000">
            <a:off x="6012657" y="2637631"/>
            <a:ext cx="431800" cy="287337"/>
          </a:xfrm>
          <a:prstGeom prst="rightArrow">
            <a:avLst>
              <a:gd name="adj1" fmla="val 49694"/>
              <a:gd name="adj2" fmla="val 15257"/>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3287" name="Rectangle 23"/>
          <p:cNvSpPr>
            <a:spLocks noChangeArrowheads="1"/>
          </p:cNvSpPr>
          <p:nvPr/>
        </p:nvSpPr>
        <p:spPr bwMode="auto">
          <a:xfrm>
            <a:off x="5508625" y="3068638"/>
            <a:ext cx="1441450" cy="504825"/>
          </a:xfrm>
          <a:prstGeom prst="rect">
            <a:avLst/>
          </a:prstGeom>
          <a:solidFill>
            <a:srgbClr val="CCFF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CC0000"/>
                </a:solidFill>
                <a:latin typeface="黑体" panose="02010609060101010101" pitchFamily="49" charset="-122"/>
                <a:ea typeface="黑体" panose="02010609060101010101" pitchFamily="49" charset="-122"/>
              </a:rPr>
              <a:t>事务故障</a:t>
            </a:r>
          </a:p>
        </p:txBody>
      </p:sp>
      <p:sp>
        <p:nvSpPr>
          <p:cNvPr id="523288" name="Rectangle 24"/>
          <p:cNvSpPr>
            <a:spLocks noChangeArrowheads="1"/>
          </p:cNvSpPr>
          <p:nvPr/>
        </p:nvSpPr>
        <p:spPr bwMode="auto">
          <a:xfrm>
            <a:off x="5508625" y="3789363"/>
            <a:ext cx="1511300" cy="431800"/>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CC0000"/>
                </a:solidFill>
                <a:latin typeface="黑体" panose="02010609060101010101" pitchFamily="49" charset="-122"/>
                <a:ea typeface="黑体" panose="02010609060101010101" pitchFamily="49" charset="-122"/>
              </a:rPr>
              <a:t>系统故障</a:t>
            </a:r>
            <a:r>
              <a:rPr lang="zh-CN" altLang="en-US" b="1">
                <a:solidFill>
                  <a:srgbClr val="080808"/>
                </a:solidFill>
                <a:latin typeface="黑体" panose="02010609060101010101" pitchFamily="49" charset="-122"/>
                <a:ea typeface="黑体" panose="02010609060101010101" pitchFamily="49" charset="-122"/>
              </a:rPr>
              <a:t> </a:t>
            </a:r>
          </a:p>
        </p:txBody>
      </p:sp>
      <p:sp>
        <p:nvSpPr>
          <p:cNvPr id="523289" name="Rectangle 25"/>
          <p:cNvSpPr>
            <a:spLocks noChangeArrowheads="1"/>
          </p:cNvSpPr>
          <p:nvPr/>
        </p:nvSpPr>
        <p:spPr bwMode="auto">
          <a:xfrm>
            <a:off x="5508625" y="4437063"/>
            <a:ext cx="1511300" cy="504825"/>
          </a:xfrm>
          <a:prstGeom prst="rect">
            <a:avLst/>
          </a:prstGeom>
          <a:solidFill>
            <a:srgbClr val="CCFFFF"/>
          </a:solidFill>
          <a:ln w="9525" algn="ctr">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CC0000"/>
                </a:solidFill>
                <a:latin typeface="黑体" panose="02010609060101010101" pitchFamily="49" charset="-122"/>
                <a:ea typeface="黑体" panose="02010609060101010101" pitchFamily="49" charset="-122"/>
              </a:rPr>
              <a:t>介质故障</a:t>
            </a:r>
            <a:endParaRPr lang="zh-CN" altLang="en-US" b="1">
              <a:solidFill>
                <a:srgbClr val="080808"/>
              </a:solidFill>
              <a:latin typeface="黑体" panose="02010609060101010101" pitchFamily="49" charset="-122"/>
              <a:ea typeface="黑体" panose="02010609060101010101" pitchFamily="49" charset="-122"/>
            </a:endParaRPr>
          </a:p>
        </p:txBody>
      </p:sp>
      <p:sp>
        <p:nvSpPr>
          <p:cNvPr id="523290" name="AutoShape 26"/>
          <p:cNvSpPr>
            <a:spLocks noChangeArrowheads="1"/>
          </p:cNvSpPr>
          <p:nvPr/>
        </p:nvSpPr>
        <p:spPr bwMode="auto">
          <a:xfrm rot="16200000" flipH="1">
            <a:off x="7920038" y="2673350"/>
            <a:ext cx="503238" cy="287337"/>
          </a:xfrm>
          <a:prstGeom prst="rightArrow">
            <a:avLst>
              <a:gd name="adj1" fmla="val 49694"/>
              <a:gd name="adj2" fmla="val 17781"/>
            </a:avLst>
          </a:prstGeom>
          <a:solidFill>
            <a:srgbClr val="FFFF4F"/>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3291" name="Rectangle 27"/>
          <p:cNvSpPr>
            <a:spLocks noChangeArrowheads="1"/>
          </p:cNvSpPr>
          <p:nvPr/>
        </p:nvSpPr>
        <p:spPr bwMode="auto">
          <a:xfrm>
            <a:off x="7812088" y="3213100"/>
            <a:ext cx="919162" cy="576263"/>
          </a:xfrm>
          <a:prstGeom prst="rect">
            <a:avLst/>
          </a:prstGeom>
          <a:solidFill>
            <a:srgbClr val="CCFFFF"/>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buClr>
                <a:schemeClr val="bg2"/>
              </a:buClr>
              <a:buFont typeface="Monotype Sorts" pitchFamily="2" charset="2"/>
              <a:buNone/>
            </a:pPr>
            <a:r>
              <a:rPr lang="zh-CN" altLang="en-US" b="1">
                <a:solidFill>
                  <a:srgbClr val="003399"/>
                </a:solidFill>
                <a:effectLst>
                  <a:outerShdw blurRad="38100" dist="38100" dir="2700000" algn="tl">
                    <a:srgbClr val="000000"/>
                  </a:outerShdw>
                </a:effectLst>
                <a:latin typeface="黑体" panose="02010609060101010101" pitchFamily="49" charset="-122"/>
                <a:ea typeface="黑体" panose="02010609060101010101" pitchFamily="49" charset="-122"/>
              </a:rPr>
              <a:t>锁</a:t>
            </a:r>
          </a:p>
        </p:txBody>
      </p:sp>
      <p:sp>
        <p:nvSpPr>
          <p:cNvPr id="523292" name="Rectangle 28"/>
          <p:cNvSpPr>
            <a:spLocks noChangeArrowheads="1"/>
          </p:cNvSpPr>
          <p:nvPr/>
        </p:nvSpPr>
        <p:spPr bwMode="auto">
          <a:xfrm>
            <a:off x="7596188" y="4365625"/>
            <a:ext cx="1296987" cy="504825"/>
          </a:xfrm>
          <a:prstGeom prst="rect">
            <a:avLst/>
          </a:prstGeom>
          <a:solidFill>
            <a:srgbClr val="CCFFCC"/>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006600"/>
                </a:solidFill>
                <a:effectLst>
                  <a:outerShdw blurRad="38100" dist="38100" dir="2700000" algn="tl">
                    <a:srgbClr val="000000"/>
                  </a:outerShdw>
                </a:effectLst>
                <a:latin typeface="黑体" panose="02010609060101010101" pitchFamily="49" charset="-122"/>
                <a:ea typeface="黑体" panose="02010609060101010101" pitchFamily="49" charset="-122"/>
              </a:rPr>
              <a:t>锁协议</a:t>
            </a:r>
            <a:endParaRPr lang="en-US" altLang="zh-CN" b="1">
              <a:solidFill>
                <a:srgbClr val="0066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3293" name="AutoShape 29"/>
          <p:cNvSpPr>
            <a:spLocks noChangeArrowheads="1"/>
          </p:cNvSpPr>
          <p:nvPr/>
        </p:nvSpPr>
        <p:spPr bwMode="auto">
          <a:xfrm rot="5400000">
            <a:off x="7957344" y="3933031"/>
            <a:ext cx="431800" cy="287338"/>
          </a:xfrm>
          <a:prstGeom prst="rightArrow">
            <a:avLst>
              <a:gd name="adj1" fmla="val 49694"/>
              <a:gd name="adj2" fmla="val 15257"/>
            </a:avLst>
          </a:prstGeom>
          <a:solidFill>
            <a:srgbClr val="00FF00"/>
          </a:solidFill>
          <a:ln w="12700" cap="sq">
            <a:solidFill>
              <a:schemeClr val="tx1"/>
            </a:solidFill>
            <a:miter lim="800000"/>
            <a:headEnd type="none" w="sm" len="sm"/>
            <a:tailEnd type="none" w="sm" len="sm"/>
          </a:ln>
          <a:effectLst>
            <a:outerShdw dist="35921" dir="2700000" algn="ctr" rotWithShape="0">
              <a:schemeClr val="tx1"/>
            </a:outerShdw>
          </a:effectLst>
        </p:spPr>
        <p:txBody>
          <a:bodyPr wrap="none" anchor="ctr"/>
          <a:lstStyle/>
          <a:p>
            <a:endParaRPr lang="zh-CN" altLang="en-US"/>
          </a:p>
        </p:txBody>
      </p:sp>
      <p:sp>
        <p:nvSpPr>
          <p:cNvPr id="523294" name="Line 30"/>
          <p:cNvSpPr>
            <a:spLocks noChangeShapeType="1"/>
          </p:cNvSpPr>
          <p:nvPr/>
        </p:nvSpPr>
        <p:spPr bwMode="auto">
          <a:xfrm>
            <a:off x="8172450" y="4941888"/>
            <a:ext cx="0" cy="504825"/>
          </a:xfrm>
          <a:prstGeom prst="line">
            <a:avLst/>
          </a:prstGeom>
          <a:noFill/>
          <a:ln w="635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295" name="Rectangle 31"/>
          <p:cNvSpPr>
            <a:spLocks noChangeArrowheads="1"/>
          </p:cNvSpPr>
          <p:nvPr/>
        </p:nvSpPr>
        <p:spPr bwMode="auto">
          <a:xfrm>
            <a:off x="7380288" y="5516563"/>
            <a:ext cx="1512887" cy="504825"/>
          </a:xfrm>
          <a:prstGeom prst="rect">
            <a:avLst/>
          </a:prstGeom>
          <a:solidFill>
            <a:srgbClr val="CCFFCC"/>
          </a:solidFill>
          <a:ln w="9525">
            <a:solidFill>
              <a:schemeClr val="tx1"/>
            </a:solidFill>
            <a:miter lim="800000"/>
          </a:ln>
          <a:effectLst>
            <a:outerShdw dist="53882" dir="2700000" algn="ctr" rotWithShape="0">
              <a:schemeClr val="tx1"/>
            </a:outerShdw>
          </a:effectLst>
        </p:spPr>
        <p:txBody>
          <a:bodyPr lIns="0" rIns="0" anchor="ctr" anchorCtr="1"/>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buClr>
                <a:schemeClr val="bg2"/>
              </a:buClr>
              <a:buFont typeface="Monotype Sorts" pitchFamily="2" charset="2"/>
              <a:buNone/>
            </a:pPr>
            <a:r>
              <a:rPr lang="zh-CN" altLang="en-US"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rPr>
              <a:t>可串行化</a:t>
            </a:r>
            <a:endParaRPr lang="en-US" altLang="zh-CN" b="1">
              <a:solidFill>
                <a:srgbClr val="FF33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523296" name="Text Box 32"/>
          <p:cNvSpPr txBox="1">
            <a:spLocks noChangeArrowheads="1"/>
          </p:cNvSpPr>
          <p:nvPr/>
        </p:nvSpPr>
        <p:spPr bwMode="auto">
          <a:xfrm>
            <a:off x="3824288" y="4365625"/>
            <a:ext cx="544512" cy="1270000"/>
          </a:xfrm>
          <a:prstGeom prst="rect">
            <a:avLst/>
          </a:prstGeom>
          <a:solidFill>
            <a:srgbClr val="CCFFCC"/>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r>
              <a:rPr lang="zh-CN" altLang="en-US" sz="2200" b="1">
                <a:solidFill>
                  <a:srgbClr val="800080"/>
                </a:solidFill>
                <a:effectLst>
                  <a:outerShdw blurRad="38100" dist="38100" dir="2700000" algn="tl">
                    <a:srgbClr val="000000"/>
                  </a:outerShdw>
                </a:effectLst>
                <a:ea typeface="楷体_GB2312" pitchFamily="49" charset="-122"/>
              </a:rPr>
              <a:t>参照约束</a:t>
            </a:r>
          </a:p>
        </p:txBody>
      </p:sp>
      <p:sp>
        <p:nvSpPr>
          <p:cNvPr id="523297" name="Text Box 33"/>
          <p:cNvSpPr txBox="1">
            <a:spLocks noChangeArrowheads="1"/>
          </p:cNvSpPr>
          <p:nvPr/>
        </p:nvSpPr>
        <p:spPr bwMode="auto">
          <a:xfrm>
            <a:off x="4421188" y="4365625"/>
            <a:ext cx="544512" cy="1584325"/>
          </a:xfrm>
          <a:prstGeom prst="rect">
            <a:avLst/>
          </a:prstGeom>
          <a:solidFill>
            <a:srgbClr val="CCFFCC"/>
          </a:solidFill>
          <a:ln w="25400" cap="sq">
            <a:solidFill>
              <a:srgbClr val="00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r>
              <a:rPr lang="zh-CN" altLang="en-US" sz="2200" b="1">
                <a:solidFill>
                  <a:schemeClr val="folHlink"/>
                </a:solidFill>
                <a:effectLst>
                  <a:outerShdw blurRad="38100" dist="38100" dir="2700000" algn="tl">
                    <a:srgbClr val="000000"/>
                  </a:outerShdw>
                </a:effectLst>
                <a:ea typeface="楷体_GB2312" pitchFamily="49" charset="-122"/>
              </a:rPr>
              <a:t>自定义约束</a:t>
            </a:r>
          </a:p>
        </p:txBody>
      </p:sp>
    </p:spTree>
    <p:custDataLst>
      <p:tags r:id="rId1"/>
    </p:custDataLst>
  </p:cSld>
  <p:clrMapOvr>
    <a:masterClrMapping/>
  </p:clrMapOvr>
  <p:transition advTm="1692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3272"/>
                                        </p:tgtEl>
                                        <p:attrNameLst>
                                          <p:attrName>style.visibility</p:attrName>
                                        </p:attrNameLst>
                                      </p:cBhvr>
                                      <p:to>
                                        <p:strVal val="visible"/>
                                      </p:to>
                                    </p:set>
                                    <p:animEffect transition="in" filter="wipe(left)">
                                      <p:cBhvr>
                                        <p:cTn id="7" dur="500"/>
                                        <p:tgtEl>
                                          <p:spTgt spid="5232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23267"/>
                                        </p:tgtEl>
                                        <p:attrNameLst>
                                          <p:attrName>style.visibility</p:attrName>
                                        </p:attrNameLst>
                                      </p:cBhvr>
                                      <p:to>
                                        <p:strVal val="visible"/>
                                      </p:to>
                                    </p:set>
                                    <p:animEffect transition="in" filter="wipe(up)">
                                      <p:cBhvr>
                                        <p:cTn id="12" dur="500"/>
                                        <p:tgtEl>
                                          <p:spTgt spid="523267"/>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grpId="0" nodeType="clickEffect">
                                  <p:stCondLst>
                                    <p:cond delay="0"/>
                                  </p:stCondLst>
                                  <p:childTnLst>
                                    <p:set>
                                      <p:cBhvr>
                                        <p:cTn id="16" dur="1" fill="hold">
                                          <p:stCondLst>
                                            <p:cond delay="0"/>
                                          </p:stCondLst>
                                        </p:cTn>
                                        <p:tgtEl>
                                          <p:spTgt spid="523273"/>
                                        </p:tgtEl>
                                        <p:attrNameLst>
                                          <p:attrName>style.visibility</p:attrName>
                                        </p:attrNameLst>
                                      </p:cBhvr>
                                      <p:to>
                                        <p:strVal val="visible"/>
                                      </p:to>
                                    </p:set>
                                    <p:animEffect transition="in" filter="fade">
                                      <p:cBhvr>
                                        <p:cTn id="17" dur="1000"/>
                                        <p:tgtEl>
                                          <p:spTgt spid="523273"/>
                                        </p:tgtEl>
                                      </p:cBhvr>
                                    </p:animEffect>
                                    <p:anim calcmode="lin" valueType="num">
                                      <p:cBhvr>
                                        <p:cTn id="18" dur="1000" fill="hold"/>
                                        <p:tgtEl>
                                          <p:spTgt spid="523273"/>
                                        </p:tgtEl>
                                        <p:attrNameLst>
                                          <p:attrName>ppt_x</p:attrName>
                                        </p:attrNameLst>
                                      </p:cBhvr>
                                      <p:tavLst>
                                        <p:tav tm="0">
                                          <p:val>
                                            <p:strVal val="#ppt_x"/>
                                          </p:val>
                                        </p:tav>
                                        <p:tav tm="100000">
                                          <p:val>
                                            <p:strVal val="#ppt_x"/>
                                          </p:val>
                                        </p:tav>
                                      </p:tavLst>
                                    </p:anim>
                                    <p:anim calcmode="lin" valueType="num">
                                      <p:cBhvr>
                                        <p:cTn id="19" dur="1000" fill="hold"/>
                                        <p:tgtEl>
                                          <p:spTgt spid="52327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523270"/>
                                        </p:tgtEl>
                                        <p:attrNameLst>
                                          <p:attrName>style.visibility</p:attrName>
                                        </p:attrNameLst>
                                      </p:cBhvr>
                                      <p:to>
                                        <p:strVal val="visible"/>
                                      </p:to>
                                    </p:set>
                                    <p:animEffect transition="in" filter="fade">
                                      <p:cBhvr>
                                        <p:cTn id="24" dur="1000"/>
                                        <p:tgtEl>
                                          <p:spTgt spid="523270"/>
                                        </p:tgtEl>
                                      </p:cBhvr>
                                    </p:animEffect>
                                    <p:anim calcmode="lin" valueType="num">
                                      <p:cBhvr>
                                        <p:cTn id="25" dur="1000" fill="hold"/>
                                        <p:tgtEl>
                                          <p:spTgt spid="523270"/>
                                        </p:tgtEl>
                                        <p:attrNameLst>
                                          <p:attrName>ppt_x</p:attrName>
                                        </p:attrNameLst>
                                      </p:cBhvr>
                                      <p:tavLst>
                                        <p:tav tm="0">
                                          <p:val>
                                            <p:strVal val="#ppt_x"/>
                                          </p:val>
                                        </p:tav>
                                        <p:tav tm="100000">
                                          <p:val>
                                            <p:strVal val="#ppt_x"/>
                                          </p:val>
                                        </p:tav>
                                      </p:tavLst>
                                    </p:anim>
                                    <p:anim calcmode="lin" valueType="num">
                                      <p:cBhvr>
                                        <p:cTn id="26" dur="1000" fill="hold"/>
                                        <p:tgtEl>
                                          <p:spTgt spid="52327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523271"/>
                                        </p:tgtEl>
                                        <p:attrNameLst>
                                          <p:attrName>style.visibility</p:attrName>
                                        </p:attrNameLst>
                                      </p:cBhvr>
                                      <p:to>
                                        <p:strVal val="visible"/>
                                      </p:to>
                                    </p:set>
                                    <p:animEffect transition="in" filter="fade">
                                      <p:cBhvr>
                                        <p:cTn id="31" dur="1000"/>
                                        <p:tgtEl>
                                          <p:spTgt spid="523271"/>
                                        </p:tgtEl>
                                      </p:cBhvr>
                                    </p:animEffect>
                                    <p:anim calcmode="lin" valueType="num">
                                      <p:cBhvr>
                                        <p:cTn id="32" dur="1000" fill="hold"/>
                                        <p:tgtEl>
                                          <p:spTgt spid="523271"/>
                                        </p:tgtEl>
                                        <p:attrNameLst>
                                          <p:attrName>ppt_x</p:attrName>
                                        </p:attrNameLst>
                                      </p:cBhvr>
                                      <p:tavLst>
                                        <p:tav tm="0">
                                          <p:val>
                                            <p:strVal val="#ppt_x"/>
                                          </p:val>
                                        </p:tav>
                                        <p:tav tm="100000">
                                          <p:val>
                                            <p:strVal val="#ppt_x"/>
                                          </p:val>
                                        </p:tav>
                                      </p:tavLst>
                                    </p:anim>
                                    <p:anim calcmode="lin" valueType="num">
                                      <p:cBhvr>
                                        <p:cTn id="33" dur="1000" fill="hold"/>
                                        <p:tgtEl>
                                          <p:spTgt spid="52327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7" presetClass="entr" presetSubtype="0" fill="hold" grpId="0" nodeType="clickEffect">
                                  <p:stCondLst>
                                    <p:cond delay="0"/>
                                  </p:stCondLst>
                                  <p:childTnLst>
                                    <p:set>
                                      <p:cBhvr>
                                        <p:cTn id="37" dur="1" fill="hold">
                                          <p:stCondLst>
                                            <p:cond delay="0"/>
                                          </p:stCondLst>
                                        </p:cTn>
                                        <p:tgtEl>
                                          <p:spTgt spid="523268"/>
                                        </p:tgtEl>
                                        <p:attrNameLst>
                                          <p:attrName>style.visibility</p:attrName>
                                        </p:attrNameLst>
                                      </p:cBhvr>
                                      <p:to>
                                        <p:strVal val="visible"/>
                                      </p:to>
                                    </p:set>
                                    <p:animEffect transition="in" filter="fade">
                                      <p:cBhvr>
                                        <p:cTn id="38" dur="1000"/>
                                        <p:tgtEl>
                                          <p:spTgt spid="523268"/>
                                        </p:tgtEl>
                                      </p:cBhvr>
                                    </p:animEffect>
                                    <p:anim calcmode="lin" valueType="num">
                                      <p:cBhvr>
                                        <p:cTn id="39" dur="1000" fill="hold"/>
                                        <p:tgtEl>
                                          <p:spTgt spid="523268"/>
                                        </p:tgtEl>
                                        <p:attrNameLst>
                                          <p:attrName>ppt_x</p:attrName>
                                        </p:attrNameLst>
                                      </p:cBhvr>
                                      <p:tavLst>
                                        <p:tav tm="0">
                                          <p:val>
                                            <p:strVal val="#ppt_x"/>
                                          </p:val>
                                        </p:tav>
                                        <p:tav tm="100000">
                                          <p:val>
                                            <p:strVal val="#ppt_x"/>
                                          </p:val>
                                        </p:tav>
                                      </p:tavLst>
                                    </p:anim>
                                    <p:anim calcmode="lin" valueType="num">
                                      <p:cBhvr>
                                        <p:cTn id="40" dur="1000" fill="hold"/>
                                        <p:tgtEl>
                                          <p:spTgt spid="523268"/>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7" presetClass="entr" presetSubtype="0" fill="hold" grpId="0" nodeType="clickEffect">
                                  <p:stCondLst>
                                    <p:cond delay="0"/>
                                  </p:stCondLst>
                                  <p:childTnLst>
                                    <p:set>
                                      <p:cBhvr>
                                        <p:cTn id="44" dur="1" fill="hold">
                                          <p:stCondLst>
                                            <p:cond delay="0"/>
                                          </p:stCondLst>
                                        </p:cTn>
                                        <p:tgtEl>
                                          <p:spTgt spid="523269"/>
                                        </p:tgtEl>
                                        <p:attrNameLst>
                                          <p:attrName>style.visibility</p:attrName>
                                        </p:attrNameLst>
                                      </p:cBhvr>
                                      <p:to>
                                        <p:strVal val="visible"/>
                                      </p:to>
                                    </p:set>
                                    <p:animEffect transition="in" filter="fade">
                                      <p:cBhvr>
                                        <p:cTn id="45" dur="1000"/>
                                        <p:tgtEl>
                                          <p:spTgt spid="523269"/>
                                        </p:tgtEl>
                                      </p:cBhvr>
                                    </p:animEffect>
                                    <p:anim calcmode="lin" valueType="num">
                                      <p:cBhvr>
                                        <p:cTn id="46" dur="1000" fill="hold"/>
                                        <p:tgtEl>
                                          <p:spTgt spid="523269"/>
                                        </p:tgtEl>
                                        <p:attrNameLst>
                                          <p:attrName>ppt_x</p:attrName>
                                        </p:attrNameLst>
                                      </p:cBhvr>
                                      <p:tavLst>
                                        <p:tav tm="0">
                                          <p:val>
                                            <p:strVal val="#ppt_x"/>
                                          </p:val>
                                        </p:tav>
                                        <p:tav tm="100000">
                                          <p:val>
                                            <p:strVal val="#ppt_x"/>
                                          </p:val>
                                        </p:tav>
                                      </p:tavLst>
                                    </p:anim>
                                    <p:anim calcmode="lin" valueType="num">
                                      <p:cBhvr>
                                        <p:cTn id="47" dur="1000" fill="hold"/>
                                        <p:tgtEl>
                                          <p:spTgt spid="52326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23274"/>
                                        </p:tgtEl>
                                        <p:attrNameLst>
                                          <p:attrName>style.visibility</p:attrName>
                                        </p:attrNameLst>
                                      </p:cBhvr>
                                      <p:to>
                                        <p:strVal val="visible"/>
                                      </p:to>
                                    </p:set>
                                    <p:animEffect transition="in" filter="wipe(left)">
                                      <p:cBhvr>
                                        <p:cTn id="52" dur="500"/>
                                        <p:tgtEl>
                                          <p:spTgt spid="523274"/>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523275"/>
                                        </p:tgtEl>
                                        <p:attrNameLst>
                                          <p:attrName>style.visibility</p:attrName>
                                        </p:attrNameLst>
                                      </p:cBhvr>
                                      <p:to>
                                        <p:strVal val="visible"/>
                                      </p:to>
                                    </p:set>
                                    <p:animEffect transition="in" filter="wipe(left)">
                                      <p:cBhvr>
                                        <p:cTn id="56" dur="500"/>
                                        <p:tgtEl>
                                          <p:spTgt spid="52327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23276"/>
                                        </p:tgtEl>
                                        <p:attrNameLst>
                                          <p:attrName>style.visibility</p:attrName>
                                        </p:attrNameLst>
                                      </p:cBhvr>
                                      <p:to>
                                        <p:strVal val="visible"/>
                                      </p:to>
                                    </p:set>
                                    <p:animEffect transition="in" filter="wipe(left)">
                                      <p:cBhvr>
                                        <p:cTn id="61" dur="500"/>
                                        <p:tgtEl>
                                          <p:spTgt spid="523276"/>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523277"/>
                                        </p:tgtEl>
                                        <p:attrNameLst>
                                          <p:attrName>style.visibility</p:attrName>
                                        </p:attrNameLst>
                                      </p:cBhvr>
                                      <p:to>
                                        <p:strVal val="visible"/>
                                      </p:to>
                                    </p:set>
                                    <p:animEffect transition="in" filter="wipe(left)">
                                      <p:cBhvr>
                                        <p:cTn id="65" dur="500"/>
                                        <p:tgtEl>
                                          <p:spTgt spid="52327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523282"/>
                                        </p:tgtEl>
                                        <p:attrNameLst>
                                          <p:attrName>style.visibility</p:attrName>
                                        </p:attrNameLst>
                                      </p:cBhvr>
                                      <p:to>
                                        <p:strVal val="visible"/>
                                      </p:to>
                                    </p:set>
                                    <p:animEffect transition="in" filter="wipe(left)">
                                      <p:cBhvr>
                                        <p:cTn id="70" dur="500"/>
                                        <p:tgtEl>
                                          <p:spTgt spid="52328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523278"/>
                                        </p:tgtEl>
                                        <p:attrNameLst>
                                          <p:attrName>style.visibility</p:attrName>
                                        </p:attrNameLst>
                                      </p:cBhvr>
                                      <p:to>
                                        <p:strVal val="visible"/>
                                      </p:to>
                                    </p:set>
                                    <p:animEffect transition="in" filter="wipe(left)">
                                      <p:cBhvr>
                                        <p:cTn id="75" dur="500"/>
                                        <p:tgtEl>
                                          <p:spTgt spid="52327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523279"/>
                                        </p:tgtEl>
                                        <p:attrNameLst>
                                          <p:attrName>style.visibility</p:attrName>
                                        </p:attrNameLst>
                                      </p:cBhvr>
                                      <p:to>
                                        <p:strVal val="visible"/>
                                      </p:to>
                                    </p:set>
                                    <p:animEffect transition="in" filter="wipe(left)">
                                      <p:cBhvr>
                                        <p:cTn id="80" dur="500"/>
                                        <p:tgtEl>
                                          <p:spTgt spid="52327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523280"/>
                                        </p:tgtEl>
                                        <p:attrNameLst>
                                          <p:attrName>style.visibility</p:attrName>
                                        </p:attrNameLst>
                                      </p:cBhvr>
                                      <p:to>
                                        <p:strVal val="visible"/>
                                      </p:to>
                                    </p:set>
                                    <p:animEffect transition="in" filter="wipe(left)">
                                      <p:cBhvr>
                                        <p:cTn id="85" dur="500"/>
                                        <p:tgtEl>
                                          <p:spTgt spid="52328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523281"/>
                                        </p:tgtEl>
                                        <p:attrNameLst>
                                          <p:attrName>style.visibility</p:attrName>
                                        </p:attrNameLst>
                                      </p:cBhvr>
                                      <p:to>
                                        <p:strVal val="visible"/>
                                      </p:to>
                                    </p:set>
                                    <p:animEffect transition="in" filter="wipe(left)">
                                      <p:cBhvr>
                                        <p:cTn id="90" dur="500"/>
                                        <p:tgtEl>
                                          <p:spTgt spid="52328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523285"/>
                                        </p:tgtEl>
                                        <p:attrNameLst>
                                          <p:attrName>style.visibility</p:attrName>
                                        </p:attrNameLst>
                                      </p:cBhvr>
                                      <p:to>
                                        <p:strVal val="visible"/>
                                      </p:to>
                                    </p:set>
                                    <p:animEffect transition="in" filter="wipe(left)">
                                      <p:cBhvr>
                                        <p:cTn id="95" dur="500"/>
                                        <p:tgtEl>
                                          <p:spTgt spid="523285"/>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523283"/>
                                        </p:tgtEl>
                                        <p:attrNameLst>
                                          <p:attrName>style.visibility</p:attrName>
                                        </p:attrNameLst>
                                      </p:cBhvr>
                                      <p:to>
                                        <p:strVal val="visible"/>
                                      </p:to>
                                    </p:set>
                                    <p:animEffect transition="in" filter="wipe(up)">
                                      <p:cBhvr>
                                        <p:cTn id="100" dur="500"/>
                                        <p:tgtEl>
                                          <p:spTgt spid="523283"/>
                                        </p:tgtEl>
                                      </p:cBhvr>
                                    </p:animEffect>
                                  </p:childTnLst>
                                </p:cTn>
                              </p:par>
                            </p:childTnLst>
                          </p:cTn>
                        </p:par>
                        <p:par>
                          <p:cTn id="101" fill="hold">
                            <p:stCondLst>
                              <p:cond delay="500"/>
                            </p:stCondLst>
                            <p:childTnLst>
                              <p:par>
                                <p:cTn id="102" presetID="22" presetClass="entr" presetSubtype="1" fill="hold" grpId="0" nodeType="afterEffect">
                                  <p:stCondLst>
                                    <p:cond delay="0"/>
                                  </p:stCondLst>
                                  <p:childTnLst>
                                    <p:set>
                                      <p:cBhvr>
                                        <p:cTn id="103" dur="1" fill="hold">
                                          <p:stCondLst>
                                            <p:cond delay="0"/>
                                          </p:stCondLst>
                                        </p:cTn>
                                        <p:tgtEl>
                                          <p:spTgt spid="523284"/>
                                        </p:tgtEl>
                                        <p:attrNameLst>
                                          <p:attrName>style.visibility</p:attrName>
                                        </p:attrNameLst>
                                      </p:cBhvr>
                                      <p:to>
                                        <p:strVal val="visible"/>
                                      </p:to>
                                    </p:set>
                                    <p:animEffect transition="in" filter="wipe(up)">
                                      <p:cBhvr>
                                        <p:cTn id="104" dur="500"/>
                                        <p:tgtEl>
                                          <p:spTgt spid="523284"/>
                                        </p:tgtEl>
                                      </p:cBhvr>
                                    </p:animEffect>
                                  </p:childTnLst>
                                </p:cTn>
                              </p:par>
                            </p:childTnLst>
                          </p:cTn>
                        </p:par>
                        <p:par>
                          <p:cTn id="105" fill="hold">
                            <p:stCondLst>
                              <p:cond delay="1000"/>
                            </p:stCondLst>
                            <p:childTnLst>
                              <p:par>
                                <p:cTn id="106" presetID="22" presetClass="entr" presetSubtype="1" fill="hold" grpId="0" nodeType="afterEffect">
                                  <p:stCondLst>
                                    <p:cond delay="0"/>
                                  </p:stCondLst>
                                  <p:childTnLst>
                                    <p:set>
                                      <p:cBhvr>
                                        <p:cTn id="107" dur="1" fill="hold">
                                          <p:stCondLst>
                                            <p:cond delay="0"/>
                                          </p:stCondLst>
                                        </p:cTn>
                                        <p:tgtEl>
                                          <p:spTgt spid="523296"/>
                                        </p:tgtEl>
                                        <p:attrNameLst>
                                          <p:attrName>style.visibility</p:attrName>
                                        </p:attrNameLst>
                                      </p:cBhvr>
                                      <p:to>
                                        <p:strVal val="visible"/>
                                      </p:to>
                                    </p:set>
                                    <p:animEffect transition="in" filter="wipe(up)">
                                      <p:cBhvr>
                                        <p:cTn id="108" dur="500"/>
                                        <p:tgtEl>
                                          <p:spTgt spid="523296"/>
                                        </p:tgtEl>
                                      </p:cBhvr>
                                    </p:animEffect>
                                  </p:childTnLst>
                                </p:cTn>
                              </p:par>
                            </p:childTnLst>
                          </p:cTn>
                        </p:par>
                        <p:par>
                          <p:cTn id="109" fill="hold">
                            <p:stCondLst>
                              <p:cond delay="1500"/>
                            </p:stCondLst>
                            <p:childTnLst>
                              <p:par>
                                <p:cTn id="110" presetID="22" presetClass="entr" presetSubtype="1" fill="hold" grpId="0" nodeType="afterEffect">
                                  <p:stCondLst>
                                    <p:cond delay="0"/>
                                  </p:stCondLst>
                                  <p:childTnLst>
                                    <p:set>
                                      <p:cBhvr>
                                        <p:cTn id="111" dur="1" fill="hold">
                                          <p:stCondLst>
                                            <p:cond delay="0"/>
                                          </p:stCondLst>
                                        </p:cTn>
                                        <p:tgtEl>
                                          <p:spTgt spid="523297"/>
                                        </p:tgtEl>
                                        <p:attrNameLst>
                                          <p:attrName>style.visibility</p:attrName>
                                        </p:attrNameLst>
                                      </p:cBhvr>
                                      <p:to>
                                        <p:strVal val="visible"/>
                                      </p:to>
                                    </p:set>
                                    <p:animEffect transition="in" filter="wipe(up)">
                                      <p:cBhvr>
                                        <p:cTn id="112" dur="500"/>
                                        <p:tgtEl>
                                          <p:spTgt spid="52329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523286"/>
                                        </p:tgtEl>
                                        <p:attrNameLst>
                                          <p:attrName>style.visibility</p:attrName>
                                        </p:attrNameLst>
                                      </p:cBhvr>
                                      <p:to>
                                        <p:strVal val="visible"/>
                                      </p:to>
                                    </p:set>
                                    <p:animEffect transition="in" filter="wipe(left)">
                                      <p:cBhvr>
                                        <p:cTn id="117" dur="500"/>
                                        <p:tgtEl>
                                          <p:spTgt spid="523286"/>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523287"/>
                                        </p:tgtEl>
                                        <p:attrNameLst>
                                          <p:attrName>style.visibility</p:attrName>
                                        </p:attrNameLst>
                                      </p:cBhvr>
                                      <p:to>
                                        <p:strVal val="visible"/>
                                      </p:to>
                                    </p:set>
                                    <p:animEffect transition="in" filter="wipe(left)">
                                      <p:cBhvr>
                                        <p:cTn id="121" dur="500"/>
                                        <p:tgtEl>
                                          <p:spTgt spid="523287"/>
                                        </p:tgtEl>
                                      </p:cBhvr>
                                    </p:animEffect>
                                  </p:childTnLst>
                                </p:cTn>
                              </p:par>
                            </p:childTnLst>
                          </p:cTn>
                        </p:par>
                      </p:childTnLst>
                    </p:cTn>
                  </p:par>
                  <p:par>
                    <p:cTn id="122" fill="hold">
                      <p:stCondLst>
                        <p:cond delay="indefinite"/>
                      </p:stCondLst>
                      <p:childTnLst>
                        <p:par>
                          <p:cTn id="123" fill="hold">
                            <p:stCondLst>
                              <p:cond delay="0"/>
                            </p:stCondLst>
                            <p:childTnLst>
                              <p:par>
                                <p:cTn id="124" presetID="29" presetClass="entr" presetSubtype="0" fill="hold" grpId="0" nodeType="clickEffect">
                                  <p:stCondLst>
                                    <p:cond delay="0"/>
                                  </p:stCondLst>
                                  <p:childTnLst>
                                    <p:set>
                                      <p:cBhvr>
                                        <p:cTn id="125" dur="1" fill="hold">
                                          <p:stCondLst>
                                            <p:cond delay="0"/>
                                          </p:stCondLst>
                                        </p:cTn>
                                        <p:tgtEl>
                                          <p:spTgt spid="523288"/>
                                        </p:tgtEl>
                                        <p:attrNameLst>
                                          <p:attrName>style.visibility</p:attrName>
                                        </p:attrNameLst>
                                      </p:cBhvr>
                                      <p:to>
                                        <p:strVal val="visible"/>
                                      </p:to>
                                    </p:set>
                                    <p:anim calcmode="lin" valueType="num">
                                      <p:cBhvr>
                                        <p:cTn id="126" dur="1000" fill="hold"/>
                                        <p:tgtEl>
                                          <p:spTgt spid="523288"/>
                                        </p:tgtEl>
                                        <p:attrNameLst>
                                          <p:attrName>ppt_x</p:attrName>
                                        </p:attrNameLst>
                                      </p:cBhvr>
                                      <p:tavLst>
                                        <p:tav tm="0">
                                          <p:val>
                                            <p:strVal val="#ppt_x-.2"/>
                                          </p:val>
                                        </p:tav>
                                        <p:tav tm="100000">
                                          <p:val>
                                            <p:strVal val="#ppt_x"/>
                                          </p:val>
                                        </p:tav>
                                      </p:tavLst>
                                    </p:anim>
                                    <p:anim calcmode="lin" valueType="num">
                                      <p:cBhvr>
                                        <p:cTn id="127" dur="1000" fill="hold"/>
                                        <p:tgtEl>
                                          <p:spTgt spid="523288"/>
                                        </p:tgtEl>
                                        <p:attrNameLst>
                                          <p:attrName>ppt_y</p:attrName>
                                        </p:attrNameLst>
                                      </p:cBhvr>
                                      <p:tavLst>
                                        <p:tav tm="0">
                                          <p:val>
                                            <p:strVal val="#ppt_y"/>
                                          </p:val>
                                        </p:tav>
                                        <p:tav tm="100000">
                                          <p:val>
                                            <p:strVal val="#ppt_y"/>
                                          </p:val>
                                        </p:tav>
                                      </p:tavLst>
                                    </p:anim>
                                    <p:animEffect transition="in" filter="wipe(right)" prLst="gradientSize: 0.1">
                                      <p:cBhvr>
                                        <p:cTn id="128" dur="1000"/>
                                        <p:tgtEl>
                                          <p:spTgt spid="523288"/>
                                        </p:tgtEl>
                                      </p:cBhvr>
                                    </p:animEffect>
                                  </p:childTnLst>
                                </p:cTn>
                              </p:par>
                            </p:childTnLst>
                          </p:cTn>
                        </p:par>
                      </p:childTnLst>
                    </p:cTn>
                  </p:par>
                  <p:par>
                    <p:cTn id="129" fill="hold">
                      <p:stCondLst>
                        <p:cond delay="indefinite"/>
                      </p:stCondLst>
                      <p:childTnLst>
                        <p:par>
                          <p:cTn id="130" fill="hold">
                            <p:stCondLst>
                              <p:cond delay="0"/>
                            </p:stCondLst>
                            <p:childTnLst>
                              <p:par>
                                <p:cTn id="131" presetID="29" presetClass="entr" presetSubtype="0" fill="hold" grpId="0" nodeType="clickEffect">
                                  <p:stCondLst>
                                    <p:cond delay="0"/>
                                  </p:stCondLst>
                                  <p:childTnLst>
                                    <p:set>
                                      <p:cBhvr>
                                        <p:cTn id="132" dur="1" fill="hold">
                                          <p:stCondLst>
                                            <p:cond delay="0"/>
                                          </p:stCondLst>
                                        </p:cTn>
                                        <p:tgtEl>
                                          <p:spTgt spid="523289"/>
                                        </p:tgtEl>
                                        <p:attrNameLst>
                                          <p:attrName>style.visibility</p:attrName>
                                        </p:attrNameLst>
                                      </p:cBhvr>
                                      <p:to>
                                        <p:strVal val="visible"/>
                                      </p:to>
                                    </p:set>
                                    <p:anim calcmode="lin" valueType="num">
                                      <p:cBhvr>
                                        <p:cTn id="133" dur="1000" fill="hold"/>
                                        <p:tgtEl>
                                          <p:spTgt spid="523289"/>
                                        </p:tgtEl>
                                        <p:attrNameLst>
                                          <p:attrName>ppt_x</p:attrName>
                                        </p:attrNameLst>
                                      </p:cBhvr>
                                      <p:tavLst>
                                        <p:tav tm="0">
                                          <p:val>
                                            <p:strVal val="#ppt_x-.2"/>
                                          </p:val>
                                        </p:tav>
                                        <p:tav tm="100000">
                                          <p:val>
                                            <p:strVal val="#ppt_x"/>
                                          </p:val>
                                        </p:tav>
                                      </p:tavLst>
                                    </p:anim>
                                    <p:anim calcmode="lin" valueType="num">
                                      <p:cBhvr>
                                        <p:cTn id="134" dur="1000" fill="hold"/>
                                        <p:tgtEl>
                                          <p:spTgt spid="523289"/>
                                        </p:tgtEl>
                                        <p:attrNameLst>
                                          <p:attrName>ppt_y</p:attrName>
                                        </p:attrNameLst>
                                      </p:cBhvr>
                                      <p:tavLst>
                                        <p:tav tm="0">
                                          <p:val>
                                            <p:strVal val="#ppt_y"/>
                                          </p:val>
                                        </p:tav>
                                        <p:tav tm="100000">
                                          <p:val>
                                            <p:strVal val="#ppt_y"/>
                                          </p:val>
                                        </p:tav>
                                      </p:tavLst>
                                    </p:anim>
                                    <p:animEffect transition="in" filter="wipe(right)" prLst="gradientSize: 0.1">
                                      <p:cBhvr>
                                        <p:cTn id="135" dur="1000"/>
                                        <p:tgtEl>
                                          <p:spTgt spid="523289"/>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523290"/>
                                        </p:tgtEl>
                                        <p:attrNameLst>
                                          <p:attrName>style.visibility</p:attrName>
                                        </p:attrNameLst>
                                      </p:cBhvr>
                                      <p:to>
                                        <p:strVal val="visible"/>
                                      </p:to>
                                    </p:set>
                                    <p:animEffect transition="in" filter="wipe(left)">
                                      <p:cBhvr>
                                        <p:cTn id="140" dur="500"/>
                                        <p:tgtEl>
                                          <p:spTgt spid="523290"/>
                                        </p:tgtEl>
                                      </p:cBhvr>
                                    </p:animEffect>
                                  </p:childTnLst>
                                </p:cTn>
                              </p:par>
                            </p:childTnLst>
                          </p:cTn>
                        </p:par>
                        <p:par>
                          <p:cTn id="141" fill="hold">
                            <p:stCondLst>
                              <p:cond delay="500"/>
                            </p:stCondLst>
                            <p:childTnLst>
                              <p:par>
                                <p:cTn id="142" presetID="47" presetClass="entr" presetSubtype="0" fill="hold" grpId="0" nodeType="afterEffect">
                                  <p:stCondLst>
                                    <p:cond delay="0"/>
                                  </p:stCondLst>
                                  <p:childTnLst>
                                    <p:set>
                                      <p:cBhvr>
                                        <p:cTn id="143" dur="1" fill="hold">
                                          <p:stCondLst>
                                            <p:cond delay="0"/>
                                          </p:stCondLst>
                                        </p:cTn>
                                        <p:tgtEl>
                                          <p:spTgt spid="523291"/>
                                        </p:tgtEl>
                                        <p:attrNameLst>
                                          <p:attrName>style.visibility</p:attrName>
                                        </p:attrNameLst>
                                      </p:cBhvr>
                                      <p:to>
                                        <p:strVal val="visible"/>
                                      </p:to>
                                    </p:set>
                                    <p:animEffect transition="in" filter="fade">
                                      <p:cBhvr>
                                        <p:cTn id="144" dur="1000"/>
                                        <p:tgtEl>
                                          <p:spTgt spid="523291"/>
                                        </p:tgtEl>
                                      </p:cBhvr>
                                    </p:animEffect>
                                    <p:anim calcmode="lin" valueType="num">
                                      <p:cBhvr>
                                        <p:cTn id="145" dur="1000" fill="hold"/>
                                        <p:tgtEl>
                                          <p:spTgt spid="523291"/>
                                        </p:tgtEl>
                                        <p:attrNameLst>
                                          <p:attrName>ppt_x</p:attrName>
                                        </p:attrNameLst>
                                      </p:cBhvr>
                                      <p:tavLst>
                                        <p:tav tm="0">
                                          <p:val>
                                            <p:strVal val="#ppt_x"/>
                                          </p:val>
                                        </p:tav>
                                        <p:tav tm="100000">
                                          <p:val>
                                            <p:strVal val="#ppt_x"/>
                                          </p:val>
                                        </p:tav>
                                      </p:tavLst>
                                    </p:anim>
                                    <p:anim calcmode="lin" valueType="num">
                                      <p:cBhvr>
                                        <p:cTn id="146" dur="1000" fill="hold"/>
                                        <p:tgtEl>
                                          <p:spTgt spid="523291"/>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nodeType="clickEffect">
                                  <p:stCondLst>
                                    <p:cond delay="0"/>
                                  </p:stCondLst>
                                  <p:childTnLst>
                                    <p:set>
                                      <p:cBhvr>
                                        <p:cTn id="150" dur="1" fill="hold">
                                          <p:stCondLst>
                                            <p:cond delay="0"/>
                                          </p:stCondLst>
                                        </p:cTn>
                                        <p:tgtEl>
                                          <p:spTgt spid="523293"/>
                                        </p:tgtEl>
                                        <p:attrNameLst>
                                          <p:attrName>style.visibility</p:attrName>
                                        </p:attrNameLst>
                                      </p:cBhvr>
                                      <p:to>
                                        <p:strVal val="visible"/>
                                      </p:to>
                                    </p:set>
                                    <p:animEffect transition="in" filter="wipe(left)">
                                      <p:cBhvr>
                                        <p:cTn id="151" dur="500"/>
                                        <p:tgtEl>
                                          <p:spTgt spid="523293"/>
                                        </p:tgtEl>
                                      </p:cBhvr>
                                    </p:animEffect>
                                  </p:childTnLst>
                                </p:cTn>
                              </p:par>
                            </p:childTnLst>
                          </p:cTn>
                        </p:par>
                        <p:par>
                          <p:cTn id="152" fill="hold">
                            <p:stCondLst>
                              <p:cond delay="500"/>
                            </p:stCondLst>
                            <p:childTnLst>
                              <p:par>
                                <p:cTn id="153" presetID="22" presetClass="entr" presetSubtype="8" fill="hold" grpId="0" nodeType="afterEffect">
                                  <p:stCondLst>
                                    <p:cond delay="0"/>
                                  </p:stCondLst>
                                  <p:childTnLst>
                                    <p:set>
                                      <p:cBhvr>
                                        <p:cTn id="154" dur="1" fill="hold">
                                          <p:stCondLst>
                                            <p:cond delay="0"/>
                                          </p:stCondLst>
                                        </p:cTn>
                                        <p:tgtEl>
                                          <p:spTgt spid="523292"/>
                                        </p:tgtEl>
                                        <p:attrNameLst>
                                          <p:attrName>style.visibility</p:attrName>
                                        </p:attrNameLst>
                                      </p:cBhvr>
                                      <p:to>
                                        <p:strVal val="visible"/>
                                      </p:to>
                                    </p:set>
                                    <p:animEffect transition="in" filter="wipe(left)">
                                      <p:cBhvr>
                                        <p:cTn id="155" dur="500"/>
                                        <p:tgtEl>
                                          <p:spTgt spid="523292"/>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1" fill="hold" nodeType="clickEffect">
                                  <p:stCondLst>
                                    <p:cond delay="0"/>
                                  </p:stCondLst>
                                  <p:childTnLst>
                                    <p:set>
                                      <p:cBhvr>
                                        <p:cTn id="159" dur="1" fill="hold">
                                          <p:stCondLst>
                                            <p:cond delay="0"/>
                                          </p:stCondLst>
                                        </p:cTn>
                                        <p:tgtEl>
                                          <p:spTgt spid="523294"/>
                                        </p:tgtEl>
                                        <p:attrNameLst>
                                          <p:attrName>style.visibility</p:attrName>
                                        </p:attrNameLst>
                                      </p:cBhvr>
                                      <p:to>
                                        <p:strVal val="visible"/>
                                      </p:to>
                                    </p:set>
                                    <p:animEffect transition="in" filter="wipe(up)">
                                      <p:cBhvr>
                                        <p:cTn id="160" dur="500"/>
                                        <p:tgtEl>
                                          <p:spTgt spid="523294"/>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grpId="0" nodeType="clickEffect">
                                  <p:stCondLst>
                                    <p:cond delay="0"/>
                                  </p:stCondLst>
                                  <p:childTnLst>
                                    <p:set>
                                      <p:cBhvr>
                                        <p:cTn id="164" dur="1" fill="hold">
                                          <p:stCondLst>
                                            <p:cond delay="0"/>
                                          </p:stCondLst>
                                        </p:cTn>
                                        <p:tgtEl>
                                          <p:spTgt spid="523295"/>
                                        </p:tgtEl>
                                        <p:attrNameLst>
                                          <p:attrName>style.visibility</p:attrName>
                                        </p:attrNameLst>
                                      </p:cBhvr>
                                      <p:to>
                                        <p:strVal val="visible"/>
                                      </p:to>
                                    </p:set>
                                    <p:animEffect transition="in" filter="wipe(left)">
                                      <p:cBhvr>
                                        <p:cTn id="165" dur="500"/>
                                        <p:tgtEl>
                                          <p:spTgt spid="523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8" grpId="0" animBg="1"/>
      <p:bldP spid="523269" grpId="0" animBg="1"/>
      <p:bldP spid="523270" grpId="0" animBg="1"/>
      <p:bldP spid="523271" grpId="0" animBg="1"/>
      <p:bldP spid="523272" grpId="0" animBg="1"/>
      <p:bldP spid="523273" grpId="0" animBg="1"/>
      <p:bldP spid="523275" grpId="0" animBg="1"/>
      <p:bldP spid="523277" grpId="0" animBg="1"/>
      <p:bldP spid="523278" grpId="0" animBg="1"/>
      <p:bldP spid="523279" grpId="0" animBg="1"/>
      <p:bldP spid="523280" grpId="0" animBg="1"/>
      <p:bldP spid="523281" grpId="0" animBg="1"/>
      <p:bldP spid="523283" grpId="0" animBg="1"/>
      <p:bldP spid="523284" grpId="0" animBg="1"/>
      <p:bldP spid="523287" grpId="0" animBg="1"/>
      <p:bldP spid="523288" grpId="0" animBg="1"/>
      <p:bldP spid="523289" grpId="0" animBg="1"/>
      <p:bldP spid="523291" grpId="0" animBg="1"/>
      <p:bldP spid="523292" grpId="0" animBg="1"/>
      <p:bldP spid="523295" grpId="0" animBg="1"/>
      <p:bldP spid="523296" grpId="0" animBg="1"/>
      <p:bldP spid="52329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858" name="组合 14"/>
          <p:cNvGrpSpPr/>
          <p:nvPr>
            <p:custDataLst>
              <p:tags r:id="rId2"/>
            </p:custDataLst>
          </p:nvPr>
        </p:nvGrpSpPr>
        <p:grpSpPr bwMode="auto">
          <a:xfrm>
            <a:off x="2600325" y="2987359"/>
            <a:ext cx="3943350" cy="879475"/>
            <a:chOff x="3305429" y="3718304"/>
            <a:chExt cx="4111571" cy="917396"/>
          </a:xfrm>
        </p:grpSpPr>
        <p:grpSp>
          <p:nvGrpSpPr>
            <p:cNvPr id="14" name="组合 13"/>
            <p:cNvGrpSpPr/>
            <p:nvPr/>
          </p:nvGrpSpPr>
          <p:grpSpPr>
            <a:xfrm>
              <a:off x="3991083" y="3807491"/>
              <a:ext cx="539750" cy="743879"/>
              <a:chOff x="2467083" y="3299490"/>
              <a:chExt cx="539750" cy="743879"/>
            </a:xfrm>
            <a:solidFill>
              <a:schemeClr val="accent3"/>
            </a:solidFill>
          </p:grpSpPr>
          <p:sp>
            <p:nvSpPr>
              <p:cNvPr id="11" name="矩形 10"/>
              <p:cNvSpPr/>
              <p:nvPr/>
            </p:nvSpPr>
            <p:spPr>
              <a:xfrm>
                <a:off x="2467876" y="3598068"/>
                <a:ext cx="533400" cy="150019"/>
              </a:xfrm>
              <a:prstGeom prst="rect">
                <a:avLst/>
              </a:prstGeom>
              <a:solidFill>
                <a:srgbClr val="F2E6B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 name="矩形 4"/>
              <p:cNvSpPr/>
              <p:nvPr/>
            </p:nvSpPr>
            <p:spPr>
              <a:xfrm>
                <a:off x="2467083" y="3299491"/>
                <a:ext cx="165100" cy="742940"/>
              </a:xfrm>
              <a:prstGeom prst="rect">
                <a:avLst/>
              </a:prstGeom>
              <a:solidFill>
                <a:srgbClr val="FFC000"/>
              </a:solid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6" name="矩形 5"/>
              <p:cNvSpPr/>
              <p:nvPr/>
            </p:nvSpPr>
            <p:spPr>
              <a:xfrm>
                <a:off x="2841733" y="3299490"/>
                <a:ext cx="165100" cy="743879"/>
              </a:xfrm>
              <a:prstGeom prst="rect">
                <a:avLst/>
              </a:prstGeom>
              <a:solidFill>
                <a:srgbClr val="FFC000"/>
              </a:solid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 name="组合 1"/>
            <p:cNvGrpSpPr/>
            <p:nvPr/>
          </p:nvGrpSpPr>
          <p:grpSpPr>
            <a:xfrm>
              <a:off x="3305429" y="3809872"/>
              <a:ext cx="533400" cy="742950"/>
              <a:chOff x="1781429" y="3301872"/>
              <a:chExt cx="533400" cy="742950"/>
            </a:xfrm>
            <a:solidFill>
              <a:schemeClr val="accent1"/>
            </a:solidFill>
          </p:grpSpPr>
          <p:sp>
            <p:nvSpPr>
              <p:cNvPr id="4" name="矩形 3"/>
              <p:cNvSpPr/>
              <p:nvPr/>
            </p:nvSpPr>
            <p:spPr>
              <a:xfrm>
                <a:off x="1965579" y="3428872"/>
                <a:ext cx="171450" cy="615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3" name="矩形 2"/>
              <p:cNvSpPr/>
              <p:nvPr/>
            </p:nvSpPr>
            <p:spPr>
              <a:xfrm>
                <a:off x="1781429" y="3301872"/>
                <a:ext cx="533400" cy="165100"/>
              </a:xfrm>
              <a:prstGeom prst="rect">
                <a:avLst/>
              </a:prstGeom>
              <a:grpFill/>
              <a:ln>
                <a:noFill/>
              </a:ln>
              <a:effectLst>
                <a:outerShdw blurRad="508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16" name="组合 15"/>
            <p:cNvGrpSpPr/>
            <p:nvPr/>
          </p:nvGrpSpPr>
          <p:grpSpPr>
            <a:xfrm>
              <a:off x="4680670" y="3767996"/>
              <a:ext cx="372214" cy="824410"/>
              <a:chOff x="3156670" y="3259996"/>
              <a:chExt cx="372214" cy="824410"/>
            </a:xfrm>
            <a:solidFill>
              <a:schemeClr val="accent2"/>
            </a:solidFill>
          </p:grpSpPr>
          <p:sp>
            <p:nvSpPr>
              <p:cNvPr id="19" name="任意多边形 18"/>
              <p:cNvSpPr/>
              <p:nvPr/>
            </p:nvSpPr>
            <p:spPr>
              <a:xfrm rot="20653324" flipH="1">
                <a:off x="3363784" y="3267206"/>
                <a:ext cx="165100" cy="8172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18" name="任意多边形 17"/>
              <p:cNvSpPr/>
              <p:nvPr/>
            </p:nvSpPr>
            <p:spPr>
              <a:xfrm rot="946676">
                <a:off x="3156670" y="3259996"/>
                <a:ext cx="165100" cy="8208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a:effectLst>
                <a:outerShdw blurRad="50800" dist="12700" dir="6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0" name="组合 19"/>
            <p:cNvGrpSpPr/>
            <p:nvPr/>
          </p:nvGrpSpPr>
          <p:grpSpPr>
            <a:xfrm>
              <a:off x="5900771" y="3718304"/>
              <a:ext cx="397565" cy="917396"/>
              <a:chOff x="4376770" y="3210304"/>
              <a:chExt cx="397565" cy="917396"/>
            </a:xfrm>
            <a:solidFill>
              <a:schemeClr val="accent5"/>
            </a:solidFill>
          </p:grpSpPr>
          <p:sp>
            <p:nvSpPr>
              <p:cNvPr id="9" name="矩形 8"/>
              <p:cNvSpPr/>
              <p:nvPr/>
            </p:nvSpPr>
            <p:spPr>
              <a:xfrm>
                <a:off x="4376770" y="3299491"/>
                <a:ext cx="165100" cy="745200"/>
              </a:xfrm>
              <a:prstGeom prst="rect">
                <a:avLst/>
              </a:prstGeom>
              <a:grp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1" name="任意多边形 50"/>
              <p:cNvSpPr/>
              <p:nvPr/>
            </p:nvSpPr>
            <p:spPr>
              <a:xfrm rot="19577384" flipH="1">
                <a:off x="4633589" y="3556267"/>
                <a:ext cx="140746" cy="571433"/>
              </a:xfrm>
              <a:custGeom>
                <a:avLst/>
                <a:gdLst>
                  <a:gd name="connsiteX0" fmla="*/ 0 w 140625"/>
                  <a:gd name="connsiteY0" fmla="*/ 34686 h 568792"/>
                  <a:gd name="connsiteX1" fmla="*/ 0 w 140625"/>
                  <a:gd name="connsiteY1" fmla="*/ 568792 h 568792"/>
                  <a:gd name="connsiteX2" fmla="*/ 41733 w 140625"/>
                  <a:gd name="connsiteY2" fmla="*/ 547251 h 568792"/>
                  <a:gd name="connsiteX3" fmla="*/ 140625 w 140625"/>
                  <a:gd name="connsiteY3" fmla="*/ 481273 h 568792"/>
                  <a:gd name="connsiteX4" fmla="*/ 140625 w 140625"/>
                  <a:gd name="connsiteY4" fmla="*/ 0 h 568792"/>
                  <a:gd name="connsiteX0-1" fmla="*/ 3299 w 143924"/>
                  <a:gd name="connsiteY0-2" fmla="*/ 34686 h 576719"/>
                  <a:gd name="connsiteX1-3" fmla="*/ 0 w 143924"/>
                  <a:gd name="connsiteY1-4" fmla="*/ 576719 h 576719"/>
                  <a:gd name="connsiteX2-5" fmla="*/ 45032 w 143924"/>
                  <a:gd name="connsiteY2-6" fmla="*/ 547251 h 576719"/>
                  <a:gd name="connsiteX3-7" fmla="*/ 143924 w 143924"/>
                  <a:gd name="connsiteY3-8" fmla="*/ 481273 h 576719"/>
                  <a:gd name="connsiteX4-9" fmla="*/ 143924 w 143924"/>
                  <a:gd name="connsiteY4-10" fmla="*/ 0 h 576719"/>
                  <a:gd name="connsiteX5" fmla="*/ 3299 w 143924"/>
                  <a:gd name="connsiteY5" fmla="*/ 34686 h 576719"/>
                  <a:gd name="connsiteX0-11" fmla="*/ 121 w 140746"/>
                  <a:gd name="connsiteY0-12" fmla="*/ 34686 h 571433"/>
                  <a:gd name="connsiteX1-13" fmla="*/ 4745 w 140746"/>
                  <a:gd name="connsiteY1-14" fmla="*/ 571433 h 571433"/>
                  <a:gd name="connsiteX2-15" fmla="*/ 41854 w 140746"/>
                  <a:gd name="connsiteY2-16" fmla="*/ 547251 h 571433"/>
                  <a:gd name="connsiteX3-17" fmla="*/ 140746 w 140746"/>
                  <a:gd name="connsiteY3-18" fmla="*/ 481273 h 571433"/>
                  <a:gd name="connsiteX4-19" fmla="*/ 140746 w 140746"/>
                  <a:gd name="connsiteY4-20" fmla="*/ 0 h 571433"/>
                  <a:gd name="connsiteX5-21" fmla="*/ 121 w 140746"/>
                  <a:gd name="connsiteY5-22" fmla="*/ 34686 h 57143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746" h="571433">
                    <a:moveTo>
                      <a:pt x="121" y="34686"/>
                    </a:moveTo>
                    <a:cubicBezTo>
                      <a:pt x="-979" y="215364"/>
                      <a:pt x="5845" y="390755"/>
                      <a:pt x="4745" y="571433"/>
                    </a:cubicBezTo>
                    <a:lnTo>
                      <a:pt x="41854" y="547251"/>
                    </a:lnTo>
                    <a:lnTo>
                      <a:pt x="140746" y="481273"/>
                    </a:lnTo>
                    <a:lnTo>
                      <a:pt x="140746" y="0"/>
                    </a:lnTo>
                    <a:lnTo>
                      <a:pt x="121" y="3468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2" name="任意多边形 51"/>
              <p:cNvSpPr/>
              <p:nvPr/>
            </p:nvSpPr>
            <p:spPr>
              <a:xfrm rot="2022616" flipH="1" flipV="1">
                <a:off x="4627500" y="3210304"/>
                <a:ext cx="140625" cy="572703"/>
              </a:xfrm>
              <a:custGeom>
                <a:avLst/>
                <a:gdLst>
                  <a:gd name="connsiteX0" fmla="*/ 140625 w 140625"/>
                  <a:gd name="connsiteY0" fmla="*/ 478871 h 567419"/>
                  <a:gd name="connsiteX1" fmla="*/ 34632 w 140625"/>
                  <a:gd name="connsiteY1" fmla="*/ 549587 h 567419"/>
                  <a:gd name="connsiteX2" fmla="*/ 0 w 140625"/>
                  <a:gd name="connsiteY2" fmla="*/ 567419 h 567419"/>
                  <a:gd name="connsiteX3" fmla="*/ 0 w 140625"/>
                  <a:gd name="connsiteY3" fmla="*/ 34602 h 567419"/>
                  <a:gd name="connsiteX4" fmla="*/ 140625 w 140625"/>
                  <a:gd name="connsiteY4" fmla="*/ 0 h 567419"/>
                  <a:gd name="connsiteX0-1" fmla="*/ 140625 w 140625"/>
                  <a:gd name="connsiteY0-2" fmla="*/ 478871 h 567419"/>
                  <a:gd name="connsiteX1-3" fmla="*/ 34632 w 140625"/>
                  <a:gd name="connsiteY1-4" fmla="*/ 549587 h 567419"/>
                  <a:gd name="connsiteX2-5" fmla="*/ 0 w 140625"/>
                  <a:gd name="connsiteY2-6" fmla="*/ 567419 h 567419"/>
                  <a:gd name="connsiteX3-7" fmla="*/ 0 w 140625"/>
                  <a:gd name="connsiteY3-8" fmla="*/ 34602 h 567419"/>
                  <a:gd name="connsiteX4-9" fmla="*/ 140625 w 140625"/>
                  <a:gd name="connsiteY4-10" fmla="*/ 0 h 567419"/>
                  <a:gd name="connsiteX5" fmla="*/ 140625 w 140625"/>
                  <a:gd name="connsiteY5" fmla="*/ 478871 h 567419"/>
                  <a:gd name="connsiteX0-11" fmla="*/ 140625 w 140625"/>
                  <a:gd name="connsiteY0-12" fmla="*/ 478871 h 572703"/>
                  <a:gd name="connsiteX1-13" fmla="*/ 34632 w 140625"/>
                  <a:gd name="connsiteY1-14" fmla="*/ 549587 h 572703"/>
                  <a:gd name="connsiteX2-15" fmla="*/ 662 w 140625"/>
                  <a:gd name="connsiteY2-16" fmla="*/ 572703 h 572703"/>
                  <a:gd name="connsiteX3-17" fmla="*/ 0 w 140625"/>
                  <a:gd name="connsiteY3-18" fmla="*/ 34602 h 572703"/>
                  <a:gd name="connsiteX4-19" fmla="*/ 140625 w 140625"/>
                  <a:gd name="connsiteY4-20" fmla="*/ 0 h 572703"/>
                  <a:gd name="connsiteX5-21" fmla="*/ 140625 w 140625"/>
                  <a:gd name="connsiteY5-22" fmla="*/ 478871 h 57270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625" h="572703">
                    <a:moveTo>
                      <a:pt x="140625" y="478871"/>
                    </a:moveTo>
                    <a:lnTo>
                      <a:pt x="34632" y="549587"/>
                    </a:lnTo>
                    <a:lnTo>
                      <a:pt x="662" y="572703"/>
                    </a:lnTo>
                    <a:cubicBezTo>
                      <a:pt x="441" y="393336"/>
                      <a:pt x="221" y="213969"/>
                      <a:pt x="0" y="34602"/>
                    </a:cubicBezTo>
                    <a:lnTo>
                      <a:pt x="140625" y="0"/>
                    </a:lnTo>
                    <a:lnTo>
                      <a:pt x="140625" y="47887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1" name="组合 20"/>
            <p:cNvGrpSpPr/>
            <p:nvPr/>
          </p:nvGrpSpPr>
          <p:grpSpPr>
            <a:xfrm>
              <a:off x="6470312" y="3748226"/>
              <a:ext cx="528705" cy="884627"/>
              <a:chOff x="4946311" y="3240225"/>
              <a:chExt cx="528705" cy="884627"/>
            </a:xfrm>
            <a:solidFill>
              <a:schemeClr val="accent3"/>
            </a:solidFill>
          </p:grpSpPr>
          <p:sp>
            <p:nvSpPr>
              <p:cNvPr id="12" name="矩形 11"/>
              <p:cNvSpPr/>
              <p:nvPr/>
            </p:nvSpPr>
            <p:spPr>
              <a:xfrm>
                <a:off x="4997973" y="3299491"/>
                <a:ext cx="477043" cy="165100"/>
              </a:xfrm>
              <a:prstGeom prst="rect">
                <a:avLst/>
              </a:prstGeom>
              <a:solidFill>
                <a:schemeClr val="accent6">
                  <a:lumMod val="20000"/>
                  <a:lumOff val="80000"/>
                </a:schemeClr>
              </a:solidFill>
              <a:ln>
                <a:noFill/>
              </a:ln>
              <a:effectLst>
                <a:outerShdw blurRad="25400" dist="12700" dir="108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13" name="矩形 12"/>
              <p:cNvSpPr/>
              <p:nvPr/>
            </p:nvSpPr>
            <p:spPr>
              <a:xfrm>
                <a:off x="4946311" y="3879722"/>
                <a:ext cx="456475" cy="1651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5" name="任意多边形 54"/>
              <p:cNvSpPr/>
              <p:nvPr/>
            </p:nvSpPr>
            <p:spPr>
              <a:xfrm rot="19318059" flipH="1">
                <a:off x="5109070" y="3240225"/>
                <a:ext cx="172591" cy="884627"/>
              </a:xfrm>
              <a:custGeom>
                <a:avLst/>
                <a:gdLst>
                  <a:gd name="connsiteX0" fmla="*/ 26795 w 172591"/>
                  <a:gd name="connsiteY0" fmla="*/ 0 h 884627"/>
                  <a:gd name="connsiteX1" fmla="*/ 0 w 172591"/>
                  <a:gd name="connsiteY1" fmla="*/ 20959 h 884627"/>
                  <a:gd name="connsiteX2" fmla="*/ 0 w 172591"/>
                  <a:gd name="connsiteY2" fmla="*/ 814160 h 884627"/>
                  <a:gd name="connsiteX3" fmla="*/ 106651 w 172591"/>
                  <a:gd name="connsiteY3" fmla="*/ 884627 h 884627"/>
                  <a:gd name="connsiteX4" fmla="*/ 172591 w 172591"/>
                  <a:gd name="connsiteY4" fmla="*/ 832304 h 884627"/>
                  <a:gd name="connsiteX5" fmla="*/ 172591 w 172591"/>
                  <a:gd name="connsiteY5" fmla="*/ 96332 h 88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591" h="884627">
                    <a:moveTo>
                      <a:pt x="26795" y="0"/>
                    </a:moveTo>
                    <a:lnTo>
                      <a:pt x="0" y="20959"/>
                    </a:lnTo>
                    <a:lnTo>
                      <a:pt x="0" y="814160"/>
                    </a:lnTo>
                    <a:lnTo>
                      <a:pt x="106651" y="884627"/>
                    </a:lnTo>
                    <a:lnTo>
                      <a:pt x="172591" y="832304"/>
                    </a:lnTo>
                    <a:lnTo>
                      <a:pt x="172591" y="96332"/>
                    </a:lnTo>
                    <a:close/>
                  </a:path>
                </a:pathLst>
              </a:custGeom>
              <a:solidFill>
                <a:schemeClr val="accent6">
                  <a:lumMod val="40000"/>
                  <a:lumOff val="60000"/>
                </a:schemeClr>
              </a:solidFill>
              <a:ln>
                <a:noFill/>
              </a:ln>
              <a:effectLst>
                <a:outerShdw blurRad="508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2" name="组合 21"/>
            <p:cNvGrpSpPr/>
            <p:nvPr/>
          </p:nvGrpSpPr>
          <p:grpSpPr>
            <a:xfrm>
              <a:off x="7251900" y="3807492"/>
              <a:ext cx="165100" cy="745331"/>
              <a:chOff x="5727900" y="3299491"/>
              <a:chExt cx="165100" cy="745331"/>
            </a:xfrm>
            <a:solidFill>
              <a:schemeClr val="accent2"/>
            </a:solidFill>
          </p:grpSpPr>
          <p:sp>
            <p:nvSpPr>
              <p:cNvPr id="10" name="矩形 9"/>
              <p:cNvSpPr/>
              <p:nvPr/>
            </p:nvSpPr>
            <p:spPr>
              <a:xfrm>
                <a:off x="5727900" y="3299491"/>
                <a:ext cx="165100" cy="536943"/>
              </a:xfrm>
              <a:prstGeom prst="rect">
                <a:avLst/>
              </a:prstGeom>
              <a:grpFill/>
              <a:ln>
                <a:noFill/>
              </a:ln>
              <a:effectLst>
                <a:outerShdw blurRad="254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35" name="椭圆 34"/>
              <p:cNvSpPr/>
              <p:nvPr/>
            </p:nvSpPr>
            <p:spPr>
              <a:xfrm>
                <a:off x="5727900" y="3879722"/>
                <a:ext cx="165100" cy="165100"/>
              </a:xfrm>
              <a:prstGeom prst="ellipse">
                <a:avLst/>
              </a:prstGeom>
              <a:grpFill/>
              <a:ln>
                <a:noFill/>
              </a:ln>
              <a:effectLst>
                <a:outerShdw blurRad="254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17" name="组合 16"/>
            <p:cNvGrpSpPr/>
            <p:nvPr/>
          </p:nvGrpSpPr>
          <p:grpSpPr>
            <a:xfrm>
              <a:off x="5203209" y="3722366"/>
              <a:ext cx="547688" cy="904312"/>
              <a:chOff x="3679209" y="3214366"/>
              <a:chExt cx="547688" cy="904312"/>
            </a:xfrm>
            <a:solidFill>
              <a:schemeClr val="accent1"/>
            </a:solidFill>
          </p:grpSpPr>
          <p:sp>
            <p:nvSpPr>
              <p:cNvPr id="7" name="矩形 6"/>
              <p:cNvSpPr/>
              <p:nvPr/>
            </p:nvSpPr>
            <p:spPr>
              <a:xfrm>
                <a:off x="3679209" y="3299491"/>
                <a:ext cx="165100" cy="745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26" name="任意多边形 25"/>
              <p:cNvSpPr/>
              <p:nvPr/>
            </p:nvSpPr>
            <p:spPr>
              <a:xfrm rot="19848040" flipH="1">
                <a:off x="3864430" y="3214366"/>
                <a:ext cx="169748" cy="904312"/>
              </a:xfrm>
              <a:custGeom>
                <a:avLst/>
                <a:gdLst>
                  <a:gd name="connsiteX0" fmla="*/ 141593 w 165100"/>
                  <a:gd name="connsiteY0" fmla="*/ 0 h 904312"/>
                  <a:gd name="connsiteX1" fmla="*/ 0 w 165100"/>
                  <a:gd name="connsiteY1" fmla="*/ 79132 h 904312"/>
                  <a:gd name="connsiteX2" fmla="*/ 0 w 165100"/>
                  <a:gd name="connsiteY2" fmla="*/ 868605 h 904312"/>
                  <a:gd name="connsiteX3" fmla="*/ 19955 w 165100"/>
                  <a:gd name="connsiteY3" fmla="*/ 904312 h 904312"/>
                  <a:gd name="connsiteX4" fmla="*/ 165100 w 165100"/>
                  <a:gd name="connsiteY4" fmla="*/ 823196 h 904312"/>
                  <a:gd name="connsiteX5" fmla="*/ 165100 w 165100"/>
                  <a:gd name="connsiteY5" fmla="*/ 42063 h 904312"/>
                  <a:gd name="connsiteX0-1" fmla="*/ 141593 w 169748"/>
                  <a:gd name="connsiteY0-2" fmla="*/ 0 h 904312"/>
                  <a:gd name="connsiteX1-3" fmla="*/ 0 w 169748"/>
                  <a:gd name="connsiteY1-4" fmla="*/ 79132 h 904312"/>
                  <a:gd name="connsiteX2-5" fmla="*/ 0 w 169748"/>
                  <a:gd name="connsiteY2-6" fmla="*/ 868605 h 904312"/>
                  <a:gd name="connsiteX3-7" fmla="*/ 19955 w 169748"/>
                  <a:gd name="connsiteY3-8" fmla="*/ 904312 h 904312"/>
                  <a:gd name="connsiteX4-9" fmla="*/ 169748 w 169748"/>
                  <a:gd name="connsiteY4-10" fmla="*/ 831511 h 904312"/>
                  <a:gd name="connsiteX5-11" fmla="*/ 165100 w 169748"/>
                  <a:gd name="connsiteY5-12" fmla="*/ 42063 h 904312"/>
                  <a:gd name="connsiteX6" fmla="*/ 141593 w 169748"/>
                  <a:gd name="connsiteY6" fmla="*/ 0 h 9043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 y="connsiteY6"/>
                  </a:cxn>
                </a:cxnLst>
                <a:rect l="l" t="t" r="r" b="b"/>
                <a:pathLst>
                  <a:path w="169748" h="904312">
                    <a:moveTo>
                      <a:pt x="141593" y="0"/>
                    </a:moveTo>
                    <a:lnTo>
                      <a:pt x="0" y="79132"/>
                    </a:lnTo>
                    <a:lnTo>
                      <a:pt x="0" y="868605"/>
                    </a:lnTo>
                    <a:lnTo>
                      <a:pt x="19955" y="904312"/>
                    </a:lnTo>
                    <a:lnTo>
                      <a:pt x="169748" y="831511"/>
                    </a:lnTo>
                    <a:cubicBezTo>
                      <a:pt x="168199" y="568362"/>
                      <a:pt x="166649" y="305212"/>
                      <a:pt x="165100" y="42063"/>
                    </a:cubicBezTo>
                    <a:lnTo>
                      <a:pt x="141593" y="0"/>
                    </a:lnTo>
                    <a:close/>
                  </a:path>
                </a:pathLst>
              </a:custGeom>
              <a:grpFill/>
              <a:ln>
                <a:noFill/>
              </a:ln>
              <a:effectLst>
                <a:outerShdw blurRad="50800" dist="12700" dir="60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8" name="矩形 7"/>
              <p:cNvSpPr/>
              <p:nvPr/>
            </p:nvSpPr>
            <p:spPr>
              <a:xfrm>
                <a:off x="4061797" y="3297485"/>
                <a:ext cx="165100" cy="745885"/>
              </a:xfrm>
              <a:prstGeom prst="rect">
                <a:avLst/>
              </a:prstGeom>
              <a:grp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19"/>
    </mc:Choice>
    <mc:Fallback xmlns="">
      <p:transition spd="slow" advTm="91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9|1|4.7|2.1|6.3|4|5.5|4.2|2.7|1.7|4.3|0.6|9.5"/>
</p:tagLst>
</file>

<file path=ppt/tags/tag2.xml><?xml version="1.0" encoding="utf-8"?>
<p:tagLst xmlns:a="http://schemas.openxmlformats.org/drawingml/2006/main" xmlns:r="http://schemas.openxmlformats.org/officeDocument/2006/relationships" xmlns:p="http://schemas.openxmlformats.org/presentationml/2006/main">
  <p:tag name="TIMING" val="|0.9|0.9|2.9|3.7|3.1|2|6.7|6|4.9|1.2"/>
</p:tagLst>
</file>

<file path=ppt/tags/tag3.xml><?xml version="1.0" encoding="utf-8"?>
<p:tagLst xmlns:a="http://schemas.openxmlformats.org/drawingml/2006/main" xmlns:r="http://schemas.openxmlformats.org/officeDocument/2006/relationships" xmlns:p="http://schemas.openxmlformats.org/presentationml/2006/main">
  <p:tag name="TIMING" val="|1.4|0.6|0.6|0.7|1.4|8|1.6|0.7|1.3"/>
</p:tagLst>
</file>

<file path=ppt/tags/tag4.xml><?xml version="1.0" encoding="utf-8"?>
<p:tagLst xmlns:a="http://schemas.openxmlformats.org/drawingml/2006/main" xmlns:r="http://schemas.openxmlformats.org/officeDocument/2006/relationships" xmlns:p="http://schemas.openxmlformats.org/presentationml/2006/main">
  <p:tag name="TIMING" val="|0.6|5.1|6.6"/>
</p:tagLst>
</file>

<file path=ppt/tags/tag5.xml><?xml version="1.0" encoding="utf-8"?>
<p:tagLst xmlns:a="http://schemas.openxmlformats.org/drawingml/2006/main" xmlns:r="http://schemas.openxmlformats.org/officeDocument/2006/relationships" xmlns:p="http://schemas.openxmlformats.org/presentationml/2006/main">
  <p:tag name="TIMING" val="|0.7"/>
</p:tagLst>
</file>

<file path=ppt/tags/tag6.xml><?xml version="1.0" encoding="utf-8"?>
<p:tagLst xmlns:a="http://schemas.openxmlformats.org/drawingml/2006/main" xmlns:r="http://schemas.openxmlformats.org/officeDocument/2006/relationships" xmlns:p="http://schemas.openxmlformats.org/presentationml/2006/main">
  <p:tag name="TIMING" val="|0.9|14.4|1.4|9.8"/>
</p:tagLst>
</file>

<file path=ppt/tags/tag7.xml><?xml version="1.0" encoding="utf-8"?>
<p:tagLst xmlns:a="http://schemas.openxmlformats.org/drawingml/2006/main" xmlns:r="http://schemas.openxmlformats.org/officeDocument/2006/relationships" xmlns:p="http://schemas.openxmlformats.org/presentationml/2006/main">
  <p:tag name="TIMING" val="|0.6|0.7|1.5|7.8"/>
</p:tagLst>
</file>

<file path=ppt/tags/tag8.xml><?xml version="1.0" encoding="utf-8"?>
<p:tagLst xmlns:a="http://schemas.openxmlformats.org/drawingml/2006/main" xmlns:r="http://schemas.openxmlformats.org/officeDocument/2006/relationships" xmlns:p="http://schemas.openxmlformats.org/presentationml/2006/main">
  <p:tag name="TIMING" val="|3.1|0.7|1.2|11.7|2.5|0.8"/>
</p:tagLst>
</file>

<file path=ppt/tags/tag9.xml><?xml version="1.0" encoding="utf-8"?>
<p:tagLst xmlns:a="http://schemas.openxmlformats.org/drawingml/2006/main" xmlns:r="http://schemas.openxmlformats.org/officeDocument/2006/relationships" xmlns:p="http://schemas.openxmlformats.org/presentationml/2006/main">
  <p:tag name="TIMING" val="|0.9|0.6|0.8|1.9|1.6"/>
</p:tagLst>
</file>

<file path=ppt/tags/tag10.xml><?xml version="1.0" encoding="utf-8"?>
<p:tagLst xmlns:a="http://schemas.openxmlformats.org/drawingml/2006/main" xmlns:r="http://schemas.openxmlformats.org/officeDocument/2006/relationships" xmlns:p="http://schemas.openxmlformats.org/presentationml/2006/main">
  <p:tag name="TIMING" val="|1|0.6|33.4"/>
</p:tagLst>
</file>

<file path=ppt/tags/tag11.xml><?xml version="1.0" encoding="utf-8"?>
<p:tagLst xmlns:a="http://schemas.openxmlformats.org/drawingml/2006/main" xmlns:r="http://schemas.openxmlformats.org/officeDocument/2006/relationships" xmlns:p="http://schemas.openxmlformats.org/presentationml/2006/main">
  <p:tag name="TIMING" val="|0.6|0.8|3.7|0.7"/>
</p:tagLst>
</file>

<file path=ppt/tags/tag12.xml><?xml version="1.0" encoding="utf-8"?>
<p:tagLst xmlns:a="http://schemas.openxmlformats.org/drawingml/2006/main" xmlns:r="http://schemas.openxmlformats.org/officeDocument/2006/relationships" xmlns:p="http://schemas.openxmlformats.org/presentationml/2006/main">
  <p:tag name="TIMING" val="|0.9|1"/>
</p:tagLst>
</file>

<file path=ppt/tags/tag13.xml><?xml version="1.0" encoding="utf-8"?>
<p:tagLst xmlns:a="http://schemas.openxmlformats.org/drawingml/2006/main" xmlns:r="http://schemas.openxmlformats.org/officeDocument/2006/relationships" xmlns:p="http://schemas.openxmlformats.org/presentationml/2006/main">
  <p:tag name="TIMING" val="|0.5|9.6|2.7|8.9"/>
</p:tagLst>
</file>

<file path=ppt/tags/tag14.xml><?xml version="1.0" encoding="utf-8"?>
<p:tagLst xmlns:a="http://schemas.openxmlformats.org/drawingml/2006/main" xmlns:r="http://schemas.openxmlformats.org/officeDocument/2006/relationships" xmlns:p="http://schemas.openxmlformats.org/presentationml/2006/main">
  <p:tag name="TIMING" val="|0.6|20.9"/>
</p:tagLst>
</file>

<file path=ppt/tags/tag15.xml><?xml version="1.0" encoding="utf-8"?>
<p:tagLst xmlns:a="http://schemas.openxmlformats.org/drawingml/2006/main" xmlns:r="http://schemas.openxmlformats.org/officeDocument/2006/relationships" xmlns:p="http://schemas.openxmlformats.org/presentationml/2006/main">
  <p:tag name="TIMING" val="|4.6|1.4|1.8|32.3|23.6|1.3|68.8|0.8|0.6|4.2|0.5|0.4"/>
</p:tagLst>
</file>

<file path=ppt/tags/tag16.xml><?xml version="1.0" encoding="utf-8"?>
<p:tagLst xmlns:a="http://schemas.openxmlformats.org/drawingml/2006/main" xmlns:r="http://schemas.openxmlformats.org/officeDocument/2006/relationships" xmlns:p="http://schemas.openxmlformats.org/presentationml/2006/main">
  <p:tag name="TIMING" val="|0.7|0.8|0.6|19.3"/>
</p:tagLst>
</file>

<file path=ppt/tags/tag17.xml><?xml version="1.0" encoding="utf-8"?>
<p:tagLst xmlns:a="http://schemas.openxmlformats.org/drawingml/2006/main" xmlns:r="http://schemas.openxmlformats.org/officeDocument/2006/relationships" xmlns:p="http://schemas.openxmlformats.org/presentationml/2006/main">
  <p:tag name="TIMING" val="|0.4|0.5|1.2|0.8|17.6|7.4"/>
</p:tagLst>
</file>

<file path=ppt/tags/tag18.xml><?xml version="1.0" encoding="utf-8"?>
<p:tagLst xmlns:a="http://schemas.openxmlformats.org/drawingml/2006/main" xmlns:r="http://schemas.openxmlformats.org/officeDocument/2006/relationships" xmlns:p="http://schemas.openxmlformats.org/presentationml/2006/main">
  <p:tag name="TIMING" val="|0.7|0.8|0.8"/>
</p:tagLst>
</file>

<file path=ppt/tags/tag19.xml><?xml version="1.0" encoding="utf-8"?>
<p:tagLst xmlns:a="http://schemas.openxmlformats.org/drawingml/2006/main" xmlns:r="http://schemas.openxmlformats.org/officeDocument/2006/relationships" xmlns:p="http://schemas.openxmlformats.org/presentationml/2006/main">
  <p:tag name="TIMING" val="|0.8|1|11|1|7.7|0.8|1"/>
</p:tagLst>
</file>

<file path=ppt/tags/tag20.xml><?xml version="1.0" encoding="utf-8"?>
<p:tagLst xmlns:a="http://schemas.openxmlformats.org/drawingml/2006/main" xmlns:r="http://schemas.openxmlformats.org/officeDocument/2006/relationships" xmlns:p="http://schemas.openxmlformats.org/presentationml/2006/main">
  <p:tag name="TIMING" val="|0.6|0.6|20.2|2|15.3"/>
</p:tagLst>
</file>

<file path=ppt/tags/tag21.xml><?xml version="1.0" encoding="utf-8"?>
<p:tagLst xmlns:a="http://schemas.openxmlformats.org/drawingml/2006/main" xmlns:r="http://schemas.openxmlformats.org/officeDocument/2006/relationships" xmlns:p="http://schemas.openxmlformats.org/presentationml/2006/main">
  <p:tag name="TIMING" val="|0.7|0.6|0.7|40.9"/>
</p:tagLst>
</file>

<file path=ppt/tags/tag22.xml><?xml version="1.0" encoding="utf-8"?>
<p:tagLst xmlns:a="http://schemas.openxmlformats.org/drawingml/2006/main" xmlns:r="http://schemas.openxmlformats.org/officeDocument/2006/relationships" xmlns:p="http://schemas.openxmlformats.org/presentationml/2006/main">
  <p:tag name="TIMING" val="|0.6|5.9|0.7|0.6|1.1|0.6|0.4|0.7|2.7|1.5|1.6|1.3|3.7|1.1"/>
</p:tagLst>
</file>

<file path=ppt/tags/tag23.xml><?xml version="1.0" encoding="utf-8"?>
<p:tagLst xmlns:a="http://schemas.openxmlformats.org/drawingml/2006/main" xmlns:r="http://schemas.openxmlformats.org/officeDocument/2006/relationships" xmlns:p="http://schemas.openxmlformats.org/presentationml/2006/main">
  <p:tag name="TIMING" val="|0.8|0.9|0.8|0.9|0.7|0.7|1.3|0.6|0.8|0.7|0.7|0.5|0.4|0.7|0.9|0.5|0.3|0.2|0.5|0.3|0.4|0.6|0.5"/>
</p:tagLst>
</file>

<file path=ppt/tags/tag24.xml><?xml version="1.0" encoding="utf-8"?>
<p:tagLst xmlns:a="http://schemas.openxmlformats.org/drawingml/2006/main" xmlns:r="http://schemas.openxmlformats.org/officeDocument/2006/relationships" xmlns:p="http://schemas.openxmlformats.org/presentationml/2006/main">
  <p:tag name="MH" val="20151104162715"/>
  <p:tag name="MH_LIBRARY" val="GRAPHIC"/>
  <p:tag name="KSO_WM_TEMPLATE_CATEGORY" val="custom"/>
  <p:tag name="KSO_WM_TEMPLATE_INDEX" val="160200"/>
  <p:tag name="KSO_WM_TAG_VERSION" val="1.0"/>
  <p:tag name="KSO_WM_SLIDE_ID" val="custom160200_29"/>
  <p:tag name="KSO_WM_SLIDE_INDEX" val="29"/>
  <p:tag name="KSO_WM_SLIDE_ITEM_CNT" val="0"/>
  <p:tag name="KSO_WM_SLIDE_TYPE" val="endPage"/>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200_29*i*0"/>
  <p:tag name="KSO_WM_TEMPLATE_CATEGORY" val="custom"/>
  <p:tag name="KSO_WM_TEMPLATE_INDEX" val="160200"/>
  <p:tag name="KSO_WM_UNIT_INDEX" val="0"/>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1818</Words>
  <Application>Microsoft Office PowerPoint</Application>
  <PresentationFormat>全屏显示(4:3)</PresentationFormat>
  <Paragraphs>233</Paragraphs>
  <Slides>24</Slides>
  <Notes>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24</vt:i4>
      </vt:variant>
    </vt:vector>
  </HeadingPairs>
  <TitlesOfParts>
    <vt:vector size="38" baseType="lpstr">
      <vt:lpstr>Monotype Sorts</vt:lpstr>
      <vt:lpstr>黑体</vt:lpstr>
      <vt:lpstr>华文中宋</vt:lpstr>
      <vt:lpstr>楷体_GB2312</vt:lpstr>
      <vt:lpstr>隶书</vt:lpstr>
      <vt:lpstr>宋体</vt:lpstr>
      <vt:lpstr>幼圆</vt:lpstr>
      <vt:lpstr>Arial</vt:lpstr>
      <vt:lpstr>Calibri</vt:lpstr>
      <vt:lpstr>Comic Sans MS</vt:lpstr>
      <vt:lpstr>Tahoma</vt:lpstr>
      <vt:lpstr>Times New Roman</vt:lpstr>
      <vt:lpstr>Wingdings</vt:lpstr>
      <vt:lpstr>Blends</vt:lpstr>
      <vt:lpstr>四、封锁带来的问题－－活锁和死锁</vt:lpstr>
      <vt:lpstr>四、封锁带来的问题－－活锁和死锁</vt:lpstr>
      <vt:lpstr>四、封锁带来的问题－－活锁和死锁</vt:lpstr>
      <vt:lpstr>四、封锁带来的问题－－活锁和死锁</vt:lpstr>
      <vt:lpstr>四、封锁带来的问题－－活锁和死锁</vt:lpstr>
      <vt:lpstr>四、封锁带来的问题－－活锁和死锁</vt:lpstr>
      <vt:lpstr>四、封锁带来的问题－－活锁和死锁</vt:lpstr>
      <vt:lpstr>四、封锁带来的问题－－活锁和死锁</vt:lpstr>
      <vt:lpstr>四、封锁带来的问题－－活锁和死锁</vt:lpstr>
      <vt:lpstr>四、封锁带来的问题－－活锁和死锁</vt:lpstr>
      <vt:lpstr>五、并发调度的可串行性</vt:lpstr>
      <vt:lpstr>五、并发调度的可串行性</vt:lpstr>
      <vt:lpstr>五、并发调度的可串行性</vt:lpstr>
      <vt:lpstr>PowerPoint 演示文稿</vt:lpstr>
      <vt:lpstr>PowerPoint 演示文稿</vt:lpstr>
      <vt:lpstr>六、两段锁协议</vt:lpstr>
      <vt:lpstr>六、两段锁协议</vt:lpstr>
      <vt:lpstr>七、锁的粒度</vt:lpstr>
      <vt:lpstr>七、锁的粒度</vt:lpstr>
      <vt:lpstr>七、锁的粒度</vt:lpstr>
      <vt:lpstr>七、锁的粒度</vt:lpstr>
      <vt:lpstr>小 结</vt:lpstr>
      <vt:lpstr>本章总结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533</cp:revision>
  <cp:lastPrinted>2000-08-23T09:10:00Z</cp:lastPrinted>
  <dcterms:created xsi:type="dcterms:W3CDTF">2113-01-01T00:00:00Z</dcterms:created>
  <dcterms:modified xsi:type="dcterms:W3CDTF">2021-04-20T14:56:55Z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