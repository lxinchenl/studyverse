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heme/theme4.xml" ContentType="application/vnd.openxmlformats-officedocument.them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2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3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4.xml" ContentType="application/vnd.openxmlformats-officedocument.presentationml.notesSlid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notesSlides/notesSlide5.xml" ContentType="application/vnd.openxmlformats-officedocument.presentationml.notesSlide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notesSlides/notesSlide6.xml" ContentType="application/vnd.openxmlformats-officedocument.presentationml.notesSlide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59" r:id="rId2"/>
    <p:sldMasterId id="2147483670" r:id="rId3"/>
  </p:sldMasterIdLst>
  <p:notesMasterIdLst>
    <p:notesMasterId r:id="rId62"/>
  </p:notesMasterIdLst>
  <p:sldIdLst>
    <p:sldId id="256" r:id="rId4"/>
    <p:sldId id="257" r:id="rId5"/>
    <p:sldId id="338" r:id="rId6"/>
    <p:sldId id="258" r:id="rId7"/>
    <p:sldId id="259" r:id="rId8"/>
    <p:sldId id="340" r:id="rId9"/>
    <p:sldId id="411" r:id="rId10"/>
    <p:sldId id="341" r:id="rId11"/>
    <p:sldId id="342" r:id="rId12"/>
    <p:sldId id="398" r:id="rId13"/>
    <p:sldId id="265" r:id="rId14"/>
    <p:sldId id="266" r:id="rId15"/>
    <p:sldId id="399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400" r:id="rId25"/>
    <p:sldId id="277" r:id="rId26"/>
    <p:sldId id="344" r:id="rId27"/>
    <p:sldId id="412" r:id="rId28"/>
    <p:sldId id="402" r:id="rId29"/>
    <p:sldId id="280" r:id="rId30"/>
    <p:sldId id="281" r:id="rId31"/>
    <p:sldId id="282" r:id="rId32"/>
    <p:sldId id="283" r:id="rId33"/>
    <p:sldId id="284" r:id="rId34"/>
    <p:sldId id="285" r:id="rId35"/>
    <p:sldId id="403" r:id="rId36"/>
    <p:sldId id="404" r:id="rId37"/>
    <p:sldId id="405" r:id="rId38"/>
    <p:sldId id="406" r:id="rId39"/>
    <p:sldId id="291" r:id="rId40"/>
    <p:sldId id="292" r:id="rId41"/>
    <p:sldId id="293" r:id="rId42"/>
    <p:sldId id="407" r:id="rId43"/>
    <p:sldId id="295" r:id="rId44"/>
    <p:sldId id="296" r:id="rId45"/>
    <p:sldId id="353" r:id="rId46"/>
    <p:sldId id="413" r:id="rId47"/>
    <p:sldId id="352" r:id="rId48"/>
    <p:sldId id="299" r:id="rId49"/>
    <p:sldId id="355" r:id="rId50"/>
    <p:sldId id="301" r:id="rId51"/>
    <p:sldId id="302" r:id="rId52"/>
    <p:sldId id="347" r:id="rId53"/>
    <p:sldId id="303" r:id="rId54"/>
    <p:sldId id="304" r:id="rId55"/>
    <p:sldId id="348" r:id="rId56"/>
    <p:sldId id="349" r:id="rId57"/>
    <p:sldId id="350" r:id="rId58"/>
    <p:sldId id="351" r:id="rId59"/>
    <p:sldId id="345" r:id="rId60"/>
    <p:sldId id="463" r:id="rId6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88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slide" Target="slides/slide58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4DA0389-68DE-4DAA-A876-A2D284F6FF4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4DA0389-68DE-4DAA-A876-A2D284F6FF4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4DA0389-68DE-4DAA-A876-A2D284F6FF4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4DA0389-68DE-4DAA-A876-A2D284F6FF4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4DA0389-68DE-4DAA-A876-A2D284F6FF4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116E82-425C-4C60-82B1-3495F9D10054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1.jpeg"/><Relationship Id="rId5" Type="http://schemas.openxmlformats.org/officeDocument/2006/relationships/tags" Target="../tags/tag18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../media/image2.jpeg"/><Relationship Id="rId5" Type="http://schemas.openxmlformats.org/officeDocument/2006/relationships/tags" Target="../tags/tag32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31.xml"/><Relationship Id="rId9" Type="http://schemas.openxmlformats.org/officeDocument/2006/relationships/tags" Target="../tags/tag3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9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54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72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10" Type="http://schemas.openxmlformats.org/officeDocument/2006/relationships/image" Target="../media/image1.jpeg"/><Relationship Id="rId4" Type="http://schemas.openxmlformats.org/officeDocument/2006/relationships/tags" Target="../tags/tag76.xml"/><Relationship Id="rId9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2021-4-20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200" y="2187443"/>
            <a:ext cx="10515600" cy="2483115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500" y="2159000"/>
            <a:ext cx="5715000" cy="1382450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500" y="3733201"/>
            <a:ext cx="5715000" cy="118593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713673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2021-4-20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 cstate="email">
            <a:grayscl/>
          </a:blip>
          <a:srcRect/>
          <a:stretch>
            <a:fillRect/>
          </a:stretch>
        </p:blipFill>
        <p:spPr>
          <a:xfrm>
            <a:off x="0" y="1963295"/>
            <a:ext cx="10668972" cy="2976560"/>
          </a:xfrm>
          <a:custGeom>
            <a:avLst/>
            <a:gdLst>
              <a:gd name="connsiteX0" fmla="*/ 0 w 10668972"/>
              <a:gd name="connsiteY0" fmla="*/ 0 h 2976560"/>
              <a:gd name="connsiteX1" fmla="*/ 10668972 w 10668972"/>
              <a:gd name="connsiteY1" fmla="*/ 0 h 2976560"/>
              <a:gd name="connsiteX2" fmla="*/ 10668972 w 10668972"/>
              <a:gd name="connsiteY2" fmla="*/ 2976560 h 2976560"/>
              <a:gd name="connsiteX3" fmla="*/ 0 w 10668972"/>
              <a:gd name="connsiteY3" fmla="*/ 2976560 h 297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68972" h="2976560">
                <a:moveTo>
                  <a:pt x="0" y="0"/>
                </a:moveTo>
                <a:lnTo>
                  <a:pt x="10668972" y="0"/>
                </a:lnTo>
                <a:lnTo>
                  <a:pt x="10668972" y="2976560"/>
                </a:lnTo>
                <a:lnTo>
                  <a:pt x="0" y="297656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/>
        </p:nvSpPr>
        <p:spPr>
          <a:xfrm>
            <a:off x="1333500" y="977563"/>
            <a:ext cx="4038600" cy="5880437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626725" y="1962150"/>
            <a:ext cx="188595" cy="29762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0" name="任意多边形: 形状 30"/>
          <p:cNvSpPr/>
          <p:nvPr>
            <p:custDataLst>
              <p:tags r:id="rId1"/>
            </p:custDataLst>
          </p:nvPr>
        </p:nvSpPr>
        <p:spPr>
          <a:xfrm rot="18900000">
            <a:off x="11280649" y="-568433"/>
            <a:ext cx="651909" cy="2307661"/>
          </a:xfrm>
          <a:custGeom>
            <a:avLst/>
            <a:gdLst>
              <a:gd name="connsiteX0" fmla="*/ 0 w 651909"/>
              <a:gd name="connsiteY0" fmla="*/ 0 h 2307661"/>
              <a:gd name="connsiteX1" fmla="*/ 651909 w 651909"/>
              <a:gd name="connsiteY1" fmla="*/ 651909 h 2307661"/>
              <a:gd name="connsiteX2" fmla="*/ 651909 w 651909"/>
              <a:gd name="connsiteY2" fmla="*/ 1655752 h 2307661"/>
              <a:gd name="connsiteX3" fmla="*/ 0 w 651909"/>
              <a:gd name="connsiteY3" fmla="*/ 2307661 h 2307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1909" h="2307661">
                <a:moveTo>
                  <a:pt x="0" y="0"/>
                </a:moveTo>
                <a:lnTo>
                  <a:pt x="651909" y="651909"/>
                </a:lnTo>
                <a:lnTo>
                  <a:pt x="651909" y="1655752"/>
                </a:lnTo>
                <a:lnTo>
                  <a:pt x="0" y="23076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4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450522" y="1962150"/>
            <a:ext cx="3804557" cy="1849209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50522" y="3918857"/>
            <a:ext cx="3804557" cy="1007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lIns="90000" tIns="46800" rIns="90000" bIns="46800"/>
          <a:lstStyle/>
          <a:p>
            <a:fld id="{D997B5FA-0921-464F-AAE1-844C04324D75}" type="datetimeFigureOut">
              <a:rPr lang="zh-CN" altLang="en-US" smtClean="0"/>
              <a:t>2021-4-20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lIns="90000" tIns="46800" rIns="90000" bIns="46800"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节标题"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exels-photo-822321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811020" y="-17145"/>
            <a:ext cx="10380980" cy="686562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981835" y="-19050"/>
            <a:ext cx="10208260" cy="6866255"/>
          </a:xfrm>
          <a:prstGeom prst="rect">
            <a:avLst/>
          </a:prstGeom>
          <a:solidFill>
            <a:schemeClr val="tx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"/>
          <p:cNvSpPr/>
          <p:nvPr/>
        </p:nvSpPr>
        <p:spPr>
          <a:xfrm>
            <a:off x="0" y="-15240"/>
            <a:ext cx="5593080" cy="6873240"/>
          </a:xfrm>
          <a:custGeom>
            <a:avLst/>
            <a:gdLst>
              <a:gd name="connsiteX0" fmla="*/ 0 w 5593080"/>
              <a:gd name="connsiteY0" fmla="*/ 0 h 6858000"/>
              <a:gd name="connsiteX1" fmla="*/ 5593080 w 5593080"/>
              <a:gd name="connsiteY1" fmla="*/ 0 h 6858000"/>
              <a:gd name="connsiteX2" fmla="*/ 5593080 w 5593080"/>
              <a:gd name="connsiteY2" fmla="*/ 6858000 h 6858000"/>
              <a:gd name="connsiteX3" fmla="*/ 0 w 5593080"/>
              <a:gd name="connsiteY3" fmla="*/ 6858000 h 6858000"/>
              <a:gd name="connsiteX4" fmla="*/ 0 w 5593080"/>
              <a:gd name="connsiteY4" fmla="*/ 0 h 6858000"/>
              <a:gd name="connsiteX0-1" fmla="*/ 0 w 5593080"/>
              <a:gd name="connsiteY0-2" fmla="*/ 15240 h 6873240"/>
              <a:gd name="connsiteX1-3" fmla="*/ 2941320 w 5593080"/>
              <a:gd name="connsiteY1-4" fmla="*/ 0 h 6873240"/>
              <a:gd name="connsiteX2-5" fmla="*/ 5593080 w 5593080"/>
              <a:gd name="connsiteY2-6" fmla="*/ 6873240 h 6873240"/>
              <a:gd name="connsiteX3-7" fmla="*/ 0 w 5593080"/>
              <a:gd name="connsiteY3-8" fmla="*/ 6873240 h 6873240"/>
              <a:gd name="connsiteX4-9" fmla="*/ 0 w 5593080"/>
              <a:gd name="connsiteY4-10" fmla="*/ 15240 h 687324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593080" h="6873240">
                <a:moveTo>
                  <a:pt x="0" y="15240"/>
                </a:moveTo>
                <a:lnTo>
                  <a:pt x="2941320" y="0"/>
                </a:lnTo>
                <a:lnTo>
                  <a:pt x="5593080" y="6873240"/>
                </a:lnTo>
                <a:lnTo>
                  <a:pt x="0" y="6873240"/>
                </a:lnTo>
                <a:lnTo>
                  <a:pt x="0" y="152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829579" y="3803878"/>
            <a:ext cx="6653011" cy="535531"/>
          </a:xfrm>
          <a:prstGeom prst="rect">
            <a:avLst/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lIns="90000" tIns="46800" rIns="90000" bIns="46800"/>
          <a:lstStyle/>
          <a:p>
            <a:fld id="{2F6DAB25-1EF7-4D38-80E5-22F3443564C0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lIns="90000" tIns="46800" rIns="90000" bIns="46800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lIns="90000" tIns="46800" rIns="90000" bIns="46800"/>
          <a:lstStyle/>
          <a:p>
            <a:fld id="{F33A6037-1EEA-4892-99E6-C23EFC235DF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56508" y="3803878"/>
            <a:ext cx="7224012" cy="535531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56508" y="2585300"/>
            <a:ext cx="7224012" cy="1200329"/>
          </a:xfrm>
        </p:spPr>
        <p:txBody>
          <a:bodyPr lIns="90000" tIns="46800" rIns="90000" bIns="46800" anchor="ctr" anchorCtr="0">
            <a:normAutofit/>
          </a:bodyPr>
          <a:lstStyle>
            <a:lvl1pPr algn="ctr">
              <a:defRPr sz="6000" b="1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 cstate="email">
            <a:grayscl/>
          </a:blip>
          <a:srcRect/>
          <a:stretch>
            <a:fillRect/>
          </a:stretch>
        </p:blipFill>
        <p:spPr>
          <a:xfrm>
            <a:off x="0" y="1963295"/>
            <a:ext cx="10668972" cy="2976560"/>
          </a:xfrm>
          <a:custGeom>
            <a:avLst/>
            <a:gdLst>
              <a:gd name="connsiteX0" fmla="*/ 0 w 10668972"/>
              <a:gd name="connsiteY0" fmla="*/ 0 h 2976560"/>
              <a:gd name="connsiteX1" fmla="*/ 10668972 w 10668972"/>
              <a:gd name="connsiteY1" fmla="*/ 0 h 2976560"/>
              <a:gd name="connsiteX2" fmla="*/ 10668972 w 10668972"/>
              <a:gd name="connsiteY2" fmla="*/ 2976560 h 2976560"/>
              <a:gd name="connsiteX3" fmla="*/ 0 w 10668972"/>
              <a:gd name="connsiteY3" fmla="*/ 2976560 h 297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68972" h="2976560">
                <a:moveTo>
                  <a:pt x="0" y="0"/>
                </a:moveTo>
                <a:lnTo>
                  <a:pt x="10668972" y="0"/>
                </a:lnTo>
                <a:lnTo>
                  <a:pt x="10668972" y="2976560"/>
                </a:lnTo>
                <a:lnTo>
                  <a:pt x="0" y="2976560"/>
                </a:lnTo>
                <a:close/>
              </a:path>
            </a:pathLst>
          </a:custGeom>
        </p:spPr>
      </p:pic>
      <p:sp>
        <p:nvSpPr>
          <p:cNvPr id="12" name="矩形 11"/>
          <p:cNvSpPr/>
          <p:nvPr/>
        </p:nvSpPr>
        <p:spPr>
          <a:xfrm>
            <a:off x="1333500" y="977563"/>
            <a:ext cx="4038600" cy="5880437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626725" y="1962150"/>
            <a:ext cx="188595" cy="29762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33500" y="2521525"/>
            <a:ext cx="4038600" cy="1184274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lIns="90000" tIns="46800" rIns="90000" bIns="46800">
            <a:normAutofit/>
          </a:bodyPr>
          <a:lstStyle/>
          <a:p>
            <a:fld id="{8628A9B8-04D2-4A69-A357-9BB7020E0D53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lIns="90000" tIns="46800" rIns="90000" bIns="46800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lIns="90000" tIns="46800" rIns="90000" bIns="46800">
            <a:normAutofit/>
          </a:bodyPr>
          <a:lstStyle/>
          <a:p>
            <a:fld id="{8E904701-D507-46B8-A747-8AB024B2BAD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1333500" y="3786908"/>
            <a:ext cx="4038600" cy="1151487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713673"/>
            <a:ext cx="4681654" cy="142816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2517" y="713673"/>
            <a:ext cx="5711882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2313873"/>
            <a:ext cx="4681654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2021-4-20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4898" y="365125"/>
            <a:ext cx="908901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9446443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email">
            <a:grayscl/>
          </a:blip>
          <a:srcRect/>
          <a:stretch>
            <a:fillRect/>
          </a:stretch>
        </p:blipFill>
        <p:spPr>
          <a:xfrm>
            <a:off x="0" y="1963295"/>
            <a:ext cx="10668972" cy="2976560"/>
          </a:xfrm>
          <a:custGeom>
            <a:avLst/>
            <a:gdLst>
              <a:gd name="connsiteX0" fmla="*/ 0 w 10668972"/>
              <a:gd name="connsiteY0" fmla="*/ 0 h 2976560"/>
              <a:gd name="connsiteX1" fmla="*/ 10668972 w 10668972"/>
              <a:gd name="connsiteY1" fmla="*/ 0 h 2976560"/>
              <a:gd name="connsiteX2" fmla="*/ 10668972 w 10668972"/>
              <a:gd name="connsiteY2" fmla="*/ 2976560 h 2976560"/>
              <a:gd name="connsiteX3" fmla="*/ 0 w 10668972"/>
              <a:gd name="connsiteY3" fmla="*/ 2976560 h 297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68972" h="2976560">
                <a:moveTo>
                  <a:pt x="0" y="0"/>
                </a:moveTo>
                <a:lnTo>
                  <a:pt x="10668972" y="0"/>
                </a:lnTo>
                <a:lnTo>
                  <a:pt x="10668972" y="2976560"/>
                </a:lnTo>
                <a:lnTo>
                  <a:pt x="0" y="297656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333500" y="977564"/>
            <a:ext cx="4038600" cy="5880437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0626725" y="1962151"/>
            <a:ext cx="188595" cy="29762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1450523" y="1962150"/>
            <a:ext cx="3804557" cy="1849209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1450523" y="3905459"/>
            <a:ext cx="3804557" cy="10076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2" name="任意多边形: 形状 30"/>
          <p:cNvSpPr/>
          <p:nvPr>
            <p:custDataLst>
              <p:tags r:id="rId9"/>
            </p:custDataLst>
          </p:nvPr>
        </p:nvSpPr>
        <p:spPr>
          <a:xfrm rot="18900000">
            <a:off x="10882665" y="-620410"/>
            <a:ext cx="942271" cy="2501625"/>
          </a:xfrm>
          <a:custGeom>
            <a:avLst/>
            <a:gdLst>
              <a:gd name="connsiteX0" fmla="*/ 0 w 651909"/>
              <a:gd name="connsiteY0" fmla="*/ 0 h 2307661"/>
              <a:gd name="connsiteX1" fmla="*/ 651909 w 651909"/>
              <a:gd name="connsiteY1" fmla="*/ 651909 h 2307661"/>
              <a:gd name="connsiteX2" fmla="*/ 651909 w 651909"/>
              <a:gd name="connsiteY2" fmla="*/ 1655752 h 2307661"/>
              <a:gd name="connsiteX3" fmla="*/ 0 w 651909"/>
              <a:gd name="connsiteY3" fmla="*/ 2307661 h 2307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1909" h="2307661">
                <a:moveTo>
                  <a:pt x="0" y="0"/>
                </a:moveTo>
                <a:lnTo>
                  <a:pt x="651909" y="651909"/>
                </a:lnTo>
                <a:lnTo>
                  <a:pt x="651909" y="1655752"/>
                </a:lnTo>
                <a:lnTo>
                  <a:pt x="0" y="23076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4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exels-photo-82232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screen"/>
          <a:stretch>
            <a:fillRect/>
          </a:stretch>
        </p:blipFill>
        <p:spPr>
          <a:xfrm>
            <a:off x="1811020" y="-17145"/>
            <a:ext cx="10380980" cy="686562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981835" y="-19050"/>
            <a:ext cx="10208260" cy="6866255"/>
          </a:xfrm>
          <a:prstGeom prst="rect">
            <a:avLst/>
          </a:prstGeom>
          <a:solidFill>
            <a:schemeClr val="tx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矩形 1"/>
          <p:cNvSpPr/>
          <p:nvPr>
            <p:custDataLst>
              <p:tags r:id="rId3"/>
            </p:custDataLst>
          </p:nvPr>
        </p:nvSpPr>
        <p:spPr>
          <a:xfrm>
            <a:off x="0" y="-15240"/>
            <a:ext cx="5593080" cy="6873240"/>
          </a:xfrm>
          <a:custGeom>
            <a:avLst/>
            <a:gdLst>
              <a:gd name="connsiteX0" fmla="*/ 0 w 5593080"/>
              <a:gd name="connsiteY0" fmla="*/ 0 h 6858000"/>
              <a:gd name="connsiteX1" fmla="*/ 5593080 w 5593080"/>
              <a:gd name="connsiteY1" fmla="*/ 0 h 6858000"/>
              <a:gd name="connsiteX2" fmla="*/ 5593080 w 5593080"/>
              <a:gd name="connsiteY2" fmla="*/ 6858000 h 6858000"/>
              <a:gd name="connsiteX3" fmla="*/ 0 w 5593080"/>
              <a:gd name="connsiteY3" fmla="*/ 6858000 h 6858000"/>
              <a:gd name="connsiteX4" fmla="*/ 0 w 5593080"/>
              <a:gd name="connsiteY4" fmla="*/ 0 h 6858000"/>
              <a:gd name="connsiteX0-1" fmla="*/ 0 w 5593080"/>
              <a:gd name="connsiteY0-2" fmla="*/ 15240 h 6873240"/>
              <a:gd name="connsiteX1-3" fmla="*/ 2941320 w 5593080"/>
              <a:gd name="connsiteY1-4" fmla="*/ 0 h 6873240"/>
              <a:gd name="connsiteX2-5" fmla="*/ 5593080 w 5593080"/>
              <a:gd name="connsiteY2-6" fmla="*/ 6873240 h 6873240"/>
              <a:gd name="connsiteX3-7" fmla="*/ 0 w 5593080"/>
              <a:gd name="connsiteY3-8" fmla="*/ 6873240 h 6873240"/>
              <a:gd name="connsiteX4-9" fmla="*/ 0 w 5593080"/>
              <a:gd name="connsiteY4-10" fmla="*/ 15240 h 687324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593080" h="6873240">
                <a:moveTo>
                  <a:pt x="0" y="15240"/>
                </a:moveTo>
                <a:lnTo>
                  <a:pt x="2941320" y="0"/>
                </a:lnTo>
                <a:lnTo>
                  <a:pt x="5593080" y="6873240"/>
                </a:lnTo>
                <a:lnTo>
                  <a:pt x="0" y="6873240"/>
                </a:lnTo>
                <a:lnTo>
                  <a:pt x="0" y="152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4829580" y="3803879"/>
            <a:ext cx="6653011" cy="535531"/>
          </a:xfrm>
          <a:prstGeom prst="rect">
            <a:avLst/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4552695" y="3803880"/>
            <a:ext cx="7224012" cy="5355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4552696" y="2584030"/>
            <a:ext cx="7224012" cy="1200799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9788" y="365126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839789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839789" y="2615609"/>
            <a:ext cx="5157787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2615609"/>
            <a:ext cx="5183188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839788" y="711200"/>
            <a:ext cx="42624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  <p:custDataLst>
              <p:tags r:id="rId2"/>
            </p:custDataLst>
          </p:nvPr>
        </p:nvSpPr>
        <p:spPr>
          <a:xfrm>
            <a:off x="5352521" y="733425"/>
            <a:ext cx="61704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839788" y="2311400"/>
            <a:ext cx="42624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  <a:t>2021-4-20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838200" y="365125"/>
            <a:ext cx="887995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838200" y="551544"/>
            <a:ext cx="105156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email">
            <a:grayscl/>
          </a:blip>
          <a:srcRect/>
          <a:stretch>
            <a:fillRect/>
          </a:stretch>
        </p:blipFill>
        <p:spPr>
          <a:xfrm>
            <a:off x="0" y="1963295"/>
            <a:ext cx="10668972" cy="2976560"/>
          </a:xfrm>
          <a:custGeom>
            <a:avLst/>
            <a:gdLst>
              <a:gd name="connsiteX0" fmla="*/ 0 w 10668972"/>
              <a:gd name="connsiteY0" fmla="*/ 0 h 2976560"/>
              <a:gd name="connsiteX1" fmla="*/ 10668972 w 10668972"/>
              <a:gd name="connsiteY1" fmla="*/ 0 h 2976560"/>
              <a:gd name="connsiteX2" fmla="*/ 10668972 w 10668972"/>
              <a:gd name="connsiteY2" fmla="*/ 2976560 h 2976560"/>
              <a:gd name="connsiteX3" fmla="*/ 0 w 10668972"/>
              <a:gd name="connsiteY3" fmla="*/ 2976560 h 297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68972" h="2976560">
                <a:moveTo>
                  <a:pt x="0" y="0"/>
                </a:moveTo>
                <a:lnTo>
                  <a:pt x="10668972" y="0"/>
                </a:lnTo>
                <a:lnTo>
                  <a:pt x="10668972" y="2976560"/>
                </a:lnTo>
                <a:lnTo>
                  <a:pt x="0" y="2976560"/>
                </a:lnTo>
                <a:close/>
              </a:path>
            </a:pathLst>
          </a:custGeom>
        </p:spPr>
      </p:pic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333500" y="977564"/>
            <a:ext cx="4038600" cy="5880437"/>
          </a:xfrm>
          <a:prstGeom prst="rect">
            <a:avLst/>
          </a:prstGeom>
          <a:solidFill>
            <a:schemeClr val="accent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0626725" y="1962151"/>
            <a:ext cx="188595" cy="29762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+mj-ea"/>
              <a:ea typeface="+mj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333495" y="2520064"/>
            <a:ext cx="4038601" cy="1185733"/>
          </a:xfr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4400" spc="0" baseline="0">
                <a:solidFill>
                  <a:schemeClr val="bg2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1333500" y="3784600"/>
            <a:ext cx="4038600" cy="118573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ags" Target="../tags/tag5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ags" Target="../tags/tag4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ags" Target="../tags/tag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tags" Target="../tags/tag8.xml"/><Relationship Id="rId18" Type="http://schemas.openxmlformats.org/officeDocument/2006/relationships/tags" Target="../tags/tag1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17" Type="http://schemas.openxmlformats.org/officeDocument/2006/relationships/tags" Target="../tags/tag12.xml"/><Relationship Id="rId2" Type="http://schemas.openxmlformats.org/officeDocument/2006/relationships/slideLayout" Target="../slideLayouts/slideLayout22.xml"/><Relationship Id="rId16" Type="http://schemas.openxmlformats.org/officeDocument/2006/relationships/tags" Target="../tags/tag11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tags" Target="../tags/tag10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tags" Target="../tags/tag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2021-4-20</a:t>
            </a:fld>
            <a:endParaRPr lang="zh-CN" altLang="en-US" dirty="0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KSO_TEMPLATE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2021-4-20</a:t>
            </a:fld>
            <a:endParaRPr lang="zh-CN" altLang="en-US" dirty="0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2021-4-20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slide" Target="slide1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8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4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4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4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tags" Target="../tags/tag15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6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6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dirty="0"/>
              <a:t>JDBC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5"/>
    </mc:Choice>
    <mc:Fallback xmlns="">
      <p:transition spd="slow" advTm="103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>
            <p:custDataLst>
              <p:tags r:id="rId2"/>
            </p:custDataLst>
          </p:nvPr>
        </p:nvCxnSpPr>
        <p:spPr>
          <a:xfrm>
            <a:off x="493395" y="3293110"/>
            <a:ext cx="11321413" cy="635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493394" y="1473200"/>
            <a:ext cx="11321415" cy="17032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zh-CN"/>
            </a:defPPr>
            <a:lvl1pPr lvl="0">
              <a:lnSpc>
                <a:spcPct val="90000"/>
              </a:lnSpc>
              <a:spcBef>
                <a:spcPct val="0"/>
              </a:spcBef>
              <a:buNone/>
              <a:defRPr sz="4800">
                <a:solidFill>
                  <a:srgbClr val="00B0F0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sz="3600" dirty="0">
                <a:solidFill>
                  <a:schemeClr val="tx1"/>
                </a:solidFill>
              </a:rPr>
              <a:t>目录</a:t>
            </a: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493395" y="3425825"/>
            <a:ext cx="11321415" cy="23018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2500" lnSpcReduction="20000"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36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bg1">
                    <a:lumMod val="85000"/>
                  </a:schemeClr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>
                    <a:lumMod val="8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720090" indent="-228600" eaLnBrk="1" hangingPunct="1">
              <a:lnSpc>
                <a:spcPct val="110000"/>
              </a:lnSpc>
              <a:spcBef>
                <a:spcPts val="700"/>
              </a:spcBef>
              <a:buSzTx/>
              <a:buFont typeface="Arial" panose="020B0604020202020204" pitchFamily="34" charset="0"/>
              <a:buChar char="•"/>
            </a:pPr>
            <a:r>
              <a:rPr lang="en-US" altLang="zh-CN" sz="3240" dirty="0">
                <a:latin typeface="+mn-lt"/>
                <a:ea typeface="+mn-ea"/>
              </a:rPr>
              <a:t>JDBC</a:t>
            </a:r>
            <a:r>
              <a:rPr lang="zh-CN" altLang="en-US" sz="3240" dirty="0">
                <a:latin typeface="+mn-lt"/>
                <a:ea typeface="+mn-ea"/>
              </a:rPr>
              <a:t>概述</a:t>
            </a:r>
          </a:p>
          <a:p>
            <a:pPr marL="720090" lvl="0" indent="-228600" eaLnBrk="1" hangingPunct="1">
              <a:lnSpc>
                <a:spcPct val="110000"/>
              </a:lnSpc>
              <a:spcBef>
                <a:spcPts val="700"/>
              </a:spcBef>
              <a:buSzTx/>
              <a:buFont typeface="Arial" panose="020B0604020202020204" pitchFamily="34" charset="0"/>
              <a:buChar char="•"/>
            </a:pPr>
            <a:r>
              <a:rPr lang="en-US" altLang="zh-CN" sz="3240" dirty="0">
                <a:latin typeface="+mn-lt"/>
                <a:ea typeface="+mn-ea"/>
              </a:rPr>
              <a:t>JDBC API</a:t>
            </a:r>
            <a:r>
              <a:rPr lang="zh-CN" altLang="en-US" sz="3240" dirty="0">
                <a:latin typeface="+mn-lt"/>
                <a:ea typeface="+mn-ea"/>
              </a:rPr>
              <a:t>的应用</a:t>
            </a:r>
          </a:p>
          <a:p>
            <a:pPr marL="720090" indent="-228600" eaLnBrk="1" hangingPunct="1">
              <a:lnSpc>
                <a:spcPct val="11000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zh-CN" altLang="en-US" sz="3240" dirty="0">
                <a:latin typeface="+mn-lt"/>
                <a:ea typeface="+mn-ea"/>
              </a:rPr>
              <a:t>连接池、 </a:t>
            </a:r>
            <a:r>
              <a:rPr lang="en-US" altLang="zh-CN" sz="3240" dirty="0" err="1">
                <a:latin typeface="+mn-lt"/>
                <a:ea typeface="+mn-ea"/>
              </a:rPr>
              <a:t>DataSource</a:t>
            </a:r>
            <a:r>
              <a:rPr lang="zh-CN" altLang="en-US" sz="3240" dirty="0">
                <a:latin typeface="+mn-lt"/>
                <a:ea typeface="+mn-ea"/>
              </a:rPr>
              <a:t>及其应用</a:t>
            </a:r>
          </a:p>
          <a:p>
            <a:pPr marL="720090" lvl="0" indent="-228600" eaLnBrk="1" hangingPunct="1">
              <a:lnSpc>
                <a:spcPct val="110000"/>
              </a:lnSpc>
              <a:spcBef>
                <a:spcPts val="700"/>
              </a:spcBef>
              <a:buSzTx/>
              <a:buFont typeface="Arial" panose="020B0604020202020204" pitchFamily="34" charset="0"/>
              <a:buChar char="•"/>
            </a:pPr>
            <a:r>
              <a:rPr lang="en-US" altLang="zh-CN" sz="3240" dirty="0" err="1">
                <a:latin typeface="+mn-lt"/>
                <a:ea typeface="+mn-ea"/>
              </a:rPr>
              <a:t>PreparedStatement</a:t>
            </a:r>
            <a:r>
              <a:rPr lang="zh-CN" altLang="en-US" sz="3240" dirty="0">
                <a:latin typeface="+mn-lt"/>
                <a:ea typeface="+mn-ea"/>
              </a:rPr>
              <a:t>和</a:t>
            </a:r>
            <a:r>
              <a:rPr lang="en-US" altLang="zh-CN" sz="3240" dirty="0">
                <a:latin typeface="+mn-lt"/>
                <a:ea typeface="+mn-ea"/>
              </a:rPr>
              <a:t>CallableStatement</a:t>
            </a:r>
          </a:p>
          <a:p>
            <a:pPr marL="720090" lvl="0" indent="-228600" eaLnBrk="1" hangingPunct="1">
              <a:lnSpc>
                <a:spcPct val="110000"/>
              </a:lnSpc>
              <a:spcBef>
                <a:spcPts val="700"/>
              </a:spcBef>
              <a:buSzTx/>
              <a:buFont typeface="Arial" panose="020B0604020202020204" pitchFamily="34" charset="0"/>
              <a:buChar char="•"/>
            </a:pPr>
            <a:r>
              <a:rPr lang="zh-CN" altLang="en-US" sz="3240" dirty="0">
                <a:latin typeface="+mn-lt"/>
                <a:ea typeface="+mn-ea"/>
              </a:rPr>
              <a:t>事务</a:t>
            </a:r>
            <a:endParaRPr lang="zh-CN" altLang="en-US" sz="3240" dirty="0">
              <a:latin typeface="+mn-lt"/>
              <a:ea typeface="+mn-ea"/>
              <a:hlinkClick r:id="rId6" action="ppaction://hlinksldjump"/>
            </a:endParaRPr>
          </a:p>
        </p:txBody>
      </p:sp>
    </p:spTree>
    <p:custDataLst>
      <p:tags r:id="rId1"/>
    </p:custDataLst>
  </p:cSld>
  <p:clrMapOvr>
    <a:masterClrMapping/>
  </p:clrMapOvr>
  <p:transition advTm="3556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846186" y="1692170"/>
            <a:ext cx="2171334" cy="3770263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>
            <a:defPPr>
              <a:defRPr lang="zh-CN"/>
            </a:defPPr>
            <a:lvl1pPr>
              <a:defRPr sz="23900" b="1">
                <a:solidFill>
                  <a:schemeClr val="bg1">
                    <a:lumMod val="50000"/>
                  </a:schemeClr>
                </a:solidFill>
                <a:latin typeface="+mj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39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</a:rPr>
              <a:t>1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JDBC</a:t>
            </a:r>
            <a:r>
              <a:rPr lang="zh-CN" altLang="en-US" dirty="0">
                <a:sym typeface="+mn-ea"/>
              </a:rPr>
              <a:t>概述</a:t>
            </a:r>
            <a:endParaRPr lang="en-US" altLang="zh-CN">
              <a:effectLst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9"/>
    </mc:Choice>
    <mc:Fallback xmlns="">
      <p:transition spd="slow" advTm="139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sz="3600" dirty="0"/>
              <a:t>JDBC</a:t>
            </a:r>
            <a:r>
              <a:rPr lang="zh-CN" altLang="en-US" sz="3600" dirty="0"/>
              <a:t>概述 </a:t>
            </a:r>
          </a:p>
        </p:txBody>
      </p:sp>
      <p:sp>
        <p:nvSpPr>
          <p:cNvPr id="19968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/>
              <a:t>JDBC</a:t>
            </a:r>
            <a:r>
              <a:rPr lang="zh-CN" altLang="en-US" dirty="0"/>
              <a:t>（</a:t>
            </a:r>
            <a:r>
              <a:rPr lang="en-US" altLang="zh-CN" dirty="0"/>
              <a:t>Java DataBase Connection</a:t>
            </a:r>
            <a:r>
              <a:rPr lang="zh-CN" altLang="en-US" dirty="0"/>
              <a:t>）是</a:t>
            </a:r>
            <a:r>
              <a:rPr lang="en-US" altLang="zh-CN" dirty="0"/>
              <a:t>Java</a:t>
            </a:r>
            <a:r>
              <a:rPr lang="zh-CN" altLang="en-US" dirty="0"/>
              <a:t>数据库访问</a:t>
            </a:r>
            <a:r>
              <a:rPr lang="en-US" altLang="zh-CN" dirty="0"/>
              <a:t>API</a:t>
            </a:r>
            <a:r>
              <a:rPr lang="zh-CN" altLang="en-US" dirty="0"/>
              <a:t>的统称，主要完成以下功能：</a:t>
            </a:r>
          </a:p>
          <a:p>
            <a:pPr lvl="1" eaLnBrk="1" hangingPunct="1"/>
            <a:r>
              <a:rPr lang="zh-CN" altLang="en-US" sz="2400" dirty="0"/>
              <a:t>与一个数据库建立连接。</a:t>
            </a:r>
          </a:p>
          <a:p>
            <a:pPr lvl="1" eaLnBrk="1" hangingPunct="1"/>
            <a:r>
              <a:rPr lang="zh-CN" altLang="en-US" sz="2400" dirty="0"/>
              <a:t>向数据库发送</a:t>
            </a:r>
            <a:r>
              <a:rPr lang="en-US" altLang="zh-CN" sz="2400" dirty="0"/>
              <a:t>SQL</a:t>
            </a:r>
            <a:r>
              <a:rPr lang="zh-CN" altLang="en-US" sz="2400" dirty="0"/>
              <a:t>语句。</a:t>
            </a:r>
          </a:p>
          <a:p>
            <a:pPr lvl="1" eaLnBrk="1" hangingPunct="1"/>
            <a:r>
              <a:rPr lang="zh-CN" altLang="en-US" sz="2400" dirty="0"/>
              <a:t>处理数据库返回的结果。</a:t>
            </a:r>
          </a:p>
        </p:txBody>
      </p:sp>
      <p:sp>
        <p:nvSpPr>
          <p:cNvPr id="199685" name="AutoShape 4"/>
          <p:cNvSpPr/>
          <p:nvPr/>
        </p:nvSpPr>
        <p:spPr>
          <a:xfrm>
            <a:off x="2166938" y="4127500"/>
            <a:ext cx="2428875" cy="1730375"/>
          </a:xfrm>
          <a:prstGeom prst="flowChartAlternateProcess">
            <a:avLst/>
          </a:prstGeom>
          <a:solidFill>
            <a:schemeClr val="bg1">
              <a:alpha val="52156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lstStyle/>
          <a:p>
            <a:r>
              <a:rPr lang="en-US" altLang="zh-CN" sz="2000" b="0" dirty="0">
                <a:latin typeface="Arial" panose="020B0604020202020204" pitchFamily="34" charset="0"/>
              </a:rPr>
              <a:t>                 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  <p:sp>
        <p:nvSpPr>
          <p:cNvPr id="199686" name="Line 5"/>
          <p:cNvSpPr/>
          <p:nvPr/>
        </p:nvSpPr>
        <p:spPr>
          <a:xfrm flipV="1">
            <a:off x="4667250" y="4913313"/>
            <a:ext cx="857250" cy="158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31238" name="Rectangle 6"/>
          <p:cNvSpPr>
            <a:spLocks noChangeArrowheads="1"/>
          </p:cNvSpPr>
          <p:nvPr/>
        </p:nvSpPr>
        <p:spPr bwMode="auto">
          <a:xfrm>
            <a:off x="5524500" y="4270375"/>
            <a:ext cx="1300163" cy="1444625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2"/>
            </a:solidFill>
            <a:miter lim="800000"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JDBC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驱动程序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9688" name="Line 7"/>
          <p:cNvSpPr/>
          <p:nvPr/>
        </p:nvSpPr>
        <p:spPr>
          <a:xfrm flipV="1">
            <a:off x="6810375" y="4699000"/>
            <a:ext cx="1428750" cy="158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9689" name="Line 8"/>
          <p:cNvSpPr/>
          <p:nvPr/>
        </p:nvSpPr>
        <p:spPr>
          <a:xfrm>
            <a:off x="6810375" y="5143500"/>
            <a:ext cx="142875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631241" name="AutoShape 9"/>
          <p:cNvSpPr>
            <a:spLocks noChangeArrowheads="1"/>
          </p:cNvSpPr>
          <p:nvPr/>
        </p:nvSpPr>
        <p:spPr bwMode="auto">
          <a:xfrm>
            <a:off x="8239125" y="4270375"/>
            <a:ext cx="1714500" cy="1357313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6350">
            <a:solidFill>
              <a:schemeClr val="tx1"/>
            </a:solidFill>
            <a:rou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数据库</a:t>
            </a:r>
          </a:p>
        </p:txBody>
      </p:sp>
      <p:sp>
        <p:nvSpPr>
          <p:cNvPr id="199691" name="Text Box 10"/>
          <p:cNvSpPr txBox="1"/>
          <p:nvPr/>
        </p:nvSpPr>
        <p:spPr>
          <a:xfrm>
            <a:off x="6810375" y="4243388"/>
            <a:ext cx="1381125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="0" dirty="0">
                <a:latin typeface="Arial" panose="020B0604020202020204" pitchFamily="34" charset="0"/>
                <a:ea typeface="黑体" panose="02010609060101010101" pitchFamily="49" charset="-122"/>
              </a:rPr>
              <a:t>SQL </a:t>
            </a:r>
            <a:r>
              <a:rPr lang="zh-CN" altLang="en-US" sz="2000" b="0" dirty="0">
                <a:latin typeface="Arial" panose="020B0604020202020204" pitchFamily="34" charset="0"/>
                <a:ea typeface="黑体" panose="02010609060101010101" pitchFamily="49" charset="-122"/>
              </a:rPr>
              <a:t>命令 </a:t>
            </a:r>
            <a:endParaRPr lang="en-US" altLang="zh-CN" sz="2000" b="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99692" name="Text Box 11"/>
          <p:cNvSpPr txBox="1"/>
          <p:nvPr/>
        </p:nvSpPr>
        <p:spPr>
          <a:xfrm>
            <a:off x="7096125" y="5127625"/>
            <a:ext cx="1071563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b="0" dirty="0">
                <a:latin typeface="Arial" panose="020B0604020202020204" pitchFamily="34" charset="0"/>
                <a:ea typeface="黑体" panose="02010609060101010101" pitchFamily="49" charset="-122"/>
              </a:rPr>
              <a:t>结果  </a:t>
            </a:r>
          </a:p>
        </p:txBody>
      </p:sp>
      <p:sp>
        <p:nvSpPr>
          <p:cNvPr id="1631244" name="Rectangle 12"/>
          <p:cNvSpPr>
            <a:spLocks noChangeArrowheads="1"/>
          </p:cNvSpPr>
          <p:nvPr/>
        </p:nvSpPr>
        <p:spPr bwMode="auto">
          <a:xfrm>
            <a:off x="2381250" y="4270375"/>
            <a:ext cx="857250" cy="14287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miter lim="800000"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Java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程序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3595688" y="4270375"/>
            <a:ext cx="857250" cy="14287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miter lim="800000"/>
          </a:ln>
          <a:effectLst>
            <a:outerShdw dist="63500" dir="3187806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JDBC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API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9695" name="Line 5"/>
          <p:cNvSpPr/>
          <p:nvPr/>
        </p:nvSpPr>
        <p:spPr>
          <a:xfrm>
            <a:off x="3167063" y="4929188"/>
            <a:ext cx="4286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  <p:custDataLst>
      <p:tags r:id="rId1"/>
    </p:custDataLst>
  </p:cSld>
  <p:clrMapOvr>
    <a:masterClrMapping/>
  </p:clrMapOvr>
  <p:transition advTm="2672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sz="3600" dirty="0"/>
              <a:t>JDBC</a:t>
            </a:r>
            <a:r>
              <a:rPr lang="zh-CN" altLang="en-US" sz="3600" dirty="0"/>
              <a:t>概述 </a:t>
            </a:r>
          </a:p>
        </p:txBody>
      </p:sp>
      <p:sp>
        <p:nvSpPr>
          <p:cNvPr id="20070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/>
              <a:t>JDBC API:</a:t>
            </a:r>
            <a:r>
              <a:rPr lang="zh-CN" altLang="en-US" dirty="0"/>
              <a:t>在</a:t>
            </a:r>
            <a:r>
              <a:rPr lang="en-US" altLang="zh-CN" dirty="0"/>
              <a:t>java.sql</a:t>
            </a:r>
            <a:r>
              <a:rPr lang="zh-CN" altLang="en-US" dirty="0"/>
              <a:t>包中主要提供了以下接口</a:t>
            </a:r>
          </a:p>
        </p:txBody>
      </p:sp>
      <p:graphicFrame>
        <p:nvGraphicFramePr>
          <p:cNvPr id="1632451" name="Group 195"/>
          <p:cNvGraphicFramePr>
            <a:graphicFrameLocks noGrp="1"/>
          </p:cNvGraphicFramePr>
          <p:nvPr/>
        </p:nvGraphicFramePr>
        <p:xfrm>
          <a:off x="2131695" y="2376805"/>
          <a:ext cx="9414510" cy="3843973"/>
        </p:xfrm>
        <a:graphic>
          <a:graphicData uri="http://schemas.openxmlformats.org/drawingml/2006/table">
            <a:tbl>
              <a:tblPr/>
              <a:tblGrid>
                <a:gridCol w="2643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1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接口名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说明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1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DriverManager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此类用于加载和卸载各种驱动程序并建立与数据库的连接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Connection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此接口表示与数据库的连接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8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Statement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此接口用于执行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语句并将数据检索到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ResultSet 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中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ResultSet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此接口表示查询出来的数据库记录集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PreparedStatement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此接口用于执行预编译的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SQL 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语句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CallableStatement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用于执行存储过程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advTm="4721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846186" y="1692170"/>
            <a:ext cx="2171334" cy="3770263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>
            <a:defPPr>
              <a:defRPr lang="zh-CN"/>
            </a:defPPr>
            <a:lvl1pPr>
              <a:defRPr sz="23900" b="1">
                <a:solidFill>
                  <a:schemeClr val="bg1">
                    <a:lumMod val="50000"/>
                  </a:schemeClr>
                </a:solidFill>
                <a:latin typeface="+mj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39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</a:rPr>
              <a:t>2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>
                <a:sym typeface="+mn-ea"/>
              </a:rPr>
              <a:t>JDBC API的应用</a:t>
            </a:r>
            <a:endParaRPr lang="zh-CN" altLang="en-US">
              <a:effectLst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60"/>
    </mc:Choice>
    <mc:Fallback xmlns="">
      <p:transition spd="slow" advTm="286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2.1 JDBC API </a:t>
            </a:r>
            <a:r>
              <a:rPr lang="zh-CN" altLang="en-US" dirty="0">
                <a:sym typeface="+mn-ea"/>
              </a:rPr>
              <a:t>访问数据库的基础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en-US" altLang="zh-CN" dirty="0"/>
              <a:t>2.1.1 </a:t>
            </a:r>
            <a:r>
              <a:rPr lang="zh-CN" altLang="en-US" dirty="0">
                <a:solidFill>
                  <a:srgbClr val="002060"/>
                </a:solidFill>
              </a:rPr>
              <a:t>访问数据库的步骤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2060"/>
                </a:solidFill>
              </a:rPr>
              <a:t>访问数据库的步骤</a:t>
            </a:r>
          </a:p>
          <a:p>
            <a:r>
              <a:rPr lang="zh-CN" altLang="en-US" sz="2800" dirty="0">
                <a:solidFill>
                  <a:srgbClr val="002060"/>
                </a:solidFill>
              </a:rPr>
              <a:t>加载驱动程序：</a:t>
            </a:r>
            <a:r>
              <a:rPr lang="en-US" altLang="zh-CN" sz="2800" dirty="0" err="1">
                <a:solidFill>
                  <a:srgbClr val="002060"/>
                </a:solidFill>
              </a:rPr>
              <a:t>Class.forName</a:t>
            </a:r>
            <a:r>
              <a:rPr lang="en-US" altLang="zh-CN" sz="2800" dirty="0">
                <a:solidFill>
                  <a:srgbClr val="002060"/>
                </a:solidFill>
              </a:rPr>
              <a:t>()</a:t>
            </a:r>
            <a:r>
              <a:rPr lang="zh-CN" altLang="en-US" sz="2800" dirty="0">
                <a:solidFill>
                  <a:srgbClr val="002060"/>
                </a:solidFill>
              </a:rPr>
              <a:t>方法</a:t>
            </a:r>
          </a:p>
          <a:p>
            <a:r>
              <a:rPr lang="zh-CN" altLang="en-US" sz="2800" dirty="0">
                <a:solidFill>
                  <a:srgbClr val="002060"/>
                </a:solidFill>
              </a:rPr>
              <a:t>连接数据库：</a:t>
            </a:r>
            <a:r>
              <a:rPr lang="en-US" altLang="zh-CN" sz="2800" dirty="0" err="1">
                <a:solidFill>
                  <a:srgbClr val="002060"/>
                </a:solidFill>
              </a:rPr>
              <a:t>DriverManager.getConnection</a:t>
            </a:r>
            <a:r>
              <a:rPr lang="en-US" altLang="zh-CN" sz="2800" dirty="0">
                <a:solidFill>
                  <a:srgbClr val="002060"/>
                </a:solidFill>
              </a:rPr>
              <a:t>()</a:t>
            </a:r>
            <a:r>
              <a:rPr lang="zh-CN" altLang="en-US" sz="2800" dirty="0">
                <a:solidFill>
                  <a:srgbClr val="002060"/>
                </a:solidFill>
              </a:rPr>
              <a:t>方法</a:t>
            </a:r>
          </a:p>
          <a:p>
            <a:r>
              <a:rPr lang="zh-CN" altLang="en-US" sz="2800" dirty="0">
                <a:solidFill>
                  <a:srgbClr val="002060"/>
                </a:solidFill>
              </a:rPr>
              <a:t>通过</a:t>
            </a:r>
            <a:r>
              <a:rPr lang="en-US" altLang="zh-CN" sz="2800" dirty="0">
                <a:solidFill>
                  <a:srgbClr val="002060"/>
                </a:solidFill>
              </a:rPr>
              <a:t>Statement</a:t>
            </a:r>
            <a:r>
              <a:rPr lang="zh-CN" altLang="en-US" sz="2800" dirty="0">
                <a:solidFill>
                  <a:srgbClr val="002060"/>
                </a:solidFill>
              </a:rPr>
              <a:t>执行</a:t>
            </a:r>
            <a:r>
              <a:rPr lang="en-US" altLang="zh-CN" sz="2800" dirty="0">
                <a:solidFill>
                  <a:srgbClr val="002060"/>
                </a:solidFill>
              </a:rPr>
              <a:t>SQL</a:t>
            </a:r>
            <a:r>
              <a:rPr lang="zh-CN" altLang="en-US" sz="2800" dirty="0">
                <a:solidFill>
                  <a:srgbClr val="002060"/>
                </a:solidFill>
              </a:rPr>
              <a:t>语句（包括</a:t>
            </a:r>
            <a:r>
              <a:rPr lang="en-US" altLang="zh-CN" sz="2800" dirty="0">
                <a:solidFill>
                  <a:srgbClr val="002060"/>
                </a:solidFill>
              </a:rPr>
              <a:t>select</a:t>
            </a:r>
            <a:r>
              <a:rPr lang="zh-CN" altLang="en-US" sz="2800" dirty="0">
                <a:solidFill>
                  <a:srgbClr val="002060"/>
                </a:solidFill>
              </a:rPr>
              <a:t>、</a:t>
            </a:r>
            <a:r>
              <a:rPr lang="en-US" altLang="zh-CN" sz="2800" dirty="0">
                <a:solidFill>
                  <a:srgbClr val="002060"/>
                </a:solidFill>
              </a:rPr>
              <a:t>insert</a:t>
            </a:r>
            <a:r>
              <a:rPr lang="zh-CN" altLang="en-US" sz="2800" dirty="0">
                <a:solidFill>
                  <a:srgbClr val="002060"/>
                </a:solidFill>
              </a:rPr>
              <a:t>、</a:t>
            </a:r>
            <a:r>
              <a:rPr lang="en-US" altLang="zh-CN" sz="2800" dirty="0">
                <a:solidFill>
                  <a:srgbClr val="002060"/>
                </a:solidFill>
              </a:rPr>
              <a:t>update</a:t>
            </a:r>
            <a:r>
              <a:rPr lang="zh-CN" altLang="en-US" sz="2800" dirty="0">
                <a:solidFill>
                  <a:srgbClr val="002060"/>
                </a:solidFill>
              </a:rPr>
              <a:t>和</a:t>
            </a:r>
            <a:r>
              <a:rPr lang="en-US" altLang="zh-CN" sz="2800" dirty="0">
                <a:solidFill>
                  <a:srgbClr val="002060"/>
                </a:solidFill>
              </a:rPr>
              <a:t>delete</a:t>
            </a:r>
            <a:r>
              <a:rPr lang="zh-CN" altLang="en-US" sz="2800" dirty="0">
                <a:solidFill>
                  <a:srgbClr val="002060"/>
                </a:solidFill>
              </a:rPr>
              <a:t>语句）</a:t>
            </a:r>
          </a:p>
          <a:p>
            <a:r>
              <a:rPr lang="zh-CN" altLang="en-US" sz="2800" dirty="0">
                <a:solidFill>
                  <a:srgbClr val="002060"/>
                </a:solidFill>
              </a:rPr>
              <a:t>如果执行</a:t>
            </a:r>
            <a:r>
              <a:rPr lang="en-US" altLang="zh-CN" sz="2800" dirty="0">
                <a:solidFill>
                  <a:srgbClr val="002060"/>
                </a:solidFill>
              </a:rPr>
              <a:t>select</a:t>
            </a:r>
            <a:r>
              <a:rPr lang="zh-CN" altLang="en-US" sz="2800" dirty="0">
                <a:solidFill>
                  <a:srgbClr val="002060"/>
                </a:solidFill>
              </a:rPr>
              <a:t>语句，通过</a:t>
            </a:r>
            <a:r>
              <a:rPr lang="en-US" altLang="zh-CN" sz="2800" dirty="0" err="1">
                <a:solidFill>
                  <a:srgbClr val="002060"/>
                </a:solidFill>
              </a:rPr>
              <a:t>ResultSet</a:t>
            </a:r>
            <a:r>
              <a:rPr lang="zh-CN" altLang="en-US" sz="2800" dirty="0">
                <a:solidFill>
                  <a:srgbClr val="002060"/>
                </a:solidFill>
              </a:rPr>
              <a:t>获取结果，并处理查询结果。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320"/>
    </mc:Choice>
    <mc:Fallback xmlns="">
      <p:transition spd="slow" advTm="3032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2.1 JDBC API </a:t>
            </a:r>
            <a:r>
              <a:rPr lang="zh-CN" altLang="en-US" dirty="0">
                <a:sym typeface="+mn-ea"/>
              </a:rPr>
              <a:t>访问数据库的基础</a:t>
            </a:r>
            <a:br>
              <a:rPr lang="zh-CN" altLang="en-US" dirty="0"/>
            </a:b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en-US" altLang="zh-CN" dirty="0">
                <a:sym typeface="+mn-ea"/>
              </a:rPr>
              <a:t>Statement</a:t>
            </a:r>
            <a:r>
              <a:rPr lang="zh-CN" altLang="en-US" dirty="0">
                <a:sym typeface="+mn-ea"/>
              </a:rPr>
              <a:t>的使用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hangingPunct="1"/>
            <a:r>
              <a:rPr lang="en-US" altLang="zh-CN" dirty="0">
                <a:solidFill>
                  <a:srgbClr val="002060"/>
                </a:solidFill>
                <a:sym typeface="+mn-ea"/>
              </a:rPr>
              <a:t>Statement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的使用</a:t>
            </a:r>
            <a:endParaRPr lang="zh-CN" altLang="en-US" dirty="0">
              <a:solidFill>
                <a:srgbClr val="002060"/>
              </a:solidFill>
            </a:endParaRPr>
          </a:p>
          <a:p>
            <a:pPr lvl="1" eaLnBrk="1" hangingPunct="1"/>
            <a:r>
              <a:rPr lang="zh-CN" altLang="en-US" sz="2400" dirty="0">
                <a:solidFill>
                  <a:srgbClr val="002060"/>
                </a:solidFill>
                <a:sym typeface="+mn-ea"/>
              </a:rPr>
              <a:t>创建：</a:t>
            </a:r>
            <a:r>
              <a:rPr lang="en-US" altLang="zh-CN" sz="2400" dirty="0" err="1">
                <a:solidFill>
                  <a:srgbClr val="002060"/>
                </a:solidFill>
                <a:sym typeface="+mn-ea"/>
              </a:rPr>
              <a:t>connection.createStatement</a:t>
            </a:r>
            <a:r>
              <a:rPr lang="en-US" altLang="zh-CN" sz="2400" dirty="0">
                <a:solidFill>
                  <a:srgbClr val="002060"/>
                </a:solidFill>
                <a:sym typeface="+mn-ea"/>
              </a:rPr>
              <a:t>([…])</a:t>
            </a:r>
            <a:endParaRPr lang="en-US" altLang="zh-CN" sz="2400" dirty="0">
              <a:solidFill>
                <a:srgbClr val="002060"/>
              </a:solidFill>
            </a:endParaRPr>
          </a:p>
          <a:p>
            <a:pPr lvl="1" eaLnBrk="1" hangingPunct="1"/>
            <a:r>
              <a:rPr lang="zh-CN" altLang="en-US" sz="2400" dirty="0">
                <a:solidFill>
                  <a:srgbClr val="002060"/>
                </a:solidFill>
                <a:sym typeface="+mn-ea"/>
              </a:rPr>
              <a:t>执行</a:t>
            </a:r>
            <a:r>
              <a:rPr lang="en-US" altLang="zh-CN" sz="2400" dirty="0">
                <a:solidFill>
                  <a:srgbClr val="002060"/>
                </a:solidFill>
                <a:sym typeface="+mn-ea"/>
              </a:rPr>
              <a:t>select</a:t>
            </a:r>
            <a:r>
              <a:rPr lang="zh-CN" altLang="en-US" sz="2400" dirty="0">
                <a:solidFill>
                  <a:srgbClr val="002060"/>
                </a:solidFill>
                <a:sym typeface="+mn-ea"/>
              </a:rPr>
              <a:t>查询语句：</a:t>
            </a:r>
            <a:endParaRPr lang="zh-CN" altLang="en-US" sz="2400" dirty="0">
              <a:solidFill>
                <a:srgbClr val="002060"/>
              </a:solidFill>
            </a:endParaRPr>
          </a:p>
          <a:p>
            <a:pPr lvl="1"/>
            <a:r>
              <a:rPr lang="en-US" altLang="zh-CN" sz="2400" dirty="0">
                <a:solidFill>
                  <a:srgbClr val="002060"/>
                </a:solidFill>
                <a:sym typeface="+mn-ea"/>
              </a:rPr>
              <a:t>statement.executeQuery(“</a:t>
            </a:r>
            <a:r>
              <a:rPr lang="zh-CN" altLang="en-US" sz="2400" dirty="0">
                <a:solidFill>
                  <a:srgbClr val="002060"/>
                </a:solidFill>
                <a:sym typeface="+mn-ea"/>
              </a:rPr>
              <a:t>查询语句</a:t>
            </a:r>
            <a:r>
              <a:rPr lang="en-US" altLang="zh-CN" sz="2400" dirty="0">
                <a:solidFill>
                  <a:srgbClr val="002060"/>
                </a:solidFill>
                <a:sym typeface="+mn-ea"/>
              </a:rPr>
              <a:t>")</a:t>
            </a:r>
            <a:endParaRPr lang="en-US" altLang="zh-CN" sz="2400" dirty="0">
              <a:solidFill>
                <a:srgbClr val="002060"/>
              </a:solidFill>
            </a:endParaRPr>
          </a:p>
          <a:p>
            <a:pPr lvl="1" eaLnBrk="1" hangingPunct="1"/>
            <a:r>
              <a:rPr lang="zh-CN" altLang="en-US" sz="2400" dirty="0">
                <a:solidFill>
                  <a:srgbClr val="002060"/>
                </a:solidFill>
                <a:sym typeface="+mn-ea"/>
              </a:rPr>
              <a:t>执行</a:t>
            </a:r>
            <a:r>
              <a:rPr lang="en-US" altLang="zh-CN" sz="2400" dirty="0">
                <a:solidFill>
                  <a:srgbClr val="002060"/>
                </a:solidFill>
                <a:sym typeface="+mn-ea"/>
              </a:rPr>
              <a:t>insert</a:t>
            </a:r>
            <a:r>
              <a:rPr lang="zh-CN" altLang="en-US" sz="2400" dirty="0">
                <a:solidFill>
                  <a:srgbClr val="002060"/>
                </a:solidFill>
                <a:sym typeface="+mn-ea"/>
              </a:rPr>
              <a:t>、</a:t>
            </a:r>
            <a:r>
              <a:rPr lang="en-US" altLang="zh-CN" sz="2400" dirty="0">
                <a:solidFill>
                  <a:srgbClr val="002060"/>
                </a:solidFill>
                <a:sym typeface="+mn-ea"/>
              </a:rPr>
              <a:t>update</a:t>
            </a:r>
            <a:r>
              <a:rPr lang="zh-CN" altLang="en-US" sz="2400" dirty="0">
                <a:solidFill>
                  <a:srgbClr val="002060"/>
                </a:solidFill>
                <a:sym typeface="+mn-ea"/>
              </a:rPr>
              <a:t>、</a:t>
            </a:r>
            <a:r>
              <a:rPr lang="en-US" altLang="zh-CN" sz="2400" dirty="0">
                <a:solidFill>
                  <a:srgbClr val="002060"/>
                </a:solidFill>
                <a:sym typeface="+mn-ea"/>
              </a:rPr>
              <a:t>delete</a:t>
            </a:r>
            <a:r>
              <a:rPr lang="zh-CN" altLang="en-US" sz="2400" dirty="0">
                <a:solidFill>
                  <a:srgbClr val="002060"/>
                </a:solidFill>
                <a:sym typeface="+mn-ea"/>
              </a:rPr>
              <a:t>等更新语句：</a:t>
            </a:r>
            <a:endParaRPr lang="en-US" altLang="zh-CN" sz="2400" dirty="0">
              <a:solidFill>
                <a:srgbClr val="002060"/>
              </a:solidFill>
              <a:sym typeface="+mn-ea"/>
            </a:endParaRPr>
          </a:p>
          <a:p>
            <a:pPr lvl="1" eaLnBrk="1" hangingPunct="1"/>
            <a:r>
              <a:rPr lang="en-US" altLang="zh-CN" sz="2400" dirty="0" err="1">
                <a:solidFill>
                  <a:srgbClr val="002060"/>
                </a:solidFill>
                <a:sym typeface="+mn-ea"/>
              </a:rPr>
              <a:t>statement.executeUpdate</a:t>
            </a:r>
            <a:r>
              <a:rPr lang="en-US" altLang="zh-CN" sz="2400" dirty="0">
                <a:solidFill>
                  <a:srgbClr val="002060"/>
                </a:solidFill>
                <a:sym typeface="+mn-ea"/>
              </a:rPr>
              <a:t>(“</a:t>
            </a:r>
            <a:r>
              <a:rPr lang="zh-CN" altLang="en-US" sz="2400" dirty="0">
                <a:solidFill>
                  <a:srgbClr val="002060"/>
                </a:solidFill>
                <a:sym typeface="+mn-ea"/>
              </a:rPr>
              <a:t>更新语句”</a:t>
            </a:r>
            <a:r>
              <a:rPr lang="en-US" altLang="zh-CN" sz="2400" dirty="0">
                <a:solidFill>
                  <a:srgbClr val="002060"/>
                </a:solidFill>
                <a:sym typeface="+mn-ea"/>
              </a:rPr>
              <a:t>)</a:t>
            </a:r>
            <a:r>
              <a:rPr lang="zh-CN" altLang="en-US" sz="2400" dirty="0">
                <a:solidFill>
                  <a:srgbClr val="002060"/>
                </a:solidFill>
                <a:sym typeface="+mn-ea"/>
              </a:rPr>
              <a:t>，如</a:t>
            </a:r>
            <a:endParaRPr lang="zh-CN" altLang="en-US" sz="2400" dirty="0">
              <a:solidFill>
                <a:srgbClr val="002060"/>
              </a:solidFill>
            </a:endParaRPr>
          </a:p>
          <a:p>
            <a:endParaRPr lang="zh-CN" altLang="en-US" dirty="0"/>
          </a:p>
        </p:txBody>
      </p:sp>
      <p:sp>
        <p:nvSpPr>
          <p:cNvPr id="202757" name="Text Box 5"/>
          <p:cNvSpPr txBox="1"/>
          <p:nvPr/>
        </p:nvSpPr>
        <p:spPr>
          <a:xfrm>
            <a:off x="1919288" y="4262631"/>
            <a:ext cx="8353425" cy="78359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</a:rPr>
              <a:t>executeUpdate(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"insert into MyFriend (name,age,qq) values ('  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                          "</a:t>
            </a:r>
            <a:r>
              <a:rPr lang="en-US" altLang="zh-CN" dirty="0">
                <a:latin typeface="Arial" panose="020B0604020202020204" pitchFamily="34" charset="0"/>
              </a:rPr>
              <a:t>+name+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" ',"</a:t>
            </a:r>
            <a:r>
              <a:rPr lang="en-US" altLang="zh-CN" dirty="0">
                <a:latin typeface="Arial" panose="020B0604020202020204" pitchFamily="34" charset="0"/>
              </a:rPr>
              <a:t>+age+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",' "</a:t>
            </a:r>
            <a:r>
              <a:rPr lang="en-US" altLang="zh-CN" dirty="0">
                <a:latin typeface="Arial" panose="020B0604020202020204" pitchFamily="34" charset="0"/>
              </a:rPr>
              <a:t>+</a:t>
            </a:r>
            <a:r>
              <a:rPr lang="en-US" altLang="zh-CN" dirty="0" err="1">
                <a:latin typeface="Arial" panose="020B0604020202020204" pitchFamily="34" charset="0"/>
              </a:rPr>
              <a:t>qq</a:t>
            </a:r>
            <a:r>
              <a:rPr lang="en-US" altLang="zh-CN" dirty="0">
                <a:latin typeface="Arial" panose="020B0604020202020204" pitchFamily="34" charset="0"/>
              </a:rPr>
              <a:t>+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" ')"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202758" name="Text Box 6"/>
          <p:cNvSpPr txBox="1"/>
          <p:nvPr/>
        </p:nvSpPr>
        <p:spPr>
          <a:xfrm>
            <a:off x="1919288" y="5743575"/>
            <a:ext cx="8353425" cy="3683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</a:rPr>
              <a:t>insert into MyFriend (name,age,qq) values (' abc ',20,' 1234 ')</a:t>
            </a:r>
          </a:p>
        </p:txBody>
      </p:sp>
      <p:sp>
        <p:nvSpPr>
          <p:cNvPr id="202759" name="AutoShape 7"/>
          <p:cNvSpPr/>
          <p:nvPr/>
        </p:nvSpPr>
        <p:spPr>
          <a:xfrm>
            <a:off x="2310130" y="5072380"/>
            <a:ext cx="274320" cy="648970"/>
          </a:xfrm>
          <a:prstGeom prst="downArrow">
            <a:avLst>
              <a:gd name="adj1" fmla="val 50000"/>
              <a:gd name="adj2" fmla="val 45044"/>
            </a:avLst>
          </a:prstGeom>
          <a:solidFill>
            <a:srgbClr val="00B0F0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2760" name="Text Box 8"/>
          <p:cNvSpPr txBox="1"/>
          <p:nvPr/>
        </p:nvSpPr>
        <p:spPr>
          <a:xfrm>
            <a:off x="2881313" y="5172075"/>
            <a:ext cx="6677025" cy="39878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name="abc",age=20,qq="1234"</a:t>
            </a:r>
            <a:r>
              <a:rPr lang="zh-CN" altLang="en-US" sz="2000" dirty="0">
                <a:latin typeface="Arial" panose="020B0604020202020204" pitchFamily="34" charset="0"/>
              </a:rPr>
              <a:t>时执行如下</a:t>
            </a:r>
            <a:r>
              <a:rPr lang="en-US" altLang="zh-CN" sz="2000" dirty="0">
                <a:latin typeface="Arial" panose="020B0604020202020204" pitchFamily="34" charset="0"/>
              </a:rPr>
              <a:t>SQL</a:t>
            </a:r>
            <a:r>
              <a:rPr lang="zh-CN" altLang="en-US" sz="2000" dirty="0">
                <a:latin typeface="Arial" panose="020B0604020202020204" pitchFamily="34" charset="0"/>
              </a:rPr>
              <a:t>语句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976"/>
    </mc:Choice>
    <mc:Fallback xmlns="">
      <p:transition spd="slow" advTm="6397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 err="1">
                <a:sym typeface="+mn-ea"/>
              </a:rPr>
              <a:t>ResultSet</a:t>
            </a:r>
            <a:r>
              <a:rPr lang="zh-CN" altLang="en-US" dirty="0">
                <a:sym typeface="+mn-ea"/>
              </a:rPr>
              <a:t>的使用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 err="1">
                <a:solidFill>
                  <a:srgbClr val="002060"/>
                </a:solidFill>
                <a:sym typeface="+mn-ea"/>
              </a:rPr>
              <a:t>ResultSet</a:t>
            </a:r>
            <a:r>
              <a:rPr lang="zh-CN" altLang="en-US" sz="2800" dirty="0">
                <a:solidFill>
                  <a:srgbClr val="002060"/>
                </a:solidFill>
                <a:sym typeface="+mn-ea"/>
              </a:rPr>
              <a:t>的使用</a:t>
            </a:r>
            <a:endParaRPr lang="en-US" altLang="zh-CN" sz="2800" dirty="0">
              <a:solidFill>
                <a:srgbClr val="002060"/>
              </a:solidFill>
              <a:sym typeface="+mn-ea"/>
            </a:endParaRPr>
          </a:p>
          <a:p>
            <a:pPr lvl="1"/>
            <a:r>
              <a:rPr lang="zh-CN" altLang="en-US" sz="2800" dirty="0">
                <a:solidFill>
                  <a:srgbClr val="002060"/>
                </a:solidFill>
                <a:sym typeface="+mn-ea"/>
              </a:rPr>
              <a:t>创建：</a:t>
            </a:r>
            <a:r>
              <a:rPr lang="en-US" altLang="zh-CN" sz="2800" dirty="0">
                <a:solidFill>
                  <a:srgbClr val="002060"/>
                </a:solidFill>
                <a:sym typeface="+mn-ea"/>
              </a:rPr>
              <a:t>executeQuery("SQL</a:t>
            </a:r>
            <a:r>
              <a:rPr lang="zh-CN" altLang="en-US" sz="2800" dirty="0">
                <a:solidFill>
                  <a:srgbClr val="002060"/>
                </a:solidFill>
                <a:sym typeface="+mn-ea"/>
              </a:rPr>
              <a:t>语句</a:t>
            </a:r>
            <a:r>
              <a:rPr lang="en-US" altLang="zh-CN" sz="2800" dirty="0">
                <a:solidFill>
                  <a:srgbClr val="002060"/>
                </a:solidFill>
                <a:sym typeface="+mn-ea"/>
              </a:rPr>
              <a:t>")</a:t>
            </a:r>
            <a:endParaRPr lang="en-US" altLang="zh-CN" sz="2800" dirty="0">
              <a:solidFill>
                <a:srgbClr val="002060"/>
              </a:solidFill>
            </a:endParaRPr>
          </a:p>
          <a:p>
            <a:pPr lvl="1"/>
            <a:r>
              <a:rPr lang="zh-CN" altLang="en-US" sz="2800" dirty="0">
                <a:solidFill>
                  <a:srgbClr val="002060"/>
                </a:solidFill>
                <a:sym typeface="+mn-ea"/>
              </a:rPr>
              <a:t>定位记录：</a:t>
            </a:r>
            <a:r>
              <a:rPr lang="en-US" altLang="zh-CN" sz="2800" dirty="0">
                <a:solidFill>
                  <a:srgbClr val="002060"/>
                </a:solidFill>
                <a:sym typeface="+mn-ea"/>
              </a:rPr>
              <a:t>next()</a:t>
            </a:r>
            <a:r>
              <a:rPr lang="zh-CN" altLang="en-US" sz="2800" dirty="0">
                <a:solidFill>
                  <a:srgbClr val="002060"/>
                </a:solidFill>
                <a:sym typeface="+mn-ea"/>
              </a:rPr>
              <a:t>方法</a:t>
            </a:r>
            <a:endParaRPr lang="zh-CN" altLang="en-US" sz="2800" dirty="0">
              <a:solidFill>
                <a:srgbClr val="002060"/>
              </a:solidFill>
            </a:endParaRPr>
          </a:p>
          <a:p>
            <a:pPr lvl="1"/>
            <a:r>
              <a:rPr lang="zh-CN" altLang="en-US" sz="2800" dirty="0">
                <a:solidFill>
                  <a:srgbClr val="002060"/>
                </a:solidFill>
                <a:sym typeface="+mn-ea"/>
              </a:rPr>
              <a:t>访问数据：</a:t>
            </a:r>
            <a:r>
              <a:rPr lang="en-US" altLang="zh-CN" sz="2800" dirty="0">
                <a:solidFill>
                  <a:srgbClr val="002060"/>
                </a:solidFill>
                <a:sym typeface="+mn-ea"/>
              </a:rPr>
              <a:t>getXXX(int)</a:t>
            </a:r>
            <a:r>
              <a:rPr lang="zh-CN" altLang="en-US" sz="2800" dirty="0">
                <a:solidFill>
                  <a:srgbClr val="002060"/>
                </a:solidFill>
                <a:sym typeface="+mn-ea"/>
              </a:rPr>
              <a:t>或</a:t>
            </a:r>
            <a:r>
              <a:rPr lang="en-US" altLang="zh-CN" sz="2800" dirty="0">
                <a:solidFill>
                  <a:srgbClr val="002060"/>
                </a:solidFill>
                <a:sym typeface="+mn-ea"/>
              </a:rPr>
              <a:t>getXXX(String)</a:t>
            </a:r>
            <a:r>
              <a:rPr lang="zh-CN" altLang="en-US" sz="2800" dirty="0">
                <a:solidFill>
                  <a:srgbClr val="002060"/>
                </a:solidFill>
                <a:sym typeface="+mn-ea"/>
              </a:rPr>
              <a:t>，其中</a:t>
            </a:r>
            <a:r>
              <a:rPr lang="en-US" altLang="zh-CN" sz="2800" dirty="0">
                <a:solidFill>
                  <a:srgbClr val="002060"/>
                </a:solidFill>
                <a:sym typeface="+mn-ea"/>
              </a:rPr>
              <a:t>XXX</a:t>
            </a:r>
            <a:r>
              <a:rPr lang="zh-CN" altLang="en-US" sz="2800" dirty="0">
                <a:solidFill>
                  <a:srgbClr val="002060"/>
                </a:solidFill>
                <a:sym typeface="+mn-ea"/>
              </a:rPr>
              <a:t>为一数据类型名称，</a:t>
            </a:r>
            <a:r>
              <a:rPr lang="en-US" altLang="zh-CN" sz="2800" dirty="0">
                <a:solidFill>
                  <a:srgbClr val="002060"/>
                </a:solidFill>
                <a:sym typeface="+mn-ea"/>
              </a:rPr>
              <a:t>int</a:t>
            </a:r>
            <a:r>
              <a:rPr lang="zh-CN" altLang="en-US" sz="2800" dirty="0">
                <a:solidFill>
                  <a:srgbClr val="002060"/>
                </a:solidFill>
                <a:sym typeface="+mn-ea"/>
              </a:rPr>
              <a:t>为列编号</a:t>
            </a:r>
            <a:r>
              <a:rPr lang="en-US" altLang="zh-CN" sz="2800" dirty="0">
                <a:solidFill>
                  <a:srgbClr val="002060"/>
                </a:solidFill>
                <a:sym typeface="+mn-ea"/>
              </a:rPr>
              <a:t>(</a:t>
            </a:r>
            <a:r>
              <a:rPr lang="zh-CN" altLang="en-US" sz="2800" dirty="0">
                <a:solidFill>
                  <a:srgbClr val="002060"/>
                </a:solidFill>
                <a:sym typeface="+mn-ea"/>
              </a:rPr>
              <a:t>从</a:t>
            </a:r>
            <a:r>
              <a:rPr lang="en-US" altLang="zh-CN" sz="2800" dirty="0">
                <a:solidFill>
                  <a:srgbClr val="002060"/>
                </a:solidFill>
                <a:sym typeface="+mn-ea"/>
              </a:rPr>
              <a:t>1</a:t>
            </a:r>
            <a:r>
              <a:rPr lang="zh-CN" altLang="en-US" sz="2800" dirty="0">
                <a:solidFill>
                  <a:srgbClr val="002060"/>
                </a:solidFill>
                <a:sym typeface="+mn-ea"/>
              </a:rPr>
              <a:t>开始编号</a:t>
            </a:r>
            <a:r>
              <a:rPr lang="en-US" altLang="zh-CN" sz="2800" dirty="0">
                <a:solidFill>
                  <a:srgbClr val="002060"/>
                </a:solidFill>
                <a:sym typeface="+mn-ea"/>
              </a:rPr>
              <a:t>)</a:t>
            </a:r>
            <a:r>
              <a:rPr lang="zh-CN" altLang="en-US" sz="2800" dirty="0">
                <a:solidFill>
                  <a:srgbClr val="002060"/>
                </a:solidFill>
                <a:sym typeface="+mn-ea"/>
              </a:rPr>
              <a:t>，</a:t>
            </a:r>
            <a:r>
              <a:rPr lang="en-US" altLang="zh-CN" sz="2800" dirty="0">
                <a:solidFill>
                  <a:srgbClr val="002060"/>
                </a:solidFill>
                <a:sym typeface="+mn-ea"/>
              </a:rPr>
              <a:t>String</a:t>
            </a:r>
            <a:r>
              <a:rPr lang="zh-CN" altLang="en-US" sz="2800" dirty="0">
                <a:solidFill>
                  <a:srgbClr val="002060"/>
                </a:solidFill>
                <a:sym typeface="+mn-ea"/>
              </a:rPr>
              <a:t>为列名。如</a:t>
            </a:r>
            <a:r>
              <a:rPr lang="en-US" altLang="zh-CN" sz="2800" dirty="0">
                <a:solidFill>
                  <a:srgbClr val="002060"/>
                </a:solidFill>
                <a:sym typeface="+mn-ea"/>
              </a:rPr>
              <a:t>getInt(2)</a:t>
            </a:r>
            <a:r>
              <a:rPr lang="zh-CN" altLang="en-US" sz="2800" dirty="0">
                <a:solidFill>
                  <a:srgbClr val="002060"/>
                </a:solidFill>
                <a:sym typeface="+mn-ea"/>
              </a:rPr>
              <a:t>，</a:t>
            </a:r>
            <a:r>
              <a:rPr lang="en-US" altLang="zh-CN" sz="2800" dirty="0">
                <a:solidFill>
                  <a:srgbClr val="002060"/>
                </a:solidFill>
                <a:sym typeface="+mn-ea"/>
              </a:rPr>
              <a:t>getString("name")</a:t>
            </a:r>
            <a:endParaRPr lang="zh-CN" altLang="en-US" sz="2800" dirty="0">
              <a:solidFill>
                <a:srgbClr val="002060"/>
              </a:solidFill>
            </a:endParaRPr>
          </a:p>
        </p:txBody>
      </p:sp>
      <p:graphicFrame>
        <p:nvGraphicFramePr>
          <p:cNvPr id="1669162" name="Group 42"/>
          <p:cNvGraphicFramePr>
            <a:graphicFrameLocks noGrp="1"/>
          </p:cNvGraphicFramePr>
          <p:nvPr/>
        </p:nvGraphicFramePr>
        <p:xfrm>
          <a:off x="1748804" y="4924743"/>
          <a:ext cx="8351520" cy="1252220"/>
        </p:xfrm>
        <a:graphic>
          <a:graphicData uri="http://schemas.openxmlformats.org/drawingml/2006/table">
            <a:tbl>
              <a:tblPr/>
              <a:tblGrid>
                <a:gridCol w="139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2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2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1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45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INTEGER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TINYINT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SMALLINT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BIGINT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CHAR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VARCHAR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getInt()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getShort()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getLong()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getDate()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getString()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getFloat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150"/>
    </mc:Choice>
    <mc:Fallback xmlns="">
      <p:transition spd="slow" advTm="2615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2.2 JDBC API</a:t>
            </a:r>
            <a:r>
              <a:rPr lang="zh-CN" altLang="en-US" dirty="0">
                <a:sym typeface="+mn-ea"/>
              </a:rPr>
              <a:t>的应用 </a:t>
            </a:r>
            <a:br>
              <a:rPr lang="zh-CN" altLang="en-US" dirty="0"/>
            </a:br>
            <a:r>
              <a:rPr lang="en-US" altLang="zh-CN" dirty="0">
                <a:sym typeface="+mn-ea"/>
              </a:rPr>
              <a:t>2.2.2 JDBC API</a:t>
            </a:r>
            <a:r>
              <a:rPr lang="zh-CN" altLang="en-US" dirty="0">
                <a:sym typeface="+mn-ea"/>
              </a:rPr>
              <a:t>应用实例（主页）</a:t>
            </a:r>
            <a:endParaRPr lang="zh-CN" altLang="en-US" dirty="0"/>
          </a:p>
        </p:txBody>
      </p:sp>
      <p:pic>
        <p:nvPicPr>
          <p:cNvPr id="14" name="图片占位符 13"/>
          <p:cNvPicPr>
            <a:picLocks noGrp="1" noChangeAspect="1"/>
          </p:cNvPicPr>
          <p:nvPr>
            <p:ph idx="1"/>
            <p:custDataLst>
              <p:tags r:id="rId2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3085465" y="2129155"/>
            <a:ext cx="6462395" cy="389699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55"/>
    </mc:Choice>
    <mc:Fallback xmlns="">
      <p:transition spd="slow" advTm="1475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r>
              <a:rPr lang="en-US" altLang="zh-CN" sz="3600" dirty="0">
                <a:sym typeface="+mn-ea"/>
              </a:rPr>
              <a:t>2.2.2 JDBC API</a:t>
            </a:r>
            <a:r>
              <a:rPr lang="zh-CN" altLang="en-US" sz="3600" dirty="0">
                <a:sym typeface="+mn-ea"/>
              </a:rPr>
              <a:t>应用实例</a:t>
            </a:r>
            <a:br>
              <a:rPr lang="en-US" altLang="zh-CN" sz="3600" dirty="0">
                <a:sym typeface="+mn-ea"/>
              </a:rPr>
            </a:br>
            <a:r>
              <a:rPr lang="zh-CN" altLang="en-US" sz="3600" dirty="0">
                <a:sym typeface="+mn-ea"/>
              </a:rPr>
              <a:t>（</a:t>
            </a:r>
            <a:r>
              <a:rPr lang="en-US" altLang="zh-CN" sz="3600" dirty="0">
                <a:sym typeface="+mn-ea"/>
              </a:rPr>
              <a:t>1</a:t>
            </a:r>
            <a:r>
              <a:rPr lang="zh-CN" altLang="en-US" sz="3600" dirty="0">
                <a:sym typeface="+mn-ea"/>
              </a:rPr>
              <a:t>）</a:t>
            </a:r>
            <a:r>
              <a:rPr lang="zh-CN" altLang="en-US" sz="3600" dirty="0"/>
              <a:t>通过</a:t>
            </a:r>
            <a:r>
              <a:rPr lang="en-US" altLang="zh-CN" sz="3600" dirty="0"/>
              <a:t>JSP</a:t>
            </a:r>
            <a:r>
              <a:rPr lang="zh-CN" altLang="en-US" sz="3600" dirty="0"/>
              <a:t>访问数据库 </a:t>
            </a:r>
          </a:p>
        </p:txBody>
      </p:sp>
      <p:sp>
        <p:nvSpPr>
          <p:cNvPr id="20685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lvl="1" eaLnBrk="1" hangingPunct="1"/>
            <a:endParaRPr lang="zh-CN" altLang="en-US" sz="2400" dirty="0"/>
          </a:p>
        </p:txBody>
      </p:sp>
      <p:sp>
        <p:nvSpPr>
          <p:cNvPr id="206853" name="Text Box 5"/>
          <p:cNvSpPr txBox="1"/>
          <p:nvPr/>
        </p:nvSpPr>
        <p:spPr>
          <a:xfrm>
            <a:off x="1695975" y="2165681"/>
            <a:ext cx="8351838" cy="313817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&lt;%@ page import="java.sql.*" %&gt;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&lt;h2&gt;JDBC</a:t>
            </a:r>
            <a:r>
              <a:rPr lang="zh-CN" altLang="en-US" dirty="0">
                <a:latin typeface="Arial" panose="020B0604020202020204" pitchFamily="34" charset="0"/>
              </a:rPr>
              <a:t>实例：通过</a:t>
            </a:r>
            <a:r>
              <a:rPr lang="en-US" altLang="zh-CN" dirty="0">
                <a:latin typeface="Arial" panose="020B0604020202020204" pitchFamily="34" charset="0"/>
              </a:rPr>
              <a:t>JSP</a:t>
            </a:r>
            <a:r>
              <a:rPr lang="zh-CN" altLang="en-US" dirty="0">
                <a:latin typeface="Arial" panose="020B0604020202020204" pitchFamily="34" charset="0"/>
              </a:rPr>
              <a:t>访问数据库</a:t>
            </a:r>
            <a:r>
              <a:rPr lang="en-US" altLang="zh-CN" dirty="0">
                <a:latin typeface="Arial" panose="020B0604020202020204" pitchFamily="34" charset="0"/>
              </a:rPr>
              <a:t>&lt;/h2&gt;&lt;hr&gt;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&lt;%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Class.forName("sun.jdbc.odbc.JdbcOdbcDriver");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Connection con=DriverManager.getConnection("jdbc:odbc:test");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Statement sql=con.createStatement();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ResultSet  rs=sql.executeQuery("select * from myfriend");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if (rs.next()){%&gt;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&lt;table border=1&gt;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&lt;tr&gt;&lt;th&gt;</a:t>
            </a:r>
            <a:r>
              <a:rPr lang="zh-CN" altLang="en-US" dirty="0">
                <a:latin typeface="Arial" panose="020B0604020202020204" pitchFamily="34" charset="0"/>
              </a:rPr>
              <a:t>姓名</a:t>
            </a:r>
            <a:r>
              <a:rPr lang="en-US" altLang="zh-CN" dirty="0">
                <a:latin typeface="Arial" panose="020B0604020202020204" pitchFamily="34" charset="0"/>
              </a:rPr>
              <a:t>&lt;/th&gt;&lt;th&gt;</a:t>
            </a:r>
            <a:r>
              <a:rPr lang="zh-CN" altLang="en-US" dirty="0">
                <a:latin typeface="Arial" panose="020B0604020202020204" pitchFamily="34" charset="0"/>
              </a:rPr>
              <a:t>年龄</a:t>
            </a:r>
            <a:r>
              <a:rPr lang="en-US" altLang="zh-CN" dirty="0">
                <a:latin typeface="Arial" panose="020B0604020202020204" pitchFamily="34" charset="0"/>
              </a:rPr>
              <a:t>&lt;/th&gt;&lt;th&gt;</a:t>
            </a:r>
            <a:r>
              <a:rPr lang="zh-CN" altLang="en-US" dirty="0">
                <a:latin typeface="Arial" panose="020B0604020202020204" pitchFamily="34" charset="0"/>
              </a:rPr>
              <a:t>性别</a:t>
            </a:r>
            <a:r>
              <a:rPr lang="en-US" altLang="zh-CN" dirty="0">
                <a:latin typeface="Arial" panose="020B0604020202020204" pitchFamily="34" charset="0"/>
              </a:rPr>
              <a:t>&lt;/th&gt;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  &lt;th&gt;</a:t>
            </a:r>
            <a:r>
              <a:rPr lang="zh-CN" altLang="en-US" dirty="0">
                <a:latin typeface="Arial" panose="020B0604020202020204" pitchFamily="34" charset="0"/>
              </a:rPr>
              <a:t>电话</a:t>
            </a:r>
            <a:r>
              <a:rPr lang="en-US" altLang="zh-CN" dirty="0">
                <a:latin typeface="Arial" panose="020B0604020202020204" pitchFamily="34" charset="0"/>
              </a:rPr>
              <a:t>&lt;/th&gt;&lt;th&gt;EMail&lt;/th&gt;&lt;th&gt;QQ&lt;/th&gt;&lt;th&gt;</a:t>
            </a:r>
            <a:r>
              <a:rPr lang="zh-CN" altLang="en-US" dirty="0">
                <a:latin typeface="Arial" panose="020B0604020202020204" pitchFamily="34" charset="0"/>
              </a:rPr>
              <a:t>地址</a:t>
            </a:r>
            <a:r>
              <a:rPr lang="en-US" altLang="zh-CN" dirty="0">
                <a:latin typeface="Arial" panose="020B0604020202020204" pitchFamily="34" charset="0"/>
              </a:rPr>
              <a:t>&lt;/th&gt;&lt;/tr&gt;</a:t>
            </a:r>
          </a:p>
        </p:txBody>
      </p:sp>
    </p:spTree>
    <p:custDataLst>
      <p:tags r:id="rId1"/>
    </p:custDataLst>
  </p:cSld>
  <p:clrMapOvr>
    <a:masterClrMapping/>
  </p:clrMapOvr>
  <p:transition advTm="105738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r>
              <a:rPr lang="en-US" altLang="zh-CN" sz="3600" dirty="0">
                <a:sym typeface="+mn-ea"/>
              </a:rPr>
              <a:t>2.2.2 JDBC API</a:t>
            </a:r>
            <a:r>
              <a:rPr lang="zh-CN" altLang="en-US" sz="3600" dirty="0">
                <a:sym typeface="+mn-ea"/>
              </a:rPr>
              <a:t>应用实例</a:t>
            </a:r>
            <a:br>
              <a:rPr lang="en-US" altLang="zh-CN" sz="3600" dirty="0"/>
            </a:br>
            <a:r>
              <a:rPr lang="zh-CN" altLang="en-US" sz="3600" dirty="0"/>
              <a:t>（</a:t>
            </a:r>
            <a:r>
              <a:rPr lang="en-US" altLang="zh-CN" sz="3600" dirty="0"/>
              <a:t>1</a:t>
            </a:r>
            <a:r>
              <a:rPr lang="zh-CN" altLang="en-US" sz="3600" dirty="0"/>
              <a:t>）通过</a:t>
            </a:r>
            <a:r>
              <a:rPr lang="en-US" altLang="zh-CN" sz="3600" dirty="0"/>
              <a:t>JSP</a:t>
            </a:r>
            <a:r>
              <a:rPr lang="zh-CN" altLang="en-US" sz="3600" dirty="0"/>
              <a:t>访问数据库（</a:t>
            </a:r>
            <a:r>
              <a:rPr lang="en-US" altLang="zh-CN" sz="3600" dirty="0"/>
              <a:t>cont.</a:t>
            </a:r>
            <a:r>
              <a:rPr lang="zh-CN" altLang="en-US" sz="3600" dirty="0"/>
              <a:t>）</a:t>
            </a:r>
          </a:p>
        </p:txBody>
      </p:sp>
      <p:sp>
        <p:nvSpPr>
          <p:cNvPr id="20787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zh-CN" altLang="en-US" sz="2400" dirty="0"/>
          </a:p>
        </p:txBody>
      </p:sp>
      <p:sp>
        <p:nvSpPr>
          <p:cNvPr id="207877" name="Text Box 4"/>
          <p:cNvSpPr txBox="1"/>
          <p:nvPr/>
        </p:nvSpPr>
        <p:spPr>
          <a:xfrm>
            <a:off x="1347001" y="1870765"/>
            <a:ext cx="8351838" cy="452310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&lt;%    	do{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out.println("&lt;tr&gt;");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out.println("&lt;td&gt;"+rs.getString("name")+"&lt;/td&gt;");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out.println("&lt;td&gt;"+rs.getInt("age")+"&lt;/td&gt;");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out.println("&lt;td&gt;"+rs.getString("sex")+"&lt;/td&gt;");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out.println("&lt;td&gt;"+rs.getString("phone")+"&lt;/td&gt;");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out.println("&lt;td&gt;"+rs.getString("email")+"&lt;/td&gt;");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out.println("&lt;td&gt;"+rs.getString("qq")+"&lt;/td&gt;");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out.println("&lt;td&gt;"+rs.getString("address")+"&lt;/td&gt;");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out.println("&lt;/tr&gt;");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}while(rs.next());%&gt;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&lt;/table&gt;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&lt;%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}	//if</a:t>
            </a:r>
            <a:r>
              <a:rPr lang="zh-CN" altLang="en-US" dirty="0">
                <a:latin typeface="Arial" panose="020B0604020202020204" pitchFamily="34" charset="0"/>
              </a:rPr>
              <a:t>结束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%&gt;  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&lt;/body&gt;</a:t>
            </a:r>
          </a:p>
        </p:txBody>
      </p:sp>
    </p:spTree>
    <p:custDataLst>
      <p:tags r:id="rId1"/>
    </p:custDataLst>
  </p:cSld>
  <p:clrMapOvr>
    <a:masterClrMapping/>
  </p:clrMapOvr>
  <p:transition advTm="1967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2.2.2 JDBC API</a:t>
            </a:r>
            <a:r>
              <a:rPr lang="zh-CN" altLang="en-US" dirty="0">
                <a:sym typeface="+mn-ea"/>
              </a:rPr>
              <a:t>应用实例</a:t>
            </a:r>
            <a:br>
              <a:rPr lang="en-US" altLang="zh-CN" dirty="0">
                <a:sym typeface="+mn-ea"/>
              </a:rPr>
            </a:b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）通过</a:t>
            </a:r>
            <a:r>
              <a:rPr lang="en-US" altLang="zh-CN" dirty="0"/>
              <a:t>JSP</a:t>
            </a:r>
            <a:r>
              <a:rPr lang="zh-CN" altLang="en-US" dirty="0"/>
              <a:t>访问数据库（</a:t>
            </a:r>
            <a:r>
              <a:rPr lang="en-US" altLang="zh-CN" dirty="0"/>
              <a:t>cont.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14" name="图片占位符 13"/>
          <p:cNvPicPr>
            <a:picLocks noGrp="1" noChangeAspect="1"/>
          </p:cNvPicPr>
          <p:nvPr>
            <p:custDataLst>
              <p:tags r:id="rId2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2968890" y="1976618"/>
            <a:ext cx="5711882" cy="34442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01"/>
    </mc:Choice>
    <mc:Fallback xmlns="">
      <p:transition spd="slow" advTm="470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r>
              <a:rPr lang="en-US" altLang="zh-CN" sz="3600" dirty="0">
                <a:sym typeface="+mn-ea"/>
              </a:rPr>
              <a:t>2.2.2 JDBC API</a:t>
            </a:r>
            <a:r>
              <a:rPr lang="zh-CN" altLang="en-US" sz="3600" dirty="0">
                <a:sym typeface="+mn-ea"/>
              </a:rPr>
              <a:t>应用实例</a:t>
            </a:r>
            <a:br>
              <a:rPr lang="en-US" altLang="zh-CN" sz="3600" dirty="0">
                <a:sym typeface="+mn-ea"/>
              </a:rPr>
            </a:br>
            <a:r>
              <a:rPr lang="zh-CN" altLang="en-US" sz="3600" dirty="0">
                <a:sym typeface="+mn-ea"/>
              </a:rPr>
              <a:t>（</a:t>
            </a:r>
            <a:r>
              <a:rPr lang="en-US" altLang="zh-CN" sz="3600" dirty="0">
                <a:sym typeface="+mn-ea"/>
              </a:rPr>
              <a:t>2</a:t>
            </a:r>
            <a:r>
              <a:rPr lang="zh-CN" altLang="en-US" sz="3600" dirty="0">
                <a:sym typeface="+mn-ea"/>
              </a:rPr>
              <a:t>）</a:t>
            </a:r>
            <a:r>
              <a:rPr lang="zh-CN" altLang="en-US" sz="3600" dirty="0"/>
              <a:t>通过</a:t>
            </a:r>
            <a:r>
              <a:rPr lang="en-US" altLang="zh-CN" sz="3600" dirty="0"/>
              <a:t>Servlet</a:t>
            </a:r>
            <a:r>
              <a:rPr lang="zh-CN" altLang="en-US" sz="3600" dirty="0"/>
              <a:t>访问</a:t>
            </a:r>
          </a:p>
        </p:txBody>
      </p:sp>
      <p:sp>
        <p:nvSpPr>
          <p:cNvPr id="20992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lvl="1" eaLnBrk="1" hangingPunct="1"/>
            <a:endParaRPr lang="zh-CN" altLang="en-US" sz="2400" dirty="0"/>
          </a:p>
        </p:txBody>
      </p:sp>
      <p:sp>
        <p:nvSpPr>
          <p:cNvPr id="209925" name="Text Box 4"/>
          <p:cNvSpPr txBox="1"/>
          <p:nvPr/>
        </p:nvSpPr>
        <p:spPr>
          <a:xfrm>
            <a:off x="1525147" y="1898802"/>
            <a:ext cx="8424862" cy="424624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public void doGet(HttpServletRequest request, HttpServletResponse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                   response) throws ServletException, IOException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response.setContentType("text/html;charset=gb2312");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PrintWriter out = response.getWriter();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out.println("&lt;h2&gt;JDBC</a:t>
            </a:r>
            <a:r>
              <a:rPr lang="zh-CN" altLang="en-US" dirty="0">
                <a:latin typeface="Arial" panose="020B0604020202020204" pitchFamily="34" charset="0"/>
              </a:rPr>
              <a:t>实例：通过</a:t>
            </a:r>
            <a:r>
              <a:rPr lang="en-US" altLang="zh-CN" dirty="0">
                <a:latin typeface="Arial" panose="020B0604020202020204" pitchFamily="34" charset="0"/>
              </a:rPr>
              <a:t>Servlet</a:t>
            </a:r>
            <a:r>
              <a:rPr lang="zh-CN" altLang="en-US" dirty="0">
                <a:latin typeface="Arial" panose="020B0604020202020204" pitchFamily="34" charset="0"/>
              </a:rPr>
              <a:t>访问数据库</a:t>
            </a:r>
            <a:r>
              <a:rPr lang="en-US" altLang="zh-CN" dirty="0">
                <a:latin typeface="Arial" panose="020B0604020202020204" pitchFamily="34" charset="0"/>
              </a:rPr>
              <a:t>&lt;/h2&gt;&lt;hr&gt;");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try{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Class.forName("sun.jdbc.odbc.JdbcOdbcDriver");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Connection con=DriverManager.getConnection("jdbc:odbc:test");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Statement sql=con.createStatement();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ResultSet  rs=sql.executeQuery("select * from myfriend");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if (rs.next()){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    out.println("&lt;table border=1&gt;");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    out.println("&lt;tr&gt;&lt;th&gt;</a:t>
            </a:r>
            <a:r>
              <a:rPr lang="zh-CN" altLang="en-US" dirty="0">
                <a:latin typeface="Arial" panose="020B0604020202020204" pitchFamily="34" charset="0"/>
              </a:rPr>
              <a:t>姓名</a:t>
            </a:r>
            <a:r>
              <a:rPr lang="en-US" altLang="zh-CN" dirty="0">
                <a:latin typeface="Arial" panose="020B0604020202020204" pitchFamily="34" charset="0"/>
              </a:rPr>
              <a:t>&lt;/th&gt;&lt;th&gt;</a:t>
            </a:r>
            <a:r>
              <a:rPr lang="zh-CN" altLang="en-US" dirty="0">
                <a:latin typeface="Arial" panose="020B0604020202020204" pitchFamily="34" charset="0"/>
              </a:rPr>
              <a:t>年龄</a:t>
            </a:r>
            <a:r>
              <a:rPr lang="en-US" altLang="zh-CN" dirty="0">
                <a:latin typeface="Arial" panose="020B0604020202020204" pitchFamily="34" charset="0"/>
              </a:rPr>
              <a:t>&lt;/th&gt;");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    out.println("&lt;th&gt;</a:t>
            </a:r>
            <a:r>
              <a:rPr lang="zh-CN" altLang="en-US" dirty="0">
                <a:latin typeface="Arial" panose="020B0604020202020204" pitchFamily="34" charset="0"/>
              </a:rPr>
              <a:t>性别</a:t>
            </a:r>
            <a:r>
              <a:rPr lang="en-US" altLang="zh-CN" dirty="0">
                <a:latin typeface="Arial" panose="020B0604020202020204" pitchFamily="34" charset="0"/>
              </a:rPr>
              <a:t>&lt;/th&gt;&lt;th&gt;</a:t>
            </a:r>
            <a:r>
              <a:rPr lang="zh-CN" altLang="en-US" dirty="0">
                <a:latin typeface="Arial" panose="020B0604020202020204" pitchFamily="34" charset="0"/>
              </a:rPr>
              <a:t>电话</a:t>
            </a:r>
            <a:r>
              <a:rPr lang="en-US" altLang="zh-CN" dirty="0">
                <a:latin typeface="Arial" panose="020B0604020202020204" pitchFamily="34" charset="0"/>
              </a:rPr>
              <a:t>&lt;/th&gt;");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    out.println("&lt;th&gt;EMail&lt;/th&gt;&lt;th&gt;QQ&lt;/th&gt;&lt;th&gt;</a:t>
            </a:r>
            <a:r>
              <a:rPr lang="zh-CN" altLang="en-US" dirty="0">
                <a:latin typeface="Arial" panose="020B0604020202020204" pitchFamily="34" charset="0"/>
              </a:rPr>
              <a:t>地址</a:t>
            </a:r>
            <a:r>
              <a:rPr lang="en-US" altLang="zh-CN" dirty="0">
                <a:latin typeface="Arial" panose="020B0604020202020204" pitchFamily="34" charset="0"/>
              </a:rPr>
              <a:t>&lt;/th&gt;&lt;/tr&gt;");</a:t>
            </a:r>
          </a:p>
        </p:txBody>
      </p:sp>
    </p:spTree>
    <p:custDataLst>
      <p:tags r:id="rId1"/>
    </p:custDataLst>
  </p:cSld>
  <p:clrMapOvr>
    <a:masterClrMapping/>
  </p:clrMapOvr>
  <p:transition advTm="42154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>
            <a:normAutofit fontScale="57500" lnSpcReduction="20000"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J2EE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教程          黑龙江大学计算机科学技术学院  版权所有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©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2006-2010</a:t>
            </a:r>
          </a:p>
        </p:txBody>
      </p:sp>
      <p:sp>
        <p:nvSpPr>
          <p:cNvPr id="210947" name="Rectang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wrap="square" lIns="91440" tIns="45720" rIns="91440" bIns="45720" anchor="ctr">
            <a:noAutofit/>
          </a:bodyPr>
          <a:lstStyle/>
          <a:p>
            <a:r>
              <a:rPr lang="en-US" altLang="zh-CN" sz="3600" dirty="0">
                <a:sym typeface="+mn-ea"/>
              </a:rPr>
              <a:t>2.2.2 JDBC API</a:t>
            </a:r>
            <a:r>
              <a:rPr lang="zh-CN" altLang="en-US" sz="3600" dirty="0">
                <a:sym typeface="+mn-ea"/>
              </a:rPr>
              <a:t>应用实例</a:t>
            </a:r>
            <a:br>
              <a:rPr lang="en-US" altLang="zh-CN" sz="3600" dirty="0">
                <a:sym typeface="+mn-ea"/>
              </a:rPr>
            </a:br>
            <a:r>
              <a:rPr lang="zh-CN" altLang="en-US" sz="3600" dirty="0">
                <a:sym typeface="+mn-ea"/>
              </a:rPr>
              <a:t>（</a:t>
            </a:r>
            <a:r>
              <a:rPr lang="en-US" altLang="zh-CN" sz="3600" dirty="0">
                <a:sym typeface="+mn-ea"/>
              </a:rPr>
              <a:t>2</a:t>
            </a:r>
            <a:r>
              <a:rPr lang="zh-CN" altLang="en-US" sz="3600" dirty="0">
                <a:sym typeface="+mn-ea"/>
              </a:rPr>
              <a:t>）</a:t>
            </a:r>
            <a:r>
              <a:rPr lang="zh-CN" altLang="en-US" sz="3600" dirty="0"/>
              <a:t>通过</a:t>
            </a:r>
            <a:r>
              <a:rPr lang="en-US" altLang="zh-CN" sz="3600" dirty="0"/>
              <a:t>Servlet</a:t>
            </a:r>
            <a:r>
              <a:rPr lang="zh-CN" altLang="en-US" sz="3600" dirty="0"/>
              <a:t>访问（</a:t>
            </a:r>
            <a:r>
              <a:rPr lang="en-US" altLang="zh-CN" sz="3600" dirty="0"/>
              <a:t>cont.</a:t>
            </a:r>
            <a:r>
              <a:rPr lang="zh-CN" altLang="en-US" sz="3600" dirty="0"/>
              <a:t>）</a:t>
            </a:r>
            <a:endParaRPr lang="zh-CN" altLang="en-US" sz="3600" dirty="0">
              <a:sym typeface="+mn-ea"/>
            </a:endParaRPr>
          </a:p>
        </p:txBody>
      </p:sp>
      <p:sp>
        <p:nvSpPr>
          <p:cNvPr id="21094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zh-CN" altLang="en-US" dirty="0"/>
          </a:p>
          <a:p>
            <a:pPr lvl="1" eaLnBrk="1" hangingPunct="1"/>
            <a:endParaRPr lang="zh-CN" altLang="en-US" sz="2400" dirty="0"/>
          </a:p>
        </p:txBody>
      </p:sp>
      <p:sp>
        <p:nvSpPr>
          <p:cNvPr id="210949" name="Text Box 4"/>
          <p:cNvSpPr txBox="1"/>
          <p:nvPr/>
        </p:nvSpPr>
        <p:spPr>
          <a:xfrm>
            <a:off x="2076133" y="1825308"/>
            <a:ext cx="8424862" cy="479996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	do{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	out.println("&lt;tr&gt;");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	out.println("&lt;td&gt;"+rs.getString("name")+"&lt;/td&gt;");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	out.println("&lt;td&gt;"+rs.getInt("age")+"&lt;/td&gt;");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	out.println("&lt;td&gt;"+rs.getString("sex")+"&lt;/td&gt;");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	out.println("&lt;td&gt;"+rs.getString("phone")+"&lt;/td&gt;");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	out.println("&lt;td&gt;"+rs.getString("email")+"&lt;/td&gt;");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	out.println("&lt;td&gt;"+rs.getString("qq")+"&lt;/td&gt;");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	out.println("&lt;td&gt;"+rs.getString("address")+"&lt;/td&gt;");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	out.println("&lt;/tr&gt;");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	}while(rs.next());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  out.println("&lt;/table&gt;");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}	//if</a:t>
            </a:r>
            <a:r>
              <a:rPr lang="zh-CN" altLang="en-US" dirty="0">
                <a:latin typeface="Arial" panose="020B0604020202020204" pitchFamily="34" charset="0"/>
              </a:rPr>
              <a:t>结束</a:t>
            </a:r>
          </a:p>
          <a:p>
            <a:r>
              <a:rPr lang="zh-CN" altLang="en-US" dirty="0">
                <a:latin typeface="Arial" panose="020B0604020202020204" pitchFamily="34" charset="0"/>
              </a:rPr>
              <a:t>      </a:t>
            </a:r>
            <a:r>
              <a:rPr lang="en-US" altLang="zh-CN" dirty="0">
                <a:latin typeface="Arial" panose="020B0604020202020204" pitchFamily="34" charset="0"/>
              </a:rPr>
              <a:t>}catch(Exception e){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out.println(e);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</p:txBody>
      </p:sp>
    </p:spTree>
    <p:custDataLst>
      <p:tags r:id="rId1"/>
    </p:custDataLst>
  </p:cSld>
  <p:clrMapOvr>
    <a:masterClrMapping/>
  </p:clrMapOvr>
  <p:transition advTm="3198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 txBox="1">
            <a:spLocks noGrp="1"/>
          </p:cNvSpPr>
          <p:nvPr>
            <p:ph type="ftr" sz="quarter" idx="11"/>
          </p:nvPr>
        </p:nvSpPr>
        <p:spPr bwMode="auto"/>
        <p:txBody>
          <a:bodyPr vert="horz" wrap="square" lIns="91440" tIns="45720" rIns="91440" bIns="45720" numCol="1" anchor="t" anchorCtr="0" compatLnSpc="1">
            <a:normAutofit fontScale="57500" lnSpcReduction="20000"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J2EE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教程          黑龙江大学计算机科学技术学院  版权所有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©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2006-2010</a:t>
            </a:r>
          </a:p>
        </p:txBody>
      </p:sp>
      <p:sp>
        <p:nvSpPr>
          <p:cNvPr id="2119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r>
              <a:rPr lang="en-US" altLang="zh-CN" sz="3600" dirty="0">
                <a:sym typeface="+mn-ea"/>
              </a:rPr>
              <a:t>2.2.2 JDBC API</a:t>
            </a:r>
            <a:r>
              <a:rPr lang="zh-CN" altLang="en-US" sz="3600" dirty="0">
                <a:sym typeface="+mn-ea"/>
              </a:rPr>
              <a:t>应用实例</a:t>
            </a:r>
            <a:br>
              <a:rPr lang="en-US" altLang="zh-CN" sz="3600" dirty="0">
                <a:sym typeface="+mn-ea"/>
              </a:rPr>
            </a:br>
            <a:r>
              <a:rPr lang="zh-CN" altLang="en-US" sz="3600" dirty="0">
                <a:sym typeface="+mn-ea"/>
              </a:rPr>
              <a:t>（</a:t>
            </a:r>
            <a:r>
              <a:rPr lang="en-US" altLang="zh-CN" sz="3600" dirty="0">
                <a:sym typeface="+mn-ea"/>
              </a:rPr>
              <a:t>3</a:t>
            </a:r>
            <a:r>
              <a:rPr lang="zh-CN" altLang="en-US" sz="3600" dirty="0">
                <a:sym typeface="+mn-ea"/>
              </a:rPr>
              <a:t>）通过</a:t>
            </a:r>
            <a:r>
              <a:rPr lang="en-US" altLang="zh-CN" sz="3600" dirty="0">
                <a:sym typeface="+mn-ea"/>
              </a:rPr>
              <a:t>JavaBean</a:t>
            </a:r>
            <a:r>
              <a:rPr lang="zh-CN" altLang="en-US" sz="3600" dirty="0">
                <a:sym typeface="+mn-ea"/>
              </a:rPr>
              <a:t>访问</a:t>
            </a:r>
            <a:endParaRPr lang="zh-CN" altLang="en-US" sz="3600" dirty="0"/>
          </a:p>
        </p:txBody>
      </p:sp>
      <p:sp>
        <p:nvSpPr>
          <p:cNvPr id="211973" name="Text Box 4"/>
          <p:cNvSpPr txBox="1"/>
          <p:nvPr/>
        </p:nvSpPr>
        <p:spPr>
          <a:xfrm>
            <a:off x="2119948" y="1921193"/>
            <a:ext cx="8424862" cy="479996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package mybean;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import java.sql.*;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public class DBConnection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private Connection conn;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public void init(String className,String URL){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try{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     Class.forName(className);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     conn=DriverManager.getConnection(URL);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catch(Exception e){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     System.out.println(e);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public Connection getConnection(){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return conn;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advTm="39234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r>
              <a:rPr lang="en-US" altLang="zh-CN" sz="3600" dirty="0">
                <a:sym typeface="+mn-ea"/>
              </a:rPr>
              <a:t>2.2.2 JDBC API</a:t>
            </a:r>
            <a:r>
              <a:rPr lang="zh-CN" altLang="en-US" sz="3600" dirty="0">
                <a:sym typeface="+mn-ea"/>
              </a:rPr>
              <a:t>应用实例</a:t>
            </a:r>
            <a:br>
              <a:rPr lang="en-US" altLang="zh-CN" sz="3600" dirty="0">
                <a:sym typeface="+mn-ea"/>
              </a:rPr>
            </a:br>
            <a:r>
              <a:rPr lang="zh-CN" altLang="en-US" sz="3600" dirty="0">
                <a:sym typeface="+mn-ea"/>
              </a:rPr>
              <a:t>（</a:t>
            </a:r>
            <a:r>
              <a:rPr lang="en-US" altLang="zh-CN" sz="3600" dirty="0">
                <a:sym typeface="+mn-ea"/>
              </a:rPr>
              <a:t>3</a:t>
            </a:r>
            <a:r>
              <a:rPr lang="zh-CN" altLang="en-US" sz="3600" dirty="0">
                <a:sym typeface="+mn-ea"/>
              </a:rPr>
              <a:t>）通过</a:t>
            </a:r>
            <a:r>
              <a:rPr lang="en-US" altLang="zh-CN" sz="3600" dirty="0">
                <a:sym typeface="+mn-ea"/>
              </a:rPr>
              <a:t>JavaBean</a:t>
            </a:r>
            <a:r>
              <a:rPr lang="zh-CN" altLang="en-US" sz="3600" dirty="0">
                <a:sym typeface="+mn-ea"/>
              </a:rPr>
              <a:t>访问（</a:t>
            </a:r>
            <a:r>
              <a:rPr lang="en-US" altLang="zh-CN" sz="3600" dirty="0">
                <a:sym typeface="+mn-ea"/>
              </a:rPr>
              <a:t>cont.</a:t>
            </a:r>
            <a:r>
              <a:rPr lang="zh-CN" altLang="en-US" sz="3600" dirty="0">
                <a:sym typeface="+mn-ea"/>
              </a:rPr>
              <a:t>）</a:t>
            </a:r>
          </a:p>
        </p:txBody>
      </p:sp>
      <p:sp>
        <p:nvSpPr>
          <p:cNvPr id="212997" name="Text Box 5"/>
          <p:cNvSpPr txBox="1"/>
          <p:nvPr/>
        </p:nvSpPr>
        <p:spPr>
          <a:xfrm>
            <a:off x="2047875" y="2297430"/>
            <a:ext cx="8351838" cy="369252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&lt;%@ page import="java.sql.*" %&gt;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&lt;body&gt;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&lt;h2&gt;JDBC</a:t>
            </a:r>
            <a:r>
              <a:rPr lang="zh-CN" altLang="en-US" dirty="0">
                <a:latin typeface="Arial" panose="020B0604020202020204" pitchFamily="34" charset="0"/>
              </a:rPr>
              <a:t>实例：通过</a:t>
            </a:r>
            <a:r>
              <a:rPr lang="en-US" altLang="zh-CN" dirty="0">
                <a:latin typeface="Arial" panose="020B0604020202020204" pitchFamily="34" charset="0"/>
              </a:rPr>
              <a:t>JavaBean</a:t>
            </a:r>
            <a:r>
              <a:rPr lang="zh-CN" altLang="en-US" dirty="0">
                <a:latin typeface="Arial" panose="020B0604020202020204" pitchFamily="34" charset="0"/>
              </a:rPr>
              <a:t>访问数据库</a:t>
            </a:r>
            <a:r>
              <a:rPr lang="en-US" altLang="zh-CN" dirty="0">
                <a:latin typeface="Arial" panose="020B0604020202020204" pitchFamily="34" charset="0"/>
              </a:rPr>
              <a:t>&lt;/h2&gt;&lt;hr&gt;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&lt;jsp:useBean id="dbcon" class="mybean.DBConnection" /&gt;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&lt;%</a:t>
            </a: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    dbcon.init("sun.jdbc.odbc.JdbcOdbcDriver","jdbc:odbc:test");</a:t>
            </a: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    Connection con=dbcon.getConnection();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Statement sql=con.createStatement();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ResultSet  rs=sql.executeQuery("select * from myfriend");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if (rs.next()){%&gt;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&lt;table border=1&gt;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&lt;tr&gt;&lt;th&gt;</a:t>
            </a:r>
            <a:r>
              <a:rPr lang="zh-CN" altLang="en-US" dirty="0">
                <a:latin typeface="Arial" panose="020B0604020202020204" pitchFamily="34" charset="0"/>
              </a:rPr>
              <a:t>姓名</a:t>
            </a:r>
            <a:r>
              <a:rPr lang="en-US" altLang="zh-CN" dirty="0">
                <a:latin typeface="Arial" panose="020B0604020202020204" pitchFamily="34" charset="0"/>
              </a:rPr>
              <a:t>&lt;/th&gt;&lt;th&gt;</a:t>
            </a:r>
            <a:r>
              <a:rPr lang="zh-CN" altLang="en-US" dirty="0">
                <a:latin typeface="Arial" panose="020B0604020202020204" pitchFamily="34" charset="0"/>
              </a:rPr>
              <a:t>年龄</a:t>
            </a:r>
            <a:r>
              <a:rPr lang="en-US" altLang="zh-CN" dirty="0">
                <a:latin typeface="Arial" panose="020B0604020202020204" pitchFamily="34" charset="0"/>
              </a:rPr>
              <a:t>&lt;/th&gt;&lt;th&gt;</a:t>
            </a:r>
            <a:r>
              <a:rPr lang="zh-CN" altLang="en-US" dirty="0">
                <a:latin typeface="Arial" panose="020B0604020202020204" pitchFamily="34" charset="0"/>
              </a:rPr>
              <a:t>性别</a:t>
            </a:r>
            <a:r>
              <a:rPr lang="en-US" altLang="zh-CN" dirty="0">
                <a:latin typeface="Arial" panose="020B0604020202020204" pitchFamily="34" charset="0"/>
              </a:rPr>
              <a:t>&lt;/th&gt;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  &lt;th&gt;</a:t>
            </a:r>
            <a:r>
              <a:rPr lang="zh-CN" altLang="en-US" dirty="0">
                <a:latin typeface="Arial" panose="020B0604020202020204" pitchFamily="34" charset="0"/>
              </a:rPr>
              <a:t>电话</a:t>
            </a:r>
            <a:r>
              <a:rPr lang="en-US" altLang="zh-CN" dirty="0">
                <a:latin typeface="Arial" panose="020B0604020202020204" pitchFamily="34" charset="0"/>
              </a:rPr>
              <a:t>&lt;/th&gt;&lt;th&gt;EMail&lt;/th&gt;&lt;th&gt;QQ&lt;/th&gt;&lt;th&gt;</a:t>
            </a:r>
            <a:r>
              <a:rPr lang="zh-CN" altLang="en-US" dirty="0">
                <a:latin typeface="Arial" panose="020B0604020202020204" pitchFamily="34" charset="0"/>
              </a:rPr>
              <a:t>地址</a:t>
            </a:r>
            <a:r>
              <a:rPr lang="en-US" altLang="zh-CN" dirty="0">
                <a:latin typeface="Arial" panose="020B0604020202020204" pitchFamily="34" charset="0"/>
              </a:rPr>
              <a:t>&lt;/th&gt;&lt;/tr&gt;</a:t>
            </a:r>
          </a:p>
        </p:txBody>
      </p:sp>
    </p:spTree>
    <p:custDataLst>
      <p:tags r:id="rId1"/>
    </p:custDataLst>
  </p:cSld>
  <p:clrMapOvr>
    <a:masterClrMapping/>
  </p:clrMapOvr>
  <p:transition advTm="46532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r>
              <a:rPr lang="en-US" altLang="zh-CN" sz="3600" dirty="0">
                <a:sym typeface="+mn-ea"/>
              </a:rPr>
              <a:t>2.2.2 JDBC API</a:t>
            </a:r>
            <a:r>
              <a:rPr lang="zh-CN" altLang="en-US" sz="3600" dirty="0">
                <a:sym typeface="+mn-ea"/>
              </a:rPr>
              <a:t>应用实例</a:t>
            </a:r>
            <a:br>
              <a:rPr lang="en-US" altLang="zh-CN" sz="3600" dirty="0">
                <a:sym typeface="+mn-ea"/>
              </a:rPr>
            </a:br>
            <a:r>
              <a:rPr lang="zh-CN" altLang="en-US" sz="3600" dirty="0">
                <a:sym typeface="+mn-ea"/>
              </a:rPr>
              <a:t>（</a:t>
            </a:r>
            <a:r>
              <a:rPr lang="en-US" altLang="zh-CN" sz="3600" dirty="0">
                <a:sym typeface="+mn-ea"/>
              </a:rPr>
              <a:t>3</a:t>
            </a:r>
            <a:r>
              <a:rPr lang="zh-CN" altLang="en-US" sz="3600" dirty="0">
                <a:sym typeface="+mn-ea"/>
              </a:rPr>
              <a:t>）通过</a:t>
            </a:r>
            <a:r>
              <a:rPr lang="en-US" altLang="zh-CN" sz="3600" dirty="0">
                <a:sym typeface="+mn-ea"/>
              </a:rPr>
              <a:t>JavaBean</a:t>
            </a:r>
            <a:r>
              <a:rPr lang="zh-CN" altLang="en-US" sz="3600" dirty="0">
                <a:sym typeface="+mn-ea"/>
              </a:rPr>
              <a:t>访问（</a:t>
            </a:r>
            <a:r>
              <a:rPr lang="en-US" altLang="zh-CN" sz="3600" dirty="0">
                <a:sym typeface="+mn-ea"/>
              </a:rPr>
              <a:t>cont.</a:t>
            </a:r>
            <a:r>
              <a:rPr lang="zh-CN" altLang="en-US" sz="3600" dirty="0">
                <a:sym typeface="+mn-ea"/>
              </a:rPr>
              <a:t>）</a:t>
            </a:r>
            <a:endParaRPr lang="zh-CN" altLang="en-US" sz="3600" dirty="0"/>
          </a:p>
        </p:txBody>
      </p:sp>
      <p:sp>
        <p:nvSpPr>
          <p:cNvPr id="214021" name="Text Box 5"/>
          <p:cNvSpPr txBox="1"/>
          <p:nvPr/>
        </p:nvSpPr>
        <p:spPr>
          <a:xfrm>
            <a:off x="1476375" y="1758950"/>
            <a:ext cx="8351838" cy="452310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&lt;%    	do{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out.println("&lt;tr&gt;");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out.println("&lt;td&gt;"+rs.getString("name")+"&lt;/td&gt;");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out.println("&lt;td&gt;"+rs.getInt("age")+"&lt;/td&gt;");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out.println("&lt;td&gt;"+rs.getString("sex")+"&lt;/td&gt;");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out.println("&lt;td&gt;"+rs.getString("phone")+"&lt;/td&gt;");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out.println("&lt;td&gt;"+rs.getString("email")+"&lt;/td&gt;");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out.println("&lt;td&gt;"+rs.getString("qq")+"&lt;/td&gt;");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out.println("&lt;td&gt;"+rs.getString("address")+"&lt;/td&gt;");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out.println("&lt;/tr&gt;");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}while(rs.next());%&gt;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&lt;/table&gt;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&lt;%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}	//if</a:t>
            </a:r>
            <a:r>
              <a:rPr lang="zh-CN" altLang="en-US" dirty="0">
                <a:latin typeface="Arial" panose="020B0604020202020204" pitchFamily="34" charset="0"/>
              </a:rPr>
              <a:t>结束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%&gt;  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&lt;/body&gt;</a:t>
            </a:r>
          </a:p>
        </p:txBody>
      </p:sp>
    </p:spTree>
    <p:custDataLst>
      <p:tags r:id="rId1"/>
    </p:custDataLst>
  </p:cSld>
  <p:clrMapOvr>
    <a:masterClrMapping/>
  </p:clrMapOvr>
  <p:transition advTm="1419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eaLnBrk="1" hangingPunct="1"/>
            <a:r>
              <a:rPr lang="en-US" altLang="zh-CN" sz="3600" dirty="0">
                <a:sym typeface="+mn-ea"/>
              </a:rPr>
              <a:t>2.2.3 ResultSet</a:t>
            </a:r>
            <a:r>
              <a:rPr lang="zh-CN" altLang="en-US" sz="3600" dirty="0">
                <a:sym typeface="+mn-ea"/>
              </a:rPr>
              <a:t>的高级应用</a:t>
            </a:r>
            <a:endParaRPr lang="zh-CN" altLang="en-US" sz="3600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200" dirty="0"/>
              <a:t>可滚动的</a:t>
            </a:r>
            <a:r>
              <a:rPr lang="en-US" altLang="zh-CN" sz="2200" dirty="0"/>
              <a:t>ResultSet</a:t>
            </a:r>
            <a:r>
              <a:rPr lang="zh-CN" altLang="en-US" sz="2200" dirty="0"/>
              <a:t>：通过</a:t>
            </a:r>
            <a:r>
              <a:rPr lang="en-US" altLang="zh-CN" sz="2200" dirty="0"/>
              <a:t>createStatement (int, int)</a:t>
            </a:r>
            <a:r>
              <a:rPr lang="zh-CN" altLang="en-US" sz="2200" dirty="0"/>
              <a:t>创建</a:t>
            </a:r>
            <a:r>
              <a:rPr lang="en-US" altLang="zh-CN" sz="2200" dirty="0"/>
              <a:t>Statement</a:t>
            </a:r>
            <a:r>
              <a:rPr lang="zh-CN" altLang="en-US" sz="2200" dirty="0"/>
              <a:t>时可以指定第一个参数为下面的值，以便支持可滚动的记录集</a:t>
            </a:r>
          </a:p>
          <a:p>
            <a:pPr lvl="1" algn="just">
              <a:lnSpc>
                <a:spcPct val="120000"/>
              </a:lnSpc>
            </a:pPr>
            <a:r>
              <a:rPr lang="en-US" altLang="zh-CN" dirty="0"/>
              <a:t>ResultSet.TYPE_FORWARD_ONLY</a:t>
            </a:r>
            <a:r>
              <a:rPr lang="zh-CN" altLang="en-US" dirty="0"/>
              <a:t>：不可滚动的记录集，数据库发生变化时不可见</a:t>
            </a:r>
          </a:p>
          <a:p>
            <a:pPr lvl="1" algn="just">
              <a:lnSpc>
                <a:spcPct val="120000"/>
              </a:lnSpc>
            </a:pPr>
            <a:r>
              <a:rPr lang="en-US" altLang="zh-CN" dirty="0"/>
              <a:t>ResultSet.TYPE_SCROLL_INSENSITIVE</a:t>
            </a:r>
            <a:r>
              <a:rPr lang="zh-CN" altLang="en-US" dirty="0"/>
              <a:t>：可滚动的记录集，数据库的变化不可见</a:t>
            </a:r>
          </a:p>
          <a:p>
            <a:pPr lvl="1" algn="just">
              <a:lnSpc>
                <a:spcPct val="120000"/>
              </a:lnSpc>
            </a:pPr>
            <a:r>
              <a:rPr lang="en-US" altLang="zh-CN" dirty="0"/>
              <a:t>ResultSet.TYPE_SCROLL_SENSITIVE</a:t>
            </a:r>
            <a:r>
              <a:rPr lang="zh-CN" altLang="en-US" dirty="0"/>
              <a:t>：可滚动的记录集，数据库的变化可见</a:t>
            </a:r>
          </a:p>
          <a:p>
            <a:pPr algn="just">
              <a:lnSpc>
                <a:spcPct val="120000"/>
              </a:lnSpc>
            </a:pPr>
            <a:r>
              <a:rPr lang="zh-CN" altLang="en-US" sz="2200" dirty="0"/>
              <a:t>移动记录指针的方法包括</a:t>
            </a:r>
            <a:r>
              <a:rPr lang="en-US" altLang="zh-CN" sz="2200" dirty="0"/>
              <a:t>next()</a:t>
            </a:r>
            <a:r>
              <a:rPr lang="zh-CN" altLang="en-US" sz="2200" dirty="0"/>
              <a:t>、</a:t>
            </a:r>
            <a:r>
              <a:rPr lang="en-US" altLang="zh-CN" sz="2200" dirty="0"/>
              <a:t>last()</a:t>
            </a:r>
            <a:r>
              <a:rPr lang="zh-CN" altLang="en-US" sz="2200" dirty="0"/>
              <a:t>、</a:t>
            </a:r>
            <a:r>
              <a:rPr lang="en-US" altLang="zh-CN" sz="2200" dirty="0"/>
              <a:t>previous()</a:t>
            </a:r>
            <a:r>
              <a:rPr lang="zh-CN" altLang="en-US" sz="2200" dirty="0"/>
              <a:t>、</a:t>
            </a:r>
            <a:r>
              <a:rPr lang="en-US" altLang="zh-CN" sz="2200" dirty="0"/>
              <a:t>first()</a:t>
            </a:r>
            <a:r>
              <a:rPr lang="zh-CN" altLang="en-US" sz="2200" dirty="0"/>
              <a:t>等等。</a:t>
            </a:r>
          </a:p>
        </p:txBody>
      </p:sp>
    </p:spTree>
    <p:custDataLst>
      <p:tags r:id="rId1"/>
    </p:custDataLst>
  </p:cSld>
  <p:clrMapOvr>
    <a:masterClrMapping/>
  </p:clrMapOvr>
  <p:transition advTm="28419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eaLnBrk="1" hangingPunct="1"/>
            <a:r>
              <a:rPr lang="en-US" altLang="zh-CN" sz="3600" dirty="0">
                <a:sym typeface="+mn-ea"/>
              </a:rPr>
              <a:t>2.2.3 ResultSet</a:t>
            </a:r>
            <a:r>
              <a:rPr lang="zh-CN" altLang="en-US" sz="3600" dirty="0">
                <a:sym typeface="+mn-ea"/>
              </a:rPr>
              <a:t>的高级应用</a:t>
            </a:r>
            <a:r>
              <a:rPr lang="zh-CN" altLang="en-US" sz="3600" dirty="0"/>
              <a:t> 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200" dirty="0"/>
              <a:t>可更新的</a:t>
            </a:r>
            <a:r>
              <a:rPr lang="en-US" altLang="zh-CN" sz="2200" dirty="0"/>
              <a:t>ResultSet</a:t>
            </a:r>
            <a:r>
              <a:rPr lang="zh-CN" altLang="en-US" sz="2200" dirty="0"/>
              <a:t>：通过</a:t>
            </a:r>
            <a:r>
              <a:rPr lang="en-US" altLang="zh-CN" sz="2200" dirty="0"/>
              <a:t>createStatement (int, int)</a:t>
            </a:r>
            <a:r>
              <a:rPr lang="zh-CN" altLang="en-US" sz="2200" dirty="0"/>
              <a:t>创建</a:t>
            </a:r>
            <a:r>
              <a:rPr lang="en-US" altLang="zh-CN" sz="2200" dirty="0"/>
              <a:t>Statement</a:t>
            </a:r>
            <a:r>
              <a:rPr lang="zh-CN" altLang="en-US" sz="2200" dirty="0"/>
              <a:t>时可以指定第二个参数为下面的值，以便支持可更新的记录集</a:t>
            </a:r>
          </a:p>
          <a:p>
            <a:pPr lvl="1" algn="just">
              <a:lnSpc>
                <a:spcPct val="120000"/>
              </a:lnSpc>
            </a:pPr>
            <a:r>
              <a:rPr lang="en-US" altLang="zh-CN" dirty="0"/>
              <a:t>ResultSet.CONCUR_READ_ONLY</a:t>
            </a:r>
            <a:r>
              <a:rPr lang="zh-CN" altLang="en-US" dirty="0"/>
              <a:t>：记录集不可更新</a:t>
            </a:r>
          </a:p>
          <a:p>
            <a:pPr lvl="1" algn="just">
              <a:lnSpc>
                <a:spcPct val="120000"/>
              </a:lnSpc>
            </a:pPr>
            <a:r>
              <a:rPr lang="en-US" altLang="zh-CN" dirty="0"/>
              <a:t>ResultSet.CONCUR_UPDATABLE</a:t>
            </a:r>
            <a:r>
              <a:rPr lang="zh-CN" altLang="en-US" dirty="0"/>
              <a:t>：记录集可更新</a:t>
            </a:r>
          </a:p>
          <a:p>
            <a:pPr algn="just">
              <a:lnSpc>
                <a:spcPct val="120000"/>
              </a:lnSpc>
            </a:pPr>
            <a:r>
              <a:rPr lang="zh-CN" altLang="en-US" sz="2200" dirty="0"/>
              <a:t>更新记录的方法包括</a:t>
            </a:r>
            <a:r>
              <a:rPr lang="en-US" altLang="zh-CN" sz="2200" dirty="0"/>
              <a:t>updateInt(int,int)</a:t>
            </a:r>
            <a:r>
              <a:rPr lang="zh-CN" altLang="en-US" sz="2200" dirty="0"/>
              <a:t>、</a:t>
            </a:r>
            <a:r>
              <a:rPr lang="en-US" altLang="zh-CN" sz="2200" dirty="0"/>
              <a:t>updateInt(String,int)</a:t>
            </a:r>
            <a:r>
              <a:rPr lang="zh-CN" altLang="en-US" sz="2200" dirty="0"/>
              <a:t>、</a:t>
            </a:r>
            <a:r>
              <a:rPr lang="en-US" altLang="zh-CN" sz="2200" dirty="0"/>
              <a:t>updateRow()</a:t>
            </a:r>
            <a:r>
              <a:rPr lang="zh-CN" altLang="en-US" sz="2200" dirty="0"/>
              <a:t>、</a:t>
            </a:r>
            <a:r>
              <a:rPr lang="en-US" altLang="zh-CN" sz="2200" dirty="0"/>
              <a:t>insertRow()</a:t>
            </a:r>
            <a:r>
              <a:rPr lang="zh-CN" altLang="en-US" sz="2200" dirty="0"/>
              <a:t>、</a:t>
            </a:r>
            <a:r>
              <a:rPr lang="en-US" altLang="zh-CN" sz="2200" dirty="0"/>
              <a:t>deleteRow()</a:t>
            </a:r>
            <a:r>
              <a:rPr lang="zh-CN" altLang="en-US" sz="2200" dirty="0"/>
              <a:t>等等。</a:t>
            </a:r>
          </a:p>
        </p:txBody>
      </p:sp>
    </p:spTree>
    <p:custDataLst>
      <p:tags r:id="rId1"/>
    </p:custDataLst>
  </p:cSld>
  <p:clrMapOvr>
    <a:masterClrMapping/>
  </p:clrMapOvr>
  <p:transition advTm="22113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en-US" altLang="zh-CN" sz="3600" dirty="0">
                <a:sym typeface="+mn-ea"/>
              </a:rPr>
              <a:t>2.2.4 </a:t>
            </a:r>
            <a:r>
              <a:rPr lang="zh-CN" altLang="en-US" sz="3600" dirty="0">
                <a:sym typeface="+mn-ea"/>
              </a:rPr>
              <a:t>其他类型数据库的驱动程序</a:t>
            </a:r>
            <a:br>
              <a:rPr lang="en-US" altLang="zh-CN" sz="3600" dirty="0">
                <a:sym typeface="+mn-ea"/>
              </a:rPr>
            </a:br>
            <a:r>
              <a:rPr lang="zh-CN" altLang="en-US" sz="3600" dirty="0">
                <a:sym typeface="+mn-ea"/>
              </a:rPr>
              <a:t>（</a:t>
            </a:r>
            <a:r>
              <a:rPr lang="en-US" altLang="zh-CN" sz="3600" dirty="0">
                <a:sym typeface="+mn-ea"/>
              </a:rPr>
              <a:t>1</a:t>
            </a:r>
            <a:r>
              <a:rPr lang="zh-CN" altLang="en-US" sz="3600" dirty="0">
                <a:sym typeface="+mn-ea"/>
              </a:rPr>
              <a:t>）</a:t>
            </a:r>
            <a:r>
              <a:rPr lang="en-US" altLang="zh-CN" sz="3600" dirty="0"/>
              <a:t>MySQL</a:t>
            </a:r>
            <a:r>
              <a:rPr lang="zh-CN" altLang="en-US" sz="3600" dirty="0"/>
              <a:t>驱动程序及</a:t>
            </a:r>
            <a:r>
              <a:rPr lang="en-US" altLang="zh-CN" sz="3600" dirty="0"/>
              <a:t>URL</a:t>
            </a:r>
            <a:endParaRPr lang="zh-CN" altLang="en-US" sz="3600" dirty="0"/>
          </a:p>
        </p:txBody>
      </p:sp>
      <p:sp>
        <p:nvSpPr>
          <p:cNvPr id="21709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sz="2880" dirty="0"/>
              <a:t>MySQL</a:t>
            </a:r>
            <a:r>
              <a:rPr lang="zh-CN" altLang="en-US" sz="2880" dirty="0"/>
              <a:t>驱动程序及</a:t>
            </a:r>
            <a:r>
              <a:rPr lang="en-US" altLang="zh-CN" sz="2880" dirty="0"/>
              <a:t>URL</a:t>
            </a:r>
            <a:r>
              <a:rPr lang="zh-CN" altLang="en-US" sz="2880" dirty="0"/>
              <a:t>：</a:t>
            </a:r>
          </a:p>
          <a:p>
            <a:pPr lvl="1" eaLnBrk="1" hangingPunct="1"/>
            <a:r>
              <a:rPr lang="zh-CN" altLang="en-US" dirty="0"/>
              <a:t>驱动：</a:t>
            </a:r>
            <a:r>
              <a:rPr lang="en-US" altLang="zh-CN" dirty="0"/>
              <a:t>com.mysql.jdbc.Driver </a:t>
            </a:r>
          </a:p>
          <a:p>
            <a:pPr lvl="1" eaLnBrk="1" hangingPunct="1"/>
            <a:r>
              <a:rPr lang="en-US" altLang="zh-CN" dirty="0"/>
              <a:t>url</a:t>
            </a:r>
            <a:r>
              <a:rPr lang="zh-CN" altLang="en-US" dirty="0"/>
              <a:t>：</a:t>
            </a:r>
            <a:r>
              <a:rPr lang="en-US" altLang="zh-CN" dirty="0"/>
              <a:t>jdbc:mysql://127.0.0.1:3306/myfriend</a:t>
            </a:r>
          </a:p>
          <a:p>
            <a:pPr lvl="0" eaLnBrk="1" hangingPunct="1"/>
            <a:r>
              <a:rPr lang="zh-CN" altLang="en-US" sz="2880" dirty="0"/>
              <a:t>实例</a:t>
            </a:r>
          </a:p>
        </p:txBody>
      </p:sp>
      <p:sp>
        <p:nvSpPr>
          <p:cNvPr id="217093" name="Text Box 4"/>
          <p:cNvSpPr txBox="1"/>
          <p:nvPr/>
        </p:nvSpPr>
        <p:spPr>
          <a:xfrm>
            <a:off x="1847850" y="3500438"/>
            <a:ext cx="8569325" cy="230695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</a:rPr>
              <a:t>&lt;% 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Class.forName("com.mysql.jdbc.Driver");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Connection con=java.sql.DriverManager.getConnection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</a:rPr>
              <a:t>          ("jdbc:mysql://127.0.0.1:3306/myfriend","root","123456"); 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Statement stmt=con.createStatement(); 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ResultSet rst=stmt.executeQuery("select * from myfriend");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</a:rPr>
              <a:t>%&gt;</a:t>
            </a:r>
          </a:p>
        </p:txBody>
      </p:sp>
    </p:spTree>
    <p:custDataLst>
      <p:tags r:id="rId1"/>
    </p:custDataLst>
  </p:cSld>
  <p:clrMapOvr>
    <a:masterClrMapping/>
  </p:clrMapOvr>
  <p:transition advTm="61249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+mn-lt"/>
                <a:ea typeface="+mn-ea"/>
                <a:sym typeface="+mn-ea"/>
              </a:rPr>
              <a:t>2.2.4 </a:t>
            </a:r>
            <a:r>
              <a:rPr lang="zh-CN" altLang="en-US" dirty="0">
                <a:latin typeface="+mn-lt"/>
                <a:ea typeface="+mn-ea"/>
                <a:sym typeface="+mn-ea"/>
              </a:rPr>
              <a:t>其他类型数据库的驱动程序</a:t>
            </a:r>
            <a:br>
              <a:rPr lang="en-US" altLang="zh-CN" dirty="0">
                <a:latin typeface="+mn-lt"/>
                <a:ea typeface="+mn-ea"/>
                <a:sym typeface="+mn-ea"/>
              </a:rPr>
            </a:br>
            <a:r>
              <a:rPr lang="zh-CN" altLang="en-US" dirty="0">
                <a:latin typeface="+mn-lt"/>
                <a:ea typeface="+mn-ea"/>
                <a:sym typeface="+mn-ea"/>
              </a:rPr>
              <a:t>（</a:t>
            </a:r>
            <a:r>
              <a:rPr lang="en-US" altLang="zh-CN" dirty="0">
                <a:latin typeface="+mn-lt"/>
                <a:ea typeface="+mn-ea"/>
                <a:sym typeface="+mn-ea"/>
              </a:rPr>
              <a:t>2</a:t>
            </a:r>
            <a:r>
              <a:rPr lang="zh-CN" altLang="en-US" dirty="0">
                <a:latin typeface="+mn-lt"/>
                <a:ea typeface="+mn-ea"/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SQL Server</a:t>
            </a:r>
            <a:r>
              <a:rPr lang="zh-CN" altLang="en-US" dirty="0">
                <a:sym typeface="+mn-ea"/>
              </a:rPr>
              <a:t>驱动程序及</a:t>
            </a:r>
            <a:r>
              <a:rPr lang="en-US" altLang="zh-CN" dirty="0">
                <a:sym typeface="+mn-ea"/>
              </a:rPr>
              <a:t>URL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sym typeface="+mn-ea"/>
              </a:rPr>
              <a:t>SQL Server</a:t>
            </a:r>
            <a:r>
              <a:rPr lang="zh-CN" altLang="en-US" sz="2800" dirty="0">
                <a:sym typeface="+mn-ea"/>
              </a:rPr>
              <a:t>驱动程序及</a:t>
            </a:r>
            <a:r>
              <a:rPr lang="en-US" altLang="zh-CN" sz="2800" dirty="0">
                <a:sym typeface="+mn-ea"/>
              </a:rPr>
              <a:t>URL</a:t>
            </a:r>
            <a:r>
              <a:rPr lang="zh-CN" altLang="en-US" sz="2800" dirty="0">
                <a:sym typeface="+mn-ea"/>
              </a:rPr>
              <a:t>：</a:t>
            </a:r>
            <a:endParaRPr lang="zh-CN" altLang="en-US" sz="2800" dirty="0">
              <a:latin typeface="+mn-lt"/>
              <a:ea typeface="+mn-ea"/>
            </a:endParaRPr>
          </a:p>
          <a:p>
            <a:pPr lvl="1"/>
            <a:r>
              <a:rPr lang="zh-CN" altLang="en-US" sz="2600" dirty="0">
                <a:sym typeface="+mn-ea"/>
              </a:rPr>
              <a:t>驱动：</a:t>
            </a:r>
            <a:r>
              <a:rPr lang="en-US" altLang="zh-CN" sz="2600" dirty="0">
                <a:sym typeface="+mn-ea"/>
              </a:rPr>
              <a:t>com.microsoft.sqlserver.jdbc.SQLServerDriver </a:t>
            </a:r>
            <a:endParaRPr lang="en-US" altLang="zh-CN" sz="2600" dirty="0">
              <a:latin typeface="+mn-lt"/>
              <a:ea typeface="+mn-ea"/>
            </a:endParaRPr>
          </a:p>
          <a:p>
            <a:pPr lvl="1"/>
            <a:r>
              <a:rPr lang="en-US" altLang="zh-CN" sz="2600" dirty="0">
                <a:sym typeface="+mn-ea"/>
              </a:rPr>
              <a:t>url</a:t>
            </a:r>
            <a:r>
              <a:rPr lang="zh-CN" altLang="en-US" sz="2600" dirty="0">
                <a:sym typeface="+mn-ea"/>
              </a:rPr>
              <a:t>：</a:t>
            </a:r>
            <a:r>
              <a:rPr lang="en-US" altLang="zh-CN" sz="2600" dirty="0">
                <a:sym typeface="+mn-ea"/>
              </a:rPr>
              <a:t>jdbc:sqlserver://localhost:1433; databaseName=myfriend;user=root; password=12345678;</a:t>
            </a:r>
            <a:endParaRPr lang="en-US" altLang="zh-CN" sz="2600" dirty="0">
              <a:latin typeface="+mn-lt"/>
              <a:ea typeface="+mn-ea"/>
            </a:endParaRPr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833"/>
    </mc:Choice>
    <mc:Fallback xmlns="">
      <p:transition spd="slow" advTm="17833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r>
              <a:rPr lang="en-US" altLang="zh-CN" sz="3600" dirty="0">
                <a:sym typeface="+mn-ea"/>
              </a:rPr>
              <a:t>2.2.4 </a:t>
            </a:r>
            <a:r>
              <a:rPr lang="zh-CN" altLang="en-US" sz="3600" dirty="0">
                <a:sym typeface="+mn-ea"/>
              </a:rPr>
              <a:t>其他类型数据库的驱动程序</a:t>
            </a:r>
            <a:br>
              <a:rPr lang="en-US" altLang="zh-CN" sz="3600" dirty="0">
                <a:sym typeface="+mn-ea"/>
              </a:rPr>
            </a:br>
            <a:r>
              <a:rPr lang="zh-CN" altLang="en-US" sz="3600" dirty="0">
                <a:sym typeface="+mn-ea"/>
              </a:rPr>
              <a:t>（</a:t>
            </a:r>
            <a:r>
              <a:rPr lang="en-US" altLang="zh-CN" sz="3600" dirty="0">
                <a:sym typeface="+mn-ea"/>
              </a:rPr>
              <a:t>3</a:t>
            </a:r>
            <a:r>
              <a:rPr lang="zh-CN" altLang="en-US" sz="3600" dirty="0">
                <a:sym typeface="+mn-ea"/>
              </a:rPr>
              <a:t>）</a:t>
            </a:r>
            <a:r>
              <a:rPr lang="en-US" altLang="zh-CN" sz="3600" dirty="0"/>
              <a:t>Oracle</a:t>
            </a:r>
            <a:r>
              <a:rPr lang="zh-CN" altLang="en-US" sz="3600" dirty="0"/>
              <a:t>驱动程序及</a:t>
            </a:r>
            <a:r>
              <a:rPr lang="en-US" altLang="zh-CN" sz="3600" dirty="0"/>
              <a:t>URL</a:t>
            </a:r>
            <a:endParaRPr lang="zh-CN" altLang="en-US" sz="3600" dirty="0"/>
          </a:p>
        </p:txBody>
      </p:sp>
      <p:sp>
        <p:nvSpPr>
          <p:cNvPr id="21914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>
            <a:normAutofit/>
          </a:bodyPr>
          <a:lstStyle/>
          <a:p>
            <a:r>
              <a:rPr lang="en-US" altLang="zh-CN" sz="2800" dirty="0"/>
              <a:t>Oracle</a:t>
            </a:r>
            <a:r>
              <a:rPr lang="zh-CN" altLang="en-US" sz="2800" dirty="0"/>
              <a:t>驱动程序及</a:t>
            </a:r>
            <a:r>
              <a:rPr lang="en-US" altLang="zh-CN" sz="2800" dirty="0"/>
              <a:t>URL</a:t>
            </a:r>
            <a:r>
              <a:rPr lang="zh-CN" altLang="en-US" sz="2800" dirty="0"/>
              <a:t>：</a:t>
            </a:r>
          </a:p>
          <a:p>
            <a:pPr lvl="1"/>
            <a:r>
              <a:rPr lang="zh-CN" altLang="en-US" sz="2800" dirty="0"/>
              <a:t>驱动：</a:t>
            </a:r>
            <a:r>
              <a:rPr lang="en-US" altLang="zh-CN" sz="2800" dirty="0"/>
              <a:t>oracle.jdbc.driver.OracleDriver  </a:t>
            </a:r>
          </a:p>
          <a:p>
            <a:pPr lvl="1"/>
            <a:r>
              <a:rPr lang="en-US" altLang="zh-CN" sz="2800" dirty="0"/>
              <a:t>url</a:t>
            </a:r>
            <a:r>
              <a:rPr lang="zh-CN" altLang="en-US" sz="2800" dirty="0"/>
              <a:t>：</a:t>
            </a:r>
            <a:r>
              <a:rPr lang="en-US" altLang="zh-CN" sz="2800" dirty="0"/>
              <a:t>jdbc:oracle:thin@127.0.0.1:myfriend</a:t>
            </a:r>
          </a:p>
          <a:p>
            <a:r>
              <a:rPr lang="zh-CN" altLang="en-US" sz="2800" dirty="0"/>
              <a:t>实例</a:t>
            </a:r>
            <a:r>
              <a:rPr lang="en-US" altLang="zh-CN" sz="2800" dirty="0"/>
              <a:t> </a:t>
            </a:r>
          </a:p>
        </p:txBody>
      </p:sp>
      <p:sp>
        <p:nvSpPr>
          <p:cNvPr id="219141" name="Text Box 4"/>
          <p:cNvSpPr txBox="1"/>
          <p:nvPr/>
        </p:nvSpPr>
        <p:spPr>
          <a:xfrm>
            <a:off x="1811337" y="3738977"/>
            <a:ext cx="8569325" cy="230695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</a:rPr>
              <a:t>&lt;% 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Class.forName("oracle.jdbc.driver.OracleDriver");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Connection con=java.sql.DriverManager.getConnection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</a:rPr>
              <a:t>          (" jdbc:oracle:thin@127.0.0.1:myfriend ","root","123456"); 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Statement stmt=con.createStatement(); 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ResultSet rst=stmt.executeQuery("select * from myfriend");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</a:rPr>
              <a:t>%&gt;</a:t>
            </a:r>
          </a:p>
        </p:txBody>
      </p:sp>
    </p:spTree>
    <p:custDataLst>
      <p:tags r:id="rId1"/>
    </p:custDataLst>
  </p:cSld>
  <p:clrMapOvr>
    <a:masterClrMapping/>
  </p:clrMapOvr>
  <p:transition advTm="830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846186" y="1692170"/>
            <a:ext cx="2171334" cy="3770263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>
            <a:defPPr>
              <a:defRPr lang="zh-CN"/>
            </a:defPPr>
            <a:lvl1pPr>
              <a:defRPr sz="23900" b="1">
                <a:solidFill>
                  <a:schemeClr val="bg1">
                    <a:lumMod val="50000"/>
                  </a:schemeClr>
                </a:solidFill>
                <a:latin typeface="+mj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39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</a:rPr>
              <a:t>3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ym typeface="+mn-ea"/>
              </a:rPr>
              <a:t>连接池、 DataSource</a:t>
            </a:r>
            <a:endParaRPr lang="zh-CN" altLang="en-US" dirty="0">
              <a:effectLst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23"/>
    </mc:Choice>
    <mc:Fallback xmlns="">
      <p:transition spd="slow" advTm="3223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3.1 </a:t>
            </a:r>
            <a:r>
              <a:rPr lang="zh-CN" altLang="en-US" dirty="0">
                <a:sym typeface="+mn-ea"/>
              </a:rPr>
              <a:t>数据库连接池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传统的</a:t>
            </a:r>
            <a:r>
              <a:rPr lang="en-US" altLang="zh-CN" dirty="0"/>
              <a:t>JDBC API</a:t>
            </a:r>
            <a:r>
              <a:rPr lang="zh-CN" altLang="en-US" dirty="0"/>
              <a:t>访问数据库时，需要频繁建立数据库连接</a:t>
            </a:r>
            <a:r>
              <a:rPr lang="en-US" altLang="zh-CN" dirty="0"/>
              <a:t>Connection</a:t>
            </a:r>
            <a:r>
              <a:rPr lang="zh-CN" altLang="en-US" dirty="0"/>
              <a:t>对象，导致系统的整体性能降低。</a:t>
            </a:r>
          </a:p>
          <a:p>
            <a:pPr lvl="0"/>
            <a:r>
              <a:rPr lang="zh-CN" altLang="en-US" dirty="0"/>
              <a:t>数据库连接池</a:t>
            </a:r>
            <a:r>
              <a:rPr lang="en-US" altLang="zh-CN" dirty="0"/>
              <a:t>(Connection Pool)</a:t>
            </a:r>
            <a:r>
              <a:rPr lang="zh-CN" altLang="en-US" dirty="0"/>
              <a:t>是一种数据库连接共享技术。</a:t>
            </a:r>
          </a:p>
          <a:p>
            <a:pPr lvl="0"/>
            <a:r>
              <a:rPr lang="zh-CN" altLang="en-US" dirty="0"/>
              <a:t>数据库连接池的基本思想是，为数据库连接建立一个“缓冲池”，即初始化连接池时，在缓冲池中创建一定数量的数据库连接。当应用组件需要获取数据库连接时，只需从缓冲池中取出一个，使用完毕之后再释放到连接池中。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145"/>
    </mc:Choice>
    <mc:Fallback xmlns="">
      <p:transition spd="slow" advTm="31145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3.1.1 </a:t>
            </a:r>
            <a:r>
              <a:rPr lang="zh-CN" altLang="en-US" dirty="0">
                <a:sym typeface="+mn-ea"/>
              </a:rPr>
              <a:t>数据库连接池功能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ym typeface="+mn-ea"/>
              </a:rPr>
              <a:t>数据库连接池在初始化时，创建一定数量的数据库连接，其数量由最小数据库连接数来设定。无论这些数据库连接是否被使用，连接池都将一直保证至少拥有这些连接。</a:t>
            </a:r>
            <a:endParaRPr lang="zh-CN" altLang="en-US" sz="2800" dirty="0">
              <a:latin typeface="+mn-lt"/>
              <a:ea typeface="+mn-ea"/>
            </a:endParaRPr>
          </a:p>
          <a:p>
            <a:r>
              <a:rPr lang="zh-CN" altLang="en-US" sz="2800" dirty="0">
                <a:sym typeface="+mn-ea"/>
              </a:rPr>
              <a:t>连接池的最大数据库连接数量，限定了连接池能建立的最大连接数，当应用程序向连接池请求的连接数，超过最大连接数量时，这些请求将被加入到等待队列中。 </a:t>
            </a:r>
            <a:endParaRPr lang="zh-CN" altLang="en-US" sz="2800" dirty="0">
              <a:latin typeface="+mn-lt"/>
              <a:ea typeface="+mn-ea"/>
            </a:endParaRPr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963"/>
    </mc:Choice>
    <mc:Fallback xmlns="">
      <p:transition spd="slow" advTm="24963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en-US" altLang="zh-CN" sz="3600" dirty="0">
                <a:sym typeface="+mn-ea"/>
              </a:rPr>
              <a:t>3.1.2 </a:t>
            </a:r>
            <a:r>
              <a:rPr lang="zh-CN" altLang="en-US" sz="3600" dirty="0">
                <a:sym typeface="+mn-ea"/>
              </a:rPr>
              <a:t>数据库连接池结构图</a:t>
            </a:r>
            <a:endParaRPr lang="zh-CN" altLang="en-US" sz="3600" dirty="0"/>
          </a:p>
        </p:txBody>
      </p:sp>
      <p:sp>
        <p:nvSpPr>
          <p:cNvPr id="22221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zh-CN" altLang="en-US" dirty="0"/>
          </a:p>
        </p:txBody>
      </p:sp>
      <p:sp>
        <p:nvSpPr>
          <p:cNvPr id="222213" name="Oval 4"/>
          <p:cNvSpPr/>
          <p:nvPr/>
        </p:nvSpPr>
        <p:spPr>
          <a:xfrm>
            <a:off x="2424113" y="1916113"/>
            <a:ext cx="3600450" cy="3241675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2214" name="Oval 5"/>
          <p:cNvSpPr/>
          <p:nvPr/>
        </p:nvSpPr>
        <p:spPr>
          <a:xfrm>
            <a:off x="4008438" y="2205038"/>
            <a:ext cx="431800" cy="4318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2215" name="Oval 6"/>
          <p:cNvSpPr/>
          <p:nvPr/>
        </p:nvSpPr>
        <p:spPr>
          <a:xfrm>
            <a:off x="3359150" y="2565400"/>
            <a:ext cx="431800" cy="4318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2216" name="Oval 7"/>
          <p:cNvSpPr/>
          <p:nvPr/>
        </p:nvSpPr>
        <p:spPr>
          <a:xfrm>
            <a:off x="3143250" y="3644900"/>
            <a:ext cx="431800" cy="4318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2217" name="Oval 8"/>
          <p:cNvSpPr/>
          <p:nvPr/>
        </p:nvSpPr>
        <p:spPr>
          <a:xfrm>
            <a:off x="4224338" y="3789363"/>
            <a:ext cx="431800" cy="4318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2218" name="Oval 9"/>
          <p:cNvSpPr/>
          <p:nvPr/>
        </p:nvSpPr>
        <p:spPr>
          <a:xfrm>
            <a:off x="4511675" y="3068638"/>
            <a:ext cx="431800" cy="4318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2219" name="Oval 10"/>
          <p:cNvSpPr/>
          <p:nvPr/>
        </p:nvSpPr>
        <p:spPr>
          <a:xfrm>
            <a:off x="5087938" y="3644900"/>
            <a:ext cx="431800" cy="4318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2220" name="Rectangle 11"/>
          <p:cNvSpPr/>
          <p:nvPr/>
        </p:nvSpPr>
        <p:spPr>
          <a:xfrm>
            <a:off x="7032625" y="2276475"/>
            <a:ext cx="1800225" cy="50482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 wrap="none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</a:rPr>
              <a:t>Web</a:t>
            </a:r>
            <a:r>
              <a:rPr lang="zh-CN" altLang="en-US" dirty="0">
                <a:latin typeface="Arial" panose="020B0604020202020204" pitchFamily="34" charset="0"/>
              </a:rPr>
              <a:t>组件</a:t>
            </a:r>
          </a:p>
        </p:txBody>
      </p:sp>
      <p:sp>
        <p:nvSpPr>
          <p:cNvPr id="1689612" name="Freeform 12"/>
          <p:cNvSpPr/>
          <p:nvPr/>
        </p:nvSpPr>
        <p:spPr>
          <a:xfrm>
            <a:off x="5591175" y="2482850"/>
            <a:ext cx="1441450" cy="514350"/>
          </a:xfrm>
          <a:custGeom>
            <a:avLst/>
            <a:gdLst>
              <a:gd name="txL" fmla="*/ 0 w 771"/>
              <a:gd name="txT" fmla="*/ 0 h 233"/>
              <a:gd name="txR" fmla="*/ 771 w 771"/>
              <a:gd name="txB" fmla="*/ 233 h 233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771" h="233">
                <a:moveTo>
                  <a:pt x="0" y="233"/>
                </a:moveTo>
                <a:cubicBezTo>
                  <a:pt x="139" y="161"/>
                  <a:pt x="279" y="90"/>
                  <a:pt x="408" y="52"/>
                </a:cubicBezTo>
                <a:cubicBezTo>
                  <a:pt x="537" y="14"/>
                  <a:pt x="718" y="0"/>
                  <a:pt x="771" y="7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89613" name="Freeform 13"/>
          <p:cNvSpPr/>
          <p:nvPr/>
        </p:nvSpPr>
        <p:spPr>
          <a:xfrm>
            <a:off x="5591175" y="2781300"/>
            <a:ext cx="2449513" cy="503238"/>
          </a:xfrm>
          <a:custGeom>
            <a:avLst/>
            <a:gdLst>
              <a:gd name="txL" fmla="*/ 0 w 1270"/>
              <a:gd name="txT" fmla="*/ 0 h 317"/>
              <a:gd name="txR" fmla="*/ 1270 w 1270"/>
              <a:gd name="txB" fmla="*/ 317 h 317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1270" h="317">
                <a:moveTo>
                  <a:pt x="1270" y="0"/>
                </a:moveTo>
                <a:cubicBezTo>
                  <a:pt x="1126" y="87"/>
                  <a:pt x="983" y="174"/>
                  <a:pt x="771" y="227"/>
                </a:cubicBezTo>
                <a:cubicBezTo>
                  <a:pt x="559" y="280"/>
                  <a:pt x="279" y="298"/>
                  <a:pt x="0" y="317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2223" name="Text Box 14"/>
          <p:cNvSpPr txBox="1"/>
          <p:nvPr/>
        </p:nvSpPr>
        <p:spPr>
          <a:xfrm>
            <a:off x="3287713" y="4646613"/>
            <a:ext cx="1871662" cy="3683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连接池</a:t>
            </a:r>
          </a:p>
        </p:txBody>
      </p:sp>
      <p:sp>
        <p:nvSpPr>
          <p:cNvPr id="222224" name="Oval 15"/>
          <p:cNvSpPr/>
          <p:nvPr/>
        </p:nvSpPr>
        <p:spPr>
          <a:xfrm>
            <a:off x="5232400" y="2925763"/>
            <a:ext cx="431800" cy="4318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89616" name="Text Box 16"/>
          <p:cNvSpPr txBox="1"/>
          <p:nvPr/>
        </p:nvSpPr>
        <p:spPr>
          <a:xfrm>
            <a:off x="5303838" y="2205038"/>
            <a:ext cx="1871662" cy="3683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获取连接</a:t>
            </a:r>
          </a:p>
        </p:txBody>
      </p:sp>
      <p:sp>
        <p:nvSpPr>
          <p:cNvPr id="1689617" name="Text Box 17"/>
          <p:cNvSpPr txBox="1"/>
          <p:nvPr/>
        </p:nvSpPr>
        <p:spPr>
          <a:xfrm>
            <a:off x="6167438" y="3213100"/>
            <a:ext cx="1871662" cy="3683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释放连接</a:t>
            </a:r>
          </a:p>
        </p:txBody>
      </p:sp>
      <p:sp>
        <p:nvSpPr>
          <p:cNvPr id="1689618" name="Oval 18"/>
          <p:cNvSpPr/>
          <p:nvPr/>
        </p:nvSpPr>
        <p:spPr>
          <a:xfrm>
            <a:off x="5232400" y="2924175"/>
            <a:ext cx="431800" cy="431800"/>
          </a:xfrm>
          <a:prstGeom prst="ellipse">
            <a:avLst/>
          </a:prstGeom>
          <a:solidFill>
            <a:schemeClr val="hlink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89619" name="Oval 19"/>
          <p:cNvSpPr/>
          <p:nvPr/>
        </p:nvSpPr>
        <p:spPr>
          <a:xfrm>
            <a:off x="4008438" y="2205038"/>
            <a:ext cx="431800" cy="431800"/>
          </a:xfrm>
          <a:prstGeom prst="ellipse">
            <a:avLst/>
          </a:prstGeom>
          <a:solidFill>
            <a:schemeClr val="hlink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89620" name="Oval 20"/>
          <p:cNvSpPr/>
          <p:nvPr/>
        </p:nvSpPr>
        <p:spPr>
          <a:xfrm>
            <a:off x="3359150" y="2565400"/>
            <a:ext cx="431800" cy="431800"/>
          </a:xfrm>
          <a:prstGeom prst="ellipse">
            <a:avLst/>
          </a:prstGeom>
          <a:solidFill>
            <a:schemeClr val="hlink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89621" name="Oval 21"/>
          <p:cNvSpPr/>
          <p:nvPr/>
        </p:nvSpPr>
        <p:spPr>
          <a:xfrm>
            <a:off x="3143250" y="3644900"/>
            <a:ext cx="431800" cy="431800"/>
          </a:xfrm>
          <a:prstGeom prst="ellipse">
            <a:avLst/>
          </a:prstGeom>
          <a:solidFill>
            <a:schemeClr val="hlink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89622" name="Oval 22"/>
          <p:cNvSpPr/>
          <p:nvPr/>
        </p:nvSpPr>
        <p:spPr>
          <a:xfrm>
            <a:off x="4224338" y="3789363"/>
            <a:ext cx="431800" cy="431800"/>
          </a:xfrm>
          <a:prstGeom prst="ellipse">
            <a:avLst/>
          </a:prstGeom>
          <a:solidFill>
            <a:schemeClr val="hlink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89623" name="Oval 23"/>
          <p:cNvSpPr/>
          <p:nvPr/>
        </p:nvSpPr>
        <p:spPr>
          <a:xfrm>
            <a:off x="4511675" y="3068638"/>
            <a:ext cx="431800" cy="431800"/>
          </a:xfrm>
          <a:prstGeom prst="ellipse">
            <a:avLst/>
          </a:prstGeom>
          <a:solidFill>
            <a:schemeClr val="hlink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89624" name="Oval 24"/>
          <p:cNvSpPr/>
          <p:nvPr/>
        </p:nvSpPr>
        <p:spPr>
          <a:xfrm>
            <a:off x="5087938" y="3644900"/>
            <a:ext cx="431800" cy="431800"/>
          </a:xfrm>
          <a:prstGeom prst="ellipse">
            <a:avLst/>
          </a:prstGeom>
          <a:solidFill>
            <a:schemeClr val="hlink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2234" name="Rectangle 25"/>
          <p:cNvSpPr/>
          <p:nvPr/>
        </p:nvSpPr>
        <p:spPr>
          <a:xfrm>
            <a:off x="8183563" y="3933825"/>
            <a:ext cx="1800225" cy="50482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 wrap="none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</a:rPr>
              <a:t>Web</a:t>
            </a:r>
            <a:r>
              <a:rPr lang="zh-CN" altLang="en-US" dirty="0">
                <a:latin typeface="Arial" panose="020B0604020202020204" pitchFamily="34" charset="0"/>
              </a:rPr>
              <a:t>组件</a:t>
            </a:r>
          </a:p>
        </p:txBody>
      </p:sp>
      <p:sp>
        <p:nvSpPr>
          <p:cNvPr id="1689626" name="Freeform 26"/>
          <p:cNvSpPr/>
          <p:nvPr/>
        </p:nvSpPr>
        <p:spPr>
          <a:xfrm>
            <a:off x="5014913" y="4221163"/>
            <a:ext cx="3168650" cy="288925"/>
          </a:xfrm>
          <a:custGeom>
            <a:avLst/>
            <a:gdLst>
              <a:gd name="txL" fmla="*/ 0 w 771"/>
              <a:gd name="txT" fmla="*/ 0 h 233"/>
              <a:gd name="txR" fmla="*/ 771 w 771"/>
              <a:gd name="txB" fmla="*/ 233 h 233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771" h="233">
                <a:moveTo>
                  <a:pt x="0" y="233"/>
                </a:moveTo>
                <a:cubicBezTo>
                  <a:pt x="139" y="161"/>
                  <a:pt x="279" y="90"/>
                  <a:pt x="408" y="52"/>
                </a:cubicBezTo>
                <a:cubicBezTo>
                  <a:pt x="537" y="14"/>
                  <a:pt x="718" y="0"/>
                  <a:pt x="771" y="7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89627" name="Freeform 27"/>
          <p:cNvSpPr/>
          <p:nvPr/>
        </p:nvSpPr>
        <p:spPr>
          <a:xfrm>
            <a:off x="5087938" y="4437063"/>
            <a:ext cx="3313112" cy="287337"/>
          </a:xfrm>
          <a:custGeom>
            <a:avLst/>
            <a:gdLst>
              <a:gd name="txL" fmla="*/ 0 w 1270"/>
              <a:gd name="txT" fmla="*/ 0 h 317"/>
              <a:gd name="txR" fmla="*/ 1270 w 1270"/>
              <a:gd name="txB" fmla="*/ 317 h 317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txL" t="txT" r="txR" b="txB"/>
            <a:pathLst>
              <a:path w="1270" h="317">
                <a:moveTo>
                  <a:pt x="1270" y="0"/>
                </a:moveTo>
                <a:cubicBezTo>
                  <a:pt x="1126" y="87"/>
                  <a:pt x="983" y="174"/>
                  <a:pt x="771" y="227"/>
                </a:cubicBezTo>
                <a:cubicBezTo>
                  <a:pt x="559" y="280"/>
                  <a:pt x="279" y="298"/>
                  <a:pt x="0" y="317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89628" name="Oval 28"/>
          <p:cNvSpPr/>
          <p:nvPr/>
        </p:nvSpPr>
        <p:spPr>
          <a:xfrm>
            <a:off x="4656138" y="4437063"/>
            <a:ext cx="431800" cy="4318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med"/>
          </a:ln>
        </p:spPr>
        <p:txBody>
          <a:bodyPr wrap="none" anchor="ctr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89629" name="Text Box 29"/>
          <p:cNvSpPr txBox="1"/>
          <p:nvPr/>
        </p:nvSpPr>
        <p:spPr>
          <a:xfrm>
            <a:off x="5808663" y="3789363"/>
            <a:ext cx="1871662" cy="3683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获取连接</a:t>
            </a:r>
          </a:p>
        </p:txBody>
      </p:sp>
      <p:sp>
        <p:nvSpPr>
          <p:cNvPr id="1689630" name="Text Box 30"/>
          <p:cNvSpPr txBox="1"/>
          <p:nvPr/>
        </p:nvSpPr>
        <p:spPr>
          <a:xfrm>
            <a:off x="5951538" y="4581525"/>
            <a:ext cx="1871662" cy="3683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释放连接</a:t>
            </a:r>
          </a:p>
        </p:txBody>
      </p:sp>
    </p:spTree>
    <p:custDataLst>
      <p:tags r:id="rId1"/>
    </p:custDataLst>
  </p:cSld>
  <p:clrMapOvr>
    <a:masterClrMapping/>
  </p:clrMapOvr>
  <p:transition advTm="1316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4" dur="1000" fill="hold"/>
                                        <p:tgtEl>
                                          <p:spTgt spid="168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12" grpId="0" bldLvl="0" animBg="1"/>
      <p:bldP spid="1689613" grpId="0" bldLvl="0" animBg="1"/>
      <p:bldP spid="1689616" grpId="0"/>
      <p:bldP spid="1689617" grpId="0"/>
      <p:bldP spid="1689618" grpId="0" bldLvl="0" animBg="1"/>
      <p:bldP spid="1689618" grpId="1" bldLvl="0" animBg="1"/>
      <p:bldP spid="1689618" grpId="2" bldLvl="0" animBg="1"/>
      <p:bldP spid="1689618" grpId="3" bldLvl="0" animBg="1"/>
      <p:bldP spid="1689619" grpId="0" bldLvl="0" animBg="1"/>
      <p:bldP spid="1689620" grpId="0" bldLvl="0" animBg="1"/>
      <p:bldP spid="1689621" grpId="0" bldLvl="0" animBg="1"/>
      <p:bldP spid="1689622" grpId="0" bldLvl="0" animBg="1"/>
      <p:bldP spid="1689623" grpId="0" bldLvl="0" animBg="1"/>
      <p:bldP spid="1689624" grpId="0" bldLvl="0" animBg="1"/>
      <p:bldP spid="1689626" grpId="0" bldLvl="0" animBg="1"/>
      <p:bldP spid="1689627" grpId="0" bldLvl="0" animBg="1"/>
      <p:bldP spid="1689628" grpId="0" bldLvl="0" animBg="1"/>
      <p:bldP spid="1689629" grpId="0"/>
      <p:bldP spid="168963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en-US" altLang="zh-CN" sz="3600" dirty="0">
                <a:sym typeface="+mn-ea"/>
              </a:rPr>
              <a:t>3.2 </a:t>
            </a:r>
            <a:r>
              <a:rPr lang="zh-CN" altLang="en-US" sz="3600" dirty="0">
                <a:sym typeface="+mn-ea"/>
              </a:rPr>
              <a:t>数据库连接池应用</a:t>
            </a:r>
            <a:br>
              <a:rPr lang="en-US" altLang="zh-CN" sz="3600" dirty="0">
                <a:sym typeface="+mn-ea"/>
              </a:rPr>
            </a:br>
            <a:r>
              <a:rPr lang="en-US" altLang="zh-CN" sz="3600" dirty="0">
                <a:sym typeface="+mn-ea"/>
              </a:rPr>
              <a:t>3.2.1</a:t>
            </a:r>
            <a:r>
              <a:rPr lang="zh-CN" altLang="en-US" sz="3600" dirty="0">
                <a:sym typeface="+mn-ea"/>
              </a:rPr>
              <a:t> 实例创建类</a:t>
            </a:r>
            <a:endParaRPr lang="zh-CN" altLang="en-US" sz="3600" dirty="0"/>
          </a:p>
        </p:txBody>
      </p:sp>
      <p:sp>
        <p:nvSpPr>
          <p:cNvPr id="22323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sz="2880" dirty="0"/>
              <a:t>下面的代码提供了一个简单的数据库连接池，利用它可以实现高效的数据库连接操作。</a:t>
            </a:r>
          </a:p>
        </p:txBody>
      </p:sp>
      <p:sp>
        <p:nvSpPr>
          <p:cNvPr id="223237" name="Text Box 4"/>
          <p:cNvSpPr txBox="1"/>
          <p:nvPr/>
        </p:nvSpPr>
        <p:spPr>
          <a:xfrm>
            <a:off x="1811655" y="2854008"/>
            <a:ext cx="8569325" cy="369252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package db;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import java.util.*;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import java.sql.*;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public class ConnectionPool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private Vector&lt;Connection&gt; pool;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private int poolSize = 10;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private static ConnectionPool instance = null;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public static ConnectionPool getInstance()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if (instance == null)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instance = new ConnectionPool();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return instance;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}</a:t>
            </a:r>
          </a:p>
        </p:txBody>
      </p:sp>
    </p:spTree>
    <p:custDataLst>
      <p:tags r:id="rId1"/>
    </p:custDataLst>
  </p:cSld>
  <p:clrMapOvr>
    <a:masterClrMapping/>
  </p:clrMapOvr>
  <p:transition advTm="54663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en-US" altLang="zh-CN" sz="3600" dirty="0">
                <a:sym typeface="+mn-ea"/>
              </a:rPr>
              <a:t>3.2.1</a:t>
            </a:r>
            <a:r>
              <a:rPr lang="zh-CN" altLang="en-US" sz="3600" dirty="0">
                <a:sym typeface="+mn-ea"/>
              </a:rPr>
              <a:t> 实例创建类（</a:t>
            </a:r>
            <a:r>
              <a:rPr lang="en-US" altLang="zh-CN" sz="3600" dirty="0">
                <a:sym typeface="+mn-ea"/>
              </a:rPr>
              <a:t>cont.</a:t>
            </a:r>
            <a:r>
              <a:rPr lang="zh-CN" altLang="en-US" sz="3600" dirty="0">
                <a:sym typeface="+mn-ea"/>
              </a:rPr>
              <a:t>）</a:t>
            </a:r>
            <a:endParaRPr lang="zh-CN" altLang="en-US" sz="3600" dirty="0"/>
          </a:p>
        </p:txBody>
      </p:sp>
      <p:sp>
        <p:nvSpPr>
          <p:cNvPr id="22426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en-US" altLang="zh-CN" dirty="0"/>
          </a:p>
        </p:txBody>
      </p:sp>
      <p:sp>
        <p:nvSpPr>
          <p:cNvPr id="224261" name="Text Box 4"/>
          <p:cNvSpPr txBox="1"/>
          <p:nvPr/>
        </p:nvSpPr>
        <p:spPr>
          <a:xfrm>
            <a:off x="1889263" y="2223108"/>
            <a:ext cx="8569325" cy="396938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    private ConnectionPool()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pool = new Vector&lt;Connection&gt;(poolSize);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Connection conn = null;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for (int i = 0; i &lt; poolSize; i++)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try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    Class.forName("com.mysql.jdbc.Driver");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    conn = DriverManager.getConnection(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       "jdbc:mysql://localhost:3306/test","root", "1234");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    pool.add(conn);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} catch (Exception e)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    e.printStackTrace();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}</a:t>
            </a:r>
          </a:p>
        </p:txBody>
      </p:sp>
    </p:spTree>
    <p:custDataLst>
      <p:tags r:id="rId1"/>
    </p:custDataLst>
  </p:cSld>
  <p:clrMapOvr>
    <a:masterClrMapping/>
  </p:clrMapOvr>
  <p:transition advTm="3134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en-US" altLang="zh-CN" sz="3600" dirty="0">
                <a:sym typeface="+mn-ea"/>
              </a:rPr>
              <a:t>3.2.1</a:t>
            </a:r>
            <a:r>
              <a:rPr lang="zh-CN" altLang="en-US" sz="3600" dirty="0">
                <a:sym typeface="+mn-ea"/>
              </a:rPr>
              <a:t> 实例创建类（</a:t>
            </a:r>
            <a:r>
              <a:rPr lang="en-US" altLang="zh-CN" sz="3600" dirty="0">
                <a:sym typeface="+mn-ea"/>
              </a:rPr>
              <a:t>cont.</a:t>
            </a:r>
            <a:r>
              <a:rPr lang="zh-CN" altLang="en-US" sz="3600" dirty="0">
                <a:sym typeface="+mn-ea"/>
              </a:rPr>
              <a:t>）</a:t>
            </a:r>
            <a:endParaRPr lang="zh-CN" altLang="en-US" sz="3600" dirty="0"/>
          </a:p>
        </p:txBody>
      </p:sp>
      <p:sp>
        <p:nvSpPr>
          <p:cNvPr id="22528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en-US" altLang="zh-CN" dirty="0"/>
          </a:p>
        </p:txBody>
      </p:sp>
      <p:sp>
        <p:nvSpPr>
          <p:cNvPr id="225285" name="Text Box 4"/>
          <p:cNvSpPr txBox="1"/>
          <p:nvPr/>
        </p:nvSpPr>
        <p:spPr>
          <a:xfrm>
            <a:off x="1740177" y="1933783"/>
            <a:ext cx="8569325" cy="369252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    public synchronized Connection getConnection() {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if (pool.size() &gt; 0)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Connection conn = pool.get(0);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pool.remove(conn);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return conn;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} else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return null;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public synchronized void release(Connection conn)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pool.add(conn);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</p:txBody>
      </p:sp>
    </p:spTree>
    <p:custDataLst>
      <p:tags r:id="rId1"/>
    </p:custDataLst>
  </p:cSld>
  <p:clrMapOvr>
    <a:masterClrMapping/>
  </p:clrMapOvr>
  <p:transition advTm="9379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r>
              <a:rPr lang="en-US" altLang="zh-CN" sz="4000" dirty="0">
                <a:sym typeface="+mn-ea"/>
              </a:rPr>
              <a:t>3.2.2</a:t>
            </a:r>
            <a:r>
              <a:rPr lang="zh-CN" altLang="en-US" sz="4000" dirty="0">
                <a:sym typeface="+mn-ea"/>
              </a:rPr>
              <a:t> 实例访问数据库</a:t>
            </a:r>
            <a:endParaRPr lang="zh-CN" altLang="en-US" sz="4000" dirty="0"/>
          </a:p>
        </p:txBody>
      </p:sp>
      <p:sp>
        <p:nvSpPr>
          <p:cNvPr id="22630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sz="2880" dirty="0"/>
              <a:t>利用以上连接池访问数据库的代码如下：</a:t>
            </a:r>
            <a:endParaRPr lang="en-US" altLang="zh-CN" sz="2880" dirty="0"/>
          </a:p>
        </p:txBody>
      </p:sp>
      <p:sp>
        <p:nvSpPr>
          <p:cNvPr id="226309" name="Text Box 4"/>
          <p:cNvSpPr txBox="1"/>
          <p:nvPr/>
        </p:nvSpPr>
        <p:spPr>
          <a:xfrm>
            <a:off x="1811020" y="2486025"/>
            <a:ext cx="8569325" cy="396938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&lt;%@ page import=</a:t>
            </a:r>
            <a:r>
              <a:rPr lang="en-US" altLang="zh-CN" i="1" dirty="0">
                <a:latin typeface="Arial" panose="020B0604020202020204" pitchFamily="34" charset="0"/>
              </a:rPr>
              <a:t>"java.sql.*" pageEncoding="UTF-8"%&gt;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&lt;%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db.ConnectionPool cp=db.ConnectionPool.getInstance();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long start=System.currentTimeMillis();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int loops=Integer.parseInt(request.getParameter("loops"));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for(int i=0;i&lt;loops;i++){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Connection cn=cp.getConnection();</a:t>
            </a:r>
          </a:p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此处应为利用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Connection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对象访问数据库代码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if  (cn!=null)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cp.release(cn);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out.print("&lt;h1&gt;</a:t>
            </a:r>
            <a:r>
              <a:rPr lang="zh-CN" altLang="en-US" dirty="0">
                <a:latin typeface="Arial" panose="020B0604020202020204" pitchFamily="34" charset="0"/>
              </a:rPr>
              <a:t>利用连接池连接</a:t>
            </a:r>
            <a:r>
              <a:rPr lang="en-US" altLang="zh-CN" dirty="0">
                <a:latin typeface="Arial" panose="020B0604020202020204" pitchFamily="34" charset="0"/>
              </a:rPr>
              <a:t>"+loops+"</a:t>
            </a:r>
            <a:r>
              <a:rPr lang="zh-CN" altLang="en-US" dirty="0">
                <a:latin typeface="Arial" panose="020B0604020202020204" pitchFamily="34" charset="0"/>
              </a:rPr>
              <a:t>次，用时</a:t>
            </a:r>
            <a:r>
              <a:rPr lang="en-US" altLang="zh-CN" dirty="0">
                <a:latin typeface="Arial" panose="020B0604020202020204" pitchFamily="34" charset="0"/>
              </a:rPr>
              <a:t>"+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(System.currentTimeMillis()-start)+"ms&lt;/h1&gt;");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%&gt;</a:t>
            </a:r>
          </a:p>
        </p:txBody>
      </p:sp>
    </p:spTree>
    <p:custDataLst>
      <p:tags r:id="rId1"/>
    </p:custDataLst>
  </p:cSld>
  <p:clrMapOvr>
    <a:masterClrMapping/>
  </p:clrMapOvr>
  <p:transition advTm="53586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r>
              <a:rPr lang="en-US" altLang="zh-CN" sz="4000" dirty="0">
                <a:sym typeface="+mn-ea"/>
              </a:rPr>
              <a:t>3.2.3</a:t>
            </a:r>
            <a:r>
              <a:rPr lang="zh-CN" altLang="en-US" sz="4000" dirty="0">
                <a:sym typeface="+mn-ea"/>
              </a:rPr>
              <a:t> 实例访问数据库（不用连接池）</a:t>
            </a:r>
            <a:endParaRPr lang="zh-CN" altLang="en-US" sz="4000" dirty="0"/>
          </a:p>
        </p:txBody>
      </p:sp>
      <p:sp>
        <p:nvSpPr>
          <p:cNvPr id="22733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sz="2400" dirty="0"/>
              <a:t>如果不用连接池，与前面代码等价的程序如下：</a:t>
            </a:r>
            <a:endParaRPr lang="en-US" altLang="zh-CN" sz="2400" dirty="0"/>
          </a:p>
        </p:txBody>
      </p:sp>
      <p:sp>
        <p:nvSpPr>
          <p:cNvPr id="227333" name="Text Box 4"/>
          <p:cNvSpPr txBox="1"/>
          <p:nvPr/>
        </p:nvSpPr>
        <p:spPr>
          <a:xfrm>
            <a:off x="1811020" y="2379345"/>
            <a:ext cx="8569325" cy="396938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&lt;%@ page import=</a:t>
            </a:r>
            <a:r>
              <a:rPr lang="en-US" altLang="zh-CN" i="1" dirty="0">
                <a:latin typeface="Arial" panose="020B0604020202020204" pitchFamily="34" charset="0"/>
              </a:rPr>
              <a:t>"java.sql.*" pageEncoding="UTF-8"%&gt;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&lt;%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long start = System.currentTimeMillis();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int loops = Integer.parseInt(request.getParameter("loops"));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Class.forName("com.mysql.jdbc.Driver");</a:t>
            </a:r>
          </a:p>
          <a:p>
            <a:r>
              <a:rPr lang="nn-NO" altLang="zh-CN" dirty="0">
                <a:latin typeface="Arial" panose="020B0604020202020204" pitchFamily="34" charset="0"/>
              </a:rPr>
              <a:t>for (int i = 0; i &lt; loops; i++) 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Connection cn= DriverManager.getConnection(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     "jdbc:mysql://localhost:3306/test", "root","12345678");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if (cn!=null)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cn.close();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out.print("&lt;h1&gt;</a:t>
            </a:r>
            <a:r>
              <a:rPr lang="zh-CN" altLang="en-US" dirty="0">
                <a:latin typeface="Arial" panose="020B0604020202020204" pitchFamily="34" charset="0"/>
              </a:rPr>
              <a:t>不用连接池连接</a:t>
            </a:r>
            <a:r>
              <a:rPr lang="en-US" altLang="zh-CN" dirty="0">
                <a:latin typeface="Arial" panose="020B0604020202020204" pitchFamily="34" charset="0"/>
              </a:rPr>
              <a:t>"+loops+"</a:t>
            </a:r>
            <a:r>
              <a:rPr lang="zh-CN" altLang="en-US" dirty="0">
                <a:latin typeface="Arial" panose="020B0604020202020204" pitchFamily="34" charset="0"/>
              </a:rPr>
              <a:t>次，用时</a:t>
            </a:r>
            <a:r>
              <a:rPr lang="en-US" altLang="zh-CN" dirty="0">
                <a:latin typeface="Arial" panose="020B0604020202020204" pitchFamily="34" charset="0"/>
              </a:rPr>
              <a:t>"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+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(System.currentTimeMillis() – start)+ "ms&lt;/h1&gt;");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%&gt;</a:t>
            </a:r>
          </a:p>
        </p:txBody>
      </p:sp>
    </p:spTree>
    <p:custDataLst>
      <p:tags r:id="rId1"/>
    </p:custDataLst>
  </p:cSld>
  <p:clrMapOvr>
    <a:masterClrMapping/>
  </p:clrMapOvr>
  <p:transition advTm="2755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3.2.4 </a:t>
            </a:r>
            <a:r>
              <a:rPr lang="zh-CN" altLang="en-US" dirty="0">
                <a:sym typeface="+mn-ea"/>
              </a:rPr>
              <a:t>数据库连接池实例运行效果</a:t>
            </a:r>
            <a:br>
              <a:rPr lang="en-US" altLang="zh-CN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）首页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4" name="图片占位符 13"/>
          <p:cNvPicPr>
            <a:picLocks noGrp="1" noChangeAspect="1"/>
          </p:cNvPicPr>
          <p:nvPr>
            <p:custDataLst>
              <p:tags r:id="rId2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2914226" y="1872297"/>
            <a:ext cx="5711882" cy="31134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30"/>
    </mc:Choice>
    <mc:Fallback xmlns="">
      <p:transition spd="slow" advTm="673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3.2.4 </a:t>
            </a:r>
            <a:r>
              <a:rPr lang="zh-CN" altLang="en-US" dirty="0">
                <a:sym typeface="+mn-ea"/>
              </a:rPr>
              <a:t>数据库连接池实例运行效果</a:t>
            </a:r>
            <a:br>
              <a:rPr lang="en-US" altLang="zh-CN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）使用连接池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/>
            <a:endParaRPr lang="zh-CN" altLang="en-US" dirty="0"/>
          </a:p>
        </p:txBody>
      </p:sp>
      <p:pic>
        <p:nvPicPr>
          <p:cNvPr id="14" name="图片占位符 13"/>
          <p:cNvPicPr>
            <a:picLocks noGrp="1" noChangeAspect="1"/>
          </p:cNvPicPr>
          <p:nvPr>
            <p:custDataLst>
              <p:tags r:id="rId2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3043434" y="1825625"/>
            <a:ext cx="5711882" cy="31134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94"/>
    </mc:Choice>
    <mc:Fallback xmlns="">
      <p:transition spd="slow" advTm="4494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3.2.4 </a:t>
            </a:r>
            <a:r>
              <a:rPr lang="zh-CN" altLang="en-US" dirty="0">
                <a:sym typeface="+mn-ea"/>
              </a:rPr>
              <a:t>数据库连接池实例运行效果</a:t>
            </a:r>
            <a:br>
              <a:rPr lang="en-US" altLang="zh-CN" dirty="0">
                <a:sym typeface="+mn-ea"/>
              </a:rPr>
            </a:b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）不使用连接池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4" name="图片占位符 13"/>
          <p:cNvPicPr>
            <a:picLocks noGrp="1" noChangeAspect="1"/>
          </p:cNvPicPr>
          <p:nvPr>
            <p:custDataLst>
              <p:tags r:id="rId2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2705505" y="1825625"/>
            <a:ext cx="5711882" cy="31134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11"/>
    </mc:Choice>
    <mc:Fallback xmlns="">
      <p:transition spd="slow" advTm="591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3.3 J2EE</a:t>
            </a:r>
            <a:r>
              <a:rPr lang="zh-CN" altLang="en-US" dirty="0">
                <a:sym typeface="+mn-ea"/>
              </a:rPr>
              <a:t>中数据库连接池的使用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0" lvl="1" indent="-228600" eaLnBrk="1" hangingPunct="1"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ym typeface="+mn-ea"/>
              </a:rPr>
              <a:t>JDK</a:t>
            </a:r>
            <a:r>
              <a:rPr lang="zh-CN" altLang="en-US" sz="2400" dirty="0">
                <a:sym typeface="+mn-ea"/>
              </a:rPr>
              <a:t>只提供了数据库连接池相关的</a:t>
            </a:r>
            <a:r>
              <a:rPr lang="en-US" altLang="zh-CN" sz="2400" dirty="0">
                <a:sym typeface="+mn-ea"/>
              </a:rPr>
              <a:t>DataSource</a:t>
            </a:r>
            <a:r>
              <a:rPr lang="zh-CN" altLang="en-US" sz="2400" dirty="0">
                <a:sym typeface="+mn-ea"/>
              </a:rPr>
              <a:t>接口，具体实现由数据库驱动厂商或</a:t>
            </a:r>
            <a:r>
              <a:rPr lang="en-US" altLang="zh-CN" sz="2400" dirty="0">
                <a:sym typeface="+mn-ea"/>
              </a:rPr>
              <a:t>Web</a:t>
            </a:r>
            <a:r>
              <a:rPr lang="zh-CN" altLang="en-US" sz="2400" dirty="0">
                <a:sym typeface="+mn-ea"/>
              </a:rPr>
              <a:t>服务平台器提供。</a:t>
            </a:r>
            <a:r>
              <a:rPr lang="en-US" altLang="zh-CN" sz="2400" dirty="0">
                <a:sym typeface="+mn-ea"/>
              </a:rPr>
              <a:t>DataSource</a:t>
            </a:r>
            <a:r>
              <a:rPr lang="zh-CN" altLang="en-US" sz="2400" dirty="0">
                <a:sym typeface="+mn-ea"/>
              </a:rPr>
              <a:t>接口对象负责具体的连接池管理。</a:t>
            </a:r>
            <a:endParaRPr lang="zh-CN" altLang="en-US" sz="2400" dirty="0">
              <a:latin typeface="+mn-lt"/>
              <a:ea typeface="+mn-ea"/>
            </a:endParaRPr>
          </a:p>
          <a:p>
            <a:pPr marL="685800" lvl="1" indent="-228600" eaLnBrk="1" hangingPunct="1"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ym typeface="+mn-ea"/>
              </a:rPr>
              <a:t>使用</a:t>
            </a:r>
            <a:r>
              <a:rPr lang="en-US" altLang="zh-CN" sz="2400" dirty="0">
                <a:sym typeface="+mn-ea"/>
              </a:rPr>
              <a:t>DataSource</a:t>
            </a:r>
            <a:r>
              <a:rPr lang="zh-CN" altLang="en-US" sz="2400" dirty="0">
                <a:sym typeface="+mn-ea"/>
              </a:rPr>
              <a:t>时，需要通过查询</a:t>
            </a:r>
            <a:r>
              <a:rPr lang="en-US" altLang="zh-CN" sz="2400" dirty="0">
                <a:sym typeface="+mn-ea"/>
              </a:rPr>
              <a:t>JNDI(Java Naming and Directoru Interface) </a:t>
            </a:r>
            <a:r>
              <a:rPr lang="zh-CN" altLang="en-US" sz="2400" dirty="0">
                <a:sym typeface="+mn-ea"/>
              </a:rPr>
              <a:t>服务器得到</a:t>
            </a:r>
            <a:r>
              <a:rPr lang="en-US" altLang="zh-CN" sz="2400" dirty="0">
                <a:sym typeface="+mn-ea"/>
              </a:rPr>
              <a:t>DataSource</a:t>
            </a:r>
            <a:r>
              <a:rPr lang="zh-CN" altLang="en-US" sz="2400" dirty="0">
                <a:sym typeface="+mn-ea"/>
              </a:rPr>
              <a:t>，再利用该对象获取</a:t>
            </a:r>
            <a:r>
              <a:rPr lang="en-US" altLang="zh-CN" sz="2400" dirty="0">
                <a:sym typeface="+mn-ea"/>
              </a:rPr>
              <a:t>Connection</a:t>
            </a:r>
            <a:r>
              <a:rPr lang="zh-CN" altLang="en-US" sz="2400" dirty="0">
                <a:sym typeface="+mn-ea"/>
              </a:rPr>
              <a:t>对象。</a:t>
            </a:r>
            <a:endParaRPr lang="zh-CN" altLang="en-US" sz="2400" dirty="0">
              <a:latin typeface="+mn-lt"/>
              <a:ea typeface="+mn-ea"/>
            </a:endParaRPr>
          </a:p>
          <a:p>
            <a:pPr marL="228600" indent="-228600" eaLnBrk="1" hangingPunct="1">
              <a:buSzTx/>
              <a:buFont typeface="Arial" panose="020B0604020202020204" pitchFamily="34" charset="0"/>
              <a:buChar char="•"/>
            </a:pPr>
            <a:endParaRPr lang="zh-CN" altLang="en-US" sz="2400" dirty="0">
              <a:latin typeface="+mn-lt"/>
              <a:ea typeface="+mn-ea"/>
            </a:endParaRPr>
          </a:p>
          <a:p>
            <a:pPr marL="685800" lvl="1" indent="-228600" eaLnBrk="1" hangingPunct="1"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ym typeface="+mn-ea"/>
              </a:rPr>
              <a:t>应该在</a:t>
            </a:r>
            <a:r>
              <a:rPr lang="en-US" altLang="zh-CN" sz="2400" dirty="0">
                <a:sym typeface="+mn-ea"/>
              </a:rPr>
              <a:t>web</a:t>
            </a:r>
            <a:r>
              <a:rPr lang="zh-CN" altLang="en-US" sz="2400" dirty="0">
                <a:sym typeface="+mn-ea"/>
              </a:rPr>
              <a:t>应用的</a:t>
            </a:r>
            <a:r>
              <a:rPr lang="en-US" altLang="zh-CN" sz="2400" dirty="0">
                <a:sym typeface="+mn-ea"/>
              </a:rPr>
              <a:t>\META-INF\context.xml</a:t>
            </a:r>
            <a:r>
              <a:rPr lang="zh-CN" altLang="en-US" sz="2400" dirty="0">
                <a:sym typeface="+mn-ea"/>
              </a:rPr>
              <a:t>中定义数据源，并在</a:t>
            </a:r>
            <a:r>
              <a:rPr lang="en-US" altLang="zh-CN" sz="2400" dirty="0">
                <a:sym typeface="+mn-ea"/>
              </a:rPr>
              <a:t>web.xml</a:t>
            </a:r>
            <a:r>
              <a:rPr lang="zh-CN" altLang="en-US" sz="2400" dirty="0">
                <a:sym typeface="+mn-ea"/>
              </a:rPr>
              <a:t>中定义该数据源的参考。如果要为所有</a:t>
            </a:r>
            <a:r>
              <a:rPr lang="en-US" altLang="zh-CN" sz="2400" dirty="0">
                <a:sym typeface="+mn-ea"/>
              </a:rPr>
              <a:t>Web</a:t>
            </a:r>
            <a:r>
              <a:rPr lang="zh-CN" altLang="en-US" sz="2400" dirty="0">
                <a:sym typeface="+mn-ea"/>
              </a:rPr>
              <a:t>应用提供相同的数据源，可以利用</a:t>
            </a:r>
            <a:r>
              <a:rPr lang="en-US" altLang="zh-CN" sz="2400" dirty="0">
                <a:sym typeface="+mn-ea"/>
              </a:rPr>
              <a:t>\tomcat 6.0\conf\server.xml</a:t>
            </a:r>
            <a:r>
              <a:rPr lang="zh-CN" altLang="en-US" sz="2400" dirty="0">
                <a:sym typeface="+mn-ea"/>
              </a:rPr>
              <a:t>定义数据源。</a:t>
            </a:r>
            <a:endParaRPr lang="zh-CN" altLang="en-US" sz="2400" dirty="0">
              <a:latin typeface="+mn-lt"/>
              <a:ea typeface="+mn-ea"/>
            </a:endParaRPr>
          </a:p>
          <a:p>
            <a:pPr marL="685800" lvl="1" indent="-228600" eaLnBrk="1" hangingPunct="1"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ym typeface="+mn-ea"/>
              </a:rPr>
              <a:t>各种</a:t>
            </a:r>
            <a:r>
              <a:rPr lang="en-US" altLang="zh-CN" sz="2400" dirty="0">
                <a:sym typeface="+mn-ea"/>
              </a:rPr>
              <a:t>Web</a:t>
            </a:r>
            <a:r>
              <a:rPr lang="zh-CN" altLang="en-US" sz="2400" dirty="0">
                <a:sym typeface="+mn-ea"/>
              </a:rPr>
              <a:t>服务器都提供了</a:t>
            </a:r>
            <a:r>
              <a:rPr lang="en-US" altLang="zh-CN" sz="2400" dirty="0">
                <a:sym typeface="+mn-ea"/>
              </a:rPr>
              <a:t>Web</a:t>
            </a:r>
            <a:r>
              <a:rPr lang="zh-CN" altLang="en-US" sz="2400" dirty="0">
                <a:sym typeface="+mn-ea"/>
              </a:rPr>
              <a:t>方式的数据源定义工具。</a:t>
            </a:r>
            <a:endParaRPr lang="zh-CN" altLang="en-US" sz="2400" dirty="0">
              <a:latin typeface="+mn-lt"/>
              <a:ea typeface="+mn-ea"/>
            </a:endParaRPr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74"/>
    </mc:Choice>
    <mc:Fallback xmlns="">
      <p:transition spd="slow" advTm="34274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r>
              <a:rPr lang="en-US" altLang="zh-CN" sz="3600" dirty="0">
                <a:sym typeface="+mn-ea"/>
              </a:rPr>
              <a:t>3.3.1 </a:t>
            </a:r>
            <a:r>
              <a:rPr lang="zh-CN" altLang="en-US" sz="3600" dirty="0"/>
              <a:t>数据源定义</a:t>
            </a:r>
            <a:br>
              <a:rPr lang="en-US" altLang="zh-CN" sz="3600" dirty="0"/>
            </a:br>
            <a:r>
              <a:rPr lang="zh-CN" altLang="en-US" sz="3600" dirty="0"/>
              <a:t>（</a:t>
            </a:r>
            <a:r>
              <a:rPr lang="en-US" altLang="zh-CN" sz="3600" dirty="0"/>
              <a:t>1</a:t>
            </a:r>
            <a:r>
              <a:rPr lang="zh-CN" altLang="en-US" sz="3600" dirty="0"/>
              <a:t>）</a:t>
            </a:r>
            <a:r>
              <a:rPr lang="en-US" altLang="zh-CN" sz="3600" dirty="0"/>
              <a:t>Context.xml</a:t>
            </a:r>
            <a:r>
              <a:rPr lang="zh-CN" altLang="en-US" sz="3600" dirty="0"/>
              <a:t>或</a:t>
            </a:r>
            <a:r>
              <a:rPr lang="en-US" altLang="zh-CN" sz="3600" dirty="0"/>
              <a:t>server.xml</a:t>
            </a:r>
            <a:r>
              <a:rPr lang="zh-CN" altLang="en-US" sz="3600" dirty="0"/>
              <a:t>中的数据源定义</a:t>
            </a:r>
          </a:p>
        </p:txBody>
      </p:sp>
      <p:sp>
        <p:nvSpPr>
          <p:cNvPr id="23347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lvl="1" eaLnBrk="1" hangingPunct="1"/>
            <a:endParaRPr lang="zh-CN" altLang="en-US" sz="2400" dirty="0"/>
          </a:p>
        </p:txBody>
      </p:sp>
      <p:sp>
        <p:nvSpPr>
          <p:cNvPr id="233477" name="Text Box 4"/>
          <p:cNvSpPr txBox="1"/>
          <p:nvPr/>
        </p:nvSpPr>
        <p:spPr>
          <a:xfrm>
            <a:off x="2262823" y="2431098"/>
            <a:ext cx="8064500" cy="396938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>
            <a:spAutoFit/>
          </a:bodyPr>
          <a:lstStyle/>
          <a:p>
            <a:r>
              <a:rPr lang="zh-CN" altLang="zh-CN" dirty="0">
                <a:latin typeface="Arial" panose="020B0604020202020204" pitchFamily="34" charset="0"/>
              </a:rPr>
              <a:t>&lt;?xml version="1.0" encoding="UTF-8"?&gt;</a:t>
            </a:r>
          </a:p>
          <a:p>
            <a:r>
              <a:rPr lang="zh-CN" altLang="zh-CN" dirty="0">
                <a:latin typeface="Arial" panose="020B0604020202020204" pitchFamily="34" charset="0"/>
              </a:rPr>
              <a:t>&lt;Context&gt;</a:t>
            </a:r>
          </a:p>
          <a:p>
            <a:r>
              <a:rPr lang="zh-CN" altLang="zh-CN" dirty="0">
                <a:latin typeface="Arial" panose="020B0604020202020204" pitchFamily="34" charset="0"/>
              </a:rPr>
              <a:t>  &lt;Resource </a:t>
            </a:r>
          </a:p>
          <a:p>
            <a:r>
              <a:rPr lang="zh-CN" altLang="zh-CN" dirty="0">
                <a:latin typeface="Arial" panose="020B0604020202020204" pitchFamily="34" charset="0"/>
              </a:rPr>
              <a:t>  	name="jdbc/DataSourceExample" </a:t>
            </a:r>
          </a:p>
          <a:p>
            <a:r>
              <a:rPr lang="zh-CN" altLang="zh-CN" dirty="0">
                <a:latin typeface="Arial" panose="020B0604020202020204" pitchFamily="34" charset="0"/>
              </a:rPr>
              <a:t>  	auth="Container"</a:t>
            </a:r>
          </a:p>
          <a:p>
            <a:r>
              <a:rPr lang="zh-CN" altLang="zh-CN" dirty="0">
                <a:latin typeface="Arial" panose="020B0604020202020204" pitchFamily="34" charset="0"/>
              </a:rPr>
              <a:t>  	type="javax.sql.DataSource" </a:t>
            </a:r>
          </a:p>
          <a:p>
            <a:r>
              <a:rPr lang="zh-CN" altLang="zh-CN" dirty="0">
                <a:latin typeface="Arial" panose="020B0604020202020204" pitchFamily="34" charset="0"/>
              </a:rPr>
              <a:t>  	username="root" </a:t>
            </a:r>
          </a:p>
          <a:p>
            <a:r>
              <a:rPr lang="zh-CN" altLang="zh-CN" dirty="0">
                <a:latin typeface="Arial" panose="020B0604020202020204" pitchFamily="34" charset="0"/>
              </a:rPr>
              <a:t>  	password="12345678"</a:t>
            </a:r>
          </a:p>
          <a:p>
            <a:r>
              <a:rPr lang="zh-CN" altLang="zh-CN" dirty="0">
                <a:latin typeface="Arial" panose="020B0604020202020204" pitchFamily="34" charset="0"/>
              </a:rPr>
              <a:t>	driverClassName="com.mysql.jdbc.Driver" </a:t>
            </a:r>
          </a:p>
          <a:p>
            <a:r>
              <a:rPr lang="zh-CN" altLang="zh-CN" dirty="0">
                <a:latin typeface="Arial" panose="020B0604020202020204" pitchFamily="34" charset="0"/>
              </a:rPr>
              <a:t>	url="jdbc:mysql://127.0.0.1:3306/test"</a:t>
            </a:r>
          </a:p>
          <a:p>
            <a:r>
              <a:rPr lang="zh-CN" altLang="zh-CN" dirty="0">
                <a:latin typeface="Arial" panose="020B0604020202020204" pitchFamily="34" charset="0"/>
              </a:rPr>
              <a:t>	maxActive="8" </a:t>
            </a:r>
          </a:p>
          <a:p>
            <a:r>
              <a:rPr lang="zh-CN" altLang="zh-CN" dirty="0">
                <a:latin typeface="Arial" panose="020B0604020202020204" pitchFamily="34" charset="0"/>
              </a:rPr>
              <a:t>	maxIdle="4" </a:t>
            </a:r>
          </a:p>
          <a:p>
            <a:r>
              <a:rPr lang="zh-CN" altLang="zh-CN" dirty="0">
                <a:latin typeface="Arial" panose="020B0604020202020204" pitchFamily="34" charset="0"/>
              </a:rPr>
              <a:t>	maxWait="5000"/&gt;</a:t>
            </a:r>
          </a:p>
          <a:p>
            <a:r>
              <a:rPr lang="zh-CN" altLang="zh-CN" dirty="0">
                <a:latin typeface="Arial" panose="020B0604020202020204" pitchFamily="34" charset="0"/>
              </a:rPr>
              <a:t>&lt;/Context&gt;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advTm="9936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r>
              <a:rPr lang="en-US" altLang="zh-CN" sz="3600" dirty="0">
                <a:sym typeface="+mn-ea"/>
              </a:rPr>
              <a:t>3.3.1 </a:t>
            </a:r>
            <a:r>
              <a:rPr lang="zh-CN" altLang="en-US" sz="3600" dirty="0"/>
              <a:t>数据源定义</a:t>
            </a:r>
            <a:br>
              <a:rPr lang="en-US" altLang="zh-CN" sz="3600" dirty="0"/>
            </a:br>
            <a:r>
              <a:rPr lang="zh-CN" altLang="en-US" sz="3600" dirty="0"/>
              <a:t>（</a:t>
            </a:r>
            <a:r>
              <a:rPr lang="en-US" altLang="zh-CN" sz="3600" dirty="0"/>
              <a:t>2</a:t>
            </a:r>
            <a:r>
              <a:rPr lang="zh-CN" altLang="en-US" sz="3600" dirty="0"/>
              <a:t>）数据源定义说明</a:t>
            </a:r>
          </a:p>
        </p:txBody>
      </p:sp>
      <p:sp>
        <p:nvSpPr>
          <p:cNvPr id="23450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lvl="1" eaLnBrk="1" hangingPunct="1"/>
            <a:r>
              <a:rPr lang="en-US" altLang="zh-CN" sz="2400" dirty="0"/>
              <a:t>Context.xml</a:t>
            </a:r>
            <a:r>
              <a:rPr lang="zh-CN" altLang="en-US" sz="2400" dirty="0"/>
              <a:t>或</a:t>
            </a:r>
            <a:r>
              <a:rPr lang="en-US" altLang="zh-CN" sz="2400" dirty="0"/>
              <a:t>server.xml</a:t>
            </a:r>
            <a:r>
              <a:rPr lang="zh-CN" altLang="en-US" sz="2400" dirty="0"/>
              <a:t>中的数据源定义</a:t>
            </a:r>
          </a:p>
        </p:txBody>
      </p:sp>
      <p:graphicFrame>
        <p:nvGraphicFramePr>
          <p:cNvPr id="1693700" name="Group 4"/>
          <p:cNvGraphicFramePr>
            <a:graphicFrameLocks noGrp="1"/>
          </p:cNvGraphicFramePr>
          <p:nvPr/>
        </p:nvGraphicFramePr>
        <p:xfrm>
          <a:off x="2199640" y="2332038"/>
          <a:ext cx="8208645" cy="4483100"/>
        </p:xfrm>
        <a:graphic>
          <a:graphicData uri="http://schemas.openxmlformats.org/drawingml/2006/table">
            <a:tbl>
              <a:tblPr/>
              <a:tblGrid>
                <a:gridCol w="217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3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3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JNDI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名称，全称为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java:comp/env/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auth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资源的管理者，可选值为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Application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或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Container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type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资源所属的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Java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类名称， 如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"javax.sql.DataSource"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maxActive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最大连接数，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时表示没有限制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maxIdle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最大空闲连接数，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-1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时表示没有限制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maxWait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等待空闲连接的等待时间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毫秒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-1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时永久等待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username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数据库连接用户名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password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数据库连接密码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driverClassName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JDBC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驱动程序类名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3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url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数据库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url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advTm="19289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r>
              <a:rPr lang="en-US" altLang="zh-CN" sz="3600" dirty="0">
                <a:sym typeface="+mn-ea"/>
              </a:rPr>
              <a:t>3.3.1 </a:t>
            </a:r>
            <a:r>
              <a:rPr lang="zh-CN" altLang="en-US" sz="3600" dirty="0"/>
              <a:t>数据源定义</a:t>
            </a:r>
            <a:br>
              <a:rPr lang="en-US" altLang="zh-CN" sz="3600" dirty="0"/>
            </a:br>
            <a:r>
              <a:rPr lang="zh-CN" altLang="en-US" sz="3600" dirty="0"/>
              <a:t>（</a:t>
            </a:r>
            <a:r>
              <a:rPr lang="en-US" altLang="zh-CN" sz="3600" dirty="0"/>
              <a:t>3</a:t>
            </a:r>
            <a:r>
              <a:rPr lang="zh-CN" altLang="en-US" sz="3600" dirty="0"/>
              <a:t>）</a:t>
            </a:r>
            <a:r>
              <a:rPr lang="en-US" altLang="zh-CN" sz="3600" dirty="0"/>
              <a:t>web.xml</a:t>
            </a:r>
            <a:r>
              <a:rPr lang="zh-CN" altLang="en-US" sz="3600" dirty="0"/>
              <a:t>中的数据源定义</a:t>
            </a:r>
          </a:p>
        </p:txBody>
      </p:sp>
      <p:sp>
        <p:nvSpPr>
          <p:cNvPr id="23552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zh-CN" altLang="en-US" sz="2880" dirty="0"/>
          </a:p>
        </p:txBody>
      </p:sp>
      <p:sp>
        <p:nvSpPr>
          <p:cNvPr id="235525" name="Text Box 39"/>
          <p:cNvSpPr txBox="1"/>
          <p:nvPr/>
        </p:nvSpPr>
        <p:spPr>
          <a:xfrm>
            <a:off x="1781230" y="1975748"/>
            <a:ext cx="8496300" cy="424624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>
            <a:spAutoFit/>
          </a:bodyPr>
          <a:lstStyle/>
          <a:p>
            <a:pPr marL="342900" indent="-342900"/>
            <a:r>
              <a:rPr lang="en-US" altLang="zh-CN" dirty="0">
                <a:latin typeface="Arial" panose="020B0604020202020204" pitchFamily="34" charset="0"/>
              </a:rPr>
              <a:t>&lt;?xml version="1.0" encoding="UTF-8"?&gt;</a:t>
            </a:r>
          </a:p>
          <a:p>
            <a:pPr marL="342900" indent="-342900"/>
            <a:r>
              <a:rPr lang="en-US" altLang="zh-CN" dirty="0">
                <a:latin typeface="Arial" panose="020B0604020202020204" pitchFamily="34" charset="0"/>
              </a:rPr>
              <a:t>&lt;web-app version=2.4&gt;</a:t>
            </a:r>
          </a:p>
          <a:p>
            <a:pPr marL="342900" indent="-342900"/>
            <a:r>
              <a:rPr lang="en-US" altLang="zh-CN" dirty="0">
                <a:latin typeface="Arial" panose="020B0604020202020204" pitchFamily="34" charset="0"/>
              </a:rPr>
              <a:t>  &lt;!– Servlet</a:t>
            </a:r>
            <a:r>
              <a:rPr lang="zh-CN" altLang="en-US" dirty="0">
                <a:latin typeface="Arial" panose="020B0604020202020204" pitchFamily="34" charset="0"/>
              </a:rPr>
              <a:t>等其它资源的定义 </a:t>
            </a:r>
            <a:r>
              <a:rPr lang="en-US" altLang="zh-CN" dirty="0">
                <a:latin typeface="Arial" panose="020B0604020202020204" pitchFamily="34" charset="0"/>
              </a:rPr>
              <a:t>--&gt;</a:t>
            </a:r>
          </a:p>
          <a:p>
            <a:pPr marL="342900" indent="-342900"/>
            <a:r>
              <a:rPr lang="en-US" altLang="zh-CN" dirty="0">
                <a:latin typeface="Arial" panose="020B0604020202020204" pitchFamily="34" charset="0"/>
              </a:rPr>
              <a:t>  &lt;resource-ref&gt;</a:t>
            </a:r>
          </a:p>
          <a:p>
            <a:pPr marL="342900" indent="-342900"/>
            <a:r>
              <a:rPr lang="en-US" altLang="zh-CN" dirty="0">
                <a:latin typeface="Arial" panose="020B0604020202020204" pitchFamily="34" charset="0"/>
              </a:rPr>
              <a:t>       &lt;res-ref-name&gt;</a:t>
            </a:r>
          </a:p>
          <a:p>
            <a:pPr marL="342900" indent="-342900"/>
            <a:r>
              <a:rPr lang="en-US" altLang="zh-CN" dirty="0">
                <a:latin typeface="Arial" panose="020B0604020202020204" pitchFamily="34" charset="0"/>
              </a:rPr>
              <a:t>            jdbc/DataSourceExample</a:t>
            </a:r>
          </a:p>
          <a:p>
            <a:pPr marL="342900" indent="-342900"/>
            <a:r>
              <a:rPr lang="en-US" altLang="zh-CN" dirty="0">
                <a:latin typeface="Arial" panose="020B0604020202020204" pitchFamily="34" charset="0"/>
              </a:rPr>
              <a:t>       &lt;/res-ref-name&gt;</a:t>
            </a:r>
          </a:p>
          <a:p>
            <a:pPr marL="342900" indent="-342900"/>
            <a:r>
              <a:rPr lang="en-US" altLang="zh-CN" dirty="0">
                <a:latin typeface="Arial" panose="020B0604020202020204" pitchFamily="34" charset="0"/>
              </a:rPr>
              <a:t>       &lt;res-type&gt;</a:t>
            </a:r>
          </a:p>
          <a:p>
            <a:pPr marL="342900" indent="-342900"/>
            <a:r>
              <a:rPr lang="en-US" altLang="zh-CN" dirty="0">
                <a:latin typeface="Arial" panose="020B0604020202020204" pitchFamily="34" charset="0"/>
              </a:rPr>
              <a:t>            javax.sql.DataSource</a:t>
            </a:r>
          </a:p>
          <a:p>
            <a:pPr marL="342900" indent="-342900"/>
            <a:r>
              <a:rPr lang="en-US" altLang="zh-CN" dirty="0">
                <a:latin typeface="Arial" panose="020B0604020202020204" pitchFamily="34" charset="0"/>
              </a:rPr>
              <a:t>       &lt;/res-type&gt;</a:t>
            </a:r>
          </a:p>
          <a:p>
            <a:pPr marL="342900" indent="-342900"/>
            <a:r>
              <a:rPr lang="en-US" altLang="zh-CN" dirty="0">
                <a:latin typeface="Arial" panose="020B0604020202020204" pitchFamily="34" charset="0"/>
              </a:rPr>
              <a:t>       &lt;res-auth&gt;</a:t>
            </a:r>
          </a:p>
          <a:p>
            <a:pPr marL="342900" indent="-342900"/>
            <a:r>
              <a:rPr lang="en-US" altLang="zh-CN" dirty="0">
                <a:latin typeface="Arial" panose="020B0604020202020204" pitchFamily="34" charset="0"/>
              </a:rPr>
              <a:t>            Container</a:t>
            </a:r>
          </a:p>
          <a:p>
            <a:pPr marL="342900" indent="-342900"/>
            <a:r>
              <a:rPr lang="en-US" altLang="zh-CN" dirty="0">
                <a:latin typeface="Arial" panose="020B0604020202020204" pitchFamily="34" charset="0"/>
              </a:rPr>
              <a:t>       &lt;/res-auth&gt;</a:t>
            </a:r>
          </a:p>
          <a:p>
            <a:pPr marL="342900" indent="-342900"/>
            <a:r>
              <a:rPr lang="en-US" altLang="zh-CN" dirty="0">
                <a:latin typeface="Arial" panose="020B0604020202020204" pitchFamily="34" charset="0"/>
              </a:rPr>
              <a:t>  &lt;/resource-ref&gt;</a:t>
            </a:r>
          </a:p>
          <a:p>
            <a:pPr marL="342900" indent="-342900"/>
            <a:r>
              <a:rPr lang="en-US" altLang="zh-CN" dirty="0">
                <a:latin typeface="Arial" panose="020B0604020202020204" pitchFamily="34" charset="0"/>
              </a:rPr>
              <a:t>&lt;/web-app&gt;</a:t>
            </a:r>
          </a:p>
        </p:txBody>
      </p:sp>
    </p:spTree>
    <p:custDataLst>
      <p:tags r:id="rId1"/>
    </p:custDataLst>
  </p:cSld>
  <p:clrMapOvr>
    <a:masterClrMapping/>
  </p:clrMapOvr>
  <p:transition advTm="594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3.3.2 </a:t>
            </a:r>
            <a:r>
              <a:rPr lang="en-US" altLang="zh-CN" dirty="0" err="1">
                <a:sym typeface="+mn-ea"/>
              </a:rPr>
              <a:t>DataSource</a:t>
            </a:r>
            <a:r>
              <a:rPr lang="zh-CN" altLang="en-US" dirty="0">
                <a:sym typeface="+mn-ea"/>
              </a:rPr>
              <a:t>连接数据库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buSzTx/>
              <a:buFont typeface="Arial" panose="020B0604020202020204" pitchFamily="34" charset="0"/>
              <a:buChar char="•"/>
            </a:pPr>
            <a:endParaRPr lang="zh-CN" altLang="en-US" sz="2400" dirty="0">
              <a:latin typeface="+mn-lt"/>
              <a:ea typeface="+mn-ea"/>
            </a:endParaRPr>
          </a:p>
          <a:p>
            <a:pPr marL="685800" lvl="1" indent="-228600" eaLnBrk="1" hangingPunct="1"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ym typeface="+mn-ea"/>
              </a:rPr>
              <a:t>通过</a:t>
            </a:r>
            <a:r>
              <a:rPr lang="en-US" altLang="zh-CN" sz="2400" dirty="0">
                <a:sym typeface="+mn-ea"/>
              </a:rPr>
              <a:t>DataSource</a:t>
            </a:r>
            <a:r>
              <a:rPr lang="zh-CN" altLang="en-US" sz="2400" dirty="0">
                <a:sym typeface="+mn-ea"/>
              </a:rPr>
              <a:t>连接数据库的关键代码</a:t>
            </a:r>
            <a:endParaRPr lang="zh-CN" altLang="en-US" sz="2400" dirty="0">
              <a:latin typeface="+mn-lt"/>
              <a:ea typeface="+mn-ea"/>
            </a:endParaRPr>
          </a:p>
          <a:p>
            <a:pPr lvl="2" eaLnBrk="1" hangingPunct="1">
              <a:buNone/>
            </a:pPr>
            <a:r>
              <a:rPr lang="en-US" altLang="zh-CN" sz="2400" dirty="0">
                <a:sym typeface="+mn-ea"/>
              </a:rPr>
              <a:t>InitialContext context = new InitialContext();</a:t>
            </a:r>
            <a:endParaRPr lang="en-US" altLang="zh-CN" sz="2400" dirty="0">
              <a:latin typeface="+mn-lt"/>
              <a:ea typeface="+mn-ea"/>
            </a:endParaRPr>
          </a:p>
          <a:p>
            <a:pPr lvl="2" eaLnBrk="1" hangingPunct="1">
              <a:buNone/>
            </a:pPr>
            <a:r>
              <a:rPr lang="en-US" altLang="zh-CN" sz="2400" dirty="0">
                <a:sym typeface="+mn-ea"/>
              </a:rPr>
              <a:t>DataSource dataSource =</a:t>
            </a:r>
            <a:endParaRPr lang="en-US" altLang="zh-CN" sz="2400" dirty="0">
              <a:latin typeface="+mn-lt"/>
              <a:ea typeface="+mn-ea"/>
            </a:endParaRPr>
          </a:p>
          <a:p>
            <a:pPr lvl="2" eaLnBrk="1" hangingPunct="1">
              <a:buNone/>
            </a:pPr>
            <a:r>
              <a:rPr lang="en-US" altLang="zh-CN" sz="2400" dirty="0">
                <a:sym typeface="+mn-ea"/>
              </a:rPr>
              <a:t>     (DataSource) context.lookup("</a:t>
            </a:r>
            <a:r>
              <a:rPr lang="zh-CN" altLang="en-US" sz="2400" dirty="0">
                <a:sym typeface="+mn-ea"/>
              </a:rPr>
              <a:t>数据源名称</a:t>
            </a:r>
            <a:r>
              <a:rPr lang="en-US" altLang="zh-CN" sz="2400" dirty="0">
                <a:sym typeface="+mn-ea"/>
              </a:rPr>
              <a:t>");</a:t>
            </a:r>
            <a:endParaRPr lang="en-US" altLang="zh-CN" sz="2400" dirty="0">
              <a:latin typeface="+mn-lt"/>
              <a:ea typeface="+mn-ea"/>
            </a:endParaRPr>
          </a:p>
          <a:p>
            <a:pPr lvl="2" eaLnBrk="1" hangingPunct="1">
              <a:buNone/>
            </a:pPr>
            <a:r>
              <a:rPr lang="en-US" altLang="zh-CN" sz="2400" dirty="0">
                <a:sym typeface="+mn-ea"/>
              </a:rPr>
              <a:t>conn = dataSource.getConnection();</a:t>
            </a:r>
            <a:endParaRPr lang="en-US" altLang="zh-CN" sz="2400" dirty="0">
              <a:latin typeface="+mn-lt"/>
              <a:ea typeface="+mn-ea"/>
            </a:endParaRPr>
          </a:p>
          <a:p>
            <a:pPr lvl="2" eaLnBrk="1" hangingPunct="1">
              <a:buNone/>
            </a:pPr>
            <a:r>
              <a:rPr lang="en-US" altLang="zh-CN" sz="2400" dirty="0">
                <a:sym typeface="+mn-ea"/>
              </a:rPr>
              <a:t>…</a:t>
            </a:r>
            <a:endParaRPr lang="en-US" altLang="zh-CN" sz="2400" dirty="0">
              <a:latin typeface="+mn-lt"/>
              <a:ea typeface="+mn-ea"/>
            </a:endParaRPr>
          </a:p>
          <a:p>
            <a:pPr lvl="2" eaLnBrk="1" hangingPunct="1">
              <a:buNone/>
            </a:pPr>
            <a:r>
              <a:rPr lang="en-US" altLang="zh-CN" sz="2400" dirty="0">
                <a:sym typeface="+mn-ea"/>
              </a:rPr>
              <a:t>conn.close();</a:t>
            </a:r>
            <a:endParaRPr lang="en-US" altLang="zh-CN" sz="2400" dirty="0">
              <a:latin typeface="+mn-lt"/>
              <a:ea typeface="+mn-ea"/>
            </a:endParaRPr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03"/>
    </mc:Choice>
    <mc:Fallback xmlns="">
      <p:transition spd="slow" advTm="4603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r>
              <a:rPr lang="en-US" altLang="zh-CN" sz="3600" dirty="0">
                <a:sym typeface="+mn-ea"/>
              </a:rPr>
              <a:t>3.3.3 </a:t>
            </a:r>
            <a:r>
              <a:rPr lang="zh-CN" altLang="en-US" sz="3600" dirty="0">
                <a:sym typeface="+mn-ea"/>
              </a:rPr>
              <a:t>通过</a:t>
            </a:r>
            <a:r>
              <a:rPr lang="en-US" altLang="zh-CN" sz="3600" dirty="0">
                <a:sym typeface="+mn-ea"/>
              </a:rPr>
              <a:t>DataSource</a:t>
            </a:r>
            <a:r>
              <a:rPr lang="zh-CN" altLang="en-US" sz="3600" dirty="0">
                <a:sym typeface="+mn-ea"/>
              </a:rPr>
              <a:t>访问</a:t>
            </a:r>
            <a:r>
              <a:rPr lang="en-US" altLang="zh-CN" sz="3600" dirty="0">
                <a:sym typeface="+mn-ea"/>
              </a:rPr>
              <a:t>MyFriend</a:t>
            </a:r>
            <a:r>
              <a:rPr lang="zh-CN" altLang="en-US" sz="3600" dirty="0">
                <a:sym typeface="+mn-ea"/>
              </a:rPr>
              <a:t>数据库实例</a:t>
            </a:r>
            <a:endParaRPr lang="zh-CN" altLang="en-US" sz="3600" dirty="0"/>
          </a:p>
        </p:txBody>
      </p:sp>
      <p:sp>
        <p:nvSpPr>
          <p:cNvPr id="23757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zh-CN" altLang="en-US" dirty="0"/>
          </a:p>
        </p:txBody>
      </p:sp>
      <p:sp>
        <p:nvSpPr>
          <p:cNvPr id="1695748" name="Text Box 4"/>
          <p:cNvSpPr txBox="1">
            <a:spLocks noChangeArrowheads="1"/>
          </p:cNvSpPr>
          <p:nvPr/>
        </p:nvSpPr>
        <p:spPr bwMode="auto">
          <a:xfrm>
            <a:off x="1990408" y="1993583"/>
            <a:ext cx="8353425" cy="4246245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1"/>
            </a:solidFill>
            <a:miter lim="800000"/>
            <a:tailEnd type="none" w="lg" len="med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&lt;%@ page import="java.sql.*,javax.naming.*,javax.sql.*" %&gt;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&lt;body&gt;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&lt;h2&gt;JDBC</a:t>
            </a:r>
            <a:r>
              <a:rPr kumimoji="0" lang="zh-CN" altLang="en-US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实例</a:t>
            </a:r>
            <a:r>
              <a:rPr kumimoji="0" lang="en-US" altLang="zh-CN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:</a:t>
            </a:r>
            <a:r>
              <a:rPr kumimoji="0" lang="zh-CN" altLang="en-US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通过</a:t>
            </a:r>
            <a:r>
              <a:rPr kumimoji="0" lang="en-US" altLang="zh-CN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DataSource</a:t>
            </a:r>
            <a:r>
              <a:rPr kumimoji="0" lang="zh-CN" altLang="en-US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访问数据库</a:t>
            </a:r>
            <a:r>
              <a:rPr kumimoji="0" lang="en-US" altLang="zh-CN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&lt;/h2&gt;&lt;hr&gt; 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&lt;%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try {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kern="1200" cap="none" spc="0" normalizeH="0" baseline="0" noProof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InitialContext context = new InitialContext();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en-US" altLang="zh-CN" kern="1200" cap="none" spc="0" normalizeH="0" baseline="0" noProof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DataSource dataSource =(DataSource) context.lookup(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                       "</a:t>
            </a:r>
            <a:r>
              <a:rPr kumimoji="0" lang="en-US" altLang="zh-CN" u="sng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java:comp/env</a:t>
            </a:r>
            <a:r>
              <a:rPr kumimoji="0" lang="en-US" altLang="zh-CN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en-US" altLang="zh-CN" kern="1200" cap="none" spc="0" normalizeH="0" baseline="0" noProof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jdbc/DataSourceExample");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conn = dataSource.getConnection();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stmt = conn.createStatement();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rs = stmt.executeQuery("select * from myfriend");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	if (rs.next()){%&gt;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&lt;table border=1&gt;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	      &lt;tr&gt;&lt;th&gt;</a:t>
            </a:r>
            <a:r>
              <a:rPr kumimoji="0" lang="zh-CN" altLang="en-US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姓名</a:t>
            </a:r>
            <a:r>
              <a:rPr kumimoji="0" lang="en-US" altLang="zh-CN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&lt;/th&gt;&lt;th&gt;</a:t>
            </a:r>
            <a:r>
              <a:rPr kumimoji="0" lang="zh-CN" altLang="en-US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年龄</a:t>
            </a:r>
            <a:r>
              <a:rPr kumimoji="0" lang="en-US" altLang="zh-CN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&lt;/th&gt;&lt;th&gt;</a:t>
            </a:r>
            <a:r>
              <a:rPr kumimoji="0" lang="zh-CN" altLang="en-US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性别</a:t>
            </a:r>
            <a:r>
              <a:rPr kumimoji="0" lang="en-US" altLang="zh-CN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&lt;/th&gt;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&lt;th&gt;</a:t>
            </a:r>
            <a:r>
              <a:rPr kumimoji="0" lang="zh-CN" altLang="en-US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电话</a:t>
            </a:r>
            <a:r>
              <a:rPr kumimoji="0" lang="en-US" altLang="zh-CN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&lt;/th&gt;&lt;th&gt;EMail&lt;/th&gt;&lt;th&gt;QQ&lt;/th&gt;&lt;th&gt;</a:t>
            </a:r>
            <a:r>
              <a:rPr kumimoji="0" lang="zh-CN" altLang="en-US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地址</a:t>
            </a:r>
            <a:r>
              <a:rPr kumimoji="0" lang="en-US" altLang="zh-CN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&lt;/th&gt;&lt;/tr&gt;</a:t>
            </a:r>
          </a:p>
        </p:txBody>
      </p:sp>
    </p:spTree>
    <p:custDataLst>
      <p:tags r:id="rId1"/>
    </p:custDataLst>
  </p:cSld>
  <p:clrMapOvr>
    <a:masterClrMapping/>
  </p:clrMapOvr>
  <p:transition advTm="15372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r>
              <a:rPr lang="en-US" altLang="zh-CN" sz="3200" dirty="0">
                <a:sym typeface="+mn-ea"/>
              </a:rPr>
              <a:t>3.3.3 </a:t>
            </a:r>
            <a:r>
              <a:rPr lang="zh-CN" altLang="en-US" sz="3200" dirty="0">
                <a:sym typeface="+mn-ea"/>
              </a:rPr>
              <a:t>通过</a:t>
            </a:r>
            <a:r>
              <a:rPr lang="en-US" altLang="zh-CN" sz="3200" dirty="0" err="1">
                <a:sym typeface="+mn-ea"/>
              </a:rPr>
              <a:t>DataSource</a:t>
            </a:r>
            <a:r>
              <a:rPr lang="zh-CN" altLang="en-US" sz="3200" dirty="0">
                <a:sym typeface="+mn-ea"/>
              </a:rPr>
              <a:t>访问</a:t>
            </a:r>
            <a:r>
              <a:rPr lang="en-US" altLang="zh-CN" sz="3200" dirty="0" err="1">
                <a:sym typeface="+mn-ea"/>
              </a:rPr>
              <a:t>MyFriend</a:t>
            </a:r>
            <a:r>
              <a:rPr lang="zh-CN" altLang="en-US" sz="3200" dirty="0">
                <a:sym typeface="+mn-ea"/>
              </a:rPr>
              <a:t>数据库实例（</a:t>
            </a:r>
            <a:r>
              <a:rPr lang="en-US" altLang="zh-CN" sz="3200" dirty="0">
                <a:sym typeface="+mn-ea"/>
              </a:rPr>
              <a:t>cont.</a:t>
            </a:r>
            <a:r>
              <a:rPr lang="zh-CN" altLang="en-US" sz="3200" dirty="0">
                <a:sym typeface="+mn-ea"/>
              </a:rPr>
              <a:t>）</a:t>
            </a:r>
            <a:endParaRPr lang="zh-CN" altLang="en-US" sz="3200" dirty="0"/>
          </a:p>
        </p:txBody>
      </p:sp>
      <p:sp>
        <p:nvSpPr>
          <p:cNvPr id="238597" name="Text Box 4"/>
          <p:cNvSpPr txBox="1"/>
          <p:nvPr/>
        </p:nvSpPr>
        <p:spPr>
          <a:xfrm>
            <a:off x="1773486" y="1761966"/>
            <a:ext cx="8351837" cy="452310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&lt;%    	do{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out.println("&lt;tr&gt;");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out.println("&lt;td&gt;"+rs.getString("name")+"&lt;/td&gt;");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out.println("&lt;td&gt;"+rs.getInt("age")+"&lt;/td&gt;");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out.println("&lt;td&gt;"+rs.getString("sex")+"&lt;/td&gt;");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out.println("&lt;td&gt;"+rs.getString("phone")+"&lt;/td&gt;");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out.println("&lt;td&gt;"+rs.getString("email")+"&lt;/td&gt;");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out.println("&lt;td&gt;"+rs.getString("qq")+"&lt;/td&gt;");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out.println("&lt;td&gt;"+rs.getString("address")+"&lt;/td&gt;");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	out.println("&lt;/tr&gt;");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	}while(rs.next());%&gt;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	&lt;/table&gt;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&lt;%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}	//if</a:t>
            </a:r>
            <a:r>
              <a:rPr lang="zh-CN" altLang="en-US" dirty="0">
                <a:latin typeface="Arial" panose="020B0604020202020204" pitchFamily="34" charset="0"/>
              </a:rPr>
              <a:t>结束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%&gt;   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&lt;/body&gt;</a:t>
            </a:r>
          </a:p>
        </p:txBody>
      </p:sp>
    </p:spTree>
    <p:custDataLst>
      <p:tags r:id="rId1"/>
    </p:custDataLst>
  </p:cSld>
  <p:clrMapOvr>
    <a:masterClrMapping/>
  </p:clrMapOvr>
  <p:transition advTm="1745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846186" y="1692170"/>
            <a:ext cx="2171334" cy="3770263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>
            <a:defPPr>
              <a:defRPr lang="zh-CN"/>
            </a:defPPr>
            <a:lvl1pPr>
              <a:defRPr sz="23900" b="1">
                <a:solidFill>
                  <a:schemeClr val="bg1">
                    <a:lumMod val="50000"/>
                  </a:schemeClr>
                </a:solidFill>
                <a:latin typeface="+mj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39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</a:rPr>
              <a:t>4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>
                <a:sym typeface="+mn-ea"/>
              </a:rPr>
              <a:t>PreparedStatement和CallableStatement</a:t>
            </a:r>
            <a:r>
              <a:rPr lang="en-US" altLang="zh-CN" dirty="0">
                <a:sym typeface="+mn-ea"/>
              </a:rPr>
              <a:t> 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dirty="0">
                <a:effectLst/>
              </a:rPr>
              <a:t>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49"/>
    </mc:Choice>
    <mc:Fallback xmlns="">
      <p:transition spd="slow" advTm="3549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4.1 </a:t>
            </a:r>
            <a:r>
              <a:rPr lang="en-US" altLang="zh-CN" dirty="0" err="1">
                <a:sym typeface="+mn-ea"/>
              </a:rPr>
              <a:t>PreparedStatement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 err="1">
                <a:solidFill>
                  <a:srgbClr val="002060"/>
                </a:solidFill>
              </a:rPr>
              <a:t>PreparedStatement</a:t>
            </a:r>
            <a:r>
              <a:rPr lang="zh-CN" altLang="en-US" sz="2800" dirty="0">
                <a:solidFill>
                  <a:srgbClr val="002060"/>
                </a:solidFill>
              </a:rPr>
              <a:t>的作用</a:t>
            </a:r>
          </a:p>
          <a:p>
            <a:pPr lvl="1"/>
            <a:r>
              <a:rPr lang="zh-CN" altLang="en-US" sz="2800" dirty="0">
                <a:solidFill>
                  <a:srgbClr val="002060"/>
                </a:solidFill>
              </a:rPr>
              <a:t>一般的</a:t>
            </a:r>
            <a:r>
              <a:rPr lang="en-US" altLang="zh-CN" sz="2800" dirty="0" err="1">
                <a:solidFill>
                  <a:srgbClr val="002060"/>
                </a:solidFill>
              </a:rPr>
              <a:t>sql</a:t>
            </a:r>
            <a:r>
              <a:rPr lang="zh-CN" altLang="en-US" sz="2800" dirty="0">
                <a:solidFill>
                  <a:srgbClr val="002060"/>
                </a:solidFill>
              </a:rPr>
              <a:t>语句需要在数据库服务器中编译和优化，效率较低。而用</a:t>
            </a:r>
            <a:r>
              <a:rPr lang="en-US" altLang="zh-CN" sz="2800" dirty="0" err="1">
                <a:solidFill>
                  <a:srgbClr val="002060"/>
                </a:solidFill>
              </a:rPr>
              <a:t>PreparedStatement</a:t>
            </a:r>
            <a:r>
              <a:rPr lang="zh-CN" altLang="en-US" sz="2800" dirty="0">
                <a:solidFill>
                  <a:srgbClr val="002060"/>
                </a:solidFill>
              </a:rPr>
              <a:t>可以提高</a:t>
            </a:r>
            <a:r>
              <a:rPr lang="en-US" altLang="zh-CN" sz="2800" dirty="0">
                <a:solidFill>
                  <a:srgbClr val="002060"/>
                </a:solidFill>
              </a:rPr>
              <a:t>SQL</a:t>
            </a:r>
            <a:r>
              <a:rPr lang="zh-CN" altLang="en-US" sz="2800" dirty="0">
                <a:solidFill>
                  <a:srgbClr val="002060"/>
                </a:solidFill>
              </a:rPr>
              <a:t>执行效率。</a:t>
            </a:r>
          </a:p>
          <a:p>
            <a:pPr lvl="1">
              <a:lnSpc>
                <a:spcPct val="100000"/>
              </a:lnSpc>
              <a:spcBef>
                <a:spcPts val="700"/>
              </a:spcBef>
            </a:pPr>
            <a:r>
              <a:rPr lang="zh-CN" altLang="en-US" sz="2800" dirty="0">
                <a:solidFill>
                  <a:srgbClr val="002060"/>
                </a:solidFill>
              </a:rPr>
              <a:t>另外，在数据库中插入非基本类型数据</a:t>
            </a:r>
            <a:r>
              <a:rPr lang="en-US" altLang="zh-CN" sz="2800" dirty="0">
                <a:solidFill>
                  <a:srgbClr val="002060"/>
                </a:solidFill>
              </a:rPr>
              <a:t>(</a:t>
            </a:r>
            <a:r>
              <a:rPr lang="zh-CN" altLang="en-US" sz="2800" dirty="0">
                <a:solidFill>
                  <a:srgbClr val="002060"/>
                </a:solidFill>
              </a:rPr>
              <a:t>如数组或二进制对象</a:t>
            </a:r>
            <a:r>
              <a:rPr lang="en-US" altLang="zh-CN" sz="2800" dirty="0">
                <a:solidFill>
                  <a:srgbClr val="002060"/>
                </a:solidFill>
              </a:rPr>
              <a:t>)</a:t>
            </a:r>
            <a:r>
              <a:rPr lang="zh-CN" altLang="en-US" sz="2800" dirty="0">
                <a:solidFill>
                  <a:srgbClr val="002060"/>
                </a:solidFill>
              </a:rPr>
              <a:t>时必须使用</a:t>
            </a:r>
            <a:r>
              <a:rPr lang="en-US" altLang="zh-CN" sz="2800" dirty="0" err="1">
                <a:solidFill>
                  <a:srgbClr val="002060"/>
                </a:solidFill>
              </a:rPr>
              <a:t>PreparedStatement</a:t>
            </a:r>
            <a:r>
              <a:rPr lang="zh-CN" altLang="en-US" sz="2800" dirty="0">
                <a:solidFill>
                  <a:srgbClr val="002060"/>
                </a:solidFill>
              </a:rPr>
              <a:t>。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691"/>
    </mc:Choice>
    <mc:Fallback xmlns="">
      <p:transition spd="slow" advTm="2369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）创建</a:t>
            </a:r>
            <a:r>
              <a:rPr lang="en-US" altLang="zh-CN" dirty="0" err="1">
                <a:sym typeface="+mn-ea"/>
              </a:rPr>
              <a:t>PreparedStatement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just" eaLnBrk="1" hangingPunct="1">
              <a:lnSpc>
                <a:spcPct val="120000"/>
              </a:lnSpc>
              <a:buSzTx/>
              <a:buFont typeface="Arial" panose="020B0604020202020204" pitchFamily="34" charset="0"/>
              <a:buChar char="•"/>
            </a:pPr>
            <a:r>
              <a:rPr lang="zh-CN" altLang="en-US" sz="2880" dirty="0">
                <a:sym typeface="+mn-ea"/>
              </a:rPr>
              <a:t>创建</a:t>
            </a:r>
            <a:r>
              <a:rPr lang="en-US" altLang="zh-CN" sz="2880" dirty="0">
                <a:sym typeface="+mn-ea"/>
              </a:rPr>
              <a:t>PreparedStatement</a:t>
            </a:r>
            <a:r>
              <a:rPr lang="zh-CN" altLang="en-US" sz="2880" dirty="0">
                <a:sym typeface="+mn-ea"/>
              </a:rPr>
              <a:t>：</a:t>
            </a:r>
          </a:p>
          <a:p>
            <a:pPr marL="228600" indent="-228600" algn="just" eaLnBrk="1" hangingPunct="1">
              <a:lnSpc>
                <a:spcPct val="120000"/>
              </a:lnSpc>
              <a:buSzTx/>
              <a:buFont typeface="Arial" panose="020B0604020202020204" pitchFamily="34" charset="0"/>
              <a:buChar char="•"/>
            </a:pPr>
            <a:r>
              <a:rPr lang="zh-CN" altLang="en-US" sz="2880" dirty="0">
                <a:sym typeface="+mn-ea"/>
              </a:rPr>
              <a:t>通过</a:t>
            </a:r>
            <a:r>
              <a:rPr lang="en-US" altLang="zh-CN" sz="2880" dirty="0">
                <a:sym typeface="+mn-ea"/>
              </a:rPr>
              <a:t>Connection</a:t>
            </a:r>
            <a:r>
              <a:rPr lang="zh-CN" altLang="en-US" sz="2880" dirty="0">
                <a:sym typeface="+mn-ea"/>
              </a:rPr>
              <a:t>对象的</a:t>
            </a:r>
            <a:r>
              <a:rPr lang="en-US" altLang="zh-CN" sz="2880" dirty="0">
                <a:sym typeface="+mn-ea"/>
              </a:rPr>
              <a:t>prepareStatement()</a:t>
            </a:r>
            <a:r>
              <a:rPr lang="zh-CN" altLang="en-US" sz="2880" dirty="0">
                <a:sym typeface="+mn-ea"/>
              </a:rPr>
              <a:t>方法创建：</a:t>
            </a:r>
            <a:endParaRPr lang="zh-CN" altLang="en-US" sz="2880" dirty="0"/>
          </a:p>
          <a:p>
            <a:pPr marL="685800" lvl="1" indent="-228600" algn="just" eaLnBrk="1" hangingPunct="1">
              <a:lnSpc>
                <a:spcPct val="12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2665" dirty="0">
                <a:sym typeface="+mn-ea"/>
              </a:rPr>
              <a:t>connection.prepareStatement(String sql)</a:t>
            </a:r>
            <a:endParaRPr lang="en-US" altLang="zh-CN" sz="2665" dirty="0"/>
          </a:p>
          <a:p>
            <a:pPr marL="685800" lvl="1" indent="-228600" algn="just" eaLnBrk="1" hangingPunct="1">
              <a:lnSpc>
                <a:spcPct val="12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2665" dirty="0">
                <a:sym typeface="+mn-ea"/>
              </a:rPr>
              <a:t>connection.prepareStatement(String sql,int resultSetType)</a:t>
            </a:r>
            <a:endParaRPr lang="en-US" altLang="zh-CN" sz="2665" dirty="0"/>
          </a:p>
          <a:p>
            <a:pPr marL="685800" lvl="1" indent="-228600" algn="just" eaLnBrk="1" hangingPunct="1">
              <a:lnSpc>
                <a:spcPct val="12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2665" dirty="0">
                <a:sym typeface="+mn-ea"/>
              </a:rPr>
              <a:t>connection.prepareStatement(String sql, int resultSetType,int resultSetConcurrency)</a:t>
            </a:r>
            <a:endParaRPr lang="en-US" altLang="zh-CN" sz="2665" dirty="0"/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16"/>
    </mc:Choice>
    <mc:Fallback xmlns="">
      <p:transition spd="slow" advTm="19916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zh-CN" altLang="en-US" sz="3600" dirty="0"/>
              <a:t>（</a:t>
            </a:r>
            <a:r>
              <a:rPr lang="en-US" altLang="zh-CN" sz="3600" dirty="0"/>
              <a:t>2</a:t>
            </a:r>
            <a:r>
              <a:rPr lang="zh-CN" altLang="en-US" sz="3600" dirty="0"/>
              <a:t>）</a:t>
            </a:r>
            <a:r>
              <a:rPr lang="en-US" altLang="zh-CN" sz="3600" dirty="0"/>
              <a:t>SQL</a:t>
            </a:r>
            <a:r>
              <a:rPr lang="zh-CN" altLang="en-US" sz="3600" dirty="0"/>
              <a:t>语句参数</a:t>
            </a:r>
            <a:endParaRPr lang="en-US" altLang="zh-CN" sz="3600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700"/>
              </a:spcBef>
            </a:pPr>
            <a:r>
              <a:rPr lang="zh-CN" altLang="en-US" sz="2800" dirty="0"/>
              <a:t>创建</a:t>
            </a:r>
            <a:r>
              <a:rPr lang="en-US" altLang="zh-CN" sz="2800" dirty="0" err="1"/>
              <a:t>PreparedStatement</a:t>
            </a:r>
            <a:r>
              <a:rPr lang="zh-CN" altLang="en-US" sz="2800" dirty="0"/>
              <a:t>时，</a:t>
            </a:r>
            <a:r>
              <a:rPr lang="en-US" altLang="zh-CN" sz="2800" dirty="0" err="1"/>
              <a:t>sql</a:t>
            </a:r>
            <a:r>
              <a:rPr lang="zh-CN" altLang="en-US" sz="2800" dirty="0"/>
              <a:t>语句参数可以是普通的</a:t>
            </a:r>
            <a:r>
              <a:rPr lang="en-US" altLang="zh-CN" sz="2800" dirty="0"/>
              <a:t>SQL</a:t>
            </a:r>
            <a:r>
              <a:rPr lang="zh-CN" altLang="en-US" sz="2800" dirty="0"/>
              <a:t>语句，也可以是带参数的</a:t>
            </a:r>
            <a:r>
              <a:rPr lang="en-US" altLang="zh-CN" sz="2800" dirty="0"/>
              <a:t>SQL</a:t>
            </a:r>
            <a:r>
              <a:rPr lang="zh-CN" altLang="en-US" sz="2800" dirty="0"/>
              <a:t>语句，如：</a:t>
            </a:r>
          </a:p>
          <a:p>
            <a:pPr lvl="1">
              <a:lnSpc>
                <a:spcPct val="100000"/>
              </a:lnSpc>
              <a:spcBef>
                <a:spcPts val="700"/>
              </a:spcBef>
            </a:pPr>
            <a:r>
              <a:rPr lang="en-US" altLang="zh-CN" sz="2800" dirty="0" err="1"/>
              <a:t>PreparedStatement</a:t>
            </a:r>
            <a:r>
              <a:rPr lang="en-US" altLang="zh-CN" sz="2800" dirty="0"/>
              <a:t> ps1=</a:t>
            </a:r>
            <a:r>
              <a:rPr lang="en-US" altLang="zh-CN" sz="2800" dirty="0" err="1"/>
              <a:t>con.prepareStatement</a:t>
            </a:r>
            <a:r>
              <a:rPr lang="en-US" altLang="zh-CN" sz="2800" dirty="0"/>
              <a:t>(</a:t>
            </a:r>
          </a:p>
          <a:p>
            <a:pPr lvl="1">
              <a:lnSpc>
                <a:spcPct val="100000"/>
              </a:lnSpc>
              <a:spcBef>
                <a:spcPts val="700"/>
              </a:spcBef>
            </a:pPr>
            <a:r>
              <a:rPr lang="en-US" altLang="zh-CN" sz="2800" dirty="0"/>
              <a:t>        "Select * from </a:t>
            </a:r>
            <a:r>
              <a:rPr lang="en-US" altLang="zh-CN" sz="2800" dirty="0" err="1"/>
              <a:t>myfriend</a:t>
            </a:r>
            <a:r>
              <a:rPr lang="en-US" altLang="zh-CN" sz="2800" dirty="0"/>
              <a:t> where name=?");</a:t>
            </a:r>
          </a:p>
          <a:p>
            <a:pPr lvl="1">
              <a:lnSpc>
                <a:spcPct val="100000"/>
              </a:lnSpc>
              <a:spcBef>
                <a:spcPts val="700"/>
              </a:spcBef>
            </a:pPr>
            <a:r>
              <a:rPr lang="en-US" altLang="zh-CN" sz="2800" dirty="0" err="1"/>
              <a:t>PreparedStatement</a:t>
            </a:r>
            <a:r>
              <a:rPr lang="en-US" altLang="zh-CN" sz="2800" dirty="0"/>
              <a:t> ps2= </a:t>
            </a:r>
            <a:r>
              <a:rPr lang="en-US" altLang="zh-CN" sz="2800" dirty="0" err="1"/>
              <a:t>con.prepareStatement</a:t>
            </a:r>
            <a:r>
              <a:rPr lang="en-US" altLang="zh-CN" sz="2800" dirty="0"/>
              <a:t>(</a:t>
            </a:r>
          </a:p>
          <a:p>
            <a:pPr lvl="1">
              <a:lnSpc>
                <a:spcPct val="100000"/>
              </a:lnSpc>
              <a:spcBef>
                <a:spcPts val="700"/>
              </a:spcBef>
            </a:pPr>
            <a:r>
              <a:rPr lang="en-US" altLang="zh-CN" sz="2800" dirty="0"/>
              <a:t>        "Insert into </a:t>
            </a:r>
            <a:r>
              <a:rPr lang="en-US" altLang="zh-CN" sz="2800" dirty="0" err="1"/>
              <a:t>myfriend</a:t>
            </a:r>
            <a:r>
              <a:rPr lang="en-US" altLang="zh-CN" sz="2800" dirty="0"/>
              <a:t>(</a:t>
            </a:r>
            <a:r>
              <a:rPr lang="en-US" altLang="zh-CN" sz="2800" dirty="0" err="1"/>
              <a:t>name,age,qq</a:t>
            </a:r>
            <a:r>
              <a:rPr lang="en-US" altLang="zh-CN" sz="2800" dirty="0"/>
              <a:t>) values(?,?,?)");</a:t>
            </a:r>
          </a:p>
        </p:txBody>
      </p:sp>
    </p:spTree>
    <p:custDataLst>
      <p:tags r:id="rId1"/>
    </p:custDataLst>
  </p:cSld>
  <p:clrMapOvr>
    <a:masterClrMapping/>
  </p:clrMapOvr>
  <p:transition advTm="11473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）设置参数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00000"/>
              </a:lnSpc>
              <a:spcBef>
                <a:spcPts val="700"/>
              </a:spcBef>
            </a:pPr>
            <a:r>
              <a:rPr lang="zh-CN" altLang="en-US" sz="2400" dirty="0">
                <a:sym typeface="+mn-ea"/>
              </a:rPr>
              <a:t>设置参数：通过</a:t>
            </a:r>
            <a:r>
              <a:rPr lang="en-US" altLang="zh-CN" sz="2400" dirty="0" err="1">
                <a:sym typeface="+mn-ea"/>
              </a:rPr>
              <a:t>setXXX</a:t>
            </a:r>
            <a:r>
              <a:rPr lang="en-US" altLang="zh-CN" sz="2400" dirty="0">
                <a:sym typeface="+mn-ea"/>
              </a:rPr>
              <a:t>(</a:t>
            </a:r>
            <a:r>
              <a:rPr lang="en-US" altLang="zh-CN" sz="2400" dirty="0" err="1">
                <a:sym typeface="+mn-ea"/>
              </a:rPr>
              <a:t>index,value</a:t>
            </a:r>
            <a:r>
              <a:rPr lang="en-US" altLang="zh-CN" sz="2400" dirty="0">
                <a:sym typeface="+mn-ea"/>
              </a:rPr>
              <a:t>)</a:t>
            </a:r>
            <a:r>
              <a:rPr lang="zh-CN" altLang="en-US" sz="2400" dirty="0">
                <a:sym typeface="+mn-ea"/>
              </a:rPr>
              <a:t>设置具体参数值，如</a:t>
            </a:r>
            <a:endParaRPr lang="zh-CN" altLang="en-US" sz="2400" dirty="0">
              <a:latin typeface="+mn-lt"/>
              <a:ea typeface="+mn-ea"/>
            </a:endParaRPr>
          </a:p>
          <a:p>
            <a:pPr lvl="1" eaLnBrk="1" hangingPunct="1">
              <a:lnSpc>
                <a:spcPct val="100000"/>
              </a:lnSpc>
              <a:spcBef>
                <a:spcPts val="700"/>
              </a:spcBef>
            </a:pPr>
            <a:r>
              <a:rPr lang="en-US" altLang="zh-CN" sz="2400" dirty="0">
                <a:sym typeface="+mn-ea"/>
              </a:rPr>
              <a:t>ps1.setString(1,"abc");</a:t>
            </a:r>
            <a:endParaRPr lang="en-US" altLang="zh-CN" sz="2400" dirty="0">
              <a:latin typeface="+mn-lt"/>
              <a:ea typeface="+mn-ea"/>
            </a:endParaRPr>
          </a:p>
          <a:p>
            <a:pPr lvl="1">
              <a:lnSpc>
                <a:spcPct val="100000"/>
              </a:lnSpc>
              <a:spcBef>
                <a:spcPts val="700"/>
              </a:spcBef>
            </a:pPr>
            <a:r>
              <a:rPr lang="en-US" altLang="zh-CN" sz="2400" dirty="0">
                <a:sym typeface="+mn-ea"/>
              </a:rPr>
              <a:t>ps2.setInt(2,20);</a:t>
            </a:r>
            <a:endParaRPr lang="en-US" altLang="zh-CN" sz="2400" dirty="0">
              <a:latin typeface="+mn-lt"/>
              <a:ea typeface="+mn-ea"/>
            </a:endParaRPr>
          </a:p>
          <a:p>
            <a:pPr marL="685800" lvl="1" indent="-228600" eaLnBrk="1" hangingPunct="1">
              <a:lnSpc>
                <a:spcPct val="100000"/>
              </a:lnSpc>
              <a:spcBef>
                <a:spcPts val="700"/>
              </a:spcBef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ym typeface="+mn-ea"/>
              </a:rPr>
              <a:t>执行</a:t>
            </a:r>
            <a:r>
              <a:rPr lang="en-US" altLang="zh-CN" sz="2400" dirty="0">
                <a:sym typeface="+mn-ea"/>
              </a:rPr>
              <a:t>PreparedStatement</a:t>
            </a:r>
            <a:r>
              <a:rPr lang="zh-CN" altLang="en-US" sz="2400" dirty="0">
                <a:sym typeface="+mn-ea"/>
              </a:rPr>
              <a:t>与普通</a:t>
            </a:r>
            <a:r>
              <a:rPr lang="en-US" altLang="zh-CN" sz="2400" dirty="0">
                <a:sym typeface="+mn-ea"/>
              </a:rPr>
              <a:t>Statement</a:t>
            </a:r>
            <a:r>
              <a:rPr lang="zh-CN" altLang="en-US" sz="2400" dirty="0">
                <a:sym typeface="+mn-ea"/>
              </a:rPr>
              <a:t>相同，即通过</a:t>
            </a:r>
            <a:r>
              <a:rPr lang="en-US" altLang="zh-CN" sz="2400" dirty="0">
                <a:sym typeface="+mn-ea"/>
              </a:rPr>
              <a:t>executeQuery()</a:t>
            </a:r>
            <a:r>
              <a:rPr lang="zh-CN" altLang="en-US" sz="2400" dirty="0">
                <a:sym typeface="+mn-ea"/>
              </a:rPr>
              <a:t>执行查询语句，通过</a:t>
            </a:r>
            <a:r>
              <a:rPr lang="en-US" altLang="zh-CN" sz="2400" dirty="0">
                <a:sym typeface="+mn-ea"/>
              </a:rPr>
              <a:t>executeUpdate()</a:t>
            </a:r>
            <a:r>
              <a:rPr lang="zh-CN" altLang="en-US" sz="2400" dirty="0">
                <a:sym typeface="+mn-ea"/>
              </a:rPr>
              <a:t>执行更新语句。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94"/>
    </mc:Choice>
    <mc:Fallback xmlns="">
      <p:transition spd="slow" advTm="17094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pPr eaLnBrk="1" hangingPunct="1"/>
            <a:r>
              <a:rPr lang="en-US" altLang="zh-CN" sz="3600" dirty="0"/>
              <a:t>4.</a:t>
            </a:r>
            <a:r>
              <a:rPr lang="en-US" altLang="zh-CN" sz="3600" dirty="0">
                <a:sym typeface="+mn-ea"/>
              </a:rPr>
              <a:t>2 </a:t>
            </a:r>
            <a:r>
              <a:rPr lang="en-US" altLang="zh-CN" sz="3600" dirty="0" err="1">
                <a:sym typeface="+mn-ea"/>
              </a:rPr>
              <a:t>CallableStatement</a:t>
            </a:r>
            <a:endParaRPr lang="en-US" altLang="zh-CN" sz="3600" dirty="0"/>
          </a:p>
        </p:txBody>
      </p:sp>
      <p:sp>
        <p:nvSpPr>
          <p:cNvPr id="24371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>
              <a:lnSpc>
                <a:spcPct val="100000"/>
              </a:lnSpc>
              <a:spcBef>
                <a:spcPts val="700"/>
              </a:spcBef>
            </a:pPr>
            <a:r>
              <a:rPr lang="en-US" altLang="zh-CN" sz="2800" dirty="0"/>
              <a:t>CallableStatement</a:t>
            </a:r>
            <a:r>
              <a:rPr lang="zh-CN" altLang="en-US" sz="2800" dirty="0"/>
              <a:t>用于执行存储过程。</a:t>
            </a:r>
          </a:p>
          <a:p>
            <a:pPr lvl="1">
              <a:lnSpc>
                <a:spcPct val="100000"/>
              </a:lnSpc>
              <a:spcBef>
                <a:spcPts val="700"/>
              </a:spcBef>
            </a:pPr>
            <a:r>
              <a:rPr lang="zh-CN" altLang="en-US" sz="2800" dirty="0"/>
              <a:t>存储过程是对数据库数据进行业务逻辑处理的过程，主要由</a:t>
            </a:r>
            <a:r>
              <a:rPr lang="en-US" altLang="zh-CN" sz="2800" dirty="0"/>
              <a:t>sql</a:t>
            </a:r>
            <a:r>
              <a:rPr lang="zh-CN" altLang="en-US" sz="2800" dirty="0"/>
              <a:t>语句和流程控制代码组成。</a:t>
            </a:r>
          </a:p>
          <a:p>
            <a:pPr lvl="1">
              <a:lnSpc>
                <a:spcPct val="100000"/>
              </a:lnSpc>
              <a:spcBef>
                <a:spcPts val="700"/>
              </a:spcBef>
            </a:pPr>
            <a:r>
              <a:rPr lang="zh-CN" altLang="en-US" sz="2800" dirty="0"/>
              <a:t>通过存储过程可以提高业务处理的效率，也可以在数据库中封装业务逻辑，保护业务代码。</a:t>
            </a:r>
          </a:p>
        </p:txBody>
      </p:sp>
      <p:sp>
        <p:nvSpPr>
          <p:cNvPr id="243717" name="Text Box 4"/>
          <p:cNvSpPr txBox="1"/>
          <p:nvPr/>
        </p:nvSpPr>
        <p:spPr>
          <a:xfrm>
            <a:off x="2208213" y="4365625"/>
            <a:ext cx="7848600" cy="3683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243718" name="Text Box 5"/>
          <p:cNvSpPr txBox="1"/>
          <p:nvPr/>
        </p:nvSpPr>
        <p:spPr>
          <a:xfrm>
            <a:off x="1919288" y="4365625"/>
            <a:ext cx="8497887" cy="119888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</a:rPr>
              <a:t>create procedure pro_reg (in name varchar(50), in pwd varchar(50)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begin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   insert into tb_reg (name, pwd) values (nc, pwd);</a:t>
            </a:r>
            <a:br>
              <a:rPr lang="en-US" altLang="zh-CN" dirty="0">
                <a:latin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</a:rPr>
              <a:t>end;</a:t>
            </a:r>
          </a:p>
        </p:txBody>
      </p:sp>
    </p:spTree>
    <p:custDataLst>
      <p:tags r:id="rId1"/>
    </p:custDataLst>
  </p:cSld>
  <p:clrMapOvr>
    <a:masterClrMapping/>
  </p:clrMapOvr>
  <p:transition advTm="16085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pPr eaLnBrk="1" hangingPunct="1"/>
            <a:r>
              <a:rPr lang="zh-CN" altLang="en-US" sz="3600" dirty="0">
                <a:sym typeface="+mn-ea"/>
              </a:rPr>
              <a:t>调用</a:t>
            </a:r>
            <a:endParaRPr lang="en-US" altLang="zh-CN" sz="3600" dirty="0"/>
          </a:p>
        </p:txBody>
      </p:sp>
      <p:sp>
        <p:nvSpPr>
          <p:cNvPr id="24474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>
              <a:lnSpc>
                <a:spcPct val="100000"/>
              </a:lnSpc>
              <a:spcBef>
                <a:spcPts val="700"/>
              </a:spcBef>
            </a:pPr>
            <a:r>
              <a:rPr lang="en-US" altLang="zh-CN" sz="2800" dirty="0"/>
              <a:t>CallableStatement</a:t>
            </a:r>
            <a:r>
              <a:rPr lang="zh-CN" altLang="en-US" sz="2800" dirty="0"/>
              <a:t>的创建过程和执行与</a:t>
            </a:r>
            <a:r>
              <a:rPr lang="en-US" altLang="zh-CN" sz="2800" dirty="0"/>
              <a:t>PreparedStatement</a:t>
            </a:r>
            <a:r>
              <a:rPr lang="zh-CN" altLang="en-US" sz="2800" dirty="0"/>
              <a:t>类似，只不过需要调用</a:t>
            </a:r>
            <a:r>
              <a:rPr lang="en-US" altLang="zh-CN" sz="2800" dirty="0"/>
              <a:t>Connection</a:t>
            </a:r>
            <a:r>
              <a:rPr lang="zh-CN" altLang="en-US" sz="2800" dirty="0"/>
              <a:t>对象的</a:t>
            </a:r>
            <a:r>
              <a:rPr lang="en-US" altLang="zh-CN" sz="2800" dirty="0"/>
              <a:t>prepareCall()</a:t>
            </a:r>
            <a:r>
              <a:rPr lang="zh-CN" altLang="en-US" sz="2800" dirty="0"/>
              <a:t>方法创建。</a:t>
            </a:r>
          </a:p>
          <a:p>
            <a:pPr lvl="1">
              <a:lnSpc>
                <a:spcPct val="100000"/>
              </a:lnSpc>
              <a:spcBef>
                <a:spcPts val="700"/>
              </a:spcBef>
            </a:pPr>
            <a:r>
              <a:rPr lang="zh-CN" altLang="en-US" sz="2800" dirty="0"/>
              <a:t>调用存储过程的</a:t>
            </a:r>
            <a:r>
              <a:rPr lang="en-US" altLang="zh-CN" sz="2800" dirty="0"/>
              <a:t>SQL</a:t>
            </a:r>
            <a:r>
              <a:rPr lang="zh-CN" altLang="en-US" sz="2800" dirty="0"/>
              <a:t>语句格式为“</a:t>
            </a:r>
            <a:r>
              <a:rPr lang="en-US" altLang="zh-CN" sz="2800" dirty="0"/>
              <a:t>{ call </a:t>
            </a:r>
            <a:r>
              <a:rPr lang="zh-CN" altLang="en-US" sz="2800" dirty="0"/>
              <a:t>存储过程名</a:t>
            </a:r>
            <a:r>
              <a:rPr lang="en-US" altLang="zh-CN" sz="2800" dirty="0"/>
              <a:t>}</a:t>
            </a:r>
            <a:r>
              <a:rPr lang="zh-CN" altLang="en-US" sz="2800" dirty="0"/>
              <a:t>”，</a:t>
            </a:r>
            <a:endParaRPr lang="en-US" altLang="zh-CN" sz="2800" dirty="0"/>
          </a:p>
          <a:p>
            <a:pPr lvl="1">
              <a:lnSpc>
                <a:spcPct val="100000"/>
              </a:lnSpc>
              <a:spcBef>
                <a:spcPts val="700"/>
              </a:spcBef>
            </a:pPr>
            <a:r>
              <a:rPr lang="zh-CN" altLang="en-US" sz="2800" dirty="0"/>
              <a:t>也可以为存储过程指定输入输出参数，</a:t>
            </a:r>
            <a:endParaRPr lang="en-US" altLang="zh-CN" sz="2800" dirty="0"/>
          </a:p>
          <a:p>
            <a:pPr lvl="1">
              <a:lnSpc>
                <a:spcPct val="100000"/>
              </a:lnSpc>
              <a:spcBef>
                <a:spcPts val="700"/>
              </a:spcBef>
            </a:pPr>
            <a:r>
              <a:rPr lang="zh-CN" altLang="en-US" sz="2800" dirty="0"/>
              <a:t>如“</a:t>
            </a:r>
            <a:r>
              <a:rPr lang="en-US" altLang="zh-CN" sz="2800" dirty="0"/>
              <a:t>{ ? = call </a:t>
            </a:r>
            <a:r>
              <a:rPr lang="en-US" altLang="zh-CN" sz="2800" dirty="0" err="1"/>
              <a:t>Save_Rating</a:t>
            </a:r>
            <a:r>
              <a:rPr lang="en-US" altLang="zh-CN" sz="2800" dirty="0"/>
              <a:t>(?,?,?)}</a:t>
            </a:r>
            <a:r>
              <a:rPr lang="zh-CN" altLang="en-US" sz="2800" dirty="0"/>
              <a:t>”。</a:t>
            </a:r>
          </a:p>
        </p:txBody>
      </p:sp>
      <p:sp>
        <p:nvSpPr>
          <p:cNvPr id="244741" name="Text Box 4"/>
          <p:cNvSpPr txBox="1"/>
          <p:nvPr/>
        </p:nvSpPr>
        <p:spPr>
          <a:xfrm>
            <a:off x="2208213" y="4365625"/>
            <a:ext cx="7848600" cy="3683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zh-CN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advTm="21834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846186" y="1692170"/>
            <a:ext cx="2171334" cy="3770263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>
            <a:defPPr>
              <a:defRPr lang="zh-CN"/>
            </a:defPPr>
            <a:lvl1pPr>
              <a:defRPr sz="23900" b="1">
                <a:solidFill>
                  <a:schemeClr val="bg1">
                    <a:lumMod val="50000"/>
                  </a:schemeClr>
                </a:solidFill>
                <a:latin typeface="+mj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39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</a:rPr>
              <a:t>5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事务</a:t>
            </a:r>
            <a:endParaRPr lang="en-US" altLang="zh-CN">
              <a:effectLst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4"/>
    </mc:Choice>
    <mc:Fallback xmlns="">
      <p:transition spd="slow" advTm="1254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pPr eaLnBrk="1" hangingPunct="1"/>
            <a:r>
              <a:rPr lang="en-US" altLang="zh-CN" sz="3600" dirty="0"/>
              <a:t>5.1 </a:t>
            </a:r>
            <a:r>
              <a:rPr lang="zh-CN" altLang="en-US" sz="3600" dirty="0"/>
              <a:t>事务</a:t>
            </a:r>
          </a:p>
        </p:txBody>
      </p:sp>
      <p:sp>
        <p:nvSpPr>
          <p:cNvPr id="24576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 sz="2880" dirty="0"/>
              <a:t>事务</a:t>
            </a:r>
            <a:r>
              <a:rPr lang="en-US" altLang="zh-CN" sz="2880" dirty="0"/>
              <a:t>(Transaction)</a:t>
            </a:r>
            <a:r>
              <a:rPr lang="zh-CN" altLang="en-US" sz="2880" dirty="0"/>
              <a:t>是指数据库从一个稳定状态变化到另一个稳定状态的一系列操作。</a:t>
            </a:r>
          </a:p>
          <a:p>
            <a:pPr lvl="0" eaLnBrk="1" hangingPunct="1"/>
            <a:r>
              <a:rPr lang="zh-CN" altLang="en-US" sz="2880" dirty="0"/>
              <a:t>所谓“稳定状态”是指数据库数据完整性没有遭到破坏的状态。</a:t>
            </a:r>
          </a:p>
          <a:p>
            <a:pPr lvl="0" eaLnBrk="1" hangingPunct="1"/>
            <a:r>
              <a:rPr lang="zh-CN" altLang="en-US" sz="2880" dirty="0"/>
              <a:t>在数据库应用中，通过多</a:t>
            </a:r>
            <a:r>
              <a:rPr lang="en-US" altLang="zh-CN" sz="2880" dirty="0"/>
              <a:t>SQL</a:t>
            </a:r>
            <a:r>
              <a:rPr lang="zh-CN" altLang="en-US" sz="2880" dirty="0"/>
              <a:t>语句修改数据库内容的操作非常普遍。如果其中的部分语句没有执行成功，就会导致数据不一致或不完整结果。</a:t>
            </a:r>
          </a:p>
        </p:txBody>
      </p:sp>
      <p:sp>
        <p:nvSpPr>
          <p:cNvPr id="245765" name="Text Box 4"/>
          <p:cNvSpPr txBox="1"/>
          <p:nvPr/>
        </p:nvSpPr>
        <p:spPr>
          <a:xfrm>
            <a:off x="2208213" y="4365625"/>
            <a:ext cx="7848600" cy="3683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zh-CN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advTm="28866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pPr eaLnBrk="1" hangingPunct="1"/>
            <a:r>
              <a:rPr lang="zh-CN" altLang="en-US" sz="3600" dirty="0">
                <a:sym typeface="+mn-ea"/>
              </a:rPr>
              <a:t>（</a:t>
            </a:r>
            <a:r>
              <a:rPr lang="en-US" altLang="zh-CN" sz="3600" dirty="0">
                <a:sym typeface="+mn-ea"/>
              </a:rPr>
              <a:t>1</a:t>
            </a:r>
            <a:r>
              <a:rPr lang="zh-CN" altLang="en-US" sz="3600" dirty="0">
                <a:sym typeface="+mn-ea"/>
              </a:rPr>
              <a:t>）事务概述</a:t>
            </a:r>
            <a:endParaRPr lang="zh-CN" altLang="en-US" sz="3600" dirty="0"/>
          </a:p>
        </p:txBody>
      </p:sp>
      <p:sp>
        <p:nvSpPr>
          <p:cNvPr id="24678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dirty="0">
                <a:sym typeface="+mn-ea"/>
              </a:rPr>
              <a:t>事务实例：银行转帐操作</a:t>
            </a:r>
            <a:endParaRPr lang="zh-CN" altLang="en-US" sz="2400" dirty="0"/>
          </a:p>
        </p:txBody>
      </p:sp>
      <p:sp>
        <p:nvSpPr>
          <p:cNvPr id="246789" name="Text Box 4"/>
          <p:cNvSpPr txBox="1"/>
          <p:nvPr/>
        </p:nvSpPr>
        <p:spPr>
          <a:xfrm>
            <a:off x="2352675" y="4005263"/>
            <a:ext cx="7848600" cy="3683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246790" name="Rectangle 5"/>
          <p:cNvSpPr/>
          <p:nvPr/>
        </p:nvSpPr>
        <p:spPr>
          <a:xfrm>
            <a:off x="4152900" y="2276475"/>
            <a:ext cx="2232025" cy="50482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 wrap="none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</a:rPr>
              <a:t>id:340598</a:t>
            </a:r>
          </a:p>
        </p:txBody>
      </p:sp>
      <p:sp>
        <p:nvSpPr>
          <p:cNvPr id="246791" name="Rectangle 6"/>
          <p:cNvSpPr/>
          <p:nvPr/>
        </p:nvSpPr>
        <p:spPr>
          <a:xfrm>
            <a:off x="6384925" y="2276475"/>
            <a:ext cx="2232025" cy="50482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 wrap="none" anchor="ctr"/>
          <a:lstStyle/>
          <a:p>
            <a:pPr algn="ctr"/>
            <a:r>
              <a:rPr lang="zh-CN" altLang="en-US" dirty="0">
                <a:latin typeface="Arial" panose="020B0604020202020204" pitchFamily="34" charset="0"/>
              </a:rPr>
              <a:t>金额</a:t>
            </a:r>
            <a:r>
              <a:rPr lang="en-US" altLang="zh-CN" dirty="0">
                <a:latin typeface="Arial" panose="020B0604020202020204" pitchFamily="34" charset="0"/>
              </a:rPr>
              <a:t>:10000.00</a:t>
            </a:r>
          </a:p>
        </p:txBody>
      </p:sp>
      <p:sp>
        <p:nvSpPr>
          <p:cNvPr id="246792" name="Text Box 7"/>
          <p:cNvSpPr txBox="1"/>
          <p:nvPr/>
        </p:nvSpPr>
        <p:spPr>
          <a:xfrm>
            <a:off x="2279650" y="2347913"/>
            <a:ext cx="1655763" cy="3683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转出账号：</a:t>
            </a:r>
          </a:p>
        </p:txBody>
      </p:sp>
      <p:sp>
        <p:nvSpPr>
          <p:cNvPr id="246793" name="Rectangle 8"/>
          <p:cNvSpPr/>
          <p:nvPr/>
        </p:nvSpPr>
        <p:spPr>
          <a:xfrm>
            <a:off x="5737225" y="4724400"/>
            <a:ext cx="2232025" cy="50482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 wrap="none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</a:rPr>
              <a:t>id:741276</a:t>
            </a:r>
          </a:p>
        </p:txBody>
      </p:sp>
      <p:sp>
        <p:nvSpPr>
          <p:cNvPr id="246794" name="Rectangle 9"/>
          <p:cNvSpPr/>
          <p:nvPr/>
        </p:nvSpPr>
        <p:spPr>
          <a:xfrm>
            <a:off x="7969250" y="4724400"/>
            <a:ext cx="2232025" cy="50482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 wrap="none" anchor="ctr"/>
          <a:lstStyle/>
          <a:p>
            <a:pPr algn="ctr"/>
            <a:r>
              <a:rPr lang="zh-CN" altLang="en-US" dirty="0">
                <a:latin typeface="Arial" panose="020B0604020202020204" pitchFamily="34" charset="0"/>
              </a:rPr>
              <a:t>金额</a:t>
            </a:r>
            <a:r>
              <a:rPr lang="en-US" altLang="zh-CN" dirty="0">
                <a:latin typeface="Arial" panose="020B0604020202020204" pitchFamily="34" charset="0"/>
              </a:rPr>
              <a:t>:0.00</a:t>
            </a:r>
          </a:p>
        </p:txBody>
      </p:sp>
      <p:sp>
        <p:nvSpPr>
          <p:cNvPr id="246795" name="Text Box 11"/>
          <p:cNvSpPr txBox="1"/>
          <p:nvPr/>
        </p:nvSpPr>
        <p:spPr>
          <a:xfrm>
            <a:off x="4010025" y="4797425"/>
            <a:ext cx="1655763" cy="3683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</a:rPr>
              <a:t>转入账号：</a:t>
            </a:r>
          </a:p>
        </p:txBody>
      </p:sp>
      <p:sp>
        <p:nvSpPr>
          <p:cNvPr id="246796" name="Line 12"/>
          <p:cNvSpPr/>
          <p:nvPr/>
        </p:nvSpPr>
        <p:spPr>
          <a:xfrm>
            <a:off x="2279650" y="3716338"/>
            <a:ext cx="7993063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dashDot"/>
            <a:headEnd type="none" w="med" len="med"/>
            <a:tailEnd type="none" w="lg" len="med"/>
          </a:ln>
        </p:spPr>
      </p:sp>
      <p:sp>
        <p:nvSpPr>
          <p:cNvPr id="1703949" name="Rectangle 13"/>
          <p:cNvSpPr/>
          <p:nvPr/>
        </p:nvSpPr>
        <p:spPr>
          <a:xfrm>
            <a:off x="2208213" y="3068638"/>
            <a:ext cx="7704137" cy="360362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 wrap="none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</a:rPr>
              <a:t>(1) update XXX set </a:t>
            </a:r>
            <a:r>
              <a:rPr lang="zh-CN" altLang="en-US" dirty="0">
                <a:latin typeface="Arial" panose="020B0604020202020204" pitchFamily="34" charset="0"/>
              </a:rPr>
              <a:t>金额</a:t>
            </a:r>
            <a:r>
              <a:rPr lang="en-US" altLang="zh-CN" dirty="0">
                <a:latin typeface="Arial" panose="020B0604020202020204" pitchFamily="34" charset="0"/>
              </a:rPr>
              <a:t>=</a:t>
            </a:r>
            <a:r>
              <a:rPr lang="zh-CN" altLang="en-US" dirty="0">
                <a:latin typeface="Arial" panose="020B0604020202020204" pitchFamily="34" charset="0"/>
              </a:rPr>
              <a:t>金额</a:t>
            </a:r>
            <a:r>
              <a:rPr lang="en-US" altLang="zh-CN" dirty="0">
                <a:latin typeface="Arial" panose="020B0604020202020204" pitchFamily="34" charset="0"/>
              </a:rPr>
              <a:t>+10000 where id=741276</a:t>
            </a:r>
          </a:p>
        </p:txBody>
      </p:sp>
      <p:sp>
        <p:nvSpPr>
          <p:cNvPr id="1703950" name="Rectangle 14"/>
          <p:cNvSpPr/>
          <p:nvPr/>
        </p:nvSpPr>
        <p:spPr>
          <a:xfrm>
            <a:off x="2352675" y="4005263"/>
            <a:ext cx="7704138" cy="360362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 wrap="none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</a:rPr>
              <a:t>(2) update XXX set </a:t>
            </a:r>
            <a:r>
              <a:rPr lang="zh-CN" altLang="en-US" dirty="0">
                <a:latin typeface="Arial" panose="020B0604020202020204" pitchFamily="34" charset="0"/>
              </a:rPr>
              <a:t>金额</a:t>
            </a:r>
            <a:r>
              <a:rPr lang="en-US" altLang="zh-CN" dirty="0">
                <a:latin typeface="Arial" panose="020B0604020202020204" pitchFamily="34" charset="0"/>
              </a:rPr>
              <a:t>=</a:t>
            </a:r>
            <a:r>
              <a:rPr lang="zh-CN" altLang="en-US" dirty="0">
                <a:latin typeface="Arial" panose="020B0604020202020204" pitchFamily="34" charset="0"/>
              </a:rPr>
              <a:t>金额</a:t>
            </a:r>
            <a:r>
              <a:rPr lang="en-US" altLang="zh-CN" dirty="0">
                <a:latin typeface="Arial" panose="020B0604020202020204" pitchFamily="34" charset="0"/>
              </a:rPr>
              <a:t>-10000 where id=340598</a:t>
            </a:r>
          </a:p>
        </p:txBody>
      </p:sp>
      <p:sp>
        <p:nvSpPr>
          <p:cNvPr id="1703951" name="Rectangle 15"/>
          <p:cNvSpPr/>
          <p:nvPr/>
        </p:nvSpPr>
        <p:spPr>
          <a:xfrm>
            <a:off x="7969250" y="4724400"/>
            <a:ext cx="2232025" cy="50482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 wrap="none" anchor="ctr"/>
          <a:lstStyle/>
          <a:p>
            <a:pPr algn="ctr"/>
            <a:r>
              <a:rPr lang="zh-CN" altLang="en-US" dirty="0">
                <a:latin typeface="Arial" panose="020B0604020202020204" pitchFamily="34" charset="0"/>
              </a:rPr>
              <a:t>金额</a:t>
            </a:r>
            <a:r>
              <a:rPr lang="en-US" altLang="zh-CN" dirty="0">
                <a:latin typeface="Arial" panose="020B0604020202020204" pitchFamily="34" charset="0"/>
              </a:rPr>
              <a:t>:10000.00</a:t>
            </a:r>
          </a:p>
        </p:txBody>
      </p:sp>
      <p:sp>
        <p:nvSpPr>
          <p:cNvPr id="1703952" name="Rectangle 16"/>
          <p:cNvSpPr/>
          <p:nvPr/>
        </p:nvSpPr>
        <p:spPr>
          <a:xfrm>
            <a:off x="6384925" y="2276475"/>
            <a:ext cx="2232025" cy="50482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 wrap="none" anchor="ctr"/>
          <a:lstStyle/>
          <a:p>
            <a:pPr algn="ctr"/>
            <a:r>
              <a:rPr lang="zh-CN" altLang="en-US" dirty="0">
                <a:latin typeface="Arial" panose="020B0604020202020204" pitchFamily="34" charset="0"/>
              </a:rPr>
              <a:t>金额</a:t>
            </a:r>
            <a:r>
              <a:rPr lang="en-US" altLang="zh-CN" dirty="0">
                <a:latin typeface="Arial" panose="020B0604020202020204" pitchFamily="34" charset="0"/>
              </a:rPr>
              <a:t>:0.00</a:t>
            </a:r>
          </a:p>
        </p:txBody>
      </p:sp>
      <p:sp>
        <p:nvSpPr>
          <p:cNvPr id="1703953" name="AutoShape 17"/>
          <p:cNvSpPr/>
          <p:nvPr/>
        </p:nvSpPr>
        <p:spPr>
          <a:xfrm>
            <a:off x="1919288" y="4652963"/>
            <a:ext cx="2376487" cy="936625"/>
          </a:xfrm>
          <a:prstGeom prst="cloudCallout">
            <a:avLst>
              <a:gd name="adj1" fmla="val 15130"/>
              <a:gd name="adj2" fmla="val -80847"/>
            </a:avLst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med"/>
          </a:ln>
        </p:spPr>
        <p:txBody>
          <a:bodyPr/>
          <a:lstStyle/>
          <a:p>
            <a:pPr algn="ctr"/>
            <a:r>
              <a:rPr lang="zh-CN" altLang="en-US" dirty="0">
                <a:latin typeface="Arial" panose="020B0604020202020204" pitchFamily="34" charset="0"/>
              </a:rPr>
              <a:t>执行失败，结果会如何？</a:t>
            </a:r>
          </a:p>
        </p:txBody>
      </p:sp>
    </p:spTree>
    <p:custDataLst>
      <p:tags r:id="rId1"/>
    </p:custDataLst>
  </p:cSld>
  <p:clrMapOvr>
    <a:masterClrMapping/>
  </p:clrMapOvr>
  <p:transition advTm="5655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mph" presetSubtype="0" repeatCount="indefinite" fill="hold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170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3949" grpId="0" bldLvl="0" animBg="1"/>
      <p:bldP spid="1703950" grpId="0" bldLvl="0" animBg="1"/>
      <p:bldP spid="1703950" grpId="1" bldLvl="0" animBg="1"/>
      <p:bldP spid="1703951" grpId="0" bldLvl="0" animBg="1"/>
      <p:bldP spid="1703952" grpId="0" bldLvl="0" animBg="1"/>
      <p:bldP spid="1703953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）事务概述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38960"/>
            <a:ext cx="10515600" cy="4351338"/>
          </a:xfrm>
        </p:spPr>
        <p:txBody>
          <a:bodyPr/>
          <a:lstStyle/>
          <a:p>
            <a:pPr marL="228600" indent="-228600" eaLnBrk="1" hangingPunct="1">
              <a:buSzTx/>
              <a:buFont typeface="Arial" panose="020B0604020202020204" pitchFamily="34" charset="0"/>
              <a:buChar char="•"/>
            </a:pPr>
            <a:r>
              <a:rPr lang="zh-CN" altLang="en-US" sz="2880" dirty="0">
                <a:sym typeface="+mn-ea"/>
              </a:rPr>
              <a:t>在通常的数据库操作中，每个更新语句都是一个独立的事务操作，即每执行一次更新语句就会提交</a:t>
            </a:r>
            <a:r>
              <a:rPr lang="en-US" altLang="zh-CN" sz="2880" dirty="0">
                <a:sym typeface="+mn-ea"/>
              </a:rPr>
              <a:t>(commit)</a:t>
            </a:r>
            <a:r>
              <a:rPr lang="zh-CN" altLang="en-US" sz="2880" dirty="0">
                <a:sym typeface="+mn-ea"/>
              </a:rPr>
              <a:t>一次事务。</a:t>
            </a:r>
          </a:p>
          <a:p>
            <a:pPr marL="228600" indent="-228600" eaLnBrk="1" hangingPunct="1">
              <a:buSzTx/>
              <a:buFont typeface="Arial" panose="020B0604020202020204" pitchFamily="34" charset="0"/>
              <a:buChar char="•"/>
            </a:pPr>
            <a:r>
              <a:rPr lang="zh-CN" altLang="en-US" sz="2880" dirty="0">
                <a:sym typeface="+mn-ea"/>
              </a:rPr>
              <a:t>一般的情况下这样做没有问题，但一旦涉及到类似于上例所述情况，就必须将一系列更新操作当作一个事务来处理。</a:t>
            </a:r>
            <a:endParaRPr lang="zh-CN" altLang="en-US" sz="2880" dirty="0">
              <a:latin typeface="+mn-lt"/>
              <a:ea typeface="+mn-ea"/>
            </a:endParaRPr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33"/>
    </mc:Choice>
    <mc:Fallback xmlns="">
      <p:transition spd="slow" advTm="25133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5.2 </a:t>
            </a:r>
            <a:r>
              <a:rPr lang="zh-CN" altLang="en-US" dirty="0">
                <a:sym typeface="+mn-ea"/>
              </a:rPr>
              <a:t>管理事务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 eaLnBrk="1" hangingPunct="1">
              <a:buSzTx/>
              <a:buFont typeface="Arial" panose="020B0604020202020204" pitchFamily="34" charset="0"/>
              <a:buChar char="•"/>
            </a:pPr>
            <a:r>
              <a:rPr lang="zh-CN" altLang="en-US" sz="2800" dirty="0">
                <a:sym typeface="+mn-ea"/>
              </a:rPr>
              <a:t>取消自动提交事务：</a:t>
            </a:r>
            <a:endParaRPr lang="zh-CN" altLang="en-US" sz="2800" dirty="0">
              <a:latin typeface="+mn-lt"/>
              <a:ea typeface="+mn-ea"/>
            </a:endParaRPr>
          </a:p>
          <a:p>
            <a:pPr lvl="1" eaLnBrk="1" hangingPunct="1">
              <a:buNone/>
            </a:pPr>
            <a:r>
              <a:rPr lang="en-US" altLang="zh-CN" sz="2800" dirty="0">
                <a:sym typeface="+mn-ea"/>
              </a:rPr>
              <a:t>Connection con=dataSource.getConnection();</a:t>
            </a:r>
            <a:endParaRPr lang="en-US" altLang="zh-CN" sz="2800" dirty="0">
              <a:latin typeface="+mn-lt"/>
              <a:ea typeface="+mn-ea"/>
            </a:endParaRPr>
          </a:p>
          <a:p>
            <a:pPr lvl="1" eaLnBrk="1" hangingPunct="1">
              <a:buNone/>
            </a:pPr>
            <a:r>
              <a:rPr lang="en-US" altLang="zh-CN" sz="2800" dirty="0">
                <a:sym typeface="+mn-ea"/>
              </a:rPr>
              <a:t>con.setAutoCommit(false);</a:t>
            </a:r>
            <a:endParaRPr lang="en-US" altLang="zh-CN" sz="2800" dirty="0">
              <a:latin typeface="+mn-lt"/>
              <a:ea typeface="+mn-ea"/>
            </a:endParaRPr>
          </a:p>
          <a:p>
            <a:pPr marL="228600" lvl="0" indent="-228600" eaLnBrk="1" hangingPunct="1">
              <a:buSzTx/>
              <a:buFont typeface="Arial" panose="020B0604020202020204" pitchFamily="34" charset="0"/>
              <a:buChar char="•"/>
            </a:pPr>
            <a:r>
              <a:rPr lang="zh-CN" altLang="en-US" sz="2800" dirty="0">
                <a:sym typeface="+mn-ea"/>
              </a:rPr>
              <a:t>提交当前事务：</a:t>
            </a:r>
            <a:endParaRPr lang="zh-CN" altLang="en-US" sz="2800" dirty="0">
              <a:latin typeface="+mn-lt"/>
              <a:ea typeface="+mn-ea"/>
            </a:endParaRPr>
          </a:p>
          <a:p>
            <a:pPr lvl="1" eaLnBrk="1" hangingPunct="1">
              <a:buNone/>
            </a:pPr>
            <a:r>
              <a:rPr lang="en-US" altLang="zh-CN" sz="2800" dirty="0">
                <a:sym typeface="+mn-ea"/>
              </a:rPr>
              <a:t>con.commit();</a:t>
            </a:r>
            <a:endParaRPr lang="en-US" altLang="zh-CN" sz="2800" dirty="0">
              <a:latin typeface="+mn-lt"/>
              <a:ea typeface="+mn-ea"/>
            </a:endParaRPr>
          </a:p>
          <a:p>
            <a:pPr marL="228600" lvl="0" indent="-228600" eaLnBrk="1" hangingPunct="1">
              <a:buSzTx/>
              <a:buFont typeface="Arial" panose="020B0604020202020204" pitchFamily="34" charset="0"/>
              <a:buChar char="•"/>
            </a:pPr>
            <a:r>
              <a:rPr lang="zh-CN" altLang="en-US" sz="2800" dirty="0">
                <a:sym typeface="+mn-ea"/>
              </a:rPr>
              <a:t>回滚事务：</a:t>
            </a:r>
            <a:endParaRPr lang="zh-CN" altLang="en-US" sz="2800" dirty="0">
              <a:latin typeface="+mn-lt"/>
              <a:ea typeface="+mn-ea"/>
            </a:endParaRPr>
          </a:p>
          <a:p>
            <a:pPr lvl="1" eaLnBrk="1" hangingPunct="1">
              <a:buNone/>
            </a:pPr>
            <a:r>
              <a:rPr lang="en-US" altLang="zh-CN" sz="2800" dirty="0">
                <a:sym typeface="+mn-ea"/>
              </a:rPr>
              <a:t>con.rollback();</a:t>
            </a:r>
            <a:endParaRPr lang="zh-CN" altLang="en-US" sz="28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26"/>
    </mc:Choice>
    <mc:Fallback xmlns="">
      <p:transition spd="slow" advTm="12626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）管理事务说明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228600" eaLnBrk="1" fontAlgn="base" hangingPunct="1">
              <a:lnSpc>
                <a:spcPct val="120000"/>
              </a:lnSpc>
              <a:spcAft>
                <a:spcPct val="0"/>
              </a:spcAft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ym typeface="+mn-ea"/>
              </a:rPr>
              <a:t>实例：在</a:t>
            </a:r>
            <a:r>
              <a:rPr lang="en-US" altLang="zh-CN" dirty="0">
                <a:sym typeface="+mn-ea"/>
              </a:rPr>
              <a:t>MyFriend</a:t>
            </a:r>
            <a:r>
              <a:rPr lang="zh-CN" altLang="en-US" dirty="0">
                <a:sym typeface="+mn-ea"/>
              </a:rPr>
              <a:t>表基础上增加</a:t>
            </a:r>
            <a:r>
              <a:rPr lang="en-US" altLang="zh-CN" dirty="0">
                <a:sym typeface="+mn-ea"/>
              </a:rPr>
              <a:t>FriendMessage</a:t>
            </a:r>
            <a:r>
              <a:rPr lang="zh-CN" altLang="en-US" dirty="0">
                <a:sym typeface="+mn-ea"/>
              </a:rPr>
              <a:t>表，用来记录聊天信息。同时修改</a:t>
            </a:r>
            <a:r>
              <a:rPr lang="en-US" altLang="zh-CN" dirty="0">
                <a:sym typeface="+mn-ea"/>
              </a:rPr>
              <a:t>MyFriend</a:t>
            </a:r>
            <a:r>
              <a:rPr lang="zh-CN" altLang="en-US" dirty="0">
                <a:sym typeface="+mn-ea"/>
              </a:rPr>
              <a:t>表，增加用于记录发送消息个数的字段</a:t>
            </a:r>
            <a:r>
              <a:rPr lang="en-US" altLang="zh-CN" dirty="0">
                <a:sym typeface="+mn-ea"/>
              </a:rPr>
              <a:t>messagecount</a:t>
            </a:r>
            <a:r>
              <a:rPr lang="zh-CN" altLang="en-US" dirty="0">
                <a:sym typeface="+mn-ea"/>
              </a:rPr>
              <a:t>。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1158240" y="3648075"/>
            <a:ext cx="5486400" cy="144335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6644640" y="3648075"/>
            <a:ext cx="5192395" cy="147383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134"/>
    </mc:Choice>
    <mc:Fallback xmlns="">
      <p:transition spd="slow" advTm="22134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en-US" dirty="0">
                <a:sym typeface="+mn-ea"/>
              </a:rPr>
              <a:t>管理事务说明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28600" lvl="0" indent="-228600" algn="just" eaLnBrk="1" hangingPunct="1">
              <a:lnSpc>
                <a:spcPct val="120000"/>
              </a:lnSpc>
              <a:buSzTx/>
              <a:buFont typeface="Arial" panose="020B0604020202020204" pitchFamily="34" charset="0"/>
              <a:buChar char="•"/>
            </a:pPr>
            <a:r>
              <a:rPr lang="zh-CN" altLang="en-US" sz="2880" dirty="0">
                <a:sym typeface="+mn-ea"/>
              </a:rPr>
              <a:t>实例：当发送一个消息时，在</a:t>
            </a:r>
            <a:r>
              <a:rPr lang="en-US" altLang="zh-CN" sz="2880" dirty="0">
                <a:sym typeface="+mn-ea"/>
              </a:rPr>
              <a:t>FriendMessage</a:t>
            </a:r>
            <a:r>
              <a:rPr lang="zh-CN" altLang="en-US" sz="2880" dirty="0">
                <a:sym typeface="+mn-ea"/>
              </a:rPr>
              <a:t>表中记录消息，同时修改</a:t>
            </a:r>
            <a:r>
              <a:rPr lang="en-US" altLang="zh-CN" sz="2880" dirty="0">
                <a:sym typeface="+mn-ea"/>
              </a:rPr>
              <a:t>MyFriend</a:t>
            </a:r>
            <a:r>
              <a:rPr lang="zh-CN" altLang="en-US" sz="2880" dirty="0">
                <a:sym typeface="+mn-ea"/>
              </a:rPr>
              <a:t>表的</a:t>
            </a:r>
            <a:r>
              <a:rPr lang="en-US" altLang="zh-CN" sz="2880" dirty="0">
                <a:sym typeface="+mn-ea"/>
              </a:rPr>
              <a:t>messagecount</a:t>
            </a:r>
            <a:r>
              <a:rPr lang="zh-CN" altLang="en-US" sz="2880" dirty="0">
                <a:sym typeface="+mn-ea"/>
              </a:rPr>
              <a:t>字段。</a:t>
            </a:r>
            <a:endParaRPr lang="zh-CN" altLang="en-US" sz="2880" dirty="0"/>
          </a:p>
          <a:p>
            <a:pPr marL="228600" lvl="0" indent="-228600" algn="just" eaLnBrk="1" hangingPunct="1">
              <a:lnSpc>
                <a:spcPct val="120000"/>
              </a:lnSpc>
              <a:buSzTx/>
              <a:buFont typeface="Arial" panose="020B0604020202020204" pitchFamily="34" charset="0"/>
              <a:buChar char="•"/>
            </a:pPr>
            <a:r>
              <a:rPr lang="zh-CN" altLang="en-US" sz="2880" dirty="0">
                <a:sym typeface="+mn-ea"/>
              </a:rPr>
              <a:t>由于涉及到修改两个表，应使用事务模型，保证数据的完整性。</a:t>
            </a:r>
            <a:endParaRPr lang="zh-CN" altLang="en-US" sz="2880" dirty="0"/>
          </a:p>
          <a:p>
            <a:pPr marL="228600" lvl="0" indent="-228600" algn="just" eaLnBrk="1" hangingPunct="1">
              <a:lnSpc>
                <a:spcPct val="120000"/>
              </a:lnSpc>
              <a:buSzTx/>
              <a:buFont typeface="Arial" panose="020B0604020202020204" pitchFamily="34" charset="0"/>
              <a:buChar char="•"/>
            </a:pPr>
            <a:r>
              <a:rPr lang="zh-CN" altLang="en-US" sz="2880" dirty="0">
                <a:sym typeface="+mn-ea"/>
              </a:rPr>
              <a:t>例如，如下代码说明了</a:t>
            </a:r>
            <a:r>
              <a:rPr lang="en-US" altLang="zh-CN" sz="2880" dirty="0">
                <a:sym typeface="+mn-ea"/>
              </a:rPr>
              <a:t>id</a:t>
            </a:r>
            <a:r>
              <a:rPr lang="zh-CN" altLang="en-US" sz="2880" dirty="0">
                <a:sym typeface="+mn-ea"/>
              </a:rPr>
              <a:t>为</a:t>
            </a:r>
            <a:r>
              <a:rPr lang="en-US" altLang="zh-CN" sz="2880" dirty="0">
                <a:sym typeface="+mn-ea"/>
              </a:rPr>
              <a:t>1</a:t>
            </a:r>
            <a:r>
              <a:rPr lang="zh-CN" altLang="en-US" sz="2880" dirty="0">
                <a:sym typeface="+mn-ea"/>
              </a:rPr>
              <a:t>的用户向</a:t>
            </a:r>
            <a:r>
              <a:rPr lang="en-US" altLang="zh-CN" sz="2880" dirty="0">
                <a:sym typeface="+mn-ea"/>
              </a:rPr>
              <a:t>id</a:t>
            </a:r>
            <a:r>
              <a:rPr lang="zh-CN" altLang="en-US" sz="2880" dirty="0">
                <a:sym typeface="+mn-ea"/>
              </a:rPr>
              <a:t>为</a:t>
            </a:r>
            <a:r>
              <a:rPr lang="en-US" altLang="zh-CN" sz="2880" dirty="0">
                <a:sym typeface="+mn-ea"/>
              </a:rPr>
              <a:t>2</a:t>
            </a:r>
            <a:r>
              <a:rPr lang="zh-CN" altLang="en-US" sz="2880" dirty="0">
                <a:sym typeface="+mn-ea"/>
              </a:rPr>
              <a:t>的用户发送消息：</a:t>
            </a:r>
            <a:endParaRPr lang="en-US" altLang="zh-CN" sz="2880" dirty="0"/>
          </a:p>
          <a:p>
            <a:pPr lvl="1" algn="just">
              <a:lnSpc>
                <a:spcPct val="120000"/>
              </a:lnSpc>
              <a:buNone/>
            </a:pPr>
            <a:r>
              <a:rPr lang="en-US" altLang="zh-CN" sz="2665" dirty="0">
                <a:sym typeface="+mn-ea"/>
              </a:rPr>
              <a:t>Insert into FriendMessage(fromNo,toNo,message)</a:t>
            </a:r>
            <a:endParaRPr lang="en-US" altLang="zh-CN" sz="2665" dirty="0"/>
          </a:p>
          <a:p>
            <a:pPr lvl="1" algn="just">
              <a:lnSpc>
                <a:spcPct val="120000"/>
              </a:lnSpc>
              <a:buNone/>
            </a:pPr>
            <a:r>
              <a:rPr lang="en-US" altLang="zh-CN" sz="2665" dirty="0">
                <a:sym typeface="+mn-ea"/>
              </a:rPr>
              <a:t>                           values(1,2,‘How are you?’)</a:t>
            </a:r>
            <a:endParaRPr lang="en-US" altLang="zh-CN" sz="2665" dirty="0"/>
          </a:p>
          <a:p>
            <a:pPr lvl="1" algn="just">
              <a:lnSpc>
                <a:spcPct val="120000"/>
              </a:lnSpc>
              <a:buNone/>
            </a:pPr>
            <a:r>
              <a:rPr lang="en-US" altLang="zh-CN" sz="2665" dirty="0">
                <a:sym typeface="+mn-ea"/>
              </a:rPr>
              <a:t>Update MyFriend set messagecount=</a:t>
            </a:r>
            <a:endParaRPr lang="en-US" altLang="zh-CN" sz="2665" dirty="0"/>
          </a:p>
          <a:p>
            <a:pPr lvl="1" algn="just">
              <a:lnSpc>
                <a:spcPct val="120000"/>
              </a:lnSpc>
              <a:buNone/>
            </a:pPr>
            <a:r>
              <a:rPr lang="en-US" altLang="zh-CN" sz="2665" dirty="0">
                <a:sym typeface="+mn-ea"/>
              </a:rPr>
              <a:t>                           messagecount+1 where id=1</a:t>
            </a:r>
            <a:endParaRPr lang="zh-CN" altLang="en-US" sz="2665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227"/>
    </mc:Choice>
    <mc:Fallback xmlns="">
      <p:transition spd="slow" advTm="22227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5.3 </a:t>
            </a:r>
            <a:r>
              <a:rPr lang="zh-CN" altLang="en-US" dirty="0">
                <a:sym typeface="+mn-ea"/>
              </a:rPr>
              <a:t>管理事务实例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51909" name="Rectangle 5"/>
          <p:cNvSpPr/>
          <p:nvPr/>
        </p:nvSpPr>
        <p:spPr>
          <a:xfrm>
            <a:off x="1774825" y="1844675"/>
            <a:ext cx="8569325" cy="4392613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 wrap="none" anchor="ctr"/>
          <a:lstStyle/>
          <a:p>
            <a:r>
              <a:rPr lang="en-US" altLang="zh-CN" dirty="0">
                <a:latin typeface="Arial" panose="020B0604020202020204" pitchFamily="34" charset="0"/>
              </a:rPr>
              <a:t>Connection conn= dataSource.getConnection();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conn.setAutoCommit(false);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try{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Statement stmt = conn.createStatement();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stmt.executeUpdate("Insert into FriendMessage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               (fromNo,toNo,message)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               values(1,2,'How are you?')");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stmt.executeUpdate("Update MyFriend set messagecount=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                        messagecount+1 where id=1");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conn.commit();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catch(Exception e){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   conn.rollback();</a:t>
            </a:r>
          </a:p>
          <a:p>
            <a:r>
              <a:rPr lang="en-US" altLang="zh-CN" dirty="0">
                <a:latin typeface="Arial" panose="020B0604020202020204" pitchFamily="34" charset="0"/>
              </a:rPr>
              <a:t>}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734"/>
    </mc:Choice>
    <mc:Fallback xmlns="">
      <p:transition spd="slow" advTm="28734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谢谢观看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7"/>
    </mc:Choice>
    <mc:Fallback xmlns="">
      <p:transition spd="slow" advTm="1007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504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504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CATEGORY" val="custom"/>
  <p:tag name="KSO_WM_TEMPLATE_INDEX" val="20185044"/>
  <p:tag name="KSO_WM_TAG_VERSION" val="1.0"/>
  <p:tag name="KSO_WM_BEAUTIFY_FLAG" val="#wm#"/>
  <p:tag name="KSO_WM_TEMPLATE_THUMBS_INDEX" val="1、6、8、16、19、20、2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5044_1*i*0"/>
  <p:tag name="KSO_WM_TEMPLATE_CATEGORY" val="custom"/>
  <p:tag name="KSO_WM_TEMPLATE_INDEX" val="20185044"/>
  <p:tag name="KSO_WM_UNIT_INDEX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BEAUTIFY_FLAG" val="#wm#"/>
  <p:tag name="KSO_WM_TEMPLATE_CATEGORY" val="custom"/>
  <p:tag name="KSO_WM_TEMPLATE_INDEX" val="2018504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BEAUTIFY_FLAG" val="#wm#"/>
  <p:tag name="KSO_WM_TEMPLATE_CATEGORY" val="custom"/>
  <p:tag name="KSO_WM_TEMPLATE_INDEX" val="2018504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TAG_VERSION" val="1.0"/>
  <p:tag name="KSO_WM_BEAUTIFY_FLAG" val="#wm#"/>
  <p:tag name="KSO_WM_TEMPLATE_THUMBS_INDEX" val="1、6、8、16、19、20、23"/>
  <p:tag name="KSO_WM_TEMPLATE_SUBCATEGORY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_1*i*0"/>
  <p:tag name="KSO_WM_UNIT_INDEX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_1"/>
  <p:tag name="KSO_WM_SLIDE_LAYOUT" val="a_b_c"/>
  <p:tag name="KSO_WM_SLIDE_ITEM_CNT" val="2"/>
  <p:tag name="KSO_WM_SLIDE_INDEX" val="1"/>
  <p:tag name="KSO_WM_SLIDE_ID" val="custom20185044_1"/>
  <p:tag name="KSO_WM_TAG_VERSION" val="1.0"/>
  <p:tag name="KSO_WM_TEMPLATE_INDEX" val="20185044"/>
  <p:tag name="KSO_WM_TEMPLATE_CATEGORY" val="custom"/>
  <p:tag name="KSO_WM_TEMPLATE_THUMBS_INDEX" val="1、6、8、16、19、20、23、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UNIT_TYPE" val="a"/>
  <p:tag name="KSO_WM_UNIT_INDEX" val="1"/>
  <p:tag name="KSO_WM_UNIT_ID" val="custom20185044_1*a*1"/>
  <p:tag name="KSO_WM_UNIT_LAYERLEVEL" val="1"/>
  <p:tag name="KSO_WM_UNIT_VALUE" val="10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红色欧美_x000B_杂志风模板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LAYOUT_CNT" val="1_1"/>
  <p:tag name="KSO_WM_SLIDE_LAYOUT" val="a_f"/>
  <p:tag name="KSO_WM_SLIDE_SIZE" val="891*84"/>
  <p:tag name="KSO_WM_SLIDE_POSITION" val="38*269"/>
  <p:tag name="KSO_WM_BEAUTIFY_FLAG" val="#wm#"/>
  <p:tag name="KSO_WM_SLIDE_TYPE" val="text"/>
  <p:tag name="KSO_WM_SLIDE_ITEM_CNT" val="1"/>
  <p:tag name="KSO_WM_SLIDE_INDEX" val="21"/>
  <p:tag name="KSO_WM_SLIDE_ID" val="custom20185044_21"/>
  <p:tag name="KSO_WM_TAG_VERSION" val="1.0"/>
  <p:tag name="KSO_WM_TEMPLATE_INDEX" val="20185044"/>
  <p:tag name="KSO_WM_TEMPLATE_CATEGORY" val="custom"/>
  <p:tag name="KSO_WM_SLIDE_SUBTYPE" val="pureTx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85044_21*i*2"/>
  <p:tag name="KSO_WM_TEMPLATE_CATEGORY" val="custom"/>
  <p:tag name="KSO_WM_TEMPLATE_INDEX" val="20185044"/>
  <p:tag name="KSO_WM_UNIT_INDEX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TAG_VERSION" val="1.0"/>
  <p:tag name="KSO_WM_BEAUTIFY_FLAG" val="#wm#"/>
  <p:tag name="KSO_WM_UNIT_PRESET_TEXT_LEN" val="17"/>
  <p:tag name="KSO_WM_UNIT_PRESET_TEXT_INDEX" val="3"/>
  <p:tag name="KSO_WM_UNIT_CLEAR" val="0"/>
  <p:tag name="KSO_WM_UNIT_COMPATIBLE" val="0"/>
  <p:tag name="KSO_WM_UNIT_HIGHLIGHT" val="0"/>
  <p:tag name="KSO_WM_UNIT_ISCONTENTSTITLE" val="0"/>
  <p:tag name="KSO_WM_UNIT_VALUE" val="81"/>
  <p:tag name="KSO_WM_UNIT_LAYERLEVEL" val="1"/>
  <p:tag name="KSO_WM_UNIT_INDEX" val="1"/>
  <p:tag name="KSO_WM_UNIT_ID" val="custom20185044_21*a*1"/>
  <p:tag name="KSO_WM_UNIT_TYPE" val="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TAG_VERSION" val="1.0"/>
  <p:tag name="KSO_WM_BEAUTIFY_FLAG" val="#wm#"/>
  <p:tag name="KSO_WM_UNIT_PRESET_TEXT_LEN" val="57"/>
  <p:tag name="KSO_WM_UNIT_PRESET_TEXT_INDEX" val="4"/>
  <p:tag name="KSO_WM_UNIT_CLEAR" val="0"/>
  <p:tag name="KSO_WM_UNIT_COMPATIBLE" val="0"/>
  <p:tag name="KSO_WM_UNIT_HIGHLIGHT" val="0"/>
  <p:tag name="KSO_WM_UNIT_VALUE" val="144"/>
  <p:tag name="KSO_WM_UNIT_LAYERLEVEL" val="1"/>
  <p:tag name="KSO_WM_UNIT_INDEX" val="1"/>
  <p:tag name="KSO_WM_UNIT_ID" val="custom20185044_21*f*1"/>
  <p:tag name="KSO_WM_UNIT_TYPE" val="f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SLIDE_ITEM_CNT" val="2"/>
  <p:tag name="KSO_WM_SLIDE_LAYOUT" val="a_b_e"/>
  <p:tag name="KSO_WM_SLIDE_LAYOUT_CNT" val="1_1_1"/>
  <p:tag name="KSO_WM_SLIDE_TYPE" val="sectionTitle"/>
  <p:tag name="KSO_WM_BEAUTIFY_FLAG" val="#wm#"/>
  <p:tag name="KSO_WM_COMBINE_RELATE_SLIDE_ID" val="background20179211_6"/>
  <p:tag name="KSO_WM_TEMPLATE_INDEX" val="20185044"/>
  <p:tag name="KSO_WM_SLIDE_INDEX" val="6"/>
  <p:tag name="KSO_WM_TEMPLATE_SUBCATEGORY" val="combine"/>
  <p:tag name="KSO_WM_TEMPLATE_CATEGORY" val="custom"/>
  <p:tag name="KSO_WM_SLIDE_ID" val="custom20185044_6"/>
  <p:tag name="KSO_WM_SLIDE_SUBTYPE" val="pureTx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UNIT_TYPE" val="e"/>
  <p:tag name="KSO_WM_UNIT_INDEX" val="1"/>
  <p:tag name="KSO_WM_UNIT_LAYERLEVEL" val="1"/>
  <p:tag name="KSO_WM_UNIT_VALUE" val="1"/>
  <p:tag name="KSO_WM_UNIT_HIGHLIGHT" val="0"/>
  <p:tag name="KSO_WM_UNIT_COMPATIBLE" val="1"/>
  <p:tag name="KSO_WM_UNIT_CLEAR" val="0"/>
  <p:tag name="KSO_WM_BEAUTIFY_FLAG" val="#wm#"/>
  <p:tag name="KSO_WM_TAG_VERSION" val="1.0"/>
  <p:tag name="KSO_WM_UNIT_ID" val="custom20185044_6*e*1"/>
  <p:tag name="KSO_WM_UNIT_PRESET_TEXT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UNIT_TYPE" val="a"/>
  <p:tag name="KSO_WM_UNIT_INDEX" val="1"/>
  <p:tag name="KSO_WM_UNIT_ID" val="custom20185044_6*a*1"/>
  <p:tag name="KSO_WM_UNIT_LAYERLEVEL" val="1"/>
  <p:tag name="KSO_WM_UNIT_VALUE" val="10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SECTION 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SLIDE_ITEM_CNT" val="2"/>
  <p:tag name="KSO_WM_SLIDE_LAYOUT" val="a_b_e"/>
  <p:tag name="KSO_WM_SLIDE_LAYOUT_CNT" val="1_1_1"/>
  <p:tag name="KSO_WM_SLIDE_TYPE" val="sectionTitle"/>
  <p:tag name="KSO_WM_BEAUTIFY_FLAG" val="#wm#"/>
  <p:tag name="KSO_WM_COMBINE_RELATE_SLIDE_ID" val="background20179211_6"/>
  <p:tag name="KSO_WM_TEMPLATE_INDEX" val="20185044"/>
  <p:tag name="KSO_WM_SLIDE_INDEX" val="6"/>
  <p:tag name="KSO_WM_TEMPLATE_SUBCATEGORY" val="combine"/>
  <p:tag name="KSO_WM_TEMPLATE_CATEGORY" val="custom"/>
  <p:tag name="KSO_WM_SLIDE_ID" val="custom20185044_6"/>
  <p:tag name="KSO_WM_SLIDE_SUBTYPE" val="pureTx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UNIT_TYPE" val="e"/>
  <p:tag name="KSO_WM_UNIT_INDEX" val="1"/>
  <p:tag name="KSO_WM_UNIT_LAYERLEVEL" val="1"/>
  <p:tag name="KSO_WM_UNIT_VALUE" val="1"/>
  <p:tag name="KSO_WM_UNIT_HIGHLIGHT" val="0"/>
  <p:tag name="KSO_WM_UNIT_COMPATIBLE" val="1"/>
  <p:tag name="KSO_WM_UNIT_CLEAR" val="0"/>
  <p:tag name="KSO_WM_BEAUTIFY_FLAG" val="#wm#"/>
  <p:tag name="KSO_WM_TAG_VERSION" val="1.0"/>
  <p:tag name="KSO_WM_UNIT_ID" val="custom20185044_6*e*1"/>
  <p:tag name="KSO_WM_UNIT_PRESET_TEXT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UNIT_TYPE" val="a"/>
  <p:tag name="KSO_WM_UNIT_INDEX" val="1"/>
  <p:tag name="KSO_WM_UNIT_ID" val="custom20185044_6*a*1"/>
  <p:tag name="KSO_WM_UNIT_LAYERLEVEL" val="1"/>
  <p:tag name="KSO_WM_UNIT_VALUE" val="10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SECTION 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504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504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5044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UNIT_TYPE" val="d"/>
  <p:tag name="KSO_WM_UNIT_INDEX" val="1"/>
  <p:tag name="KSO_WM_UNIT_ID" val="custom20185044_4*d*1"/>
  <p:tag name="KSO_WM_UNIT_LAYERLEVEL" val="1"/>
  <p:tag name="KSO_WM_UNIT_VALUE" val="1500*1585"/>
  <p:tag name="KSO_WM_UNIT_HIGHLIGHT" val="0"/>
  <p:tag name="KSO_WM_UNIT_COMPATIBLE" val="0"/>
  <p:tag name="KSO_WM_UNIT_CLEAR" val="0"/>
  <p:tag name="KSO_WM_BEAUTIFY_FLAG" val="#wm#"/>
  <p:tag name="KSO_WM_TAG_VERSION" val="1.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504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UNIT_TYPE" val="d"/>
  <p:tag name="KSO_WM_UNIT_INDEX" val="1"/>
  <p:tag name="KSO_WM_UNIT_ID" val="custom20185044_4*d*1"/>
  <p:tag name="KSO_WM_UNIT_LAYERLEVEL" val="1"/>
  <p:tag name="KSO_WM_UNIT_VALUE" val="1500*1585"/>
  <p:tag name="KSO_WM_UNIT_HIGHLIGHT" val="0"/>
  <p:tag name="KSO_WM_UNIT_COMPATIBLE" val="0"/>
  <p:tag name="KSO_WM_UNIT_CLEAR" val="0"/>
  <p:tag name="KSO_WM_BEAUTIFY_FLAG" val="#wm#"/>
  <p:tag name="KSO_WM_TAG_VERSION" val="1.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5044_2"/>
  <p:tag name="KSO_WM_TAG_VERSION" val="1.0"/>
  <p:tag name="KSO_WM_TEMPLATE_INDEX" val="20185044"/>
  <p:tag name="KSO_WM_TEMPLATE_CATEGORY" val="custom"/>
  <p:tag name="KSO_WM_SLIDE_SUBTYPE" val="pureTx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TAG_VERSION" val="1.0"/>
  <p:tag name="KSO_WM_BEAUTIFY_FLAG" val="#wm#"/>
  <p:tag name="KSO_WM_UNIT_PRESET_TEXT_LEN" val="17"/>
  <p:tag name="KSO_WM_UNIT_PRESET_TEXT_INDEX" val="3"/>
  <p:tag name="KSO_WM_UNIT_CLEAR" val="0"/>
  <p:tag name="KSO_WM_UNIT_COMPATIBLE" val="0"/>
  <p:tag name="KSO_WM_UNIT_HIGHLIGHT" val="0"/>
  <p:tag name="KSO_WM_UNIT_ISCONTENTSTITLE" val="0"/>
  <p:tag name="KSO_WM_UNIT_VALUE" val="50"/>
  <p:tag name="KSO_WM_UNIT_LAYERLEVEL" val="1"/>
  <p:tag name="KSO_WM_UNIT_INDEX" val="1"/>
  <p:tag name="KSO_WM_UNIT_ID" val="custom20185044_2*a*1"/>
  <p:tag name="KSO_WM_UNIT_TYPE" val="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TAG_VERSION" val="1.0"/>
  <p:tag name="KSO_WM_BEAUTIFY_FLAG" val="#wm#"/>
  <p:tag name="KSO_WM_UNIT_PRESET_TEXT_LEN" val="465"/>
  <p:tag name="KSO_WM_UNIT_PRESET_TEXT_INDEX" val="5"/>
  <p:tag name="KSO_WM_UNIT_CLEAR" val="0"/>
  <p:tag name="KSO_WM_UNIT_COMPATIBLE" val="0"/>
  <p:tag name="KSO_WM_UNIT_HIGHLIGHT" val="0"/>
  <p:tag name="KSO_WM_UNIT_VALUE" val="585"/>
  <p:tag name="KSO_WM_UNIT_LAYERLEVEL" val="1"/>
  <p:tag name="KSO_WM_UNIT_INDEX" val="1"/>
  <p:tag name="KSO_WM_UNIT_ID" val="custom20185044_2*f*1"/>
  <p:tag name="KSO_WM_UNIT_TYPE" val="f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5044_2"/>
  <p:tag name="KSO_WM_TAG_VERSION" val="1.0"/>
  <p:tag name="KSO_WM_TEMPLATE_INDEX" val="20185044"/>
  <p:tag name="KSO_WM_TEMPLATE_CATEGORY" val="custom"/>
  <p:tag name="KSO_WM_SLIDE_SUBTYPE" val="pureTx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TAG_VERSION" val="1.0"/>
  <p:tag name="KSO_WM_BEAUTIFY_FLAG" val="#wm#"/>
  <p:tag name="KSO_WM_UNIT_PRESET_TEXT_LEN" val="17"/>
  <p:tag name="KSO_WM_UNIT_PRESET_TEXT_INDEX" val="3"/>
  <p:tag name="KSO_WM_UNIT_CLEAR" val="0"/>
  <p:tag name="KSO_WM_UNIT_COMPATIBLE" val="0"/>
  <p:tag name="KSO_WM_UNIT_HIGHLIGHT" val="0"/>
  <p:tag name="KSO_WM_UNIT_ISCONTENTSTITLE" val="0"/>
  <p:tag name="KSO_WM_UNIT_VALUE" val="50"/>
  <p:tag name="KSO_WM_UNIT_LAYERLEVEL" val="1"/>
  <p:tag name="KSO_WM_UNIT_INDEX" val="1"/>
  <p:tag name="KSO_WM_UNIT_ID" val="custom20185044_2*a*1"/>
  <p:tag name="KSO_WM_UNIT_TYPE" val="a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TAG_VERSION" val="1.0"/>
  <p:tag name="KSO_WM_BEAUTIFY_FLAG" val="#wm#"/>
  <p:tag name="KSO_WM_UNIT_PRESET_TEXT_LEN" val="465"/>
  <p:tag name="KSO_WM_UNIT_PRESET_TEXT_INDEX" val="5"/>
  <p:tag name="KSO_WM_UNIT_CLEAR" val="0"/>
  <p:tag name="KSO_WM_UNIT_COMPATIBLE" val="0"/>
  <p:tag name="KSO_WM_UNIT_HIGHLIGHT" val="0"/>
  <p:tag name="KSO_WM_UNIT_VALUE" val="585"/>
  <p:tag name="KSO_WM_UNIT_LAYERLEVEL" val="1"/>
  <p:tag name="KSO_WM_UNIT_INDEX" val="1"/>
  <p:tag name="KSO_WM_UNIT_ID" val="custom20185044_2*f*1"/>
  <p:tag name="KSO_WM_UNIT_TYPE" val="f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5044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SLIDE_ITEM_CNT" val="2"/>
  <p:tag name="KSO_WM_SLIDE_LAYOUT" val="a_b_e"/>
  <p:tag name="KSO_WM_SLIDE_LAYOUT_CNT" val="1_1_1"/>
  <p:tag name="KSO_WM_SLIDE_TYPE" val="sectionTitle"/>
  <p:tag name="KSO_WM_BEAUTIFY_FLAG" val="#wm#"/>
  <p:tag name="KSO_WM_COMBINE_RELATE_SLIDE_ID" val="background20179211_6"/>
  <p:tag name="KSO_WM_TEMPLATE_INDEX" val="20185044"/>
  <p:tag name="KSO_WM_SLIDE_INDEX" val="6"/>
  <p:tag name="KSO_WM_TEMPLATE_SUBCATEGORY" val="combine"/>
  <p:tag name="KSO_WM_TEMPLATE_CATEGORY" val="custom"/>
  <p:tag name="KSO_WM_SLIDE_ID" val="custom20185044_6"/>
  <p:tag name="KSO_WM_SLIDE_SUBTYPE" val="pureTx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UNIT_TYPE" val="e"/>
  <p:tag name="KSO_WM_UNIT_INDEX" val="1"/>
  <p:tag name="KSO_WM_UNIT_LAYERLEVEL" val="1"/>
  <p:tag name="KSO_WM_UNIT_VALUE" val="1"/>
  <p:tag name="KSO_WM_UNIT_HIGHLIGHT" val="0"/>
  <p:tag name="KSO_WM_UNIT_COMPATIBLE" val="1"/>
  <p:tag name="KSO_WM_UNIT_CLEAR" val="0"/>
  <p:tag name="KSO_WM_BEAUTIFY_FLAG" val="#wm#"/>
  <p:tag name="KSO_WM_TAG_VERSION" val="1.0"/>
  <p:tag name="KSO_WM_UNIT_ID" val="custom20185044_6*e*1"/>
  <p:tag name="KSO_WM_UNIT_PRESET_TEXT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UNIT_TYPE" val="a"/>
  <p:tag name="KSO_WM_UNIT_INDEX" val="1"/>
  <p:tag name="KSO_WM_UNIT_ID" val="custom20185044_6*a*1"/>
  <p:tag name="KSO_WM_UNIT_LAYERLEVEL" val="1"/>
  <p:tag name="KSO_WM_UNIT_VALUE" val="10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SECTION TITL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5044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TIMING" val="|2.3|4.5|1.5|1.4|1.6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5044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UNIT_TYPE" val="d"/>
  <p:tag name="KSO_WM_UNIT_INDEX" val="1"/>
  <p:tag name="KSO_WM_UNIT_ID" val="custom20185044_4*d*1"/>
  <p:tag name="KSO_WM_UNIT_LAYERLEVEL" val="1"/>
  <p:tag name="KSO_WM_UNIT_VALUE" val="1500*1585"/>
  <p:tag name="KSO_WM_UNIT_HIGHLIGHT" val="0"/>
  <p:tag name="KSO_WM_UNIT_COMPATIBLE" val="0"/>
  <p:tag name="KSO_WM_UNIT_CLEAR" val="0"/>
  <p:tag name="KSO_WM_BEAUTIFY_FLAG" val="#wm#"/>
  <p:tag name="KSO_WM_TAG_VERSION" val="1.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5044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UNIT_TYPE" val="d"/>
  <p:tag name="KSO_WM_UNIT_INDEX" val="1"/>
  <p:tag name="KSO_WM_UNIT_ID" val="custom20185044_4*d*1"/>
  <p:tag name="KSO_WM_UNIT_LAYERLEVEL" val="1"/>
  <p:tag name="KSO_WM_UNIT_VALUE" val="1500*1585"/>
  <p:tag name="KSO_WM_UNIT_HIGHLIGHT" val="0"/>
  <p:tag name="KSO_WM_UNIT_COMPATIBLE" val="0"/>
  <p:tag name="KSO_WM_UNIT_CLEAR" val="0"/>
  <p:tag name="KSO_WM_BEAUTIFY_FLAG" val="#wm#"/>
  <p:tag name="KSO_WM_TAG_VERSION" val="1.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504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UNIT_TYPE" val="d"/>
  <p:tag name="KSO_WM_UNIT_INDEX" val="1"/>
  <p:tag name="KSO_WM_UNIT_ID" val="custom20185044_4*d*1"/>
  <p:tag name="KSO_WM_UNIT_LAYERLEVEL" val="1"/>
  <p:tag name="KSO_WM_UNIT_VALUE" val="1500*1585"/>
  <p:tag name="KSO_WM_UNIT_HIGHLIGHT" val="0"/>
  <p:tag name="KSO_WM_UNIT_COMPATIBLE" val="0"/>
  <p:tag name="KSO_WM_UNIT_CLEAR" val="0"/>
  <p:tag name="KSO_WM_BEAUTIFY_FLAG" val="#wm#"/>
  <p:tag name="KSO_WM_TAG_VERSION" val="1.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5044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5044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SLIDE_ITEM_CNT" val="2"/>
  <p:tag name="KSO_WM_SLIDE_LAYOUT" val="a_b_e"/>
  <p:tag name="KSO_WM_SLIDE_LAYOUT_CNT" val="1_1_1"/>
  <p:tag name="KSO_WM_SLIDE_TYPE" val="sectionTitle"/>
  <p:tag name="KSO_WM_BEAUTIFY_FLAG" val="#wm#"/>
  <p:tag name="KSO_WM_COMBINE_RELATE_SLIDE_ID" val="background20179211_6"/>
  <p:tag name="KSO_WM_TEMPLATE_INDEX" val="20185044"/>
  <p:tag name="KSO_WM_SLIDE_INDEX" val="6"/>
  <p:tag name="KSO_WM_TEMPLATE_SUBCATEGORY" val="combine"/>
  <p:tag name="KSO_WM_TEMPLATE_CATEGORY" val="custom"/>
  <p:tag name="KSO_WM_SLIDE_ID" val="custom20185044_6"/>
  <p:tag name="KSO_WM_SLIDE_SUBTYPE" val="pureTx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UNIT_TYPE" val="e"/>
  <p:tag name="KSO_WM_UNIT_INDEX" val="1"/>
  <p:tag name="KSO_WM_UNIT_LAYERLEVEL" val="1"/>
  <p:tag name="KSO_WM_UNIT_VALUE" val="1"/>
  <p:tag name="KSO_WM_UNIT_HIGHLIGHT" val="0"/>
  <p:tag name="KSO_WM_UNIT_COMPATIBLE" val="1"/>
  <p:tag name="KSO_WM_UNIT_CLEAR" val="0"/>
  <p:tag name="KSO_WM_BEAUTIFY_FLAG" val="#wm#"/>
  <p:tag name="KSO_WM_TAG_VERSION" val="1.0"/>
  <p:tag name="KSO_WM_UNIT_ID" val="custom20185044_6*e*1"/>
  <p:tag name="KSO_WM_UNIT_PRESET_TEXT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UNIT_TYPE" val="a"/>
  <p:tag name="KSO_WM_UNIT_INDEX" val="1"/>
  <p:tag name="KSO_WM_UNIT_ID" val="custom20185044_6*a*1"/>
  <p:tag name="KSO_WM_UNIT_LAYERLEVEL" val="1"/>
  <p:tag name="KSO_WM_UNIT_VALUE" val="10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SECTION TITL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5044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5044_2"/>
  <p:tag name="KSO_WM_TAG_VERSION" val="1.0"/>
  <p:tag name="KSO_WM_TEMPLATE_INDEX" val="20185044"/>
  <p:tag name="KSO_WM_TEMPLATE_CATEGORY" val="custom"/>
  <p:tag name="KSO_WM_SLIDE_SUBTYPE" val="pureTx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TAG_VERSION" val="1.0"/>
  <p:tag name="KSO_WM_BEAUTIFY_FLAG" val="#wm#"/>
  <p:tag name="KSO_WM_UNIT_PRESET_TEXT_LEN" val="17"/>
  <p:tag name="KSO_WM_UNIT_PRESET_TEXT_INDEX" val="3"/>
  <p:tag name="KSO_WM_UNIT_CLEAR" val="0"/>
  <p:tag name="KSO_WM_UNIT_COMPATIBLE" val="0"/>
  <p:tag name="KSO_WM_UNIT_HIGHLIGHT" val="0"/>
  <p:tag name="KSO_WM_UNIT_ISCONTENTSTITLE" val="0"/>
  <p:tag name="KSO_WM_UNIT_VALUE" val="50"/>
  <p:tag name="KSO_WM_UNIT_LAYERLEVEL" val="1"/>
  <p:tag name="KSO_WM_UNIT_INDEX" val="1"/>
  <p:tag name="KSO_WM_UNIT_ID" val="custom20185044_2*a*1"/>
  <p:tag name="KSO_WM_UNIT_TYPE" val="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TAG_VERSION" val="1.0"/>
  <p:tag name="KSO_WM_BEAUTIFY_FLAG" val="#wm#"/>
  <p:tag name="KSO_WM_UNIT_PRESET_TEXT_LEN" val="465"/>
  <p:tag name="KSO_WM_UNIT_PRESET_TEXT_INDEX" val="5"/>
  <p:tag name="KSO_WM_UNIT_CLEAR" val="0"/>
  <p:tag name="KSO_WM_UNIT_COMPATIBLE" val="0"/>
  <p:tag name="KSO_WM_UNIT_HIGHLIGHT" val="0"/>
  <p:tag name="KSO_WM_UNIT_VALUE" val="585"/>
  <p:tag name="KSO_WM_UNIT_LAYERLEVEL" val="1"/>
  <p:tag name="KSO_WM_UNIT_INDEX" val="1"/>
  <p:tag name="KSO_WM_UNIT_ID" val="custom20185044_2*f*1"/>
  <p:tag name="KSO_WM_UNIT_TYPE" val="f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5044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SLIDE_ITEM_CNT" val="2"/>
  <p:tag name="KSO_WM_SLIDE_LAYOUT" val="a_b_e"/>
  <p:tag name="KSO_WM_SLIDE_LAYOUT_CNT" val="1_1_1"/>
  <p:tag name="KSO_WM_SLIDE_TYPE" val="sectionTitle"/>
  <p:tag name="KSO_WM_BEAUTIFY_FLAG" val="#wm#"/>
  <p:tag name="KSO_WM_COMBINE_RELATE_SLIDE_ID" val="background20179211_6"/>
  <p:tag name="KSO_WM_TEMPLATE_INDEX" val="20185044"/>
  <p:tag name="KSO_WM_SLIDE_INDEX" val="6"/>
  <p:tag name="KSO_WM_TEMPLATE_SUBCATEGORY" val="combine"/>
  <p:tag name="KSO_WM_TEMPLATE_CATEGORY" val="custom"/>
  <p:tag name="KSO_WM_SLIDE_ID" val="custom20185044_6"/>
  <p:tag name="KSO_WM_SLIDE_SUBTYPE" val="pureTx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UNIT_TYPE" val="e"/>
  <p:tag name="KSO_WM_UNIT_INDEX" val="1"/>
  <p:tag name="KSO_WM_UNIT_LAYERLEVEL" val="1"/>
  <p:tag name="KSO_WM_UNIT_VALUE" val="1"/>
  <p:tag name="KSO_WM_UNIT_HIGHLIGHT" val="0"/>
  <p:tag name="KSO_WM_UNIT_COMPATIBLE" val="1"/>
  <p:tag name="KSO_WM_UNIT_CLEAR" val="0"/>
  <p:tag name="KSO_WM_BEAUTIFY_FLAG" val="#wm#"/>
  <p:tag name="KSO_WM_TAG_VERSION" val="1.0"/>
  <p:tag name="KSO_WM_UNIT_ID" val="custom20185044_6*e*1"/>
  <p:tag name="KSO_WM_UNIT_PRESET_TEXT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UNIT_TYPE" val="a"/>
  <p:tag name="KSO_WM_UNIT_INDEX" val="1"/>
  <p:tag name="KSO_WM_UNIT_ID" val="custom20185044_6*a*1"/>
  <p:tag name="KSO_WM_UNIT_LAYERLEVEL" val="1"/>
  <p:tag name="KSO_WM_UNIT_VALUE" val="10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SECTION 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TIMING" val="|18.8|10.5|2.1|7.3|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5044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5044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5044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UNIT_TYPE" val="d"/>
  <p:tag name="KSO_WM_UNIT_INDEX" val="1"/>
  <p:tag name="KSO_WM_UNIT_ID" val="custom20185044_20*d*1"/>
  <p:tag name="KSO_WM_UNIT_LAYERLEVEL" val="1"/>
  <p:tag name="KSO_WM_UNIT_VALUE" val="1003*793"/>
  <p:tag name="KSO_WM_UNIT_HIGHLIGHT" val="0"/>
  <p:tag name="KSO_WM_UNIT_COMPATIBLE" val="0"/>
  <p:tag name="KSO_WM_UNIT_CLEAR" val="0"/>
  <p:tag name="KSO_WM_BEAUTIFY_FLAG" val="#wm#"/>
  <p:tag name="KSO_WM_TAG_VERSION" val="1.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UNIT_TYPE" val="d"/>
  <p:tag name="KSO_WM_UNIT_INDEX" val="2"/>
  <p:tag name="KSO_WM_UNIT_ID" val="custom20185044_20*d*2"/>
  <p:tag name="KSO_WM_UNIT_LAYERLEVEL" val="1"/>
  <p:tag name="KSO_WM_UNIT_VALUE" val="1003*793"/>
  <p:tag name="KSO_WM_UNIT_HIGHLIGHT" val="0"/>
  <p:tag name="KSO_WM_UNIT_COMPATIBLE" val="0"/>
  <p:tag name="KSO_WM_UNIT_CLEAR" val="0"/>
  <p:tag name="KSO_WM_BEAUTIFY_FLAG" val="#wm#"/>
  <p:tag name="KSO_WM_TAG_VERSION" val="1.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5044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5044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TAG_VERSION" val="1.0"/>
  <p:tag name="KSO_WM_SLIDE_ID" val="custom20185044_23"/>
  <p:tag name="KSO_WM_SLIDE_INDEX" val="23"/>
  <p:tag name="KSO_WM_SLIDE_ITEM_CNT" val="0"/>
  <p:tag name="KSO_WM_SLIDE_LAYOUT" val="a_b"/>
  <p:tag name="KSO_WM_SLIDE_LAYOUT_CNT" val="1_1"/>
  <p:tag name="KSO_WM_SLIDE_TYPE" val="endPage"/>
  <p:tag name="KSO_WM_BEAUTIFY_FLAG" val="#wm#"/>
  <p:tag name="KSO_WM_SLIDE_SUBTYPE" val="pureTxt"/>
  <p:tag name="KSO_WM_TEMPLATE_SUBCATEGORY" val="0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UNIT_TYPE" val="a"/>
  <p:tag name="KSO_WM_UNIT_INDEX" val="1"/>
  <p:tag name="KSO_WM_UNIT_ID" val="custom20185044_23*a*1"/>
  <p:tag name="KSO_WM_UNIT_LAYERLEVEL" val="1"/>
  <p:tag name="KSO_WM_UNIT_VALUE" val="5"/>
  <p:tag name="KSO_WM_UNIT_ISCONTENTSTITLE" val="0"/>
  <p:tag name="KSO_WM_UNIT_HIGHLIGHT" val="0"/>
  <p:tag name="KSO_WM_UNIT_COMPATIBLE" val="0"/>
  <p:tag name="KSO_WM_BEAUTIFY_FLAG" val="#wm#"/>
  <p:tag name="KSO_WM_TAG_VERSION" val="1.0"/>
  <p:tag name="KSO_WM_UNIT_PRESET_TEXT" val="谢谢观看"/>
  <p:tag name="KSO_WM_UNIT_NOCLEAR" val="0"/>
  <p:tag name="KSO_WM_UNIT_DIAGRAM_ISNUMVISUAL" val="0"/>
  <p:tag name="KSO_WM_UNIT_DIAGRAM_ISREFERUNIT" val="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5044"/>
  <p:tag name="KSO_WM_UNIT_TYPE" val="b"/>
  <p:tag name="KSO_WM_UNIT_INDEX" val="1"/>
  <p:tag name="KSO_WM_UNIT_ID" val="custom20185044_23*b*1"/>
  <p:tag name="KSO_WM_UNIT_LAYERLEVEL" val="1"/>
  <p:tag name="KSO_WM_UNIT_VALUE" val="80"/>
  <p:tag name="KSO_WM_UNIT_ISCONTENTSTITLE" val="0"/>
  <p:tag name="KSO_WM_UNIT_HIGHLIGHT" val="0"/>
  <p:tag name="KSO_WM_UNIT_COMPATIBLE" val="0"/>
  <p:tag name="KSO_WM_BEAUTIFY_FLAG" val="#wm#"/>
  <p:tag name="KSO_WM_TAG_VERSION" val="1.0"/>
  <p:tag name="KSO_WM_UNIT_PRESET_TEXT" val="THANK YOU"/>
  <p:tag name="KSO_WM_UNIT_NOCLEAR" val="0"/>
  <p:tag name="KSO_WM_UNIT_DIAGRAM_ISNUMVISUAL" val="0"/>
  <p:tag name="KSO_WM_UNIT_DIAGRAM_ISREFERUNIT" val="0"/>
</p:tagLst>
</file>

<file path=ppt/theme/theme1.xml><?xml version="1.0" encoding="utf-8"?>
<a:theme xmlns:a="http://schemas.openxmlformats.org/drawingml/2006/main" name="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自定义 117">
      <a:dk1>
        <a:srgbClr val="3B3838"/>
      </a:dk1>
      <a:lt1>
        <a:srgbClr val="FFFFFF"/>
      </a:lt1>
      <a:dk2>
        <a:srgbClr val="000000"/>
      </a:dk2>
      <a:lt2>
        <a:srgbClr val="FFFFFF"/>
      </a:lt2>
      <a:accent1>
        <a:srgbClr val="C00000"/>
      </a:accent1>
      <a:accent2>
        <a:srgbClr val="C00000"/>
      </a:accent2>
      <a:accent3>
        <a:srgbClr val="C00000"/>
      </a:accent3>
      <a:accent4>
        <a:srgbClr val="C0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自定义 427">
      <a:dk1>
        <a:srgbClr val="3B3838"/>
      </a:dk1>
      <a:lt1>
        <a:srgbClr val="FFFFFF"/>
      </a:lt1>
      <a:dk2>
        <a:srgbClr val="000000"/>
      </a:dk2>
      <a:lt2>
        <a:srgbClr val="FFFFFF"/>
      </a:lt2>
      <a:accent1>
        <a:srgbClr val="C00000"/>
      </a:accent1>
      <a:accent2>
        <a:srgbClr val="C00000"/>
      </a:accent2>
      <a:accent3>
        <a:srgbClr val="C00000"/>
      </a:accent3>
      <a:accent4>
        <a:srgbClr val="C0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rawbo4s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4667</Words>
  <Application>Microsoft Office PowerPoint</Application>
  <PresentationFormat>宽屏</PresentationFormat>
  <Paragraphs>517</Paragraphs>
  <Slides>58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58</vt:i4>
      </vt:variant>
    </vt:vector>
  </HeadingPairs>
  <TitlesOfParts>
    <vt:vector size="66" baseType="lpstr">
      <vt:lpstr>黑体</vt:lpstr>
      <vt:lpstr>微软雅黑</vt:lpstr>
      <vt:lpstr>微软雅黑</vt:lpstr>
      <vt:lpstr>Arial</vt:lpstr>
      <vt:lpstr>Calibri</vt:lpstr>
      <vt:lpstr>Office 主题</vt:lpstr>
      <vt:lpstr>2_Office 主题</vt:lpstr>
      <vt:lpstr>Office 主题​​</vt:lpstr>
      <vt:lpstr>JDBC</vt:lpstr>
      <vt:lpstr>PowerPoint 演示文稿</vt:lpstr>
      <vt:lpstr>JDBC概述</vt:lpstr>
      <vt:lpstr>JDBC概述 </vt:lpstr>
      <vt:lpstr>JDBC概述 </vt:lpstr>
      <vt:lpstr>JDBC API的应用</vt:lpstr>
      <vt:lpstr>2.1 JDBC API 访问数据库的基础  2.1.1 访问数据库的步骤</vt:lpstr>
      <vt:lpstr>2.1 JDBC API 访问数据库的基础 （1） Statement的使用</vt:lpstr>
      <vt:lpstr>（2）ResultSet的使用</vt:lpstr>
      <vt:lpstr>2.2 JDBC API的应用  2.2.2 JDBC API应用实例（主页）</vt:lpstr>
      <vt:lpstr>2.2.2 JDBC API应用实例 （1）通过JSP访问数据库 </vt:lpstr>
      <vt:lpstr>2.2.2 JDBC API应用实例 （1）通过JSP访问数据库（cont.）</vt:lpstr>
      <vt:lpstr>2.2.2 JDBC API应用实例 （1）通过JSP访问数据库（cont.）</vt:lpstr>
      <vt:lpstr>2.2.2 JDBC API应用实例 （2）通过Servlet访问</vt:lpstr>
      <vt:lpstr>2.2.2 JDBC API应用实例 （2）通过Servlet访问（cont.）</vt:lpstr>
      <vt:lpstr>2.2.2 JDBC API应用实例 （3）通过JavaBean访问</vt:lpstr>
      <vt:lpstr>2.2.2 JDBC API应用实例 （3）通过JavaBean访问（cont.）</vt:lpstr>
      <vt:lpstr>2.2.2 JDBC API应用实例 （3）通过JavaBean访问（cont.）</vt:lpstr>
      <vt:lpstr>2.2.3 ResultSet的高级应用</vt:lpstr>
      <vt:lpstr>2.2.3 ResultSet的高级应用 </vt:lpstr>
      <vt:lpstr>2.2.4 其他类型数据库的驱动程序 （1）MySQL驱动程序及URL</vt:lpstr>
      <vt:lpstr>2.2.4 其他类型数据库的驱动程序 （2）SQL Server驱动程序及URL</vt:lpstr>
      <vt:lpstr>2.2.4 其他类型数据库的驱动程序 （3）Oracle驱动程序及URL</vt:lpstr>
      <vt:lpstr>连接池、 DataSource</vt:lpstr>
      <vt:lpstr>3.1 数据库连接池</vt:lpstr>
      <vt:lpstr>3.1.1 数据库连接池功能</vt:lpstr>
      <vt:lpstr>3.1.2 数据库连接池结构图</vt:lpstr>
      <vt:lpstr>3.2 数据库连接池应用 3.2.1 实例创建类</vt:lpstr>
      <vt:lpstr>3.2.1 实例创建类（cont.）</vt:lpstr>
      <vt:lpstr>3.2.1 实例创建类（cont.）</vt:lpstr>
      <vt:lpstr>3.2.2 实例访问数据库</vt:lpstr>
      <vt:lpstr>3.2.3 实例访问数据库（不用连接池）</vt:lpstr>
      <vt:lpstr>3.2.4 数据库连接池实例运行效果 （1）首页</vt:lpstr>
      <vt:lpstr>3.2.4 数据库连接池实例运行效果 （2）使用连接池</vt:lpstr>
      <vt:lpstr>3.2.4 数据库连接池实例运行效果 （3）不使用连接池</vt:lpstr>
      <vt:lpstr>3.3 J2EE中数据库连接池的使用</vt:lpstr>
      <vt:lpstr>3.3.1 数据源定义 （1）Context.xml或server.xml中的数据源定义</vt:lpstr>
      <vt:lpstr>3.3.1 数据源定义 （2）数据源定义说明</vt:lpstr>
      <vt:lpstr>3.3.1 数据源定义 （3）web.xml中的数据源定义</vt:lpstr>
      <vt:lpstr>3.3.2 DataSource连接数据库</vt:lpstr>
      <vt:lpstr>3.3.3 通过DataSource访问MyFriend数据库实例</vt:lpstr>
      <vt:lpstr>3.3.3 通过DataSource访问MyFriend数据库实例（cont.）</vt:lpstr>
      <vt:lpstr>PreparedStatement和CallableStatement   </vt:lpstr>
      <vt:lpstr>4.1 PreparedStatement </vt:lpstr>
      <vt:lpstr>（1）创建PreparedStatement</vt:lpstr>
      <vt:lpstr>（2）SQL语句参数</vt:lpstr>
      <vt:lpstr>（3）设置参数</vt:lpstr>
      <vt:lpstr>4.2 CallableStatement</vt:lpstr>
      <vt:lpstr>调用</vt:lpstr>
      <vt:lpstr>事务</vt:lpstr>
      <vt:lpstr>5.1 事务</vt:lpstr>
      <vt:lpstr>（1）事务概述</vt:lpstr>
      <vt:lpstr>（2）事务概述</vt:lpstr>
      <vt:lpstr>5.2 管理事务</vt:lpstr>
      <vt:lpstr>（1）管理事务说明</vt:lpstr>
      <vt:lpstr>（2）管理事务说明</vt:lpstr>
      <vt:lpstr>5.3 管理事务实例</vt:lpstr>
      <vt:lpstr>谢谢观看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created xsi:type="dcterms:W3CDTF">2018-03-01T02:03:00Z</dcterms:created>
  <dcterms:modified xsi:type="dcterms:W3CDTF">2021-04-20T14:59:32Z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2052-11.3.0.8775</vt:lpwstr>
  </property>
</Properties>
</file>