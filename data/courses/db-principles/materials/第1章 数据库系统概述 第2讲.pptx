
<file path=[Content_Types].xml><?xml version="1.0" encoding="utf-8"?>
<Types xmlns="http://schemas.openxmlformats.org/package/2006/content-types">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7.xml" ContentType="application/vnd.openxmlformats-officedocument.presentationml.tags+xml"/>
  <Override PartName="/ppt/notesSlides/notesSlide5.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1" r:id="rId1"/>
    <p:sldMasterId id="2147483693" r:id="rId2"/>
  </p:sldMasterIdLst>
  <p:notesMasterIdLst>
    <p:notesMasterId r:id="rId48"/>
  </p:notesMasterIdLst>
  <p:handoutMasterIdLst>
    <p:handoutMasterId r:id="rId49"/>
  </p:handoutMasterIdLst>
  <p:sldIdLst>
    <p:sldId id="504" r:id="rId3"/>
    <p:sldId id="686" r:id="rId4"/>
    <p:sldId id="562" r:id="rId5"/>
    <p:sldId id="567" r:id="rId6"/>
    <p:sldId id="591" r:id="rId7"/>
    <p:sldId id="595" r:id="rId8"/>
    <p:sldId id="592" r:id="rId9"/>
    <p:sldId id="594" r:id="rId10"/>
    <p:sldId id="593" r:id="rId11"/>
    <p:sldId id="569" r:id="rId12"/>
    <p:sldId id="690" r:id="rId13"/>
    <p:sldId id="570" r:id="rId14"/>
    <p:sldId id="671" r:id="rId15"/>
    <p:sldId id="597" r:id="rId16"/>
    <p:sldId id="596" r:id="rId17"/>
    <p:sldId id="572" r:id="rId18"/>
    <p:sldId id="573" r:id="rId19"/>
    <p:sldId id="600" r:id="rId20"/>
    <p:sldId id="598" r:id="rId21"/>
    <p:sldId id="599" r:id="rId22"/>
    <p:sldId id="574" r:id="rId23"/>
    <p:sldId id="575" r:id="rId24"/>
    <p:sldId id="610" r:id="rId25"/>
    <p:sldId id="648" r:id="rId26"/>
    <p:sldId id="615" r:id="rId27"/>
    <p:sldId id="616" r:id="rId28"/>
    <p:sldId id="617" r:id="rId29"/>
    <p:sldId id="618" r:id="rId30"/>
    <p:sldId id="619" r:id="rId31"/>
    <p:sldId id="620" r:id="rId32"/>
    <p:sldId id="621" r:id="rId33"/>
    <p:sldId id="622" r:id="rId34"/>
    <p:sldId id="623" r:id="rId35"/>
    <p:sldId id="676" r:id="rId36"/>
    <p:sldId id="624" r:id="rId37"/>
    <p:sldId id="672" r:id="rId38"/>
    <p:sldId id="688" r:id="rId39"/>
    <p:sldId id="677" r:id="rId40"/>
    <p:sldId id="627" r:id="rId41"/>
    <p:sldId id="628" r:id="rId42"/>
    <p:sldId id="687" r:id="rId43"/>
    <p:sldId id="629" r:id="rId44"/>
    <p:sldId id="691" r:id="rId45"/>
    <p:sldId id="689" r:id="rId46"/>
    <p:sldId id="601" r:id="rId47"/>
  </p:sldIdLst>
  <p:sldSz cx="9144000" cy="6858000" type="screen4x3"/>
  <p:notesSz cx="6662738" cy="9832975"/>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ern="1200">
        <a:solidFill>
          <a:schemeClr val="tx1"/>
        </a:solidFill>
        <a:latin typeface="Arial" panose="020B0604020202020204" pitchFamily="34" charset="0"/>
        <a:ea typeface="楷体_GB2312" pitchFamily="49" charset="-122"/>
        <a:cs typeface="+mn-cs"/>
      </a:defRPr>
    </a:lvl9pPr>
  </p:defaultTextStyle>
  <p:extLst>
    <p:ext uri="{EFAFB233-063F-42B5-8137-9DF3F51BA10A}">
      <p15:sldGuideLst xmlns:p15="http://schemas.microsoft.com/office/powerpoint/2012/main">
        <p15:guide id="1" orient="horz" pos="158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B0C86"/>
    <a:srgbClr val="FFCCFF"/>
    <a:srgbClr val="FFFFFF"/>
    <a:srgbClr val="CCFFFF"/>
    <a:srgbClr val="00FFCC"/>
    <a:srgbClr val="0066FF"/>
    <a:srgbClr val="800080"/>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01" autoAdjust="0"/>
    <p:restoredTop sz="94569" autoAdjust="0"/>
  </p:normalViewPr>
  <p:slideViewPr>
    <p:cSldViewPr>
      <p:cViewPr varScale="1">
        <p:scale>
          <a:sx n="132" d="100"/>
          <a:sy n="132" d="100"/>
        </p:scale>
        <p:origin x="1040" y="68"/>
      </p:cViewPr>
      <p:guideLst>
        <p:guide orient="horz" pos="1584"/>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7522" name="页眉占位符 107521">
            <a:extLst>
              <a:ext uri="{FF2B5EF4-FFF2-40B4-BE49-F238E27FC236}">
                <a16:creationId xmlns:a16="http://schemas.microsoft.com/office/drawing/2014/main" id="{03CE1AB8-58E9-47A2-9BF3-51E0CB9CC5EE}"/>
              </a:ext>
            </a:extLst>
          </p:cNvPr>
          <p:cNvSpPr>
            <a:spLocks noGrp="1"/>
          </p:cNvSpPr>
          <p:nvPr>
            <p:ph type="hdr" sz="quarter"/>
          </p:nvPr>
        </p:nvSpPr>
        <p:spPr>
          <a:xfrm>
            <a:off x="0" y="0"/>
            <a:ext cx="2895600" cy="457200"/>
          </a:xfrm>
          <a:prstGeom prst="rect">
            <a:avLst/>
          </a:prstGeom>
          <a:noFill/>
          <a:ln w="12700">
            <a:noFill/>
          </a:ln>
        </p:spPr>
        <p:txBody>
          <a:bodyPr wrap="none" anchor="ctr"/>
          <a:lstStyle>
            <a:lvl1pPr>
              <a:defRPr sz="1200" noProof="1" dirty="0">
                <a:solidFill>
                  <a:schemeClr val="tx2"/>
                </a:solidFill>
              </a:defRPr>
            </a:lvl1pPr>
          </a:lstStyle>
          <a:p>
            <a:endParaRPr lang="zh-CN" altLang="en-US"/>
          </a:p>
        </p:txBody>
      </p:sp>
      <p:sp>
        <p:nvSpPr>
          <p:cNvPr id="107523" name="日期占位符 107522">
            <a:extLst>
              <a:ext uri="{FF2B5EF4-FFF2-40B4-BE49-F238E27FC236}">
                <a16:creationId xmlns:a16="http://schemas.microsoft.com/office/drawing/2014/main" id="{3CF2D7C1-9EAB-41FD-90ED-0027899F9A1B}"/>
              </a:ext>
            </a:extLst>
          </p:cNvPr>
          <p:cNvSpPr>
            <a:spLocks noGrp="1"/>
          </p:cNvSpPr>
          <p:nvPr>
            <p:ph type="dt" sz="quarter" idx="1"/>
          </p:nvPr>
        </p:nvSpPr>
        <p:spPr>
          <a:xfrm>
            <a:off x="3810000" y="0"/>
            <a:ext cx="2819400" cy="457200"/>
          </a:xfrm>
          <a:prstGeom prst="rect">
            <a:avLst/>
          </a:prstGeom>
          <a:noFill/>
          <a:ln w="12700">
            <a:noFill/>
          </a:ln>
        </p:spPr>
        <p:txBody>
          <a:bodyPr wrap="none" anchor="ctr"/>
          <a:lstStyle>
            <a:lvl1pPr algn="r">
              <a:defRPr sz="1200" noProof="1" dirty="0">
                <a:solidFill>
                  <a:schemeClr val="tx2"/>
                </a:solidFill>
              </a:defRPr>
            </a:lvl1pPr>
          </a:lstStyle>
          <a:p>
            <a:endParaRPr lang="zh-CN" altLang="en-US"/>
          </a:p>
        </p:txBody>
      </p:sp>
      <p:sp>
        <p:nvSpPr>
          <p:cNvPr id="107524" name="页脚占位符 107523">
            <a:extLst>
              <a:ext uri="{FF2B5EF4-FFF2-40B4-BE49-F238E27FC236}">
                <a16:creationId xmlns:a16="http://schemas.microsoft.com/office/drawing/2014/main" id="{A7E76D6B-CA13-41BF-BE81-8C52FFC0DFC3}"/>
              </a:ext>
            </a:extLst>
          </p:cNvPr>
          <p:cNvSpPr>
            <a:spLocks noGrp="1"/>
          </p:cNvSpPr>
          <p:nvPr>
            <p:ph type="ftr" sz="quarter" idx="2"/>
          </p:nvPr>
        </p:nvSpPr>
        <p:spPr>
          <a:xfrm>
            <a:off x="0" y="9372600"/>
            <a:ext cx="2895600" cy="457200"/>
          </a:xfrm>
          <a:prstGeom prst="rect">
            <a:avLst/>
          </a:prstGeom>
          <a:noFill/>
          <a:ln w="12700">
            <a:noFill/>
          </a:ln>
        </p:spPr>
        <p:txBody>
          <a:bodyPr wrap="none" anchor="b"/>
          <a:lstStyle>
            <a:lvl1pPr>
              <a:defRPr sz="1200" noProof="1" dirty="0">
                <a:solidFill>
                  <a:schemeClr val="tx2"/>
                </a:solidFill>
              </a:defRPr>
            </a:lvl1pPr>
          </a:lstStyle>
          <a:p>
            <a:endParaRPr lang="zh-CN" altLang="en-US"/>
          </a:p>
        </p:txBody>
      </p:sp>
      <p:sp>
        <p:nvSpPr>
          <p:cNvPr id="107525" name="灯片编号占位符 107524">
            <a:extLst>
              <a:ext uri="{FF2B5EF4-FFF2-40B4-BE49-F238E27FC236}">
                <a16:creationId xmlns:a16="http://schemas.microsoft.com/office/drawing/2014/main" id="{8778C2F8-1AED-48AC-A0DE-B0E9D6132C3E}"/>
              </a:ext>
            </a:extLst>
          </p:cNvPr>
          <p:cNvSpPr>
            <a:spLocks noGrp="1"/>
          </p:cNvSpPr>
          <p:nvPr>
            <p:ph type="sldNum" sz="quarter" idx="3"/>
          </p:nvPr>
        </p:nvSpPr>
        <p:spPr>
          <a:xfrm>
            <a:off x="3810000" y="9372600"/>
            <a:ext cx="2819400" cy="457200"/>
          </a:xfrm>
          <a:prstGeom prst="rect">
            <a:avLst/>
          </a:prstGeom>
          <a:noFill/>
          <a:ln w="12700">
            <a:noFill/>
          </a:ln>
        </p:spPr>
        <p:txBody>
          <a:bodyPr vert="horz" wrap="none" lIns="91440" tIns="45720" rIns="91440" bIns="45720" numCol="1" anchor="b" anchorCtr="0" compatLnSpc="1">
            <a:prstTxWarp prst="textNoShape">
              <a:avLst/>
            </a:prstTxWarp>
          </a:bodyPr>
          <a:lstStyle>
            <a:lvl1pPr algn="r">
              <a:defRPr sz="1200">
                <a:solidFill>
                  <a:schemeClr val="tx2"/>
                </a:solidFill>
                <a:latin typeface="Tahoma" panose="020B0604030504040204" pitchFamily="34" charset="0"/>
              </a:defRPr>
            </a:lvl1pPr>
          </a:lstStyle>
          <a:p>
            <a:fld id="{FEC51657-354D-4B3C-ABBA-62F587DB305F}" type="slidenum">
              <a:rPr lang="zh-CN" altLang="en-US"/>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87074" name="页眉占位符 387073">
            <a:extLst>
              <a:ext uri="{FF2B5EF4-FFF2-40B4-BE49-F238E27FC236}">
                <a16:creationId xmlns:a16="http://schemas.microsoft.com/office/drawing/2014/main" id="{6019E11E-DB22-4FCB-9E06-7486A525E34E}"/>
              </a:ext>
            </a:extLst>
          </p:cNvPr>
          <p:cNvSpPr>
            <a:spLocks noGrp="1"/>
          </p:cNvSpPr>
          <p:nvPr>
            <p:ph type="hdr" sz="quarter"/>
          </p:nvPr>
        </p:nvSpPr>
        <p:spPr>
          <a:xfrm>
            <a:off x="0" y="0"/>
            <a:ext cx="2887663" cy="492125"/>
          </a:xfrm>
          <a:prstGeom prst="rect">
            <a:avLst/>
          </a:prstGeom>
          <a:noFill/>
          <a:ln w="9525">
            <a:noFill/>
          </a:ln>
        </p:spPr>
        <p:txBody>
          <a:bodyPr/>
          <a:lstStyle>
            <a:lvl1pPr>
              <a:defRPr sz="1200" noProof="1" dirty="0"/>
            </a:lvl1pPr>
          </a:lstStyle>
          <a:p>
            <a:endParaRPr lang="zh-CN" altLang="en-US"/>
          </a:p>
        </p:txBody>
      </p:sp>
      <p:sp>
        <p:nvSpPr>
          <p:cNvPr id="387075" name="日期占位符 387074">
            <a:extLst>
              <a:ext uri="{FF2B5EF4-FFF2-40B4-BE49-F238E27FC236}">
                <a16:creationId xmlns:a16="http://schemas.microsoft.com/office/drawing/2014/main" id="{6A5C0612-8EBE-4FCC-B13D-F5C4D0B65015}"/>
              </a:ext>
            </a:extLst>
          </p:cNvPr>
          <p:cNvSpPr>
            <a:spLocks noGrp="1"/>
          </p:cNvSpPr>
          <p:nvPr>
            <p:ph type="dt" idx="1"/>
          </p:nvPr>
        </p:nvSpPr>
        <p:spPr>
          <a:xfrm>
            <a:off x="3773488" y="0"/>
            <a:ext cx="2887662" cy="492125"/>
          </a:xfrm>
          <a:prstGeom prst="rect">
            <a:avLst/>
          </a:prstGeom>
          <a:noFill/>
          <a:ln w="9525">
            <a:noFill/>
          </a:ln>
        </p:spPr>
        <p:txBody>
          <a:bodyPr/>
          <a:lstStyle>
            <a:lvl1pPr algn="r">
              <a:defRPr sz="1200" noProof="1" dirty="0"/>
            </a:lvl1pPr>
          </a:lstStyle>
          <a:p>
            <a:endParaRPr lang="zh-CN" altLang="en-US"/>
          </a:p>
        </p:txBody>
      </p:sp>
      <p:sp>
        <p:nvSpPr>
          <p:cNvPr id="5124" name="幻灯片图像占位符 387075">
            <a:extLst>
              <a:ext uri="{FF2B5EF4-FFF2-40B4-BE49-F238E27FC236}">
                <a16:creationId xmlns:a16="http://schemas.microsoft.com/office/drawing/2014/main" id="{3BF3A7BA-1A22-49BD-99CE-73908BC3ABEA}"/>
              </a:ext>
            </a:extLst>
          </p:cNvPr>
          <p:cNvSpPr>
            <a:spLocks noGrp="1" noRot="1" noChangeAspect="1" noChangeArrowheads="1" noTextEdit="1"/>
          </p:cNvSpPr>
          <p:nvPr>
            <p:ph type="sldImg" idx="4294967295"/>
          </p:nvPr>
        </p:nvSpPr>
        <p:spPr bwMode="auto">
          <a:xfrm>
            <a:off x="874713" y="738188"/>
            <a:ext cx="4914900" cy="3686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文本占位符 387076">
            <a:extLst>
              <a:ext uri="{FF2B5EF4-FFF2-40B4-BE49-F238E27FC236}">
                <a16:creationId xmlns:a16="http://schemas.microsoft.com/office/drawing/2014/main" id="{EA49BB6E-0D00-4BD1-924D-4886182490F6}"/>
              </a:ext>
            </a:extLst>
          </p:cNvPr>
          <p:cNvSpPr>
            <a:spLocks noGrp="1" noChangeArrowheads="1"/>
          </p:cNvSpPr>
          <p:nvPr>
            <p:ph type="body" sz="quarter" idx="4294967295"/>
          </p:nvPr>
        </p:nvSpPr>
        <p:spPr bwMode="auto">
          <a:xfrm>
            <a:off x="666750" y="4670425"/>
            <a:ext cx="5329238" cy="442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87078" name="页脚占位符 387077">
            <a:extLst>
              <a:ext uri="{FF2B5EF4-FFF2-40B4-BE49-F238E27FC236}">
                <a16:creationId xmlns:a16="http://schemas.microsoft.com/office/drawing/2014/main" id="{EDB6E695-86BA-45F7-98E1-1C9352EADC48}"/>
              </a:ext>
            </a:extLst>
          </p:cNvPr>
          <p:cNvSpPr>
            <a:spLocks noGrp="1"/>
          </p:cNvSpPr>
          <p:nvPr>
            <p:ph type="ftr" sz="quarter" idx="4"/>
          </p:nvPr>
        </p:nvSpPr>
        <p:spPr>
          <a:xfrm>
            <a:off x="0" y="9339263"/>
            <a:ext cx="2887663" cy="492125"/>
          </a:xfrm>
          <a:prstGeom prst="rect">
            <a:avLst/>
          </a:prstGeom>
          <a:noFill/>
          <a:ln w="9525">
            <a:noFill/>
          </a:ln>
        </p:spPr>
        <p:txBody>
          <a:bodyPr anchor="b"/>
          <a:lstStyle>
            <a:lvl1pPr>
              <a:defRPr sz="1200" noProof="1" dirty="0"/>
            </a:lvl1pPr>
          </a:lstStyle>
          <a:p>
            <a:endParaRPr lang="zh-CN" altLang="en-US"/>
          </a:p>
        </p:txBody>
      </p:sp>
      <p:sp>
        <p:nvSpPr>
          <p:cNvPr id="387079" name="灯片编号占位符 387078">
            <a:extLst>
              <a:ext uri="{FF2B5EF4-FFF2-40B4-BE49-F238E27FC236}">
                <a16:creationId xmlns:a16="http://schemas.microsoft.com/office/drawing/2014/main" id="{A265C0BE-6667-485C-948D-ECF4BE49229D}"/>
              </a:ext>
            </a:extLst>
          </p:cNvPr>
          <p:cNvSpPr>
            <a:spLocks noGrp="1"/>
          </p:cNvSpPr>
          <p:nvPr>
            <p:ph type="sldNum" sz="quarter" idx="5"/>
          </p:nvPr>
        </p:nvSpPr>
        <p:spPr>
          <a:xfrm>
            <a:off x="3773488" y="9339263"/>
            <a:ext cx="2887662" cy="492125"/>
          </a:xfrm>
          <a:prstGeom prst="rect">
            <a:avLst/>
          </a:prstGeom>
          <a:noFill/>
          <a:ln w="9525">
            <a:noFill/>
          </a:ln>
        </p:spPr>
        <p:txBody>
          <a:bodyPr vert="horz" wrap="square" lIns="91440" tIns="45720" rIns="91440" bIns="45720" numCol="1" anchor="b" anchorCtr="0" compatLnSpc="1">
            <a:prstTxWarp prst="textNoShape">
              <a:avLst/>
            </a:prstTxWarp>
          </a:bodyPr>
          <a:lstStyle>
            <a:lvl1pPr algn="r">
              <a:defRPr sz="1200"/>
            </a:lvl1pPr>
          </a:lstStyle>
          <a:p>
            <a:fld id="{85D48065-6998-468D-9641-EB2E7EA9D411}" type="slidenum">
              <a:rPr lang="zh-CN" altLang="en-US"/>
              <a:pPr/>
              <a:t>‹#›</a:t>
            </a:fld>
            <a:endParaRPr lang="zh-CN" altLang="en-US"/>
          </a:p>
        </p:txBody>
      </p:sp>
    </p:spTree>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1pPr>
    <a:lvl2pPr marL="457200" lvl="1"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2pPr>
    <a:lvl3pPr marL="914400" lvl="2"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3pPr>
    <a:lvl4pPr marL="1371600" lvl="3"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4pPr>
    <a:lvl5pPr marL="1828800" lvl="4"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灯片编号占位符 1">
            <a:extLst>
              <a:ext uri="{FF2B5EF4-FFF2-40B4-BE49-F238E27FC236}">
                <a16:creationId xmlns:a16="http://schemas.microsoft.com/office/drawing/2014/main" id="{7A4A47E1-9481-46E5-9222-88DDD11B963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5F52B318-696E-407F-AD9D-51F502BA7B5A}" type="slidenum">
              <a:rPr lang="zh-CN" altLang="en-US"/>
              <a:pPr/>
              <a:t>10</a:t>
            </a:fld>
            <a:endParaRPr lang="zh-CN" altLang="en-US"/>
          </a:p>
        </p:txBody>
      </p:sp>
      <p:sp>
        <p:nvSpPr>
          <p:cNvPr id="16386" name="幻灯片图像占位符 732161">
            <a:extLst>
              <a:ext uri="{FF2B5EF4-FFF2-40B4-BE49-F238E27FC236}">
                <a16:creationId xmlns:a16="http://schemas.microsoft.com/office/drawing/2014/main" id="{3DE59A10-4B31-4C73-908E-69F515C994ED}"/>
              </a:ext>
            </a:extLst>
          </p:cNvPr>
          <p:cNvSpPr>
            <a:spLocks noGrp="1" noRot="1" noChangeAspect="1" noChangeArrowheads="1" noTextEdit="1"/>
          </p:cNvSpPr>
          <p:nvPr>
            <p:ph type="sldImg" idx="4294967295"/>
          </p:nvPr>
        </p:nvSpPr>
        <p:spPr>
          <a:ln/>
        </p:spPr>
      </p:sp>
      <p:sp>
        <p:nvSpPr>
          <p:cNvPr id="16387" name="文本占位符 732162">
            <a:extLst>
              <a:ext uri="{FF2B5EF4-FFF2-40B4-BE49-F238E27FC236}">
                <a16:creationId xmlns:a16="http://schemas.microsoft.com/office/drawing/2014/main" id="{0725D2F3-2794-4A6A-B116-24D6C9C97679}"/>
              </a:ext>
            </a:extLst>
          </p:cNvPr>
          <p:cNvSpPr>
            <a:spLocks noGrp="1" noChangeArrowheads="1"/>
          </p:cNvSpPr>
          <p:nvPr>
            <p:ph type="body" idx="4294967295"/>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灯片编号占位符 1">
            <a:extLst>
              <a:ext uri="{FF2B5EF4-FFF2-40B4-BE49-F238E27FC236}">
                <a16:creationId xmlns:a16="http://schemas.microsoft.com/office/drawing/2014/main" id="{7D13C018-8710-4ED1-A194-478FDBDA75B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40A485B-25E4-4BBA-8B3F-9D8CCF9F441C}" type="slidenum">
              <a:rPr lang="zh-CN" altLang="en-US"/>
              <a:pPr/>
              <a:t>16</a:t>
            </a:fld>
            <a:endParaRPr lang="zh-CN" altLang="en-US"/>
          </a:p>
        </p:txBody>
      </p:sp>
      <p:sp>
        <p:nvSpPr>
          <p:cNvPr id="23554" name="幻灯片图像占位符 737281">
            <a:extLst>
              <a:ext uri="{FF2B5EF4-FFF2-40B4-BE49-F238E27FC236}">
                <a16:creationId xmlns:a16="http://schemas.microsoft.com/office/drawing/2014/main" id="{58129AA6-F6DC-4985-A03F-74956AA06657}"/>
              </a:ext>
            </a:extLst>
          </p:cNvPr>
          <p:cNvSpPr>
            <a:spLocks noGrp="1" noRot="1" noChangeAspect="1" noChangeArrowheads="1" noTextEdit="1"/>
          </p:cNvSpPr>
          <p:nvPr>
            <p:ph type="sldImg" idx="4294967295"/>
          </p:nvPr>
        </p:nvSpPr>
        <p:spPr>
          <a:ln/>
        </p:spPr>
      </p:sp>
      <p:sp>
        <p:nvSpPr>
          <p:cNvPr id="23555" name="文本占位符 737282">
            <a:extLst>
              <a:ext uri="{FF2B5EF4-FFF2-40B4-BE49-F238E27FC236}">
                <a16:creationId xmlns:a16="http://schemas.microsoft.com/office/drawing/2014/main" id="{4BBBB97E-B5AD-4BB0-8ECA-F1C45A177954}"/>
              </a:ext>
            </a:extLst>
          </p:cNvPr>
          <p:cNvSpPr>
            <a:spLocks noGrp="1" noChangeArrowheads="1"/>
          </p:cNvSpPr>
          <p:nvPr>
            <p:ph type="body" idx="4294967295"/>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灯片编号占位符 1">
            <a:extLst>
              <a:ext uri="{FF2B5EF4-FFF2-40B4-BE49-F238E27FC236}">
                <a16:creationId xmlns:a16="http://schemas.microsoft.com/office/drawing/2014/main" id="{AF6E2B59-639E-47EB-A0FA-AC032313644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B059460F-3575-49E1-AC57-A12CF39B2DA5}" type="slidenum">
              <a:rPr lang="zh-CN" altLang="en-US"/>
              <a:pPr/>
              <a:t>17</a:t>
            </a:fld>
            <a:endParaRPr lang="zh-CN" altLang="en-US"/>
          </a:p>
        </p:txBody>
      </p:sp>
      <p:sp>
        <p:nvSpPr>
          <p:cNvPr id="25602" name="幻灯片图像占位符 739329">
            <a:extLst>
              <a:ext uri="{FF2B5EF4-FFF2-40B4-BE49-F238E27FC236}">
                <a16:creationId xmlns:a16="http://schemas.microsoft.com/office/drawing/2014/main" id="{F163E2B4-D38E-4101-B158-623FB94BFAAE}"/>
              </a:ext>
            </a:extLst>
          </p:cNvPr>
          <p:cNvSpPr>
            <a:spLocks noGrp="1" noRot="1" noChangeAspect="1" noChangeArrowheads="1" noTextEdit="1"/>
          </p:cNvSpPr>
          <p:nvPr>
            <p:ph type="sldImg" idx="4294967295"/>
          </p:nvPr>
        </p:nvSpPr>
        <p:spPr>
          <a:ln/>
        </p:spPr>
      </p:sp>
      <p:sp>
        <p:nvSpPr>
          <p:cNvPr id="25603" name="文本占位符 739330">
            <a:extLst>
              <a:ext uri="{FF2B5EF4-FFF2-40B4-BE49-F238E27FC236}">
                <a16:creationId xmlns:a16="http://schemas.microsoft.com/office/drawing/2014/main" id="{038EAC93-C560-4867-8A3D-61A0797DCD7A}"/>
              </a:ext>
            </a:extLst>
          </p:cNvPr>
          <p:cNvSpPr>
            <a:spLocks noGrp="1" noChangeArrowheads="1"/>
          </p:cNvSpPr>
          <p:nvPr>
            <p:ph type="body" idx="4294967295"/>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灯片编号占位符 1">
            <a:extLst>
              <a:ext uri="{FF2B5EF4-FFF2-40B4-BE49-F238E27FC236}">
                <a16:creationId xmlns:a16="http://schemas.microsoft.com/office/drawing/2014/main" id="{D3D02847-3A77-4E74-B6E1-38A85DB356F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F032A39-FB8A-49FD-A1F2-506041A809E0}" type="slidenum">
              <a:rPr lang="zh-CN" altLang="en-US"/>
              <a:pPr/>
              <a:t>21</a:t>
            </a:fld>
            <a:endParaRPr lang="zh-CN" altLang="en-US"/>
          </a:p>
        </p:txBody>
      </p:sp>
      <p:sp>
        <p:nvSpPr>
          <p:cNvPr id="30722" name="幻灯片图像占位符 741377">
            <a:extLst>
              <a:ext uri="{FF2B5EF4-FFF2-40B4-BE49-F238E27FC236}">
                <a16:creationId xmlns:a16="http://schemas.microsoft.com/office/drawing/2014/main" id="{46FE49BC-136E-475E-9941-AC22E43D0A6F}"/>
              </a:ext>
            </a:extLst>
          </p:cNvPr>
          <p:cNvSpPr>
            <a:spLocks noGrp="1" noRot="1" noChangeAspect="1" noChangeArrowheads="1" noTextEdit="1"/>
          </p:cNvSpPr>
          <p:nvPr>
            <p:ph type="sldImg" idx="4294967295"/>
          </p:nvPr>
        </p:nvSpPr>
        <p:spPr>
          <a:ln/>
        </p:spPr>
      </p:sp>
      <p:sp>
        <p:nvSpPr>
          <p:cNvPr id="30723" name="文本占位符 741378">
            <a:extLst>
              <a:ext uri="{FF2B5EF4-FFF2-40B4-BE49-F238E27FC236}">
                <a16:creationId xmlns:a16="http://schemas.microsoft.com/office/drawing/2014/main" id="{C76E79EC-D3FC-4FA6-BA2B-B2D04983B671}"/>
              </a:ext>
            </a:extLst>
          </p:cNvPr>
          <p:cNvSpPr>
            <a:spLocks noGrp="1" noChangeArrowheads="1"/>
          </p:cNvSpPr>
          <p:nvPr>
            <p:ph type="body" idx="4294967295"/>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灯片编号占位符 1">
            <a:extLst>
              <a:ext uri="{FF2B5EF4-FFF2-40B4-BE49-F238E27FC236}">
                <a16:creationId xmlns:a16="http://schemas.microsoft.com/office/drawing/2014/main" id="{29AC0C92-8969-4ADD-AAE3-445A5ED4519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4472DF5-3F60-4EC5-A8AB-A10458712939}" type="slidenum">
              <a:rPr lang="zh-CN" altLang="en-US"/>
              <a:pPr/>
              <a:t>22</a:t>
            </a:fld>
            <a:endParaRPr lang="zh-CN" altLang="en-US"/>
          </a:p>
        </p:txBody>
      </p:sp>
      <p:sp>
        <p:nvSpPr>
          <p:cNvPr id="32770" name="幻灯片图像占位符 743425">
            <a:extLst>
              <a:ext uri="{FF2B5EF4-FFF2-40B4-BE49-F238E27FC236}">
                <a16:creationId xmlns:a16="http://schemas.microsoft.com/office/drawing/2014/main" id="{F0E8AA4A-E23C-4F82-8508-6D459DCA0E34}"/>
              </a:ext>
            </a:extLst>
          </p:cNvPr>
          <p:cNvSpPr>
            <a:spLocks noGrp="1" noRot="1" noChangeAspect="1" noChangeArrowheads="1" noTextEdit="1"/>
          </p:cNvSpPr>
          <p:nvPr>
            <p:ph type="sldImg" idx="4294967295"/>
          </p:nvPr>
        </p:nvSpPr>
        <p:spPr>
          <a:ln/>
        </p:spPr>
      </p:sp>
      <p:sp>
        <p:nvSpPr>
          <p:cNvPr id="32771" name="文本占位符 743426">
            <a:extLst>
              <a:ext uri="{FF2B5EF4-FFF2-40B4-BE49-F238E27FC236}">
                <a16:creationId xmlns:a16="http://schemas.microsoft.com/office/drawing/2014/main" id="{98D2E5FC-885F-411C-9843-C54602FB0E44}"/>
              </a:ext>
            </a:extLst>
          </p:cNvPr>
          <p:cNvSpPr>
            <a:spLocks noGrp="1" noChangeArrowheads="1"/>
          </p:cNvSpPr>
          <p:nvPr>
            <p:ph type="body" idx="4294967295"/>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spTree>
      <p:nvGrpSpPr>
        <p:cNvPr id="1" name=""/>
        <p:cNvGrpSpPr/>
        <p:nvPr/>
      </p:nvGrpSpPr>
      <p:grpSpPr>
        <a:xfrm>
          <a:off x="0" y="0"/>
          <a:ext cx="0" cy="0"/>
          <a:chOff x="0" y="0"/>
          <a:chExt cx="0" cy="0"/>
        </a:xfrm>
      </p:grpSpPr>
      <p:grpSp>
        <p:nvGrpSpPr>
          <p:cNvPr id="4" name="组合 752641">
            <a:extLst>
              <a:ext uri="{FF2B5EF4-FFF2-40B4-BE49-F238E27FC236}">
                <a16:creationId xmlns:a16="http://schemas.microsoft.com/office/drawing/2014/main" id="{053E5CFB-1504-4342-9CC9-0D58B9BEA06A}"/>
              </a:ext>
            </a:extLst>
          </p:cNvPr>
          <p:cNvGrpSpPr>
            <a:grpSpLocks/>
          </p:cNvGrpSpPr>
          <p:nvPr/>
        </p:nvGrpSpPr>
        <p:grpSpPr bwMode="auto">
          <a:xfrm>
            <a:off x="0" y="1814513"/>
            <a:ext cx="9009063" cy="1052512"/>
            <a:chOff x="0" y="1536"/>
            <a:chExt cx="5675" cy="663"/>
          </a:xfrm>
        </p:grpSpPr>
        <p:grpSp>
          <p:nvGrpSpPr>
            <p:cNvPr id="5" name="组合 752642">
              <a:extLst>
                <a:ext uri="{FF2B5EF4-FFF2-40B4-BE49-F238E27FC236}">
                  <a16:creationId xmlns:a16="http://schemas.microsoft.com/office/drawing/2014/main" id="{72394F6E-0CC9-482D-9BF8-28E6134490A3}"/>
                </a:ext>
              </a:extLst>
            </p:cNvPr>
            <p:cNvGrpSpPr>
              <a:grpSpLocks/>
            </p:cNvGrpSpPr>
            <p:nvPr/>
          </p:nvGrpSpPr>
          <p:grpSpPr bwMode="auto">
            <a:xfrm>
              <a:off x="183" y="1604"/>
              <a:ext cx="448" cy="299"/>
              <a:chOff x="720" y="336"/>
              <a:chExt cx="624" cy="432"/>
            </a:xfrm>
          </p:grpSpPr>
          <p:sp>
            <p:nvSpPr>
              <p:cNvPr id="12" name="矩形 752643">
                <a:extLst>
                  <a:ext uri="{FF2B5EF4-FFF2-40B4-BE49-F238E27FC236}">
                    <a16:creationId xmlns:a16="http://schemas.microsoft.com/office/drawing/2014/main" id="{6C7B65EC-6BA5-4726-970E-994545665B0A}"/>
                  </a:ext>
                </a:extLst>
              </p:cNvPr>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 name="矩形 752644">
                <a:extLst>
                  <a:ext uri="{FF2B5EF4-FFF2-40B4-BE49-F238E27FC236}">
                    <a16:creationId xmlns:a16="http://schemas.microsoft.com/office/drawing/2014/main" id="{11EE4127-1622-4E22-92B8-D1CF46BF0981}"/>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nvGrpSpPr>
            <p:cNvPr id="6" name="组合 752645">
              <a:extLst>
                <a:ext uri="{FF2B5EF4-FFF2-40B4-BE49-F238E27FC236}">
                  <a16:creationId xmlns:a16="http://schemas.microsoft.com/office/drawing/2014/main" id="{9BCE0696-7791-4BB6-909D-20CA857BBF48}"/>
                </a:ext>
              </a:extLst>
            </p:cNvPr>
            <p:cNvGrpSpPr>
              <a:grpSpLocks/>
            </p:cNvGrpSpPr>
            <p:nvPr/>
          </p:nvGrpSpPr>
          <p:grpSpPr bwMode="auto">
            <a:xfrm>
              <a:off x="261" y="1870"/>
              <a:ext cx="465" cy="299"/>
              <a:chOff x="912" y="2640"/>
              <a:chExt cx="672" cy="432"/>
            </a:xfrm>
          </p:grpSpPr>
          <p:sp>
            <p:nvSpPr>
              <p:cNvPr id="10" name="矩形 752646">
                <a:extLst>
                  <a:ext uri="{FF2B5EF4-FFF2-40B4-BE49-F238E27FC236}">
                    <a16:creationId xmlns:a16="http://schemas.microsoft.com/office/drawing/2014/main" id="{E9104FE5-68DE-42C0-AB83-17806724B39B}"/>
                  </a:ext>
                </a:extLst>
              </p:cNvPr>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 name="矩形 752647">
                <a:extLst>
                  <a:ext uri="{FF2B5EF4-FFF2-40B4-BE49-F238E27FC236}">
                    <a16:creationId xmlns:a16="http://schemas.microsoft.com/office/drawing/2014/main" id="{F67D1CB1-5F2A-400A-802C-251220960CBB}"/>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sp>
          <p:nvSpPr>
            <p:cNvPr id="7" name="矩形 752648">
              <a:extLst>
                <a:ext uri="{FF2B5EF4-FFF2-40B4-BE49-F238E27FC236}">
                  <a16:creationId xmlns:a16="http://schemas.microsoft.com/office/drawing/2014/main" id="{BD16D38C-BEE0-496F-B95E-5F1DFFECA4F4}"/>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 name="矩形 752649">
              <a:extLst>
                <a:ext uri="{FF2B5EF4-FFF2-40B4-BE49-F238E27FC236}">
                  <a16:creationId xmlns:a16="http://schemas.microsoft.com/office/drawing/2014/main" id="{1A7CEF37-0C80-4343-98C5-D163D28C3F14}"/>
                </a:ext>
              </a:extLst>
            </p:cNvPr>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 name="矩形 752650">
              <a:extLst>
                <a:ext uri="{FF2B5EF4-FFF2-40B4-BE49-F238E27FC236}">
                  <a16:creationId xmlns:a16="http://schemas.microsoft.com/office/drawing/2014/main" id="{71EEE33B-8B9E-4F61-B990-064DDC7F49BC}"/>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sp>
        <p:nvSpPr>
          <p:cNvPr id="752652" name="标题 752651"/>
          <p:cNvSpPr>
            <a:spLocks noGrp="1"/>
          </p:cNvSpPr>
          <p:nvPr>
            <p:ph type="ctrTitle"/>
          </p:nvPr>
        </p:nvSpPr>
        <p:spPr>
          <a:xfrm>
            <a:off x="827088" y="1052513"/>
            <a:ext cx="8137525" cy="1462087"/>
          </a:xfrm>
          <a:prstGeom prst="rect">
            <a:avLst/>
          </a:prstGeom>
          <a:noFill/>
          <a:ln w="9525">
            <a:noFill/>
          </a:ln>
        </p:spPr>
        <p:txBody>
          <a:bodyPr/>
          <a:lstStyle>
            <a:lvl1pPr lvl="0" algn="ctr">
              <a:buClrTx/>
              <a:buSzTx/>
              <a:buFontTx/>
              <a:defRPr sz="4800">
                <a:ea typeface="隶书" panose="02010509060101010101" pitchFamily="49" charset="-122"/>
              </a:defRPr>
            </a:lvl1pPr>
          </a:lstStyle>
          <a:p>
            <a:pPr lvl="0"/>
            <a:r>
              <a:rPr lang="zh-CN" altLang="en-US" noProof="1"/>
              <a:t>单击此处编辑母版标题样式</a:t>
            </a:r>
          </a:p>
        </p:txBody>
      </p:sp>
      <p:sp>
        <p:nvSpPr>
          <p:cNvPr id="752653" name="副标题 752652"/>
          <p:cNvSpPr>
            <a:spLocks noGrp="1"/>
          </p:cNvSpPr>
          <p:nvPr>
            <p:ph type="subTitle" idx="1"/>
          </p:nvPr>
        </p:nvSpPr>
        <p:spPr>
          <a:xfrm>
            <a:off x="1371600" y="3716338"/>
            <a:ext cx="6400800" cy="1752600"/>
          </a:xfrm>
          <a:prstGeom prst="rect">
            <a:avLst/>
          </a:prstGeom>
          <a:noFill/>
          <a:ln w="9525">
            <a:noFill/>
          </a:ln>
        </p:spPr>
        <p:txBody>
          <a:bodyPr anchor="t"/>
          <a:lstStyle>
            <a:lvl1pPr marL="0" lvl="0" indent="0" algn="ctr">
              <a:buClr>
                <a:schemeClr val="folHlink"/>
              </a:buClr>
              <a:buSzPct val="60000"/>
              <a:buFont typeface="Wingdings" panose="05000000000000000000" pitchFamily="2" charset="2"/>
              <a:defRPr/>
            </a:lvl1pPr>
            <a:lvl2pPr marL="457200" lvl="1" indent="0" algn="ctr">
              <a:buClr>
                <a:schemeClr val="hlink"/>
              </a:buClr>
              <a:buSzPct val="55000"/>
              <a:buFont typeface="Wingdings" panose="05000000000000000000" pitchFamily="2" charset="2"/>
              <a:buNone/>
              <a:defRPr/>
            </a:lvl2pPr>
            <a:lvl3pPr marL="914400" lvl="2" indent="0" algn="ctr">
              <a:buClr>
                <a:schemeClr val="folHlink"/>
              </a:buClr>
              <a:buSzPct val="50000"/>
              <a:buFont typeface="Wingdings" panose="05000000000000000000" pitchFamily="2" charset="2"/>
              <a:buNone/>
              <a:defRPr/>
            </a:lvl3pPr>
            <a:lvl4pPr marL="1371600" lvl="3" indent="0" algn="ctr">
              <a:buClr>
                <a:schemeClr val="accent2"/>
              </a:buClr>
              <a:buSzPct val="55000"/>
              <a:buFont typeface="Wingdings" panose="05000000000000000000" pitchFamily="2" charset="2"/>
              <a:buNone/>
              <a:defRPr/>
            </a:lvl4pPr>
            <a:lvl5pPr marL="1828800" lvl="4" indent="0" algn="ctr">
              <a:buClr>
                <a:schemeClr val="accent1"/>
              </a:buClr>
              <a:buSzPct val="50000"/>
              <a:buFont typeface="Wingdings" panose="05000000000000000000" pitchFamily="2" charset="2"/>
              <a:buNone/>
              <a:defRPr/>
            </a:lvl5pPr>
          </a:lstStyle>
          <a:p>
            <a:pPr lvl="0"/>
            <a:r>
              <a:rPr lang="zh-CN" altLang="en-US" noProof="1"/>
              <a:t>单击此处编辑母版副标题样式</a:t>
            </a:r>
          </a:p>
        </p:txBody>
      </p:sp>
      <p:sp>
        <p:nvSpPr>
          <p:cNvPr id="14" name="日期占位符 752653">
            <a:extLst>
              <a:ext uri="{FF2B5EF4-FFF2-40B4-BE49-F238E27FC236}">
                <a16:creationId xmlns:a16="http://schemas.microsoft.com/office/drawing/2014/main" id="{B69EE79F-23DA-408F-AB2F-B757141714B9}"/>
              </a:ext>
            </a:extLst>
          </p:cNvPr>
          <p:cNvSpPr>
            <a:spLocks noGrp="1"/>
          </p:cNvSpPr>
          <p:nvPr>
            <p:ph type="dt" sz="half" idx="10"/>
          </p:nvPr>
        </p:nvSpPr>
        <p:spPr>
          <a:xfrm>
            <a:off x="990600" y="6248400"/>
            <a:ext cx="1905000" cy="457200"/>
          </a:xfrm>
        </p:spPr>
        <p:txBody>
          <a:bodyPr/>
          <a:lstStyle>
            <a:lvl1pPr>
              <a:defRPr sz="1400" dirty="0">
                <a:solidFill>
                  <a:schemeClr val="bg2"/>
                </a:solidFill>
                <a:latin typeface="Tahoma" panose="020B0604030504040204" pitchFamily="34" charset="0"/>
              </a:defRPr>
            </a:lvl1pPr>
          </a:lstStyle>
          <a:p>
            <a:fld id="{BB962C8B-B14F-4D97-AF65-F5344CB8AC3E}" type="datetime1">
              <a:rPr lang="zh-CN" altLang="en-US"/>
              <a:pPr/>
              <a:t>2021-3-7</a:t>
            </a:fld>
            <a:endParaRPr lang="zh-CN" altLang="en-US">
              <a:latin typeface="Times New Roman" panose="02020603050405020304" pitchFamily="18" charset="0"/>
            </a:endParaRPr>
          </a:p>
        </p:txBody>
      </p:sp>
      <p:sp>
        <p:nvSpPr>
          <p:cNvPr id="15" name="页脚占位符 752654">
            <a:extLst>
              <a:ext uri="{FF2B5EF4-FFF2-40B4-BE49-F238E27FC236}">
                <a16:creationId xmlns:a16="http://schemas.microsoft.com/office/drawing/2014/main" id="{EBE787C3-1463-4174-B183-A3A0CB2F3621}"/>
              </a:ext>
            </a:extLst>
          </p:cNvPr>
          <p:cNvSpPr>
            <a:spLocks noGrp="1"/>
          </p:cNvSpPr>
          <p:nvPr>
            <p:ph type="ftr" sz="quarter" idx="11"/>
          </p:nvPr>
        </p:nvSpPr>
        <p:spPr>
          <a:xfrm>
            <a:off x="3429000" y="6248400"/>
            <a:ext cx="2895600" cy="457200"/>
          </a:xfrm>
        </p:spPr>
        <p:txBody>
          <a:bodyPr/>
          <a:lstStyle>
            <a:lvl1pPr algn="ctr">
              <a:defRPr sz="1400" dirty="0">
                <a:solidFill>
                  <a:schemeClr val="bg2"/>
                </a:solidFill>
                <a:latin typeface="Tahoma" panose="020B0604030504040204" pitchFamily="34" charset="0"/>
              </a:defRPr>
            </a:lvl1pPr>
          </a:lstStyle>
          <a:p>
            <a:endParaRPr lang="zh-CN" altLang="en-US"/>
          </a:p>
        </p:txBody>
      </p:sp>
      <p:sp>
        <p:nvSpPr>
          <p:cNvPr id="16" name="灯片编号占位符 752655">
            <a:extLst>
              <a:ext uri="{FF2B5EF4-FFF2-40B4-BE49-F238E27FC236}">
                <a16:creationId xmlns:a16="http://schemas.microsoft.com/office/drawing/2014/main" id="{D1DDCAA7-3237-436F-871B-27EE350FAB7B}"/>
              </a:ext>
            </a:extLst>
          </p:cNvPr>
          <p:cNvSpPr>
            <a:spLocks noGrp="1"/>
          </p:cNvSpPr>
          <p:nvPr>
            <p:ph type="sldNum" sz="quarter" idx="12"/>
          </p:nvPr>
        </p:nvSpPr>
        <p:spPr>
          <a:xfrm>
            <a:off x="6858000" y="6248400"/>
            <a:ext cx="1905000" cy="457200"/>
          </a:xfrm>
        </p:spPr>
        <p:txBody>
          <a:bodyPr/>
          <a:lstStyle>
            <a:lvl1pPr algn="r">
              <a:defRPr sz="1400">
                <a:solidFill>
                  <a:schemeClr val="bg2"/>
                </a:solidFill>
                <a:latin typeface="Tahoma" panose="020B0604030504040204" pitchFamily="34" charset="0"/>
              </a:defRPr>
            </a:lvl1pPr>
          </a:lstStyle>
          <a:p>
            <a:endParaRPr lang="en-US" altLang="zh-CN"/>
          </a:p>
        </p:txBody>
      </p:sp>
    </p:spTree>
    <p:extLst>
      <p:ext uri="{BB962C8B-B14F-4D97-AF65-F5344CB8AC3E}">
        <p14:creationId xmlns:p14="http://schemas.microsoft.com/office/powerpoint/2010/main" val="3648310065"/>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751626">
            <a:extLst>
              <a:ext uri="{FF2B5EF4-FFF2-40B4-BE49-F238E27FC236}">
                <a16:creationId xmlns:a16="http://schemas.microsoft.com/office/drawing/2014/main" id="{389D6E65-B411-4865-9DFC-32A41C88B087}"/>
              </a:ext>
            </a:extLst>
          </p:cNvPr>
          <p:cNvSpPr>
            <a:spLocks noGrp="1"/>
          </p:cNvSpPr>
          <p:nvPr>
            <p:ph type="dt" sz="half" idx="10"/>
          </p:nvPr>
        </p:nvSpPr>
        <p:spPr>
          <a:ln/>
        </p:spPr>
        <p:txBody>
          <a:bodyPr/>
          <a:lstStyle>
            <a:lvl1pPr>
              <a:defRPr/>
            </a:lvl1pPr>
          </a:lstStyle>
          <a:p>
            <a:endParaRPr lang="zh-CN" altLang="en-US"/>
          </a:p>
        </p:txBody>
      </p:sp>
      <p:sp>
        <p:nvSpPr>
          <p:cNvPr id="5" name="页脚占位符 751627">
            <a:extLst>
              <a:ext uri="{FF2B5EF4-FFF2-40B4-BE49-F238E27FC236}">
                <a16:creationId xmlns:a16="http://schemas.microsoft.com/office/drawing/2014/main" id="{FD321024-D359-4047-BD01-B33F7A643B25}"/>
              </a:ext>
            </a:extLst>
          </p:cNvPr>
          <p:cNvSpPr>
            <a:spLocks noGrp="1"/>
          </p:cNvSpPr>
          <p:nvPr>
            <p:ph type="ftr" sz="quarter" idx="11"/>
          </p:nvPr>
        </p:nvSpPr>
        <p:spPr>
          <a:ln/>
        </p:spPr>
        <p:txBody>
          <a:bodyPr/>
          <a:lstStyle>
            <a:lvl1pPr>
              <a:defRPr/>
            </a:lvl1pPr>
          </a:lstStyle>
          <a:p>
            <a:endParaRPr lang="zh-CN" altLang="en-US"/>
          </a:p>
        </p:txBody>
      </p:sp>
      <p:sp>
        <p:nvSpPr>
          <p:cNvPr id="6" name="灯片编号占位符 751628">
            <a:extLst>
              <a:ext uri="{FF2B5EF4-FFF2-40B4-BE49-F238E27FC236}">
                <a16:creationId xmlns:a16="http://schemas.microsoft.com/office/drawing/2014/main" id="{C3CB7C16-8040-4385-983F-5356388975B6}"/>
              </a:ext>
            </a:extLst>
          </p:cNvPr>
          <p:cNvSpPr>
            <a:spLocks noGrp="1"/>
          </p:cNvSpPr>
          <p:nvPr>
            <p:ph type="sldNum" sz="quarter" idx="12"/>
          </p:nvPr>
        </p:nvSpPr>
        <p:spPr>
          <a:ln/>
        </p:spPr>
        <p:txBody>
          <a:bodyPr/>
          <a:lstStyle>
            <a:lvl1pPr>
              <a:defRPr/>
            </a:lvl1pPr>
          </a:lstStyle>
          <a:p>
            <a:endParaRPr lang="en-US" altLang="zh-CN"/>
          </a:p>
        </p:txBody>
      </p:sp>
    </p:spTree>
    <p:extLst>
      <p:ext uri="{BB962C8B-B14F-4D97-AF65-F5344CB8AC3E}">
        <p14:creationId xmlns:p14="http://schemas.microsoft.com/office/powerpoint/2010/main" val="1740780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日期占位符 751626">
            <a:extLst>
              <a:ext uri="{FF2B5EF4-FFF2-40B4-BE49-F238E27FC236}">
                <a16:creationId xmlns:a16="http://schemas.microsoft.com/office/drawing/2014/main" id="{F39897CF-1937-4636-8894-CEAA050926BC}"/>
              </a:ext>
            </a:extLst>
          </p:cNvPr>
          <p:cNvSpPr>
            <a:spLocks noGrp="1"/>
          </p:cNvSpPr>
          <p:nvPr>
            <p:ph type="dt" sz="half" idx="10"/>
          </p:nvPr>
        </p:nvSpPr>
        <p:spPr>
          <a:ln/>
        </p:spPr>
        <p:txBody>
          <a:bodyPr/>
          <a:lstStyle>
            <a:lvl1pPr>
              <a:defRPr/>
            </a:lvl1pPr>
          </a:lstStyle>
          <a:p>
            <a:endParaRPr lang="zh-CN" altLang="en-US"/>
          </a:p>
        </p:txBody>
      </p:sp>
      <p:sp>
        <p:nvSpPr>
          <p:cNvPr id="5" name="页脚占位符 751627">
            <a:extLst>
              <a:ext uri="{FF2B5EF4-FFF2-40B4-BE49-F238E27FC236}">
                <a16:creationId xmlns:a16="http://schemas.microsoft.com/office/drawing/2014/main" id="{651A17E2-886C-4E2D-95D2-0CD0BB358DCF}"/>
              </a:ext>
            </a:extLst>
          </p:cNvPr>
          <p:cNvSpPr>
            <a:spLocks noGrp="1"/>
          </p:cNvSpPr>
          <p:nvPr>
            <p:ph type="ftr" sz="quarter" idx="11"/>
          </p:nvPr>
        </p:nvSpPr>
        <p:spPr>
          <a:ln/>
        </p:spPr>
        <p:txBody>
          <a:bodyPr/>
          <a:lstStyle>
            <a:lvl1pPr>
              <a:defRPr/>
            </a:lvl1pPr>
          </a:lstStyle>
          <a:p>
            <a:endParaRPr lang="zh-CN" altLang="en-US"/>
          </a:p>
        </p:txBody>
      </p:sp>
      <p:sp>
        <p:nvSpPr>
          <p:cNvPr id="6" name="灯片编号占位符 751628">
            <a:extLst>
              <a:ext uri="{FF2B5EF4-FFF2-40B4-BE49-F238E27FC236}">
                <a16:creationId xmlns:a16="http://schemas.microsoft.com/office/drawing/2014/main" id="{6E6D13E3-E642-4B56-A067-772410620221}"/>
              </a:ext>
            </a:extLst>
          </p:cNvPr>
          <p:cNvSpPr>
            <a:spLocks noGrp="1"/>
          </p:cNvSpPr>
          <p:nvPr>
            <p:ph type="sldNum" sz="quarter" idx="12"/>
          </p:nvPr>
        </p:nvSpPr>
        <p:spPr>
          <a:ln/>
        </p:spPr>
        <p:txBody>
          <a:bodyPr/>
          <a:lstStyle>
            <a:lvl1pPr>
              <a:defRPr/>
            </a:lvl1pPr>
          </a:lstStyle>
          <a:p>
            <a:endParaRPr lang="en-US" altLang="zh-CN"/>
          </a:p>
        </p:txBody>
      </p:sp>
    </p:spTree>
    <p:extLst>
      <p:ext uri="{BB962C8B-B14F-4D97-AF65-F5344CB8AC3E}">
        <p14:creationId xmlns:p14="http://schemas.microsoft.com/office/powerpoint/2010/main" val="3827873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11188" y="1258888"/>
            <a:ext cx="3916600" cy="5338762"/>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87650" y="1258888"/>
            <a:ext cx="3916600" cy="5338762"/>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751626">
            <a:extLst>
              <a:ext uri="{FF2B5EF4-FFF2-40B4-BE49-F238E27FC236}">
                <a16:creationId xmlns:a16="http://schemas.microsoft.com/office/drawing/2014/main" id="{E99A4CFB-A994-4FE6-8E6E-4D9F0A5C03A4}"/>
              </a:ext>
            </a:extLst>
          </p:cNvPr>
          <p:cNvSpPr>
            <a:spLocks noGrp="1"/>
          </p:cNvSpPr>
          <p:nvPr>
            <p:ph type="dt" sz="half" idx="10"/>
          </p:nvPr>
        </p:nvSpPr>
        <p:spPr>
          <a:ln/>
        </p:spPr>
        <p:txBody>
          <a:bodyPr/>
          <a:lstStyle>
            <a:lvl1pPr>
              <a:defRPr/>
            </a:lvl1pPr>
          </a:lstStyle>
          <a:p>
            <a:endParaRPr lang="zh-CN" altLang="en-US"/>
          </a:p>
        </p:txBody>
      </p:sp>
      <p:sp>
        <p:nvSpPr>
          <p:cNvPr id="6" name="页脚占位符 751627">
            <a:extLst>
              <a:ext uri="{FF2B5EF4-FFF2-40B4-BE49-F238E27FC236}">
                <a16:creationId xmlns:a16="http://schemas.microsoft.com/office/drawing/2014/main" id="{837E14DC-C223-4F3A-9F5C-58733194D86A}"/>
              </a:ext>
            </a:extLst>
          </p:cNvPr>
          <p:cNvSpPr>
            <a:spLocks noGrp="1"/>
          </p:cNvSpPr>
          <p:nvPr>
            <p:ph type="ftr" sz="quarter" idx="11"/>
          </p:nvPr>
        </p:nvSpPr>
        <p:spPr>
          <a:ln/>
        </p:spPr>
        <p:txBody>
          <a:bodyPr/>
          <a:lstStyle>
            <a:lvl1pPr>
              <a:defRPr/>
            </a:lvl1pPr>
          </a:lstStyle>
          <a:p>
            <a:endParaRPr lang="zh-CN" altLang="en-US"/>
          </a:p>
        </p:txBody>
      </p:sp>
      <p:sp>
        <p:nvSpPr>
          <p:cNvPr id="7" name="灯片编号占位符 751628">
            <a:extLst>
              <a:ext uri="{FF2B5EF4-FFF2-40B4-BE49-F238E27FC236}">
                <a16:creationId xmlns:a16="http://schemas.microsoft.com/office/drawing/2014/main" id="{9C67158B-343E-4DAF-ABE2-26E06900A8EE}"/>
              </a:ext>
            </a:extLst>
          </p:cNvPr>
          <p:cNvSpPr>
            <a:spLocks noGrp="1"/>
          </p:cNvSpPr>
          <p:nvPr>
            <p:ph type="sldNum" sz="quarter" idx="12"/>
          </p:nvPr>
        </p:nvSpPr>
        <p:spPr>
          <a:ln/>
        </p:spPr>
        <p:txBody>
          <a:bodyPr/>
          <a:lstStyle>
            <a:lvl1pPr>
              <a:defRPr/>
            </a:lvl1pPr>
          </a:lstStyle>
          <a:p>
            <a:endParaRPr lang="en-US" altLang="zh-CN"/>
          </a:p>
        </p:txBody>
      </p:sp>
    </p:spTree>
    <p:extLst>
      <p:ext uri="{BB962C8B-B14F-4D97-AF65-F5344CB8AC3E}">
        <p14:creationId xmlns:p14="http://schemas.microsoft.com/office/powerpoint/2010/main" val="36599091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751626">
            <a:extLst>
              <a:ext uri="{FF2B5EF4-FFF2-40B4-BE49-F238E27FC236}">
                <a16:creationId xmlns:a16="http://schemas.microsoft.com/office/drawing/2014/main" id="{68D0D974-DDFC-44D2-9B72-2B01BE17C11F}"/>
              </a:ext>
            </a:extLst>
          </p:cNvPr>
          <p:cNvSpPr>
            <a:spLocks noGrp="1"/>
          </p:cNvSpPr>
          <p:nvPr>
            <p:ph type="dt" sz="half" idx="10"/>
          </p:nvPr>
        </p:nvSpPr>
        <p:spPr>
          <a:ln/>
        </p:spPr>
        <p:txBody>
          <a:bodyPr/>
          <a:lstStyle>
            <a:lvl1pPr>
              <a:defRPr/>
            </a:lvl1pPr>
          </a:lstStyle>
          <a:p>
            <a:endParaRPr lang="zh-CN" altLang="en-US"/>
          </a:p>
        </p:txBody>
      </p:sp>
      <p:sp>
        <p:nvSpPr>
          <p:cNvPr id="8" name="页脚占位符 751627">
            <a:extLst>
              <a:ext uri="{FF2B5EF4-FFF2-40B4-BE49-F238E27FC236}">
                <a16:creationId xmlns:a16="http://schemas.microsoft.com/office/drawing/2014/main" id="{C7F1860C-6B7D-4F40-AD14-342551D99C22}"/>
              </a:ext>
            </a:extLst>
          </p:cNvPr>
          <p:cNvSpPr>
            <a:spLocks noGrp="1"/>
          </p:cNvSpPr>
          <p:nvPr>
            <p:ph type="ftr" sz="quarter" idx="11"/>
          </p:nvPr>
        </p:nvSpPr>
        <p:spPr>
          <a:ln/>
        </p:spPr>
        <p:txBody>
          <a:bodyPr/>
          <a:lstStyle>
            <a:lvl1pPr>
              <a:defRPr/>
            </a:lvl1pPr>
          </a:lstStyle>
          <a:p>
            <a:endParaRPr lang="zh-CN" altLang="en-US"/>
          </a:p>
        </p:txBody>
      </p:sp>
      <p:sp>
        <p:nvSpPr>
          <p:cNvPr id="9" name="灯片编号占位符 751628">
            <a:extLst>
              <a:ext uri="{FF2B5EF4-FFF2-40B4-BE49-F238E27FC236}">
                <a16:creationId xmlns:a16="http://schemas.microsoft.com/office/drawing/2014/main" id="{80794960-3296-4DB0-843C-B885F453F55D}"/>
              </a:ext>
            </a:extLst>
          </p:cNvPr>
          <p:cNvSpPr>
            <a:spLocks noGrp="1"/>
          </p:cNvSpPr>
          <p:nvPr>
            <p:ph type="sldNum" sz="quarter" idx="12"/>
          </p:nvPr>
        </p:nvSpPr>
        <p:spPr>
          <a:ln/>
        </p:spPr>
        <p:txBody>
          <a:bodyPr/>
          <a:lstStyle>
            <a:lvl1pPr>
              <a:defRPr/>
            </a:lvl1pPr>
          </a:lstStyle>
          <a:p>
            <a:endParaRPr lang="en-US" altLang="zh-CN"/>
          </a:p>
        </p:txBody>
      </p:sp>
    </p:spTree>
    <p:extLst>
      <p:ext uri="{BB962C8B-B14F-4D97-AF65-F5344CB8AC3E}">
        <p14:creationId xmlns:p14="http://schemas.microsoft.com/office/powerpoint/2010/main" val="579583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751626">
            <a:extLst>
              <a:ext uri="{FF2B5EF4-FFF2-40B4-BE49-F238E27FC236}">
                <a16:creationId xmlns:a16="http://schemas.microsoft.com/office/drawing/2014/main" id="{FE9A48CF-BAFA-4DBA-9C74-76E759A96C17}"/>
              </a:ext>
            </a:extLst>
          </p:cNvPr>
          <p:cNvSpPr>
            <a:spLocks noGrp="1"/>
          </p:cNvSpPr>
          <p:nvPr>
            <p:ph type="dt" sz="half" idx="10"/>
          </p:nvPr>
        </p:nvSpPr>
        <p:spPr>
          <a:ln/>
        </p:spPr>
        <p:txBody>
          <a:bodyPr/>
          <a:lstStyle>
            <a:lvl1pPr>
              <a:defRPr/>
            </a:lvl1pPr>
          </a:lstStyle>
          <a:p>
            <a:endParaRPr lang="zh-CN" altLang="en-US"/>
          </a:p>
        </p:txBody>
      </p:sp>
      <p:sp>
        <p:nvSpPr>
          <p:cNvPr id="4" name="页脚占位符 751627">
            <a:extLst>
              <a:ext uri="{FF2B5EF4-FFF2-40B4-BE49-F238E27FC236}">
                <a16:creationId xmlns:a16="http://schemas.microsoft.com/office/drawing/2014/main" id="{3EE0B84E-409B-43F7-B834-75325F7FB97E}"/>
              </a:ext>
            </a:extLst>
          </p:cNvPr>
          <p:cNvSpPr>
            <a:spLocks noGrp="1"/>
          </p:cNvSpPr>
          <p:nvPr>
            <p:ph type="ftr" sz="quarter" idx="11"/>
          </p:nvPr>
        </p:nvSpPr>
        <p:spPr>
          <a:ln/>
        </p:spPr>
        <p:txBody>
          <a:bodyPr/>
          <a:lstStyle>
            <a:lvl1pPr>
              <a:defRPr/>
            </a:lvl1pPr>
          </a:lstStyle>
          <a:p>
            <a:endParaRPr lang="zh-CN" altLang="en-US"/>
          </a:p>
        </p:txBody>
      </p:sp>
      <p:sp>
        <p:nvSpPr>
          <p:cNvPr id="5" name="灯片编号占位符 751628">
            <a:extLst>
              <a:ext uri="{FF2B5EF4-FFF2-40B4-BE49-F238E27FC236}">
                <a16:creationId xmlns:a16="http://schemas.microsoft.com/office/drawing/2014/main" id="{AA35D7FA-6FFB-40C9-A5EB-8658CAD08476}"/>
              </a:ext>
            </a:extLst>
          </p:cNvPr>
          <p:cNvSpPr>
            <a:spLocks noGrp="1"/>
          </p:cNvSpPr>
          <p:nvPr>
            <p:ph type="sldNum" sz="quarter" idx="12"/>
          </p:nvPr>
        </p:nvSpPr>
        <p:spPr>
          <a:ln/>
        </p:spPr>
        <p:txBody>
          <a:bodyPr/>
          <a:lstStyle>
            <a:lvl1pPr>
              <a:defRPr/>
            </a:lvl1pPr>
          </a:lstStyle>
          <a:p>
            <a:endParaRPr lang="en-US" altLang="zh-CN"/>
          </a:p>
        </p:txBody>
      </p:sp>
    </p:spTree>
    <p:extLst>
      <p:ext uri="{BB962C8B-B14F-4D97-AF65-F5344CB8AC3E}">
        <p14:creationId xmlns:p14="http://schemas.microsoft.com/office/powerpoint/2010/main" val="11977096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751626">
            <a:extLst>
              <a:ext uri="{FF2B5EF4-FFF2-40B4-BE49-F238E27FC236}">
                <a16:creationId xmlns:a16="http://schemas.microsoft.com/office/drawing/2014/main" id="{34BCBBF3-1830-47F7-AA5B-C1812B113687}"/>
              </a:ext>
            </a:extLst>
          </p:cNvPr>
          <p:cNvSpPr>
            <a:spLocks noGrp="1"/>
          </p:cNvSpPr>
          <p:nvPr>
            <p:ph type="dt" sz="half" idx="10"/>
          </p:nvPr>
        </p:nvSpPr>
        <p:spPr>
          <a:ln/>
        </p:spPr>
        <p:txBody>
          <a:bodyPr/>
          <a:lstStyle>
            <a:lvl1pPr>
              <a:defRPr/>
            </a:lvl1pPr>
          </a:lstStyle>
          <a:p>
            <a:endParaRPr lang="zh-CN" altLang="en-US"/>
          </a:p>
        </p:txBody>
      </p:sp>
      <p:sp>
        <p:nvSpPr>
          <p:cNvPr id="3" name="页脚占位符 751627">
            <a:extLst>
              <a:ext uri="{FF2B5EF4-FFF2-40B4-BE49-F238E27FC236}">
                <a16:creationId xmlns:a16="http://schemas.microsoft.com/office/drawing/2014/main" id="{61A7DB3E-85C2-451F-97FB-63C11D008E12}"/>
              </a:ext>
            </a:extLst>
          </p:cNvPr>
          <p:cNvSpPr>
            <a:spLocks noGrp="1"/>
          </p:cNvSpPr>
          <p:nvPr>
            <p:ph type="ftr" sz="quarter" idx="11"/>
          </p:nvPr>
        </p:nvSpPr>
        <p:spPr>
          <a:ln/>
        </p:spPr>
        <p:txBody>
          <a:bodyPr/>
          <a:lstStyle>
            <a:lvl1pPr>
              <a:defRPr/>
            </a:lvl1pPr>
          </a:lstStyle>
          <a:p>
            <a:endParaRPr lang="zh-CN" altLang="en-US"/>
          </a:p>
        </p:txBody>
      </p:sp>
      <p:sp>
        <p:nvSpPr>
          <p:cNvPr id="4" name="灯片编号占位符 751628">
            <a:extLst>
              <a:ext uri="{FF2B5EF4-FFF2-40B4-BE49-F238E27FC236}">
                <a16:creationId xmlns:a16="http://schemas.microsoft.com/office/drawing/2014/main" id="{7C63DCDB-277C-45AF-9C90-494FBCA36932}"/>
              </a:ext>
            </a:extLst>
          </p:cNvPr>
          <p:cNvSpPr>
            <a:spLocks noGrp="1"/>
          </p:cNvSpPr>
          <p:nvPr>
            <p:ph type="sldNum" sz="quarter" idx="12"/>
          </p:nvPr>
        </p:nvSpPr>
        <p:spPr>
          <a:ln/>
        </p:spPr>
        <p:txBody>
          <a:bodyPr/>
          <a:lstStyle>
            <a:lvl1pPr>
              <a:defRPr/>
            </a:lvl1pPr>
          </a:lstStyle>
          <a:p>
            <a:endParaRPr lang="en-US" altLang="zh-CN"/>
          </a:p>
        </p:txBody>
      </p:sp>
    </p:spTree>
    <p:extLst>
      <p:ext uri="{BB962C8B-B14F-4D97-AF65-F5344CB8AC3E}">
        <p14:creationId xmlns:p14="http://schemas.microsoft.com/office/powerpoint/2010/main" val="27547376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日期占位符 751626">
            <a:extLst>
              <a:ext uri="{FF2B5EF4-FFF2-40B4-BE49-F238E27FC236}">
                <a16:creationId xmlns:a16="http://schemas.microsoft.com/office/drawing/2014/main" id="{C9DDFD7F-6261-483A-9C01-64708A28B7D2}"/>
              </a:ext>
            </a:extLst>
          </p:cNvPr>
          <p:cNvSpPr>
            <a:spLocks noGrp="1"/>
          </p:cNvSpPr>
          <p:nvPr>
            <p:ph type="dt" sz="half" idx="10"/>
          </p:nvPr>
        </p:nvSpPr>
        <p:spPr>
          <a:ln/>
        </p:spPr>
        <p:txBody>
          <a:bodyPr/>
          <a:lstStyle>
            <a:lvl1pPr>
              <a:defRPr/>
            </a:lvl1pPr>
          </a:lstStyle>
          <a:p>
            <a:endParaRPr lang="zh-CN" altLang="en-US"/>
          </a:p>
        </p:txBody>
      </p:sp>
      <p:sp>
        <p:nvSpPr>
          <p:cNvPr id="6" name="页脚占位符 751627">
            <a:extLst>
              <a:ext uri="{FF2B5EF4-FFF2-40B4-BE49-F238E27FC236}">
                <a16:creationId xmlns:a16="http://schemas.microsoft.com/office/drawing/2014/main" id="{DA4DDE4F-02EB-4DC6-9758-52549F444F11}"/>
              </a:ext>
            </a:extLst>
          </p:cNvPr>
          <p:cNvSpPr>
            <a:spLocks noGrp="1"/>
          </p:cNvSpPr>
          <p:nvPr>
            <p:ph type="ftr" sz="quarter" idx="11"/>
          </p:nvPr>
        </p:nvSpPr>
        <p:spPr>
          <a:ln/>
        </p:spPr>
        <p:txBody>
          <a:bodyPr/>
          <a:lstStyle>
            <a:lvl1pPr>
              <a:defRPr/>
            </a:lvl1pPr>
          </a:lstStyle>
          <a:p>
            <a:endParaRPr lang="zh-CN" altLang="en-US"/>
          </a:p>
        </p:txBody>
      </p:sp>
      <p:sp>
        <p:nvSpPr>
          <p:cNvPr id="7" name="灯片编号占位符 751628">
            <a:extLst>
              <a:ext uri="{FF2B5EF4-FFF2-40B4-BE49-F238E27FC236}">
                <a16:creationId xmlns:a16="http://schemas.microsoft.com/office/drawing/2014/main" id="{EEAC260F-5A84-4B91-B215-6CDF2B7BD42D}"/>
              </a:ext>
            </a:extLst>
          </p:cNvPr>
          <p:cNvSpPr>
            <a:spLocks noGrp="1"/>
          </p:cNvSpPr>
          <p:nvPr>
            <p:ph type="sldNum" sz="quarter" idx="12"/>
          </p:nvPr>
        </p:nvSpPr>
        <p:spPr>
          <a:ln/>
        </p:spPr>
        <p:txBody>
          <a:bodyPr/>
          <a:lstStyle>
            <a:lvl1pPr>
              <a:defRPr/>
            </a:lvl1pPr>
          </a:lstStyle>
          <a:p>
            <a:endParaRPr lang="en-US" altLang="zh-CN"/>
          </a:p>
        </p:txBody>
      </p:sp>
    </p:spTree>
    <p:extLst>
      <p:ext uri="{BB962C8B-B14F-4D97-AF65-F5344CB8AC3E}">
        <p14:creationId xmlns:p14="http://schemas.microsoft.com/office/powerpoint/2010/main" val="1191567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日期占位符 751626">
            <a:extLst>
              <a:ext uri="{FF2B5EF4-FFF2-40B4-BE49-F238E27FC236}">
                <a16:creationId xmlns:a16="http://schemas.microsoft.com/office/drawing/2014/main" id="{BBBD3F7A-B87B-4296-8560-63A8568B0960}"/>
              </a:ext>
            </a:extLst>
          </p:cNvPr>
          <p:cNvSpPr>
            <a:spLocks noGrp="1"/>
          </p:cNvSpPr>
          <p:nvPr>
            <p:ph type="dt" sz="half" idx="10"/>
          </p:nvPr>
        </p:nvSpPr>
        <p:spPr>
          <a:ln/>
        </p:spPr>
        <p:txBody>
          <a:bodyPr/>
          <a:lstStyle>
            <a:lvl1pPr>
              <a:defRPr/>
            </a:lvl1pPr>
          </a:lstStyle>
          <a:p>
            <a:endParaRPr lang="zh-CN" altLang="en-US"/>
          </a:p>
        </p:txBody>
      </p:sp>
      <p:sp>
        <p:nvSpPr>
          <p:cNvPr id="6" name="页脚占位符 751627">
            <a:extLst>
              <a:ext uri="{FF2B5EF4-FFF2-40B4-BE49-F238E27FC236}">
                <a16:creationId xmlns:a16="http://schemas.microsoft.com/office/drawing/2014/main" id="{BB669D0E-D83A-4AA7-81D8-D7244884388D}"/>
              </a:ext>
            </a:extLst>
          </p:cNvPr>
          <p:cNvSpPr>
            <a:spLocks noGrp="1"/>
          </p:cNvSpPr>
          <p:nvPr>
            <p:ph type="ftr" sz="quarter" idx="11"/>
          </p:nvPr>
        </p:nvSpPr>
        <p:spPr>
          <a:ln/>
        </p:spPr>
        <p:txBody>
          <a:bodyPr/>
          <a:lstStyle>
            <a:lvl1pPr>
              <a:defRPr/>
            </a:lvl1pPr>
          </a:lstStyle>
          <a:p>
            <a:endParaRPr lang="zh-CN" altLang="en-US"/>
          </a:p>
        </p:txBody>
      </p:sp>
      <p:sp>
        <p:nvSpPr>
          <p:cNvPr id="7" name="灯片编号占位符 751628">
            <a:extLst>
              <a:ext uri="{FF2B5EF4-FFF2-40B4-BE49-F238E27FC236}">
                <a16:creationId xmlns:a16="http://schemas.microsoft.com/office/drawing/2014/main" id="{87258C71-DFC2-4893-B76F-1DA211611FC5}"/>
              </a:ext>
            </a:extLst>
          </p:cNvPr>
          <p:cNvSpPr>
            <a:spLocks noGrp="1"/>
          </p:cNvSpPr>
          <p:nvPr>
            <p:ph type="sldNum" sz="quarter" idx="12"/>
          </p:nvPr>
        </p:nvSpPr>
        <p:spPr>
          <a:ln/>
        </p:spPr>
        <p:txBody>
          <a:bodyPr/>
          <a:lstStyle>
            <a:lvl1pPr>
              <a:defRPr/>
            </a:lvl1pPr>
          </a:lstStyle>
          <a:p>
            <a:endParaRPr lang="en-US" altLang="zh-CN"/>
          </a:p>
        </p:txBody>
      </p:sp>
    </p:spTree>
    <p:extLst>
      <p:ext uri="{BB962C8B-B14F-4D97-AF65-F5344CB8AC3E}">
        <p14:creationId xmlns:p14="http://schemas.microsoft.com/office/powerpoint/2010/main" val="2561523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751626">
            <a:extLst>
              <a:ext uri="{FF2B5EF4-FFF2-40B4-BE49-F238E27FC236}">
                <a16:creationId xmlns:a16="http://schemas.microsoft.com/office/drawing/2014/main" id="{D5917134-17B7-49C8-82A8-DD88F454EAF3}"/>
              </a:ext>
            </a:extLst>
          </p:cNvPr>
          <p:cNvSpPr>
            <a:spLocks noGrp="1"/>
          </p:cNvSpPr>
          <p:nvPr>
            <p:ph type="dt" sz="half" idx="10"/>
          </p:nvPr>
        </p:nvSpPr>
        <p:spPr>
          <a:ln/>
        </p:spPr>
        <p:txBody>
          <a:bodyPr/>
          <a:lstStyle>
            <a:lvl1pPr>
              <a:defRPr/>
            </a:lvl1pPr>
          </a:lstStyle>
          <a:p>
            <a:endParaRPr lang="zh-CN" altLang="en-US"/>
          </a:p>
        </p:txBody>
      </p:sp>
      <p:sp>
        <p:nvSpPr>
          <p:cNvPr id="5" name="页脚占位符 751627">
            <a:extLst>
              <a:ext uri="{FF2B5EF4-FFF2-40B4-BE49-F238E27FC236}">
                <a16:creationId xmlns:a16="http://schemas.microsoft.com/office/drawing/2014/main" id="{BE9F5727-13B8-4ED8-AB24-2D94273A59EB}"/>
              </a:ext>
            </a:extLst>
          </p:cNvPr>
          <p:cNvSpPr>
            <a:spLocks noGrp="1"/>
          </p:cNvSpPr>
          <p:nvPr>
            <p:ph type="ftr" sz="quarter" idx="11"/>
          </p:nvPr>
        </p:nvSpPr>
        <p:spPr>
          <a:ln/>
        </p:spPr>
        <p:txBody>
          <a:bodyPr/>
          <a:lstStyle>
            <a:lvl1pPr>
              <a:defRPr/>
            </a:lvl1pPr>
          </a:lstStyle>
          <a:p>
            <a:endParaRPr lang="zh-CN" altLang="en-US"/>
          </a:p>
        </p:txBody>
      </p:sp>
      <p:sp>
        <p:nvSpPr>
          <p:cNvPr id="6" name="灯片编号占位符 751628">
            <a:extLst>
              <a:ext uri="{FF2B5EF4-FFF2-40B4-BE49-F238E27FC236}">
                <a16:creationId xmlns:a16="http://schemas.microsoft.com/office/drawing/2014/main" id="{8886E678-DC64-4AF4-944B-14DC31413230}"/>
              </a:ext>
            </a:extLst>
          </p:cNvPr>
          <p:cNvSpPr>
            <a:spLocks noGrp="1"/>
          </p:cNvSpPr>
          <p:nvPr>
            <p:ph type="sldNum" sz="quarter" idx="12"/>
          </p:nvPr>
        </p:nvSpPr>
        <p:spPr>
          <a:ln/>
        </p:spPr>
        <p:txBody>
          <a:bodyPr/>
          <a:lstStyle>
            <a:lvl1pPr>
              <a:defRPr/>
            </a:lvl1pPr>
          </a:lstStyle>
          <a:p>
            <a:endParaRPr lang="en-US" altLang="zh-CN"/>
          </a:p>
        </p:txBody>
      </p:sp>
    </p:spTree>
    <p:extLst>
      <p:ext uri="{BB962C8B-B14F-4D97-AF65-F5344CB8AC3E}">
        <p14:creationId xmlns:p14="http://schemas.microsoft.com/office/powerpoint/2010/main" val="22848613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60778" y="214313"/>
            <a:ext cx="2083197" cy="6383337"/>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11188" y="214313"/>
            <a:ext cx="6128825" cy="6383337"/>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751626">
            <a:extLst>
              <a:ext uri="{FF2B5EF4-FFF2-40B4-BE49-F238E27FC236}">
                <a16:creationId xmlns:a16="http://schemas.microsoft.com/office/drawing/2014/main" id="{FE4492E0-8C74-4995-9E03-89FCFE08A8A5}"/>
              </a:ext>
            </a:extLst>
          </p:cNvPr>
          <p:cNvSpPr>
            <a:spLocks noGrp="1"/>
          </p:cNvSpPr>
          <p:nvPr>
            <p:ph type="dt" sz="half" idx="10"/>
          </p:nvPr>
        </p:nvSpPr>
        <p:spPr>
          <a:ln/>
        </p:spPr>
        <p:txBody>
          <a:bodyPr/>
          <a:lstStyle>
            <a:lvl1pPr>
              <a:defRPr/>
            </a:lvl1pPr>
          </a:lstStyle>
          <a:p>
            <a:endParaRPr lang="zh-CN" altLang="en-US"/>
          </a:p>
        </p:txBody>
      </p:sp>
      <p:sp>
        <p:nvSpPr>
          <p:cNvPr id="5" name="页脚占位符 751627">
            <a:extLst>
              <a:ext uri="{FF2B5EF4-FFF2-40B4-BE49-F238E27FC236}">
                <a16:creationId xmlns:a16="http://schemas.microsoft.com/office/drawing/2014/main" id="{DA2F377F-7C9A-43FD-BE88-72CAB29D1772}"/>
              </a:ext>
            </a:extLst>
          </p:cNvPr>
          <p:cNvSpPr>
            <a:spLocks noGrp="1"/>
          </p:cNvSpPr>
          <p:nvPr>
            <p:ph type="ftr" sz="quarter" idx="11"/>
          </p:nvPr>
        </p:nvSpPr>
        <p:spPr>
          <a:ln/>
        </p:spPr>
        <p:txBody>
          <a:bodyPr/>
          <a:lstStyle>
            <a:lvl1pPr>
              <a:defRPr/>
            </a:lvl1pPr>
          </a:lstStyle>
          <a:p>
            <a:endParaRPr lang="zh-CN" altLang="en-US"/>
          </a:p>
        </p:txBody>
      </p:sp>
      <p:sp>
        <p:nvSpPr>
          <p:cNvPr id="6" name="灯片编号占位符 751628">
            <a:extLst>
              <a:ext uri="{FF2B5EF4-FFF2-40B4-BE49-F238E27FC236}">
                <a16:creationId xmlns:a16="http://schemas.microsoft.com/office/drawing/2014/main" id="{EFC8B62E-59EB-4718-9B26-8823A3A0179A}"/>
              </a:ext>
            </a:extLst>
          </p:cNvPr>
          <p:cNvSpPr>
            <a:spLocks noGrp="1"/>
          </p:cNvSpPr>
          <p:nvPr>
            <p:ph type="sldNum" sz="quarter" idx="12"/>
          </p:nvPr>
        </p:nvSpPr>
        <p:spPr>
          <a:ln/>
        </p:spPr>
        <p:txBody>
          <a:bodyPr/>
          <a:lstStyle>
            <a:lvl1pPr>
              <a:defRPr/>
            </a:lvl1pPr>
          </a:lstStyle>
          <a:p>
            <a:endParaRPr lang="en-US" altLang="zh-CN"/>
          </a:p>
        </p:txBody>
      </p:sp>
    </p:spTree>
    <p:extLst>
      <p:ext uri="{BB962C8B-B14F-4D97-AF65-F5344CB8AC3E}">
        <p14:creationId xmlns:p14="http://schemas.microsoft.com/office/powerpoint/2010/main" val="6910980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日期占位符 783363">
            <a:extLst>
              <a:ext uri="{FF2B5EF4-FFF2-40B4-BE49-F238E27FC236}">
                <a16:creationId xmlns:a16="http://schemas.microsoft.com/office/drawing/2014/main" id="{CF1045B0-B35E-47E2-BF23-7A3A15C0E1DC}"/>
              </a:ext>
            </a:extLst>
          </p:cNvPr>
          <p:cNvSpPr>
            <a:spLocks noGrp="1"/>
          </p:cNvSpPr>
          <p:nvPr>
            <p:ph type="dt" sz="half" idx="10"/>
          </p:nvPr>
        </p:nvSpPr>
        <p:spPr>
          <a:ln/>
        </p:spPr>
        <p:txBody>
          <a:bodyPr/>
          <a:lstStyle>
            <a:lvl1pPr>
              <a:defRPr/>
            </a:lvl1pPr>
          </a:lstStyle>
          <a:p>
            <a:endParaRPr lang="zh-CN" altLang="en-US"/>
          </a:p>
        </p:txBody>
      </p:sp>
      <p:sp>
        <p:nvSpPr>
          <p:cNvPr id="5" name="页脚占位符 783364">
            <a:extLst>
              <a:ext uri="{FF2B5EF4-FFF2-40B4-BE49-F238E27FC236}">
                <a16:creationId xmlns:a16="http://schemas.microsoft.com/office/drawing/2014/main" id="{4C69F2F6-D23C-4808-90E9-E95FF03E0492}"/>
              </a:ext>
            </a:extLst>
          </p:cNvPr>
          <p:cNvSpPr>
            <a:spLocks noGrp="1"/>
          </p:cNvSpPr>
          <p:nvPr>
            <p:ph type="ftr" sz="quarter" idx="11"/>
          </p:nvPr>
        </p:nvSpPr>
        <p:spPr>
          <a:ln/>
        </p:spPr>
        <p:txBody>
          <a:bodyPr/>
          <a:lstStyle>
            <a:lvl1pPr>
              <a:defRPr/>
            </a:lvl1pPr>
          </a:lstStyle>
          <a:p>
            <a:endParaRPr lang="zh-CN" altLang="en-US"/>
          </a:p>
        </p:txBody>
      </p:sp>
      <p:sp>
        <p:nvSpPr>
          <p:cNvPr id="6" name="灯片编号占位符 783365">
            <a:extLst>
              <a:ext uri="{FF2B5EF4-FFF2-40B4-BE49-F238E27FC236}">
                <a16:creationId xmlns:a16="http://schemas.microsoft.com/office/drawing/2014/main" id="{3814C32A-4227-46A3-8B83-77B3D3C77CC8}"/>
              </a:ext>
            </a:extLst>
          </p:cNvPr>
          <p:cNvSpPr>
            <a:spLocks noGrp="1"/>
          </p:cNvSpPr>
          <p:nvPr>
            <p:ph type="sldNum" sz="quarter" idx="12"/>
          </p:nvPr>
        </p:nvSpPr>
        <p:spPr>
          <a:ln/>
        </p:spPr>
        <p:txBody>
          <a:bodyPr/>
          <a:lstStyle>
            <a:lvl1pPr>
              <a:defRPr/>
            </a:lvl1pPr>
          </a:lstStyle>
          <a:p>
            <a:fld id="{5B3D0FFD-62D9-4E6C-8BA0-04E7EBF04419}" type="slidenum">
              <a:rPr lang="zh-CN" altLang="en-US"/>
              <a:pPr/>
              <a:t>‹#›</a:t>
            </a:fld>
            <a:endParaRPr lang="zh-CN" altLang="en-US"/>
          </a:p>
        </p:txBody>
      </p:sp>
    </p:spTree>
    <p:extLst>
      <p:ext uri="{BB962C8B-B14F-4D97-AF65-F5344CB8AC3E}">
        <p14:creationId xmlns:p14="http://schemas.microsoft.com/office/powerpoint/2010/main" val="16605193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783363">
            <a:extLst>
              <a:ext uri="{FF2B5EF4-FFF2-40B4-BE49-F238E27FC236}">
                <a16:creationId xmlns:a16="http://schemas.microsoft.com/office/drawing/2014/main" id="{B2752803-A962-45B9-A199-372B5943018D}"/>
              </a:ext>
            </a:extLst>
          </p:cNvPr>
          <p:cNvSpPr>
            <a:spLocks noGrp="1"/>
          </p:cNvSpPr>
          <p:nvPr>
            <p:ph type="dt" sz="half" idx="10"/>
          </p:nvPr>
        </p:nvSpPr>
        <p:spPr>
          <a:ln/>
        </p:spPr>
        <p:txBody>
          <a:bodyPr/>
          <a:lstStyle>
            <a:lvl1pPr>
              <a:defRPr/>
            </a:lvl1pPr>
          </a:lstStyle>
          <a:p>
            <a:endParaRPr lang="zh-CN" altLang="en-US"/>
          </a:p>
        </p:txBody>
      </p:sp>
      <p:sp>
        <p:nvSpPr>
          <p:cNvPr id="5" name="页脚占位符 783364">
            <a:extLst>
              <a:ext uri="{FF2B5EF4-FFF2-40B4-BE49-F238E27FC236}">
                <a16:creationId xmlns:a16="http://schemas.microsoft.com/office/drawing/2014/main" id="{4EBCCAE2-C406-4CCD-BA95-5927DB1CA4B4}"/>
              </a:ext>
            </a:extLst>
          </p:cNvPr>
          <p:cNvSpPr>
            <a:spLocks noGrp="1"/>
          </p:cNvSpPr>
          <p:nvPr>
            <p:ph type="ftr" sz="quarter" idx="11"/>
          </p:nvPr>
        </p:nvSpPr>
        <p:spPr>
          <a:ln/>
        </p:spPr>
        <p:txBody>
          <a:bodyPr/>
          <a:lstStyle>
            <a:lvl1pPr>
              <a:defRPr/>
            </a:lvl1pPr>
          </a:lstStyle>
          <a:p>
            <a:endParaRPr lang="zh-CN" altLang="en-US"/>
          </a:p>
        </p:txBody>
      </p:sp>
      <p:sp>
        <p:nvSpPr>
          <p:cNvPr id="6" name="灯片编号占位符 783365">
            <a:extLst>
              <a:ext uri="{FF2B5EF4-FFF2-40B4-BE49-F238E27FC236}">
                <a16:creationId xmlns:a16="http://schemas.microsoft.com/office/drawing/2014/main" id="{9C1D494C-F38E-417C-85D7-09B8059DCB61}"/>
              </a:ext>
            </a:extLst>
          </p:cNvPr>
          <p:cNvSpPr>
            <a:spLocks noGrp="1"/>
          </p:cNvSpPr>
          <p:nvPr>
            <p:ph type="sldNum" sz="quarter" idx="12"/>
          </p:nvPr>
        </p:nvSpPr>
        <p:spPr>
          <a:ln/>
        </p:spPr>
        <p:txBody>
          <a:bodyPr/>
          <a:lstStyle>
            <a:lvl1pPr>
              <a:defRPr/>
            </a:lvl1pPr>
          </a:lstStyle>
          <a:p>
            <a:fld id="{265ABE25-49F5-4DBE-BA3F-57496D65B034}" type="slidenum">
              <a:rPr lang="zh-CN" altLang="en-US"/>
              <a:pPr/>
              <a:t>‹#›</a:t>
            </a:fld>
            <a:endParaRPr lang="zh-CN" altLang="en-US"/>
          </a:p>
        </p:txBody>
      </p:sp>
    </p:spTree>
    <p:extLst>
      <p:ext uri="{BB962C8B-B14F-4D97-AF65-F5344CB8AC3E}">
        <p14:creationId xmlns:p14="http://schemas.microsoft.com/office/powerpoint/2010/main" val="37276490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日期占位符 783363">
            <a:extLst>
              <a:ext uri="{FF2B5EF4-FFF2-40B4-BE49-F238E27FC236}">
                <a16:creationId xmlns:a16="http://schemas.microsoft.com/office/drawing/2014/main" id="{5C1E30CD-A2D6-4447-8A41-8709EA158E97}"/>
              </a:ext>
            </a:extLst>
          </p:cNvPr>
          <p:cNvSpPr>
            <a:spLocks noGrp="1"/>
          </p:cNvSpPr>
          <p:nvPr>
            <p:ph type="dt" sz="half" idx="10"/>
          </p:nvPr>
        </p:nvSpPr>
        <p:spPr>
          <a:ln/>
        </p:spPr>
        <p:txBody>
          <a:bodyPr/>
          <a:lstStyle>
            <a:lvl1pPr>
              <a:defRPr/>
            </a:lvl1pPr>
          </a:lstStyle>
          <a:p>
            <a:endParaRPr lang="zh-CN" altLang="en-US"/>
          </a:p>
        </p:txBody>
      </p:sp>
      <p:sp>
        <p:nvSpPr>
          <p:cNvPr id="5" name="页脚占位符 783364">
            <a:extLst>
              <a:ext uri="{FF2B5EF4-FFF2-40B4-BE49-F238E27FC236}">
                <a16:creationId xmlns:a16="http://schemas.microsoft.com/office/drawing/2014/main" id="{E50DDDCF-DBBC-423C-A6D2-3DB9040AD1C2}"/>
              </a:ext>
            </a:extLst>
          </p:cNvPr>
          <p:cNvSpPr>
            <a:spLocks noGrp="1"/>
          </p:cNvSpPr>
          <p:nvPr>
            <p:ph type="ftr" sz="quarter" idx="11"/>
          </p:nvPr>
        </p:nvSpPr>
        <p:spPr>
          <a:ln/>
        </p:spPr>
        <p:txBody>
          <a:bodyPr/>
          <a:lstStyle>
            <a:lvl1pPr>
              <a:defRPr/>
            </a:lvl1pPr>
          </a:lstStyle>
          <a:p>
            <a:endParaRPr lang="zh-CN" altLang="en-US"/>
          </a:p>
        </p:txBody>
      </p:sp>
      <p:sp>
        <p:nvSpPr>
          <p:cNvPr id="6" name="灯片编号占位符 783365">
            <a:extLst>
              <a:ext uri="{FF2B5EF4-FFF2-40B4-BE49-F238E27FC236}">
                <a16:creationId xmlns:a16="http://schemas.microsoft.com/office/drawing/2014/main" id="{7D5518F1-7833-4C31-9706-592B80025D6A}"/>
              </a:ext>
            </a:extLst>
          </p:cNvPr>
          <p:cNvSpPr>
            <a:spLocks noGrp="1"/>
          </p:cNvSpPr>
          <p:nvPr>
            <p:ph type="sldNum" sz="quarter" idx="12"/>
          </p:nvPr>
        </p:nvSpPr>
        <p:spPr>
          <a:ln/>
        </p:spPr>
        <p:txBody>
          <a:bodyPr/>
          <a:lstStyle>
            <a:lvl1pPr>
              <a:defRPr/>
            </a:lvl1pPr>
          </a:lstStyle>
          <a:p>
            <a:fld id="{40A40A6C-D355-4F6F-A6BE-CF58A6CF16D8}" type="slidenum">
              <a:rPr lang="zh-CN" altLang="en-US"/>
              <a:pPr/>
              <a:t>‹#›</a:t>
            </a:fld>
            <a:endParaRPr lang="zh-CN" altLang="en-US"/>
          </a:p>
        </p:txBody>
      </p:sp>
    </p:spTree>
    <p:extLst>
      <p:ext uri="{BB962C8B-B14F-4D97-AF65-F5344CB8AC3E}">
        <p14:creationId xmlns:p14="http://schemas.microsoft.com/office/powerpoint/2010/main" val="10964825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783363">
            <a:extLst>
              <a:ext uri="{FF2B5EF4-FFF2-40B4-BE49-F238E27FC236}">
                <a16:creationId xmlns:a16="http://schemas.microsoft.com/office/drawing/2014/main" id="{4022391D-35C0-4C01-A968-247896104CC6}"/>
              </a:ext>
            </a:extLst>
          </p:cNvPr>
          <p:cNvSpPr>
            <a:spLocks noGrp="1"/>
          </p:cNvSpPr>
          <p:nvPr>
            <p:ph type="dt" sz="half" idx="10"/>
          </p:nvPr>
        </p:nvSpPr>
        <p:spPr>
          <a:ln/>
        </p:spPr>
        <p:txBody>
          <a:bodyPr/>
          <a:lstStyle>
            <a:lvl1pPr>
              <a:defRPr/>
            </a:lvl1pPr>
          </a:lstStyle>
          <a:p>
            <a:endParaRPr lang="zh-CN" altLang="en-US"/>
          </a:p>
        </p:txBody>
      </p:sp>
      <p:sp>
        <p:nvSpPr>
          <p:cNvPr id="6" name="页脚占位符 783364">
            <a:extLst>
              <a:ext uri="{FF2B5EF4-FFF2-40B4-BE49-F238E27FC236}">
                <a16:creationId xmlns:a16="http://schemas.microsoft.com/office/drawing/2014/main" id="{56F4AED0-D515-4665-B421-371E7C2F9761}"/>
              </a:ext>
            </a:extLst>
          </p:cNvPr>
          <p:cNvSpPr>
            <a:spLocks noGrp="1"/>
          </p:cNvSpPr>
          <p:nvPr>
            <p:ph type="ftr" sz="quarter" idx="11"/>
          </p:nvPr>
        </p:nvSpPr>
        <p:spPr>
          <a:ln/>
        </p:spPr>
        <p:txBody>
          <a:bodyPr/>
          <a:lstStyle>
            <a:lvl1pPr>
              <a:defRPr/>
            </a:lvl1pPr>
          </a:lstStyle>
          <a:p>
            <a:endParaRPr lang="zh-CN" altLang="en-US"/>
          </a:p>
        </p:txBody>
      </p:sp>
      <p:sp>
        <p:nvSpPr>
          <p:cNvPr id="7" name="灯片编号占位符 783365">
            <a:extLst>
              <a:ext uri="{FF2B5EF4-FFF2-40B4-BE49-F238E27FC236}">
                <a16:creationId xmlns:a16="http://schemas.microsoft.com/office/drawing/2014/main" id="{FBB79116-4011-4D4A-8FAB-952FC79D6767}"/>
              </a:ext>
            </a:extLst>
          </p:cNvPr>
          <p:cNvSpPr>
            <a:spLocks noGrp="1"/>
          </p:cNvSpPr>
          <p:nvPr>
            <p:ph type="sldNum" sz="quarter" idx="12"/>
          </p:nvPr>
        </p:nvSpPr>
        <p:spPr>
          <a:ln/>
        </p:spPr>
        <p:txBody>
          <a:bodyPr/>
          <a:lstStyle>
            <a:lvl1pPr>
              <a:defRPr/>
            </a:lvl1pPr>
          </a:lstStyle>
          <a:p>
            <a:fld id="{52D4AF54-3F25-45C5-8AC5-D9A400A36C31}" type="slidenum">
              <a:rPr lang="zh-CN" altLang="en-US"/>
              <a:pPr/>
              <a:t>‹#›</a:t>
            </a:fld>
            <a:endParaRPr lang="zh-CN" altLang="en-US"/>
          </a:p>
        </p:txBody>
      </p:sp>
    </p:spTree>
    <p:extLst>
      <p:ext uri="{BB962C8B-B14F-4D97-AF65-F5344CB8AC3E}">
        <p14:creationId xmlns:p14="http://schemas.microsoft.com/office/powerpoint/2010/main" val="26367087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783363">
            <a:extLst>
              <a:ext uri="{FF2B5EF4-FFF2-40B4-BE49-F238E27FC236}">
                <a16:creationId xmlns:a16="http://schemas.microsoft.com/office/drawing/2014/main" id="{40DE7846-49DA-4B62-8DCD-A567C5387468}"/>
              </a:ext>
            </a:extLst>
          </p:cNvPr>
          <p:cNvSpPr>
            <a:spLocks noGrp="1"/>
          </p:cNvSpPr>
          <p:nvPr>
            <p:ph type="dt" sz="half" idx="10"/>
          </p:nvPr>
        </p:nvSpPr>
        <p:spPr>
          <a:ln/>
        </p:spPr>
        <p:txBody>
          <a:bodyPr/>
          <a:lstStyle>
            <a:lvl1pPr>
              <a:defRPr/>
            </a:lvl1pPr>
          </a:lstStyle>
          <a:p>
            <a:endParaRPr lang="zh-CN" altLang="en-US"/>
          </a:p>
        </p:txBody>
      </p:sp>
      <p:sp>
        <p:nvSpPr>
          <p:cNvPr id="8" name="页脚占位符 783364">
            <a:extLst>
              <a:ext uri="{FF2B5EF4-FFF2-40B4-BE49-F238E27FC236}">
                <a16:creationId xmlns:a16="http://schemas.microsoft.com/office/drawing/2014/main" id="{6515280A-9EF6-4AD6-97C6-99BEC601F32D}"/>
              </a:ext>
            </a:extLst>
          </p:cNvPr>
          <p:cNvSpPr>
            <a:spLocks noGrp="1"/>
          </p:cNvSpPr>
          <p:nvPr>
            <p:ph type="ftr" sz="quarter" idx="11"/>
          </p:nvPr>
        </p:nvSpPr>
        <p:spPr>
          <a:ln/>
        </p:spPr>
        <p:txBody>
          <a:bodyPr/>
          <a:lstStyle>
            <a:lvl1pPr>
              <a:defRPr/>
            </a:lvl1pPr>
          </a:lstStyle>
          <a:p>
            <a:endParaRPr lang="zh-CN" altLang="en-US"/>
          </a:p>
        </p:txBody>
      </p:sp>
      <p:sp>
        <p:nvSpPr>
          <p:cNvPr id="9" name="灯片编号占位符 783365">
            <a:extLst>
              <a:ext uri="{FF2B5EF4-FFF2-40B4-BE49-F238E27FC236}">
                <a16:creationId xmlns:a16="http://schemas.microsoft.com/office/drawing/2014/main" id="{A5A50D4A-305D-435F-B1E9-39B0CCCE1144}"/>
              </a:ext>
            </a:extLst>
          </p:cNvPr>
          <p:cNvSpPr>
            <a:spLocks noGrp="1"/>
          </p:cNvSpPr>
          <p:nvPr>
            <p:ph type="sldNum" sz="quarter" idx="12"/>
          </p:nvPr>
        </p:nvSpPr>
        <p:spPr>
          <a:ln/>
        </p:spPr>
        <p:txBody>
          <a:bodyPr/>
          <a:lstStyle>
            <a:lvl1pPr>
              <a:defRPr/>
            </a:lvl1pPr>
          </a:lstStyle>
          <a:p>
            <a:fld id="{5786E572-1DB4-4607-852B-6D10F6B5C5A1}" type="slidenum">
              <a:rPr lang="zh-CN" altLang="en-US"/>
              <a:pPr/>
              <a:t>‹#›</a:t>
            </a:fld>
            <a:endParaRPr lang="zh-CN" altLang="en-US"/>
          </a:p>
        </p:txBody>
      </p:sp>
    </p:spTree>
    <p:extLst>
      <p:ext uri="{BB962C8B-B14F-4D97-AF65-F5344CB8AC3E}">
        <p14:creationId xmlns:p14="http://schemas.microsoft.com/office/powerpoint/2010/main" val="509320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783363">
            <a:extLst>
              <a:ext uri="{FF2B5EF4-FFF2-40B4-BE49-F238E27FC236}">
                <a16:creationId xmlns:a16="http://schemas.microsoft.com/office/drawing/2014/main" id="{7CB30691-1229-4B2F-870A-DE33BF53B614}"/>
              </a:ext>
            </a:extLst>
          </p:cNvPr>
          <p:cNvSpPr>
            <a:spLocks noGrp="1"/>
          </p:cNvSpPr>
          <p:nvPr>
            <p:ph type="dt" sz="half" idx="10"/>
          </p:nvPr>
        </p:nvSpPr>
        <p:spPr>
          <a:ln/>
        </p:spPr>
        <p:txBody>
          <a:bodyPr/>
          <a:lstStyle>
            <a:lvl1pPr>
              <a:defRPr/>
            </a:lvl1pPr>
          </a:lstStyle>
          <a:p>
            <a:endParaRPr lang="zh-CN" altLang="en-US"/>
          </a:p>
        </p:txBody>
      </p:sp>
      <p:sp>
        <p:nvSpPr>
          <p:cNvPr id="4" name="页脚占位符 783364">
            <a:extLst>
              <a:ext uri="{FF2B5EF4-FFF2-40B4-BE49-F238E27FC236}">
                <a16:creationId xmlns:a16="http://schemas.microsoft.com/office/drawing/2014/main" id="{BF522539-5F89-44E7-9861-1876B7B4FB05}"/>
              </a:ext>
            </a:extLst>
          </p:cNvPr>
          <p:cNvSpPr>
            <a:spLocks noGrp="1"/>
          </p:cNvSpPr>
          <p:nvPr>
            <p:ph type="ftr" sz="quarter" idx="11"/>
          </p:nvPr>
        </p:nvSpPr>
        <p:spPr>
          <a:ln/>
        </p:spPr>
        <p:txBody>
          <a:bodyPr/>
          <a:lstStyle>
            <a:lvl1pPr>
              <a:defRPr/>
            </a:lvl1pPr>
          </a:lstStyle>
          <a:p>
            <a:endParaRPr lang="zh-CN" altLang="en-US"/>
          </a:p>
        </p:txBody>
      </p:sp>
      <p:sp>
        <p:nvSpPr>
          <p:cNvPr id="5" name="灯片编号占位符 783365">
            <a:extLst>
              <a:ext uri="{FF2B5EF4-FFF2-40B4-BE49-F238E27FC236}">
                <a16:creationId xmlns:a16="http://schemas.microsoft.com/office/drawing/2014/main" id="{3956B8F1-3B65-47F2-8D60-F4895F5B3F5E}"/>
              </a:ext>
            </a:extLst>
          </p:cNvPr>
          <p:cNvSpPr>
            <a:spLocks noGrp="1"/>
          </p:cNvSpPr>
          <p:nvPr>
            <p:ph type="sldNum" sz="quarter" idx="12"/>
          </p:nvPr>
        </p:nvSpPr>
        <p:spPr>
          <a:ln/>
        </p:spPr>
        <p:txBody>
          <a:bodyPr/>
          <a:lstStyle>
            <a:lvl1pPr>
              <a:defRPr/>
            </a:lvl1pPr>
          </a:lstStyle>
          <a:p>
            <a:fld id="{3A1DAD16-24E1-4578-82D4-F4D2C92FAF5F}" type="slidenum">
              <a:rPr lang="zh-CN" altLang="en-US"/>
              <a:pPr/>
              <a:t>‹#›</a:t>
            </a:fld>
            <a:endParaRPr lang="zh-CN" altLang="en-US"/>
          </a:p>
        </p:txBody>
      </p:sp>
    </p:spTree>
    <p:extLst>
      <p:ext uri="{BB962C8B-B14F-4D97-AF65-F5344CB8AC3E}">
        <p14:creationId xmlns:p14="http://schemas.microsoft.com/office/powerpoint/2010/main" val="29033385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783363">
            <a:extLst>
              <a:ext uri="{FF2B5EF4-FFF2-40B4-BE49-F238E27FC236}">
                <a16:creationId xmlns:a16="http://schemas.microsoft.com/office/drawing/2014/main" id="{05848B1E-BEEC-4682-B6B2-A81DCE0EFB7B}"/>
              </a:ext>
            </a:extLst>
          </p:cNvPr>
          <p:cNvSpPr>
            <a:spLocks noGrp="1"/>
          </p:cNvSpPr>
          <p:nvPr>
            <p:ph type="dt" sz="half" idx="10"/>
          </p:nvPr>
        </p:nvSpPr>
        <p:spPr>
          <a:ln/>
        </p:spPr>
        <p:txBody>
          <a:bodyPr/>
          <a:lstStyle>
            <a:lvl1pPr>
              <a:defRPr/>
            </a:lvl1pPr>
          </a:lstStyle>
          <a:p>
            <a:endParaRPr lang="zh-CN" altLang="en-US"/>
          </a:p>
        </p:txBody>
      </p:sp>
      <p:sp>
        <p:nvSpPr>
          <p:cNvPr id="3" name="页脚占位符 783364">
            <a:extLst>
              <a:ext uri="{FF2B5EF4-FFF2-40B4-BE49-F238E27FC236}">
                <a16:creationId xmlns:a16="http://schemas.microsoft.com/office/drawing/2014/main" id="{9EA5DDD3-FA5F-4A51-9E62-FF67B4C98B6C}"/>
              </a:ext>
            </a:extLst>
          </p:cNvPr>
          <p:cNvSpPr>
            <a:spLocks noGrp="1"/>
          </p:cNvSpPr>
          <p:nvPr>
            <p:ph type="ftr" sz="quarter" idx="11"/>
          </p:nvPr>
        </p:nvSpPr>
        <p:spPr>
          <a:ln/>
        </p:spPr>
        <p:txBody>
          <a:bodyPr/>
          <a:lstStyle>
            <a:lvl1pPr>
              <a:defRPr/>
            </a:lvl1pPr>
          </a:lstStyle>
          <a:p>
            <a:endParaRPr lang="zh-CN" altLang="en-US"/>
          </a:p>
        </p:txBody>
      </p:sp>
      <p:sp>
        <p:nvSpPr>
          <p:cNvPr id="4" name="灯片编号占位符 783365">
            <a:extLst>
              <a:ext uri="{FF2B5EF4-FFF2-40B4-BE49-F238E27FC236}">
                <a16:creationId xmlns:a16="http://schemas.microsoft.com/office/drawing/2014/main" id="{9C589719-A943-4619-8D09-51A761B97074}"/>
              </a:ext>
            </a:extLst>
          </p:cNvPr>
          <p:cNvSpPr>
            <a:spLocks noGrp="1"/>
          </p:cNvSpPr>
          <p:nvPr>
            <p:ph type="sldNum" sz="quarter" idx="12"/>
          </p:nvPr>
        </p:nvSpPr>
        <p:spPr>
          <a:ln/>
        </p:spPr>
        <p:txBody>
          <a:bodyPr/>
          <a:lstStyle>
            <a:lvl1pPr>
              <a:defRPr/>
            </a:lvl1pPr>
          </a:lstStyle>
          <a:p>
            <a:fld id="{DBFCB9B3-4A04-4CA7-8BA2-177F43454450}" type="slidenum">
              <a:rPr lang="zh-CN" altLang="en-US"/>
              <a:pPr/>
              <a:t>‹#›</a:t>
            </a:fld>
            <a:endParaRPr lang="zh-CN" altLang="en-US"/>
          </a:p>
        </p:txBody>
      </p:sp>
    </p:spTree>
    <p:extLst>
      <p:ext uri="{BB962C8B-B14F-4D97-AF65-F5344CB8AC3E}">
        <p14:creationId xmlns:p14="http://schemas.microsoft.com/office/powerpoint/2010/main" val="20516060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日期占位符 783363">
            <a:extLst>
              <a:ext uri="{FF2B5EF4-FFF2-40B4-BE49-F238E27FC236}">
                <a16:creationId xmlns:a16="http://schemas.microsoft.com/office/drawing/2014/main" id="{BD08BC64-8A05-411F-BC59-AB04D6B78593}"/>
              </a:ext>
            </a:extLst>
          </p:cNvPr>
          <p:cNvSpPr>
            <a:spLocks noGrp="1"/>
          </p:cNvSpPr>
          <p:nvPr>
            <p:ph type="dt" sz="half" idx="10"/>
          </p:nvPr>
        </p:nvSpPr>
        <p:spPr>
          <a:ln/>
        </p:spPr>
        <p:txBody>
          <a:bodyPr/>
          <a:lstStyle>
            <a:lvl1pPr>
              <a:defRPr/>
            </a:lvl1pPr>
          </a:lstStyle>
          <a:p>
            <a:endParaRPr lang="zh-CN" altLang="en-US"/>
          </a:p>
        </p:txBody>
      </p:sp>
      <p:sp>
        <p:nvSpPr>
          <p:cNvPr id="6" name="页脚占位符 783364">
            <a:extLst>
              <a:ext uri="{FF2B5EF4-FFF2-40B4-BE49-F238E27FC236}">
                <a16:creationId xmlns:a16="http://schemas.microsoft.com/office/drawing/2014/main" id="{E1E7FDC8-E4C3-453A-B531-592B4CE7774E}"/>
              </a:ext>
            </a:extLst>
          </p:cNvPr>
          <p:cNvSpPr>
            <a:spLocks noGrp="1"/>
          </p:cNvSpPr>
          <p:nvPr>
            <p:ph type="ftr" sz="quarter" idx="11"/>
          </p:nvPr>
        </p:nvSpPr>
        <p:spPr>
          <a:ln/>
        </p:spPr>
        <p:txBody>
          <a:bodyPr/>
          <a:lstStyle>
            <a:lvl1pPr>
              <a:defRPr/>
            </a:lvl1pPr>
          </a:lstStyle>
          <a:p>
            <a:endParaRPr lang="zh-CN" altLang="en-US"/>
          </a:p>
        </p:txBody>
      </p:sp>
      <p:sp>
        <p:nvSpPr>
          <p:cNvPr id="7" name="灯片编号占位符 783365">
            <a:extLst>
              <a:ext uri="{FF2B5EF4-FFF2-40B4-BE49-F238E27FC236}">
                <a16:creationId xmlns:a16="http://schemas.microsoft.com/office/drawing/2014/main" id="{FF1D96AB-40AF-4951-B77C-11CD139C3FFE}"/>
              </a:ext>
            </a:extLst>
          </p:cNvPr>
          <p:cNvSpPr>
            <a:spLocks noGrp="1"/>
          </p:cNvSpPr>
          <p:nvPr>
            <p:ph type="sldNum" sz="quarter" idx="12"/>
          </p:nvPr>
        </p:nvSpPr>
        <p:spPr>
          <a:ln/>
        </p:spPr>
        <p:txBody>
          <a:bodyPr/>
          <a:lstStyle>
            <a:lvl1pPr>
              <a:defRPr/>
            </a:lvl1pPr>
          </a:lstStyle>
          <a:p>
            <a:fld id="{9ABC4D06-3A72-46E6-AD67-F892503936A9}" type="slidenum">
              <a:rPr lang="zh-CN" altLang="en-US"/>
              <a:pPr/>
              <a:t>‹#›</a:t>
            </a:fld>
            <a:endParaRPr lang="zh-CN" altLang="en-US"/>
          </a:p>
        </p:txBody>
      </p:sp>
    </p:spTree>
    <p:extLst>
      <p:ext uri="{BB962C8B-B14F-4D97-AF65-F5344CB8AC3E}">
        <p14:creationId xmlns:p14="http://schemas.microsoft.com/office/powerpoint/2010/main" val="1690519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日期占位符 783363">
            <a:extLst>
              <a:ext uri="{FF2B5EF4-FFF2-40B4-BE49-F238E27FC236}">
                <a16:creationId xmlns:a16="http://schemas.microsoft.com/office/drawing/2014/main" id="{BAB8B4BF-AB8B-49D1-B0E6-2AE37E6B50BC}"/>
              </a:ext>
            </a:extLst>
          </p:cNvPr>
          <p:cNvSpPr>
            <a:spLocks noGrp="1"/>
          </p:cNvSpPr>
          <p:nvPr>
            <p:ph type="dt" sz="half" idx="10"/>
          </p:nvPr>
        </p:nvSpPr>
        <p:spPr>
          <a:ln/>
        </p:spPr>
        <p:txBody>
          <a:bodyPr/>
          <a:lstStyle>
            <a:lvl1pPr>
              <a:defRPr/>
            </a:lvl1pPr>
          </a:lstStyle>
          <a:p>
            <a:endParaRPr lang="zh-CN" altLang="en-US"/>
          </a:p>
        </p:txBody>
      </p:sp>
      <p:sp>
        <p:nvSpPr>
          <p:cNvPr id="6" name="页脚占位符 783364">
            <a:extLst>
              <a:ext uri="{FF2B5EF4-FFF2-40B4-BE49-F238E27FC236}">
                <a16:creationId xmlns:a16="http://schemas.microsoft.com/office/drawing/2014/main" id="{D08B35D1-537F-46E3-A146-4C101ABAE0E2}"/>
              </a:ext>
            </a:extLst>
          </p:cNvPr>
          <p:cNvSpPr>
            <a:spLocks noGrp="1"/>
          </p:cNvSpPr>
          <p:nvPr>
            <p:ph type="ftr" sz="quarter" idx="11"/>
          </p:nvPr>
        </p:nvSpPr>
        <p:spPr>
          <a:ln/>
        </p:spPr>
        <p:txBody>
          <a:bodyPr/>
          <a:lstStyle>
            <a:lvl1pPr>
              <a:defRPr/>
            </a:lvl1pPr>
          </a:lstStyle>
          <a:p>
            <a:endParaRPr lang="zh-CN" altLang="en-US"/>
          </a:p>
        </p:txBody>
      </p:sp>
      <p:sp>
        <p:nvSpPr>
          <p:cNvPr id="7" name="灯片编号占位符 783365">
            <a:extLst>
              <a:ext uri="{FF2B5EF4-FFF2-40B4-BE49-F238E27FC236}">
                <a16:creationId xmlns:a16="http://schemas.microsoft.com/office/drawing/2014/main" id="{C1336E24-2657-4B6B-AAB9-8DE9F87B9958}"/>
              </a:ext>
            </a:extLst>
          </p:cNvPr>
          <p:cNvSpPr>
            <a:spLocks noGrp="1"/>
          </p:cNvSpPr>
          <p:nvPr>
            <p:ph type="sldNum" sz="quarter" idx="12"/>
          </p:nvPr>
        </p:nvSpPr>
        <p:spPr>
          <a:ln/>
        </p:spPr>
        <p:txBody>
          <a:bodyPr/>
          <a:lstStyle>
            <a:lvl1pPr>
              <a:defRPr/>
            </a:lvl1pPr>
          </a:lstStyle>
          <a:p>
            <a:fld id="{C82AD676-3548-4C29-BD89-B9ACEF00AE39}" type="slidenum">
              <a:rPr lang="zh-CN" altLang="en-US"/>
              <a:pPr/>
              <a:t>‹#›</a:t>
            </a:fld>
            <a:endParaRPr lang="zh-CN" altLang="en-US"/>
          </a:p>
        </p:txBody>
      </p:sp>
    </p:spTree>
    <p:extLst>
      <p:ext uri="{BB962C8B-B14F-4D97-AF65-F5344CB8AC3E}">
        <p14:creationId xmlns:p14="http://schemas.microsoft.com/office/powerpoint/2010/main" val="23641462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783363">
            <a:extLst>
              <a:ext uri="{FF2B5EF4-FFF2-40B4-BE49-F238E27FC236}">
                <a16:creationId xmlns:a16="http://schemas.microsoft.com/office/drawing/2014/main" id="{C3FB8EBF-29B2-45D1-B4FD-2EB39746A1E7}"/>
              </a:ext>
            </a:extLst>
          </p:cNvPr>
          <p:cNvSpPr>
            <a:spLocks noGrp="1"/>
          </p:cNvSpPr>
          <p:nvPr>
            <p:ph type="dt" sz="half" idx="10"/>
          </p:nvPr>
        </p:nvSpPr>
        <p:spPr>
          <a:ln/>
        </p:spPr>
        <p:txBody>
          <a:bodyPr/>
          <a:lstStyle>
            <a:lvl1pPr>
              <a:defRPr/>
            </a:lvl1pPr>
          </a:lstStyle>
          <a:p>
            <a:endParaRPr lang="zh-CN" altLang="en-US"/>
          </a:p>
        </p:txBody>
      </p:sp>
      <p:sp>
        <p:nvSpPr>
          <p:cNvPr id="5" name="页脚占位符 783364">
            <a:extLst>
              <a:ext uri="{FF2B5EF4-FFF2-40B4-BE49-F238E27FC236}">
                <a16:creationId xmlns:a16="http://schemas.microsoft.com/office/drawing/2014/main" id="{77FAC7DA-8D09-4C5E-B4CD-538A3D907D12}"/>
              </a:ext>
            </a:extLst>
          </p:cNvPr>
          <p:cNvSpPr>
            <a:spLocks noGrp="1"/>
          </p:cNvSpPr>
          <p:nvPr>
            <p:ph type="ftr" sz="quarter" idx="11"/>
          </p:nvPr>
        </p:nvSpPr>
        <p:spPr>
          <a:ln/>
        </p:spPr>
        <p:txBody>
          <a:bodyPr/>
          <a:lstStyle>
            <a:lvl1pPr>
              <a:defRPr/>
            </a:lvl1pPr>
          </a:lstStyle>
          <a:p>
            <a:endParaRPr lang="zh-CN" altLang="en-US"/>
          </a:p>
        </p:txBody>
      </p:sp>
      <p:sp>
        <p:nvSpPr>
          <p:cNvPr id="6" name="灯片编号占位符 783365">
            <a:extLst>
              <a:ext uri="{FF2B5EF4-FFF2-40B4-BE49-F238E27FC236}">
                <a16:creationId xmlns:a16="http://schemas.microsoft.com/office/drawing/2014/main" id="{12F000DE-89DE-4BE2-A952-3B11C217D4F7}"/>
              </a:ext>
            </a:extLst>
          </p:cNvPr>
          <p:cNvSpPr>
            <a:spLocks noGrp="1"/>
          </p:cNvSpPr>
          <p:nvPr>
            <p:ph type="sldNum" sz="quarter" idx="12"/>
          </p:nvPr>
        </p:nvSpPr>
        <p:spPr>
          <a:ln/>
        </p:spPr>
        <p:txBody>
          <a:bodyPr/>
          <a:lstStyle>
            <a:lvl1pPr>
              <a:defRPr/>
            </a:lvl1pPr>
          </a:lstStyle>
          <a:p>
            <a:fld id="{0C4345BC-B8F6-4155-9C85-24093F8DBB30}" type="slidenum">
              <a:rPr lang="zh-CN" altLang="en-US"/>
              <a:pPr/>
              <a:t>‹#›</a:t>
            </a:fld>
            <a:endParaRPr lang="zh-CN" altLang="en-US"/>
          </a:p>
        </p:txBody>
      </p:sp>
    </p:spTree>
    <p:extLst>
      <p:ext uri="{BB962C8B-B14F-4D97-AF65-F5344CB8AC3E}">
        <p14:creationId xmlns:p14="http://schemas.microsoft.com/office/powerpoint/2010/main" val="30492716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783363">
            <a:extLst>
              <a:ext uri="{FF2B5EF4-FFF2-40B4-BE49-F238E27FC236}">
                <a16:creationId xmlns:a16="http://schemas.microsoft.com/office/drawing/2014/main" id="{9395732B-E1B3-4F01-B4CD-76966D2DED67}"/>
              </a:ext>
            </a:extLst>
          </p:cNvPr>
          <p:cNvSpPr>
            <a:spLocks noGrp="1"/>
          </p:cNvSpPr>
          <p:nvPr>
            <p:ph type="dt" sz="half" idx="10"/>
          </p:nvPr>
        </p:nvSpPr>
        <p:spPr>
          <a:ln/>
        </p:spPr>
        <p:txBody>
          <a:bodyPr/>
          <a:lstStyle>
            <a:lvl1pPr>
              <a:defRPr/>
            </a:lvl1pPr>
          </a:lstStyle>
          <a:p>
            <a:endParaRPr lang="zh-CN" altLang="en-US"/>
          </a:p>
        </p:txBody>
      </p:sp>
      <p:sp>
        <p:nvSpPr>
          <p:cNvPr id="5" name="页脚占位符 783364">
            <a:extLst>
              <a:ext uri="{FF2B5EF4-FFF2-40B4-BE49-F238E27FC236}">
                <a16:creationId xmlns:a16="http://schemas.microsoft.com/office/drawing/2014/main" id="{CEF25B0C-B2FE-4F8F-B370-7037EBF91AE0}"/>
              </a:ext>
            </a:extLst>
          </p:cNvPr>
          <p:cNvSpPr>
            <a:spLocks noGrp="1"/>
          </p:cNvSpPr>
          <p:nvPr>
            <p:ph type="ftr" sz="quarter" idx="11"/>
          </p:nvPr>
        </p:nvSpPr>
        <p:spPr>
          <a:ln/>
        </p:spPr>
        <p:txBody>
          <a:bodyPr/>
          <a:lstStyle>
            <a:lvl1pPr>
              <a:defRPr/>
            </a:lvl1pPr>
          </a:lstStyle>
          <a:p>
            <a:endParaRPr lang="zh-CN" altLang="en-US"/>
          </a:p>
        </p:txBody>
      </p:sp>
      <p:sp>
        <p:nvSpPr>
          <p:cNvPr id="6" name="灯片编号占位符 783365">
            <a:extLst>
              <a:ext uri="{FF2B5EF4-FFF2-40B4-BE49-F238E27FC236}">
                <a16:creationId xmlns:a16="http://schemas.microsoft.com/office/drawing/2014/main" id="{2F94EAED-C8E0-445F-92A8-F8DC9D5967A3}"/>
              </a:ext>
            </a:extLst>
          </p:cNvPr>
          <p:cNvSpPr>
            <a:spLocks noGrp="1"/>
          </p:cNvSpPr>
          <p:nvPr>
            <p:ph type="sldNum" sz="quarter" idx="12"/>
          </p:nvPr>
        </p:nvSpPr>
        <p:spPr>
          <a:ln/>
        </p:spPr>
        <p:txBody>
          <a:bodyPr/>
          <a:lstStyle>
            <a:lvl1pPr>
              <a:defRPr/>
            </a:lvl1pPr>
          </a:lstStyle>
          <a:p>
            <a:fld id="{AB1C0F29-F46F-41DB-8423-4AE162CFD851}" type="slidenum">
              <a:rPr lang="zh-CN" altLang="en-US"/>
              <a:pPr/>
              <a:t>‹#›</a:t>
            </a:fld>
            <a:endParaRPr lang="zh-CN" altLang="en-US"/>
          </a:p>
        </p:txBody>
      </p:sp>
    </p:spTree>
    <p:extLst>
      <p:ext uri="{BB962C8B-B14F-4D97-AF65-F5344CB8AC3E}">
        <p14:creationId xmlns:p14="http://schemas.microsoft.com/office/powerpoint/2010/main" val="512027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矩形 751617">
            <a:extLst>
              <a:ext uri="{FF2B5EF4-FFF2-40B4-BE49-F238E27FC236}">
                <a16:creationId xmlns:a16="http://schemas.microsoft.com/office/drawing/2014/main" id="{D5D2559B-10C0-4F88-8EDD-B9D06FE693E1}"/>
              </a:ext>
            </a:extLst>
          </p:cNvPr>
          <p:cNvSpPr>
            <a:spLocks noChangeArrowheads="1"/>
          </p:cNvSpPr>
          <p:nvPr/>
        </p:nvSpPr>
        <p:spPr bwMode="auto">
          <a:xfrm>
            <a:off x="417513" y="252413"/>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ahoma" panose="020B0604030504040204" pitchFamily="34" charset="0"/>
              <a:ea typeface="宋体" panose="02010600030101010101" pitchFamily="2" charset="-122"/>
            </a:endParaRPr>
          </a:p>
        </p:txBody>
      </p:sp>
      <p:sp>
        <p:nvSpPr>
          <p:cNvPr id="1027" name="矩形 751618">
            <a:extLst>
              <a:ext uri="{FF2B5EF4-FFF2-40B4-BE49-F238E27FC236}">
                <a16:creationId xmlns:a16="http://schemas.microsoft.com/office/drawing/2014/main" id="{D207C118-7B9F-4E05-9636-4B18DF25B65E}"/>
              </a:ext>
            </a:extLst>
          </p:cNvPr>
          <p:cNvSpPr>
            <a:spLocks noChangeArrowheads="1"/>
          </p:cNvSpPr>
          <p:nvPr/>
        </p:nvSpPr>
        <p:spPr bwMode="auto">
          <a:xfrm>
            <a:off x="800100" y="252413"/>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ahoma" panose="020B0604030504040204" pitchFamily="34" charset="0"/>
              <a:ea typeface="宋体" panose="02010600030101010101" pitchFamily="2" charset="-122"/>
            </a:endParaRPr>
          </a:p>
        </p:txBody>
      </p:sp>
      <p:sp>
        <p:nvSpPr>
          <p:cNvPr id="1028" name="矩形 751619">
            <a:extLst>
              <a:ext uri="{FF2B5EF4-FFF2-40B4-BE49-F238E27FC236}">
                <a16:creationId xmlns:a16="http://schemas.microsoft.com/office/drawing/2014/main" id="{F9C6531A-4EA1-435F-B708-702E4B867CF2}"/>
              </a:ext>
            </a:extLst>
          </p:cNvPr>
          <p:cNvSpPr>
            <a:spLocks noChangeArrowheads="1"/>
          </p:cNvSpPr>
          <p:nvPr/>
        </p:nvSpPr>
        <p:spPr bwMode="auto">
          <a:xfrm>
            <a:off x="541338" y="674688"/>
            <a:ext cx="422275" cy="47466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ahoma" panose="020B0604030504040204" pitchFamily="34" charset="0"/>
              <a:ea typeface="宋体" panose="02010600030101010101" pitchFamily="2" charset="-122"/>
            </a:endParaRPr>
          </a:p>
        </p:txBody>
      </p:sp>
      <p:sp>
        <p:nvSpPr>
          <p:cNvPr id="1029" name="矩形 751620">
            <a:extLst>
              <a:ext uri="{FF2B5EF4-FFF2-40B4-BE49-F238E27FC236}">
                <a16:creationId xmlns:a16="http://schemas.microsoft.com/office/drawing/2014/main" id="{F3C70330-B61A-4D12-8CDF-FA43C45E5D65}"/>
              </a:ext>
            </a:extLst>
          </p:cNvPr>
          <p:cNvSpPr>
            <a:spLocks noChangeArrowheads="1"/>
          </p:cNvSpPr>
          <p:nvPr/>
        </p:nvSpPr>
        <p:spPr bwMode="auto">
          <a:xfrm>
            <a:off x="911225" y="674688"/>
            <a:ext cx="368300" cy="47466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ahoma" panose="020B0604030504040204" pitchFamily="34" charset="0"/>
              <a:ea typeface="宋体" panose="02010600030101010101" pitchFamily="2" charset="-122"/>
            </a:endParaRPr>
          </a:p>
        </p:txBody>
      </p:sp>
      <p:sp>
        <p:nvSpPr>
          <p:cNvPr id="1030" name="矩形 751621">
            <a:extLst>
              <a:ext uri="{FF2B5EF4-FFF2-40B4-BE49-F238E27FC236}">
                <a16:creationId xmlns:a16="http://schemas.microsoft.com/office/drawing/2014/main" id="{A7AF976D-F9FE-47B2-B212-055BA2AA95FF}"/>
              </a:ext>
            </a:extLst>
          </p:cNvPr>
          <p:cNvSpPr>
            <a:spLocks noChangeArrowheads="1"/>
          </p:cNvSpPr>
          <p:nvPr/>
        </p:nvSpPr>
        <p:spPr bwMode="auto">
          <a:xfrm>
            <a:off x="127000" y="601663"/>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ahoma" panose="020B0604030504040204" pitchFamily="34" charset="0"/>
              <a:ea typeface="宋体" panose="02010600030101010101" pitchFamily="2" charset="-122"/>
            </a:endParaRPr>
          </a:p>
        </p:txBody>
      </p:sp>
      <p:sp>
        <p:nvSpPr>
          <p:cNvPr id="1031" name="矩形 751622">
            <a:extLst>
              <a:ext uri="{FF2B5EF4-FFF2-40B4-BE49-F238E27FC236}">
                <a16:creationId xmlns:a16="http://schemas.microsoft.com/office/drawing/2014/main" id="{A668CB3D-5A56-431B-8480-A1F206050304}"/>
              </a:ext>
            </a:extLst>
          </p:cNvPr>
          <p:cNvSpPr>
            <a:spLocks noChangeArrowheads="1"/>
          </p:cNvSpPr>
          <p:nvPr/>
        </p:nvSpPr>
        <p:spPr bwMode="auto">
          <a:xfrm>
            <a:off x="762000" y="144463"/>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ahoma" panose="020B0604030504040204" pitchFamily="34" charset="0"/>
              <a:ea typeface="宋体" panose="02010600030101010101" pitchFamily="2" charset="-122"/>
            </a:endParaRPr>
          </a:p>
        </p:txBody>
      </p:sp>
      <p:sp>
        <p:nvSpPr>
          <p:cNvPr id="1032" name="矩形 751623">
            <a:extLst>
              <a:ext uri="{FF2B5EF4-FFF2-40B4-BE49-F238E27FC236}">
                <a16:creationId xmlns:a16="http://schemas.microsoft.com/office/drawing/2014/main" id="{F82B2E9C-0E64-4945-89A2-E06138A4CCBC}"/>
              </a:ext>
            </a:extLst>
          </p:cNvPr>
          <p:cNvSpPr>
            <a:spLocks noChangeArrowheads="1"/>
          </p:cNvSpPr>
          <p:nvPr/>
        </p:nvSpPr>
        <p:spPr bwMode="auto">
          <a:xfrm>
            <a:off x="442913" y="935038"/>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ahoma" panose="020B0604030504040204" pitchFamily="34" charset="0"/>
              <a:ea typeface="宋体" panose="02010600030101010101" pitchFamily="2" charset="-122"/>
            </a:endParaRPr>
          </a:p>
        </p:txBody>
      </p:sp>
      <p:sp>
        <p:nvSpPr>
          <p:cNvPr id="751625" name="标题 751624">
            <a:extLst>
              <a:ext uri="{FF2B5EF4-FFF2-40B4-BE49-F238E27FC236}">
                <a16:creationId xmlns:a16="http://schemas.microsoft.com/office/drawing/2014/main" id="{52157DFE-98F1-4A6E-B88F-68DBF3E10E6C}"/>
              </a:ext>
            </a:extLst>
          </p:cNvPr>
          <p:cNvSpPr>
            <a:spLocks noGrp="1"/>
          </p:cNvSpPr>
          <p:nvPr>
            <p:ph type="title"/>
          </p:nvPr>
        </p:nvSpPr>
        <p:spPr>
          <a:xfrm>
            <a:off x="1150938" y="214313"/>
            <a:ext cx="7793037" cy="622300"/>
          </a:xfrm>
          <a:prstGeom prst="rect">
            <a:avLst/>
          </a:prstGeom>
          <a:noFill/>
          <a:ln w="9525">
            <a:noFill/>
          </a:ln>
        </p:spPr>
        <p:txBody>
          <a:bodyPr anchor="b"/>
          <a:lstStyle/>
          <a:p>
            <a:pPr lvl="0"/>
            <a:r>
              <a:rPr lang="zh-CN" altLang="en-US" noProof="1"/>
              <a:t>单击此处编辑母版标题样式</a:t>
            </a:r>
          </a:p>
        </p:txBody>
      </p:sp>
      <p:sp>
        <p:nvSpPr>
          <p:cNvPr id="751626" name="文本占位符 751625">
            <a:extLst>
              <a:ext uri="{FF2B5EF4-FFF2-40B4-BE49-F238E27FC236}">
                <a16:creationId xmlns:a16="http://schemas.microsoft.com/office/drawing/2014/main" id="{33D77B47-9200-4E60-B0F2-3E92AFC07D64}"/>
              </a:ext>
            </a:extLst>
          </p:cNvPr>
          <p:cNvSpPr>
            <a:spLocks noGrp="1"/>
          </p:cNvSpPr>
          <p:nvPr>
            <p:ph type="body" idx="1"/>
          </p:nvPr>
        </p:nvSpPr>
        <p:spPr>
          <a:xfrm>
            <a:off x="611188" y="1258888"/>
            <a:ext cx="7993062" cy="5338762"/>
          </a:xfrm>
          <a:prstGeom prst="rect">
            <a:avLst/>
          </a:prstGeom>
          <a:noFill/>
          <a:ln w="9525">
            <a:noFill/>
          </a:ln>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51627" name="日期占位符 751626">
            <a:extLst>
              <a:ext uri="{FF2B5EF4-FFF2-40B4-BE49-F238E27FC236}">
                <a16:creationId xmlns:a16="http://schemas.microsoft.com/office/drawing/2014/main" id="{E5348183-7A8B-495B-B18A-E858569B6257}"/>
              </a:ext>
            </a:extLst>
          </p:cNvPr>
          <p:cNvSpPr>
            <a:spLocks noGrp="1"/>
          </p:cNvSpPr>
          <p:nvPr>
            <p:ph type="dt" sz="half" idx="2"/>
          </p:nvPr>
        </p:nvSpPr>
        <p:spPr>
          <a:xfrm>
            <a:off x="1162050" y="6243638"/>
            <a:ext cx="1905000" cy="457200"/>
          </a:xfrm>
          <a:prstGeom prst="rect">
            <a:avLst/>
          </a:prstGeom>
          <a:noFill/>
          <a:ln w="9525">
            <a:noFill/>
          </a:ln>
        </p:spPr>
        <p:txBody>
          <a:bodyPr anchor="b"/>
          <a:lstStyle>
            <a:lvl1pPr>
              <a:defRPr sz="1400" noProof="1" dirty="0">
                <a:latin typeface="Times New Roman" panose="02020603050405020304" pitchFamily="18" charset="0"/>
                <a:ea typeface="宋体" panose="02010600030101010101" pitchFamily="2" charset="-122"/>
              </a:defRPr>
            </a:lvl1pPr>
          </a:lstStyle>
          <a:p>
            <a:endParaRPr lang="zh-CN" altLang="en-US"/>
          </a:p>
        </p:txBody>
      </p:sp>
      <p:sp>
        <p:nvSpPr>
          <p:cNvPr id="751628" name="页脚占位符 751627">
            <a:extLst>
              <a:ext uri="{FF2B5EF4-FFF2-40B4-BE49-F238E27FC236}">
                <a16:creationId xmlns:a16="http://schemas.microsoft.com/office/drawing/2014/main" id="{2B50C3E0-55BC-40D2-BEBE-D3927940CB8E}"/>
              </a:ext>
            </a:extLst>
          </p:cNvPr>
          <p:cNvSpPr>
            <a:spLocks noGrp="1"/>
          </p:cNvSpPr>
          <p:nvPr>
            <p:ph type="ftr" sz="quarter" idx="3"/>
          </p:nvPr>
        </p:nvSpPr>
        <p:spPr>
          <a:xfrm>
            <a:off x="3657600" y="6243638"/>
            <a:ext cx="2895600" cy="457200"/>
          </a:xfrm>
          <a:prstGeom prst="rect">
            <a:avLst/>
          </a:prstGeom>
          <a:noFill/>
          <a:ln w="9525">
            <a:noFill/>
          </a:ln>
        </p:spPr>
        <p:txBody>
          <a:bodyPr anchor="b"/>
          <a:lstStyle>
            <a:lvl1pPr algn="ctr">
              <a:defRPr sz="1400" noProof="1" dirty="0">
                <a:latin typeface="Tahoma" panose="020B0604030504040204" pitchFamily="34" charset="0"/>
                <a:ea typeface="宋体" panose="02010600030101010101" pitchFamily="2" charset="-122"/>
              </a:defRPr>
            </a:lvl1pPr>
          </a:lstStyle>
          <a:p>
            <a:endParaRPr lang="zh-CN" altLang="en-US"/>
          </a:p>
        </p:txBody>
      </p:sp>
      <p:sp>
        <p:nvSpPr>
          <p:cNvPr id="751629" name="灯片编号占位符 751628">
            <a:extLst>
              <a:ext uri="{FF2B5EF4-FFF2-40B4-BE49-F238E27FC236}">
                <a16:creationId xmlns:a16="http://schemas.microsoft.com/office/drawing/2014/main" id="{1D5D52DF-53C8-4ECC-82AC-E80156A8B5CB}"/>
              </a:ext>
            </a:extLst>
          </p:cNvPr>
          <p:cNvSpPr>
            <a:spLocks noGrp="1"/>
          </p:cNvSpPr>
          <p:nvPr>
            <p:ph type="sldNum" sz="quarter" idx="4"/>
          </p:nvPr>
        </p:nvSpPr>
        <p:spPr>
          <a:xfrm>
            <a:off x="7042150" y="6243638"/>
            <a:ext cx="1905000" cy="457200"/>
          </a:xfrm>
          <a:prstGeom prst="rect">
            <a:avLst/>
          </a:prstGeom>
          <a:noFill/>
          <a:ln w="9525">
            <a:noFill/>
          </a:ln>
        </p:spPr>
        <p:txBody>
          <a:bodyPr anchor="b"/>
          <a:lstStyle>
            <a:lvl1pPr algn="r">
              <a:defRPr sz="1400" noProof="1">
                <a:latin typeface="Tahoma" panose="020B0604030504040204" pitchFamily="34" charset="0"/>
                <a:ea typeface="宋体" panose="02010600030101010101" pitchFamily="2" charset="-122"/>
              </a:defRPr>
            </a:lvl1pPr>
          </a:lstStyle>
          <a:p>
            <a:endParaRPr lang="en-US" altLang="zh-CN"/>
          </a:p>
        </p:txBody>
      </p:sp>
    </p:spTree>
  </p:cSld>
  <p:clrMap bg1="lt1" tx1="dk1" bg2="lt2" tx2="dk2" accent1="accent1" accent2="accent2" accent3="accent3" accent4="accent4" accent5="accent5" accent6="accent6" hlink="hlink" folHlink="folHlink"/>
  <p:sldLayoutIdLst>
    <p:sldLayoutId id="2147483715" r:id="rId1"/>
    <p:sldLayoutId id="2147483703" r:id="rId2"/>
    <p:sldLayoutId id="2147483702" r:id="rId3"/>
    <p:sldLayoutId id="2147483701" r:id="rId4"/>
    <p:sldLayoutId id="2147483700" r:id="rId5"/>
    <p:sldLayoutId id="2147483699" r:id="rId6"/>
    <p:sldLayoutId id="2147483698" r:id="rId7"/>
    <p:sldLayoutId id="2147483697" r:id="rId8"/>
    <p:sldLayoutId id="2147483696" r:id="rId9"/>
    <p:sldLayoutId id="2147483695" r:id="rId10"/>
    <p:sldLayoutId id="2147483694" r:id="rId11"/>
  </p:sldLayoutIdLst>
  <p:hf hdr="0" ftr="0" dt="0"/>
  <p:txStyles>
    <p:titleStyle>
      <a:lvl1pPr algn="l" rtl="0" fontAlgn="base">
        <a:spcBef>
          <a:spcPct val="0"/>
        </a:spcBef>
        <a:spcAft>
          <a:spcPct val="0"/>
        </a:spcAft>
        <a:defRPr sz="3600" b="1" kern="1200">
          <a:solidFill>
            <a:schemeClr val="tx2"/>
          </a:solidFill>
          <a:effectLst>
            <a:outerShdw blurRad="38100" dist="38100" dir="2700000">
              <a:srgbClr val="C0C0C0"/>
            </a:outerShdw>
          </a:effectLst>
          <a:latin typeface="+mj-lt"/>
          <a:ea typeface="+mj-ea"/>
          <a:cs typeface="+mj-cs"/>
        </a:defRPr>
      </a:lvl1pPr>
      <a:lvl2pPr algn="l" rtl="0" fontAlgn="base">
        <a:spcBef>
          <a:spcPct val="0"/>
        </a:spcBef>
        <a:spcAft>
          <a:spcPct val="0"/>
        </a:spcAft>
        <a:defRPr sz="3600" b="1">
          <a:solidFill>
            <a:schemeClr val="tx2"/>
          </a:solidFill>
          <a:latin typeface="Tahoma" panose="020B0604030504040204" pitchFamily="34" charset="0"/>
          <a:ea typeface="幼圆" panose="02010509060101010101" pitchFamily="49" charset="-122"/>
        </a:defRPr>
      </a:lvl2pPr>
      <a:lvl3pPr algn="l" rtl="0" fontAlgn="base">
        <a:spcBef>
          <a:spcPct val="0"/>
        </a:spcBef>
        <a:spcAft>
          <a:spcPct val="0"/>
        </a:spcAft>
        <a:defRPr sz="3600" b="1">
          <a:solidFill>
            <a:schemeClr val="tx2"/>
          </a:solidFill>
          <a:latin typeface="Tahoma" panose="020B0604030504040204" pitchFamily="34" charset="0"/>
          <a:ea typeface="幼圆" panose="02010509060101010101" pitchFamily="49" charset="-122"/>
        </a:defRPr>
      </a:lvl3pPr>
      <a:lvl4pPr algn="l" rtl="0" fontAlgn="base">
        <a:spcBef>
          <a:spcPct val="0"/>
        </a:spcBef>
        <a:spcAft>
          <a:spcPct val="0"/>
        </a:spcAft>
        <a:defRPr sz="3600" b="1">
          <a:solidFill>
            <a:schemeClr val="tx2"/>
          </a:solidFill>
          <a:latin typeface="Tahoma" panose="020B0604030504040204" pitchFamily="34" charset="0"/>
          <a:ea typeface="幼圆" panose="02010509060101010101" pitchFamily="49" charset="-122"/>
        </a:defRPr>
      </a:lvl4pPr>
      <a:lvl5pPr algn="l" rtl="0" fontAlgn="base">
        <a:spcBef>
          <a:spcPct val="0"/>
        </a:spcBef>
        <a:spcAft>
          <a:spcPct val="0"/>
        </a:spcAft>
        <a:defRPr sz="3600" b="1">
          <a:solidFill>
            <a:schemeClr val="tx2"/>
          </a:solidFill>
          <a:latin typeface="Tahoma" panose="020B0604030504040204" pitchFamily="34" charset="0"/>
          <a:ea typeface="幼圆" panose="02010509060101010101" pitchFamily="49" charset="-122"/>
        </a:defRPr>
      </a:lvl5pPr>
      <a:lvl6pPr marL="457200" algn="l" rtl="0" fontAlgn="base">
        <a:spcBef>
          <a:spcPct val="0"/>
        </a:spcBef>
        <a:spcAft>
          <a:spcPct val="0"/>
        </a:spcAft>
        <a:defRPr sz="3600" b="1">
          <a:solidFill>
            <a:schemeClr val="tx2"/>
          </a:solidFill>
          <a:latin typeface="Tahoma" panose="020B0604030504040204" pitchFamily="34" charset="0"/>
          <a:ea typeface="幼圆" panose="02010509060101010101" pitchFamily="49" charset="-122"/>
        </a:defRPr>
      </a:lvl6pPr>
      <a:lvl7pPr marL="914400" algn="l" rtl="0" fontAlgn="base">
        <a:spcBef>
          <a:spcPct val="0"/>
        </a:spcBef>
        <a:spcAft>
          <a:spcPct val="0"/>
        </a:spcAft>
        <a:defRPr sz="3600" b="1">
          <a:solidFill>
            <a:schemeClr val="tx2"/>
          </a:solidFill>
          <a:latin typeface="Tahoma" panose="020B0604030504040204" pitchFamily="34" charset="0"/>
          <a:ea typeface="幼圆" panose="02010509060101010101" pitchFamily="49" charset="-122"/>
        </a:defRPr>
      </a:lvl7pPr>
      <a:lvl8pPr marL="1371600" algn="l" rtl="0" fontAlgn="base">
        <a:spcBef>
          <a:spcPct val="0"/>
        </a:spcBef>
        <a:spcAft>
          <a:spcPct val="0"/>
        </a:spcAft>
        <a:defRPr sz="3600" b="1">
          <a:solidFill>
            <a:schemeClr val="tx2"/>
          </a:solidFill>
          <a:latin typeface="Tahoma" panose="020B0604030504040204" pitchFamily="34" charset="0"/>
          <a:ea typeface="幼圆" panose="02010509060101010101" pitchFamily="49" charset="-122"/>
        </a:defRPr>
      </a:lvl8pPr>
      <a:lvl9pPr marL="1828800" algn="l" rtl="0" fontAlgn="base">
        <a:spcBef>
          <a:spcPct val="0"/>
        </a:spcBef>
        <a:spcAft>
          <a:spcPct val="0"/>
        </a:spcAft>
        <a:defRPr sz="3600" b="1">
          <a:solidFill>
            <a:schemeClr val="tx2"/>
          </a:solidFill>
          <a:latin typeface="Tahoma" panose="020B0604030504040204" pitchFamily="34" charset="0"/>
          <a:ea typeface="幼圆" panose="02010509060101010101" pitchFamily="49" charset="-122"/>
        </a:defRPr>
      </a:lvl9pPr>
    </p:titleStyle>
    <p:bodyStyle>
      <a:lvl1pPr marL="342900" indent="-342900" algn="l" rtl="0" fontAlgn="base">
        <a:lnSpc>
          <a:spcPct val="120000"/>
        </a:lnSpc>
        <a:spcBef>
          <a:spcPct val="20000"/>
        </a:spcBef>
        <a:spcAft>
          <a:spcPct val="0"/>
        </a:spcAft>
        <a:buClr>
          <a:schemeClr val="folHlink"/>
        </a:buClr>
        <a:buSzPct val="60000"/>
        <a:buFont typeface="Wingdings" panose="05000000000000000000" pitchFamily="2" charset="2"/>
        <a:defRPr sz="2800" b="1" kern="1200">
          <a:solidFill>
            <a:schemeClr val="tx1"/>
          </a:solidFill>
          <a:effectLst>
            <a:outerShdw blurRad="38100" dist="38100" dir="2700000">
              <a:srgbClr val="C0C0C0"/>
            </a:outerShdw>
          </a:effectLst>
          <a:latin typeface="+mn-lt"/>
          <a:ea typeface="+mn-ea"/>
          <a:cs typeface="+mn-cs"/>
        </a:defRPr>
      </a:lvl1pPr>
      <a:lvl2pPr marL="742950" lvl="1" indent="-285750" algn="l" rtl="0" fontAlgn="base">
        <a:lnSpc>
          <a:spcPct val="120000"/>
        </a:lnSpc>
        <a:spcBef>
          <a:spcPct val="20000"/>
        </a:spcBef>
        <a:spcAft>
          <a:spcPct val="0"/>
        </a:spcAft>
        <a:buClr>
          <a:schemeClr val="hlink"/>
        </a:buClr>
        <a:buSzPct val="55000"/>
        <a:buFont typeface="Wingdings" panose="05000000000000000000" pitchFamily="2" charset="2"/>
        <a:buChar char="n"/>
        <a:defRPr sz="2800" b="1" kern="1200">
          <a:solidFill>
            <a:schemeClr val="tx1"/>
          </a:solidFill>
          <a:effectLst>
            <a:outerShdw blurRad="38100" dist="38100" dir="2700000">
              <a:srgbClr val="C0C0C0"/>
            </a:outerShdw>
          </a:effectLst>
          <a:latin typeface="+mn-lt"/>
          <a:ea typeface="+mn-ea"/>
          <a:cs typeface="+mn-cs"/>
        </a:defRPr>
      </a:lvl2pPr>
      <a:lvl3pPr marL="1143000" lvl="2" indent="-228600" algn="l" rtl="0" fontAlgn="base">
        <a:lnSpc>
          <a:spcPct val="120000"/>
        </a:lnSpc>
        <a:spcBef>
          <a:spcPct val="20000"/>
        </a:spcBef>
        <a:spcAft>
          <a:spcPct val="0"/>
        </a:spcAft>
        <a:buClr>
          <a:schemeClr val="folHlink"/>
        </a:buClr>
        <a:buSzPct val="50000"/>
        <a:buFont typeface="Wingdings" panose="05000000000000000000" pitchFamily="2" charset="2"/>
        <a:buChar char="n"/>
        <a:defRPr sz="2400" b="1" kern="1200">
          <a:solidFill>
            <a:schemeClr val="tx1"/>
          </a:solidFill>
          <a:effectLst>
            <a:outerShdw blurRad="38100" dist="38100" dir="2700000">
              <a:srgbClr val="C0C0C0"/>
            </a:outerShdw>
          </a:effectLst>
          <a:latin typeface="+mn-lt"/>
          <a:ea typeface="+mn-ea"/>
          <a:cs typeface="+mn-cs"/>
        </a:defRPr>
      </a:lvl3pPr>
      <a:lvl4pPr marL="1600200" lvl="3" indent="-228600" algn="l" rtl="0" fontAlgn="base">
        <a:lnSpc>
          <a:spcPct val="120000"/>
        </a:lnSpc>
        <a:spcBef>
          <a:spcPct val="20000"/>
        </a:spcBef>
        <a:spcAft>
          <a:spcPct val="0"/>
        </a:spcAft>
        <a:buClr>
          <a:schemeClr val="accent2"/>
        </a:buClr>
        <a:buSzPct val="55000"/>
        <a:buFont typeface="Wingdings" panose="05000000000000000000" pitchFamily="2" charset="2"/>
        <a:buChar char="n"/>
        <a:defRPr sz="2000" b="1" kern="1200">
          <a:solidFill>
            <a:schemeClr val="tx1"/>
          </a:solidFill>
          <a:effectLst>
            <a:outerShdw blurRad="38100" dist="38100" dir="2700000">
              <a:srgbClr val="C0C0C0"/>
            </a:outerShdw>
          </a:effectLst>
          <a:latin typeface="+mn-lt"/>
          <a:ea typeface="+mn-ea"/>
          <a:cs typeface="+mn-cs"/>
        </a:defRPr>
      </a:lvl4pPr>
      <a:lvl5pPr marL="2057400" lvl="4"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sz="2000" b="1" kern="1200">
          <a:solidFill>
            <a:schemeClr val="tx1"/>
          </a:solidFill>
          <a:effectLst>
            <a:outerShdw blurRad="38100" dist="38100" dir="2700000">
              <a:srgbClr val="C0C0C0"/>
            </a:outerShdw>
          </a:effectLst>
          <a:latin typeface="+mn-lt"/>
          <a:ea typeface="+mn-ea"/>
          <a:cs typeface="+mn-cs"/>
        </a:defRPr>
      </a:lvl5pPr>
      <a:lvl6pPr marL="2514600" lvl="5"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6pPr>
      <a:lvl7pPr marL="2971800" lvl="6"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7pPr>
      <a:lvl8pPr marL="3429000" lvl="7"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8pPr>
      <a:lvl9pPr marL="3886200" lvl="8"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2050" name="标题 783361">
            <a:extLst>
              <a:ext uri="{FF2B5EF4-FFF2-40B4-BE49-F238E27FC236}">
                <a16:creationId xmlns:a16="http://schemas.microsoft.com/office/drawing/2014/main" id="{75F063D4-2705-4F47-8A94-377F95CB7BE3}"/>
              </a:ext>
            </a:extLst>
          </p:cNvPr>
          <p:cNvSpPr>
            <a:spLocks noGrp="1" noChangeArrowheads="1"/>
          </p:cNvSpPr>
          <p:nvPr>
            <p:ph type="title" idx="4294967295"/>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文本占位符 783362">
            <a:extLst>
              <a:ext uri="{FF2B5EF4-FFF2-40B4-BE49-F238E27FC236}">
                <a16:creationId xmlns:a16="http://schemas.microsoft.com/office/drawing/2014/main" id="{2A4E3D02-EAA8-401A-BE0F-51AAAA0848B8}"/>
              </a:ext>
            </a:extLst>
          </p:cNvPr>
          <p:cNvSpPr>
            <a:spLocks noGrp="1" noChangeArrowheads="1"/>
          </p:cNvSpPr>
          <p:nvPr>
            <p:ph type="body" idx="4294967295"/>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83364" name="日期占位符 783363">
            <a:extLst>
              <a:ext uri="{FF2B5EF4-FFF2-40B4-BE49-F238E27FC236}">
                <a16:creationId xmlns:a16="http://schemas.microsoft.com/office/drawing/2014/main" id="{5BFFB56D-4B2A-48EE-8E88-380B2FAC80AE}"/>
              </a:ext>
            </a:extLst>
          </p:cNvPr>
          <p:cNvSpPr>
            <a:spLocks noGrp="1"/>
          </p:cNvSpPr>
          <p:nvPr>
            <p:ph type="dt" sz="half" idx="2"/>
          </p:nvPr>
        </p:nvSpPr>
        <p:spPr>
          <a:xfrm>
            <a:off x="457200" y="6245225"/>
            <a:ext cx="2133600" cy="476250"/>
          </a:xfrm>
          <a:prstGeom prst="rect">
            <a:avLst/>
          </a:prstGeom>
          <a:noFill/>
          <a:ln w="9525">
            <a:noFill/>
          </a:ln>
        </p:spPr>
        <p:txBody>
          <a:bodyPr/>
          <a:lstStyle>
            <a:lvl1pPr>
              <a:defRPr sz="1400" noProof="1" dirty="0">
                <a:latin typeface="Times New Roman" panose="02020603050405020304" pitchFamily="18" charset="0"/>
                <a:ea typeface="宋体" panose="02010600030101010101" pitchFamily="2" charset="-122"/>
              </a:defRPr>
            </a:lvl1pPr>
          </a:lstStyle>
          <a:p>
            <a:endParaRPr lang="zh-CN" altLang="en-US"/>
          </a:p>
        </p:txBody>
      </p:sp>
      <p:sp>
        <p:nvSpPr>
          <p:cNvPr id="783365" name="页脚占位符 783364">
            <a:extLst>
              <a:ext uri="{FF2B5EF4-FFF2-40B4-BE49-F238E27FC236}">
                <a16:creationId xmlns:a16="http://schemas.microsoft.com/office/drawing/2014/main" id="{EA98F94B-33A7-469D-88B5-B80ADBA015B5}"/>
              </a:ext>
            </a:extLst>
          </p:cNvPr>
          <p:cNvSpPr>
            <a:spLocks noGrp="1"/>
          </p:cNvSpPr>
          <p:nvPr>
            <p:ph type="ftr" sz="quarter" idx="3"/>
          </p:nvPr>
        </p:nvSpPr>
        <p:spPr>
          <a:xfrm>
            <a:off x="3124200" y="6245225"/>
            <a:ext cx="2895600" cy="476250"/>
          </a:xfrm>
          <a:prstGeom prst="rect">
            <a:avLst/>
          </a:prstGeom>
          <a:noFill/>
          <a:ln w="9525">
            <a:noFill/>
          </a:ln>
        </p:spPr>
        <p:txBody>
          <a:bodyPr/>
          <a:lstStyle>
            <a:lvl1pPr algn="ctr">
              <a:defRPr sz="1400" noProof="1" dirty="0">
                <a:latin typeface="Times New Roman" panose="02020603050405020304" pitchFamily="18" charset="0"/>
                <a:ea typeface="宋体" panose="02010600030101010101" pitchFamily="2" charset="-122"/>
              </a:defRPr>
            </a:lvl1pPr>
          </a:lstStyle>
          <a:p>
            <a:endParaRPr lang="zh-CN" altLang="en-US"/>
          </a:p>
        </p:txBody>
      </p:sp>
      <p:sp>
        <p:nvSpPr>
          <p:cNvPr id="783366" name="灯片编号占位符 783365">
            <a:extLst>
              <a:ext uri="{FF2B5EF4-FFF2-40B4-BE49-F238E27FC236}">
                <a16:creationId xmlns:a16="http://schemas.microsoft.com/office/drawing/2014/main" id="{96D94FD8-518B-4874-936D-D61E8363FCC0}"/>
              </a:ext>
            </a:extLst>
          </p:cNvPr>
          <p:cNvSpPr>
            <a:spLocks noGrp="1"/>
          </p:cNvSpPr>
          <p:nvPr>
            <p:ph type="sldNum" sz="quarter" idx="4"/>
          </p:nvPr>
        </p:nvSpPr>
        <p:spPr>
          <a:xfrm>
            <a:off x="6553200" y="6245225"/>
            <a:ext cx="2133600" cy="476250"/>
          </a:xfrm>
          <a:prstGeom prst="rect">
            <a:avLst/>
          </a:prstGeom>
          <a:noFill/>
          <a:ln w="9525">
            <a:noFill/>
          </a:ln>
        </p:spPr>
        <p:txBody>
          <a:bodyPr vert="horz" wrap="square" lIns="91440" tIns="45720" rIns="91440" bIns="45720" numCol="1" anchor="t" anchorCtr="0" compatLnSpc="1">
            <a:prstTxWarp prst="textNoShape">
              <a:avLst/>
            </a:prstTxWarp>
          </a:bodyPr>
          <a:lstStyle>
            <a:lvl1pPr algn="r">
              <a:defRPr sz="1400">
                <a:latin typeface="Times New Roman" panose="02020603050405020304" pitchFamily="18" charset="0"/>
                <a:ea typeface="宋体" panose="02010600030101010101" pitchFamily="2" charset="-122"/>
              </a:defRPr>
            </a:lvl1pPr>
          </a:lstStyle>
          <a:p>
            <a:fld id="{5CAD9F70-36F5-4ECD-B0F0-F3FA91D8D282}"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3714" r:id="rId1"/>
    <p:sldLayoutId id="2147483713" r:id="rId2"/>
    <p:sldLayoutId id="2147483712" r:id="rId3"/>
    <p:sldLayoutId id="2147483711" r:id="rId4"/>
    <p:sldLayoutId id="2147483710" r:id="rId5"/>
    <p:sldLayoutId id="2147483709" r:id="rId6"/>
    <p:sldLayoutId id="2147483708" r:id="rId7"/>
    <p:sldLayoutId id="2147483707" r:id="rId8"/>
    <p:sldLayoutId id="2147483706" r:id="rId9"/>
    <p:sldLayoutId id="2147483705" r:id="rId10"/>
    <p:sldLayoutId id="2147483704" r:id="rId11"/>
  </p:sldLayoutIdLst>
  <p:hf hdr="0" ftr="0" dt="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lvl="1" indent="-285750" algn="l" rtl="0" fontAlgn="base">
        <a:spcBef>
          <a:spcPct val="20000"/>
        </a:spcBef>
        <a:spcAft>
          <a:spcPct val="0"/>
        </a:spcAft>
        <a:buChar char="–"/>
        <a:defRPr sz="2800" kern="1200">
          <a:solidFill>
            <a:schemeClr val="tx1"/>
          </a:solidFill>
          <a:latin typeface="+mn-lt"/>
          <a:ea typeface="+mn-ea"/>
          <a:cs typeface="+mn-cs"/>
        </a:defRPr>
      </a:lvl2pPr>
      <a:lvl3pPr marL="1143000" lvl="2" indent="-228600" algn="l" rtl="0" fontAlgn="base">
        <a:spcBef>
          <a:spcPct val="20000"/>
        </a:spcBef>
        <a:spcAft>
          <a:spcPct val="0"/>
        </a:spcAft>
        <a:buChar char="•"/>
        <a:defRPr sz="2400" kern="1200">
          <a:solidFill>
            <a:schemeClr val="tx1"/>
          </a:solidFill>
          <a:latin typeface="+mn-lt"/>
          <a:ea typeface="+mn-ea"/>
          <a:cs typeface="+mn-cs"/>
        </a:defRPr>
      </a:lvl3pPr>
      <a:lvl4pPr marL="1600200" lvl="3" indent="-228600" algn="l" rtl="0" fontAlgn="base">
        <a:spcBef>
          <a:spcPct val="20000"/>
        </a:spcBef>
        <a:spcAft>
          <a:spcPct val="0"/>
        </a:spcAft>
        <a:buChar char="–"/>
        <a:defRPr sz="2000" kern="1200">
          <a:solidFill>
            <a:schemeClr val="tx1"/>
          </a:solidFill>
          <a:latin typeface="+mn-lt"/>
          <a:ea typeface="+mn-ea"/>
          <a:cs typeface="+mn-cs"/>
        </a:defRPr>
      </a:lvl4pPr>
      <a:lvl5pPr marL="2057400" lvl="4" indent="-228600" algn="l" rtl="0" fontAlgn="base">
        <a:spcBef>
          <a:spcPct val="20000"/>
        </a:spcBef>
        <a:spcAft>
          <a:spcPct val="0"/>
        </a:spcAft>
        <a:buChar char="»"/>
        <a:defRPr sz="2000" kern="120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4.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5.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6145" name="图片 537612" descr="BS02064_">
            <a:extLst>
              <a:ext uri="{FF2B5EF4-FFF2-40B4-BE49-F238E27FC236}">
                <a16:creationId xmlns:a16="http://schemas.microsoft.com/office/drawing/2014/main" id="{3EFA6D4A-14C4-46C0-8287-9C0C1717DF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170363"/>
            <a:ext cx="2700338" cy="2687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7604" name="标题 537603">
            <a:extLst>
              <a:ext uri="{FF2B5EF4-FFF2-40B4-BE49-F238E27FC236}">
                <a16:creationId xmlns:a16="http://schemas.microsoft.com/office/drawing/2014/main" id="{62310077-CF3A-41DA-8B1D-D0FBCB2EFEDA}"/>
              </a:ext>
            </a:extLst>
          </p:cNvPr>
          <p:cNvSpPr>
            <a:spLocks noGrp="1"/>
          </p:cNvSpPr>
          <p:nvPr>
            <p:ph type="ctrTitle"/>
          </p:nvPr>
        </p:nvSpPr>
        <p:spPr>
          <a:xfrm>
            <a:off x="684213" y="1217613"/>
            <a:ext cx="8137525" cy="1462087"/>
          </a:xfrm>
        </p:spPr>
        <p:txBody>
          <a:bodyPr/>
          <a:lstStyle/>
          <a:p>
            <a:r>
              <a:rPr lang="zh-CN" altLang="en-US" noProof="1"/>
              <a:t>第</a:t>
            </a:r>
            <a:r>
              <a:rPr lang="en-US" altLang="zh-CN" noProof="1"/>
              <a:t>1</a:t>
            </a:r>
            <a:r>
              <a:rPr lang="zh-CN" altLang="en-US" noProof="1"/>
              <a:t>章 数据库系统概述 </a:t>
            </a:r>
          </a:p>
        </p:txBody>
      </p:sp>
      <p:sp>
        <p:nvSpPr>
          <p:cNvPr id="537609" name="矩形 537608">
            <a:extLst>
              <a:ext uri="{FF2B5EF4-FFF2-40B4-BE49-F238E27FC236}">
                <a16:creationId xmlns:a16="http://schemas.microsoft.com/office/drawing/2014/main" id="{3BF461BD-0565-44A8-885C-EB7B2B63F330}"/>
              </a:ext>
            </a:extLst>
          </p:cNvPr>
          <p:cNvSpPr/>
          <p:nvPr/>
        </p:nvSpPr>
        <p:spPr>
          <a:xfrm>
            <a:off x="107950" y="80963"/>
            <a:ext cx="4608513" cy="574675"/>
          </a:xfrm>
          <a:prstGeom prst="rect">
            <a:avLst/>
          </a:prstGeom>
          <a:gradFill rotWithShape="1">
            <a:gsLst>
              <a:gs pos="0">
                <a:srgbClr val="C0C0C0"/>
              </a:gs>
              <a:gs pos="100000">
                <a:srgbClr val="C0C0C0">
                  <a:gamma/>
                  <a:tint val="0"/>
                  <a:invGamma/>
                </a:srgbClr>
              </a:gs>
            </a:gsLst>
            <a:path path="shape">
              <a:fillToRect l="50000" t="50000" r="50000" b="50000"/>
            </a:path>
            <a:tileRect/>
          </a:gradFill>
          <a:ln w="9525">
            <a:noFill/>
          </a:ln>
        </p:spPr>
        <p:txBody>
          <a:bodyPr tIns="76176" bIns="72000" anchor="ctr" anchorCtr="1">
            <a:spAutoFit/>
          </a:bodyPr>
          <a:lstStyle/>
          <a:p>
            <a:pPr algn="ctr"/>
            <a:r>
              <a:rPr lang="zh-CN" altLang="en-US" sz="2800" b="1" noProof="1">
                <a:solidFill>
                  <a:srgbClr val="993300"/>
                </a:solidFill>
                <a:effectLst>
                  <a:outerShdw blurRad="38100" dist="38100" dir="2700000">
                    <a:srgbClr val="000000"/>
                  </a:outerShdw>
                </a:effectLst>
                <a:ea typeface="隶书" panose="02010509060101010101" pitchFamily="49" charset="-122"/>
              </a:rPr>
              <a:t>数据库系统原理及应用</a:t>
            </a:r>
            <a:endParaRPr lang="zh-CN" altLang="en-US" sz="3000" b="1" noProof="1">
              <a:solidFill>
                <a:srgbClr val="000000"/>
              </a:solidFill>
              <a:effectLst>
                <a:outerShdw blurRad="38100" dist="38100" dir="2700000">
                  <a:srgbClr val="FFFFFF"/>
                </a:outerShdw>
              </a:effectLst>
              <a:latin typeface="Times New Roman" panose="02020603050405020304" pitchFamily="18" charset="0"/>
            </a:endParaRPr>
          </a:p>
        </p:txBody>
      </p:sp>
      <p:sp>
        <p:nvSpPr>
          <p:cNvPr id="537611" name="文本框 537610">
            <a:extLst>
              <a:ext uri="{FF2B5EF4-FFF2-40B4-BE49-F238E27FC236}">
                <a16:creationId xmlns:a16="http://schemas.microsoft.com/office/drawing/2014/main" id="{768AD7F2-3FD2-452E-AD12-21548338EB6B}"/>
              </a:ext>
            </a:extLst>
          </p:cNvPr>
          <p:cNvSpPr txBox="1"/>
          <p:nvPr/>
        </p:nvSpPr>
        <p:spPr>
          <a:xfrm>
            <a:off x="2338388" y="2708275"/>
            <a:ext cx="4681537" cy="701675"/>
          </a:xfrm>
          <a:prstGeom prst="rect">
            <a:avLst/>
          </a:prstGeom>
          <a:noFill/>
          <a:ln w="12700">
            <a:noFill/>
          </a:ln>
        </p:spPr>
        <p:txBody>
          <a:bodyPr>
            <a:spAutoFit/>
          </a:bodyPr>
          <a:lstStyle/>
          <a:p>
            <a:pPr algn="ctr"/>
            <a:r>
              <a:rPr lang="zh-CN" altLang="en-US" sz="4000" b="1" noProof="1">
                <a:solidFill>
                  <a:srgbClr val="003366"/>
                </a:solidFill>
                <a:effectLst>
                  <a:outerShdw blurRad="38100" dist="38100" dir="2700000">
                    <a:srgbClr val="C0C0C0"/>
                  </a:outerShdw>
                </a:effectLst>
                <a:latin typeface="华文新魏" panose="02010800040101010101" pitchFamily="2" charset="-122"/>
                <a:ea typeface="华文新魏" panose="02010800040101010101" pitchFamily="2" charset="-122"/>
              </a:rPr>
              <a:t>（第二讲）</a:t>
            </a:r>
            <a:endParaRPr lang="zh-CN" altLang="en-US" sz="4400" b="1" noProof="1">
              <a:solidFill>
                <a:srgbClr val="006699"/>
              </a:solidFill>
              <a:effectLst>
                <a:outerShdw blurRad="38100" dist="38100" dir="2700000">
                  <a:srgbClr val="C0C0C0"/>
                </a:outerShdw>
              </a:effectLst>
              <a:latin typeface="隶书" panose="02010509060101010101" pitchFamily="49" charset="-122"/>
              <a:ea typeface="隶书" panose="02010509060101010101" pitchFamily="49" charset="-122"/>
            </a:endParaRPr>
          </a:p>
        </p:txBody>
      </p:sp>
      <p:sp>
        <p:nvSpPr>
          <p:cNvPr id="537612" name="文本框 537611">
            <a:extLst>
              <a:ext uri="{FF2B5EF4-FFF2-40B4-BE49-F238E27FC236}">
                <a16:creationId xmlns:a16="http://schemas.microsoft.com/office/drawing/2014/main" id="{CBAD4596-7FAA-4B1B-9909-604D289718EB}"/>
              </a:ext>
            </a:extLst>
          </p:cNvPr>
          <p:cNvSpPr txBox="1"/>
          <p:nvPr/>
        </p:nvSpPr>
        <p:spPr>
          <a:xfrm>
            <a:off x="2516188" y="3957638"/>
            <a:ext cx="4681537" cy="706437"/>
          </a:xfrm>
          <a:prstGeom prst="rect">
            <a:avLst/>
          </a:prstGeom>
          <a:noFill/>
          <a:ln w="12700">
            <a:noFill/>
          </a:ln>
        </p:spPr>
        <p:txBody>
          <a:bodyPr>
            <a:spAutoFit/>
          </a:bodyPr>
          <a:lstStyle/>
          <a:p>
            <a:r>
              <a:rPr lang="zh-CN" altLang="en-US" sz="4000" b="1" noProof="1">
                <a:solidFill>
                  <a:srgbClr val="003366"/>
                </a:solidFill>
                <a:effectLst>
                  <a:outerShdw blurRad="38100" dist="38100" dir="2700000">
                    <a:srgbClr val="C0C0C0"/>
                  </a:outerShdw>
                </a:effectLst>
                <a:latin typeface="华文新魏" panose="02010800040101010101" pitchFamily="2" charset="-122"/>
                <a:ea typeface="华文新魏" panose="02010800040101010101" pitchFamily="2" charset="-122"/>
              </a:rPr>
              <a:t>     </a:t>
            </a:r>
            <a:endParaRPr lang="zh-CN" altLang="en-US" sz="4400" b="1" noProof="1">
              <a:solidFill>
                <a:srgbClr val="660033"/>
              </a:solidFill>
              <a:effectLst>
                <a:outerShdw blurRad="38100" dist="38100" dir="2700000">
                  <a:srgbClr val="C0C0C0"/>
                </a:outerShdw>
              </a:effectLst>
              <a:latin typeface="隶书" panose="02010509060101010101" pitchFamily="49" charset="-122"/>
              <a:ea typeface="隶书" panose="02010509060101010101" pitchFamily="49" charset="-122"/>
            </a:endParaRPr>
          </a:p>
        </p:txBody>
      </p:sp>
    </p:spTree>
  </p:cSld>
  <p:clrMapOvr>
    <a:masterClrMapping/>
  </p:clrMapOvr>
  <p:transition advTm="3002"/>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3" presetClass="entr" presetSubtype="16" fill="hold" grpId="0" nodeType="afterEffect">
                                  <p:stCondLst>
                                    <p:cond delay="0"/>
                                  </p:stCondLst>
                                  <p:childTnLst>
                                    <p:set>
                                      <p:cBhvr>
                                        <p:cTn id="6" dur="1" fill="hold">
                                          <p:stCondLst>
                                            <p:cond delay="0"/>
                                          </p:stCondLst>
                                        </p:cTn>
                                        <p:tgtEl>
                                          <p:spTgt spid="537604"/>
                                        </p:tgtEl>
                                        <p:attrNameLst>
                                          <p:attrName>style.visibility</p:attrName>
                                        </p:attrNameLst>
                                      </p:cBhvr>
                                      <p:to>
                                        <p:strVal val="visible"/>
                                      </p:to>
                                    </p:set>
                                    <p:animEffect transition="in" filter="plus(in)">
                                      <p:cBhvr>
                                        <p:cTn id="7" dur="1000"/>
                                        <p:tgtEl>
                                          <p:spTgt spid="53760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37609"/>
                                        </p:tgtEl>
                                        <p:attrNameLst>
                                          <p:attrName>style.visibility</p:attrName>
                                        </p:attrNameLst>
                                      </p:cBhvr>
                                      <p:to>
                                        <p:strVal val="visible"/>
                                      </p:to>
                                    </p:set>
                                    <p:animEffect transition="in" filter="wipe(left)">
                                      <p:cBhvr>
                                        <p:cTn id="10" dur="1000"/>
                                        <p:tgtEl>
                                          <p:spTgt spid="5376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7604" grpId="0"/>
      <p:bldP spid="53760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4132" name="矩形 944131">
            <a:extLst>
              <a:ext uri="{FF2B5EF4-FFF2-40B4-BE49-F238E27FC236}">
                <a16:creationId xmlns:a16="http://schemas.microsoft.com/office/drawing/2014/main" id="{FF04AF37-E3E4-4213-BDAE-C5DD94D72E66}"/>
              </a:ext>
            </a:extLst>
          </p:cNvPr>
          <p:cNvSpPr/>
          <p:nvPr/>
        </p:nvSpPr>
        <p:spPr>
          <a:xfrm>
            <a:off x="755650" y="285750"/>
            <a:ext cx="7793038" cy="622300"/>
          </a:xfrm>
          <a:prstGeom prst="rect">
            <a:avLst/>
          </a:prstGeom>
          <a:noFill/>
          <a:ln w="9525">
            <a:noFill/>
          </a:ln>
          <a:effectLst>
            <a:outerShdw dist="17961" dir="2699999" algn="ctr" rotWithShape="0">
              <a:schemeClr val="tx1">
                <a:alpha val="50000"/>
              </a:schemeClr>
            </a:outerShdw>
          </a:effectLst>
        </p:spPr>
        <p:txBody>
          <a:bodyPr anchor="ctr"/>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algn="ctr"/>
            <a:r>
              <a:rPr lang="zh-CN" altLang="en-US" sz="4000" noProof="1">
                <a:latin typeface="华文隶书" panose="02010800040101010101" pitchFamily="2" charset="-122"/>
                <a:ea typeface="华文隶书" panose="02010800040101010101" pitchFamily="2" charset="-122"/>
              </a:rPr>
              <a:t>主要内容</a:t>
            </a:r>
          </a:p>
        </p:txBody>
      </p:sp>
      <p:sp>
        <p:nvSpPr>
          <p:cNvPr id="944133" name="矩形 944132">
            <a:extLst>
              <a:ext uri="{FF2B5EF4-FFF2-40B4-BE49-F238E27FC236}">
                <a16:creationId xmlns:a16="http://schemas.microsoft.com/office/drawing/2014/main" id="{D9F4C450-C75A-469D-B5B0-3715011BA779}"/>
              </a:ext>
            </a:extLst>
          </p:cNvPr>
          <p:cNvSpPr/>
          <p:nvPr/>
        </p:nvSpPr>
        <p:spPr>
          <a:xfrm>
            <a:off x="466725" y="1258888"/>
            <a:ext cx="8208963"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endParaRPr lang="zh-CN" altLang="en-US" sz="3200" noProof="1">
              <a:solidFill>
                <a:srgbClr val="990033"/>
              </a:solidFill>
              <a:effectLst/>
              <a:ea typeface="黑体" panose="02010609060101010101" pitchFamily="2" charset="-122"/>
            </a:endParaRPr>
          </a:p>
          <a:p>
            <a:pPr>
              <a:lnSpc>
                <a:spcPct val="150000"/>
              </a:lnSpc>
            </a:pPr>
            <a:r>
              <a:rPr lang="zh-CN" altLang="en-US" noProof="1"/>
              <a:t>         </a:t>
            </a:r>
            <a:r>
              <a:rPr lang="en-US" altLang="zh-CN" sz="3200" noProof="1">
                <a:solidFill>
                  <a:srgbClr val="003366"/>
                </a:solidFill>
                <a:effectLst/>
                <a:latin typeface="华文新魏" panose="02010800040101010101" pitchFamily="2" charset="-122"/>
                <a:ea typeface="华文新魏" panose="02010800040101010101" pitchFamily="2" charset="-122"/>
              </a:rPr>
              <a:t>1.3</a:t>
            </a:r>
            <a:r>
              <a:rPr lang="zh-CN" altLang="en-US" sz="3200" noProof="1">
                <a:solidFill>
                  <a:srgbClr val="003366"/>
                </a:solidFill>
                <a:effectLst/>
                <a:latin typeface="华文新魏" panose="02010800040101010101" pitchFamily="2" charset="-122"/>
                <a:ea typeface="华文新魏" panose="02010800040101010101" pitchFamily="2" charset="-122"/>
              </a:rPr>
              <a:t>   数据描述与数据模型</a:t>
            </a:r>
          </a:p>
          <a:p>
            <a:pPr>
              <a:lnSpc>
                <a:spcPct val="150000"/>
              </a:lnSpc>
            </a:pPr>
            <a:r>
              <a:rPr lang="en-US" altLang="zh-CN" sz="3200" noProof="1">
                <a:solidFill>
                  <a:srgbClr val="003366"/>
                </a:solidFill>
                <a:effectLst/>
                <a:latin typeface="华文新魏" panose="02010800040101010101" pitchFamily="2" charset="-122"/>
                <a:ea typeface="华文新魏" panose="02010800040101010101" pitchFamily="2" charset="-122"/>
              </a:rPr>
              <a:t>         1.4</a:t>
            </a:r>
            <a:r>
              <a:rPr lang="zh-CN" altLang="en-US" sz="3200" noProof="1">
                <a:solidFill>
                  <a:srgbClr val="003366"/>
                </a:solidFill>
                <a:effectLst/>
                <a:latin typeface="华文新魏" panose="02010800040101010101" pitchFamily="2" charset="-122"/>
                <a:ea typeface="华文新魏" panose="02010800040101010101" pitchFamily="2" charset="-122"/>
              </a:rPr>
              <a:t>   关系模型</a:t>
            </a:r>
          </a:p>
        </p:txBody>
      </p:sp>
    </p:spTree>
  </p:cSld>
  <p:clrMapOvr>
    <a:masterClrMapping/>
  </p:clrMapOvr>
  <mc:AlternateContent xmlns:mc="http://schemas.openxmlformats.org/markup-compatibility/2006" xmlns:p14="http://schemas.microsoft.com/office/powerpoint/2010/main">
    <mc:Choice Requires="p14">
      <p:transition spd="slow" p14:dur="2000" advTm="11871"/>
    </mc:Choice>
    <mc:Fallback xmlns="">
      <p:transition spd="slow" advTm="11871"/>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44133">
                                            <p:txEl>
                                              <p:pRg st="1" end="1"/>
                                            </p:txEl>
                                          </p:spTgt>
                                        </p:tgtEl>
                                        <p:attrNameLst>
                                          <p:attrName>style.visibility</p:attrName>
                                        </p:attrNameLst>
                                      </p:cBhvr>
                                      <p:to>
                                        <p:strVal val="visible"/>
                                      </p:to>
                                    </p:set>
                                    <p:animEffect transition="in" filter="wipe(left)">
                                      <p:cBhvr>
                                        <p:cTn id="7" dur="500"/>
                                        <p:tgtEl>
                                          <p:spTgt spid="944133">
                                            <p:txEl>
                                              <p:pRg st="1" end="1"/>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44133">
                                            <p:txEl>
                                              <p:pRg st="2" end="2"/>
                                            </p:txEl>
                                          </p:spTgt>
                                        </p:tgtEl>
                                        <p:attrNameLst>
                                          <p:attrName>style.visibility</p:attrName>
                                        </p:attrNameLst>
                                      </p:cBhvr>
                                      <p:to>
                                        <p:strVal val="visible"/>
                                      </p:to>
                                    </p:set>
                                    <p:animEffect transition="in" filter="wipe(left)">
                                      <p:cBhvr>
                                        <p:cTn id="11" dur="1000"/>
                                        <p:tgtEl>
                                          <p:spTgt spid="94413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413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1922" name="标题 721921">
            <a:extLst>
              <a:ext uri="{FF2B5EF4-FFF2-40B4-BE49-F238E27FC236}">
                <a16:creationId xmlns:a16="http://schemas.microsoft.com/office/drawing/2014/main" id="{B3224F52-C863-4819-B7E0-8BB7055E3DFB}"/>
              </a:ext>
            </a:extLst>
          </p:cNvPr>
          <p:cNvSpPr>
            <a:spLocks noGrp="1"/>
          </p:cNvSpPr>
          <p:nvPr>
            <p:ph type="ctrTitle"/>
          </p:nvPr>
        </p:nvSpPr>
        <p:spPr>
          <a:xfrm>
            <a:off x="827088" y="1217613"/>
            <a:ext cx="8137525" cy="1462087"/>
          </a:xfrm>
        </p:spPr>
        <p:txBody>
          <a:bodyPr/>
          <a:lstStyle/>
          <a:p>
            <a:r>
              <a:rPr lang="en-US" altLang="zh-CN" noProof="1"/>
              <a:t>1.3</a:t>
            </a:r>
            <a:r>
              <a:rPr lang="zh-CN" altLang="en-US" noProof="1"/>
              <a:t>  数据描述与数据模型 </a:t>
            </a:r>
          </a:p>
        </p:txBody>
      </p:sp>
      <p:sp>
        <p:nvSpPr>
          <p:cNvPr id="721924" name="矩形 721923">
            <a:extLst>
              <a:ext uri="{FF2B5EF4-FFF2-40B4-BE49-F238E27FC236}">
                <a16:creationId xmlns:a16="http://schemas.microsoft.com/office/drawing/2014/main" id="{D3772D6D-CFAB-4745-B48A-D5AA23E471E2}"/>
              </a:ext>
            </a:extLst>
          </p:cNvPr>
          <p:cNvSpPr/>
          <p:nvPr/>
        </p:nvSpPr>
        <p:spPr>
          <a:xfrm>
            <a:off x="71438" y="95250"/>
            <a:ext cx="3852862" cy="544513"/>
          </a:xfrm>
          <a:prstGeom prst="rect">
            <a:avLst/>
          </a:prstGeom>
          <a:gradFill rotWithShape="1">
            <a:gsLst>
              <a:gs pos="0">
                <a:srgbClr val="C0C0C0"/>
              </a:gs>
              <a:gs pos="100000">
                <a:srgbClr val="C0C0C0">
                  <a:gamma/>
                  <a:tint val="0"/>
                  <a:invGamma/>
                </a:srgbClr>
              </a:gs>
            </a:gsLst>
            <a:path path="shape">
              <a:fillToRect l="50000" t="50000" r="50000" b="50000"/>
            </a:path>
            <a:tileRect/>
          </a:gradFill>
          <a:ln w="9525">
            <a:noFill/>
          </a:ln>
        </p:spPr>
        <p:txBody>
          <a:bodyPr tIns="76176" bIns="72000" anchor="ctr" anchorCtr="1">
            <a:spAutoFit/>
          </a:bodyPr>
          <a:lstStyle/>
          <a:p>
            <a:r>
              <a:rPr lang="zh-CN" altLang="en-US" sz="2600" b="1" noProof="1">
                <a:solidFill>
                  <a:srgbClr val="993300"/>
                </a:solidFill>
                <a:effectLst>
                  <a:outerShdw blurRad="38100" dist="38100" dir="2700000">
                    <a:srgbClr val="000000"/>
                  </a:outerShdw>
                </a:effectLst>
                <a:ea typeface="隶书" panose="02010509060101010101" pitchFamily="49" charset="-122"/>
              </a:rPr>
              <a:t>第</a:t>
            </a:r>
            <a:r>
              <a:rPr lang="en-US" altLang="zh-CN" sz="2600" b="1" noProof="1">
                <a:solidFill>
                  <a:srgbClr val="993300"/>
                </a:solidFill>
                <a:effectLst>
                  <a:outerShdw blurRad="38100" dist="38100" dir="2700000">
                    <a:srgbClr val="000000"/>
                  </a:outerShdw>
                </a:effectLst>
                <a:ea typeface="隶书" panose="02010509060101010101" pitchFamily="49" charset="-122"/>
              </a:rPr>
              <a:t>1</a:t>
            </a:r>
            <a:r>
              <a:rPr lang="zh-CN" altLang="en-US" sz="2600" b="1" noProof="1">
                <a:solidFill>
                  <a:srgbClr val="993300"/>
                </a:solidFill>
                <a:effectLst>
                  <a:outerShdw blurRad="38100" dist="38100" dir="2700000">
                    <a:srgbClr val="000000"/>
                  </a:outerShdw>
                </a:effectLst>
                <a:ea typeface="隶书" panose="02010509060101010101" pitchFamily="49" charset="-122"/>
              </a:rPr>
              <a:t>章  数据库系统概述</a:t>
            </a:r>
          </a:p>
        </p:txBody>
      </p:sp>
    </p:spTree>
  </p:cSld>
  <p:clrMapOvr>
    <a:masterClrMapping/>
  </p:clrMapOvr>
  <p:transition advTm="2286"/>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721924"/>
                                        </p:tgtEl>
                                        <p:attrNameLst>
                                          <p:attrName>style.visibility</p:attrName>
                                        </p:attrNameLst>
                                      </p:cBhvr>
                                      <p:to>
                                        <p:strVal val="visible"/>
                                      </p:to>
                                    </p:set>
                                    <p:animEffect transition="in" filter="box(out)">
                                      <p:cBhvr>
                                        <p:cTn id="7" dur="1000"/>
                                        <p:tgtEl>
                                          <p:spTgt spid="721924"/>
                                        </p:tgtEl>
                                      </p:cBhvr>
                                    </p:animEffect>
                                  </p:childTnLst>
                                </p:cTn>
                              </p:par>
                            </p:childTnLst>
                          </p:cTn>
                        </p:par>
                        <p:par>
                          <p:cTn id="8" fill="hold" nodeType="afterGroup">
                            <p:stCondLst>
                              <p:cond delay="1000"/>
                            </p:stCondLst>
                            <p:childTnLst>
                              <p:par>
                                <p:cTn id="9" presetID="13" presetClass="entr" presetSubtype="16" fill="hold" grpId="0" nodeType="afterEffect">
                                  <p:stCondLst>
                                    <p:cond delay="0"/>
                                  </p:stCondLst>
                                  <p:childTnLst>
                                    <p:set>
                                      <p:cBhvr>
                                        <p:cTn id="10" dur="1" fill="hold">
                                          <p:stCondLst>
                                            <p:cond delay="0"/>
                                          </p:stCondLst>
                                        </p:cTn>
                                        <p:tgtEl>
                                          <p:spTgt spid="721922"/>
                                        </p:tgtEl>
                                        <p:attrNameLst>
                                          <p:attrName>style.visibility</p:attrName>
                                        </p:attrNameLst>
                                      </p:cBhvr>
                                      <p:to>
                                        <p:strVal val="visible"/>
                                      </p:to>
                                    </p:set>
                                    <p:animEffect transition="in" filter="plus(in)">
                                      <p:cBhvr>
                                        <p:cTn id="11" dur="1000"/>
                                        <p:tgtEl>
                                          <p:spTgt spid="7219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1922" grpId="0"/>
      <p:bldP spid="72192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8072" name="组合 728071">
            <a:extLst>
              <a:ext uri="{FF2B5EF4-FFF2-40B4-BE49-F238E27FC236}">
                <a16:creationId xmlns:a16="http://schemas.microsoft.com/office/drawing/2014/main" id="{8072A185-9DD0-42C7-BEC4-A640D76D41B7}"/>
              </a:ext>
            </a:extLst>
          </p:cNvPr>
          <p:cNvGrpSpPr>
            <a:grpSpLocks/>
          </p:cNvGrpSpPr>
          <p:nvPr/>
        </p:nvGrpSpPr>
        <p:grpSpPr bwMode="auto">
          <a:xfrm>
            <a:off x="979488" y="1484313"/>
            <a:ext cx="1504950" cy="2001837"/>
            <a:chOff x="823" y="944"/>
            <a:chExt cx="900" cy="1261"/>
          </a:xfrm>
        </p:grpSpPr>
        <p:sp>
          <p:nvSpPr>
            <p:cNvPr id="9218" name="文本框 728072">
              <a:extLst>
                <a:ext uri="{FF2B5EF4-FFF2-40B4-BE49-F238E27FC236}">
                  <a16:creationId xmlns:a16="http://schemas.microsoft.com/office/drawing/2014/main" id="{CB1C2466-DF04-4D6F-AEA0-C7AC671E83E3}"/>
                </a:ext>
              </a:extLst>
            </p:cNvPr>
            <p:cNvSpPr txBox="1">
              <a:spLocks noChangeArrowheads="1"/>
            </p:cNvSpPr>
            <p:nvPr/>
          </p:nvSpPr>
          <p:spPr bwMode="auto">
            <a:xfrm>
              <a:off x="823" y="944"/>
              <a:ext cx="900" cy="31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0800" rIns="0" bIns="10800">
              <a:spAutoFit/>
            </a:bodyPr>
            <a:lstStyle/>
            <a:p>
              <a:pPr>
                <a:lnSpc>
                  <a:spcPct val="110000"/>
                </a:lnSpc>
                <a:spcBef>
                  <a:spcPct val="20000"/>
                </a:spcBef>
                <a:buSzPct val="100000"/>
                <a:buFont typeface="Wingdings" panose="05000000000000000000" pitchFamily="2" charset="2"/>
                <a:buNone/>
              </a:pPr>
              <a:r>
                <a:rPr lang="zh-CN" altLang="en-US" sz="2800" b="1"/>
                <a:t>现实世界</a:t>
              </a:r>
            </a:p>
          </p:txBody>
        </p:sp>
        <p:sp>
          <p:nvSpPr>
            <p:cNvPr id="728074" name="Documents">
              <a:extLst>
                <a:ext uri="{FF2B5EF4-FFF2-40B4-BE49-F238E27FC236}">
                  <a16:creationId xmlns:a16="http://schemas.microsoft.com/office/drawing/2014/main" id="{03E60C99-106F-45B9-8FB1-E0077F6D44A2}"/>
                </a:ext>
              </a:extLst>
            </p:cNvPr>
            <p:cNvSpPr>
              <a:spLocks noEditPoints="1"/>
            </p:cNvSpPr>
            <p:nvPr/>
          </p:nvSpPr>
          <p:spPr>
            <a:xfrm>
              <a:off x="884" y="1344"/>
              <a:ext cx="771" cy="861"/>
            </a:xfrm>
            <a:custGeom>
              <a:avLst/>
              <a:gdLst>
                <a:gd name="txL" fmla="*/ 1645 w 21600"/>
                <a:gd name="txT" fmla="*/ 4171 h 21600"/>
                <a:gd name="txR" fmla="*/ 16522 w 21600"/>
                <a:gd name="txB" fmla="*/ 17314 h 21600"/>
              </a:gdLst>
              <a:ahLst/>
              <a:cxnLst>
                <a:cxn ang="0">
                  <a:pos x="0" y="2800"/>
                </a:cxn>
                <a:cxn ang="0">
                  <a:pos x="3468" y="0"/>
                </a:cxn>
                <a:cxn ang="0">
                  <a:pos x="21653" y="18828"/>
                </a:cxn>
                <a:cxn ang="0">
                  <a:pos x="19954" y="20214"/>
                </a:cxn>
                <a:cxn ang="0">
                  <a:pos x="18256" y="21628"/>
                </a:cxn>
                <a:cxn ang="0">
                  <a:pos x="19954" y="1428"/>
                </a:cxn>
                <a:cxn ang="0">
                  <a:pos x="18256" y="2800"/>
                </a:cxn>
                <a:cxn ang="0">
                  <a:pos x="1645" y="1428"/>
                </a:cxn>
                <a:cxn ang="0">
                  <a:pos x="21600" y="0"/>
                </a:cxn>
                <a:cxn ang="0">
                  <a:pos x="10800" y="0"/>
                </a:cxn>
                <a:cxn ang="0">
                  <a:pos x="0" y="10800"/>
                </a:cxn>
                <a:cxn ang="0">
                  <a:pos x="21600" y="10800"/>
                </a:cxn>
              </a:cxnLst>
              <a:rect l="txL" t="txT" r="txR" b="txB"/>
              <a:pathLst>
                <a:path w="21600" h="2160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a:moveTo>
                    <a:pt x="3486" y="1428"/>
                  </a:moveTo>
                  <a:lnTo>
                    <a:pt x="19954" y="1428"/>
                  </a:lnTo>
                  <a:lnTo>
                    <a:pt x="19954" y="20214"/>
                  </a:lnTo>
                  <a:lnTo>
                    <a:pt x="18256" y="20214"/>
                  </a:lnTo>
                  <a:lnTo>
                    <a:pt x="18256" y="2800"/>
                  </a:lnTo>
                  <a:lnTo>
                    <a:pt x="1645" y="2800"/>
                  </a:lnTo>
                  <a:lnTo>
                    <a:pt x="1645" y="1428"/>
                  </a:lnTo>
                  <a:lnTo>
                    <a:pt x="3486" y="1428"/>
                  </a:lnTo>
                  <a:close/>
                </a:path>
                <a:path w="21600" h="21600">
                  <a:moveTo>
                    <a:pt x="0" y="18014"/>
                  </a:moveTo>
                  <a:lnTo>
                    <a:pt x="4434" y="18000"/>
                  </a:lnTo>
                  <a:lnTo>
                    <a:pt x="4434" y="21600"/>
                  </a:lnTo>
                  <a:lnTo>
                    <a:pt x="0" y="18014"/>
                  </a:lnTo>
                  <a:close/>
                </a:path>
              </a:pathLst>
            </a:custGeom>
            <a:solidFill>
              <a:srgbClr val="D8EBB3"/>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lstStyle/>
            <a:p>
              <a:pPr algn="ctr">
                <a:lnSpc>
                  <a:spcPct val="110000"/>
                </a:lnSpc>
                <a:spcBef>
                  <a:spcPct val="20000"/>
                </a:spcBef>
                <a:buSzPct val="100000"/>
                <a:buFont typeface="Wingdings" panose="05000000000000000000" pitchFamily="2" charset="2"/>
                <a:buNone/>
              </a:pPr>
              <a:r>
                <a:rPr lang="zh-CN" altLang="en-US" sz="2400" b="1" noProof="1">
                  <a:effectLst>
                    <a:outerShdw blurRad="38100" dist="38100" dir="2700000">
                      <a:srgbClr val="FFFFFF"/>
                    </a:outerShdw>
                  </a:effectLst>
                </a:rPr>
                <a:t>信息</a:t>
              </a:r>
            </a:p>
          </p:txBody>
        </p:sp>
      </p:grpSp>
      <p:sp>
        <p:nvSpPr>
          <p:cNvPr id="728082" name="标题 728081">
            <a:extLst>
              <a:ext uri="{FF2B5EF4-FFF2-40B4-BE49-F238E27FC236}">
                <a16:creationId xmlns:a16="http://schemas.microsoft.com/office/drawing/2014/main" id="{2463E78D-04CB-4342-9C23-83A81B3CEB56}"/>
              </a:ext>
            </a:extLst>
          </p:cNvPr>
          <p:cNvSpPr>
            <a:spLocks noGrp="1"/>
          </p:cNvSpPr>
          <p:nvPr>
            <p:ph type="title"/>
          </p:nvPr>
        </p:nvSpPr>
        <p:spPr>
          <a:effectLst>
            <a:outerShdw dist="17961" dir="2699999" algn="ctr" rotWithShape="0">
              <a:schemeClr val="tx1">
                <a:alpha val="50000"/>
              </a:schemeClr>
            </a:outerShdw>
          </a:effectLst>
        </p:spPr>
        <p:txBody>
          <a:bodyPr anchor="ctr"/>
          <a:lstStyle/>
          <a:p>
            <a:r>
              <a:rPr lang="zh-CN" altLang="en-US" noProof="1"/>
              <a:t>一、现实世界的数据描述</a:t>
            </a:r>
          </a:p>
        </p:txBody>
      </p:sp>
      <p:sp>
        <p:nvSpPr>
          <p:cNvPr id="728119" name="圆角矩形标注 728118">
            <a:extLst>
              <a:ext uri="{FF2B5EF4-FFF2-40B4-BE49-F238E27FC236}">
                <a16:creationId xmlns:a16="http://schemas.microsoft.com/office/drawing/2014/main" id="{4EFA35CA-D8F9-4E96-9B5B-83F3A9DF3889}"/>
              </a:ext>
            </a:extLst>
          </p:cNvPr>
          <p:cNvSpPr>
            <a:spLocks noChangeArrowheads="1"/>
          </p:cNvSpPr>
          <p:nvPr/>
        </p:nvSpPr>
        <p:spPr bwMode="auto">
          <a:xfrm>
            <a:off x="3059113" y="1557338"/>
            <a:ext cx="5616575" cy="4751387"/>
          </a:xfrm>
          <a:prstGeom prst="wedgeRoundRectCallout">
            <a:avLst>
              <a:gd name="adj1" fmla="val -61560"/>
              <a:gd name="adj2" fmla="val -43185"/>
              <a:gd name="adj3" fmla="val 16667"/>
            </a:avLst>
          </a:prstGeom>
          <a:solidFill>
            <a:schemeClr val="accent1"/>
          </a:solidFill>
          <a:ln w="9525">
            <a:solidFill>
              <a:schemeClr val="tx1"/>
            </a:solidFill>
            <a:miter lim="800000"/>
            <a:headEnd/>
            <a:tailEnd/>
          </a:ln>
        </p:spPr>
        <p:txBody>
          <a:bodyPr/>
          <a:lstStyle/>
          <a:p>
            <a:r>
              <a:rPr lang="zh-CN" altLang="en-US" sz="2800" b="1">
                <a:latin typeface="Tahoma" panose="020B0604030504040204" pitchFamily="34" charset="0"/>
                <a:ea typeface="隶书" panose="02010509060101010101" pitchFamily="49" charset="-122"/>
              </a:rPr>
              <a:t>      </a:t>
            </a:r>
            <a:r>
              <a:rPr lang="zh-CN" altLang="en-US" sz="2600" b="1">
                <a:latin typeface="Tahoma" panose="020B0604030504040204" pitchFamily="34" charset="0"/>
                <a:ea typeface="隶书" panose="02010509060101010101" pitchFamily="49" charset="-122"/>
              </a:rPr>
              <a:t>现实世界是存在于人们头脑之外的客观世界。</a:t>
            </a:r>
          </a:p>
          <a:p>
            <a:r>
              <a:rPr lang="zh-CN" altLang="en-US" sz="2600" b="1">
                <a:latin typeface="Tahoma" panose="020B0604030504040204" pitchFamily="34" charset="0"/>
                <a:ea typeface="隶书" panose="02010509060101010101" pitchFamily="49" charset="-122"/>
              </a:rPr>
              <a:t>       </a:t>
            </a:r>
            <a:r>
              <a:rPr lang="zh-CN" altLang="en-US" sz="2600" b="1">
                <a:solidFill>
                  <a:srgbClr val="000066"/>
                </a:solidFill>
                <a:ea typeface="隶书" panose="02010509060101010101" pitchFamily="49" charset="-122"/>
              </a:rPr>
              <a:t>现实世界既包括象宇宙、地球、山脉、河流等一切自然存在的实体和现象，也包括人类社会进步与发展的演变过程和各种生产活动。</a:t>
            </a:r>
          </a:p>
          <a:p>
            <a:r>
              <a:rPr lang="zh-CN" altLang="en-US" sz="2600" b="1">
                <a:solidFill>
                  <a:srgbClr val="000066"/>
                </a:solidFill>
                <a:ea typeface="隶书" panose="02010509060101010101" pitchFamily="49" charset="-122"/>
              </a:rPr>
              <a:t>       </a:t>
            </a:r>
            <a:r>
              <a:rPr lang="zh-CN" altLang="en-US" sz="2600" b="1">
                <a:latin typeface="Tahoma" panose="020B0604030504040204" pitchFamily="34" charset="0"/>
                <a:ea typeface="隶书" panose="02010509060101010101" pitchFamily="49" charset="-122"/>
              </a:rPr>
              <a:t>所以可狭义地将现实世界看作为各个事物、各个现象、各个单位的实际情况，例如一个大学、一个企业、一个工厂的仓库等。</a:t>
            </a:r>
          </a:p>
        </p:txBody>
      </p:sp>
    </p:spTree>
    <p:custDataLst>
      <p:tags r:id="rId1"/>
    </p:custDataLst>
  </p:cSld>
  <p:clrMapOvr>
    <a:masterClrMapping/>
  </p:clrMapOvr>
  <p:transition advTm="54752"/>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728072"/>
                                        </p:tgtEl>
                                        <p:attrNameLst>
                                          <p:attrName>style.visibility</p:attrName>
                                        </p:attrNameLst>
                                      </p:cBhvr>
                                      <p:to>
                                        <p:strVal val="visible"/>
                                      </p:to>
                                    </p:set>
                                    <p:animEffect transition="in" filter="wipe(up)">
                                      <p:cBhvr>
                                        <p:cTn id="7" dur="500"/>
                                        <p:tgtEl>
                                          <p:spTgt spid="7280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28119">
                                            <p:bg/>
                                          </p:spTgt>
                                        </p:tgtEl>
                                        <p:attrNameLst>
                                          <p:attrName>style.visibility</p:attrName>
                                        </p:attrNameLst>
                                      </p:cBhvr>
                                      <p:to>
                                        <p:strVal val="visible"/>
                                      </p:to>
                                    </p:set>
                                    <p:animEffect transition="in" filter="box(in)">
                                      <p:cBhvr>
                                        <p:cTn id="12" dur="500"/>
                                        <p:tgtEl>
                                          <p:spTgt spid="728119">
                                            <p:bg/>
                                          </p:spTgt>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728119">
                                            <p:txEl>
                                              <p:pRg st="0" end="0"/>
                                            </p:txEl>
                                          </p:spTgt>
                                        </p:tgtEl>
                                        <p:attrNameLst>
                                          <p:attrName>style.visibility</p:attrName>
                                        </p:attrNameLst>
                                      </p:cBhvr>
                                      <p:to>
                                        <p:strVal val="visible"/>
                                      </p:to>
                                    </p:set>
                                    <p:animEffect transition="in" filter="box(in)">
                                      <p:cBhvr>
                                        <p:cTn id="15" dur="500"/>
                                        <p:tgtEl>
                                          <p:spTgt spid="728119">
                                            <p:txEl>
                                              <p:pRg st="0" end="0"/>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728119">
                                            <p:txEl>
                                              <p:pRg st="1" end="1"/>
                                            </p:txEl>
                                          </p:spTgt>
                                        </p:tgtEl>
                                        <p:attrNameLst>
                                          <p:attrName>style.visibility</p:attrName>
                                        </p:attrNameLst>
                                      </p:cBhvr>
                                      <p:to>
                                        <p:strVal val="visible"/>
                                      </p:to>
                                    </p:set>
                                    <p:animEffect transition="in" filter="box(in)">
                                      <p:cBhvr>
                                        <p:cTn id="20" dur="500"/>
                                        <p:tgtEl>
                                          <p:spTgt spid="728119">
                                            <p:txEl>
                                              <p:pRg st="1" end="1"/>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728119">
                                            <p:txEl>
                                              <p:pRg st="2" end="2"/>
                                            </p:txEl>
                                          </p:spTgt>
                                        </p:tgtEl>
                                        <p:attrNameLst>
                                          <p:attrName>style.visibility</p:attrName>
                                        </p:attrNameLst>
                                      </p:cBhvr>
                                      <p:to>
                                        <p:strVal val="visible"/>
                                      </p:to>
                                    </p:set>
                                    <p:animEffect transition="in" filter="box(in)">
                                      <p:cBhvr>
                                        <p:cTn id="25" dur="500"/>
                                        <p:tgtEl>
                                          <p:spTgt spid="7281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8119" grpId="0" uiExpand="1" build="allAtOnce"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1" name="组合 796675">
            <a:extLst>
              <a:ext uri="{FF2B5EF4-FFF2-40B4-BE49-F238E27FC236}">
                <a16:creationId xmlns:a16="http://schemas.microsoft.com/office/drawing/2014/main" id="{FEBE2311-E67D-450F-AF30-8494276E8D96}"/>
              </a:ext>
            </a:extLst>
          </p:cNvPr>
          <p:cNvGrpSpPr>
            <a:grpSpLocks/>
          </p:cNvGrpSpPr>
          <p:nvPr/>
        </p:nvGrpSpPr>
        <p:grpSpPr bwMode="auto">
          <a:xfrm>
            <a:off x="6278563" y="1506538"/>
            <a:ext cx="2254250" cy="2052637"/>
            <a:chOff x="4144" y="958"/>
            <a:chExt cx="1140" cy="1293"/>
          </a:xfrm>
        </p:grpSpPr>
        <p:sp>
          <p:nvSpPr>
            <p:cNvPr id="10242" name="laptop">
              <a:extLst>
                <a:ext uri="{FF2B5EF4-FFF2-40B4-BE49-F238E27FC236}">
                  <a16:creationId xmlns:a16="http://schemas.microsoft.com/office/drawing/2014/main" id="{993C9EC9-2D23-4EF3-BA87-81DE7E6C8360}"/>
                </a:ext>
              </a:extLst>
            </p:cNvPr>
            <p:cNvSpPr>
              <a:spLocks noEditPoints="1" noChangeArrowheads="1"/>
            </p:cNvSpPr>
            <p:nvPr/>
          </p:nvSpPr>
          <p:spPr bwMode="auto">
            <a:xfrm>
              <a:off x="4144" y="1393"/>
              <a:ext cx="1140" cy="858"/>
            </a:xfrm>
            <a:custGeom>
              <a:avLst/>
              <a:gdLst>
                <a:gd name="T0" fmla="*/ 3362 w 21600"/>
                <a:gd name="T1" fmla="*/ 0 h 21600"/>
                <a:gd name="T2" fmla="*/ 18327 w 21600"/>
                <a:gd name="T3" fmla="*/ 0 h 21600"/>
                <a:gd name="T4" fmla="*/ 18327 w 21600"/>
                <a:gd name="T5" fmla="*/ 14347 h 21600"/>
                <a:gd name="T6" fmla="*/ 3362 w 21600"/>
                <a:gd name="T7" fmla="*/ 14347 h 21600"/>
                <a:gd name="T8" fmla="*/ 3362 w 21600"/>
                <a:gd name="T9" fmla="*/ 0 h 21600"/>
                <a:gd name="T10" fmla="*/ 3340 w 21600"/>
                <a:gd name="T11" fmla="*/ 15068 h 21600"/>
                <a:gd name="T12" fmla="*/ 0 w 21600"/>
                <a:gd name="T13" fmla="*/ 19877 h 21600"/>
                <a:gd name="T14" fmla="*/ 21600 w 21600"/>
                <a:gd name="T15" fmla="*/ 19877 h 21600"/>
                <a:gd name="T16" fmla="*/ 18327 w 21600"/>
                <a:gd name="T17" fmla="*/ 15068 h 21600"/>
                <a:gd name="T18" fmla="*/ 3340 w 21600"/>
                <a:gd name="T19" fmla="*/ 15068 h 21600"/>
                <a:gd name="T20" fmla="*/ 0 w 21600"/>
                <a:gd name="T21" fmla="*/ 19877 h 21600"/>
                <a:gd name="T22" fmla="*/ 0 w 21600"/>
                <a:gd name="T23" fmla="*/ 21600 h 21600"/>
                <a:gd name="T24" fmla="*/ 21600 w 21600"/>
                <a:gd name="T25" fmla="*/ 21600 h 21600"/>
                <a:gd name="T26" fmla="*/ 21600 w 21600"/>
                <a:gd name="T27" fmla="*/ 19877 h 21600"/>
                <a:gd name="T28" fmla="*/ 0 w 21600"/>
                <a:gd name="T29" fmla="*/ 19877 h 21600"/>
                <a:gd name="T30" fmla="*/ 4186 w 21600"/>
                <a:gd name="T31" fmla="*/ 1523 h 21600"/>
                <a:gd name="T32" fmla="*/ 17547 w 21600"/>
                <a:gd name="T33" fmla="*/ 1523 h 21600"/>
                <a:gd name="T34" fmla="*/ 17547 w 21600"/>
                <a:gd name="T35" fmla="*/ 12744 h 21600"/>
                <a:gd name="T36" fmla="*/ 4186 w 21600"/>
                <a:gd name="T37" fmla="*/ 12744 h 21600"/>
                <a:gd name="T38" fmla="*/ 4186 w 21600"/>
                <a:gd name="T39" fmla="*/ 1523 h 21600"/>
                <a:gd name="T40" fmla="*/ 3318 w 21600"/>
                <a:gd name="T41" fmla="*/ 15549 h 21600"/>
                <a:gd name="T42" fmla="*/ 2917 w 21600"/>
                <a:gd name="T43" fmla="*/ 16110 h 21600"/>
                <a:gd name="T44" fmla="*/ 18727 w 21600"/>
                <a:gd name="T45" fmla="*/ 16110 h 21600"/>
                <a:gd name="T46" fmla="*/ 18327 w 21600"/>
                <a:gd name="T47" fmla="*/ 15549 h 21600"/>
                <a:gd name="T48" fmla="*/ 3318 w 21600"/>
                <a:gd name="T49" fmla="*/ 15549 h 21600"/>
                <a:gd name="T50" fmla="*/ 6213 w 21600"/>
                <a:gd name="T51" fmla="*/ 18314 h 21600"/>
                <a:gd name="T52" fmla="*/ 5946 w 21600"/>
                <a:gd name="T53" fmla="*/ 18875 h 21600"/>
                <a:gd name="T54" fmla="*/ 15766 w 21600"/>
                <a:gd name="T55" fmla="*/ 18875 h 21600"/>
                <a:gd name="T56" fmla="*/ 15499 w 21600"/>
                <a:gd name="T57" fmla="*/ 18314 h 21600"/>
                <a:gd name="T58" fmla="*/ 6213 w 21600"/>
                <a:gd name="T59" fmla="*/ 18314 h 21600"/>
                <a:gd name="T60" fmla="*/ 2828 w 21600"/>
                <a:gd name="T61" fmla="*/ 16471 h 21600"/>
                <a:gd name="T62" fmla="*/ 2405 w 21600"/>
                <a:gd name="T63" fmla="*/ 17072 h 21600"/>
                <a:gd name="T64" fmla="*/ 19284 w 21600"/>
                <a:gd name="T65" fmla="*/ 17072 h 21600"/>
                <a:gd name="T66" fmla="*/ 18839 w 21600"/>
                <a:gd name="T67" fmla="*/ 16471 h 21600"/>
                <a:gd name="T68" fmla="*/ 2828 w 21600"/>
                <a:gd name="T69" fmla="*/ 16471 h 21600"/>
                <a:gd name="T70" fmla="*/ 2316 w 21600"/>
                <a:gd name="T71" fmla="*/ 17352 h 21600"/>
                <a:gd name="T72" fmla="*/ 1871 w 21600"/>
                <a:gd name="T73" fmla="*/ 17953 h 21600"/>
                <a:gd name="T74" fmla="*/ 19863 w 21600"/>
                <a:gd name="T75" fmla="*/ 17953 h 21600"/>
                <a:gd name="T76" fmla="*/ 19395 w 21600"/>
                <a:gd name="T77" fmla="*/ 17352 h 21600"/>
                <a:gd name="T78" fmla="*/ 2316 w 21600"/>
                <a:gd name="T79" fmla="*/ 17352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1600" h="21600">
                  <a:moveTo>
                    <a:pt x="3362" y="0"/>
                  </a:moveTo>
                  <a:lnTo>
                    <a:pt x="18327" y="0"/>
                  </a:lnTo>
                  <a:lnTo>
                    <a:pt x="18327" y="14347"/>
                  </a:lnTo>
                  <a:lnTo>
                    <a:pt x="3362" y="14347"/>
                  </a:lnTo>
                  <a:lnTo>
                    <a:pt x="3362" y="0"/>
                  </a:lnTo>
                  <a:close/>
                </a:path>
                <a:path w="21600" h="21600">
                  <a:moveTo>
                    <a:pt x="3340" y="15068"/>
                  </a:moveTo>
                  <a:lnTo>
                    <a:pt x="0" y="19877"/>
                  </a:lnTo>
                  <a:lnTo>
                    <a:pt x="21600" y="19877"/>
                  </a:lnTo>
                  <a:lnTo>
                    <a:pt x="18327" y="15068"/>
                  </a:lnTo>
                  <a:lnTo>
                    <a:pt x="3340" y="15068"/>
                  </a:lnTo>
                  <a:close/>
                </a:path>
                <a:path w="21600" h="21600">
                  <a:moveTo>
                    <a:pt x="0" y="19877"/>
                  </a:moveTo>
                  <a:lnTo>
                    <a:pt x="0" y="21600"/>
                  </a:lnTo>
                  <a:lnTo>
                    <a:pt x="21600" y="21600"/>
                  </a:lnTo>
                  <a:lnTo>
                    <a:pt x="21600" y="19877"/>
                  </a:lnTo>
                  <a:lnTo>
                    <a:pt x="0" y="19877"/>
                  </a:lnTo>
                  <a:close/>
                </a:path>
                <a:path w="21600" h="21600">
                  <a:moveTo>
                    <a:pt x="4186" y="1523"/>
                  </a:moveTo>
                  <a:lnTo>
                    <a:pt x="17547" y="1523"/>
                  </a:lnTo>
                  <a:lnTo>
                    <a:pt x="17547" y="12744"/>
                  </a:lnTo>
                  <a:lnTo>
                    <a:pt x="4186" y="12744"/>
                  </a:lnTo>
                  <a:lnTo>
                    <a:pt x="4186" y="1523"/>
                  </a:lnTo>
                  <a:close/>
                </a:path>
                <a:path w="21600" h="21600">
                  <a:moveTo>
                    <a:pt x="3318" y="15549"/>
                  </a:moveTo>
                  <a:lnTo>
                    <a:pt x="2917" y="16110"/>
                  </a:lnTo>
                  <a:lnTo>
                    <a:pt x="18727" y="16110"/>
                  </a:lnTo>
                  <a:lnTo>
                    <a:pt x="18327" y="15549"/>
                  </a:lnTo>
                  <a:lnTo>
                    <a:pt x="3318" y="15549"/>
                  </a:lnTo>
                  <a:close/>
                </a:path>
                <a:path w="21600" h="21600">
                  <a:moveTo>
                    <a:pt x="6213" y="18314"/>
                  </a:moveTo>
                  <a:lnTo>
                    <a:pt x="5946" y="18875"/>
                  </a:lnTo>
                  <a:lnTo>
                    <a:pt x="15766" y="18875"/>
                  </a:lnTo>
                  <a:lnTo>
                    <a:pt x="15499" y="18314"/>
                  </a:lnTo>
                  <a:lnTo>
                    <a:pt x="6213" y="18314"/>
                  </a:lnTo>
                  <a:close/>
                </a:path>
                <a:path w="21600" h="21600">
                  <a:moveTo>
                    <a:pt x="2828" y="16471"/>
                  </a:moveTo>
                  <a:lnTo>
                    <a:pt x="2405" y="17072"/>
                  </a:lnTo>
                  <a:lnTo>
                    <a:pt x="19284" y="17072"/>
                  </a:lnTo>
                  <a:lnTo>
                    <a:pt x="18839" y="16471"/>
                  </a:lnTo>
                  <a:lnTo>
                    <a:pt x="2828" y="16471"/>
                  </a:lnTo>
                  <a:close/>
                </a:path>
                <a:path w="21600" h="21600">
                  <a:moveTo>
                    <a:pt x="2316" y="17352"/>
                  </a:moveTo>
                  <a:lnTo>
                    <a:pt x="1871" y="17953"/>
                  </a:lnTo>
                  <a:lnTo>
                    <a:pt x="19863" y="17953"/>
                  </a:lnTo>
                  <a:lnTo>
                    <a:pt x="19395" y="17352"/>
                  </a:lnTo>
                  <a:lnTo>
                    <a:pt x="2316" y="17352"/>
                  </a:lnTo>
                  <a:close/>
                </a:path>
              </a:pathLst>
            </a:custGeom>
            <a:solidFill>
              <a:srgbClr val="C0C0C0"/>
            </a:solidFill>
            <a:ln w="9525">
              <a:solidFill>
                <a:srgbClr val="000000"/>
              </a:solidFill>
              <a:miter lim="800000"/>
              <a:headEnd/>
              <a:tailEnd/>
            </a:ln>
            <a:effectLst>
              <a:outerShdw dist="35921" dir="2700000" algn="ctr" rotWithShape="0">
                <a:schemeClr val="tx1"/>
              </a:outerShdw>
            </a:effectLst>
          </p:spPr>
          <p:txBody>
            <a:bodyPr/>
            <a:lstStyle/>
            <a:p>
              <a:endParaRPr lang="zh-CN" altLang="en-US"/>
            </a:p>
          </p:txBody>
        </p:sp>
        <p:sp>
          <p:nvSpPr>
            <p:cNvPr id="10243" name="文本框 796677">
              <a:extLst>
                <a:ext uri="{FF2B5EF4-FFF2-40B4-BE49-F238E27FC236}">
                  <a16:creationId xmlns:a16="http://schemas.microsoft.com/office/drawing/2014/main" id="{9E59E159-68AA-4B23-88F3-D7E1AAE62309}"/>
                </a:ext>
              </a:extLst>
            </p:cNvPr>
            <p:cNvSpPr txBox="1">
              <a:spLocks noChangeArrowheads="1"/>
            </p:cNvSpPr>
            <p:nvPr/>
          </p:nvSpPr>
          <p:spPr bwMode="auto">
            <a:xfrm>
              <a:off x="4155" y="958"/>
              <a:ext cx="819" cy="31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0800" rIns="0" bIns="10800">
              <a:spAutoFit/>
            </a:bodyPr>
            <a:lstStyle/>
            <a:p>
              <a:pPr>
                <a:lnSpc>
                  <a:spcPct val="110000"/>
                </a:lnSpc>
                <a:spcBef>
                  <a:spcPct val="20000"/>
                </a:spcBef>
                <a:buSzPct val="100000"/>
                <a:buFont typeface="Wingdings" panose="05000000000000000000" pitchFamily="2" charset="2"/>
                <a:buNone/>
              </a:pPr>
              <a:r>
                <a:rPr lang="zh-CN" altLang="en-US" sz="2800" b="1"/>
                <a:t>    计算机</a:t>
              </a:r>
            </a:p>
          </p:txBody>
        </p:sp>
      </p:grpSp>
      <p:grpSp>
        <p:nvGrpSpPr>
          <p:cNvPr id="10244" name="组合 796678">
            <a:extLst>
              <a:ext uri="{FF2B5EF4-FFF2-40B4-BE49-F238E27FC236}">
                <a16:creationId xmlns:a16="http://schemas.microsoft.com/office/drawing/2014/main" id="{29B545C1-702B-495E-A0FD-BDEE2A731275}"/>
              </a:ext>
            </a:extLst>
          </p:cNvPr>
          <p:cNvGrpSpPr>
            <a:grpSpLocks/>
          </p:cNvGrpSpPr>
          <p:nvPr/>
        </p:nvGrpSpPr>
        <p:grpSpPr bwMode="auto">
          <a:xfrm>
            <a:off x="971550" y="1484313"/>
            <a:ext cx="1512888" cy="2001837"/>
            <a:chOff x="823" y="944"/>
            <a:chExt cx="882" cy="1261"/>
          </a:xfrm>
        </p:grpSpPr>
        <p:sp>
          <p:nvSpPr>
            <p:cNvPr id="10245" name="文本框 796679">
              <a:extLst>
                <a:ext uri="{FF2B5EF4-FFF2-40B4-BE49-F238E27FC236}">
                  <a16:creationId xmlns:a16="http://schemas.microsoft.com/office/drawing/2014/main" id="{ACBAD593-F741-4DE8-9097-038F75CE71C2}"/>
                </a:ext>
              </a:extLst>
            </p:cNvPr>
            <p:cNvSpPr txBox="1">
              <a:spLocks noChangeArrowheads="1"/>
            </p:cNvSpPr>
            <p:nvPr/>
          </p:nvSpPr>
          <p:spPr bwMode="auto">
            <a:xfrm>
              <a:off x="823" y="944"/>
              <a:ext cx="882" cy="31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0800" rIns="0" bIns="10800">
              <a:spAutoFit/>
            </a:bodyPr>
            <a:lstStyle/>
            <a:p>
              <a:pPr>
                <a:lnSpc>
                  <a:spcPct val="110000"/>
                </a:lnSpc>
                <a:spcBef>
                  <a:spcPct val="20000"/>
                </a:spcBef>
                <a:buSzPct val="100000"/>
                <a:buFont typeface="Wingdings" panose="05000000000000000000" pitchFamily="2" charset="2"/>
                <a:buNone/>
              </a:pPr>
              <a:r>
                <a:rPr lang="zh-CN" altLang="en-US" sz="2800" b="1"/>
                <a:t>现实世界</a:t>
              </a:r>
            </a:p>
          </p:txBody>
        </p:sp>
        <p:sp>
          <p:nvSpPr>
            <p:cNvPr id="796681" name="Documents">
              <a:extLst>
                <a:ext uri="{FF2B5EF4-FFF2-40B4-BE49-F238E27FC236}">
                  <a16:creationId xmlns:a16="http://schemas.microsoft.com/office/drawing/2014/main" id="{FBD8DAD6-7CBD-441D-AF68-9F61311C4E59}"/>
                </a:ext>
              </a:extLst>
            </p:cNvPr>
            <p:cNvSpPr>
              <a:spLocks noEditPoints="1"/>
            </p:cNvSpPr>
            <p:nvPr/>
          </p:nvSpPr>
          <p:spPr>
            <a:xfrm>
              <a:off x="884" y="1344"/>
              <a:ext cx="771" cy="861"/>
            </a:xfrm>
            <a:custGeom>
              <a:avLst/>
              <a:gdLst>
                <a:gd name="txL" fmla="*/ 1645 w 21600"/>
                <a:gd name="txT" fmla="*/ 4171 h 21600"/>
                <a:gd name="txR" fmla="*/ 16522 w 21600"/>
                <a:gd name="txB" fmla="*/ 17314 h 21600"/>
              </a:gdLst>
              <a:ahLst/>
              <a:cxnLst>
                <a:cxn ang="0">
                  <a:pos x="0" y="2800"/>
                </a:cxn>
                <a:cxn ang="0">
                  <a:pos x="3468" y="0"/>
                </a:cxn>
                <a:cxn ang="0">
                  <a:pos x="21653" y="18828"/>
                </a:cxn>
                <a:cxn ang="0">
                  <a:pos x="19954" y="20214"/>
                </a:cxn>
                <a:cxn ang="0">
                  <a:pos x="18256" y="21628"/>
                </a:cxn>
                <a:cxn ang="0">
                  <a:pos x="19954" y="1428"/>
                </a:cxn>
                <a:cxn ang="0">
                  <a:pos x="18256" y="2800"/>
                </a:cxn>
                <a:cxn ang="0">
                  <a:pos x="1645" y="1428"/>
                </a:cxn>
                <a:cxn ang="0">
                  <a:pos x="21600" y="0"/>
                </a:cxn>
                <a:cxn ang="0">
                  <a:pos x="10800" y="0"/>
                </a:cxn>
                <a:cxn ang="0">
                  <a:pos x="0" y="10800"/>
                </a:cxn>
                <a:cxn ang="0">
                  <a:pos x="21600" y="10800"/>
                </a:cxn>
              </a:cxnLst>
              <a:rect l="txL" t="txT" r="txR" b="txB"/>
              <a:pathLst>
                <a:path w="21600" h="2160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a:moveTo>
                    <a:pt x="3486" y="1428"/>
                  </a:moveTo>
                  <a:lnTo>
                    <a:pt x="19954" y="1428"/>
                  </a:lnTo>
                  <a:lnTo>
                    <a:pt x="19954" y="20214"/>
                  </a:lnTo>
                  <a:lnTo>
                    <a:pt x="18256" y="20214"/>
                  </a:lnTo>
                  <a:lnTo>
                    <a:pt x="18256" y="2800"/>
                  </a:lnTo>
                  <a:lnTo>
                    <a:pt x="1645" y="2800"/>
                  </a:lnTo>
                  <a:lnTo>
                    <a:pt x="1645" y="1428"/>
                  </a:lnTo>
                  <a:lnTo>
                    <a:pt x="3486" y="1428"/>
                  </a:lnTo>
                  <a:close/>
                </a:path>
                <a:path w="21600" h="21600">
                  <a:moveTo>
                    <a:pt x="0" y="18014"/>
                  </a:moveTo>
                  <a:lnTo>
                    <a:pt x="4434" y="18000"/>
                  </a:lnTo>
                  <a:lnTo>
                    <a:pt x="4434" y="21600"/>
                  </a:lnTo>
                  <a:lnTo>
                    <a:pt x="0" y="18014"/>
                  </a:lnTo>
                  <a:close/>
                </a:path>
              </a:pathLst>
            </a:custGeom>
            <a:solidFill>
              <a:srgbClr val="D8EBB3"/>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lstStyle/>
            <a:p>
              <a:pPr algn="ctr">
                <a:lnSpc>
                  <a:spcPct val="110000"/>
                </a:lnSpc>
                <a:spcBef>
                  <a:spcPct val="20000"/>
                </a:spcBef>
                <a:buSzPct val="100000"/>
                <a:buFont typeface="Wingdings" panose="05000000000000000000" pitchFamily="2" charset="2"/>
                <a:buNone/>
              </a:pPr>
              <a:r>
                <a:rPr lang="zh-CN" altLang="en-US" sz="2400" b="1" noProof="1">
                  <a:effectLst>
                    <a:outerShdw blurRad="38100" dist="38100" dir="2700000">
                      <a:srgbClr val="FFFFFF"/>
                    </a:outerShdw>
                  </a:effectLst>
                </a:rPr>
                <a:t>信息</a:t>
              </a:r>
            </a:p>
          </p:txBody>
        </p:sp>
      </p:grpSp>
      <p:sp>
        <p:nvSpPr>
          <p:cNvPr id="796682" name="矩形 796681">
            <a:extLst>
              <a:ext uri="{FF2B5EF4-FFF2-40B4-BE49-F238E27FC236}">
                <a16:creationId xmlns:a16="http://schemas.microsoft.com/office/drawing/2014/main" id="{1A3E1CC9-4648-4D4C-BDF0-291F4FB6448E}"/>
              </a:ext>
            </a:extLst>
          </p:cNvPr>
          <p:cNvSpPr/>
          <p:nvPr/>
        </p:nvSpPr>
        <p:spPr>
          <a:xfrm>
            <a:off x="1150938" y="214313"/>
            <a:ext cx="7793037" cy="622300"/>
          </a:xfrm>
          <a:prstGeom prst="rect">
            <a:avLst/>
          </a:prstGeom>
          <a:noFill/>
          <a:ln w="9525">
            <a:noFill/>
          </a:ln>
          <a:effectLst>
            <a:outerShdw dist="17961" dir="2699999" algn="ctr" rotWithShape="0">
              <a:schemeClr val="tx1">
                <a:alpha val="50000"/>
              </a:schemeClr>
            </a:outerShdw>
          </a:effectLst>
        </p:spPr>
        <p:txBody>
          <a:bodyPr anchor="ctr"/>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t>一、现实世界的数据描述</a:t>
            </a:r>
          </a:p>
        </p:txBody>
      </p:sp>
      <p:sp>
        <p:nvSpPr>
          <p:cNvPr id="796702" name="圆角矩形标注 796701">
            <a:extLst>
              <a:ext uri="{FF2B5EF4-FFF2-40B4-BE49-F238E27FC236}">
                <a16:creationId xmlns:a16="http://schemas.microsoft.com/office/drawing/2014/main" id="{A73A84D4-760E-44C2-A491-457D1838BD5C}"/>
              </a:ext>
            </a:extLst>
          </p:cNvPr>
          <p:cNvSpPr>
            <a:spLocks noChangeArrowheads="1"/>
          </p:cNvSpPr>
          <p:nvPr/>
        </p:nvSpPr>
        <p:spPr bwMode="auto">
          <a:xfrm>
            <a:off x="2339975" y="4005263"/>
            <a:ext cx="3816350" cy="1511300"/>
          </a:xfrm>
          <a:prstGeom prst="wedgeRoundRectCallout">
            <a:avLst>
              <a:gd name="adj1" fmla="val 59815"/>
              <a:gd name="adj2" fmla="val -114074"/>
              <a:gd name="adj3" fmla="val 16667"/>
            </a:avLst>
          </a:prstGeom>
          <a:solidFill>
            <a:srgbClr val="16EAC7"/>
          </a:solidFill>
          <a:ln w="9525">
            <a:solidFill>
              <a:schemeClr val="tx1"/>
            </a:solidFill>
            <a:miter lim="800000"/>
            <a:headEnd/>
            <a:tailEnd/>
          </a:ln>
        </p:spPr>
        <p:txBody>
          <a:bodyPr/>
          <a:lstStyle/>
          <a:p>
            <a:r>
              <a:rPr lang="zh-CN" altLang="en-US" sz="2800" b="1">
                <a:latin typeface="Tahoma" panose="020B0604030504040204" pitchFamily="34" charset="0"/>
                <a:ea typeface="隶书" panose="02010509060101010101" pitchFamily="49" charset="-122"/>
              </a:rPr>
              <a:t>对数据和信息的处理是在</a:t>
            </a:r>
            <a:r>
              <a:rPr lang="zh-CN" altLang="en-US" sz="2800" b="1">
                <a:solidFill>
                  <a:srgbClr val="800080"/>
                </a:solidFill>
                <a:latin typeface="Tahoma" panose="020B0604030504040204" pitchFamily="34" charset="0"/>
                <a:ea typeface="隶书" panose="02010509060101010101" pitchFamily="49" charset="-122"/>
              </a:rPr>
              <a:t>计算机世界</a:t>
            </a:r>
            <a:r>
              <a:rPr lang="en-US" altLang="zh-CN" sz="2800" b="1">
                <a:solidFill>
                  <a:srgbClr val="800080"/>
                </a:solidFill>
                <a:latin typeface="Times New Roman" panose="02020603050405020304" pitchFamily="18" charset="0"/>
                <a:ea typeface="隶书" panose="02010509060101010101" pitchFamily="49" charset="-122"/>
              </a:rPr>
              <a:t>——</a:t>
            </a:r>
            <a:r>
              <a:rPr lang="zh-CN" altLang="en-US" sz="2800" b="1">
                <a:solidFill>
                  <a:srgbClr val="800080"/>
                </a:solidFill>
                <a:latin typeface="Tahoma" panose="020B0604030504040204" pitchFamily="34" charset="0"/>
                <a:ea typeface="隶书" panose="02010509060101010101" pitchFamily="49" charset="-122"/>
              </a:rPr>
              <a:t>数据世界</a:t>
            </a:r>
            <a:r>
              <a:rPr lang="zh-CN" altLang="en-US" sz="2800" b="1">
                <a:latin typeface="Tahoma" panose="020B0604030504040204" pitchFamily="34" charset="0"/>
                <a:ea typeface="隶书" panose="02010509060101010101" pitchFamily="49" charset="-122"/>
              </a:rPr>
              <a:t>完成的。</a:t>
            </a:r>
            <a:endParaRPr lang="zh-CN" altLang="en-US" sz="2600" b="1">
              <a:latin typeface="Tahoma" panose="020B0604030504040204" pitchFamily="34" charset="0"/>
              <a:ea typeface="隶书" panose="020105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20027"/>
    </mc:Choice>
    <mc:Fallback xmlns="">
      <p:transition spd="slow" advTm="20027"/>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796702"/>
                                        </p:tgtEl>
                                        <p:attrNameLst>
                                          <p:attrName>style.visibility</p:attrName>
                                        </p:attrNameLst>
                                      </p:cBhvr>
                                      <p:to>
                                        <p:strVal val="visible"/>
                                      </p:to>
                                    </p:set>
                                    <p:animEffect transition="in" filter="box(in)">
                                      <p:cBhvr>
                                        <p:cTn id="7" dur="500"/>
                                        <p:tgtEl>
                                          <p:spTgt spid="7967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670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65" name="组合 800771">
            <a:extLst>
              <a:ext uri="{FF2B5EF4-FFF2-40B4-BE49-F238E27FC236}">
                <a16:creationId xmlns:a16="http://schemas.microsoft.com/office/drawing/2014/main" id="{A72B2C6A-B486-4028-8E87-8432F2A2AA47}"/>
              </a:ext>
            </a:extLst>
          </p:cNvPr>
          <p:cNvGrpSpPr>
            <a:grpSpLocks/>
          </p:cNvGrpSpPr>
          <p:nvPr/>
        </p:nvGrpSpPr>
        <p:grpSpPr bwMode="auto">
          <a:xfrm>
            <a:off x="6300788" y="1722438"/>
            <a:ext cx="2447925" cy="2052637"/>
            <a:chOff x="4144" y="958"/>
            <a:chExt cx="1140" cy="1293"/>
          </a:xfrm>
        </p:grpSpPr>
        <p:sp>
          <p:nvSpPr>
            <p:cNvPr id="11266" name="laptop">
              <a:extLst>
                <a:ext uri="{FF2B5EF4-FFF2-40B4-BE49-F238E27FC236}">
                  <a16:creationId xmlns:a16="http://schemas.microsoft.com/office/drawing/2014/main" id="{70A2813D-8BD6-4437-BAF4-29F680B29A70}"/>
                </a:ext>
              </a:extLst>
            </p:cNvPr>
            <p:cNvSpPr>
              <a:spLocks noEditPoints="1" noChangeArrowheads="1"/>
            </p:cNvSpPr>
            <p:nvPr/>
          </p:nvSpPr>
          <p:spPr bwMode="auto">
            <a:xfrm>
              <a:off x="4144" y="1393"/>
              <a:ext cx="1140" cy="858"/>
            </a:xfrm>
            <a:custGeom>
              <a:avLst/>
              <a:gdLst>
                <a:gd name="T0" fmla="*/ 3362 w 21600"/>
                <a:gd name="T1" fmla="*/ 0 h 21600"/>
                <a:gd name="T2" fmla="*/ 18327 w 21600"/>
                <a:gd name="T3" fmla="*/ 0 h 21600"/>
                <a:gd name="T4" fmla="*/ 18327 w 21600"/>
                <a:gd name="T5" fmla="*/ 14347 h 21600"/>
                <a:gd name="T6" fmla="*/ 3362 w 21600"/>
                <a:gd name="T7" fmla="*/ 14347 h 21600"/>
                <a:gd name="T8" fmla="*/ 3362 w 21600"/>
                <a:gd name="T9" fmla="*/ 0 h 21600"/>
                <a:gd name="T10" fmla="*/ 3340 w 21600"/>
                <a:gd name="T11" fmla="*/ 15068 h 21600"/>
                <a:gd name="T12" fmla="*/ 0 w 21600"/>
                <a:gd name="T13" fmla="*/ 19877 h 21600"/>
                <a:gd name="T14" fmla="*/ 21600 w 21600"/>
                <a:gd name="T15" fmla="*/ 19877 h 21600"/>
                <a:gd name="T16" fmla="*/ 18327 w 21600"/>
                <a:gd name="T17" fmla="*/ 15068 h 21600"/>
                <a:gd name="T18" fmla="*/ 3340 w 21600"/>
                <a:gd name="T19" fmla="*/ 15068 h 21600"/>
                <a:gd name="T20" fmla="*/ 0 w 21600"/>
                <a:gd name="T21" fmla="*/ 19877 h 21600"/>
                <a:gd name="T22" fmla="*/ 0 w 21600"/>
                <a:gd name="T23" fmla="*/ 21600 h 21600"/>
                <a:gd name="T24" fmla="*/ 21600 w 21600"/>
                <a:gd name="T25" fmla="*/ 21600 h 21600"/>
                <a:gd name="T26" fmla="*/ 21600 w 21600"/>
                <a:gd name="T27" fmla="*/ 19877 h 21600"/>
                <a:gd name="T28" fmla="*/ 0 w 21600"/>
                <a:gd name="T29" fmla="*/ 19877 h 21600"/>
                <a:gd name="T30" fmla="*/ 4186 w 21600"/>
                <a:gd name="T31" fmla="*/ 1523 h 21600"/>
                <a:gd name="T32" fmla="*/ 17547 w 21600"/>
                <a:gd name="T33" fmla="*/ 1523 h 21600"/>
                <a:gd name="T34" fmla="*/ 17547 w 21600"/>
                <a:gd name="T35" fmla="*/ 12744 h 21600"/>
                <a:gd name="T36" fmla="*/ 4186 w 21600"/>
                <a:gd name="T37" fmla="*/ 12744 h 21600"/>
                <a:gd name="T38" fmla="*/ 4186 w 21600"/>
                <a:gd name="T39" fmla="*/ 1523 h 21600"/>
                <a:gd name="T40" fmla="*/ 3318 w 21600"/>
                <a:gd name="T41" fmla="*/ 15549 h 21600"/>
                <a:gd name="T42" fmla="*/ 2917 w 21600"/>
                <a:gd name="T43" fmla="*/ 16110 h 21600"/>
                <a:gd name="T44" fmla="*/ 18727 w 21600"/>
                <a:gd name="T45" fmla="*/ 16110 h 21600"/>
                <a:gd name="T46" fmla="*/ 18327 w 21600"/>
                <a:gd name="T47" fmla="*/ 15549 h 21600"/>
                <a:gd name="T48" fmla="*/ 3318 w 21600"/>
                <a:gd name="T49" fmla="*/ 15549 h 21600"/>
                <a:gd name="T50" fmla="*/ 6213 w 21600"/>
                <a:gd name="T51" fmla="*/ 18314 h 21600"/>
                <a:gd name="T52" fmla="*/ 5946 w 21600"/>
                <a:gd name="T53" fmla="*/ 18875 h 21600"/>
                <a:gd name="T54" fmla="*/ 15766 w 21600"/>
                <a:gd name="T55" fmla="*/ 18875 h 21600"/>
                <a:gd name="T56" fmla="*/ 15499 w 21600"/>
                <a:gd name="T57" fmla="*/ 18314 h 21600"/>
                <a:gd name="T58" fmla="*/ 6213 w 21600"/>
                <a:gd name="T59" fmla="*/ 18314 h 21600"/>
                <a:gd name="T60" fmla="*/ 2828 w 21600"/>
                <a:gd name="T61" fmla="*/ 16471 h 21600"/>
                <a:gd name="T62" fmla="*/ 2405 w 21600"/>
                <a:gd name="T63" fmla="*/ 17072 h 21600"/>
                <a:gd name="T64" fmla="*/ 19284 w 21600"/>
                <a:gd name="T65" fmla="*/ 17072 h 21600"/>
                <a:gd name="T66" fmla="*/ 18839 w 21600"/>
                <a:gd name="T67" fmla="*/ 16471 h 21600"/>
                <a:gd name="T68" fmla="*/ 2828 w 21600"/>
                <a:gd name="T69" fmla="*/ 16471 h 21600"/>
                <a:gd name="T70" fmla="*/ 2316 w 21600"/>
                <a:gd name="T71" fmla="*/ 17352 h 21600"/>
                <a:gd name="T72" fmla="*/ 1871 w 21600"/>
                <a:gd name="T73" fmla="*/ 17953 h 21600"/>
                <a:gd name="T74" fmla="*/ 19863 w 21600"/>
                <a:gd name="T75" fmla="*/ 17953 h 21600"/>
                <a:gd name="T76" fmla="*/ 19395 w 21600"/>
                <a:gd name="T77" fmla="*/ 17352 h 21600"/>
                <a:gd name="T78" fmla="*/ 2316 w 21600"/>
                <a:gd name="T79" fmla="*/ 17352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1600" h="21600">
                  <a:moveTo>
                    <a:pt x="3362" y="0"/>
                  </a:moveTo>
                  <a:lnTo>
                    <a:pt x="18327" y="0"/>
                  </a:lnTo>
                  <a:lnTo>
                    <a:pt x="18327" y="14347"/>
                  </a:lnTo>
                  <a:lnTo>
                    <a:pt x="3362" y="14347"/>
                  </a:lnTo>
                  <a:lnTo>
                    <a:pt x="3362" y="0"/>
                  </a:lnTo>
                  <a:close/>
                </a:path>
                <a:path w="21600" h="21600">
                  <a:moveTo>
                    <a:pt x="3340" y="15068"/>
                  </a:moveTo>
                  <a:lnTo>
                    <a:pt x="0" y="19877"/>
                  </a:lnTo>
                  <a:lnTo>
                    <a:pt x="21600" y="19877"/>
                  </a:lnTo>
                  <a:lnTo>
                    <a:pt x="18327" y="15068"/>
                  </a:lnTo>
                  <a:lnTo>
                    <a:pt x="3340" y="15068"/>
                  </a:lnTo>
                  <a:close/>
                </a:path>
                <a:path w="21600" h="21600">
                  <a:moveTo>
                    <a:pt x="0" y="19877"/>
                  </a:moveTo>
                  <a:lnTo>
                    <a:pt x="0" y="21600"/>
                  </a:lnTo>
                  <a:lnTo>
                    <a:pt x="21600" y="21600"/>
                  </a:lnTo>
                  <a:lnTo>
                    <a:pt x="21600" y="19877"/>
                  </a:lnTo>
                  <a:lnTo>
                    <a:pt x="0" y="19877"/>
                  </a:lnTo>
                  <a:close/>
                </a:path>
                <a:path w="21600" h="21600">
                  <a:moveTo>
                    <a:pt x="4186" y="1523"/>
                  </a:moveTo>
                  <a:lnTo>
                    <a:pt x="17547" y="1523"/>
                  </a:lnTo>
                  <a:lnTo>
                    <a:pt x="17547" y="12744"/>
                  </a:lnTo>
                  <a:lnTo>
                    <a:pt x="4186" y="12744"/>
                  </a:lnTo>
                  <a:lnTo>
                    <a:pt x="4186" y="1523"/>
                  </a:lnTo>
                  <a:close/>
                </a:path>
                <a:path w="21600" h="21600">
                  <a:moveTo>
                    <a:pt x="3318" y="15549"/>
                  </a:moveTo>
                  <a:lnTo>
                    <a:pt x="2917" y="16110"/>
                  </a:lnTo>
                  <a:lnTo>
                    <a:pt x="18727" y="16110"/>
                  </a:lnTo>
                  <a:lnTo>
                    <a:pt x="18327" y="15549"/>
                  </a:lnTo>
                  <a:lnTo>
                    <a:pt x="3318" y="15549"/>
                  </a:lnTo>
                  <a:close/>
                </a:path>
                <a:path w="21600" h="21600">
                  <a:moveTo>
                    <a:pt x="6213" y="18314"/>
                  </a:moveTo>
                  <a:lnTo>
                    <a:pt x="5946" y="18875"/>
                  </a:lnTo>
                  <a:lnTo>
                    <a:pt x="15766" y="18875"/>
                  </a:lnTo>
                  <a:lnTo>
                    <a:pt x="15499" y="18314"/>
                  </a:lnTo>
                  <a:lnTo>
                    <a:pt x="6213" y="18314"/>
                  </a:lnTo>
                  <a:close/>
                </a:path>
                <a:path w="21600" h="21600">
                  <a:moveTo>
                    <a:pt x="2828" y="16471"/>
                  </a:moveTo>
                  <a:lnTo>
                    <a:pt x="2405" y="17072"/>
                  </a:lnTo>
                  <a:lnTo>
                    <a:pt x="19284" y="17072"/>
                  </a:lnTo>
                  <a:lnTo>
                    <a:pt x="18839" y="16471"/>
                  </a:lnTo>
                  <a:lnTo>
                    <a:pt x="2828" y="16471"/>
                  </a:lnTo>
                  <a:close/>
                </a:path>
                <a:path w="21600" h="21600">
                  <a:moveTo>
                    <a:pt x="2316" y="17352"/>
                  </a:moveTo>
                  <a:lnTo>
                    <a:pt x="1871" y="17953"/>
                  </a:lnTo>
                  <a:lnTo>
                    <a:pt x="19863" y="17953"/>
                  </a:lnTo>
                  <a:lnTo>
                    <a:pt x="19395" y="17352"/>
                  </a:lnTo>
                  <a:lnTo>
                    <a:pt x="2316" y="17352"/>
                  </a:lnTo>
                  <a:close/>
                </a:path>
              </a:pathLst>
            </a:custGeom>
            <a:solidFill>
              <a:srgbClr val="C0C0C0"/>
            </a:solidFill>
            <a:ln w="9525">
              <a:solidFill>
                <a:srgbClr val="000000"/>
              </a:solidFill>
              <a:miter lim="800000"/>
              <a:headEnd/>
              <a:tailEnd/>
            </a:ln>
            <a:effectLst>
              <a:outerShdw dist="35921" dir="2700000" algn="ctr" rotWithShape="0">
                <a:schemeClr val="tx1"/>
              </a:outerShdw>
            </a:effectLst>
          </p:spPr>
          <p:txBody>
            <a:bodyPr/>
            <a:lstStyle/>
            <a:p>
              <a:endParaRPr lang="zh-CN" altLang="en-US"/>
            </a:p>
          </p:txBody>
        </p:sp>
        <p:sp>
          <p:nvSpPr>
            <p:cNvPr id="11267" name="文本框 800773">
              <a:extLst>
                <a:ext uri="{FF2B5EF4-FFF2-40B4-BE49-F238E27FC236}">
                  <a16:creationId xmlns:a16="http://schemas.microsoft.com/office/drawing/2014/main" id="{B375E918-FE32-4DB9-BF96-125980F265AE}"/>
                </a:ext>
              </a:extLst>
            </p:cNvPr>
            <p:cNvSpPr txBox="1">
              <a:spLocks noChangeArrowheads="1"/>
            </p:cNvSpPr>
            <p:nvPr/>
          </p:nvSpPr>
          <p:spPr bwMode="auto">
            <a:xfrm>
              <a:off x="4155" y="958"/>
              <a:ext cx="703" cy="31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0800" rIns="0" bIns="10800">
              <a:spAutoFit/>
            </a:bodyPr>
            <a:lstStyle/>
            <a:p>
              <a:pPr>
                <a:lnSpc>
                  <a:spcPct val="110000"/>
                </a:lnSpc>
                <a:spcBef>
                  <a:spcPct val="20000"/>
                </a:spcBef>
                <a:buSzPct val="100000"/>
                <a:buFont typeface="Wingdings" panose="05000000000000000000" pitchFamily="2" charset="2"/>
                <a:buNone/>
              </a:pPr>
              <a:r>
                <a:rPr lang="zh-CN" altLang="en-US" sz="2800" b="1"/>
                <a:t>    计算机</a:t>
              </a:r>
            </a:p>
          </p:txBody>
        </p:sp>
      </p:grpSp>
      <p:grpSp>
        <p:nvGrpSpPr>
          <p:cNvPr id="11268" name="组合 800774">
            <a:extLst>
              <a:ext uri="{FF2B5EF4-FFF2-40B4-BE49-F238E27FC236}">
                <a16:creationId xmlns:a16="http://schemas.microsoft.com/office/drawing/2014/main" id="{2114BE56-B7BE-4D5A-B6D9-A06000ABF378}"/>
              </a:ext>
            </a:extLst>
          </p:cNvPr>
          <p:cNvGrpSpPr>
            <a:grpSpLocks/>
          </p:cNvGrpSpPr>
          <p:nvPr/>
        </p:nvGrpSpPr>
        <p:grpSpPr bwMode="auto">
          <a:xfrm>
            <a:off x="1187450" y="1700213"/>
            <a:ext cx="1584325" cy="2001837"/>
            <a:chOff x="823" y="944"/>
            <a:chExt cx="840" cy="1261"/>
          </a:xfrm>
        </p:grpSpPr>
        <p:sp>
          <p:nvSpPr>
            <p:cNvPr id="11269" name="文本框 800775">
              <a:extLst>
                <a:ext uri="{FF2B5EF4-FFF2-40B4-BE49-F238E27FC236}">
                  <a16:creationId xmlns:a16="http://schemas.microsoft.com/office/drawing/2014/main" id="{664C11E2-E2C1-4C2A-A7BF-52C5B0358FC2}"/>
                </a:ext>
              </a:extLst>
            </p:cNvPr>
            <p:cNvSpPr txBox="1">
              <a:spLocks noChangeArrowheads="1"/>
            </p:cNvSpPr>
            <p:nvPr/>
          </p:nvSpPr>
          <p:spPr bwMode="auto">
            <a:xfrm>
              <a:off x="823" y="944"/>
              <a:ext cx="840" cy="31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0800" rIns="0" bIns="10800">
              <a:spAutoFit/>
            </a:bodyPr>
            <a:lstStyle/>
            <a:p>
              <a:pPr>
                <a:lnSpc>
                  <a:spcPct val="110000"/>
                </a:lnSpc>
                <a:spcBef>
                  <a:spcPct val="20000"/>
                </a:spcBef>
                <a:buSzPct val="100000"/>
                <a:buFont typeface="Wingdings" panose="05000000000000000000" pitchFamily="2" charset="2"/>
                <a:buNone/>
              </a:pPr>
              <a:r>
                <a:rPr lang="zh-CN" altLang="en-US" sz="2800" b="1"/>
                <a:t>现实世界</a:t>
              </a:r>
            </a:p>
          </p:txBody>
        </p:sp>
        <p:sp>
          <p:nvSpPr>
            <p:cNvPr id="800777" name="Documents">
              <a:extLst>
                <a:ext uri="{FF2B5EF4-FFF2-40B4-BE49-F238E27FC236}">
                  <a16:creationId xmlns:a16="http://schemas.microsoft.com/office/drawing/2014/main" id="{AF239A2D-F00D-4F0E-B0A1-88A3581E8FEC}"/>
                </a:ext>
              </a:extLst>
            </p:cNvPr>
            <p:cNvSpPr>
              <a:spLocks noEditPoints="1"/>
            </p:cNvSpPr>
            <p:nvPr/>
          </p:nvSpPr>
          <p:spPr>
            <a:xfrm>
              <a:off x="884" y="1344"/>
              <a:ext cx="771" cy="861"/>
            </a:xfrm>
            <a:custGeom>
              <a:avLst/>
              <a:gdLst>
                <a:gd name="txL" fmla="*/ 1645 w 21600"/>
                <a:gd name="txT" fmla="*/ 4171 h 21600"/>
                <a:gd name="txR" fmla="*/ 16522 w 21600"/>
                <a:gd name="txB" fmla="*/ 17314 h 21600"/>
              </a:gdLst>
              <a:ahLst/>
              <a:cxnLst>
                <a:cxn ang="0">
                  <a:pos x="0" y="2800"/>
                </a:cxn>
                <a:cxn ang="0">
                  <a:pos x="3468" y="0"/>
                </a:cxn>
                <a:cxn ang="0">
                  <a:pos x="21653" y="18828"/>
                </a:cxn>
                <a:cxn ang="0">
                  <a:pos x="19954" y="20214"/>
                </a:cxn>
                <a:cxn ang="0">
                  <a:pos x="18256" y="21628"/>
                </a:cxn>
                <a:cxn ang="0">
                  <a:pos x="19954" y="1428"/>
                </a:cxn>
                <a:cxn ang="0">
                  <a:pos x="18256" y="2800"/>
                </a:cxn>
                <a:cxn ang="0">
                  <a:pos x="1645" y="1428"/>
                </a:cxn>
                <a:cxn ang="0">
                  <a:pos x="21600" y="0"/>
                </a:cxn>
                <a:cxn ang="0">
                  <a:pos x="10800" y="0"/>
                </a:cxn>
                <a:cxn ang="0">
                  <a:pos x="0" y="10800"/>
                </a:cxn>
                <a:cxn ang="0">
                  <a:pos x="21600" y="10800"/>
                </a:cxn>
              </a:cxnLst>
              <a:rect l="txL" t="txT" r="txR" b="txB"/>
              <a:pathLst>
                <a:path w="21600" h="2160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a:moveTo>
                    <a:pt x="3486" y="1428"/>
                  </a:moveTo>
                  <a:lnTo>
                    <a:pt x="19954" y="1428"/>
                  </a:lnTo>
                  <a:lnTo>
                    <a:pt x="19954" y="20214"/>
                  </a:lnTo>
                  <a:lnTo>
                    <a:pt x="18256" y="20214"/>
                  </a:lnTo>
                  <a:lnTo>
                    <a:pt x="18256" y="2800"/>
                  </a:lnTo>
                  <a:lnTo>
                    <a:pt x="1645" y="2800"/>
                  </a:lnTo>
                  <a:lnTo>
                    <a:pt x="1645" y="1428"/>
                  </a:lnTo>
                  <a:lnTo>
                    <a:pt x="3486" y="1428"/>
                  </a:lnTo>
                  <a:close/>
                </a:path>
                <a:path w="21600" h="21600">
                  <a:moveTo>
                    <a:pt x="0" y="18014"/>
                  </a:moveTo>
                  <a:lnTo>
                    <a:pt x="4434" y="18000"/>
                  </a:lnTo>
                  <a:lnTo>
                    <a:pt x="4434" y="21600"/>
                  </a:lnTo>
                  <a:lnTo>
                    <a:pt x="0" y="18014"/>
                  </a:lnTo>
                  <a:close/>
                </a:path>
              </a:pathLst>
            </a:custGeom>
            <a:solidFill>
              <a:srgbClr val="D8EBB3"/>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lstStyle/>
            <a:p>
              <a:pPr algn="ctr">
                <a:lnSpc>
                  <a:spcPct val="110000"/>
                </a:lnSpc>
                <a:spcBef>
                  <a:spcPct val="20000"/>
                </a:spcBef>
                <a:buSzPct val="100000"/>
                <a:buFont typeface="Wingdings" panose="05000000000000000000" pitchFamily="2" charset="2"/>
                <a:buNone/>
              </a:pPr>
              <a:r>
                <a:rPr lang="zh-CN" altLang="en-US" sz="2400" b="1" noProof="1">
                  <a:effectLst>
                    <a:outerShdw blurRad="38100" dist="38100" dir="2700000">
                      <a:srgbClr val="FFFFFF"/>
                    </a:outerShdw>
                  </a:effectLst>
                </a:rPr>
                <a:t>信息</a:t>
              </a:r>
            </a:p>
          </p:txBody>
        </p:sp>
      </p:grpSp>
      <p:grpSp>
        <p:nvGrpSpPr>
          <p:cNvPr id="11271" name="组合 800778">
            <a:extLst>
              <a:ext uri="{FF2B5EF4-FFF2-40B4-BE49-F238E27FC236}">
                <a16:creationId xmlns:a16="http://schemas.microsoft.com/office/drawing/2014/main" id="{C9DB5CA6-2938-4D10-8FC5-80AE54FECB08}"/>
              </a:ext>
            </a:extLst>
          </p:cNvPr>
          <p:cNvGrpSpPr>
            <a:grpSpLocks/>
          </p:cNvGrpSpPr>
          <p:nvPr/>
        </p:nvGrpSpPr>
        <p:grpSpPr bwMode="auto">
          <a:xfrm>
            <a:off x="3624263" y="2478088"/>
            <a:ext cx="2232025" cy="863600"/>
            <a:chOff x="2381" y="1480"/>
            <a:chExt cx="1406" cy="544"/>
          </a:xfrm>
        </p:grpSpPr>
        <p:sp>
          <p:nvSpPr>
            <p:cNvPr id="11272" name="右箭头 800779">
              <a:extLst>
                <a:ext uri="{FF2B5EF4-FFF2-40B4-BE49-F238E27FC236}">
                  <a16:creationId xmlns:a16="http://schemas.microsoft.com/office/drawing/2014/main" id="{CA2CCF31-85CB-4ED2-80BD-270B4C2A18E5}"/>
                </a:ext>
              </a:extLst>
            </p:cNvPr>
            <p:cNvSpPr>
              <a:spLocks noChangeArrowheads="1"/>
            </p:cNvSpPr>
            <p:nvPr/>
          </p:nvSpPr>
          <p:spPr bwMode="auto">
            <a:xfrm>
              <a:off x="2381" y="1661"/>
              <a:ext cx="1406" cy="227"/>
            </a:xfrm>
            <a:prstGeom prst="rightArrow">
              <a:avLst>
                <a:gd name="adj1" fmla="val 49778"/>
                <a:gd name="adj2" fmla="val 117597"/>
              </a:avLst>
            </a:prstGeom>
            <a:solidFill>
              <a:schemeClr val="accent1"/>
            </a:solidFill>
            <a:ln w="9525">
              <a:solidFill>
                <a:schemeClr val="tx1"/>
              </a:solidFill>
              <a:miter lim="800000"/>
              <a:headEnd/>
              <a:tailEnd/>
            </a:ln>
            <a:effectLst>
              <a:outerShdw dist="35921" dir="2700000" algn="ctr" rotWithShape="0">
                <a:schemeClr val="tx1"/>
              </a:outerShdw>
            </a:effectLst>
          </p:spPr>
          <p:txBody>
            <a:bodyPr/>
            <a:lstStyle/>
            <a:p>
              <a:endParaRPr lang="zh-CN" altLang="en-US"/>
            </a:p>
          </p:txBody>
        </p:sp>
        <p:sp>
          <p:nvSpPr>
            <p:cNvPr id="11273" name="矩形 800780">
              <a:extLst>
                <a:ext uri="{FF2B5EF4-FFF2-40B4-BE49-F238E27FC236}">
                  <a16:creationId xmlns:a16="http://schemas.microsoft.com/office/drawing/2014/main" id="{2E6EB37C-7AF7-4FEB-AB5A-B1296E9C98AC}"/>
                </a:ext>
              </a:extLst>
            </p:cNvPr>
            <p:cNvSpPr>
              <a:spLocks noChangeArrowheads="1" noChangeShapeType="1" noTextEdit="1"/>
            </p:cNvSpPr>
            <p:nvPr/>
          </p:nvSpPr>
          <p:spPr bwMode="auto">
            <a:xfrm>
              <a:off x="2835" y="1480"/>
              <a:ext cx="363" cy="544"/>
            </a:xfrm>
            <a:prstGeom prst="rect">
              <a:avLst/>
            </a:prstGeom>
          </p:spPr>
          <p:txBody>
            <a:bodyPr wrap="none" fromWordArt="1">
              <a:prstTxWarp prst="textInflate">
                <a:avLst>
                  <a:gd name="adj" fmla="val 13634"/>
                </a:avLst>
              </a:prstTxWarp>
            </a:bodyPr>
            <a:lstStyle/>
            <a:p>
              <a:pPr algn="ctr"/>
              <a:r>
                <a:rPr lang="zh-CN" altLang="en-US" sz="4800" b="1" i="1" kern="10">
                  <a:ln w="9525" cap="sq">
                    <a:solidFill>
                      <a:srgbClr val="000000"/>
                    </a:solidFill>
                    <a:round/>
                    <a:headEnd type="none" w="sm" len="sm"/>
                    <a:tailEnd type="none" w="sm" len="sm"/>
                  </a:ln>
                  <a:solidFill>
                    <a:srgbClr val="993300"/>
                  </a:solidFill>
                  <a:effectLst>
                    <a:outerShdw dist="35921" dir="2700000" algn="ctr" rotWithShape="0">
                      <a:schemeClr val="tx1"/>
                    </a:outerShdw>
                  </a:effectLst>
                  <a:latin typeface="隶书" panose="02010509060101010101" pitchFamily="49" charset="-122"/>
                  <a:ea typeface="隶书" panose="02010509060101010101" pitchFamily="49" charset="-122"/>
                </a:rPr>
                <a:t>？</a:t>
              </a:r>
            </a:p>
          </p:txBody>
        </p:sp>
      </p:grpSp>
      <p:grpSp>
        <p:nvGrpSpPr>
          <p:cNvPr id="800782" name="组合 800781">
            <a:extLst>
              <a:ext uri="{FF2B5EF4-FFF2-40B4-BE49-F238E27FC236}">
                <a16:creationId xmlns:a16="http://schemas.microsoft.com/office/drawing/2014/main" id="{44866EB8-52AF-4215-B206-0821D6EB44FA}"/>
              </a:ext>
            </a:extLst>
          </p:cNvPr>
          <p:cNvGrpSpPr>
            <a:grpSpLocks/>
          </p:cNvGrpSpPr>
          <p:nvPr/>
        </p:nvGrpSpPr>
        <p:grpSpPr bwMode="auto">
          <a:xfrm>
            <a:off x="3624263" y="2620963"/>
            <a:ext cx="2232025" cy="647700"/>
            <a:chOff x="2381" y="1979"/>
            <a:chExt cx="1406" cy="408"/>
          </a:xfrm>
        </p:grpSpPr>
        <p:sp>
          <p:nvSpPr>
            <p:cNvPr id="11275" name="右箭头 800782">
              <a:extLst>
                <a:ext uri="{FF2B5EF4-FFF2-40B4-BE49-F238E27FC236}">
                  <a16:creationId xmlns:a16="http://schemas.microsoft.com/office/drawing/2014/main" id="{E2648F29-15EC-4827-A0DB-A2DC05E4ABDF}"/>
                </a:ext>
              </a:extLst>
            </p:cNvPr>
            <p:cNvSpPr>
              <a:spLocks noChangeArrowheads="1"/>
            </p:cNvSpPr>
            <p:nvPr/>
          </p:nvSpPr>
          <p:spPr bwMode="auto">
            <a:xfrm>
              <a:off x="2381" y="2069"/>
              <a:ext cx="1406" cy="227"/>
            </a:xfrm>
            <a:prstGeom prst="rightArrow">
              <a:avLst>
                <a:gd name="adj1" fmla="val 49778"/>
                <a:gd name="adj2" fmla="val 117597"/>
              </a:avLst>
            </a:prstGeom>
            <a:solidFill>
              <a:schemeClr val="accent1"/>
            </a:solidFill>
            <a:ln w="9525">
              <a:solidFill>
                <a:schemeClr val="tx1"/>
              </a:solidFill>
              <a:miter lim="800000"/>
              <a:headEnd/>
              <a:tailEnd/>
            </a:ln>
            <a:effectLst>
              <a:outerShdw dist="35921" dir="2700000" algn="ctr" rotWithShape="0">
                <a:schemeClr val="tx1"/>
              </a:outerShdw>
            </a:effectLst>
          </p:spPr>
          <p:txBody>
            <a:bodyPr/>
            <a:lstStyle/>
            <a:p>
              <a:endParaRPr lang="zh-CN" altLang="en-US"/>
            </a:p>
          </p:txBody>
        </p:sp>
        <p:sp>
          <p:nvSpPr>
            <p:cNvPr id="11276" name="直接连接符 800783">
              <a:extLst>
                <a:ext uri="{FF2B5EF4-FFF2-40B4-BE49-F238E27FC236}">
                  <a16:creationId xmlns:a16="http://schemas.microsoft.com/office/drawing/2014/main" id="{021FA5AD-BBD1-4C07-A9BA-08610EE6E70D}"/>
                </a:ext>
              </a:extLst>
            </p:cNvPr>
            <p:cNvSpPr>
              <a:spLocks noChangeShapeType="1"/>
            </p:cNvSpPr>
            <p:nvPr/>
          </p:nvSpPr>
          <p:spPr bwMode="auto">
            <a:xfrm flipH="1">
              <a:off x="2744" y="1979"/>
              <a:ext cx="454" cy="408"/>
            </a:xfrm>
            <a:prstGeom prst="line">
              <a:avLst/>
            </a:prstGeom>
            <a:noFill/>
            <a:ln w="38100">
              <a:solidFill>
                <a:srgbClr val="FF0000"/>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11277" name="直接连接符 800784">
              <a:extLst>
                <a:ext uri="{FF2B5EF4-FFF2-40B4-BE49-F238E27FC236}">
                  <a16:creationId xmlns:a16="http://schemas.microsoft.com/office/drawing/2014/main" id="{75A8340C-D794-4CAE-8605-939A26D7F3D3}"/>
                </a:ext>
              </a:extLst>
            </p:cNvPr>
            <p:cNvSpPr>
              <a:spLocks noChangeShapeType="1"/>
            </p:cNvSpPr>
            <p:nvPr/>
          </p:nvSpPr>
          <p:spPr bwMode="auto">
            <a:xfrm>
              <a:off x="2789" y="1979"/>
              <a:ext cx="363" cy="408"/>
            </a:xfrm>
            <a:prstGeom prst="line">
              <a:avLst/>
            </a:prstGeom>
            <a:noFill/>
            <a:ln w="38100">
              <a:solidFill>
                <a:srgbClr val="FF0000"/>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grpSp>
      <p:grpSp>
        <p:nvGrpSpPr>
          <p:cNvPr id="800786" name="组合 800785">
            <a:extLst>
              <a:ext uri="{FF2B5EF4-FFF2-40B4-BE49-F238E27FC236}">
                <a16:creationId xmlns:a16="http://schemas.microsoft.com/office/drawing/2014/main" id="{66F8F290-45C3-4205-9347-F133FF23E5F7}"/>
              </a:ext>
            </a:extLst>
          </p:cNvPr>
          <p:cNvGrpSpPr>
            <a:grpSpLocks/>
          </p:cNvGrpSpPr>
          <p:nvPr/>
        </p:nvGrpSpPr>
        <p:grpSpPr bwMode="auto">
          <a:xfrm>
            <a:off x="3924300" y="3773488"/>
            <a:ext cx="1782763" cy="2233612"/>
            <a:chOff x="2660" y="2478"/>
            <a:chExt cx="790" cy="1407"/>
          </a:xfrm>
        </p:grpSpPr>
        <p:pic>
          <p:nvPicPr>
            <p:cNvPr id="11279" name="图片 800786" descr="j0299125">
              <a:extLst>
                <a:ext uri="{FF2B5EF4-FFF2-40B4-BE49-F238E27FC236}">
                  <a16:creationId xmlns:a16="http://schemas.microsoft.com/office/drawing/2014/main" id="{CB1E442F-1977-40F6-A775-4DA811C633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7" y="2478"/>
              <a:ext cx="693" cy="1137"/>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80" name="文本框 800787">
              <a:extLst>
                <a:ext uri="{FF2B5EF4-FFF2-40B4-BE49-F238E27FC236}">
                  <a16:creationId xmlns:a16="http://schemas.microsoft.com/office/drawing/2014/main" id="{9FFE0A5E-6E59-421D-92FE-C313476708CB}"/>
                </a:ext>
              </a:extLst>
            </p:cNvPr>
            <p:cNvSpPr txBox="1">
              <a:spLocks noChangeArrowheads="1"/>
            </p:cNvSpPr>
            <p:nvPr/>
          </p:nvSpPr>
          <p:spPr bwMode="auto">
            <a:xfrm>
              <a:off x="2660" y="3575"/>
              <a:ext cx="633" cy="31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10800" rIns="0" bIns="10800">
              <a:spAutoFit/>
            </a:bodyPr>
            <a:lstStyle/>
            <a:p>
              <a:pPr>
                <a:lnSpc>
                  <a:spcPct val="110000"/>
                </a:lnSpc>
                <a:spcBef>
                  <a:spcPct val="20000"/>
                </a:spcBef>
                <a:buSzPct val="100000"/>
                <a:buFont typeface="Wingdings" panose="05000000000000000000" pitchFamily="2" charset="2"/>
                <a:buNone/>
              </a:pPr>
              <a:r>
                <a:rPr lang="zh-CN" altLang="en-US" sz="2800" b="1"/>
                <a:t>信息世界</a:t>
              </a:r>
            </a:p>
          </p:txBody>
        </p:sp>
      </p:grpSp>
      <p:sp>
        <p:nvSpPr>
          <p:cNvPr id="800789" name="圆角矩形标注 800788">
            <a:extLst>
              <a:ext uri="{FF2B5EF4-FFF2-40B4-BE49-F238E27FC236}">
                <a16:creationId xmlns:a16="http://schemas.microsoft.com/office/drawing/2014/main" id="{AE55CF07-12EB-458B-940E-0B5008A4DA68}"/>
              </a:ext>
            </a:extLst>
          </p:cNvPr>
          <p:cNvSpPr>
            <a:spLocks noChangeArrowheads="1"/>
          </p:cNvSpPr>
          <p:nvPr/>
        </p:nvSpPr>
        <p:spPr bwMode="auto">
          <a:xfrm>
            <a:off x="6100763" y="3644900"/>
            <a:ext cx="3024187" cy="2232025"/>
          </a:xfrm>
          <a:prstGeom prst="wedgeRoundRectCallout">
            <a:avLst>
              <a:gd name="adj1" fmla="val -74935"/>
              <a:gd name="adj2" fmla="val 38194"/>
              <a:gd name="adj3" fmla="val 16667"/>
            </a:avLst>
          </a:prstGeom>
          <a:solidFill>
            <a:schemeClr val="accent1"/>
          </a:solidFill>
          <a:ln w="9525">
            <a:solidFill>
              <a:schemeClr val="tx1"/>
            </a:solidFill>
            <a:miter lim="800000"/>
            <a:headEnd/>
            <a:tailEnd/>
          </a:ln>
        </p:spPr>
        <p:txBody>
          <a:bodyPr/>
          <a:lstStyle/>
          <a:p>
            <a:r>
              <a:rPr lang="zh-CN" altLang="en-US" sz="2800" b="1">
                <a:latin typeface="Tahoma" panose="020B0604030504040204" pitchFamily="34" charset="0"/>
                <a:ea typeface="隶书" panose="02010509060101010101" pitchFamily="49" charset="-122"/>
              </a:rPr>
              <a:t>       </a:t>
            </a:r>
            <a:r>
              <a:rPr lang="zh-CN" altLang="en-US" sz="2600" b="1">
                <a:latin typeface="Tahoma" panose="020B0604030504040204" pitchFamily="34" charset="0"/>
                <a:ea typeface="隶书" panose="02010509060101010101" pitchFamily="49" charset="-122"/>
              </a:rPr>
              <a:t>信息世界是现实世界在人们头脑中的反映和解释，是现实世界的概念化。</a:t>
            </a:r>
          </a:p>
        </p:txBody>
      </p:sp>
      <p:sp>
        <p:nvSpPr>
          <p:cNvPr id="800790" name="矩形 800789">
            <a:extLst>
              <a:ext uri="{FF2B5EF4-FFF2-40B4-BE49-F238E27FC236}">
                <a16:creationId xmlns:a16="http://schemas.microsoft.com/office/drawing/2014/main" id="{70086237-C0A8-4ED5-8DBE-8671202C77CE}"/>
              </a:ext>
            </a:extLst>
          </p:cNvPr>
          <p:cNvSpPr/>
          <p:nvPr/>
        </p:nvSpPr>
        <p:spPr>
          <a:xfrm>
            <a:off x="1150938" y="214313"/>
            <a:ext cx="7793037" cy="622300"/>
          </a:xfrm>
          <a:prstGeom prst="rect">
            <a:avLst/>
          </a:prstGeom>
          <a:noFill/>
          <a:ln w="9525">
            <a:noFill/>
          </a:ln>
          <a:effectLst>
            <a:outerShdw dist="17961" dir="2699999" algn="ctr" rotWithShape="0">
              <a:schemeClr val="tx1">
                <a:alpha val="50000"/>
              </a:schemeClr>
            </a:outerShdw>
          </a:effectLst>
        </p:spPr>
        <p:txBody>
          <a:bodyPr anchor="ctr"/>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t>一、现实世界的数据描述</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9811"/>
    </mc:Choice>
    <mc:Fallback xmlns="">
      <p:transition spd="slow" advTm="59811"/>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00782"/>
                                        </p:tgtEl>
                                        <p:attrNameLst>
                                          <p:attrName>style.visibility</p:attrName>
                                        </p:attrNameLst>
                                      </p:cBhvr>
                                      <p:to>
                                        <p:strVal val="visible"/>
                                      </p:to>
                                    </p:set>
                                    <p:animEffect transition="in" filter="blinds(horizontal)">
                                      <p:cBhvr>
                                        <p:cTn id="7" dur="1000"/>
                                        <p:tgtEl>
                                          <p:spTgt spid="8007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00786"/>
                                        </p:tgtEl>
                                        <p:attrNameLst>
                                          <p:attrName>style.visibility</p:attrName>
                                        </p:attrNameLst>
                                      </p:cBhvr>
                                      <p:to>
                                        <p:strVal val="visible"/>
                                      </p:to>
                                    </p:set>
                                    <p:animEffect transition="in" filter="blinds(horizontal)">
                                      <p:cBhvr>
                                        <p:cTn id="12" dur="1000"/>
                                        <p:tgtEl>
                                          <p:spTgt spid="80078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800789"/>
                                        </p:tgtEl>
                                        <p:attrNameLst>
                                          <p:attrName>style.visibility</p:attrName>
                                        </p:attrNameLst>
                                      </p:cBhvr>
                                      <p:to>
                                        <p:strVal val="visible"/>
                                      </p:to>
                                    </p:set>
                                    <p:animEffect transition="in" filter="box(in)">
                                      <p:cBhvr>
                                        <p:cTn id="17" dur="500"/>
                                        <p:tgtEl>
                                          <p:spTgt spid="8007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78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289" name="组合 797699">
            <a:extLst>
              <a:ext uri="{FF2B5EF4-FFF2-40B4-BE49-F238E27FC236}">
                <a16:creationId xmlns:a16="http://schemas.microsoft.com/office/drawing/2014/main" id="{6389DB45-10EF-4B31-A8A7-012EA4950ABA}"/>
              </a:ext>
            </a:extLst>
          </p:cNvPr>
          <p:cNvGrpSpPr>
            <a:grpSpLocks/>
          </p:cNvGrpSpPr>
          <p:nvPr/>
        </p:nvGrpSpPr>
        <p:grpSpPr bwMode="auto">
          <a:xfrm>
            <a:off x="6091238" y="1506538"/>
            <a:ext cx="2368550" cy="2052637"/>
            <a:chOff x="4021" y="958"/>
            <a:chExt cx="1263" cy="1293"/>
          </a:xfrm>
        </p:grpSpPr>
        <p:sp>
          <p:nvSpPr>
            <p:cNvPr id="12290" name="laptop">
              <a:extLst>
                <a:ext uri="{FF2B5EF4-FFF2-40B4-BE49-F238E27FC236}">
                  <a16:creationId xmlns:a16="http://schemas.microsoft.com/office/drawing/2014/main" id="{2E7AF21B-CD34-448E-86F9-E65B21C5F9F5}"/>
                </a:ext>
              </a:extLst>
            </p:cNvPr>
            <p:cNvSpPr>
              <a:spLocks noEditPoints="1" noChangeArrowheads="1"/>
            </p:cNvSpPr>
            <p:nvPr/>
          </p:nvSpPr>
          <p:spPr bwMode="auto">
            <a:xfrm>
              <a:off x="4144" y="1393"/>
              <a:ext cx="1140" cy="858"/>
            </a:xfrm>
            <a:custGeom>
              <a:avLst/>
              <a:gdLst>
                <a:gd name="T0" fmla="*/ 3362 w 21600"/>
                <a:gd name="T1" fmla="*/ 0 h 21600"/>
                <a:gd name="T2" fmla="*/ 18327 w 21600"/>
                <a:gd name="T3" fmla="*/ 0 h 21600"/>
                <a:gd name="T4" fmla="*/ 18327 w 21600"/>
                <a:gd name="T5" fmla="*/ 14347 h 21600"/>
                <a:gd name="T6" fmla="*/ 3362 w 21600"/>
                <a:gd name="T7" fmla="*/ 14347 h 21600"/>
                <a:gd name="T8" fmla="*/ 3362 w 21600"/>
                <a:gd name="T9" fmla="*/ 0 h 21600"/>
                <a:gd name="T10" fmla="*/ 3340 w 21600"/>
                <a:gd name="T11" fmla="*/ 15068 h 21600"/>
                <a:gd name="T12" fmla="*/ 0 w 21600"/>
                <a:gd name="T13" fmla="*/ 19877 h 21600"/>
                <a:gd name="T14" fmla="*/ 21600 w 21600"/>
                <a:gd name="T15" fmla="*/ 19877 h 21600"/>
                <a:gd name="T16" fmla="*/ 18327 w 21600"/>
                <a:gd name="T17" fmla="*/ 15068 h 21600"/>
                <a:gd name="T18" fmla="*/ 3340 w 21600"/>
                <a:gd name="T19" fmla="*/ 15068 h 21600"/>
                <a:gd name="T20" fmla="*/ 0 w 21600"/>
                <a:gd name="T21" fmla="*/ 19877 h 21600"/>
                <a:gd name="T22" fmla="*/ 0 w 21600"/>
                <a:gd name="T23" fmla="*/ 21600 h 21600"/>
                <a:gd name="T24" fmla="*/ 21600 w 21600"/>
                <a:gd name="T25" fmla="*/ 21600 h 21600"/>
                <a:gd name="T26" fmla="*/ 21600 w 21600"/>
                <a:gd name="T27" fmla="*/ 19877 h 21600"/>
                <a:gd name="T28" fmla="*/ 0 w 21600"/>
                <a:gd name="T29" fmla="*/ 19877 h 21600"/>
                <a:gd name="T30" fmla="*/ 4186 w 21600"/>
                <a:gd name="T31" fmla="*/ 1523 h 21600"/>
                <a:gd name="T32" fmla="*/ 17547 w 21600"/>
                <a:gd name="T33" fmla="*/ 1523 h 21600"/>
                <a:gd name="T34" fmla="*/ 17547 w 21600"/>
                <a:gd name="T35" fmla="*/ 12744 h 21600"/>
                <a:gd name="T36" fmla="*/ 4186 w 21600"/>
                <a:gd name="T37" fmla="*/ 12744 h 21600"/>
                <a:gd name="T38" fmla="*/ 4186 w 21600"/>
                <a:gd name="T39" fmla="*/ 1523 h 21600"/>
                <a:gd name="T40" fmla="*/ 3318 w 21600"/>
                <a:gd name="T41" fmla="*/ 15549 h 21600"/>
                <a:gd name="T42" fmla="*/ 2917 w 21600"/>
                <a:gd name="T43" fmla="*/ 16110 h 21600"/>
                <a:gd name="T44" fmla="*/ 18727 w 21600"/>
                <a:gd name="T45" fmla="*/ 16110 h 21600"/>
                <a:gd name="T46" fmla="*/ 18327 w 21600"/>
                <a:gd name="T47" fmla="*/ 15549 h 21600"/>
                <a:gd name="T48" fmla="*/ 3318 w 21600"/>
                <a:gd name="T49" fmla="*/ 15549 h 21600"/>
                <a:gd name="T50" fmla="*/ 6213 w 21600"/>
                <a:gd name="T51" fmla="*/ 18314 h 21600"/>
                <a:gd name="T52" fmla="*/ 5946 w 21600"/>
                <a:gd name="T53" fmla="*/ 18875 h 21600"/>
                <a:gd name="T54" fmla="*/ 15766 w 21600"/>
                <a:gd name="T55" fmla="*/ 18875 h 21600"/>
                <a:gd name="T56" fmla="*/ 15499 w 21600"/>
                <a:gd name="T57" fmla="*/ 18314 h 21600"/>
                <a:gd name="T58" fmla="*/ 6213 w 21600"/>
                <a:gd name="T59" fmla="*/ 18314 h 21600"/>
                <a:gd name="T60" fmla="*/ 2828 w 21600"/>
                <a:gd name="T61" fmla="*/ 16471 h 21600"/>
                <a:gd name="T62" fmla="*/ 2405 w 21600"/>
                <a:gd name="T63" fmla="*/ 17072 h 21600"/>
                <a:gd name="T64" fmla="*/ 19284 w 21600"/>
                <a:gd name="T65" fmla="*/ 17072 h 21600"/>
                <a:gd name="T66" fmla="*/ 18839 w 21600"/>
                <a:gd name="T67" fmla="*/ 16471 h 21600"/>
                <a:gd name="T68" fmla="*/ 2828 w 21600"/>
                <a:gd name="T69" fmla="*/ 16471 h 21600"/>
                <a:gd name="T70" fmla="*/ 2316 w 21600"/>
                <a:gd name="T71" fmla="*/ 17352 h 21600"/>
                <a:gd name="T72" fmla="*/ 1871 w 21600"/>
                <a:gd name="T73" fmla="*/ 17953 h 21600"/>
                <a:gd name="T74" fmla="*/ 19863 w 21600"/>
                <a:gd name="T75" fmla="*/ 17953 h 21600"/>
                <a:gd name="T76" fmla="*/ 19395 w 21600"/>
                <a:gd name="T77" fmla="*/ 17352 h 21600"/>
                <a:gd name="T78" fmla="*/ 2316 w 21600"/>
                <a:gd name="T79" fmla="*/ 17352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1600" h="21600">
                  <a:moveTo>
                    <a:pt x="3362" y="0"/>
                  </a:moveTo>
                  <a:lnTo>
                    <a:pt x="18327" y="0"/>
                  </a:lnTo>
                  <a:lnTo>
                    <a:pt x="18327" y="14347"/>
                  </a:lnTo>
                  <a:lnTo>
                    <a:pt x="3362" y="14347"/>
                  </a:lnTo>
                  <a:lnTo>
                    <a:pt x="3362" y="0"/>
                  </a:lnTo>
                  <a:close/>
                </a:path>
                <a:path w="21600" h="21600">
                  <a:moveTo>
                    <a:pt x="3340" y="15068"/>
                  </a:moveTo>
                  <a:lnTo>
                    <a:pt x="0" y="19877"/>
                  </a:lnTo>
                  <a:lnTo>
                    <a:pt x="21600" y="19877"/>
                  </a:lnTo>
                  <a:lnTo>
                    <a:pt x="18327" y="15068"/>
                  </a:lnTo>
                  <a:lnTo>
                    <a:pt x="3340" y="15068"/>
                  </a:lnTo>
                  <a:close/>
                </a:path>
                <a:path w="21600" h="21600">
                  <a:moveTo>
                    <a:pt x="0" y="19877"/>
                  </a:moveTo>
                  <a:lnTo>
                    <a:pt x="0" y="21600"/>
                  </a:lnTo>
                  <a:lnTo>
                    <a:pt x="21600" y="21600"/>
                  </a:lnTo>
                  <a:lnTo>
                    <a:pt x="21600" y="19877"/>
                  </a:lnTo>
                  <a:lnTo>
                    <a:pt x="0" y="19877"/>
                  </a:lnTo>
                  <a:close/>
                </a:path>
                <a:path w="21600" h="21600">
                  <a:moveTo>
                    <a:pt x="4186" y="1523"/>
                  </a:moveTo>
                  <a:lnTo>
                    <a:pt x="17547" y="1523"/>
                  </a:lnTo>
                  <a:lnTo>
                    <a:pt x="17547" y="12744"/>
                  </a:lnTo>
                  <a:lnTo>
                    <a:pt x="4186" y="12744"/>
                  </a:lnTo>
                  <a:lnTo>
                    <a:pt x="4186" y="1523"/>
                  </a:lnTo>
                  <a:close/>
                </a:path>
                <a:path w="21600" h="21600">
                  <a:moveTo>
                    <a:pt x="3318" y="15549"/>
                  </a:moveTo>
                  <a:lnTo>
                    <a:pt x="2917" y="16110"/>
                  </a:lnTo>
                  <a:lnTo>
                    <a:pt x="18727" y="16110"/>
                  </a:lnTo>
                  <a:lnTo>
                    <a:pt x="18327" y="15549"/>
                  </a:lnTo>
                  <a:lnTo>
                    <a:pt x="3318" y="15549"/>
                  </a:lnTo>
                  <a:close/>
                </a:path>
                <a:path w="21600" h="21600">
                  <a:moveTo>
                    <a:pt x="6213" y="18314"/>
                  </a:moveTo>
                  <a:lnTo>
                    <a:pt x="5946" y="18875"/>
                  </a:lnTo>
                  <a:lnTo>
                    <a:pt x="15766" y="18875"/>
                  </a:lnTo>
                  <a:lnTo>
                    <a:pt x="15499" y="18314"/>
                  </a:lnTo>
                  <a:lnTo>
                    <a:pt x="6213" y="18314"/>
                  </a:lnTo>
                  <a:close/>
                </a:path>
                <a:path w="21600" h="21600">
                  <a:moveTo>
                    <a:pt x="2828" y="16471"/>
                  </a:moveTo>
                  <a:lnTo>
                    <a:pt x="2405" y="17072"/>
                  </a:lnTo>
                  <a:lnTo>
                    <a:pt x="19284" y="17072"/>
                  </a:lnTo>
                  <a:lnTo>
                    <a:pt x="18839" y="16471"/>
                  </a:lnTo>
                  <a:lnTo>
                    <a:pt x="2828" y="16471"/>
                  </a:lnTo>
                  <a:close/>
                </a:path>
                <a:path w="21600" h="21600">
                  <a:moveTo>
                    <a:pt x="2316" y="17352"/>
                  </a:moveTo>
                  <a:lnTo>
                    <a:pt x="1871" y="17953"/>
                  </a:lnTo>
                  <a:lnTo>
                    <a:pt x="19863" y="17953"/>
                  </a:lnTo>
                  <a:lnTo>
                    <a:pt x="19395" y="17352"/>
                  </a:lnTo>
                  <a:lnTo>
                    <a:pt x="2316" y="17352"/>
                  </a:lnTo>
                  <a:close/>
                </a:path>
              </a:pathLst>
            </a:custGeom>
            <a:solidFill>
              <a:srgbClr val="C0C0C0"/>
            </a:solidFill>
            <a:ln w="9525">
              <a:solidFill>
                <a:srgbClr val="000000"/>
              </a:solidFill>
              <a:miter lim="800000"/>
              <a:headEnd/>
              <a:tailEnd/>
            </a:ln>
            <a:effectLst>
              <a:outerShdw dist="35921" dir="2700000" algn="ctr" rotWithShape="0">
                <a:schemeClr val="tx1"/>
              </a:outerShdw>
            </a:effectLst>
          </p:spPr>
          <p:txBody>
            <a:bodyPr/>
            <a:lstStyle/>
            <a:p>
              <a:endParaRPr lang="zh-CN" altLang="en-US"/>
            </a:p>
          </p:txBody>
        </p:sp>
        <p:sp>
          <p:nvSpPr>
            <p:cNvPr id="12291" name="文本框 797701">
              <a:extLst>
                <a:ext uri="{FF2B5EF4-FFF2-40B4-BE49-F238E27FC236}">
                  <a16:creationId xmlns:a16="http://schemas.microsoft.com/office/drawing/2014/main" id="{3BC92291-AA60-4DCD-A8DE-CD46E82AFB14}"/>
                </a:ext>
              </a:extLst>
            </p:cNvPr>
            <p:cNvSpPr txBox="1">
              <a:spLocks noChangeArrowheads="1"/>
            </p:cNvSpPr>
            <p:nvPr/>
          </p:nvSpPr>
          <p:spPr bwMode="auto">
            <a:xfrm>
              <a:off x="4021" y="958"/>
              <a:ext cx="942" cy="31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0800" rIns="0" bIns="10800">
              <a:spAutoFit/>
            </a:bodyPr>
            <a:lstStyle/>
            <a:p>
              <a:pPr algn="ctr">
                <a:lnSpc>
                  <a:spcPct val="110000"/>
                </a:lnSpc>
                <a:spcBef>
                  <a:spcPct val="20000"/>
                </a:spcBef>
                <a:buSzPct val="100000"/>
                <a:buFont typeface="Wingdings" panose="05000000000000000000" pitchFamily="2" charset="2"/>
                <a:buNone/>
              </a:pPr>
              <a:r>
                <a:rPr lang="zh-CN" altLang="en-US" sz="2800" b="1"/>
                <a:t>      计算机</a:t>
              </a:r>
            </a:p>
          </p:txBody>
        </p:sp>
      </p:grpSp>
      <p:grpSp>
        <p:nvGrpSpPr>
          <p:cNvPr id="12292" name="组合 797702">
            <a:extLst>
              <a:ext uri="{FF2B5EF4-FFF2-40B4-BE49-F238E27FC236}">
                <a16:creationId xmlns:a16="http://schemas.microsoft.com/office/drawing/2014/main" id="{EE84D77C-5BCD-470F-846A-571BA627A4EC}"/>
              </a:ext>
            </a:extLst>
          </p:cNvPr>
          <p:cNvGrpSpPr>
            <a:grpSpLocks/>
          </p:cNvGrpSpPr>
          <p:nvPr/>
        </p:nvGrpSpPr>
        <p:grpSpPr bwMode="auto">
          <a:xfrm>
            <a:off x="900113" y="1484313"/>
            <a:ext cx="1558925" cy="2001837"/>
            <a:chOff x="823" y="944"/>
            <a:chExt cx="832" cy="1261"/>
          </a:xfrm>
        </p:grpSpPr>
        <p:sp>
          <p:nvSpPr>
            <p:cNvPr id="12293" name="文本框 797703">
              <a:extLst>
                <a:ext uri="{FF2B5EF4-FFF2-40B4-BE49-F238E27FC236}">
                  <a16:creationId xmlns:a16="http://schemas.microsoft.com/office/drawing/2014/main" id="{B4924DC4-E59F-461E-A320-34CD03D3885B}"/>
                </a:ext>
              </a:extLst>
            </p:cNvPr>
            <p:cNvSpPr txBox="1">
              <a:spLocks noChangeArrowheads="1"/>
            </p:cNvSpPr>
            <p:nvPr/>
          </p:nvSpPr>
          <p:spPr bwMode="auto">
            <a:xfrm>
              <a:off x="823" y="944"/>
              <a:ext cx="763" cy="31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10800" rIns="0" bIns="10800">
              <a:spAutoFit/>
            </a:bodyPr>
            <a:lstStyle/>
            <a:p>
              <a:pPr>
                <a:lnSpc>
                  <a:spcPct val="110000"/>
                </a:lnSpc>
                <a:spcBef>
                  <a:spcPct val="20000"/>
                </a:spcBef>
                <a:buSzPct val="100000"/>
                <a:buFont typeface="Wingdings" panose="05000000000000000000" pitchFamily="2" charset="2"/>
                <a:buNone/>
              </a:pPr>
              <a:r>
                <a:rPr lang="zh-CN" altLang="en-US" sz="2800" b="1"/>
                <a:t>现实世界</a:t>
              </a:r>
            </a:p>
          </p:txBody>
        </p:sp>
        <p:sp>
          <p:nvSpPr>
            <p:cNvPr id="797705" name="Documents">
              <a:extLst>
                <a:ext uri="{FF2B5EF4-FFF2-40B4-BE49-F238E27FC236}">
                  <a16:creationId xmlns:a16="http://schemas.microsoft.com/office/drawing/2014/main" id="{349CA5A2-5B86-48A9-BA44-1C8CB5D34C1C}"/>
                </a:ext>
              </a:extLst>
            </p:cNvPr>
            <p:cNvSpPr>
              <a:spLocks noEditPoints="1"/>
            </p:cNvSpPr>
            <p:nvPr/>
          </p:nvSpPr>
          <p:spPr>
            <a:xfrm>
              <a:off x="884" y="1344"/>
              <a:ext cx="771" cy="861"/>
            </a:xfrm>
            <a:custGeom>
              <a:avLst/>
              <a:gdLst>
                <a:gd name="txL" fmla="*/ 1645 w 21600"/>
                <a:gd name="txT" fmla="*/ 4171 h 21600"/>
                <a:gd name="txR" fmla="*/ 16522 w 21600"/>
                <a:gd name="txB" fmla="*/ 17314 h 21600"/>
              </a:gdLst>
              <a:ahLst/>
              <a:cxnLst>
                <a:cxn ang="0">
                  <a:pos x="0" y="2800"/>
                </a:cxn>
                <a:cxn ang="0">
                  <a:pos x="3468" y="0"/>
                </a:cxn>
                <a:cxn ang="0">
                  <a:pos x="21653" y="18828"/>
                </a:cxn>
                <a:cxn ang="0">
                  <a:pos x="19954" y="20214"/>
                </a:cxn>
                <a:cxn ang="0">
                  <a:pos x="18256" y="21628"/>
                </a:cxn>
                <a:cxn ang="0">
                  <a:pos x="19954" y="1428"/>
                </a:cxn>
                <a:cxn ang="0">
                  <a:pos x="18256" y="2800"/>
                </a:cxn>
                <a:cxn ang="0">
                  <a:pos x="1645" y="1428"/>
                </a:cxn>
                <a:cxn ang="0">
                  <a:pos x="21600" y="0"/>
                </a:cxn>
                <a:cxn ang="0">
                  <a:pos x="10800" y="0"/>
                </a:cxn>
                <a:cxn ang="0">
                  <a:pos x="0" y="10800"/>
                </a:cxn>
                <a:cxn ang="0">
                  <a:pos x="21600" y="10800"/>
                </a:cxn>
              </a:cxnLst>
              <a:rect l="txL" t="txT" r="txR" b="txB"/>
              <a:pathLst>
                <a:path w="21600" h="2160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a:moveTo>
                    <a:pt x="3486" y="1428"/>
                  </a:moveTo>
                  <a:lnTo>
                    <a:pt x="19954" y="1428"/>
                  </a:lnTo>
                  <a:lnTo>
                    <a:pt x="19954" y="20214"/>
                  </a:lnTo>
                  <a:lnTo>
                    <a:pt x="18256" y="20214"/>
                  </a:lnTo>
                  <a:lnTo>
                    <a:pt x="18256" y="2800"/>
                  </a:lnTo>
                  <a:lnTo>
                    <a:pt x="1645" y="2800"/>
                  </a:lnTo>
                  <a:lnTo>
                    <a:pt x="1645" y="1428"/>
                  </a:lnTo>
                  <a:lnTo>
                    <a:pt x="3486" y="1428"/>
                  </a:lnTo>
                  <a:close/>
                </a:path>
                <a:path w="21600" h="21600">
                  <a:moveTo>
                    <a:pt x="0" y="18014"/>
                  </a:moveTo>
                  <a:lnTo>
                    <a:pt x="4434" y="18000"/>
                  </a:lnTo>
                  <a:lnTo>
                    <a:pt x="4434" y="21600"/>
                  </a:lnTo>
                  <a:lnTo>
                    <a:pt x="0" y="18014"/>
                  </a:lnTo>
                  <a:close/>
                </a:path>
              </a:pathLst>
            </a:custGeom>
            <a:solidFill>
              <a:srgbClr val="D8EBB3"/>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lstStyle/>
            <a:p>
              <a:pPr algn="ctr">
                <a:lnSpc>
                  <a:spcPct val="110000"/>
                </a:lnSpc>
                <a:spcBef>
                  <a:spcPct val="20000"/>
                </a:spcBef>
                <a:buSzPct val="100000"/>
                <a:buFont typeface="Wingdings" panose="05000000000000000000" pitchFamily="2" charset="2"/>
                <a:buNone/>
              </a:pPr>
              <a:r>
                <a:rPr lang="zh-CN" altLang="en-US" sz="2400" b="1" noProof="1">
                  <a:effectLst>
                    <a:outerShdw blurRad="38100" dist="38100" dir="2700000">
                      <a:srgbClr val="FFFFFF"/>
                    </a:outerShdw>
                  </a:effectLst>
                </a:rPr>
                <a:t>信息</a:t>
              </a:r>
            </a:p>
          </p:txBody>
        </p:sp>
      </p:grpSp>
      <p:sp>
        <p:nvSpPr>
          <p:cNvPr id="797706" name="矩形 797705">
            <a:extLst>
              <a:ext uri="{FF2B5EF4-FFF2-40B4-BE49-F238E27FC236}">
                <a16:creationId xmlns:a16="http://schemas.microsoft.com/office/drawing/2014/main" id="{F7107946-A32C-47A2-BD20-E4887C41ECC2}"/>
              </a:ext>
            </a:extLst>
          </p:cNvPr>
          <p:cNvSpPr/>
          <p:nvPr/>
        </p:nvSpPr>
        <p:spPr>
          <a:xfrm>
            <a:off x="1150938" y="214313"/>
            <a:ext cx="7793037" cy="622300"/>
          </a:xfrm>
          <a:prstGeom prst="rect">
            <a:avLst/>
          </a:prstGeom>
          <a:noFill/>
          <a:ln w="9525">
            <a:noFill/>
          </a:ln>
          <a:effectLst>
            <a:outerShdw dist="17961" dir="2699999" algn="ctr" rotWithShape="0">
              <a:schemeClr val="tx1">
                <a:alpha val="50000"/>
              </a:schemeClr>
            </a:outerShdw>
          </a:effectLst>
        </p:spPr>
        <p:txBody>
          <a:bodyPr anchor="ctr"/>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t>一、现实世界的数据描述</a:t>
            </a:r>
          </a:p>
        </p:txBody>
      </p:sp>
      <p:grpSp>
        <p:nvGrpSpPr>
          <p:cNvPr id="12296" name="组合 797709">
            <a:extLst>
              <a:ext uri="{FF2B5EF4-FFF2-40B4-BE49-F238E27FC236}">
                <a16:creationId xmlns:a16="http://schemas.microsoft.com/office/drawing/2014/main" id="{5F8542B1-9D0C-4A37-99AE-FC5F0C3F2F91}"/>
              </a:ext>
            </a:extLst>
          </p:cNvPr>
          <p:cNvGrpSpPr>
            <a:grpSpLocks/>
          </p:cNvGrpSpPr>
          <p:nvPr/>
        </p:nvGrpSpPr>
        <p:grpSpPr bwMode="auto">
          <a:xfrm>
            <a:off x="3408363" y="2405063"/>
            <a:ext cx="2232025" cy="647700"/>
            <a:chOff x="2381" y="1979"/>
            <a:chExt cx="1406" cy="408"/>
          </a:xfrm>
        </p:grpSpPr>
        <p:sp>
          <p:nvSpPr>
            <p:cNvPr id="12297" name="右箭头 797710">
              <a:extLst>
                <a:ext uri="{FF2B5EF4-FFF2-40B4-BE49-F238E27FC236}">
                  <a16:creationId xmlns:a16="http://schemas.microsoft.com/office/drawing/2014/main" id="{4745F69B-0C8F-45A4-8D83-8FF0132610B8}"/>
                </a:ext>
              </a:extLst>
            </p:cNvPr>
            <p:cNvSpPr>
              <a:spLocks noChangeArrowheads="1"/>
            </p:cNvSpPr>
            <p:nvPr/>
          </p:nvSpPr>
          <p:spPr bwMode="auto">
            <a:xfrm>
              <a:off x="2381" y="2069"/>
              <a:ext cx="1406" cy="227"/>
            </a:xfrm>
            <a:prstGeom prst="rightArrow">
              <a:avLst>
                <a:gd name="adj1" fmla="val 49778"/>
                <a:gd name="adj2" fmla="val 117597"/>
              </a:avLst>
            </a:prstGeom>
            <a:solidFill>
              <a:schemeClr val="accent1"/>
            </a:solidFill>
            <a:ln w="9525">
              <a:solidFill>
                <a:schemeClr val="tx1"/>
              </a:solidFill>
              <a:miter lim="800000"/>
              <a:headEnd/>
              <a:tailEnd/>
            </a:ln>
            <a:effectLst>
              <a:outerShdw dist="35921" dir="2700000" algn="ctr" rotWithShape="0">
                <a:schemeClr val="tx1"/>
              </a:outerShdw>
            </a:effectLst>
          </p:spPr>
          <p:txBody>
            <a:bodyPr/>
            <a:lstStyle/>
            <a:p>
              <a:endParaRPr lang="zh-CN" altLang="en-US"/>
            </a:p>
          </p:txBody>
        </p:sp>
        <p:sp>
          <p:nvSpPr>
            <p:cNvPr id="12298" name="直接连接符 797711">
              <a:extLst>
                <a:ext uri="{FF2B5EF4-FFF2-40B4-BE49-F238E27FC236}">
                  <a16:creationId xmlns:a16="http://schemas.microsoft.com/office/drawing/2014/main" id="{007EA9ED-DCCB-42BF-92D6-A8C14B95AF89}"/>
                </a:ext>
              </a:extLst>
            </p:cNvPr>
            <p:cNvSpPr>
              <a:spLocks noChangeShapeType="1"/>
            </p:cNvSpPr>
            <p:nvPr/>
          </p:nvSpPr>
          <p:spPr bwMode="auto">
            <a:xfrm flipH="1">
              <a:off x="2744" y="1979"/>
              <a:ext cx="454" cy="408"/>
            </a:xfrm>
            <a:prstGeom prst="line">
              <a:avLst/>
            </a:prstGeom>
            <a:noFill/>
            <a:ln w="38100">
              <a:solidFill>
                <a:srgbClr val="FF0000"/>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12299" name="直接连接符 797712">
              <a:extLst>
                <a:ext uri="{FF2B5EF4-FFF2-40B4-BE49-F238E27FC236}">
                  <a16:creationId xmlns:a16="http://schemas.microsoft.com/office/drawing/2014/main" id="{51B42833-C5D8-443D-83E9-5F5D453CA55B}"/>
                </a:ext>
              </a:extLst>
            </p:cNvPr>
            <p:cNvSpPr>
              <a:spLocks noChangeShapeType="1"/>
            </p:cNvSpPr>
            <p:nvPr/>
          </p:nvSpPr>
          <p:spPr bwMode="auto">
            <a:xfrm>
              <a:off x="2789" y="1979"/>
              <a:ext cx="363" cy="408"/>
            </a:xfrm>
            <a:prstGeom prst="line">
              <a:avLst/>
            </a:prstGeom>
            <a:noFill/>
            <a:ln w="38100">
              <a:solidFill>
                <a:srgbClr val="FF0000"/>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grpSp>
      <p:grpSp>
        <p:nvGrpSpPr>
          <p:cNvPr id="12300" name="组合 797713">
            <a:extLst>
              <a:ext uri="{FF2B5EF4-FFF2-40B4-BE49-F238E27FC236}">
                <a16:creationId xmlns:a16="http://schemas.microsoft.com/office/drawing/2014/main" id="{D3C3D5F1-A8E1-420D-872F-1BC8544E8996}"/>
              </a:ext>
            </a:extLst>
          </p:cNvPr>
          <p:cNvGrpSpPr>
            <a:grpSpLocks/>
          </p:cNvGrpSpPr>
          <p:nvPr/>
        </p:nvGrpSpPr>
        <p:grpSpPr bwMode="auto">
          <a:xfrm>
            <a:off x="3922713" y="3557588"/>
            <a:ext cx="1585912" cy="2233612"/>
            <a:chOff x="2660" y="2478"/>
            <a:chExt cx="800" cy="1407"/>
          </a:xfrm>
        </p:grpSpPr>
        <p:pic>
          <p:nvPicPr>
            <p:cNvPr id="12301" name="图片 797714" descr="j0299125">
              <a:extLst>
                <a:ext uri="{FF2B5EF4-FFF2-40B4-BE49-F238E27FC236}">
                  <a16:creationId xmlns:a16="http://schemas.microsoft.com/office/drawing/2014/main" id="{B530DE0F-4579-4B92-8C78-4C46F3FD52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7" y="2478"/>
              <a:ext cx="693" cy="1137"/>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02" name="文本框 797715">
              <a:extLst>
                <a:ext uri="{FF2B5EF4-FFF2-40B4-BE49-F238E27FC236}">
                  <a16:creationId xmlns:a16="http://schemas.microsoft.com/office/drawing/2014/main" id="{D6EFA53D-4A6A-4A17-BEFB-35D39A7FA378}"/>
                </a:ext>
              </a:extLst>
            </p:cNvPr>
            <p:cNvSpPr txBox="1">
              <a:spLocks noChangeArrowheads="1"/>
            </p:cNvSpPr>
            <p:nvPr/>
          </p:nvSpPr>
          <p:spPr bwMode="auto">
            <a:xfrm>
              <a:off x="2660" y="3575"/>
              <a:ext cx="800" cy="31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0800" rIns="0" bIns="10800">
              <a:spAutoFit/>
            </a:bodyPr>
            <a:lstStyle/>
            <a:p>
              <a:pPr>
                <a:lnSpc>
                  <a:spcPct val="110000"/>
                </a:lnSpc>
                <a:spcBef>
                  <a:spcPct val="20000"/>
                </a:spcBef>
                <a:buSzPct val="100000"/>
                <a:buFont typeface="Wingdings" panose="05000000000000000000" pitchFamily="2" charset="2"/>
                <a:buNone/>
              </a:pPr>
              <a:r>
                <a:rPr lang="zh-CN" altLang="en-US" sz="2800" b="1"/>
                <a:t>信息世界</a:t>
              </a:r>
            </a:p>
          </p:txBody>
        </p:sp>
      </p:grpSp>
      <p:sp>
        <p:nvSpPr>
          <p:cNvPr id="12303" name="左弧形箭头 797717">
            <a:extLst>
              <a:ext uri="{FF2B5EF4-FFF2-40B4-BE49-F238E27FC236}">
                <a16:creationId xmlns:a16="http://schemas.microsoft.com/office/drawing/2014/main" id="{9BF14CBE-AFBC-4681-82A9-CB59471031DC}"/>
              </a:ext>
            </a:extLst>
          </p:cNvPr>
          <p:cNvSpPr>
            <a:spLocks noChangeArrowheads="1"/>
          </p:cNvSpPr>
          <p:nvPr/>
        </p:nvSpPr>
        <p:spPr bwMode="auto">
          <a:xfrm rot="-1800000">
            <a:off x="1824038" y="4146550"/>
            <a:ext cx="720725" cy="1873250"/>
          </a:xfrm>
          <a:prstGeom prst="curvedRightArrow">
            <a:avLst>
              <a:gd name="adj1" fmla="val 41634"/>
              <a:gd name="adj2" fmla="val 89646"/>
              <a:gd name="adj3" fmla="val 39421"/>
            </a:avLst>
          </a:prstGeom>
          <a:solidFill>
            <a:schemeClr val="accent1"/>
          </a:solidFill>
          <a:ln w="9525">
            <a:solidFill>
              <a:schemeClr val="tx1"/>
            </a:solidFill>
            <a:miter lim="800000"/>
            <a:headEnd/>
            <a:tailEnd/>
          </a:ln>
          <a:effectLst>
            <a:outerShdw dist="17961" dir="2700000" algn="ctr" rotWithShape="0">
              <a:schemeClr val="tx1"/>
            </a:outerShdw>
          </a:effectLst>
        </p:spPr>
        <p:txBody>
          <a:bodyPr/>
          <a:lstStyle/>
          <a:p>
            <a:endParaRPr lang="zh-CN" altLang="en-US"/>
          </a:p>
        </p:txBody>
      </p:sp>
      <p:sp>
        <p:nvSpPr>
          <p:cNvPr id="12304" name="文本框 797718">
            <a:extLst>
              <a:ext uri="{FF2B5EF4-FFF2-40B4-BE49-F238E27FC236}">
                <a16:creationId xmlns:a16="http://schemas.microsoft.com/office/drawing/2014/main" id="{40DDB78D-67D7-4602-9DF8-6D24BBEBF920}"/>
              </a:ext>
            </a:extLst>
          </p:cNvPr>
          <p:cNvSpPr txBox="1">
            <a:spLocks noChangeArrowheads="1"/>
          </p:cNvSpPr>
          <p:nvPr/>
        </p:nvSpPr>
        <p:spPr bwMode="auto">
          <a:xfrm>
            <a:off x="3913188" y="5675313"/>
            <a:ext cx="1450975" cy="561975"/>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p>
            <a:pPr>
              <a:lnSpc>
                <a:spcPct val="110000"/>
              </a:lnSpc>
              <a:spcBef>
                <a:spcPct val="20000"/>
              </a:spcBef>
              <a:buSzPct val="100000"/>
              <a:buFont typeface="Wingdings" panose="05000000000000000000" pitchFamily="2" charset="2"/>
              <a:buNone/>
            </a:pPr>
            <a:r>
              <a:rPr lang="zh-CN" altLang="en-US" sz="2800" b="1">
                <a:solidFill>
                  <a:srgbClr val="A50021"/>
                </a:solidFill>
              </a:rPr>
              <a:t>概念模型</a:t>
            </a:r>
          </a:p>
        </p:txBody>
      </p:sp>
      <p:sp>
        <p:nvSpPr>
          <p:cNvPr id="12305" name="文本框 797719">
            <a:extLst>
              <a:ext uri="{FF2B5EF4-FFF2-40B4-BE49-F238E27FC236}">
                <a16:creationId xmlns:a16="http://schemas.microsoft.com/office/drawing/2014/main" id="{D5E8B590-D023-4713-8503-65F5FAB5B061}"/>
              </a:ext>
            </a:extLst>
          </p:cNvPr>
          <p:cNvSpPr txBox="1">
            <a:spLocks noChangeArrowheads="1"/>
          </p:cNvSpPr>
          <p:nvPr/>
        </p:nvSpPr>
        <p:spPr bwMode="auto">
          <a:xfrm>
            <a:off x="579438" y="4797425"/>
            <a:ext cx="1112837" cy="792163"/>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zh-CN" altLang="en-US" sz="2400" b="1">
                <a:solidFill>
                  <a:srgbClr val="006600"/>
                </a:solidFill>
                <a:latin typeface="Times New Roman" panose="02020603050405020304" pitchFamily="18" charset="0"/>
              </a:rPr>
              <a:t>概念化抽象</a:t>
            </a:r>
            <a:endParaRPr lang="zh-CN" altLang="en-US" sz="2400" b="1">
              <a:solidFill>
                <a:srgbClr val="006600"/>
              </a:solidFill>
            </a:endParaRPr>
          </a:p>
        </p:txBody>
      </p:sp>
      <p:sp>
        <p:nvSpPr>
          <p:cNvPr id="797725" name="圆角矩形标注 797724">
            <a:extLst>
              <a:ext uri="{FF2B5EF4-FFF2-40B4-BE49-F238E27FC236}">
                <a16:creationId xmlns:a16="http://schemas.microsoft.com/office/drawing/2014/main" id="{9D209B2B-EDDC-480B-84ED-9F6E4D908114}"/>
              </a:ext>
            </a:extLst>
          </p:cNvPr>
          <p:cNvSpPr>
            <a:spLocks noChangeArrowheads="1"/>
          </p:cNvSpPr>
          <p:nvPr/>
        </p:nvSpPr>
        <p:spPr bwMode="auto">
          <a:xfrm>
            <a:off x="2484438" y="1052513"/>
            <a:ext cx="3816350" cy="2305050"/>
          </a:xfrm>
          <a:prstGeom prst="wedgeRoundRectCallout">
            <a:avLst>
              <a:gd name="adj1" fmla="val -56741"/>
              <a:gd name="adj2" fmla="val 117426"/>
              <a:gd name="adj3" fmla="val 16667"/>
            </a:avLst>
          </a:prstGeom>
          <a:solidFill>
            <a:srgbClr val="16EAC7"/>
          </a:solidFill>
          <a:ln w="9525">
            <a:solidFill>
              <a:schemeClr val="tx1"/>
            </a:solidFill>
            <a:miter lim="800000"/>
            <a:headEnd/>
            <a:tailEnd/>
          </a:ln>
        </p:spPr>
        <p:txBody>
          <a:bodyPr/>
          <a:lstStyle/>
          <a:p>
            <a:r>
              <a:rPr lang="zh-CN" altLang="en-US" sz="2800" b="1">
                <a:latin typeface="Tahoma" panose="020B0604030504040204" pitchFamily="34" charset="0"/>
                <a:ea typeface="隶书" panose="02010509060101010101" pitchFamily="49" charset="-122"/>
              </a:rPr>
              <a:t>       通过对现实世界中人们关心的</a:t>
            </a:r>
            <a:r>
              <a:rPr lang="zh-CN" altLang="en-US" sz="2800" b="1">
                <a:latin typeface="Times New Roman" panose="02020603050405020304" pitchFamily="18" charset="0"/>
                <a:ea typeface="隶书" panose="02010509060101010101" pitchFamily="49" charset="-122"/>
              </a:rPr>
              <a:t>“</a:t>
            </a:r>
            <a:r>
              <a:rPr lang="zh-CN" altLang="en-US" sz="2800" b="1">
                <a:latin typeface="Tahoma" panose="020B0604030504040204" pitchFamily="34" charset="0"/>
                <a:ea typeface="隶书" panose="02010509060101010101" pitchFamily="49" charset="-122"/>
              </a:rPr>
              <a:t>事物</a:t>
            </a:r>
            <a:r>
              <a:rPr lang="zh-CN" altLang="en-US" sz="2800" b="1">
                <a:latin typeface="Times New Roman" panose="02020603050405020304" pitchFamily="18" charset="0"/>
                <a:ea typeface="隶书" panose="02010509060101010101" pitchFamily="49" charset="-122"/>
              </a:rPr>
              <a:t>”</a:t>
            </a:r>
            <a:r>
              <a:rPr lang="zh-CN" altLang="en-US" sz="2800" b="1">
                <a:latin typeface="Tahoma" panose="020B0604030504040204" pitchFamily="34" charset="0"/>
                <a:ea typeface="隶书" panose="02010509060101010101" pitchFamily="49" charset="-122"/>
              </a:rPr>
              <a:t>及其之间联系</a:t>
            </a:r>
            <a:r>
              <a:rPr lang="zh-CN" altLang="en-US" sz="2600" b="1">
                <a:latin typeface="Tahoma" panose="020B0604030504040204" pitchFamily="34" charset="0"/>
                <a:ea typeface="隶书" panose="02010509060101010101" pitchFamily="49" charset="-122"/>
              </a:rPr>
              <a:t>的概念化抽象，形成了信息世界中的概念模型。</a:t>
            </a:r>
          </a:p>
        </p:txBody>
      </p:sp>
    </p:spTree>
  </p:cSld>
  <p:clrMapOvr>
    <a:masterClrMapping/>
  </p:clrMapOvr>
  <mc:AlternateContent xmlns:mc="http://schemas.openxmlformats.org/markup-compatibility/2006" xmlns:p14="http://schemas.microsoft.com/office/powerpoint/2010/main">
    <mc:Choice Requires="p14">
      <p:transition spd="slow" p14:dur="2000" advTm="32513"/>
    </mc:Choice>
    <mc:Fallback xmlns="">
      <p:transition spd="slow" advTm="32513"/>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797725"/>
                                        </p:tgtEl>
                                        <p:attrNameLst>
                                          <p:attrName>style.visibility</p:attrName>
                                        </p:attrNameLst>
                                      </p:cBhvr>
                                      <p:to>
                                        <p:strVal val="visible"/>
                                      </p:to>
                                    </p:set>
                                    <p:animEffect transition="in" filter="box(in)">
                                      <p:cBhvr>
                                        <p:cTn id="7" dur="500"/>
                                        <p:tgtEl>
                                          <p:spTgt spid="7977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772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313" name="组合 799747">
            <a:extLst>
              <a:ext uri="{FF2B5EF4-FFF2-40B4-BE49-F238E27FC236}">
                <a16:creationId xmlns:a16="http://schemas.microsoft.com/office/drawing/2014/main" id="{112B94C6-1611-45FC-BD39-C46C15DEF944}"/>
              </a:ext>
            </a:extLst>
          </p:cNvPr>
          <p:cNvGrpSpPr>
            <a:grpSpLocks/>
          </p:cNvGrpSpPr>
          <p:nvPr/>
        </p:nvGrpSpPr>
        <p:grpSpPr bwMode="auto">
          <a:xfrm>
            <a:off x="6172200" y="1506538"/>
            <a:ext cx="2360613" cy="2052637"/>
            <a:chOff x="4063" y="958"/>
            <a:chExt cx="1221" cy="1293"/>
          </a:xfrm>
        </p:grpSpPr>
        <p:sp>
          <p:nvSpPr>
            <p:cNvPr id="13314" name="laptop">
              <a:extLst>
                <a:ext uri="{FF2B5EF4-FFF2-40B4-BE49-F238E27FC236}">
                  <a16:creationId xmlns:a16="http://schemas.microsoft.com/office/drawing/2014/main" id="{9024C2C6-3712-4265-934C-48EB5F33CE0E}"/>
                </a:ext>
              </a:extLst>
            </p:cNvPr>
            <p:cNvSpPr>
              <a:spLocks noEditPoints="1" noChangeArrowheads="1"/>
            </p:cNvSpPr>
            <p:nvPr/>
          </p:nvSpPr>
          <p:spPr bwMode="auto">
            <a:xfrm>
              <a:off x="4144" y="1393"/>
              <a:ext cx="1140" cy="858"/>
            </a:xfrm>
            <a:custGeom>
              <a:avLst/>
              <a:gdLst>
                <a:gd name="T0" fmla="*/ 3362 w 21600"/>
                <a:gd name="T1" fmla="*/ 0 h 21600"/>
                <a:gd name="T2" fmla="*/ 18327 w 21600"/>
                <a:gd name="T3" fmla="*/ 0 h 21600"/>
                <a:gd name="T4" fmla="*/ 18327 w 21600"/>
                <a:gd name="T5" fmla="*/ 14347 h 21600"/>
                <a:gd name="T6" fmla="*/ 3362 w 21600"/>
                <a:gd name="T7" fmla="*/ 14347 h 21600"/>
                <a:gd name="T8" fmla="*/ 3362 w 21600"/>
                <a:gd name="T9" fmla="*/ 0 h 21600"/>
                <a:gd name="T10" fmla="*/ 3340 w 21600"/>
                <a:gd name="T11" fmla="*/ 15068 h 21600"/>
                <a:gd name="T12" fmla="*/ 0 w 21600"/>
                <a:gd name="T13" fmla="*/ 19877 h 21600"/>
                <a:gd name="T14" fmla="*/ 21600 w 21600"/>
                <a:gd name="T15" fmla="*/ 19877 h 21600"/>
                <a:gd name="T16" fmla="*/ 18327 w 21600"/>
                <a:gd name="T17" fmla="*/ 15068 h 21600"/>
                <a:gd name="T18" fmla="*/ 3340 w 21600"/>
                <a:gd name="T19" fmla="*/ 15068 h 21600"/>
                <a:gd name="T20" fmla="*/ 0 w 21600"/>
                <a:gd name="T21" fmla="*/ 19877 h 21600"/>
                <a:gd name="T22" fmla="*/ 0 w 21600"/>
                <a:gd name="T23" fmla="*/ 21600 h 21600"/>
                <a:gd name="T24" fmla="*/ 21600 w 21600"/>
                <a:gd name="T25" fmla="*/ 21600 h 21600"/>
                <a:gd name="T26" fmla="*/ 21600 w 21600"/>
                <a:gd name="T27" fmla="*/ 19877 h 21600"/>
                <a:gd name="T28" fmla="*/ 0 w 21600"/>
                <a:gd name="T29" fmla="*/ 19877 h 21600"/>
                <a:gd name="T30" fmla="*/ 4186 w 21600"/>
                <a:gd name="T31" fmla="*/ 1523 h 21600"/>
                <a:gd name="T32" fmla="*/ 17547 w 21600"/>
                <a:gd name="T33" fmla="*/ 1523 h 21600"/>
                <a:gd name="T34" fmla="*/ 17547 w 21600"/>
                <a:gd name="T35" fmla="*/ 12744 h 21600"/>
                <a:gd name="T36" fmla="*/ 4186 w 21600"/>
                <a:gd name="T37" fmla="*/ 12744 h 21600"/>
                <a:gd name="T38" fmla="*/ 4186 w 21600"/>
                <a:gd name="T39" fmla="*/ 1523 h 21600"/>
                <a:gd name="T40" fmla="*/ 3318 w 21600"/>
                <a:gd name="T41" fmla="*/ 15549 h 21600"/>
                <a:gd name="T42" fmla="*/ 2917 w 21600"/>
                <a:gd name="T43" fmla="*/ 16110 h 21600"/>
                <a:gd name="T44" fmla="*/ 18727 w 21600"/>
                <a:gd name="T45" fmla="*/ 16110 h 21600"/>
                <a:gd name="T46" fmla="*/ 18327 w 21600"/>
                <a:gd name="T47" fmla="*/ 15549 h 21600"/>
                <a:gd name="T48" fmla="*/ 3318 w 21600"/>
                <a:gd name="T49" fmla="*/ 15549 h 21600"/>
                <a:gd name="T50" fmla="*/ 6213 w 21600"/>
                <a:gd name="T51" fmla="*/ 18314 h 21600"/>
                <a:gd name="T52" fmla="*/ 5946 w 21600"/>
                <a:gd name="T53" fmla="*/ 18875 h 21600"/>
                <a:gd name="T54" fmla="*/ 15766 w 21600"/>
                <a:gd name="T55" fmla="*/ 18875 h 21600"/>
                <a:gd name="T56" fmla="*/ 15499 w 21600"/>
                <a:gd name="T57" fmla="*/ 18314 h 21600"/>
                <a:gd name="T58" fmla="*/ 6213 w 21600"/>
                <a:gd name="T59" fmla="*/ 18314 h 21600"/>
                <a:gd name="T60" fmla="*/ 2828 w 21600"/>
                <a:gd name="T61" fmla="*/ 16471 h 21600"/>
                <a:gd name="T62" fmla="*/ 2405 w 21600"/>
                <a:gd name="T63" fmla="*/ 17072 h 21600"/>
                <a:gd name="T64" fmla="*/ 19284 w 21600"/>
                <a:gd name="T65" fmla="*/ 17072 h 21600"/>
                <a:gd name="T66" fmla="*/ 18839 w 21600"/>
                <a:gd name="T67" fmla="*/ 16471 h 21600"/>
                <a:gd name="T68" fmla="*/ 2828 w 21600"/>
                <a:gd name="T69" fmla="*/ 16471 h 21600"/>
                <a:gd name="T70" fmla="*/ 2316 w 21600"/>
                <a:gd name="T71" fmla="*/ 17352 h 21600"/>
                <a:gd name="T72" fmla="*/ 1871 w 21600"/>
                <a:gd name="T73" fmla="*/ 17953 h 21600"/>
                <a:gd name="T74" fmla="*/ 19863 w 21600"/>
                <a:gd name="T75" fmla="*/ 17953 h 21600"/>
                <a:gd name="T76" fmla="*/ 19395 w 21600"/>
                <a:gd name="T77" fmla="*/ 17352 h 21600"/>
                <a:gd name="T78" fmla="*/ 2316 w 21600"/>
                <a:gd name="T79" fmla="*/ 17352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1600" h="21600">
                  <a:moveTo>
                    <a:pt x="3362" y="0"/>
                  </a:moveTo>
                  <a:lnTo>
                    <a:pt x="18327" y="0"/>
                  </a:lnTo>
                  <a:lnTo>
                    <a:pt x="18327" y="14347"/>
                  </a:lnTo>
                  <a:lnTo>
                    <a:pt x="3362" y="14347"/>
                  </a:lnTo>
                  <a:lnTo>
                    <a:pt x="3362" y="0"/>
                  </a:lnTo>
                  <a:close/>
                </a:path>
                <a:path w="21600" h="21600">
                  <a:moveTo>
                    <a:pt x="3340" y="15068"/>
                  </a:moveTo>
                  <a:lnTo>
                    <a:pt x="0" y="19877"/>
                  </a:lnTo>
                  <a:lnTo>
                    <a:pt x="21600" y="19877"/>
                  </a:lnTo>
                  <a:lnTo>
                    <a:pt x="18327" y="15068"/>
                  </a:lnTo>
                  <a:lnTo>
                    <a:pt x="3340" y="15068"/>
                  </a:lnTo>
                  <a:close/>
                </a:path>
                <a:path w="21600" h="21600">
                  <a:moveTo>
                    <a:pt x="0" y="19877"/>
                  </a:moveTo>
                  <a:lnTo>
                    <a:pt x="0" y="21600"/>
                  </a:lnTo>
                  <a:lnTo>
                    <a:pt x="21600" y="21600"/>
                  </a:lnTo>
                  <a:lnTo>
                    <a:pt x="21600" y="19877"/>
                  </a:lnTo>
                  <a:lnTo>
                    <a:pt x="0" y="19877"/>
                  </a:lnTo>
                  <a:close/>
                </a:path>
                <a:path w="21600" h="21600">
                  <a:moveTo>
                    <a:pt x="4186" y="1523"/>
                  </a:moveTo>
                  <a:lnTo>
                    <a:pt x="17547" y="1523"/>
                  </a:lnTo>
                  <a:lnTo>
                    <a:pt x="17547" y="12744"/>
                  </a:lnTo>
                  <a:lnTo>
                    <a:pt x="4186" y="12744"/>
                  </a:lnTo>
                  <a:lnTo>
                    <a:pt x="4186" y="1523"/>
                  </a:lnTo>
                  <a:close/>
                </a:path>
                <a:path w="21600" h="21600">
                  <a:moveTo>
                    <a:pt x="3318" y="15549"/>
                  </a:moveTo>
                  <a:lnTo>
                    <a:pt x="2917" y="16110"/>
                  </a:lnTo>
                  <a:lnTo>
                    <a:pt x="18727" y="16110"/>
                  </a:lnTo>
                  <a:lnTo>
                    <a:pt x="18327" y="15549"/>
                  </a:lnTo>
                  <a:lnTo>
                    <a:pt x="3318" y="15549"/>
                  </a:lnTo>
                  <a:close/>
                </a:path>
                <a:path w="21600" h="21600">
                  <a:moveTo>
                    <a:pt x="6213" y="18314"/>
                  </a:moveTo>
                  <a:lnTo>
                    <a:pt x="5946" y="18875"/>
                  </a:lnTo>
                  <a:lnTo>
                    <a:pt x="15766" y="18875"/>
                  </a:lnTo>
                  <a:lnTo>
                    <a:pt x="15499" y="18314"/>
                  </a:lnTo>
                  <a:lnTo>
                    <a:pt x="6213" y="18314"/>
                  </a:lnTo>
                  <a:close/>
                </a:path>
                <a:path w="21600" h="21600">
                  <a:moveTo>
                    <a:pt x="2828" y="16471"/>
                  </a:moveTo>
                  <a:lnTo>
                    <a:pt x="2405" y="17072"/>
                  </a:lnTo>
                  <a:lnTo>
                    <a:pt x="19284" y="17072"/>
                  </a:lnTo>
                  <a:lnTo>
                    <a:pt x="18839" y="16471"/>
                  </a:lnTo>
                  <a:lnTo>
                    <a:pt x="2828" y="16471"/>
                  </a:lnTo>
                  <a:close/>
                </a:path>
                <a:path w="21600" h="21600">
                  <a:moveTo>
                    <a:pt x="2316" y="17352"/>
                  </a:moveTo>
                  <a:lnTo>
                    <a:pt x="1871" y="17953"/>
                  </a:lnTo>
                  <a:lnTo>
                    <a:pt x="19863" y="17953"/>
                  </a:lnTo>
                  <a:lnTo>
                    <a:pt x="19395" y="17352"/>
                  </a:lnTo>
                  <a:lnTo>
                    <a:pt x="2316" y="17352"/>
                  </a:lnTo>
                  <a:close/>
                </a:path>
              </a:pathLst>
            </a:custGeom>
            <a:solidFill>
              <a:srgbClr val="C0C0C0"/>
            </a:solidFill>
            <a:ln w="9525">
              <a:solidFill>
                <a:srgbClr val="000000"/>
              </a:solidFill>
              <a:miter lim="800000"/>
              <a:headEnd/>
              <a:tailEnd/>
            </a:ln>
            <a:effectLst>
              <a:outerShdw dist="35921" dir="2700000" algn="ctr" rotWithShape="0">
                <a:schemeClr val="tx1"/>
              </a:outerShdw>
            </a:effectLst>
          </p:spPr>
          <p:txBody>
            <a:bodyPr/>
            <a:lstStyle/>
            <a:p>
              <a:endParaRPr lang="zh-CN" altLang="en-US"/>
            </a:p>
          </p:txBody>
        </p:sp>
        <p:sp>
          <p:nvSpPr>
            <p:cNvPr id="13315" name="文本框 799749">
              <a:extLst>
                <a:ext uri="{FF2B5EF4-FFF2-40B4-BE49-F238E27FC236}">
                  <a16:creationId xmlns:a16="http://schemas.microsoft.com/office/drawing/2014/main" id="{BEE54C8C-5B59-454E-B6F1-DD269E72050A}"/>
                </a:ext>
              </a:extLst>
            </p:cNvPr>
            <p:cNvSpPr txBox="1">
              <a:spLocks noChangeArrowheads="1"/>
            </p:cNvSpPr>
            <p:nvPr/>
          </p:nvSpPr>
          <p:spPr bwMode="auto">
            <a:xfrm>
              <a:off x="4063" y="958"/>
              <a:ext cx="860" cy="31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10800" rIns="0" bIns="10800">
              <a:spAutoFit/>
            </a:bodyPr>
            <a:lstStyle/>
            <a:p>
              <a:pPr algn="ctr">
                <a:lnSpc>
                  <a:spcPct val="110000"/>
                </a:lnSpc>
                <a:spcBef>
                  <a:spcPct val="20000"/>
                </a:spcBef>
                <a:buSzPct val="100000"/>
                <a:buFont typeface="Wingdings" panose="05000000000000000000" pitchFamily="2" charset="2"/>
                <a:buNone/>
              </a:pPr>
              <a:r>
                <a:rPr lang="zh-CN" altLang="en-US" sz="2800" b="1"/>
                <a:t>      计算机</a:t>
              </a:r>
            </a:p>
          </p:txBody>
        </p:sp>
      </p:grpSp>
      <p:grpSp>
        <p:nvGrpSpPr>
          <p:cNvPr id="13316" name="组合 799750">
            <a:extLst>
              <a:ext uri="{FF2B5EF4-FFF2-40B4-BE49-F238E27FC236}">
                <a16:creationId xmlns:a16="http://schemas.microsoft.com/office/drawing/2014/main" id="{FD60A7F7-7D72-4F80-8E52-77EBC3007C3E}"/>
              </a:ext>
            </a:extLst>
          </p:cNvPr>
          <p:cNvGrpSpPr>
            <a:grpSpLocks/>
          </p:cNvGrpSpPr>
          <p:nvPr/>
        </p:nvGrpSpPr>
        <p:grpSpPr bwMode="auto">
          <a:xfrm>
            <a:off x="971550" y="1484313"/>
            <a:ext cx="1512888" cy="2001837"/>
            <a:chOff x="823" y="944"/>
            <a:chExt cx="896" cy="1261"/>
          </a:xfrm>
        </p:grpSpPr>
        <p:sp>
          <p:nvSpPr>
            <p:cNvPr id="13317" name="文本框 799751">
              <a:extLst>
                <a:ext uri="{FF2B5EF4-FFF2-40B4-BE49-F238E27FC236}">
                  <a16:creationId xmlns:a16="http://schemas.microsoft.com/office/drawing/2014/main" id="{134D9B7D-27B2-45BF-B85A-BC37D3599576}"/>
                </a:ext>
              </a:extLst>
            </p:cNvPr>
            <p:cNvSpPr txBox="1">
              <a:spLocks noChangeArrowheads="1"/>
            </p:cNvSpPr>
            <p:nvPr/>
          </p:nvSpPr>
          <p:spPr bwMode="auto">
            <a:xfrm>
              <a:off x="823" y="944"/>
              <a:ext cx="896" cy="31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0800" rIns="0" bIns="10800">
              <a:spAutoFit/>
            </a:bodyPr>
            <a:lstStyle/>
            <a:p>
              <a:pPr>
                <a:lnSpc>
                  <a:spcPct val="110000"/>
                </a:lnSpc>
                <a:spcBef>
                  <a:spcPct val="20000"/>
                </a:spcBef>
                <a:buSzPct val="100000"/>
                <a:buFont typeface="Wingdings" panose="05000000000000000000" pitchFamily="2" charset="2"/>
                <a:buNone/>
              </a:pPr>
              <a:r>
                <a:rPr lang="zh-CN" altLang="en-US" sz="2800" b="1"/>
                <a:t>现实世界</a:t>
              </a:r>
            </a:p>
          </p:txBody>
        </p:sp>
        <p:sp>
          <p:nvSpPr>
            <p:cNvPr id="799753" name="Documents">
              <a:extLst>
                <a:ext uri="{FF2B5EF4-FFF2-40B4-BE49-F238E27FC236}">
                  <a16:creationId xmlns:a16="http://schemas.microsoft.com/office/drawing/2014/main" id="{936ECFD8-6E04-4F04-BD6C-2D5AB5B7EB13}"/>
                </a:ext>
              </a:extLst>
            </p:cNvPr>
            <p:cNvSpPr>
              <a:spLocks noEditPoints="1"/>
            </p:cNvSpPr>
            <p:nvPr/>
          </p:nvSpPr>
          <p:spPr>
            <a:xfrm>
              <a:off x="884" y="1344"/>
              <a:ext cx="771" cy="861"/>
            </a:xfrm>
            <a:custGeom>
              <a:avLst/>
              <a:gdLst>
                <a:gd name="txL" fmla="*/ 1645 w 21600"/>
                <a:gd name="txT" fmla="*/ 4171 h 21600"/>
                <a:gd name="txR" fmla="*/ 16522 w 21600"/>
                <a:gd name="txB" fmla="*/ 17314 h 21600"/>
              </a:gdLst>
              <a:ahLst/>
              <a:cxnLst>
                <a:cxn ang="0">
                  <a:pos x="0" y="2800"/>
                </a:cxn>
                <a:cxn ang="0">
                  <a:pos x="3468" y="0"/>
                </a:cxn>
                <a:cxn ang="0">
                  <a:pos x="21653" y="18828"/>
                </a:cxn>
                <a:cxn ang="0">
                  <a:pos x="19954" y="20214"/>
                </a:cxn>
                <a:cxn ang="0">
                  <a:pos x="18256" y="21628"/>
                </a:cxn>
                <a:cxn ang="0">
                  <a:pos x="19954" y="1428"/>
                </a:cxn>
                <a:cxn ang="0">
                  <a:pos x="18256" y="2800"/>
                </a:cxn>
                <a:cxn ang="0">
                  <a:pos x="1645" y="1428"/>
                </a:cxn>
                <a:cxn ang="0">
                  <a:pos x="21600" y="0"/>
                </a:cxn>
                <a:cxn ang="0">
                  <a:pos x="10800" y="0"/>
                </a:cxn>
                <a:cxn ang="0">
                  <a:pos x="0" y="10800"/>
                </a:cxn>
                <a:cxn ang="0">
                  <a:pos x="21600" y="10800"/>
                </a:cxn>
              </a:cxnLst>
              <a:rect l="txL" t="txT" r="txR" b="txB"/>
              <a:pathLst>
                <a:path w="21600" h="2160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a:moveTo>
                    <a:pt x="3486" y="1428"/>
                  </a:moveTo>
                  <a:lnTo>
                    <a:pt x="19954" y="1428"/>
                  </a:lnTo>
                  <a:lnTo>
                    <a:pt x="19954" y="20214"/>
                  </a:lnTo>
                  <a:lnTo>
                    <a:pt x="18256" y="20214"/>
                  </a:lnTo>
                  <a:lnTo>
                    <a:pt x="18256" y="2800"/>
                  </a:lnTo>
                  <a:lnTo>
                    <a:pt x="1645" y="2800"/>
                  </a:lnTo>
                  <a:lnTo>
                    <a:pt x="1645" y="1428"/>
                  </a:lnTo>
                  <a:lnTo>
                    <a:pt x="3486" y="1428"/>
                  </a:lnTo>
                  <a:close/>
                </a:path>
                <a:path w="21600" h="21600">
                  <a:moveTo>
                    <a:pt x="0" y="18014"/>
                  </a:moveTo>
                  <a:lnTo>
                    <a:pt x="4434" y="18000"/>
                  </a:lnTo>
                  <a:lnTo>
                    <a:pt x="4434" y="21600"/>
                  </a:lnTo>
                  <a:lnTo>
                    <a:pt x="0" y="18014"/>
                  </a:lnTo>
                  <a:close/>
                </a:path>
              </a:pathLst>
            </a:custGeom>
            <a:solidFill>
              <a:srgbClr val="D8EBB3"/>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lstStyle/>
            <a:p>
              <a:pPr algn="ctr">
                <a:lnSpc>
                  <a:spcPct val="110000"/>
                </a:lnSpc>
                <a:spcBef>
                  <a:spcPct val="20000"/>
                </a:spcBef>
                <a:buSzPct val="100000"/>
                <a:buFont typeface="Wingdings" panose="05000000000000000000" pitchFamily="2" charset="2"/>
                <a:buNone/>
              </a:pPr>
              <a:r>
                <a:rPr lang="zh-CN" altLang="en-US" sz="2400" b="1" noProof="1">
                  <a:effectLst>
                    <a:outerShdw blurRad="38100" dist="38100" dir="2700000">
                      <a:srgbClr val="FFFFFF"/>
                    </a:outerShdw>
                  </a:effectLst>
                </a:rPr>
                <a:t>信息</a:t>
              </a:r>
            </a:p>
          </p:txBody>
        </p:sp>
      </p:grpSp>
      <p:sp>
        <p:nvSpPr>
          <p:cNvPr id="799754" name="矩形 799753">
            <a:extLst>
              <a:ext uri="{FF2B5EF4-FFF2-40B4-BE49-F238E27FC236}">
                <a16:creationId xmlns:a16="http://schemas.microsoft.com/office/drawing/2014/main" id="{84949206-8EAC-4B88-B656-39E7100465DA}"/>
              </a:ext>
            </a:extLst>
          </p:cNvPr>
          <p:cNvSpPr/>
          <p:nvPr/>
        </p:nvSpPr>
        <p:spPr>
          <a:xfrm>
            <a:off x="1150938" y="214313"/>
            <a:ext cx="7793037" cy="622300"/>
          </a:xfrm>
          <a:prstGeom prst="rect">
            <a:avLst/>
          </a:prstGeom>
          <a:noFill/>
          <a:ln w="9525">
            <a:noFill/>
          </a:ln>
          <a:effectLst>
            <a:outerShdw dist="17961" dir="2699999" algn="ctr" rotWithShape="0">
              <a:schemeClr val="tx1">
                <a:alpha val="50000"/>
              </a:schemeClr>
            </a:outerShdw>
          </a:effectLst>
        </p:spPr>
        <p:txBody>
          <a:bodyPr anchor="ctr"/>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t>一、现实世界的数据描述</a:t>
            </a:r>
          </a:p>
        </p:txBody>
      </p:sp>
      <p:grpSp>
        <p:nvGrpSpPr>
          <p:cNvPr id="13320" name="组合 799754">
            <a:extLst>
              <a:ext uri="{FF2B5EF4-FFF2-40B4-BE49-F238E27FC236}">
                <a16:creationId xmlns:a16="http://schemas.microsoft.com/office/drawing/2014/main" id="{B72E3CF0-4278-4308-A1C6-08DD03209D29}"/>
              </a:ext>
            </a:extLst>
          </p:cNvPr>
          <p:cNvGrpSpPr>
            <a:grpSpLocks/>
          </p:cNvGrpSpPr>
          <p:nvPr/>
        </p:nvGrpSpPr>
        <p:grpSpPr bwMode="auto">
          <a:xfrm>
            <a:off x="3408363" y="2405063"/>
            <a:ext cx="2232025" cy="647700"/>
            <a:chOff x="2381" y="1979"/>
            <a:chExt cx="1406" cy="408"/>
          </a:xfrm>
        </p:grpSpPr>
        <p:sp>
          <p:nvSpPr>
            <p:cNvPr id="13321" name="右箭头 799755">
              <a:extLst>
                <a:ext uri="{FF2B5EF4-FFF2-40B4-BE49-F238E27FC236}">
                  <a16:creationId xmlns:a16="http://schemas.microsoft.com/office/drawing/2014/main" id="{5E2B9CE7-044A-4053-BF06-D7A26AB6AE13}"/>
                </a:ext>
              </a:extLst>
            </p:cNvPr>
            <p:cNvSpPr>
              <a:spLocks noChangeArrowheads="1"/>
            </p:cNvSpPr>
            <p:nvPr/>
          </p:nvSpPr>
          <p:spPr bwMode="auto">
            <a:xfrm>
              <a:off x="2381" y="2069"/>
              <a:ext cx="1406" cy="227"/>
            </a:xfrm>
            <a:prstGeom prst="rightArrow">
              <a:avLst>
                <a:gd name="adj1" fmla="val 49778"/>
                <a:gd name="adj2" fmla="val 117597"/>
              </a:avLst>
            </a:prstGeom>
            <a:solidFill>
              <a:schemeClr val="accent1"/>
            </a:solidFill>
            <a:ln w="9525">
              <a:solidFill>
                <a:schemeClr val="tx1"/>
              </a:solidFill>
              <a:miter lim="800000"/>
              <a:headEnd/>
              <a:tailEnd/>
            </a:ln>
            <a:effectLst>
              <a:outerShdw dist="35921" dir="2700000" algn="ctr" rotWithShape="0">
                <a:schemeClr val="tx1"/>
              </a:outerShdw>
            </a:effectLst>
          </p:spPr>
          <p:txBody>
            <a:bodyPr/>
            <a:lstStyle/>
            <a:p>
              <a:endParaRPr lang="zh-CN" altLang="en-US"/>
            </a:p>
          </p:txBody>
        </p:sp>
        <p:sp>
          <p:nvSpPr>
            <p:cNvPr id="13322" name="直接连接符 799756">
              <a:extLst>
                <a:ext uri="{FF2B5EF4-FFF2-40B4-BE49-F238E27FC236}">
                  <a16:creationId xmlns:a16="http://schemas.microsoft.com/office/drawing/2014/main" id="{B2E9FE70-604D-4930-AA0B-A909414E55C1}"/>
                </a:ext>
              </a:extLst>
            </p:cNvPr>
            <p:cNvSpPr>
              <a:spLocks noChangeShapeType="1"/>
            </p:cNvSpPr>
            <p:nvPr/>
          </p:nvSpPr>
          <p:spPr bwMode="auto">
            <a:xfrm flipH="1">
              <a:off x="2744" y="1979"/>
              <a:ext cx="454" cy="408"/>
            </a:xfrm>
            <a:prstGeom prst="line">
              <a:avLst/>
            </a:prstGeom>
            <a:noFill/>
            <a:ln w="38100">
              <a:solidFill>
                <a:srgbClr val="FF0000"/>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13323" name="直接连接符 799757">
              <a:extLst>
                <a:ext uri="{FF2B5EF4-FFF2-40B4-BE49-F238E27FC236}">
                  <a16:creationId xmlns:a16="http://schemas.microsoft.com/office/drawing/2014/main" id="{9B9D581B-46BC-4DA8-A9E1-E3E969ED2033}"/>
                </a:ext>
              </a:extLst>
            </p:cNvPr>
            <p:cNvSpPr>
              <a:spLocks noChangeShapeType="1"/>
            </p:cNvSpPr>
            <p:nvPr/>
          </p:nvSpPr>
          <p:spPr bwMode="auto">
            <a:xfrm>
              <a:off x="2789" y="1979"/>
              <a:ext cx="363" cy="408"/>
            </a:xfrm>
            <a:prstGeom prst="line">
              <a:avLst/>
            </a:prstGeom>
            <a:noFill/>
            <a:ln w="38100">
              <a:solidFill>
                <a:srgbClr val="FF0000"/>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grpSp>
      <p:grpSp>
        <p:nvGrpSpPr>
          <p:cNvPr id="13324" name="组合 799758">
            <a:extLst>
              <a:ext uri="{FF2B5EF4-FFF2-40B4-BE49-F238E27FC236}">
                <a16:creationId xmlns:a16="http://schemas.microsoft.com/office/drawing/2014/main" id="{F851BA73-724C-4C24-BC31-DFB4663A96BA}"/>
              </a:ext>
            </a:extLst>
          </p:cNvPr>
          <p:cNvGrpSpPr>
            <a:grpSpLocks/>
          </p:cNvGrpSpPr>
          <p:nvPr/>
        </p:nvGrpSpPr>
        <p:grpSpPr bwMode="auto">
          <a:xfrm>
            <a:off x="3922713" y="3557588"/>
            <a:ext cx="1512887" cy="2233612"/>
            <a:chOff x="2660" y="2478"/>
            <a:chExt cx="846" cy="1407"/>
          </a:xfrm>
        </p:grpSpPr>
        <p:pic>
          <p:nvPicPr>
            <p:cNvPr id="13325" name="图片 799759" descr="j0299125">
              <a:extLst>
                <a:ext uri="{FF2B5EF4-FFF2-40B4-BE49-F238E27FC236}">
                  <a16:creationId xmlns:a16="http://schemas.microsoft.com/office/drawing/2014/main" id="{EF74845D-AA59-4C3E-8DDA-BEF0FACE8C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7" y="2478"/>
              <a:ext cx="693" cy="1137"/>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6" name="文本框 799760">
              <a:extLst>
                <a:ext uri="{FF2B5EF4-FFF2-40B4-BE49-F238E27FC236}">
                  <a16:creationId xmlns:a16="http://schemas.microsoft.com/office/drawing/2014/main" id="{2560E195-184C-4C4F-BAF4-9D69B00D8061}"/>
                </a:ext>
              </a:extLst>
            </p:cNvPr>
            <p:cNvSpPr txBox="1">
              <a:spLocks noChangeArrowheads="1"/>
            </p:cNvSpPr>
            <p:nvPr/>
          </p:nvSpPr>
          <p:spPr bwMode="auto">
            <a:xfrm>
              <a:off x="2660" y="3575"/>
              <a:ext cx="846" cy="31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0800" rIns="0" bIns="10800">
              <a:spAutoFit/>
            </a:bodyPr>
            <a:lstStyle/>
            <a:p>
              <a:pPr>
                <a:lnSpc>
                  <a:spcPct val="110000"/>
                </a:lnSpc>
                <a:spcBef>
                  <a:spcPct val="20000"/>
                </a:spcBef>
                <a:buSzPct val="100000"/>
                <a:buFont typeface="Wingdings" panose="05000000000000000000" pitchFamily="2" charset="2"/>
                <a:buNone/>
              </a:pPr>
              <a:r>
                <a:rPr lang="zh-CN" altLang="en-US" sz="2800" b="1"/>
                <a:t>信息世界</a:t>
              </a:r>
            </a:p>
          </p:txBody>
        </p:sp>
      </p:grpSp>
      <p:sp>
        <p:nvSpPr>
          <p:cNvPr id="13327" name="左弧形箭头 799762">
            <a:extLst>
              <a:ext uri="{FF2B5EF4-FFF2-40B4-BE49-F238E27FC236}">
                <a16:creationId xmlns:a16="http://schemas.microsoft.com/office/drawing/2014/main" id="{71FDA9A9-6FD6-4E15-9EDB-F5C2FF313416}"/>
              </a:ext>
            </a:extLst>
          </p:cNvPr>
          <p:cNvSpPr>
            <a:spLocks noChangeArrowheads="1"/>
          </p:cNvSpPr>
          <p:nvPr/>
        </p:nvSpPr>
        <p:spPr bwMode="auto">
          <a:xfrm rot="-1800000">
            <a:off x="1824038" y="4146550"/>
            <a:ext cx="720725" cy="1873250"/>
          </a:xfrm>
          <a:prstGeom prst="curvedRightArrow">
            <a:avLst>
              <a:gd name="adj1" fmla="val 41634"/>
              <a:gd name="adj2" fmla="val 89646"/>
              <a:gd name="adj3" fmla="val 39421"/>
            </a:avLst>
          </a:prstGeom>
          <a:solidFill>
            <a:schemeClr val="accent1"/>
          </a:solidFill>
          <a:ln w="9525">
            <a:solidFill>
              <a:schemeClr val="tx1"/>
            </a:solidFill>
            <a:miter lim="800000"/>
            <a:headEnd/>
            <a:tailEnd/>
          </a:ln>
          <a:effectLst>
            <a:outerShdw dist="17961" dir="2700000" algn="ctr" rotWithShape="0">
              <a:schemeClr val="tx1"/>
            </a:outerShdw>
          </a:effectLst>
        </p:spPr>
        <p:txBody>
          <a:bodyPr/>
          <a:lstStyle/>
          <a:p>
            <a:endParaRPr lang="zh-CN" altLang="en-US"/>
          </a:p>
        </p:txBody>
      </p:sp>
      <p:sp>
        <p:nvSpPr>
          <p:cNvPr id="13328" name="文本框 799763">
            <a:extLst>
              <a:ext uri="{FF2B5EF4-FFF2-40B4-BE49-F238E27FC236}">
                <a16:creationId xmlns:a16="http://schemas.microsoft.com/office/drawing/2014/main" id="{B0795800-5E6A-4B9B-AB4A-A6D143689282}"/>
              </a:ext>
            </a:extLst>
          </p:cNvPr>
          <p:cNvSpPr txBox="1">
            <a:spLocks noChangeArrowheads="1"/>
          </p:cNvSpPr>
          <p:nvPr/>
        </p:nvSpPr>
        <p:spPr bwMode="auto">
          <a:xfrm>
            <a:off x="3913188" y="5732463"/>
            <a:ext cx="1522412" cy="561975"/>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p>
            <a:pPr>
              <a:lnSpc>
                <a:spcPct val="110000"/>
              </a:lnSpc>
              <a:spcBef>
                <a:spcPct val="20000"/>
              </a:spcBef>
              <a:buSzPct val="100000"/>
              <a:buFont typeface="Wingdings" panose="05000000000000000000" pitchFamily="2" charset="2"/>
              <a:buNone/>
            </a:pPr>
            <a:r>
              <a:rPr lang="zh-CN" altLang="en-US" sz="2800" b="1">
                <a:solidFill>
                  <a:srgbClr val="A50021"/>
                </a:solidFill>
              </a:rPr>
              <a:t>概念模型</a:t>
            </a:r>
          </a:p>
        </p:txBody>
      </p:sp>
      <p:sp>
        <p:nvSpPr>
          <p:cNvPr id="13329" name="文本框 799764">
            <a:extLst>
              <a:ext uri="{FF2B5EF4-FFF2-40B4-BE49-F238E27FC236}">
                <a16:creationId xmlns:a16="http://schemas.microsoft.com/office/drawing/2014/main" id="{0E996E49-66FC-4690-872A-F03CF712051F}"/>
              </a:ext>
            </a:extLst>
          </p:cNvPr>
          <p:cNvSpPr txBox="1">
            <a:spLocks noChangeArrowheads="1"/>
          </p:cNvSpPr>
          <p:nvPr/>
        </p:nvSpPr>
        <p:spPr bwMode="auto">
          <a:xfrm>
            <a:off x="579438" y="4797425"/>
            <a:ext cx="1112837" cy="792163"/>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zh-CN" altLang="en-US" sz="2400" b="1">
                <a:solidFill>
                  <a:srgbClr val="006600"/>
                </a:solidFill>
                <a:latin typeface="Times New Roman" panose="02020603050405020304" pitchFamily="18" charset="0"/>
              </a:rPr>
              <a:t>概念化抽象</a:t>
            </a:r>
            <a:endParaRPr lang="zh-CN" altLang="en-US" sz="2400" b="1">
              <a:solidFill>
                <a:srgbClr val="006600"/>
              </a:solidFill>
            </a:endParaRPr>
          </a:p>
        </p:txBody>
      </p:sp>
      <p:grpSp>
        <p:nvGrpSpPr>
          <p:cNvPr id="799766" name="组合 799765">
            <a:extLst>
              <a:ext uri="{FF2B5EF4-FFF2-40B4-BE49-F238E27FC236}">
                <a16:creationId xmlns:a16="http://schemas.microsoft.com/office/drawing/2014/main" id="{11BD8AF6-6F2A-4EE1-8D28-CC1E5643F952}"/>
              </a:ext>
            </a:extLst>
          </p:cNvPr>
          <p:cNvGrpSpPr>
            <a:grpSpLocks/>
          </p:cNvGrpSpPr>
          <p:nvPr/>
        </p:nvGrpSpPr>
        <p:grpSpPr bwMode="auto">
          <a:xfrm>
            <a:off x="5424488" y="3716338"/>
            <a:ext cx="3179762" cy="1809750"/>
            <a:chOff x="3417" y="2472"/>
            <a:chExt cx="1839" cy="1140"/>
          </a:xfrm>
        </p:grpSpPr>
        <p:sp>
          <p:nvSpPr>
            <p:cNvPr id="13331" name="文本框 799766">
              <a:extLst>
                <a:ext uri="{FF2B5EF4-FFF2-40B4-BE49-F238E27FC236}">
                  <a16:creationId xmlns:a16="http://schemas.microsoft.com/office/drawing/2014/main" id="{C9BC34DF-0F42-4AAB-A8A8-DF956A1BF242}"/>
                </a:ext>
              </a:extLst>
            </p:cNvPr>
            <p:cNvSpPr txBox="1">
              <a:spLocks noChangeArrowheads="1"/>
            </p:cNvSpPr>
            <p:nvPr/>
          </p:nvSpPr>
          <p:spPr bwMode="auto">
            <a:xfrm>
              <a:off x="3417" y="2472"/>
              <a:ext cx="1831" cy="311"/>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p>
              <a:pPr>
                <a:lnSpc>
                  <a:spcPct val="110000"/>
                </a:lnSpc>
                <a:spcBef>
                  <a:spcPct val="20000"/>
                </a:spcBef>
                <a:buSzPct val="100000"/>
                <a:buFont typeface="Wingdings" panose="05000000000000000000" pitchFamily="2" charset="2"/>
                <a:buNone/>
              </a:pPr>
              <a:r>
                <a:rPr lang="en-US" altLang="zh-CN" sz="2400" b="1">
                  <a:solidFill>
                    <a:srgbClr val="A50021"/>
                  </a:solidFill>
                </a:rPr>
                <a:t>DBMS</a:t>
              </a:r>
              <a:r>
                <a:rPr lang="zh-CN" altLang="en-US" sz="2400" b="1">
                  <a:solidFill>
                    <a:srgbClr val="A50021"/>
                  </a:solidFill>
                </a:rPr>
                <a:t>支持的数据模型</a:t>
              </a:r>
            </a:p>
          </p:txBody>
        </p:sp>
        <p:sp>
          <p:nvSpPr>
            <p:cNvPr id="13332" name="左弧形箭头 799767">
              <a:extLst>
                <a:ext uri="{FF2B5EF4-FFF2-40B4-BE49-F238E27FC236}">
                  <a16:creationId xmlns:a16="http://schemas.microsoft.com/office/drawing/2014/main" id="{1A608DE3-A731-4A6C-81EB-876D4EA1097D}"/>
                </a:ext>
              </a:extLst>
            </p:cNvPr>
            <p:cNvSpPr>
              <a:spLocks noChangeArrowheads="1"/>
            </p:cNvSpPr>
            <p:nvPr/>
          </p:nvSpPr>
          <p:spPr bwMode="auto">
            <a:xfrm rot="-7800000">
              <a:off x="4051" y="2695"/>
              <a:ext cx="454" cy="1180"/>
            </a:xfrm>
            <a:prstGeom prst="curvedRightArrow">
              <a:avLst>
                <a:gd name="adj1" fmla="val 41634"/>
                <a:gd name="adj2" fmla="val 89646"/>
                <a:gd name="adj3" fmla="val 39421"/>
              </a:avLst>
            </a:prstGeom>
            <a:solidFill>
              <a:schemeClr val="accent1"/>
            </a:solidFill>
            <a:ln w="9525">
              <a:solidFill>
                <a:schemeClr val="tx1"/>
              </a:solidFill>
              <a:miter lim="800000"/>
              <a:headEnd/>
              <a:tailEnd/>
            </a:ln>
            <a:effectLst>
              <a:outerShdw dist="17961" dir="2700000" algn="ctr" rotWithShape="0">
                <a:schemeClr val="tx1"/>
              </a:outerShdw>
            </a:effectLst>
          </p:spPr>
          <p:txBody>
            <a:bodyPr/>
            <a:lstStyle/>
            <a:p>
              <a:endParaRPr lang="zh-CN" altLang="en-US"/>
            </a:p>
          </p:txBody>
        </p:sp>
        <p:sp>
          <p:nvSpPr>
            <p:cNvPr id="13333" name="文本框 799768">
              <a:extLst>
                <a:ext uri="{FF2B5EF4-FFF2-40B4-BE49-F238E27FC236}">
                  <a16:creationId xmlns:a16="http://schemas.microsoft.com/office/drawing/2014/main" id="{25550814-6C75-44CB-B281-AB8C7C7D373C}"/>
                </a:ext>
              </a:extLst>
            </p:cNvPr>
            <p:cNvSpPr txBox="1">
              <a:spLocks noChangeArrowheads="1"/>
            </p:cNvSpPr>
            <p:nvPr/>
          </p:nvSpPr>
          <p:spPr bwMode="auto">
            <a:xfrm>
              <a:off x="4558" y="3158"/>
              <a:ext cx="698" cy="454"/>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zh-CN" altLang="en-US" sz="2400" b="1">
                  <a:solidFill>
                    <a:srgbClr val="006600"/>
                  </a:solidFill>
                  <a:latin typeface="Times New Roman" panose="02020603050405020304" pitchFamily="18" charset="0"/>
                </a:rPr>
                <a:t>形式化转换</a:t>
              </a:r>
            </a:p>
          </p:txBody>
        </p:sp>
      </p:grpSp>
    </p:spTree>
  </p:cSld>
  <p:clrMapOvr>
    <a:masterClrMapping/>
  </p:clrMapOvr>
  <mc:AlternateContent xmlns:mc="http://schemas.openxmlformats.org/markup-compatibility/2006" xmlns:p14="http://schemas.microsoft.com/office/powerpoint/2010/main">
    <mc:Choice Requires="p14">
      <p:transition spd="slow" p14:dur="2000" advTm="29554"/>
    </mc:Choice>
    <mc:Fallback xmlns="">
      <p:transition spd="slow" advTm="29554"/>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799766"/>
                                        </p:tgtEl>
                                        <p:attrNameLst>
                                          <p:attrName>style.visibility</p:attrName>
                                        </p:attrNameLst>
                                      </p:cBhvr>
                                      <p:to>
                                        <p:strVal val="visible"/>
                                      </p:to>
                                    </p:set>
                                    <p:animEffect transition="in" filter="wipe(down)">
                                      <p:cBhvr>
                                        <p:cTn id="7" dur="3000"/>
                                        <p:tgtEl>
                                          <p:spTgt spid="7997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24" name="矩形 798723">
            <a:extLst>
              <a:ext uri="{FF2B5EF4-FFF2-40B4-BE49-F238E27FC236}">
                <a16:creationId xmlns:a16="http://schemas.microsoft.com/office/drawing/2014/main" id="{3C44BA9D-CC99-48EF-80FC-01C1D70A713F}"/>
              </a:ext>
            </a:extLst>
          </p:cNvPr>
          <p:cNvSpPr/>
          <p:nvPr/>
        </p:nvSpPr>
        <p:spPr>
          <a:xfrm>
            <a:off x="1150938" y="214313"/>
            <a:ext cx="7793037" cy="622300"/>
          </a:xfrm>
          <a:prstGeom prst="rect">
            <a:avLst/>
          </a:prstGeom>
          <a:noFill/>
          <a:ln w="9525">
            <a:noFill/>
          </a:ln>
          <a:effectLst>
            <a:outerShdw dist="17961" dir="2699999" algn="ctr" rotWithShape="0">
              <a:schemeClr val="tx1">
                <a:alpha val="50000"/>
              </a:schemeClr>
            </a:outerShdw>
          </a:effectLst>
        </p:spPr>
        <p:txBody>
          <a:bodyPr anchor="ctr"/>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t>一、现实世界的数据描述</a:t>
            </a:r>
          </a:p>
        </p:txBody>
      </p:sp>
      <p:grpSp>
        <p:nvGrpSpPr>
          <p:cNvPr id="14338" name="组合 798724">
            <a:extLst>
              <a:ext uri="{FF2B5EF4-FFF2-40B4-BE49-F238E27FC236}">
                <a16:creationId xmlns:a16="http://schemas.microsoft.com/office/drawing/2014/main" id="{906A69DF-F567-4330-A9AF-B75ABA33BD7E}"/>
              </a:ext>
            </a:extLst>
          </p:cNvPr>
          <p:cNvGrpSpPr>
            <a:grpSpLocks/>
          </p:cNvGrpSpPr>
          <p:nvPr/>
        </p:nvGrpSpPr>
        <p:grpSpPr bwMode="auto">
          <a:xfrm>
            <a:off x="6034088" y="1506538"/>
            <a:ext cx="2209800" cy="2052637"/>
            <a:chOff x="3989" y="958"/>
            <a:chExt cx="1295" cy="1293"/>
          </a:xfrm>
        </p:grpSpPr>
        <p:sp>
          <p:nvSpPr>
            <p:cNvPr id="14339" name="laptop">
              <a:extLst>
                <a:ext uri="{FF2B5EF4-FFF2-40B4-BE49-F238E27FC236}">
                  <a16:creationId xmlns:a16="http://schemas.microsoft.com/office/drawing/2014/main" id="{59CB3341-B702-43AA-AA1F-8B29BAAFCF14}"/>
                </a:ext>
              </a:extLst>
            </p:cNvPr>
            <p:cNvSpPr>
              <a:spLocks noEditPoints="1" noChangeArrowheads="1"/>
            </p:cNvSpPr>
            <p:nvPr/>
          </p:nvSpPr>
          <p:spPr bwMode="auto">
            <a:xfrm>
              <a:off x="4144" y="1393"/>
              <a:ext cx="1140" cy="858"/>
            </a:xfrm>
            <a:custGeom>
              <a:avLst/>
              <a:gdLst>
                <a:gd name="T0" fmla="*/ 3362 w 21600"/>
                <a:gd name="T1" fmla="*/ 0 h 21600"/>
                <a:gd name="T2" fmla="*/ 18327 w 21600"/>
                <a:gd name="T3" fmla="*/ 0 h 21600"/>
                <a:gd name="T4" fmla="*/ 18327 w 21600"/>
                <a:gd name="T5" fmla="*/ 14347 h 21600"/>
                <a:gd name="T6" fmla="*/ 3362 w 21600"/>
                <a:gd name="T7" fmla="*/ 14347 h 21600"/>
                <a:gd name="T8" fmla="*/ 3362 w 21600"/>
                <a:gd name="T9" fmla="*/ 0 h 21600"/>
                <a:gd name="T10" fmla="*/ 3340 w 21600"/>
                <a:gd name="T11" fmla="*/ 15068 h 21600"/>
                <a:gd name="T12" fmla="*/ 0 w 21600"/>
                <a:gd name="T13" fmla="*/ 19877 h 21600"/>
                <a:gd name="T14" fmla="*/ 21600 w 21600"/>
                <a:gd name="T15" fmla="*/ 19877 h 21600"/>
                <a:gd name="T16" fmla="*/ 18327 w 21600"/>
                <a:gd name="T17" fmla="*/ 15068 h 21600"/>
                <a:gd name="T18" fmla="*/ 3340 w 21600"/>
                <a:gd name="T19" fmla="*/ 15068 h 21600"/>
                <a:gd name="T20" fmla="*/ 0 w 21600"/>
                <a:gd name="T21" fmla="*/ 19877 h 21600"/>
                <a:gd name="T22" fmla="*/ 0 w 21600"/>
                <a:gd name="T23" fmla="*/ 21600 h 21600"/>
                <a:gd name="T24" fmla="*/ 21600 w 21600"/>
                <a:gd name="T25" fmla="*/ 21600 h 21600"/>
                <a:gd name="T26" fmla="*/ 21600 w 21600"/>
                <a:gd name="T27" fmla="*/ 19877 h 21600"/>
                <a:gd name="T28" fmla="*/ 0 w 21600"/>
                <a:gd name="T29" fmla="*/ 19877 h 21600"/>
                <a:gd name="T30" fmla="*/ 4186 w 21600"/>
                <a:gd name="T31" fmla="*/ 1523 h 21600"/>
                <a:gd name="T32" fmla="*/ 17547 w 21600"/>
                <a:gd name="T33" fmla="*/ 1523 h 21600"/>
                <a:gd name="T34" fmla="*/ 17547 w 21600"/>
                <a:gd name="T35" fmla="*/ 12744 h 21600"/>
                <a:gd name="T36" fmla="*/ 4186 w 21600"/>
                <a:gd name="T37" fmla="*/ 12744 h 21600"/>
                <a:gd name="T38" fmla="*/ 4186 w 21600"/>
                <a:gd name="T39" fmla="*/ 1523 h 21600"/>
                <a:gd name="T40" fmla="*/ 3318 w 21600"/>
                <a:gd name="T41" fmla="*/ 15549 h 21600"/>
                <a:gd name="T42" fmla="*/ 2917 w 21600"/>
                <a:gd name="T43" fmla="*/ 16110 h 21600"/>
                <a:gd name="T44" fmla="*/ 18727 w 21600"/>
                <a:gd name="T45" fmla="*/ 16110 h 21600"/>
                <a:gd name="T46" fmla="*/ 18327 w 21600"/>
                <a:gd name="T47" fmla="*/ 15549 h 21600"/>
                <a:gd name="T48" fmla="*/ 3318 w 21600"/>
                <a:gd name="T49" fmla="*/ 15549 h 21600"/>
                <a:gd name="T50" fmla="*/ 6213 w 21600"/>
                <a:gd name="T51" fmla="*/ 18314 h 21600"/>
                <a:gd name="T52" fmla="*/ 5946 w 21600"/>
                <a:gd name="T53" fmla="*/ 18875 h 21600"/>
                <a:gd name="T54" fmla="*/ 15766 w 21600"/>
                <a:gd name="T55" fmla="*/ 18875 h 21600"/>
                <a:gd name="T56" fmla="*/ 15499 w 21600"/>
                <a:gd name="T57" fmla="*/ 18314 h 21600"/>
                <a:gd name="T58" fmla="*/ 6213 w 21600"/>
                <a:gd name="T59" fmla="*/ 18314 h 21600"/>
                <a:gd name="T60" fmla="*/ 2828 w 21600"/>
                <a:gd name="T61" fmla="*/ 16471 h 21600"/>
                <a:gd name="T62" fmla="*/ 2405 w 21600"/>
                <a:gd name="T63" fmla="*/ 17072 h 21600"/>
                <a:gd name="T64" fmla="*/ 19284 w 21600"/>
                <a:gd name="T65" fmla="*/ 17072 h 21600"/>
                <a:gd name="T66" fmla="*/ 18839 w 21600"/>
                <a:gd name="T67" fmla="*/ 16471 h 21600"/>
                <a:gd name="T68" fmla="*/ 2828 w 21600"/>
                <a:gd name="T69" fmla="*/ 16471 h 21600"/>
                <a:gd name="T70" fmla="*/ 2316 w 21600"/>
                <a:gd name="T71" fmla="*/ 17352 h 21600"/>
                <a:gd name="T72" fmla="*/ 1871 w 21600"/>
                <a:gd name="T73" fmla="*/ 17953 h 21600"/>
                <a:gd name="T74" fmla="*/ 19863 w 21600"/>
                <a:gd name="T75" fmla="*/ 17953 h 21600"/>
                <a:gd name="T76" fmla="*/ 19395 w 21600"/>
                <a:gd name="T77" fmla="*/ 17352 h 21600"/>
                <a:gd name="T78" fmla="*/ 2316 w 21600"/>
                <a:gd name="T79" fmla="*/ 17352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1600" h="21600">
                  <a:moveTo>
                    <a:pt x="3362" y="0"/>
                  </a:moveTo>
                  <a:lnTo>
                    <a:pt x="18327" y="0"/>
                  </a:lnTo>
                  <a:lnTo>
                    <a:pt x="18327" y="14347"/>
                  </a:lnTo>
                  <a:lnTo>
                    <a:pt x="3362" y="14347"/>
                  </a:lnTo>
                  <a:lnTo>
                    <a:pt x="3362" y="0"/>
                  </a:lnTo>
                  <a:close/>
                </a:path>
                <a:path w="21600" h="21600">
                  <a:moveTo>
                    <a:pt x="3340" y="15068"/>
                  </a:moveTo>
                  <a:lnTo>
                    <a:pt x="0" y="19877"/>
                  </a:lnTo>
                  <a:lnTo>
                    <a:pt x="21600" y="19877"/>
                  </a:lnTo>
                  <a:lnTo>
                    <a:pt x="18327" y="15068"/>
                  </a:lnTo>
                  <a:lnTo>
                    <a:pt x="3340" y="15068"/>
                  </a:lnTo>
                  <a:close/>
                </a:path>
                <a:path w="21600" h="21600">
                  <a:moveTo>
                    <a:pt x="0" y="19877"/>
                  </a:moveTo>
                  <a:lnTo>
                    <a:pt x="0" y="21600"/>
                  </a:lnTo>
                  <a:lnTo>
                    <a:pt x="21600" y="21600"/>
                  </a:lnTo>
                  <a:lnTo>
                    <a:pt x="21600" y="19877"/>
                  </a:lnTo>
                  <a:lnTo>
                    <a:pt x="0" y="19877"/>
                  </a:lnTo>
                  <a:close/>
                </a:path>
                <a:path w="21600" h="21600">
                  <a:moveTo>
                    <a:pt x="4186" y="1523"/>
                  </a:moveTo>
                  <a:lnTo>
                    <a:pt x="17547" y="1523"/>
                  </a:lnTo>
                  <a:lnTo>
                    <a:pt x="17547" y="12744"/>
                  </a:lnTo>
                  <a:lnTo>
                    <a:pt x="4186" y="12744"/>
                  </a:lnTo>
                  <a:lnTo>
                    <a:pt x="4186" y="1523"/>
                  </a:lnTo>
                  <a:close/>
                </a:path>
                <a:path w="21600" h="21600">
                  <a:moveTo>
                    <a:pt x="3318" y="15549"/>
                  </a:moveTo>
                  <a:lnTo>
                    <a:pt x="2917" y="16110"/>
                  </a:lnTo>
                  <a:lnTo>
                    <a:pt x="18727" y="16110"/>
                  </a:lnTo>
                  <a:lnTo>
                    <a:pt x="18327" y="15549"/>
                  </a:lnTo>
                  <a:lnTo>
                    <a:pt x="3318" y="15549"/>
                  </a:lnTo>
                  <a:close/>
                </a:path>
                <a:path w="21600" h="21600">
                  <a:moveTo>
                    <a:pt x="6213" y="18314"/>
                  </a:moveTo>
                  <a:lnTo>
                    <a:pt x="5946" y="18875"/>
                  </a:lnTo>
                  <a:lnTo>
                    <a:pt x="15766" y="18875"/>
                  </a:lnTo>
                  <a:lnTo>
                    <a:pt x="15499" y="18314"/>
                  </a:lnTo>
                  <a:lnTo>
                    <a:pt x="6213" y="18314"/>
                  </a:lnTo>
                  <a:close/>
                </a:path>
                <a:path w="21600" h="21600">
                  <a:moveTo>
                    <a:pt x="2828" y="16471"/>
                  </a:moveTo>
                  <a:lnTo>
                    <a:pt x="2405" y="17072"/>
                  </a:lnTo>
                  <a:lnTo>
                    <a:pt x="19284" y="17072"/>
                  </a:lnTo>
                  <a:lnTo>
                    <a:pt x="18839" y="16471"/>
                  </a:lnTo>
                  <a:lnTo>
                    <a:pt x="2828" y="16471"/>
                  </a:lnTo>
                  <a:close/>
                </a:path>
                <a:path w="21600" h="21600">
                  <a:moveTo>
                    <a:pt x="2316" y="17352"/>
                  </a:moveTo>
                  <a:lnTo>
                    <a:pt x="1871" y="17953"/>
                  </a:lnTo>
                  <a:lnTo>
                    <a:pt x="19863" y="17953"/>
                  </a:lnTo>
                  <a:lnTo>
                    <a:pt x="19395" y="17352"/>
                  </a:lnTo>
                  <a:lnTo>
                    <a:pt x="2316" y="17352"/>
                  </a:lnTo>
                  <a:close/>
                </a:path>
              </a:pathLst>
            </a:custGeom>
            <a:solidFill>
              <a:srgbClr val="C0C0C0"/>
            </a:solidFill>
            <a:ln w="9525">
              <a:solidFill>
                <a:srgbClr val="000000"/>
              </a:solidFill>
              <a:miter lim="800000"/>
              <a:headEnd/>
              <a:tailEnd/>
            </a:ln>
            <a:effectLst>
              <a:outerShdw dist="35921" dir="2700000" algn="ctr" rotWithShape="0">
                <a:schemeClr val="tx1"/>
              </a:outerShdw>
            </a:effectLst>
          </p:spPr>
          <p:txBody>
            <a:bodyPr/>
            <a:lstStyle/>
            <a:p>
              <a:endParaRPr lang="zh-CN" altLang="en-US"/>
            </a:p>
          </p:txBody>
        </p:sp>
        <p:sp>
          <p:nvSpPr>
            <p:cNvPr id="14340" name="文本框 798726">
              <a:extLst>
                <a:ext uri="{FF2B5EF4-FFF2-40B4-BE49-F238E27FC236}">
                  <a16:creationId xmlns:a16="http://schemas.microsoft.com/office/drawing/2014/main" id="{D6430B51-4775-4E0F-AA50-B6137EB0CF57}"/>
                </a:ext>
              </a:extLst>
            </p:cNvPr>
            <p:cNvSpPr txBox="1">
              <a:spLocks noChangeArrowheads="1"/>
            </p:cNvSpPr>
            <p:nvPr/>
          </p:nvSpPr>
          <p:spPr bwMode="auto">
            <a:xfrm>
              <a:off x="3989" y="958"/>
              <a:ext cx="1007" cy="31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0800" rIns="0" bIns="10800">
              <a:spAutoFit/>
            </a:bodyPr>
            <a:lstStyle/>
            <a:p>
              <a:pPr algn="ctr">
                <a:lnSpc>
                  <a:spcPct val="110000"/>
                </a:lnSpc>
                <a:spcBef>
                  <a:spcPct val="20000"/>
                </a:spcBef>
                <a:buSzPct val="100000"/>
                <a:buFont typeface="Wingdings" panose="05000000000000000000" pitchFamily="2" charset="2"/>
                <a:buNone/>
              </a:pPr>
              <a:r>
                <a:rPr lang="zh-CN" altLang="en-US" sz="2800" b="1"/>
                <a:t>      计算机</a:t>
              </a:r>
            </a:p>
          </p:txBody>
        </p:sp>
      </p:grpSp>
      <p:grpSp>
        <p:nvGrpSpPr>
          <p:cNvPr id="14341" name="组合 798727">
            <a:extLst>
              <a:ext uri="{FF2B5EF4-FFF2-40B4-BE49-F238E27FC236}">
                <a16:creationId xmlns:a16="http://schemas.microsoft.com/office/drawing/2014/main" id="{76941FA4-1369-41FF-8D6F-A0B25601A164}"/>
              </a:ext>
            </a:extLst>
          </p:cNvPr>
          <p:cNvGrpSpPr>
            <a:grpSpLocks/>
          </p:cNvGrpSpPr>
          <p:nvPr/>
        </p:nvGrpSpPr>
        <p:grpSpPr bwMode="auto">
          <a:xfrm>
            <a:off x="971550" y="1484313"/>
            <a:ext cx="1512888" cy="2001837"/>
            <a:chOff x="823" y="944"/>
            <a:chExt cx="889" cy="1261"/>
          </a:xfrm>
        </p:grpSpPr>
        <p:sp>
          <p:nvSpPr>
            <p:cNvPr id="14342" name="文本框 798728">
              <a:extLst>
                <a:ext uri="{FF2B5EF4-FFF2-40B4-BE49-F238E27FC236}">
                  <a16:creationId xmlns:a16="http://schemas.microsoft.com/office/drawing/2014/main" id="{D49152DC-25A7-4C60-8444-D1E73035580F}"/>
                </a:ext>
              </a:extLst>
            </p:cNvPr>
            <p:cNvSpPr txBox="1">
              <a:spLocks noChangeArrowheads="1"/>
            </p:cNvSpPr>
            <p:nvPr/>
          </p:nvSpPr>
          <p:spPr bwMode="auto">
            <a:xfrm>
              <a:off x="823" y="944"/>
              <a:ext cx="889" cy="31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0800" rIns="0" bIns="10800">
              <a:spAutoFit/>
            </a:bodyPr>
            <a:lstStyle/>
            <a:p>
              <a:pPr>
                <a:lnSpc>
                  <a:spcPct val="110000"/>
                </a:lnSpc>
                <a:spcBef>
                  <a:spcPct val="20000"/>
                </a:spcBef>
                <a:buSzPct val="100000"/>
                <a:buFont typeface="Wingdings" panose="05000000000000000000" pitchFamily="2" charset="2"/>
                <a:buNone/>
              </a:pPr>
              <a:r>
                <a:rPr lang="zh-CN" altLang="en-US" sz="2800" b="1"/>
                <a:t>现实世界</a:t>
              </a:r>
            </a:p>
          </p:txBody>
        </p:sp>
        <p:sp>
          <p:nvSpPr>
            <p:cNvPr id="798730" name="Documents">
              <a:extLst>
                <a:ext uri="{FF2B5EF4-FFF2-40B4-BE49-F238E27FC236}">
                  <a16:creationId xmlns:a16="http://schemas.microsoft.com/office/drawing/2014/main" id="{9B41E6E9-346D-49F0-9801-4C1144339CEC}"/>
                </a:ext>
              </a:extLst>
            </p:cNvPr>
            <p:cNvSpPr>
              <a:spLocks noEditPoints="1"/>
            </p:cNvSpPr>
            <p:nvPr/>
          </p:nvSpPr>
          <p:spPr>
            <a:xfrm>
              <a:off x="884" y="1344"/>
              <a:ext cx="771" cy="861"/>
            </a:xfrm>
            <a:custGeom>
              <a:avLst/>
              <a:gdLst>
                <a:gd name="txL" fmla="*/ 1645 w 21600"/>
                <a:gd name="txT" fmla="*/ 4171 h 21600"/>
                <a:gd name="txR" fmla="*/ 16522 w 21600"/>
                <a:gd name="txB" fmla="*/ 17314 h 21600"/>
              </a:gdLst>
              <a:ahLst/>
              <a:cxnLst>
                <a:cxn ang="0">
                  <a:pos x="0" y="2800"/>
                </a:cxn>
                <a:cxn ang="0">
                  <a:pos x="3468" y="0"/>
                </a:cxn>
                <a:cxn ang="0">
                  <a:pos x="21653" y="18828"/>
                </a:cxn>
                <a:cxn ang="0">
                  <a:pos x="19954" y="20214"/>
                </a:cxn>
                <a:cxn ang="0">
                  <a:pos x="18256" y="21628"/>
                </a:cxn>
                <a:cxn ang="0">
                  <a:pos x="19954" y="1428"/>
                </a:cxn>
                <a:cxn ang="0">
                  <a:pos x="18256" y="2800"/>
                </a:cxn>
                <a:cxn ang="0">
                  <a:pos x="1645" y="1428"/>
                </a:cxn>
                <a:cxn ang="0">
                  <a:pos x="21600" y="0"/>
                </a:cxn>
                <a:cxn ang="0">
                  <a:pos x="10800" y="0"/>
                </a:cxn>
                <a:cxn ang="0">
                  <a:pos x="0" y="10800"/>
                </a:cxn>
                <a:cxn ang="0">
                  <a:pos x="21600" y="10800"/>
                </a:cxn>
              </a:cxnLst>
              <a:rect l="txL" t="txT" r="txR" b="txB"/>
              <a:pathLst>
                <a:path w="21600" h="2160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a:moveTo>
                    <a:pt x="3486" y="1428"/>
                  </a:moveTo>
                  <a:lnTo>
                    <a:pt x="19954" y="1428"/>
                  </a:lnTo>
                  <a:lnTo>
                    <a:pt x="19954" y="20214"/>
                  </a:lnTo>
                  <a:lnTo>
                    <a:pt x="18256" y="20214"/>
                  </a:lnTo>
                  <a:lnTo>
                    <a:pt x="18256" y="2800"/>
                  </a:lnTo>
                  <a:lnTo>
                    <a:pt x="1645" y="2800"/>
                  </a:lnTo>
                  <a:lnTo>
                    <a:pt x="1645" y="1428"/>
                  </a:lnTo>
                  <a:lnTo>
                    <a:pt x="3486" y="1428"/>
                  </a:lnTo>
                  <a:close/>
                </a:path>
                <a:path w="21600" h="21600">
                  <a:moveTo>
                    <a:pt x="0" y="18014"/>
                  </a:moveTo>
                  <a:lnTo>
                    <a:pt x="4434" y="18000"/>
                  </a:lnTo>
                  <a:lnTo>
                    <a:pt x="4434" y="21600"/>
                  </a:lnTo>
                  <a:lnTo>
                    <a:pt x="0" y="18014"/>
                  </a:lnTo>
                  <a:close/>
                </a:path>
              </a:pathLst>
            </a:custGeom>
            <a:solidFill>
              <a:srgbClr val="D8EBB3"/>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lstStyle/>
            <a:p>
              <a:pPr algn="ctr">
                <a:lnSpc>
                  <a:spcPct val="110000"/>
                </a:lnSpc>
                <a:spcBef>
                  <a:spcPct val="20000"/>
                </a:spcBef>
                <a:buSzPct val="100000"/>
                <a:buFont typeface="Wingdings" panose="05000000000000000000" pitchFamily="2" charset="2"/>
                <a:buNone/>
              </a:pPr>
              <a:r>
                <a:rPr lang="zh-CN" altLang="en-US" sz="2400" b="1" noProof="1">
                  <a:effectLst>
                    <a:outerShdw blurRad="38100" dist="38100" dir="2700000">
                      <a:srgbClr val="FFFFFF"/>
                    </a:outerShdw>
                  </a:effectLst>
                </a:rPr>
                <a:t>信息</a:t>
              </a:r>
            </a:p>
          </p:txBody>
        </p:sp>
      </p:grpSp>
      <p:grpSp>
        <p:nvGrpSpPr>
          <p:cNvPr id="14344" name="组合 798730">
            <a:extLst>
              <a:ext uri="{FF2B5EF4-FFF2-40B4-BE49-F238E27FC236}">
                <a16:creationId xmlns:a16="http://schemas.microsoft.com/office/drawing/2014/main" id="{090C8BEF-0673-40CC-8B6F-318399E63FF2}"/>
              </a:ext>
            </a:extLst>
          </p:cNvPr>
          <p:cNvGrpSpPr>
            <a:grpSpLocks/>
          </p:cNvGrpSpPr>
          <p:nvPr/>
        </p:nvGrpSpPr>
        <p:grpSpPr bwMode="auto">
          <a:xfrm>
            <a:off x="3408363" y="2405063"/>
            <a:ext cx="2232025" cy="647700"/>
            <a:chOff x="2381" y="1979"/>
            <a:chExt cx="1406" cy="408"/>
          </a:xfrm>
        </p:grpSpPr>
        <p:sp>
          <p:nvSpPr>
            <p:cNvPr id="14345" name="右箭头 798731">
              <a:extLst>
                <a:ext uri="{FF2B5EF4-FFF2-40B4-BE49-F238E27FC236}">
                  <a16:creationId xmlns:a16="http://schemas.microsoft.com/office/drawing/2014/main" id="{BE231B1E-C936-4E30-852D-17BD940A39C3}"/>
                </a:ext>
              </a:extLst>
            </p:cNvPr>
            <p:cNvSpPr>
              <a:spLocks noChangeArrowheads="1"/>
            </p:cNvSpPr>
            <p:nvPr/>
          </p:nvSpPr>
          <p:spPr bwMode="auto">
            <a:xfrm>
              <a:off x="2381" y="2069"/>
              <a:ext cx="1406" cy="227"/>
            </a:xfrm>
            <a:prstGeom prst="rightArrow">
              <a:avLst>
                <a:gd name="adj1" fmla="val 49778"/>
                <a:gd name="adj2" fmla="val 117597"/>
              </a:avLst>
            </a:prstGeom>
            <a:solidFill>
              <a:schemeClr val="accent1"/>
            </a:solidFill>
            <a:ln w="9525">
              <a:solidFill>
                <a:schemeClr val="tx1"/>
              </a:solidFill>
              <a:miter lim="800000"/>
              <a:headEnd/>
              <a:tailEnd/>
            </a:ln>
            <a:effectLst>
              <a:outerShdw dist="35921" dir="2700000" algn="ctr" rotWithShape="0">
                <a:schemeClr val="tx1"/>
              </a:outerShdw>
            </a:effectLst>
          </p:spPr>
          <p:txBody>
            <a:bodyPr/>
            <a:lstStyle/>
            <a:p>
              <a:endParaRPr lang="zh-CN" altLang="en-US"/>
            </a:p>
          </p:txBody>
        </p:sp>
        <p:sp>
          <p:nvSpPr>
            <p:cNvPr id="14346" name="直接连接符 798732">
              <a:extLst>
                <a:ext uri="{FF2B5EF4-FFF2-40B4-BE49-F238E27FC236}">
                  <a16:creationId xmlns:a16="http://schemas.microsoft.com/office/drawing/2014/main" id="{19F394F0-D67E-43C0-AA4D-8AC968ADDAFE}"/>
                </a:ext>
              </a:extLst>
            </p:cNvPr>
            <p:cNvSpPr>
              <a:spLocks noChangeShapeType="1"/>
            </p:cNvSpPr>
            <p:nvPr/>
          </p:nvSpPr>
          <p:spPr bwMode="auto">
            <a:xfrm flipH="1">
              <a:off x="2744" y="1979"/>
              <a:ext cx="454" cy="408"/>
            </a:xfrm>
            <a:prstGeom prst="line">
              <a:avLst/>
            </a:prstGeom>
            <a:noFill/>
            <a:ln w="38100">
              <a:solidFill>
                <a:srgbClr val="FF0000"/>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14347" name="直接连接符 798733">
              <a:extLst>
                <a:ext uri="{FF2B5EF4-FFF2-40B4-BE49-F238E27FC236}">
                  <a16:creationId xmlns:a16="http://schemas.microsoft.com/office/drawing/2014/main" id="{3DBC3282-6F87-4BB5-8D41-4C30D06C7DFE}"/>
                </a:ext>
              </a:extLst>
            </p:cNvPr>
            <p:cNvSpPr>
              <a:spLocks noChangeShapeType="1"/>
            </p:cNvSpPr>
            <p:nvPr/>
          </p:nvSpPr>
          <p:spPr bwMode="auto">
            <a:xfrm>
              <a:off x="2789" y="1979"/>
              <a:ext cx="363" cy="408"/>
            </a:xfrm>
            <a:prstGeom prst="line">
              <a:avLst/>
            </a:prstGeom>
            <a:noFill/>
            <a:ln w="38100">
              <a:solidFill>
                <a:srgbClr val="FF0000"/>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grpSp>
      <p:grpSp>
        <p:nvGrpSpPr>
          <p:cNvPr id="14348" name="组合 798734">
            <a:extLst>
              <a:ext uri="{FF2B5EF4-FFF2-40B4-BE49-F238E27FC236}">
                <a16:creationId xmlns:a16="http://schemas.microsoft.com/office/drawing/2014/main" id="{5ECA1C2A-28B4-4EE6-9508-94783CC09C85}"/>
              </a:ext>
            </a:extLst>
          </p:cNvPr>
          <p:cNvGrpSpPr>
            <a:grpSpLocks/>
          </p:cNvGrpSpPr>
          <p:nvPr/>
        </p:nvGrpSpPr>
        <p:grpSpPr bwMode="auto">
          <a:xfrm>
            <a:off x="3922713" y="3557588"/>
            <a:ext cx="1428750" cy="2233612"/>
            <a:chOff x="2660" y="2478"/>
            <a:chExt cx="846" cy="1407"/>
          </a:xfrm>
        </p:grpSpPr>
        <p:pic>
          <p:nvPicPr>
            <p:cNvPr id="14349" name="图片 798735" descr="j0299125">
              <a:extLst>
                <a:ext uri="{FF2B5EF4-FFF2-40B4-BE49-F238E27FC236}">
                  <a16:creationId xmlns:a16="http://schemas.microsoft.com/office/drawing/2014/main" id="{E07C65BF-864C-456A-8D04-DDA5FA1DFF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7" y="2478"/>
              <a:ext cx="693" cy="1137"/>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50" name="文本框 798736">
              <a:extLst>
                <a:ext uri="{FF2B5EF4-FFF2-40B4-BE49-F238E27FC236}">
                  <a16:creationId xmlns:a16="http://schemas.microsoft.com/office/drawing/2014/main" id="{AC5310D2-4AAC-49EF-8D01-8C2D081E10C4}"/>
                </a:ext>
              </a:extLst>
            </p:cNvPr>
            <p:cNvSpPr txBox="1">
              <a:spLocks noChangeArrowheads="1"/>
            </p:cNvSpPr>
            <p:nvPr/>
          </p:nvSpPr>
          <p:spPr bwMode="auto">
            <a:xfrm>
              <a:off x="2660" y="3575"/>
              <a:ext cx="846" cy="31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10800" rIns="0" bIns="10800">
              <a:spAutoFit/>
            </a:bodyPr>
            <a:lstStyle/>
            <a:p>
              <a:pPr>
                <a:lnSpc>
                  <a:spcPct val="110000"/>
                </a:lnSpc>
                <a:spcBef>
                  <a:spcPct val="20000"/>
                </a:spcBef>
                <a:buSzPct val="100000"/>
                <a:buFont typeface="Wingdings" panose="05000000000000000000" pitchFamily="2" charset="2"/>
                <a:buNone/>
              </a:pPr>
              <a:r>
                <a:rPr lang="zh-CN" altLang="en-US" sz="2800" b="1"/>
                <a:t>信息世界</a:t>
              </a:r>
            </a:p>
          </p:txBody>
        </p:sp>
      </p:grpSp>
      <p:grpSp>
        <p:nvGrpSpPr>
          <p:cNvPr id="14351" name="组合 798737">
            <a:extLst>
              <a:ext uri="{FF2B5EF4-FFF2-40B4-BE49-F238E27FC236}">
                <a16:creationId xmlns:a16="http://schemas.microsoft.com/office/drawing/2014/main" id="{3EC3250F-637D-4C83-A1C4-93D9C8700464}"/>
              </a:ext>
            </a:extLst>
          </p:cNvPr>
          <p:cNvGrpSpPr>
            <a:grpSpLocks/>
          </p:cNvGrpSpPr>
          <p:nvPr/>
        </p:nvGrpSpPr>
        <p:grpSpPr bwMode="auto">
          <a:xfrm>
            <a:off x="579438" y="4146550"/>
            <a:ext cx="4756150" cy="2147888"/>
            <a:chOff x="365" y="2612"/>
            <a:chExt cx="2996" cy="1353"/>
          </a:xfrm>
        </p:grpSpPr>
        <p:sp>
          <p:nvSpPr>
            <p:cNvPr id="14352" name="左弧形箭头 798738">
              <a:extLst>
                <a:ext uri="{FF2B5EF4-FFF2-40B4-BE49-F238E27FC236}">
                  <a16:creationId xmlns:a16="http://schemas.microsoft.com/office/drawing/2014/main" id="{FF33EA4D-9B88-49BC-8559-A29939EA60FD}"/>
                </a:ext>
              </a:extLst>
            </p:cNvPr>
            <p:cNvSpPr>
              <a:spLocks noChangeArrowheads="1"/>
            </p:cNvSpPr>
            <p:nvPr/>
          </p:nvSpPr>
          <p:spPr bwMode="auto">
            <a:xfrm rot="-1800000">
              <a:off x="1149" y="2612"/>
              <a:ext cx="454" cy="1180"/>
            </a:xfrm>
            <a:prstGeom prst="curvedRightArrow">
              <a:avLst>
                <a:gd name="adj1" fmla="val 41634"/>
                <a:gd name="adj2" fmla="val 89646"/>
                <a:gd name="adj3" fmla="val 39421"/>
              </a:avLst>
            </a:prstGeom>
            <a:solidFill>
              <a:schemeClr val="accent1"/>
            </a:solidFill>
            <a:ln w="9525">
              <a:solidFill>
                <a:schemeClr val="tx1"/>
              </a:solidFill>
              <a:miter lim="800000"/>
              <a:headEnd/>
              <a:tailEnd/>
            </a:ln>
            <a:effectLst>
              <a:outerShdw dist="17961" dir="2700000" algn="ctr" rotWithShape="0">
                <a:schemeClr val="tx1"/>
              </a:outerShdw>
            </a:effectLst>
          </p:spPr>
          <p:txBody>
            <a:bodyPr/>
            <a:lstStyle/>
            <a:p>
              <a:endParaRPr lang="zh-CN" altLang="en-US"/>
            </a:p>
          </p:txBody>
        </p:sp>
        <p:sp>
          <p:nvSpPr>
            <p:cNvPr id="14353" name="文本框 798739">
              <a:extLst>
                <a:ext uri="{FF2B5EF4-FFF2-40B4-BE49-F238E27FC236}">
                  <a16:creationId xmlns:a16="http://schemas.microsoft.com/office/drawing/2014/main" id="{271C9DEE-C999-4CAC-8CB1-A92EC1E85E56}"/>
                </a:ext>
              </a:extLst>
            </p:cNvPr>
            <p:cNvSpPr txBox="1">
              <a:spLocks noChangeArrowheads="1"/>
            </p:cNvSpPr>
            <p:nvPr/>
          </p:nvSpPr>
          <p:spPr bwMode="auto">
            <a:xfrm>
              <a:off x="2465" y="3611"/>
              <a:ext cx="896" cy="354"/>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rIns="0">
              <a:spAutoFit/>
            </a:bodyPr>
            <a:lstStyle/>
            <a:p>
              <a:pPr>
                <a:lnSpc>
                  <a:spcPct val="110000"/>
                </a:lnSpc>
                <a:spcBef>
                  <a:spcPct val="20000"/>
                </a:spcBef>
                <a:buSzPct val="100000"/>
                <a:buFont typeface="Wingdings" panose="05000000000000000000" pitchFamily="2" charset="2"/>
                <a:buNone/>
              </a:pPr>
              <a:r>
                <a:rPr lang="zh-CN" altLang="en-US" sz="2800" b="1">
                  <a:solidFill>
                    <a:srgbClr val="A50021"/>
                  </a:solidFill>
                </a:rPr>
                <a:t>概念模型</a:t>
              </a:r>
            </a:p>
          </p:txBody>
        </p:sp>
        <p:sp>
          <p:nvSpPr>
            <p:cNvPr id="14354" name="文本框 798740">
              <a:extLst>
                <a:ext uri="{FF2B5EF4-FFF2-40B4-BE49-F238E27FC236}">
                  <a16:creationId xmlns:a16="http://schemas.microsoft.com/office/drawing/2014/main" id="{AAE2F8C5-5800-4B70-B0CF-FF3900F85E1D}"/>
                </a:ext>
              </a:extLst>
            </p:cNvPr>
            <p:cNvSpPr txBox="1">
              <a:spLocks noChangeArrowheads="1"/>
            </p:cNvSpPr>
            <p:nvPr/>
          </p:nvSpPr>
          <p:spPr bwMode="auto">
            <a:xfrm>
              <a:off x="365" y="3022"/>
              <a:ext cx="701" cy="499"/>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zh-CN" altLang="en-US" sz="2400" b="1">
                  <a:solidFill>
                    <a:srgbClr val="006600"/>
                  </a:solidFill>
                  <a:latin typeface="Times New Roman" panose="02020603050405020304" pitchFamily="18" charset="0"/>
                </a:rPr>
                <a:t>概念化抽象</a:t>
              </a:r>
              <a:endParaRPr lang="zh-CN" altLang="en-US" sz="2400" b="1">
                <a:solidFill>
                  <a:srgbClr val="006600"/>
                </a:solidFill>
              </a:endParaRPr>
            </a:p>
          </p:txBody>
        </p:sp>
      </p:grpSp>
      <p:grpSp>
        <p:nvGrpSpPr>
          <p:cNvPr id="14355" name="组合 798741">
            <a:extLst>
              <a:ext uri="{FF2B5EF4-FFF2-40B4-BE49-F238E27FC236}">
                <a16:creationId xmlns:a16="http://schemas.microsoft.com/office/drawing/2014/main" id="{D9AF0D74-B30E-4FE5-86ED-6136228B3541}"/>
              </a:ext>
            </a:extLst>
          </p:cNvPr>
          <p:cNvGrpSpPr>
            <a:grpSpLocks/>
          </p:cNvGrpSpPr>
          <p:nvPr/>
        </p:nvGrpSpPr>
        <p:grpSpPr bwMode="auto">
          <a:xfrm>
            <a:off x="5424488" y="3716338"/>
            <a:ext cx="3108325" cy="1809750"/>
            <a:chOff x="3417" y="2472"/>
            <a:chExt cx="1917" cy="1140"/>
          </a:xfrm>
        </p:grpSpPr>
        <p:sp>
          <p:nvSpPr>
            <p:cNvPr id="14356" name="文本框 798742">
              <a:extLst>
                <a:ext uri="{FF2B5EF4-FFF2-40B4-BE49-F238E27FC236}">
                  <a16:creationId xmlns:a16="http://schemas.microsoft.com/office/drawing/2014/main" id="{3598A7DD-4CB9-4BA2-B900-4BCC2E8EA575}"/>
                </a:ext>
              </a:extLst>
            </p:cNvPr>
            <p:cNvSpPr txBox="1">
              <a:spLocks noChangeArrowheads="1"/>
            </p:cNvSpPr>
            <p:nvPr/>
          </p:nvSpPr>
          <p:spPr bwMode="auto">
            <a:xfrm>
              <a:off x="3417" y="2472"/>
              <a:ext cx="1917" cy="311"/>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p>
              <a:pPr>
                <a:lnSpc>
                  <a:spcPct val="110000"/>
                </a:lnSpc>
                <a:spcBef>
                  <a:spcPct val="20000"/>
                </a:spcBef>
                <a:buSzPct val="100000"/>
                <a:buFont typeface="Wingdings" panose="05000000000000000000" pitchFamily="2" charset="2"/>
                <a:buNone/>
              </a:pPr>
              <a:r>
                <a:rPr lang="en-US" altLang="zh-CN" sz="2400" b="1">
                  <a:solidFill>
                    <a:srgbClr val="A50021"/>
                  </a:solidFill>
                </a:rPr>
                <a:t>DBMS</a:t>
              </a:r>
              <a:r>
                <a:rPr lang="zh-CN" altLang="en-US" sz="2400" b="1">
                  <a:solidFill>
                    <a:srgbClr val="A50021"/>
                  </a:solidFill>
                </a:rPr>
                <a:t>支持的数据模型</a:t>
              </a:r>
            </a:p>
          </p:txBody>
        </p:sp>
        <p:sp>
          <p:nvSpPr>
            <p:cNvPr id="14357" name="左弧形箭头 798743">
              <a:extLst>
                <a:ext uri="{FF2B5EF4-FFF2-40B4-BE49-F238E27FC236}">
                  <a16:creationId xmlns:a16="http://schemas.microsoft.com/office/drawing/2014/main" id="{FBE4E27E-C780-4506-9A52-F5B81540D841}"/>
                </a:ext>
              </a:extLst>
            </p:cNvPr>
            <p:cNvSpPr>
              <a:spLocks noChangeArrowheads="1"/>
            </p:cNvSpPr>
            <p:nvPr/>
          </p:nvSpPr>
          <p:spPr bwMode="auto">
            <a:xfrm rot="-7800000">
              <a:off x="4051" y="2695"/>
              <a:ext cx="454" cy="1180"/>
            </a:xfrm>
            <a:prstGeom prst="curvedRightArrow">
              <a:avLst>
                <a:gd name="adj1" fmla="val 41634"/>
                <a:gd name="adj2" fmla="val 89646"/>
                <a:gd name="adj3" fmla="val 39421"/>
              </a:avLst>
            </a:prstGeom>
            <a:solidFill>
              <a:schemeClr val="accent1"/>
            </a:solidFill>
            <a:ln w="9525">
              <a:solidFill>
                <a:schemeClr val="tx1"/>
              </a:solidFill>
              <a:miter lim="800000"/>
              <a:headEnd/>
              <a:tailEnd/>
            </a:ln>
            <a:effectLst>
              <a:outerShdw dist="17961" dir="2700000" algn="ctr" rotWithShape="0">
                <a:schemeClr val="tx1"/>
              </a:outerShdw>
            </a:effectLst>
          </p:spPr>
          <p:txBody>
            <a:bodyPr/>
            <a:lstStyle/>
            <a:p>
              <a:endParaRPr lang="zh-CN" altLang="en-US"/>
            </a:p>
          </p:txBody>
        </p:sp>
        <p:sp>
          <p:nvSpPr>
            <p:cNvPr id="14358" name="文本框 798744">
              <a:extLst>
                <a:ext uri="{FF2B5EF4-FFF2-40B4-BE49-F238E27FC236}">
                  <a16:creationId xmlns:a16="http://schemas.microsoft.com/office/drawing/2014/main" id="{745D6FE2-3BE0-432C-A1FD-5B8C662B2ABF}"/>
                </a:ext>
              </a:extLst>
            </p:cNvPr>
            <p:cNvSpPr txBox="1">
              <a:spLocks noChangeArrowheads="1"/>
            </p:cNvSpPr>
            <p:nvPr/>
          </p:nvSpPr>
          <p:spPr bwMode="auto">
            <a:xfrm>
              <a:off x="4558" y="3158"/>
              <a:ext cx="698" cy="454"/>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r>
                <a:rPr lang="zh-CN" altLang="en-US" sz="2400" b="1">
                  <a:solidFill>
                    <a:srgbClr val="006600"/>
                  </a:solidFill>
                  <a:latin typeface="Times New Roman" panose="02020603050405020304" pitchFamily="18" charset="0"/>
                </a:rPr>
                <a:t>形式化转换</a:t>
              </a:r>
            </a:p>
          </p:txBody>
        </p:sp>
      </p:grpSp>
      <p:sp>
        <p:nvSpPr>
          <p:cNvPr id="14359" name="圆角矩形标注 798745">
            <a:extLst>
              <a:ext uri="{FF2B5EF4-FFF2-40B4-BE49-F238E27FC236}">
                <a16:creationId xmlns:a16="http://schemas.microsoft.com/office/drawing/2014/main" id="{863CF79E-28D6-4C89-8697-91E54DD8C370}"/>
              </a:ext>
            </a:extLst>
          </p:cNvPr>
          <p:cNvSpPr>
            <a:spLocks noChangeArrowheads="1"/>
          </p:cNvSpPr>
          <p:nvPr/>
        </p:nvSpPr>
        <p:spPr bwMode="auto">
          <a:xfrm>
            <a:off x="2452688" y="73025"/>
            <a:ext cx="3551237" cy="3571875"/>
          </a:xfrm>
          <a:prstGeom prst="wedgeRoundRectCallout">
            <a:avLst>
              <a:gd name="adj1" fmla="val 69356"/>
              <a:gd name="adj2" fmla="val 39421"/>
              <a:gd name="adj3" fmla="val 16667"/>
            </a:avLst>
          </a:prstGeom>
          <a:solidFill>
            <a:schemeClr val="accent1"/>
          </a:solidFill>
          <a:ln w="9525">
            <a:solidFill>
              <a:schemeClr val="tx1"/>
            </a:solidFill>
            <a:miter lim="800000"/>
            <a:headEnd/>
            <a:tailEnd/>
          </a:ln>
        </p:spPr>
        <p:txBody>
          <a:bodyPr/>
          <a:lstStyle/>
          <a:p>
            <a:pPr>
              <a:lnSpc>
                <a:spcPct val="90000"/>
              </a:lnSpc>
            </a:pPr>
            <a:r>
              <a:rPr lang="zh-CN" altLang="en-US" sz="2400" b="1">
                <a:latin typeface="Tahoma" panose="020B0604030504040204" pitchFamily="34" charset="0"/>
                <a:ea typeface="隶书" panose="02010509060101010101" pitchFamily="49" charset="-122"/>
              </a:rPr>
              <a:t>进一步讲，概念模型向</a:t>
            </a:r>
            <a:r>
              <a:rPr lang="en-US" altLang="zh-CN" sz="2400" b="1">
                <a:latin typeface="Tahoma" panose="020B0604030504040204" pitchFamily="34" charset="0"/>
                <a:ea typeface="隶书" panose="02010509060101010101" pitchFamily="49" charset="-122"/>
              </a:rPr>
              <a:t>DBMS</a:t>
            </a:r>
            <a:r>
              <a:rPr lang="zh-CN" altLang="en-US" sz="2400" b="1">
                <a:latin typeface="Tahoma" panose="020B0604030504040204" pitchFamily="34" charset="0"/>
                <a:ea typeface="隶书" panose="02010509060101010101" pitchFamily="49" charset="-122"/>
              </a:rPr>
              <a:t>支持的数据模型的转换，本质上是对信息世界的进一步抽象，是信息世界的形式化和数据化，反映了数据之间的联系和数据的共性特征，由此形成了由</a:t>
            </a:r>
            <a:r>
              <a:rPr lang="zh-CN" altLang="en-US" sz="2400" b="1">
                <a:solidFill>
                  <a:schemeClr val="hlink"/>
                </a:solidFill>
                <a:latin typeface="Tahoma" panose="020B0604030504040204" pitchFamily="34" charset="0"/>
                <a:ea typeface="隶书" panose="02010509060101010101" pitchFamily="49" charset="-122"/>
              </a:rPr>
              <a:t>数据模型</a:t>
            </a:r>
            <a:r>
              <a:rPr lang="zh-CN" altLang="en-US" sz="2400" b="1">
                <a:latin typeface="Tahoma" panose="020B0604030504040204" pitchFamily="34" charset="0"/>
                <a:ea typeface="隶书" panose="02010509060101010101" pitchFamily="49" charset="-122"/>
              </a:rPr>
              <a:t>描述的数据世界，也即计算机世界。</a:t>
            </a:r>
            <a:r>
              <a:rPr lang="zh-CN" altLang="en-US" sz="2500" b="1">
                <a:latin typeface="Tahoma" panose="020B0604030504040204" pitchFamily="34" charset="0"/>
                <a:ea typeface="隶书" panose="02010509060101010101" pitchFamily="49" charset="-122"/>
              </a:rPr>
              <a:t> </a:t>
            </a:r>
            <a:endParaRPr lang="en-US" altLang="zh-CN" sz="2500" b="1">
              <a:latin typeface="Tahoma" panose="020B0604030504040204" pitchFamily="34" charset="0"/>
              <a:ea typeface="隶书" panose="020105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38016"/>
    </mc:Choice>
    <mc:Fallback xmlns="">
      <p:transition spd="slow" advTm="38016"/>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1138" name="标题 731137">
            <a:extLst>
              <a:ext uri="{FF2B5EF4-FFF2-40B4-BE49-F238E27FC236}">
                <a16:creationId xmlns:a16="http://schemas.microsoft.com/office/drawing/2014/main" id="{BFD110DB-3EB4-4595-A724-7E65B0180D63}"/>
              </a:ext>
            </a:extLst>
          </p:cNvPr>
          <p:cNvSpPr>
            <a:spLocks noGrp="1"/>
          </p:cNvSpPr>
          <p:nvPr>
            <p:ph type="title"/>
          </p:nvPr>
        </p:nvSpPr>
        <p:spPr/>
        <p:txBody>
          <a:bodyPr/>
          <a:lstStyle/>
          <a:p>
            <a:r>
              <a:rPr lang="zh-CN" altLang="en-US" noProof="1"/>
              <a:t>二、数据模型</a:t>
            </a:r>
          </a:p>
        </p:txBody>
      </p:sp>
      <p:sp>
        <p:nvSpPr>
          <p:cNvPr id="731139" name="文本占位符 731138">
            <a:extLst>
              <a:ext uri="{FF2B5EF4-FFF2-40B4-BE49-F238E27FC236}">
                <a16:creationId xmlns:a16="http://schemas.microsoft.com/office/drawing/2014/main" id="{584159B5-06C5-4EC8-BD8C-F838D175769E}"/>
              </a:ext>
            </a:extLst>
          </p:cNvPr>
          <p:cNvSpPr>
            <a:spLocks noGrp="1"/>
          </p:cNvSpPr>
          <p:nvPr>
            <p:ph type="body" idx="1"/>
          </p:nvPr>
        </p:nvSpPr>
        <p:spPr>
          <a:xfrm>
            <a:off x="468313" y="1258888"/>
            <a:ext cx="8207375" cy="1449387"/>
          </a:xfrm>
        </p:spPr>
        <p:txBody>
          <a:bodyPr/>
          <a:lstStyle/>
          <a:p>
            <a:pPr marL="0" indent="0">
              <a:lnSpc>
                <a:spcPct val="140000"/>
              </a:lnSpc>
            </a:pPr>
            <a:r>
              <a:rPr lang="zh-CN" altLang="en-US" noProof="1"/>
              <a:t>       </a:t>
            </a:r>
            <a:r>
              <a:rPr lang="zh-CN" altLang="en-US" noProof="1">
                <a:solidFill>
                  <a:schemeClr val="tx2"/>
                </a:solidFill>
              </a:rPr>
              <a:t>数据模型</a:t>
            </a:r>
            <a:r>
              <a:rPr lang="zh-CN" altLang="en-US" noProof="1"/>
              <a:t>是现实世界中的各种事物及各事物之间的联系用数据及数据间的联系来表示的一种方法。 </a:t>
            </a:r>
          </a:p>
        </p:txBody>
      </p:sp>
      <p:sp>
        <p:nvSpPr>
          <p:cNvPr id="731140" name="文本框 731139">
            <a:extLst>
              <a:ext uri="{FF2B5EF4-FFF2-40B4-BE49-F238E27FC236}">
                <a16:creationId xmlns:a16="http://schemas.microsoft.com/office/drawing/2014/main" id="{2F710F88-3810-4892-A7FA-BBF965A7785B}"/>
              </a:ext>
            </a:extLst>
          </p:cNvPr>
          <p:cNvSpPr txBox="1"/>
          <p:nvPr/>
        </p:nvSpPr>
        <p:spPr>
          <a:xfrm>
            <a:off x="828675" y="3157538"/>
            <a:ext cx="7488238" cy="2025650"/>
          </a:xfrm>
          <a:prstGeom prst="rect">
            <a:avLst/>
          </a:prstGeom>
          <a:gradFill rotWithShape="1">
            <a:gsLst>
              <a:gs pos="0">
                <a:srgbClr val="99FF66"/>
              </a:gs>
              <a:gs pos="50000">
                <a:schemeClr val="bg1"/>
              </a:gs>
              <a:gs pos="100000">
                <a:srgbClr val="99FF66"/>
              </a:gs>
            </a:gsLst>
            <a:lin ang="18900000" scaled="1"/>
            <a:tileRect/>
          </a:gradFill>
          <a:ln w="9525" cap="flat" cmpd="sng">
            <a:solidFill>
              <a:schemeClr val="tx1"/>
            </a:solidFill>
            <a:prstDash val="solid"/>
            <a:miter/>
            <a:headEnd type="none" w="med" len="med"/>
            <a:tailEnd type="none" w="med" len="med"/>
          </a:ln>
          <a:effectLst>
            <a:outerShdw dist="35921" dir="2699999" algn="ctr" rotWithShape="0">
              <a:schemeClr val="tx1"/>
            </a:outerShdw>
          </a:effectLst>
        </p:spPr>
        <p:txBody>
          <a:bodyPr>
            <a:spAutoFit/>
          </a:bodyPr>
          <a:lstStyle/>
          <a:p>
            <a:pPr>
              <a:lnSpc>
                <a:spcPct val="150000"/>
              </a:lnSpc>
              <a:spcBef>
                <a:spcPct val="50000"/>
              </a:spcBef>
            </a:pPr>
            <a:r>
              <a:rPr lang="zh-CN" altLang="en-US" sz="2800" b="1" noProof="1">
                <a:solidFill>
                  <a:srgbClr val="993300"/>
                </a:solidFill>
                <a:effectLst>
                  <a:outerShdw blurRad="38100" dist="38100" dir="2700000">
                    <a:srgbClr val="C0C0C0"/>
                  </a:outerShdw>
                </a:effectLst>
                <a:latin typeface="Comic Sans MS" panose="030F0702030302020204" pitchFamily="66" charset="0"/>
                <a:ea typeface="幼圆" panose="02010509060101010101" pitchFamily="49" charset="-122"/>
              </a:rPr>
              <a:t>     一个数据库的数据模型实际上给出了在计算机系统上进行描述和动态模拟现实世界信息结构及其变化的方法。</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4587"/>
    </mc:Choice>
    <mc:Fallback xmlns="">
      <p:transition spd="slow" advTm="44587"/>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731139">
                                            <p:txEl>
                                              <p:pRg st="0" end="0"/>
                                            </p:txEl>
                                          </p:spTgt>
                                        </p:tgtEl>
                                        <p:attrNameLst>
                                          <p:attrName>style.visibility</p:attrName>
                                        </p:attrNameLst>
                                      </p:cBhvr>
                                      <p:to>
                                        <p:strVal val="visible"/>
                                      </p:to>
                                    </p:set>
                                    <p:animEffect transition="in" filter="wipe(up)">
                                      <p:cBhvr>
                                        <p:cTn id="7" dur="2000"/>
                                        <p:tgtEl>
                                          <p:spTgt spid="7311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731140"/>
                                        </p:tgtEl>
                                        <p:attrNameLst>
                                          <p:attrName>style.visibility</p:attrName>
                                        </p:attrNameLst>
                                      </p:cBhvr>
                                      <p:to>
                                        <p:strVal val="visible"/>
                                      </p:to>
                                    </p:set>
                                    <p:animEffect transition="in" filter="wheel(4)">
                                      <p:cBhvr>
                                        <p:cTn id="12" dur="1000"/>
                                        <p:tgtEl>
                                          <p:spTgt spid="731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1139" grpId="0" build="p"/>
      <p:bldP spid="73114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9252" name="矩形 949251">
            <a:extLst>
              <a:ext uri="{FF2B5EF4-FFF2-40B4-BE49-F238E27FC236}">
                <a16:creationId xmlns:a16="http://schemas.microsoft.com/office/drawing/2014/main" id="{C6F08FAE-2EED-4BBB-ADE4-D9DA7366BB33}"/>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t>二、数据模型</a:t>
            </a:r>
          </a:p>
        </p:txBody>
      </p:sp>
      <p:sp>
        <p:nvSpPr>
          <p:cNvPr id="949253" name="矩形 949252">
            <a:extLst>
              <a:ext uri="{FF2B5EF4-FFF2-40B4-BE49-F238E27FC236}">
                <a16:creationId xmlns:a16="http://schemas.microsoft.com/office/drawing/2014/main" id="{26DF3687-7043-4ACD-B980-41231BE3774B}"/>
              </a:ext>
            </a:extLst>
          </p:cNvPr>
          <p:cNvSpPr/>
          <p:nvPr/>
        </p:nvSpPr>
        <p:spPr>
          <a:xfrm>
            <a:off x="468313" y="1258888"/>
            <a:ext cx="8207375" cy="1449387"/>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indent="0">
              <a:lnSpc>
                <a:spcPct val="140000"/>
              </a:lnSpc>
            </a:pPr>
            <a:r>
              <a:rPr lang="zh-CN" altLang="en-US" noProof="1"/>
              <a:t>      </a:t>
            </a:r>
            <a:r>
              <a:rPr lang="zh-CN" altLang="en-US" noProof="1">
                <a:solidFill>
                  <a:schemeClr val="hlink"/>
                </a:solidFill>
              </a:rPr>
              <a:t> </a:t>
            </a:r>
            <a:r>
              <a:rPr lang="zh-CN" altLang="en-US" sz="4000" noProof="1">
                <a:solidFill>
                  <a:schemeClr val="hlink"/>
                </a:solidFill>
              </a:rPr>
              <a:t>？？  </a:t>
            </a:r>
            <a:r>
              <a:rPr lang="zh-CN" altLang="en-US" sz="4000" noProof="1"/>
              <a:t>数据模型的定义</a:t>
            </a:r>
          </a:p>
        </p:txBody>
      </p:sp>
    </p:spTree>
  </p:cSld>
  <p:clrMapOvr>
    <a:masterClrMapping/>
  </p:clrMapOvr>
  <mc:AlternateContent xmlns:mc="http://schemas.openxmlformats.org/markup-compatibility/2006" xmlns:p14="http://schemas.microsoft.com/office/powerpoint/2010/main">
    <mc:Choice Requires="p14">
      <p:transition spd="slow" p14:dur="2000" advTm="5253"/>
    </mc:Choice>
    <mc:Fallback xmlns="">
      <p:transition spd="slow" advTm="5253"/>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8" presetClass="entr" presetSubtype="32" fill="hold" grpId="0" nodeType="afterEffect">
                                  <p:stCondLst>
                                    <p:cond delay="0"/>
                                  </p:stCondLst>
                                  <p:childTnLst>
                                    <p:set>
                                      <p:cBhvr>
                                        <p:cTn id="6" dur="1" fill="hold">
                                          <p:stCondLst>
                                            <p:cond delay="0"/>
                                          </p:stCondLst>
                                        </p:cTn>
                                        <p:tgtEl>
                                          <p:spTgt spid="949253"/>
                                        </p:tgtEl>
                                        <p:attrNameLst>
                                          <p:attrName>style.visibility</p:attrName>
                                        </p:attrNameLst>
                                      </p:cBhvr>
                                      <p:to>
                                        <p:strVal val="visible"/>
                                      </p:to>
                                    </p:set>
                                    <p:animEffect transition="in" filter="diamond(out)">
                                      <p:cBhvr>
                                        <p:cTn id="7" dur="2000"/>
                                        <p:tgtEl>
                                          <p:spTgt spid="949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9253" grpId="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3186" name="标题 733185">
            <a:extLst>
              <a:ext uri="{FF2B5EF4-FFF2-40B4-BE49-F238E27FC236}">
                <a16:creationId xmlns:a16="http://schemas.microsoft.com/office/drawing/2014/main" id="{48081D1A-9D1C-4FB5-9079-9B38484C406F}"/>
              </a:ext>
            </a:extLst>
          </p:cNvPr>
          <p:cNvSpPr>
            <a:spLocks noGrp="1"/>
          </p:cNvSpPr>
          <p:nvPr>
            <p:ph type="title"/>
          </p:nvPr>
        </p:nvSpPr>
        <p:spPr/>
        <p:txBody>
          <a:bodyPr/>
          <a:lstStyle/>
          <a:p>
            <a:r>
              <a:rPr lang="zh-CN" altLang="en-US" noProof="1"/>
              <a:t>二、数据模型</a:t>
            </a:r>
          </a:p>
        </p:txBody>
      </p:sp>
      <p:sp>
        <p:nvSpPr>
          <p:cNvPr id="733187" name="文本占位符 733186">
            <a:extLst>
              <a:ext uri="{FF2B5EF4-FFF2-40B4-BE49-F238E27FC236}">
                <a16:creationId xmlns:a16="http://schemas.microsoft.com/office/drawing/2014/main" id="{1E1A8329-3B96-4231-991B-64958B370D05}"/>
              </a:ext>
            </a:extLst>
          </p:cNvPr>
          <p:cNvSpPr>
            <a:spLocks noGrp="1"/>
          </p:cNvSpPr>
          <p:nvPr>
            <p:ph type="body" idx="1"/>
          </p:nvPr>
        </p:nvSpPr>
        <p:spPr>
          <a:xfrm>
            <a:off x="468313" y="1052513"/>
            <a:ext cx="8207375" cy="5616575"/>
          </a:xfrm>
        </p:spPr>
        <p:txBody>
          <a:bodyPr/>
          <a:lstStyle/>
          <a:p>
            <a:pPr>
              <a:lnSpc>
                <a:spcPct val="110000"/>
              </a:lnSpc>
            </a:pPr>
            <a:r>
              <a:rPr lang="zh-CN" altLang="en-US" sz="3000" noProof="1">
                <a:solidFill>
                  <a:srgbClr val="660066"/>
                </a:solidFill>
                <a:ea typeface="华文新魏" panose="02010800040101010101" pitchFamily="2" charset="-122"/>
              </a:rPr>
              <a:t>          </a:t>
            </a:r>
            <a:r>
              <a:rPr lang="zh-CN" altLang="en-US" sz="3000" noProof="1">
                <a:solidFill>
                  <a:srgbClr val="660033"/>
                </a:solidFill>
                <a:ea typeface="华文新魏" panose="02010800040101010101" pitchFamily="2" charset="-122"/>
              </a:rPr>
              <a:t>数据模型：是一组面向计算机的概念集合，由</a:t>
            </a:r>
            <a:r>
              <a:rPr lang="zh-CN" altLang="en-US" sz="3000" noProof="1">
                <a:solidFill>
                  <a:srgbClr val="003366"/>
                </a:solidFill>
                <a:effectLst/>
                <a:ea typeface="华文新魏" panose="02010800040101010101" pitchFamily="2" charset="-122"/>
              </a:rPr>
              <a:t>数据结构、数据操作、数据约束</a:t>
            </a:r>
            <a:r>
              <a:rPr lang="zh-CN" altLang="en-US" sz="3000" noProof="1">
                <a:solidFill>
                  <a:srgbClr val="660033"/>
                </a:solidFill>
                <a:ea typeface="华文新魏" panose="02010800040101010101" pitchFamily="2" charset="-122"/>
              </a:rPr>
              <a:t>三部分</a:t>
            </a:r>
            <a:r>
              <a:rPr lang="zh-CN" altLang="en-US" sz="3000" noProof="1">
                <a:solidFill>
                  <a:srgbClr val="006666"/>
                </a:solidFill>
                <a:effectLst/>
                <a:ea typeface="黑体" panose="02010609060101010101" pitchFamily="2" charset="-122"/>
              </a:rPr>
              <a:t>组成</a:t>
            </a:r>
            <a:r>
              <a:rPr lang="zh-CN" altLang="en-US" sz="3000" noProof="1">
                <a:solidFill>
                  <a:srgbClr val="660033"/>
                </a:solidFill>
                <a:ea typeface="华文新魏" panose="02010800040101010101" pitchFamily="2" charset="-122"/>
              </a:rPr>
              <a:t>：</a:t>
            </a:r>
          </a:p>
          <a:p>
            <a:pPr>
              <a:lnSpc>
                <a:spcPct val="110000"/>
              </a:lnSpc>
              <a:spcBef>
                <a:spcPct val="10000"/>
              </a:spcBef>
              <a:buFont typeface="Wingdings" panose="05000000000000000000" pitchFamily="2" charset="2"/>
              <a:buChar char="n"/>
            </a:pPr>
            <a:r>
              <a:rPr lang="zh-CN" altLang="en-US" noProof="1">
                <a:solidFill>
                  <a:srgbClr val="A50021"/>
                </a:solidFill>
              </a:rPr>
              <a:t>数据结构：</a:t>
            </a:r>
            <a:r>
              <a:rPr lang="zh-CN" altLang="en-US" sz="2600" noProof="1"/>
              <a:t>包括应用所涉及的对象、对象具有的特征和对象间的联系。是对数据库静态特征的描述。</a:t>
            </a:r>
          </a:p>
          <a:p>
            <a:pPr>
              <a:lnSpc>
                <a:spcPct val="110000"/>
              </a:lnSpc>
              <a:spcBef>
                <a:spcPct val="10000"/>
              </a:spcBef>
              <a:buFont typeface="Wingdings" panose="05000000000000000000" pitchFamily="2" charset="2"/>
              <a:buChar char="n"/>
            </a:pPr>
            <a:r>
              <a:rPr lang="zh-CN" altLang="en-US" noProof="1">
                <a:solidFill>
                  <a:srgbClr val="A50021"/>
                </a:solidFill>
              </a:rPr>
              <a:t>数据操作：</a:t>
            </a:r>
            <a:r>
              <a:rPr lang="zh-CN" altLang="en-US" sz="2600" noProof="1">
                <a:solidFill>
                  <a:srgbClr val="003366"/>
                </a:solidFill>
              </a:rPr>
              <a:t>是一组对数据结构的任何实例执行的操作集合，</a:t>
            </a:r>
            <a:r>
              <a:rPr lang="zh-CN" altLang="en-US" sz="2600" noProof="1">
                <a:solidFill>
                  <a:schemeClr val="hlink"/>
                </a:solidFill>
                <a:effectLst/>
                <a:ea typeface="黑体" panose="02010609060101010101" pitchFamily="2" charset="-122"/>
              </a:rPr>
              <a:t>如 </a:t>
            </a:r>
            <a:r>
              <a:rPr lang="zh-CN" altLang="en-US" sz="2600" noProof="1">
                <a:solidFill>
                  <a:srgbClr val="003366"/>
                </a:solidFill>
              </a:rPr>
              <a:t>查询、插入、删除、修改，反映了数据的动态特性。</a:t>
            </a:r>
          </a:p>
          <a:p>
            <a:pPr>
              <a:lnSpc>
                <a:spcPct val="110000"/>
              </a:lnSpc>
              <a:spcBef>
                <a:spcPct val="10000"/>
              </a:spcBef>
              <a:buFont typeface="Wingdings" panose="05000000000000000000" pitchFamily="2" charset="2"/>
              <a:buChar char="n"/>
            </a:pPr>
            <a:r>
              <a:rPr lang="zh-CN" altLang="en-US" noProof="1">
                <a:solidFill>
                  <a:srgbClr val="A50021"/>
                </a:solidFill>
              </a:rPr>
              <a:t>数据约束：</a:t>
            </a:r>
            <a:r>
              <a:rPr lang="zh-CN" altLang="en-US" sz="2600" noProof="1">
                <a:solidFill>
                  <a:srgbClr val="006699"/>
                </a:solidFill>
              </a:rPr>
              <a:t>是对数据静态特征和动态特性的限定，定义了相容的数据库状态的集合及可允许的状态变化，保证了数据库中数据的正确、有效和安全。</a:t>
            </a:r>
            <a:r>
              <a:rPr lang="zh-CN" altLang="en-US" sz="2400" noProof="1"/>
              <a:t>  </a:t>
            </a:r>
            <a:endParaRPr lang="en-US" altLang="zh-CN" sz="2400" noProof="1"/>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94868"/>
    </mc:Choice>
    <mc:Fallback xmlns="">
      <p:transition spd="slow" advTm="94868"/>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33187">
                                            <p:txEl>
                                              <p:pRg st="0" end="0"/>
                                            </p:txEl>
                                          </p:spTgt>
                                        </p:tgtEl>
                                        <p:attrNameLst>
                                          <p:attrName>style.visibility</p:attrName>
                                        </p:attrNameLst>
                                      </p:cBhvr>
                                      <p:to>
                                        <p:strVal val="visible"/>
                                      </p:to>
                                    </p:set>
                                    <p:animEffect transition="in" filter="wipe(left)">
                                      <p:cBhvr>
                                        <p:cTn id="7" dur="1000"/>
                                        <p:tgtEl>
                                          <p:spTgt spid="7331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33187">
                                            <p:txEl>
                                              <p:pRg st="1" end="1"/>
                                            </p:txEl>
                                          </p:spTgt>
                                        </p:tgtEl>
                                        <p:attrNameLst>
                                          <p:attrName>style.visibility</p:attrName>
                                        </p:attrNameLst>
                                      </p:cBhvr>
                                      <p:to>
                                        <p:strVal val="visible"/>
                                      </p:to>
                                    </p:set>
                                    <p:animEffect transition="in" filter="wipe(left)">
                                      <p:cBhvr>
                                        <p:cTn id="12" dur="1000"/>
                                        <p:tgtEl>
                                          <p:spTgt spid="73318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33187">
                                            <p:txEl>
                                              <p:pRg st="2" end="2"/>
                                            </p:txEl>
                                          </p:spTgt>
                                        </p:tgtEl>
                                        <p:attrNameLst>
                                          <p:attrName>style.visibility</p:attrName>
                                        </p:attrNameLst>
                                      </p:cBhvr>
                                      <p:to>
                                        <p:strVal val="visible"/>
                                      </p:to>
                                    </p:set>
                                    <p:animEffect transition="in" filter="wipe(left)">
                                      <p:cBhvr>
                                        <p:cTn id="17" dur="1000"/>
                                        <p:tgtEl>
                                          <p:spTgt spid="73318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33187">
                                            <p:txEl>
                                              <p:pRg st="3" end="3"/>
                                            </p:txEl>
                                          </p:spTgt>
                                        </p:tgtEl>
                                        <p:attrNameLst>
                                          <p:attrName>style.visibility</p:attrName>
                                        </p:attrNameLst>
                                      </p:cBhvr>
                                      <p:to>
                                        <p:strVal val="visible"/>
                                      </p:to>
                                    </p:set>
                                    <p:animEffect transition="in" filter="wipe(left)">
                                      <p:cBhvr>
                                        <p:cTn id="22" dur="1000"/>
                                        <p:tgtEl>
                                          <p:spTgt spid="7331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3187"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5764" name="矩形 885763">
            <a:extLst>
              <a:ext uri="{FF2B5EF4-FFF2-40B4-BE49-F238E27FC236}">
                <a16:creationId xmlns:a16="http://schemas.microsoft.com/office/drawing/2014/main" id="{7F89D7E4-83AA-4507-98DC-EB6FC9448F08}"/>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t>二、数据模型</a:t>
            </a:r>
          </a:p>
        </p:txBody>
      </p:sp>
      <p:sp>
        <p:nvSpPr>
          <p:cNvPr id="885766" name="文本框 885765">
            <a:extLst>
              <a:ext uri="{FF2B5EF4-FFF2-40B4-BE49-F238E27FC236}">
                <a16:creationId xmlns:a16="http://schemas.microsoft.com/office/drawing/2014/main" id="{79B8854A-D36F-4EA0-A91A-125BD7ADEAE2}"/>
              </a:ext>
            </a:extLst>
          </p:cNvPr>
          <p:cNvSpPr txBox="1"/>
          <p:nvPr/>
        </p:nvSpPr>
        <p:spPr>
          <a:xfrm>
            <a:off x="828675" y="1484313"/>
            <a:ext cx="7488238" cy="3614737"/>
          </a:xfrm>
          <a:prstGeom prst="rect">
            <a:avLst/>
          </a:prstGeom>
          <a:gradFill rotWithShape="1">
            <a:gsLst>
              <a:gs pos="0">
                <a:srgbClr val="99FF66"/>
              </a:gs>
              <a:gs pos="50000">
                <a:schemeClr val="bg1"/>
              </a:gs>
              <a:gs pos="100000">
                <a:srgbClr val="99FF66"/>
              </a:gs>
            </a:gsLst>
            <a:lin ang="18900000" scaled="1"/>
            <a:tileRect/>
          </a:gradFill>
          <a:ln w="9525" cap="flat" cmpd="sng">
            <a:solidFill>
              <a:schemeClr val="tx1"/>
            </a:solidFill>
            <a:prstDash val="solid"/>
            <a:miter/>
            <a:headEnd type="none" w="med" len="med"/>
            <a:tailEnd type="none" w="med" len="med"/>
          </a:ln>
          <a:effectLst>
            <a:outerShdw dist="35921" dir="2699999" algn="ctr" rotWithShape="0">
              <a:schemeClr val="tx1"/>
            </a:outerShdw>
          </a:effectLst>
        </p:spPr>
        <p:txBody>
          <a:bodyPr>
            <a:spAutoFit/>
          </a:bodyPr>
          <a:lstStyle/>
          <a:p>
            <a:pPr>
              <a:lnSpc>
                <a:spcPct val="150000"/>
              </a:lnSpc>
              <a:spcBef>
                <a:spcPct val="50000"/>
              </a:spcBef>
            </a:pPr>
            <a:r>
              <a:rPr lang="zh-CN" altLang="en-US" sz="2800" b="1" noProof="1">
                <a:solidFill>
                  <a:srgbClr val="993300"/>
                </a:solidFill>
                <a:effectLst>
                  <a:outerShdw blurRad="38100" dist="38100" dir="2700000">
                    <a:srgbClr val="C0C0C0"/>
                  </a:outerShdw>
                </a:effectLst>
                <a:latin typeface="Comic Sans MS" panose="030F0702030302020204" pitchFamily="66" charset="0"/>
                <a:ea typeface="幼圆" panose="02010509060101010101" pitchFamily="49" charset="-122"/>
              </a:rPr>
              <a:t>传统的数据模型分为（分类）：</a:t>
            </a:r>
          </a:p>
          <a:p>
            <a:pPr>
              <a:lnSpc>
                <a:spcPct val="150000"/>
              </a:lnSpc>
              <a:spcBef>
                <a:spcPct val="50000"/>
              </a:spcBef>
            </a:pPr>
            <a:r>
              <a:rPr lang="zh-CN" altLang="en-US" sz="2800" b="1" noProof="1">
                <a:solidFill>
                  <a:srgbClr val="993300"/>
                </a:solidFill>
                <a:effectLst>
                  <a:outerShdw blurRad="38100" dist="38100" dir="2700000">
                    <a:srgbClr val="C0C0C0"/>
                  </a:outerShdw>
                </a:effectLst>
                <a:latin typeface="Comic Sans MS" panose="030F0702030302020204" pitchFamily="66" charset="0"/>
                <a:ea typeface="幼圆" panose="02010509060101010101" pitchFamily="49" charset="-122"/>
              </a:rPr>
              <a:t>           层次模型</a:t>
            </a:r>
          </a:p>
          <a:p>
            <a:pPr>
              <a:lnSpc>
                <a:spcPct val="150000"/>
              </a:lnSpc>
              <a:spcBef>
                <a:spcPct val="50000"/>
              </a:spcBef>
            </a:pPr>
            <a:r>
              <a:rPr lang="zh-CN" altLang="en-US" sz="2800" b="1" noProof="1">
                <a:solidFill>
                  <a:srgbClr val="993300"/>
                </a:solidFill>
                <a:effectLst>
                  <a:outerShdw blurRad="38100" dist="38100" dir="2700000">
                    <a:srgbClr val="C0C0C0"/>
                  </a:outerShdw>
                </a:effectLst>
                <a:latin typeface="Comic Sans MS" panose="030F0702030302020204" pitchFamily="66" charset="0"/>
                <a:ea typeface="幼圆" panose="02010509060101010101" pitchFamily="49" charset="-122"/>
              </a:rPr>
              <a:t>           网状模型</a:t>
            </a:r>
          </a:p>
          <a:p>
            <a:pPr>
              <a:lnSpc>
                <a:spcPct val="150000"/>
              </a:lnSpc>
              <a:spcBef>
                <a:spcPct val="50000"/>
              </a:spcBef>
            </a:pPr>
            <a:r>
              <a:rPr lang="zh-CN" altLang="en-US" sz="2800" b="1" noProof="1">
                <a:solidFill>
                  <a:srgbClr val="993300"/>
                </a:solidFill>
                <a:effectLst>
                  <a:outerShdw blurRad="38100" dist="38100" dir="2700000">
                    <a:srgbClr val="C0C0C0"/>
                  </a:outerShdw>
                </a:effectLst>
                <a:latin typeface="Comic Sans MS" panose="030F0702030302020204" pitchFamily="66" charset="0"/>
                <a:ea typeface="幼圆" panose="02010509060101010101" pitchFamily="49" charset="-122"/>
              </a:rPr>
              <a:t>           关系模型</a:t>
            </a:r>
          </a:p>
          <a:p>
            <a:pPr>
              <a:lnSpc>
                <a:spcPct val="150000"/>
              </a:lnSpc>
              <a:spcBef>
                <a:spcPct val="50000"/>
              </a:spcBef>
            </a:pPr>
            <a:endParaRPr lang="zh-CN" altLang="en-US" sz="1000" b="1" noProof="1">
              <a:solidFill>
                <a:srgbClr val="993300"/>
              </a:solidFill>
              <a:effectLst>
                <a:outerShdw blurRad="38100" dist="38100" dir="2700000">
                  <a:srgbClr val="C0C0C0"/>
                </a:outerShdw>
              </a:effectLst>
              <a:latin typeface="Comic Sans MS" panose="030F0702030302020204" pitchFamily="66" charset="0"/>
              <a:ea typeface="幼圆" panose="020105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16696"/>
    </mc:Choice>
    <mc:Fallback xmlns="">
      <p:transition spd="slow" advTm="16696"/>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1" presetClass="entr" presetSubtype="4" fill="hold" grpId="0" nodeType="afterEffect">
                                  <p:stCondLst>
                                    <p:cond delay="0"/>
                                  </p:stCondLst>
                                  <p:childTnLst>
                                    <p:set>
                                      <p:cBhvr>
                                        <p:cTn id="6" dur="1" fill="hold">
                                          <p:stCondLst>
                                            <p:cond delay="0"/>
                                          </p:stCondLst>
                                        </p:cTn>
                                        <p:tgtEl>
                                          <p:spTgt spid="885766"/>
                                        </p:tgtEl>
                                        <p:attrNameLst>
                                          <p:attrName>style.visibility</p:attrName>
                                        </p:attrNameLst>
                                      </p:cBhvr>
                                      <p:to>
                                        <p:strVal val="visible"/>
                                      </p:to>
                                    </p:set>
                                    <p:animEffect transition="in" filter="wheel(4)">
                                      <p:cBhvr>
                                        <p:cTn id="7" dur="1000"/>
                                        <p:tgtEl>
                                          <p:spTgt spid="8857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576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2820" name="矩形 802819">
            <a:extLst>
              <a:ext uri="{FF2B5EF4-FFF2-40B4-BE49-F238E27FC236}">
                <a16:creationId xmlns:a16="http://schemas.microsoft.com/office/drawing/2014/main" id="{7E3E3EDE-A55D-4792-80D2-8F7DBAF1EA6D}"/>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t>三、层次模型</a:t>
            </a:r>
          </a:p>
        </p:txBody>
      </p:sp>
      <p:sp>
        <p:nvSpPr>
          <p:cNvPr id="802821" name="矩形 802820">
            <a:extLst>
              <a:ext uri="{FF2B5EF4-FFF2-40B4-BE49-F238E27FC236}">
                <a16:creationId xmlns:a16="http://schemas.microsoft.com/office/drawing/2014/main" id="{D48008A1-9481-472E-9AC1-6C9B16DC7776}"/>
              </a:ext>
            </a:extLst>
          </p:cNvPr>
          <p:cNvSpPr/>
          <p:nvPr/>
        </p:nvSpPr>
        <p:spPr>
          <a:xfrm>
            <a:off x="468313" y="1196975"/>
            <a:ext cx="8207375" cy="5184775"/>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a:lnSpc>
                <a:spcPct val="110000"/>
              </a:lnSpc>
            </a:pPr>
            <a:r>
              <a:rPr lang="zh-CN" altLang="en-US" sz="3200" noProof="1">
                <a:solidFill>
                  <a:srgbClr val="990033"/>
                </a:solidFill>
                <a:ea typeface="华文中宋" panose="02010600040101010101" pitchFamily="2" charset="-122"/>
              </a:rPr>
              <a:t>       层次模型由满足如下条件的结点组成：</a:t>
            </a:r>
            <a:endParaRPr lang="zh-CN" altLang="en-US" sz="3000" noProof="1">
              <a:solidFill>
                <a:srgbClr val="660033"/>
              </a:solidFill>
              <a:ea typeface="华文新魏" panose="02010800040101010101" pitchFamily="2" charset="-122"/>
            </a:endParaRPr>
          </a:p>
          <a:p>
            <a:pPr>
              <a:lnSpc>
                <a:spcPct val="150000"/>
              </a:lnSpc>
            </a:pPr>
            <a:r>
              <a:rPr lang="zh-CN" altLang="en-US" sz="3000" noProof="1">
                <a:effectLst/>
                <a:latin typeface="华文新魏" panose="02010800040101010101" pitchFamily="2" charset="-122"/>
                <a:ea typeface="华文新魏" panose="02010800040101010101" pitchFamily="2" charset="-122"/>
              </a:rPr>
              <a:t>       （</a:t>
            </a:r>
            <a:r>
              <a:rPr lang="en-US" altLang="zh-CN" sz="3000" noProof="1">
                <a:effectLst/>
                <a:latin typeface="华文新魏" panose="02010800040101010101" pitchFamily="2" charset="-122"/>
                <a:ea typeface="华文新魏" panose="02010800040101010101" pitchFamily="2" charset="-122"/>
              </a:rPr>
              <a:t>1</a:t>
            </a:r>
            <a:r>
              <a:rPr lang="zh-CN" altLang="en-US" sz="3000" noProof="1">
                <a:effectLst/>
                <a:latin typeface="华文新魏" panose="02010800040101010101" pitchFamily="2" charset="-122"/>
                <a:ea typeface="华文新魏" panose="02010800040101010101" pitchFamily="2" charset="-122"/>
              </a:rPr>
              <a:t>）根结点：是唯一的一个无双亲结点</a:t>
            </a:r>
            <a:r>
              <a:rPr lang="zh-CN" altLang="en-US" sz="3000" noProof="1"/>
              <a:t>。</a:t>
            </a:r>
          </a:p>
          <a:p>
            <a:pPr>
              <a:lnSpc>
                <a:spcPct val="150000"/>
              </a:lnSpc>
              <a:spcBef>
                <a:spcPct val="0"/>
              </a:spcBef>
              <a:buClrTx/>
              <a:buSzTx/>
              <a:buFontTx/>
              <a:buNone/>
            </a:pPr>
            <a:r>
              <a:rPr lang="zh-CN" altLang="en-US" sz="3000" noProof="1">
                <a:effectLst/>
                <a:latin typeface="华文新魏" panose="02010800040101010101" pitchFamily="2" charset="-122"/>
                <a:ea typeface="华文新魏" panose="02010800040101010101" pitchFamily="2" charset="-122"/>
              </a:rPr>
              <a:t>       （</a:t>
            </a:r>
            <a:r>
              <a:rPr lang="en-US" altLang="zh-CN" sz="3000" noProof="1">
                <a:effectLst/>
                <a:latin typeface="华文新魏" panose="02010800040101010101" pitchFamily="2" charset="-122"/>
                <a:ea typeface="华文新魏" panose="02010800040101010101" pitchFamily="2" charset="-122"/>
              </a:rPr>
              <a:t>2</a:t>
            </a:r>
            <a:r>
              <a:rPr lang="zh-CN" altLang="en-US" sz="3000" noProof="1">
                <a:effectLst/>
                <a:latin typeface="华文新魏" panose="02010800040101010101" pitchFamily="2" charset="-122"/>
                <a:ea typeface="华文新魏" panose="02010800040101010101" pitchFamily="2" charset="-122"/>
              </a:rPr>
              <a:t>）其它结点：有且仅有一个双亲结点。</a:t>
            </a:r>
            <a:endParaRPr lang="en-US" altLang="zh-CN" sz="3000" noProof="1">
              <a:effectLst/>
              <a:latin typeface="华文新魏" panose="02010800040101010101" pitchFamily="2" charset="-122"/>
              <a:ea typeface="华文新魏" panose="020108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34229"/>
    </mc:Choice>
    <mc:Fallback xmlns="">
      <p:transition spd="slow" advTm="34229"/>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02821">
                                            <p:txEl>
                                              <p:pRg st="0" end="0"/>
                                            </p:txEl>
                                          </p:spTgt>
                                        </p:tgtEl>
                                        <p:attrNameLst>
                                          <p:attrName>style.visibility</p:attrName>
                                        </p:attrNameLst>
                                      </p:cBhvr>
                                      <p:to>
                                        <p:strVal val="visible"/>
                                      </p:to>
                                    </p:set>
                                    <p:animEffect transition="in" filter="wipe(left)">
                                      <p:cBhvr>
                                        <p:cTn id="7" dur="1000"/>
                                        <p:tgtEl>
                                          <p:spTgt spid="802821">
                                            <p:txEl>
                                              <p:pRg st="0" end="0"/>
                                            </p:txEl>
                                          </p:spTgt>
                                        </p:tgtEl>
                                      </p:cBhvr>
                                    </p:animEffect>
                                  </p:childTnLst>
                                </p:cTn>
                              </p:par>
                            </p:childTnLst>
                          </p:cTn>
                        </p:par>
                        <p:par>
                          <p:cTn id="8" fill="hold" nodeType="afterGroup">
                            <p:stCondLst>
                              <p:cond delay="1000"/>
                            </p:stCondLst>
                            <p:childTnLst>
                              <p:par>
                                <p:cTn id="9" presetID="5" presetClass="entr" presetSubtype="10" fill="hold" nodeType="afterEffect">
                                  <p:stCondLst>
                                    <p:cond delay="0"/>
                                  </p:stCondLst>
                                  <p:childTnLst>
                                    <p:set>
                                      <p:cBhvr>
                                        <p:cTn id="10" dur="1" fill="hold">
                                          <p:stCondLst>
                                            <p:cond delay="0"/>
                                          </p:stCondLst>
                                        </p:cTn>
                                        <p:tgtEl>
                                          <p:spTgt spid="802821">
                                            <p:txEl>
                                              <p:pRg st="1" end="1"/>
                                            </p:txEl>
                                          </p:spTgt>
                                        </p:tgtEl>
                                        <p:attrNameLst>
                                          <p:attrName>style.visibility</p:attrName>
                                        </p:attrNameLst>
                                      </p:cBhvr>
                                      <p:to>
                                        <p:strVal val="visible"/>
                                      </p:to>
                                    </p:set>
                                    <p:animEffect transition="in" filter="checkerboard(across)">
                                      <p:cBhvr>
                                        <p:cTn id="11" dur="500"/>
                                        <p:tgtEl>
                                          <p:spTgt spid="802821">
                                            <p:txEl>
                                              <p:pRg st="1" end="1"/>
                                            </p:txEl>
                                          </p:spTgt>
                                        </p:tgtEl>
                                      </p:cBhvr>
                                    </p:animEffect>
                                  </p:childTnLst>
                                </p:cTn>
                              </p:par>
                            </p:childTnLst>
                          </p:cTn>
                        </p:par>
                        <p:par>
                          <p:cTn id="12" fill="hold" nodeType="afterGroup">
                            <p:stCondLst>
                              <p:cond delay="1500"/>
                            </p:stCondLst>
                            <p:childTnLst>
                              <p:par>
                                <p:cTn id="13" presetID="4" presetClass="entr" presetSubtype="16" fill="hold" nodeType="afterEffect">
                                  <p:stCondLst>
                                    <p:cond delay="0"/>
                                  </p:stCondLst>
                                  <p:childTnLst>
                                    <p:set>
                                      <p:cBhvr>
                                        <p:cTn id="14" dur="1" fill="hold">
                                          <p:stCondLst>
                                            <p:cond delay="0"/>
                                          </p:stCondLst>
                                        </p:cTn>
                                        <p:tgtEl>
                                          <p:spTgt spid="802821">
                                            <p:txEl>
                                              <p:pRg st="2" end="2"/>
                                            </p:txEl>
                                          </p:spTgt>
                                        </p:tgtEl>
                                        <p:attrNameLst>
                                          <p:attrName>style.visibility</p:attrName>
                                        </p:attrNameLst>
                                      </p:cBhvr>
                                      <p:to>
                                        <p:strVal val="visible"/>
                                      </p:to>
                                    </p:set>
                                    <p:animEffect transition="in" filter="box(in)">
                                      <p:cBhvr>
                                        <p:cTn id="15" dur="1000"/>
                                        <p:tgtEl>
                                          <p:spTgt spid="80282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2821"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05" name="组合 801816">
            <a:extLst>
              <a:ext uri="{FF2B5EF4-FFF2-40B4-BE49-F238E27FC236}">
                <a16:creationId xmlns:a16="http://schemas.microsoft.com/office/drawing/2014/main" id="{100E3BC6-0BFE-45E9-B0A5-2310A2F0556D}"/>
              </a:ext>
            </a:extLst>
          </p:cNvPr>
          <p:cNvGrpSpPr>
            <a:grpSpLocks/>
          </p:cNvGrpSpPr>
          <p:nvPr/>
        </p:nvGrpSpPr>
        <p:grpSpPr bwMode="auto">
          <a:xfrm>
            <a:off x="165100" y="1628775"/>
            <a:ext cx="8893175" cy="3429000"/>
            <a:chOff x="158" y="1026"/>
            <a:chExt cx="5317" cy="2160"/>
          </a:xfrm>
        </p:grpSpPr>
        <p:sp>
          <p:nvSpPr>
            <p:cNvPr id="801798" name="矩形 801797">
              <a:extLst>
                <a:ext uri="{FF2B5EF4-FFF2-40B4-BE49-F238E27FC236}">
                  <a16:creationId xmlns:a16="http://schemas.microsoft.com/office/drawing/2014/main" id="{F6D32D59-4BB5-40B9-A362-F006F5C9800B}"/>
                </a:ext>
              </a:extLst>
            </p:cNvPr>
            <p:cNvSpPr/>
            <p:nvPr/>
          </p:nvSpPr>
          <p:spPr>
            <a:xfrm>
              <a:off x="2685" y="1026"/>
              <a:ext cx="1012" cy="288"/>
            </a:xfrm>
            <a:prstGeom prst="rect">
              <a:avLst/>
            </a:prstGeom>
            <a:solidFill>
              <a:srgbClr val="CCFF99"/>
            </a:solidFill>
            <a:ln w="28575" cap="flat" cmpd="sng">
              <a:solidFill>
                <a:srgbClr val="000000"/>
              </a:solidFill>
              <a:prstDash val="solid"/>
              <a:miter/>
              <a:headEnd type="none" w="med" len="med"/>
              <a:tailEnd type="none" w="med" len="med"/>
            </a:ln>
          </p:spPr>
          <p:txBody>
            <a:bodyPr wrap="none" lIns="0" rIns="0" anchor="ctr"/>
            <a:lstStyle/>
            <a:p>
              <a:pPr algn="ctr"/>
              <a:r>
                <a:rPr lang="zh-CN" altLang="en-US" sz="2000" b="1" noProof="1">
                  <a:solidFill>
                    <a:srgbClr val="000000"/>
                  </a:solidFill>
                  <a:effectLst>
                    <a:outerShdw blurRad="38100" dist="38100" dir="2700000">
                      <a:srgbClr val="FFFFFF"/>
                    </a:outerShdw>
                  </a:effectLst>
                  <a:ea typeface="宋体" panose="02010600030101010101" pitchFamily="2" charset="-122"/>
                </a:rPr>
                <a:t>大学</a:t>
              </a:r>
            </a:p>
          </p:txBody>
        </p:sp>
        <p:sp>
          <p:nvSpPr>
            <p:cNvPr id="801799" name="矩形 801798">
              <a:extLst>
                <a:ext uri="{FF2B5EF4-FFF2-40B4-BE49-F238E27FC236}">
                  <a16:creationId xmlns:a16="http://schemas.microsoft.com/office/drawing/2014/main" id="{1BF599BB-7032-45CE-8779-96EAB0ABD4CD}"/>
                </a:ext>
              </a:extLst>
            </p:cNvPr>
            <p:cNvSpPr/>
            <p:nvPr/>
          </p:nvSpPr>
          <p:spPr>
            <a:xfrm>
              <a:off x="4468" y="1650"/>
              <a:ext cx="1007" cy="288"/>
            </a:xfrm>
            <a:prstGeom prst="rect">
              <a:avLst/>
            </a:prstGeom>
            <a:solidFill>
              <a:srgbClr val="CCFF99"/>
            </a:solidFill>
            <a:ln w="28575" cap="flat" cmpd="sng">
              <a:solidFill>
                <a:srgbClr val="000000"/>
              </a:solidFill>
              <a:prstDash val="solid"/>
              <a:miter/>
              <a:headEnd type="none" w="med" len="med"/>
              <a:tailEnd type="none" w="med" len="med"/>
            </a:ln>
          </p:spPr>
          <p:txBody>
            <a:bodyPr wrap="none" lIns="0" rIns="0" anchor="ctr"/>
            <a:lstStyle/>
            <a:p>
              <a:pPr algn="ctr"/>
              <a:r>
                <a:rPr lang="zh-CN" altLang="en-US" sz="2000" b="1" noProof="1">
                  <a:solidFill>
                    <a:srgbClr val="000000"/>
                  </a:solidFill>
                  <a:effectLst>
                    <a:outerShdw blurRad="38100" dist="38100" dir="2700000">
                      <a:srgbClr val="FFFFFF"/>
                    </a:outerShdw>
                  </a:effectLst>
                  <a:ea typeface="宋体" panose="02010600030101010101" pitchFamily="2" charset="-122"/>
                </a:rPr>
                <a:t>研究所</a:t>
              </a:r>
            </a:p>
          </p:txBody>
        </p:sp>
        <p:sp>
          <p:nvSpPr>
            <p:cNvPr id="801800" name="矩形 801799">
              <a:extLst>
                <a:ext uri="{FF2B5EF4-FFF2-40B4-BE49-F238E27FC236}">
                  <a16:creationId xmlns:a16="http://schemas.microsoft.com/office/drawing/2014/main" id="{73EDEA74-E25C-4B19-9C8D-868117CC54E3}"/>
                </a:ext>
              </a:extLst>
            </p:cNvPr>
            <p:cNvSpPr/>
            <p:nvPr/>
          </p:nvSpPr>
          <p:spPr>
            <a:xfrm>
              <a:off x="790" y="1650"/>
              <a:ext cx="1001" cy="288"/>
            </a:xfrm>
            <a:prstGeom prst="rect">
              <a:avLst/>
            </a:prstGeom>
            <a:solidFill>
              <a:srgbClr val="CCFF99"/>
            </a:solidFill>
            <a:ln w="28575" cap="flat" cmpd="sng">
              <a:solidFill>
                <a:srgbClr val="000000"/>
              </a:solidFill>
              <a:prstDash val="solid"/>
              <a:miter/>
              <a:headEnd type="none" w="med" len="med"/>
              <a:tailEnd type="none" w="med" len="med"/>
            </a:ln>
          </p:spPr>
          <p:txBody>
            <a:bodyPr wrap="none" lIns="0" rIns="0" anchor="ctr"/>
            <a:lstStyle/>
            <a:p>
              <a:pPr algn="ctr"/>
              <a:r>
                <a:rPr lang="zh-CN" altLang="en-US" sz="2000" b="1" noProof="1">
                  <a:solidFill>
                    <a:srgbClr val="000000"/>
                  </a:solidFill>
                  <a:effectLst>
                    <a:outerShdw blurRad="38100" dist="38100" dir="2700000">
                      <a:srgbClr val="FFFFFF"/>
                    </a:outerShdw>
                  </a:effectLst>
                  <a:ea typeface="宋体" panose="02010600030101010101" pitchFamily="2" charset="-122"/>
                </a:rPr>
                <a:t>学院</a:t>
              </a:r>
            </a:p>
          </p:txBody>
        </p:sp>
        <p:sp>
          <p:nvSpPr>
            <p:cNvPr id="801801" name="矩形 801800">
              <a:extLst>
                <a:ext uri="{FF2B5EF4-FFF2-40B4-BE49-F238E27FC236}">
                  <a16:creationId xmlns:a16="http://schemas.microsoft.com/office/drawing/2014/main" id="{D075AFFF-068E-46D4-B321-B5508D012358}"/>
                </a:ext>
              </a:extLst>
            </p:cNvPr>
            <p:cNvSpPr/>
            <p:nvPr/>
          </p:nvSpPr>
          <p:spPr>
            <a:xfrm>
              <a:off x="4468" y="2274"/>
              <a:ext cx="1007" cy="288"/>
            </a:xfrm>
            <a:prstGeom prst="rect">
              <a:avLst/>
            </a:prstGeom>
            <a:solidFill>
              <a:srgbClr val="CCFF99"/>
            </a:solidFill>
            <a:ln w="28575" cap="flat" cmpd="sng">
              <a:solidFill>
                <a:srgbClr val="000000"/>
              </a:solidFill>
              <a:prstDash val="solid"/>
              <a:miter/>
              <a:headEnd type="none" w="med" len="med"/>
              <a:tailEnd type="none" w="med" len="med"/>
            </a:ln>
          </p:spPr>
          <p:txBody>
            <a:bodyPr wrap="none" lIns="0" rIns="0" anchor="ctr"/>
            <a:lstStyle/>
            <a:p>
              <a:pPr algn="ctr"/>
              <a:r>
                <a:rPr lang="zh-CN" altLang="en-US" sz="2000" b="1" noProof="1">
                  <a:solidFill>
                    <a:srgbClr val="000000"/>
                  </a:solidFill>
                  <a:effectLst>
                    <a:outerShdw blurRad="38100" dist="38100" dir="2700000">
                      <a:srgbClr val="FFFFFF"/>
                    </a:outerShdw>
                  </a:effectLst>
                  <a:ea typeface="宋体" panose="02010600030101010101" pitchFamily="2" charset="-122"/>
                </a:rPr>
                <a:t>研究室</a:t>
              </a:r>
            </a:p>
          </p:txBody>
        </p:sp>
        <p:sp>
          <p:nvSpPr>
            <p:cNvPr id="801802" name="矩形 801801">
              <a:extLst>
                <a:ext uri="{FF2B5EF4-FFF2-40B4-BE49-F238E27FC236}">
                  <a16:creationId xmlns:a16="http://schemas.microsoft.com/office/drawing/2014/main" id="{5C0E34F2-E135-437B-8335-60BEE932185A}"/>
                </a:ext>
              </a:extLst>
            </p:cNvPr>
            <p:cNvSpPr/>
            <p:nvPr/>
          </p:nvSpPr>
          <p:spPr>
            <a:xfrm>
              <a:off x="2685" y="1650"/>
              <a:ext cx="1012" cy="288"/>
            </a:xfrm>
            <a:prstGeom prst="rect">
              <a:avLst/>
            </a:prstGeom>
            <a:solidFill>
              <a:srgbClr val="CCFF99"/>
            </a:solidFill>
            <a:ln w="28575" cap="flat" cmpd="sng">
              <a:solidFill>
                <a:srgbClr val="000000"/>
              </a:solidFill>
              <a:prstDash val="solid"/>
              <a:miter/>
              <a:headEnd type="none" w="med" len="med"/>
              <a:tailEnd type="none" w="med" len="med"/>
            </a:ln>
          </p:spPr>
          <p:txBody>
            <a:bodyPr wrap="none" lIns="0" rIns="0" anchor="ctr"/>
            <a:lstStyle/>
            <a:p>
              <a:pPr algn="ctr"/>
              <a:r>
                <a:rPr lang="zh-CN" altLang="en-US" sz="2000" b="1" noProof="1">
                  <a:solidFill>
                    <a:srgbClr val="000000"/>
                  </a:solidFill>
                  <a:effectLst>
                    <a:outerShdw blurRad="38100" dist="38100" dir="2700000">
                      <a:srgbClr val="FFFFFF"/>
                    </a:outerShdw>
                  </a:effectLst>
                  <a:ea typeface="宋体" panose="02010600030101010101" pitchFamily="2" charset="-122"/>
                </a:rPr>
                <a:t>部、处</a:t>
              </a:r>
            </a:p>
          </p:txBody>
        </p:sp>
        <p:sp>
          <p:nvSpPr>
            <p:cNvPr id="801803" name="矩形 801802">
              <a:extLst>
                <a:ext uri="{FF2B5EF4-FFF2-40B4-BE49-F238E27FC236}">
                  <a16:creationId xmlns:a16="http://schemas.microsoft.com/office/drawing/2014/main" id="{EA89388E-D589-40DB-9D26-629B48B03691}"/>
                </a:ext>
              </a:extLst>
            </p:cNvPr>
            <p:cNvSpPr/>
            <p:nvPr/>
          </p:nvSpPr>
          <p:spPr>
            <a:xfrm>
              <a:off x="2685" y="2274"/>
              <a:ext cx="1012" cy="288"/>
            </a:xfrm>
            <a:prstGeom prst="rect">
              <a:avLst/>
            </a:prstGeom>
            <a:solidFill>
              <a:srgbClr val="CCFF99"/>
            </a:solidFill>
            <a:ln w="28575" cap="flat" cmpd="sng">
              <a:solidFill>
                <a:srgbClr val="000000"/>
              </a:solidFill>
              <a:prstDash val="solid"/>
              <a:miter/>
              <a:headEnd type="none" w="med" len="med"/>
              <a:tailEnd type="none" w="med" len="med"/>
            </a:ln>
          </p:spPr>
          <p:txBody>
            <a:bodyPr wrap="none" lIns="0" rIns="0" anchor="ctr"/>
            <a:lstStyle/>
            <a:p>
              <a:pPr algn="ctr"/>
              <a:r>
                <a:rPr lang="zh-CN" altLang="en-US" sz="2000" b="1" noProof="1">
                  <a:solidFill>
                    <a:srgbClr val="000000"/>
                  </a:solidFill>
                  <a:effectLst>
                    <a:outerShdw blurRad="38100" dist="38100" dir="2700000">
                      <a:srgbClr val="FFFFFF"/>
                    </a:outerShdw>
                  </a:effectLst>
                  <a:ea typeface="宋体" panose="02010600030101010101" pitchFamily="2" charset="-122"/>
                </a:rPr>
                <a:t>科</a:t>
              </a:r>
            </a:p>
          </p:txBody>
        </p:sp>
        <p:sp>
          <p:nvSpPr>
            <p:cNvPr id="801804" name="矩形 801803">
              <a:extLst>
                <a:ext uri="{FF2B5EF4-FFF2-40B4-BE49-F238E27FC236}">
                  <a16:creationId xmlns:a16="http://schemas.microsoft.com/office/drawing/2014/main" id="{D45C94F7-9A46-41CA-9B04-7027A5742C51}"/>
                </a:ext>
              </a:extLst>
            </p:cNvPr>
            <p:cNvSpPr/>
            <p:nvPr/>
          </p:nvSpPr>
          <p:spPr>
            <a:xfrm>
              <a:off x="1421" y="2898"/>
              <a:ext cx="1005" cy="288"/>
            </a:xfrm>
            <a:prstGeom prst="rect">
              <a:avLst/>
            </a:prstGeom>
            <a:solidFill>
              <a:srgbClr val="CCFF99"/>
            </a:solidFill>
            <a:ln w="28575" cap="flat" cmpd="sng">
              <a:solidFill>
                <a:srgbClr val="000000"/>
              </a:solidFill>
              <a:prstDash val="solid"/>
              <a:miter/>
              <a:headEnd type="none" w="med" len="med"/>
              <a:tailEnd type="none" w="med" len="med"/>
            </a:ln>
          </p:spPr>
          <p:txBody>
            <a:bodyPr wrap="none" lIns="0" rIns="0" anchor="ctr"/>
            <a:lstStyle/>
            <a:p>
              <a:pPr algn="ctr"/>
              <a:r>
                <a:rPr lang="zh-CN" altLang="en-US" sz="2000" b="1" noProof="1">
                  <a:solidFill>
                    <a:srgbClr val="000000"/>
                  </a:solidFill>
                  <a:effectLst>
                    <a:outerShdw blurRad="38100" dist="38100" dir="2700000">
                      <a:srgbClr val="FFFFFF"/>
                    </a:outerShdw>
                  </a:effectLst>
                  <a:ea typeface="宋体" panose="02010600030101010101" pitchFamily="2" charset="-122"/>
                </a:rPr>
                <a:t>班级</a:t>
              </a:r>
            </a:p>
          </p:txBody>
        </p:sp>
        <p:sp>
          <p:nvSpPr>
            <p:cNvPr id="801805" name="矩形 801804">
              <a:extLst>
                <a:ext uri="{FF2B5EF4-FFF2-40B4-BE49-F238E27FC236}">
                  <a16:creationId xmlns:a16="http://schemas.microsoft.com/office/drawing/2014/main" id="{3B222905-B67B-4CE4-BCEB-CA107272C1FA}"/>
                </a:ext>
              </a:extLst>
            </p:cNvPr>
            <p:cNvSpPr/>
            <p:nvPr/>
          </p:nvSpPr>
          <p:spPr>
            <a:xfrm>
              <a:off x="158" y="2898"/>
              <a:ext cx="998" cy="288"/>
            </a:xfrm>
            <a:prstGeom prst="rect">
              <a:avLst/>
            </a:prstGeom>
            <a:solidFill>
              <a:srgbClr val="CCFF99"/>
            </a:solidFill>
            <a:ln w="28575" cap="flat" cmpd="sng">
              <a:solidFill>
                <a:srgbClr val="000000"/>
              </a:solidFill>
              <a:prstDash val="solid"/>
              <a:miter/>
              <a:headEnd type="none" w="med" len="med"/>
              <a:tailEnd type="none" w="med" len="med"/>
            </a:ln>
          </p:spPr>
          <p:txBody>
            <a:bodyPr wrap="none" lIns="0" rIns="0" anchor="ctr"/>
            <a:lstStyle/>
            <a:p>
              <a:pPr algn="ctr"/>
              <a:r>
                <a:rPr lang="zh-CN" altLang="en-US" sz="2000" b="1" noProof="1">
                  <a:solidFill>
                    <a:srgbClr val="000000"/>
                  </a:solidFill>
                  <a:effectLst>
                    <a:outerShdw blurRad="38100" dist="38100" dir="2700000">
                      <a:srgbClr val="FFFFFF"/>
                    </a:outerShdw>
                  </a:effectLst>
                  <a:ea typeface="宋体" panose="02010600030101010101" pitchFamily="2" charset="-122"/>
                </a:rPr>
                <a:t>教研室</a:t>
              </a:r>
            </a:p>
          </p:txBody>
        </p:sp>
        <p:sp>
          <p:nvSpPr>
            <p:cNvPr id="801806" name="矩形 801805">
              <a:extLst>
                <a:ext uri="{FF2B5EF4-FFF2-40B4-BE49-F238E27FC236}">
                  <a16:creationId xmlns:a16="http://schemas.microsoft.com/office/drawing/2014/main" id="{203C2C80-11F3-4E78-8822-D8BE4ABDD8DD}"/>
                </a:ext>
              </a:extLst>
            </p:cNvPr>
            <p:cNvSpPr/>
            <p:nvPr/>
          </p:nvSpPr>
          <p:spPr>
            <a:xfrm>
              <a:off x="793" y="2205"/>
              <a:ext cx="1001" cy="288"/>
            </a:xfrm>
            <a:prstGeom prst="rect">
              <a:avLst/>
            </a:prstGeom>
            <a:solidFill>
              <a:srgbClr val="CCFF99"/>
            </a:solidFill>
            <a:ln w="28575" cap="flat" cmpd="sng">
              <a:solidFill>
                <a:srgbClr val="000000"/>
              </a:solidFill>
              <a:prstDash val="solid"/>
              <a:miter/>
              <a:headEnd type="none" w="med" len="med"/>
              <a:tailEnd type="none" w="med" len="med"/>
            </a:ln>
          </p:spPr>
          <p:txBody>
            <a:bodyPr wrap="none" lIns="0" rIns="0" anchor="ctr"/>
            <a:lstStyle/>
            <a:p>
              <a:pPr algn="ctr"/>
              <a:r>
                <a:rPr lang="zh-CN" altLang="en-US" sz="2000" b="1" noProof="1">
                  <a:solidFill>
                    <a:srgbClr val="000000"/>
                  </a:solidFill>
                  <a:effectLst>
                    <a:outerShdw blurRad="38100" dist="38100" dir="2700000">
                      <a:srgbClr val="FFFFFF"/>
                    </a:outerShdw>
                  </a:effectLst>
                  <a:ea typeface="宋体" panose="02010600030101010101" pitchFamily="2" charset="-122"/>
                </a:rPr>
                <a:t>系</a:t>
              </a:r>
            </a:p>
          </p:txBody>
        </p:sp>
        <p:cxnSp>
          <p:nvCxnSpPr>
            <p:cNvPr id="21515" name="直接箭头连接符 801806">
              <a:extLst>
                <a:ext uri="{FF2B5EF4-FFF2-40B4-BE49-F238E27FC236}">
                  <a16:creationId xmlns:a16="http://schemas.microsoft.com/office/drawing/2014/main" id="{6C661B26-54EA-41D6-B004-751B35E36B86}"/>
                </a:ext>
              </a:extLst>
            </p:cNvPr>
            <p:cNvCxnSpPr>
              <a:cxnSpLocks noChangeShapeType="1"/>
              <a:stCxn id="801798" idx="2"/>
              <a:endCxn id="801802" idx="0"/>
            </p:cNvCxnSpPr>
            <p:nvPr/>
          </p:nvCxnSpPr>
          <p:spPr bwMode="auto">
            <a:xfrm>
              <a:off x="3191" y="1323"/>
              <a:ext cx="0" cy="318"/>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1516" name="肘形连接符 801807">
              <a:extLst>
                <a:ext uri="{FF2B5EF4-FFF2-40B4-BE49-F238E27FC236}">
                  <a16:creationId xmlns:a16="http://schemas.microsoft.com/office/drawing/2014/main" id="{B1DC48CE-8C89-4303-8BF2-B56690527F8B}"/>
                </a:ext>
              </a:extLst>
            </p:cNvPr>
            <p:cNvCxnSpPr>
              <a:cxnSpLocks noChangeShapeType="1"/>
              <a:stCxn id="801800" idx="0"/>
              <a:endCxn id="801799" idx="0"/>
            </p:cNvCxnSpPr>
            <p:nvPr/>
          </p:nvCxnSpPr>
          <p:spPr bwMode="auto">
            <a:xfrm rot="5400000" flipV="1">
              <a:off x="3130" y="-200"/>
              <a:ext cx="1" cy="3681"/>
            </a:xfrm>
            <a:prstGeom prst="bentConnector3">
              <a:avLst>
                <a:gd name="adj1" fmla="val -13500000"/>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21517" name="直接箭头连接符 801808">
              <a:extLst>
                <a:ext uri="{FF2B5EF4-FFF2-40B4-BE49-F238E27FC236}">
                  <a16:creationId xmlns:a16="http://schemas.microsoft.com/office/drawing/2014/main" id="{70C053BA-9222-457D-AD06-C57B8D65E7CD}"/>
                </a:ext>
              </a:extLst>
            </p:cNvPr>
            <p:cNvCxnSpPr>
              <a:cxnSpLocks noChangeShapeType="1"/>
              <a:stCxn id="801800" idx="2"/>
              <a:endCxn id="801806" idx="0"/>
            </p:cNvCxnSpPr>
            <p:nvPr/>
          </p:nvCxnSpPr>
          <p:spPr bwMode="auto">
            <a:xfrm>
              <a:off x="1291" y="1947"/>
              <a:ext cx="3" cy="249"/>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1518" name="直接箭头连接符 801809">
              <a:extLst>
                <a:ext uri="{FF2B5EF4-FFF2-40B4-BE49-F238E27FC236}">
                  <a16:creationId xmlns:a16="http://schemas.microsoft.com/office/drawing/2014/main" id="{69EF3E6F-6C9A-485E-AB02-FA0AB388D5FE}"/>
                </a:ext>
              </a:extLst>
            </p:cNvPr>
            <p:cNvCxnSpPr>
              <a:cxnSpLocks noChangeShapeType="1"/>
              <a:stCxn id="801802" idx="2"/>
              <a:endCxn id="801803" idx="0"/>
            </p:cNvCxnSpPr>
            <p:nvPr/>
          </p:nvCxnSpPr>
          <p:spPr bwMode="auto">
            <a:xfrm>
              <a:off x="3191" y="1947"/>
              <a:ext cx="0" cy="318"/>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1519" name="直接箭头连接符 801810">
              <a:extLst>
                <a:ext uri="{FF2B5EF4-FFF2-40B4-BE49-F238E27FC236}">
                  <a16:creationId xmlns:a16="http://schemas.microsoft.com/office/drawing/2014/main" id="{40482C54-48E1-4F4C-A76B-9F39F30A222A}"/>
                </a:ext>
              </a:extLst>
            </p:cNvPr>
            <p:cNvCxnSpPr>
              <a:cxnSpLocks noChangeShapeType="1"/>
              <a:stCxn id="801799" idx="2"/>
              <a:endCxn id="801801" idx="0"/>
            </p:cNvCxnSpPr>
            <p:nvPr/>
          </p:nvCxnSpPr>
          <p:spPr bwMode="auto">
            <a:xfrm>
              <a:off x="4972" y="1947"/>
              <a:ext cx="0" cy="318"/>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1520" name="肘形连接符 801811">
              <a:extLst>
                <a:ext uri="{FF2B5EF4-FFF2-40B4-BE49-F238E27FC236}">
                  <a16:creationId xmlns:a16="http://schemas.microsoft.com/office/drawing/2014/main" id="{FEDCEBB2-5EA4-49F6-84A5-904DFF422CA3}"/>
                </a:ext>
              </a:extLst>
            </p:cNvPr>
            <p:cNvCxnSpPr>
              <a:cxnSpLocks noChangeShapeType="1"/>
              <a:stCxn id="801805" idx="0"/>
              <a:endCxn id="801804" idx="0"/>
            </p:cNvCxnSpPr>
            <p:nvPr/>
          </p:nvCxnSpPr>
          <p:spPr bwMode="auto">
            <a:xfrm rot="5400000" flipV="1">
              <a:off x="1289" y="2255"/>
              <a:ext cx="1" cy="1267"/>
            </a:xfrm>
            <a:prstGeom prst="bentConnector3">
              <a:avLst>
                <a:gd name="adj1" fmla="val -13500000"/>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21521" name="直接箭头连接符 801812">
              <a:extLst>
                <a:ext uri="{FF2B5EF4-FFF2-40B4-BE49-F238E27FC236}">
                  <a16:creationId xmlns:a16="http://schemas.microsoft.com/office/drawing/2014/main" id="{A4F6227C-6D6A-4721-92DD-C0970B500852}"/>
                </a:ext>
              </a:extLst>
            </p:cNvPr>
            <p:cNvCxnSpPr>
              <a:cxnSpLocks noChangeShapeType="1"/>
              <a:stCxn id="801806" idx="2"/>
              <a:endCxn id="801804" idx="0"/>
            </p:cNvCxnSpPr>
            <p:nvPr/>
          </p:nvCxnSpPr>
          <p:spPr bwMode="auto">
            <a:xfrm>
              <a:off x="1294" y="2502"/>
              <a:ext cx="0" cy="234"/>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sp>
        <p:nvSpPr>
          <p:cNvPr id="21522" name="文本框 801813">
            <a:extLst>
              <a:ext uri="{FF2B5EF4-FFF2-40B4-BE49-F238E27FC236}">
                <a16:creationId xmlns:a16="http://schemas.microsoft.com/office/drawing/2014/main" id="{5E042437-BB96-493F-B2DB-995972C00E04}"/>
              </a:ext>
            </a:extLst>
          </p:cNvPr>
          <p:cNvSpPr txBox="1">
            <a:spLocks noChangeArrowheads="1"/>
          </p:cNvSpPr>
          <p:nvPr/>
        </p:nvSpPr>
        <p:spPr bwMode="auto">
          <a:xfrm>
            <a:off x="1908175" y="5300663"/>
            <a:ext cx="6016625" cy="45720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rIns="0" anchor="ctr">
            <a:spAutoFit/>
          </a:bodyPr>
          <a:lstStyle/>
          <a:p>
            <a:pPr>
              <a:spcBef>
                <a:spcPct val="50000"/>
              </a:spcBef>
            </a:pPr>
            <a:r>
              <a:rPr lang="zh-CN" altLang="en-US" sz="2400" b="1">
                <a:solidFill>
                  <a:srgbClr val="000000"/>
                </a:solidFill>
                <a:latin typeface="楷体_GB2312" pitchFamily="49" charset="-122"/>
              </a:rPr>
              <a:t>图</a:t>
            </a:r>
            <a:r>
              <a:rPr lang="en-US" altLang="zh-CN" sz="2400" b="1">
                <a:solidFill>
                  <a:srgbClr val="000000"/>
                </a:solidFill>
                <a:latin typeface="楷体_GB2312" pitchFamily="49" charset="-122"/>
              </a:rPr>
              <a:t>1.2  </a:t>
            </a:r>
            <a:r>
              <a:rPr lang="zh-CN" altLang="en-US" sz="2400" b="1">
                <a:solidFill>
                  <a:srgbClr val="000000"/>
                </a:solidFill>
                <a:latin typeface="楷体_GB2312" pitchFamily="49" charset="-122"/>
              </a:rPr>
              <a:t>大学的行政管理机构层次模型</a:t>
            </a:r>
          </a:p>
        </p:txBody>
      </p:sp>
      <p:sp>
        <p:nvSpPr>
          <p:cNvPr id="801816" name="矩形 801815">
            <a:extLst>
              <a:ext uri="{FF2B5EF4-FFF2-40B4-BE49-F238E27FC236}">
                <a16:creationId xmlns:a16="http://schemas.microsoft.com/office/drawing/2014/main" id="{EDA119E8-8FF6-46BB-809F-A6EBB931401B}"/>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t>三、层次模型</a:t>
            </a:r>
          </a:p>
        </p:txBody>
      </p:sp>
    </p:spTree>
  </p:cSld>
  <p:clrMapOvr>
    <a:masterClrMapping/>
  </p:clrMapOvr>
  <mc:AlternateContent xmlns:mc="http://schemas.openxmlformats.org/markup-compatibility/2006" xmlns:p14="http://schemas.microsoft.com/office/powerpoint/2010/main">
    <mc:Choice Requires="p14">
      <p:transition spd="slow" p14:dur="2000" advTm="54568"/>
    </mc:Choice>
    <mc:Fallback xmlns="">
      <p:transition spd="slow" advTm="54568"/>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6258" name="标题 736257">
            <a:extLst>
              <a:ext uri="{FF2B5EF4-FFF2-40B4-BE49-F238E27FC236}">
                <a16:creationId xmlns:a16="http://schemas.microsoft.com/office/drawing/2014/main" id="{28D09B05-E4C6-4448-B765-96C02B7A9102}"/>
              </a:ext>
            </a:extLst>
          </p:cNvPr>
          <p:cNvSpPr>
            <a:spLocks noGrp="1"/>
          </p:cNvSpPr>
          <p:nvPr>
            <p:ph type="title"/>
          </p:nvPr>
        </p:nvSpPr>
        <p:spPr/>
        <p:txBody>
          <a:bodyPr/>
          <a:lstStyle/>
          <a:p>
            <a:r>
              <a:rPr lang="zh-CN" altLang="en-US" noProof="1"/>
              <a:t>三、层次模型</a:t>
            </a:r>
          </a:p>
        </p:txBody>
      </p:sp>
      <p:sp>
        <p:nvSpPr>
          <p:cNvPr id="736259" name="文本占位符 736258">
            <a:extLst>
              <a:ext uri="{FF2B5EF4-FFF2-40B4-BE49-F238E27FC236}">
                <a16:creationId xmlns:a16="http://schemas.microsoft.com/office/drawing/2014/main" id="{5A435218-CC31-46AD-ACF4-8D32BBE0D390}"/>
              </a:ext>
            </a:extLst>
          </p:cNvPr>
          <p:cNvSpPr>
            <a:spLocks noGrp="1"/>
          </p:cNvSpPr>
          <p:nvPr>
            <p:ph type="body" idx="1"/>
          </p:nvPr>
        </p:nvSpPr>
        <p:spPr>
          <a:xfrm>
            <a:off x="466725" y="1258888"/>
            <a:ext cx="8208963" cy="5338762"/>
          </a:xfrm>
        </p:spPr>
        <p:txBody>
          <a:bodyPr/>
          <a:lstStyle/>
          <a:p>
            <a:r>
              <a:rPr lang="zh-CN" altLang="en-US" sz="3200" noProof="1">
                <a:solidFill>
                  <a:srgbClr val="990033"/>
                </a:solidFill>
                <a:effectLst/>
                <a:ea typeface="黑体" panose="02010609060101010101" pitchFamily="2" charset="-122"/>
              </a:rPr>
              <a:t>         特征：</a:t>
            </a:r>
          </a:p>
          <a:p>
            <a:r>
              <a:rPr lang="zh-CN" altLang="en-US" noProof="1"/>
              <a:t>          是一种用</a:t>
            </a:r>
            <a:r>
              <a:rPr lang="zh-CN" altLang="en-US" noProof="1">
                <a:solidFill>
                  <a:schemeClr val="tx2"/>
                </a:solidFill>
              </a:rPr>
              <a:t>树型（层次）结构</a:t>
            </a:r>
            <a:r>
              <a:rPr lang="zh-CN" altLang="en-US" noProof="1"/>
              <a:t>来组织数据的数据模型。</a:t>
            </a:r>
          </a:p>
          <a:p>
            <a:r>
              <a:rPr lang="zh-CN" altLang="en-US" noProof="1"/>
              <a:t>          树中的每个结点代表一种</a:t>
            </a:r>
            <a:r>
              <a:rPr lang="zh-CN" altLang="en-US" noProof="1">
                <a:solidFill>
                  <a:srgbClr val="003366"/>
                </a:solidFill>
                <a:ea typeface="黑体" panose="02010609060101010101" pitchFamily="2" charset="-122"/>
              </a:rPr>
              <a:t>记录类型</a:t>
            </a:r>
            <a:r>
              <a:rPr lang="zh-CN" altLang="en-US" noProof="1"/>
              <a:t>。</a:t>
            </a:r>
          </a:p>
          <a:p>
            <a:endParaRPr lang="zh-CN" altLang="en-US" noProof="1"/>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2262"/>
    </mc:Choice>
    <mc:Fallback xmlns="">
      <p:transition spd="slow" advTm="22262"/>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36259">
                                            <p:txEl>
                                              <p:pRg st="0" end="0"/>
                                            </p:txEl>
                                          </p:spTgt>
                                        </p:tgtEl>
                                        <p:attrNameLst>
                                          <p:attrName>style.visibility</p:attrName>
                                        </p:attrNameLst>
                                      </p:cBhvr>
                                      <p:to>
                                        <p:strVal val="visible"/>
                                      </p:to>
                                    </p:set>
                                    <p:animEffect transition="in" filter="wipe(left)">
                                      <p:cBhvr>
                                        <p:cTn id="7" dur="1000"/>
                                        <p:tgtEl>
                                          <p:spTgt spid="736259">
                                            <p:txEl>
                                              <p:pRg st="0" end="0"/>
                                            </p:txEl>
                                          </p:spTgt>
                                        </p:tgtEl>
                                      </p:cBhvr>
                                    </p:animEffect>
                                  </p:childTnLst>
                                </p:cTn>
                              </p:par>
                            </p:childTnLst>
                          </p:cTn>
                        </p:par>
                        <p:par>
                          <p:cTn id="8" fill="hold" nodeType="afterGroup">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736259">
                                            <p:txEl>
                                              <p:pRg st="1" end="1"/>
                                            </p:txEl>
                                          </p:spTgt>
                                        </p:tgtEl>
                                        <p:attrNameLst>
                                          <p:attrName>style.visibility</p:attrName>
                                        </p:attrNameLst>
                                      </p:cBhvr>
                                      <p:to>
                                        <p:strVal val="visible"/>
                                      </p:to>
                                    </p:set>
                                    <p:animEffect transition="in" filter="wipe(left)">
                                      <p:cBhvr>
                                        <p:cTn id="11" dur="1000"/>
                                        <p:tgtEl>
                                          <p:spTgt spid="736259">
                                            <p:txEl>
                                              <p:pRg st="1" end="1"/>
                                            </p:txEl>
                                          </p:spTgt>
                                        </p:tgtEl>
                                      </p:cBhvr>
                                    </p:animEffect>
                                  </p:childTnLst>
                                </p:cTn>
                              </p:par>
                            </p:childTnLst>
                          </p:cTn>
                        </p:par>
                        <p:par>
                          <p:cTn id="12" fill="hold" nodeType="afterGroup">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736259">
                                            <p:txEl>
                                              <p:pRg st="2" end="2"/>
                                            </p:txEl>
                                          </p:spTgt>
                                        </p:tgtEl>
                                        <p:attrNameLst>
                                          <p:attrName>style.visibility</p:attrName>
                                        </p:attrNameLst>
                                      </p:cBhvr>
                                      <p:to>
                                        <p:strVal val="visible"/>
                                      </p:to>
                                    </p:set>
                                    <p:animEffect transition="in" filter="wipe(left)">
                                      <p:cBhvr>
                                        <p:cTn id="15" dur="1000"/>
                                        <p:tgtEl>
                                          <p:spTgt spid="73625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6259"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8306" name="标题 738305">
            <a:extLst>
              <a:ext uri="{FF2B5EF4-FFF2-40B4-BE49-F238E27FC236}">
                <a16:creationId xmlns:a16="http://schemas.microsoft.com/office/drawing/2014/main" id="{7815E159-589E-436F-B3D3-F4AC50ABDEFA}"/>
              </a:ext>
            </a:extLst>
          </p:cNvPr>
          <p:cNvSpPr>
            <a:spLocks noGrp="1"/>
          </p:cNvSpPr>
          <p:nvPr>
            <p:ph type="title"/>
          </p:nvPr>
        </p:nvSpPr>
        <p:spPr/>
        <p:txBody>
          <a:bodyPr/>
          <a:lstStyle/>
          <a:p>
            <a:r>
              <a:rPr lang="zh-CN" altLang="en-US" noProof="1"/>
              <a:t>三、层次模型</a:t>
            </a:r>
          </a:p>
        </p:txBody>
      </p:sp>
      <p:grpSp>
        <p:nvGrpSpPr>
          <p:cNvPr id="24578" name="组合 738308">
            <a:extLst>
              <a:ext uri="{FF2B5EF4-FFF2-40B4-BE49-F238E27FC236}">
                <a16:creationId xmlns:a16="http://schemas.microsoft.com/office/drawing/2014/main" id="{ECE8F37F-6DF4-478A-87DF-F59476F4F3F4}"/>
              </a:ext>
            </a:extLst>
          </p:cNvPr>
          <p:cNvGrpSpPr>
            <a:grpSpLocks/>
          </p:cNvGrpSpPr>
          <p:nvPr/>
        </p:nvGrpSpPr>
        <p:grpSpPr bwMode="auto">
          <a:xfrm>
            <a:off x="468313" y="1206500"/>
            <a:ext cx="8280400" cy="3176588"/>
            <a:chOff x="432" y="783"/>
            <a:chExt cx="5040" cy="2001"/>
          </a:xfrm>
        </p:grpSpPr>
        <p:sp>
          <p:nvSpPr>
            <p:cNvPr id="738310" name="矩形 738309">
              <a:extLst>
                <a:ext uri="{FF2B5EF4-FFF2-40B4-BE49-F238E27FC236}">
                  <a16:creationId xmlns:a16="http://schemas.microsoft.com/office/drawing/2014/main" id="{31762C99-079A-4DD1-AE7A-F27C8B358C52}"/>
                </a:ext>
              </a:extLst>
            </p:cNvPr>
            <p:cNvSpPr/>
            <p:nvPr/>
          </p:nvSpPr>
          <p:spPr>
            <a:xfrm>
              <a:off x="1680" y="1119"/>
              <a:ext cx="864" cy="287"/>
            </a:xfrm>
            <a:prstGeom prst="rect">
              <a:avLst/>
            </a:prstGeom>
            <a:noFill/>
            <a:ln w="19050">
              <a:noFill/>
            </a:ln>
          </p:spPr>
          <p: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a:lnSpc>
                  <a:spcPct val="100000"/>
                </a:lnSpc>
                <a:spcBef>
                  <a:spcPct val="0"/>
                </a:spcBef>
              </a:pPr>
              <a:r>
                <a:rPr lang="zh-CN" altLang="en-US" noProof="1"/>
                <a:t>    系号</a:t>
              </a:r>
            </a:p>
          </p:txBody>
        </p:sp>
        <p:sp>
          <p:nvSpPr>
            <p:cNvPr id="738311" name="矩形 738310">
              <a:extLst>
                <a:ext uri="{FF2B5EF4-FFF2-40B4-BE49-F238E27FC236}">
                  <a16:creationId xmlns:a16="http://schemas.microsoft.com/office/drawing/2014/main" id="{52822053-6BD3-4549-9DE6-0DF1706326E5}"/>
                </a:ext>
              </a:extLst>
            </p:cNvPr>
            <p:cNvSpPr/>
            <p:nvPr/>
          </p:nvSpPr>
          <p:spPr>
            <a:xfrm>
              <a:off x="2544" y="1119"/>
              <a:ext cx="864" cy="287"/>
            </a:xfrm>
            <a:prstGeom prst="rect">
              <a:avLst/>
            </a:prstGeom>
            <a:noFill/>
            <a:ln w="19050">
              <a:noFill/>
            </a:ln>
          </p:spPr>
          <p: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a:lnSpc>
                  <a:spcPct val="100000"/>
                </a:lnSpc>
                <a:spcBef>
                  <a:spcPct val="0"/>
                </a:spcBef>
              </a:pPr>
              <a:r>
                <a:rPr lang="zh-CN" altLang="en-US" noProof="1"/>
                <a:t>    系名</a:t>
              </a:r>
            </a:p>
          </p:txBody>
        </p:sp>
        <p:sp>
          <p:nvSpPr>
            <p:cNvPr id="738312" name="矩形 738311">
              <a:extLst>
                <a:ext uri="{FF2B5EF4-FFF2-40B4-BE49-F238E27FC236}">
                  <a16:creationId xmlns:a16="http://schemas.microsoft.com/office/drawing/2014/main" id="{2CD5F16D-D839-48CD-8A60-E87D0CC28FFD}"/>
                </a:ext>
              </a:extLst>
            </p:cNvPr>
            <p:cNvSpPr/>
            <p:nvPr/>
          </p:nvSpPr>
          <p:spPr>
            <a:xfrm>
              <a:off x="3408" y="1119"/>
              <a:ext cx="1008" cy="287"/>
            </a:xfrm>
            <a:prstGeom prst="rect">
              <a:avLst/>
            </a:prstGeom>
            <a:noFill/>
            <a:ln w="19050">
              <a:noFill/>
            </a:ln>
          </p:spPr>
          <p: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a:lnSpc>
                  <a:spcPct val="100000"/>
                </a:lnSpc>
                <a:spcBef>
                  <a:spcPct val="0"/>
                </a:spcBef>
              </a:pPr>
              <a:r>
                <a:rPr lang="zh-CN" altLang="en-US" noProof="1"/>
                <a:t>系主任名</a:t>
              </a:r>
            </a:p>
          </p:txBody>
        </p:sp>
        <p:sp>
          <p:nvSpPr>
            <p:cNvPr id="738313" name="矩形 738312">
              <a:extLst>
                <a:ext uri="{FF2B5EF4-FFF2-40B4-BE49-F238E27FC236}">
                  <a16:creationId xmlns:a16="http://schemas.microsoft.com/office/drawing/2014/main" id="{8062E0A2-6B81-43DB-A45B-050C771D4EDA}"/>
                </a:ext>
              </a:extLst>
            </p:cNvPr>
            <p:cNvSpPr/>
            <p:nvPr/>
          </p:nvSpPr>
          <p:spPr>
            <a:xfrm>
              <a:off x="4416" y="1119"/>
              <a:ext cx="1056" cy="287"/>
            </a:xfrm>
            <a:prstGeom prst="rect">
              <a:avLst/>
            </a:prstGeom>
            <a:noFill/>
            <a:ln w="19050">
              <a:noFill/>
            </a:ln>
          </p:spPr>
          <p: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a:lnSpc>
                  <a:spcPct val="100000"/>
                </a:lnSpc>
                <a:spcBef>
                  <a:spcPct val="0"/>
                </a:spcBef>
              </a:pPr>
              <a:r>
                <a:rPr lang="zh-CN" altLang="en-US" noProof="1"/>
                <a:t> 编制人数</a:t>
              </a:r>
            </a:p>
          </p:txBody>
        </p:sp>
        <p:sp>
          <p:nvSpPr>
            <p:cNvPr id="24583" name="直接连接符 738313">
              <a:extLst>
                <a:ext uri="{FF2B5EF4-FFF2-40B4-BE49-F238E27FC236}">
                  <a16:creationId xmlns:a16="http://schemas.microsoft.com/office/drawing/2014/main" id="{94D77F5B-82C6-4BFD-8DB6-33B7A681F40D}"/>
                </a:ext>
              </a:extLst>
            </p:cNvPr>
            <p:cNvSpPr>
              <a:spLocks noChangeShapeType="1"/>
            </p:cNvSpPr>
            <p:nvPr/>
          </p:nvSpPr>
          <p:spPr bwMode="auto">
            <a:xfrm>
              <a:off x="1680" y="1119"/>
              <a:ext cx="3792"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4" name="直接连接符 738314">
              <a:extLst>
                <a:ext uri="{FF2B5EF4-FFF2-40B4-BE49-F238E27FC236}">
                  <a16:creationId xmlns:a16="http://schemas.microsoft.com/office/drawing/2014/main" id="{1221F3B9-E3CC-4934-9857-4D8128645173}"/>
                </a:ext>
              </a:extLst>
            </p:cNvPr>
            <p:cNvSpPr>
              <a:spLocks noChangeShapeType="1"/>
            </p:cNvSpPr>
            <p:nvPr/>
          </p:nvSpPr>
          <p:spPr bwMode="auto">
            <a:xfrm>
              <a:off x="1680" y="1406"/>
              <a:ext cx="3792"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5" name="直接连接符 738315">
              <a:extLst>
                <a:ext uri="{FF2B5EF4-FFF2-40B4-BE49-F238E27FC236}">
                  <a16:creationId xmlns:a16="http://schemas.microsoft.com/office/drawing/2014/main" id="{375AE7FF-1232-452A-90B4-C44A3B4AFDAC}"/>
                </a:ext>
              </a:extLst>
            </p:cNvPr>
            <p:cNvSpPr>
              <a:spLocks noChangeShapeType="1"/>
            </p:cNvSpPr>
            <p:nvPr/>
          </p:nvSpPr>
          <p:spPr bwMode="auto">
            <a:xfrm>
              <a:off x="1680" y="1119"/>
              <a:ext cx="0" cy="287"/>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6" name="直接连接符 738316">
              <a:extLst>
                <a:ext uri="{FF2B5EF4-FFF2-40B4-BE49-F238E27FC236}">
                  <a16:creationId xmlns:a16="http://schemas.microsoft.com/office/drawing/2014/main" id="{701F0B93-5D32-4048-B9F6-C857635225AB}"/>
                </a:ext>
              </a:extLst>
            </p:cNvPr>
            <p:cNvSpPr>
              <a:spLocks noChangeShapeType="1"/>
            </p:cNvSpPr>
            <p:nvPr/>
          </p:nvSpPr>
          <p:spPr bwMode="auto">
            <a:xfrm>
              <a:off x="5472" y="1119"/>
              <a:ext cx="0" cy="287"/>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7" name="直接连接符 738317">
              <a:extLst>
                <a:ext uri="{FF2B5EF4-FFF2-40B4-BE49-F238E27FC236}">
                  <a16:creationId xmlns:a16="http://schemas.microsoft.com/office/drawing/2014/main" id="{F5595DB5-2861-41A2-8742-804989B57FE9}"/>
                </a:ext>
              </a:extLst>
            </p:cNvPr>
            <p:cNvSpPr>
              <a:spLocks noChangeShapeType="1"/>
            </p:cNvSpPr>
            <p:nvPr/>
          </p:nvSpPr>
          <p:spPr bwMode="auto">
            <a:xfrm>
              <a:off x="4416" y="1119"/>
              <a:ext cx="0" cy="2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8" name="直接连接符 738318">
              <a:extLst>
                <a:ext uri="{FF2B5EF4-FFF2-40B4-BE49-F238E27FC236}">
                  <a16:creationId xmlns:a16="http://schemas.microsoft.com/office/drawing/2014/main" id="{F041E207-18E3-4EBB-A05F-294163A18328}"/>
                </a:ext>
              </a:extLst>
            </p:cNvPr>
            <p:cNvSpPr>
              <a:spLocks noChangeShapeType="1"/>
            </p:cNvSpPr>
            <p:nvPr/>
          </p:nvSpPr>
          <p:spPr bwMode="auto">
            <a:xfrm>
              <a:off x="3408" y="1119"/>
              <a:ext cx="0" cy="2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9" name="直接连接符 738319">
              <a:extLst>
                <a:ext uri="{FF2B5EF4-FFF2-40B4-BE49-F238E27FC236}">
                  <a16:creationId xmlns:a16="http://schemas.microsoft.com/office/drawing/2014/main" id="{FFCF6C38-C142-4DCC-9C72-66BF52D8C52B}"/>
                </a:ext>
              </a:extLst>
            </p:cNvPr>
            <p:cNvSpPr>
              <a:spLocks noChangeShapeType="1"/>
            </p:cNvSpPr>
            <p:nvPr/>
          </p:nvSpPr>
          <p:spPr bwMode="auto">
            <a:xfrm>
              <a:off x="2544" y="1119"/>
              <a:ext cx="0" cy="2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8321" name="矩形 738320">
              <a:extLst>
                <a:ext uri="{FF2B5EF4-FFF2-40B4-BE49-F238E27FC236}">
                  <a16:creationId xmlns:a16="http://schemas.microsoft.com/office/drawing/2014/main" id="{808BB3CD-0264-49A3-82BC-FECA145A6BEF}"/>
                </a:ext>
              </a:extLst>
            </p:cNvPr>
            <p:cNvSpPr/>
            <p:nvPr/>
          </p:nvSpPr>
          <p:spPr>
            <a:xfrm>
              <a:off x="4224" y="2463"/>
              <a:ext cx="611" cy="321"/>
            </a:xfrm>
            <a:prstGeom prst="rect">
              <a:avLst/>
            </a:prstGeom>
            <a:noFill/>
            <a:ln w="19050">
              <a:noFill/>
            </a:ln>
          </p:spPr>
          <p: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a:lnSpc>
                  <a:spcPct val="100000"/>
                </a:lnSpc>
                <a:spcBef>
                  <a:spcPct val="0"/>
                </a:spcBef>
              </a:pPr>
              <a:r>
                <a:rPr lang="zh-CN" altLang="en-US" noProof="1"/>
                <a:t>专长</a:t>
              </a:r>
              <a:r>
                <a:rPr lang="en-US" altLang="zh-CN" noProof="1"/>
                <a:t>1</a:t>
              </a:r>
            </a:p>
          </p:txBody>
        </p:sp>
        <p:sp>
          <p:nvSpPr>
            <p:cNvPr id="738322" name="矩形 738321">
              <a:extLst>
                <a:ext uri="{FF2B5EF4-FFF2-40B4-BE49-F238E27FC236}">
                  <a16:creationId xmlns:a16="http://schemas.microsoft.com/office/drawing/2014/main" id="{81008ED7-FC3F-4D7C-B9F0-331DEEAAA360}"/>
                </a:ext>
              </a:extLst>
            </p:cNvPr>
            <p:cNvSpPr/>
            <p:nvPr/>
          </p:nvSpPr>
          <p:spPr>
            <a:xfrm>
              <a:off x="3696" y="2463"/>
              <a:ext cx="528" cy="321"/>
            </a:xfrm>
            <a:prstGeom prst="rect">
              <a:avLst/>
            </a:prstGeom>
            <a:noFill/>
            <a:ln w="19050">
              <a:noFill/>
            </a:ln>
          </p:spPr>
          <p: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a:lnSpc>
                  <a:spcPct val="100000"/>
                </a:lnSpc>
                <a:spcBef>
                  <a:spcPct val="0"/>
                </a:spcBef>
              </a:pPr>
              <a:r>
                <a:rPr lang="zh-CN" altLang="en-US" noProof="1"/>
                <a:t>职称</a:t>
              </a:r>
            </a:p>
          </p:txBody>
        </p:sp>
        <p:sp>
          <p:nvSpPr>
            <p:cNvPr id="738323" name="矩形 738322">
              <a:extLst>
                <a:ext uri="{FF2B5EF4-FFF2-40B4-BE49-F238E27FC236}">
                  <a16:creationId xmlns:a16="http://schemas.microsoft.com/office/drawing/2014/main" id="{EBF22AB7-484E-492B-84A4-8D267F98A492}"/>
                </a:ext>
              </a:extLst>
            </p:cNvPr>
            <p:cNvSpPr/>
            <p:nvPr/>
          </p:nvSpPr>
          <p:spPr>
            <a:xfrm>
              <a:off x="2784" y="2463"/>
              <a:ext cx="912" cy="321"/>
            </a:xfrm>
            <a:prstGeom prst="rect">
              <a:avLst/>
            </a:prstGeom>
            <a:noFill/>
            <a:ln w="19050">
              <a:noFill/>
            </a:ln>
          </p:spPr>
          <p: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a:lnSpc>
                  <a:spcPct val="100000"/>
                </a:lnSpc>
                <a:spcBef>
                  <a:spcPct val="0"/>
                </a:spcBef>
              </a:pPr>
              <a:r>
                <a:rPr lang="zh-CN" altLang="en-US" noProof="1"/>
                <a:t>出生年月</a:t>
              </a:r>
            </a:p>
          </p:txBody>
        </p:sp>
        <p:sp>
          <p:nvSpPr>
            <p:cNvPr id="738324" name="矩形 738323">
              <a:extLst>
                <a:ext uri="{FF2B5EF4-FFF2-40B4-BE49-F238E27FC236}">
                  <a16:creationId xmlns:a16="http://schemas.microsoft.com/office/drawing/2014/main" id="{1D080D6F-3852-4103-8D07-9FB03B43F547}"/>
                </a:ext>
              </a:extLst>
            </p:cNvPr>
            <p:cNvSpPr/>
            <p:nvPr/>
          </p:nvSpPr>
          <p:spPr>
            <a:xfrm>
              <a:off x="2256" y="2463"/>
              <a:ext cx="528" cy="321"/>
            </a:xfrm>
            <a:prstGeom prst="rect">
              <a:avLst/>
            </a:prstGeom>
            <a:noFill/>
            <a:ln w="19050">
              <a:noFill/>
            </a:ln>
          </p:spPr>
          <p: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a:lnSpc>
                  <a:spcPct val="100000"/>
                </a:lnSpc>
                <a:spcBef>
                  <a:spcPct val="0"/>
                </a:spcBef>
              </a:pPr>
              <a:r>
                <a:rPr lang="zh-CN" altLang="en-US" noProof="1"/>
                <a:t>性别</a:t>
              </a:r>
            </a:p>
          </p:txBody>
        </p:sp>
        <p:sp>
          <p:nvSpPr>
            <p:cNvPr id="738325" name="矩形 738324">
              <a:extLst>
                <a:ext uri="{FF2B5EF4-FFF2-40B4-BE49-F238E27FC236}">
                  <a16:creationId xmlns:a16="http://schemas.microsoft.com/office/drawing/2014/main" id="{302C593A-828B-49E4-A1ED-5E9B0A0A94EF}"/>
                </a:ext>
              </a:extLst>
            </p:cNvPr>
            <p:cNvSpPr/>
            <p:nvPr/>
          </p:nvSpPr>
          <p:spPr>
            <a:xfrm>
              <a:off x="1344" y="2463"/>
              <a:ext cx="912" cy="321"/>
            </a:xfrm>
            <a:prstGeom prst="rect">
              <a:avLst/>
            </a:prstGeom>
            <a:noFill/>
            <a:ln w="19050">
              <a:noFill/>
            </a:ln>
          </p:spPr>
          <p: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a:lnSpc>
                  <a:spcPct val="100000"/>
                </a:lnSpc>
                <a:spcBef>
                  <a:spcPct val="0"/>
                </a:spcBef>
              </a:pPr>
              <a:r>
                <a:rPr lang="zh-CN" altLang="en-US" noProof="1"/>
                <a:t>教员姓名</a:t>
              </a:r>
            </a:p>
          </p:txBody>
        </p:sp>
        <p:sp>
          <p:nvSpPr>
            <p:cNvPr id="738326" name="矩形 738325">
              <a:extLst>
                <a:ext uri="{FF2B5EF4-FFF2-40B4-BE49-F238E27FC236}">
                  <a16:creationId xmlns:a16="http://schemas.microsoft.com/office/drawing/2014/main" id="{2669D85B-EC40-4576-ADC5-A8367B38D5B4}"/>
                </a:ext>
              </a:extLst>
            </p:cNvPr>
            <p:cNvSpPr/>
            <p:nvPr/>
          </p:nvSpPr>
          <p:spPr>
            <a:xfrm>
              <a:off x="432" y="2463"/>
              <a:ext cx="912" cy="321"/>
            </a:xfrm>
            <a:prstGeom prst="rect">
              <a:avLst/>
            </a:prstGeom>
            <a:noFill/>
            <a:ln w="19050">
              <a:noFill/>
            </a:ln>
          </p:spPr>
          <p: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a:lnSpc>
                  <a:spcPct val="100000"/>
                </a:lnSpc>
                <a:spcBef>
                  <a:spcPct val="0"/>
                </a:spcBef>
              </a:pPr>
              <a:r>
                <a:rPr lang="zh-CN" altLang="en-US" noProof="1"/>
                <a:t>教员编号</a:t>
              </a:r>
            </a:p>
          </p:txBody>
        </p:sp>
        <p:sp>
          <p:nvSpPr>
            <p:cNvPr id="738327" name="矩形 738326">
              <a:extLst>
                <a:ext uri="{FF2B5EF4-FFF2-40B4-BE49-F238E27FC236}">
                  <a16:creationId xmlns:a16="http://schemas.microsoft.com/office/drawing/2014/main" id="{51AE1A88-62FF-4546-8C1A-D26F448328C8}"/>
                </a:ext>
              </a:extLst>
            </p:cNvPr>
            <p:cNvSpPr/>
            <p:nvPr/>
          </p:nvSpPr>
          <p:spPr>
            <a:xfrm>
              <a:off x="4834" y="2463"/>
              <a:ext cx="638" cy="321"/>
            </a:xfrm>
            <a:prstGeom prst="rect">
              <a:avLst/>
            </a:prstGeom>
            <a:noFill/>
            <a:ln w="19050">
              <a:noFill/>
            </a:ln>
          </p:spPr>
          <p: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a:lnSpc>
                  <a:spcPct val="100000"/>
                </a:lnSpc>
                <a:spcBef>
                  <a:spcPct val="0"/>
                </a:spcBef>
              </a:pPr>
              <a:r>
                <a:rPr lang="zh-CN" altLang="en-US" noProof="1"/>
                <a:t>专长</a:t>
              </a:r>
              <a:r>
                <a:rPr lang="en-US" altLang="zh-CN" noProof="1"/>
                <a:t>2</a:t>
              </a:r>
            </a:p>
          </p:txBody>
        </p:sp>
        <p:sp>
          <p:nvSpPr>
            <p:cNvPr id="24597" name="直接连接符 738327">
              <a:extLst>
                <a:ext uri="{FF2B5EF4-FFF2-40B4-BE49-F238E27FC236}">
                  <a16:creationId xmlns:a16="http://schemas.microsoft.com/office/drawing/2014/main" id="{8DE1E4A3-14BB-4234-B7A0-4E527B2E23C2}"/>
                </a:ext>
              </a:extLst>
            </p:cNvPr>
            <p:cNvSpPr>
              <a:spLocks noChangeShapeType="1"/>
            </p:cNvSpPr>
            <p:nvPr/>
          </p:nvSpPr>
          <p:spPr bwMode="auto">
            <a:xfrm>
              <a:off x="432" y="2463"/>
              <a:ext cx="5040"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8" name="直接连接符 738328">
              <a:extLst>
                <a:ext uri="{FF2B5EF4-FFF2-40B4-BE49-F238E27FC236}">
                  <a16:creationId xmlns:a16="http://schemas.microsoft.com/office/drawing/2014/main" id="{5BDE8238-4C54-4D1E-8783-3FE4365F539D}"/>
                </a:ext>
              </a:extLst>
            </p:cNvPr>
            <p:cNvSpPr>
              <a:spLocks noChangeShapeType="1"/>
            </p:cNvSpPr>
            <p:nvPr/>
          </p:nvSpPr>
          <p:spPr bwMode="auto">
            <a:xfrm>
              <a:off x="432" y="2784"/>
              <a:ext cx="5040"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9" name="直接连接符 738329">
              <a:extLst>
                <a:ext uri="{FF2B5EF4-FFF2-40B4-BE49-F238E27FC236}">
                  <a16:creationId xmlns:a16="http://schemas.microsoft.com/office/drawing/2014/main" id="{6D4B5BB5-CE2F-46D8-92FF-C2A1F698F2C9}"/>
                </a:ext>
              </a:extLst>
            </p:cNvPr>
            <p:cNvSpPr>
              <a:spLocks noChangeShapeType="1"/>
            </p:cNvSpPr>
            <p:nvPr/>
          </p:nvSpPr>
          <p:spPr bwMode="auto">
            <a:xfrm>
              <a:off x="432" y="2463"/>
              <a:ext cx="0" cy="321"/>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0" name="直接连接符 738330">
              <a:extLst>
                <a:ext uri="{FF2B5EF4-FFF2-40B4-BE49-F238E27FC236}">
                  <a16:creationId xmlns:a16="http://schemas.microsoft.com/office/drawing/2014/main" id="{FDAE6A27-8397-424B-8A29-4F658ED88C60}"/>
                </a:ext>
              </a:extLst>
            </p:cNvPr>
            <p:cNvSpPr>
              <a:spLocks noChangeShapeType="1"/>
            </p:cNvSpPr>
            <p:nvPr/>
          </p:nvSpPr>
          <p:spPr bwMode="auto">
            <a:xfrm>
              <a:off x="5472" y="2463"/>
              <a:ext cx="0" cy="321"/>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1" name="直接连接符 738331">
              <a:extLst>
                <a:ext uri="{FF2B5EF4-FFF2-40B4-BE49-F238E27FC236}">
                  <a16:creationId xmlns:a16="http://schemas.microsoft.com/office/drawing/2014/main" id="{50162CA1-6DA8-45D8-816C-A2B019C6DFA2}"/>
                </a:ext>
              </a:extLst>
            </p:cNvPr>
            <p:cNvSpPr>
              <a:spLocks noChangeShapeType="1"/>
            </p:cNvSpPr>
            <p:nvPr/>
          </p:nvSpPr>
          <p:spPr bwMode="auto">
            <a:xfrm>
              <a:off x="1344" y="2463"/>
              <a:ext cx="0" cy="32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2" name="直接连接符 738332">
              <a:extLst>
                <a:ext uri="{FF2B5EF4-FFF2-40B4-BE49-F238E27FC236}">
                  <a16:creationId xmlns:a16="http://schemas.microsoft.com/office/drawing/2014/main" id="{2DC6FF2A-FBC6-4300-9CD6-74A3476CEBA0}"/>
                </a:ext>
              </a:extLst>
            </p:cNvPr>
            <p:cNvSpPr>
              <a:spLocks noChangeShapeType="1"/>
            </p:cNvSpPr>
            <p:nvPr/>
          </p:nvSpPr>
          <p:spPr bwMode="auto">
            <a:xfrm>
              <a:off x="2256" y="2463"/>
              <a:ext cx="0" cy="32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3" name="直接连接符 738333">
              <a:extLst>
                <a:ext uri="{FF2B5EF4-FFF2-40B4-BE49-F238E27FC236}">
                  <a16:creationId xmlns:a16="http://schemas.microsoft.com/office/drawing/2014/main" id="{5B8740BD-8B37-43BA-BFC6-9ACAF8A9ABCC}"/>
                </a:ext>
              </a:extLst>
            </p:cNvPr>
            <p:cNvSpPr>
              <a:spLocks noChangeShapeType="1"/>
            </p:cNvSpPr>
            <p:nvPr/>
          </p:nvSpPr>
          <p:spPr bwMode="auto">
            <a:xfrm>
              <a:off x="2784" y="2463"/>
              <a:ext cx="0" cy="32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4" name="直接连接符 738334">
              <a:extLst>
                <a:ext uri="{FF2B5EF4-FFF2-40B4-BE49-F238E27FC236}">
                  <a16:creationId xmlns:a16="http://schemas.microsoft.com/office/drawing/2014/main" id="{E4727B20-B6E2-4ACF-8E96-29FAFCB6B860}"/>
                </a:ext>
              </a:extLst>
            </p:cNvPr>
            <p:cNvSpPr>
              <a:spLocks noChangeShapeType="1"/>
            </p:cNvSpPr>
            <p:nvPr/>
          </p:nvSpPr>
          <p:spPr bwMode="auto">
            <a:xfrm>
              <a:off x="3696" y="2463"/>
              <a:ext cx="0" cy="32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5" name="直接连接符 738335">
              <a:extLst>
                <a:ext uri="{FF2B5EF4-FFF2-40B4-BE49-F238E27FC236}">
                  <a16:creationId xmlns:a16="http://schemas.microsoft.com/office/drawing/2014/main" id="{4DC4937A-F752-45C1-AD0D-3EDCD2AF6019}"/>
                </a:ext>
              </a:extLst>
            </p:cNvPr>
            <p:cNvSpPr>
              <a:spLocks noChangeShapeType="1"/>
            </p:cNvSpPr>
            <p:nvPr/>
          </p:nvSpPr>
          <p:spPr bwMode="auto">
            <a:xfrm>
              <a:off x="4224" y="2463"/>
              <a:ext cx="0" cy="32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6" name="直接连接符 738336">
              <a:extLst>
                <a:ext uri="{FF2B5EF4-FFF2-40B4-BE49-F238E27FC236}">
                  <a16:creationId xmlns:a16="http://schemas.microsoft.com/office/drawing/2014/main" id="{3BD11532-2E9C-4016-A073-3B54846E8894}"/>
                </a:ext>
              </a:extLst>
            </p:cNvPr>
            <p:cNvSpPr>
              <a:spLocks noChangeShapeType="1"/>
            </p:cNvSpPr>
            <p:nvPr/>
          </p:nvSpPr>
          <p:spPr bwMode="auto">
            <a:xfrm>
              <a:off x="4834" y="2463"/>
              <a:ext cx="0" cy="32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8338" name="矩形 738337">
              <a:extLst>
                <a:ext uri="{FF2B5EF4-FFF2-40B4-BE49-F238E27FC236}">
                  <a16:creationId xmlns:a16="http://schemas.microsoft.com/office/drawing/2014/main" id="{F3CF7198-8847-4251-BF9F-D1A2346E858A}"/>
                </a:ext>
              </a:extLst>
            </p:cNvPr>
            <p:cNvSpPr/>
            <p:nvPr/>
          </p:nvSpPr>
          <p:spPr>
            <a:xfrm>
              <a:off x="1488" y="1792"/>
              <a:ext cx="1008" cy="287"/>
            </a:xfrm>
            <a:prstGeom prst="rect">
              <a:avLst/>
            </a:prstGeom>
            <a:noFill/>
            <a:ln w="19050">
              <a:noFill/>
            </a:ln>
          </p:spPr>
          <p: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a:lnSpc>
                  <a:spcPct val="100000"/>
                </a:lnSpc>
                <a:spcBef>
                  <a:spcPct val="0"/>
                </a:spcBef>
              </a:pPr>
              <a:r>
                <a:rPr lang="zh-CN" altLang="en-US" noProof="1"/>
                <a:t> 教研室名</a:t>
              </a:r>
            </a:p>
          </p:txBody>
        </p:sp>
        <p:sp>
          <p:nvSpPr>
            <p:cNvPr id="738339" name="矩形 738338">
              <a:extLst>
                <a:ext uri="{FF2B5EF4-FFF2-40B4-BE49-F238E27FC236}">
                  <a16:creationId xmlns:a16="http://schemas.microsoft.com/office/drawing/2014/main" id="{F7961807-B8B8-495B-BAE6-8E62D7A22E3C}"/>
                </a:ext>
              </a:extLst>
            </p:cNvPr>
            <p:cNvSpPr/>
            <p:nvPr/>
          </p:nvSpPr>
          <p:spPr>
            <a:xfrm>
              <a:off x="2496" y="1792"/>
              <a:ext cx="1308" cy="287"/>
            </a:xfrm>
            <a:prstGeom prst="rect">
              <a:avLst/>
            </a:prstGeom>
            <a:noFill/>
            <a:ln w="19050">
              <a:noFill/>
            </a:ln>
          </p:spPr>
          <p: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a:lnSpc>
                  <a:spcPct val="100000"/>
                </a:lnSpc>
                <a:spcBef>
                  <a:spcPct val="0"/>
                </a:spcBef>
              </a:pPr>
              <a:r>
                <a:rPr lang="zh-CN" altLang="en-US" noProof="1"/>
                <a:t>教研室主任名</a:t>
              </a:r>
            </a:p>
          </p:txBody>
        </p:sp>
        <p:sp>
          <p:nvSpPr>
            <p:cNvPr id="738340" name="矩形 738339">
              <a:extLst>
                <a:ext uri="{FF2B5EF4-FFF2-40B4-BE49-F238E27FC236}">
                  <a16:creationId xmlns:a16="http://schemas.microsoft.com/office/drawing/2014/main" id="{9EF436A9-B800-4471-A329-C15E6F14A442}"/>
                </a:ext>
              </a:extLst>
            </p:cNvPr>
            <p:cNvSpPr/>
            <p:nvPr/>
          </p:nvSpPr>
          <p:spPr>
            <a:xfrm>
              <a:off x="528" y="1792"/>
              <a:ext cx="960" cy="287"/>
            </a:xfrm>
            <a:prstGeom prst="rect">
              <a:avLst/>
            </a:prstGeom>
            <a:noFill/>
            <a:ln w="19050">
              <a:noFill/>
            </a:ln>
          </p:spPr>
          <p: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a:lnSpc>
                  <a:spcPct val="100000"/>
                </a:lnSpc>
                <a:spcBef>
                  <a:spcPct val="0"/>
                </a:spcBef>
              </a:pPr>
              <a:r>
                <a:rPr lang="zh-CN" altLang="en-US" noProof="1"/>
                <a:t> 教研室号</a:t>
              </a:r>
            </a:p>
          </p:txBody>
        </p:sp>
        <p:sp>
          <p:nvSpPr>
            <p:cNvPr id="738341" name="矩形 738340">
              <a:extLst>
                <a:ext uri="{FF2B5EF4-FFF2-40B4-BE49-F238E27FC236}">
                  <a16:creationId xmlns:a16="http://schemas.microsoft.com/office/drawing/2014/main" id="{ADD56707-338A-454E-ACAA-B9FCD0F41259}"/>
                </a:ext>
              </a:extLst>
            </p:cNvPr>
            <p:cNvSpPr/>
            <p:nvPr/>
          </p:nvSpPr>
          <p:spPr>
            <a:xfrm>
              <a:off x="3804" y="1792"/>
              <a:ext cx="1092" cy="287"/>
            </a:xfrm>
            <a:prstGeom prst="rect">
              <a:avLst/>
            </a:prstGeom>
            <a:noFill/>
            <a:ln w="19050">
              <a:noFill/>
            </a:ln>
          </p:spPr>
          <p: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a:lnSpc>
                  <a:spcPct val="100000"/>
                </a:lnSpc>
                <a:spcBef>
                  <a:spcPct val="0"/>
                </a:spcBef>
              </a:pPr>
              <a:r>
                <a:rPr lang="zh-CN" altLang="en-US" noProof="1"/>
                <a:t>  编制人数</a:t>
              </a:r>
            </a:p>
          </p:txBody>
        </p:sp>
        <p:sp>
          <p:nvSpPr>
            <p:cNvPr id="24611" name="直接连接符 738341">
              <a:extLst>
                <a:ext uri="{FF2B5EF4-FFF2-40B4-BE49-F238E27FC236}">
                  <a16:creationId xmlns:a16="http://schemas.microsoft.com/office/drawing/2014/main" id="{07C84742-808C-46C8-95ED-979568C54694}"/>
                </a:ext>
              </a:extLst>
            </p:cNvPr>
            <p:cNvSpPr>
              <a:spLocks noChangeShapeType="1"/>
            </p:cNvSpPr>
            <p:nvPr/>
          </p:nvSpPr>
          <p:spPr bwMode="auto">
            <a:xfrm>
              <a:off x="528" y="1792"/>
              <a:ext cx="4368"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12" name="直接连接符 738342">
              <a:extLst>
                <a:ext uri="{FF2B5EF4-FFF2-40B4-BE49-F238E27FC236}">
                  <a16:creationId xmlns:a16="http://schemas.microsoft.com/office/drawing/2014/main" id="{EC6C86B6-5C09-4F56-963D-0DFECB51AACC}"/>
                </a:ext>
              </a:extLst>
            </p:cNvPr>
            <p:cNvSpPr>
              <a:spLocks noChangeShapeType="1"/>
            </p:cNvSpPr>
            <p:nvPr/>
          </p:nvSpPr>
          <p:spPr bwMode="auto">
            <a:xfrm>
              <a:off x="528" y="2079"/>
              <a:ext cx="4368"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13" name="直接连接符 738343">
              <a:extLst>
                <a:ext uri="{FF2B5EF4-FFF2-40B4-BE49-F238E27FC236}">
                  <a16:creationId xmlns:a16="http://schemas.microsoft.com/office/drawing/2014/main" id="{645B16FE-F4FB-4CA5-B932-8A8CE70E2225}"/>
                </a:ext>
              </a:extLst>
            </p:cNvPr>
            <p:cNvSpPr>
              <a:spLocks noChangeShapeType="1"/>
            </p:cNvSpPr>
            <p:nvPr/>
          </p:nvSpPr>
          <p:spPr bwMode="auto">
            <a:xfrm>
              <a:off x="528" y="1792"/>
              <a:ext cx="0" cy="287"/>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14" name="直接连接符 738344">
              <a:extLst>
                <a:ext uri="{FF2B5EF4-FFF2-40B4-BE49-F238E27FC236}">
                  <a16:creationId xmlns:a16="http://schemas.microsoft.com/office/drawing/2014/main" id="{7067D864-D7C9-4ACF-9BE9-C4D93313505F}"/>
                </a:ext>
              </a:extLst>
            </p:cNvPr>
            <p:cNvSpPr>
              <a:spLocks noChangeShapeType="1"/>
            </p:cNvSpPr>
            <p:nvPr/>
          </p:nvSpPr>
          <p:spPr bwMode="auto">
            <a:xfrm>
              <a:off x="4896" y="1792"/>
              <a:ext cx="0" cy="287"/>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15" name="直接连接符 738345">
              <a:extLst>
                <a:ext uri="{FF2B5EF4-FFF2-40B4-BE49-F238E27FC236}">
                  <a16:creationId xmlns:a16="http://schemas.microsoft.com/office/drawing/2014/main" id="{E33B3BA3-7768-4FD7-BC1D-3D2A8F2B7C81}"/>
                </a:ext>
              </a:extLst>
            </p:cNvPr>
            <p:cNvSpPr>
              <a:spLocks noChangeShapeType="1"/>
            </p:cNvSpPr>
            <p:nvPr/>
          </p:nvSpPr>
          <p:spPr bwMode="auto">
            <a:xfrm>
              <a:off x="1488" y="1792"/>
              <a:ext cx="0" cy="2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16" name="直接连接符 738346">
              <a:extLst>
                <a:ext uri="{FF2B5EF4-FFF2-40B4-BE49-F238E27FC236}">
                  <a16:creationId xmlns:a16="http://schemas.microsoft.com/office/drawing/2014/main" id="{077E7AD9-2320-4B70-BB45-AEBCA5E0D96A}"/>
                </a:ext>
              </a:extLst>
            </p:cNvPr>
            <p:cNvSpPr>
              <a:spLocks noChangeShapeType="1"/>
            </p:cNvSpPr>
            <p:nvPr/>
          </p:nvSpPr>
          <p:spPr bwMode="auto">
            <a:xfrm>
              <a:off x="3804" y="1792"/>
              <a:ext cx="0" cy="2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17" name="直接连接符 738347">
              <a:extLst>
                <a:ext uri="{FF2B5EF4-FFF2-40B4-BE49-F238E27FC236}">
                  <a16:creationId xmlns:a16="http://schemas.microsoft.com/office/drawing/2014/main" id="{F3E14B5D-F3E0-44D0-B4E3-BD852C60B226}"/>
                </a:ext>
              </a:extLst>
            </p:cNvPr>
            <p:cNvSpPr>
              <a:spLocks noChangeShapeType="1"/>
            </p:cNvSpPr>
            <p:nvPr/>
          </p:nvSpPr>
          <p:spPr bwMode="auto">
            <a:xfrm>
              <a:off x="2496" y="1792"/>
              <a:ext cx="0" cy="2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18" name="直接连接符 738348">
              <a:extLst>
                <a:ext uri="{FF2B5EF4-FFF2-40B4-BE49-F238E27FC236}">
                  <a16:creationId xmlns:a16="http://schemas.microsoft.com/office/drawing/2014/main" id="{728D0759-7C31-4415-983B-9FE8DB913AB6}"/>
                </a:ext>
              </a:extLst>
            </p:cNvPr>
            <p:cNvSpPr>
              <a:spLocks noChangeShapeType="1"/>
            </p:cNvSpPr>
            <p:nvPr/>
          </p:nvSpPr>
          <p:spPr bwMode="auto">
            <a:xfrm flipV="1">
              <a:off x="3914" y="783"/>
              <a:ext cx="0" cy="336"/>
            </a:xfrm>
            <a:prstGeom prst="line">
              <a:avLst/>
            </a:prstGeom>
            <a:noFill/>
            <a:ln w="25400">
              <a:solidFill>
                <a:schemeClr val="tx1"/>
              </a:solidFill>
              <a:prstDash val="lgDashDotDot"/>
              <a:round/>
              <a:headEnd/>
              <a:tailEnd/>
            </a:ln>
            <a:extLst>
              <a:ext uri="{909E8E84-426E-40DD-AFC4-6F175D3DCCD1}">
                <a14:hiddenFill xmlns:a14="http://schemas.microsoft.com/office/drawing/2010/main">
                  <a:noFill/>
                </a14:hiddenFill>
              </a:ext>
            </a:extLst>
          </p:spPr>
          <p:txBody>
            <a:bodyPr/>
            <a:lstStyle/>
            <a:p>
              <a:endParaRPr lang="zh-CN" altLang="en-US"/>
            </a:p>
          </p:txBody>
        </p:sp>
        <p:cxnSp>
          <p:nvCxnSpPr>
            <p:cNvPr id="24619" name="肘形连接符 738349">
              <a:extLst>
                <a:ext uri="{FF2B5EF4-FFF2-40B4-BE49-F238E27FC236}">
                  <a16:creationId xmlns:a16="http://schemas.microsoft.com/office/drawing/2014/main" id="{9D77BD28-D2DA-49C5-81AA-9EC348963369}"/>
                </a:ext>
              </a:extLst>
            </p:cNvPr>
            <p:cNvCxnSpPr>
              <a:cxnSpLocks noChangeShapeType="1"/>
              <a:stCxn id="738312" idx="2"/>
              <a:endCxn id="738339" idx="0"/>
            </p:cNvCxnSpPr>
            <p:nvPr/>
          </p:nvCxnSpPr>
          <p:spPr bwMode="auto">
            <a:xfrm rot="5400000">
              <a:off x="3338" y="1218"/>
              <a:ext cx="386" cy="762"/>
            </a:xfrm>
            <a:prstGeom prst="bentConnector3">
              <a:avLst>
                <a:gd name="adj1" fmla="val 50000"/>
              </a:avLst>
            </a:prstGeom>
            <a:noFill/>
            <a:ln w="19050">
              <a:solidFill>
                <a:schemeClr val="tx1"/>
              </a:solidFill>
              <a:miter lim="800000"/>
              <a:headEnd/>
              <a:tailEnd/>
            </a:ln>
            <a:extLst>
              <a:ext uri="{909E8E84-426E-40DD-AFC4-6F175D3DCCD1}">
                <a14:hiddenFill xmlns:a14="http://schemas.microsoft.com/office/drawing/2010/main">
                  <a:noFill/>
                </a14:hiddenFill>
              </a:ext>
            </a:extLst>
          </p:spPr>
        </p:cxnSp>
        <p:sp>
          <p:nvSpPr>
            <p:cNvPr id="24620" name="直接连接符 738350">
              <a:extLst>
                <a:ext uri="{FF2B5EF4-FFF2-40B4-BE49-F238E27FC236}">
                  <a16:creationId xmlns:a16="http://schemas.microsoft.com/office/drawing/2014/main" id="{C101B54E-1CA7-4FAC-8E1D-29F79967102D}"/>
                </a:ext>
              </a:extLst>
            </p:cNvPr>
            <p:cNvSpPr>
              <a:spLocks noChangeShapeType="1"/>
            </p:cNvSpPr>
            <p:nvPr/>
          </p:nvSpPr>
          <p:spPr bwMode="auto">
            <a:xfrm>
              <a:off x="3916" y="1596"/>
              <a:ext cx="503" cy="0"/>
            </a:xfrm>
            <a:prstGeom prst="line">
              <a:avLst/>
            </a:prstGeom>
            <a:noFill/>
            <a:ln w="25400">
              <a:solidFill>
                <a:schemeClr val="tx1"/>
              </a:solidFill>
              <a:prstDash val="lgDashDot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21" name="直接连接符 738351">
              <a:extLst>
                <a:ext uri="{FF2B5EF4-FFF2-40B4-BE49-F238E27FC236}">
                  <a16:creationId xmlns:a16="http://schemas.microsoft.com/office/drawing/2014/main" id="{83A07611-DA20-4566-8B8B-FD4D452C9FAC}"/>
                </a:ext>
              </a:extLst>
            </p:cNvPr>
            <p:cNvSpPr>
              <a:spLocks noChangeShapeType="1"/>
            </p:cNvSpPr>
            <p:nvPr/>
          </p:nvSpPr>
          <p:spPr bwMode="auto">
            <a:xfrm>
              <a:off x="3145" y="2079"/>
              <a:ext cx="0" cy="38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4622" name="文本框 738352">
            <a:extLst>
              <a:ext uri="{FF2B5EF4-FFF2-40B4-BE49-F238E27FC236}">
                <a16:creationId xmlns:a16="http://schemas.microsoft.com/office/drawing/2014/main" id="{5DBF3F14-4E9F-4D51-85D4-6EF7C49C2934}"/>
              </a:ext>
            </a:extLst>
          </p:cNvPr>
          <p:cNvSpPr txBox="1">
            <a:spLocks noChangeArrowheads="1"/>
          </p:cNvSpPr>
          <p:nvPr/>
        </p:nvSpPr>
        <p:spPr bwMode="auto">
          <a:xfrm>
            <a:off x="1149350" y="5016500"/>
            <a:ext cx="7315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p>
            <a:pPr>
              <a:spcBef>
                <a:spcPct val="50000"/>
              </a:spcBef>
            </a:pPr>
            <a:r>
              <a:rPr lang="zh-CN" altLang="en-US" sz="2400" b="1">
                <a:ea typeface="宋体" panose="02010600030101010101" pitchFamily="2" charset="-122"/>
              </a:rPr>
              <a:t>图</a:t>
            </a:r>
            <a:r>
              <a:rPr lang="en-US" altLang="zh-CN" sz="2400" b="1">
                <a:ea typeface="宋体" panose="02010600030101010101" pitchFamily="2" charset="-122"/>
              </a:rPr>
              <a:t>1.3     </a:t>
            </a:r>
            <a:r>
              <a:rPr lang="zh-CN" altLang="en-US" sz="2400" b="1">
                <a:ea typeface="宋体" panose="02010600030101010101" pitchFamily="2" charset="-122"/>
              </a:rPr>
              <a:t>图</a:t>
            </a:r>
            <a:r>
              <a:rPr lang="en-US" altLang="zh-CN" sz="2400" b="1">
                <a:ea typeface="宋体" panose="02010600030101010101" pitchFamily="2" charset="-122"/>
              </a:rPr>
              <a:t>1.2</a:t>
            </a:r>
            <a:r>
              <a:rPr lang="zh-CN" altLang="en-US" sz="2400" b="1">
                <a:ea typeface="宋体" panose="02010600030101010101" pitchFamily="2" charset="-122"/>
              </a:rPr>
              <a:t>的层次模型中的部分记录类型示例</a:t>
            </a:r>
          </a:p>
        </p:txBody>
      </p:sp>
      <p:sp>
        <p:nvSpPr>
          <p:cNvPr id="24623" name="文本框 738353">
            <a:extLst>
              <a:ext uri="{FF2B5EF4-FFF2-40B4-BE49-F238E27FC236}">
                <a16:creationId xmlns:a16="http://schemas.microsoft.com/office/drawing/2014/main" id="{DCE0F101-E67E-4C61-9804-34DC0A8FFB09}"/>
              </a:ext>
            </a:extLst>
          </p:cNvPr>
          <p:cNvSpPr txBox="1">
            <a:spLocks noChangeArrowheads="1"/>
          </p:cNvSpPr>
          <p:nvPr/>
        </p:nvSpPr>
        <p:spPr bwMode="auto">
          <a:xfrm>
            <a:off x="5219700" y="3327400"/>
            <a:ext cx="1728788"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nSpc>
                <a:spcPct val="75000"/>
              </a:lnSpc>
            </a:pPr>
            <a:r>
              <a:rPr lang="en-US" altLang="zh-CN" sz="2800" b="1"/>
              <a:t>…  …</a:t>
            </a:r>
            <a:r>
              <a:rPr lang="en-US" altLang="zh-CN"/>
              <a:t> </a:t>
            </a:r>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4324"/>
    </mc:Choice>
    <mc:Fallback xmlns="">
      <p:transition spd="slow" advTm="34324"/>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5892" name="矩形 805891">
            <a:extLst>
              <a:ext uri="{FF2B5EF4-FFF2-40B4-BE49-F238E27FC236}">
                <a16:creationId xmlns:a16="http://schemas.microsoft.com/office/drawing/2014/main" id="{14ECF621-DBCC-48E9-A477-82E119D9ADB3}"/>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t>三、层次模型</a:t>
            </a:r>
          </a:p>
        </p:txBody>
      </p:sp>
      <p:sp>
        <p:nvSpPr>
          <p:cNvPr id="805893" name="矩形 805892">
            <a:extLst>
              <a:ext uri="{FF2B5EF4-FFF2-40B4-BE49-F238E27FC236}">
                <a16:creationId xmlns:a16="http://schemas.microsoft.com/office/drawing/2014/main" id="{3BFB29FB-EA66-4D53-B0B8-6024F70C50E2}"/>
              </a:ext>
            </a:extLst>
          </p:cNvPr>
          <p:cNvSpPr/>
          <p:nvPr/>
        </p:nvSpPr>
        <p:spPr>
          <a:xfrm>
            <a:off x="468313" y="1258888"/>
            <a:ext cx="8207375"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r>
              <a:rPr lang="zh-CN" altLang="en-US" sz="3200" noProof="1">
                <a:solidFill>
                  <a:srgbClr val="990033"/>
                </a:solidFill>
                <a:effectLst/>
                <a:ea typeface="黑体" panose="02010609060101010101" pitchFamily="2" charset="-122"/>
              </a:rPr>
              <a:t>         层次模型的优点：</a:t>
            </a:r>
          </a:p>
          <a:p>
            <a:pPr>
              <a:lnSpc>
                <a:spcPct val="150000"/>
              </a:lnSpc>
            </a:pPr>
            <a:r>
              <a:rPr lang="zh-CN" altLang="en-US" noProof="1"/>
              <a:t>      </a:t>
            </a:r>
            <a:r>
              <a:rPr lang="zh-CN" altLang="en-US" noProof="1">
                <a:latin typeface="楷体_GB2312" pitchFamily="49" charset="-122"/>
              </a:rPr>
              <a:t>（</a:t>
            </a:r>
            <a:r>
              <a:rPr lang="en-US" altLang="zh-CN" noProof="1">
                <a:latin typeface="楷体_GB2312" pitchFamily="49" charset="-122"/>
              </a:rPr>
              <a:t>1</a:t>
            </a:r>
            <a:r>
              <a:rPr lang="zh-CN" altLang="en-US" noProof="1">
                <a:latin typeface="楷体_GB2312" pitchFamily="49" charset="-122"/>
              </a:rPr>
              <a:t>）结构清晰，容易理解；</a:t>
            </a:r>
          </a:p>
          <a:p>
            <a:pPr>
              <a:lnSpc>
                <a:spcPct val="150000"/>
              </a:lnSpc>
            </a:pPr>
            <a:r>
              <a:rPr lang="zh-CN" altLang="en-US" noProof="1">
                <a:latin typeface="楷体_GB2312" pitchFamily="49" charset="-122"/>
              </a:rPr>
              <a:t>      （</a:t>
            </a:r>
            <a:r>
              <a:rPr lang="en-US" altLang="zh-CN" noProof="1">
                <a:latin typeface="楷体_GB2312" pitchFamily="49" charset="-122"/>
              </a:rPr>
              <a:t>2</a:t>
            </a:r>
            <a:r>
              <a:rPr lang="zh-CN" altLang="en-US" noProof="1">
                <a:latin typeface="楷体_GB2312" pitchFamily="49" charset="-122"/>
              </a:rPr>
              <a:t>）结点间联系简单，记录之间的联系通过指针来实现，查询效率较高。</a:t>
            </a:r>
          </a:p>
          <a:p>
            <a:pPr>
              <a:lnSpc>
                <a:spcPct val="150000"/>
              </a:lnSpc>
            </a:pPr>
            <a:endParaRPr lang="zh-CN" altLang="en-US" noProof="1">
              <a:latin typeface="楷体_GB2312"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32388"/>
    </mc:Choice>
    <mc:Fallback xmlns="">
      <p:transition spd="slow" advTm="32388"/>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05893">
                                            <p:txEl>
                                              <p:pRg st="0" end="0"/>
                                            </p:txEl>
                                          </p:spTgt>
                                        </p:tgtEl>
                                        <p:attrNameLst>
                                          <p:attrName>style.visibility</p:attrName>
                                        </p:attrNameLst>
                                      </p:cBhvr>
                                      <p:to>
                                        <p:strVal val="visible"/>
                                      </p:to>
                                    </p:set>
                                    <p:animEffect transition="in" filter="wipe(left)">
                                      <p:cBhvr>
                                        <p:cTn id="7" dur="1000"/>
                                        <p:tgtEl>
                                          <p:spTgt spid="805893">
                                            <p:txEl>
                                              <p:pRg st="0" end="0"/>
                                            </p:txEl>
                                          </p:spTgt>
                                        </p:tgtEl>
                                      </p:cBhvr>
                                    </p:animEffect>
                                  </p:childTnLst>
                                </p:cTn>
                              </p:par>
                            </p:childTnLst>
                          </p:cTn>
                        </p:par>
                        <p:par>
                          <p:cTn id="8" fill="hold" nodeType="afterGroup">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805893">
                                            <p:txEl>
                                              <p:pRg st="1" end="1"/>
                                            </p:txEl>
                                          </p:spTgt>
                                        </p:tgtEl>
                                        <p:attrNameLst>
                                          <p:attrName>style.visibility</p:attrName>
                                        </p:attrNameLst>
                                      </p:cBhvr>
                                      <p:to>
                                        <p:strVal val="visible"/>
                                      </p:to>
                                    </p:set>
                                    <p:animEffect transition="in" filter="wipe(left)">
                                      <p:cBhvr>
                                        <p:cTn id="11" dur="1000"/>
                                        <p:tgtEl>
                                          <p:spTgt spid="805893">
                                            <p:txEl>
                                              <p:pRg st="1" end="1"/>
                                            </p:txEl>
                                          </p:spTgt>
                                        </p:tgtEl>
                                      </p:cBhvr>
                                    </p:animEffect>
                                  </p:childTnLst>
                                </p:cTn>
                              </p:par>
                            </p:childTnLst>
                          </p:cTn>
                        </p:par>
                        <p:par>
                          <p:cTn id="12" fill="hold" nodeType="afterGroup">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805893">
                                            <p:txEl>
                                              <p:pRg st="2" end="2"/>
                                            </p:txEl>
                                          </p:spTgt>
                                        </p:tgtEl>
                                        <p:attrNameLst>
                                          <p:attrName>style.visibility</p:attrName>
                                        </p:attrNameLst>
                                      </p:cBhvr>
                                      <p:to>
                                        <p:strVal val="visible"/>
                                      </p:to>
                                    </p:set>
                                    <p:animEffect transition="in" filter="wipe(left)">
                                      <p:cBhvr>
                                        <p:cTn id="15" dur="1000"/>
                                        <p:tgtEl>
                                          <p:spTgt spid="80589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589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3844" name="矩形 803843">
            <a:extLst>
              <a:ext uri="{FF2B5EF4-FFF2-40B4-BE49-F238E27FC236}">
                <a16:creationId xmlns:a16="http://schemas.microsoft.com/office/drawing/2014/main" id="{F337467A-35EC-4BBF-80AE-C0A39BD70208}"/>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t>四、网状模型</a:t>
            </a:r>
          </a:p>
        </p:txBody>
      </p:sp>
      <p:sp>
        <p:nvSpPr>
          <p:cNvPr id="803845" name="矩形 803844">
            <a:extLst>
              <a:ext uri="{FF2B5EF4-FFF2-40B4-BE49-F238E27FC236}">
                <a16:creationId xmlns:a16="http://schemas.microsoft.com/office/drawing/2014/main" id="{BB005CC9-4F9C-42F8-BE63-E8DAF106945E}"/>
              </a:ext>
            </a:extLst>
          </p:cNvPr>
          <p:cNvSpPr/>
          <p:nvPr/>
        </p:nvSpPr>
        <p:spPr>
          <a:xfrm>
            <a:off x="468313" y="1268413"/>
            <a:ext cx="8207375" cy="5184775"/>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a:lnSpc>
                <a:spcPct val="110000"/>
              </a:lnSpc>
            </a:pPr>
            <a:r>
              <a:rPr lang="zh-CN" altLang="en-US" sz="3200" noProof="1">
                <a:solidFill>
                  <a:srgbClr val="990033"/>
                </a:solidFill>
                <a:ea typeface="华文中宋" panose="02010600040101010101" pitchFamily="2" charset="-122"/>
              </a:rPr>
              <a:t>       网状模型由满足如下条件的结点组成：</a:t>
            </a:r>
            <a:endParaRPr lang="zh-CN" altLang="en-US" sz="3000" noProof="1">
              <a:solidFill>
                <a:srgbClr val="660033"/>
              </a:solidFill>
              <a:ea typeface="华文新魏" panose="02010800040101010101" pitchFamily="2" charset="-122"/>
            </a:endParaRPr>
          </a:p>
          <a:p>
            <a:pPr>
              <a:lnSpc>
                <a:spcPct val="170000"/>
              </a:lnSpc>
            </a:pPr>
            <a:r>
              <a:rPr lang="zh-CN" altLang="en-US" sz="3000" noProof="1">
                <a:effectLst/>
                <a:latin typeface="华文新魏" panose="02010800040101010101" pitchFamily="2" charset="-122"/>
                <a:ea typeface="华文新魏" panose="02010800040101010101" pitchFamily="2" charset="-122"/>
              </a:rPr>
              <a:t>       </a:t>
            </a:r>
            <a:r>
              <a:rPr lang="zh-CN" altLang="en-US" sz="3000" noProof="1">
                <a:latin typeface="华文新魏" panose="02010800040101010101" pitchFamily="2" charset="-122"/>
                <a:ea typeface="华文新魏" panose="02010800040101010101" pitchFamily="2" charset="-122"/>
              </a:rPr>
              <a:t>（</a:t>
            </a:r>
            <a:r>
              <a:rPr lang="en-US" altLang="zh-CN" sz="3000" noProof="1">
                <a:latin typeface="华文新魏" panose="02010800040101010101" pitchFamily="2" charset="-122"/>
                <a:ea typeface="华文新魏" panose="02010800040101010101" pitchFamily="2" charset="-122"/>
              </a:rPr>
              <a:t>1</a:t>
            </a:r>
            <a:r>
              <a:rPr lang="zh-CN" altLang="en-US" sz="3000" noProof="1">
                <a:latin typeface="华文新魏" panose="02010800040101010101" pitchFamily="2" charset="-122"/>
                <a:ea typeface="华文新魏" panose="02010800040101010101" pitchFamily="2" charset="-122"/>
              </a:rPr>
              <a:t>）</a:t>
            </a:r>
            <a:r>
              <a:rPr lang="zh-CN" altLang="en-US" sz="3000" noProof="1"/>
              <a:t>至少有一个结点多于一个双亲结点；</a:t>
            </a:r>
          </a:p>
          <a:p>
            <a:pPr>
              <a:lnSpc>
                <a:spcPct val="170000"/>
              </a:lnSpc>
              <a:spcBef>
                <a:spcPct val="10000"/>
              </a:spcBef>
              <a:buClrTx/>
              <a:buSzTx/>
              <a:buFontTx/>
              <a:buNone/>
            </a:pPr>
            <a:r>
              <a:rPr lang="zh-CN" altLang="en-US" sz="3000" noProof="1">
                <a:latin typeface="华文新魏" panose="02010800040101010101" pitchFamily="2" charset="-122"/>
                <a:ea typeface="华文新魏" panose="02010800040101010101" pitchFamily="2" charset="-122"/>
              </a:rPr>
              <a:t>       （</a:t>
            </a:r>
            <a:r>
              <a:rPr lang="en-US" altLang="zh-CN" sz="3000" noProof="1">
                <a:latin typeface="华文新魏" panose="02010800040101010101" pitchFamily="2" charset="-122"/>
                <a:ea typeface="华文新魏" panose="02010800040101010101" pitchFamily="2" charset="-122"/>
              </a:rPr>
              <a:t>2</a:t>
            </a:r>
            <a:r>
              <a:rPr lang="zh-CN" altLang="en-US" sz="3000" noProof="1">
                <a:latin typeface="华文新魏" panose="02010800040101010101" pitchFamily="2" charset="-122"/>
                <a:ea typeface="华文新魏" panose="02010800040101010101" pitchFamily="2" charset="-122"/>
              </a:rPr>
              <a:t>）</a:t>
            </a:r>
            <a:r>
              <a:rPr lang="zh-CN" altLang="en-US" sz="3000" noProof="1"/>
              <a:t>至少有一个结点无双亲结点</a:t>
            </a:r>
            <a:r>
              <a:rPr lang="zh-CN" altLang="en-US" sz="3000" noProof="1">
                <a:latin typeface="华文新魏" panose="02010800040101010101" pitchFamily="2" charset="-122"/>
                <a:ea typeface="华文新魏" panose="02010800040101010101" pitchFamily="2" charset="-122"/>
              </a:rPr>
              <a:t>。</a:t>
            </a:r>
            <a:endParaRPr lang="en-US" altLang="zh-CN" sz="3000" noProof="1">
              <a:latin typeface="华文新魏" panose="02010800040101010101" pitchFamily="2" charset="-122"/>
              <a:ea typeface="华文新魏" panose="020108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31208"/>
    </mc:Choice>
    <mc:Fallback xmlns="">
      <p:transition spd="slow" advTm="31208"/>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03845">
                                            <p:txEl>
                                              <p:pRg st="0" end="0"/>
                                            </p:txEl>
                                          </p:spTgt>
                                        </p:tgtEl>
                                        <p:attrNameLst>
                                          <p:attrName>style.visibility</p:attrName>
                                        </p:attrNameLst>
                                      </p:cBhvr>
                                      <p:to>
                                        <p:strVal val="visible"/>
                                      </p:to>
                                    </p:set>
                                    <p:animEffect transition="in" filter="wipe(left)">
                                      <p:cBhvr>
                                        <p:cTn id="7" dur="2000"/>
                                        <p:tgtEl>
                                          <p:spTgt spid="803845">
                                            <p:txEl>
                                              <p:pRg st="0" end="0"/>
                                            </p:txEl>
                                          </p:spTgt>
                                        </p:tgtEl>
                                      </p:cBhvr>
                                    </p:animEffect>
                                  </p:childTnLst>
                                </p:cTn>
                              </p:par>
                            </p:childTnLst>
                          </p:cTn>
                        </p:par>
                        <p:par>
                          <p:cTn id="8" fill="hold" nodeType="afterGroup">
                            <p:stCondLst>
                              <p:cond delay="2000"/>
                            </p:stCondLst>
                            <p:childTnLst>
                              <p:par>
                                <p:cTn id="9" presetID="22" presetClass="entr" presetSubtype="8" fill="hold" nodeType="afterEffect">
                                  <p:stCondLst>
                                    <p:cond delay="0"/>
                                  </p:stCondLst>
                                  <p:childTnLst>
                                    <p:set>
                                      <p:cBhvr>
                                        <p:cTn id="10" dur="1" fill="hold">
                                          <p:stCondLst>
                                            <p:cond delay="0"/>
                                          </p:stCondLst>
                                        </p:cTn>
                                        <p:tgtEl>
                                          <p:spTgt spid="803845">
                                            <p:txEl>
                                              <p:pRg st="1" end="1"/>
                                            </p:txEl>
                                          </p:spTgt>
                                        </p:tgtEl>
                                        <p:attrNameLst>
                                          <p:attrName>style.visibility</p:attrName>
                                        </p:attrNameLst>
                                      </p:cBhvr>
                                      <p:to>
                                        <p:strVal val="visible"/>
                                      </p:to>
                                    </p:set>
                                    <p:animEffect transition="in" filter="wipe(left)">
                                      <p:cBhvr>
                                        <p:cTn id="11" dur="3000"/>
                                        <p:tgtEl>
                                          <p:spTgt spid="803845">
                                            <p:txEl>
                                              <p:pRg st="1" end="1"/>
                                            </p:txEl>
                                          </p:spTgt>
                                        </p:tgtEl>
                                      </p:cBhvr>
                                    </p:animEffect>
                                  </p:childTnLst>
                                </p:cTn>
                              </p:par>
                            </p:childTnLst>
                          </p:cTn>
                        </p:par>
                        <p:par>
                          <p:cTn id="12" fill="hold" nodeType="afterGroup">
                            <p:stCondLst>
                              <p:cond delay="5000"/>
                            </p:stCondLst>
                            <p:childTnLst>
                              <p:par>
                                <p:cTn id="13" presetID="22" presetClass="entr" presetSubtype="8" fill="hold" nodeType="afterEffect">
                                  <p:stCondLst>
                                    <p:cond delay="0"/>
                                  </p:stCondLst>
                                  <p:childTnLst>
                                    <p:set>
                                      <p:cBhvr>
                                        <p:cTn id="14" dur="1" fill="hold">
                                          <p:stCondLst>
                                            <p:cond delay="0"/>
                                          </p:stCondLst>
                                        </p:cTn>
                                        <p:tgtEl>
                                          <p:spTgt spid="803845">
                                            <p:txEl>
                                              <p:pRg st="2" end="2"/>
                                            </p:txEl>
                                          </p:spTgt>
                                        </p:tgtEl>
                                        <p:attrNameLst>
                                          <p:attrName>style.visibility</p:attrName>
                                        </p:attrNameLst>
                                      </p:cBhvr>
                                      <p:to>
                                        <p:strVal val="visible"/>
                                      </p:to>
                                    </p:set>
                                    <p:animEffect transition="in" filter="wipe(left)">
                                      <p:cBhvr>
                                        <p:cTn id="15" dur="5000"/>
                                        <p:tgtEl>
                                          <p:spTgt spid="80384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3845"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73" name="组合 804867">
            <a:extLst>
              <a:ext uri="{FF2B5EF4-FFF2-40B4-BE49-F238E27FC236}">
                <a16:creationId xmlns:a16="http://schemas.microsoft.com/office/drawing/2014/main" id="{EC1D5E6C-FCFE-401A-BA4F-0451598A4C37}"/>
              </a:ext>
            </a:extLst>
          </p:cNvPr>
          <p:cNvGrpSpPr>
            <a:grpSpLocks/>
          </p:cNvGrpSpPr>
          <p:nvPr/>
        </p:nvGrpSpPr>
        <p:grpSpPr bwMode="auto">
          <a:xfrm>
            <a:off x="1219200" y="1779588"/>
            <a:ext cx="7086600" cy="3810000"/>
            <a:chOff x="768" y="960"/>
            <a:chExt cx="4464" cy="2400"/>
          </a:xfrm>
        </p:grpSpPr>
        <p:sp>
          <p:nvSpPr>
            <p:cNvPr id="28674" name="矩形 804868">
              <a:extLst>
                <a:ext uri="{FF2B5EF4-FFF2-40B4-BE49-F238E27FC236}">
                  <a16:creationId xmlns:a16="http://schemas.microsoft.com/office/drawing/2014/main" id="{FAE3B52B-BB76-4126-8395-0AFDC6D7F282}"/>
                </a:ext>
              </a:extLst>
            </p:cNvPr>
            <p:cNvSpPr>
              <a:spLocks noChangeArrowheads="1"/>
            </p:cNvSpPr>
            <p:nvPr/>
          </p:nvSpPr>
          <p:spPr bwMode="auto">
            <a:xfrm>
              <a:off x="768" y="960"/>
              <a:ext cx="480" cy="240"/>
            </a:xfrm>
            <a:prstGeom prst="rect">
              <a:avLst/>
            </a:prstGeom>
            <a:solidFill>
              <a:srgbClr val="CCFF99"/>
            </a:solidFill>
            <a:ln w="19050">
              <a:solidFill>
                <a:schemeClr val="tx1"/>
              </a:solidFill>
              <a:miter lim="800000"/>
              <a:headEnd/>
              <a:tailEnd/>
            </a:ln>
          </p:spPr>
          <p:txBody>
            <a:bodyPr wrap="none" anchor="ctr"/>
            <a:lstStyle/>
            <a:p>
              <a:pPr algn="ctr"/>
              <a:r>
                <a:rPr lang="en-US" altLang="zh-CN" sz="2400" b="1">
                  <a:ea typeface="宋体" panose="02010600030101010101" pitchFamily="2" charset="-122"/>
                </a:rPr>
                <a:t>A</a:t>
              </a:r>
            </a:p>
          </p:txBody>
        </p:sp>
        <p:sp>
          <p:nvSpPr>
            <p:cNvPr id="28675" name="矩形 804869">
              <a:extLst>
                <a:ext uri="{FF2B5EF4-FFF2-40B4-BE49-F238E27FC236}">
                  <a16:creationId xmlns:a16="http://schemas.microsoft.com/office/drawing/2014/main" id="{259D1600-678C-44E0-821B-731381584441}"/>
                </a:ext>
              </a:extLst>
            </p:cNvPr>
            <p:cNvSpPr>
              <a:spLocks noChangeArrowheads="1"/>
            </p:cNvSpPr>
            <p:nvPr/>
          </p:nvSpPr>
          <p:spPr bwMode="auto">
            <a:xfrm>
              <a:off x="1488" y="2400"/>
              <a:ext cx="480" cy="240"/>
            </a:xfrm>
            <a:prstGeom prst="rect">
              <a:avLst/>
            </a:prstGeom>
            <a:solidFill>
              <a:srgbClr val="CCFF99"/>
            </a:solidFill>
            <a:ln w="19050">
              <a:solidFill>
                <a:schemeClr val="tx1"/>
              </a:solidFill>
              <a:miter lim="800000"/>
              <a:headEnd/>
              <a:tailEnd/>
            </a:ln>
          </p:spPr>
          <p:txBody>
            <a:bodyPr wrap="none" anchor="ctr"/>
            <a:lstStyle/>
            <a:p>
              <a:pPr algn="ctr"/>
              <a:r>
                <a:rPr lang="en-US" altLang="zh-CN" sz="2400" b="1">
                  <a:ea typeface="宋体" panose="02010600030101010101" pitchFamily="2" charset="-122"/>
                </a:rPr>
                <a:t>D</a:t>
              </a:r>
            </a:p>
          </p:txBody>
        </p:sp>
        <p:sp>
          <p:nvSpPr>
            <p:cNvPr id="28676" name="矩形 804870">
              <a:extLst>
                <a:ext uri="{FF2B5EF4-FFF2-40B4-BE49-F238E27FC236}">
                  <a16:creationId xmlns:a16="http://schemas.microsoft.com/office/drawing/2014/main" id="{F198E1EB-9D5D-4AA6-8756-75430526DB6D}"/>
                </a:ext>
              </a:extLst>
            </p:cNvPr>
            <p:cNvSpPr>
              <a:spLocks noChangeArrowheads="1"/>
            </p:cNvSpPr>
            <p:nvPr/>
          </p:nvSpPr>
          <p:spPr bwMode="auto">
            <a:xfrm>
              <a:off x="1536" y="960"/>
              <a:ext cx="480" cy="240"/>
            </a:xfrm>
            <a:prstGeom prst="rect">
              <a:avLst/>
            </a:prstGeom>
            <a:solidFill>
              <a:srgbClr val="CCFF99"/>
            </a:solidFill>
            <a:ln w="19050">
              <a:solidFill>
                <a:schemeClr val="tx1"/>
              </a:solidFill>
              <a:miter lim="800000"/>
              <a:headEnd/>
              <a:tailEnd/>
            </a:ln>
          </p:spPr>
          <p:txBody>
            <a:bodyPr wrap="none" anchor="ctr"/>
            <a:lstStyle/>
            <a:p>
              <a:pPr algn="ctr"/>
              <a:r>
                <a:rPr lang="en-US" altLang="zh-CN" sz="2400" b="1">
                  <a:ea typeface="宋体" panose="02010600030101010101" pitchFamily="2" charset="-122"/>
                </a:rPr>
                <a:t>B</a:t>
              </a:r>
            </a:p>
          </p:txBody>
        </p:sp>
        <p:sp>
          <p:nvSpPr>
            <p:cNvPr id="28677" name="矩形 804871">
              <a:extLst>
                <a:ext uri="{FF2B5EF4-FFF2-40B4-BE49-F238E27FC236}">
                  <a16:creationId xmlns:a16="http://schemas.microsoft.com/office/drawing/2014/main" id="{F90863B4-75DE-42CC-BDDA-C9158F361C3E}"/>
                </a:ext>
              </a:extLst>
            </p:cNvPr>
            <p:cNvSpPr>
              <a:spLocks noChangeArrowheads="1"/>
            </p:cNvSpPr>
            <p:nvPr/>
          </p:nvSpPr>
          <p:spPr bwMode="auto">
            <a:xfrm>
              <a:off x="768" y="1680"/>
              <a:ext cx="480" cy="240"/>
            </a:xfrm>
            <a:prstGeom prst="rect">
              <a:avLst/>
            </a:prstGeom>
            <a:solidFill>
              <a:srgbClr val="CCFF99"/>
            </a:solidFill>
            <a:ln w="19050">
              <a:solidFill>
                <a:schemeClr val="tx1"/>
              </a:solidFill>
              <a:miter lim="800000"/>
              <a:headEnd/>
              <a:tailEnd/>
            </a:ln>
          </p:spPr>
          <p:txBody>
            <a:bodyPr wrap="none" anchor="ctr"/>
            <a:lstStyle/>
            <a:p>
              <a:pPr algn="ctr"/>
              <a:r>
                <a:rPr lang="en-US" altLang="zh-CN" sz="2400" b="1">
                  <a:ea typeface="宋体" panose="02010600030101010101" pitchFamily="2" charset="-122"/>
                </a:rPr>
                <a:t>C</a:t>
              </a:r>
            </a:p>
          </p:txBody>
        </p:sp>
        <p:sp>
          <p:nvSpPr>
            <p:cNvPr id="28678" name="矩形 804872">
              <a:extLst>
                <a:ext uri="{FF2B5EF4-FFF2-40B4-BE49-F238E27FC236}">
                  <a16:creationId xmlns:a16="http://schemas.microsoft.com/office/drawing/2014/main" id="{658A176B-1B32-4914-8F58-ED87D5D5AAA0}"/>
                </a:ext>
              </a:extLst>
            </p:cNvPr>
            <p:cNvSpPr>
              <a:spLocks noChangeArrowheads="1"/>
            </p:cNvSpPr>
            <p:nvPr/>
          </p:nvSpPr>
          <p:spPr bwMode="auto">
            <a:xfrm>
              <a:off x="3888" y="960"/>
              <a:ext cx="480" cy="240"/>
            </a:xfrm>
            <a:prstGeom prst="rect">
              <a:avLst/>
            </a:prstGeom>
            <a:solidFill>
              <a:srgbClr val="CCFF99"/>
            </a:solidFill>
            <a:ln w="19050">
              <a:solidFill>
                <a:schemeClr val="tx1"/>
              </a:solidFill>
              <a:miter lim="800000"/>
              <a:headEnd/>
              <a:tailEnd/>
            </a:ln>
          </p:spPr>
          <p:txBody>
            <a:bodyPr wrap="none" anchor="ctr"/>
            <a:lstStyle/>
            <a:p>
              <a:pPr algn="ctr"/>
              <a:r>
                <a:rPr lang="en-US" altLang="zh-CN" sz="2400" b="1">
                  <a:ea typeface="宋体" panose="02010600030101010101" pitchFamily="2" charset="-122"/>
                </a:rPr>
                <a:t>H</a:t>
              </a:r>
            </a:p>
          </p:txBody>
        </p:sp>
        <p:sp>
          <p:nvSpPr>
            <p:cNvPr id="28679" name="矩形 804873">
              <a:extLst>
                <a:ext uri="{FF2B5EF4-FFF2-40B4-BE49-F238E27FC236}">
                  <a16:creationId xmlns:a16="http://schemas.microsoft.com/office/drawing/2014/main" id="{DC07915C-6CF1-4AAF-9A88-700EC451A747}"/>
                </a:ext>
              </a:extLst>
            </p:cNvPr>
            <p:cNvSpPr>
              <a:spLocks noChangeArrowheads="1"/>
            </p:cNvSpPr>
            <p:nvPr/>
          </p:nvSpPr>
          <p:spPr bwMode="auto">
            <a:xfrm>
              <a:off x="4320" y="2400"/>
              <a:ext cx="480" cy="240"/>
            </a:xfrm>
            <a:prstGeom prst="rect">
              <a:avLst/>
            </a:prstGeom>
            <a:solidFill>
              <a:srgbClr val="CCFF99"/>
            </a:solidFill>
            <a:ln w="19050">
              <a:solidFill>
                <a:schemeClr val="tx1"/>
              </a:solidFill>
              <a:miter lim="800000"/>
              <a:headEnd/>
              <a:tailEnd/>
            </a:ln>
          </p:spPr>
          <p:txBody>
            <a:bodyPr wrap="none" anchor="ctr"/>
            <a:lstStyle/>
            <a:p>
              <a:pPr algn="ctr"/>
              <a:r>
                <a:rPr lang="en-US" altLang="zh-CN" sz="2400" b="1">
                  <a:ea typeface="宋体" panose="02010600030101010101" pitchFamily="2" charset="-122"/>
                </a:rPr>
                <a:t>K</a:t>
              </a:r>
            </a:p>
          </p:txBody>
        </p:sp>
        <p:sp>
          <p:nvSpPr>
            <p:cNvPr id="28680" name="矩形 804874">
              <a:extLst>
                <a:ext uri="{FF2B5EF4-FFF2-40B4-BE49-F238E27FC236}">
                  <a16:creationId xmlns:a16="http://schemas.microsoft.com/office/drawing/2014/main" id="{5C7AF80E-B4D9-4E89-A1F2-D1374EE81167}"/>
                </a:ext>
              </a:extLst>
            </p:cNvPr>
            <p:cNvSpPr>
              <a:spLocks noChangeArrowheads="1"/>
            </p:cNvSpPr>
            <p:nvPr/>
          </p:nvSpPr>
          <p:spPr bwMode="auto">
            <a:xfrm>
              <a:off x="4752" y="960"/>
              <a:ext cx="480" cy="240"/>
            </a:xfrm>
            <a:prstGeom prst="rect">
              <a:avLst/>
            </a:prstGeom>
            <a:solidFill>
              <a:srgbClr val="CCFF99"/>
            </a:solidFill>
            <a:ln w="19050">
              <a:solidFill>
                <a:schemeClr val="tx1"/>
              </a:solidFill>
              <a:miter lim="800000"/>
              <a:headEnd/>
              <a:tailEnd/>
            </a:ln>
          </p:spPr>
          <p:txBody>
            <a:bodyPr wrap="none" anchor="ctr"/>
            <a:lstStyle/>
            <a:p>
              <a:pPr algn="ctr"/>
              <a:r>
                <a:rPr lang="en-US" altLang="zh-CN" sz="2400" b="1">
                  <a:ea typeface="宋体" panose="02010600030101010101" pitchFamily="2" charset="-122"/>
                </a:rPr>
                <a:t>J</a:t>
              </a:r>
            </a:p>
          </p:txBody>
        </p:sp>
        <p:cxnSp>
          <p:nvCxnSpPr>
            <p:cNvPr id="28681" name="直接箭头连接符 804875">
              <a:extLst>
                <a:ext uri="{FF2B5EF4-FFF2-40B4-BE49-F238E27FC236}">
                  <a16:creationId xmlns:a16="http://schemas.microsoft.com/office/drawing/2014/main" id="{2043F344-7D61-45AD-AD52-DD08FB72848C}"/>
                </a:ext>
              </a:extLst>
            </p:cNvPr>
            <p:cNvCxnSpPr>
              <a:cxnSpLocks noChangeShapeType="1"/>
              <a:stCxn id="28674" idx="2"/>
              <a:endCxn id="28677" idx="0"/>
            </p:cNvCxnSpPr>
            <p:nvPr/>
          </p:nvCxnSpPr>
          <p:spPr bwMode="auto">
            <a:xfrm>
              <a:off x="1008" y="1206"/>
              <a:ext cx="0" cy="468"/>
            </a:xfrm>
            <a:prstGeom prst="straightConnector1">
              <a:avLst/>
            </a:prstGeom>
            <a:noFill/>
            <a:ln w="19050">
              <a:solidFill>
                <a:schemeClr val="tx1"/>
              </a:solidFill>
              <a:round/>
              <a:headEnd/>
              <a:tailEnd type="triangle" w="sm" len="lg"/>
            </a:ln>
            <a:extLst>
              <a:ext uri="{909E8E84-426E-40DD-AFC4-6F175D3DCCD1}">
                <a14:hiddenFill xmlns:a14="http://schemas.microsoft.com/office/drawing/2010/main">
                  <a:noFill/>
                </a14:hiddenFill>
              </a:ext>
            </a:extLst>
          </p:spPr>
        </p:cxnSp>
        <p:cxnSp>
          <p:nvCxnSpPr>
            <p:cNvPr id="28682" name="肘形连接符 804876">
              <a:extLst>
                <a:ext uri="{FF2B5EF4-FFF2-40B4-BE49-F238E27FC236}">
                  <a16:creationId xmlns:a16="http://schemas.microsoft.com/office/drawing/2014/main" id="{D78D671E-C35A-4B7C-B0CC-9E598CC01F34}"/>
                </a:ext>
              </a:extLst>
            </p:cNvPr>
            <p:cNvCxnSpPr>
              <a:cxnSpLocks noChangeShapeType="1"/>
              <a:stCxn id="28676" idx="2"/>
              <a:endCxn id="28677" idx="3"/>
            </p:cNvCxnSpPr>
            <p:nvPr/>
          </p:nvCxnSpPr>
          <p:spPr bwMode="auto">
            <a:xfrm rot="5400000">
              <a:off x="1218" y="1242"/>
              <a:ext cx="594" cy="522"/>
            </a:xfrm>
            <a:prstGeom prst="bentConnector2">
              <a:avLst/>
            </a:prstGeom>
            <a:noFill/>
            <a:ln w="19050">
              <a:solidFill>
                <a:schemeClr val="tx1"/>
              </a:solidFill>
              <a:miter lim="800000"/>
              <a:headEnd/>
              <a:tailEnd type="triangle" w="sm" len="lg"/>
            </a:ln>
            <a:extLst>
              <a:ext uri="{909E8E84-426E-40DD-AFC4-6F175D3DCCD1}">
                <a14:hiddenFill xmlns:a14="http://schemas.microsoft.com/office/drawing/2010/main">
                  <a:noFill/>
                </a14:hiddenFill>
              </a:ext>
            </a:extLst>
          </p:spPr>
        </p:cxnSp>
        <p:sp>
          <p:nvSpPr>
            <p:cNvPr id="28683" name="直接连接符 804877">
              <a:extLst>
                <a:ext uri="{FF2B5EF4-FFF2-40B4-BE49-F238E27FC236}">
                  <a16:creationId xmlns:a16="http://schemas.microsoft.com/office/drawing/2014/main" id="{BD5E2E83-4844-4A84-97FD-8136A368A001}"/>
                </a:ext>
              </a:extLst>
            </p:cNvPr>
            <p:cNvSpPr>
              <a:spLocks noChangeShapeType="1"/>
            </p:cNvSpPr>
            <p:nvPr/>
          </p:nvSpPr>
          <p:spPr bwMode="auto">
            <a:xfrm>
              <a:off x="1920" y="1200"/>
              <a:ext cx="0" cy="1200"/>
            </a:xfrm>
            <a:prstGeom prst="line">
              <a:avLst/>
            </a:prstGeom>
            <a:noFill/>
            <a:ln w="19050">
              <a:solidFill>
                <a:schemeClr val="tx1"/>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cxnSp>
          <p:nvCxnSpPr>
            <p:cNvPr id="28684" name="肘形连接符 804878">
              <a:extLst>
                <a:ext uri="{FF2B5EF4-FFF2-40B4-BE49-F238E27FC236}">
                  <a16:creationId xmlns:a16="http://schemas.microsoft.com/office/drawing/2014/main" id="{43865B7B-3572-40BC-9E4A-A3FA27E82AD0}"/>
                </a:ext>
              </a:extLst>
            </p:cNvPr>
            <p:cNvCxnSpPr>
              <a:cxnSpLocks noChangeShapeType="1"/>
              <a:stCxn id="28678" idx="2"/>
              <a:endCxn id="28679" idx="1"/>
            </p:cNvCxnSpPr>
            <p:nvPr/>
          </p:nvCxnSpPr>
          <p:spPr bwMode="auto">
            <a:xfrm rot="16200000" flipH="1">
              <a:off x="3564" y="1770"/>
              <a:ext cx="1314" cy="186"/>
            </a:xfrm>
            <a:prstGeom prst="bentConnector2">
              <a:avLst/>
            </a:prstGeom>
            <a:noFill/>
            <a:ln w="19050">
              <a:solidFill>
                <a:schemeClr val="tx1"/>
              </a:solidFill>
              <a:miter lim="800000"/>
              <a:headEnd/>
              <a:tailEnd type="triangle" w="sm" len="lg"/>
            </a:ln>
            <a:extLst>
              <a:ext uri="{909E8E84-426E-40DD-AFC4-6F175D3DCCD1}">
                <a14:hiddenFill xmlns:a14="http://schemas.microsoft.com/office/drawing/2010/main">
                  <a:noFill/>
                </a14:hiddenFill>
              </a:ext>
            </a:extLst>
          </p:spPr>
        </p:cxnSp>
        <p:cxnSp>
          <p:nvCxnSpPr>
            <p:cNvPr id="28685" name="肘形连接符 804879">
              <a:extLst>
                <a:ext uri="{FF2B5EF4-FFF2-40B4-BE49-F238E27FC236}">
                  <a16:creationId xmlns:a16="http://schemas.microsoft.com/office/drawing/2014/main" id="{F04A21A0-8F3A-4BDF-A578-4EBA5313A430}"/>
                </a:ext>
              </a:extLst>
            </p:cNvPr>
            <p:cNvCxnSpPr>
              <a:cxnSpLocks noChangeShapeType="1"/>
              <a:stCxn id="28680" idx="2"/>
              <a:endCxn id="28679" idx="3"/>
            </p:cNvCxnSpPr>
            <p:nvPr/>
          </p:nvCxnSpPr>
          <p:spPr bwMode="auto">
            <a:xfrm rot="5400000">
              <a:off x="4242" y="1770"/>
              <a:ext cx="1314" cy="186"/>
            </a:xfrm>
            <a:prstGeom prst="bentConnector2">
              <a:avLst/>
            </a:prstGeom>
            <a:noFill/>
            <a:ln w="19050">
              <a:solidFill>
                <a:schemeClr val="tx1"/>
              </a:solidFill>
              <a:miter lim="800000"/>
              <a:headEnd/>
              <a:tailEnd type="triangle" w="sm" len="lg"/>
            </a:ln>
            <a:extLst>
              <a:ext uri="{909E8E84-426E-40DD-AFC4-6F175D3DCCD1}">
                <a14:hiddenFill xmlns:a14="http://schemas.microsoft.com/office/drawing/2010/main">
                  <a:noFill/>
                </a14:hiddenFill>
              </a:ext>
            </a:extLst>
          </p:spPr>
        </p:cxnSp>
        <p:sp>
          <p:nvSpPr>
            <p:cNvPr id="28686" name="文本框 804880">
              <a:extLst>
                <a:ext uri="{FF2B5EF4-FFF2-40B4-BE49-F238E27FC236}">
                  <a16:creationId xmlns:a16="http://schemas.microsoft.com/office/drawing/2014/main" id="{91A47CD1-A2B9-4523-ACD1-DDAE978BA5FC}"/>
                </a:ext>
              </a:extLst>
            </p:cNvPr>
            <p:cNvSpPr txBox="1">
              <a:spLocks noChangeArrowheads="1"/>
            </p:cNvSpPr>
            <p:nvPr/>
          </p:nvSpPr>
          <p:spPr bwMode="auto">
            <a:xfrm>
              <a:off x="1776" y="3072"/>
              <a:ext cx="24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p>
              <a:pPr>
                <a:spcBef>
                  <a:spcPct val="50000"/>
                </a:spcBef>
              </a:pPr>
              <a:r>
                <a:rPr lang="zh-CN" altLang="en-US" sz="2400" b="1">
                  <a:ea typeface="宋体" panose="02010600030101010101" pitchFamily="2" charset="-122"/>
                </a:rPr>
                <a:t>图</a:t>
              </a:r>
              <a:r>
                <a:rPr lang="en-US" altLang="zh-CN" sz="2400" b="1">
                  <a:ea typeface="宋体" panose="02010600030101010101" pitchFamily="2" charset="-122"/>
                </a:rPr>
                <a:t>1.4       </a:t>
              </a:r>
              <a:r>
                <a:rPr lang="zh-CN" altLang="en-US" sz="2400" b="1">
                  <a:ea typeface="宋体" panose="02010600030101010101" pitchFamily="2" charset="-122"/>
                </a:rPr>
                <a:t>网状模型结构</a:t>
              </a:r>
            </a:p>
          </p:txBody>
        </p:sp>
        <p:grpSp>
          <p:nvGrpSpPr>
            <p:cNvPr id="28687" name="组合 804881">
              <a:extLst>
                <a:ext uri="{FF2B5EF4-FFF2-40B4-BE49-F238E27FC236}">
                  <a16:creationId xmlns:a16="http://schemas.microsoft.com/office/drawing/2014/main" id="{75144AEB-DBDE-4624-B478-FD7CCE7B0D72}"/>
                </a:ext>
              </a:extLst>
            </p:cNvPr>
            <p:cNvGrpSpPr>
              <a:grpSpLocks/>
            </p:cNvGrpSpPr>
            <p:nvPr/>
          </p:nvGrpSpPr>
          <p:grpSpPr bwMode="auto">
            <a:xfrm>
              <a:off x="2736" y="960"/>
              <a:ext cx="720" cy="1680"/>
              <a:chOff x="2736" y="960"/>
              <a:chExt cx="720" cy="1680"/>
            </a:xfrm>
          </p:grpSpPr>
          <p:sp>
            <p:nvSpPr>
              <p:cNvPr id="28688" name="矩形 804882">
                <a:extLst>
                  <a:ext uri="{FF2B5EF4-FFF2-40B4-BE49-F238E27FC236}">
                    <a16:creationId xmlns:a16="http://schemas.microsoft.com/office/drawing/2014/main" id="{422A91B2-C950-4342-BF8D-93286517D77D}"/>
                  </a:ext>
                </a:extLst>
              </p:cNvPr>
              <p:cNvSpPr>
                <a:spLocks noChangeArrowheads="1"/>
              </p:cNvSpPr>
              <p:nvPr/>
            </p:nvSpPr>
            <p:spPr bwMode="auto">
              <a:xfrm>
                <a:off x="2736" y="2400"/>
                <a:ext cx="480" cy="240"/>
              </a:xfrm>
              <a:prstGeom prst="rect">
                <a:avLst/>
              </a:prstGeom>
              <a:solidFill>
                <a:srgbClr val="CCFF99"/>
              </a:solidFill>
              <a:ln w="19050">
                <a:solidFill>
                  <a:schemeClr val="tx1"/>
                </a:solidFill>
                <a:miter lim="800000"/>
                <a:headEnd/>
                <a:tailEnd/>
              </a:ln>
            </p:spPr>
            <p:txBody>
              <a:bodyPr wrap="none" anchor="ctr"/>
              <a:lstStyle/>
              <a:p>
                <a:pPr algn="ctr"/>
                <a:r>
                  <a:rPr lang="en-US" altLang="zh-CN" sz="2400" b="1">
                    <a:ea typeface="宋体" panose="02010600030101010101" pitchFamily="2" charset="-122"/>
                  </a:rPr>
                  <a:t>G</a:t>
                </a:r>
              </a:p>
            </p:txBody>
          </p:sp>
          <p:sp>
            <p:nvSpPr>
              <p:cNvPr id="28689" name="矩形 804883">
                <a:extLst>
                  <a:ext uri="{FF2B5EF4-FFF2-40B4-BE49-F238E27FC236}">
                    <a16:creationId xmlns:a16="http://schemas.microsoft.com/office/drawing/2014/main" id="{B4A7ABB7-8918-4C64-8B12-B136F5953CA8}"/>
                  </a:ext>
                </a:extLst>
              </p:cNvPr>
              <p:cNvSpPr>
                <a:spLocks noChangeArrowheads="1"/>
              </p:cNvSpPr>
              <p:nvPr/>
            </p:nvSpPr>
            <p:spPr bwMode="auto">
              <a:xfrm>
                <a:off x="2736" y="1680"/>
                <a:ext cx="480" cy="240"/>
              </a:xfrm>
              <a:prstGeom prst="rect">
                <a:avLst/>
              </a:prstGeom>
              <a:solidFill>
                <a:srgbClr val="CCFF99"/>
              </a:solidFill>
              <a:ln w="19050">
                <a:solidFill>
                  <a:schemeClr val="tx1"/>
                </a:solidFill>
                <a:miter lim="800000"/>
                <a:headEnd/>
                <a:tailEnd/>
              </a:ln>
            </p:spPr>
            <p:txBody>
              <a:bodyPr wrap="none" anchor="ctr"/>
              <a:lstStyle/>
              <a:p>
                <a:pPr algn="ctr"/>
                <a:r>
                  <a:rPr lang="en-US" altLang="zh-CN" sz="2400" b="1">
                    <a:ea typeface="宋体" panose="02010600030101010101" pitchFamily="2" charset="-122"/>
                  </a:rPr>
                  <a:t>F</a:t>
                </a:r>
              </a:p>
            </p:txBody>
          </p:sp>
          <p:sp>
            <p:nvSpPr>
              <p:cNvPr id="28690" name="矩形 804884">
                <a:extLst>
                  <a:ext uri="{FF2B5EF4-FFF2-40B4-BE49-F238E27FC236}">
                    <a16:creationId xmlns:a16="http://schemas.microsoft.com/office/drawing/2014/main" id="{6E0BA396-F013-4F6B-B2B3-E479E348A685}"/>
                  </a:ext>
                </a:extLst>
              </p:cNvPr>
              <p:cNvSpPr>
                <a:spLocks noChangeArrowheads="1"/>
              </p:cNvSpPr>
              <p:nvPr/>
            </p:nvSpPr>
            <p:spPr bwMode="auto">
              <a:xfrm>
                <a:off x="2736" y="960"/>
                <a:ext cx="480" cy="240"/>
              </a:xfrm>
              <a:prstGeom prst="rect">
                <a:avLst/>
              </a:prstGeom>
              <a:solidFill>
                <a:srgbClr val="CCFF99"/>
              </a:solidFill>
              <a:ln w="19050">
                <a:solidFill>
                  <a:schemeClr val="tx1"/>
                </a:solidFill>
                <a:miter lim="800000"/>
                <a:headEnd/>
                <a:tailEnd/>
              </a:ln>
            </p:spPr>
            <p:txBody>
              <a:bodyPr wrap="none" anchor="ctr"/>
              <a:lstStyle/>
              <a:p>
                <a:pPr algn="ctr"/>
                <a:r>
                  <a:rPr lang="en-US" altLang="zh-CN" sz="2400" b="1">
                    <a:ea typeface="宋体" panose="02010600030101010101" pitchFamily="2" charset="-122"/>
                  </a:rPr>
                  <a:t>E</a:t>
                </a:r>
              </a:p>
            </p:txBody>
          </p:sp>
          <p:cxnSp>
            <p:nvCxnSpPr>
              <p:cNvPr id="28691" name="直接箭头连接符 804885">
                <a:extLst>
                  <a:ext uri="{FF2B5EF4-FFF2-40B4-BE49-F238E27FC236}">
                    <a16:creationId xmlns:a16="http://schemas.microsoft.com/office/drawing/2014/main" id="{CA768FD5-FE51-4A2F-B510-4CD946D93CCD}"/>
                  </a:ext>
                </a:extLst>
              </p:cNvPr>
              <p:cNvCxnSpPr>
                <a:cxnSpLocks noChangeShapeType="1"/>
                <a:stCxn id="28690" idx="2"/>
                <a:endCxn id="28689" idx="0"/>
              </p:cNvCxnSpPr>
              <p:nvPr/>
            </p:nvCxnSpPr>
            <p:spPr bwMode="auto">
              <a:xfrm>
                <a:off x="2976" y="1206"/>
                <a:ext cx="0" cy="468"/>
              </a:xfrm>
              <a:prstGeom prst="straightConnector1">
                <a:avLst/>
              </a:prstGeom>
              <a:noFill/>
              <a:ln w="19050">
                <a:solidFill>
                  <a:schemeClr val="tx1"/>
                </a:solidFill>
                <a:round/>
                <a:headEnd/>
                <a:tailEnd type="triangle" w="sm" len="lg"/>
              </a:ln>
              <a:extLst>
                <a:ext uri="{909E8E84-426E-40DD-AFC4-6F175D3DCCD1}">
                  <a14:hiddenFill xmlns:a14="http://schemas.microsoft.com/office/drawing/2010/main">
                    <a:noFill/>
                  </a14:hiddenFill>
                </a:ext>
              </a:extLst>
            </p:spPr>
          </p:cxnSp>
          <p:cxnSp>
            <p:nvCxnSpPr>
              <p:cNvPr id="28692" name="直接箭头连接符 804886">
                <a:extLst>
                  <a:ext uri="{FF2B5EF4-FFF2-40B4-BE49-F238E27FC236}">
                    <a16:creationId xmlns:a16="http://schemas.microsoft.com/office/drawing/2014/main" id="{376E6E0F-F31D-4A7C-AB9A-6D85FD5FE5D1}"/>
                  </a:ext>
                </a:extLst>
              </p:cNvPr>
              <p:cNvCxnSpPr>
                <a:cxnSpLocks noChangeShapeType="1"/>
                <a:stCxn id="28689" idx="2"/>
                <a:endCxn id="28688" idx="0"/>
              </p:cNvCxnSpPr>
              <p:nvPr/>
            </p:nvCxnSpPr>
            <p:spPr bwMode="auto">
              <a:xfrm>
                <a:off x="2976" y="1926"/>
                <a:ext cx="0" cy="468"/>
              </a:xfrm>
              <a:prstGeom prst="straightConnector1">
                <a:avLst/>
              </a:prstGeom>
              <a:noFill/>
              <a:ln w="19050">
                <a:solidFill>
                  <a:schemeClr val="tx1"/>
                </a:solidFill>
                <a:round/>
                <a:headEnd/>
                <a:tailEnd type="triangle" w="sm" len="lg"/>
              </a:ln>
              <a:extLst>
                <a:ext uri="{909E8E84-426E-40DD-AFC4-6F175D3DCCD1}">
                  <a14:hiddenFill xmlns:a14="http://schemas.microsoft.com/office/drawing/2010/main">
                    <a:noFill/>
                  </a14:hiddenFill>
                </a:ext>
              </a:extLst>
            </p:spPr>
          </p:cxnSp>
          <p:sp>
            <p:nvSpPr>
              <p:cNvPr id="28693" name="直接连接符 804887">
                <a:extLst>
                  <a:ext uri="{FF2B5EF4-FFF2-40B4-BE49-F238E27FC236}">
                    <a16:creationId xmlns:a16="http://schemas.microsoft.com/office/drawing/2014/main" id="{8DFE5D78-EF80-42F1-A0F8-0DE57B36ECB9}"/>
                  </a:ext>
                </a:extLst>
              </p:cNvPr>
              <p:cNvSpPr>
                <a:spLocks noChangeShapeType="1"/>
              </p:cNvSpPr>
              <p:nvPr/>
            </p:nvSpPr>
            <p:spPr bwMode="auto">
              <a:xfrm>
                <a:off x="3216" y="1104"/>
                <a:ext cx="240" cy="0"/>
              </a:xfrm>
              <a:prstGeom prst="line">
                <a:avLst/>
              </a:prstGeom>
              <a:noFill/>
              <a:ln w="1905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28694" name="直接连接符 804888">
                <a:extLst>
                  <a:ext uri="{FF2B5EF4-FFF2-40B4-BE49-F238E27FC236}">
                    <a16:creationId xmlns:a16="http://schemas.microsoft.com/office/drawing/2014/main" id="{1AEF6385-3A72-478C-9176-12B9F0B2F3FA}"/>
                  </a:ext>
                </a:extLst>
              </p:cNvPr>
              <p:cNvSpPr>
                <a:spLocks noChangeShapeType="1"/>
              </p:cNvSpPr>
              <p:nvPr/>
            </p:nvSpPr>
            <p:spPr bwMode="auto">
              <a:xfrm>
                <a:off x="3456" y="1104"/>
                <a:ext cx="0" cy="1392"/>
              </a:xfrm>
              <a:prstGeom prst="line">
                <a:avLst/>
              </a:prstGeom>
              <a:noFill/>
              <a:ln w="1905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28695" name="直接连接符 804889">
                <a:extLst>
                  <a:ext uri="{FF2B5EF4-FFF2-40B4-BE49-F238E27FC236}">
                    <a16:creationId xmlns:a16="http://schemas.microsoft.com/office/drawing/2014/main" id="{079CABF6-A979-40E4-8E26-9FFB5161E35B}"/>
                  </a:ext>
                </a:extLst>
              </p:cNvPr>
              <p:cNvSpPr>
                <a:spLocks noChangeShapeType="1"/>
              </p:cNvSpPr>
              <p:nvPr/>
            </p:nvSpPr>
            <p:spPr bwMode="auto">
              <a:xfrm flipH="1">
                <a:off x="3216" y="2496"/>
                <a:ext cx="240" cy="0"/>
              </a:xfrm>
              <a:prstGeom prst="line">
                <a:avLst/>
              </a:prstGeom>
              <a:noFill/>
              <a:ln w="19050">
                <a:solidFill>
                  <a:schemeClr val="tx1"/>
                </a:solidFill>
                <a:round/>
                <a:headEnd type="none" w="sm" len="lg"/>
                <a:tailEnd type="arrow"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804891" name="矩形 804890">
            <a:extLst>
              <a:ext uri="{FF2B5EF4-FFF2-40B4-BE49-F238E27FC236}">
                <a16:creationId xmlns:a16="http://schemas.microsoft.com/office/drawing/2014/main" id="{5FF53C0E-A1B6-4638-A6FE-B0C2EF297F15}"/>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t>四、网状模型</a:t>
            </a:r>
          </a:p>
        </p:txBody>
      </p:sp>
    </p:spTree>
  </p:cSld>
  <p:clrMapOvr>
    <a:masterClrMapping/>
  </p:clrMapOvr>
  <mc:AlternateContent xmlns:mc="http://schemas.openxmlformats.org/markup-compatibility/2006" xmlns:p14="http://schemas.microsoft.com/office/powerpoint/2010/main">
    <mc:Choice Requires="p14">
      <p:transition spd="slow" p14:dur="2000" advTm="18014"/>
    </mc:Choice>
    <mc:Fallback xmlns="">
      <p:transition spd="slow" advTm="18014"/>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697" name="组合 740353">
            <a:extLst>
              <a:ext uri="{FF2B5EF4-FFF2-40B4-BE49-F238E27FC236}">
                <a16:creationId xmlns:a16="http://schemas.microsoft.com/office/drawing/2014/main" id="{1580E1D7-479C-4A70-B55B-17C6CE50A9CD}"/>
              </a:ext>
            </a:extLst>
          </p:cNvPr>
          <p:cNvGrpSpPr>
            <a:grpSpLocks/>
          </p:cNvGrpSpPr>
          <p:nvPr/>
        </p:nvGrpSpPr>
        <p:grpSpPr bwMode="auto">
          <a:xfrm>
            <a:off x="2484438" y="1916113"/>
            <a:ext cx="4392612" cy="3395662"/>
            <a:chOff x="1610" y="1216"/>
            <a:chExt cx="2400" cy="2139"/>
          </a:xfrm>
        </p:grpSpPr>
        <p:sp>
          <p:nvSpPr>
            <p:cNvPr id="740355" name="矩形 740354">
              <a:extLst>
                <a:ext uri="{FF2B5EF4-FFF2-40B4-BE49-F238E27FC236}">
                  <a16:creationId xmlns:a16="http://schemas.microsoft.com/office/drawing/2014/main" id="{CA3CA0F0-F16D-4052-A897-FC90FE3C2E6A}"/>
                </a:ext>
              </a:extLst>
            </p:cNvPr>
            <p:cNvSpPr/>
            <p:nvPr/>
          </p:nvSpPr>
          <p:spPr>
            <a:xfrm>
              <a:off x="1718" y="1216"/>
              <a:ext cx="912" cy="336"/>
            </a:xfrm>
            <a:prstGeom prst="rect">
              <a:avLst/>
            </a:prstGeom>
            <a:solidFill>
              <a:srgbClr val="CCFF99"/>
            </a:solidFill>
            <a:ln w="19050" cap="flat" cmpd="sng">
              <a:solidFill>
                <a:srgbClr val="000000"/>
              </a:solidFill>
              <a:prstDash val="solid"/>
              <a:miter/>
              <a:headEnd type="none" w="med" len="med"/>
              <a:tailEnd type="none" w="sm" len="lg"/>
            </a:ln>
          </p:spPr>
          <p:txBody>
            <a:bodyPr wrap="none" lIns="0" rIns="0" anchor="ctr"/>
            <a:lstStyle/>
            <a:p>
              <a:pPr algn="ctr"/>
              <a:r>
                <a:rPr lang="zh-CN" altLang="en-US" sz="2400" b="1" noProof="1">
                  <a:solidFill>
                    <a:srgbClr val="000000"/>
                  </a:solidFill>
                  <a:effectLst>
                    <a:outerShdw blurRad="38100" dist="38100" dir="2700000">
                      <a:srgbClr val="FFFFFF"/>
                    </a:outerShdw>
                  </a:effectLst>
                  <a:ea typeface="宋体" panose="02010600030101010101" pitchFamily="2" charset="-122"/>
                </a:rPr>
                <a:t>班级</a:t>
              </a:r>
            </a:p>
          </p:txBody>
        </p:sp>
        <p:sp>
          <p:nvSpPr>
            <p:cNvPr id="740356" name="矩形 740355">
              <a:extLst>
                <a:ext uri="{FF2B5EF4-FFF2-40B4-BE49-F238E27FC236}">
                  <a16:creationId xmlns:a16="http://schemas.microsoft.com/office/drawing/2014/main" id="{26148F1F-9AEB-42B0-8A11-4FB679BA688C}"/>
                </a:ext>
              </a:extLst>
            </p:cNvPr>
            <p:cNvSpPr/>
            <p:nvPr/>
          </p:nvSpPr>
          <p:spPr>
            <a:xfrm>
              <a:off x="2966" y="1216"/>
              <a:ext cx="912" cy="336"/>
            </a:xfrm>
            <a:prstGeom prst="rect">
              <a:avLst/>
            </a:prstGeom>
            <a:solidFill>
              <a:srgbClr val="CCFF99"/>
            </a:solidFill>
            <a:ln w="19050" cap="flat" cmpd="sng">
              <a:solidFill>
                <a:srgbClr val="000000"/>
              </a:solidFill>
              <a:prstDash val="solid"/>
              <a:miter/>
              <a:headEnd type="none" w="med" len="med"/>
              <a:tailEnd type="none" w="sm" len="lg"/>
            </a:ln>
          </p:spPr>
          <p:txBody>
            <a:bodyPr wrap="none" lIns="0" rIns="0" anchor="ctr"/>
            <a:lstStyle/>
            <a:p>
              <a:pPr algn="ctr"/>
              <a:r>
                <a:rPr lang="zh-CN" altLang="en-US" sz="2400" b="1" noProof="1">
                  <a:solidFill>
                    <a:srgbClr val="000000"/>
                  </a:solidFill>
                  <a:effectLst>
                    <a:outerShdw blurRad="38100" dist="38100" dir="2700000">
                      <a:srgbClr val="FFFFFF"/>
                    </a:outerShdw>
                  </a:effectLst>
                  <a:ea typeface="宋体" panose="02010600030101010101" pitchFamily="2" charset="-122"/>
                </a:rPr>
                <a:t>社团</a:t>
              </a:r>
            </a:p>
          </p:txBody>
        </p:sp>
        <p:sp>
          <p:nvSpPr>
            <p:cNvPr id="740357" name="矩形 740356">
              <a:extLst>
                <a:ext uri="{FF2B5EF4-FFF2-40B4-BE49-F238E27FC236}">
                  <a16:creationId xmlns:a16="http://schemas.microsoft.com/office/drawing/2014/main" id="{CC3E9466-FEEF-4201-86EF-FE0BD6BE8BB2}"/>
                </a:ext>
              </a:extLst>
            </p:cNvPr>
            <p:cNvSpPr/>
            <p:nvPr/>
          </p:nvSpPr>
          <p:spPr>
            <a:xfrm>
              <a:off x="2294" y="2368"/>
              <a:ext cx="912" cy="336"/>
            </a:xfrm>
            <a:prstGeom prst="rect">
              <a:avLst/>
            </a:prstGeom>
            <a:solidFill>
              <a:srgbClr val="CCFF99"/>
            </a:solidFill>
            <a:ln w="19050" cap="flat" cmpd="sng">
              <a:solidFill>
                <a:srgbClr val="000000"/>
              </a:solidFill>
              <a:prstDash val="solid"/>
              <a:miter/>
              <a:headEnd type="none" w="med" len="med"/>
              <a:tailEnd type="none" w="sm" len="lg"/>
            </a:ln>
          </p:spPr>
          <p:txBody>
            <a:bodyPr wrap="none" lIns="0" rIns="0" anchor="ctr"/>
            <a:lstStyle/>
            <a:p>
              <a:pPr algn="ctr"/>
              <a:r>
                <a:rPr lang="zh-CN" altLang="en-US" sz="2400" b="1" noProof="1">
                  <a:solidFill>
                    <a:srgbClr val="000000"/>
                  </a:solidFill>
                  <a:effectLst>
                    <a:outerShdw blurRad="38100" dist="38100" dir="2700000">
                      <a:srgbClr val="FFFFFF"/>
                    </a:outerShdw>
                  </a:effectLst>
                  <a:ea typeface="宋体" panose="02010600030101010101" pitchFamily="2" charset="-122"/>
                </a:rPr>
                <a:t>学生</a:t>
              </a:r>
            </a:p>
          </p:txBody>
        </p:sp>
        <p:cxnSp>
          <p:nvCxnSpPr>
            <p:cNvPr id="29701" name="直接箭头连接符 740357">
              <a:extLst>
                <a:ext uri="{FF2B5EF4-FFF2-40B4-BE49-F238E27FC236}">
                  <a16:creationId xmlns:a16="http://schemas.microsoft.com/office/drawing/2014/main" id="{F90866FC-4645-4973-B7B6-138104F0152A}"/>
                </a:ext>
              </a:extLst>
            </p:cNvPr>
            <p:cNvCxnSpPr>
              <a:cxnSpLocks noChangeShapeType="1"/>
              <a:stCxn id="740355" idx="2"/>
              <a:endCxn id="740357" idx="0"/>
            </p:cNvCxnSpPr>
            <p:nvPr/>
          </p:nvCxnSpPr>
          <p:spPr bwMode="auto">
            <a:xfrm>
              <a:off x="2174" y="1558"/>
              <a:ext cx="576" cy="804"/>
            </a:xfrm>
            <a:prstGeom prst="straightConnector1">
              <a:avLst/>
            </a:prstGeom>
            <a:noFill/>
            <a:ln w="19050">
              <a:solidFill>
                <a:srgbClr val="000000"/>
              </a:solidFill>
              <a:round/>
              <a:headEnd/>
              <a:tailEnd type="triangle" w="sm" len="lg"/>
            </a:ln>
            <a:extLst>
              <a:ext uri="{909E8E84-426E-40DD-AFC4-6F175D3DCCD1}">
                <a14:hiddenFill xmlns:a14="http://schemas.microsoft.com/office/drawing/2010/main">
                  <a:noFill/>
                </a14:hiddenFill>
              </a:ext>
            </a:extLst>
          </p:spPr>
        </p:cxnSp>
        <p:cxnSp>
          <p:nvCxnSpPr>
            <p:cNvPr id="29702" name="直接箭头连接符 740358">
              <a:extLst>
                <a:ext uri="{FF2B5EF4-FFF2-40B4-BE49-F238E27FC236}">
                  <a16:creationId xmlns:a16="http://schemas.microsoft.com/office/drawing/2014/main" id="{D2F17052-14D5-49A7-B083-209EA74DA8F5}"/>
                </a:ext>
              </a:extLst>
            </p:cNvPr>
            <p:cNvCxnSpPr>
              <a:cxnSpLocks noChangeShapeType="1"/>
              <a:stCxn id="740356" idx="2"/>
              <a:endCxn id="740357" idx="0"/>
            </p:cNvCxnSpPr>
            <p:nvPr/>
          </p:nvCxnSpPr>
          <p:spPr bwMode="auto">
            <a:xfrm flipH="1">
              <a:off x="2750" y="1558"/>
              <a:ext cx="672" cy="804"/>
            </a:xfrm>
            <a:prstGeom prst="straightConnector1">
              <a:avLst/>
            </a:prstGeom>
            <a:noFill/>
            <a:ln w="19050">
              <a:solidFill>
                <a:srgbClr val="000000"/>
              </a:solidFill>
              <a:round/>
              <a:headEnd/>
              <a:tailEnd type="triangle" w="sm" len="lg"/>
            </a:ln>
            <a:extLst>
              <a:ext uri="{909E8E84-426E-40DD-AFC4-6F175D3DCCD1}">
                <a14:hiddenFill xmlns:a14="http://schemas.microsoft.com/office/drawing/2010/main">
                  <a:noFill/>
                </a14:hiddenFill>
              </a:ext>
            </a:extLst>
          </p:spPr>
        </p:cxnSp>
        <p:sp>
          <p:nvSpPr>
            <p:cNvPr id="29703" name="文本框 740359">
              <a:extLst>
                <a:ext uri="{FF2B5EF4-FFF2-40B4-BE49-F238E27FC236}">
                  <a16:creationId xmlns:a16="http://schemas.microsoft.com/office/drawing/2014/main" id="{02771834-2429-4753-A373-C59A8B8AA8D1}"/>
                </a:ext>
              </a:extLst>
            </p:cNvPr>
            <p:cNvSpPr txBox="1">
              <a:spLocks noChangeArrowheads="1"/>
            </p:cNvSpPr>
            <p:nvPr/>
          </p:nvSpPr>
          <p:spPr bwMode="auto">
            <a:xfrm>
              <a:off x="1610" y="3067"/>
              <a:ext cx="2400" cy="288"/>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rIns="0" anchor="ctr">
              <a:spAutoFit/>
            </a:bodyPr>
            <a:lstStyle/>
            <a:p>
              <a:pPr algn="ctr">
                <a:spcBef>
                  <a:spcPct val="50000"/>
                </a:spcBef>
              </a:pPr>
              <a:r>
                <a:rPr lang="zh-CN" altLang="en-US" sz="2400" b="1">
                  <a:solidFill>
                    <a:srgbClr val="000000"/>
                  </a:solidFill>
                  <a:latin typeface="楷体_GB2312" pitchFamily="49" charset="-122"/>
                </a:rPr>
                <a:t>图</a:t>
              </a:r>
              <a:r>
                <a:rPr lang="en-US" altLang="zh-CN" sz="2400" b="1">
                  <a:solidFill>
                    <a:srgbClr val="000000"/>
                  </a:solidFill>
                  <a:latin typeface="楷体_GB2312" pitchFamily="49" charset="-122"/>
                </a:rPr>
                <a:t>1.5  </a:t>
              </a:r>
              <a:r>
                <a:rPr lang="zh-CN" altLang="en-US" sz="2400" b="1">
                  <a:solidFill>
                    <a:srgbClr val="000000"/>
                  </a:solidFill>
                  <a:latin typeface="楷体_GB2312" pitchFamily="49" charset="-122"/>
                </a:rPr>
                <a:t>网状模型示例</a:t>
              </a:r>
            </a:p>
          </p:txBody>
        </p:sp>
      </p:grpSp>
      <p:sp>
        <p:nvSpPr>
          <p:cNvPr id="740361" name="标题 740360">
            <a:extLst>
              <a:ext uri="{FF2B5EF4-FFF2-40B4-BE49-F238E27FC236}">
                <a16:creationId xmlns:a16="http://schemas.microsoft.com/office/drawing/2014/main" id="{B631523F-FC4D-4925-BA67-BB53D5BF7B71}"/>
              </a:ext>
            </a:extLst>
          </p:cNvPr>
          <p:cNvSpPr>
            <a:spLocks noGrp="1"/>
          </p:cNvSpPr>
          <p:nvPr>
            <p:ph type="title"/>
          </p:nvPr>
        </p:nvSpPr>
        <p:spPr/>
        <p:txBody>
          <a:bodyPr/>
          <a:lstStyle/>
          <a:p>
            <a:r>
              <a:rPr lang="zh-CN" altLang="en-US" noProof="1"/>
              <a:t>四、网状模型</a:t>
            </a:r>
          </a:p>
        </p:txBody>
      </p:sp>
    </p:spTree>
  </p:cSld>
  <p:clrMapOvr>
    <a:masterClrMapping/>
  </p:clrMapOvr>
  <mc:AlternateContent xmlns:mc="http://schemas.openxmlformats.org/markup-compatibility/2006" xmlns:p14="http://schemas.microsoft.com/office/powerpoint/2010/main">
    <mc:Choice Requires="p14">
      <p:transition spd="slow" p14:dur="2000" advTm="22803"/>
    </mc:Choice>
    <mc:Fallback xmlns="">
      <p:transition spd="slow" advTm="22803"/>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2402" name="标题 742401">
            <a:extLst>
              <a:ext uri="{FF2B5EF4-FFF2-40B4-BE49-F238E27FC236}">
                <a16:creationId xmlns:a16="http://schemas.microsoft.com/office/drawing/2014/main" id="{7D5A2B92-47FA-4569-A97E-6318D00C18A5}"/>
              </a:ext>
            </a:extLst>
          </p:cNvPr>
          <p:cNvSpPr>
            <a:spLocks noGrp="1"/>
          </p:cNvSpPr>
          <p:nvPr>
            <p:ph type="title"/>
          </p:nvPr>
        </p:nvSpPr>
        <p:spPr/>
        <p:txBody>
          <a:bodyPr/>
          <a:lstStyle/>
          <a:p>
            <a:r>
              <a:rPr lang="zh-CN" altLang="en-US" noProof="1"/>
              <a:t>四、网状模型</a:t>
            </a:r>
          </a:p>
        </p:txBody>
      </p:sp>
      <p:sp>
        <p:nvSpPr>
          <p:cNvPr id="742403" name="文本占位符 742402">
            <a:extLst>
              <a:ext uri="{FF2B5EF4-FFF2-40B4-BE49-F238E27FC236}">
                <a16:creationId xmlns:a16="http://schemas.microsoft.com/office/drawing/2014/main" id="{3C026732-09FF-41CF-A993-6C1C39327908}"/>
              </a:ext>
            </a:extLst>
          </p:cNvPr>
          <p:cNvSpPr>
            <a:spLocks noGrp="1"/>
          </p:cNvSpPr>
          <p:nvPr>
            <p:ph type="body" idx="1"/>
          </p:nvPr>
        </p:nvSpPr>
        <p:spPr>
          <a:xfrm>
            <a:off x="468313" y="1185863"/>
            <a:ext cx="8207375" cy="5338762"/>
          </a:xfrm>
        </p:spPr>
        <p:txBody>
          <a:bodyPr/>
          <a:lstStyle/>
          <a:p>
            <a:r>
              <a:rPr lang="zh-CN" altLang="en-US" sz="3200" noProof="1">
                <a:solidFill>
                  <a:srgbClr val="990033"/>
                </a:solidFill>
                <a:ea typeface="黑体" panose="02010609060101010101" pitchFamily="2" charset="-122"/>
              </a:rPr>
              <a:t>         </a:t>
            </a:r>
            <a:r>
              <a:rPr lang="zh-CN" altLang="en-US" sz="3200" noProof="1">
                <a:solidFill>
                  <a:srgbClr val="000099"/>
                </a:solidFill>
                <a:latin typeface="华文中宋" panose="02010600040101010101" pitchFamily="2" charset="-122"/>
                <a:ea typeface="华文中宋" panose="02010600040101010101" pitchFamily="2" charset="-122"/>
              </a:rPr>
              <a:t>◆</a:t>
            </a:r>
            <a:r>
              <a:rPr lang="zh-CN" altLang="en-US" sz="3200" noProof="1">
                <a:solidFill>
                  <a:srgbClr val="990033"/>
                </a:solidFill>
                <a:latin typeface="华文中宋" panose="02010600040101010101" pitchFamily="2" charset="-122"/>
                <a:ea typeface="华文中宋" panose="02010600040101010101" pitchFamily="2" charset="-122"/>
              </a:rPr>
              <a:t> </a:t>
            </a:r>
            <a:r>
              <a:rPr lang="zh-CN" altLang="en-US" sz="3200" noProof="1">
                <a:solidFill>
                  <a:srgbClr val="990033"/>
                </a:solidFill>
                <a:ea typeface="黑体" panose="02010609060101010101" pitchFamily="2" charset="-122"/>
              </a:rPr>
              <a:t>特征：</a:t>
            </a:r>
          </a:p>
          <a:p>
            <a:pPr>
              <a:lnSpc>
                <a:spcPct val="140000"/>
              </a:lnSpc>
              <a:spcBef>
                <a:spcPct val="0"/>
              </a:spcBef>
            </a:pPr>
            <a:r>
              <a:rPr lang="zh-CN" altLang="en-US" noProof="1"/>
              <a:t>          是用</a:t>
            </a:r>
            <a:r>
              <a:rPr lang="zh-CN" altLang="en-US" noProof="1">
                <a:solidFill>
                  <a:schemeClr val="tx2"/>
                </a:solidFill>
              </a:rPr>
              <a:t>有向图结构</a:t>
            </a:r>
            <a:r>
              <a:rPr lang="zh-CN" altLang="en-US" noProof="1"/>
              <a:t>来组织数据的数据模型。</a:t>
            </a:r>
          </a:p>
          <a:p>
            <a:pPr>
              <a:lnSpc>
                <a:spcPct val="140000"/>
              </a:lnSpc>
              <a:spcBef>
                <a:spcPct val="0"/>
              </a:spcBef>
            </a:pPr>
            <a:r>
              <a:rPr lang="zh-CN" altLang="en-US" noProof="1"/>
              <a:t>          网状数据模型中的每个结点也代表一种记录类型。</a:t>
            </a:r>
          </a:p>
          <a:p>
            <a:pPr>
              <a:spcBef>
                <a:spcPct val="30000"/>
              </a:spcBef>
            </a:pPr>
            <a:r>
              <a:rPr lang="en-US" altLang="zh-CN" sz="3200" noProof="1">
                <a:solidFill>
                  <a:srgbClr val="990033"/>
                </a:solidFill>
                <a:ea typeface="黑体" panose="02010609060101010101" pitchFamily="2" charset="-122"/>
              </a:rPr>
              <a:t>         </a:t>
            </a:r>
            <a:r>
              <a:rPr lang="en-US" altLang="zh-CN" sz="3200" noProof="1">
                <a:solidFill>
                  <a:srgbClr val="000099"/>
                </a:solidFill>
                <a:latin typeface="华文中宋" panose="02010600040101010101" pitchFamily="2" charset="-122"/>
                <a:ea typeface="华文中宋" panose="02010600040101010101" pitchFamily="2" charset="-122"/>
              </a:rPr>
              <a:t>◆</a:t>
            </a:r>
            <a:r>
              <a:rPr lang="en-US" altLang="zh-CN" sz="3200" noProof="1">
                <a:solidFill>
                  <a:srgbClr val="990033"/>
                </a:solidFill>
                <a:latin typeface="华文中宋" panose="02010600040101010101" pitchFamily="2" charset="-122"/>
                <a:ea typeface="华文中宋" panose="02010600040101010101" pitchFamily="2" charset="-122"/>
              </a:rPr>
              <a:t> </a:t>
            </a:r>
            <a:r>
              <a:rPr lang="zh-CN" altLang="en-US" sz="3200" noProof="1">
                <a:solidFill>
                  <a:srgbClr val="660033"/>
                </a:solidFill>
                <a:ea typeface="黑体" panose="02010609060101010101" pitchFamily="2" charset="-122"/>
              </a:rPr>
              <a:t>优点：</a:t>
            </a:r>
          </a:p>
          <a:p>
            <a:pPr>
              <a:lnSpc>
                <a:spcPct val="140000"/>
              </a:lnSpc>
              <a:spcBef>
                <a:spcPct val="0"/>
              </a:spcBef>
            </a:pPr>
            <a:r>
              <a:rPr lang="zh-CN" altLang="en-US" noProof="1"/>
              <a:t>          在网状模型中，结点间的联系更具有任意性，更能表示事物之间的复杂联系，更适合于描述客观世界。</a:t>
            </a:r>
            <a:endParaRPr lang="en-US" altLang="zh-CN" noProof="1"/>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4020"/>
    </mc:Choice>
    <mc:Fallback xmlns="">
      <p:transition spd="slow" advTm="54020"/>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42403">
                                            <p:txEl>
                                              <p:pRg st="0" end="0"/>
                                            </p:txEl>
                                          </p:spTgt>
                                        </p:tgtEl>
                                        <p:attrNameLst>
                                          <p:attrName>style.visibility</p:attrName>
                                        </p:attrNameLst>
                                      </p:cBhvr>
                                      <p:to>
                                        <p:strVal val="visible"/>
                                      </p:to>
                                    </p:set>
                                    <p:animEffect transition="in" filter="wipe(left)">
                                      <p:cBhvr>
                                        <p:cTn id="7" dur="500"/>
                                        <p:tgtEl>
                                          <p:spTgt spid="742403">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42403">
                                            <p:txEl>
                                              <p:pRg st="1" end="1"/>
                                            </p:txEl>
                                          </p:spTgt>
                                        </p:tgtEl>
                                        <p:attrNameLst>
                                          <p:attrName>style.visibility</p:attrName>
                                        </p:attrNameLst>
                                      </p:cBhvr>
                                      <p:to>
                                        <p:strVal val="visible"/>
                                      </p:to>
                                    </p:set>
                                    <p:animEffect transition="in" filter="wipe(left)">
                                      <p:cBhvr>
                                        <p:cTn id="11" dur="500"/>
                                        <p:tgtEl>
                                          <p:spTgt spid="742403">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42403">
                                            <p:txEl>
                                              <p:pRg st="2" end="2"/>
                                            </p:txEl>
                                          </p:spTgt>
                                        </p:tgtEl>
                                        <p:attrNameLst>
                                          <p:attrName>style.visibility</p:attrName>
                                        </p:attrNameLst>
                                      </p:cBhvr>
                                      <p:to>
                                        <p:strVal val="visible"/>
                                      </p:to>
                                    </p:set>
                                    <p:animEffect transition="in" filter="wipe(left)">
                                      <p:cBhvr>
                                        <p:cTn id="15" dur="500"/>
                                        <p:tgtEl>
                                          <p:spTgt spid="742403">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742403">
                                            <p:txEl>
                                              <p:pRg st="3" end="3"/>
                                            </p:txEl>
                                          </p:spTgt>
                                        </p:tgtEl>
                                        <p:attrNameLst>
                                          <p:attrName>style.visibility</p:attrName>
                                        </p:attrNameLst>
                                      </p:cBhvr>
                                      <p:to>
                                        <p:strVal val="visible"/>
                                      </p:to>
                                    </p:set>
                                    <p:animEffect transition="in" filter="wipe(left)">
                                      <p:cBhvr>
                                        <p:cTn id="20" dur="500"/>
                                        <p:tgtEl>
                                          <p:spTgt spid="742403">
                                            <p:txEl>
                                              <p:pRg st="3" end="3"/>
                                            </p:txEl>
                                          </p:spTgt>
                                        </p:tgtEl>
                                      </p:cBhvr>
                                    </p:animEffect>
                                  </p:childTnLst>
                                </p:cTn>
                              </p:par>
                            </p:childTnLst>
                          </p:cTn>
                        </p:par>
                        <p:par>
                          <p:cTn id="21" fill="hold" nodeType="afterGroup">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742403">
                                            <p:txEl>
                                              <p:pRg st="4" end="4"/>
                                            </p:txEl>
                                          </p:spTgt>
                                        </p:tgtEl>
                                        <p:attrNameLst>
                                          <p:attrName>style.visibility</p:attrName>
                                        </p:attrNameLst>
                                      </p:cBhvr>
                                      <p:to>
                                        <p:strVal val="visible"/>
                                      </p:to>
                                    </p:set>
                                    <p:animEffect transition="in" filter="wipe(left)">
                                      <p:cBhvr>
                                        <p:cTn id="24" dur="500"/>
                                        <p:tgtEl>
                                          <p:spTgt spid="7424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240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矩形 817157">
            <a:extLst>
              <a:ext uri="{FF2B5EF4-FFF2-40B4-BE49-F238E27FC236}">
                <a16:creationId xmlns:a16="http://schemas.microsoft.com/office/drawing/2014/main" id="{8F9C27B3-434A-451B-B6B5-0351A3687C79}"/>
              </a:ext>
            </a:extLst>
          </p:cNvPr>
          <p:cNvSpPr>
            <a:spLocks noChangeArrowheads="1"/>
          </p:cNvSpPr>
          <p:nvPr/>
        </p:nvSpPr>
        <p:spPr bwMode="auto">
          <a:xfrm>
            <a:off x="71438" y="73025"/>
            <a:ext cx="8893175" cy="1700213"/>
          </a:xfrm>
          <a:prstGeom prst="rect">
            <a:avLst/>
          </a:prstGeom>
          <a:solidFill>
            <a:schemeClr val="bg1"/>
          </a:solidFill>
          <a:ln w="12700" cap="sq">
            <a:solidFill>
              <a:schemeClr val="bg1"/>
            </a:solidFill>
            <a:miter lim="800000"/>
            <a:headEnd type="none" w="sm" len="sm"/>
            <a:tailEnd type="none" w="sm" len="sm"/>
          </a:ln>
        </p:spPr>
        <p:txBody>
          <a:bodyPr wrap="none" anchor="ctr"/>
          <a:lstStyle/>
          <a:p>
            <a:pPr algn="ctr"/>
            <a:endParaRPr lang="zh-CN" altLang="en-US"/>
          </a:p>
        </p:txBody>
      </p:sp>
      <p:sp>
        <p:nvSpPr>
          <p:cNvPr id="817157" name="矩形 817156">
            <a:extLst>
              <a:ext uri="{FF2B5EF4-FFF2-40B4-BE49-F238E27FC236}">
                <a16:creationId xmlns:a16="http://schemas.microsoft.com/office/drawing/2014/main" id="{6714FD7F-B952-4BD3-8948-0BE8C0FB67BA}"/>
              </a:ext>
            </a:extLst>
          </p:cNvPr>
          <p:cNvSpPr/>
          <p:nvPr/>
        </p:nvSpPr>
        <p:spPr>
          <a:xfrm>
            <a:off x="496888" y="908050"/>
            <a:ext cx="8208962" cy="4176713"/>
          </a:xfrm>
          <a:prstGeom prst="rect">
            <a:avLst/>
          </a:prstGeom>
          <a:noFill/>
          <a:ln w="9525" cap="flat" cmpd="sng">
            <a:solidFill>
              <a:srgbClr val="00CC00"/>
            </a:solidFill>
            <a:prstDash val="solid"/>
            <a:miter/>
            <a:headEnd type="none" w="med" len="med"/>
            <a:tailEnd type="none" w="med" len="med"/>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a:lnSpc>
                <a:spcPct val="70000"/>
              </a:lnSpc>
              <a:spcBef>
                <a:spcPct val="0"/>
              </a:spcBef>
            </a:pPr>
            <a:r>
              <a:rPr lang="zh-CN" altLang="en-US" b="0" noProof="1">
                <a:effectLst/>
                <a:ea typeface="黑体" panose="02010609060101010101" pitchFamily="2" charset="-122"/>
              </a:rPr>
              <a:t>          </a:t>
            </a:r>
          </a:p>
          <a:p>
            <a:pPr>
              <a:lnSpc>
                <a:spcPct val="150000"/>
              </a:lnSpc>
              <a:spcBef>
                <a:spcPct val="40000"/>
              </a:spcBef>
            </a:pPr>
            <a:r>
              <a:rPr lang="zh-CN" altLang="en-US" b="0" noProof="1">
                <a:effectLst/>
                <a:ea typeface="黑体" panose="02010609060101010101" pitchFamily="2" charset="-122"/>
              </a:rPr>
              <a:t>          </a:t>
            </a:r>
            <a:r>
              <a:rPr lang="zh-CN" altLang="en-US" sz="3200" noProof="1">
                <a:solidFill>
                  <a:srgbClr val="660033"/>
                </a:solidFill>
                <a:effectLst/>
                <a:ea typeface="华文新魏" panose="02010800040101010101" pitchFamily="2" charset="-122"/>
              </a:rPr>
              <a:t>层次模型</a:t>
            </a:r>
            <a:r>
              <a:rPr lang="zh-CN" altLang="en-US" b="0" noProof="1">
                <a:effectLst/>
                <a:ea typeface="黑体" panose="02010609060101010101" pitchFamily="2" charset="-122"/>
              </a:rPr>
              <a:t>和</a:t>
            </a:r>
            <a:r>
              <a:rPr lang="zh-CN" altLang="en-US" sz="3200" noProof="1">
                <a:solidFill>
                  <a:srgbClr val="660033"/>
                </a:solidFill>
                <a:effectLst/>
                <a:ea typeface="华文新魏" panose="02010800040101010101" pitchFamily="2" charset="-122"/>
              </a:rPr>
              <a:t>网状模型</a:t>
            </a:r>
            <a:r>
              <a:rPr lang="zh-CN" altLang="en-US" b="0" noProof="1">
                <a:effectLst/>
                <a:ea typeface="黑体" panose="02010609060101010101" pitchFamily="2" charset="-122"/>
              </a:rPr>
              <a:t>是数据库发展过程中最先使用的两种模型，但由于他们都有非常明显的不足，已经被下一节我们将要讲的关系模型所取代。</a:t>
            </a:r>
            <a:endParaRPr lang="zh-CN" altLang="en-US" noProof="1"/>
          </a:p>
        </p:txBody>
      </p:sp>
    </p:spTree>
  </p:cSld>
  <p:clrMapOvr>
    <a:masterClrMapping/>
  </p:clrMapOvr>
  <mc:AlternateContent xmlns:mc="http://schemas.openxmlformats.org/markup-compatibility/2006" xmlns:p14="http://schemas.microsoft.com/office/powerpoint/2010/main">
    <mc:Choice Requires="p14">
      <p:transition spd="slow" p14:dur="2000" advTm="33764"/>
    </mc:Choice>
    <mc:Fallback xmlns="">
      <p:transition spd="slow" advTm="33764"/>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59141" name="矩形 859140">
            <a:extLst>
              <a:ext uri="{FF2B5EF4-FFF2-40B4-BE49-F238E27FC236}">
                <a16:creationId xmlns:a16="http://schemas.microsoft.com/office/drawing/2014/main" id="{5711137E-BE4F-4102-A543-DC8B32FB11FA}"/>
              </a:ext>
            </a:extLst>
          </p:cNvPr>
          <p:cNvSpPr/>
          <p:nvPr/>
        </p:nvSpPr>
        <p:spPr>
          <a:xfrm>
            <a:off x="827088" y="1217613"/>
            <a:ext cx="8137525" cy="1462087"/>
          </a:xfrm>
          <a:prstGeom prst="rect">
            <a:avLst/>
          </a:prstGeom>
          <a:noFill/>
          <a:ln w="9525">
            <a:noFill/>
          </a:ln>
        </p:spPr>
        <p:txBody>
          <a:bodyPr anchor="b"/>
          <a:lstStyle>
            <a:lvl1pPr marL="0" lvl="0" indent="0" algn="ctr" defTabSz="914400" rtl="0" eaLnBrk="1" fontAlgn="base" latinLnBrk="0" hangingPunct="1">
              <a:lnSpc>
                <a:spcPct val="100000"/>
              </a:lnSpc>
              <a:spcBef>
                <a:spcPct val="0"/>
              </a:spcBef>
              <a:spcAft>
                <a:spcPct val="0"/>
              </a:spcAft>
              <a:buClrTx/>
              <a:buSzTx/>
              <a:buFontTx/>
              <a:buNone/>
              <a:defRPr sz="4800" b="1" u="none" kern="1200" baseline="0">
                <a:solidFill>
                  <a:schemeClr val="tx2"/>
                </a:solidFill>
                <a:effectLst>
                  <a:outerShdw blurRad="38100" dist="38100" dir="2700000">
                    <a:srgbClr val="C0C0C0"/>
                  </a:outerShdw>
                </a:effectLst>
                <a:latin typeface="Tahoma" panose="020B0604030504040204" pitchFamily="34" charset="0"/>
                <a:ea typeface="隶书" panose="02010509060101010101" pitchFamily="49" charset="-122"/>
              </a:defRPr>
            </a:lvl1pPr>
          </a:lstStyle>
          <a:p>
            <a:r>
              <a:rPr lang="en-US" altLang="zh-CN" noProof="1"/>
              <a:t>1.4</a:t>
            </a:r>
            <a:r>
              <a:rPr lang="zh-CN" altLang="en-US" noProof="1"/>
              <a:t>  关系模型 </a:t>
            </a:r>
          </a:p>
        </p:txBody>
      </p:sp>
      <p:sp>
        <p:nvSpPr>
          <p:cNvPr id="859142" name="矩形 859141">
            <a:extLst>
              <a:ext uri="{FF2B5EF4-FFF2-40B4-BE49-F238E27FC236}">
                <a16:creationId xmlns:a16="http://schemas.microsoft.com/office/drawing/2014/main" id="{8D6A02B9-52CE-49CA-8737-F67A8473A1A7}"/>
              </a:ext>
            </a:extLst>
          </p:cNvPr>
          <p:cNvSpPr/>
          <p:nvPr/>
        </p:nvSpPr>
        <p:spPr>
          <a:xfrm>
            <a:off x="71438" y="95250"/>
            <a:ext cx="3852862" cy="544513"/>
          </a:xfrm>
          <a:prstGeom prst="rect">
            <a:avLst/>
          </a:prstGeom>
          <a:gradFill rotWithShape="1">
            <a:gsLst>
              <a:gs pos="0">
                <a:srgbClr val="C0C0C0"/>
              </a:gs>
              <a:gs pos="100000">
                <a:srgbClr val="C0C0C0">
                  <a:gamma/>
                  <a:tint val="0"/>
                  <a:invGamma/>
                </a:srgbClr>
              </a:gs>
            </a:gsLst>
            <a:path path="shape">
              <a:fillToRect l="50000" t="50000" r="50000" b="50000"/>
            </a:path>
            <a:tileRect/>
          </a:gradFill>
          <a:ln w="9525">
            <a:noFill/>
          </a:ln>
        </p:spPr>
        <p:txBody>
          <a:bodyPr tIns="76176" bIns="72000" anchor="ctr" anchorCtr="1">
            <a:spAutoFit/>
          </a:bodyPr>
          <a:lstStyle/>
          <a:p>
            <a:r>
              <a:rPr lang="zh-CN" altLang="en-US" sz="2600" b="1" noProof="1">
                <a:solidFill>
                  <a:srgbClr val="993300"/>
                </a:solidFill>
                <a:effectLst>
                  <a:outerShdw blurRad="38100" dist="38100" dir="2700000">
                    <a:srgbClr val="000000"/>
                  </a:outerShdw>
                </a:effectLst>
                <a:ea typeface="隶书" panose="02010509060101010101" pitchFamily="49" charset="-122"/>
              </a:rPr>
              <a:t>第</a:t>
            </a:r>
            <a:r>
              <a:rPr lang="en-US" altLang="zh-CN" sz="2600" b="1" noProof="1">
                <a:solidFill>
                  <a:srgbClr val="993300"/>
                </a:solidFill>
                <a:effectLst>
                  <a:outerShdw blurRad="38100" dist="38100" dir="2700000">
                    <a:srgbClr val="000000"/>
                  </a:outerShdw>
                </a:effectLst>
                <a:ea typeface="隶书" panose="02010509060101010101" pitchFamily="49" charset="-122"/>
              </a:rPr>
              <a:t>1</a:t>
            </a:r>
            <a:r>
              <a:rPr lang="zh-CN" altLang="en-US" sz="2600" b="1" noProof="1">
                <a:solidFill>
                  <a:srgbClr val="993300"/>
                </a:solidFill>
                <a:effectLst>
                  <a:outerShdw blurRad="38100" dist="38100" dir="2700000">
                    <a:srgbClr val="000000"/>
                  </a:outerShdw>
                </a:effectLst>
                <a:ea typeface="隶书" panose="02010509060101010101" pitchFamily="49" charset="-122"/>
              </a:rPr>
              <a:t>章  数据库系统概述</a:t>
            </a:r>
          </a:p>
        </p:txBody>
      </p:sp>
    </p:spTree>
  </p:cSld>
  <p:clrMapOvr>
    <a:masterClrMapping/>
  </p:clrMapOvr>
  <p:transition advTm="14698"/>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3" presetClass="entr" presetSubtype="16" fill="hold" grpId="0" nodeType="afterEffect">
                                  <p:stCondLst>
                                    <p:cond delay="0"/>
                                  </p:stCondLst>
                                  <p:childTnLst>
                                    <p:set>
                                      <p:cBhvr>
                                        <p:cTn id="6" dur="1" fill="hold">
                                          <p:stCondLst>
                                            <p:cond delay="0"/>
                                          </p:stCondLst>
                                        </p:cTn>
                                        <p:tgtEl>
                                          <p:spTgt spid="859141"/>
                                        </p:tgtEl>
                                        <p:attrNameLst>
                                          <p:attrName>style.visibility</p:attrName>
                                        </p:attrNameLst>
                                      </p:cBhvr>
                                      <p:to>
                                        <p:strVal val="visible"/>
                                      </p:to>
                                    </p:set>
                                    <p:animEffect transition="in" filter="plus(in)">
                                      <p:cBhvr>
                                        <p:cTn id="7" dur="1000"/>
                                        <p:tgtEl>
                                          <p:spTgt spid="859141"/>
                                        </p:tgtEl>
                                      </p:cBhvr>
                                    </p:animEffect>
                                  </p:childTnLst>
                                </p:cTn>
                              </p:par>
                            </p:childTnLst>
                          </p:cTn>
                        </p:par>
                        <p:par>
                          <p:cTn id="8" fill="hold" nodeType="afterGroup">
                            <p:stCondLst>
                              <p:cond delay="1000"/>
                            </p:stCondLst>
                            <p:childTnLst>
                              <p:par>
                                <p:cTn id="9" presetID="4" presetClass="entr" presetSubtype="32" fill="hold" grpId="0" nodeType="afterEffect">
                                  <p:stCondLst>
                                    <p:cond delay="0"/>
                                  </p:stCondLst>
                                  <p:childTnLst>
                                    <p:set>
                                      <p:cBhvr>
                                        <p:cTn id="10" dur="1" fill="hold">
                                          <p:stCondLst>
                                            <p:cond delay="0"/>
                                          </p:stCondLst>
                                        </p:cTn>
                                        <p:tgtEl>
                                          <p:spTgt spid="859142"/>
                                        </p:tgtEl>
                                        <p:attrNameLst>
                                          <p:attrName>style.visibility</p:attrName>
                                        </p:attrNameLst>
                                      </p:cBhvr>
                                      <p:to>
                                        <p:strVal val="visible"/>
                                      </p:to>
                                    </p:set>
                                    <p:animEffect transition="in" filter="box(out)">
                                      <p:cBhvr>
                                        <p:cTn id="11" dur="1000"/>
                                        <p:tgtEl>
                                          <p:spTgt spid="859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9141" grpId="0"/>
      <p:bldP spid="85914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348" name="矩形 825347">
            <a:extLst>
              <a:ext uri="{FF2B5EF4-FFF2-40B4-BE49-F238E27FC236}">
                <a16:creationId xmlns:a16="http://schemas.microsoft.com/office/drawing/2014/main" id="{5D11EFBA-198C-48CD-9FC1-10156377488B}"/>
              </a:ext>
            </a:extLst>
          </p:cNvPr>
          <p:cNvSpPr/>
          <p:nvPr/>
        </p:nvSpPr>
        <p:spPr>
          <a:xfrm>
            <a:off x="468313" y="1196975"/>
            <a:ext cx="8207375" cy="5338763"/>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indent="0">
              <a:lnSpc>
                <a:spcPct val="150000"/>
              </a:lnSpc>
            </a:pPr>
            <a:r>
              <a:rPr lang="zh-CN" altLang="en-US" sz="3200" noProof="1"/>
              <a:t>       关系模型是一种用</a:t>
            </a:r>
            <a:r>
              <a:rPr lang="zh-CN" altLang="en-US" sz="3200" noProof="1">
                <a:solidFill>
                  <a:srgbClr val="FF0066"/>
                </a:solidFill>
              </a:rPr>
              <a:t>二维表格结构</a:t>
            </a:r>
            <a:r>
              <a:rPr lang="zh-CN" altLang="en-US" sz="3200" noProof="1"/>
              <a:t>表示数据及数据之间联系的数据模型。 </a:t>
            </a:r>
          </a:p>
        </p:txBody>
      </p:sp>
      <p:sp>
        <p:nvSpPr>
          <p:cNvPr id="825349" name="矩形 825348">
            <a:extLst>
              <a:ext uri="{FF2B5EF4-FFF2-40B4-BE49-F238E27FC236}">
                <a16:creationId xmlns:a16="http://schemas.microsoft.com/office/drawing/2014/main" id="{F53271BC-6D92-4EB6-A628-02444F42D0D7}"/>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t>一、关系模型的基本概念</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6819"/>
    </mc:Choice>
    <mc:Fallback xmlns="">
      <p:transition spd="slow" advTm="16819"/>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32" fill="hold" grpId="0" nodeType="clickEffect">
                                  <p:stCondLst>
                                    <p:cond delay="0"/>
                                  </p:stCondLst>
                                  <p:childTnLst>
                                    <p:set>
                                      <p:cBhvr>
                                        <p:cTn id="6" dur="1" fill="hold">
                                          <p:stCondLst>
                                            <p:cond delay="0"/>
                                          </p:stCondLst>
                                        </p:cTn>
                                        <p:tgtEl>
                                          <p:spTgt spid="825348"/>
                                        </p:tgtEl>
                                        <p:attrNameLst>
                                          <p:attrName>style.visibility</p:attrName>
                                        </p:attrNameLst>
                                      </p:cBhvr>
                                      <p:to>
                                        <p:strVal val="visible"/>
                                      </p:to>
                                    </p:set>
                                    <p:animEffect transition="in" filter="diamond(out)">
                                      <p:cBhvr>
                                        <p:cTn id="7" dur="1000"/>
                                        <p:tgtEl>
                                          <p:spTgt spid="8253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534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26372" name="表格 826371">
            <a:extLst>
              <a:ext uri="{FF2B5EF4-FFF2-40B4-BE49-F238E27FC236}">
                <a16:creationId xmlns:a16="http://schemas.microsoft.com/office/drawing/2014/main" id="{D498D179-7415-4BBA-A2CF-B671417C0302}"/>
              </a:ext>
            </a:extLst>
          </p:cNvPr>
          <p:cNvGraphicFramePr/>
          <p:nvPr/>
        </p:nvGraphicFramePr>
        <p:xfrm>
          <a:off x="1816100" y="2030413"/>
          <a:ext cx="4419600" cy="2590801"/>
        </p:xfrm>
        <a:graphic>
          <a:graphicData uri="http://schemas.openxmlformats.org/drawingml/2006/table">
            <a:tbl>
              <a:tblPr/>
              <a:tblGrid>
                <a:gridCol w="1498600">
                  <a:extLst>
                    <a:ext uri="{9D8B030D-6E8A-4147-A177-3AD203B41FA5}">
                      <a16:colId xmlns:a16="http://schemas.microsoft.com/office/drawing/2014/main" val="20000"/>
                    </a:ext>
                  </a:extLst>
                </a:gridCol>
                <a:gridCol w="18542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tblGrid>
              <a:tr h="459793">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1700" dirty="0">
                          <a:solidFill>
                            <a:srgbClr val="0033CC"/>
                          </a:solidFill>
                          <a:latin typeface="楷体_GB2312" pitchFamily="49" charset="-122"/>
                        </a:rPr>
                        <a:t>课程号</a:t>
                      </a:r>
                    </a:p>
                  </a:txBody>
                  <a:tcPr marT="81140" marB="32456">
                    <a:lnL w="28575"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28575" cap="flat" cmpd="sng">
                      <a:solidFill>
                        <a:schemeClr val="tx1"/>
                      </a:solidFill>
                      <a:prstDash val="solid"/>
                      <a:headEnd type="none" w="sm" len="sm"/>
                      <a:tailEnd type="none" w="sm" len="sm"/>
                    </a:lnT>
                    <a:lnB w="28575" cap="flat" cmpd="sng">
                      <a:solidFill>
                        <a:schemeClr val="tx1"/>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1700" dirty="0">
                          <a:solidFill>
                            <a:srgbClr val="0033CC"/>
                          </a:solidFill>
                          <a:latin typeface="楷体_GB2312" pitchFamily="49" charset="-122"/>
                        </a:rPr>
                        <a:t>课程名</a:t>
                      </a:r>
                    </a:p>
                  </a:txBody>
                  <a:tcPr marT="81140" marB="32456">
                    <a:lnL w="12700"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28575" cap="flat" cmpd="sng">
                      <a:solidFill>
                        <a:schemeClr val="tx1"/>
                      </a:solidFill>
                      <a:prstDash val="solid"/>
                      <a:headEnd type="none" w="sm" len="sm"/>
                      <a:tailEnd type="none" w="sm" len="sm"/>
                    </a:lnT>
                    <a:lnB w="28575" cap="flat" cmpd="sng">
                      <a:solidFill>
                        <a:schemeClr val="tx1"/>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1700" dirty="0">
                          <a:solidFill>
                            <a:srgbClr val="0033CC"/>
                          </a:solidFill>
                          <a:latin typeface="楷体_GB2312" pitchFamily="49" charset="-122"/>
                        </a:rPr>
                        <a:t>学时</a:t>
                      </a:r>
                    </a:p>
                  </a:txBody>
                  <a:tcPr marT="81140" marB="32456">
                    <a:lnL w="12700" cap="flat" cmpd="sng">
                      <a:solidFill>
                        <a:schemeClr val="tx1"/>
                      </a:solidFill>
                      <a:prstDash val="solid"/>
                      <a:headEnd type="none" w="sm" len="sm"/>
                      <a:tailEnd type="none" w="sm" len="sm"/>
                    </a:lnL>
                    <a:lnR w="28575" cap="flat" cmpd="sng">
                      <a:solidFill>
                        <a:schemeClr val="tx1"/>
                      </a:solidFill>
                      <a:prstDash val="solid"/>
                      <a:headEnd type="none" w="sm" len="sm"/>
                      <a:tailEnd type="none" w="sm" len="sm"/>
                    </a:lnR>
                    <a:lnT w="28575" cap="flat" cmpd="sng">
                      <a:solidFill>
                        <a:schemeClr val="tx1"/>
                      </a:solidFill>
                      <a:prstDash val="solid"/>
                      <a:headEnd type="none" w="sm" len="sm"/>
                      <a:tailEnd type="none" w="sm" len="sm"/>
                    </a:lnT>
                    <a:lnB w="28575" cap="flat" cmpd="sng">
                      <a:solidFill>
                        <a:schemeClr val="tx1"/>
                      </a:solidFill>
                      <a:prstDash val="solid"/>
                      <a:headEnd type="none" w="sm" len="sm"/>
                      <a:tailEnd type="none" w="sm" len="sm"/>
                    </a:lnB>
                    <a:lnTlToBr>
                      <a:noFill/>
                    </a:lnTlToBr>
                    <a:lnBlToTr>
                      <a:noFill/>
                    </a:lnBlToTr>
                    <a:noFill/>
                  </a:tcPr>
                </a:tc>
                <a:extLst>
                  <a:ext uri="{0D108BD9-81ED-4DB2-BD59-A6C34878D82A}">
                    <a16:rowId xmlns:a16="http://schemas.microsoft.com/office/drawing/2014/main" val="10000"/>
                  </a:ext>
                </a:extLst>
              </a:tr>
              <a:tr h="710336">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700">
                          <a:latin typeface="楷体_GB2312" pitchFamily="49" charset="-122"/>
                        </a:rPr>
                        <a:t>C401001</a:t>
                      </a:r>
                      <a:endParaRPr lang="zh-CN" altLang="en-US" sz="1700">
                        <a:latin typeface="楷体_GB2312" pitchFamily="49" charset="-122"/>
                      </a:endParaRPr>
                    </a:p>
                  </a:txBody>
                  <a:tcPr marT="81140" marB="32456">
                    <a:lnL w="28575"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28575" cap="flat" cmpd="sng">
                      <a:solidFill>
                        <a:schemeClr val="tx1"/>
                      </a:solidFill>
                      <a:prstDash val="solid"/>
                      <a:headEnd type="none" w="sm" len="sm"/>
                      <a:tailEnd type="none" w="sm" len="sm"/>
                    </a:lnT>
                    <a:lnB w="12700" cap="flat" cmpd="sng">
                      <a:solidFill>
                        <a:schemeClr val="tx1"/>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1700" dirty="0">
                          <a:latin typeface="楷体_GB2312" pitchFamily="49" charset="-122"/>
                        </a:rPr>
                        <a:t>数据结构 </a:t>
                      </a:r>
                    </a:p>
                  </a:txBody>
                  <a:tcPr marT="81140" marB="32456">
                    <a:lnL w="12700"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28575" cap="flat" cmpd="sng">
                      <a:solidFill>
                        <a:schemeClr val="tx1"/>
                      </a:solidFill>
                      <a:prstDash val="solid"/>
                      <a:headEnd type="none" w="sm" len="sm"/>
                      <a:tailEnd type="none" w="sm" len="sm"/>
                    </a:lnT>
                    <a:lnB w="12700" cap="flat" cmpd="sng">
                      <a:solidFill>
                        <a:schemeClr val="tx1"/>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1700" dirty="0">
                          <a:latin typeface="楷体_GB2312" pitchFamily="49" charset="-122"/>
                        </a:rPr>
                        <a:t>70 </a:t>
                      </a:r>
                    </a:p>
                  </a:txBody>
                  <a:tcPr marT="81140" marB="32456">
                    <a:lnL w="12700" cap="flat" cmpd="sng">
                      <a:solidFill>
                        <a:schemeClr val="tx1"/>
                      </a:solidFill>
                      <a:prstDash val="solid"/>
                      <a:headEnd type="none" w="sm" len="sm"/>
                      <a:tailEnd type="none" w="sm" len="sm"/>
                    </a:lnL>
                    <a:lnR w="28575" cap="flat" cmpd="sng">
                      <a:solidFill>
                        <a:schemeClr val="tx1"/>
                      </a:solidFill>
                      <a:prstDash val="solid"/>
                      <a:headEnd type="none" w="sm" len="sm"/>
                      <a:tailEnd type="none" w="sm" len="sm"/>
                    </a:lnR>
                    <a:lnT w="28575" cap="flat" cmpd="sng">
                      <a:solidFill>
                        <a:schemeClr val="tx1"/>
                      </a:solidFill>
                      <a:prstDash val="solid"/>
                      <a:headEnd type="none" w="sm" len="sm"/>
                      <a:tailEnd type="none" w="sm" len="sm"/>
                    </a:lnT>
                    <a:lnB w="12700" cap="flat" cmpd="sng">
                      <a:solidFill>
                        <a:schemeClr val="tx1"/>
                      </a:solidFill>
                      <a:prstDash val="solid"/>
                      <a:headEnd type="none" w="sm" len="sm"/>
                      <a:tailEnd type="none" w="sm" len="sm"/>
                    </a:lnB>
                    <a:lnTlToBr>
                      <a:noFill/>
                    </a:lnTlToBr>
                    <a:lnBlToTr>
                      <a:noFill/>
                    </a:lnBlToTr>
                    <a:noFill/>
                  </a:tcPr>
                </a:tc>
                <a:extLst>
                  <a:ext uri="{0D108BD9-81ED-4DB2-BD59-A6C34878D82A}">
                    <a16:rowId xmlns:a16="http://schemas.microsoft.com/office/drawing/2014/main" val="10001"/>
                  </a:ext>
                </a:extLst>
              </a:tr>
              <a:tr h="710336">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700">
                          <a:latin typeface="楷体_GB2312" pitchFamily="49" charset="-122"/>
                        </a:rPr>
                        <a:t>C401002 </a:t>
                      </a:r>
                      <a:endParaRPr lang="zh-CN" altLang="en-US" sz="1700">
                        <a:latin typeface="楷体_GB2312" pitchFamily="49" charset="-122"/>
                      </a:endParaRPr>
                    </a:p>
                  </a:txBody>
                  <a:tcPr marT="81140" marB="32456">
                    <a:lnL w="28575"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12700" cap="flat" cmpd="sng">
                      <a:solidFill>
                        <a:schemeClr val="tx1"/>
                      </a:solidFill>
                      <a:prstDash val="solid"/>
                      <a:headEnd type="none" w="sm" len="sm"/>
                      <a:tailEnd type="none" w="sm" len="sm"/>
                    </a:lnT>
                    <a:lnB w="12700" cap="flat" cmpd="sng">
                      <a:solidFill>
                        <a:schemeClr val="tx1"/>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1700" dirty="0">
                          <a:latin typeface="楷体_GB2312" pitchFamily="49" charset="-122"/>
                        </a:rPr>
                        <a:t>操作系统 </a:t>
                      </a:r>
                    </a:p>
                  </a:txBody>
                  <a:tcPr marT="81140" marB="32456">
                    <a:lnL w="12700"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12700" cap="flat" cmpd="sng">
                      <a:solidFill>
                        <a:schemeClr val="tx1"/>
                      </a:solidFill>
                      <a:prstDash val="solid"/>
                      <a:headEnd type="none" w="sm" len="sm"/>
                      <a:tailEnd type="none" w="sm" len="sm"/>
                    </a:lnT>
                    <a:lnB w="12700" cap="flat" cmpd="sng">
                      <a:solidFill>
                        <a:schemeClr val="tx1"/>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700">
                          <a:latin typeface="楷体_GB2312" pitchFamily="49" charset="-122"/>
                        </a:rPr>
                        <a:t>80</a:t>
                      </a:r>
                    </a:p>
                  </a:txBody>
                  <a:tcPr marT="81140" marB="32456">
                    <a:lnL w="12700" cap="flat" cmpd="sng">
                      <a:solidFill>
                        <a:schemeClr val="tx1"/>
                      </a:solidFill>
                      <a:prstDash val="solid"/>
                      <a:headEnd type="none" w="sm" len="sm"/>
                      <a:tailEnd type="none" w="sm" len="sm"/>
                    </a:lnL>
                    <a:lnR w="28575" cap="flat" cmpd="sng">
                      <a:solidFill>
                        <a:schemeClr val="tx1"/>
                      </a:solidFill>
                      <a:prstDash val="solid"/>
                      <a:headEnd type="none" w="sm" len="sm"/>
                      <a:tailEnd type="none" w="sm" len="sm"/>
                    </a:lnR>
                    <a:lnT w="12700" cap="flat" cmpd="sng">
                      <a:solidFill>
                        <a:schemeClr val="tx1"/>
                      </a:solidFill>
                      <a:prstDash val="solid"/>
                      <a:headEnd type="none" w="sm" len="sm"/>
                      <a:tailEnd type="none" w="sm" len="sm"/>
                    </a:lnT>
                    <a:lnB w="12700" cap="flat" cmpd="sng">
                      <a:solidFill>
                        <a:schemeClr val="tx1"/>
                      </a:solidFill>
                      <a:prstDash val="solid"/>
                      <a:headEnd type="none" w="sm" len="sm"/>
                      <a:tailEnd type="none" w="sm" len="sm"/>
                    </a:lnB>
                    <a:lnTlToBr>
                      <a:noFill/>
                    </a:lnTlToBr>
                    <a:lnBlToTr>
                      <a:noFill/>
                    </a:lnBlToTr>
                    <a:noFill/>
                  </a:tcPr>
                </a:tc>
                <a:extLst>
                  <a:ext uri="{0D108BD9-81ED-4DB2-BD59-A6C34878D82A}">
                    <a16:rowId xmlns:a16="http://schemas.microsoft.com/office/drawing/2014/main" val="10002"/>
                  </a:ext>
                </a:extLst>
              </a:tr>
              <a:tr h="710336">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700">
                          <a:latin typeface="楷体_GB2312" pitchFamily="49" charset="-122"/>
                        </a:rPr>
                        <a:t>C402001 </a:t>
                      </a:r>
                      <a:endParaRPr lang="zh-CN" altLang="en-US" sz="1700">
                        <a:latin typeface="楷体_GB2312" pitchFamily="49" charset="-122"/>
                      </a:endParaRPr>
                    </a:p>
                  </a:txBody>
                  <a:tcPr marT="81140" marB="32456">
                    <a:lnL w="28575"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12700" cap="flat" cmpd="sng">
                      <a:solidFill>
                        <a:schemeClr val="tx1"/>
                      </a:solidFill>
                      <a:prstDash val="solid"/>
                      <a:headEnd type="none" w="sm" len="sm"/>
                      <a:tailEnd type="none" w="sm" len="sm"/>
                    </a:lnT>
                    <a:lnB w="28575" cap="flat" cmpd="sng">
                      <a:solidFill>
                        <a:schemeClr val="tx1"/>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1700" dirty="0">
                          <a:latin typeface="楷体_GB2312" pitchFamily="49" charset="-122"/>
                        </a:rPr>
                        <a:t>计算机原理 </a:t>
                      </a:r>
                    </a:p>
                  </a:txBody>
                  <a:tcPr marT="81140" marB="32456">
                    <a:lnL w="12700"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12700" cap="flat" cmpd="sng">
                      <a:solidFill>
                        <a:schemeClr val="tx1"/>
                      </a:solidFill>
                      <a:prstDash val="solid"/>
                      <a:headEnd type="none" w="sm" len="sm"/>
                      <a:tailEnd type="none" w="sm" len="sm"/>
                    </a:lnT>
                    <a:lnB w="28575" cap="flat" cmpd="sng">
                      <a:solidFill>
                        <a:schemeClr val="tx1"/>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1700" dirty="0">
                          <a:latin typeface="楷体_GB2312" pitchFamily="49" charset="-122"/>
                        </a:rPr>
                        <a:t>60</a:t>
                      </a:r>
                    </a:p>
                  </a:txBody>
                  <a:tcPr marT="81140" marB="32456">
                    <a:lnL w="12700" cap="flat" cmpd="sng">
                      <a:solidFill>
                        <a:schemeClr val="tx1"/>
                      </a:solidFill>
                      <a:prstDash val="solid"/>
                      <a:headEnd type="none" w="sm" len="sm"/>
                      <a:tailEnd type="none" w="sm" len="sm"/>
                    </a:lnL>
                    <a:lnR w="28575" cap="flat" cmpd="sng">
                      <a:solidFill>
                        <a:schemeClr val="tx1"/>
                      </a:solidFill>
                      <a:prstDash val="solid"/>
                      <a:headEnd type="none" w="sm" len="sm"/>
                      <a:tailEnd type="none" w="sm" len="sm"/>
                    </a:lnR>
                    <a:lnT w="12700" cap="flat" cmpd="sng">
                      <a:solidFill>
                        <a:schemeClr val="tx1"/>
                      </a:solidFill>
                      <a:prstDash val="solid"/>
                      <a:headEnd type="none" w="sm" len="sm"/>
                      <a:tailEnd type="none" w="sm" len="sm"/>
                    </a:lnT>
                    <a:lnB w="28575" cap="flat" cmpd="sng">
                      <a:solidFill>
                        <a:schemeClr val="tx1"/>
                      </a:solidFill>
                      <a:prstDash val="solid"/>
                      <a:headEnd type="none" w="sm" len="sm"/>
                      <a:tailEnd type="none" w="sm" len="sm"/>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6887" name="文本框 826393">
            <a:extLst>
              <a:ext uri="{FF2B5EF4-FFF2-40B4-BE49-F238E27FC236}">
                <a16:creationId xmlns:a16="http://schemas.microsoft.com/office/drawing/2014/main" id="{C077B1E7-F3E5-4A22-AC60-523C11A4B39B}"/>
              </a:ext>
            </a:extLst>
          </p:cNvPr>
          <p:cNvSpPr txBox="1">
            <a:spLocks noChangeArrowheads="1"/>
          </p:cNvSpPr>
          <p:nvPr/>
        </p:nvSpPr>
        <p:spPr bwMode="auto">
          <a:xfrm>
            <a:off x="179388" y="2159000"/>
            <a:ext cx="1639887" cy="45720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pPr algn="ctr"/>
            <a:r>
              <a:rPr lang="zh-CN" altLang="en-US" sz="2400" b="1">
                <a:latin typeface="楷体_GB2312" pitchFamily="49" charset="-122"/>
              </a:rPr>
              <a:t>课程关系</a:t>
            </a:r>
            <a:r>
              <a:rPr lang="en-US" altLang="zh-CN" sz="2400" b="1">
                <a:latin typeface="楷体_GB2312" pitchFamily="49" charset="-122"/>
              </a:rPr>
              <a:t>C</a:t>
            </a:r>
            <a:r>
              <a:rPr lang="en-US" altLang="zh-CN" sz="2400" b="1">
                <a:latin typeface="Times New Roman" panose="02020603050405020304" pitchFamily="18" charset="0"/>
                <a:ea typeface="宋体" panose="02010600030101010101" pitchFamily="2" charset="-122"/>
              </a:rPr>
              <a:t> </a:t>
            </a:r>
            <a:endParaRPr lang="zh-CN" altLang="en-US" sz="2400" b="1">
              <a:latin typeface="Times New Roman" panose="02020603050405020304" pitchFamily="18" charset="0"/>
              <a:ea typeface="宋体" panose="02010600030101010101" pitchFamily="2" charset="-122"/>
            </a:endParaRPr>
          </a:p>
        </p:txBody>
      </p:sp>
      <p:sp>
        <p:nvSpPr>
          <p:cNvPr id="826395" name="圆角矩形标注 826394">
            <a:extLst>
              <a:ext uri="{FF2B5EF4-FFF2-40B4-BE49-F238E27FC236}">
                <a16:creationId xmlns:a16="http://schemas.microsoft.com/office/drawing/2014/main" id="{E69F63ED-AE7D-4CCB-B1E4-2A89BB6FA508}"/>
              </a:ext>
            </a:extLst>
          </p:cNvPr>
          <p:cNvSpPr/>
          <p:nvPr/>
        </p:nvSpPr>
        <p:spPr>
          <a:xfrm>
            <a:off x="6616700" y="2668588"/>
            <a:ext cx="914400" cy="609600"/>
          </a:xfrm>
          <a:prstGeom prst="wedgeRoundRectCallout">
            <a:avLst>
              <a:gd name="adj1" fmla="val -115106"/>
              <a:gd name="adj2" fmla="val 36458"/>
              <a:gd name="adj3" fmla="val 16667"/>
            </a:avLst>
          </a:prstGeom>
          <a:solidFill>
            <a:srgbClr val="00FF00"/>
          </a:solidFill>
          <a:ln w="12700" cap="sq" cmpd="sng">
            <a:solidFill>
              <a:schemeClr val="tx1"/>
            </a:solidFill>
            <a:prstDash val="solid"/>
            <a:miter/>
            <a:headEnd type="none" w="sm" len="sm"/>
            <a:tailEnd type="none" w="sm" len="sm"/>
          </a:ln>
          <a:effectLst>
            <a:outerShdw dist="35921" dir="2699999" algn="ctr" rotWithShape="0">
              <a:srgbClr val="000066"/>
            </a:outerShdw>
          </a:effectLst>
        </p:spPr>
        <p:txBody>
          <a:bodyPr anchor="ctr"/>
          <a:lstStyle/>
          <a:p>
            <a:pPr algn="ctr"/>
            <a:r>
              <a:rPr lang="zh-CN" altLang="en-US" sz="2000" b="1" u="sng" noProof="1">
                <a:effectLst>
                  <a:outerShdw blurRad="38100" dist="38100" dir="2700000">
                    <a:srgbClr val="FFFFFF"/>
                  </a:outerShdw>
                </a:effectLst>
                <a:latin typeface="楷体_GB2312" pitchFamily="49" charset="-122"/>
              </a:rPr>
              <a:t>元组</a:t>
            </a:r>
            <a:r>
              <a:rPr lang="zh-CN" altLang="en-US" sz="2000" b="1" noProof="1">
                <a:effectLst>
                  <a:outerShdw blurRad="38100" dist="38100" dir="2700000">
                    <a:srgbClr val="FFFFFF"/>
                  </a:outerShdw>
                </a:effectLst>
                <a:latin typeface="楷体_GB2312" pitchFamily="49" charset="-122"/>
              </a:rPr>
              <a:t>1</a:t>
            </a:r>
          </a:p>
        </p:txBody>
      </p:sp>
      <p:sp>
        <p:nvSpPr>
          <p:cNvPr id="826396" name="圆角矩形标注 826395">
            <a:extLst>
              <a:ext uri="{FF2B5EF4-FFF2-40B4-BE49-F238E27FC236}">
                <a16:creationId xmlns:a16="http://schemas.microsoft.com/office/drawing/2014/main" id="{4C0E9500-E2D9-4FAB-BBFF-32178F1D62FC}"/>
              </a:ext>
            </a:extLst>
          </p:cNvPr>
          <p:cNvSpPr/>
          <p:nvPr/>
        </p:nvSpPr>
        <p:spPr>
          <a:xfrm>
            <a:off x="6616700" y="3316288"/>
            <a:ext cx="914400" cy="609600"/>
          </a:xfrm>
          <a:prstGeom prst="wedgeRoundRectCallout">
            <a:avLst>
              <a:gd name="adj1" fmla="val -111634"/>
              <a:gd name="adj2" fmla="val 36458"/>
              <a:gd name="adj3" fmla="val 16667"/>
            </a:avLst>
          </a:prstGeom>
          <a:solidFill>
            <a:srgbClr val="00FF00"/>
          </a:solidFill>
          <a:ln w="12700" cap="sq" cmpd="sng">
            <a:solidFill>
              <a:schemeClr val="tx1"/>
            </a:solidFill>
            <a:prstDash val="solid"/>
            <a:miter/>
            <a:headEnd type="none" w="sm" len="sm"/>
            <a:tailEnd type="none" w="sm" len="sm"/>
          </a:ln>
          <a:effectLst>
            <a:outerShdw dist="35921" dir="2699999" algn="ctr" rotWithShape="0">
              <a:srgbClr val="000066"/>
            </a:outerShdw>
          </a:effectLst>
        </p:spPr>
        <p:txBody>
          <a:bodyPr anchor="ctr"/>
          <a:lstStyle/>
          <a:p>
            <a:pPr algn="ctr"/>
            <a:r>
              <a:rPr lang="zh-CN" altLang="en-US" sz="2000" b="1" u="sng" noProof="1">
                <a:effectLst>
                  <a:outerShdw blurRad="38100" dist="38100" dir="2700000">
                    <a:srgbClr val="FFFFFF"/>
                  </a:outerShdw>
                </a:effectLst>
                <a:latin typeface="楷体_GB2312" pitchFamily="49" charset="-122"/>
              </a:rPr>
              <a:t>元组2</a:t>
            </a:r>
          </a:p>
        </p:txBody>
      </p:sp>
      <p:sp>
        <p:nvSpPr>
          <p:cNvPr id="826397" name="圆角矩形标注 826396">
            <a:extLst>
              <a:ext uri="{FF2B5EF4-FFF2-40B4-BE49-F238E27FC236}">
                <a16:creationId xmlns:a16="http://schemas.microsoft.com/office/drawing/2014/main" id="{9B20842A-B98D-4F21-AD7E-8AD4B07944A8}"/>
              </a:ext>
            </a:extLst>
          </p:cNvPr>
          <p:cNvSpPr/>
          <p:nvPr/>
        </p:nvSpPr>
        <p:spPr>
          <a:xfrm>
            <a:off x="6616700" y="3978275"/>
            <a:ext cx="914400" cy="609600"/>
          </a:xfrm>
          <a:prstGeom prst="wedgeRoundRectCallout">
            <a:avLst>
              <a:gd name="adj1" fmla="val -111634"/>
              <a:gd name="adj2" fmla="val 28907"/>
              <a:gd name="adj3" fmla="val 16667"/>
            </a:avLst>
          </a:prstGeom>
          <a:solidFill>
            <a:srgbClr val="00FF00"/>
          </a:solidFill>
          <a:ln w="12700" cap="sq" cmpd="sng">
            <a:solidFill>
              <a:schemeClr val="tx1"/>
            </a:solidFill>
            <a:prstDash val="solid"/>
            <a:miter/>
            <a:headEnd type="none" w="sm" len="sm"/>
            <a:tailEnd type="none" w="sm" len="sm"/>
          </a:ln>
          <a:effectLst>
            <a:outerShdw dist="35921" dir="2699999" algn="ctr" rotWithShape="0">
              <a:srgbClr val="000066"/>
            </a:outerShdw>
          </a:effectLst>
        </p:spPr>
        <p:txBody>
          <a:bodyPr anchor="ctr"/>
          <a:lstStyle/>
          <a:p>
            <a:pPr algn="ctr"/>
            <a:r>
              <a:rPr lang="zh-CN" altLang="en-US" sz="2000" b="1" u="sng" noProof="1">
                <a:effectLst>
                  <a:outerShdw blurRad="38100" dist="38100" dir="2700000">
                    <a:srgbClr val="FFFFFF"/>
                  </a:outerShdw>
                </a:effectLst>
                <a:latin typeface="楷体_GB2312" pitchFamily="49" charset="-122"/>
              </a:rPr>
              <a:t>元组3</a:t>
            </a:r>
          </a:p>
        </p:txBody>
      </p:sp>
      <p:grpSp>
        <p:nvGrpSpPr>
          <p:cNvPr id="826398" name="组合 826397">
            <a:extLst>
              <a:ext uri="{FF2B5EF4-FFF2-40B4-BE49-F238E27FC236}">
                <a16:creationId xmlns:a16="http://schemas.microsoft.com/office/drawing/2014/main" id="{84D6989B-2154-4311-A36F-66FAA923EEF9}"/>
              </a:ext>
            </a:extLst>
          </p:cNvPr>
          <p:cNvGrpSpPr>
            <a:grpSpLocks/>
          </p:cNvGrpSpPr>
          <p:nvPr/>
        </p:nvGrpSpPr>
        <p:grpSpPr bwMode="auto">
          <a:xfrm>
            <a:off x="7683500" y="2792413"/>
            <a:ext cx="1231900" cy="1676400"/>
            <a:chOff x="4840" y="2167"/>
            <a:chExt cx="776" cy="1056"/>
          </a:xfrm>
        </p:grpSpPr>
        <p:sp>
          <p:nvSpPr>
            <p:cNvPr id="36892" name="右大括号 826398">
              <a:extLst>
                <a:ext uri="{FF2B5EF4-FFF2-40B4-BE49-F238E27FC236}">
                  <a16:creationId xmlns:a16="http://schemas.microsoft.com/office/drawing/2014/main" id="{7AB1D2A3-4E1C-4080-A0FD-1A17DB4BD994}"/>
                </a:ext>
              </a:extLst>
            </p:cNvPr>
            <p:cNvSpPr>
              <a:spLocks/>
            </p:cNvSpPr>
            <p:nvPr/>
          </p:nvSpPr>
          <p:spPr bwMode="auto">
            <a:xfrm>
              <a:off x="4840" y="2167"/>
              <a:ext cx="240" cy="1056"/>
            </a:xfrm>
            <a:prstGeom prst="rightBrace">
              <a:avLst>
                <a:gd name="adj1" fmla="val 36646"/>
                <a:gd name="adj2" fmla="val 50000"/>
              </a:avLst>
            </a:prstGeom>
            <a:noFill/>
            <a:ln w="317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893" name="文本框 826399">
              <a:extLst>
                <a:ext uri="{FF2B5EF4-FFF2-40B4-BE49-F238E27FC236}">
                  <a16:creationId xmlns:a16="http://schemas.microsoft.com/office/drawing/2014/main" id="{2A0B9311-D0F5-4453-84B1-9B22F783BB2B}"/>
                </a:ext>
              </a:extLst>
            </p:cNvPr>
            <p:cNvSpPr txBox="1">
              <a:spLocks noChangeArrowheads="1"/>
            </p:cNvSpPr>
            <p:nvPr/>
          </p:nvSpPr>
          <p:spPr bwMode="auto">
            <a:xfrm>
              <a:off x="5012" y="2432"/>
              <a:ext cx="604" cy="518"/>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rIns="0">
              <a:spAutoFit/>
            </a:bodyPr>
            <a:lstStyle/>
            <a:p>
              <a:pPr algn="ctr"/>
              <a:r>
                <a:rPr lang="zh-CN" altLang="en-US" sz="2400" b="1" u="sng">
                  <a:latin typeface="Times New Roman" panose="02020603050405020304" pitchFamily="18" charset="0"/>
                </a:rPr>
                <a:t>关系</a:t>
              </a:r>
            </a:p>
            <a:p>
              <a:pPr algn="ctr"/>
              <a:r>
                <a:rPr lang="zh-CN" altLang="en-US" sz="2400" b="1" u="sng">
                  <a:latin typeface="Times New Roman" panose="02020603050405020304" pitchFamily="18" charset="0"/>
                </a:rPr>
                <a:t>状态</a:t>
              </a:r>
            </a:p>
          </p:txBody>
        </p:sp>
      </p:grpSp>
      <p:sp>
        <p:nvSpPr>
          <p:cNvPr id="826401" name="文本框 826400">
            <a:extLst>
              <a:ext uri="{FF2B5EF4-FFF2-40B4-BE49-F238E27FC236}">
                <a16:creationId xmlns:a16="http://schemas.microsoft.com/office/drawing/2014/main" id="{DEAEEDF8-1FB7-43AD-B1FD-64B1A639FE6B}"/>
              </a:ext>
            </a:extLst>
          </p:cNvPr>
          <p:cNvSpPr txBox="1">
            <a:spLocks noChangeArrowheads="1"/>
          </p:cNvSpPr>
          <p:nvPr/>
        </p:nvSpPr>
        <p:spPr bwMode="auto">
          <a:xfrm>
            <a:off x="1835150" y="5170488"/>
            <a:ext cx="6697663" cy="365125"/>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r>
              <a:rPr lang="zh-CN" altLang="en-US" sz="2400" b="1">
                <a:latin typeface="楷体_GB2312" pitchFamily="49" charset="-122"/>
              </a:rPr>
              <a:t>关系模式名（属性名1，属性名2，</a:t>
            </a:r>
            <a:r>
              <a:rPr lang="zh-CN" altLang="en-US" sz="2400" b="1">
                <a:latin typeface="Times New Roman" panose="02020603050405020304" pitchFamily="18" charset="0"/>
              </a:rPr>
              <a:t>…</a:t>
            </a:r>
            <a:r>
              <a:rPr lang="zh-CN" altLang="en-US" sz="2400" b="1">
                <a:latin typeface="楷体_GB2312" pitchFamily="49" charset="-122"/>
              </a:rPr>
              <a:t>，属性名</a:t>
            </a:r>
            <a:r>
              <a:rPr lang="en-US" altLang="zh-CN" sz="2400" b="1">
                <a:latin typeface="楷体_GB2312" pitchFamily="49" charset="-122"/>
              </a:rPr>
              <a:t>n） </a:t>
            </a:r>
            <a:endParaRPr lang="zh-CN" altLang="en-US" sz="2400" b="1">
              <a:latin typeface="楷体_GB2312" pitchFamily="49" charset="-122"/>
            </a:endParaRPr>
          </a:p>
        </p:txBody>
      </p:sp>
      <p:grpSp>
        <p:nvGrpSpPr>
          <p:cNvPr id="826402" name="组合 826401">
            <a:extLst>
              <a:ext uri="{FF2B5EF4-FFF2-40B4-BE49-F238E27FC236}">
                <a16:creationId xmlns:a16="http://schemas.microsoft.com/office/drawing/2014/main" id="{9C8DFB5C-9DAD-4334-BB32-A9A4CBFB43C3}"/>
              </a:ext>
            </a:extLst>
          </p:cNvPr>
          <p:cNvGrpSpPr>
            <a:grpSpLocks/>
          </p:cNvGrpSpPr>
          <p:nvPr/>
        </p:nvGrpSpPr>
        <p:grpSpPr bwMode="auto">
          <a:xfrm>
            <a:off x="539750" y="4057650"/>
            <a:ext cx="2735263" cy="1171575"/>
            <a:chOff x="340" y="2940"/>
            <a:chExt cx="1723" cy="738"/>
          </a:xfrm>
        </p:grpSpPr>
        <p:sp>
          <p:nvSpPr>
            <p:cNvPr id="826403" name="圆角矩形标注 826402">
              <a:extLst>
                <a:ext uri="{FF2B5EF4-FFF2-40B4-BE49-F238E27FC236}">
                  <a16:creationId xmlns:a16="http://schemas.microsoft.com/office/drawing/2014/main" id="{23BF7489-52DD-444A-8070-96550B6C8C08}"/>
                </a:ext>
              </a:extLst>
            </p:cNvPr>
            <p:cNvSpPr/>
            <p:nvPr/>
          </p:nvSpPr>
          <p:spPr>
            <a:xfrm>
              <a:off x="340" y="3294"/>
              <a:ext cx="672" cy="384"/>
            </a:xfrm>
            <a:prstGeom prst="wedgeRoundRectCallout">
              <a:avLst>
                <a:gd name="adj1" fmla="val 96278"/>
                <a:gd name="adj2" fmla="val -66926"/>
                <a:gd name="adj3" fmla="val 16667"/>
              </a:avLst>
            </a:prstGeom>
            <a:solidFill>
              <a:srgbClr val="00FF00"/>
            </a:solidFill>
            <a:ln w="12700" cap="sq" cmpd="sng">
              <a:solidFill>
                <a:schemeClr val="tx1"/>
              </a:solidFill>
              <a:prstDash val="solid"/>
              <a:miter/>
              <a:headEnd type="none" w="sm" len="sm"/>
              <a:tailEnd type="none" w="sm" len="sm"/>
            </a:ln>
          </p:spPr>
          <p:txBody>
            <a:bodyPr anchor="ctr"/>
            <a:lstStyle/>
            <a:p>
              <a:pPr algn="ctr"/>
              <a:r>
                <a:rPr lang="zh-CN" altLang="en-US" sz="2000" b="1" noProof="1">
                  <a:effectLst>
                    <a:outerShdw blurRad="38100" dist="38100" dir="2700000">
                      <a:srgbClr val="FFFFFF"/>
                    </a:outerShdw>
                  </a:effectLst>
                  <a:latin typeface="楷体_GB2312" pitchFamily="49" charset="-122"/>
                </a:rPr>
                <a:t>属性值</a:t>
              </a:r>
            </a:p>
          </p:txBody>
        </p:sp>
        <p:sp>
          <p:nvSpPr>
            <p:cNvPr id="36897" name="椭圆 826403">
              <a:extLst>
                <a:ext uri="{FF2B5EF4-FFF2-40B4-BE49-F238E27FC236}">
                  <a16:creationId xmlns:a16="http://schemas.microsoft.com/office/drawing/2014/main" id="{1B01E84E-75D8-4AAF-BF98-A064FB16DCED}"/>
                </a:ext>
              </a:extLst>
            </p:cNvPr>
            <p:cNvSpPr>
              <a:spLocks noChangeArrowheads="1"/>
            </p:cNvSpPr>
            <p:nvPr/>
          </p:nvSpPr>
          <p:spPr bwMode="auto">
            <a:xfrm>
              <a:off x="1156" y="2940"/>
              <a:ext cx="907" cy="318"/>
            </a:xfrm>
            <a:prstGeom prst="ellipse">
              <a:avLst/>
            </a:prstGeom>
            <a:noFill/>
            <a:ln w="38100" cap="sq">
              <a:solidFill>
                <a:srgbClr val="800080"/>
              </a:solidFill>
              <a:round/>
              <a:headEnd type="none" w="sm" len="sm"/>
              <a:tailEnd type="none" w="sm" len="sm"/>
            </a:ln>
            <a:effectLst>
              <a:outerShdw dist="35921" dir="2700000" algn="ctr" rotWithShape="0">
                <a:srgbClr val="000066"/>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26405" name="组合 826404">
            <a:extLst>
              <a:ext uri="{FF2B5EF4-FFF2-40B4-BE49-F238E27FC236}">
                <a16:creationId xmlns:a16="http://schemas.microsoft.com/office/drawing/2014/main" id="{0B3DF0A9-F49F-46F7-9B92-E58EC6BD5CF1}"/>
              </a:ext>
            </a:extLst>
          </p:cNvPr>
          <p:cNvGrpSpPr>
            <a:grpSpLocks/>
          </p:cNvGrpSpPr>
          <p:nvPr/>
        </p:nvGrpSpPr>
        <p:grpSpPr bwMode="auto">
          <a:xfrm>
            <a:off x="3535363" y="1268413"/>
            <a:ext cx="1735137" cy="1339850"/>
            <a:chOff x="2227" y="1207"/>
            <a:chExt cx="1093" cy="844"/>
          </a:xfrm>
        </p:grpSpPr>
        <p:sp>
          <p:nvSpPr>
            <p:cNvPr id="826406" name="圆角矩形标注 826405">
              <a:extLst>
                <a:ext uri="{FF2B5EF4-FFF2-40B4-BE49-F238E27FC236}">
                  <a16:creationId xmlns:a16="http://schemas.microsoft.com/office/drawing/2014/main" id="{30C78AD0-0077-4583-BF32-483E17807DF6}"/>
                </a:ext>
              </a:extLst>
            </p:cNvPr>
            <p:cNvSpPr/>
            <p:nvPr/>
          </p:nvSpPr>
          <p:spPr>
            <a:xfrm>
              <a:off x="2744" y="1207"/>
              <a:ext cx="576" cy="294"/>
            </a:xfrm>
            <a:prstGeom prst="wedgeRoundRectCallout">
              <a:avLst>
                <a:gd name="adj1" fmla="val -60417"/>
                <a:gd name="adj2" fmla="val 125171"/>
                <a:gd name="adj3" fmla="val 16667"/>
              </a:avLst>
            </a:prstGeom>
            <a:solidFill>
              <a:srgbClr val="00FF00"/>
            </a:solidFill>
            <a:ln w="12700" cap="sq" cmpd="sng">
              <a:solidFill>
                <a:schemeClr val="tx1"/>
              </a:solidFill>
              <a:prstDash val="solid"/>
              <a:miter/>
              <a:headEnd type="none" w="sm" len="sm"/>
              <a:tailEnd type="none" w="sm" len="sm"/>
            </a:ln>
            <a:effectLst>
              <a:outerShdw dist="35921" dir="2699999" algn="ctr" rotWithShape="0">
                <a:srgbClr val="000066"/>
              </a:outerShdw>
            </a:effectLst>
          </p:spPr>
          <p:txBody>
            <a:bodyPr anchor="ctr"/>
            <a:lstStyle/>
            <a:p>
              <a:pPr algn="ctr"/>
              <a:r>
                <a:rPr lang="zh-CN" altLang="en-US" sz="2000" b="1" u="sng" noProof="1">
                  <a:effectLst>
                    <a:outerShdw blurRad="38100" dist="38100" dir="2700000">
                      <a:srgbClr val="FFFFFF"/>
                    </a:outerShdw>
                  </a:effectLst>
                  <a:latin typeface="楷体_GB2312" pitchFamily="49" charset="-122"/>
                </a:rPr>
                <a:t>属性</a:t>
              </a:r>
            </a:p>
          </p:txBody>
        </p:sp>
        <p:sp>
          <p:nvSpPr>
            <p:cNvPr id="36900" name="椭圆 826406">
              <a:extLst>
                <a:ext uri="{FF2B5EF4-FFF2-40B4-BE49-F238E27FC236}">
                  <a16:creationId xmlns:a16="http://schemas.microsoft.com/office/drawing/2014/main" id="{F6A02EBF-E6B4-48FE-A519-4661900C77C3}"/>
                </a:ext>
              </a:extLst>
            </p:cNvPr>
            <p:cNvSpPr>
              <a:spLocks noChangeArrowheads="1"/>
            </p:cNvSpPr>
            <p:nvPr/>
          </p:nvSpPr>
          <p:spPr bwMode="auto">
            <a:xfrm>
              <a:off x="2227" y="1733"/>
              <a:ext cx="907" cy="318"/>
            </a:xfrm>
            <a:prstGeom prst="ellipse">
              <a:avLst/>
            </a:prstGeom>
            <a:noFill/>
            <a:ln w="38100" cap="sq">
              <a:solidFill>
                <a:srgbClr val="800080"/>
              </a:solidFill>
              <a:round/>
              <a:headEnd type="none" w="sm" len="sm"/>
              <a:tailEnd type="none" w="sm" len="sm"/>
            </a:ln>
            <a:effectLst>
              <a:outerShdw dist="35921" dir="2700000" algn="ctr" rotWithShape="0">
                <a:srgbClr val="000066"/>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26408" name="组合 826407">
            <a:extLst>
              <a:ext uri="{FF2B5EF4-FFF2-40B4-BE49-F238E27FC236}">
                <a16:creationId xmlns:a16="http://schemas.microsoft.com/office/drawing/2014/main" id="{0E3DD9D5-F30E-4AF8-94EA-AE102FC9383E}"/>
              </a:ext>
            </a:extLst>
          </p:cNvPr>
          <p:cNvGrpSpPr>
            <a:grpSpLocks/>
          </p:cNvGrpSpPr>
          <p:nvPr/>
        </p:nvGrpSpPr>
        <p:grpSpPr bwMode="auto">
          <a:xfrm>
            <a:off x="2051050" y="1989138"/>
            <a:ext cx="5761038" cy="609600"/>
            <a:chOff x="1292" y="1595"/>
            <a:chExt cx="3629" cy="384"/>
          </a:xfrm>
        </p:grpSpPr>
        <p:sp>
          <p:nvSpPr>
            <p:cNvPr id="826409" name="圆角矩形标注 826408">
              <a:extLst>
                <a:ext uri="{FF2B5EF4-FFF2-40B4-BE49-F238E27FC236}">
                  <a16:creationId xmlns:a16="http://schemas.microsoft.com/office/drawing/2014/main" id="{41FAFF9D-8A4E-4551-AAFA-3008C84A5F99}"/>
                </a:ext>
              </a:extLst>
            </p:cNvPr>
            <p:cNvSpPr/>
            <p:nvPr/>
          </p:nvSpPr>
          <p:spPr>
            <a:xfrm>
              <a:off x="4150" y="1595"/>
              <a:ext cx="771" cy="384"/>
            </a:xfrm>
            <a:prstGeom prst="wedgeRoundRectCallout">
              <a:avLst>
                <a:gd name="adj1" fmla="val -90597"/>
                <a:gd name="adj2" fmla="val 48440"/>
                <a:gd name="adj3" fmla="val 16667"/>
              </a:avLst>
            </a:prstGeom>
            <a:solidFill>
              <a:srgbClr val="00FF00"/>
            </a:solidFill>
            <a:ln w="12700" cap="sq" cmpd="sng">
              <a:solidFill>
                <a:schemeClr val="tx1"/>
              </a:solidFill>
              <a:prstDash val="solid"/>
              <a:miter/>
              <a:headEnd type="none" w="sm" len="sm"/>
              <a:tailEnd type="none" w="sm" len="sm"/>
            </a:ln>
            <a:effectLst>
              <a:outerShdw dist="35921" dir="2699999" algn="ctr" rotWithShape="0">
                <a:srgbClr val="000066"/>
              </a:outerShdw>
            </a:effectLst>
          </p:spPr>
          <p:txBody>
            <a:bodyPr lIns="0" rIns="0" anchor="ctr"/>
            <a:lstStyle/>
            <a:p>
              <a:pPr algn="ctr"/>
              <a:r>
                <a:rPr lang="zh-CN" altLang="en-US" sz="2000" b="1" u="sng" noProof="1">
                  <a:effectLst>
                    <a:outerShdw blurRad="38100" dist="38100" dir="2700000">
                      <a:srgbClr val="FFFFFF"/>
                    </a:outerShdw>
                  </a:effectLst>
                  <a:latin typeface="楷体_GB2312" pitchFamily="49" charset="-122"/>
                </a:rPr>
                <a:t>关系模式</a:t>
              </a:r>
            </a:p>
          </p:txBody>
        </p:sp>
        <p:sp>
          <p:nvSpPr>
            <p:cNvPr id="36903" name="直接连接符 826409">
              <a:extLst>
                <a:ext uri="{FF2B5EF4-FFF2-40B4-BE49-F238E27FC236}">
                  <a16:creationId xmlns:a16="http://schemas.microsoft.com/office/drawing/2014/main" id="{87DC9F5F-B8D1-4D31-8851-F881A9D0A9C8}"/>
                </a:ext>
              </a:extLst>
            </p:cNvPr>
            <p:cNvSpPr>
              <a:spLocks noChangeShapeType="1"/>
            </p:cNvSpPr>
            <p:nvPr/>
          </p:nvSpPr>
          <p:spPr bwMode="auto">
            <a:xfrm>
              <a:off x="1292" y="1979"/>
              <a:ext cx="2541" cy="0"/>
            </a:xfrm>
            <a:prstGeom prst="line">
              <a:avLst/>
            </a:prstGeom>
            <a:noFill/>
            <a:ln w="38100" cap="sq">
              <a:solidFill>
                <a:srgbClr val="FF0000"/>
              </a:solidFill>
              <a:round/>
              <a:headEnd type="none" w="sm" len="sm"/>
              <a:tailEnd type="none" w="sm" len="sm"/>
            </a:ln>
            <a:effectLst>
              <a:outerShdw dist="35921" dir="2700000" algn="ctr" rotWithShape="0">
                <a:srgbClr val="000066"/>
              </a:outerShdw>
            </a:effectLst>
            <a:extLst>
              <a:ext uri="{909E8E84-426E-40DD-AFC4-6F175D3DCCD1}">
                <a14:hiddenFill xmlns:a14="http://schemas.microsoft.com/office/drawing/2010/main">
                  <a:noFill/>
                </a14:hiddenFill>
              </a:ext>
            </a:extLst>
          </p:spPr>
          <p:txBody>
            <a:bodyPr/>
            <a:lstStyle/>
            <a:p>
              <a:endParaRPr lang="zh-CN" altLang="en-US"/>
            </a:p>
          </p:txBody>
        </p:sp>
      </p:grpSp>
      <p:sp>
        <p:nvSpPr>
          <p:cNvPr id="826411" name="文本框 826410">
            <a:extLst>
              <a:ext uri="{FF2B5EF4-FFF2-40B4-BE49-F238E27FC236}">
                <a16:creationId xmlns:a16="http://schemas.microsoft.com/office/drawing/2014/main" id="{0C6E1906-DEC5-4077-9DD1-DE9535486805}"/>
              </a:ext>
            </a:extLst>
          </p:cNvPr>
          <p:cNvSpPr txBox="1">
            <a:spLocks noChangeArrowheads="1"/>
          </p:cNvSpPr>
          <p:nvPr/>
        </p:nvSpPr>
        <p:spPr bwMode="auto">
          <a:xfrm>
            <a:off x="1835150" y="5668963"/>
            <a:ext cx="6697663" cy="365125"/>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r>
              <a:rPr lang="zh-CN" altLang="en-US" sz="2400" b="1">
                <a:latin typeface="楷体_GB2312" pitchFamily="49" charset="-122"/>
              </a:rPr>
              <a:t>关系模型：关系模式组成的集合</a:t>
            </a:r>
            <a:r>
              <a:rPr lang="en-US" altLang="zh-CN" sz="2400" b="1">
                <a:latin typeface="楷体_GB2312" pitchFamily="49" charset="-122"/>
              </a:rPr>
              <a:t> </a:t>
            </a:r>
            <a:endParaRPr lang="zh-CN" altLang="en-US" sz="2400" b="1">
              <a:latin typeface="楷体_GB2312" pitchFamily="49" charset="-122"/>
            </a:endParaRPr>
          </a:p>
        </p:txBody>
      </p:sp>
      <p:sp>
        <p:nvSpPr>
          <p:cNvPr id="826412" name="矩形 826411">
            <a:extLst>
              <a:ext uri="{FF2B5EF4-FFF2-40B4-BE49-F238E27FC236}">
                <a16:creationId xmlns:a16="http://schemas.microsoft.com/office/drawing/2014/main" id="{2D01574A-976C-4363-8102-67ED382759BB}"/>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t>一、关系模型的基本概念</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16908"/>
    </mc:Choice>
    <mc:Fallback xmlns="">
      <p:transition spd="slow" advTm="116908"/>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826372"/>
                                        </p:tgtEl>
                                        <p:attrNameLst>
                                          <p:attrName>style.visibility</p:attrName>
                                        </p:attrNameLst>
                                      </p:cBhvr>
                                      <p:to>
                                        <p:strVal val="visible"/>
                                      </p:to>
                                    </p:set>
                                    <p:animEffect transition="in" filter="blinds(horizontal)">
                                      <p:cBhvr>
                                        <p:cTn id="7" dur="500"/>
                                        <p:tgtEl>
                                          <p:spTgt spid="8263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26408"/>
                                        </p:tgtEl>
                                        <p:attrNameLst>
                                          <p:attrName>style.visibility</p:attrName>
                                        </p:attrNameLst>
                                      </p:cBhvr>
                                      <p:to>
                                        <p:strVal val="visible"/>
                                      </p:to>
                                    </p:set>
                                    <p:animEffect transition="in" filter="blinds(horizontal)">
                                      <p:cBhvr>
                                        <p:cTn id="12" dur="500"/>
                                        <p:tgtEl>
                                          <p:spTgt spid="82640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26401"/>
                                        </p:tgtEl>
                                        <p:attrNameLst>
                                          <p:attrName>style.visibility</p:attrName>
                                        </p:attrNameLst>
                                      </p:cBhvr>
                                      <p:to>
                                        <p:strVal val="visible"/>
                                      </p:to>
                                    </p:set>
                                    <p:animEffect transition="in" filter="blinds(horizontal)">
                                      <p:cBhvr>
                                        <p:cTn id="17" dur="500"/>
                                        <p:tgtEl>
                                          <p:spTgt spid="82640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26411"/>
                                        </p:tgtEl>
                                        <p:attrNameLst>
                                          <p:attrName>style.visibility</p:attrName>
                                        </p:attrNameLst>
                                      </p:cBhvr>
                                      <p:to>
                                        <p:strVal val="visible"/>
                                      </p:to>
                                    </p:set>
                                    <p:animEffect transition="in" filter="blinds(horizontal)">
                                      <p:cBhvr>
                                        <p:cTn id="22" dur="500"/>
                                        <p:tgtEl>
                                          <p:spTgt spid="82641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826405"/>
                                        </p:tgtEl>
                                        <p:attrNameLst>
                                          <p:attrName>style.visibility</p:attrName>
                                        </p:attrNameLst>
                                      </p:cBhvr>
                                      <p:to>
                                        <p:strVal val="visible"/>
                                      </p:to>
                                    </p:set>
                                    <p:animEffect transition="in" filter="box(in)">
                                      <p:cBhvr>
                                        <p:cTn id="27" dur="500"/>
                                        <p:tgtEl>
                                          <p:spTgt spid="82640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826402"/>
                                        </p:tgtEl>
                                        <p:attrNameLst>
                                          <p:attrName>style.visibility</p:attrName>
                                        </p:attrNameLst>
                                      </p:cBhvr>
                                      <p:to>
                                        <p:strVal val="visible"/>
                                      </p:to>
                                    </p:set>
                                    <p:animEffect transition="in" filter="box(in)">
                                      <p:cBhvr>
                                        <p:cTn id="32" dur="500"/>
                                        <p:tgtEl>
                                          <p:spTgt spid="82640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826395"/>
                                        </p:tgtEl>
                                        <p:attrNameLst>
                                          <p:attrName>style.visibility</p:attrName>
                                        </p:attrNameLst>
                                      </p:cBhvr>
                                      <p:to>
                                        <p:strVal val="visible"/>
                                      </p:to>
                                    </p:set>
                                    <p:animEffect transition="in" filter="wipe(up)">
                                      <p:cBhvr>
                                        <p:cTn id="37" dur="500"/>
                                        <p:tgtEl>
                                          <p:spTgt spid="826395"/>
                                        </p:tgtEl>
                                      </p:cBhvr>
                                    </p:animEffect>
                                  </p:childTnLst>
                                </p:cTn>
                              </p:par>
                            </p:childTnLst>
                          </p:cTn>
                        </p:par>
                        <p:par>
                          <p:cTn id="38" fill="hold" nodeType="afterGroup">
                            <p:stCondLst>
                              <p:cond delay="500"/>
                            </p:stCondLst>
                            <p:childTnLst>
                              <p:par>
                                <p:cTn id="39" presetID="22" presetClass="entr" presetSubtype="1" fill="hold" grpId="0" nodeType="afterEffect">
                                  <p:stCondLst>
                                    <p:cond delay="0"/>
                                  </p:stCondLst>
                                  <p:childTnLst>
                                    <p:set>
                                      <p:cBhvr>
                                        <p:cTn id="40" dur="1" fill="hold">
                                          <p:stCondLst>
                                            <p:cond delay="0"/>
                                          </p:stCondLst>
                                        </p:cTn>
                                        <p:tgtEl>
                                          <p:spTgt spid="826396"/>
                                        </p:tgtEl>
                                        <p:attrNameLst>
                                          <p:attrName>style.visibility</p:attrName>
                                        </p:attrNameLst>
                                      </p:cBhvr>
                                      <p:to>
                                        <p:strVal val="visible"/>
                                      </p:to>
                                    </p:set>
                                    <p:animEffect transition="in" filter="wipe(up)">
                                      <p:cBhvr>
                                        <p:cTn id="41" dur="500"/>
                                        <p:tgtEl>
                                          <p:spTgt spid="826396"/>
                                        </p:tgtEl>
                                      </p:cBhvr>
                                    </p:animEffect>
                                  </p:childTnLst>
                                </p:cTn>
                              </p:par>
                            </p:childTnLst>
                          </p:cTn>
                        </p:par>
                        <p:par>
                          <p:cTn id="42" fill="hold" nodeType="afterGroup">
                            <p:stCondLst>
                              <p:cond delay="1000"/>
                            </p:stCondLst>
                            <p:childTnLst>
                              <p:par>
                                <p:cTn id="43" presetID="22" presetClass="entr" presetSubtype="1" fill="hold" grpId="0" nodeType="afterEffect">
                                  <p:stCondLst>
                                    <p:cond delay="0"/>
                                  </p:stCondLst>
                                  <p:childTnLst>
                                    <p:set>
                                      <p:cBhvr>
                                        <p:cTn id="44" dur="1" fill="hold">
                                          <p:stCondLst>
                                            <p:cond delay="0"/>
                                          </p:stCondLst>
                                        </p:cTn>
                                        <p:tgtEl>
                                          <p:spTgt spid="826397"/>
                                        </p:tgtEl>
                                        <p:attrNameLst>
                                          <p:attrName>style.visibility</p:attrName>
                                        </p:attrNameLst>
                                      </p:cBhvr>
                                      <p:to>
                                        <p:strVal val="visible"/>
                                      </p:to>
                                    </p:set>
                                    <p:animEffect transition="in" filter="wipe(up)">
                                      <p:cBhvr>
                                        <p:cTn id="45" dur="500"/>
                                        <p:tgtEl>
                                          <p:spTgt spid="826397"/>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4" presetClass="entr" presetSubtype="16" fill="hold" nodeType="clickEffect">
                                  <p:stCondLst>
                                    <p:cond delay="0"/>
                                  </p:stCondLst>
                                  <p:childTnLst>
                                    <p:set>
                                      <p:cBhvr>
                                        <p:cTn id="49" dur="1" fill="hold">
                                          <p:stCondLst>
                                            <p:cond delay="0"/>
                                          </p:stCondLst>
                                        </p:cTn>
                                        <p:tgtEl>
                                          <p:spTgt spid="826398"/>
                                        </p:tgtEl>
                                        <p:attrNameLst>
                                          <p:attrName>style.visibility</p:attrName>
                                        </p:attrNameLst>
                                      </p:cBhvr>
                                      <p:to>
                                        <p:strVal val="visible"/>
                                      </p:to>
                                    </p:set>
                                    <p:animEffect transition="in" filter="box(in)">
                                      <p:cBhvr>
                                        <p:cTn id="50" dur="500"/>
                                        <p:tgtEl>
                                          <p:spTgt spid="8263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6395" grpId="0" animBg="1"/>
      <p:bldP spid="826396" grpId="0" animBg="1"/>
      <p:bldP spid="826397" grpId="0" animBg="1"/>
      <p:bldP spid="826401" grpId="0"/>
      <p:bldP spid="82641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6" name="矩形 827395">
            <a:extLst>
              <a:ext uri="{FF2B5EF4-FFF2-40B4-BE49-F238E27FC236}">
                <a16:creationId xmlns:a16="http://schemas.microsoft.com/office/drawing/2014/main" id="{0389ADB5-A473-4491-8F02-285614712FE8}"/>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t>一、关系模型的基本概念</a:t>
            </a:r>
          </a:p>
        </p:txBody>
      </p:sp>
      <p:graphicFrame>
        <p:nvGraphicFramePr>
          <p:cNvPr id="827397" name="表格 827396">
            <a:extLst>
              <a:ext uri="{FF2B5EF4-FFF2-40B4-BE49-F238E27FC236}">
                <a16:creationId xmlns:a16="http://schemas.microsoft.com/office/drawing/2014/main" id="{D5479456-4EA4-4714-B594-4580A307B14D}"/>
              </a:ext>
            </a:extLst>
          </p:cNvPr>
          <p:cNvGraphicFramePr/>
          <p:nvPr/>
        </p:nvGraphicFramePr>
        <p:xfrm>
          <a:off x="323850" y="1360488"/>
          <a:ext cx="8513763" cy="3732213"/>
        </p:xfrm>
        <a:graphic>
          <a:graphicData uri="http://schemas.openxmlformats.org/drawingml/2006/table">
            <a:tbl>
              <a:tblPr/>
              <a:tblGrid>
                <a:gridCol w="1671638">
                  <a:extLst>
                    <a:ext uri="{9D8B030D-6E8A-4147-A177-3AD203B41FA5}">
                      <a16:colId xmlns:a16="http://schemas.microsoft.com/office/drawing/2014/main" val="20000"/>
                    </a:ext>
                  </a:extLst>
                </a:gridCol>
                <a:gridCol w="1033462">
                  <a:extLst>
                    <a:ext uri="{9D8B030D-6E8A-4147-A177-3AD203B41FA5}">
                      <a16:colId xmlns:a16="http://schemas.microsoft.com/office/drawing/2014/main" val="20001"/>
                    </a:ext>
                  </a:extLst>
                </a:gridCol>
                <a:gridCol w="795338">
                  <a:extLst>
                    <a:ext uri="{9D8B030D-6E8A-4147-A177-3AD203B41FA5}">
                      <a16:colId xmlns:a16="http://schemas.microsoft.com/office/drawing/2014/main" val="20002"/>
                    </a:ext>
                  </a:extLst>
                </a:gridCol>
                <a:gridCol w="1592262">
                  <a:extLst>
                    <a:ext uri="{9D8B030D-6E8A-4147-A177-3AD203B41FA5}">
                      <a16:colId xmlns:a16="http://schemas.microsoft.com/office/drawing/2014/main" val="20003"/>
                    </a:ext>
                  </a:extLst>
                </a:gridCol>
                <a:gridCol w="874713">
                  <a:extLst>
                    <a:ext uri="{9D8B030D-6E8A-4147-A177-3AD203B41FA5}">
                      <a16:colId xmlns:a16="http://schemas.microsoft.com/office/drawing/2014/main" val="20004"/>
                    </a:ext>
                  </a:extLst>
                </a:gridCol>
                <a:gridCol w="1273175">
                  <a:extLst>
                    <a:ext uri="{9D8B030D-6E8A-4147-A177-3AD203B41FA5}">
                      <a16:colId xmlns:a16="http://schemas.microsoft.com/office/drawing/2014/main" val="20005"/>
                    </a:ext>
                  </a:extLst>
                </a:gridCol>
                <a:gridCol w="1273175">
                  <a:extLst>
                    <a:ext uri="{9D8B030D-6E8A-4147-A177-3AD203B41FA5}">
                      <a16:colId xmlns:a16="http://schemas.microsoft.com/office/drawing/2014/main" val="20006"/>
                    </a:ext>
                  </a:extLst>
                </a:gridCol>
              </a:tblGrid>
              <a:tr h="455807">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000" dirty="0">
                          <a:effectLst/>
                        </a:rPr>
                        <a:t>学号</a:t>
                      </a:r>
                    </a:p>
                  </a:txBody>
                  <a:tcPr marT="45739" marB="45739">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dirty="0">
                          <a:effectLst/>
                        </a:rPr>
                        <a:t>姓名</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000" dirty="0">
                          <a:effectLst/>
                        </a:rPr>
                        <a:t>性别</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000" dirty="0">
                          <a:effectLst/>
                        </a:rPr>
                        <a:t>出生年月</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000" dirty="0">
                          <a:effectLst/>
                        </a:rPr>
                        <a:t>籍贯</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000" dirty="0">
                          <a:effectLst/>
                        </a:rPr>
                        <a:t>专业代码</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000" dirty="0">
                          <a:effectLst/>
                        </a:rPr>
                        <a:t>   班级</a:t>
                      </a:r>
                    </a:p>
                  </a:txBody>
                  <a:tcPr marT="45739" marB="45739">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0"/>
                  </a:ext>
                </a:extLst>
              </a:tr>
              <a:tr h="466924">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200401001</a:t>
                      </a:r>
                    </a:p>
                  </a:txBody>
                  <a:tcPr marT="45739" marB="45739">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dirty="0">
                          <a:effectLst/>
                        </a:rPr>
                        <a:t>张华</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000" dirty="0">
                          <a:effectLst/>
                        </a:rPr>
                        <a:t>男</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14-dec-82</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000" dirty="0">
                          <a:effectLst/>
                        </a:rPr>
                        <a:t>北京</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S0401</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200401</a:t>
                      </a:r>
                    </a:p>
                  </a:txBody>
                  <a:tcPr marT="45739" marB="45739">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1"/>
                  </a:ext>
                </a:extLst>
              </a:tr>
              <a:tr h="468511">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200401002</a:t>
                      </a:r>
                    </a:p>
                  </a:txBody>
                  <a:tcPr marT="45739" marB="45739">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dirty="0">
                          <a:effectLst/>
                        </a:rPr>
                        <a:t>李建平</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000" dirty="0">
                          <a:effectLst/>
                        </a:rPr>
                        <a:t>男</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20-aug-82</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000" dirty="0">
                          <a:effectLst/>
                        </a:rPr>
                        <a:t>上海</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S0401</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200401</a:t>
                      </a:r>
                    </a:p>
                  </a:txBody>
                  <a:tcPr marT="45739" marB="45739">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2"/>
                  </a:ext>
                </a:extLst>
              </a:tr>
              <a:tr h="466924">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200401003</a:t>
                      </a:r>
                    </a:p>
                  </a:txBody>
                  <a:tcPr marT="45739" marB="45739">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dirty="0">
                          <a:effectLst/>
                        </a:rPr>
                        <a:t>王丽丽</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000" dirty="0">
                          <a:effectLst/>
                        </a:rPr>
                        <a:t>女</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02-feb-83</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000" dirty="0">
                          <a:effectLst/>
                        </a:rPr>
                        <a:t>上海</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S0401</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200401</a:t>
                      </a:r>
                    </a:p>
                  </a:txBody>
                  <a:tcPr marT="45739" marB="45739">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3"/>
                  </a:ext>
                </a:extLst>
              </a:tr>
              <a:tr h="468512">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200402001</a:t>
                      </a:r>
                    </a:p>
                  </a:txBody>
                  <a:tcPr marT="45739" marB="45739">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dirty="0">
                          <a:effectLst/>
                        </a:rPr>
                        <a:t>杨秋红</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000" dirty="0">
                          <a:effectLst/>
                        </a:rPr>
                        <a:t>女</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09-may-83</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000" dirty="0">
                          <a:effectLst/>
                        </a:rPr>
                        <a:t>西安</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S0402</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200402</a:t>
                      </a:r>
                    </a:p>
                  </a:txBody>
                  <a:tcPr marT="45739" marB="45739">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4"/>
                  </a:ext>
                </a:extLst>
              </a:tr>
              <a:tr h="466924">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200402002</a:t>
                      </a:r>
                    </a:p>
                  </a:txBody>
                  <a:tcPr marT="45739" marB="45739">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dirty="0">
                          <a:effectLst/>
                        </a:rPr>
                        <a:t>吴志伟</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000" dirty="0">
                          <a:effectLst/>
                        </a:rPr>
                        <a:t>男</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30-jun-82</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000" dirty="0">
                          <a:effectLst/>
                        </a:rPr>
                        <a:t>南京</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S0402</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200402</a:t>
                      </a:r>
                    </a:p>
                  </a:txBody>
                  <a:tcPr marT="45739" marB="45739">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5"/>
                  </a:ext>
                </a:extLst>
              </a:tr>
              <a:tr h="468511">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200402003</a:t>
                      </a:r>
                    </a:p>
                  </a:txBody>
                  <a:tcPr marT="45739" marB="45739">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dirty="0">
                          <a:effectLst/>
                        </a:rPr>
                        <a:t>李涛</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000" dirty="0">
                          <a:effectLst/>
                        </a:rPr>
                        <a:t>男</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25-jun-83</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000" dirty="0">
                          <a:effectLst/>
                        </a:rPr>
                        <a:t>西安</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S0402</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200402</a:t>
                      </a:r>
                    </a:p>
                  </a:txBody>
                  <a:tcPr marT="45739" marB="45739">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6"/>
                  </a:ext>
                </a:extLst>
              </a:tr>
              <a:tr h="470100">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200403001</a:t>
                      </a:r>
                    </a:p>
                  </a:txBody>
                  <a:tcPr marT="45739" marB="45739">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dirty="0">
                          <a:effectLst/>
                        </a:rPr>
                        <a:t>赵晓艳</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000" dirty="0">
                          <a:effectLst/>
                        </a:rPr>
                        <a:t>女</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11-mar-82</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000" dirty="0">
                          <a:effectLst/>
                        </a:rPr>
                        <a:t>长沙</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S0403</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200403</a:t>
                      </a:r>
                    </a:p>
                  </a:txBody>
                  <a:tcPr marT="45739" marB="45739">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7"/>
                  </a:ext>
                </a:extLst>
              </a:tr>
            </a:tbl>
          </a:graphicData>
        </a:graphic>
      </p:graphicFrame>
      <p:sp>
        <p:nvSpPr>
          <p:cNvPr id="827471" name="文本框 827470">
            <a:extLst>
              <a:ext uri="{FF2B5EF4-FFF2-40B4-BE49-F238E27FC236}">
                <a16:creationId xmlns:a16="http://schemas.microsoft.com/office/drawing/2014/main" id="{8C966BB5-8B4B-48A9-B93E-A252B308A7C0}"/>
              </a:ext>
            </a:extLst>
          </p:cNvPr>
          <p:cNvSpPr txBox="1"/>
          <p:nvPr/>
        </p:nvSpPr>
        <p:spPr>
          <a:xfrm>
            <a:off x="2843213" y="5214938"/>
            <a:ext cx="3962400" cy="519112"/>
          </a:xfrm>
          <a:prstGeom prst="rect">
            <a:avLst/>
          </a:prstGeom>
          <a:noFill/>
          <a:ln w="19050">
            <a:noFill/>
          </a:ln>
        </p:spPr>
        <p:txBody>
          <a:bodyPr>
            <a:spAutoFit/>
          </a:bodyPr>
          <a:lstStyle/>
          <a:p>
            <a:pPr>
              <a:spcBef>
                <a:spcPct val="50000"/>
              </a:spcBef>
            </a:pPr>
            <a:r>
              <a:rPr lang="en-US" altLang="zh-CN" sz="2400" b="1" noProof="1">
                <a:solidFill>
                  <a:srgbClr val="660033"/>
                </a:solidFill>
                <a:effectLst>
                  <a:outerShdw blurRad="38100" dist="38100" dir="2700000">
                    <a:srgbClr val="C0C0C0"/>
                  </a:outerShdw>
                </a:effectLst>
                <a:latin typeface="宋体" panose="02010600030101010101" pitchFamily="2" charset="-122"/>
                <a:ea typeface="宋体" panose="02010600030101010101" pitchFamily="2" charset="-122"/>
              </a:rPr>
              <a:t>(a)    </a:t>
            </a:r>
            <a:r>
              <a:rPr lang="zh-CN" altLang="en-US" sz="2400" b="1" noProof="1">
                <a:solidFill>
                  <a:srgbClr val="660033"/>
                </a:solidFill>
                <a:effectLst>
                  <a:outerShdw blurRad="38100" dist="38100" dir="2700000">
                    <a:srgbClr val="C0C0C0"/>
                  </a:outerShdw>
                </a:effectLst>
                <a:latin typeface="宋体" panose="02010600030101010101" pitchFamily="2" charset="-122"/>
                <a:ea typeface="宋体" panose="02010600030101010101" pitchFamily="2" charset="-122"/>
              </a:rPr>
              <a:t>学生关系</a:t>
            </a:r>
            <a:r>
              <a:rPr lang="en-US" altLang="zh-CN" sz="2400" b="1" noProof="1">
                <a:solidFill>
                  <a:srgbClr val="660033"/>
                </a:solidFill>
                <a:effectLst>
                  <a:outerShdw blurRad="38100" dist="38100" dir="2700000">
                    <a:srgbClr val="C0C0C0"/>
                  </a:outerShdw>
                </a:effectLst>
                <a:latin typeface="宋体" panose="02010600030101010101" pitchFamily="2" charset="-122"/>
                <a:ea typeface="宋体" panose="02010600030101010101" pitchFamily="2" charset="-122"/>
              </a:rPr>
              <a:t>S</a:t>
            </a:r>
            <a:r>
              <a:rPr lang="en-US" altLang="zh-CN" sz="2800" noProof="1">
                <a:solidFill>
                  <a:srgbClr val="0066FF"/>
                </a:solidFill>
                <a:ea typeface="宋体" panose="02010600030101010101" pitchFamily="2" charset="-122"/>
              </a:rPr>
              <a:t>  </a:t>
            </a:r>
          </a:p>
        </p:txBody>
      </p:sp>
      <p:sp>
        <p:nvSpPr>
          <p:cNvPr id="37965" name="文本框 827471">
            <a:extLst>
              <a:ext uri="{FF2B5EF4-FFF2-40B4-BE49-F238E27FC236}">
                <a16:creationId xmlns:a16="http://schemas.microsoft.com/office/drawing/2014/main" id="{19369B0C-E456-4F53-9738-C9E91250608F}"/>
              </a:ext>
            </a:extLst>
          </p:cNvPr>
          <p:cNvSpPr txBox="1">
            <a:spLocks noChangeArrowheads="1"/>
          </p:cNvSpPr>
          <p:nvPr/>
        </p:nvSpPr>
        <p:spPr bwMode="auto">
          <a:xfrm>
            <a:off x="1835150" y="5780088"/>
            <a:ext cx="617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p>
            <a:pPr>
              <a:spcBef>
                <a:spcPct val="50000"/>
              </a:spcBef>
            </a:pPr>
            <a:r>
              <a:rPr lang="zh-CN" altLang="en-US" sz="2400" b="1">
                <a:ea typeface="宋体" panose="02010600030101010101" pitchFamily="2" charset="-122"/>
              </a:rPr>
              <a:t>图</a:t>
            </a:r>
            <a:r>
              <a:rPr lang="en-US" altLang="zh-CN" sz="2400" b="1">
                <a:ea typeface="宋体" panose="02010600030101010101" pitchFamily="2" charset="-122"/>
              </a:rPr>
              <a:t>1.7    </a:t>
            </a:r>
            <a:r>
              <a:rPr lang="zh-CN" altLang="en-US" sz="2400" b="1">
                <a:ea typeface="宋体" panose="02010600030101010101" pitchFamily="2" charset="-122"/>
              </a:rPr>
              <a:t>用二维表格结构表示的关系示例</a:t>
            </a:r>
          </a:p>
        </p:txBody>
      </p:sp>
    </p:spTree>
  </p:cSld>
  <p:clrMapOvr>
    <a:masterClrMapping/>
  </p:clrMapOvr>
  <mc:AlternateContent xmlns:mc="http://schemas.openxmlformats.org/markup-compatibility/2006" xmlns:p14="http://schemas.microsoft.com/office/powerpoint/2010/main">
    <mc:Choice Requires="p14">
      <p:transition spd="slow" p14:dur="2000" advTm="24708"/>
    </mc:Choice>
    <mc:Fallback xmlns="">
      <p:transition spd="slow" advTm="24708"/>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8420" name="矩形 828419">
            <a:extLst>
              <a:ext uri="{FF2B5EF4-FFF2-40B4-BE49-F238E27FC236}">
                <a16:creationId xmlns:a16="http://schemas.microsoft.com/office/drawing/2014/main" id="{56D28D97-3947-4A82-A7CA-A3EBEC6C90CA}"/>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t>一、关系模型的基本概念</a:t>
            </a:r>
          </a:p>
        </p:txBody>
      </p:sp>
      <p:graphicFrame>
        <p:nvGraphicFramePr>
          <p:cNvPr id="828482" name="表格 828481">
            <a:extLst>
              <a:ext uri="{FF2B5EF4-FFF2-40B4-BE49-F238E27FC236}">
                <a16:creationId xmlns:a16="http://schemas.microsoft.com/office/drawing/2014/main" id="{A2CA030B-676B-4EF3-BE1F-C6D924C078D5}"/>
              </a:ext>
            </a:extLst>
          </p:cNvPr>
          <p:cNvGraphicFramePr/>
          <p:nvPr/>
        </p:nvGraphicFramePr>
        <p:xfrm>
          <a:off x="395288" y="1341438"/>
          <a:ext cx="3581400" cy="2592388"/>
        </p:xfrm>
        <a:graphic>
          <a:graphicData uri="http://schemas.openxmlformats.org/drawingml/2006/table">
            <a:tbl>
              <a:tblPr/>
              <a:tblGrid>
                <a:gridCol w="1790700">
                  <a:extLst>
                    <a:ext uri="{9D8B030D-6E8A-4147-A177-3AD203B41FA5}">
                      <a16:colId xmlns:a16="http://schemas.microsoft.com/office/drawing/2014/main" val="20000"/>
                    </a:ext>
                  </a:extLst>
                </a:gridCol>
                <a:gridCol w="1790700">
                  <a:extLst>
                    <a:ext uri="{9D8B030D-6E8A-4147-A177-3AD203B41FA5}">
                      <a16:colId xmlns:a16="http://schemas.microsoft.com/office/drawing/2014/main" val="20001"/>
                    </a:ext>
                  </a:extLst>
                </a:gridCol>
              </a:tblGrid>
              <a:tr h="522288">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000" dirty="0">
                          <a:solidFill>
                            <a:srgbClr val="993300"/>
                          </a:solidFill>
                          <a:effectLst/>
                        </a:rPr>
                        <a:t>    专业代码</a:t>
                      </a:r>
                    </a:p>
                  </a:txBody>
                  <a:tcPr>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dirty="0">
                          <a:solidFill>
                            <a:srgbClr val="993300"/>
                          </a:solidFill>
                          <a:effectLst/>
                        </a:rPr>
                        <a:t>  专业名称</a:t>
                      </a:r>
                    </a:p>
                  </a:txBody>
                  <a:tcPr>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0"/>
                  </a:ext>
                </a:extLst>
              </a:tr>
              <a:tr h="522287">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000">
                          <a:effectLst/>
                        </a:rPr>
                        <a:t>     </a:t>
                      </a:r>
                      <a:r>
                        <a:rPr lang="en-US" altLang="zh-CN" sz="2000">
                          <a:effectLst/>
                        </a:rPr>
                        <a:t>S0401</a:t>
                      </a:r>
                    </a:p>
                  </a:txBody>
                  <a:tcPr>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dirty="0">
                          <a:effectLst/>
                        </a:rPr>
                        <a:t>计算机科学</a:t>
                      </a:r>
                    </a:p>
                  </a:txBody>
                  <a:tcPr>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1"/>
                  </a:ext>
                </a:extLst>
              </a:tr>
              <a:tr h="522288">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000">
                          <a:effectLst/>
                        </a:rPr>
                        <a:t>     </a:t>
                      </a:r>
                      <a:r>
                        <a:rPr lang="en-US" altLang="zh-CN" sz="2000">
                          <a:effectLst/>
                        </a:rPr>
                        <a:t>S0402</a:t>
                      </a:r>
                    </a:p>
                  </a:txBody>
                  <a:tcPr>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dirty="0">
                          <a:effectLst/>
                        </a:rPr>
                        <a:t>指挥自动化</a:t>
                      </a:r>
                    </a:p>
                  </a:txBody>
                  <a:tcPr>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2"/>
                  </a:ext>
                </a:extLst>
              </a:tr>
              <a:tr h="525462">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000">
                          <a:effectLst/>
                        </a:rPr>
                        <a:t>     </a:t>
                      </a:r>
                      <a:r>
                        <a:rPr lang="en-US" altLang="zh-CN" sz="2000">
                          <a:effectLst/>
                        </a:rPr>
                        <a:t>S0403</a:t>
                      </a:r>
                    </a:p>
                  </a:txBody>
                  <a:tcPr>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dirty="0">
                          <a:effectLst/>
                        </a:rPr>
                        <a:t>网络工程</a:t>
                      </a:r>
                    </a:p>
                  </a:txBody>
                  <a:tcPr>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3"/>
                  </a:ext>
                </a:extLst>
              </a:tr>
              <a:tr h="500063">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000">
                          <a:effectLst/>
                        </a:rPr>
                        <a:t>     </a:t>
                      </a:r>
                      <a:r>
                        <a:rPr lang="en-US" altLang="zh-CN" sz="2000">
                          <a:effectLst/>
                        </a:rPr>
                        <a:t>S0404</a:t>
                      </a:r>
                    </a:p>
                  </a:txBody>
                  <a:tcPr>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dirty="0">
                          <a:effectLst/>
                        </a:rPr>
                        <a:t>信息研究</a:t>
                      </a:r>
                    </a:p>
                  </a:txBody>
                  <a:tcPr>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828441" name="表格 828440">
            <a:extLst>
              <a:ext uri="{FF2B5EF4-FFF2-40B4-BE49-F238E27FC236}">
                <a16:creationId xmlns:a16="http://schemas.microsoft.com/office/drawing/2014/main" id="{F26260D4-1347-4301-9C9D-F7ADD0C290ED}"/>
              </a:ext>
            </a:extLst>
          </p:cNvPr>
          <p:cNvGraphicFramePr/>
          <p:nvPr/>
        </p:nvGraphicFramePr>
        <p:xfrm>
          <a:off x="4211638" y="1341438"/>
          <a:ext cx="4551362" cy="3781423"/>
        </p:xfrm>
        <a:graphic>
          <a:graphicData uri="http://schemas.openxmlformats.org/drawingml/2006/table">
            <a:tbl>
              <a:tblPr/>
              <a:tblGrid>
                <a:gridCol w="1403350">
                  <a:extLst>
                    <a:ext uri="{9D8B030D-6E8A-4147-A177-3AD203B41FA5}">
                      <a16:colId xmlns:a16="http://schemas.microsoft.com/office/drawing/2014/main" val="20000"/>
                    </a:ext>
                  </a:extLst>
                </a:gridCol>
                <a:gridCol w="2282824">
                  <a:extLst>
                    <a:ext uri="{9D8B030D-6E8A-4147-A177-3AD203B41FA5}">
                      <a16:colId xmlns:a16="http://schemas.microsoft.com/office/drawing/2014/main" val="20001"/>
                    </a:ext>
                  </a:extLst>
                </a:gridCol>
                <a:gridCol w="865188">
                  <a:extLst>
                    <a:ext uri="{9D8B030D-6E8A-4147-A177-3AD203B41FA5}">
                      <a16:colId xmlns:a16="http://schemas.microsoft.com/office/drawing/2014/main" val="20002"/>
                    </a:ext>
                  </a:extLst>
                </a:gridCol>
              </a:tblGrid>
              <a:tr h="474862">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000" dirty="0">
                          <a:solidFill>
                            <a:srgbClr val="993300"/>
                          </a:solidFill>
                          <a:effectLst/>
                        </a:rPr>
                        <a:t>   课程号</a:t>
                      </a:r>
                    </a:p>
                  </a:txBody>
                  <a:tcPr marT="45739" marB="45739">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dirty="0">
                          <a:solidFill>
                            <a:srgbClr val="993300"/>
                          </a:solidFill>
                          <a:effectLst/>
                        </a:rPr>
                        <a:t>课程名</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2000" dirty="0">
                          <a:solidFill>
                            <a:srgbClr val="993300"/>
                          </a:solidFill>
                          <a:effectLst/>
                        </a:rPr>
                        <a:t>学时</a:t>
                      </a:r>
                    </a:p>
                  </a:txBody>
                  <a:tcPr marT="45739" marB="45739">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0"/>
                  </a:ext>
                </a:extLst>
              </a:tr>
              <a:tr h="455803">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C401001</a:t>
                      </a:r>
                    </a:p>
                  </a:txBody>
                  <a:tcPr marT="45739" marB="45739">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dirty="0">
                          <a:effectLst/>
                        </a:rPr>
                        <a:t>数据结构</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70</a:t>
                      </a:r>
                    </a:p>
                  </a:txBody>
                  <a:tcPr marT="45739" marB="45739">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1"/>
                  </a:ext>
                </a:extLst>
              </a:tr>
              <a:tr h="474862">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C401002</a:t>
                      </a:r>
                    </a:p>
                  </a:txBody>
                  <a:tcPr marT="45739" marB="45739">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dirty="0">
                          <a:effectLst/>
                        </a:rPr>
                        <a:t>操作系统</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60</a:t>
                      </a:r>
                    </a:p>
                  </a:txBody>
                  <a:tcPr marT="45739" marB="45739">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2"/>
                  </a:ext>
                </a:extLst>
              </a:tr>
              <a:tr h="476450">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C402001</a:t>
                      </a:r>
                    </a:p>
                  </a:txBody>
                  <a:tcPr marT="45739" marB="45739">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dirty="0">
                          <a:effectLst/>
                        </a:rPr>
                        <a:t>计算机原理</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60</a:t>
                      </a:r>
                    </a:p>
                  </a:txBody>
                  <a:tcPr marT="45739" marB="45739">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3"/>
                  </a:ext>
                </a:extLst>
              </a:tr>
              <a:tr h="474861">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C402002</a:t>
                      </a:r>
                    </a:p>
                  </a:txBody>
                  <a:tcPr marT="45739" marB="45739">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dirty="0">
                          <a:effectLst/>
                        </a:rPr>
                        <a:t>通信原理</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60</a:t>
                      </a:r>
                    </a:p>
                  </a:txBody>
                  <a:tcPr marT="45739" marB="45739">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4"/>
                  </a:ext>
                </a:extLst>
              </a:tr>
              <a:tr h="474862">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C403001</a:t>
                      </a:r>
                    </a:p>
                  </a:txBody>
                  <a:tcPr marT="45739" marB="45739">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dirty="0">
                          <a:effectLst/>
                        </a:rPr>
                        <a:t>计算机网络</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60</a:t>
                      </a:r>
                    </a:p>
                  </a:txBody>
                  <a:tcPr marT="45739" marB="45739">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5"/>
                  </a:ext>
                </a:extLst>
              </a:tr>
              <a:tr h="474861">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C403002</a:t>
                      </a:r>
                    </a:p>
                  </a:txBody>
                  <a:tcPr marT="45739" marB="45739">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dirty="0">
                          <a:effectLst/>
                        </a:rPr>
                        <a:t>信息安全技术</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50</a:t>
                      </a:r>
                    </a:p>
                  </a:txBody>
                  <a:tcPr marT="45739" marB="45739">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6"/>
                  </a:ext>
                </a:extLst>
              </a:tr>
              <a:tr h="474862">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C404001</a:t>
                      </a:r>
                    </a:p>
                  </a:txBody>
                  <a:tcPr marT="45739" marB="45739">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2000" dirty="0">
                          <a:effectLst/>
                        </a:rPr>
                        <a:t>信息编码与加密</a:t>
                      </a:r>
                    </a:p>
                  </a:txBody>
                  <a:tcPr marT="45739" marB="45739">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2000">
                          <a:effectLst/>
                        </a:rPr>
                        <a:t>60</a:t>
                      </a:r>
                    </a:p>
                  </a:txBody>
                  <a:tcPr marT="45739" marB="45739">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7"/>
                  </a:ext>
                </a:extLst>
              </a:tr>
            </a:tbl>
          </a:graphicData>
        </a:graphic>
      </p:graphicFrame>
      <p:sp>
        <p:nvSpPr>
          <p:cNvPr id="828479" name="文本框 828478">
            <a:extLst>
              <a:ext uri="{FF2B5EF4-FFF2-40B4-BE49-F238E27FC236}">
                <a16:creationId xmlns:a16="http://schemas.microsoft.com/office/drawing/2014/main" id="{3AEA70E0-15E5-42A2-950D-FDFF22F4C413}"/>
              </a:ext>
            </a:extLst>
          </p:cNvPr>
          <p:cNvSpPr txBox="1"/>
          <p:nvPr/>
        </p:nvSpPr>
        <p:spPr>
          <a:xfrm>
            <a:off x="1054100" y="4124325"/>
            <a:ext cx="2819400" cy="457200"/>
          </a:xfrm>
          <a:prstGeom prst="rect">
            <a:avLst/>
          </a:prstGeom>
          <a:noFill/>
          <a:ln w="19050">
            <a:noFill/>
          </a:ln>
        </p:spPr>
        <p:txBody>
          <a:bodyPr>
            <a:spAutoFit/>
          </a:bodyPr>
          <a:lstStyle/>
          <a:p>
            <a:pPr>
              <a:spcBef>
                <a:spcPct val="50000"/>
              </a:spcBef>
            </a:pPr>
            <a:r>
              <a:rPr lang="en-US" altLang="zh-CN" sz="2400" b="1" noProof="1">
                <a:solidFill>
                  <a:srgbClr val="660033"/>
                </a:solidFill>
                <a:effectLst>
                  <a:outerShdw blurRad="38100" dist="38100" dir="2700000">
                    <a:srgbClr val="C0C0C0"/>
                  </a:outerShdw>
                </a:effectLst>
                <a:latin typeface="宋体" panose="02010600030101010101" pitchFamily="2" charset="-122"/>
                <a:ea typeface="宋体" panose="02010600030101010101" pitchFamily="2" charset="-122"/>
              </a:rPr>
              <a:t>(b)  </a:t>
            </a:r>
            <a:r>
              <a:rPr lang="zh-CN" altLang="en-US" sz="2400" b="1" noProof="1">
                <a:solidFill>
                  <a:srgbClr val="660033"/>
                </a:solidFill>
                <a:effectLst>
                  <a:outerShdw blurRad="38100" dist="38100" dir="2700000">
                    <a:srgbClr val="C0C0C0"/>
                  </a:outerShdw>
                </a:effectLst>
                <a:latin typeface="宋体" panose="02010600030101010101" pitchFamily="2" charset="-122"/>
                <a:ea typeface="宋体" panose="02010600030101010101" pitchFamily="2" charset="-122"/>
              </a:rPr>
              <a:t>专业关系</a:t>
            </a:r>
            <a:r>
              <a:rPr lang="en-US" altLang="zh-CN" sz="2400" b="1" noProof="1">
                <a:solidFill>
                  <a:srgbClr val="660033"/>
                </a:solidFill>
                <a:effectLst>
                  <a:outerShdw blurRad="38100" dist="38100" dir="2700000">
                    <a:srgbClr val="C0C0C0"/>
                  </a:outerShdw>
                </a:effectLst>
                <a:latin typeface="宋体" panose="02010600030101010101" pitchFamily="2" charset="-122"/>
                <a:ea typeface="宋体" panose="02010600030101010101" pitchFamily="2" charset="-122"/>
              </a:rPr>
              <a:t>SS</a:t>
            </a:r>
          </a:p>
        </p:txBody>
      </p:sp>
      <p:sp>
        <p:nvSpPr>
          <p:cNvPr id="828480" name="文本框 828479">
            <a:extLst>
              <a:ext uri="{FF2B5EF4-FFF2-40B4-BE49-F238E27FC236}">
                <a16:creationId xmlns:a16="http://schemas.microsoft.com/office/drawing/2014/main" id="{330E4DB0-20AF-46F6-A3F1-ABFDDC4EBC79}"/>
              </a:ext>
            </a:extLst>
          </p:cNvPr>
          <p:cNvSpPr txBox="1"/>
          <p:nvPr/>
        </p:nvSpPr>
        <p:spPr>
          <a:xfrm>
            <a:off x="5092700" y="5214938"/>
            <a:ext cx="3200400" cy="519112"/>
          </a:xfrm>
          <a:prstGeom prst="rect">
            <a:avLst/>
          </a:prstGeom>
          <a:noFill/>
          <a:ln w="19050">
            <a:noFill/>
          </a:ln>
        </p:spPr>
        <p:txBody>
          <a:bodyPr>
            <a:spAutoFit/>
          </a:bodyPr>
          <a:lstStyle/>
          <a:p>
            <a:pPr>
              <a:spcBef>
                <a:spcPct val="50000"/>
              </a:spcBef>
            </a:pPr>
            <a:r>
              <a:rPr lang="en-US" altLang="zh-CN" sz="2400" b="1" noProof="1">
                <a:solidFill>
                  <a:srgbClr val="660033"/>
                </a:solidFill>
                <a:effectLst>
                  <a:outerShdw blurRad="38100" dist="38100" dir="2700000">
                    <a:srgbClr val="C0C0C0"/>
                  </a:outerShdw>
                </a:effectLst>
                <a:latin typeface="宋体" panose="02010600030101010101" pitchFamily="2" charset="-122"/>
                <a:ea typeface="宋体" panose="02010600030101010101" pitchFamily="2" charset="-122"/>
              </a:rPr>
              <a:t>(c)   </a:t>
            </a:r>
            <a:r>
              <a:rPr lang="zh-CN" altLang="en-US" sz="2400" b="1" noProof="1">
                <a:solidFill>
                  <a:srgbClr val="660033"/>
                </a:solidFill>
                <a:effectLst>
                  <a:outerShdw blurRad="38100" dist="38100" dir="2700000">
                    <a:srgbClr val="C0C0C0"/>
                  </a:outerShdw>
                </a:effectLst>
                <a:latin typeface="宋体" panose="02010600030101010101" pitchFamily="2" charset="-122"/>
                <a:ea typeface="宋体" panose="02010600030101010101" pitchFamily="2" charset="-122"/>
              </a:rPr>
              <a:t>课程关系</a:t>
            </a:r>
            <a:r>
              <a:rPr lang="en-US" altLang="zh-CN" sz="2400" b="1" noProof="1">
                <a:solidFill>
                  <a:srgbClr val="660033"/>
                </a:solidFill>
                <a:effectLst>
                  <a:outerShdw blurRad="38100" dist="38100" dir="2700000">
                    <a:srgbClr val="C0C0C0"/>
                  </a:outerShdw>
                </a:effectLst>
                <a:latin typeface="宋体" panose="02010600030101010101" pitchFamily="2" charset="-122"/>
                <a:ea typeface="宋体" panose="02010600030101010101" pitchFamily="2" charset="-122"/>
              </a:rPr>
              <a:t>C</a:t>
            </a:r>
            <a:r>
              <a:rPr lang="en-US" altLang="zh-CN" sz="2800" noProof="1">
                <a:ea typeface="宋体" panose="02010600030101010101" pitchFamily="2" charset="-122"/>
              </a:rPr>
              <a:t> </a:t>
            </a:r>
          </a:p>
        </p:txBody>
      </p:sp>
      <p:sp>
        <p:nvSpPr>
          <p:cNvPr id="38974" name="文本框 828480">
            <a:extLst>
              <a:ext uri="{FF2B5EF4-FFF2-40B4-BE49-F238E27FC236}">
                <a16:creationId xmlns:a16="http://schemas.microsoft.com/office/drawing/2014/main" id="{39F52E52-9928-403E-BE09-AE31563821E9}"/>
              </a:ext>
            </a:extLst>
          </p:cNvPr>
          <p:cNvSpPr txBox="1">
            <a:spLocks noChangeArrowheads="1"/>
          </p:cNvSpPr>
          <p:nvPr/>
        </p:nvSpPr>
        <p:spPr bwMode="auto">
          <a:xfrm>
            <a:off x="1835150" y="5780088"/>
            <a:ext cx="617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p>
            <a:pPr>
              <a:spcBef>
                <a:spcPct val="50000"/>
              </a:spcBef>
            </a:pPr>
            <a:r>
              <a:rPr lang="zh-CN" altLang="en-US" sz="2400" b="1">
                <a:ea typeface="宋体" panose="02010600030101010101" pitchFamily="2" charset="-122"/>
              </a:rPr>
              <a:t>图</a:t>
            </a:r>
            <a:r>
              <a:rPr lang="en-US" altLang="zh-CN" sz="2400" b="1">
                <a:ea typeface="宋体" panose="02010600030101010101" pitchFamily="2" charset="-122"/>
              </a:rPr>
              <a:t>1.7    </a:t>
            </a:r>
            <a:r>
              <a:rPr lang="zh-CN" altLang="en-US" sz="2400" b="1">
                <a:ea typeface="宋体" panose="02010600030101010101" pitchFamily="2" charset="-122"/>
              </a:rPr>
              <a:t>用二维表格结构表示的关系示例</a:t>
            </a:r>
          </a:p>
        </p:txBody>
      </p:sp>
    </p:spTree>
  </p:cSld>
  <p:clrMapOvr>
    <a:masterClrMapping/>
  </p:clrMapOvr>
  <mc:AlternateContent xmlns:mc="http://schemas.openxmlformats.org/markup-compatibility/2006" xmlns:p14="http://schemas.microsoft.com/office/powerpoint/2010/main">
    <mc:Choice Requires="p14">
      <p:transition spd="slow" p14:dur="2000" advTm="17795"/>
    </mc:Choice>
    <mc:Fallback xmlns="">
      <p:transition spd="slow" advTm="17795"/>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44" name="矩形 829443">
            <a:extLst>
              <a:ext uri="{FF2B5EF4-FFF2-40B4-BE49-F238E27FC236}">
                <a16:creationId xmlns:a16="http://schemas.microsoft.com/office/drawing/2014/main" id="{F5EC3946-69E7-4606-9B15-CE3E45AABDE8}"/>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t>一、关系模型的基本概念</a:t>
            </a:r>
          </a:p>
        </p:txBody>
      </p:sp>
      <p:graphicFrame>
        <p:nvGraphicFramePr>
          <p:cNvPr id="829445" name="表格 829444">
            <a:extLst>
              <a:ext uri="{FF2B5EF4-FFF2-40B4-BE49-F238E27FC236}">
                <a16:creationId xmlns:a16="http://schemas.microsoft.com/office/drawing/2014/main" id="{6229FBE8-D6B4-46D2-BF39-CFA35E633241}"/>
              </a:ext>
            </a:extLst>
          </p:cNvPr>
          <p:cNvGraphicFramePr/>
          <p:nvPr/>
        </p:nvGraphicFramePr>
        <p:xfrm>
          <a:off x="755650" y="1054100"/>
          <a:ext cx="3270250" cy="5265738"/>
        </p:xfrm>
        <a:graphic>
          <a:graphicData uri="http://schemas.openxmlformats.org/drawingml/2006/table">
            <a:tbl>
              <a:tblPr/>
              <a:tblGrid>
                <a:gridCol w="1557338">
                  <a:extLst>
                    <a:ext uri="{9D8B030D-6E8A-4147-A177-3AD203B41FA5}">
                      <a16:colId xmlns:a16="http://schemas.microsoft.com/office/drawing/2014/main" val="20000"/>
                    </a:ext>
                  </a:extLst>
                </a:gridCol>
                <a:gridCol w="1712912">
                  <a:extLst>
                    <a:ext uri="{9D8B030D-6E8A-4147-A177-3AD203B41FA5}">
                      <a16:colId xmlns:a16="http://schemas.microsoft.com/office/drawing/2014/main" val="20001"/>
                    </a:ext>
                  </a:extLst>
                </a:gridCol>
              </a:tblGrid>
              <a:tr h="438812">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zh-CN" altLang="en-US" sz="1900" dirty="0">
                          <a:solidFill>
                            <a:srgbClr val="993300"/>
                          </a:solidFill>
                          <a:effectLst/>
                        </a:rPr>
                        <a:t>专业代码</a:t>
                      </a:r>
                    </a:p>
                  </a:txBody>
                  <a:tcPr marT="45956" marB="45956">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zh-CN" altLang="en-US" sz="1900" dirty="0">
                          <a:solidFill>
                            <a:srgbClr val="993300"/>
                          </a:solidFill>
                          <a:effectLst/>
                        </a:rPr>
                        <a:t>课程号</a:t>
                      </a:r>
                    </a:p>
                  </a:txBody>
                  <a:tcPr marT="45956" marB="45956">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0"/>
                  </a:ext>
                </a:extLst>
              </a:tr>
              <a:tr h="438811">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S0401</a:t>
                      </a:r>
                    </a:p>
                  </a:txBody>
                  <a:tcPr marT="45956" marB="45956">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C401001</a:t>
                      </a:r>
                    </a:p>
                  </a:txBody>
                  <a:tcPr marT="45956" marB="45956">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1"/>
                  </a:ext>
                </a:extLst>
              </a:tr>
              <a:tr h="438812">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S0401</a:t>
                      </a:r>
                    </a:p>
                  </a:txBody>
                  <a:tcPr marT="45956" marB="45956">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C402001</a:t>
                      </a:r>
                    </a:p>
                  </a:txBody>
                  <a:tcPr marT="45956" marB="45956">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2"/>
                  </a:ext>
                </a:extLst>
              </a:tr>
              <a:tr h="438811">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S0401</a:t>
                      </a:r>
                    </a:p>
                  </a:txBody>
                  <a:tcPr marT="45956" marB="45956">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C402002</a:t>
                      </a:r>
                    </a:p>
                  </a:txBody>
                  <a:tcPr marT="45956" marB="45956">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3"/>
                  </a:ext>
                </a:extLst>
              </a:tr>
              <a:tr h="438812">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S0401</a:t>
                      </a:r>
                    </a:p>
                  </a:txBody>
                  <a:tcPr marT="45956" marB="45956">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C403001</a:t>
                      </a:r>
                    </a:p>
                  </a:txBody>
                  <a:tcPr marT="45956" marB="45956">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4"/>
                  </a:ext>
                </a:extLst>
              </a:tr>
              <a:tr h="438811">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S0402</a:t>
                      </a:r>
                    </a:p>
                  </a:txBody>
                  <a:tcPr marT="45956" marB="45956">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C402001</a:t>
                      </a:r>
                    </a:p>
                  </a:txBody>
                  <a:tcPr marT="45956" marB="45956">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5"/>
                  </a:ext>
                </a:extLst>
              </a:tr>
              <a:tr h="438812">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S0402</a:t>
                      </a:r>
                    </a:p>
                  </a:txBody>
                  <a:tcPr marT="45956" marB="45956">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C402002</a:t>
                      </a:r>
                    </a:p>
                  </a:txBody>
                  <a:tcPr marT="45956" marB="45956">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6"/>
                  </a:ext>
                </a:extLst>
              </a:tr>
              <a:tr h="438811">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S0402</a:t>
                      </a:r>
                    </a:p>
                  </a:txBody>
                  <a:tcPr marT="45956" marB="45956">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C403001</a:t>
                      </a:r>
                    </a:p>
                  </a:txBody>
                  <a:tcPr marT="45956" marB="45956">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7"/>
                  </a:ext>
                </a:extLst>
              </a:tr>
              <a:tr h="438812">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S0403</a:t>
                      </a:r>
                    </a:p>
                  </a:txBody>
                  <a:tcPr marT="45956" marB="45956">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C403001</a:t>
                      </a:r>
                    </a:p>
                  </a:txBody>
                  <a:tcPr marT="45956" marB="45956">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8"/>
                  </a:ext>
                </a:extLst>
              </a:tr>
              <a:tr h="438811">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S0403</a:t>
                      </a:r>
                    </a:p>
                  </a:txBody>
                  <a:tcPr marT="45956" marB="45956">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C403002</a:t>
                      </a:r>
                    </a:p>
                  </a:txBody>
                  <a:tcPr marT="45956" marB="45956">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9"/>
                  </a:ext>
                </a:extLst>
              </a:tr>
              <a:tr h="438812">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S0404</a:t>
                      </a:r>
                    </a:p>
                  </a:txBody>
                  <a:tcPr marT="45956" marB="45956">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C401001</a:t>
                      </a:r>
                    </a:p>
                  </a:txBody>
                  <a:tcPr marT="45956" marB="45956">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10"/>
                  </a:ext>
                </a:extLst>
              </a:tr>
              <a:tr h="438811">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S0404</a:t>
                      </a:r>
                    </a:p>
                  </a:txBody>
                  <a:tcPr marT="45956" marB="45956">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C404001</a:t>
                      </a:r>
                    </a:p>
                  </a:txBody>
                  <a:tcPr marT="45956" marB="45956">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11"/>
                  </a:ext>
                </a:extLst>
              </a:tr>
            </a:tbl>
          </a:graphicData>
        </a:graphic>
      </p:graphicFrame>
      <p:graphicFrame>
        <p:nvGraphicFramePr>
          <p:cNvPr id="829486" name="表格 829485">
            <a:extLst>
              <a:ext uri="{FF2B5EF4-FFF2-40B4-BE49-F238E27FC236}">
                <a16:creationId xmlns:a16="http://schemas.microsoft.com/office/drawing/2014/main" id="{61DCE5A7-7DD1-4F3D-92BA-CA3B859D4876}"/>
              </a:ext>
            </a:extLst>
          </p:cNvPr>
          <p:cNvGraphicFramePr/>
          <p:nvPr/>
        </p:nvGraphicFramePr>
        <p:xfrm>
          <a:off x="4406900" y="1054100"/>
          <a:ext cx="4413250" cy="5265738"/>
        </p:xfrm>
        <a:graphic>
          <a:graphicData uri="http://schemas.openxmlformats.org/drawingml/2006/table">
            <a:tbl>
              <a:tblPr/>
              <a:tblGrid>
                <a:gridCol w="1716088">
                  <a:extLst>
                    <a:ext uri="{9D8B030D-6E8A-4147-A177-3AD203B41FA5}">
                      <a16:colId xmlns:a16="http://schemas.microsoft.com/office/drawing/2014/main" val="20000"/>
                    </a:ext>
                  </a:extLst>
                </a:gridCol>
                <a:gridCol w="1390650">
                  <a:extLst>
                    <a:ext uri="{9D8B030D-6E8A-4147-A177-3AD203B41FA5}">
                      <a16:colId xmlns:a16="http://schemas.microsoft.com/office/drawing/2014/main" val="20001"/>
                    </a:ext>
                  </a:extLst>
                </a:gridCol>
                <a:gridCol w="1306512">
                  <a:extLst>
                    <a:ext uri="{9D8B030D-6E8A-4147-A177-3AD203B41FA5}">
                      <a16:colId xmlns:a16="http://schemas.microsoft.com/office/drawing/2014/main" val="20002"/>
                    </a:ext>
                  </a:extLst>
                </a:gridCol>
              </a:tblGrid>
              <a:tr h="438812">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zh-CN" altLang="en-US" sz="1900" dirty="0">
                          <a:solidFill>
                            <a:srgbClr val="993300"/>
                          </a:solidFill>
                          <a:effectLst/>
                        </a:rPr>
                        <a:t>学号</a:t>
                      </a:r>
                    </a:p>
                  </a:txBody>
                  <a:tcPr marT="45956" marB="45956">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zh-CN" altLang="en-US" sz="1900" dirty="0">
                          <a:solidFill>
                            <a:srgbClr val="993300"/>
                          </a:solidFill>
                          <a:effectLst/>
                        </a:rPr>
                        <a:t>课程号</a:t>
                      </a:r>
                    </a:p>
                  </a:txBody>
                  <a:tcPr marT="45956" marB="45956">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zh-CN" altLang="en-US" sz="1900" dirty="0">
                          <a:solidFill>
                            <a:srgbClr val="993300"/>
                          </a:solidFill>
                          <a:effectLst/>
                        </a:rPr>
                        <a:t>分数</a:t>
                      </a:r>
                    </a:p>
                  </a:txBody>
                  <a:tcPr marT="45956" marB="45956">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0"/>
                  </a:ext>
                </a:extLst>
              </a:tr>
              <a:tr h="438811">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200401001</a:t>
                      </a:r>
                    </a:p>
                  </a:txBody>
                  <a:tcPr marT="45956" marB="45956">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C401001</a:t>
                      </a:r>
                    </a:p>
                  </a:txBody>
                  <a:tcPr marT="45956" marB="45956">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90</a:t>
                      </a:r>
                    </a:p>
                  </a:txBody>
                  <a:tcPr marT="45956" marB="45956">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1"/>
                  </a:ext>
                </a:extLst>
              </a:tr>
              <a:tr h="438812">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200401001</a:t>
                      </a:r>
                    </a:p>
                  </a:txBody>
                  <a:tcPr marT="45956" marB="45956">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C402002</a:t>
                      </a:r>
                    </a:p>
                  </a:txBody>
                  <a:tcPr marT="45956" marB="45956">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90</a:t>
                      </a:r>
                    </a:p>
                  </a:txBody>
                  <a:tcPr marT="45956" marB="45956">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2"/>
                  </a:ext>
                </a:extLst>
              </a:tr>
              <a:tr h="438811">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200401001</a:t>
                      </a:r>
                    </a:p>
                  </a:txBody>
                  <a:tcPr marT="45956" marB="45956">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C403001</a:t>
                      </a:r>
                    </a:p>
                  </a:txBody>
                  <a:tcPr marT="45956" marB="45956">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85</a:t>
                      </a:r>
                    </a:p>
                  </a:txBody>
                  <a:tcPr marT="45956" marB="45956">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3"/>
                  </a:ext>
                </a:extLst>
              </a:tr>
              <a:tr h="438812">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200401002</a:t>
                      </a:r>
                    </a:p>
                  </a:txBody>
                  <a:tcPr marT="45956" marB="45956">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C401001</a:t>
                      </a:r>
                    </a:p>
                  </a:txBody>
                  <a:tcPr marT="45956" marB="45956">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75</a:t>
                      </a:r>
                    </a:p>
                  </a:txBody>
                  <a:tcPr marT="45956" marB="45956">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4"/>
                  </a:ext>
                </a:extLst>
              </a:tr>
              <a:tr h="438811">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200401002</a:t>
                      </a:r>
                    </a:p>
                  </a:txBody>
                  <a:tcPr marT="45956" marB="45956">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C402002</a:t>
                      </a:r>
                    </a:p>
                  </a:txBody>
                  <a:tcPr marT="45956" marB="45956">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88</a:t>
                      </a:r>
                    </a:p>
                  </a:txBody>
                  <a:tcPr marT="45956" marB="45956">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5"/>
                  </a:ext>
                </a:extLst>
              </a:tr>
              <a:tr h="438812">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200401003</a:t>
                      </a:r>
                    </a:p>
                  </a:txBody>
                  <a:tcPr marT="45956" marB="45956">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C402002</a:t>
                      </a:r>
                    </a:p>
                  </a:txBody>
                  <a:tcPr marT="45956" marB="45956">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69</a:t>
                      </a:r>
                    </a:p>
                  </a:txBody>
                  <a:tcPr marT="45956" marB="45956">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6"/>
                  </a:ext>
                </a:extLst>
              </a:tr>
              <a:tr h="438811">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200402001</a:t>
                      </a:r>
                    </a:p>
                  </a:txBody>
                  <a:tcPr marT="45956" marB="45956">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C401001</a:t>
                      </a:r>
                    </a:p>
                  </a:txBody>
                  <a:tcPr marT="45956" marB="45956">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87</a:t>
                      </a:r>
                    </a:p>
                  </a:txBody>
                  <a:tcPr marT="45956" marB="45956">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7"/>
                  </a:ext>
                </a:extLst>
              </a:tr>
              <a:tr h="438812">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200402001</a:t>
                      </a:r>
                    </a:p>
                  </a:txBody>
                  <a:tcPr marT="45956" marB="45956">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C401002</a:t>
                      </a:r>
                    </a:p>
                  </a:txBody>
                  <a:tcPr marT="45956" marB="45956">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90</a:t>
                      </a:r>
                    </a:p>
                  </a:txBody>
                  <a:tcPr marT="45956" marB="45956">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8"/>
                  </a:ext>
                </a:extLst>
              </a:tr>
              <a:tr h="438811">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200402002</a:t>
                      </a:r>
                    </a:p>
                  </a:txBody>
                  <a:tcPr marT="45956" marB="45956">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C403001</a:t>
                      </a:r>
                    </a:p>
                  </a:txBody>
                  <a:tcPr marT="45956" marB="45956">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92</a:t>
                      </a:r>
                    </a:p>
                  </a:txBody>
                  <a:tcPr marT="45956" marB="45956">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9"/>
                  </a:ext>
                </a:extLst>
              </a:tr>
              <a:tr h="438812">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200402003</a:t>
                      </a:r>
                    </a:p>
                  </a:txBody>
                  <a:tcPr marT="45956" marB="45956">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C403001</a:t>
                      </a:r>
                    </a:p>
                  </a:txBody>
                  <a:tcPr marT="45956" marB="45956">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83</a:t>
                      </a:r>
                    </a:p>
                  </a:txBody>
                  <a:tcPr marT="45956" marB="45956">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10"/>
                  </a:ext>
                </a:extLst>
              </a:tr>
              <a:tr h="438811">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200403001</a:t>
                      </a:r>
                    </a:p>
                  </a:txBody>
                  <a:tcPr marT="45956" marB="45956">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C403002</a:t>
                      </a:r>
                    </a:p>
                  </a:txBody>
                  <a:tcPr marT="45956" marB="45956">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spcBef>
                          <a:spcPct val="0"/>
                        </a:spcBef>
                        <a:buClr>
                          <a:schemeClr val="folHlink"/>
                        </a:buClr>
                        <a:buSzPct val="60000"/>
                        <a:buNone/>
                      </a:pPr>
                      <a:r>
                        <a:rPr lang="en-US" altLang="zh-CN" sz="1900">
                          <a:effectLst/>
                        </a:rPr>
                        <a:t>91</a:t>
                      </a:r>
                    </a:p>
                  </a:txBody>
                  <a:tcPr marT="45956" marB="45956">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11"/>
                  </a:ext>
                </a:extLst>
              </a:tr>
            </a:tbl>
          </a:graphicData>
        </a:graphic>
      </p:graphicFrame>
      <p:sp>
        <p:nvSpPr>
          <p:cNvPr id="829540" name="文本框 829539">
            <a:extLst>
              <a:ext uri="{FF2B5EF4-FFF2-40B4-BE49-F238E27FC236}">
                <a16:creationId xmlns:a16="http://schemas.microsoft.com/office/drawing/2014/main" id="{BBDDD97B-840F-4FD5-982C-CDDE406036A5}"/>
              </a:ext>
            </a:extLst>
          </p:cNvPr>
          <p:cNvSpPr txBox="1"/>
          <p:nvPr/>
        </p:nvSpPr>
        <p:spPr>
          <a:xfrm>
            <a:off x="971550" y="6308725"/>
            <a:ext cx="2895600" cy="457200"/>
          </a:xfrm>
          <a:prstGeom prst="rect">
            <a:avLst/>
          </a:prstGeom>
          <a:noFill/>
          <a:ln w="19050">
            <a:noFill/>
          </a:ln>
        </p:spPr>
        <p:txBody>
          <a:bodyPr>
            <a:spAutoFit/>
          </a:bodyPr>
          <a:lstStyle/>
          <a:p>
            <a:pPr>
              <a:spcBef>
                <a:spcPct val="50000"/>
              </a:spcBef>
            </a:pPr>
            <a:r>
              <a:rPr lang="zh-CN" altLang="en-US" sz="2400" b="1" noProof="1">
                <a:solidFill>
                  <a:srgbClr val="660033"/>
                </a:solidFill>
                <a:effectLst>
                  <a:outerShdw blurRad="38100" dist="38100" dir="2700000">
                    <a:srgbClr val="C0C0C0"/>
                  </a:outerShdw>
                </a:effectLst>
                <a:latin typeface="宋体" panose="02010600030101010101" pitchFamily="2" charset="-122"/>
                <a:ea typeface="宋体" panose="02010600030101010101" pitchFamily="2" charset="-122"/>
              </a:rPr>
              <a:t>（</a:t>
            </a:r>
            <a:r>
              <a:rPr lang="en-US" altLang="zh-CN" sz="2400" b="1" noProof="1">
                <a:solidFill>
                  <a:srgbClr val="660033"/>
                </a:solidFill>
                <a:effectLst>
                  <a:outerShdw blurRad="38100" dist="38100" dir="2700000">
                    <a:srgbClr val="C0C0C0"/>
                  </a:outerShdw>
                </a:effectLst>
                <a:latin typeface="宋体" panose="02010600030101010101" pitchFamily="2" charset="-122"/>
                <a:ea typeface="宋体" panose="02010600030101010101" pitchFamily="2" charset="-122"/>
              </a:rPr>
              <a:t>d</a:t>
            </a:r>
            <a:r>
              <a:rPr lang="zh-CN" altLang="en-US" sz="2400" b="1" noProof="1">
                <a:solidFill>
                  <a:srgbClr val="660033"/>
                </a:solidFill>
                <a:effectLst>
                  <a:outerShdw blurRad="38100" dist="38100" dir="2700000">
                    <a:srgbClr val="C0C0C0"/>
                  </a:outerShdw>
                </a:effectLst>
                <a:latin typeface="宋体" panose="02010600030101010101" pitchFamily="2" charset="-122"/>
                <a:ea typeface="宋体" panose="02010600030101010101" pitchFamily="2" charset="-122"/>
              </a:rPr>
              <a:t>） 设置关系</a:t>
            </a:r>
            <a:r>
              <a:rPr lang="en-US" altLang="zh-CN" sz="2400" b="1" noProof="1">
                <a:solidFill>
                  <a:srgbClr val="660033"/>
                </a:solidFill>
                <a:effectLst>
                  <a:outerShdw blurRad="38100" dist="38100" dir="2700000">
                    <a:srgbClr val="C0C0C0"/>
                  </a:outerShdw>
                </a:effectLst>
                <a:latin typeface="宋体" panose="02010600030101010101" pitchFamily="2" charset="-122"/>
                <a:ea typeface="宋体" panose="02010600030101010101" pitchFamily="2" charset="-122"/>
              </a:rPr>
              <a:t>CS</a:t>
            </a:r>
            <a:r>
              <a:rPr lang="en-US" altLang="zh-CN" sz="2400" b="1" noProof="1">
                <a:latin typeface="宋体" panose="02010600030101010101" pitchFamily="2" charset="-122"/>
                <a:ea typeface="宋体" panose="02010600030101010101" pitchFamily="2" charset="-122"/>
              </a:rPr>
              <a:t> </a:t>
            </a:r>
          </a:p>
        </p:txBody>
      </p:sp>
      <p:sp>
        <p:nvSpPr>
          <p:cNvPr id="829541" name="文本框 829540">
            <a:extLst>
              <a:ext uri="{FF2B5EF4-FFF2-40B4-BE49-F238E27FC236}">
                <a16:creationId xmlns:a16="http://schemas.microsoft.com/office/drawing/2014/main" id="{AC6FC2B3-8CA5-4148-B232-44001A29D073}"/>
              </a:ext>
            </a:extLst>
          </p:cNvPr>
          <p:cNvSpPr txBox="1"/>
          <p:nvPr/>
        </p:nvSpPr>
        <p:spPr>
          <a:xfrm>
            <a:off x="4859338" y="6284913"/>
            <a:ext cx="2895600" cy="457200"/>
          </a:xfrm>
          <a:prstGeom prst="rect">
            <a:avLst/>
          </a:prstGeom>
          <a:noFill/>
          <a:ln w="19050">
            <a:noFill/>
          </a:ln>
        </p:spPr>
        <p:txBody>
          <a:bodyPr>
            <a:spAutoFit/>
          </a:bodyPr>
          <a:lstStyle/>
          <a:p>
            <a:pPr>
              <a:spcBef>
                <a:spcPct val="50000"/>
              </a:spcBef>
            </a:pPr>
            <a:r>
              <a:rPr lang="zh-CN" altLang="en-US" sz="2400" b="1" noProof="1">
                <a:solidFill>
                  <a:srgbClr val="660033"/>
                </a:solidFill>
                <a:effectLst>
                  <a:outerShdw blurRad="38100" dist="38100" dir="2700000">
                    <a:srgbClr val="C0C0C0"/>
                  </a:outerShdw>
                </a:effectLst>
                <a:latin typeface="宋体" panose="02010600030101010101" pitchFamily="2" charset="-122"/>
                <a:ea typeface="宋体" panose="02010600030101010101" pitchFamily="2" charset="-122"/>
              </a:rPr>
              <a:t>（</a:t>
            </a:r>
            <a:r>
              <a:rPr lang="en-US" altLang="zh-CN" sz="2400" b="1" noProof="1">
                <a:solidFill>
                  <a:srgbClr val="660033"/>
                </a:solidFill>
                <a:effectLst>
                  <a:outerShdw blurRad="38100" dist="38100" dir="2700000">
                    <a:srgbClr val="C0C0C0"/>
                  </a:outerShdw>
                </a:effectLst>
                <a:latin typeface="宋体" panose="02010600030101010101" pitchFamily="2" charset="-122"/>
                <a:ea typeface="宋体" panose="02010600030101010101" pitchFamily="2" charset="-122"/>
              </a:rPr>
              <a:t>e</a:t>
            </a:r>
            <a:r>
              <a:rPr lang="zh-CN" altLang="en-US" sz="2400" b="1" noProof="1">
                <a:solidFill>
                  <a:srgbClr val="660033"/>
                </a:solidFill>
                <a:effectLst>
                  <a:outerShdw blurRad="38100" dist="38100" dir="2700000">
                    <a:srgbClr val="C0C0C0"/>
                  </a:outerShdw>
                </a:effectLst>
                <a:latin typeface="宋体" panose="02010600030101010101" pitchFamily="2" charset="-122"/>
                <a:ea typeface="宋体" panose="02010600030101010101" pitchFamily="2" charset="-122"/>
              </a:rPr>
              <a:t>） 学习关系</a:t>
            </a:r>
            <a:r>
              <a:rPr lang="en-US" altLang="zh-CN" sz="2400" b="1" noProof="1">
                <a:solidFill>
                  <a:srgbClr val="660033"/>
                </a:solidFill>
                <a:effectLst>
                  <a:outerShdw blurRad="38100" dist="38100" dir="2700000">
                    <a:srgbClr val="C0C0C0"/>
                  </a:outerShdw>
                </a:effectLst>
                <a:latin typeface="宋体" panose="02010600030101010101" pitchFamily="2" charset="-122"/>
                <a:ea typeface="宋体" panose="02010600030101010101" pitchFamily="2" charset="-122"/>
              </a:rPr>
              <a:t>SC</a:t>
            </a:r>
          </a:p>
        </p:txBody>
      </p:sp>
    </p:spTree>
  </p:cSld>
  <p:clrMapOvr>
    <a:masterClrMapping/>
  </p:clrMapOvr>
  <mc:AlternateContent xmlns:mc="http://schemas.openxmlformats.org/markup-compatibility/2006" xmlns:p14="http://schemas.microsoft.com/office/powerpoint/2010/main">
    <mc:Choice Requires="p14">
      <p:transition spd="slow" p14:dur="2000" advTm="59862"/>
    </mc:Choice>
    <mc:Fallback xmlns="">
      <p:transition spd="slow" advTm="59862"/>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0468" name="矩形 830467">
            <a:extLst>
              <a:ext uri="{FF2B5EF4-FFF2-40B4-BE49-F238E27FC236}">
                <a16:creationId xmlns:a16="http://schemas.microsoft.com/office/drawing/2014/main" id="{20E799BC-55A8-4D15-BF5C-97C26F04917B}"/>
              </a:ext>
            </a:extLst>
          </p:cNvPr>
          <p:cNvSpPr/>
          <p:nvPr/>
        </p:nvSpPr>
        <p:spPr>
          <a:xfrm>
            <a:off x="1150938" y="2270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t>一、关系模型的基本概念</a:t>
            </a:r>
          </a:p>
        </p:txBody>
      </p:sp>
      <p:graphicFrame>
        <p:nvGraphicFramePr>
          <p:cNvPr id="830469" name="表格 830468">
            <a:extLst>
              <a:ext uri="{FF2B5EF4-FFF2-40B4-BE49-F238E27FC236}">
                <a16:creationId xmlns:a16="http://schemas.microsoft.com/office/drawing/2014/main" id="{5464AA1B-0453-4F34-BB2F-2115173E2C58}"/>
              </a:ext>
            </a:extLst>
          </p:cNvPr>
          <p:cNvGraphicFramePr/>
          <p:nvPr/>
        </p:nvGraphicFramePr>
        <p:xfrm>
          <a:off x="1511300" y="965200"/>
          <a:ext cx="4191000" cy="2524125"/>
        </p:xfrm>
        <a:graphic>
          <a:graphicData uri="http://schemas.openxmlformats.org/drawingml/2006/table">
            <a:tbl>
              <a:tblPr/>
              <a:tblGrid>
                <a:gridCol w="21336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tblGrid>
              <a:tr h="420688">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dirty="0">
                          <a:solidFill>
                            <a:srgbClr val="660033"/>
                          </a:solidFill>
                          <a:effectLst/>
                          <a:latin typeface="黑体" panose="02010609060101010101" pitchFamily="2" charset="-122"/>
                          <a:ea typeface="黑体" panose="02010609060101010101" pitchFamily="2" charset="-122"/>
                        </a:rPr>
                        <a:t>    教职工号</a:t>
                      </a:r>
                    </a:p>
                  </a:txBody>
                  <a:tcPr>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dirty="0">
                          <a:solidFill>
                            <a:srgbClr val="660033"/>
                          </a:solidFill>
                          <a:effectLst/>
                          <a:latin typeface="黑体" panose="02010609060101010101" pitchFamily="2" charset="-122"/>
                          <a:ea typeface="黑体" panose="02010609060101010101" pitchFamily="2" charset="-122"/>
                        </a:rPr>
                        <a:t>    课程号</a:t>
                      </a:r>
                    </a:p>
                  </a:txBody>
                  <a:tcPr>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0"/>
                  </a:ext>
                </a:extLst>
              </a:tr>
              <a:tr h="420687">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a:effectLst/>
                        </a:rPr>
                        <a:t>        </a:t>
                      </a:r>
                      <a:r>
                        <a:rPr lang="en-US" altLang="zh-CN" sz="1800">
                          <a:effectLst/>
                        </a:rPr>
                        <a:t>T0401001</a:t>
                      </a:r>
                    </a:p>
                  </a:txBody>
                  <a:tcPr>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a:effectLst/>
                        </a:rPr>
                        <a:t>     </a:t>
                      </a:r>
                      <a:r>
                        <a:rPr lang="en-US" altLang="zh-CN" sz="1800">
                          <a:effectLst/>
                        </a:rPr>
                        <a:t>C401002</a:t>
                      </a:r>
                    </a:p>
                  </a:txBody>
                  <a:tcPr>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1"/>
                  </a:ext>
                </a:extLst>
              </a:tr>
              <a:tr h="420688">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a:effectLst/>
                        </a:rPr>
                        <a:t>        </a:t>
                      </a:r>
                      <a:r>
                        <a:rPr lang="en-US" altLang="zh-CN" sz="1800">
                          <a:effectLst/>
                        </a:rPr>
                        <a:t>T0401002</a:t>
                      </a:r>
                    </a:p>
                  </a:txBody>
                  <a:tcPr>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a:effectLst/>
                        </a:rPr>
                        <a:t>     </a:t>
                      </a:r>
                      <a:r>
                        <a:rPr lang="en-US" altLang="zh-CN" sz="1800">
                          <a:effectLst/>
                        </a:rPr>
                        <a:t>C401001</a:t>
                      </a:r>
                    </a:p>
                  </a:txBody>
                  <a:tcPr>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2"/>
                  </a:ext>
                </a:extLst>
              </a:tr>
              <a:tr h="420687">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a:effectLst/>
                        </a:rPr>
                        <a:t>        </a:t>
                      </a:r>
                      <a:r>
                        <a:rPr lang="en-US" altLang="zh-CN" sz="1800">
                          <a:effectLst/>
                        </a:rPr>
                        <a:t>T0402001</a:t>
                      </a:r>
                    </a:p>
                  </a:txBody>
                  <a:tcPr>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a:effectLst/>
                        </a:rPr>
                        <a:t>     </a:t>
                      </a:r>
                      <a:r>
                        <a:rPr lang="en-US" altLang="zh-CN" sz="1800">
                          <a:effectLst/>
                        </a:rPr>
                        <a:t>C402002</a:t>
                      </a:r>
                    </a:p>
                  </a:txBody>
                  <a:tcPr>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3"/>
                  </a:ext>
                </a:extLst>
              </a:tr>
              <a:tr h="420688">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a:effectLst/>
                        </a:rPr>
                        <a:t>        </a:t>
                      </a:r>
                      <a:r>
                        <a:rPr lang="en-US" altLang="zh-CN" sz="1800">
                          <a:effectLst/>
                        </a:rPr>
                        <a:t>T0402002</a:t>
                      </a:r>
                    </a:p>
                  </a:txBody>
                  <a:tcPr>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a:effectLst/>
                        </a:rPr>
                        <a:t>     </a:t>
                      </a:r>
                      <a:r>
                        <a:rPr lang="en-US" altLang="zh-CN" sz="1800">
                          <a:effectLst/>
                        </a:rPr>
                        <a:t>C402002</a:t>
                      </a:r>
                    </a:p>
                  </a:txBody>
                  <a:tcPr>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4"/>
                  </a:ext>
                </a:extLst>
              </a:tr>
              <a:tr h="420687">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a:effectLst/>
                        </a:rPr>
                        <a:t>        </a:t>
                      </a:r>
                      <a:r>
                        <a:rPr lang="en-US" altLang="zh-CN" sz="1800">
                          <a:effectLst/>
                        </a:rPr>
                        <a:t>T0403002</a:t>
                      </a:r>
                    </a:p>
                  </a:txBody>
                  <a:tcPr>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a:effectLst/>
                        </a:rPr>
                        <a:t>     </a:t>
                      </a:r>
                      <a:r>
                        <a:rPr lang="en-US" altLang="zh-CN" sz="1800">
                          <a:effectLst/>
                        </a:rPr>
                        <a:t>C403001</a:t>
                      </a:r>
                    </a:p>
                  </a:txBody>
                  <a:tcPr>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830492" name="表格 830491">
            <a:extLst>
              <a:ext uri="{FF2B5EF4-FFF2-40B4-BE49-F238E27FC236}">
                <a16:creationId xmlns:a16="http://schemas.microsoft.com/office/drawing/2014/main" id="{C852CE44-E47E-4D94-9C8F-C64CAA6AD58F}"/>
              </a:ext>
            </a:extLst>
          </p:cNvPr>
          <p:cNvGraphicFramePr/>
          <p:nvPr/>
        </p:nvGraphicFramePr>
        <p:xfrm>
          <a:off x="825500" y="3532188"/>
          <a:ext cx="8077200" cy="2976563"/>
        </p:xfrm>
        <a:graphic>
          <a:graphicData uri="http://schemas.openxmlformats.org/drawingml/2006/table">
            <a:tbl>
              <a:tblPr/>
              <a:tblGrid>
                <a:gridCol w="13716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1546225">
                  <a:extLst>
                    <a:ext uri="{9D8B030D-6E8A-4147-A177-3AD203B41FA5}">
                      <a16:colId xmlns:a16="http://schemas.microsoft.com/office/drawing/2014/main" val="20003"/>
                    </a:ext>
                  </a:extLst>
                </a:gridCol>
                <a:gridCol w="990600">
                  <a:extLst>
                    <a:ext uri="{9D8B030D-6E8A-4147-A177-3AD203B41FA5}">
                      <a16:colId xmlns:a16="http://schemas.microsoft.com/office/drawing/2014/main" val="20004"/>
                    </a:ext>
                  </a:extLst>
                </a:gridCol>
                <a:gridCol w="1524000">
                  <a:extLst>
                    <a:ext uri="{9D8B030D-6E8A-4147-A177-3AD203B41FA5}">
                      <a16:colId xmlns:a16="http://schemas.microsoft.com/office/drawing/2014/main" val="20005"/>
                    </a:ext>
                  </a:extLst>
                </a:gridCol>
                <a:gridCol w="990600">
                  <a:extLst>
                    <a:ext uri="{9D8B030D-6E8A-4147-A177-3AD203B41FA5}">
                      <a16:colId xmlns:a16="http://schemas.microsoft.com/office/drawing/2014/main" val="20006"/>
                    </a:ext>
                  </a:extLst>
                </a:gridCol>
              </a:tblGrid>
              <a:tr h="420688">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dirty="0">
                          <a:solidFill>
                            <a:srgbClr val="660033"/>
                          </a:solidFill>
                          <a:effectLst/>
                          <a:ea typeface="黑体" panose="02010609060101010101" pitchFamily="2" charset="-122"/>
                        </a:rPr>
                        <a:t>教职工号</a:t>
                      </a:r>
                    </a:p>
                  </a:txBody>
                  <a:tcPr>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dirty="0">
                          <a:solidFill>
                            <a:srgbClr val="660033"/>
                          </a:solidFill>
                          <a:effectLst/>
                          <a:ea typeface="黑体" panose="02010609060101010101" pitchFamily="2" charset="-122"/>
                        </a:rPr>
                        <a:t>姓名</a:t>
                      </a:r>
                    </a:p>
                  </a:txBody>
                  <a:tcPr>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dirty="0">
                          <a:solidFill>
                            <a:srgbClr val="660033"/>
                          </a:solidFill>
                          <a:effectLst/>
                          <a:ea typeface="黑体" panose="02010609060101010101" pitchFamily="2" charset="-122"/>
                        </a:rPr>
                        <a:t>性别</a:t>
                      </a:r>
                    </a:p>
                  </a:txBody>
                  <a:tcPr>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dirty="0">
                          <a:solidFill>
                            <a:srgbClr val="660033"/>
                          </a:solidFill>
                          <a:effectLst/>
                          <a:ea typeface="黑体" panose="02010609060101010101" pitchFamily="2" charset="-122"/>
                        </a:rPr>
                        <a:t>出生年月</a:t>
                      </a:r>
                    </a:p>
                  </a:txBody>
                  <a:tcPr>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dirty="0">
                          <a:solidFill>
                            <a:srgbClr val="660033"/>
                          </a:solidFill>
                          <a:effectLst/>
                          <a:ea typeface="黑体" panose="02010609060101010101" pitchFamily="2" charset="-122"/>
                        </a:rPr>
                        <a:t>职称</a:t>
                      </a:r>
                    </a:p>
                  </a:txBody>
                  <a:tcPr>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dirty="0">
                          <a:solidFill>
                            <a:srgbClr val="660033"/>
                          </a:solidFill>
                          <a:effectLst/>
                          <a:ea typeface="黑体" panose="02010609060101010101" pitchFamily="2" charset="-122"/>
                        </a:rPr>
                        <a:t>教研室</a:t>
                      </a:r>
                    </a:p>
                  </a:txBody>
                  <a:tcPr>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dirty="0">
                          <a:solidFill>
                            <a:srgbClr val="660033"/>
                          </a:solidFill>
                          <a:effectLst/>
                          <a:ea typeface="黑体" panose="02010609060101010101" pitchFamily="2" charset="-122"/>
                        </a:rPr>
                        <a:t>电话</a:t>
                      </a:r>
                    </a:p>
                  </a:txBody>
                  <a:tcPr>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0"/>
                  </a:ext>
                </a:extLst>
              </a:tr>
              <a:tr h="452437">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1800">
                          <a:effectLst/>
                        </a:rPr>
                        <a:t>T0401001</a:t>
                      </a:r>
                    </a:p>
                  </a:txBody>
                  <a:tcPr>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dirty="0">
                          <a:effectLst/>
                        </a:rPr>
                        <a:t>张国庆</a:t>
                      </a:r>
                    </a:p>
                  </a:txBody>
                  <a:tcPr>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dirty="0">
                          <a:effectLst/>
                        </a:rPr>
                        <a:t>   男</a:t>
                      </a:r>
                    </a:p>
                  </a:txBody>
                  <a:tcPr>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1800">
                          <a:effectLst/>
                        </a:rPr>
                        <a:t>01-may-50</a:t>
                      </a:r>
                    </a:p>
                  </a:txBody>
                  <a:tcPr>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dirty="0">
                          <a:effectLst/>
                        </a:rPr>
                        <a:t>教授</a:t>
                      </a:r>
                    </a:p>
                  </a:txBody>
                  <a:tcPr>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dirty="0">
                          <a:effectLst/>
                        </a:rPr>
                        <a:t>计算机</a:t>
                      </a:r>
                    </a:p>
                  </a:txBody>
                  <a:tcPr>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1800">
                          <a:effectLst/>
                        </a:rPr>
                        <a:t>88108</a:t>
                      </a:r>
                    </a:p>
                  </a:txBody>
                  <a:tcPr>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1"/>
                  </a:ext>
                </a:extLst>
              </a:tr>
              <a:tr h="420688">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1800">
                          <a:effectLst/>
                        </a:rPr>
                        <a:t>T0401002</a:t>
                      </a:r>
                    </a:p>
                  </a:txBody>
                  <a:tcPr>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dirty="0">
                          <a:effectLst/>
                        </a:rPr>
                        <a:t>徐   浩</a:t>
                      </a:r>
                    </a:p>
                  </a:txBody>
                  <a:tcPr>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dirty="0">
                          <a:effectLst/>
                        </a:rPr>
                        <a:t>   男</a:t>
                      </a:r>
                    </a:p>
                  </a:txBody>
                  <a:tcPr>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1800">
                          <a:effectLst/>
                        </a:rPr>
                        <a:t>22-jun-77</a:t>
                      </a:r>
                    </a:p>
                  </a:txBody>
                  <a:tcPr>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dirty="0">
                          <a:effectLst/>
                        </a:rPr>
                        <a:t>讲师</a:t>
                      </a:r>
                    </a:p>
                  </a:txBody>
                  <a:tcPr>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dirty="0">
                          <a:effectLst/>
                        </a:rPr>
                        <a:t>计算机</a:t>
                      </a:r>
                    </a:p>
                  </a:txBody>
                  <a:tcPr>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1800">
                          <a:effectLst/>
                        </a:rPr>
                        <a:t>88992</a:t>
                      </a:r>
                    </a:p>
                  </a:txBody>
                  <a:tcPr>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2"/>
                  </a:ext>
                </a:extLst>
              </a:tr>
              <a:tr h="420687">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1800">
                          <a:effectLst/>
                        </a:rPr>
                        <a:t>T0402001</a:t>
                      </a:r>
                    </a:p>
                  </a:txBody>
                  <a:tcPr>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dirty="0">
                          <a:effectLst/>
                        </a:rPr>
                        <a:t>张明敏</a:t>
                      </a:r>
                    </a:p>
                  </a:txBody>
                  <a:tcPr>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dirty="0">
                          <a:effectLst/>
                        </a:rPr>
                        <a:t>  女</a:t>
                      </a:r>
                    </a:p>
                  </a:txBody>
                  <a:tcPr>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1800">
                          <a:effectLst/>
                        </a:rPr>
                        <a:t>30-aug-62</a:t>
                      </a:r>
                    </a:p>
                  </a:txBody>
                  <a:tcPr>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dirty="0">
                          <a:effectLst/>
                        </a:rPr>
                        <a:t>教授</a:t>
                      </a:r>
                    </a:p>
                  </a:txBody>
                  <a:tcPr>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dirty="0">
                          <a:effectLst/>
                        </a:rPr>
                        <a:t>指挥自动化</a:t>
                      </a:r>
                    </a:p>
                  </a:txBody>
                  <a:tcPr>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1800">
                          <a:effectLst/>
                        </a:rPr>
                        <a:t>88518</a:t>
                      </a:r>
                    </a:p>
                  </a:txBody>
                  <a:tcPr>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3"/>
                  </a:ext>
                </a:extLst>
              </a:tr>
              <a:tr h="420688">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1800">
                          <a:effectLst/>
                        </a:rPr>
                        <a:t>T0402002</a:t>
                      </a:r>
                    </a:p>
                  </a:txBody>
                  <a:tcPr>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dirty="0">
                          <a:effectLst/>
                        </a:rPr>
                        <a:t>李阳洋</a:t>
                      </a:r>
                    </a:p>
                  </a:txBody>
                  <a:tcPr>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dirty="0">
                          <a:effectLst/>
                        </a:rPr>
                        <a:t>  女</a:t>
                      </a:r>
                    </a:p>
                  </a:txBody>
                  <a:tcPr>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1800">
                          <a:effectLst/>
                        </a:rPr>
                        <a:t>11-dec-68</a:t>
                      </a:r>
                    </a:p>
                  </a:txBody>
                  <a:tcPr>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dirty="0">
                          <a:effectLst/>
                        </a:rPr>
                        <a:t>副教授</a:t>
                      </a:r>
                    </a:p>
                  </a:txBody>
                  <a:tcPr>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dirty="0">
                          <a:effectLst/>
                        </a:rPr>
                        <a:t>指挥自动化</a:t>
                      </a:r>
                    </a:p>
                  </a:txBody>
                  <a:tcPr>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1800">
                          <a:effectLst/>
                        </a:rPr>
                        <a:t>88826</a:t>
                      </a:r>
                    </a:p>
                  </a:txBody>
                  <a:tcPr>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4"/>
                  </a:ext>
                </a:extLst>
              </a:tr>
              <a:tr h="420687">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1800">
                          <a:effectLst/>
                        </a:rPr>
                        <a:t>T0403001</a:t>
                      </a:r>
                    </a:p>
                  </a:txBody>
                  <a:tcPr>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dirty="0">
                          <a:effectLst/>
                        </a:rPr>
                        <a:t>郭宏伟</a:t>
                      </a:r>
                    </a:p>
                  </a:txBody>
                  <a:tcPr>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dirty="0">
                          <a:effectLst/>
                        </a:rPr>
                        <a:t>  男</a:t>
                      </a:r>
                    </a:p>
                  </a:txBody>
                  <a:tcPr>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1800">
                          <a:effectLst/>
                        </a:rPr>
                        <a:t>29-nov-59</a:t>
                      </a:r>
                    </a:p>
                  </a:txBody>
                  <a:tcPr>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dirty="0">
                          <a:effectLst/>
                        </a:rPr>
                        <a:t>副教授</a:t>
                      </a:r>
                    </a:p>
                  </a:txBody>
                  <a:tcPr>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dirty="0">
                          <a:effectLst/>
                        </a:rPr>
                        <a:t>网络工程</a:t>
                      </a:r>
                    </a:p>
                  </a:txBody>
                  <a:tcPr>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1800">
                          <a:effectLst/>
                        </a:rPr>
                        <a:t>88158</a:t>
                      </a:r>
                    </a:p>
                  </a:txBody>
                  <a:tcPr>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5"/>
                  </a:ext>
                </a:extLst>
              </a:tr>
              <a:tr h="420688">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1800">
                          <a:effectLst/>
                        </a:rPr>
                        <a:t>T0403002</a:t>
                      </a:r>
                    </a:p>
                  </a:txBody>
                  <a:tcPr>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dirty="0">
                          <a:effectLst/>
                        </a:rPr>
                        <a:t>宋    歌</a:t>
                      </a:r>
                    </a:p>
                  </a:txBody>
                  <a:tcPr>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dirty="0">
                          <a:effectLst/>
                        </a:rPr>
                        <a:t>  女</a:t>
                      </a:r>
                    </a:p>
                  </a:txBody>
                  <a:tcPr>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1800">
                          <a:effectLst/>
                        </a:rPr>
                        <a:t>15-mar-82</a:t>
                      </a:r>
                    </a:p>
                  </a:txBody>
                  <a:tcPr>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endParaRPr lang="zh-CN" altLang="en-US" sz="1800" dirty="0">
                        <a:effectLst/>
                      </a:endParaRPr>
                    </a:p>
                  </a:txBody>
                  <a:tcPr>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800" dirty="0">
                          <a:effectLst/>
                        </a:rPr>
                        <a:t>网络工程</a:t>
                      </a:r>
                    </a:p>
                  </a:txBody>
                  <a:tcPr>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endParaRPr lang="zh-CN" altLang="en-US" sz="1800" dirty="0">
                        <a:effectLst/>
                      </a:endParaRPr>
                    </a:p>
                  </a:txBody>
                  <a:tcPr>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6"/>
                  </a:ext>
                </a:extLst>
              </a:tr>
            </a:tbl>
          </a:graphicData>
        </a:graphic>
      </p:graphicFrame>
      <p:sp>
        <p:nvSpPr>
          <p:cNvPr id="830558" name="文本框 830557">
            <a:extLst>
              <a:ext uri="{FF2B5EF4-FFF2-40B4-BE49-F238E27FC236}">
                <a16:creationId xmlns:a16="http://schemas.microsoft.com/office/drawing/2014/main" id="{AABB686C-CC5C-4257-B19F-3130598A1C9D}"/>
              </a:ext>
            </a:extLst>
          </p:cNvPr>
          <p:cNvSpPr txBox="1"/>
          <p:nvPr/>
        </p:nvSpPr>
        <p:spPr>
          <a:xfrm>
            <a:off x="3568700" y="6464300"/>
            <a:ext cx="2743200" cy="427038"/>
          </a:xfrm>
          <a:prstGeom prst="rect">
            <a:avLst/>
          </a:prstGeom>
          <a:noFill/>
          <a:ln w="19050">
            <a:noFill/>
          </a:ln>
        </p:spPr>
        <p:txBody>
          <a:bodyPr>
            <a:spAutoFit/>
          </a:bodyPr>
          <a:lstStyle/>
          <a:p>
            <a:pPr>
              <a:spcBef>
                <a:spcPct val="50000"/>
              </a:spcBef>
            </a:pPr>
            <a:r>
              <a:rPr lang="en-US" altLang="zh-CN" sz="2200" b="1" noProof="1">
                <a:solidFill>
                  <a:srgbClr val="660033"/>
                </a:solidFill>
                <a:effectLst>
                  <a:outerShdw blurRad="38100" dist="38100" dir="2700000">
                    <a:srgbClr val="C0C0C0"/>
                  </a:outerShdw>
                </a:effectLst>
                <a:latin typeface="宋体" panose="02010600030101010101" pitchFamily="2" charset="-122"/>
                <a:ea typeface="宋体" panose="02010600030101010101" pitchFamily="2" charset="-122"/>
              </a:rPr>
              <a:t>(f)</a:t>
            </a:r>
            <a:r>
              <a:rPr lang="en-US" altLang="zh-CN" sz="2200" b="1" noProof="1">
                <a:solidFill>
                  <a:srgbClr val="660033"/>
                </a:solidFill>
                <a:effectLst>
                  <a:outerShdw blurRad="38100" dist="38100" dir="2700000">
                    <a:srgbClr val="C0C0C0"/>
                  </a:outerShdw>
                </a:effectLst>
                <a:ea typeface="宋体" panose="02010600030101010101" pitchFamily="2" charset="-122"/>
              </a:rPr>
              <a:t>   </a:t>
            </a:r>
            <a:r>
              <a:rPr lang="zh-CN" altLang="en-US" sz="2200" b="1" noProof="1">
                <a:solidFill>
                  <a:srgbClr val="660033"/>
                </a:solidFill>
                <a:effectLst>
                  <a:outerShdw blurRad="38100" dist="38100" dir="2700000">
                    <a:srgbClr val="C0C0C0"/>
                  </a:outerShdw>
                </a:effectLst>
                <a:ea typeface="宋体" panose="02010600030101010101" pitchFamily="2" charset="-122"/>
              </a:rPr>
              <a:t>教师关系</a:t>
            </a:r>
            <a:r>
              <a:rPr lang="en-US" altLang="zh-CN" sz="2200" b="1" noProof="1">
                <a:solidFill>
                  <a:srgbClr val="660033"/>
                </a:solidFill>
                <a:effectLst>
                  <a:outerShdw blurRad="38100" dist="38100" dir="2700000">
                    <a:srgbClr val="C0C0C0"/>
                  </a:outerShdw>
                </a:effectLst>
                <a:latin typeface="宋体" panose="02010600030101010101" pitchFamily="2" charset="-122"/>
                <a:ea typeface="宋体" panose="02010600030101010101" pitchFamily="2" charset="-122"/>
              </a:rPr>
              <a:t>T</a:t>
            </a:r>
          </a:p>
        </p:txBody>
      </p:sp>
      <p:sp>
        <p:nvSpPr>
          <p:cNvPr id="830559" name="文本框 830558">
            <a:extLst>
              <a:ext uri="{FF2B5EF4-FFF2-40B4-BE49-F238E27FC236}">
                <a16:creationId xmlns:a16="http://schemas.microsoft.com/office/drawing/2014/main" id="{B00D2DF4-ABB5-4CD1-9C91-DE5D2CE7795F}"/>
              </a:ext>
            </a:extLst>
          </p:cNvPr>
          <p:cNvSpPr txBox="1"/>
          <p:nvPr/>
        </p:nvSpPr>
        <p:spPr>
          <a:xfrm>
            <a:off x="5778500" y="2730500"/>
            <a:ext cx="2819400" cy="457200"/>
          </a:xfrm>
          <a:prstGeom prst="rect">
            <a:avLst/>
          </a:prstGeom>
          <a:noFill/>
          <a:ln w="19050">
            <a:noFill/>
          </a:ln>
        </p:spPr>
        <p:txBody>
          <a:bodyPr>
            <a:spAutoFit/>
          </a:bodyPr>
          <a:lstStyle/>
          <a:p>
            <a:pPr>
              <a:spcBef>
                <a:spcPct val="50000"/>
              </a:spcBef>
            </a:pPr>
            <a:r>
              <a:rPr lang="en-US" altLang="zh-CN" sz="2400" b="1" noProof="1">
                <a:solidFill>
                  <a:srgbClr val="660033"/>
                </a:solidFill>
                <a:effectLst>
                  <a:outerShdw blurRad="38100" dist="38100" dir="2700000">
                    <a:srgbClr val="C0C0C0"/>
                  </a:outerShdw>
                </a:effectLst>
                <a:latin typeface="宋体" panose="02010600030101010101" pitchFamily="2" charset="-122"/>
                <a:ea typeface="宋体" panose="02010600030101010101" pitchFamily="2" charset="-122"/>
              </a:rPr>
              <a:t>(g) </a:t>
            </a:r>
            <a:r>
              <a:rPr lang="zh-CN" altLang="en-US" sz="2400" b="1" noProof="1">
                <a:solidFill>
                  <a:srgbClr val="660033"/>
                </a:solidFill>
                <a:effectLst>
                  <a:outerShdw blurRad="38100" dist="38100" dir="2700000">
                    <a:srgbClr val="C0C0C0"/>
                  </a:outerShdw>
                </a:effectLst>
                <a:latin typeface="宋体" panose="02010600030101010101" pitchFamily="2" charset="-122"/>
                <a:ea typeface="宋体" panose="02010600030101010101" pitchFamily="2" charset="-122"/>
              </a:rPr>
              <a:t>讲授关系</a:t>
            </a:r>
            <a:r>
              <a:rPr lang="en-US" altLang="zh-CN" sz="2400" b="1" noProof="1">
                <a:solidFill>
                  <a:srgbClr val="660033"/>
                </a:solidFill>
                <a:effectLst>
                  <a:outerShdw blurRad="38100" dist="38100" dir="2700000">
                    <a:srgbClr val="C0C0C0"/>
                  </a:outerShdw>
                </a:effectLst>
                <a:latin typeface="宋体" panose="02010600030101010101" pitchFamily="2" charset="-122"/>
                <a:ea typeface="宋体" panose="02010600030101010101" pitchFamily="2" charset="-122"/>
              </a:rPr>
              <a:t>TEACH</a:t>
            </a:r>
          </a:p>
        </p:txBody>
      </p:sp>
      <p:sp>
        <p:nvSpPr>
          <p:cNvPr id="41053" name="文本框 830559">
            <a:extLst>
              <a:ext uri="{FF2B5EF4-FFF2-40B4-BE49-F238E27FC236}">
                <a16:creationId xmlns:a16="http://schemas.microsoft.com/office/drawing/2014/main" id="{386A569E-13DB-4743-B18B-0B255682A1BC}"/>
              </a:ext>
            </a:extLst>
          </p:cNvPr>
          <p:cNvSpPr txBox="1">
            <a:spLocks noChangeArrowheads="1"/>
          </p:cNvSpPr>
          <p:nvPr/>
        </p:nvSpPr>
        <p:spPr bwMode="auto">
          <a:xfrm>
            <a:off x="6007100" y="1282700"/>
            <a:ext cx="2971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p>
            <a:pPr>
              <a:spcBef>
                <a:spcPct val="50000"/>
              </a:spcBef>
            </a:pPr>
            <a:r>
              <a:rPr lang="zh-CN" altLang="en-US" sz="2400" b="1">
                <a:ea typeface="宋体" panose="02010600030101010101" pitchFamily="2" charset="-122"/>
              </a:rPr>
              <a:t>图</a:t>
            </a:r>
            <a:r>
              <a:rPr lang="en-US" altLang="zh-CN" sz="2400" b="1">
                <a:ea typeface="宋体" panose="02010600030101010101" pitchFamily="2" charset="-122"/>
              </a:rPr>
              <a:t>1.7    </a:t>
            </a:r>
            <a:r>
              <a:rPr lang="zh-CN" altLang="en-US" sz="2400" b="1">
                <a:ea typeface="宋体" panose="02010600030101010101" pitchFamily="2" charset="-122"/>
              </a:rPr>
              <a:t>用二维表格结构表示的关系示例</a:t>
            </a:r>
          </a:p>
        </p:txBody>
      </p:sp>
      <p:sp>
        <p:nvSpPr>
          <p:cNvPr id="830561" name="文本框 830560">
            <a:extLst>
              <a:ext uri="{FF2B5EF4-FFF2-40B4-BE49-F238E27FC236}">
                <a16:creationId xmlns:a16="http://schemas.microsoft.com/office/drawing/2014/main" id="{6012A36F-80C4-4D88-B705-313B9E6A5645}"/>
              </a:ext>
            </a:extLst>
          </p:cNvPr>
          <p:cNvSpPr txBox="1"/>
          <p:nvPr/>
        </p:nvSpPr>
        <p:spPr>
          <a:xfrm>
            <a:off x="5778500" y="2730500"/>
            <a:ext cx="2819400" cy="457200"/>
          </a:xfrm>
          <a:prstGeom prst="rect">
            <a:avLst/>
          </a:prstGeom>
          <a:noFill/>
          <a:ln w="19050">
            <a:noFill/>
          </a:ln>
        </p:spPr>
        <p:txBody>
          <a:bodyPr>
            <a:spAutoFit/>
          </a:bodyPr>
          <a:lstStyle/>
          <a:p>
            <a:pPr>
              <a:spcBef>
                <a:spcPct val="50000"/>
              </a:spcBef>
            </a:pPr>
            <a:r>
              <a:rPr lang="en-US" altLang="zh-CN" sz="2400" b="1" noProof="1">
                <a:solidFill>
                  <a:srgbClr val="660033"/>
                </a:solidFill>
                <a:effectLst>
                  <a:outerShdw blurRad="38100" dist="38100" dir="2700000">
                    <a:srgbClr val="C0C0C0"/>
                  </a:outerShdw>
                </a:effectLst>
                <a:latin typeface="宋体" panose="02010600030101010101" pitchFamily="2" charset="-122"/>
                <a:ea typeface="宋体" panose="02010600030101010101" pitchFamily="2" charset="-122"/>
              </a:rPr>
              <a:t>(g) </a:t>
            </a:r>
            <a:r>
              <a:rPr lang="zh-CN" altLang="en-US" sz="2400" b="1" noProof="1">
                <a:solidFill>
                  <a:srgbClr val="660033"/>
                </a:solidFill>
                <a:effectLst>
                  <a:outerShdw blurRad="38100" dist="38100" dir="2700000">
                    <a:srgbClr val="C0C0C0"/>
                  </a:outerShdw>
                </a:effectLst>
                <a:latin typeface="宋体" panose="02010600030101010101" pitchFamily="2" charset="-122"/>
                <a:ea typeface="宋体" panose="02010600030101010101" pitchFamily="2" charset="-122"/>
              </a:rPr>
              <a:t>讲授关系</a:t>
            </a:r>
            <a:r>
              <a:rPr lang="en-US" altLang="zh-CN" sz="2400" b="1" noProof="1">
                <a:solidFill>
                  <a:srgbClr val="660033"/>
                </a:solidFill>
                <a:effectLst>
                  <a:outerShdw blurRad="38100" dist="38100" dir="2700000">
                    <a:srgbClr val="C0C0C0"/>
                  </a:outerShdw>
                </a:effectLst>
                <a:latin typeface="宋体" panose="02010600030101010101" pitchFamily="2" charset="-122"/>
                <a:ea typeface="宋体" panose="02010600030101010101" pitchFamily="2" charset="-122"/>
              </a:rPr>
              <a:t>TEACH</a:t>
            </a:r>
          </a:p>
        </p:txBody>
      </p:sp>
    </p:spTree>
  </p:cSld>
  <p:clrMapOvr>
    <a:masterClrMapping/>
  </p:clrMapOvr>
  <mc:AlternateContent xmlns:mc="http://schemas.openxmlformats.org/markup-compatibility/2006" xmlns:p14="http://schemas.microsoft.com/office/powerpoint/2010/main">
    <mc:Choice Requires="p14">
      <p:transition spd="slow" p14:dur="2000" advTm="23259"/>
    </mc:Choice>
    <mc:Fallback xmlns="">
      <p:transition spd="slow" advTm="23259"/>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492" name="矩形 831491">
            <a:extLst>
              <a:ext uri="{FF2B5EF4-FFF2-40B4-BE49-F238E27FC236}">
                <a16:creationId xmlns:a16="http://schemas.microsoft.com/office/drawing/2014/main" id="{637FF499-AE2F-4B52-B607-EC2A5B85CB8F}"/>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t>一、关系模型的基本概念</a:t>
            </a:r>
          </a:p>
        </p:txBody>
      </p:sp>
      <p:sp>
        <p:nvSpPr>
          <p:cNvPr id="831493" name="矩形 831492">
            <a:extLst>
              <a:ext uri="{FF2B5EF4-FFF2-40B4-BE49-F238E27FC236}">
                <a16:creationId xmlns:a16="http://schemas.microsoft.com/office/drawing/2014/main" id="{6135D2C8-14AA-4DAA-AE7C-9FC74B456239}"/>
              </a:ext>
            </a:extLst>
          </p:cNvPr>
          <p:cNvSpPr/>
          <p:nvPr/>
        </p:nvSpPr>
        <p:spPr>
          <a:xfrm>
            <a:off x="468313" y="1114425"/>
            <a:ext cx="8137525" cy="5338763"/>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r>
              <a:rPr lang="zh-CN" altLang="en-US" sz="2600" noProof="1">
                <a:solidFill>
                  <a:srgbClr val="990033"/>
                </a:solidFill>
                <a:effectLst/>
                <a:ea typeface="黑体" panose="02010609060101010101" pitchFamily="2" charset="-122"/>
              </a:rPr>
              <a:t>关系模式的表示：</a:t>
            </a:r>
            <a:r>
              <a:rPr lang="zh-CN" altLang="en-US" sz="2400" noProof="1"/>
              <a:t>   </a:t>
            </a:r>
          </a:p>
          <a:p>
            <a:pPr>
              <a:lnSpc>
                <a:spcPct val="125000"/>
              </a:lnSpc>
              <a:spcBef>
                <a:spcPct val="0"/>
              </a:spcBef>
            </a:pPr>
            <a:r>
              <a:rPr lang="en-US" altLang="zh-CN" sz="2600" noProof="1">
                <a:solidFill>
                  <a:schemeClr val="hlink"/>
                </a:solidFill>
              </a:rPr>
              <a:t>1</a:t>
            </a:r>
            <a:r>
              <a:rPr lang="zh-CN" altLang="en-US" sz="2600" noProof="1">
                <a:solidFill>
                  <a:schemeClr val="hlink"/>
                </a:solidFill>
              </a:rPr>
              <a:t>、</a:t>
            </a:r>
            <a:r>
              <a:rPr lang="zh-CN" altLang="en-US" sz="2600" noProof="1"/>
              <a:t>学生关系（学号，姓名，性别，出生年月，</a:t>
            </a:r>
          </a:p>
          <a:p>
            <a:pPr>
              <a:lnSpc>
                <a:spcPct val="125000"/>
              </a:lnSpc>
              <a:spcBef>
                <a:spcPct val="0"/>
              </a:spcBef>
            </a:pPr>
            <a:r>
              <a:rPr lang="zh-CN" altLang="en-US" sz="2600" noProof="1"/>
              <a:t>                                            籍贯，专业代码，班级）</a:t>
            </a:r>
          </a:p>
          <a:p>
            <a:pPr>
              <a:lnSpc>
                <a:spcPct val="125000"/>
              </a:lnSpc>
              <a:spcBef>
                <a:spcPct val="5000"/>
              </a:spcBef>
            </a:pPr>
            <a:r>
              <a:rPr lang="en-US" altLang="zh-CN" sz="2600" noProof="1">
                <a:solidFill>
                  <a:schemeClr val="hlink"/>
                </a:solidFill>
              </a:rPr>
              <a:t>2</a:t>
            </a:r>
            <a:r>
              <a:rPr lang="zh-CN" altLang="en-US" sz="2600" noProof="1">
                <a:solidFill>
                  <a:schemeClr val="hlink"/>
                </a:solidFill>
              </a:rPr>
              <a:t>、</a:t>
            </a:r>
            <a:r>
              <a:rPr lang="zh-CN" altLang="en-US" sz="2600" noProof="1">
                <a:solidFill>
                  <a:srgbClr val="003366"/>
                </a:solidFill>
              </a:rPr>
              <a:t>专业关系（专业代码，专业名称）</a:t>
            </a:r>
            <a:endParaRPr lang="en-US" altLang="zh-CN" sz="2600" noProof="1">
              <a:solidFill>
                <a:srgbClr val="003366"/>
              </a:solidFill>
            </a:endParaRPr>
          </a:p>
          <a:p>
            <a:pPr>
              <a:lnSpc>
                <a:spcPct val="125000"/>
              </a:lnSpc>
              <a:spcBef>
                <a:spcPct val="5000"/>
              </a:spcBef>
            </a:pPr>
            <a:r>
              <a:rPr lang="en-US" altLang="zh-CN" sz="2600" noProof="1">
                <a:solidFill>
                  <a:schemeClr val="hlink"/>
                </a:solidFill>
              </a:rPr>
              <a:t>3</a:t>
            </a:r>
            <a:r>
              <a:rPr lang="zh-CN" altLang="en-US" sz="2600" noProof="1">
                <a:solidFill>
                  <a:schemeClr val="hlink"/>
                </a:solidFill>
              </a:rPr>
              <a:t>、</a:t>
            </a:r>
            <a:r>
              <a:rPr lang="zh-CN" altLang="en-US" sz="2600" noProof="1">
                <a:solidFill>
                  <a:srgbClr val="006666"/>
                </a:solidFill>
              </a:rPr>
              <a:t>课程关系（课程号，课程名，学时</a:t>
            </a:r>
            <a:r>
              <a:rPr lang="zh-CN" altLang="en-US" sz="2600" noProof="1">
                <a:solidFill>
                  <a:srgbClr val="006699"/>
                </a:solidFill>
              </a:rPr>
              <a:t>）</a:t>
            </a:r>
          </a:p>
          <a:p>
            <a:pPr>
              <a:lnSpc>
                <a:spcPct val="125000"/>
              </a:lnSpc>
              <a:spcBef>
                <a:spcPct val="5000"/>
              </a:spcBef>
            </a:pPr>
            <a:r>
              <a:rPr lang="en-US" altLang="zh-CN" sz="2600" noProof="1">
                <a:solidFill>
                  <a:schemeClr val="hlink"/>
                </a:solidFill>
              </a:rPr>
              <a:t>4</a:t>
            </a:r>
            <a:r>
              <a:rPr lang="zh-CN" altLang="en-US" sz="2600" noProof="1">
                <a:solidFill>
                  <a:schemeClr val="hlink"/>
                </a:solidFill>
              </a:rPr>
              <a:t>、</a:t>
            </a:r>
            <a:r>
              <a:rPr lang="zh-CN" altLang="en-US" sz="2600" noProof="1">
                <a:solidFill>
                  <a:srgbClr val="660033"/>
                </a:solidFill>
              </a:rPr>
              <a:t>设置关系（专业代码，课程号）</a:t>
            </a:r>
            <a:endParaRPr lang="en-US" altLang="zh-CN" sz="2600" noProof="1">
              <a:solidFill>
                <a:srgbClr val="660033"/>
              </a:solidFill>
            </a:endParaRPr>
          </a:p>
          <a:p>
            <a:pPr>
              <a:lnSpc>
                <a:spcPct val="125000"/>
              </a:lnSpc>
              <a:spcBef>
                <a:spcPct val="5000"/>
              </a:spcBef>
            </a:pPr>
            <a:r>
              <a:rPr lang="en-US" altLang="zh-CN" sz="2600" noProof="1">
                <a:solidFill>
                  <a:schemeClr val="hlink"/>
                </a:solidFill>
              </a:rPr>
              <a:t>5</a:t>
            </a:r>
            <a:r>
              <a:rPr lang="zh-CN" altLang="en-US" sz="2600" noProof="1">
                <a:solidFill>
                  <a:schemeClr val="hlink"/>
                </a:solidFill>
              </a:rPr>
              <a:t>、</a:t>
            </a:r>
            <a:r>
              <a:rPr lang="zh-CN" altLang="en-US" sz="2600" noProof="1"/>
              <a:t>学习关系（学号，课程号，分数）</a:t>
            </a:r>
          </a:p>
          <a:p>
            <a:pPr>
              <a:lnSpc>
                <a:spcPct val="125000"/>
              </a:lnSpc>
              <a:spcBef>
                <a:spcPct val="5000"/>
              </a:spcBef>
            </a:pPr>
            <a:r>
              <a:rPr lang="en-US" altLang="zh-CN" sz="2600" noProof="1">
                <a:solidFill>
                  <a:schemeClr val="hlink"/>
                </a:solidFill>
              </a:rPr>
              <a:t>6</a:t>
            </a:r>
            <a:r>
              <a:rPr lang="zh-CN" altLang="en-US" sz="2600" noProof="1">
                <a:solidFill>
                  <a:schemeClr val="hlink"/>
                </a:solidFill>
              </a:rPr>
              <a:t>、</a:t>
            </a:r>
            <a:r>
              <a:rPr lang="zh-CN" altLang="en-US" sz="2600" noProof="1">
                <a:solidFill>
                  <a:srgbClr val="003366"/>
                </a:solidFill>
              </a:rPr>
              <a:t>讲授关系（教职工号，课程号）</a:t>
            </a:r>
          </a:p>
          <a:p>
            <a:pPr>
              <a:lnSpc>
                <a:spcPct val="125000"/>
              </a:lnSpc>
              <a:spcBef>
                <a:spcPct val="5000"/>
              </a:spcBef>
            </a:pPr>
            <a:r>
              <a:rPr lang="en-US" altLang="zh-CN" sz="2600" noProof="1">
                <a:solidFill>
                  <a:schemeClr val="hlink"/>
                </a:solidFill>
              </a:rPr>
              <a:t>7</a:t>
            </a:r>
            <a:r>
              <a:rPr lang="zh-CN" altLang="en-US" sz="2600" noProof="1">
                <a:solidFill>
                  <a:schemeClr val="hlink"/>
                </a:solidFill>
              </a:rPr>
              <a:t>、</a:t>
            </a:r>
            <a:r>
              <a:rPr lang="zh-CN" altLang="en-US" sz="2600" noProof="1">
                <a:solidFill>
                  <a:srgbClr val="660033"/>
                </a:solidFill>
              </a:rPr>
              <a:t>教师关系（教职工号，姓名，性别，出生年月，</a:t>
            </a:r>
          </a:p>
          <a:p>
            <a:pPr>
              <a:lnSpc>
                <a:spcPct val="125000"/>
              </a:lnSpc>
              <a:spcBef>
                <a:spcPct val="0"/>
              </a:spcBef>
            </a:pPr>
            <a:r>
              <a:rPr lang="zh-CN" altLang="en-US" sz="2600" noProof="1"/>
              <a:t>                                               </a:t>
            </a:r>
            <a:r>
              <a:rPr lang="zh-CN" altLang="en-US" sz="2600" noProof="1">
                <a:solidFill>
                  <a:srgbClr val="660033"/>
                </a:solidFill>
              </a:rPr>
              <a:t>职称，教研室，电话）</a:t>
            </a:r>
            <a:endParaRPr lang="en-US" altLang="zh-CN" sz="2600" noProof="1">
              <a:solidFill>
                <a:srgbClr val="660033"/>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28238"/>
    </mc:Choice>
    <mc:Fallback xmlns="">
      <p:transition spd="slow" advTm="28238"/>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2516" name="矩形 832515">
            <a:extLst>
              <a:ext uri="{FF2B5EF4-FFF2-40B4-BE49-F238E27FC236}">
                <a16:creationId xmlns:a16="http://schemas.microsoft.com/office/drawing/2014/main" id="{3F3FF279-536D-4ADC-8D73-FD063BCB4AB8}"/>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t>一、关系模型的基本概念</a:t>
            </a:r>
          </a:p>
        </p:txBody>
      </p:sp>
      <p:sp>
        <p:nvSpPr>
          <p:cNvPr id="832517" name="矩形 832516">
            <a:extLst>
              <a:ext uri="{FF2B5EF4-FFF2-40B4-BE49-F238E27FC236}">
                <a16:creationId xmlns:a16="http://schemas.microsoft.com/office/drawing/2014/main" id="{02FCDE1D-EBE5-49CE-BAEF-E84043A2E8A4}"/>
              </a:ext>
            </a:extLst>
          </p:cNvPr>
          <p:cNvSpPr/>
          <p:nvPr/>
        </p:nvSpPr>
        <p:spPr>
          <a:xfrm>
            <a:off x="468313" y="1185863"/>
            <a:ext cx="8353425" cy="5338762"/>
          </a:xfrm>
          <a:prstGeom prst="rect">
            <a:avLst/>
          </a:prstGeom>
          <a:noFill/>
          <a:ln w="9525">
            <a:noFill/>
          </a:ln>
        </p:spPr>
        <p:txBody>
          <a:bodyPr/>
          <a:lstStyle>
            <a:lvl1pPr marL="342900" indent="-342900">
              <a:defRPr>
                <a:solidFill>
                  <a:schemeClr val="tx1"/>
                </a:solidFill>
                <a:latin typeface="Arial" panose="020B0604020202020204" pitchFamily="34" charset="0"/>
                <a:ea typeface="楷体_GB2312" pitchFamily="49" charset="-122"/>
              </a:defRPr>
            </a:lvl1pPr>
            <a:lvl2pPr>
              <a:defRPr>
                <a:solidFill>
                  <a:schemeClr val="tx1"/>
                </a:solidFill>
                <a:latin typeface="Arial" panose="020B0604020202020204" pitchFamily="34" charset="0"/>
                <a:ea typeface="楷体_GB2312" pitchFamily="49" charset="-122"/>
              </a:defRPr>
            </a:lvl2pPr>
            <a:lvl3pPr>
              <a:defRPr>
                <a:solidFill>
                  <a:schemeClr val="tx1"/>
                </a:solidFill>
                <a:latin typeface="Arial" panose="020B0604020202020204" pitchFamily="34" charset="0"/>
                <a:ea typeface="楷体_GB2312" pitchFamily="49" charset="-122"/>
              </a:defRPr>
            </a:lvl3pPr>
            <a:lvl4pPr>
              <a:defRPr>
                <a:solidFill>
                  <a:schemeClr val="tx1"/>
                </a:solidFill>
                <a:latin typeface="Arial" panose="020B0604020202020204" pitchFamily="34" charset="0"/>
                <a:ea typeface="楷体_GB2312" pitchFamily="49" charset="-122"/>
              </a:defRPr>
            </a:lvl4pPr>
            <a:lvl5pPr>
              <a:defRPr>
                <a:solidFill>
                  <a:schemeClr val="tx1"/>
                </a:solidFill>
                <a:latin typeface="Arial" panose="020B0604020202020204" pitchFamily="34" charset="0"/>
                <a:ea typeface="楷体_GB2312" pitchFamily="49" charset="-122"/>
              </a:defRPr>
            </a:lvl5pPr>
            <a:lvl6pPr fontAlgn="base">
              <a:spcBef>
                <a:spcPct val="0"/>
              </a:spcBef>
              <a:spcAft>
                <a:spcPct val="0"/>
              </a:spcAft>
              <a:defRPr>
                <a:solidFill>
                  <a:schemeClr val="tx1"/>
                </a:solidFill>
                <a:latin typeface="Arial" panose="020B0604020202020204" pitchFamily="34" charset="0"/>
                <a:ea typeface="楷体_GB2312" pitchFamily="49" charset="-122"/>
              </a:defRPr>
            </a:lvl6pPr>
            <a:lvl7pPr fontAlgn="base">
              <a:spcBef>
                <a:spcPct val="0"/>
              </a:spcBef>
              <a:spcAft>
                <a:spcPct val="0"/>
              </a:spcAft>
              <a:defRPr>
                <a:solidFill>
                  <a:schemeClr val="tx1"/>
                </a:solidFill>
                <a:latin typeface="Arial" panose="020B0604020202020204" pitchFamily="34" charset="0"/>
                <a:ea typeface="楷体_GB2312" pitchFamily="49" charset="-122"/>
              </a:defRPr>
            </a:lvl7pPr>
            <a:lvl8pPr fontAlgn="base">
              <a:spcBef>
                <a:spcPct val="0"/>
              </a:spcBef>
              <a:spcAft>
                <a:spcPct val="0"/>
              </a:spcAft>
              <a:defRPr>
                <a:solidFill>
                  <a:schemeClr val="tx1"/>
                </a:solidFill>
                <a:latin typeface="Arial" panose="020B0604020202020204" pitchFamily="34" charset="0"/>
                <a:ea typeface="楷体_GB2312" pitchFamily="49" charset="-122"/>
              </a:defRPr>
            </a:lvl8pPr>
            <a:lvl9pPr fontAlgn="base">
              <a:spcBef>
                <a:spcPct val="0"/>
              </a:spcBef>
              <a:spcAft>
                <a:spcPct val="0"/>
              </a:spcAft>
              <a:defRPr>
                <a:solidFill>
                  <a:schemeClr val="tx1"/>
                </a:solidFill>
                <a:latin typeface="Arial" panose="020B0604020202020204" pitchFamily="34" charset="0"/>
                <a:ea typeface="楷体_GB2312" pitchFamily="49" charset="-122"/>
              </a:defRPr>
            </a:lvl9pPr>
          </a:lstStyle>
          <a:p>
            <a:pPr>
              <a:lnSpc>
                <a:spcPct val="120000"/>
              </a:lnSpc>
              <a:spcBef>
                <a:spcPct val="20000"/>
              </a:spcBef>
              <a:buClr>
                <a:schemeClr val="folHlink"/>
              </a:buClr>
              <a:buSzPct val="60000"/>
            </a:pPr>
            <a:r>
              <a:rPr lang="zh-CN" altLang="en-US" sz="2600" b="1">
                <a:solidFill>
                  <a:srgbClr val="990033"/>
                </a:solidFill>
                <a:latin typeface="Tahoma" panose="020B0604030504040204" pitchFamily="34" charset="0"/>
                <a:ea typeface="黑体" panose="02010609060101010101" pitchFamily="49" charset="-122"/>
              </a:rPr>
              <a:t>用符号表示关系模式：</a:t>
            </a:r>
            <a:r>
              <a:rPr lang="zh-CN" altLang="en-US" sz="2400" b="1">
                <a:effectLst>
                  <a:outerShdw blurRad="38100" dist="38100" dir="2700000" algn="tl">
                    <a:srgbClr val="C0C0C0"/>
                  </a:outerShdw>
                </a:effectLst>
                <a:latin typeface="Tahoma" panose="020B0604030504040204" pitchFamily="34" charset="0"/>
              </a:rPr>
              <a:t>   </a:t>
            </a:r>
          </a:p>
          <a:p>
            <a:pPr>
              <a:lnSpc>
                <a:spcPct val="165000"/>
              </a:lnSpc>
              <a:buClr>
                <a:schemeClr val="folHlink"/>
              </a:buClr>
              <a:buSzPct val="60000"/>
            </a:pPr>
            <a:r>
              <a:rPr lang="zh-CN" altLang="en-US" sz="2600" b="1">
                <a:effectLst>
                  <a:outerShdw blurRad="38100" dist="38100" dir="2700000" algn="tl">
                    <a:srgbClr val="C0C0C0"/>
                  </a:outerShdw>
                </a:effectLst>
                <a:latin typeface="Tahoma" panose="020B0604030504040204" pitchFamily="34" charset="0"/>
              </a:rPr>
              <a:t>学生关系：</a:t>
            </a:r>
            <a:r>
              <a:rPr lang="en-US" altLang="zh-CN" sz="2800" b="1">
                <a:effectLst>
                  <a:outerShdw blurRad="38100" dist="38100" dir="2700000" algn="tl">
                    <a:srgbClr val="C0C0C0"/>
                  </a:outerShdw>
                </a:effectLst>
                <a:latin typeface="Tahoma" panose="020B0604030504040204" pitchFamily="34" charset="0"/>
              </a:rPr>
              <a:t>S</a:t>
            </a:r>
            <a:r>
              <a:rPr lang="zh-CN" altLang="en-US" sz="2800" b="1">
                <a:effectLst>
                  <a:outerShdw blurRad="38100" dist="38100" dir="2700000" algn="tl">
                    <a:srgbClr val="C0C0C0"/>
                  </a:outerShdw>
                </a:effectLst>
                <a:latin typeface="Tahoma" panose="020B0604030504040204" pitchFamily="34" charset="0"/>
              </a:rPr>
              <a:t>（</a:t>
            </a:r>
            <a:r>
              <a:rPr lang="en-US" altLang="zh-CN" sz="2800" b="1">
                <a:effectLst>
                  <a:outerShdw blurRad="38100" dist="38100" dir="2700000" algn="tl">
                    <a:srgbClr val="C0C0C0"/>
                  </a:outerShdw>
                </a:effectLst>
                <a:latin typeface="Tahoma" panose="020B0604030504040204" pitchFamily="34" charset="0"/>
              </a:rPr>
              <a:t>S#</a:t>
            </a:r>
            <a:r>
              <a:rPr lang="zh-CN" altLang="en-US" sz="2800" b="1">
                <a:effectLst>
                  <a:outerShdw blurRad="38100" dist="38100" dir="2700000" algn="tl">
                    <a:srgbClr val="C0C0C0"/>
                  </a:outerShdw>
                </a:effectLst>
                <a:latin typeface="Tahoma" panose="020B0604030504040204" pitchFamily="34" charset="0"/>
              </a:rPr>
              <a:t>，</a:t>
            </a:r>
            <a:r>
              <a:rPr lang="en-US" altLang="zh-CN" sz="2800" b="1">
                <a:effectLst>
                  <a:outerShdw blurRad="38100" dist="38100" dir="2700000" algn="tl">
                    <a:srgbClr val="C0C0C0"/>
                  </a:outerShdw>
                </a:effectLst>
                <a:latin typeface="Tahoma" panose="020B0604030504040204" pitchFamily="34" charset="0"/>
              </a:rPr>
              <a:t>SNAME</a:t>
            </a:r>
            <a:r>
              <a:rPr lang="zh-CN" altLang="en-US" sz="2800" b="1">
                <a:effectLst>
                  <a:outerShdw blurRad="38100" dist="38100" dir="2700000" algn="tl">
                    <a:srgbClr val="C0C0C0"/>
                  </a:outerShdw>
                </a:effectLst>
                <a:latin typeface="Tahoma" panose="020B0604030504040204" pitchFamily="34" charset="0"/>
              </a:rPr>
              <a:t>，</a:t>
            </a:r>
            <a:r>
              <a:rPr lang="en-US" altLang="zh-CN" sz="2800" b="1">
                <a:effectLst>
                  <a:outerShdw blurRad="38100" dist="38100" dir="2700000" algn="tl">
                    <a:srgbClr val="C0C0C0"/>
                  </a:outerShdw>
                </a:effectLst>
                <a:latin typeface="Tahoma" panose="020B0604030504040204" pitchFamily="34" charset="0"/>
              </a:rPr>
              <a:t>SSEX</a:t>
            </a:r>
            <a:r>
              <a:rPr lang="zh-CN" altLang="en-US" sz="2800" b="1">
                <a:effectLst>
                  <a:outerShdw blurRad="38100" dist="38100" dir="2700000" algn="tl">
                    <a:srgbClr val="C0C0C0"/>
                  </a:outerShdw>
                </a:effectLst>
                <a:latin typeface="Tahoma" panose="020B0604030504040204" pitchFamily="34" charset="0"/>
              </a:rPr>
              <a:t>，</a:t>
            </a:r>
            <a:r>
              <a:rPr lang="en-US" altLang="zh-CN" sz="2800" b="1">
                <a:effectLst>
                  <a:outerShdw blurRad="38100" dist="38100" dir="2700000" algn="tl">
                    <a:srgbClr val="C0C0C0"/>
                  </a:outerShdw>
                </a:effectLst>
                <a:latin typeface="Tahoma" panose="020B0604030504040204" pitchFamily="34" charset="0"/>
              </a:rPr>
              <a:t>BIRTHIN</a:t>
            </a:r>
            <a:r>
              <a:rPr lang="zh-CN" altLang="en-US" sz="2800" b="1">
                <a:effectLst>
                  <a:outerShdw blurRad="38100" dist="38100" dir="2700000" algn="tl">
                    <a:srgbClr val="C0C0C0"/>
                  </a:outerShdw>
                </a:effectLst>
                <a:latin typeface="Tahoma" panose="020B0604030504040204" pitchFamily="34" charset="0"/>
              </a:rPr>
              <a:t>，</a:t>
            </a:r>
          </a:p>
          <a:p>
            <a:pPr>
              <a:lnSpc>
                <a:spcPct val="165000"/>
              </a:lnSpc>
              <a:buClr>
                <a:schemeClr val="folHlink"/>
              </a:buClr>
              <a:buSzPct val="60000"/>
            </a:pPr>
            <a:r>
              <a:rPr lang="en-US" altLang="zh-CN" sz="2800" b="1">
                <a:effectLst>
                  <a:outerShdw blurRad="38100" dist="38100" dir="2700000" algn="tl">
                    <a:srgbClr val="C0C0C0"/>
                  </a:outerShdw>
                </a:effectLst>
                <a:latin typeface="Tahoma" panose="020B0604030504040204" pitchFamily="34" charset="0"/>
              </a:rPr>
              <a:t>                       PLACEOFB</a:t>
            </a:r>
            <a:r>
              <a:rPr lang="zh-CN" altLang="en-US" sz="2800" b="1">
                <a:effectLst>
                  <a:outerShdw blurRad="38100" dist="38100" dir="2700000" algn="tl">
                    <a:srgbClr val="C0C0C0"/>
                  </a:outerShdw>
                </a:effectLst>
                <a:latin typeface="Tahoma" panose="020B0604030504040204" pitchFamily="34" charset="0"/>
              </a:rPr>
              <a:t>，</a:t>
            </a:r>
            <a:r>
              <a:rPr lang="en-US" altLang="zh-CN" sz="2800" b="1">
                <a:effectLst>
                  <a:outerShdw blurRad="38100" dist="38100" dir="2700000" algn="tl">
                    <a:srgbClr val="C0C0C0"/>
                  </a:outerShdw>
                </a:effectLst>
                <a:latin typeface="Tahoma" panose="020B0604030504040204" pitchFamily="34" charset="0"/>
              </a:rPr>
              <a:t>SCODE#</a:t>
            </a:r>
            <a:r>
              <a:rPr lang="zh-CN" altLang="en-US" sz="2800" b="1">
                <a:effectLst>
                  <a:outerShdw blurRad="38100" dist="38100" dir="2700000" algn="tl">
                    <a:srgbClr val="C0C0C0"/>
                  </a:outerShdw>
                </a:effectLst>
                <a:latin typeface="Tahoma" panose="020B0604030504040204" pitchFamily="34" charset="0"/>
              </a:rPr>
              <a:t>，</a:t>
            </a:r>
            <a:r>
              <a:rPr lang="en-US" altLang="zh-CN" sz="2800" b="1">
                <a:effectLst>
                  <a:outerShdw blurRad="38100" dist="38100" dir="2700000" algn="tl">
                    <a:srgbClr val="C0C0C0"/>
                  </a:outerShdw>
                </a:effectLst>
                <a:latin typeface="Tahoma" panose="020B0604030504040204" pitchFamily="34" charset="0"/>
              </a:rPr>
              <a:t>CLASS</a:t>
            </a:r>
            <a:r>
              <a:rPr lang="zh-CN" altLang="en-US" sz="2800" b="1">
                <a:effectLst>
                  <a:outerShdw blurRad="38100" dist="38100" dir="2700000" algn="tl">
                    <a:srgbClr val="C0C0C0"/>
                  </a:outerShdw>
                </a:effectLst>
                <a:latin typeface="Tahoma" panose="020B0604030504040204" pitchFamily="34" charset="0"/>
              </a:rPr>
              <a:t>） </a:t>
            </a:r>
            <a:endParaRPr lang="zh-CN" altLang="en-US" sz="2600" b="1">
              <a:effectLst>
                <a:outerShdw blurRad="38100" dist="38100" dir="2700000" algn="tl">
                  <a:srgbClr val="C0C0C0"/>
                </a:outerShdw>
              </a:effectLst>
              <a:latin typeface="Tahoma" panose="020B0604030504040204" pitchFamily="34" charset="0"/>
            </a:endParaRPr>
          </a:p>
          <a:p>
            <a:pPr>
              <a:lnSpc>
                <a:spcPct val="165000"/>
              </a:lnSpc>
              <a:buClr>
                <a:schemeClr val="folHlink"/>
              </a:buClr>
              <a:buSzPct val="60000"/>
            </a:pPr>
            <a:r>
              <a:rPr lang="zh-CN" altLang="en-US" sz="2600" b="1">
                <a:solidFill>
                  <a:srgbClr val="003366"/>
                </a:solidFill>
                <a:effectLst>
                  <a:outerShdw blurRad="38100" dist="38100" dir="2700000" algn="tl">
                    <a:srgbClr val="C0C0C0"/>
                  </a:outerShdw>
                </a:effectLst>
                <a:latin typeface="Tahoma" panose="020B0604030504040204" pitchFamily="34" charset="0"/>
              </a:rPr>
              <a:t>专业关系：</a:t>
            </a:r>
            <a:r>
              <a:rPr lang="en-US" altLang="zh-CN" sz="2800" b="1">
                <a:solidFill>
                  <a:srgbClr val="003366"/>
                </a:solidFill>
                <a:effectLst>
                  <a:outerShdw blurRad="38100" dist="38100" dir="2700000" algn="tl">
                    <a:srgbClr val="C0C0C0"/>
                  </a:outerShdw>
                </a:effectLst>
                <a:latin typeface="Tahoma" panose="020B0604030504040204" pitchFamily="34" charset="0"/>
              </a:rPr>
              <a:t>SS</a:t>
            </a:r>
            <a:r>
              <a:rPr lang="zh-CN" altLang="en-US" sz="2800" b="1">
                <a:solidFill>
                  <a:srgbClr val="003366"/>
                </a:solidFill>
                <a:effectLst>
                  <a:outerShdw blurRad="38100" dist="38100" dir="2700000" algn="tl">
                    <a:srgbClr val="C0C0C0"/>
                  </a:outerShdw>
                </a:effectLst>
                <a:latin typeface="Tahoma" panose="020B0604030504040204" pitchFamily="34" charset="0"/>
              </a:rPr>
              <a:t>（</a:t>
            </a:r>
            <a:r>
              <a:rPr lang="en-US" altLang="zh-CN" sz="2800" b="1">
                <a:solidFill>
                  <a:srgbClr val="003366"/>
                </a:solidFill>
                <a:effectLst>
                  <a:outerShdw blurRad="38100" dist="38100" dir="2700000" algn="tl">
                    <a:srgbClr val="C0C0C0"/>
                  </a:outerShdw>
                </a:effectLst>
                <a:latin typeface="Tahoma" panose="020B0604030504040204" pitchFamily="34" charset="0"/>
              </a:rPr>
              <a:t>SCODE#</a:t>
            </a:r>
            <a:r>
              <a:rPr lang="zh-CN" altLang="en-US" sz="2800" b="1">
                <a:solidFill>
                  <a:srgbClr val="003366"/>
                </a:solidFill>
                <a:effectLst>
                  <a:outerShdw blurRad="38100" dist="38100" dir="2700000" algn="tl">
                    <a:srgbClr val="C0C0C0"/>
                  </a:outerShdw>
                </a:effectLst>
                <a:latin typeface="Tahoma" panose="020B0604030504040204" pitchFamily="34" charset="0"/>
              </a:rPr>
              <a:t>，</a:t>
            </a:r>
            <a:r>
              <a:rPr lang="en-US" altLang="zh-CN" sz="2800" b="1">
                <a:solidFill>
                  <a:srgbClr val="003366"/>
                </a:solidFill>
                <a:effectLst>
                  <a:outerShdw blurRad="38100" dist="38100" dir="2700000" algn="tl">
                    <a:srgbClr val="C0C0C0"/>
                  </a:outerShdw>
                </a:effectLst>
                <a:latin typeface="Tahoma" panose="020B0604030504040204" pitchFamily="34" charset="0"/>
              </a:rPr>
              <a:t>SSNAME</a:t>
            </a:r>
            <a:r>
              <a:rPr lang="zh-CN" altLang="en-US" sz="2800" b="1">
                <a:solidFill>
                  <a:srgbClr val="003366"/>
                </a:solidFill>
                <a:effectLst>
                  <a:outerShdw blurRad="38100" dist="38100" dir="2700000" algn="tl">
                    <a:srgbClr val="C0C0C0"/>
                  </a:outerShdw>
                </a:effectLst>
                <a:latin typeface="Tahoma" panose="020B0604030504040204" pitchFamily="34" charset="0"/>
              </a:rPr>
              <a:t>）</a:t>
            </a:r>
            <a:r>
              <a:rPr lang="zh-CN" altLang="en-US" sz="2800" b="1">
                <a:effectLst>
                  <a:outerShdw blurRad="38100" dist="38100" dir="2700000" algn="tl">
                    <a:srgbClr val="C0C0C0"/>
                  </a:outerShdw>
                </a:effectLst>
                <a:latin typeface="Tahoma" panose="020B0604030504040204" pitchFamily="34" charset="0"/>
              </a:rPr>
              <a:t> </a:t>
            </a:r>
            <a:endParaRPr lang="en-US" altLang="zh-CN" sz="2600" b="1">
              <a:solidFill>
                <a:srgbClr val="003366"/>
              </a:solidFill>
              <a:effectLst>
                <a:outerShdw blurRad="38100" dist="38100" dir="2700000" algn="tl">
                  <a:srgbClr val="C0C0C0"/>
                </a:outerShdw>
              </a:effectLst>
              <a:latin typeface="Tahoma" panose="020B0604030504040204" pitchFamily="34" charset="0"/>
            </a:endParaRPr>
          </a:p>
          <a:p>
            <a:pPr>
              <a:lnSpc>
                <a:spcPct val="165000"/>
              </a:lnSpc>
              <a:buClr>
                <a:schemeClr val="folHlink"/>
              </a:buClr>
              <a:buSzPct val="60000"/>
            </a:pPr>
            <a:r>
              <a:rPr lang="zh-CN" altLang="en-US" sz="2600" b="1">
                <a:solidFill>
                  <a:srgbClr val="006666"/>
                </a:solidFill>
                <a:effectLst>
                  <a:outerShdw blurRad="38100" dist="38100" dir="2700000" algn="tl">
                    <a:srgbClr val="C0C0C0"/>
                  </a:outerShdw>
                </a:effectLst>
                <a:latin typeface="Tahoma" panose="020B0604030504040204" pitchFamily="34" charset="0"/>
              </a:rPr>
              <a:t>课程关系：</a:t>
            </a:r>
            <a:r>
              <a:rPr lang="en-US" altLang="zh-CN" sz="2800" b="1">
                <a:solidFill>
                  <a:srgbClr val="006666"/>
                </a:solidFill>
                <a:effectLst>
                  <a:outerShdw blurRad="38100" dist="38100" dir="2700000" algn="tl">
                    <a:srgbClr val="C0C0C0"/>
                  </a:outerShdw>
                </a:effectLst>
                <a:latin typeface="Tahoma" panose="020B0604030504040204" pitchFamily="34" charset="0"/>
              </a:rPr>
              <a:t>C</a:t>
            </a:r>
            <a:r>
              <a:rPr lang="zh-CN" altLang="en-US" sz="2800" b="1">
                <a:solidFill>
                  <a:srgbClr val="006666"/>
                </a:solidFill>
                <a:effectLst>
                  <a:outerShdw blurRad="38100" dist="38100" dir="2700000" algn="tl">
                    <a:srgbClr val="C0C0C0"/>
                  </a:outerShdw>
                </a:effectLst>
                <a:latin typeface="Tahoma" panose="020B0604030504040204" pitchFamily="34" charset="0"/>
              </a:rPr>
              <a:t>（</a:t>
            </a:r>
            <a:r>
              <a:rPr lang="en-US" altLang="zh-CN" sz="2800" b="1">
                <a:solidFill>
                  <a:srgbClr val="006666"/>
                </a:solidFill>
                <a:effectLst>
                  <a:outerShdw blurRad="38100" dist="38100" dir="2700000" algn="tl">
                    <a:srgbClr val="C0C0C0"/>
                  </a:outerShdw>
                </a:effectLst>
                <a:latin typeface="Tahoma" panose="020B0604030504040204" pitchFamily="34" charset="0"/>
              </a:rPr>
              <a:t>C#</a:t>
            </a:r>
            <a:r>
              <a:rPr lang="zh-CN" altLang="en-US" sz="2800" b="1">
                <a:solidFill>
                  <a:srgbClr val="006666"/>
                </a:solidFill>
                <a:effectLst>
                  <a:outerShdw blurRad="38100" dist="38100" dir="2700000" algn="tl">
                    <a:srgbClr val="C0C0C0"/>
                  </a:outerShdw>
                </a:effectLst>
                <a:latin typeface="Tahoma" panose="020B0604030504040204" pitchFamily="34" charset="0"/>
              </a:rPr>
              <a:t>，</a:t>
            </a:r>
            <a:r>
              <a:rPr lang="en-US" altLang="zh-CN" sz="2800" b="1">
                <a:solidFill>
                  <a:srgbClr val="006666"/>
                </a:solidFill>
                <a:effectLst>
                  <a:outerShdw blurRad="38100" dist="38100" dir="2700000" algn="tl">
                    <a:srgbClr val="C0C0C0"/>
                  </a:outerShdw>
                </a:effectLst>
                <a:latin typeface="Tahoma" panose="020B0604030504040204" pitchFamily="34" charset="0"/>
              </a:rPr>
              <a:t>CNAME</a:t>
            </a:r>
            <a:r>
              <a:rPr lang="zh-CN" altLang="en-US" sz="2800" b="1">
                <a:solidFill>
                  <a:srgbClr val="006666"/>
                </a:solidFill>
                <a:effectLst>
                  <a:outerShdw blurRad="38100" dist="38100" dir="2700000" algn="tl">
                    <a:srgbClr val="C0C0C0"/>
                  </a:outerShdw>
                </a:effectLst>
                <a:latin typeface="Tahoma" panose="020B0604030504040204" pitchFamily="34" charset="0"/>
              </a:rPr>
              <a:t>，</a:t>
            </a:r>
            <a:r>
              <a:rPr lang="en-US" altLang="zh-CN" sz="2800" b="1">
                <a:solidFill>
                  <a:srgbClr val="006666"/>
                </a:solidFill>
                <a:effectLst>
                  <a:outerShdw blurRad="38100" dist="38100" dir="2700000" algn="tl">
                    <a:srgbClr val="C0C0C0"/>
                  </a:outerShdw>
                </a:effectLst>
                <a:latin typeface="Tahoma" panose="020B0604030504040204" pitchFamily="34" charset="0"/>
              </a:rPr>
              <a:t>CLASSH</a:t>
            </a:r>
            <a:r>
              <a:rPr lang="zh-CN" altLang="en-US" sz="2800" b="1">
                <a:solidFill>
                  <a:srgbClr val="006666"/>
                </a:solidFill>
                <a:effectLst>
                  <a:outerShdw blurRad="38100" dist="38100" dir="2700000" algn="tl">
                    <a:srgbClr val="C0C0C0"/>
                  </a:outerShdw>
                </a:effectLst>
                <a:latin typeface="Tahoma" panose="020B0604030504040204" pitchFamily="34" charset="0"/>
              </a:rPr>
              <a:t>）</a:t>
            </a:r>
            <a:r>
              <a:rPr lang="zh-CN" altLang="en-US" sz="2800" b="1">
                <a:effectLst>
                  <a:outerShdw blurRad="38100" dist="38100" dir="2700000" algn="tl">
                    <a:srgbClr val="C0C0C0"/>
                  </a:outerShdw>
                </a:effectLst>
                <a:latin typeface="Tahoma" panose="020B0604030504040204" pitchFamily="34" charset="0"/>
              </a:rPr>
              <a:t> </a:t>
            </a:r>
            <a:endParaRPr lang="zh-CN" altLang="en-US" sz="2600" b="1">
              <a:solidFill>
                <a:srgbClr val="006699"/>
              </a:solidFill>
              <a:effectLst>
                <a:outerShdw blurRad="38100" dist="38100" dir="2700000" algn="tl">
                  <a:srgbClr val="C0C0C0"/>
                </a:outerShdw>
              </a:effectLst>
              <a:latin typeface="Tahoma" panose="020B0604030504040204" pitchFamily="34" charset="0"/>
            </a:endParaRPr>
          </a:p>
          <a:p>
            <a:pPr>
              <a:lnSpc>
                <a:spcPct val="165000"/>
              </a:lnSpc>
              <a:buClr>
                <a:schemeClr val="folHlink"/>
              </a:buClr>
              <a:buSzPct val="60000"/>
            </a:pPr>
            <a:r>
              <a:rPr lang="zh-CN" altLang="en-US" sz="2600" b="1">
                <a:solidFill>
                  <a:srgbClr val="660033"/>
                </a:solidFill>
                <a:effectLst>
                  <a:outerShdw blurRad="38100" dist="38100" dir="2700000" algn="tl">
                    <a:srgbClr val="C0C0C0"/>
                  </a:outerShdw>
                </a:effectLst>
                <a:latin typeface="Tahoma" panose="020B0604030504040204" pitchFamily="34" charset="0"/>
              </a:rPr>
              <a:t>学习关系：</a:t>
            </a:r>
            <a:r>
              <a:rPr lang="en-US" altLang="zh-CN" sz="2800" b="1">
                <a:solidFill>
                  <a:srgbClr val="660033"/>
                </a:solidFill>
                <a:effectLst>
                  <a:outerShdw blurRad="38100" dist="38100" dir="2700000" algn="tl">
                    <a:srgbClr val="C0C0C0"/>
                  </a:outerShdw>
                </a:effectLst>
                <a:latin typeface="Tahoma" panose="020B0604030504040204" pitchFamily="34" charset="0"/>
              </a:rPr>
              <a:t>SC</a:t>
            </a:r>
            <a:r>
              <a:rPr lang="zh-CN" altLang="en-US" sz="2800" b="1">
                <a:solidFill>
                  <a:srgbClr val="660033"/>
                </a:solidFill>
                <a:effectLst>
                  <a:outerShdw blurRad="38100" dist="38100" dir="2700000" algn="tl">
                    <a:srgbClr val="C0C0C0"/>
                  </a:outerShdw>
                </a:effectLst>
                <a:latin typeface="Tahoma" panose="020B0604030504040204" pitchFamily="34" charset="0"/>
              </a:rPr>
              <a:t>（</a:t>
            </a:r>
            <a:r>
              <a:rPr lang="en-US" altLang="zh-CN" sz="2800" b="1">
                <a:solidFill>
                  <a:srgbClr val="660033"/>
                </a:solidFill>
                <a:effectLst>
                  <a:outerShdw blurRad="38100" dist="38100" dir="2700000" algn="tl">
                    <a:srgbClr val="C0C0C0"/>
                  </a:outerShdw>
                </a:effectLst>
                <a:latin typeface="Tahoma" panose="020B0604030504040204" pitchFamily="34" charset="0"/>
              </a:rPr>
              <a:t>S#</a:t>
            </a:r>
            <a:r>
              <a:rPr lang="zh-CN" altLang="en-US" sz="2800" b="1">
                <a:solidFill>
                  <a:srgbClr val="660033"/>
                </a:solidFill>
                <a:effectLst>
                  <a:outerShdw blurRad="38100" dist="38100" dir="2700000" algn="tl">
                    <a:srgbClr val="C0C0C0"/>
                  </a:outerShdw>
                </a:effectLst>
                <a:latin typeface="Tahoma" panose="020B0604030504040204" pitchFamily="34" charset="0"/>
              </a:rPr>
              <a:t>，</a:t>
            </a:r>
            <a:r>
              <a:rPr lang="en-US" altLang="zh-CN" sz="2800" b="1">
                <a:solidFill>
                  <a:srgbClr val="660033"/>
                </a:solidFill>
                <a:effectLst>
                  <a:outerShdw blurRad="38100" dist="38100" dir="2700000" algn="tl">
                    <a:srgbClr val="C0C0C0"/>
                  </a:outerShdw>
                </a:effectLst>
                <a:latin typeface="Tahoma" panose="020B0604030504040204" pitchFamily="34" charset="0"/>
              </a:rPr>
              <a:t>C#</a:t>
            </a:r>
            <a:r>
              <a:rPr lang="zh-CN" altLang="en-US" sz="2800" b="1">
                <a:solidFill>
                  <a:srgbClr val="660033"/>
                </a:solidFill>
                <a:effectLst>
                  <a:outerShdw blurRad="38100" dist="38100" dir="2700000" algn="tl">
                    <a:srgbClr val="C0C0C0"/>
                  </a:outerShdw>
                </a:effectLst>
                <a:latin typeface="Tahoma" panose="020B0604030504040204" pitchFamily="34" charset="0"/>
              </a:rPr>
              <a:t>，</a:t>
            </a:r>
            <a:r>
              <a:rPr lang="en-US" altLang="zh-CN" sz="2800" b="1">
                <a:solidFill>
                  <a:srgbClr val="660033"/>
                </a:solidFill>
                <a:effectLst>
                  <a:outerShdw blurRad="38100" dist="38100" dir="2700000" algn="tl">
                    <a:srgbClr val="C0C0C0"/>
                  </a:outerShdw>
                </a:effectLst>
                <a:latin typeface="Tahoma" panose="020B0604030504040204" pitchFamily="34" charset="0"/>
              </a:rPr>
              <a:t>GRADE</a:t>
            </a:r>
            <a:r>
              <a:rPr lang="zh-CN" altLang="en-US" sz="2800" b="1">
                <a:solidFill>
                  <a:srgbClr val="660033"/>
                </a:solidFill>
                <a:effectLst>
                  <a:outerShdw blurRad="38100" dist="38100" dir="2700000" algn="tl">
                    <a:srgbClr val="C0C0C0"/>
                  </a:outerShdw>
                </a:effectLst>
                <a:latin typeface="Tahoma" panose="020B0604030504040204" pitchFamily="34" charset="0"/>
              </a:rPr>
              <a:t>）</a:t>
            </a:r>
            <a:r>
              <a:rPr lang="zh-CN" altLang="en-US" sz="2800" b="1">
                <a:effectLst>
                  <a:outerShdw blurRad="38100" dist="38100" dir="2700000" algn="tl">
                    <a:srgbClr val="C0C0C0"/>
                  </a:outerShdw>
                </a:effectLst>
                <a:latin typeface="Tahoma" panose="020B0604030504040204" pitchFamily="34" charset="0"/>
              </a:rPr>
              <a:t> </a:t>
            </a:r>
          </a:p>
        </p:txBody>
      </p:sp>
    </p:spTree>
  </p:cSld>
  <p:clrMapOvr>
    <a:masterClrMapping/>
  </p:clrMapOvr>
  <mc:AlternateContent xmlns:mc="http://schemas.openxmlformats.org/markup-compatibility/2006" xmlns:p14="http://schemas.microsoft.com/office/powerpoint/2010/main">
    <mc:Choice Requires="p14">
      <p:transition spd="slow" p14:dur="2000" advTm="26291"/>
    </mc:Choice>
    <mc:Fallback xmlns="">
      <p:transition spd="slow" advTm="26291"/>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3540" name="矩形 833539">
            <a:extLst>
              <a:ext uri="{FF2B5EF4-FFF2-40B4-BE49-F238E27FC236}">
                <a16:creationId xmlns:a16="http://schemas.microsoft.com/office/drawing/2014/main" id="{0C63FE9F-1DD4-4150-B25A-D8AEB9984548}"/>
              </a:ext>
            </a:extLst>
          </p:cNvPr>
          <p:cNvSpPr/>
          <p:nvPr/>
        </p:nvSpPr>
        <p:spPr>
          <a:xfrm>
            <a:off x="539750" y="1196975"/>
            <a:ext cx="8137525" cy="5338763"/>
          </a:xfrm>
          <a:prstGeom prst="rect">
            <a:avLst/>
          </a:prstGeom>
          <a:solidFill>
            <a:schemeClr val="bg1"/>
          </a:solidFill>
          <a:ln w="9525" cap="flat" cmpd="sng">
            <a:solidFill>
              <a:schemeClr val="bg1"/>
            </a:solidFill>
            <a:prstDash val="solid"/>
            <a:miter/>
            <a:headEnd type="none" w="med" len="med"/>
            <a:tailEnd type="none" w="med" len="med"/>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r>
              <a:rPr lang="zh-CN" altLang="en-US" noProof="1">
                <a:solidFill>
                  <a:srgbClr val="CC00CC"/>
                </a:solidFill>
                <a:effectLst/>
                <a:ea typeface="黑体" panose="02010609060101010101" pitchFamily="2" charset="-122"/>
              </a:rPr>
              <a:t>          关系模型的优点：</a:t>
            </a:r>
            <a:r>
              <a:rPr lang="zh-CN" altLang="en-US" sz="2400" noProof="1"/>
              <a:t>   </a:t>
            </a:r>
          </a:p>
          <a:p>
            <a:pPr>
              <a:lnSpc>
                <a:spcPct val="125000"/>
              </a:lnSpc>
              <a:spcBef>
                <a:spcPct val="5000"/>
              </a:spcBef>
            </a:pPr>
            <a:r>
              <a:rPr lang="zh-CN" altLang="en-US" sz="2400" noProof="1"/>
              <a:t>            </a:t>
            </a:r>
            <a:r>
              <a:rPr lang="zh-CN" altLang="en-US" noProof="1"/>
              <a:t>（</a:t>
            </a:r>
            <a:r>
              <a:rPr lang="en-US" altLang="zh-CN" noProof="1"/>
              <a:t>1</a:t>
            </a:r>
            <a:r>
              <a:rPr lang="zh-CN" altLang="en-US" noProof="1"/>
              <a:t>）模型结构简单清晰，容易为初学者接受。</a:t>
            </a:r>
          </a:p>
          <a:p>
            <a:pPr>
              <a:lnSpc>
                <a:spcPct val="125000"/>
              </a:lnSpc>
              <a:spcBef>
                <a:spcPct val="5000"/>
              </a:spcBef>
            </a:pPr>
            <a:r>
              <a:rPr lang="zh-CN" altLang="en-US" noProof="1"/>
              <a:t>          </a:t>
            </a:r>
            <a:r>
              <a:rPr lang="zh-CN" altLang="en-US" noProof="1">
                <a:solidFill>
                  <a:srgbClr val="006666"/>
                </a:solidFill>
              </a:rPr>
              <a:t>（</a:t>
            </a:r>
            <a:r>
              <a:rPr lang="en-US" altLang="zh-CN" noProof="1">
                <a:solidFill>
                  <a:srgbClr val="006666"/>
                </a:solidFill>
              </a:rPr>
              <a:t>2</a:t>
            </a:r>
            <a:r>
              <a:rPr lang="zh-CN" altLang="en-US" noProof="1">
                <a:solidFill>
                  <a:srgbClr val="006666"/>
                </a:solidFill>
              </a:rPr>
              <a:t>）用户只需用简单的查询语句就可以对数据库进行操作，不涉及存储结构、访问技术等细节。</a:t>
            </a:r>
          </a:p>
          <a:p>
            <a:pPr>
              <a:lnSpc>
                <a:spcPct val="125000"/>
              </a:lnSpc>
              <a:spcBef>
                <a:spcPct val="5000"/>
              </a:spcBef>
            </a:pPr>
            <a:r>
              <a:rPr lang="zh-CN" altLang="en-US" noProof="1"/>
              <a:t>          </a:t>
            </a:r>
            <a:r>
              <a:rPr lang="zh-CN" altLang="en-US" noProof="1">
                <a:solidFill>
                  <a:srgbClr val="660033"/>
                </a:solidFill>
              </a:rPr>
              <a:t>（</a:t>
            </a:r>
            <a:r>
              <a:rPr lang="en-US" altLang="zh-CN" noProof="1">
                <a:solidFill>
                  <a:srgbClr val="660033"/>
                </a:solidFill>
              </a:rPr>
              <a:t>3</a:t>
            </a:r>
            <a:r>
              <a:rPr lang="zh-CN" altLang="en-US" noProof="1">
                <a:solidFill>
                  <a:srgbClr val="660033"/>
                </a:solidFill>
              </a:rPr>
              <a:t>）关系模型使数据库的研究建立在比较坚实的数学基础上，为数据库技术的成熟奠定了基础。</a:t>
            </a:r>
          </a:p>
        </p:txBody>
      </p:sp>
      <p:sp>
        <p:nvSpPr>
          <p:cNvPr id="833541" name="矩形 833540">
            <a:extLst>
              <a:ext uri="{FF2B5EF4-FFF2-40B4-BE49-F238E27FC236}">
                <a16:creationId xmlns:a16="http://schemas.microsoft.com/office/drawing/2014/main" id="{54A46D5E-B1E9-47EE-92F3-18B38292D7B6}"/>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t>一、关系模型的基本概念</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96841"/>
    </mc:Choice>
    <mc:Fallback xmlns="">
      <p:transition spd="slow" advTm="96841"/>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33540">
                                            <p:bg/>
                                          </p:spTgt>
                                        </p:tgtEl>
                                        <p:attrNameLst>
                                          <p:attrName>style.visibility</p:attrName>
                                        </p:attrNameLst>
                                      </p:cBhvr>
                                      <p:to>
                                        <p:strVal val="visible"/>
                                      </p:to>
                                    </p:set>
                                    <p:animEffect transition="in" filter="wipe(left)">
                                      <p:cBhvr>
                                        <p:cTn id="7" dur="1000"/>
                                        <p:tgtEl>
                                          <p:spTgt spid="833540">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33540">
                                            <p:txEl>
                                              <p:pRg st="1" end="1"/>
                                            </p:txEl>
                                          </p:spTgt>
                                        </p:tgtEl>
                                        <p:attrNameLst>
                                          <p:attrName>style.visibility</p:attrName>
                                        </p:attrNameLst>
                                      </p:cBhvr>
                                      <p:to>
                                        <p:strVal val="visible"/>
                                      </p:to>
                                    </p:set>
                                    <p:animEffect transition="in" filter="wipe(left)">
                                      <p:cBhvr>
                                        <p:cTn id="12" dur="1000"/>
                                        <p:tgtEl>
                                          <p:spTgt spid="83354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33540">
                                            <p:txEl>
                                              <p:pRg st="2" end="2"/>
                                            </p:txEl>
                                          </p:spTgt>
                                        </p:tgtEl>
                                        <p:attrNameLst>
                                          <p:attrName>style.visibility</p:attrName>
                                        </p:attrNameLst>
                                      </p:cBhvr>
                                      <p:to>
                                        <p:strVal val="visible"/>
                                      </p:to>
                                    </p:set>
                                    <p:animEffect transition="in" filter="wipe(left)">
                                      <p:cBhvr>
                                        <p:cTn id="17" dur="1000"/>
                                        <p:tgtEl>
                                          <p:spTgt spid="83354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33540">
                                            <p:txEl>
                                              <p:pRg st="3" end="3"/>
                                            </p:txEl>
                                          </p:spTgt>
                                        </p:tgtEl>
                                        <p:attrNameLst>
                                          <p:attrName>style.visibility</p:attrName>
                                        </p:attrNameLst>
                                      </p:cBhvr>
                                      <p:to>
                                        <p:strVal val="visible"/>
                                      </p:to>
                                    </p:set>
                                    <p:animEffect transition="in" filter="wipe(left)">
                                      <p:cBhvr>
                                        <p:cTn id="22" dur="1000"/>
                                        <p:tgtEl>
                                          <p:spTgt spid="83354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3540" grpId="0" build="p"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84" name="矩形 890883">
            <a:extLst>
              <a:ext uri="{FF2B5EF4-FFF2-40B4-BE49-F238E27FC236}">
                <a16:creationId xmlns:a16="http://schemas.microsoft.com/office/drawing/2014/main" id="{22443C3D-B38B-476C-8C45-AF2227C67713}"/>
              </a:ext>
            </a:extLst>
          </p:cNvPr>
          <p:cNvSpPr/>
          <p:nvPr/>
        </p:nvSpPr>
        <p:spPr>
          <a:xfrm>
            <a:off x="468313" y="1196975"/>
            <a:ext cx="8135937" cy="29527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r>
              <a:rPr lang="en-US" altLang="zh-CN" noProof="1"/>
              <a:t>          </a:t>
            </a:r>
            <a:r>
              <a:rPr lang="en-US" altLang="zh-CN" sz="3000" noProof="1">
                <a:solidFill>
                  <a:srgbClr val="660033"/>
                </a:solidFill>
                <a:ea typeface="华文新魏" panose="02010800040101010101" pitchFamily="2" charset="-122"/>
              </a:rPr>
              <a:t>1</a:t>
            </a:r>
            <a:r>
              <a:rPr lang="zh-CN" altLang="en-US" sz="3000" noProof="1">
                <a:solidFill>
                  <a:srgbClr val="660033"/>
                </a:solidFill>
                <a:ea typeface="华文新魏" panose="02010800040101010101" pitchFamily="2" charset="-122"/>
              </a:rPr>
              <a:t>、候选键</a:t>
            </a:r>
          </a:p>
          <a:p>
            <a:r>
              <a:rPr lang="zh-CN" altLang="en-US" sz="3000" noProof="1">
                <a:solidFill>
                  <a:srgbClr val="660033"/>
                </a:solidFill>
                <a:ea typeface="华文新魏" panose="02010800040101010101" pitchFamily="2" charset="-122"/>
              </a:rPr>
              <a:t>         </a:t>
            </a:r>
            <a:r>
              <a:rPr lang="zh-CN" altLang="en-US" noProof="1"/>
              <a:t> 如果一组属性集能唯一地标识一个关系中的元组而又不含有多余的属性，则称该属性集为该关系的候选键 。</a:t>
            </a:r>
          </a:p>
          <a:p>
            <a:pPr>
              <a:lnSpc>
                <a:spcPct val="155000"/>
              </a:lnSpc>
              <a:spcBef>
                <a:spcPct val="0"/>
              </a:spcBef>
            </a:pPr>
            <a:r>
              <a:rPr lang="en-US" altLang="zh-CN" b="0" noProof="1">
                <a:latin typeface="黑体" panose="02010609060101010101" pitchFamily="2" charset="-122"/>
                <a:ea typeface="黑体" panose="02010609060101010101" pitchFamily="2" charset="-122"/>
              </a:rPr>
              <a:t>  </a:t>
            </a:r>
            <a:r>
              <a:rPr lang="zh-CN" altLang="en-US" b="0" noProof="1">
                <a:solidFill>
                  <a:schemeClr val="folHlink"/>
                </a:solidFill>
                <a:latin typeface="黑体" panose="02010609060101010101" pitchFamily="2" charset="-122"/>
                <a:ea typeface="黑体" panose="02010609060101010101" pitchFamily="2" charset="-122"/>
              </a:rPr>
              <a:t>比如，学生关系：</a:t>
            </a:r>
            <a:endParaRPr lang="zh-CN" altLang="en-US" noProof="1"/>
          </a:p>
        </p:txBody>
      </p:sp>
      <p:sp>
        <p:nvSpPr>
          <p:cNvPr id="890885" name="矩形 890884">
            <a:extLst>
              <a:ext uri="{FF2B5EF4-FFF2-40B4-BE49-F238E27FC236}">
                <a16:creationId xmlns:a16="http://schemas.microsoft.com/office/drawing/2014/main" id="{50D172C7-26B7-4F50-8F36-C6A078DBA392}"/>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t>二、关系的键与关系的属性</a:t>
            </a:r>
          </a:p>
        </p:txBody>
      </p:sp>
      <p:graphicFrame>
        <p:nvGraphicFramePr>
          <p:cNvPr id="890886" name="表格 890885">
            <a:extLst>
              <a:ext uri="{FF2B5EF4-FFF2-40B4-BE49-F238E27FC236}">
                <a16:creationId xmlns:a16="http://schemas.microsoft.com/office/drawing/2014/main" id="{9696FBA0-59C5-4FDC-9A14-4E396B1B2C7B}"/>
              </a:ext>
            </a:extLst>
          </p:cNvPr>
          <p:cNvGraphicFramePr/>
          <p:nvPr/>
        </p:nvGraphicFramePr>
        <p:xfrm>
          <a:off x="3779838" y="3598863"/>
          <a:ext cx="4608513" cy="2422525"/>
        </p:xfrm>
        <a:graphic>
          <a:graphicData uri="http://schemas.openxmlformats.org/drawingml/2006/table">
            <a:tbl>
              <a:tblPr/>
              <a:tblGrid>
                <a:gridCol w="1368425">
                  <a:extLst>
                    <a:ext uri="{9D8B030D-6E8A-4147-A177-3AD203B41FA5}">
                      <a16:colId xmlns:a16="http://schemas.microsoft.com/office/drawing/2014/main" val="20000"/>
                    </a:ext>
                  </a:extLst>
                </a:gridCol>
                <a:gridCol w="1152525">
                  <a:extLst>
                    <a:ext uri="{9D8B030D-6E8A-4147-A177-3AD203B41FA5}">
                      <a16:colId xmlns:a16="http://schemas.microsoft.com/office/drawing/2014/main" val="20001"/>
                    </a:ext>
                  </a:extLst>
                </a:gridCol>
                <a:gridCol w="792163">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tblGrid>
              <a:tr h="350056">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1400" dirty="0">
                          <a:solidFill>
                            <a:srgbClr val="336600"/>
                          </a:solidFill>
                          <a:latin typeface="楷体_GB2312" pitchFamily="49" charset="-122"/>
                        </a:rPr>
                        <a:t>学号</a:t>
                      </a:r>
                    </a:p>
                  </a:txBody>
                  <a:tcPr marL="90000" marR="90000" marT="33835" marB="33835" anchor="ctr" anchorCtr="1">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1400" dirty="0">
                          <a:solidFill>
                            <a:srgbClr val="336600"/>
                          </a:solidFill>
                          <a:latin typeface="楷体_GB2312" pitchFamily="49" charset="-122"/>
                        </a:rPr>
                        <a:t>姓名</a:t>
                      </a:r>
                    </a:p>
                  </a:txBody>
                  <a:tcPr marL="90000" marR="90000" marT="33835" marB="33835"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400">
                          <a:latin typeface="Arial" panose="020B0604020202020204" pitchFamily="34" charset="0"/>
                        </a:rPr>
                        <a:t>…</a:t>
                      </a:r>
                      <a:endParaRPr lang="en-US" altLang="zh-CN" sz="1400">
                        <a:latin typeface="楷体_GB2312" pitchFamily="49" charset="-122"/>
                      </a:endParaRPr>
                    </a:p>
                  </a:txBody>
                  <a:tcPr marL="90000" marR="90000" marT="33835" marB="33835"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sm"/>
                      <a:tailEnd type="none" w="sm" len="sm"/>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1400" dirty="0"/>
                        <a:t>班级</a:t>
                      </a:r>
                    </a:p>
                  </a:txBody>
                  <a:tcPr marL="90000" marR="90000" marT="33835" marB="33835" anchor="ctr" anchorCtr="1">
                    <a:lnL w="12700" cap="flat" cmpd="sng">
                      <a:solidFill>
                        <a:schemeClr val="tx1"/>
                      </a:solidFill>
                      <a:prstDash val="solid"/>
                      <a:headEnd type="none" w="sm" len="sm"/>
                      <a:tailEnd type="none" w="sm" len="sm"/>
                    </a:lnL>
                    <a:lnR w="28575"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0"/>
                  </a:ext>
                </a:extLst>
              </a:tr>
              <a:tr h="574138">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400">
                          <a:latin typeface="楷体_GB2312" pitchFamily="49" charset="-122"/>
                        </a:rPr>
                        <a:t>200401001</a:t>
                      </a:r>
                    </a:p>
                  </a:txBody>
                  <a:tcPr marL="90000" marR="90000" marT="33835" marB="33835" anchor="ctr" anchorCtr="1">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400" dirty="0">
                          <a:latin typeface="楷体_GB2312" pitchFamily="49" charset="-122"/>
                        </a:rPr>
                        <a:t>张华</a:t>
                      </a:r>
                    </a:p>
                  </a:txBody>
                  <a:tcPr marL="90000" marR="90000" marT="33835" marB="33835"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400">
                          <a:latin typeface="Arial" panose="020B0604020202020204" pitchFamily="34" charset="0"/>
                        </a:rPr>
                        <a:t>…</a:t>
                      </a:r>
                      <a:endParaRPr lang="en-US" altLang="zh-CN" sz="1400">
                        <a:latin typeface="楷体_GB2312" pitchFamily="49" charset="-122"/>
                      </a:endParaRPr>
                    </a:p>
                  </a:txBody>
                  <a:tcPr marL="90000" marR="90000" marT="33835" marB="33835"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sm"/>
                      <a:tailEnd type="none" w="sm" len="sm"/>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400">
                          <a:latin typeface="楷体_GB2312" pitchFamily="49" charset="-122"/>
                        </a:rPr>
                        <a:t>200401</a:t>
                      </a:r>
                    </a:p>
                  </a:txBody>
                  <a:tcPr marL="90000" marR="90000" marT="33835" marB="33835" anchor="ctr" anchorCtr="1">
                    <a:lnL w="12700" cap="flat" cmpd="sng">
                      <a:solidFill>
                        <a:schemeClr val="tx1"/>
                      </a:solidFill>
                      <a:prstDash val="solid"/>
                      <a:headEnd type="none" w="sm" len="sm"/>
                      <a:tailEnd type="none" w="sm" len="sm"/>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1"/>
                  </a:ext>
                </a:extLst>
              </a:tr>
              <a:tr h="574138">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400">
                          <a:latin typeface="楷体_GB2312" pitchFamily="49" charset="-122"/>
                        </a:rPr>
                        <a:t>200401002</a:t>
                      </a:r>
                    </a:p>
                  </a:txBody>
                  <a:tcPr marL="90000" marR="90000" marT="33835" marB="33835" anchor="ctr" anchorCtr="1">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400" dirty="0">
                          <a:latin typeface="楷体_GB2312" pitchFamily="49" charset="-122"/>
                        </a:rPr>
                        <a:t>李建平</a:t>
                      </a:r>
                    </a:p>
                  </a:txBody>
                  <a:tcPr marL="90000" marR="90000" marT="33835" marB="33835"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400">
                          <a:latin typeface="Arial" panose="020B0604020202020204" pitchFamily="34" charset="0"/>
                        </a:rPr>
                        <a:t>…</a:t>
                      </a:r>
                      <a:endParaRPr lang="en-US" altLang="zh-CN" sz="1400">
                        <a:latin typeface="楷体_GB2312" pitchFamily="49" charset="-122"/>
                      </a:endParaRPr>
                    </a:p>
                  </a:txBody>
                  <a:tcPr marL="90000" marR="90000" marT="33835" marB="33835"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sm"/>
                      <a:tailEnd type="none" w="sm" len="sm"/>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400">
                          <a:latin typeface="楷体_GB2312" pitchFamily="49" charset="-122"/>
                        </a:rPr>
                        <a:t>200401</a:t>
                      </a:r>
                    </a:p>
                  </a:txBody>
                  <a:tcPr marL="90000" marR="90000" marT="33835" marB="33835" anchor="ctr" anchorCtr="1">
                    <a:lnL w="12700" cap="flat" cmpd="sng">
                      <a:solidFill>
                        <a:schemeClr val="tx1"/>
                      </a:solidFill>
                      <a:prstDash val="solid"/>
                      <a:headEnd type="none" w="sm" len="sm"/>
                      <a:tailEnd type="none" w="sm" len="sm"/>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2"/>
                  </a:ext>
                </a:extLst>
              </a:tr>
              <a:tr h="574138">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400">
                          <a:latin typeface="楷体_GB2312" pitchFamily="49" charset="-122"/>
                        </a:rPr>
                        <a:t>200401003</a:t>
                      </a:r>
                    </a:p>
                  </a:txBody>
                  <a:tcPr marL="90000" marR="90000" marT="33835" marB="33835" anchor="ctr" anchorCtr="1">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400" dirty="0">
                          <a:latin typeface="楷体_GB2312" pitchFamily="49" charset="-122"/>
                        </a:rPr>
                        <a:t>王丽丽</a:t>
                      </a:r>
                    </a:p>
                  </a:txBody>
                  <a:tcPr marL="90000" marR="90000" marT="33835" marB="33835"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400">
                          <a:latin typeface="Arial" panose="020B0604020202020204" pitchFamily="34" charset="0"/>
                        </a:rPr>
                        <a:t>…</a:t>
                      </a:r>
                      <a:endParaRPr lang="en-US" altLang="zh-CN" sz="1400">
                        <a:latin typeface="楷体_GB2312" pitchFamily="49" charset="-122"/>
                      </a:endParaRPr>
                    </a:p>
                  </a:txBody>
                  <a:tcPr marL="90000" marR="90000" marT="33835" marB="33835"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sm"/>
                      <a:tailEnd type="none" w="sm" len="sm"/>
                    </a:lnR>
                    <a:lnT w="12700" cap="flat" cmpd="sng">
                      <a:solidFill>
                        <a:schemeClr val="tx1"/>
                      </a:solidFill>
                      <a:prstDash val="solid"/>
                      <a:headEnd type="none" w="sm" len="lg"/>
                      <a:tailEnd type="none" w="sm" len="lg"/>
                    </a:lnT>
                    <a:lnB w="12700" cap="flat" cmpd="sng">
                      <a:solidFill>
                        <a:schemeClr val="tx1"/>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400">
                          <a:latin typeface="楷体_GB2312" pitchFamily="49" charset="-122"/>
                        </a:rPr>
                        <a:t>200401</a:t>
                      </a:r>
                    </a:p>
                  </a:txBody>
                  <a:tcPr marL="90000" marR="90000" marT="33835" marB="33835" anchor="ctr" anchorCtr="1">
                    <a:lnL w="12700" cap="flat" cmpd="sng">
                      <a:solidFill>
                        <a:schemeClr val="tx1"/>
                      </a:solidFill>
                      <a:prstDash val="solid"/>
                      <a:headEnd type="none" w="sm" len="sm"/>
                      <a:tailEnd type="none" w="sm" len="sm"/>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sm"/>
                      <a:tailEnd type="none" w="sm" len="sm"/>
                    </a:lnB>
                    <a:lnTlToBr>
                      <a:noFill/>
                    </a:lnTlToBr>
                    <a:lnBlToTr>
                      <a:noFill/>
                    </a:lnBlToTr>
                    <a:noFill/>
                  </a:tcPr>
                </a:tc>
                <a:extLst>
                  <a:ext uri="{0D108BD9-81ED-4DB2-BD59-A6C34878D82A}">
                    <a16:rowId xmlns:a16="http://schemas.microsoft.com/office/drawing/2014/main" val="10003"/>
                  </a:ext>
                </a:extLst>
              </a:tr>
              <a:tr h="350055">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1400">
                          <a:latin typeface="Arial" panose="020B0604020202020204" pitchFamily="34" charset="0"/>
                        </a:rPr>
                        <a:t>…</a:t>
                      </a:r>
                      <a:endParaRPr lang="zh-CN" altLang="en-US" sz="1400" dirty="0">
                        <a:latin typeface="楷体_GB2312" pitchFamily="49" charset="-122"/>
                      </a:endParaRPr>
                    </a:p>
                  </a:txBody>
                  <a:tcPr marL="90000" marR="90000" marT="33835" marB="33835" anchor="ctr" anchorCtr="1">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sm"/>
                      <a:tailEnd type="none" w="sm" len="sm"/>
                    </a:lnT>
                    <a:lnB w="28575"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1400">
                          <a:latin typeface="Arial" panose="020B0604020202020204" pitchFamily="34" charset="0"/>
                        </a:rPr>
                        <a:t>…</a:t>
                      </a:r>
                      <a:endParaRPr lang="zh-CN" altLang="en-US" sz="1400" dirty="0">
                        <a:latin typeface="楷体_GB2312" pitchFamily="49" charset="-122"/>
                      </a:endParaRPr>
                    </a:p>
                  </a:txBody>
                  <a:tcPr marL="90000" marR="90000" marT="33835" marB="33835"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sm"/>
                      <a:tailEnd type="none" w="sm" len="sm"/>
                    </a:lnT>
                    <a:lnB w="28575"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1400">
                          <a:latin typeface="Arial" panose="020B0604020202020204" pitchFamily="34" charset="0"/>
                        </a:rPr>
                        <a:t>…</a:t>
                      </a:r>
                      <a:endParaRPr lang="zh-CN" altLang="en-US" sz="1400" dirty="0">
                        <a:latin typeface="楷体_GB2312" pitchFamily="49" charset="-122"/>
                      </a:endParaRPr>
                    </a:p>
                  </a:txBody>
                  <a:tcPr marL="90000" marR="90000" marT="33835" marB="33835"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sm"/>
                      <a:tailEnd type="none" w="sm" len="sm"/>
                    </a:lnR>
                    <a:lnT w="12700" cap="flat" cmpd="sng">
                      <a:solidFill>
                        <a:schemeClr val="tx1"/>
                      </a:solidFill>
                      <a:prstDash val="solid"/>
                      <a:headEnd type="none" w="sm" len="sm"/>
                      <a:tailEnd type="none" w="sm" len="sm"/>
                    </a:lnT>
                    <a:lnB w="28575"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1400">
                          <a:latin typeface="Arial" panose="020B0604020202020204" pitchFamily="34" charset="0"/>
                        </a:rPr>
                        <a:t>…</a:t>
                      </a:r>
                      <a:endParaRPr lang="zh-CN" altLang="en-US" sz="1400" dirty="0">
                        <a:latin typeface="楷体_GB2312" pitchFamily="49" charset="-122"/>
                      </a:endParaRPr>
                    </a:p>
                  </a:txBody>
                  <a:tcPr marL="90000" marR="90000" marT="33835" marB="33835" anchor="ctr" anchorCtr="1">
                    <a:lnL w="12700" cap="flat" cmpd="sng">
                      <a:solidFill>
                        <a:schemeClr val="tx1"/>
                      </a:solidFill>
                      <a:prstDash val="solid"/>
                      <a:headEnd type="none" w="sm" len="sm"/>
                      <a:tailEnd type="none" w="sm" len="sm"/>
                    </a:lnL>
                    <a:lnR w="28575" cap="flat" cmpd="sng">
                      <a:solidFill>
                        <a:schemeClr val="tx1"/>
                      </a:solidFill>
                      <a:prstDash val="solid"/>
                      <a:headEnd type="none" w="sm" len="lg"/>
                      <a:tailEnd type="none" w="sm" len="lg"/>
                    </a:lnR>
                    <a:lnT w="12700" cap="flat" cmpd="sng">
                      <a:solidFill>
                        <a:schemeClr val="tx1"/>
                      </a:solidFill>
                      <a:prstDash val="solid"/>
                      <a:headEnd type="none" w="sm" len="sm"/>
                      <a:tailEnd type="none" w="sm" len="sm"/>
                    </a:lnT>
                    <a:lnB w="28575"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4"/>
                  </a:ext>
                </a:extLst>
              </a:tr>
            </a:tbl>
          </a:graphicData>
        </a:graphic>
      </p:graphicFrame>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24127"/>
    </mc:Choice>
    <mc:Fallback xmlns="">
      <p:transition spd="slow" advTm="124127"/>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90884">
                                            <p:txEl>
                                              <p:pRg st="0" end="0"/>
                                            </p:txEl>
                                          </p:spTgt>
                                        </p:tgtEl>
                                        <p:attrNameLst>
                                          <p:attrName>style.visibility</p:attrName>
                                        </p:attrNameLst>
                                      </p:cBhvr>
                                      <p:to>
                                        <p:strVal val="visible"/>
                                      </p:to>
                                    </p:set>
                                    <p:animEffect transition="in" filter="wipe(left)">
                                      <p:cBhvr>
                                        <p:cTn id="7" dur="3000"/>
                                        <p:tgtEl>
                                          <p:spTgt spid="890884">
                                            <p:txEl>
                                              <p:pRg st="0" end="0"/>
                                            </p:txEl>
                                          </p:spTgt>
                                        </p:tgtEl>
                                      </p:cBhvr>
                                    </p:animEffect>
                                  </p:childTnLst>
                                </p:cTn>
                              </p:par>
                            </p:childTnLst>
                          </p:cTn>
                        </p:par>
                        <p:par>
                          <p:cTn id="8" fill="hold" nodeType="afterGroup">
                            <p:stCondLst>
                              <p:cond delay="3000"/>
                            </p:stCondLst>
                            <p:childTnLst>
                              <p:par>
                                <p:cTn id="9" presetID="22" presetClass="entr" presetSubtype="8" fill="hold" nodeType="afterEffect">
                                  <p:stCondLst>
                                    <p:cond delay="0"/>
                                  </p:stCondLst>
                                  <p:childTnLst>
                                    <p:set>
                                      <p:cBhvr>
                                        <p:cTn id="10" dur="1" fill="hold">
                                          <p:stCondLst>
                                            <p:cond delay="0"/>
                                          </p:stCondLst>
                                        </p:cTn>
                                        <p:tgtEl>
                                          <p:spTgt spid="890884">
                                            <p:txEl>
                                              <p:pRg st="1" end="1"/>
                                            </p:txEl>
                                          </p:spTgt>
                                        </p:tgtEl>
                                        <p:attrNameLst>
                                          <p:attrName>style.visibility</p:attrName>
                                        </p:attrNameLst>
                                      </p:cBhvr>
                                      <p:to>
                                        <p:strVal val="visible"/>
                                      </p:to>
                                    </p:set>
                                    <p:animEffect transition="in" filter="wipe(left)">
                                      <p:cBhvr>
                                        <p:cTn id="11" dur="2000"/>
                                        <p:tgtEl>
                                          <p:spTgt spid="890884">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4" fill="hold" nodeType="clickEffect">
                                  <p:stCondLst>
                                    <p:cond delay="0"/>
                                  </p:stCondLst>
                                  <p:childTnLst>
                                    <p:set>
                                      <p:cBhvr>
                                        <p:cTn id="15" dur="1" fill="hold">
                                          <p:stCondLst>
                                            <p:cond delay="0"/>
                                          </p:stCondLst>
                                        </p:cTn>
                                        <p:tgtEl>
                                          <p:spTgt spid="890884">
                                            <p:txEl>
                                              <p:pRg st="2" end="2"/>
                                            </p:txEl>
                                          </p:spTgt>
                                        </p:tgtEl>
                                        <p:attrNameLst>
                                          <p:attrName>style.visibility</p:attrName>
                                        </p:attrNameLst>
                                      </p:cBhvr>
                                      <p:to>
                                        <p:strVal val="visible"/>
                                      </p:to>
                                    </p:set>
                                    <p:anim calcmode="lin" valueType="num">
                                      <p:cBhvr additive="base">
                                        <p:cTn id="16" dur="500" fill="hold"/>
                                        <p:tgtEl>
                                          <p:spTgt spid="890884">
                                            <p:txEl>
                                              <p:pRg st="2" end="2"/>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890884">
                                            <p:txEl>
                                              <p:pRg st="2" end="2"/>
                                            </p:txEl>
                                          </p:spTgt>
                                        </p:tgtEl>
                                        <p:attrNameLst>
                                          <p:attrName>ppt_y</p:attrName>
                                        </p:attrNameLst>
                                      </p:cBhvr>
                                      <p:tavLst>
                                        <p:tav tm="0">
                                          <p:val>
                                            <p:strVal val="1+#ppt_h/2"/>
                                          </p:val>
                                        </p:tav>
                                        <p:tav tm="100000">
                                          <p:val>
                                            <p:strVal val="#ppt_y"/>
                                          </p:val>
                                        </p:tav>
                                      </p:tavLst>
                                    </p:anim>
                                  </p:childTnLst>
                                </p:cTn>
                              </p:par>
                            </p:childTnLst>
                          </p:cTn>
                        </p:par>
                        <p:par>
                          <p:cTn id="18" fill="hold" nodeType="afterGroup">
                            <p:stCondLst>
                              <p:cond delay="500"/>
                            </p:stCondLst>
                            <p:childTnLst>
                              <p:par>
                                <p:cTn id="19" presetID="2" presetClass="entr" presetSubtype="4" fill="hold" nodeType="afterEffect">
                                  <p:stCondLst>
                                    <p:cond delay="0"/>
                                  </p:stCondLst>
                                  <p:childTnLst>
                                    <p:set>
                                      <p:cBhvr>
                                        <p:cTn id="20" dur="1" fill="hold">
                                          <p:stCondLst>
                                            <p:cond delay="0"/>
                                          </p:stCondLst>
                                        </p:cTn>
                                        <p:tgtEl>
                                          <p:spTgt spid="890886"/>
                                        </p:tgtEl>
                                        <p:attrNameLst>
                                          <p:attrName>style.visibility</p:attrName>
                                        </p:attrNameLst>
                                      </p:cBhvr>
                                      <p:to>
                                        <p:strVal val="visible"/>
                                      </p:to>
                                    </p:set>
                                    <p:anim calcmode="lin" valueType="num">
                                      <p:cBhvr additive="base">
                                        <p:cTn id="21" dur="500" fill="hold"/>
                                        <p:tgtEl>
                                          <p:spTgt spid="890886"/>
                                        </p:tgtEl>
                                        <p:attrNameLst>
                                          <p:attrName>ppt_x</p:attrName>
                                        </p:attrNameLst>
                                      </p:cBhvr>
                                      <p:tavLst>
                                        <p:tav tm="0">
                                          <p:val>
                                            <p:strVal val="#ppt_x"/>
                                          </p:val>
                                        </p:tav>
                                        <p:tav tm="100000">
                                          <p:val>
                                            <p:strVal val="#ppt_x"/>
                                          </p:val>
                                        </p:tav>
                                      </p:tavLst>
                                    </p:anim>
                                    <p:anim calcmode="lin" valueType="num">
                                      <p:cBhvr additive="base">
                                        <p:cTn id="22" dur="500" fill="hold"/>
                                        <p:tgtEl>
                                          <p:spTgt spid="8908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4564" name="矩形 834563">
            <a:extLst>
              <a:ext uri="{FF2B5EF4-FFF2-40B4-BE49-F238E27FC236}">
                <a16:creationId xmlns:a16="http://schemas.microsoft.com/office/drawing/2014/main" id="{CB7D8DF1-8E5C-41F0-8891-74BB8A7D17C0}"/>
              </a:ext>
            </a:extLst>
          </p:cNvPr>
          <p:cNvSpPr/>
          <p:nvPr/>
        </p:nvSpPr>
        <p:spPr>
          <a:xfrm>
            <a:off x="468313" y="1196975"/>
            <a:ext cx="8280400" cy="5338763"/>
          </a:xfrm>
          <a:prstGeom prst="rect">
            <a:avLst/>
          </a:prstGeom>
          <a:noFill/>
          <a:ln w="9525">
            <a:noFill/>
          </a:ln>
        </p:spPr>
        <p:txBody>
          <a:bodyPr/>
          <a:lstStyle>
            <a:lvl1pPr marL="342900" indent="-342900">
              <a:defRPr>
                <a:solidFill>
                  <a:schemeClr val="tx1"/>
                </a:solidFill>
                <a:latin typeface="Arial" panose="020B0604020202020204" pitchFamily="34" charset="0"/>
                <a:ea typeface="楷体_GB2312" pitchFamily="49" charset="-122"/>
              </a:defRPr>
            </a:lvl1pPr>
            <a:lvl2pPr>
              <a:defRPr>
                <a:solidFill>
                  <a:schemeClr val="tx1"/>
                </a:solidFill>
                <a:latin typeface="Arial" panose="020B0604020202020204" pitchFamily="34" charset="0"/>
                <a:ea typeface="楷体_GB2312" pitchFamily="49" charset="-122"/>
              </a:defRPr>
            </a:lvl2pPr>
            <a:lvl3pPr>
              <a:defRPr>
                <a:solidFill>
                  <a:schemeClr val="tx1"/>
                </a:solidFill>
                <a:latin typeface="Arial" panose="020B0604020202020204" pitchFamily="34" charset="0"/>
                <a:ea typeface="楷体_GB2312" pitchFamily="49" charset="-122"/>
              </a:defRPr>
            </a:lvl3pPr>
            <a:lvl4pPr>
              <a:defRPr>
                <a:solidFill>
                  <a:schemeClr val="tx1"/>
                </a:solidFill>
                <a:latin typeface="Arial" panose="020B0604020202020204" pitchFamily="34" charset="0"/>
                <a:ea typeface="楷体_GB2312" pitchFamily="49" charset="-122"/>
              </a:defRPr>
            </a:lvl4pPr>
            <a:lvl5pPr>
              <a:defRPr>
                <a:solidFill>
                  <a:schemeClr val="tx1"/>
                </a:solidFill>
                <a:latin typeface="Arial" panose="020B0604020202020204" pitchFamily="34" charset="0"/>
                <a:ea typeface="楷体_GB2312" pitchFamily="49" charset="-122"/>
              </a:defRPr>
            </a:lvl5pPr>
            <a:lvl6pPr fontAlgn="base">
              <a:spcBef>
                <a:spcPct val="0"/>
              </a:spcBef>
              <a:spcAft>
                <a:spcPct val="0"/>
              </a:spcAft>
              <a:defRPr>
                <a:solidFill>
                  <a:schemeClr val="tx1"/>
                </a:solidFill>
                <a:latin typeface="Arial" panose="020B0604020202020204" pitchFamily="34" charset="0"/>
                <a:ea typeface="楷体_GB2312" pitchFamily="49" charset="-122"/>
              </a:defRPr>
            </a:lvl6pPr>
            <a:lvl7pPr fontAlgn="base">
              <a:spcBef>
                <a:spcPct val="0"/>
              </a:spcBef>
              <a:spcAft>
                <a:spcPct val="0"/>
              </a:spcAft>
              <a:defRPr>
                <a:solidFill>
                  <a:schemeClr val="tx1"/>
                </a:solidFill>
                <a:latin typeface="Arial" panose="020B0604020202020204" pitchFamily="34" charset="0"/>
                <a:ea typeface="楷体_GB2312" pitchFamily="49" charset="-122"/>
              </a:defRPr>
            </a:lvl7pPr>
            <a:lvl8pPr fontAlgn="base">
              <a:spcBef>
                <a:spcPct val="0"/>
              </a:spcBef>
              <a:spcAft>
                <a:spcPct val="0"/>
              </a:spcAft>
              <a:defRPr>
                <a:solidFill>
                  <a:schemeClr val="tx1"/>
                </a:solidFill>
                <a:latin typeface="Arial" panose="020B0604020202020204" pitchFamily="34" charset="0"/>
                <a:ea typeface="楷体_GB2312" pitchFamily="49" charset="-122"/>
              </a:defRPr>
            </a:lvl8pPr>
            <a:lvl9pPr fontAlgn="base">
              <a:spcBef>
                <a:spcPct val="0"/>
              </a:spcBef>
              <a:spcAft>
                <a:spcPct val="0"/>
              </a:spcAft>
              <a:defRPr>
                <a:solidFill>
                  <a:schemeClr val="tx1"/>
                </a:solidFill>
                <a:latin typeface="Arial" panose="020B0604020202020204" pitchFamily="34" charset="0"/>
                <a:ea typeface="楷体_GB2312" pitchFamily="49" charset="-122"/>
              </a:defRPr>
            </a:lvl9pPr>
          </a:lstStyle>
          <a:p>
            <a:pPr>
              <a:lnSpc>
                <a:spcPct val="120000"/>
              </a:lnSpc>
              <a:spcBef>
                <a:spcPct val="20000"/>
              </a:spcBef>
              <a:buClr>
                <a:schemeClr val="folHlink"/>
              </a:buClr>
              <a:buSzPct val="60000"/>
            </a:pPr>
            <a:r>
              <a:rPr lang="en-US" altLang="zh-CN" sz="2800" b="1">
                <a:effectLst>
                  <a:outerShdw blurRad="38100" dist="38100" dir="2700000" algn="tl">
                    <a:srgbClr val="C0C0C0"/>
                  </a:outerShdw>
                </a:effectLst>
                <a:latin typeface="Tahoma" panose="020B0604030504040204" pitchFamily="34" charset="0"/>
              </a:rPr>
              <a:t>          </a:t>
            </a:r>
            <a:r>
              <a:rPr lang="en-US" altLang="zh-CN" sz="30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1</a:t>
            </a:r>
            <a:r>
              <a:rPr lang="zh-CN" altLang="en-US" sz="30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、候选键</a:t>
            </a:r>
          </a:p>
          <a:p>
            <a:pPr>
              <a:lnSpc>
                <a:spcPct val="120000"/>
              </a:lnSpc>
              <a:spcBef>
                <a:spcPct val="20000"/>
              </a:spcBef>
              <a:buClr>
                <a:schemeClr val="folHlink"/>
              </a:buClr>
              <a:buSzPct val="60000"/>
            </a:pPr>
            <a:r>
              <a:rPr lang="zh-CN" altLang="en-US" sz="30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         </a:t>
            </a:r>
            <a:r>
              <a:rPr lang="zh-CN" altLang="en-US" sz="2800" b="1">
                <a:effectLst>
                  <a:outerShdw blurRad="38100" dist="38100" dir="2700000" algn="tl">
                    <a:srgbClr val="C0C0C0"/>
                  </a:outerShdw>
                </a:effectLst>
                <a:latin typeface="Tahoma" panose="020B0604030504040204" pitchFamily="34" charset="0"/>
              </a:rPr>
              <a:t> 如果一组属性集能唯一地标识一个关系中的元组而又不含有多余的属性，则称该属性集为该关系的候选键 。</a:t>
            </a:r>
          </a:p>
          <a:p>
            <a:pPr>
              <a:lnSpc>
                <a:spcPct val="155000"/>
              </a:lnSpc>
              <a:buClr>
                <a:schemeClr val="folHlink"/>
              </a:buClr>
              <a:buSzPct val="60000"/>
            </a:pPr>
            <a:r>
              <a:rPr lang="en-US" altLang="zh-CN" sz="2800">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2800">
                <a:solidFill>
                  <a:schemeClr val="folHlink"/>
                </a:solidFill>
                <a:effectLst>
                  <a:outerShdw blurRad="38100" dist="38100" dir="2700000" algn="tl">
                    <a:srgbClr val="C0C0C0"/>
                  </a:outerShdw>
                </a:effectLst>
                <a:latin typeface="黑体" panose="02010609060101010101" pitchFamily="49" charset="-122"/>
                <a:ea typeface="黑体" panose="02010609060101010101" pitchFamily="49" charset="-122"/>
              </a:rPr>
              <a:t>又比如：</a:t>
            </a:r>
            <a:r>
              <a:rPr lang="zh-CN" altLang="en-US" sz="2400">
                <a:effectLst>
                  <a:outerShdw blurRad="38100" dist="38100" dir="2700000" algn="tl">
                    <a:srgbClr val="C0C0C0"/>
                  </a:outerShdw>
                </a:effectLst>
                <a:latin typeface="黑体" panose="02010609060101010101" pitchFamily="49" charset="-122"/>
                <a:ea typeface="黑体" panose="02010609060101010101" pitchFamily="49" charset="-122"/>
              </a:rPr>
              <a:t>邮寄地址（城市名，街道名，邮政编码，</a:t>
            </a:r>
          </a:p>
          <a:p>
            <a:pPr>
              <a:lnSpc>
                <a:spcPct val="155000"/>
              </a:lnSpc>
              <a:buClr>
                <a:schemeClr val="folHlink"/>
              </a:buClr>
              <a:buSzPct val="60000"/>
            </a:pPr>
            <a:r>
              <a:rPr lang="zh-CN" altLang="en-US" sz="2400">
                <a:effectLst>
                  <a:outerShdw blurRad="38100" dist="38100" dir="2700000" algn="tl">
                    <a:srgbClr val="C0C0C0"/>
                  </a:outerShdw>
                </a:effectLst>
                <a:latin typeface="黑体" panose="02010609060101010101" pitchFamily="49" charset="-122"/>
                <a:ea typeface="黑体" panose="02010609060101010101" pitchFamily="49" charset="-122"/>
              </a:rPr>
              <a:t>                                 单位名，收件人）</a:t>
            </a:r>
          </a:p>
          <a:p>
            <a:pPr>
              <a:lnSpc>
                <a:spcPct val="155000"/>
              </a:lnSpc>
              <a:spcBef>
                <a:spcPct val="30000"/>
              </a:spcBef>
              <a:buClr>
                <a:schemeClr val="folHlink"/>
              </a:buClr>
              <a:buSzPct val="60000"/>
            </a:pPr>
            <a:r>
              <a:rPr lang="zh-CN" altLang="en-US" sz="2800">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2800">
                <a:effectLst>
                  <a:outerShdw blurRad="38100" dist="38100" dir="2700000" algn="tl">
                    <a:srgbClr val="C0C0C0"/>
                  </a:outerShdw>
                </a:effectLst>
                <a:latin typeface="华文楷体" panose="02010600040101010101" pitchFamily="2" charset="-122"/>
                <a:ea typeface="华文楷体" panose="02010600040101010101" pitchFamily="2" charset="-122"/>
              </a:rPr>
              <a:t>有两个候选键</a:t>
            </a:r>
            <a:r>
              <a:rPr lang="en-US" altLang="zh-CN" sz="2800">
                <a:effectLst>
                  <a:outerShdw blurRad="38100" dist="38100" dir="2700000" algn="tl">
                    <a:srgbClr val="C0C0C0"/>
                  </a:outerShdw>
                </a:effectLst>
                <a:latin typeface="华文楷体" panose="02010600040101010101" pitchFamily="2" charset="-122"/>
                <a:ea typeface="华文楷体" panose="02010600040101010101" pitchFamily="2" charset="-122"/>
              </a:rPr>
              <a:t>:</a:t>
            </a:r>
          </a:p>
          <a:p>
            <a:pPr>
              <a:lnSpc>
                <a:spcPct val="120000"/>
              </a:lnSpc>
              <a:buClr>
                <a:schemeClr val="folHlink"/>
              </a:buClr>
              <a:buSzPct val="60000"/>
            </a:pPr>
            <a:r>
              <a:rPr lang="en-US" altLang="zh-CN" sz="2800">
                <a:effectLst>
                  <a:outerShdw blurRad="38100" dist="38100" dir="2700000" algn="tl">
                    <a:srgbClr val="C0C0C0"/>
                  </a:outerShdw>
                </a:effectLst>
                <a:latin typeface="黑体" panose="02010609060101010101" pitchFamily="49" charset="-122"/>
                <a:ea typeface="黑体" panose="02010609060101010101" pitchFamily="49" charset="-122"/>
              </a:rPr>
              <a:t>      </a:t>
            </a:r>
            <a:r>
              <a:rPr lang="en-US" altLang="zh-CN" sz="2800">
                <a:solidFill>
                  <a:srgbClr val="660033"/>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zh-CN" altLang="en-US" sz="2800">
                <a:solidFill>
                  <a:srgbClr val="660033"/>
                </a:solidFill>
                <a:effectLst>
                  <a:outerShdw blurRad="38100" dist="38100" dir="2700000" algn="tl">
                    <a:srgbClr val="C0C0C0"/>
                  </a:outerShdw>
                </a:effectLst>
                <a:latin typeface="黑体" panose="02010609060101010101" pitchFamily="49" charset="-122"/>
                <a:ea typeface="黑体" panose="02010609060101010101" pitchFamily="49" charset="-122"/>
              </a:rPr>
              <a:t>城市名，街道名</a:t>
            </a:r>
            <a:r>
              <a:rPr lang="en-US" altLang="zh-CN" sz="2800">
                <a:solidFill>
                  <a:srgbClr val="660033"/>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2800">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2800">
                <a:effectLst>
                  <a:outerShdw blurRad="38100" dist="38100" dir="2700000" algn="tl">
                    <a:srgbClr val="C0C0C0"/>
                  </a:outerShdw>
                </a:effectLst>
                <a:latin typeface="黑体" panose="02010609060101010101" pitchFamily="49" charset="-122"/>
                <a:ea typeface="黑体" panose="02010609060101010101" pitchFamily="49" charset="-122"/>
              </a:rPr>
              <a:t>和 </a:t>
            </a:r>
            <a:r>
              <a:rPr lang="en-US" altLang="zh-CN" sz="2800">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zh-CN" altLang="en-US" sz="2800">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街道名，邮政编码</a:t>
            </a:r>
            <a:r>
              <a:rPr lang="en-US" altLang="zh-CN" sz="2800">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zh-CN" altLang="en-US" sz="2800" b="1">
                <a:effectLst>
                  <a:outerShdw blurRad="38100" dist="38100" dir="2700000" algn="tl">
                    <a:srgbClr val="C0C0C0"/>
                  </a:outerShdw>
                </a:effectLst>
                <a:latin typeface="黑体" panose="02010609060101010101" pitchFamily="49" charset="-122"/>
                <a:ea typeface="黑体" panose="02010609060101010101" pitchFamily="49" charset="-122"/>
              </a:rPr>
              <a:t> </a:t>
            </a:r>
            <a:endParaRPr lang="zh-CN" altLang="en-US" sz="2800" b="1">
              <a:effectLst>
                <a:outerShdw blurRad="38100" dist="38100" dir="2700000" algn="tl">
                  <a:srgbClr val="C0C0C0"/>
                </a:outerShdw>
              </a:effectLst>
              <a:latin typeface="Tahoma" panose="020B0604030504040204" pitchFamily="34" charset="0"/>
            </a:endParaRPr>
          </a:p>
        </p:txBody>
      </p:sp>
      <p:sp>
        <p:nvSpPr>
          <p:cNvPr id="834566" name="矩形 834565">
            <a:extLst>
              <a:ext uri="{FF2B5EF4-FFF2-40B4-BE49-F238E27FC236}">
                <a16:creationId xmlns:a16="http://schemas.microsoft.com/office/drawing/2014/main" id="{C3461E41-8C71-4F8C-8A3F-33C0DA65105F}"/>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t>二、关系的键与关系的属性</a:t>
            </a:r>
          </a:p>
        </p:txBody>
      </p:sp>
    </p:spTree>
  </p:cSld>
  <p:clrMapOvr>
    <a:masterClrMapping/>
  </p:clrMapOvr>
  <mc:AlternateContent xmlns:mc="http://schemas.openxmlformats.org/markup-compatibility/2006" xmlns:p14="http://schemas.microsoft.com/office/powerpoint/2010/main">
    <mc:Choice Requires="p14">
      <p:transition spd="slow" p14:dur="2000" advTm="48250"/>
    </mc:Choice>
    <mc:Fallback xmlns="">
      <p:transition spd="slow" advTm="48250"/>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34564">
                                            <p:txEl>
                                              <p:pRg st="2" end="2"/>
                                            </p:txEl>
                                          </p:spTgt>
                                        </p:tgtEl>
                                        <p:attrNameLst>
                                          <p:attrName>style.visibility</p:attrName>
                                        </p:attrNameLst>
                                      </p:cBhvr>
                                      <p:to>
                                        <p:strVal val="visible"/>
                                      </p:to>
                                    </p:set>
                                    <p:animEffect transition="in" filter="wipe(left)">
                                      <p:cBhvr>
                                        <p:cTn id="7" dur="500"/>
                                        <p:tgtEl>
                                          <p:spTgt spid="834564">
                                            <p:txEl>
                                              <p:pRg st="2" end="2"/>
                                            </p:txEl>
                                          </p:spTgt>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834564">
                                            <p:txEl>
                                              <p:pRg st="3" end="3"/>
                                            </p:txEl>
                                          </p:spTgt>
                                        </p:tgtEl>
                                        <p:attrNameLst>
                                          <p:attrName>style.visibility</p:attrName>
                                        </p:attrNameLst>
                                      </p:cBhvr>
                                      <p:to>
                                        <p:strVal val="visible"/>
                                      </p:to>
                                    </p:set>
                                    <p:animEffect transition="in" filter="wipe(left)">
                                      <p:cBhvr>
                                        <p:cTn id="11" dur="500"/>
                                        <p:tgtEl>
                                          <p:spTgt spid="834564">
                                            <p:txEl>
                                              <p:pRg st="3" end="3"/>
                                            </p:txEl>
                                          </p:spTgt>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834564">
                                            <p:txEl>
                                              <p:pRg st="4" end="4"/>
                                            </p:txEl>
                                          </p:spTgt>
                                        </p:tgtEl>
                                        <p:attrNameLst>
                                          <p:attrName>style.visibility</p:attrName>
                                        </p:attrNameLst>
                                      </p:cBhvr>
                                      <p:to>
                                        <p:strVal val="visible"/>
                                      </p:to>
                                    </p:set>
                                    <p:animEffect transition="in" filter="wipe(left)">
                                      <p:cBhvr>
                                        <p:cTn id="15" dur="500"/>
                                        <p:tgtEl>
                                          <p:spTgt spid="834564">
                                            <p:txEl>
                                              <p:pRg st="4" end="4"/>
                                            </p:txEl>
                                          </p:spTgt>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834564">
                                            <p:txEl>
                                              <p:pRg st="5" end="5"/>
                                            </p:txEl>
                                          </p:spTgt>
                                        </p:tgtEl>
                                        <p:attrNameLst>
                                          <p:attrName>style.visibility</p:attrName>
                                        </p:attrNameLst>
                                      </p:cBhvr>
                                      <p:to>
                                        <p:strVal val="visible"/>
                                      </p:to>
                                    </p:set>
                                    <p:animEffect transition="in" filter="wipe(left)">
                                      <p:cBhvr>
                                        <p:cTn id="19" dur="500"/>
                                        <p:tgtEl>
                                          <p:spTgt spid="83456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6788" name="矩形 886787">
            <a:extLst>
              <a:ext uri="{FF2B5EF4-FFF2-40B4-BE49-F238E27FC236}">
                <a16:creationId xmlns:a16="http://schemas.microsoft.com/office/drawing/2014/main" id="{215CFD9D-F4D4-45D7-AD9F-526108460516}"/>
              </a:ext>
            </a:extLst>
          </p:cNvPr>
          <p:cNvSpPr/>
          <p:nvPr/>
        </p:nvSpPr>
        <p:spPr>
          <a:xfrm>
            <a:off x="468313" y="1196975"/>
            <a:ext cx="8207375" cy="5338763"/>
          </a:xfrm>
          <a:prstGeom prst="rect">
            <a:avLst/>
          </a:prstGeom>
          <a:noFill/>
          <a:ln w="9525">
            <a:noFill/>
          </a:ln>
        </p:spPr>
        <p:txBody>
          <a:bodyPr/>
          <a:lstStyle>
            <a:lvl1pPr marL="342900" indent="-342900">
              <a:defRPr>
                <a:solidFill>
                  <a:schemeClr val="tx1"/>
                </a:solidFill>
                <a:latin typeface="Arial" panose="020B0604020202020204" pitchFamily="34" charset="0"/>
                <a:ea typeface="楷体_GB2312" pitchFamily="49" charset="-122"/>
              </a:defRPr>
            </a:lvl1pPr>
            <a:lvl2pPr>
              <a:defRPr>
                <a:solidFill>
                  <a:schemeClr val="tx1"/>
                </a:solidFill>
                <a:latin typeface="Arial" panose="020B0604020202020204" pitchFamily="34" charset="0"/>
                <a:ea typeface="楷体_GB2312" pitchFamily="49" charset="-122"/>
              </a:defRPr>
            </a:lvl2pPr>
            <a:lvl3pPr>
              <a:defRPr>
                <a:solidFill>
                  <a:schemeClr val="tx1"/>
                </a:solidFill>
                <a:latin typeface="Arial" panose="020B0604020202020204" pitchFamily="34" charset="0"/>
                <a:ea typeface="楷体_GB2312" pitchFamily="49" charset="-122"/>
              </a:defRPr>
            </a:lvl3pPr>
            <a:lvl4pPr>
              <a:defRPr>
                <a:solidFill>
                  <a:schemeClr val="tx1"/>
                </a:solidFill>
                <a:latin typeface="Arial" panose="020B0604020202020204" pitchFamily="34" charset="0"/>
                <a:ea typeface="楷体_GB2312" pitchFamily="49" charset="-122"/>
              </a:defRPr>
            </a:lvl4pPr>
            <a:lvl5pPr>
              <a:defRPr>
                <a:solidFill>
                  <a:schemeClr val="tx1"/>
                </a:solidFill>
                <a:latin typeface="Arial" panose="020B0604020202020204" pitchFamily="34" charset="0"/>
                <a:ea typeface="楷体_GB2312" pitchFamily="49" charset="-122"/>
              </a:defRPr>
            </a:lvl5pPr>
            <a:lvl6pPr fontAlgn="base">
              <a:spcBef>
                <a:spcPct val="0"/>
              </a:spcBef>
              <a:spcAft>
                <a:spcPct val="0"/>
              </a:spcAft>
              <a:defRPr>
                <a:solidFill>
                  <a:schemeClr val="tx1"/>
                </a:solidFill>
                <a:latin typeface="Arial" panose="020B0604020202020204" pitchFamily="34" charset="0"/>
                <a:ea typeface="楷体_GB2312" pitchFamily="49" charset="-122"/>
              </a:defRPr>
            </a:lvl6pPr>
            <a:lvl7pPr fontAlgn="base">
              <a:spcBef>
                <a:spcPct val="0"/>
              </a:spcBef>
              <a:spcAft>
                <a:spcPct val="0"/>
              </a:spcAft>
              <a:defRPr>
                <a:solidFill>
                  <a:schemeClr val="tx1"/>
                </a:solidFill>
                <a:latin typeface="Arial" panose="020B0604020202020204" pitchFamily="34" charset="0"/>
                <a:ea typeface="楷体_GB2312" pitchFamily="49" charset="-122"/>
              </a:defRPr>
            </a:lvl7pPr>
            <a:lvl8pPr fontAlgn="base">
              <a:spcBef>
                <a:spcPct val="0"/>
              </a:spcBef>
              <a:spcAft>
                <a:spcPct val="0"/>
              </a:spcAft>
              <a:defRPr>
                <a:solidFill>
                  <a:schemeClr val="tx1"/>
                </a:solidFill>
                <a:latin typeface="Arial" panose="020B0604020202020204" pitchFamily="34" charset="0"/>
                <a:ea typeface="楷体_GB2312" pitchFamily="49" charset="-122"/>
              </a:defRPr>
            </a:lvl8pPr>
            <a:lvl9pPr fontAlgn="base">
              <a:spcBef>
                <a:spcPct val="0"/>
              </a:spcBef>
              <a:spcAft>
                <a:spcPct val="0"/>
              </a:spcAft>
              <a:defRPr>
                <a:solidFill>
                  <a:schemeClr val="tx1"/>
                </a:solidFill>
                <a:latin typeface="Arial" panose="020B0604020202020204" pitchFamily="34" charset="0"/>
                <a:ea typeface="楷体_GB2312" pitchFamily="49" charset="-122"/>
              </a:defRPr>
            </a:lvl9pPr>
          </a:lstStyle>
          <a:p>
            <a:pPr>
              <a:lnSpc>
                <a:spcPct val="120000"/>
              </a:lnSpc>
              <a:spcBef>
                <a:spcPct val="20000"/>
              </a:spcBef>
              <a:buClr>
                <a:schemeClr val="folHlink"/>
              </a:buClr>
              <a:buSzPct val="60000"/>
            </a:pPr>
            <a:r>
              <a:rPr lang="en-US" altLang="zh-CN" sz="2800" b="1">
                <a:effectLst>
                  <a:outerShdw blurRad="38100" dist="38100" dir="2700000" algn="tl">
                    <a:srgbClr val="C0C0C0"/>
                  </a:outerShdw>
                </a:effectLst>
                <a:latin typeface="Tahoma" panose="020B0604030504040204" pitchFamily="34" charset="0"/>
              </a:rPr>
              <a:t>          </a:t>
            </a:r>
            <a:r>
              <a:rPr lang="en-US" altLang="zh-CN" sz="30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2</a:t>
            </a:r>
            <a:r>
              <a:rPr lang="zh-CN" altLang="en-US" sz="30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、主键</a:t>
            </a:r>
          </a:p>
          <a:p>
            <a:pPr>
              <a:lnSpc>
                <a:spcPct val="120000"/>
              </a:lnSpc>
              <a:spcBef>
                <a:spcPct val="20000"/>
              </a:spcBef>
              <a:buClr>
                <a:schemeClr val="folHlink"/>
              </a:buClr>
              <a:buSzPct val="60000"/>
            </a:pPr>
            <a:r>
              <a:rPr lang="zh-CN" altLang="en-US" sz="30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         </a:t>
            </a:r>
            <a:r>
              <a:rPr lang="zh-CN" altLang="en-US" sz="3000" b="1">
                <a:effectLst>
                  <a:outerShdw blurRad="38100" dist="38100" dir="2700000" algn="tl">
                    <a:srgbClr val="C0C0C0"/>
                  </a:outerShdw>
                </a:effectLst>
                <a:latin typeface="Tahoma" panose="020B0604030504040204" pitchFamily="34" charset="0"/>
                <a:ea typeface="华文新魏" panose="02010800040101010101" pitchFamily="2" charset="-122"/>
              </a:rPr>
              <a:t>用户选定的那个候选键称为主键</a:t>
            </a:r>
            <a:r>
              <a:rPr lang="zh-CN" altLang="en-US" sz="2800" b="1">
                <a:effectLst>
                  <a:outerShdw blurRad="38100" dist="38100" dir="2700000" algn="tl">
                    <a:srgbClr val="C0C0C0"/>
                  </a:outerShdw>
                </a:effectLst>
                <a:latin typeface="Tahoma" panose="020B0604030504040204" pitchFamily="34" charset="0"/>
              </a:rPr>
              <a:t>。 </a:t>
            </a:r>
          </a:p>
          <a:p>
            <a:pPr>
              <a:lnSpc>
                <a:spcPct val="125000"/>
              </a:lnSpc>
              <a:spcBef>
                <a:spcPct val="20000"/>
              </a:spcBef>
              <a:buClr>
                <a:schemeClr val="folHlink"/>
              </a:buClr>
              <a:buSzPct val="60000"/>
            </a:pPr>
            <a:r>
              <a:rPr lang="zh-CN" altLang="en-US" sz="2800" b="1">
                <a:solidFill>
                  <a:srgbClr val="660033"/>
                </a:solidFill>
                <a:effectLst>
                  <a:outerShdw blurRad="38100" dist="38100" dir="2700000" algn="tl">
                    <a:srgbClr val="C0C0C0"/>
                  </a:outerShdw>
                </a:effectLst>
                <a:latin typeface="Tahoma" panose="020B0604030504040204" pitchFamily="34" charset="0"/>
              </a:rPr>
              <a:t> </a:t>
            </a:r>
            <a:r>
              <a:rPr lang="zh-CN" altLang="en-US" sz="3000" b="1">
                <a:solidFill>
                  <a:srgbClr val="660033"/>
                </a:solidFill>
                <a:effectLst>
                  <a:outerShdw blurRad="38100" dist="38100" dir="2700000" algn="tl">
                    <a:srgbClr val="C0C0C0"/>
                  </a:outerShdw>
                </a:effectLst>
                <a:latin typeface="Tahoma" panose="020B0604030504040204" pitchFamily="34" charset="0"/>
              </a:rPr>
              <a:t>  比如：</a:t>
            </a:r>
          </a:p>
          <a:p>
            <a:pPr>
              <a:lnSpc>
                <a:spcPct val="125000"/>
              </a:lnSpc>
              <a:spcBef>
                <a:spcPct val="5000"/>
              </a:spcBef>
              <a:buClr>
                <a:schemeClr val="folHlink"/>
              </a:buClr>
              <a:buSzPct val="60000"/>
            </a:pPr>
            <a:r>
              <a:rPr lang="zh-CN" altLang="en-US" sz="3000" b="1">
                <a:solidFill>
                  <a:srgbClr val="660033"/>
                </a:solidFill>
                <a:effectLst>
                  <a:outerShdw blurRad="38100" dist="38100" dir="2700000" algn="tl">
                    <a:srgbClr val="C0C0C0"/>
                  </a:outerShdw>
                </a:effectLst>
                <a:latin typeface="Tahoma" panose="020B0604030504040204" pitchFamily="34" charset="0"/>
              </a:rPr>
              <a:t>          </a:t>
            </a:r>
            <a:r>
              <a:rPr lang="zh-CN" altLang="en-US" sz="2600" b="1">
                <a:solidFill>
                  <a:srgbClr val="003366"/>
                </a:solidFill>
                <a:effectLst>
                  <a:outerShdw blurRad="38100" dist="38100" dir="2700000" algn="tl">
                    <a:srgbClr val="C0C0C0"/>
                  </a:outerShdw>
                </a:effectLst>
                <a:latin typeface="宋体" panose="02010600030101010101" pitchFamily="2" charset="-122"/>
                <a:ea typeface="宋体" panose="02010600030101010101" pitchFamily="2" charset="-122"/>
              </a:rPr>
              <a:t>◆</a:t>
            </a:r>
            <a:r>
              <a:rPr lang="zh-CN" altLang="en-US" sz="2600" b="1">
                <a:effectLst>
                  <a:outerShdw blurRad="38100" dist="38100" dir="2700000" algn="tl">
                    <a:srgbClr val="C0C0C0"/>
                  </a:outerShdw>
                </a:effectLst>
                <a:latin typeface="Tahoma" panose="020B0604030504040204" pitchFamily="34" charset="0"/>
              </a:rPr>
              <a:t>学生关系（学号，姓名，性别，出生年月，</a:t>
            </a:r>
          </a:p>
          <a:p>
            <a:pPr>
              <a:lnSpc>
                <a:spcPct val="125000"/>
              </a:lnSpc>
              <a:spcBef>
                <a:spcPct val="5000"/>
              </a:spcBef>
              <a:buClr>
                <a:schemeClr val="folHlink"/>
              </a:buClr>
              <a:buSzPct val="60000"/>
            </a:pPr>
            <a:r>
              <a:rPr lang="zh-CN" altLang="en-US" sz="2600" b="1">
                <a:effectLst>
                  <a:outerShdw blurRad="38100" dist="38100" dir="2700000" algn="tl">
                    <a:srgbClr val="C0C0C0"/>
                  </a:outerShdw>
                </a:effectLst>
                <a:latin typeface="Tahoma" panose="020B0604030504040204" pitchFamily="34" charset="0"/>
              </a:rPr>
              <a:t>                                            籍贯，专业代码，班级）</a:t>
            </a:r>
            <a:endParaRPr lang="zh-CN" altLang="en-US" sz="2600" b="1">
              <a:solidFill>
                <a:srgbClr val="660033"/>
              </a:solidFill>
              <a:effectLst>
                <a:outerShdw blurRad="38100" dist="38100" dir="2700000" algn="tl">
                  <a:srgbClr val="C0C0C0"/>
                </a:outerShdw>
              </a:effectLst>
              <a:latin typeface="宋体" panose="02010600030101010101" pitchFamily="2" charset="-122"/>
              <a:ea typeface="宋体" panose="02010600030101010101" pitchFamily="2" charset="-122"/>
            </a:endParaRPr>
          </a:p>
          <a:p>
            <a:pPr>
              <a:lnSpc>
                <a:spcPct val="125000"/>
              </a:lnSpc>
              <a:spcBef>
                <a:spcPct val="5000"/>
              </a:spcBef>
              <a:buClr>
                <a:schemeClr val="folHlink"/>
              </a:buClr>
              <a:buSzPct val="60000"/>
            </a:pPr>
            <a:r>
              <a:rPr lang="zh-CN" altLang="en-US" sz="2600" b="1">
                <a:solidFill>
                  <a:srgbClr val="660033"/>
                </a:solidFill>
                <a:effectLst>
                  <a:outerShdw blurRad="38100" dist="38100" dir="2700000" algn="tl">
                    <a:srgbClr val="C0C0C0"/>
                  </a:outerShdw>
                </a:effectLst>
                <a:latin typeface="宋体" panose="02010600030101010101" pitchFamily="2" charset="-122"/>
                <a:ea typeface="宋体" panose="02010600030101010101" pitchFamily="2" charset="-122"/>
              </a:rPr>
              <a:t>        </a:t>
            </a:r>
            <a:r>
              <a:rPr lang="en-US" altLang="zh-CN" sz="2600" b="1">
                <a:solidFill>
                  <a:srgbClr val="660033"/>
                </a:solidFill>
                <a:effectLst>
                  <a:outerShdw blurRad="38100" dist="38100" dir="2700000" algn="tl">
                    <a:srgbClr val="C0C0C0"/>
                  </a:outerShdw>
                </a:effectLst>
                <a:latin typeface="宋体" panose="02010600030101010101" pitchFamily="2" charset="-122"/>
                <a:ea typeface="宋体" panose="02010600030101010101" pitchFamily="2" charset="-122"/>
              </a:rPr>
              <a:t>{</a:t>
            </a:r>
            <a:r>
              <a:rPr lang="zh-CN" altLang="en-US" sz="2600" b="1">
                <a:solidFill>
                  <a:srgbClr val="660033"/>
                </a:solidFill>
                <a:effectLst>
                  <a:outerShdw blurRad="38100" dist="38100" dir="2700000" algn="tl">
                    <a:srgbClr val="C0C0C0"/>
                  </a:outerShdw>
                </a:effectLst>
                <a:latin typeface="宋体" panose="02010600030101010101" pitchFamily="2" charset="-122"/>
                <a:ea typeface="宋体" panose="02010600030101010101" pitchFamily="2" charset="-122"/>
              </a:rPr>
              <a:t>学号</a:t>
            </a:r>
            <a:r>
              <a:rPr lang="en-US" altLang="zh-CN" sz="2600" b="1">
                <a:solidFill>
                  <a:srgbClr val="660033"/>
                </a:solidFill>
                <a:effectLst>
                  <a:outerShdw blurRad="38100" dist="38100" dir="2700000" algn="tl">
                    <a:srgbClr val="C0C0C0"/>
                  </a:outerShdw>
                </a:effectLst>
                <a:latin typeface="宋体" panose="02010600030101010101" pitchFamily="2" charset="-122"/>
                <a:ea typeface="宋体" panose="02010600030101010101" pitchFamily="2" charset="-122"/>
              </a:rPr>
              <a:t>}</a:t>
            </a:r>
          </a:p>
          <a:p>
            <a:pPr>
              <a:lnSpc>
                <a:spcPct val="125000"/>
              </a:lnSpc>
              <a:spcBef>
                <a:spcPct val="5000"/>
              </a:spcBef>
              <a:buClr>
                <a:schemeClr val="folHlink"/>
              </a:buClr>
              <a:buSzPct val="60000"/>
            </a:pPr>
            <a:r>
              <a:rPr lang="zh-CN" altLang="en-US" sz="2600" b="1">
                <a:solidFill>
                  <a:srgbClr val="660033"/>
                </a:solidFill>
                <a:effectLst>
                  <a:outerShdw blurRad="38100" dist="38100" dir="2700000" algn="tl">
                    <a:srgbClr val="C0C0C0"/>
                  </a:outerShdw>
                </a:effectLst>
                <a:latin typeface="宋体" panose="02010600030101010101" pitchFamily="2" charset="-122"/>
                <a:ea typeface="宋体" panose="02010600030101010101" pitchFamily="2" charset="-122"/>
              </a:rPr>
              <a:t>      </a:t>
            </a:r>
            <a:r>
              <a:rPr lang="zh-CN" altLang="en-US" sz="2600" b="1">
                <a:solidFill>
                  <a:srgbClr val="003366"/>
                </a:solidFill>
                <a:effectLst>
                  <a:outerShdw blurRad="38100" dist="38100" dir="2700000" algn="tl">
                    <a:srgbClr val="C0C0C0"/>
                  </a:outerShdw>
                </a:effectLst>
                <a:latin typeface="宋体" panose="02010600030101010101" pitchFamily="2" charset="-122"/>
                <a:ea typeface="宋体" panose="02010600030101010101" pitchFamily="2" charset="-122"/>
              </a:rPr>
              <a:t>◆</a:t>
            </a:r>
            <a:r>
              <a:rPr lang="zh-CN" altLang="en-US" sz="2600" b="1">
                <a:effectLst>
                  <a:outerShdw blurRad="38100" dist="38100" dir="2700000" algn="tl">
                    <a:srgbClr val="C0C0C0"/>
                  </a:outerShdw>
                </a:effectLst>
                <a:latin typeface="Tahoma" panose="020B0604030504040204" pitchFamily="34" charset="0"/>
              </a:rPr>
              <a:t>邮寄地址（城市名，街道名，邮政编码，</a:t>
            </a:r>
          </a:p>
          <a:p>
            <a:pPr>
              <a:lnSpc>
                <a:spcPct val="125000"/>
              </a:lnSpc>
              <a:spcBef>
                <a:spcPct val="5000"/>
              </a:spcBef>
              <a:buClr>
                <a:schemeClr val="folHlink"/>
              </a:buClr>
              <a:buSzPct val="60000"/>
            </a:pPr>
            <a:r>
              <a:rPr lang="zh-CN" altLang="en-US" sz="2600" b="1">
                <a:effectLst>
                  <a:outerShdw blurRad="38100" dist="38100" dir="2700000" algn="tl">
                    <a:srgbClr val="C0C0C0"/>
                  </a:outerShdw>
                </a:effectLst>
                <a:latin typeface="Tahoma" panose="020B0604030504040204" pitchFamily="34" charset="0"/>
              </a:rPr>
              <a:t>                                                      单位名，收件人）</a:t>
            </a:r>
          </a:p>
          <a:p>
            <a:pPr>
              <a:lnSpc>
                <a:spcPct val="125000"/>
              </a:lnSpc>
              <a:spcBef>
                <a:spcPct val="5000"/>
              </a:spcBef>
              <a:buClr>
                <a:schemeClr val="folHlink"/>
              </a:buClr>
              <a:buSzPct val="60000"/>
            </a:pPr>
            <a:r>
              <a:rPr lang="zh-CN" altLang="en-US" sz="2600" b="1">
                <a:effectLst>
                  <a:outerShdw blurRad="38100" dist="38100" dir="2700000" algn="tl">
                    <a:srgbClr val="C0C0C0"/>
                  </a:outerShdw>
                </a:effectLst>
                <a:latin typeface="Tahoma" panose="020B0604030504040204" pitchFamily="34" charset="0"/>
              </a:rPr>
              <a:t>              </a:t>
            </a:r>
            <a:r>
              <a:rPr lang="en-US" altLang="zh-CN" sz="2600" b="1">
                <a:solidFill>
                  <a:srgbClr val="660033"/>
                </a:solidFill>
                <a:effectLst>
                  <a:outerShdw blurRad="38100" dist="38100" dir="2700000" algn="tl">
                    <a:srgbClr val="C0C0C0"/>
                  </a:outerShdw>
                </a:effectLst>
                <a:latin typeface="宋体" panose="02010600030101010101" pitchFamily="2" charset="-122"/>
                <a:ea typeface="宋体" panose="02010600030101010101" pitchFamily="2" charset="-122"/>
              </a:rPr>
              <a:t>{</a:t>
            </a:r>
            <a:r>
              <a:rPr lang="zh-CN" altLang="en-US" sz="2600" b="1">
                <a:solidFill>
                  <a:srgbClr val="660033"/>
                </a:solidFill>
                <a:effectLst>
                  <a:outerShdw blurRad="38100" dist="38100" dir="2700000" algn="tl">
                    <a:srgbClr val="C0C0C0"/>
                  </a:outerShdw>
                </a:effectLst>
                <a:latin typeface="宋体" panose="02010600030101010101" pitchFamily="2" charset="-122"/>
                <a:ea typeface="宋体" panose="02010600030101010101" pitchFamily="2" charset="-122"/>
              </a:rPr>
              <a:t>城市名，街道名</a:t>
            </a:r>
            <a:r>
              <a:rPr lang="en-US" altLang="zh-CN" sz="2600" b="1">
                <a:solidFill>
                  <a:srgbClr val="660033"/>
                </a:solidFill>
                <a:effectLst>
                  <a:outerShdw blurRad="38100" dist="38100" dir="2700000" algn="tl">
                    <a:srgbClr val="C0C0C0"/>
                  </a:outerShdw>
                </a:effectLst>
                <a:latin typeface="宋体" panose="02010600030101010101" pitchFamily="2" charset="-122"/>
                <a:ea typeface="宋体" panose="02010600030101010101" pitchFamily="2" charset="-122"/>
              </a:rPr>
              <a:t>} /</a:t>
            </a:r>
            <a:r>
              <a:rPr lang="zh-CN" altLang="en-US" sz="2600" b="1">
                <a:solidFill>
                  <a:srgbClr val="660033"/>
                </a:solidFill>
                <a:effectLst>
                  <a:outerShdw blurRad="38100" dist="38100" dir="2700000" algn="tl">
                    <a:srgbClr val="C0C0C0"/>
                  </a:outerShdw>
                </a:effectLst>
                <a:latin typeface="宋体" panose="02010600030101010101" pitchFamily="2" charset="-122"/>
                <a:ea typeface="宋体" panose="02010600030101010101" pitchFamily="2" charset="-122"/>
              </a:rPr>
              <a:t> </a:t>
            </a:r>
            <a:r>
              <a:rPr lang="en-US" altLang="zh-CN" sz="2600" b="1">
                <a:solidFill>
                  <a:srgbClr val="660033"/>
                </a:solidFill>
                <a:effectLst>
                  <a:outerShdw blurRad="38100" dist="38100" dir="2700000" algn="tl">
                    <a:srgbClr val="C0C0C0"/>
                  </a:outerShdw>
                </a:effectLst>
                <a:latin typeface="宋体" panose="02010600030101010101" pitchFamily="2" charset="-122"/>
                <a:ea typeface="宋体" panose="02010600030101010101" pitchFamily="2" charset="-122"/>
              </a:rPr>
              <a:t>{</a:t>
            </a:r>
            <a:r>
              <a:rPr lang="zh-CN" altLang="en-US" sz="2600" b="1">
                <a:solidFill>
                  <a:srgbClr val="660033"/>
                </a:solidFill>
                <a:effectLst>
                  <a:outerShdw blurRad="38100" dist="38100" dir="2700000" algn="tl">
                    <a:srgbClr val="C0C0C0"/>
                  </a:outerShdw>
                </a:effectLst>
                <a:latin typeface="宋体" panose="02010600030101010101" pitchFamily="2" charset="-122"/>
                <a:ea typeface="宋体" panose="02010600030101010101" pitchFamily="2" charset="-122"/>
              </a:rPr>
              <a:t>街道名，邮政编码</a:t>
            </a:r>
            <a:r>
              <a:rPr lang="en-US" altLang="zh-CN" sz="2600" b="1">
                <a:solidFill>
                  <a:srgbClr val="660033"/>
                </a:solidFill>
                <a:effectLst>
                  <a:outerShdw blurRad="38100" dist="38100" dir="2700000" algn="tl">
                    <a:srgbClr val="C0C0C0"/>
                  </a:outerShdw>
                </a:effectLst>
                <a:latin typeface="宋体" panose="02010600030101010101" pitchFamily="2" charset="-122"/>
                <a:ea typeface="宋体" panose="02010600030101010101" pitchFamily="2" charset="-122"/>
              </a:rPr>
              <a:t>}</a:t>
            </a:r>
            <a:r>
              <a:rPr lang="zh-CN" altLang="en-US" sz="2800" b="1">
                <a:effectLst>
                  <a:outerShdw blurRad="38100" dist="38100" dir="2700000" algn="tl">
                    <a:srgbClr val="C0C0C0"/>
                  </a:outerShdw>
                </a:effectLst>
                <a:latin typeface="黑体" panose="02010609060101010101" pitchFamily="49" charset="-122"/>
                <a:ea typeface="黑体" panose="02010609060101010101" pitchFamily="49" charset="-122"/>
              </a:rPr>
              <a:t> </a:t>
            </a:r>
            <a:endParaRPr lang="en-US" altLang="zh-CN" sz="2800" b="1">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886823" name="矩形 886822">
            <a:extLst>
              <a:ext uri="{FF2B5EF4-FFF2-40B4-BE49-F238E27FC236}">
                <a16:creationId xmlns:a16="http://schemas.microsoft.com/office/drawing/2014/main" id="{0B9B2F70-390E-49A0-81EB-40E3184568A2}"/>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t>二、关系的键与关系的属性</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86310"/>
    </mc:Choice>
    <mc:Fallback xmlns="">
      <p:transition spd="slow" advTm="86310"/>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86788">
                                            <p:txEl>
                                              <p:pRg st="1" end="1"/>
                                            </p:txEl>
                                          </p:spTgt>
                                        </p:tgtEl>
                                        <p:attrNameLst>
                                          <p:attrName>style.visibility</p:attrName>
                                        </p:attrNameLst>
                                      </p:cBhvr>
                                      <p:to>
                                        <p:strVal val="visible"/>
                                      </p:to>
                                    </p:set>
                                    <p:animEffect transition="in" filter="wipe(left)">
                                      <p:cBhvr>
                                        <p:cTn id="7" dur="2000"/>
                                        <p:tgtEl>
                                          <p:spTgt spid="886788">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886788">
                                            <p:txEl>
                                              <p:pRg st="2" end="2"/>
                                            </p:txEl>
                                          </p:spTgt>
                                        </p:tgtEl>
                                        <p:attrNameLst>
                                          <p:attrName>style.visibility</p:attrName>
                                        </p:attrNameLst>
                                      </p:cBhvr>
                                      <p:to>
                                        <p:strVal val="visible"/>
                                      </p:to>
                                    </p:set>
                                    <p:animEffect transition="in" filter="wipe(up)">
                                      <p:cBhvr>
                                        <p:cTn id="12" dur="500"/>
                                        <p:tgtEl>
                                          <p:spTgt spid="886788">
                                            <p:txEl>
                                              <p:pRg st="2" end="2"/>
                                            </p:txEl>
                                          </p:spTgt>
                                        </p:tgtEl>
                                      </p:cBhvr>
                                    </p:animEffect>
                                  </p:childTnLst>
                                </p:cTn>
                              </p:par>
                            </p:childTnLst>
                          </p:cTn>
                        </p:par>
                        <p:par>
                          <p:cTn id="13" fill="hold" nodeType="afterGroup">
                            <p:stCondLst>
                              <p:cond delay="500"/>
                            </p:stCondLst>
                            <p:childTnLst>
                              <p:par>
                                <p:cTn id="14" presetID="22" presetClass="entr" presetSubtype="1" fill="hold" nodeType="afterEffect">
                                  <p:stCondLst>
                                    <p:cond delay="0"/>
                                  </p:stCondLst>
                                  <p:childTnLst>
                                    <p:set>
                                      <p:cBhvr>
                                        <p:cTn id="15" dur="1" fill="hold">
                                          <p:stCondLst>
                                            <p:cond delay="0"/>
                                          </p:stCondLst>
                                        </p:cTn>
                                        <p:tgtEl>
                                          <p:spTgt spid="886788">
                                            <p:txEl>
                                              <p:pRg st="3" end="3"/>
                                            </p:txEl>
                                          </p:spTgt>
                                        </p:tgtEl>
                                        <p:attrNameLst>
                                          <p:attrName>style.visibility</p:attrName>
                                        </p:attrNameLst>
                                      </p:cBhvr>
                                      <p:to>
                                        <p:strVal val="visible"/>
                                      </p:to>
                                    </p:set>
                                    <p:animEffect transition="in" filter="wipe(up)">
                                      <p:cBhvr>
                                        <p:cTn id="16" dur="500"/>
                                        <p:tgtEl>
                                          <p:spTgt spid="886788">
                                            <p:txEl>
                                              <p:pRg st="3" end="3"/>
                                            </p:txEl>
                                          </p:spTgt>
                                        </p:tgtEl>
                                      </p:cBhvr>
                                    </p:animEffect>
                                  </p:childTnLst>
                                </p:cTn>
                              </p:par>
                            </p:childTnLst>
                          </p:cTn>
                        </p:par>
                        <p:par>
                          <p:cTn id="17" fill="hold" nodeType="afterGroup">
                            <p:stCondLst>
                              <p:cond delay="1000"/>
                            </p:stCondLst>
                            <p:childTnLst>
                              <p:par>
                                <p:cTn id="18" presetID="22" presetClass="entr" presetSubtype="1" fill="hold" nodeType="afterEffect">
                                  <p:stCondLst>
                                    <p:cond delay="0"/>
                                  </p:stCondLst>
                                  <p:childTnLst>
                                    <p:set>
                                      <p:cBhvr>
                                        <p:cTn id="19" dur="1" fill="hold">
                                          <p:stCondLst>
                                            <p:cond delay="0"/>
                                          </p:stCondLst>
                                        </p:cTn>
                                        <p:tgtEl>
                                          <p:spTgt spid="886788">
                                            <p:txEl>
                                              <p:pRg st="4" end="4"/>
                                            </p:txEl>
                                          </p:spTgt>
                                        </p:tgtEl>
                                        <p:attrNameLst>
                                          <p:attrName>style.visibility</p:attrName>
                                        </p:attrNameLst>
                                      </p:cBhvr>
                                      <p:to>
                                        <p:strVal val="visible"/>
                                      </p:to>
                                    </p:set>
                                    <p:animEffect transition="in" filter="wipe(up)">
                                      <p:cBhvr>
                                        <p:cTn id="20" dur="500"/>
                                        <p:tgtEl>
                                          <p:spTgt spid="886788">
                                            <p:txEl>
                                              <p:pRg st="4" end="4"/>
                                            </p:txEl>
                                          </p:spTgt>
                                        </p:tgtEl>
                                      </p:cBhvr>
                                    </p:animEffect>
                                  </p:childTnLst>
                                </p:cTn>
                              </p:par>
                            </p:childTnLst>
                          </p:cTn>
                        </p:par>
                        <p:par>
                          <p:cTn id="21" fill="hold" nodeType="afterGroup">
                            <p:stCondLst>
                              <p:cond delay="1500"/>
                            </p:stCondLst>
                            <p:childTnLst>
                              <p:par>
                                <p:cTn id="22" presetID="22" presetClass="entr" presetSubtype="1" fill="hold" nodeType="afterEffect">
                                  <p:stCondLst>
                                    <p:cond delay="0"/>
                                  </p:stCondLst>
                                  <p:childTnLst>
                                    <p:set>
                                      <p:cBhvr>
                                        <p:cTn id="23" dur="1" fill="hold">
                                          <p:stCondLst>
                                            <p:cond delay="0"/>
                                          </p:stCondLst>
                                        </p:cTn>
                                        <p:tgtEl>
                                          <p:spTgt spid="886788">
                                            <p:txEl>
                                              <p:pRg st="5" end="5"/>
                                            </p:txEl>
                                          </p:spTgt>
                                        </p:tgtEl>
                                        <p:attrNameLst>
                                          <p:attrName>style.visibility</p:attrName>
                                        </p:attrNameLst>
                                      </p:cBhvr>
                                      <p:to>
                                        <p:strVal val="visible"/>
                                      </p:to>
                                    </p:set>
                                    <p:animEffect transition="in" filter="wipe(up)">
                                      <p:cBhvr>
                                        <p:cTn id="24" dur="500"/>
                                        <p:tgtEl>
                                          <p:spTgt spid="886788">
                                            <p:txEl>
                                              <p:pRg st="5" end="5"/>
                                            </p:txEl>
                                          </p:spTgt>
                                        </p:tgtEl>
                                      </p:cBhvr>
                                    </p:animEffect>
                                  </p:childTnLst>
                                </p:cTn>
                              </p:par>
                            </p:childTnLst>
                          </p:cTn>
                        </p:par>
                        <p:par>
                          <p:cTn id="25" fill="hold" nodeType="afterGroup">
                            <p:stCondLst>
                              <p:cond delay="2000"/>
                            </p:stCondLst>
                            <p:childTnLst>
                              <p:par>
                                <p:cTn id="26" presetID="22" presetClass="entr" presetSubtype="1" fill="hold" nodeType="afterEffect">
                                  <p:stCondLst>
                                    <p:cond delay="0"/>
                                  </p:stCondLst>
                                  <p:childTnLst>
                                    <p:set>
                                      <p:cBhvr>
                                        <p:cTn id="27" dur="1" fill="hold">
                                          <p:stCondLst>
                                            <p:cond delay="0"/>
                                          </p:stCondLst>
                                        </p:cTn>
                                        <p:tgtEl>
                                          <p:spTgt spid="886788">
                                            <p:txEl>
                                              <p:pRg st="6" end="6"/>
                                            </p:txEl>
                                          </p:spTgt>
                                        </p:tgtEl>
                                        <p:attrNameLst>
                                          <p:attrName>style.visibility</p:attrName>
                                        </p:attrNameLst>
                                      </p:cBhvr>
                                      <p:to>
                                        <p:strVal val="visible"/>
                                      </p:to>
                                    </p:set>
                                    <p:animEffect transition="in" filter="wipe(up)">
                                      <p:cBhvr>
                                        <p:cTn id="28" dur="3000"/>
                                        <p:tgtEl>
                                          <p:spTgt spid="886788">
                                            <p:txEl>
                                              <p:pRg st="6" end="6"/>
                                            </p:txEl>
                                          </p:spTgt>
                                        </p:tgtEl>
                                      </p:cBhvr>
                                    </p:animEffect>
                                  </p:childTnLst>
                                </p:cTn>
                              </p:par>
                            </p:childTnLst>
                          </p:cTn>
                        </p:par>
                        <p:par>
                          <p:cTn id="29" fill="hold" nodeType="afterGroup">
                            <p:stCondLst>
                              <p:cond delay="5000"/>
                            </p:stCondLst>
                            <p:childTnLst>
                              <p:par>
                                <p:cTn id="30" presetID="22" presetClass="entr" presetSubtype="1" fill="hold" nodeType="afterEffect">
                                  <p:stCondLst>
                                    <p:cond delay="0"/>
                                  </p:stCondLst>
                                  <p:childTnLst>
                                    <p:set>
                                      <p:cBhvr>
                                        <p:cTn id="31" dur="1" fill="hold">
                                          <p:stCondLst>
                                            <p:cond delay="0"/>
                                          </p:stCondLst>
                                        </p:cTn>
                                        <p:tgtEl>
                                          <p:spTgt spid="886788">
                                            <p:txEl>
                                              <p:pRg st="7" end="7"/>
                                            </p:txEl>
                                          </p:spTgt>
                                        </p:tgtEl>
                                        <p:attrNameLst>
                                          <p:attrName>style.visibility</p:attrName>
                                        </p:attrNameLst>
                                      </p:cBhvr>
                                      <p:to>
                                        <p:strVal val="visible"/>
                                      </p:to>
                                    </p:set>
                                    <p:animEffect transition="in" filter="wipe(up)">
                                      <p:cBhvr>
                                        <p:cTn id="32" dur="500"/>
                                        <p:tgtEl>
                                          <p:spTgt spid="886788">
                                            <p:txEl>
                                              <p:pRg st="7" end="7"/>
                                            </p:txEl>
                                          </p:spTgt>
                                        </p:tgtEl>
                                      </p:cBhvr>
                                    </p:animEffect>
                                  </p:childTnLst>
                                </p:cTn>
                              </p:par>
                            </p:childTnLst>
                          </p:cTn>
                        </p:par>
                        <p:par>
                          <p:cTn id="33" fill="hold" nodeType="afterGroup">
                            <p:stCondLst>
                              <p:cond delay="5500"/>
                            </p:stCondLst>
                            <p:childTnLst>
                              <p:par>
                                <p:cTn id="34" presetID="22" presetClass="entr" presetSubtype="1" fill="hold" nodeType="afterEffect">
                                  <p:stCondLst>
                                    <p:cond delay="0"/>
                                  </p:stCondLst>
                                  <p:childTnLst>
                                    <p:set>
                                      <p:cBhvr>
                                        <p:cTn id="35" dur="1" fill="hold">
                                          <p:stCondLst>
                                            <p:cond delay="0"/>
                                          </p:stCondLst>
                                        </p:cTn>
                                        <p:tgtEl>
                                          <p:spTgt spid="886788">
                                            <p:txEl>
                                              <p:pRg st="8" end="8"/>
                                            </p:txEl>
                                          </p:spTgt>
                                        </p:tgtEl>
                                        <p:attrNameLst>
                                          <p:attrName>style.visibility</p:attrName>
                                        </p:attrNameLst>
                                      </p:cBhvr>
                                      <p:to>
                                        <p:strVal val="visible"/>
                                      </p:to>
                                    </p:set>
                                    <p:animEffect transition="in" filter="wipe(up)">
                                      <p:cBhvr>
                                        <p:cTn id="36" dur="500"/>
                                        <p:tgtEl>
                                          <p:spTgt spid="88678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6180" name="矩形 946179">
            <a:extLst>
              <a:ext uri="{FF2B5EF4-FFF2-40B4-BE49-F238E27FC236}">
                <a16:creationId xmlns:a16="http://schemas.microsoft.com/office/drawing/2014/main" id="{8768782C-8F8B-4DBE-98BA-D131E1C11B1F}"/>
              </a:ext>
            </a:extLst>
          </p:cNvPr>
          <p:cNvSpPr/>
          <p:nvPr/>
        </p:nvSpPr>
        <p:spPr>
          <a:xfrm>
            <a:off x="468313" y="1196975"/>
            <a:ext cx="8207375" cy="5338763"/>
          </a:xfrm>
          <a:prstGeom prst="rect">
            <a:avLst/>
          </a:prstGeom>
          <a:noFill/>
          <a:ln w="9525">
            <a:noFill/>
          </a:ln>
        </p:spPr>
        <p:txBody>
          <a:bodyPr/>
          <a:lstStyle>
            <a:lvl1pPr marL="342900" indent="-342900">
              <a:defRPr>
                <a:solidFill>
                  <a:schemeClr val="tx1"/>
                </a:solidFill>
                <a:latin typeface="Arial" panose="020B0604020202020204" pitchFamily="34" charset="0"/>
                <a:ea typeface="楷体_GB2312" pitchFamily="49" charset="-122"/>
              </a:defRPr>
            </a:lvl1pPr>
            <a:lvl2pPr>
              <a:defRPr>
                <a:solidFill>
                  <a:schemeClr val="tx1"/>
                </a:solidFill>
                <a:latin typeface="Arial" panose="020B0604020202020204" pitchFamily="34" charset="0"/>
                <a:ea typeface="楷体_GB2312" pitchFamily="49" charset="-122"/>
              </a:defRPr>
            </a:lvl2pPr>
            <a:lvl3pPr>
              <a:defRPr>
                <a:solidFill>
                  <a:schemeClr val="tx1"/>
                </a:solidFill>
                <a:latin typeface="Arial" panose="020B0604020202020204" pitchFamily="34" charset="0"/>
                <a:ea typeface="楷体_GB2312" pitchFamily="49" charset="-122"/>
              </a:defRPr>
            </a:lvl3pPr>
            <a:lvl4pPr>
              <a:defRPr>
                <a:solidFill>
                  <a:schemeClr val="tx1"/>
                </a:solidFill>
                <a:latin typeface="Arial" panose="020B0604020202020204" pitchFamily="34" charset="0"/>
                <a:ea typeface="楷体_GB2312" pitchFamily="49" charset="-122"/>
              </a:defRPr>
            </a:lvl4pPr>
            <a:lvl5pPr>
              <a:defRPr>
                <a:solidFill>
                  <a:schemeClr val="tx1"/>
                </a:solidFill>
                <a:latin typeface="Arial" panose="020B0604020202020204" pitchFamily="34" charset="0"/>
                <a:ea typeface="楷体_GB2312" pitchFamily="49" charset="-122"/>
              </a:defRPr>
            </a:lvl5pPr>
            <a:lvl6pPr fontAlgn="base">
              <a:spcBef>
                <a:spcPct val="0"/>
              </a:spcBef>
              <a:spcAft>
                <a:spcPct val="0"/>
              </a:spcAft>
              <a:defRPr>
                <a:solidFill>
                  <a:schemeClr val="tx1"/>
                </a:solidFill>
                <a:latin typeface="Arial" panose="020B0604020202020204" pitchFamily="34" charset="0"/>
                <a:ea typeface="楷体_GB2312" pitchFamily="49" charset="-122"/>
              </a:defRPr>
            </a:lvl6pPr>
            <a:lvl7pPr fontAlgn="base">
              <a:spcBef>
                <a:spcPct val="0"/>
              </a:spcBef>
              <a:spcAft>
                <a:spcPct val="0"/>
              </a:spcAft>
              <a:defRPr>
                <a:solidFill>
                  <a:schemeClr val="tx1"/>
                </a:solidFill>
                <a:latin typeface="Arial" panose="020B0604020202020204" pitchFamily="34" charset="0"/>
                <a:ea typeface="楷体_GB2312" pitchFamily="49" charset="-122"/>
              </a:defRPr>
            </a:lvl7pPr>
            <a:lvl8pPr fontAlgn="base">
              <a:spcBef>
                <a:spcPct val="0"/>
              </a:spcBef>
              <a:spcAft>
                <a:spcPct val="0"/>
              </a:spcAft>
              <a:defRPr>
                <a:solidFill>
                  <a:schemeClr val="tx1"/>
                </a:solidFill>
                <a:latin typeface="Arial" panose="020B0604020202020204" pitchFamily="34" charset="0"/>
                <a:ea typeface="楷体_GB2312" pitchFamily="49" charset="-122"/>
              </a:defRPr>
            </a:lvl8pPr>
            <a:lvl9pPr fontAlgn="base">
              <a:spcBef>
                <a:spcPct val="0"/>
              </a:spcBef>
              <a:spcAft>
                <a:spcPct val="0"/>
              </a:spcAft>
              <a:defRPr>
                <a:solidFill>
                  <a:schemeClr val="tx1"/>
                </a:solidFill>
                <a:latin typeface="Arial" panose="020B0604020202020204" pitchFamily="34" charset="0"/>
                <a:ea typeface="楷体_GB2312" pitchFamily="49" charset="-122"/>
              </a:defRPr>
            </a:lvl9pPr>
          </a:lstStyle>
          <a:p>
            <a:pPr>
              <a:lnSpc>
                <a:spcPct val="120000"/>
              </a:lnSpc>
              <a:spcBef>
                <a:spcPct val="20000"/>
              </a:spcBef>
              <a:buClr>
                <a:schemeClr val="folHlink"/>
              </a:buClr>
              <a:buSzPct val="60000"/>
            </a:pPr>
            <a:r>
              <a:rPr lang="en-US" altLang="zh-CN" sz="2800" b="1">
                <a:effectLst>
                  <a:outerShdw blurRad="38100" dist="38100" dir="2700000" algn="tl">
                    <a:srgbClr val="C0C0C0"/>
                  </a:outerShdw>
                </a:effectLst>
                <a:latin typeface="Tahoma" panose="020B0604030504040204" pitchFamily="34" charset="0"/>
              </a:rPr>
              <a:t>          </a:t>
            </a:r>
            <a:r>
              <a:rPr lang="en-US" altLang="zh-CN" sz="30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2</a:t>
            </a:r>
            <a:r>
              <a:rPr lang="zh-CN" altLang="en-US" sz="30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、主键</a:t>
            </a:r>
          </a:p>
          <a:p>
            <a:pPr>
              <a:lnSpc>
                <a:spcPct val="120000"/>
              </a:lnSpc>
              <a:spcBef>
                <a:spcPct val="20000"/>
              </a:spcBef>
              <a:buClr>
                <a:schemeClr val="folHlink"/>
              </a:buClr>
              <a:buSzPct val="60000"/>
            </a:pPr>
            <a:r>
              <a:rPr lang="zh-CN" altLang="en-US" sz="30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         </a:t>
            </a:r>
            <a:r>
              <a:rPr lang="zh-CN" altLang="en-US" sz="3000" b="1">
                <a:effectLst>
                  <a:outerShdw blurRad="38100" dist="38100" dir="2700000" algn="tl">
                    <a:srgbClr val="C0C0C0"/>
                  </a:outerShdw>
                </a:effectLst>
                <a:latin typeface="Tahoma" panose="020B0604030504040204" pitchFamily="34" charset="0"/>
                <a:ea typeface="华文新魏" panose="02010800040101010101" pitchFamily="2" charset="-122"/>
              </a:rPr>
              <a:t>用户选定的那个候选键称为主键</a:t>
            </a:r>
            <a:r>
              <a:rPr lang="zh-CN" altLang="en-US" sz="2800" b="1">
                <a:effectLst>
                  <a:outerShdw blurRad="38100" dist="38100" dir="2700000" algn="tl">
                    <a:srgbClr val="C0C0C0"/>
                  </a:outerShdw>
                </a:effectLst>
                <a:latin typeface="Tahoma" panose="020B0604030504040204" pitchFamily="34" charset="0"/>
              </a:rPr>
              <a:t>。 </a:t>
            </a:r>
          </a:p>
          <a:p>
            <a:pPr>
              <a:lnSpc>
                <a:spcPct val="125000"/>
              </a:lnSpc>
              <a:spcBef>
                <a:spcPct val="20000"/>
              </a:spcBef>
              <a:buClr>
                <a:schemeClr val="folHlink"/>
              </a:buClr>
              <a:buSzPct val="60000"/>
            </a:pPr>
            <a:r>
              <a:rPr lang="zh-CN" altLang="en-US" sz="2800" b="1">
                <a:solidFill>
                  <a:srgbClr val="660033"/>
                </a:solidFill>
                <a:effectLst>
                  <a:outerShdw blurRad="38100" dist="38100" dir="2700000" algn="tl">
                    <a:srgbClr val="C0C0C0"/>
                  </a:outerShdw>
                </a:effectLst>
                <a:latin typeface="Tahoma" panose="020B0604030504040204" pitchFamily="34" charset="0"/>
              </a:rPr>
              <a:t> </a:t>
            </a:r>
            <a:r>
              <a:rPr lang="zh-CN" altLang="en-US" sz="3000" b="1">
                <a:solidFill>
                  <a:srgbClr val="660033"/>
                </a:solidFill>
                <a:effectLst>
                  <a:outerShdw blurRad="38100" dist="38100" dir="2700000" algn="tl">
                    <a:srgbClr val="C0C0C0"/>
                  </a:outerShdw>
                </a:effectLst>
                <a:latin typeface="Tahoma" panose="020B0604030504040204" pitchFamily="34" charset="0"/>
              </a:rPr>
              <a:t>  </a:t>
            </a:r>
            <a:r>
              <a:rPr lang="zh-CN" altLang="en-US" sz="1400" b="1">
                <a:solidFill>
                  <a:srgbClr val="000099"/>
                </a:solidFill>
                <a:effectLst>
                  <a:outerShdw blurRad="38100" dist="38100" dir="2700000" algn="tl">
                    <a:srgbClr val="C0C0C0"/>
                  </a:outerShdw>
                </a:effectLst>
                <a:latin typeface="宋体" panose="02010600030101010101" pitchFamily="2" charset="-122"/>
                <a:ea typeface="宋体" panose="02010600030101010101" pitchFamily="2" charset="-122"/>
              </a:rPr>
              <a:t>■ </a:t>
            </a:r>
            <a:r>
              <a:rPr lang="zh-CN" altLang="en-US" sz="2800" b="1">
                <a:solidFill>
                  <a:srgbClr val="660033"/>
                </a:solidFill>
                <a:effectLst>
                  <a:outerShdw blurRad="38100" dist="38100" dir="2700000" algn="tl">
                    <a:srgbClr val="C0C0C0"/>
                  </a:outerShdw>
                </a:effectLst>
                <a:latin typeface="Tahoma" panose="020B0604030504040204" pitchFamily="34" charset="0"/>
              </a:rPr>
              <a:t>唯一性</a:t>
            </a:r>
          </a:p>
          <a:p>
            <a:pPr>
              <a:lnSpc>
                <a:spcPct val="125000"/>
              </a:lnSpc>
              <a:spcBef>
                <a:spcPct val="20000"/>
              </a:spcBef>
              <a:buClr>
                <a:schemeClr val="folHlink"/>
              </a:buClr>
              <a:buSzPct val="60000"/>
            </a:pPr>
            <a:r>
              <a:rPr lang="zh-CN" altLang="en-US" sz="1400" b="1">
                <a:solidFill>
                  <a:srgbClr val="000099"/>
                </a:solidFill>
                <a:effectLst>
                  <a:outerShdw blurRad="38100" dist="38100" dir="2700000" algn="tl">
                    <a:srgbClr val="C0C0C0"/>
                  </a:outerShdw>
                </a:effectLst>
                <a:latin typeface="宋体" panose="02010600030101010101" pitchFamily="2" charset="-122"/>
                <a:ea typeface="宋体" panose="02010600030101010101" pitchFamily="2" charset="-122"/>
              </a:rPr>
              <a:t>   </a:t>
            </a:r>
            <a:r>
              <a:rPr lang="zh-CN" altLang="en-US" sz="800" b="1">
                <a:solidFill>
                  <a:srgbClr val="000099"/>
                </a:solidFill>
                <a:effectLst>
                  <a:outerShdw blurRad="38100" dist="38100" dir="2700000" algn="tl">
                    <a:srgbClr val="C0C0C0"/>
                  </a:outerShdw>
                </a:effectLst>
                <a:latin typeface="宋体" panose="02010600030101010101" pitchFamily="2" charset="-122"/>
                <a:ea typeface="宋体" panose="02010600030101010101" pitchFamily="2" charset="-122"/>
              </a:rPr>
              <a:t> </a:t>
            </a:r>
            <a:r>
              <a:rPr lang="zh-CN" altLang="en-US" sz="1400" b="1">
                <a:solidFill>
                  <a:srgbClr val="000099"/>
                </a:solidFill>
                <a:effectLst>
                  <a:outerShdw blurRad="38100" dist="38100" dir="2700000" algn="tl">
                    <a:srgbClr val="C0C0C0"/>
                  </a:outerShdw>
                </a:effectLst>
                <a:latin typeface="宋体" panose="02010600030101010101" pitchFamily="2" charset="-122"/>
                <a:ea typeface="宋体" panose="02010600030101010101" pitchFamily="2" charset="-122"/>
              </a:rPr>
              <a:t>■</a:t>
            </a:r>
            <a:r>
              <a:rPr lang="zh-CN" altLang="en-US" sz="2800" b="1">
                <a:effectLst>
                  <a:outerShdw blurRad="38100" dist="38100" dir="2700000" algn="tl">
                    <a:srgbClr val="C0C0C0"/>
                  </a:outerShdw>
                </a:effectLst>
                <a:latin typeface="Tahoma" panose="020B0604030504040204" pitchFamily="34" charset="0"/>
              </a:rPr>
              <a:t> </a:t>
            </a:r>
            <a:r>
              <a:rPr lang="zh-CN" altLang="en-US" sz="2800" b="1">
                <a:solidFill>
                  <a:srgbClr val="660033"/>
                </a:solidFill>
                <a:effectLst>
                  <a:outerShdw blurRad="38100" dist="38100" dir="2700000" algn="tl">
                    <a:srgbClr val="C0C0C0"/>
                  </a:outerShdw>
                </a:effectLst>
                <a:latin typeface="Tahoma" panose="020B0604030504040204" pitchFamily="34" charset="0"/>
              </a:rPr>
              <a:t>非冗余性</a:t>
            </a:r>
          </a:p>
        </p:txBody>
      </p:sp>
      <p:graphicFrame>
        <p:nvGraphicFramePr>
          <p:cNvPr id="946181" name="表格 946180">
            <a:extLst>
              <a:ext uri="{FF2B5EF4-FFF2-40B4-BE49-F238E27FC236}">
                <a16:creationId xmlns:a16="http://schemas.microsoft.com/office/drawing/2014/main" id="{F1E882CD-22C1-4523-83D2-A0162FC01B84}"/>
              </a:ext>
            </a:extLst>
          </p:cNvPr>
          <p:cNvGraphicFramePr/>
          <p:nvPr/>
        </p:nvGraphicFramePr>
        <p:xfrm>
          <a:off x="3851275" y="3238500"/>
          <a:ext cx="4608513" cy="2422525"/>
        </p:xfrm>
        <a:graphic>
          <a:graphicData uri="http://schemas.openxmlformats.org/drawingml/2006/table">
            <a:tbl>
              <a:tblPr/>
              <a:tblGrid>
                <a:gridCol w="1368425">
                  <a:extLst>
                    <a:ext uri="{9D8B030D-6E8A-4147-A177-3AD203B41FA5}">
                      <a16:colId xmlns:a16="http://schemas.microsoft.com/office/drawing/2014/main" val="20000"/>
                    </a:ext>
                  </a:extLst>
                </a:gridCol>
                <a:gridCol w="1152525">
                  <a:extLst>
                    <a:ext uri="{9D8B030D-6E8A-4147-A177-3AD203B41FA5}">
                      <a16:colId xmlns:a16="http://schemas.microsoft.com/office/drawing/2014/main" val="20001"/>
                    </a:ext>
                  </a:extLst>
                </a:gridCol>
                <a:gridCol w="792163">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tblGrid>
              <a:tr h="350056">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1400" dirty="0">
                          <a:solidFill>
                            <a:srgbClr val="336600"/>
                          </a:solidFill>
                          <a:latin typeface="楷体_GB2312" pitchFamily="49" charset="-122"/>
                        </a:rPr>
                        <a:t>学号</a:t>
                      </a:r>
                    </a:p>
                  </a:txBody>
                  <a:tcPr marL="90000" marR="90000" marT="33835" marB="33835" anchor="ctr" anchorCtr="1">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1400" dirty="0">
                          <a:solidFill>
                            <a:srgbClr val="336600"/>
                          </a:solidFill>
                          <a:latin typeface="楷体_GB2312" pitchFamily="49" charset="-122"/>
                        </a:rPr>
                        <a:t>姓名</a:t>
                      </a:r>
                    </a:p>
                  </a:txBody>
                  <a:tcPr marL="90000" marR="90000" marT="33835" marB="33835"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400">
                          <a:latin typeface="Arial" panose="020B0604020202020204" pitchFamily="34" charset="0"/>
                        </a:rPr>
                        <a:t>…</a:t>
                      </a:r>
                      <a:endParaRPr lang="en-US" altLang="zh-CN" sz="1400">
                        <a:latin typeface="楷体_GB2312" pitchFamily="49" charset="-122"/>
                      </a:endParaRPr>
                    </a:p>
                  </a:txBody>
                  <a:tcPr marL="90000" marR="90000" marT="33835" marB="33835"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sm"/>
                      <a:tailEnd type="none" w="sm" len="sm"/>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1400" dirty="0"/>
                        <a:t>班级</a:t>
                      </a:r>
                    </a:p>
                  </a:txBody>
                  <a:tcPr marL="90000" marR="90000" marT="33835" marB="33835" anchor="ctr" anchorCtr="1">
                    <a:lnL w="12700" cap="flat" cmpd="sng">
                      <a:solidFill>
                        <a:schemeClr val="tx1"/>
                      </a:solidFill>
                      <a:prstDash val="solid"/>
                      <a:headEnd type="none" w="sm" len="sm"/>
                      <a:tailEnd type="none" w="sm" len="sm"/>
                    </a:lnL>
                    <a:lnR w="28575"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0"/>
                  </a:ext>
                </a:extLst>
              </a:tr>
              <a:tr h="574138">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400">
                          <a:latin typeface="楷体_GB2312" pitchFamily="49" charset="-122"/>
                        </a:rPr>
                        <a:t>200401001</a:t>
                      </a:r>
                    </a:p>
                  </a:txBody>
                  <a:tcPr marL="90000" marR="90000" marT="33835" marB="33835" anchor="ctr" anchorCtr="1">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400" dirty="0">
                          <a:latin typeface="楷体_GB2312" pitchFamily="49" charset="-122"/>
                        </a:rPr>
                        <a:t>张华</a:t>
                      </a:r>
                    </a:p>
                  </a:txBody>
                  <a:tcPr marL="90000" marR="90000" marT="33835" marB="33835"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400">
                          <a:latin typeface="Arial" panose="020B0604020202020204" pitchFamily="34" charset="0"/>
                        </a:rPr>
                        <a:t>…</a:t>
                      </a:r>
                      <a:endParaRPr lang="en-US" altLang="zh-CN" sz="1400">
                        <a:latin typeface="楷体_GB2312" pitchFamily="49" charset="-122"/>
                      </a:endParaRPr>
                    </a:p>
                  </a:txBody>
                  <a:tcPr marL="90000" marR="90000" marT="33835" marB="33835"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sm"/>
                      <a:tailEnd type="none" w="sm" len="sm"/>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400">
                          <a:latin typeface="楷体_GB2312" pitchFamily="49" charset="-122"/>
                        </a:rPr>
                        <a:t>200401</a:t>
                      </a:r>
                    </a:p>
                  </a:txBody>
                  <a:tcPr marL="90000" marR="90000" marT="33835" marB="33835" anchor="ctr" anchorCtr="1">
                    <a:lnL w="12700" cap="flat" cmpd="sng">
                      <a:solidFill>
                        <a:schemeClr val="tx1"/>
                      </a:solidFill>
                      <a:prstDash val="solid"/>
                      <a:headEnd type="none" w="sm" len="sm"/>
                      <a:tailEnd type="none" w="sm" len="sm"/>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1"/>
                  </a:ext>
                </a:extLst>
              </a:tr>
              <a:tr h="574138">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400">
                          <a:latin typeface="楷体_GB2312" pitchFamily="49" charset="-122"/>
                        </a:rPr>
                        <a:t>200401002</a:t>
                      </a:r>
                    </a:p>
                  </a:txBody>
                  <a:tcPr marL="90000" marR="90000" marT="33835" marB="33835" anchor="ctr" anchorCtr="1">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400" dirty="0">
                          <a:latin typeface="楷体_GB2312" pitchFamily="49" charset="-122"/>
                        </a:rPr>
                        <a:t>李建平</a:t>
                      </a:r>
                    </a:p>
                  </a:txBody>
                  <a:tcPr marL="90000" marR="90000" marT="33835" marB="33835"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400">
                          <a:latin typeface="Arial" panose="020B0604020202020204" pitchFamily="34" charset="0"/>
                        </a:rPr>
                        <a:t>…</a:t>
                      </a:r>
                      <a:endParaRPr lang="en-US" altLang="zh-CN" sz="1400">
                        <a:latin typeface="楷体_GB2312" pitchFamily="49" charset="-122"/>
                      </a:endParaRPr>
                    </a:p>
                  </a:txBody>
                  <a:tcPr marL="90000" marR="90000" marT="33835" marB="33835"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sm"/>
                      <a:tailEnd type="none" w="sm" len="sm"/>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400">
                          <a:latin typeface="楷体_GB2312" pitchFamily="49" charset="-122"/>
                        </a:rPr>
                        <a:t>200401</a:t>
                      </a:r>
                    </a:p>
                  </a:txBody>
                  <a:tcPr marL="90000" marR="90000" marT="33835" marB="33835" anchor="ctr" anchorCtr="1">
                    <a:lnL w="12700" cap="flat" cmpd="sng">
                      <a:solidFill>
                        <a:schemeClr val="tx1"/>
                      </a:solidFill>
                      <a:prstDash val="solid"/>
                      <a:headEnd type="none" w="sm" len="sm"/>
                      <a:tailEnd type="none" w="sm" len="sm"/>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2"/>
                  </a:ext>
                </a:extLst>
              </a:tr>
              <a:tr h="574138">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400">
                          <a:latin typeface="楷体_GB2312" pitchFamily="49" charset="-122"/>
                        </a:rPr>
                        <a:t>200401003</a:t>
                      </a:r>
                    </a:p>
                  </a:txBody>
                  <a:tcPr marL="90000" marR="90000" marT="33835" marB="33835" anchor="ctr" anchorCtr="1">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400" dirty="0">
                          <a:latin typeface="楷体_GB2312" pitchFamily="49" charset="-122"/>
                        </a:rPr>
                        <a:t>王丽丽</a:t>
                      </a:r>
                    </a:p>
                  </a:txBody>
                  <a:tcPr marL="90000" marR="90000" marT="33835" marB="33835"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400">
                          <a:latin typeface="Arial" panose="020B0604020202020204" pitchFamily="34" charset="0"/>
                        </a:rPr>
                        <a:t>…</a:t>
                      </a:r>
                      <a:endParaRPr lang="en-US" altLang="zh-CN" sz="1400">
                        <a:latin typeface="楷体_GB2312" pitchFamily="49" charset="-122"/>
                      </a:endParaRPr>
                    </a:p>
                  </a:txBody>
                  <a:tcPr marL="90000" marR="90000" marT="33835" marB="33835"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sm"/>
                      <a:tailEnd type="none" w="sm" len="sm"/>
                    </a:lnR>
                    <a:lnT w="12700" cap="flat" cmpd="sng">
                      <a:solidFill>
                        <a:schemeClr val="tx1"/>
                      </a:solidFill>
                      <a:prstDash val="solid"/>
                      <a:headEnd type="none" w="sm" len="lg"/>
                      <a:tailEnd type="none" w="sm" len="lg"/>
                    </a:lnT>
                    <a:lnB w="12700" cap="flat" cmpd="sng">
                      <a:solidFill>
                        <a:schemeClr val="tx1"/>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400">
                          <a:latin typeface="楷体_GB2312" pitchFamily="49" charset="-122"/>
                        </a:rPr>
                        <a:t>200401</a:t>
                      </a:r>
                    </a:p>
                  </a:txBody>
                  <a:tcPr marL="90000" marR="90000" marT="33835" marB="33835" anchor="ctr" anchorCtr="1">
                    <a:lnL w="12700" cap="flat" cmpd="sng">
                      <a:solidFill>
                        <a:schemeClr val="tx1"/>
                      </a:solidFill>
                      <a:prstDash val="solid"/>
                      <a:headEnd type="none" w="sm" len="sm"/>
                      <a:tailEnd type="none" w="sm" len="sm"/>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sm"/>
                      <a:tailEnd type="none" w="sm" len="sm"/>
                    </a:lnB>
                    <a:lnTlToBr>
                      <a:noFill/>
                    </a:lnTlToBr>
                    <a:lnBlToTr>
                      <a:noFill/>
                    </a:lnBlToTr>
                    <a:noFill/>
                  </a:tcPr>
                </a:tc>
                <a:extLst>
                  <a:ext uri="{0D108BD9-81ED-4DB2-BD59-A6C34878D82A}">
                    <a16:rowId xmlns:a16="http://schemas.microsoft.com/office/drawing/2014/main" val="10003"/>
                  </a:ext>
                </a:extLst>
              </a:tr>
              <a:tr h="350055">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1400">
                          <a:latin typeface="Arial" panose="020B0604020202020204" pitchFamily="34" charset="0"/>
                        </a:rPr>
                        <a:t>…</a:t>
                      </a:r>
                      <a:endParaRPr lang="zh-CN" altLang="en-US" sz="1400" dirty="0">
                        <a:latin typeface="楷体_GB2312" pitchFamily="49" charset="-122"/>
                      </a:endParaRPr>
                    </a:p>
                  </a:txBody>
                  <a:tcPr marL="90000" marR="90000" marT="33835" marB="33835" anchor="ctr" anchorCtr="1">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sm"/>
                      <a:tailEnd type="none" w="sm" len="sm"/>
                    </a:lnT>
                    <a:lnB w="28575"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1400">
                          <a:latin typeface="Arial" panose="020B0604020202020204" pitchFamily="34" charset="0"/>
                        </a:rPr>
                        <a:t>…</a:t>
                      </a:r>
                      <a:endParaRPr lang="zh-CN" altLang="en-US" sz="1400" dirty="0">
                        <a:latin typeface="楷体_GB2312" pitchFamily="49" charset="-122"/>
                      </a:endParaRPr>
                    </a:p>
                  </a:txBody>
                  <a:tcPr marL="90000" marR="90000" marT="33835" marB="33835"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sm"/>
                      <a:tailEnd type="none" w="sm" len="sm"/>
                    </a:lnT>
                    <a:lnB w="28575"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1400">
                          <a:latin typeface="Arial" panose="020B0604020202020204" pitchFamily="34" charset="0"/>
                        </a:rPr>
                        <a:t>…</a:t>
                      </a:r>
                      <a:endParaRPr lang="zh-CN" altLang="en-US" sz="1400" dirty="0">
                        <a:latin typeface="楷体_GB2312" pitchFamily="49" charset="-122"/>
                      </a:endParaRPr>
                    </a:p>
                  </a:txBody>
                  <a:tcPr marL="90000" marR="90000" marT="33835" marB="33835"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sm"/>
                      <a:tailEnd type="none" w="sm" len="sm"/>
                    </a:lnR>
                    <a:lnT w="12700" cap="flat" cmpd="sng">
                      <a:solidFill>
                        <a:schemeClr val="tx1"/>
                      </a:solidFill>
                      <a:prstDash val="solid"/>
                      <a:headEnd type="none" w="sm" len="sm"/>
                      <a:tailEnd type="none" w="sm" len="sm"/>
                    </a:lnT>
                    <a:lnB w="28575"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en-US" altLang="zh-CN" sz="1400">
                          <a:latin typeface="Arial" panose="020B0604020202020204" pitchFamily="34" charset="0"/>
                        </a:rPr>
                        <a:t>…</a:t>
                      </a:r>
                      <a:endParaRPr lang="zh-CN" altLang="en-US" sz="1400" dirty="0">
                        <a:latin typeface="楷体_GB2312" pitchFamily="49" charset="-122"/>
                      </a:endParaRPr>
                    </a:p>
                  </a:txBody>
                  <a:tcPr marL="90000" marR="90000" marT="33835" marB="33835" anchor="ctr" anchorCtr="1">
                    <a:lnL w="12700" cap="flat" cmpd="sng">
                      <a:solidFill>
                        <a:schemeClr val="tx1"/>
                      </a:solidFill>
                      <a:prstDash val="solid"/>
                      <a:headEnd type="none" w="sm" len="sm"/>
                      <a:tailEnd type="none" w="sm" len="sm"/>
                    </a:lnL>
                    <a:lnR w="28575" cap="flat" cmpd="sng">
                      <a:solidFill>
                        <a:schemeClr val="tx1"/>
                      </a:solidFill>
                      <a:prstDash val="solid"/>
                      <a:headEnd type="none" w="sm" len="lg"/>
                      <a:tailEnd type="none" w="sm" len="lg"/>
                    </a:lnR>
                    <a:lnT w="12700" cap="flat" cmpd="sng">
                      <a:solidFill>
                        <a:schemeClr val="tx1"/>
                      </a:solidFill>
                      <a:prstDash val="solid"/>
                      <a:headEnd type="none" w="sm" len="sm"/>
                      <a:tailEnd type="none" w="sm" len="sm"/>
                    </a:lnT>
                    <a:lnB w="28575"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4"/>
                  </a:ext>
                </a:extLst>
              </a:tr>
            </a:tbl>
          </a:graphicData>
        </a:graphic>
      </p:graphicFrame>
      <p:sp>
        <p:nvSpPr>
          <p:cNvPr id="946213" name="文本框 946212">
            <a:extLst>
              <a:ext uri="{FF2B5EF4-FFF2-40B4-BE49-F238E27FC236}">
                <a16:creationId xmlns:a16="http://schemas.microsoft.com/office/drawing/2014/main" id="{8BC784CF-9497-4F28-8BF3-94C4D3B2E61A}"/>
              </a:ext>
            </a:extLst>
          </p:cNvPr>
          <p:cNvSpPr txBox="1">
            <a:spLocks noChangeArrowheads="1"/>
          </p:cNvSpPr>
          <p:nvPr/>
        </p:nvSpPr>
        <p:spPr bwMode="auto">
          <a:xfrm>
            <a:off x="3803650" y="2709863"/>
            <a:ext cx="2063750" cy="45720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r>
              <a:rPr lang="zh-CN" altLang="en-US" sz="2400" b="1">
                <a:solidFill>
                  <a:srgbClr val="0033CC"/>
                </a:solidFill>
                <a:latin typeface="楷体_GB2312" pitchFamily="49" charset="-122"/>
              </a:rPr>
              <a:t>学生关系</a:t>
            </a:r>
            <a:r>
              <a:rPr lang="en-US" altLang="zh-CN" sz="2400" b="1">
                <a:solidFill>
                  <a:srgbClr val="0033CC"/>
                </a:solidFill>
                <a:latin typeface="楷体_GB2312" pitchFamily="49" charset="-122"/>
              </a:rPr>
              <a:t>S</a:t>
            </a:r>
          </a:p>
        </p:txBody>
      </p:sp>
      <p:sp>
        <p:nvSpPr>
          <p:cNvPr id="946214" name="矩形 946213">
            <a:extLst>
              <a:ext uri="{FF2B5EF4-FFF2-40B4-BE49-F238E27FC236}">
                <a16:creationId xmlns:a16="http://schemas.microsoft.com/office/drawing/2014/main" id="{C40D9F4C-7384-4368-8D86-29A746685900}"/>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t>二、关系的键与关系的属性</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2649"/>
    </mc:Choice>
    <mc:Fallback xmlns="">
      <p:transition spd="slow" advTm="12649"/>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46180">
                                            <p:txEl>
                                              <p:pRg st="2" end="2"/>
                                            </p:txEl>
                                          </p:spTgt>
                                        </p:tgtEl>
                                        <p:attrNameLst>
                                          <p:attrName>style.visibility</p:attrName>
                                        </p:attrNameLst>
                                      </p:cBhvr>
                                      <p:to>
                                        <p:strVal val="visible"/>
                                      </p:to>
                                    </p:set>
                                    <p:animEffect transition="in" filter="wipe(left)">
                                      <p:cBhvr>
                                        <p:cTn id="7" dur="1000"/>
                                        <p:tgtEl>
                                          <p:spTgt spid="946180">
                                            <p:txEl>
                                              <p:pRg st="2" end="2"/>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946181"/>
                                        </p:tgtEl>
                                        <p:attrNameLst>
                                          <p:attrName>style.visibility</p:attrName>
                                        </p:attrNameLst>
                                      </p:cBhvr>
                                      <p:to>
                                        <p:strVal val="visible"/>
                                      </p:to>
                                    </p:set>
                                    <p:animEffect transition="in" filter="wipe(up)">
                                      <p:cBhvr>
                                        <p:cTn id="11" dur="500"/>
                                        <p:tgtEl>
                                          <p:spTgt spid="946181"/>
                                        </p:tgtEl>
                                      </p:cBhvr>
                                    </p:animEffect>
                                  </p:childTnLst>
                                </p:cTn>
                              </p:par>
                            </p:childTnLst>
                          </p:cTn>
                        </p:par>
                        <p:par>
                          <p:cTn id="12" fill="hold" nodeType="afterGroup">
                            <p:stCondLst>
                              <p:cond delay="1500"/>
                            </p:stCondLst>
                            <p:childTnLst>
                              <p:par>
                                <p:cTn id="13" presetID="22" presetClass="entr" presetSubtype="1" fill="hold" grpId="0" nodeType="afterEffect">
                                  <p:stCondLst>
                                    <p:cond delay="0"/>
                                  </p:stCondLst>
                                  <p:childTnLst>
                                    <p:set>
                                      <p:cBhvr>
                                        <p:cTn id="14" dur="1" fill="hold">
                                          <p:stCondLst>
                                            <p:cond delay="0"/>
                                          </p:stCondLst>
                                        </p:cTn>
                                        <p:tgtEl>
                                          <p:spTgt spid="946213"/>
                                        </p:tgtEl>
                                        <p:attrNameLst>
                                          <p:attrName>style.visibility</p:attrName>
                                        </p:attrNameLst>
                                      </p:cBhvr>
                                      <p:to>
                                        <p:strVal val="visible"/>
                                      </p:to>
                                    </p:set>
                                    <p:animEffect transition="in" filter="wipe(up)">
                                      <p:cBhvr>
                                        <p:cTn id="15" dur="500"/>
                                        <p:tgtEl>
                                          <p:spTgt spid="94621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946180">
                                            <p:txEl>
                                              <p:pRg st="3" end="3"/>
                                            </p:txEl>
                                          </p:spTgt>
                                        </p:tgtEl>
                                        <p:attrNameLst>
                                          <p:attrName>style.visibility</p:attrName>
                                        </p:attrNameLst>
                                      </p:cBhvr>
                                      <p:to>
                                        <p:strVal val="visible"/>
                                      </p:to>
                                    </p:set>
                                    <p:animEffect transition="in" filter="wipe(left)">
                                      <p:cBhvr>
                                        <p:cTn id="20" dur="500"/>
                                        <p:tgtEl>
                                          <p:spTgt spid="94618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621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1908" name="矩形 891907">
            <a:extLst>
              <a:ext uri="{FF2B5EF4-FFF2-40B4-BE49-F238E27FC236}">
                <a16:creationId xmlns:a16="http://schemas.microsoft.com/office/drawing/2014/main" id="{5D2F72C5-AC18-4066-BECD-AAA941C4D666}"/>
              </a:ext>
            </a:extLst>
          </p:cNvPr>
          <p:cNvSpPr/>
          <p:nvPr/>
        </p:nvSpPr>
        <p:spPr>
          <a:xfrm>
            <a:off x="468313" y="1196975"/>
            <a:ext cx="8207375" cy="5338763"/>
          </a:xfrm>
          <a:prstGeom prst="rect">
            <a:avLst/>
          </a:prstGeom>
          <a:noFill/>
          <a:ln w="9525">
            <a:noFill/>
          </a:ln>
        </p:spPr>
        <p:txBody>
          <a:bodyPr/>
          <a:lstStyle>
            <a:lvl1pPr marL="342900" indent="-342900">
              <a:defRPr>
                <a:solidFill>
                  <a:schemeClr val="tx1"/>
                </a:solidFill>
                <a:latin typeface="Arial" panose="020B0604020202020204" pitchFamily="34" charset="0"/>
                <a:ea typeface="楷体_GB2312" pitchFamily="49" charset="-122"/>
              </a:defRPr>
            </a:lvl1pPr>
            <a:lvl2pPr>
              <a:defRPr>
                <a:solidFill>
                  <a:schemeClr val="tx1"/>
                </a:solidFill>
                <a:latin typeface="Arial" panose="020B0604020202020204" pitchFamily="34" charset="0"/>
                <a:ea typeface="楷体_GB2312" pitchFamily="49" charset="-122"/>
              </a:defRPr>
            </a:lvl2pPr>
            <a:lvl3pPr>
              <a:defRPr>
                <a:solidFill>
                  <a:schemeClr val="tx1"/>
                </a:solidFill>
                <a:latin typeface="Arial" panose="020B0604020202020204" pitchFamily="34" charset="0"/>
                <a:ea typeface="楷体_GB2312" pitchFamily="49" charset="-122"/>
              </a:defRPr>
            </a:lvl3pPr>
            <a:lvl4pPr>
              <a:defRPr>
                <a:solidFill>
                  <a:schemeClr val="tx1"/>
                </a:solidFill>
                <a:latin typeface="Arial" panose="020B0604020202020204" pitchFamily="34" charset="0"/>
                <a:ea typeface="楷体_GB2312" pitchFamily="49" charset="-122"/>
              </a:defRPr>
            </a:lvl4pPr>
            <a:lvl5pPr>
              <a:defRPr>
                <a:solidFill>
                  <a:schemeClr val="tx1"/>
                </a:solidFill>
                <a:latin typeface="Arial" panose="020B0604020202020204" pitchFamily="34" charset="0"/>
                <a:ea typeface="楷体_GB2312" pitchFamily="49" charset="-122"/>
              </a:defRPr>
            </a:lvl5pPr>
            <a:lvl6pPr fontAlgn="base">
              <a:spcBef>
                <a:spcPct val="0"/>
              </a:spcBef>
              <a:spcAft>
                <a:spcPct val="0"/>
              </a:spcAft>
              <a:defRPr>
                <a:solidFill>
                  <a:schemeClr val="tx1"/>
                </a:solidFill>
                <a:latin typeface="Arial" panose="020B0604020202020204" pitchFamily="34" charset="0"/>
                <a:ea typeface="楷体_GB2312" pitchFamily="49" charset="-122"/>
              </a:defRPr>
            </a:lvl6pPr>
            <a:lvl7pPr fontAlgn="base">
              <a:spcBef>
                <a:spcPct val="0"/>
              </a:spcBef>
              <a:spcAft>
                <a:spcPct val="0"/>
              </a:spcAft>
              <a:defRPr>
                <a:solidFill>
                  <a:schemeClr val="tx1"/>
                </a:solidFill>
                <a:latin typeface="Arial" panose="020B0604020202020204" pitchFamily="34" charset="0"/>
                <a:ea typeface="楷体_GB2312" pitchFamily="49" charset="-122"/>
              </a:defRPr>
            </a:lvl7pPr>
            <a:lvl8pPr fontAlgn="base">
              <a:spcBef>
                <a:spcPct val="0"/>
              </a:spcBef>
              <a:spcAft>
                <a:spcPct val="0"/>
              </a:spcAft>
              <a:defRPr>
                <a:solidFill>
                  <a:schemeClr val="tx1"/>
                </a:solidFill>
                <a:latin typeface="Arial" panose="020B0604020202020204" pitchFamily="34" charset="0"/>
                <a:ea typeface="楷体_GB2312" pitchFamily="49" charset="-122"/>
              </a:defRPr>
            </a:lvl8pPr>
            <a:lvl9pPr fontAlgn="base">
              <a:spcBef>
                <a:spcPct val="0"/>
              </a:spcBef>
              <a:spcAft>
                <a:spcPct val="0"/>
              </a:spcAft>
              <a:defRPr>
                <a:solidFill>
                  <a:schemeClr val="tx1"/>
                </a:solidFill>
                <a:latin typeface="Arial" panose="020B0604020202020204" pitchFamily="34" charset="0"/>
                <a:ea typeface="楷体_GB2312" pitchFamily="49" charset="-122"/>
              </a:defRPr>
            </a:lvl9pPr>
          </a:lstStyle>
          <a:p>
            <a:pPr>
              <a:lnSpc>
                <a:spcPct val="120000"/>
              </a:lnSpc>
              <a:spcBef>
                <a:spcPct val="20000"/>
              </a:spcBef>
              <a:buClr>
                <a:schemeClr val="folHlink"/>
              </a:buClr>
              <a:buSzPct val="60000"/>
            </a:pPr>
            <a:r>
              <a:rPr lang="en-US" altLang="zh-CN" sz="2800" b="1">
                <a:effectLst>
                  <a:outerShdw blurRad="38100" dist="38100" dir="2700000" algn="tl">
                    <a:srgbClr val="C0C0C0"/>
                  </a:outerShdw>
                </a:effectLst>
                <a:latin typeface="Tahoma" panose="020B0604030504040204" pitchFamily="34" charset="0"/>
              </a:rPr>
              <a:t>          </a:t>
            </a:r>
            <a:r>
              <a:rPr lang="en-US" altLang="zh-CN" sz="30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2</a:t>
            </a:r>
            <a:r>
              <a:rPr lang="zh-CN" altLang="en-US" sz="30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、主键</a:t>
            </a:r>
          </a:p>
          <a:p>
            <a:pPr>
              <a:lnSpc>
                <a:spcPct val="120000"/>
              </a:lnSpc>
              <a:spcBef>
                <a:spcPct val="20000"/>
              </a:spcBef>
              <a:buClr>
                <a:schemeClr val="folHlink"/>
              </a:buClr>
              <a:buSzPct val="60000"/>
            </a:pPr>
            <a:r>
              <a:rPr lang="zh-CN" altLang="en-US" sz="3000" b="1">
                <a:effectLst>
                  <a:outerShdw blurRad="38100" dist="38100" dir="2700000" algn="tl">
                    <a:srgbClr val="C0C0C0"/>
                  </a:outerShdw>
                </a:effectLst>
                <a:latin typeface="Tahoma" panose="020B0604030504040204" pitchFamily="34" charset="0"/>
                <a:ea typeface="华文新魏" panose="02010800040101010101" pitchFamily="2" charset="-122"/>
              </a:rPr>
              <a:t>         用户选定的那个</a:t>
            </a:r>
            <a:r>
              <a:rPr lang="zh-CN" altLang="en-US" sz="2800" b="1">
                <a:effectLst>
                  <a:outerShdw blurRad="38100" dist="38100" dir="2700000" algn="tl">
                    <a:srgbClr val="C0C0C0"/>
                  </a:outerShdw>
                </a:effectLst>
                <a:latin typeface="Tahoma" panose="020B0604030504040204" pitchFamily="34" charset="0"/>
              </a:rPr>
              <a:t>候选键。 </a:t>
            </a:r>
          </a:p>
          <a:p>
            <a:pPr>
              <a:lnSpc>
                <a:spcPct val="125000"/>
              </a:lnSpc>
              <a:spcBef>
                <a:spcPct val="20000"/>
              </a:spcBef>
              <a:buClr>
                <a:schemeClr val="folHlink"/>
              </a:buClr>
              <a:buSzPct val="60000"/>
            </a:pPr>
            <a:r>
              <a:rPr lang="zh-CN" altLang="en-US" sz="2800" b="1">
                <a:solidFill>
                  <a:srgbClr val="660033"/>
                </a:solidFill>
                <a:effectLst>
                  <a:outerShdw blurRad="38100" dist="38100" dir="2700000" algn="tl">
                    <a:srgbClr val="C0C0C0"/>
                  </a:outerShdw>
                </a:effectLst>
                <a:latin typeface="Tahoma" panose="020B0604030504040204" pitchFamily="34" charset="0"/>
              </a:rPr>
              <a:t> </a:t>
            </a:r>
            <a:r>
              <a:rPr lang="zh-CN" altLang="en-US" sz="3000" b="1">
                <a:solidFill>
                  <a:srgbClr val="660033"/>
                </a:solidFill>
                <a:effectLst>
                  <a:outerShdw blurRad="38100" dist="38100" dir="2700000" algn="tl">
                    <a:srgbClr val="C0C0C0"/>
                  </a:outerShdw>
                </a:effectLst>
                <a:latin typeface="Tahoma" panose="020B0604030504040204" pitchFamily="34" charset="0"/>
              </a:rPr>
              <a:t>  </a:t>
            </a:r>
            <a:r>
              <a:rPr lang="zh-CN" altLang="en-US" sz="1400" b="1">
                <a:solidFill>
                  <a:srgbClr val="000099"/>
                </a:solidFill>
                <a:effectLst>
                  <a:outerShdw blurRad="38100" dist="38100" dir="2700000" algn="tl">
                    <a:srgbClr val="C0C0C0"/>
                  </a:outerShdw>
                </a:effectLst>
                <a:latin typeface="宋体" panose="02010600030101010101" pitchFamily="2" charset="-122"/>
                <a:ea typeface="宋体" panose="02010600030101010101" pitchFamily="2" charset="-122"/>
              </a:rPr>
              <a:t>■ </a:t>
            </a:r>
            <a:r>
              <a:rPr lang="zh-CN" altLang="en-US" sz="2800" b="1">
                <a:solidFill>
                  <a:srgbClr val="660033"/>
                </a:solidFill>
                <a:effectLst>
                  <a:outerShdw blurRad="38100" dist="38100" dir="2700000" algn="tl">
                    <a:srgbClr val="C0C0C0"/>
                  </a:outerShdw>
                </a:effectLst>
                <a:latin typeface="Tahoma" panose="020B0604030504040204" pitchFamily="34" charset="0"/>
              </a:rPr>
              <a:t>唯一性</a:t>
            </a:r>
          </a:p>
          <a:p>
            <a:pPr>
              <a:lnSpc>
                <a:spcPct val="125000"/>
              </a:lnSpc>
              <a:spcBef>
                <a:spcPct val="20000"/>
              </a:spcBef>
              <a:buClr>
                <a:schemeClr val="folHlink"/>
              </a:buClr>
              <a:buSzPct val="60000"/>
            </a:pPr>
            <a:r>
              <a:rPr lang="zh-CN" altLang="en-US" sz="1400" b="1">
                <a:solidFill>
                  <a:srgbClr val="000099"/>
                </a:solidFill>
                <a:effectLst>
                  <a:outerShdw blurRad="38100" dist="38100" dir="2700000" algn="tl">
                    <a:srgbClr val="C0C0C0"/>
                  </a:outerShdw>
                </a:effectLst>
                <a:latin typeface="宋体" panose="02010600030101010101" pitchFamily="2" charset="-122"/>
                <a:ea typeface="宋体" panose="02010600030101010101" pitchFamily="2" charset="-122"/>
              </a:rPr>
              <a:t>   </a:t>
            </a:r>
            <a:r>
              <a:rPr lang="zh-CN" altLang="en-US" sz="800" b="1">
                <a:solidFill>
                  <a:srgbClr val="000099"/>
                </a:solidFill>
                <a:effectLst>
                  <a:outerShdw blurRad="38100" dist="38100" dir="2700000" algn="tl">
                    <a:srgbClr val="C0C0C0"/>
                  </a:outerShdw>
                </a:effectLst>
                <a:latin typeface="宋体" panose="02010600030101010101" pitchFamily="2" charset="-122"/>
                <a:ea typeface="宋体" panose="02010600030101010101" pitchFamily="2" charset="-122"/>
              </a:rPr>
              <a:t> </a:t>
            </a:r>
            <a:r>
              <a:rPr lang="zh-CN" altLang="en-US" sz="1400" b="1">
                <a:solidFill>
                  <a:srgbClr val="000099"/>
                </a:solidFill>
                <a:effectLst>
                  <a:outerShdw blurRad="38100" dist="38100" dir="2700000" algn="tl">
                    <a:srgbClr val="C0C0C0"/>
                  </a:outerShdw>
                </a:effectLst>
                <a:latin typeface="宋体" panose="02010600030101010101" pitchFamily="2" charset="-122"/>
                <a:ea typeface="宋体" panose="02010600030101010101" pitchFamily="2" charset="-122"/>
              </a:rPr>
              <a:t>■</a:t>
            </a:r>
            <a:r>
              <a:rPr lang="zh-CN" altLang="en-US" sz="2800" b="1">
                <a:effectLst>
                  <a:outerShdw blurRad="38100" dist="38100" dir="2700000" algn="tl">
                    <a:srgbClr val="C0C0C0"/>
                  </a:outerShdw>
                </a:effectLst>
                <a:latin typeface="Tahoma" panose="020B0604030504040204" pitchFamily="34" charset="0"/>
              </a:rPr>
              <a:t> </a:t>
            </a:r>
            <a:r>
              <a:rPr lang="zh-CN" altLang="en-US" sz="2800" b="1">
                <a:solidFill>
                  <a:srgbClr val="660033"/>
                </a:solidFill>
                <a:effectLst>
                  <a:outerShdw blurRad="38100" dist="38100" dir="2700000" algn="tl">
                    <a:srgbClr val="C0C0C0"/>
                  </a:outerShdw>
                </a:effectLst>
                <a:latin typeface="Tahoma" panose="020B0604030504040204" pitchFamily="34" charset="0"/>
              </a:rPr>
              <a:t>非冗余性</a:t>
            </a:r>
          </a:p>
          <a:p>
            <a:pPr>
              <a:lnSpc>
                <a:spcPct val="125000"/>
              </a:lnSpc>
              <a:spcBef>
                <a:spcPct val="20000"/>
              </a:spcBef>
              <a:buClr>
                <a:schemeClr val="folHlink"/>
              </a:buClr>
              <a:buSzPct val="60000"/>
            </a:pPr>
            <a:r>
              <a:rPr lang="zh-CN" altLang="en-US" sz="1400" b="1">
                <a:solidFill>
                  <a:srgbClr val="000099"/>
                </a:solidFill>
                <a:effectLst>
                  <a:outerShdw blurRad="38100" dist="38100" dir="2700000" algn="tl">
                    <a:srgbClr val="C0C0C0"/>
                  </a:outerShdw>
                </a:effectLst>
                <a:latin typeface="宋体" panose="02010600030101010101" pitchFamily="2" charset="-122"/>
                <a:ea typeface="宋体" panose="02010600030101010101" pitchFamily="2" charset="-122"/>
              </a:rPr>
              <a:t>  </a:t>
            </a:r>
            <a:r>
              <a:rPr lang="zh-CN" altLang="en-US" sz="1200" b="1">
                <a:solidFill>
                  <a:srgbClr val="000099"/>
                </a:solidFill>
                <a:effectLst>
                  <a:outerShdw blurRad="38100" dist="38100" dir="2700000" algn="tl">
                    <a:srgbClr val="C0C0C0"/>
                  </a:outerShdw>
                </a:effectLst>
                <a:latin typeface="宋体" panose="02010600030101010101" pitchFamily="2" charset="-122"/>
                <a:ea typeface="宋体" panose="02010600030101010101" pitchFamily="2" charset="-122"/>
              </a:rPr>
              <a:t>  </a:t>
            </a:r>
            <a:r>
              <a:rPr lang="zh-CN" altLang="en-US" sz="1400" b="1">
                <a:solidFill>
                  <a:srgbClr val="000099"/>
                </a:solidFill>
                <a:effectLst>
                  <a:outerShdw blurRad="38100" dist="38100" dir="2700000" algn="tl">
                    <a:srgbClr val="C0C0C0"/>
                  </a:outerShdw>
                </a:effectLst>
                <a:latin typeface="宋体" panose="02010600030101010101" pitchFamily="2" charset="-122"/>
                <a:ea typeface="宋体" panose="02010600030101010101" pitchFamily="2" charset="-122"/>
              </a:rPr>
              <a:t>■ </a:t>
            </a:r>
            <a:r>
              <a:rPr lang="zh-CN" altLang="en-US" sz="2800" b="1">
                <a:solidFill>
                  <a:srgbClr val="660033"/>
                </a:solidFill>
                <a:effectLst>
                  <a:outerShdw blurRad="38100" dist="38100" dir="2700000" algn="tl">
                    <a:srgbClr val="C0C0C0"/>
                  </a:outerShdw>
                </a:effectLst>
                <a:latin typeface="Tahoma" panose="020B0604030504040204" pitchFamily="34" charset="0"/>
              </a:rPr>
              <a:t>有效性</a:t>
            </a:r>
          </a:p>
        </p:txBody>
      </p:sp>
      <p:graphicFrame>
        <p:nvGraphicFramePr>
          <p:cNvPr id="891944" name="表格 891943">
            <a:extLst>
              <a:ext uri="{FF2B5EF4-FFF2-40B4-BE49-F238E27FC236}">
                <a16:creationId xmlns:a16="http://schemas.microsoft.com/office/drawing/2014/main" id="{E48EB6ED-7A65-49FD-8C03-C56DD9B32389}"/>
              </a:ext>
            </a:extLst>
          </p:cNvPr>
          <p:cNvGraphicFramePr/>
          <p:nvPr/>
        </p:nvGraphicFramePr>
        <p:xfrm>
          <a:off x="3900488" y="3082925"/>
          <a:ext cx="3887788" cy="2663826"/>
        </p:xfrm>
        <a:graphic>
          <a:graphicData uri="http://schemas.openxmlformats.org/drawingml/2006/table">
            <a:tbl>
              <a:tblPr/>
              <a:tblGrid>
                <a:gridCol w="1616075">
                  <a:extLst>
                    <a:ext uri="{9D8B030D-6E8A-4147-A177-3AD203B41FA5}">
                      <a16:colId xmlns:a16="http://schemas.microsoft.com/office/drawing/2014/main" val="20000"/>
                    </a:ext>
                  </a:extLst>
                </a:gridCol>
                <a:gridCol w="1325563">
                  <a:extLst>
                    <a:ext uri="{9D8B030D-6E8A-4147-A177-3AD203B41FA5}">
                      <a16:colId xmlns:a16="http://schemas.microsoft.com/office/drawing/2014/main" val="20001"/>
                    </a:ext>
                  </a:extLst>
                </a:gridCol>
                <a:gridCol w="946150">
                  <a:extLst>
                    <a:ext uri="{9D8B030D-6E8A-4147-A177-3AD203B41FA5}">
                      <a16:colId xmlns:a16="http://schemas.microsoft.com/office/drawing/2014/main" val="20002"/>
                    </a:ext>
                  </a:extLst>
                </a:gridCol>
              </a:tblGrid>
              <a:tr h="331006">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1500" dirty="0">
                          <a:solidFill>
                            <a:srgbClr val="336600"/>
                          </a:solidFill>
                          <a:latin typeface="楷体_GB2312" pitchFamily="49" charset="-122"/>
                        </a:rPr>
                        <a:t>学号</a:t>
                      </a:r>
                    </a:p>
                  </a:txBody>
                  <a:tcPr marL="90000" marR="90000" marT="29216" marB="29216" anchor="ctr" anchorCtr="1">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1500" dirty="0">
                          <a:solidFill>
                            <a:srgbClr val="336600"/>
                          </a:solidFill>
                          <a:latin typeface="楷体_GB2312" pitchFamily="49" charset="-122"/>
                        </a:rPr>
                        <a:t>课程号</a:t>
                      </a:r>
                    </a:p>
                  </a:txBody>
                  <a:tcPr marL="90000" marR="90000" marT="29216" marB="29216"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1500" dirty="0">
                          <a:latin typeface="楷体_GB2312" pitchFamily="49" charset="-122"/>
                        </a:rPr>
                        <a:t>分数</a:t>
                      </a:r>
                    </a:p>
                  </a:txBody>
                  <a:tcPr marL="90000" marR="90000" marT="29216" marB="29216" anchor="ctr" anchorCtr="1">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0"/>
                  </a:ext>
                </a:extLst>
              </a:tr>
              <a:tr h="583205">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500">
                          <a:latin typeface="楷体_GB2312" pitchFamily="49" charset="-122"/>
                        </a:rPr>
                        <a:t>200401001</a:t>
                      </a:r>
                    </a:p>
                  </a:txBody>
                  <a:tcPr marL="90000" marR="90000" marT="29216" marB="29216" anchor="ctr" anchorCtr="1">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500">
                          <a:latin typeface="楷体_GB2312" pitchFamily="49" charset="-122"/>
                        </a:rPr>
                        <a:t>C401001</a:t>
                      </a:r>
                    </a:p>
                  </a:txBody>
                  <a:tcPr marL="90000" marR="90000" marT="29216" marB="29216"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sm"/>
                      <a:tailEnd type="none" w="sm" len="sm"/>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500">
                          <a:latin typeface="楷体_GB2312" pitchFamily="49" charset="-122"/>
                        </a:rPr>
                        <a:t>90</a:t>
                      </a:r>
                    </a:p>
                  </a:txBody>
                  <a:tcPr marL="90000" marR="90000" marT="29216" marB="29216" anchor="ctr" anchorCtr="1">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sm"/>
                      <a:tailEnd type="none" w="sm" len="sm"/>
                    </a:lnB>
                    <a:lnTlToBr>
                      <a:noFill/>
                    </a:lnTlToBr>
                    <a:lnBlToTr>
                      <a:noFill/>
                    </a:lnBlToTr>
                    <a:noFill/>
                  </a:tcPr>
                </a:tc>
                <a:extLst>
                  <a:ext uri="{0D108BD9-81ED-4DB2-BD59-A6C34878D82A}">
                    <a16:rowId xmlns:a16="http://schemas.microsoft.com/office/drawing/2014/main" val="10001"/>
                  </a:ext>
                </a:extLst>
              </a:tr>
              <a:tr h="583205">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500">
                          <a:latin typeface="楷体_GB2312" pitchFamily="49" charset="-122"/>
                        </a:rPr>
                        <a:t>200401001</a:t>
                      </a:r>
                    </a:p>
                  </a:txBody>
                  <a:tcPr marL="90000" marR="90000" marT="29216" marB="29216" anchor="ctr" anchorCtr="1">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sm"/>
                      <a:tailEnd type="none" w="sm" len="sm"/>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500">
                          <a:latin typeface="楷体_GB2312" pitchFamily="49" charset="-122"/>
                        </a:rPr>
                        <a:t>C402002</a:t>
                      </a:r>
                    </a:p>
                  </a:txBody>
                  <a:tcPr marL="90000" marR="90000" marT="29216" marB="29216"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sm"/>
                      <a:tailEnd type="none" w="sm" len="sm"/>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500">
                          <a:latin typeface="楷体_GB2312" pitchFamily="49" charset="-122"/>
                        </a:rPr>
                        <a:t>70</a:t>
                      </a:r>
                    </a:p>
                  </a:txBody>
                  <a:tcPr marL="90000" marR="90000" marT="29216" marB="29216" anchor="ctr" anchorCtr="1">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sm"/>
                      <a:tailEnd type="none" w="sm" len="sm"/>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2"/>
                  </a:ext>
                </a:extLst>
              </a:tr>
              <a:tr h="583205">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500">
                          <a:latin typeface="楷体_GB2312" pitchFamily="49" charset="-122"/>
                        </a:rPr>
                        <a:t>200401002</a:t>
                      </a:r>
                    </a:p>
                  </a:txBody>
                  <a:tcPr marL="90000" marR="90000" marT="29216" marB="29216" anchor="ctr" anchorCtr="1">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500">
                          <a:latin typeface="楷体_GB2312" pitchFamily="49" charset="-122"/>
                        </a:rPr>
                        <a:t>C401001</a:t>
                      </a:r>
                    </a:p>
                  </a:txBody>
                  <a:tcPr marL="90000" marR="90000" marT="29216" marB="29216"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500">
                          <a:latin typeface="楷体_GB2312" pitchFamily="49" charset="-122"/>
                        </a:rPr>
                        <a:t>75</a:t>
                      </a:r>
                    </a:p>
                  </a:txBody>
                  <a:tcPr marL="90000" marR="90000" marT="29216" marB="29216" anchor="ctr" anchorCtr="1">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3"/>
                  </a:ext>
                </a:extLst>
              </a:tr>
              <a:tr h="583205">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500">
                          <a:latin typeface="楷体_GB2312" pitchFamily="49" charset="-122"/>
                        </a:rPr>
                        <a:t>200401002</a:t>
                      </a:r>
                    </a:p>
                  </a:txBody>
                  <a:tcPr marL="90000" marR="90000" marT="29216" marB="29216" anchor="ctr" anchorCtr="1">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500">
                          <a:latin typeface="楷体_GB2312" pitchFamily="49" charset="-122"/>
                        </a:rPr>
                        <a:t>C402002</a:t>
                      </a:r>
                    </a:p>
                  </a:txBody>
                  <a:tcPr marL="90000" marR="90000" marT="29216" marB="29216"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500">
                          <a:latin typeface="楷体_GB2312" pitchFamily="49" charset="-122"/>
                        </a:rPr>
                        <a:t>80</a:t>
                      </a:r>
                    </a:p>
                  </a:txBody>
                  <a:tcPr marL="90000" marR="90000" marT="29216" marB="29216" anchor="ctr" anchorCtr="1">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4"/>
                  </a:ext>
                </a:extLst>
              </a:tr>
            </a:tbl>
          </a:graphicData>
        </a:graphic>
      </p:graphicFrame>
      <p:sp>
        <p:nvSpPr>
          <p:cNvPr id="49180" name="文本框 891942">
            <a:extLst>
              <a:ext uri="{FF2B5EF4-FFF2-40B4-BE49-F238E27FC236}">
                <a16:creationId xmlns:a16="http://schemas.microsoft.com/office/drawing/2014/main" id="{7F8E6B03-AC2B-432C-8734-BF98337A6C55}"/>
              </a:ext>
            </a:extLst>
          </p:cNvPr>
          <p:cNvSpPr txBox="1">
            <a:spLocks noChangeArrowheads="1"/>
          </p:cNvSpPr>
          <p:nvPr/>
        </p:nvSpPr>
        <p:spPr bwMode="auto">
          <a:xfrm>
            <a:off x="3708400" y="2652713"/>
            <a:ext cx="2063750" cy="45720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r>
              <a:rPr lang="zh-CN" altLang="en-US" sz="2400" b="1">
                <a:solidFill>
                  <a:srgbClr val="0033CC"/>
                </a:solidFill>
                <a:latin typeface="楷体_GB2312" pitchFamily="49" charset="-122"/>
              </a:rPr>
              <a:t>学习关系</a:t>
            </a:r>
            <a:r>
              <a:rPr lang="en-US" altLang="zh-CN" sz="2400" b="1">
                <a:solidFill>
                  <a:srgbClr val="0033CC"/>
                </a:solidFill>
                <a:latin typeface="楷体_GB2312" pitchFamily="49" charset="-122"/>
              </a:rPr>
              <a:t>SC</a:t>
            </a:r>
          </a:p>
        </p:txBody>
      </p:sp>
      <p:sp>
        <p:nvSpPr>
          <p:cNvPr id="891970" name="矩形 891969">
            <a:extLst>
              <a:ext uri="{FF2B5EF4-FFF2-40B4-BE49-F238E27FC236}">
                <a16:creationId xmlns:a16="http://schemas.microsoft.com/office/drawing/2014/main" id="{619BA9E7-3CBA-4804-A053-0461B04E358C}"/>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t>二、关系的键与关系的属性</a:t>
            </a:r>
          </a:p>
        </p:txBody>
      </p:sp>
    </p:spTree>
  </p:cSld>
  <p:clrMapOvr>
    <a:masterClrMapping/>
  </p:clrMapOvr>
  <mc:AlternateContent xmlns:mc="http://schemas.openxmlformats.org/markup-compatibility/2006" xmlns:p14="http://schemas.microsoft.com/office/powerpoint/2010/main">
    <mc:Choice Requires="p14">
      <p:transition spd="slow" p14:dur="2000" advTm="37607"/>
    </mc:Choice>
    <mc:Fallback xmlns="">
      <p:transition spd="slow" advTm="37607"/>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91908">
                                            <p:txEl>
                                              <p:pRg st="4" end="4"/>
                                            </p:txEl>
                                          </p:spTgt>
                                        </p:tgtEl>
                                        <p:attrNameLst>
                                          <p:attrName>style.visibility</p:attrName>
                                        </p:attrNameLst>
                                      </p:cBhvr>
                                      <p:to>
                                        <p:strVal val="visible"/>
                                      </p:to>
                                    </p:set>
                                    <p:animEffect transition="in" filter="wipe(left)">
                                      <p:cBhvr>
                                        <p:cTn id="7" dur="2000"/>
                                        <p:tgtEl>
                                          <p:spTgt spid="89190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37636" name="表格 837635">
            <a:extLst>
              <a:ext uri="{FF2B5EF4-FFF2-40B4-BE49-F238E27FC236}">
                <a16:creationId xmlns:a16="http://schemas.microsoft.com/office/drawing/2014/main" id="{1E166832-9E67-46B6-8C31-6279C181F2E1}"/>
              </a:ext>
            </a:extLst>
          </p:cNvPr>
          <p:cNvGraphicFramePr/>
          <p:nvPr/>
        </p:nvGraphicFramePr>
        <p:xfrm>
          <a:off x="395288" y="3700463"/>
          <a:ext cx="3887788" cy="2130424"/>
        </p:xfrm>
        <a:graphic>
          <a:graphicData uri="http://schemas.openxmlformats.org/drawingml/2006/table">
            <a:tbl>
              <a:tblPr/>
              <a:tblGrid>
                <a:gridCol w="1616075">
                  <a:extLst>
                    <a:ext uri="{9D8B030D-6E8A-4147-A177-3AD203B41FA5}">
                      <a16:colId xmlns:a16="http://schemas.microsoft.com/office/drawing/2014/main" val="20000"/>
                    </a:ext>
                  </a:extLst>
                </a:gridCol>
                <a:gridCol w="1325563">
                  <a:extLst>
                    <a:ext uri="{9D8B030D-6E8A-4147-A177-3AD203B41FA5}">
                      <a16:colId xmlns:a16="http://schemas.microsoft.com/office/drawing/2014/main" val="20001"/>
                    </a:ext>
                  </a:extLst>
                </a:gridCol>
                <a:gridCol w="946150">
                  <a:extLst>
                    <a:ext uri="{9D8B030D-6E8A-4147-A177-3AD203B41FA5}">
                      <a16:colId xmlns:a16="http://schemas.microsoft.com/office/drawing/2014/main" val="20002"/>
                    </a:ext>
                  </a:extLst>
                </a:gridCol>
              </a:tblGrid>
              <a:tr h="338929">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1500" dirty="0">
                          <a:latin typeface="楷体_GB2312" pitchFamily="49" charset="-122"/>
                        </a:rPr>
                        <a:t>学号</a:t>
                      </a:r>
                    </a:p>
                  </a:txBody>
                  <a:tcPr marL="90000" marR="90000" marT="29915" marB="29915" anchor="ctr" anchorCtr="1">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1500" dirty="0">
                          <a:solidFill>
                            <a:srgbClr val="CC00CC"/>
                          </a:solidFill>
                          <a:latin typeface="楷体_GB2312" pitchFamily="49" charset="-122"/>
                        </a:rPr>
                        <a:t>课程号</a:t>
                      </a:r>
                    </a:p>
                  </a:txBody>
                  <a:tcPr marL="90000" marR="90000" marT="29915" marB="29915"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1500" dirty="0">
                          <a:latin typeface="楷体_GB2312" pitchFamily="49" charset="-122"/>
                        </a:rPr>
                        <a:t>分数</a:t>
                      </a:r>
                    </a:p>
                  </a:txBody>
                  <a:tcPr marL="90000" marR="90000" marT="29915" marB="29915" anchor="ctr" anchorCtr="1">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0"/>
                  </a:ext>
                </a:extLst>
              </a:tr>
              <a:tr h="597165">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500">
                          <a:latin typeface="楷体_GB2312" pitchFamily="49" charset="-122"/>
                        </a:rPr>
                        <a:t>200401001</a:t>
                      </a:r>
                    </a:p>
                  </a:txBody>
                  <a:tcPr marL="90000" marR="90000" marT="29915" marB="29915" anchor="ctr" anchorCtr="1">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500">
                          <a:latin typeface="楷体_GB2312" pitchFamily="49" charset="-122"/>
                        </a:rPr>
                        <a:t>C401001</a:t>
                      </a:r>
                    </a:p>
                  </a:txBody>
                  <a:tcPr marL="90000" marR="90000" marT="29915" marB="29915"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500">
                          <a:latin typeface="楷体_GB2312" pitchFamily="49" charset="-122"/>
                        </a:rPr>
                        <a:t>90</a:t>
                      </a:r>
                    </a:p>
                  </a:txBody>
                  <a:tcPr marL="90000" marR="90000" marT="29915" marB="29915" anchor="ctr" anchorCtr="1">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1"/>
                  </a:ext>
                </a:extLst>
              </a:tr>
              <a:tr h="597165">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500">
                          <a:latin typeface="楷体_GB2312" pitchFamily="49" charset="-122"/>
                        </a:rPr>
                        <a:t>200401002</a:t>
                      </a:r>
                    </a:p>
                  </a:txBody>
                  <a:tcPr marL="90000" marR="90000" marT="29915" marB="29915" anchor="ctr" anchorCtr="1">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500">
                          <a:latin typeface="楷体_GB2312" pitchFamily="49" charset="-122"/>
                        </a:rPr>
                        <a:t>C401001</a:t>
                      </a:r>
                    </a:p>
                  </a:txBody>
                  <a:tcPr marL="90000" marR="90000" marT="29915" marB="29915"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500">
                          <a:latin typeface="楷体_GB2312" pitchFamily="49" charset="-122"/>
                        </a:rPr>
                        <a:t>75</a:t>
                      </a:r>
                    </a:p>
                  </a:txBody>
                  <a:tcPr marL="90000" marR="90000" marT="29915" marB="29915" anchor="ctr" anchorCtr="1">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2"/>
                  </a:ext>
                </a:extLst>
              </a:tr>
              <a:tr h="597165">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500">
                          <a:latin typeface="楷体_GB2312" pitchFamily="49" charset="-122"/>
                        </a:rPr>
                        <a:t>200401003</a:t>
                      </a:r>
                    </a:p>
                  </a:txBody>
                  <a:tcPr marL="90000" marR="90000" marT="29915" marB="29915" anchor="ctr" anchorCtr="1">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500">
                          <a:latin typeface="楷体_GB2312" pitchFamily="49" charset="-122"/>
                        </a:rPr>
                        <a:t>C402002</a:t>
                      </a:r>
                    </a:p>
                  </a:txBody>
                  <a:tcPr marL="90000" marR="90000" marT="29915" marB="29915"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500">
                          <a:latin typeface="楷体_GB2312" pitchFamily="49" charset="-122"/>
                        </a:rPr>
                        <a:t>69</a:t>
                      </a:r>
                    </a:p>
                  </a:txBody>
                  <a:tcPr marL="90000" marR="90000" marT="29915" marB="29915" anchor="ctr" anchorCtr="1">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837658" name="表格 837657">
            <a:extLst>
              <a:ext uri="{FF2B5EF4-FFF2-40B4-BE49-F238E27FC236}">
                <a16:creationId xmlns:a16="http://schemas.microsoft.com/office/drawing/2014/main" id="{BD3232F7-A3DC-4F3E-B67C-AB5C9865A24F}"/>
              </a:ext>
            </a:extLst>
          </p:cNvPr>
          <p:cNvGraphicFramePr/>
          <p:nvPr/>
        </p:nvGraphicFramePr>
        <p:xfrm>
          <a:off x="4678363" y="3714750"/>
          <a:ext cx="4140200" cy="2138362"/>
        </p:xfrm>
        <a:graphic>
          <a:graphicData uri="http://schemas.openxmlformats.org/drawingml/2006/table">
            <a:tbl>
              <a:tblPr/>
              <a:tblGrid>
                <a:gridCol w="1423988">
                  <a:extLst>
                    <a:ext uri="{9D8B030D-6E8A-4147-A177-3AD203B41FA5}">
                      <a16:colId xmlns:a16="http://schemas.microsoft.com/office/drawing/2014/main" val="20000"/>
                    </a:ext>
                  </a:extLst>
                </a:gridCol>
                <a:gridCol w="1819275">
                  <a:extLst>
                    <a:ext uri="{9D8B030D-6E8A-4147-A177-3AD203B41FA5}">
                      <a16:colId xmlns:a16="http://schemas.microsoft.com/office/drawing/2014/main" val="20001"/>
                    </a:ext>
                  </a:extLst>
                </a:gridCol>
                <a:gridCol w="896937">
                  <a:extLst>
                    <a:ext uri="{9D8B030D-6E8A-4147-A177-3AD203B41FA5}">
                      <a16:colId xmlns:a16="http://schemas.microsoft.com/office/drawing/2014/main" val="20002"/>
                    </a:ext>
                  </a:extLst>
                </a:gridCol>
              </a:tblGrid>
              <a:tr h="340192">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1500" dirty="0">
                          <a:solidFill>
                            <a:srgbClr val="66FF66"/>
                          </a:solidFill>
                          <a:latin typeface="楷体_GB2312" pitchFamily="49" charset="-122"/>
                        </a:rPr>
                        <a:t> </a:t>
                      </a:r>
                      <a:r>
                        <a:rPr lang="zh-CN" altLang="en-US" sz="1500" dirty="0">
                          <a:solidFill>
                            <a:srgbClr val="CC00CC"/>
                          </a:solidFill>
                          <a:latin typeface="楷体_GB2312" pitchFamily="49" charset="-122"/>
                        </a:rPr>
                        <a:t>课程号</a:t>
                      </a:r>
                    </a:p>
                  </a:txBody>
                  <a:tcPr marL="90000" marR="90000" marT="30027" marB="30027" anchor="ctr" anchorCtr="1">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500" dirty="0">
                          <a:latin typeface="楷体_GB2312" pitchFamily="49" charset="-122"/>
                        </a:rPr>
                        <a:t>课程名</a:t>
                      </a:r>
                    </a:p>
                  </a:txBody>
                  <a:tcPr marL="90000" marR="90000" marT="30027" marB="30027"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1500" dirty="0">
                          <a:latin typeface="楷体_GB2312" pitchFamily="49" charset="-122"/>
                        </a:rPr>
                        <a:t>学时</a:t>
                      </a:r>
                    </a:p>
                  </a:txBody>
                  <a:tcPr marL="90000" marR="90000" marT="30027" marB="30027" anchor="ctr" anchorCtr="1">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0"/>
                  </a:ext>
                </a:extLst>
              </a:tr>
              <a:tr h="599390">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500">
                          <a:latin typeface="楷体_GB2312" pitchFamily="49" charset="-122"/>
                        </a:rPr>
                        <a:t>C401001</a:t>
                      </a:r>
                    </a:p>
                  </a:txBody>
                  <a:tcPr marL="90000" marR="90000" marT="30027" marB="30027" anchor="ctr" anchorCtr="1">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500" dirty="0">
                          <a:latin typeface="楷体_GB2312" pitchFamily="49" charset="-122"/>
                        </a:rPr>
                        <a:t>数据结构</a:t>
                      </a:r>
                    </a:p>
                  </a:txBody>
                  <a:tcPr marL="90000" marR="90000" marT="30027" marB="30027"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500">
                          <a:latin typeface="楷体_GB2312" pitchFamily="49" charset="-122"/>
                        </a:rPr>
                        <a:t>70</a:t>
                      </a:r>
                    </a:p>
                  </a:txBody>
                  <a:tcPr marL="90000" marR="90000" marT="30027" marB="30027" anchor="ctr" anchorCtr="1">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1"/>
                  </a:ext>
                </a:extLst>
              </a:tr>
              <a:tr h="599390">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500">
                          <a:latin typeface="楷体_GB2312" pitchFamily="49" charset="-122"/>
                        </a:rPr>
                        <a:t>C401002</a:t>
                      </a:r>
                    </a:p>
                  </a:txBody>
                  <a:tcPr marL="90000" marR="90000" marT="30027" marB="30027" anchor="ctr" anchorCtr="1">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500" dirty="0">
                          <a:latin typeface="楷体_GB2312" pitchFamily="49" charset="-122"/>
                        </a:rPr>
                        <a:t>操作系统</a:t>
                      </a:r>
                    </a:p>
                  </a:txBody>
                  <a:tcPr marL="90000" marR="90000" marT="30027" marB="30027"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500">
                          <a:latin typeface="楷体_GB2312" pitchFamily="49" charset="-122"/>
                        </a:rPr>
                        <a:t>60</a:t>
                      </a:r>
                    </a:p>
                  </a:txBody>
                  <a:tcPr marL="90000" marR="90000" marT="30027" marB="30027" anchor="ctr" anchorCtr="1">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2"/>
                  </a:ext>
                </a:extLst>
              </a:tr>
              <a:tr h="599390">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500">
                          <a:latin typeface="楷体_GB2312" pitchFamily="49" charset="-122"/>
                        </a:rPr>
                        <a:t>C402001</a:t>
                      </a:r>
                    </a:p>
                  </a:txBody>
                  <a:tcPr marL="90000" marR="90000" marT="30027" marB="30027" anchor="ctr" anchorCtr="1">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500" dirty="0">
                          <a:latin typeface="楷体_GB2312" pitchFamily="49" charset="-122"/>
                        </a:rPr>
                        <a:t>计算机原理</a:t>
                      </a:r>
                    </a:p>
                  </a:txBody>
                  <a:tcPr marL="90000" marR="90000" marT="30027" marB="30027"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500">
                          <a:latin typeface="楷体_GB2312" pitchFamily="49" charset="-122"/>
                        </a:rPr>
                        <a:t>60</a:t>
                      </a:r>
                    </a:p>
                  </a:txBody>
                  <a:tcPr marL="90000" marR="90000" marT="30027" marB="30027" anchor="ctr" anchorCtr="1">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3"/>
                  </a:ext>
                </a:extLst>
              </a:tr>
            </a:tbl>
          </a:graphicData>
        </a:graphic>
      </p:graphicFrame>
      <p:grpSp>
        <p:nvGrpSpPr>
          <p:cNvPr id="837686" name="组合 837685">
            <a:extLst>
              <a:ext uri="{FF2B5EF4-FFF2-40B4-BE49-F238E27FC236}">
                <a16:creationId xmlns:a16="http://schemas.microsoft.com/office/drawing/2014/main" id="{58AB5A39-6462-435A-8721-D11E815C96CF}"/>
              </a:ext>
            </a:extLst>
          </p:cNvPr>
          <p:cNvGrpSpPr>
            <a:grpSpLocks/>
          </p:cNvGrpSpPr>
          <p:nvPr/>
        </p:nvGrpSpPr>
        <p:grpSpPr bwMode="auto">
          <a:xfrm>
            <a:off x="492125" y="3192463"/>
            <a:ext cx="6742113" cy="469900"/>
            <a:chOff x="310" y="2011"/>
            <a:chExt cx="4247" cy="296"/>
          </a:xfrm>
        </p:grpSpPr>
        <p:sp>
          <p:nvSpPr>
            <p:cNvPr id="50222" name="文本框 837679">
              <a:extLst>
                <a:ext uri="{FF2B5EF4-FFF2-40B4-BE49-F238E27FC236}">
                  <a16:creationId xmlns:a16="http://schemas.microsoft.com/office/drawing/2014/main" id="{35C05BBF-4D76-41DB-8729-B3A77E4D4F5C}"/>
                </a:ext>
              </a:extLst>
            </p:cNvPr>
            <p:cNvSpPr txBox="1">
              <a:spLocks noChangeArrowheads="1"/>
            </p:cNvSpPr>
            <p:nvPr/>
          </p:nvSpPr>
          <p:spPr bwMode="auto">
            <a:xfrm>
              <a:off x="3011" y="2019"/>
              <a:ext cx="1546" cy="288"/>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r>
                <a:rPr lang="zh-CN" altLang="en-US" sz="2400" b="1">
                  <a:solidFill>
                    <a:srgbClr val="0033CC"/>
                  </a:solidFill>
                  <a:latin typeface="楷体_GB2312" pitchFamily="49" charset="-122"/>
                </a:rPr>
                <a:t>课程关系</a:t>
              </a:r>
              <a:r>
                <a:rPr lang="en-US" altLang="zh-CN" sz="2400" b="1">
                  <a:solidFill>
                    <a:srgbClr val="0033CC"/>
                  </a:solidFill>
                  <a:latin typeface="楷体_GB2312" pitchFamily="49" charset="-122"/>
                </a:rPr>
                <a:t>C  </a:t>
              </a:r>
              <a:r>
                <a:rPr lang="en-US" altLang="zh-CN" sz="2400" b="1">
                  <a:solidFill>
                    <a:srgbClr val="660033"/>
                  </a:solidFill>
                  <a:latin typeface="楷体_GB2312" pitchFamily="49" charset="-122"/>
                </a:rPr>
                <a:t>/R2</a:t>
              </a:r>
            </a:p>
          </p:txBody>
        </p:sp>
        <p:sp>
          <p:nvSpPr>
            <p:cNvPr id="50223" name="文本框 837680">
              <a:extLst>
                <a:ext uri="{FF2B5EF4-FFF2-40B4-BE49-F238E27FC236}">
                  <a16:creationId xmlns:a16="http://schemas.microsoft.com/office/drawing/2014/main" id="{1DB5A331-C25E-4008-AB0B-7C4972C4B41C}"/>
                </a:ext>
              </a:extLst>
            </p:cNvPr>
            <p:cNvSpPr txBox="1">
              <a:spLocks noChangeArrowheads="1"/>
            </p:cNvSpPr>
            <p:nvPr/>
          </p:nvSpPr>
          <p:spPr bwMode="auto">
            <a:xfrm>
              <a:off x="310" y="2011"/>
              <a:ext cx="1571" cy="288"/>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r>
                <a:rPr lang="zh-CN" altLang="en-US" sz="2400" b="1">
                  <a:solidFill>
                    <a:srgbClr val="0033CC"/>
                  </a:solidFill>
                  <a:latin typeface="楷体_GB2312" pitchFamily="49" charset="-122"/>
                </a:rPr>
                <a:t>学习关系</a:t>
              </a:r>
              <a:r>
                <a:rPr lang="en-US" altLang="zh-CN" sz="2400" b="1">
                  <a:solidFill>
                    <a:srgbClr val="0033CC"/>
                  </a:solidFill>
                  <a:latin typeface="楷体_GB2312" pitchFamily="49" charset="-122"/>
                </a:rPr>
                <a:t>SC  </a:t>
              </a:r>
              <a:r>
                <a:rPr lang="en-US" altLang="zh-CN" sz="2400" b="1">
                  <a:solidFill>
                    <a:srgbClr val="660033"/>
                  </a:solidFill>
                  <a:latin typeface="楷体_GB2312" pitchFamily="49" charset="-122"/>
                </a:rPr>
                <a:t>/R1</a:t>
              </a:r>
            </a:p>
          </p:txBody>
        </p:sp>
      </p:grpSp>
      <p:sp>
        <p:nvSpPr>
          <p:cNvPr id="837682" name="文本框 837681">
            <a:extLst>
              <a:ext uri="{FF2B5EF4-FFF2-40B4-BE49-F238E27FC236}">
                <a16:creationId xmlns:a16="http://schemas.microsoft.com/office/drawing/2014/main" id="{7F12ADBC-B9CB-42AC-8281-924A5DF4FDFF}"/>
              </a:ext>
            </a:extLst>
          </p:cNvPr>
          <p:cNvSpPr txBox="1">
            <a:spLocks noChangeArrowheads="1"/>
          </p:cNvSpPr>
          <p:nvPr/>
        </p:nvSpPr>
        <p:spPr bwMode="auto">
          <a:xfrm>
            <a:off x="2132013" y="5889625"/>
            <a:ext cx="5175250" cy="45720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r>
              <a:rPr lang="zh-CN" altLang="zh-CN" sz="2400" b="1">
                <a:solidFill>
                  <a:srgbClr val="008000"/>
                </a:solidFill>
                <a:latin typeface="楷体_GB2312" pitchFamily="49" charset="-122"/>
              </a:rPr>
              <a:t>课程号</a:t>
            </a:r>
            <a:r>
              <a:rPr lang="zh-CN" altLang="en-US" sz="2400" b="1">
                <a:solidFill>
                  <a:srgbClr val="008000"/>
                </a:solidFill>
                <a:latin typeface="楷体_GB2312" pitchFamily="49" charset="-122"/>
              </a:rPr>
              <a:t>是学习关系</a:t>
            </a:r>
            <a:r>
              <a:rPr lang="en-US" altLang="zh-CN" sz="2400" b="1">
                <a:solidFill>
                  <a:srgbClr val="008000"/>
                </a:solidFill>
                <a:latin typeface="楷体_GB2312" pitchFamily="49" charset="-122"/>
              </a:rPr>
              <a:t>SC</a:t>
            </a:r>
            <a:r>
              <a:rPr lang="zh-CN" altLang="en-US" sz="2400" b="1">
                <a:solidFill>
                  <a:srgbClr val="008000"/>
                </a:solidFill>
                <a:latin typeface="楷体_GB2312" pitchFamily="49" charset="-122"/>
              </a:rPr>
              <a:t>的</a:t>
            </a:r>
            <a:r>
              <a:rPr lang="zh-CN" altLang="en-US" sz="2400" b="1">
                <a:solidFill>
                  <a:srgbClr val="CC3300"/>
                </a:solidFill>
                <a:latin typeface="楷体_GB2312" pitchFamily="49" charset="-122"/>
              </a:rPr>
              <a:t>外键</a:t>
            </a:r>
          </a:p>
        </p:txBody>
      </p:sp>
      <p:sp>
        <p:nvSpPr>
          <p:cNvPr id="837683" name="矩形 837682">
            <a:extLst>
              <a:ext uri="{FF2B5EF4-FFF2-40B4-BE49-F238E27FC236}">
                <a16:creationId xmlns:a16="http://schemas.microsoft.com/office/drawing/2014/main" id="{6009F77F-F579-4609-AAAE-633B6AA3F279}"/>
              </a:ext>
            </a:extLst>
          </p:cNvPr>
          <p:cNvSpPr/>
          <p:nvPr/>
        </p:nvSpPr>
        <p:spPr>
          <a:xfrm>
            <a:off x="466725" y="1171575"/>
            <a:ext cx="8207375" cy="5338763"/>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a:lnSpc>
                <a:spcPct val="115000"/>
              </a:lnSpc>
              <a:spcBef>
                <a:spcPct val="15000"/>
              </a:spcBef>
            </a:pPr>
            <a:r>
              <a:rPr lang="en-US" altLang="zh-CN" noProof="1"/>
              <a:t>           </a:t>
            </a:r>
            <a:r>
              <a:rPr lang="en-US" altLang="zh-CN" sz="3000" noProof="1">
                <a:solidFill>
                  <a:srgbClr val="660033"/>
                </a:solidFill>
                <a:ea typeface="华文新魏" panose="02010800040101010101" pitchFamily="2" charset="-122"/>
              </a:rPr>
              <a:t>3</a:t>
            </a:r>
            <a:r>
              <a:rPr lang="zh-CN" altLang="en-US" sz="3000" noProof="1">
                <a:solidFill>
                  <a:srgbClr val="660033"/>
                </a:solidFill>
                <a:ea typeface="华文新魏" panose="02010800040101010101" pitchFamily="2" charset="-122"/>
              </a:rPr>
              <a:t>、外键</a:t>
            </a:r>
          </a:p>
          <a:p>
            <a:pPr>
              <a:lnSpc>
                <a:spcPct val="115000"/>
              </a:lnSpc>
              <a:spcBef>
                <a:spcPct val="0"/>
              </a:spcBef>
            </a:pPr>
            <a:r>
              <a:rPr lang="zh-CN" altLang="en-US" noProof="1"/>
              <a:t>          </a:t>
            </a:r>
            <a:r>
              <a:rPr lang="zh-CN" altLang="en-US" sz="2600" noProof="1"/>
              <a:t>如果关系模式</a:t>
            </a:r>
            <a:r>
              <a:rPr lang="en-US" altLang="zh-CN" sz="2600" noProof="1"/>
              <a:t>R</a:t>
            </a:r>
            <a:r>
              <a:rPr lang="en-US" altLang="zh-CN" sz="2600" baseline="-25000" noProof="1"/>
              <a:t>1 </a:t>
            </a:r>
            <a:r>
              <a:rPr lang="zh-CN" altLang="en-US" sz="2600" noProof="1"/>
              <a:t>中的某属性集是另一关系模式</a:t>
            </a:r>
            <a:r>
              <a:rPr lang="en-US" altLang="zh-CN" sz="2600" noProof="1"/>
              <a:t>R</a:t>
            </a:r>
            <a:r>
              <a:rPr lang="en-US" altLang="zh-CN" sz="2600" baseline="-25000" noProof="1"/>
              <a:t>2 </a:t>
            </a:r>
            <a:r>
              <a:rPr lang="zh-CN" altLang="en-US" sz="2600" noProof="1"/>
              <a:t>的主键，则该属性集是关系模式</a:t>
            </a:r>
            <a:r>
              <a:rPr lang="en-US" altLang="zh-CN" sz="2600" noProof="1"/>
              <a:t>R</a:t>
            </a:r>
            <a:r>
              <a:rPr lang="en-US" altLang="zh-CN" sz="2600" baseline="-25000" noProof="1"/>
              <a:t>1 </a:t>
            </a:r>
            <a:r>
              <a:rPr lang="zh-CN" altLang="en-US" sz="2600" noProof="1"/>
              <a:t>的外键。</a:t>
            </a:r>
          </a:p>
          <a:p>
            <a:pPr>
              <a:lnSpc>
                <a:spcPct val="115000"/>
              </a:lnSpc>
              <a:spcBef>
                <a:spcPct val="0"/>
              </a:spcBef>
            </a:pPr>
            <a:r>
              <a:rPr lang="zh-CN" altLang="en-US" sz="2600" noProof="1">
                <a:solidFill>
                  <a:srgbClr val="CC00CC"/>
                </a:solidFill>
              </a:rPr>
              <a:t>           </a:t>
            </a:r>
            <a:r>
              <a:rPr lang="en-US" altLang="zh-CN" sz="2600" noProof="1">
                <a:solidFill>
                  <a:srgbClr val="CC00CC"/>
                </a:solidFill>
              </a:rPr>
              <a:t>{</a:t>
            </a:r>
            <a:r>
              <a:rPr lang="zh-CN" altLang="en-US" sz="2600" noProof="1">
                <a:solidFill>
                  <a:srgbClr val="CC00CC"/>
                </a:solidFill>
              </a:rPr>
              <a:t>外键用来表示多个关系之间的联系</a:t>
            </a:r>
            <a:r>
              <a:rPr lang="en-US" altLang="zh-CN" sz="2600" noProof="1">
                <a:solidFill>
                  <a:srgbClr val="CC00CC"/>
                </a:solidFill>
              </a:rPr>
              <a:t>}</a:t>
            </a:r>
            <a:r>
              <a:rPr lang="zh-CN" altLang="en-US" sz="2600" noProof="1"/>
              <a:t>  </a:t>
            </a:r>
          </a:p>
        </p:txBody>
      </p:sp>
      <p:sp>
        <p:nvSpPr>
          <p:cNvPr id="837685" name="矩形 837684">
            <a:extLst>
              <a:ext uri="{FF2B5EF4-FFF2-40B4-BE49-F238E27FC236}">
                <a16:creationId xmlns:a16="http://schemas.microsoft.com/office/drawing/2014/main" id="{B7E73271-738D-4D4F-81FC-91F73A7E8E5C}"/>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t>二、关系的键与关系的属性</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6589"/>
    </mc:Choice>
    <mc:Fallback xmlns="">
      <p:transition spd="slow" advTm="66589"/>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837683">
                                            <p:txEl>
                                              <p:pRg st="1" end="1"/>
                                            </p:txEl>
                                          </p:spTgt>
                                        </p:tgtEl>
                                        <p:attrNameLst>
                                          <p:attrName>style.visibility</p:attrName>
                                        </p:attrNameLst>
                                      </p:cBhvr>
                                      <p:to>
                                        <p:strVal val="visible"/>
                                      </p:to>
                                    </p:set>
                                    <p:animEffect transition="in" filter="wipe(up)">
                                      <p:cBhvr>
                                        <p:cTn id="7" dur="2000"/>
                                        <p:tgtEl>
                                          <p:spTgt spid="837683">
                                            <p:txEl>
                                              <p:pRg st="1" end="1"/>
                                            </p:txEl>
                                          </p:spTgt>
                                        </p:tgtEl>
                                      </p:cBhvr>
                                    </p:animEffect>
                                  </p:childTnLst>
                                </p:cTn>
                              </p:par>
                            </p:childTnLst>
                          </p:cTn>
                        </p:par>
                        <p:par>
                          <p:cTn id="8" fill="hold" nodeType="afterGroup">
                            <p:stCondLst>
                              <p:cond delay="2000"/>
                            </p:stCondLst>
                            <p:childTnLst>
                              <p:par>
                                <p:cTn id="9" presetID="22" presetClass="entr" presetSubtype="1" fill="hold" nodeType="afterEffect">
                                  <p:stCondLst>
                                    <p:cond delay="0"/>
                                  </p:stCondLst>
                                  <p:childTnLst>
                                    <p:set>
                                      <p:cBhvr>
                                        <p:cTn id="10" dur="1" fill="hold">
                                          <p:stCondLst>
                                            <p:cond delay="0"/>
                                          </p:stCondLst>
                                        </p:cTn>
                                        <p:tgtEl>
                                          <p:spTgt spid="837683">
                                            <p:txEl>
                                              <p:pRg st="2" end="2"/>
                                            </p:txEl>
                                          </p:spTgt>
                                        </p:tgtEl>
                                        <p:attrNameLst>
                                          <p:attrName>style.visibility</p:attrName>
                                        </p:attrNameLst>
                                      </p:cBhvr>
                                      <p:to>
                                        <p:strVal val="visible"/>
                                      </p:to>
                                    </p:set>
                                    <p:animEffect transition="in" filter="wipe(up)">
                                      <p:cBhvr>
                                        <p:cTn id="11" dur="2000"/>
                                        <p:tgtEl>
                                          <p:spTgt spid="837683">
                                            <p:txEl>
                                              <p:pRg st="2" end="2"/>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837686"/>
                                        </p:tgtEl>
                                        <p:attrNameLst>
                                          <p:attrName>style.visibility</p:attrName>
                                        </p:attrNameLst>
                                      </p:cBhvr>
                                      <p:to>
                                        <p:strVal val="visible"/>
                                      </p:to>
                                    </p:set>
                                    <p:animEffect transition="in" filter="wipe(up)">
                                      <p:cBhvr>
                                        <p:cTn id="16" dur="500"/>
                                        <p:tgtEl>
                                          <p:spTgt spid="837686"/>
                                        </p:tgtEl>
                                      </p:cBhvr>
                                    </p:animEffect>
                                  </p:childTnLst>
                                </p:cTn>
                              </p:par>
                              <p:par>
                                <p:cTn id="17" presetID="22" presetClass="entr" presetSubtype="1" fill="hold" nodeType="withEffect">
                                  <p:stCondLst>
                                    <p:cond delay="0"/>
                                  </p:stCondLst>
                                  <p:childTnLst>
                                    <p:set>
                                      <p:cBhvr>
                                        <p:cTn id="18" dur="1" fill="hold">
                                          <p:stCondLst>
                                            <p:cond delay="0"/>
                                          </p:stCondLst>
                                        </p:cTn>
                                        <p:tgtEl>
                                          <p:spTgt spid="837636"/>
                                        </p:tgtEl>
                                        <p:attrNameLst>
                                          <p:attrName>style.visibility</p:attrName>
                                        </p:attrNameLst>
                                      </p:cBhvr>
                                      <p:to>
                                        <p:strVal val="visible"/>
                                      </p:to>
                                    </p:set>
                                    <p:animEffect transition="in" filter="wipe(up)">
                                      <p:cBhvr>
                                        <p:cTn id="19" dur="500"/>
                                        <p:tgtEl>
                                          <p:spTgt spid="837636"/>
                                        </p:tgtEl>
                                      </p:cBhvr>
                                    </p:animEffect>
                                  </p:childTnLst>
                                </p:cTn>
                              </p:par>
                              <p:par>
                                <p:cTn id="20" presetID="22" presetClass="entr" presetSubtype="1" fill="hold" nodeType="withEffect">
                                  <p:stCondLst>
                                    <p:cond delay="0"/>
                                  </p:stCondLst>
                                  <p:childTnLst>
                                    <p:set>
                                      <p:cBhvr>
                                        <p:cTn id="21" dur="1" fill="hold">
                                          <p:stCondLst>
                                            <p:cond delay="0"/>
                                          </p:stCondLst>
                                        </p:cTn>
                                        <p:tgtEl>
                                          <p:spTgt spid="837658"/>
                                        </p:tgtEl>
                                        <p:attrNameLst>
                                          <p:attrName>style.visibility</p:attrName>
                                        </p:attrNameLst>
                                      </p:cBhvr>
                                      <p:to>
                                        <p:strVal val="visible"/>
                                      </p:to>
                                    </p:set>
                                    <p:animEffect transition="in" filter="wipe(up)">
                                      <p:cBhvr>
                                        <p:cTn id="22" dur="500"/>
                                        <p:tgtEl>
                                          <p:spTgt spid="837658"/>
                                        </p:tgtEl>
                                      </p:cBhvr>
                                    </p:animEffect>
                                  </p:childTnLst>
                                </p:cTn>
                              </p:par>
                            </p:childTnLst>
                          </p:cTn>
                        </p:par>
                        <p:par>
                          <p:cTn id="23" fill="hold" nodeType="afterGroup">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837682"/>
                                        </p:tgtEl>
                                        <p:attrNameLst>
                                          <p:attrName>style.visibility</p:attrName>
                                        </p:attrNameLst>
                                      </p:cBhvr>
                                      <p:to>
                                        <p:strVal val="visible"/>
                                      </p:to>
                                    </p:set>
                                    <p:animEffect transition="in" filter="wipe(left)">
                                      <p:cBhvr>
                                        <p:cTn id="26" dur="5000"/>
                                        <p:tgtEl>
                                          <p:spTgt spid="8376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768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8661" name="矩形 838660">
            <a:extLst>
              <a:ext uri="{FF2B5EF4-FFF2-40B4-BE49-F238E27FC236}">
                <a16:creationId xmlns:a16="http://schemas.microsoft.com/office/drawing/2014/main" id="{8257BC09-7382-466C-88BC-9FB34A1011BE}"/>
              </a:ext>
            </a:extLst>
          </p:cNvPr>
          <p:cNvSpPr/>
          <p:nvPr/>
        </p:nvSpPr>
        <p:spPr>
          <a:xfrm>
            <a:off x="468313" y="1196975"/>
            <a:ext cx="8137525" cy="5338763"/>
          </a:xfrm>
          <a:prstGeom prst="rect">
            <a:avLst/>
          </a:prstGeom>
          <a:noFill/>
          <a:ln w="9525" cap="flat" cmpd="sng">
            <a:solidFill>
              <a:schemeClr val="bg1"/>
            </a:solidFill>
            <a:prstDash val="solid"/>
            <a:miter/>
            <a:headEnd type="none" w="med" len="med"/>
            <a:tailEnd type="none" w="med" len="med"/>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r>
              <a:rPr lang="en-US" altLang="zh-CN" sz="3000" noProof="1">
                <a:solidFill>
                  <a:srgbClr val="660033"/>
                </a:solidFill>
                <a:ea typeface="华文新魏" panose="02010800040101010101" pitchFamily="2" charset="-122"/>
              </a:rPr>
              <a:t>          4</a:t>
            </a:r>
            <a:r>
              <a:rPr lang="zh-CN" altLang="en-US" sz="3000" noProof="1">
                <a:solidFill>
                  <a:srgbClr val="660033"/>
                </a:solidFill>
                <a:ea typeface="华文新魏" panose="02010800040101010101" pitchFamily="2" charset="-122"/>
              </a:rPr>
              <a:t>、主属性与非主属性</a:t>
            </a:r>
            <a:endParaRPr lang="zh-CN" altLang="en-US" sz="2600" noProof="1">
              <a:solidFill>
                <a:srgbClr val="990033"/>
              </a:solidFill>
              <a:ea typeface="黑体" panose="02010609060101010101" pitchFamily="2" charset="-122"/>
            </a:endParaRPr>
          </a:p>
          <a:p>
            <a:r>
              <a:rPr lang="zh-CN" altLang="en-US" sz="2600" noProof="1">
                <a:solidFill>
                  <a:srgbClr val="990033"/>
                </a:solidFill>
                <a:ea typeface="黑体" panose="02010609060101010101" pitchFamily="2" charset="-122"/>
              </a:rPr>
              <a:t>           </a:t>
            </a:r>
            <a:r>
              <a:rPr lang="zh-CN" altLang="en-US" sz="2600" noProof="1">
                <a:solidFill>
                  <a:srgbClr val="006699"/>
                </a:solidFill>
                <a:ea typeface="黑体" panose="02010609060101010101" pitchFamily="2" charset="-122"/>
              </a:rPr>
              <a:t>主属性：</a:t>
            </a:r>
            <a:r>
              <a:rPr lang="zh-CN" altLang="en-US" sz="2400" noProof="1"/>
              <a:t>   </a:t>
            </a:r>
          </a:p>
          <a:p>
            <a:pPr>
              <a:lnSpc>
                <a:spcPct val="135000"/>
              </a:lnSpc>
              <a:spcBef>
                <a:spcPct val="5000"/>
              </a:spcBef>
            </a:pPr>
            <a:r>
              <a:rPr lang="zh-CN" altLang="en-US" sz="2400" noProof="1"/>
              <a:t>            </a:t>
            </a:r>
            <a:r>
              <a:rPr lang="zh-CN" altLang="en-US" noProof="1"/>
              <a:t>包含在任何一个候选键中的属性称为主属性。</a:t>
            </a:r>
          </a:p>
          <a:p>
            <a:pPr>
              <a:lnSpc>
                <a:spcPct val="135000"/>
              </a:lnSpc>
              <a:spcBef>
                <a:spcPct val="35000"/>
              </a:spcBef>
            </a:pPr>
            <a:r>
              <a:rPr lang="zh-CN" altLang="en-US" sz="2600" noProof="1">
                <a:solidFill>
                  <a:srgbClr val="660033"/>
                </a:solidFill>
                <a:ea typeface="黑体" panose="02010609060101010101" pitchFamily="2" charset="-122"/>
              </a:rPr>
              <a:t>   </a:t>
            </a:r>
            <a:r>
              <a:rPr lang="zh-CN" altLang="en-US" sz="2600" noProof="1">
                <a:solidFill>
                  <a:srgbClr val="003366"/>
                </a:solidFill>
                <a:ea typeface="黑体" panose="02010609060101010101" pitchFamily="2" charset="-122"/>
              </a:rPr>
              <a:t>比如：</a:t>
            </a:r>
          </a:p>
          <a:p>
            <a:pPr>
              <a:lnSpc>
                <a:spcPct val="135000"/>
              </a:lnSpc>
              <a:spcBef>
                <a:spcPct val="35000"/>
              </a:spcBef>
            </a:pPr>
            <a:r>
              <a:rPr lang="zh-CN" altLang="en-US" sz="2600" noProof="1">
                <a:solidFill>
                  <a:srgbClr val="003366"/>
                </a:solidFill>
                <a:ea typeface="黑体" panose="02010609060101010101" pitchFamily="2" charset="-122"/>
              </a:rPr>
              <a:t>          </a:t>
            </a:r>
            <a:r>
              <a:rPr lang="zh-CN" altLang="en-US" sz="2600" noProof="1">
                <a:solidFill>
                  <a:srgbClr val="003366"/>
                </a:solidFill>
                <a:latin typeface="宋体" panose="02010600030101010101" pitchFamily="2" charset="-122"/>
                <a:ea typeface="宋体" panose="02010600030101010101" pitchFamily="2" charset="-122"/>
              </a:rPr>
              <a:t>◆</a:t>
            </a:r>
            <a:r>
              <a:rPr lang="zh-CN" altLang="en-US" sz="2600" noProof="1"/>
              <a:t>学生关系（</a:t>
            </a:r>
            <a:r>
              <a:rPr lang="zh-CN" altLang="en-US" sz="2600" noProof="1">
                <a:solidFill>
                  <a:srgbClr val="800080"/>
                </a:solidFill>
                <a:ea typeface="黑体" panose="02010609060101010101" pitchFamily="2" charset="-122"/>
              </a:rPr>
              <a:t>学号</a:t>
            </a:r>
            <a:r>
              <a:rPr lang="zh-CN" altLang="en-US" sz="2600" noProof="1"/>
              <a:t>，姓名，性别，出生年月，</a:t>
            </a:r>
          </a:p>
          <a:p>
            <a:pPr>
              <a:lnSpc>
                <a:spcPct val="125000"/>
              </a:lnSpc>
              <a:spcBef>
                <a:spcPct val="0"/>
              </a:spcBef>
            </a:pPr>
            <a:r>
              <a:rPr lang="zh-CN" altLang="en-US" sz="2600" noProof="1"/>
              <a:t>                                            籍贯，专业代码，班级）</a:t>
            </a:r>
            <a:endParaRPr lang="zh-CN" altLang="en-US" sz="2600" noProof="1">
              <a:solidFill>
                <a:srgbClr val="003366"/>
              </a:solidFill>
              <a:latin typeface="宋体" panose="02010600030101010101" pitchFamily="2" charset="-122"/>
              <a:ea typeface="宋体" panose="02010600030101010101" pitchFamily="2" charset="-122"/>
            </a:endParaRPr>
          </a:p>
          <a:p>
            <a:pPr>
              <a:lnSpc>
                <a:spcPct val="135000"/>
              </a:lnSpc>
              <a:spcBef>
                <a:spcPct val="35000"/>
              </a:spcBef>
            </a:pPr>
            <a:r>
              <a:rPr lang="zh-CN" altLang="en-US" sz="2600" noProof="1">
                <a:solidFill>
                  <a:srgbClr val="003366"/>
                </a:solidFill>
                <a:latin typeface="宋体" panose="02010600030101010101" pitchFamily="2" charset="-122"/>
                <a:ea typeface="宋体" panose="02010600030101010101" pitchFamily="2" charset="-122"/>
              </a:rPr>
              <a:t>      ◆</a:t>
            </a:r>
            <a:r>
              <a:rPr lang="zh-CN" altLang="en-US" sz="2600" noProof="1"/>
              <a:t>邮寄地址（</a:t>
            </a:r>
            <a:r>
              <a:rPr lang="zh-CN" altLang="en-US" sz="2600" noProof="1">
                <a:solidFill>
                  <a:srgbClr val="800080"/>
                </a:solidFill>
                <a:ea typeface="黑体" panose="02010609060101010101" pitchFamily="2" charset="-122"/>
              </a:rPr>
              <a:t>城市名</a:t>
            </a:r>
            <a:r>
              <a:rPr lang="zh-CN" altLang="en-US" sz="2600" noProof="1">
                <a:ea typeface="黑体" panose="02010609060101010101" pitchFamily="2" charset="-122"/>
              </a:rPr>
              <a:t>，</a:t>
            </a:r>
            <a:r>
              <a:rPr lang="zh-CN" altLang="en-US" sz="2600" noProof="1">
                <a:solidFill>
                  <a:srgbClr val="800080"/>
                </a:solidFill>
                <a:ea typeface="黑体" panose="02010609060101010101" pitchFamily="2" charset="-122"/>
              </a:rPr>
              <a:t>街道名</a:t>
            </a:r>
            <a:r>
              <a:rPr lang="zh-CN" altLang="en-US" sz="2600" noProof="1">
                <a:ea typeface="黑体" panose="02010609060101010101" pitchFamily="2" charset="-122"/>
              </a:rPr>
              <a:t>，</a:t>
            </a:r>
            <a:r>
              <a:rPr lang="zh-CN" altLang="en-US" sz="2600" noProof="1">
                <a:solidFill>
                  <a:srgbClr val="800080"/>
                </a:solidFill>
                <a:ea typeface="黑体" panose="02010609060101010101" pitchFamily="2" charset="-122"/>
              </a:rPr>
              <a:t>邮政编码</a:t>
            </a:r>
            <a:r>
              <a:rPr lang="zh-CN" altLang="en-US" sz="2600" noProof="1"/>
              <a:t>，</a:t>
            </a:r>
          </a:p>
          <a:p>
            <a:pPr>
              <a:lnSpc>
                <a:spcPct val="155000"/>
              </a:lnSpc>
              <a:spcBef>
                <a:spcPct val="0"/>
              </a:spcBef>
            </a:pPr>
            <a:r>
              <a:rPr lang="zh-CN" altLang="en-US" sz="2600" noProof="1"/>
              <a:t>                                                      单位名，收件人）</a:t>
            </a:r>
          </a:p>
        </p:txBody>
      </p:sp>
      <p:sp>
        <p:nvSpPr>
          <p:cNvPr id="838662" name="矩形 838661">
            <a:extLst>
              <a:ext uri="{FF2B5EF4-FFF2-40B4-BE49-F238E27FC236}">
                <a16:creationId xmlns:a16="http://schemas.microsoft.com/office/drawing/2014/main" id="{564E331F-959E-4783-A9C8-21B24B54F21C}"/>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t>二、关系的键与关系的属性</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7784"/>
    </mc:Choice>
    <mc:Fallback xmlns="">
      <p:transition spd="slow" advTm="67784"/>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838661">
                                            <p:txEl>
                                              <p:pRg st="1" end="1"/>
                                            </p:txEl>
                                          </p:spTgt>
                                        </p:tgtEl>
                                        <p:attrNameLst>
                                          <p:attrName>style.visibility</p:attrName>
                                        </p:attrNameLst>
                                      </p:cBhvr>
                                      <p:to>
                                        <p:strVal val="visible"/>
                                      </p:to>
                                    </p:set>
                                    <p:animEffect transition="in" filter="wipe(up)">
                                      <p:cBhvr>
                                        <p:cTn id="7" dur="500"/>
                                        <p:tgtEl>
                                          <p:spTgt spid="838661">
                                            <p:txEl>
                                              <p:pRg st="1" end="1"/>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838661">
                                            <p:txEl>
                                              <p:pRg st="2" end="2"/>
                                            </p:txEl>
                                          </p:spTgt>
                                        </p:tgtEl>
                                        <p:attrNameLst>
                                          <p:attrName>style.visibility</p:attrName>
                                        </p:attrNameLst>
                                      </p:cBhvr>
                                      <p:to>
                                        <p:strVal val="visible"/>
                                      </p:to>
                                    </p:set>
                                    <p:animEffect transition="in" filter="wipe(up)">
                                      <p:cBhvr>
                                        <p:cTn id="11" dur="500"/>
                                        <p:tgtEl>
                                          <p:spTgt spid="838661">
                                            <p:txEl>
                                              <p:pRg st="2" end="2"/>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838661">
                                            <p:txEl>
                                              <p:pRg st="3" end="3"/>
                                            </p:txEl>
                                          </p:spTgt>
                                        </p:tgtEl>
                                        <p:attrNameLst>
                                          <p:attrName>style.visibility</p:attrName>
                                        </p:attrNameLst>
                                      </p:cBhvr>
                                      <p:to>
                                        <p:strVal val="visible"/>
                                      </p:to>
                                    </p:set>
                                    <p:animEffect transition="in" filter="wipe(up)">
                                      <p:cBhvr>
                                        <p:cTn id="16" dur="500"/>
                                        <p:tgtEl>
                                          <p:spTgt spid="838661">
                                            <p:txEl>
                                              <p:pRg st="3" end="3"/>
                                            </p:txEl>
                                          </p:spTgt>
                                        </p:tgtEl>
                                      </p:cBhvr>
                                    </p:animEffect>
                                  </p:childTnLst>
                                </p:cTn>
                              </p:par>
                            </p:childTnLst>
                          </p:cTn>
                        </p:par>
                        <p:par>
                          <p:cTn id="17" fill="hold" nodeType="afterGroup">
                            <p:stCondLst>
                              <p:cond delay="500"/>
                            </p:stCondLst>
                            <p:childTnLst>
                              <p:par>
                                <p:cTn id="18" presetID="22" presetClass="entr" presetSubtype="1" fill="hold" nodeType="afterEffect">
                                  <p:stCondLst>
                                    <p:cond delay="0"/>
                                  </p:stCondLst>
                                  <p:childTnLst>
                                    <p:set>
                                      <p:cBhvr>
                                        <p:cTn id="19" dur="1" fill="hold">
                                          <p:stCondLst>
                                            <p:cond delay="0"/>
                                          </p:stCondLst>
                                        </p:cTn>
                                        <p:tgtEl>
                                          <p:spTgt spid="838661">
                                            <p:txEl>
                                              <p:pRg st="4" end="4"/>
                                            </p:txEl>
                                          </p:spTgt>
                                        </p:tgtEl>
                                        <p:attrNameLst>
                                          <p:attrName>style.visibility</p:attrName>
                                        </p:attrNameLst>
                                      </p:cBhvr>
                                      <p:to>
                                        <p:strVal val="visible"/>
                                      </p:to>
                                    </p:set>
                                    <p:animEffect transition="in" filter="wipe(up)">
                                      <p:cBhvr>
                                        <p:cTn id="20" dur="500"/>
                                        <p:tgtEl>
                                          <p:spTgt spid="838661">
                                            <p:txEl>
                                              <p:pRg st="4" end="4"/>
                                            </p:txEl>
                                          </p:spTgt>
                                        </p:tgtEl>
                                      </p:cBhvr>
                                    </p:animEffect>
                                  </p:childTnLst>
                                </p:cTn>
                              </p:par>
                            </p:childTnLst>
                          </p:cTn>
                        </p:par>
                        <p:par>
                          <p:cTn id="21" fill="hold" nodeType="afterGroup">
                            <p:stCondLst>
                              <p:cond delay="1000"/>
                            </p:stCondLst>
                            <p:childTnLst>
                              <p:par>
                                <p:cTn id="22" presetID="22" presetClass="entr" presetSubtype="1" fill="hold" nodeType="afterEffect">
                                  <p:stCondLst>
                                    <p:cond delay="0"/>
                                  </p:stCondLst>
                                  <p:childTnLst>
                                    <p:set>
                                      <p:cBhvr>
                                        <p:cTn id="23" dur="1" fill="hold">
                                          <p:stCondLst>
                                            <p:cond delay="0"/>
                                          </p:stCondLst>
                                        </p:cTn>
                                        <p:tgtEl>
                                          <p:spTgt spid="838661">
                                            <p:txEl>
                                              <p:pRg st="5" end="5"/>
                                            </p:txEl>
                                          </p:spTgt>
                                        </p:tgtEl>
                                        <p:attrNameLst>
                                          <p:attrName>style.visibility</p:attrName>
                                        </p:attrNameLst>
                                      </p:cBhvr>
                                      <p:to>
                                        <p:strVal val="visible"/>
                                      </p:to>
                                    </p:set>
                                    <p:animEffect transition="in" filter="wipe(up)">
                                      <p:cBhvr>
                                        <p:cTn id="24" dur="500"/>
                                        <p:tgtEl>
                                          <p:spTgt spid="838661">
                                            <p:txEl>
                                              <p:pRg st="5" end="5"/>
                                            </p:txEl>
                                          </p:spTgt>
                                        </p:tgtEl>
                                      </p:cBhvr>
                                    </p:animEffect>
                                  </p:childTnLst>
                                </p:cTn>
                              </p:par>
                            </p:childTnLst>
                          </p:cTn>
                        </p:par>
                        <p:par>
                          <p:cTn id="25" fill="hold" nodeType="afterGroup">
                            <p:stCondLst>
                              <p:cond delay="1500"/>
                            </p:stCondLst>
                            <p:childTnLst>
                              <p:par>
                                <p:cTn id="26" presetID="22" presetClass="entr" presetSubtype="1" fill="hold" nodeType="afterEffect">
                                  <p:stCondLst>
                                    <p:cond delay="0"/>
                                  </p:stCondLst>
                                  <p:childTnLst>
                                    <p:set>
                                      <p:cBhvr>
                                        <p:cTn id="27" dur="1" fill="hold">
                                          <p:stCondLst>
                                            <p:cond delay="0"/>
                                          </p:stCondLst>
                                        </p:cTn>
                                        <p:tgtEl>
                                          <p:spTgt spid="838661">
                                            <p:txEl>
                                              <p:pRg st="6" end="6"/>
                                            </p:txEl>
                                          </p:spTgt>
                                        </p:tgtEl>
                                        <p:attrNameLst>
                                          <p:attrName>style.visibility</p:attrName>
                                        </p:attrNameLst>
                                      </p:cBhvr>
                                      <p:to>
                                        <p:strVal val="visible"/>
                                      </p:to>
                                    </p:set>
                                    <p:animEffect transition="in" filter="wipe(up)">
                                      <p:cBhvr>
                                        <p:cTn id="28" dur="500"/>
                                        <p:tgtEl>
                                          <p:spTgt spid="838661">
                                            <p:txEl>
                                              <p:pRg st="6" end="6"/>
                                            </p:txEl>
                                          </p:spTgt>
                                        </p:tgtEl>
                                      </p:cBhvr>
                                    </p:animEffect>
                                  </p:childTnLst>
                                </p:cTn>
                              </p:par>
                            </p:childTnLst>
                          </p:cTn>
                        </p:par>
                        <p:par>
                          <p:cTn id="29" fill="hold" nodeType="afterGroup">
                            <p:stCondLst>
                              <p:cond delay="2000"/>
                            </p:stCondLst>
                            <p:childTnLst>
                              <p:par>
                                <p:cTn id="30" presetID="22" presetClass="entr" presetSubtype="1" fill="hold" nodeType="afterEffect">
                                  <p:stCondLst>
                                    <p:cond delay="0"/>
                                  </p:stCondLst>
                                  <p:childTnLst>
                                    <p:set>
                                      <p:cBhvr>
                                        <p:cTn id="31" dur="1" fill="hold">
                                          <p:stCondLst>
                                            <p:cond delay="0"/>
                                          </p:stCondLst>
                                        </p:cTn>
                                        <p:tgtEl>
                                          <p:spTgt spid="838661">
                                            <p:txEl>
                                              <p:pRg st="7" end="7"/>
                                            </p:txEl>
                                          </p:spTgt>
                                        </p:tgtEl>
                                        <p:attrNameLst>
                                          <p:attrName>style.visibility</p:attrName>
                                        </p:attrNameLst>
                                      </p:cBhvr>
                                      <p:to>
                                        <p:strVal val="visible"/>
                                      </p:to>
                                    </p:set>
                                    <p:animEffect transition="in" filter="wipe(up)">
                                      <p:cBhvr>
                                        <p:cTn id="32" dur="500"/>
                                        <p:tgtEl>
                                          <p:spTgt spid="83866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5156" name="矩形 945155">
            <a:extLst>
              <a:ext uri="{FF2B5EF4-FFF2-40B4-BE49-F238E27FC236}">
                <a16:creationId xmlns:a16="http://schemas.microsoft.com/office/drawing/2014/main" id="{22E197DB-93C0-4088-B975-9C9C3F2EC506}"/>
              </a:ext>
            </a:extLst>
          </p:cNvPr>
          <p:cNvSpPr/>
          <p:nvPr/>
        </p:nvSpPr>
        <p:spPr>
          <a:xfrm>
            <a:off x="468313" y="1196975"/>
            <a:ext cx="8137525" cy="5338763"/>
          </a:xfrm>
          <a:prstGeom prst="rect">
            <a:avLst/>
          </a:prstGeom>
          <a:noFill/>
          <a:ln w="9525" cap="flat" cmpd="sng">
            <a:solidFill>
              <a:schemeClr val="bg1"/>
            </a:solidFill>
            <a:prstDash val="solid"/>
            <a:miter/>
            <a:headEnd type="none" w="med" len="med"/>
            <a:tailEnd type="none" w="med" len="med"/>
          </a:ln>
        </p:spPr>
        <p:txBody>
          <a:bodyPr/>
          <a:lstStyle>
            <a:lvl1pPr marL="342900" indent="-342900">
              <a:defRPr>
                <a:solidFill>
                  <a:schemeClr val="tx1"/>
                </a:solidFill>
                <a:latin typeface="Arial" panose="020B0604020202020204" pitchFamily="34" charset="0"/>
                <a:ea typeface="楷体_GB2312" pitchFamily="49" charset="-122"/>
              </a:defRPr>
            </a:lvl1pPr>
            <a:lvl2pPr>
              <a:defRPr>
                <a:solidFill>
                  <a:schemeClr val="tx1"/>
                </a:solidFill>
                <a:latin typeface="Arial" panose="020B0604020202020204" pitchFamily="34" charset="0"/>
                <a:ea typeface="楷体_GB2312" pitchFamily="49" charset="-122"/>
              </a:defRPr>
            </a:lvl2pPr>
            <a:lvl3pPr>
              <a:defRPr>
                <a:solidFill>
                  <a:schemeClr val="tx1"/>
                </a:solidFill>
                <a:latin typeface="Arial" panose="020B0604020202020204" pitchFamily="34" charset="0"/>
                <a:ea typeface="楷体_GB2312" pitchFamily="49" charset="-122"/>
              </a:defRPr>
            </a:lvl3pPr>
            <a:lvl4pPr>
              <a:defRPr>
                <a:solidFill>
                  <a:schemeClr val="tx1"/>
                </a:solidFill>
                <a:latin typeface="Arial" panose="020B0604020202020204" pitchFamily="34" charset="0"/>
                <a:ea typeface="楷体_GB2312" pitchFamily="49" charset="-122"/>
              </a:defRPr>
            </a:lvl4pPr>
            <a:lvl5pPr>
              <a:defRPr>
                <a:solidFill>
                  <a:schemeClr val="tx1"/>
                </a:solidFill>
                <a:latin typeface="Arial" panose="020B0604020202020204" pitchFamily="34" charset="0"/>
                <a:ea typeface="楷体_GB2312" pitchFamily="49" charset="-122"/>
              </a:defRPr>
            </a:lvl5pPr>
            <a:lvl6pPr fontAlgn="base">
              <a:spcBef>
                <a:spcPct val="0"/>
              </a:spcBef>
              <a:spcAft>
                <a:spcPct val="0"/>
              </a:spcAft>
              <a:defRPr>
                <a:solidFill>
                  <a:schemeClr val="tx1"/>
                </a:solidFill>
                <a:latin typeface="Arial" panose="020B0604020202020204" pitchFamily="34" charset="0"/>
                <a:ea typeface="楷体_GB2312" pitchFamily="49" charset="-122"/>
              </a:defRPr>
            </a:lvl6pPr>
            <a:lvl7pPr fontAlgn="base">
              <a:spcBef>
                <a:spcPct val="0"/>
              </a:spcBef>
              <a:spcAft>
                <a:spcPct val="0"/>
              </a:spcAft>
              <a:defRPr>
                <a:solidFill>
                  <a:schemeClr val="tx1"/>
                </a:solidFill>
                <a:latin typeface="Arial" panose="020B0604020202020204" pitchFamily="34" charset="0"/>
                <a:ea typeface="楷体_GB2312" pitchFamily="49" charset="-122"/>
              </a:defRPr>
            </a:lvl7pPr>
            <a:lvl8pPr fontAlgn="base">
              <a:spcBef>
                <a:spcPct val="0"/>
              </a:spcBef>
              <a:spcAft>
                <a:spcPct val="0"/>
              </a:spcAft>
              <a:defRPr>
                <a:solidFill>
                  <a:schemeClr val="tx1"/>
                </a:solidFill>
                <a:latin typeface="Arial" panose="020B0604020202020204" pitchFamily="34" charset="0"/>
                <a:ea typeface="楷体_GB2312" pitchFamily="49" charset="-122"/>
              </a:defRPr>
            </a:lvl8pPr>
            <a:lvl9pPr fontAlgn="base">
              <a:spcBef>
                <a:spcPct val="0"/>
              </a:spcBef>
              <a:spcAft>
                <a:spcPct val="0"/>
              </a:spcAft>
              <a:defRPr>
                <a:solidFill>
                  <a:schemeClr val="tx1"/>
                </a:solidFill>
                <a:latin typeface="Arial" panose="020B0604020202020204" pitchFamily="34" charset="0"/>
                <a:ea typeface="楷体_GB2312" pitchFamily="49" charset="-122"/>
              </a:defRPr>
            </a:lvl9pPr>
          </a:lstStyle>
          <a:p>
            <a:pPr>
              <a:lnSpc>
                <a:spcPct val="120000"/>
              </a:lnSpc>
              <a:spcBef>
                <a:spcPct val="20000"/>
              </a:spcBef>
              <a:buClr>
                <a:schemeClr val="folHlink"/>
              </a:buClr>
              <a:buSzPct val="60000"/>
            </a:pPr>
            <a:r>
              <a:rPr lang="en-US" altLang="zh-CN" sz="30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          2</a:t>
            </a:r>
            <a:r>
              <a:rPr lang="zh-CN" altLang="en-US" sz="30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、主键</a:t>
            </a:r>
            <a:endParaRPr lang="zh-CN" altLang="en-US" sz="2600" b="1">
              <a:solidFill>
                <a:srgbClr val="990033"/>
              </a:solidFill>
              <a:effectLst>
                <a:outerShdw blurRad="38100" dist="38100" dir="2700000" algn="tl">
                  <a:srgbClr val="C0C0C0"/>
                </a:outerShdw>
              </a:effectLst>
              <a:latin typeface="Tahoma" panose="020B0604030504040204" pitchFamily="34" charset="0"/>
              <a:ea typeface="黑体" panose="02010609060101010101" pitchFamily="49" charset="-122"/>
            </a:endParaRPr>
          </a:p>
          <a:p>
            <a:pPr>
              <a:lnSpc>
                <a:spcPct val="120000"/>
              </a:lnSpc>
              <a:spcBef>
                <a:spcPct val="20000"/>
              </a:spcBef>
              <a:buClr>
                <a:schemeClr val="folHlink"/>
              </a:buClr>
              <a:buSzPct val="60000"/>
            </a:pPr>
            <a:r>
              <a:rPr lang="zh-CN" altLang="en-US" sz="2600" b="1">
                <a:solidFill>
                  <a:srgbClr val="990033"/>
                </a:solidFill>
                <a:effectLst>
                  <a:outerShdw blurRad="38100" dist="38100" dir="2700000" algn="tl">
                    <a:srgbClr val="C0C0C0"/>
                  </a:outerShdw>
                </a:effectLst>
                <a:latin typeface="Tahoma" panose="020B0604030504040204" pitchFamily="34" charset="0"/>
                <a:ea typeface="黑体" panose="02010609060101010101" pitchFamily="49" charset="-122"/>
              </a:rPr>
              <a:t>           </a:t>
            </a:r>
            <a:r>
              <a:rPr lang="zh-CN" altLang="en-US" sz="2600" b="1">
                <a:solidFill>
                  <a:srgbClr val="006699"/>
                </a:solidFill>
                <a:effectLst>
                  <a:outerShdw blurRad="38100" dist="38100" dir="2700000" algn="tl">
                    <a:srgbClr val="C0C0C0"/>
                  </a:outerShdw>
                </a:effectLst>
                <a:latin typeface="Tahoma" panose="020B0604030504040204" pitchFamily="34" charset="0"/>
                <a:ea typeface="黑体" panose="02010609060101010101" pitchFamily="49" charset="-122"/>
              </a:rPr>
              <a:t>非主属性：</a:t>
            </a:r>
          </a:p>
          <a:p>
            <a:pPr>
              <a:lnSpc>
                <a:spcPct val="135000"/>
              </a:lnSpc>
              <a:spcBef>
                <a:spcPct val="5000"/>
              </a:spcBef>
              <a:buClr>
                <a:schemeClr val="folHlink"/>
              </a:buClr>
              <a:buSzPct val="60000"/>
            </a:pPr>
            <a:r>
              <a:rPr lang="en-US" altLang="zh-CN" sz="2800" b="1">
                <a:effectLst>
                  <a:outerShdw blurRad="38100" dist="38100" dir="2700000" algn="tl">
                    <a:srgbClr val="C0C0C0"/>
                  </a:outerShdw>
                </a:effectLst>
                <a:latin typeface="Tahoma" panose="020B0604030504040204" pitchFamily="34" charset="0"/>
              </a:rPr>
              <a:t>          </a:t>
            </a:r>
            <a:r>
              <a:rPr lang="zh-CN" altLang="en-US" sz="2800" b="1">
                <a:solidFill>
                  <a:srgbClr val="006666"/>
                </a:solidFill>
                <a:effectLst>
                  <a:outerShdw blurRad="38100" dist="38100" dir="2700000" algn="tl">
                    <a:srgbClr val="C0C0C0"/>
                  </a:outerShdw>
                </a:effectLst>
                <a:latin typeface="Tahoma" panose="020B0604030504040204" pitchFamily="34" charset="0"/>
              </a:rPr>
              <a:t>不属于任何候选键中的属性称为非主属性或非键属性</a:t>
            </a:r>
            <a:r>
              <a:rPr lang="zh-CN" altLang="en-US" sz="2800" b="1">
                <a:effectLst>
                  <a:outerShdw blurRad="38100" dist="38100" dir="2700000" algn="tl">
                    <a:srgbClr val="C0C0C0"/>
                  </a:outerShdw>
                </a:effectLst>
                <a:latin typeface="Tahoma" panose="020B0604030504040204" pitchFamily="34" charset="0"/>
              </a:rPr>
              <a:t> </a:t>
            </a:r>
            <a:r>
              <a:rPr lang="zh-CN" altLang="en-US" sz="2800" b="1">
                <a:solidFill>
                  <a:srgbClr val="006666"/>
                </a:solidFill>
                <a:effectLst>
                  <a:outerShdw blurRad="38100" dist="38100" dir="2700000" algn="tl">
                    <a:srgbClr val="C0C0C0"/>
                  </a:outerShdw>
                </a:effectLst>
                <a:latin typeface="Tahoma" panose="020B0604030504040204" pitchFamily="34" charset="0"/>
              </a:rPr>
              <a:t>。</a:t>
            </a:r>
          </a:p>
          <a:p>
            <a:pPr>
              <a:lnSpc>
                <a:spcPct val="135000"/>
              </a:lnSpc>
              <a:spcBef>
                <a:spcPct val="5000"/>
              </a:spcBef>
              <a:buClr>
                <a:schemeClr val="folHlink"/>
              </a:buClr>
              <a:buSzPct val="60000"/>
            </a:pPr>
            <a:r>
              <a:rPr lang="zh-CN" altLang="en-US" sz="2800" b="1">
                <a:solidFill>
                  <a:srgbClr val="006666"/>
                </a:solidFill>
                <a:effectLst>
                  <a:outerShdw blurRad="38100" dist="38100" dir="2700000" algn="tl">
                    <a:srgbClr val="C0C0C0"/>
                  </a:outerShdw>
                </a:effectLst>
                <a:latin typeface="Tahoma" panose="020B0604030504040204" pitchFamily="34" charset="0"/>
              </a:rPr>
              <a:t>    </a:t>
            </a:r>
            <a:r>
              <a:rPr lang="zh-CN" altLang="en-US" sz="2800" b="1">
                <a:solidFill>
                  <a:srgbClr val="003366"/>
                </a:solidFill>
                <a:effectLst>
                  <a:outerShdw blurRad="38100" dist="38100" dir="2700000" algn="tl">
                    <a:srgbClr val="C0C0C0"/>
                  </a:outerShdw>
                </a:effectLst>
                <a:latin typeface="Tahoma" panose="020B0604030504040204" pitchFamily="34" charset="0"/>
                <a:ea typeface="黑体" panose="02010609060101010101" pitchFamily="49" charset="-122"/>
              </a:rPr>
              <a:t>显然：</a:t>
            </a:r>
          </a:p>
          <a:p>
            <a:pPr>
              <a:lnSpc>
                <a:spcPct val="135000"/>
              </a:lnSpc>
              <a:spcBef>
                <a:spcPct val="35000"/>
              </a:spcBef>
              <a:buClr>
                <a:schemeClr val="folHlink"/>
              </a:buClr>
              <a:buSzPct val="60000"/>
            </a:pPr>
            <a:r>
              <a:rPr lang="zh-CN" altLang="en-US" sz="2600" b="1">
                <a:solidFill>
                  <a:srgbClr val="003366"/>
                </a:solidFill>
                <a:effectLst>
                  <a:outerShdw blurRad="38100" dist="38100" dir="2700000" algn="tl">
                    <a:srgbClr val="C0C0C0"/>
                  </a:outerShdw>
                </a:effectLst>
                <a:latin typeface="宋体" panose="02010600030101010101" pitchFamily="2" charset="-122"/>
                <a:ea typeface="宋体" panose="02010600030101010101" pitchFamily="2" charset="-122"/>
              </a:rPr>
              <a:t>      ◆</a:t>
            </a:r>
            <a:r>
              <a:rPr lang="zh-CN" altLang="en-US" sz="2600" b="1">
                <a:effectLst>
                  <a:outerShdw blurRad="38100" dist="38100" dir="2700000" algn="tl">
                    <a:srgbClr val="C0C0C0"/>
                  </a:outerShdw>
                </a:effectLst>
                <a:latin typeface="Tahoma" panose="020B0604030504040204" pitchFamily="34" charset="0"/>
              </a:rPr>
              <a:t>学生关系（学号，</a:t>
            </a:r>
            <a:r>
              <a:rPr lang="zh-CN" altLang="en-US" sz="2600" b="1">
                <a:solidFill>
                  <a:srgbClr val="800080"/>
                </a:solidFill>
                <a:effectLst>
                  <a:outerShdw blurRad="38100" dist="38100" dir="2700000" algn="tl">
                    <a:srgbClr val="C0C0C0"/>
                  </a:outerShdw>
                </a:effectLst>
                <a:latin typeface="Tahoma" panose="020B0604030504040204" pitchFamily="34" charset="0"/>
                <a:ea typeface="黑体" panose="02010609060101010101" pitchFamily="49" charset="-122"/>
              </a:rPr>
              <a:t>姓名，性别，出生年月，</a:t>
            </a:r>
          </a:p>
          <a:p>
            <a:pPr>
              <a:lnSpc>
                <a:spcPct val="125000"/>
              </a:lnSpc>
              <a:buClr>
                <a:schemeClr val="folHlink"/>
              </a:buClr>
              <a:buSzPct val="60000"/>
            </a:pPr>
            <a:r>
              <a:rPr lang="zh-CN" altLang="en-US" sz="2600" b="1">
                <a:solidFill>
                  <a:srgbClr val="800080"/>
                </a:solidFill>
                <a:effectLst>
                  <a:outerShdw blurRad="38100" dist="38100" dir="2700000" algn="tl">
                    <a:srgbClr val="C0C0C0"/>
                  </a:outerShdw>
                </a:effectLst>
                <a:latin typeface="Tahoma" panose="020B0604030504040204" pitchFamily="34" charset="0"/>
                <a:ea typeface="黑体" panose="02010609060101010101" pitchFamily="49" charset="-122"/>
              </a:rPr>
              <a:t>                                            籍贯，专业代码，班级</a:t>
            </a:r>
            <a:r>
              <a:rPr lang="zh-CN" altLang="en-US" sz="2600" b="1">
                <a:effectLst>
                  <a:outerShdw blurRad="38100" dist="38100" dir="2700000" algn="tl">
                    <a:srgbClr val="C0C0C0"/>
                  </a:outerShdw>
                </a:effectLst>
                <a:latin typeface="Tahoma" panose="020B0604030504040204" pitchFamily="34" charset="0"/>
              </a:rPr>
              <a:t>）</a:t>
            </a:r>
            <a:endParaRPr lang="zh-CN" altLang="en-US" sz="2600" b="1">
              <a:solidFill>
                <a:srgbClr val="003366"/>
              </a:solidFill>
              <a:effectLst>
                <a:outerShdw blurRad="38100" dist="38100" dir="2700000" algn="tl">
                  <a:srgbClr val="C0C0C0"/>
                </a:outerShdw>
              </a:effectLst>
              <a:latin typeface="宋体" panose="02010600030101010101" pitchFamily="2" charset="-122"/>
              <a:ea typeface="宋体" panose="02010600030101010101" pitchFamily="2" charset="-122"/>
            </a:endParaRPr>
          </a:p>
          <a:p>
            <a:pPr>
              <a:lnSpc>
                <a:spcPct val="125000"/>
              </a:lnSpc>
              <a:buClr>
                <a:schemeClr val="folHlink"/>
              </a:buClr>
              <a:buSzPct val="60000"/>
            </a:pPr>
            <a:r>
              <a:rPr lang="zh-CN" altLang="en-US" sz="2600" b="1">
                <a:solidFill>
                  <a:srgbClr val="003366"/>
                </a:solidFill>
                <a:effectLst>
                  <a:outerShdw blurRad="38100" dist="38100" dir="2700000" algn="tl">
                    <a:srgbClr val="C0C0C0"/>
                  </a:outerShdw>
                </a:effectLst>
                <a:latin typeface="宋体" panose="02010600030101010101" pitchFamily="2" charset="-122"/>
                <a:ea typeface="宋体" panose="02010600030101010101" pitchFamily="2" charset="-122"/>
              </a:rPr>
              <a:t>      ◆</a:t>
            </a:r>
            <a:r>
              <a:rPr lang="zh-CN" altLang="en-US" sz="2600" b="1">
                <a:effectLst>
                  <a:outerShdw blurRad="38100" dist="38100" dir="2700000" algn="tl">
                    <a:srgbClr val="C0C0C0"/>
                  </a:outerShdw>
                </a:effectLst>
                <a:latin typeface="Tahoma" panose="020B0604030504040204" pitchFamily="34" charset="0"/>
              </a:rPr>
              <a:t>邮寄地址（城市名，街道名，邮政编码，</a:t>
            </a:r>
          </a:p>
          <a:p>
            <a:pPr>
              <a:lnSpc>
                <a:spcPct val="125000"/>
              </a:lnSpc>
              <a:buClr>
                <a:schemeClr val="folHlink"/>
              </a:buClr>
              <a:buSzPct val="60000"/>
            </a:pPr>
            <a:r>
              <a:rPr lang="zh-CN" altLang="en-US" sz="2600" b="1">
                <a:effectLst>
                  <a:outerShdw blurRad="38100" dist="38100" dir="2700000" algn="tl">
                    <a:srgbClr val="C0C0C0"/>
                  </a:outerShdw>
                </a:effectLst>
                <a:latin typeface="Tahoma" panose="020B0604030504040204" pitchFamily="34" charset="0"/>
              </a:rPr>
              <a:t>                                                      </a:t>
            </a:r>
            <a:r>
              <a:rPr lang="zh-CN" altLang="en-US" sz="2600" b="1">
                <a:solidFill>
                  <a:srgbClr val="800080"/>
                </a:solidFill>
                <a:effectLst>
                  <a:outerShdw blurRad="38100" dist="38100" dir="2700000" algn="tl">
                    <a:srgbClr val="C0C0C0"/>
                  </a:outerShdw>
                </a:effectLst>
                <a:latin typeface="Tahoma" panose="020B0604030504040204" pitchFamily="34" charset="0"/>
                <a:ea typeface="黑体" panose="02010609060101010101" pitchFamily="49" charset="-122"/>
              </a:rPr>
              <a:t>单位名，收件人</a:t>
            </a:r>
            <a:r>
              <a:rPr lang="zh-CN" altLang="en-US" sz="2600" b="1">
                <a:effectLst>
                  <a:outerShdw blurRad="38100" dist="38100" dir="2700000" algn="tl">
                    <a:srgbClr val="C0C0C0"/>
                  </a:outerShdw>
                </a:effectLst>
                <a:latin typeface="Tahoma" panose="020B0604030504040204" pitchFamily="34" charset="0"/>
              </a:rPr>
              <a:t>）</a:t>
            </a:r>
            <a:r>
              <a:rPr lang="zh-CN" altLang="en-US" sz="2800" b="1">
                <a:effectLst>
                  <a:outerShdw blurRad="38100" dist="38100" dir="2700000" algn="tl">
                    <a:srgbClr val="C0C0C0"/>
                  </a:outerShdw>
                </a:effectLst>
                <a:latin typeface="Tahoma" panose="020B0604030504040204" pitchFamily="34" charset="0"/>
              </a:rPr>
              <a:t> </a:t>
            </a:r>
          </a:p>
        </p:txBody>
      </p:sp>
      <p:sp>
        <p:nvSpPr>
          <p:cNvPr id="945157" name="矩形 945156">
            <a:extLst>
              <a:ext uri="{FF2B5EF4-FFF2-40B4-BE49-F238E27FC236}">
                <a16:creationId xmlns:a16="http://schemas.microsoft.com/office/drawing/2014/main" id="{7DE0B1E1-D0B5-4E94-BAE5-256BAADB61C2}"/>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t>二、关系的键与关系的属性</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2551"/>
    </mc:Choice>
    <mc:Fallback xmlns="">
      <p:transition spd="slow" advTm="32551"/>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45156">
                                            <p:bg/>
                                          </p:spTgt>
                                        </p:tgtEl>
                                        <p:attrNameLst>
                                          <p:attrName>style.visibility</p:attrName>
                                        </p:attrNameLst>
                                      </p:cBhvr>
                                      <p:to>
                                        <p:strVal val="visible"/>
                                      </p:to>
                                    </p:set>
                                    <p:animEffect transition="in" filter="wipe(left)">
                                      <p:cBhvr>
                                        <p:cTn id="7" dur="1000"/>
                                        <p:tgtEl>
                                          <p:spTgt spid="945156">
                                            <p:bg/>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945156">
                                            <p:txEl>
                                              <p:pRg st="2" end="2"/>
                                            </p:txEl>
                                          </p:spTgt>
                                        </p:tgtEl>
                                        <p:attrNameLst>
                                          <p:attrName>style.visibility</p:attrName>
                                        </p:attrNameLst>
                                      </p:cBhvr>
                                      <p:to>
                                        <p:strVal val="visible"/>
                                      </p:to>
                                    </p:set>
                                    <p:animEffect transition="in" filter="box(in)">
                                      <p:cBhvr>
                                        <p:cTn id="10" dur="500"/>
                                        <p:tgtEl>
                                          <p:spTgt spid="945156">
                                            <p:txEl>
                                              <p:pRg st="2" end="2"/>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nodeType="clickEffect">
                                  <p:stCondLst>
                                    <p:cond delay="0"/>
                                  </p:stCondLst>
                                  <p:childTnLst>
                                    <p:set>
                                      <p:cBhvr>
                                        <p:cTn id="14" dur="1" fill="hold">
                                          <p:stCondLst>
                                            <p:cond delay="0"/>
                                          </p:stCondLst>
                                        </p:cTn>
                                        <p:tgtEl>
                                          <p:spTgt spid="945156">
                                            <p:txEl>
                                              <p:pRg st="3" end="3"/>
                                            </p:txEl>
                                          </p:spTgt>
                                        </p:tgtEl>
                                        <p:attrNameLst>
                                          <p:attrName>style.visibility</p:attrName>
                                        </p:attrNameLst>
                                      </p:cBhvr>
                                      <p:to>
                                        <p:strVal val="visible"/>
                                      </p:to>
                                    </p:set>
                                    <p:animEffect transition="in" filter="box(in)">
                                      <p:cBhvr>
                                        <p:cTn id="15" dur="500"/>
                                        <p:tgtEl>
                                          <p:spTgt spid="945156">
                                            <p:txEl>
                                              <p:pRg st="3" end="3"/>
                                            </p:txEl>
                                          </p:spTgt>
                                        </p:tgtEl>
                                      </p:cBhvr>
                                    </p:animEffect>
                                  </p:childTnLst>
                                </p:cTn>
                              </p:par>
                              <p:par>
                                <p:cTn id="16" presetID="4" presetClass="entr" presetSubtype="16" fill="hold" nodeType="withEffect">
                                  <p:stCondLst>
                                    <p:cond delay="0"/>
                                  </p:stCondLst>
                                  <p:childTnLst>
                                    <p:set>
                                      <p:cBhvr>
                                        <p:cTn id="17" dur="1" fill="hold">
                                          <p:stCondLst>
                                            <p:cond delay="0"/>
                                          </p:stCondLst>
                                        </p:cTn>
                                        <p:tgtEl>
                                          <p:spTgt spid="945156">
                                            <p:txEl>
                                              <p:pRg st="7" end="7"/>
                                            </p:txEl>
                                          </p:spTgt>
                                        </p:tgtEl>
                                        <p:attrNameLst>
                                          <p:attrName>style.visibility</p:attrName>
                                        </p:attrNameLst>
                                      </p:cBhvr>
                                      <p:to>
                                        <p:strVal val="visible"/>
                                      </p:to>
                                    </p:set>
                                    <p:animEffect transition="in" filter="box(in)">
                                      <p:cBhvr>
                                        <p:cTn id="18" dur="500"/>
                                        <p:tgtEl>
                                          <p:spTgt spid="945156">
                                            <p:txEl>
                                              <p:pRg st="7" end="7"/>
                                            </p:txEl>
                                          </p:spTgt>
                                        </p:tgtEl>
                                      </p:cBhvr>
                                    </p:animEffect>
                                  </p:childTnLst>
                                </p:cTn>
                              </p:par>
                              <p:par>
                                <p:cTn id="19" presetID="4" presetClass="entr" presetSubtype="16" fill="hold" nodeType="withEffect">
                                  <p:stCondLst>
                                    <p:cond delay="0"/>
                                  </p:stCondLst>
                                  <p:childTnLst>
                                    <p:set>
                                      <p:cBhvr>
                                        <p:cTn id="20" dur="1" fill="hold">
                                          <p:stCondLst>
                                            <p:cond delay="0"/>
                                          </p:stCondLst>
                                        </p:cTn>
                                        <p:tgtEl>
                                          <p:spTgt spid="945156">
                                            <p:txEl>
                                              <p:pRg st="4" end="4"/>
                                            </p:txEl>
                                          </p:spTgt>
                                        </p:tgtEl>
                                        <p:attrNameLst>
                                          <p:attrName>style.visibility</p:attrName>
                                        </p:attrNameLst>
                                      </p:cBhvr>
                                      <p:to>
                                        <p:strVal val="visible"/>
                                      </p:to>
                                    </p:set>
                                    <p:animEffect transition="in" filter="box(in)">
                                      <p:cBhvr>
                                        <p:cTn id="21" dur="500"/>
                                        <p:tgtEl>
                                          <p:spTgt spid="945156">
                                            <p:txEl>
                                              <p:pRg st="4" end="4"/>
                                            </p:txEl>
                                          </p:spTgt>
                                        </p:tgtEl>
                                      </p:cBhvr>
                                    </p:animEffect>
                                  </p:childTnLst>
                                </p:cTn>
                              </p:par>
                              <p:par>
                                <p:cTn id="22" presetID="4" presetClass="entr" presetSubtype="16" fill="hold" nodeType="withEffect">
                                  <p:stCondLst>
                                    <p:cond delay="0"/>
                                  </p:stCondLst>
                                  <p:childTnLst>
                                    <p:set>
                                      <p:cBhvr>
                                        <p:cTn id="23" dur="1" fill="hold">
                                          <p:stCondLst>
                                            <p:cond delay="0"/>
                                          </p:stCondLst>
                                        </p:cTn>
                                        <p:tgtEl>
                                          <p:spTgt spid="945156">
                                            <p:txEl>
                                              <p:pRg st="5" end="5"/>
                                            </p:txEl>
                                          </p:spTgt>
                                        </p:tgtEl>
                                        <p:attrNameLst>
                                          <p:attrName>style.visibility</p:attrName>
                                        </p:attrNameLst>
                                      </p:cBhvr>
                                      <p:to>
                                        <p:strVal val="visible"/>
                                      </p:to>
                                    </p:set>
                                    <p:animEffect transition="in" filter="box(in)">
                                      <p:cBhvr>
                                        <p:cTn id="24" dur="500"/>
                                        <p:tgtEl>
                                          <p:spTgt spid="945156">
                                            <p:txEl>
                                              <p:pRg st="5" end="5"/>
                                            </p:txEl>
                                          </p:spTgt>
                                        </p:tgtEl>
                                      </p:cBhvr>
                                    </p:animEffect>
                                  </p:childTnLst>
                                </p:cTn>
                              </p:par>
                              <p:par>
                                <p:cTn id="25" presetID="4" presetClass="entr" presetSubtype="16" fill="hold" nodeType="withEffect">
                                  <p:stCondLst>
                                    <p:cond delay="0"/>
                                  </p:stCondLst>
                                  <p:childTnLst>
                                    <p:set>
                                      <p:cBhvr>
                                        <p:cTn id="26" dur="1" fill="hold">
                                          <p:stCondLst>
                                            <p:cond delay="0"/>
                                          </p:stCondLst>
                                        </p:cTn>
                                        <p:tgtEl>
                                          <p:spTgt spid="945156">
                                            <p:txEl>
                                              <p:pRg st="6" end="6"/>
                                            </p:txEl>
                                          </p:spTgt>
                                        </p:tgtEl>
                                        <p:attrNameLst>
                                          <p:attrName>style.visibility</p:attrName>
                                        </p:attrNameLst>
                                      </p:cBhvr>
                                      <p:to>
                                        <p:strVal val="visible"/>
                                      </p:to>
                                    </p:set>
                                    <p:animEffect transition="in" filter="box(in)">
                                      <p:cBhvr>
                                        <p:cTn id="27" dur="500"/>
                                        <p:tgtEl>
                                          <p:spTgt spid="94515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5156" grpId="0" build="p"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85" name="矩形 839684">
            <a:extLst>
              <a:ext uri="{FF2B5EF4-FFF2-40B4-BE49-F238E27FC236}">
                <a16:creationId xmlns:a16="http://schemas.microsoft.com/office/drawing/2014/main" id="{88F1549B-08DA-4479-9159-576BC9300418}"/>
              </a:ext>
            </a:extLst>
          </p:cNvPr>
          <p:cNvSpPr/>
          <p:nvPr/>
        </p:nvSpPr>
        <p:spPr>
          <a:xfrm>
            <a:off x="468313" y="1185863"/>
            <a:ext cx="8207375" cy="730250"/>
          </a:xfrm>
          <a:prstGeom prst="rect">
            <a:avLst/>
          </a:prstGeom>
          <a:noFill/>
          <a:ln w="9525" cap="flat" cmpd="sng">
            <a:solidFill>
              <a:schemeClr val="bg1"/>
            </a:solidFill>
            <a:prstDash val="solid"/>
            <a:miter/>
            <a:headEnd type="none" w="med" len="med"/>
            <a:tailEnd type="none" w="med" len="med"/>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r>
              <a:rPr lang="zh-CN" altLang="en-US" sz="2600" noProof="1">
                <a:solidFill>
                  <a:srgbClr val="990033"/>
                </a:solidFill>
                <a:ea typeface="黑体" panose="02010609060101010101" pitchFamily="2" charset="-122"/>
              </a:rPr>
              <a:t>         </a:t>
            </a:r>
            <a:r>
              <a:rPr lang="zh-CN" altLang="en-US" sz="2600" noProof="1">
                <a:solidFill>
                  <a:srgbClr val="003366"/>
                </a:solidFill>
                <a:ea typeface="黑体" panose="02010609060101010101" pitchFamily="2" charset="-122"/>
              </a:rPr>
              <a:t>简单情况下，</a:t>
            </a:r>
            <a:r>
              <a:rPr lang="zh-CN" altLang="en-US" sz="2600" noProof="1">
                <a:solidFill>
                  <a:srgbClr val="990033"/>
                </a:solidFill>
                <a:ea typeface="黑体" panose="02010609060101010101" pitchFamily="2" charset="-122"/>
              </a:rPr>
              <a:t>一个关系只有一个主属性：</a:t>
            </a:r>
            <a:r>
              <a:rPr lang="zh-CN" altLang="en-US" noProof="1"/>
              <a:t>  </a:t>
            </a:r>
          </a:p>
          <a:p>
            <a:pPr>
              <a:lnSpc>
                <a:spcPct val="135000"/>
              </a:lnSpc>
              <a:spcBef>
                <a:spcPct val="5000"/>
              </a:spcBef>
            </a:pPr>
            <a:endParaRPr lang="zh-CN" altLang="en-US" noProof="1"/>
          </a:p>
          <a:p>
            <a:pPr>
              <a:lnSpc>
                <a:spcPct val="135000"/>
              </a:lnSpc>
              <a:spcBef>
                <a:spcPct val="5000"/>
              </a:spcBef>
            </a:pPr>
            <a:endParaRPr lang="zh-CN" altLang="en-US" noProof="1"/>
          </a:p>
          <a:p>
            <a:pPr>
              <a:lnSpc>
                <a:spcPct val="135000"/>
              </a:lnSpc>
              <a:spcBef>
                <a:spcPct val="5000"/>
              </a:spcBef>
            </a:pPr>
            <a:endParaRPr lang="zh-CN" altLang="en-US" sz="2600" noProof="1">
              <a:solidFill>
                <a:srgbClr val="660033"/>
              </a:solidFill>
              <a:ea typeface="黑体" panose="02010609060101010101" pitchFamily="2" charset="-122"/>
            </a:endParaRPr>
          </a:p>
          <a:p>
            <a:pPr>
              <a:lnSpc>
                <a:spcPct val="135000"/>
              </a:lnSpc>
              <a:spcBef>
                <a:spcPct val="5000"/>
              </a:spcBef>
            </a:pPr>
            <a:r>
              <a:rPr lang="zh-CN" altLang="en-US" sz="2600" noProof="1">
                <a:solidFill>
                  <a:srgbClr val="660033"/>
                </a:solidFill>
                <a:ea typeface="黑体" panose="02010609060101010101" pitchFamily="2" charset="-122"/>
              </a:rPr>
              <a:t>           </a:t>
            </a:r>
            <a:endParaRPr lang="zh-CN" altLang="en-US" b="0" noProof="1">
              <a:latin typeface="黑体" panose="02010609060101010101" pitchFamily="2" charset="-122"/>
              <a:ea typeface="黑体" panose="02010609060101010101" pitchFamily="2" charset="-122"/>
            </a:endParaRPr>
          </a:p>
        </p:txBody>
      </p:sp>
      <p:graphicFrame>
        <p:nvGraphicFramePr>
          <p:cNvPr id="839686" name="表格 839685">
            <a:extLst>
              <a:ext uri="{FF2B5EF4-FFF2-40B4-BE49-F238E27FC236}">
                <a16:creationId xmlns:a16="http://schemas.microsoft.com/office/drawing/2014/main" id="{EF4EE871-E13A-4F0C-9E45-C9375297F1EA}"/>
              </a:ext>
            </a:extLst>
          </p:cNvPr>
          <p:cNvGraphicFramePr/>
          <p:nvPr/>
        </p:nvGraphicFramePr>
        <p:xfrm>
          <a:off x="2339975" y="2593975"/>
          <a:ext cx="4140200" cy="2138362"/>
        </p:xfrm>
        <a:graphic>
          <a:graphicData uri="http://schemas.openxmlformats.org/drawingml/2006/table">
            <a:tbl>
              <a:tblPr/>
              <a:tblGrid>
                <a:gridCol w="1423988">
                  <a:extLst>
                    <a:ext uri="{9D8B030D-6E8A-4147-A177-3AD203B41FA5}">
                      <a16:colId xmlns:a16="http://schemas.microsoft.com/office/drawing/2014/main" val="20000"/>
                    </a:ext>
                  </a:extLst>
                </a:gridCol>
                <a:gridCol w="1819275">
                  <a:extLst>
                    <a:ext uri="{9D8B030D-6E8A-4147-A177-3AD203B41FA5}">
                      <a16:colId xmlns:a16="http://schemas.microsoft.com/office/drawing/2014/main" val="20001"/>
                    </a:ext>
                  </a:extLst>
                </a:gridCol>
                <a:gridCol w="896937">
                  <a:extLst>
                    <a:ext uri="{9D8B030D-6E8A-4147-A177-3AD203B41FA5}">
                      <a16:colId xmlns:a16="http://schemas.microsoft.com/office/drawing/2014/main" val="20002"/>
                    </a:ext>
                  </a:extLst>
                </a:gridCol>
              </a:tblGrid>
              <a:tr h="340192">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1500" dirty="0">
                          <a:solidFill>
                            <a:srgbClr val="66FF66"/>
                          </a:solidFill>
                          <a:latin typeface="楷体_GB2312" pitchFamily="49" charset="-122"/>
                        </a:rPr>
                        <a:t> </a:t>
                      </a:r>
                      <a:r>
                        <a:rPr lang="zh-CN" altLang="en-US" sz="1500" dirty="0">
                          <a:solidFill>
                            <a:srgbClr val="CC00CC"/>
                          </a:solidFill>
                          <a:latin typeface="楷体_GB2312" pitchFamily="49" charset="-122"/>
                        </a:rPr>
                        <a:t>课程号</a:t>
                      </a:r>
                    </a:p>
                  </a:txBody>
                  <a:tcPr marL="90000" marR="90000" marT="30027" marB="30027" anchor="ctr" anchorCtr="1">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500" dirty="0">
                          <a:latin typeface="楷体_GB2312" pitchFamily="49" charset="-122"/>
                        </a:rPr>
                        <a:t>课程名</a:t>
                      </a:r>
                    </a:p>
                  </a:txBody>
                  <a:tcPr marL="90000" marR="90000" marT="30027" marB="30027"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zh-CN" altLang="en-US" sz="1500" dirty="0">
                          <a:latin typeface="楷体_GB2312" pitchFamily="49" charset="-122"/>
                        </a:rPr>
                        <a:t>学时</a:t>
                      </a:r>
                    </a:p>
                  </a:txBody>
                  <a:tcPr marL="90000" marR="90000" marT="30027" marB="30027" anchor="ctr" anchorCtr="1">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28575"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0"/>
                  </a:ext>
                </a:extLst>
              </a:tr>
              <a:tr h="599390">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500">
                          <a:latin typeface="楷体_GB2312" pitchFamily="49" charset="-122"/>
                        </a:rPr>
                        <a:t>C401001</a:t>
                      </a:r>
                    </a:p>
                  </a:txBody>
                  <a:tcPr marL="90000" marR="90000" marT="30027" marB="30027" anchor="ctr" anchorCtr="1">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500" dirty="0">
                          <a:latin typeface="楷体_GB2312" pitchFamily="49" charset="-122"/>
                        </a:rPr>
                        <a:t>数据结构</a:t>
                      </a:r>
                    </a:p>
                  </a:txBody>
                  <a:tcPr marL="90000" marR="90000" marT="30027" marB="30027"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500">
                          <a:latin typeface="楷体_GB2312" pitchFamily="49" charset="-122"/>
                        </a:rPr>
                        <a:t>70</a:t>
                      </a:r>
                    </a:p>
                  </a:txBody>
                  <a:tcPr marL="90000" marR="90000" marT="30027" marB="30027" anchor="ctr" anchorCtr="1">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1"/>
                  </a:ext>
                </a:extLst>
              </a:tr>
              <a:tr h="599390">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500">
                          <a:latin typeface="楷体_GB2312" pitchFamily="49" charset="-122"/>
                        </a:rPr>
                        <a:t>C401002</a:t>
                      </a:r>
                    </a:p>
                  </a:txBody>
                  <a:tcPr marL="90000" marR="90000" marT="30027" marB="30027" anchor="ctr" anchorCtr="1">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500" dirty="0">
                          <a:latin typeface="楷体_GB2312" pitchFamily="49" charset="-122"/>
                        </a:rPr>
                        <a:t>操作系统</a:t>
                      </a:r>
                    </a:p>
                  </a:txBody>
                  <a:tcPr marL="90000" marR="90000" marT="30027" marB="30027"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500">
                          <a:latin typeface="楷体_GB2312" pitchFamily="49" charset="-122"/>
                        </a:rPr>
                        <a:t>60</a:t>
                      </a:r>
                    </a:p>
                  </a:txBody>
                  <a:tcPr marL="90000" marR="90000" marT="30027" marB="30027" anchor="ctr" anchorCtr="1">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12700"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2"/>
                  </a:ext>
                </a:extLst>
              </a:tr>
              <a:tr h="599390">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500">
                          <a:latin typeface="楷体_GB2312" pitchFamily="49" charset="-122"/>
                        </a:rPr>
                        <a:t>C402001</a:t>
                      </a:r>
                    </a:p>
                  </a:txBody>
                  <a:tcPr marL="90000" marR="90000" marT="30027" marB="30027" anchor="ctr" anchorCtr="1">
                    <a:lnL w="28575"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buClr>
                          <a:schemeClr val="folHlink"/>
                        </a:buClr>
                        <a:buSzPct val="60000"/>
                        <a:buNone/>
                      </a:pPr>
                      <a:r>
                        <a:rPr lang="zh-CN" altLang="en-US" sz="1500" dirty="0">
                          <a:latin typeface="楷体_GB2312" pitchFamily="49" charset="-122"/>
                        </a:rPr>
                        <a:t>计算机原理</a:t>
                      </a:r>
                    </a:p>
                  </a:txBody>
                  <a:tcPr marL="90000" marR="90000" marT="30027" marB="30027" anchor="ctr" anchorCtr="1">
                    <a:lnL w="12700" cap="flat" cmpd="sng">
                      <a:solidFill>
                        <a:schemeClr val="tx1"/>
                      </a:solidFill>
                      <a:prstDash val="solid"/>
                      <a:headEnd type="none" w="sm" len="lg"/>
                      <a:tailEnd type="none" w="sm" len="lg"/>
                    </a:lnL>
                    <a:lnR w="12700"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buClr>
                          <a:schemeClr val="folHlink"/>
                        </a:buClr>
                        <a:buSzPct val="60000"/>
                        <a:buNone/>
                      </a:pPr>
                      <a:r>
                        <a:rPr lang="en-US" altLang="zh-CN" sz="1500">
                          <a:latin typeface="楷体_GB2312" pitchFamily="49" charset="-122"/>
                        </a:rPr>
                        <a:t>60</a:t>
                      </a:r>
                    </a:p>
                  </a:txBody>
                  <a:tcPr marL="90000" marR="90000" marT="30027" marB="30027" anchor="ctr" anchorCtr="1">
                    <a:lnL w="12700" cap="flat" cmpd="sng">
                      <a:solidFill>
                        <a:schemeClr val="tx1"/>
                      </a:solidFill>
                      <a:prstDash val="solid"/>
                      <a:headEnd type="none" w="sm" len="lg"/>
                      <a:tailEnd type="none" w="sm" len="lg"/>
                    </a:lnL>
                    <a:lnR w="28575" cap="flat" cmpd="sng">
                      <a:solidFill>
                        <a:schemeClr val="tx1"/>
                      </a:solidFill>
                      <a:prstDash val="solid"/>
                      <a:headEnd type="none" w="sm" len="lg"/>
                      <a:tailEnd type="none" w="sm" len="lg"/>
                    </a:lnR>
                    <a:lnT w="12700" cap="flat" cmpd="sng">
                      <a:solidFill>
                        <a:schemeClr val="tx1"/>
                      </a:solidFill>
                      <a:prstDash val="solid"/>
                      <a:headEnd type="none" w="sm" len="lg"/>
                      <a:tailEnd type="none" w="sm" len="lg"/>
                    </a:lnT>
                    <a:lnB w="28575" cap="flat" cmpd="sng">
                      <a:solidFill>
                        <a:schemeClr val="tx1"/>
                      </a:solidFill>
                      <a:prstDash val="solid"/>
                      <a:headEnd type="none" w="sm" len="lg"/>
                      <a:tailEnd type="none" w="sm" len="lg"/>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3272" name="文本框 839707">
            <a:extLst>
              <a:ext uri="{FF2B5EF4-FFF2-40B4-BE49-F238E27FC236}">
                <a16:creationId xmlns:a16="http://schemas.microsoft.com/office/drawing/2014/main" id="{7F34646D-B7C6-4999-A336-6C2F8470E7D2}"/>
              </a:ext>
            </a:extLst>
          </p:cNvPr>
          <p:cNvSpPr txBox="1">
            <a:spLocks noChangeArrowheads="1"/>
          </p:cNvSpPr>
          <p:nvPr/>
        </p:nvSpPr>
        <p:spPr bwMode="auto">
          <a:xfrm>
            <a:off x="2441575" y="2084388"/>
            <a:ext cx="2454275" cy="45720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r>
              <a:rPr lang="zh-CN" altLang="en-US" sz="2400" b="1">
                <a:solidFill>
                  <a:srgbClr val="0033CC"/>
                </a:solidFill>
                <a:latin typeface="楷体_GB2312" pitchFamily="49" charset="-122"/>
              </a:rPr>
              <a:t>课程关系</a:t>
            </a:r>
            <a:r>
              <a:rPr lang="en-US" altLang="zh-CN" sz="2400" b="1">
                <a:solidFill>
                  <a:srgbClr val="0033CC"/>
                </a:solidFill>
                <a:latin typeface="楷体_GB2312" pitchFamily="49" charset="-122"/>
              </a:rPr>
              <a:t>C</a:t>
            </a:r>
            <a:endParaRPr lang="en-US" altLang="zh-CN" sz="2400" b="1">
              <a:solidFill>
                <a:srgbClr val="660033"/>
              </a:solidFill>
              <a:latin typeface="楷体_GB2312" pitchFamily="49" charset="-122"/>
            </a:endParaRPr>
          </a:p>
        </p:txBody>
      </p:sp>
      <p:sp>
        <p:nvSpPr>
          <p:cNvPr id="839710" name="矩形 839709">
            <a:extLst>
              <a:ext uri="{FF2B5EF4-FFF2-40B4-BE49-F238E27FC236}">
                <a16:creationId xmlns:a16="http://schemas.microsoft.com/office/drawing/2014/main" id="{B7EADC44-5D4E-4295-8785-C9276D66F375}"/>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t>二、关系的键与关系的属性</a:t>
            </a:r>
          </a:p>
        </p:txBody>
      </p:sp>
    </p:spTree>
  </p:cSld>
  <p:clrMapOvr>
    <a:masterClrMapping/>
  </p:clrMapOvr>
  <mc:AlternateContent xmlns:mc="http://schemas.openxmlformats.org/markup-compatibility/2006" xmlns:p14="http://schemas.microsoft.com/office/powerpoint/2010/main">
    <mc:Choice Requires="p14">
      <p:transition spd="slow" p14:dur="2000" advTm="16569"/>
    </mc:Choice>
    <mc:Fallback xmlns="">
      <p:transition spd="slow" advTm="16569"/>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0276" name="矩形 950275">
            <a:extLst>
              <a:ext uri="{FF2B5EF4-FFF2-40B4-BE49-F238E27FC236}">
                <a16:creationId xmlns:a16="http://schemas.microsoft.com/office/drawing/2014/main" id="{348673E3-808C-45F5-921A-527BAC765B39}"/>
              </a:ext>
            </a:extLst>
          </p:cNvPr>
          <p:cNvSpPr/>
          <p:nvPr/>
        </p:nvSpPr>
        <p:spPr>
          <a:xfrm>
            <a:off x="468313" y="1185863"/>
            <a:ext cx="8207375" cy="587375"/>
          </a:xfrm>
          <a:prstGeom prst="rect">
            <a:avLst/>
          </a:prstGeom>
          <a:noFill/>
          <a:ln w="9525" cap="flat" cmpd="sng">
            <a:solidFill>
              <a:schemeClr val="bg1"/>
            </a:solidFill>
            <a:prstDash val="solid"/>
            <a:miter/>
            <a:headEnd type="none" w="med" len="med"/>
            <a:tailEnd type="none" w="med" len="med"/>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r>
              <a:rPr lang="zh-CN" altLang="en-US" sz="2600" noProof="1">
                <a:solidFill>
                  <a:srgbClr val="990033"/>
                </a:solidFill>
                <a:ea typeface="黑体" panose="02010609060101010101" pitchFamily="2" charset="-122"/>
              </a:rPr>
              <a:t>         </a:t>
            </a:r>
            <a:r>
              <a:rPr lang="zh-CN" altLang="en-US" sz="2600" noProof="1">
                <a:solidFill>
                  <a:srgbClr val="003366"/>
                </a:solidFill>
                <a:ea typeface="黑体" panose="02010609060101010101" pitchFamily="2" charset="-122"/>
              </a:rPr>
              <a:t>极端情况下，</a:t>
            </a:r>
            <a:r>
              <a:rPr lang="zh-CN" altLang="en-US" sz="2600" noProof="1">
                <a:solidFill>
                  <a:srgbClr val="660033"/>
                </a:solidFill>
                <a:ea typeface="黑体" panose="02010609060101010101" pitchFamily="2" charset="-122"/>
              </a:rPr>
              <a:t>一个关系的全部属性都是主属性。</a:t>
            </a:r>
            <a:r>
              <a:rPr lang="zh-CN" altLang="en-US" sz="2400" noProof="1"/>
              <a:t>        </a:t>
            </a:r>
            <a:endParaRPr lang="zh-CN" altLang="en-US" noProof="1">
              <a:solidFill>
                <a:srgbClr val="006666"/>
              </a:solidFill>
            </a:endParaRPr>
          </a:p>
          <a:p>
            <a:pPr>
              <a:lnSpc>
                <a:spcPct val="135000"/>
              </a:lnSpc>
              <a:spcBef>
                <a:spcPct val="5000"/>
              </a:spcBef>
            </a:pPr>
            <a:r>
              <a:rPr lang="zh-CN" altLang="en-US" noProof="1"/>
              <a:t>           </a:t>
            </a:r>
          </a:p>
          <a:p>
            <a:pPr>
              <a:lnSpc>
                <a:spcPct val="135000"/>
              </a:lnSpc>
              <a:spcBef>
                <a:spcPct val="5000"/>
              </a:spcBef>
            </a:pPr>
            <a:endParaRPr lang="zh-CN" altLang="en-US" noProof="1"/>
          </a:p>
          <a:p>
            <a:pPr>
              <a:lnSpc>
                <a:spcPct val="135000"/>
              </a:lnSpc>
              <a:spcBef>
                <a:spcPct val="5000"/>
              </a:spcBef>
            </a:pPr>
            <a:endParaRPr lang="zh-CN" altLang="en-US" noProof="1"/>
          </a:p>
          <a:p>
            <a:pPr>
              <a:lnSpc>
                <a:spcPct val="135000"/>
              </a:lnSpc>
              <a:spcBef>
                <a:spcPct val="5000"/>
              </a:spcBef>
            </a:pPr>
            <a:endParaRPr lang="zh-CN" altLang="en-US" sz="2600" noProof="1">
              <a:solidFill>
                <a:srgbClr val="660033"/>
              </a:solidFill>
              <a:ea typeface="黑体" panose="02010609060101010101" pitchFamily="2" charset="-122"/>
            </a:endParaRPr>
          </a:p>
          <a:p>
            <a:pPr>
              <a:lnSpc>
                <a:spcPct val="135000"/>
              </a:lnSpc>
              <a:spcBef>
                <a:spcPct val="5000"/>
              </a:spcBef>
            </a:pPr>
            <a:r>
              <a:rPr lang="zh-CN" altLang="en-US" sz="2600" noProof="1">
                <a:solidFill>
                  <a:srgbClr val="660033"/>
                </a:solidFill>
                <a:ea typeface="黑体" panose="02010609060101010101" pitchFamily="2" charset="-122"/>
              </a:rPr>
              <a:t>           </a:t>
            </a:r>
          </a:p>
          <a:p>
            <a:pPr>
              <a:lnSpc>
                <a:spcPct val="135000"/>
              </a:lnSpc>
              <a:spcBef>
                <a:spcPct val="5000"/>
              </a:spcBef>
            </a:pPr>
            <a:r>
              <a:rPr lang="zh-CN" altLang="en-US" sz="2600" noProof="1">
                <a:solidFill>
                  <a:srgbClr val="660033"/>
                </a:solidFill>
                <a:ea typeface="黑体" panose="02010609060101010101" pitchFamily="2" charset="-122"/>
              </a:rPr>
              <a:t>    </a:t>
            </a:r>
            <a:endParaRPr lang="zh-CN" altLang="en-US" b="0" noProof="1">
              <a:latin typeface="黑体" panose="02010609060101010101" pitchFamily="2" charset="-122"/>
              <a:ea typeface="黑体" panose="02010609060101010101" pitchFamily="2" charset="-122"/>
            </a:endParaRPr>
          </a:p>
        </p:txBody>
      </p:sp>
      <p:sp>
        <p:nvSpPr>
          <p:cNvPr id="54274" name="文本框 950298">
            <a:extLst>
              <a:ext uri="{FF2B5EF4-FFF2-40B4-BE49-F238E27FC236}">
                <a16:creationId xmlns:a16="http://schemas.microsoft.com/office/drawing/2014/main" id="{22512D96-335A-4021-A1F0-B68EC249DE56}"/>
              </a:ext>
            </a:extLst>
          </p:cNvPr>
          <p:cNvSpPr txBox="1">
            <a:spLocks noChangeArrowheads="1"/>
          </p:cNvSpPr>
          <p:nvPr/>
        </p:nvSpPr>
        <p:spPr bwMode="auto">
          <a:xfrm>
            <a:off x="1619250" y="1965325"/>
            <a:ext cx="2454275" cy="457200"/>
          </a:xfrm>
          <a:prstGeom prst="rect">
            <a:avLst/>
          </a:prstGeom>
          <a:noFill/>
          <a:ln>
            <a:noFill/>
          </a:ln>
          <a:effectLst>
            <a:outerShdw dist="17961" dir="2700000" algn="ctr" rotWithShape="0">
              <a:srgbClr val="000066"/>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r>
              <a:rPr lang="zh-CN" altLang="en-US" sz="2400" b="1">
                <a:solidFill>
                  <a:srgbClr val="0033CC"/>
                </a:solidFill>
                <a:latin typeface="楷体_GB2312" pitchFamily="49" charset="-122"/>
              </a:rPr>
              <a:t>设置关系</a:t>
            </a:r>
            <a:r>
              <a:rPr lang="en-US" altLang="zh-CN" sz="2400" b="1">
                <a:solidFill>
                  <a:srgbClr val="0033CC"/>
                </a:solidFill>
                <a:latin typeface="楷体_GB2312" pitchFamily="49" charset="-122"/>
              </a:rPr>
              <a:t>CS</a:t>
            </a:r>
            <a:endParaRPr lang="en-US" altLang="zh-CN" sz="2400" b="1">
              <a:solidFill>
                <a:srgbClr val="660033"/>
              </a:solidFill>
              <a:latin typeface="楷体_GB2312" pitchFamily="49" charset="-122"/>
            </a:endParaRPr>
          </a:p>
        </p:txBody>
      </p:sp>
      <p:sp>
        <p:nvSpPr>
          <p:cNvPr id="54275" name="文本框 950299">
            <a:extLst>
              <a:ext uri="{FF2B5EF4-FFF2-40B4-BE49-F238E27FC236}">
                <a16:creationId xmlns:a16="http://schemas.microsoft.com/office/drawing/2014/main" id="{B35B2D00-C5D9-475A-B8A5-9C94C06D26D8}"/>
              </a:ext>
            </a:extLst>
          </p:cNvPr>
          <p:cNvSpPr txBox="1">
            <a:spLocks noChangeArrowheads="1"/>
          </p:cNvSpPr>
          <p:nvPr/>
        </p:nvSpPr>
        <p:spPr bwMode="auto">
          <a:xfrm>
            <a:off x="8578850" y="6375400"/>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spcBef>
                <a:spcPct val="50000"/>
              </a:spcBef>
            </a:pPr>
            <a:r>
              <a:rPr lang="en-US" altLang="zh-CN" sz="2000" b="1"/>
              <a:t>#</a:t>
            </a:r>
          </a:p>
        </p:txBody>
      </p:sp>
      <p:sp>
        <p:nvSpPr>
          <p:cNvPr id="950301" name="矩形 950300">
            <a:extLst>
              <a:ext uri="{FF2B5EF4-FFF2-40B4-BE49-F238E27FC236}">
                <a16:creationId xmlns:a16="http://schemas.microsoft.com/office/drawing/2014/main" id="{66C2EADC-1ABB-4B16-8C74-4D717078CF3F}"/>
              </a:ext>
            </a:extLst>
          </p:cNvPr>
          <p:cNvSpPr/>
          <p:nvPr/>
        </p:nvSpPr>
        <p:spPr>
          <a:xfrm>
            <a:off x="1150938" y="214313"/>
            <a:ext cx="7793037" cy="6223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r>
              <a:rPr lang="zh-CN" altLang="en-US" noProof="1"/>
              <a:t>二、关系的键与关系的属性</a:t>
            </a:r>
          </a:p>
        </p:txBody>
      </p:sp>
      <p:grpSp>
        <p:nvGrpSpPr>
          <p:cNvPr id="54277" name="组合 950319">
            <a:extLst>
              <a:ext uri="{FF2B5EF4-FFF2-40B4-BE49-F238E27FC236}">
                <a16:creationId xmlns:a16="http://schemas.microsoft.com/office/drawing/2014/main" id="{40537CF4-5726-4B4D-9EFC-C1D958F05AD6}"/>
              </a:ext>
            </a:extLst>
          </p:cNvPr>
          <p:cNvGrpSpPr>
            <a:grpSpLocks/>
          </p:cNvGrpSpPr>
          <p:nvPr/>
        </p:nvGrpSpPr>
        <p:grpSpPr bwMode="auto">
          <a:xfrm>
            <a:off x="3851275" y="1989138"/>
            <a:ext cx="4175125" cy="3744912"/>
            <a:chOff x="2835" y="1162"/>
            <a:chExt cx="2630" cy="2359"/>
          </a:xfrm>
        </p:grpSpPr>
        <p:sp>
          <p:nvSpPr>
            <p:cNvPr id="950310" name="文本框 950309">
              <a:extLst>
                <a:ext uri="{FF2B5EF4-FFF2-40B4-BE49-F238E27FC236}">
                  <a16:creationId xmlns:a16="http://schemas.microsoft.com/office/drawing/2014/main" id="{46FD872F-7810-42CA-86A6-2B9AD32D1448}"/>
                </a:ext>
              </a:extLst>
            </p:cNvPr>
            <p:cNvSpPr txBox="1"/>
            <p:nvPr/>
          </p:nvSpPr>
          <p:spPr>
            <a:xfrm>
              <a:off x="2835" y="1162"/>
              <a:ext cx="2630" cy="2359"/>
            </a:xfrm>
            <a:prstGeom prst="rect">
              <a:avLst/>
            </a:prstGeom>
            <a:solidFill>
              <a:srgbClr val="FFFFFF"/>
            </a:solidFill>
            <a:ln w="28575" cap="flat" cmpd="sng">
              <a:solidFill>
                <a:srgbClr val="800080"/>
              </a:solidFill>
              <a:prstDash val="solid"/>
              <a:miter/>
              <a:headEnd type="none" w="med" len="med"/>
              <a:tailEnd type="none" w="med" len="med"/>
            </a:ln>
          </p:spPr>
          <p:txBody>
            <a:bodyPr/>
            <a:lstStyle/>
            <a:p>
              <a:pPr algn="just">
                <a:lnSpc>
                  <a:spcPct val="110000"/>
                </a:lnSpc>
              </a:pPr>
              <a:r>
                <a:rPr lang="zh-CN" altLang="en-US" sz="2400" b="1" noProof="1">
                  <a:solidFill>
                    <a:srgbClr val="CC00CC"/>
                  </a:solidFill>
                  <a:effectLst>
                    <a:outerShdw blurRad="38100" dist="38100" dir="2700000">
                      <a:srgbClr val="C0C0C0"/>
                    </a:outerShdw>
                  </a:effectLst>
                  <a:latin typeface="楷体_GB2312" pitchFamily="49" charset="-122"/>
                </a:rPr>
                <a:t>专业代码	    课程号</a:t>
              </a:r>
            </a:p>
            <a:p>
              <a:pPr>
                <a:lnSpc>
                  <a:spcPct val="110000"/>
                </a:lnSpc>
              </a:pPr>
              <a:r>
                <a:rPr lang="en-US" altLang="zh-CN" sz="2400" noProof="1">
                  <a:latin typeface="宋体" panose="02010600030101010101" pitchFamily="2" charset="-122"/>
                  <a:ea typeface="宋体" panose="02010600030101010101" pitchFamily="2" charset="-122"/>
                </a:rPr>
                <a:t> S0401	  C401001</a:t>
              </a:r>
              <a:endParaRPr lang="en-US" altLang="zh-CN" sz="2400" noProof="1">
                <a:latin typeface="Times New Roman" panose="02020603050405020304" pitchFamily="18" charset="0"/>
                <a:ea typeface="宋体" panose="02010600030101010101" pitchFamily="2" charset="-122"/>
              </a:endParaRPr>
            </a:p>
            <a:p>
              <a:pPr>
                <a:lnSpc>
                  <a:spcPct val="110000"/>
                </a:lnSpc>
              </a:pPr>
              <a:r>
                <a:rPr lang="en-US" altLang="zh-CN" sz="2400" noProof="1">
                  <a:latin typeface="宋体" panose="02010600030101010101" pitchFamily="2" charset="-122"/>
                  <a:ea typeface="宋体" panose="02010600030101010101" pitchFamily="2" charset="-122"/>
                </a:rPr>
                <a:t> S0401        C402002</a:t>
              </a:r>
              <a:endParaRPr lang="en-US" altLang="zh-CN" sz="2400" noProof="1">
                <a:latin typeface="Times New Roman" panose="02020603050405020304" pitchFamily="18" charset="0"/>
                <a:ea typeface="宋体" panose="02010600030101010101" pitchFamily="2" charset="-122"/>
              </a:endParaRPr>
            </a:p>
            <a:p>
              <a:pPr>
                <a:lnSpc>
                  <a:spcPct val="110000"/>
                </a:lnSpc>
              </a:pPr>
              <a:r>
                <a:rPr lang="en-US" altLang="zh-CN" sz="2400" noProof="1">
                  <a:latin typeface="宋体" panose="02010600030101010101" pitchFamily="2" charset="-122"/>
                  <a:ea typeface="宋体" panose="02010600030101010101" pitchFamily="2" charset="-122"/>
                </a:rPr>
                <a:t> S0402	  C402001</a:t>
              </a:r>
              <a:endParaRPr lang="en-US" altLang="zh-CN" sz="2400" noProof="1">
                <a:latin typeface="Times New Roman" panose="02020603050405020304" pitchFamily="18" charset="0"/>
                <a:ea typeface="宋体" panose="02010600030101010101" pitchFamily="2" charset="-122"/>
              </a:endParaRPr>
            </a:p>
            <a:p>
              <a:pPr>
                <a:lnSpc>
                  <a:spcPct val="110000"/>
                </a:lnSpc>
              </a:pPr>
              <a:r>
                <a:rPr lang="en-US" altLang="zh-CN" sz="2400" noProof="1">
                  <a:latin typeface="宋体" panose="02010600030101010101" pitchFamily="2" charset="-122"/>
                  <a:ea typeface="宋体" panose="02010600030101010101" pitchFamily="2" charset="-122"/>
                </a:rPr>
                <a:t> S0402 	  C402002</a:t>
              </a:r>
              <a:endParaRPr lang="en-US" altLang="zh-CN" sz="2400" noProof="1">
                <a:latin typeface="Times New Roman" panose="02020603050405020304" pitchFamily="18" charset="0"/>
                <a:ea typeface="宋体" panose="02010600030101010101" pitchFamily="2" charset="-122"/>
              </a:endParaRPr>
            </a:p>
            <a:p>
              <a:pPr>
                <a:lnSpc>
                  <a:spcPct val="110000"/>
                </a:lnSpc>
              </a:pPr>
              <a:r>
                <a:rPr lang="en-US" altLang="zh-CN" sz="2400" noProof="1">
                  <a:latin typeface="宋体" panose="02010600030101010101" pitchFamily="2" charset="-122"/>
                  <a:ea typeface="宋体" panose="02010600030101010101" pitchFamily="2" charset="-122"/>
                </a:rPr>
                <a:t> S0403 	  C403001</a:t>
              </a:r>
              <a:endParaRPr lang="en-US" altLang="zh-CN" sz="2400" noProof="1">
                <a:latin typeface="Times New Roman" panose="02020603050405020304" pitchFamily="18" charset="0"/>
                <a:ea typeface="宋体" panose="02010600030101010101" pitchFamily="2" charset="-122"/>
              </a:endParaRPr>
            </a:p>
            <a:p>
              <a:pPr>
                <a:lnSpc>
                  <a:spcPct val="110000"/>
                </a:lnSpc>
              </a:pPr>
              <a:r>
                <a:rPr lang="en-US" altLang="zh-CN" sz="2400" noProof="1">
                  <a:latin typeface="宋体" panose="02010600030101010101" pitchFamily="2" charset="-122"/>
                  <a:ea typeface="宋体" panose="02010600030101010101" pitchFamily="2" charset="-122"/>
                </a:rPr>
                <a:t> S0403 	  C403002</a:t>
              </a:r>
              <a:endParaRPr lang="en-US" altLang="zh-CN" sz="2400" noProof="1">
                <a:latin typeface="Times New Roman" panose="02020603050405020304" pitchFamily="18" charset="0"/>
                <a:ea typeface="宋体" panose="02010600030101010101" pitchFamily="2" charset="-122"/>
              </a:endParaRPr>
            </a:p>
            <a:p>
              <a:pPr>
                <a:lnSpc>
                  <a:spcPct val="110000"/>
                </a:lnSpc>
              </a:pPr>
              <a:r>
                <a:rPr lang="en-US" altLang="zh-CN" sz="2400" noProof="1">
                  <a:latin typeface="宋体" panose="02010600030101010101" pitchFamily="2" charset="-122"/>
                  <a:ea typeface="宋体" panose="02010600030101010101" pitchFamily="2" charset="-122"/>
                </a:rPr>
                <a:t> S0404 	  C401001</a:t>
              </a:r>
              <a:endParaRPr lang="en-US" altLang="zh-CN" sz="2400" noProof="1">
                <a:latin typeface="Times New Roman" panose="02020603050405020304" pitchFamily="18" charset="0"/>
                <a:ea typeface="宋体" panose="02010600030101010101" pitchFamily="2" charset="-122"/>
              </a:endParaRPr>
            </a:p>
            <a:p>
              <a:pPr>
                <a:lnSpc>
                  <a:spcPct val="110000"/>
                </a:lnSpc>
              </a:pPr>
              <a:r>
                <a:rPr lang="en-US" altLang="zh-CN" sz="2400" noProof="1">
                  <a:latin typeface="宋体" panose="02010600030101010101" pitchFamily="2" charset="-122"/>
                  <a:ea typeface="宋体" panose="02010600030101010101" pitchFamily="2" charset="-122"/>
                </a:rPr>
                <a:t> S0404 	  C404001</a:t>
              </a:r>
              <a:endParaRPr lang="zh-CN" altLang="en-US" sz="2400" noProof="1"/>
            </a:p>
          </p:txBody>
        </p:sp>
        <p:sp>
          <p:nvSpPr>
            <p:cNvPr id="54279" name="直接连接符 950310">
              <a:extLst>
                <a:ext uri="{FF2B5EF4-FFF2-40B4-BE49-F238E27FC236}">
                  <a16:creationId xmlns:a16="http://schemas.microsoft.com/office/drawing/2014/main" id="{46DAA928-77A6-4C88-9615-CA3F2EDFA073}"/>
                </a:ext>
              </a:extLst>
            </p:cNvPr>
            <p:cNvSpPr>
              <a:spLocks noChangeShapeType="1"/>
            </p:cNvSpPr>
            <p:nvPr/>
          </p:nvSpPr>
          <p:spPr bwMode="auto">
            <a:xfrm>
              <a:off x="2835" y="1466"/>
              <a:ext cx="263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54280" name="直接连接符 950311">
              <a:extLst>
                <a:ext uri="{FF2B5EF4-FFF2-40B4-BE49-F238E27FC236}">
                  <a16:creationId xmlns:a16="http://schemas.microsoft.com/office/drawing/2014/main" id="{34D320B2-DAA0-4E05-A93C-1FD19B2F4B09}"/>
                </a:ext>
              </a:extLst>
            </p:cNvPr>
            <p:cNvSpPr>
              <a:spLocks noChangeShapeType="1"/>
            </p:cNvSpPr>
            <p:nvPr/>
          </p:nvSpPr>
          <p:spPr bwMode="auto">
            <a:xfrm>
              <a:off x="2835" y="1730"/>
              <a:ext cx="263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54281" name="直接连接符 950312">
              <a:extLst>
                <a:ext uri="{FF2B5EF4-FFF2-40B4-BE49-F238E27FC236}">
                  <a16:creationId xmlns:a16="http://schemas.microsoft.com/office/drawing/2014/main" id="{89589CE9-F066-4978-B22D-A33B70FECD8B}"/>
                </a:ext>
              </a:extLst>
            </p:cNvPr>
            <p:cNvSpPr>
              <a:spLocks noChangeShapeType="1"/>
            </p:cNvSpPr>
            <p:nvPr/>
          </p:nvSpPr>
          <p:spPr bwMode="auto">
            <a:xfrm>
              <a:off x="2835" y="1987"/>
              <a:ext cx="263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54282" name="直接连接符 950313">
              <a:extLst>
                <a:ext uri="{FF2B5EF4-FFF2-40B4-BE49-F238E27FC236}">
                  <a16:creationId xmlns:a16="http://schemas.microsoft.com/office/drawing/2014/main" id="{FE6A6CF5-542A-48B8-8208-BD8CBBCC1D7C}"/>
                </a:ext>
              </a:extLst>
            </p:cNvPr>
            <p:cNvSpPr>
              <a:spLocks noChangeShapeType="1"/>
            </p:cNvSpPr>
            <p:nvPr/>
          </p:nvSpPr>
          <p:spPr bwMode="auto">
            <a:xfrm>
              <a:off x="2835" y="2235"/>
              <a:ext cx="263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54283" name="直接连接符 950314">
              <a:extLst>
                <a:ext uri="{FF2B5EF4-FFF2-40B4-BE49-F238E27FC236}">
                  <a16:creationId xmlns:a16="http://schemas.microsoft.com/office/drawing/2014/main" id="{C652B9D1-36FF-4309-B766-FB11BB7F0C61}"/>
                </a:ext>
              </a:extLst>
            </p:cNvPr>
            <p:cNvSpPr>
              <a:spLocks noChangeShapeType="1"/>
            </p:cNvSpPr>
            <p:nvPr/>
          </p:nvSpPr>
          <p:spPr bwMode="auto">
            <a:xfrm>
              <a:off x="2835" y="2486"/>
              <a:ext cx="263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54284" name="直接连接符 950315">
              <a:extLst>
                <a:ext uri="{FF2B5EF4-FFF2-40B4-BE49-F238E27FC236}">
                  <a16:creationId xmlns:a16="http://schemas.microsoft.com/office/drawing/2014/main" id="{31534B0D-554B-4866-9BFC-6533DB414C80}"/>
                </a:ext>
              </a:extLst>
            </p:cNvPr>
            <p:cNvSpPr>
              <a:spLocks noChangeShapeType="1"/>
            </p:cNvSpPr>
            <p:nvPr/>
          </p:nvSpPr>
          <p:spPr bwMode="auto">
            <a:xfrm>
              <a:off x="2835" y="2742"/>
              <a:ext cx="263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54285" name="直接连接符 950316">
              <a:extLst>
                <a:ext uri="{FF2B5EF4-FFF2-40B4-BE49-F238E27FC236}">
                  <a16:creationId xmlns:a16="http://schemas.microsoft.com/office/drawing/2014/main" id="{8283CEA7-5B42-4F2B-BD21-10FC2E37FC08}"/>
                </a:ext>
              </a:extLst>
            </p:cNvPr>
            <p:cNvSpPr>
              <a:spLocks noChangeShapeType="1"/>
            </p:cNvSpPr>
            <p:nvPr/>
          </p:nvSpPr>
          <p:spPr bwMode="auto">
            <a:xfrm>
              <a:off x="2835" y="2992"/>
              <a:ext cx="263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54286" name="直接连接符 950317">
              <a:extLst>
                <a:ext uri="{FF2B5EF4-FFF2-40B4-BE49-F238E27FC236}">
                  <a16:creationId xmlns:a16="http://schemas.microsoft.com/office/drawing/2014/main" id="{399A0838-4201-46B3-930A-D81D85B7E3EA}"/>
                </a:ext>
              </a:extLst>
            </p:cNvPr>
            <p:cNvSpPr>
              <a:spLocks noChangeShapeType="1"/>
            </p:cNvSpPr>
            <p:nvPr/>
          </p:nvSpPr>
          <p:spPr bwMode="auto">
            <a:xfrm>
              <a:off x="2835" y="3249"/>
              <a:ext cx="263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54287" name="直接连接符 950318">
              <a:extLst>
                <a:ext uri="{FF2B5EF4-FFF2-40B4-BE49-F238E27FC236}">
                  <a16:creationId xmlns:a16="http://schemas.microsoft.com/office/drawing/2014/main" id="{9FF3FA20-6E4F-42AB-81B8-65E150E6C909}"/>
                </a:ext>
              </a:extLst>
            </p:cNvPr>
            <p:cNvSpPr>
              <a:spLocks noChangeShapeType="1"/>
            </p:cNvSpPr>
            <p:nvPr/>
          </p:nvSpPr>
          <p:spPr bwMode="auto">
            <a:xfrm>
              <a:off x="3971" y="1162"/>
              <a:ext cx="0" cy="2359"/>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2000" advTm="50145"/>
    </mc:Choice>
    <mc:Fallback xmlns="">
      <p:transition spd="slow" advTm="50145"/>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8228" name="矩形 948227">
            <a:extLst>
              <a:ext uri="{FF2B5EF4-FFF2-40B4-BE49-F238E27FC236}">
                <a16:creationId xmlns:a16="http://schemas.microsoft.com/office/drawing/2014/main" id="{64EA2293-9820-42D4-A196-48168CD862B3}"/>
              </a:ext>
            </a:extLst>
          </p:cNvPr>
          <p:cNvSpPr/>
          <p:nvPr/>
        </p:nvSpPr>
        <p:spPr>
          <a:xfrm>
            <a:off x="755650" y="285750"/>
            <a:ext cx="7793038" cy="622300"/>
          </a:xfrm>
          <a:prstGeom prst="rect">
            <a:avLst/>
          </a:prstGeom>
          <a:noFill/>
          <a:ln w="9525">
            <a:noFill/>
          </a:ln>
          <a:effectLst>
            <a:outerShdw dist="17961" dir="2699999" algn="ctr" rotWithShape="0">
              <a:schemeClr val="tx1">
                <a:alpha val="50000"/>
              </a:schemeClr>
            </a:outerShdw>
          </a:effectLst>
        </p:spPr>
        <p:txBody>
          <a:bodyPr anchor="ctr"/>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algn="ctr"/>
            <a:r>
              <a:rPr lang="zh-CN" altLang="en-US" sz="4000" noProof="1">
                <a:latin typeface="华文隶书" panose="02010800040101010101" pitchFamily="2" charset="-122"/>
                <a:ea typeface="华文隶书" panose="02010800040101010101" pitchFamily="2" charset="-122"/>
              </a:rPr>
              <a:t>本次课复习要点</a:t>
            </a:r>
          </a:p>
        </p:txBody>
      </p:sp>
      <p:sp>
        <p:nvSpPr>
          <p:cNvPr id="948229" name="矩形 948228">
            <a:extLst>
              <a:ext uri="{FF2B5EF4-FFF2-40B4-BE49-F238E27FC236}">
                <a16:creationId xmlns:a16="http://schemas.microsoft.com/office/drawing/2014/main" id="{CFCB0B4B-1EE4-417C-A01B-0ACB4480510B}"/>
              </a:ext>
            </a:extLst>
          </p:cNvPr>
          <p:cNvSpPr/>
          <p:nvPr/>
        </p:nvSpPr>
        <p:spPr>
          <a:xfrm>
            <a:off x="466725" y="1258888"/>
            <a:ext cx="8208963"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r>
              <a:rPr lang="zh-CN" altLang="en-US" sz="3200" noProof="1">
                <a:solidFill>
                  <a:srgbClr val="990033"/>
                </a:solidFill>
                <a:effectLst/>
                <a:ea typeface="黑体" panose="02010609060101010101" pitchFamily="2" charset="-122"/>
              </a:rPr>
              <a:t>     </a:t>
            </a:r>
            <a:r>
              <a:rPr lang="zh-CN" altLang="en-US" sz="3200" noProof="1">
                <a:effectLst/>
                <a:ea typeface="黑体" panose="02010609060101010101" pitchFamily="2" charset="-122"/>
              </a:rPr>
              <a:t>数据描述与数据模型</a:t>
            </a:r>
            <a:endParaRPr lang="en-US" altLang="zh-CN" sz="3200" noProof="1">
              <a:effectLst/>
              <a:ea typeface="黑体" panose="02010609060101010101" pitchFamily="2" charset="-122"/>
            </a:endParaRPr>
          </a:p>
          <a:p>
            <a:pPr>
              <a:lnSpc>
                <a:spcPct val="150000"/>
              </a:lnSpc>
              <a:spcBef>
                <a:spcPct val="0"/>
              </a:spcBef>
            </a:pPr>
            <a:r>
              <a:rPr lang="zh-CN" altLang="en-US" noProof="1"/>
              <a:t>      </a:t>
            </a:r>
            <a:r>
              <a:rPr lang="zh-CN" altLang="en-US" sz="3200" noProof="1">
                <a:solidFill>
                  <a:srgbClr val="800080"/>
                </a:solidFill>
                <a:effectLst/>
                <a:latin typeface="黑体" panose="02010609060101010101" pitchFamily="2" charset="-122"/>
                <a:ea typeface="黑体" panose="02010609060101010101" pitchFamily="2" charset="-122"/>
              </a:rPr>
              <a:t>除：</a:t>
            </a:r>
          </a:p>
          <a:p>
            <a:pPr>
              <a:lnSpc>
                <a:spcPct val="150000"/>
              </a:lnSpc>
              <a:spcBef>
                <a:spcPct val="0"/>
              </a:spcBef>
            </a:pPr>
            <a:r>
              <a:rPr lang="en-US" altLang="zh-CN" sz="3200" noProof="1">
                <a:solidFill>
                  <a:srgbClr val="003366"/>
                </a:solidFill>
                <a:effectLst/>
                <a:latin typeface="华文新魏" panose="02010800040101010101" pitchFamily="2" charset="-122"/>
                <a:ea typeface="华文新魏" panose="02010800040101010101" pitchFamily="2" charset="-122"/>
              </a:rPr>
              <a:t>               1.3.1  </a:t>
            </a:r>
            <a:r>
              <a:rPr lang="zh-CN" altLang="en-US" sz="3200" noProof="1">
                <a:solidFill>
                  <a:srgbClr val="003366"/>
                </a:solidFill>
                <a:effectLst/>
                <a:latin typeface="华文新魏" panose="02010800040101010101" pitchFamily="2" charset="-122"/>
                <a:ea typeface="华文新魏" panose="02010800040101010101" pitchFamily="2" charset="-122"/>
              </a:rPr>
              <a:t>现实世界的数据描述</a:t>
            </a:r>
          </a:p>
          <a:p>
            <a:pPr>
              <a:lnSpc>
                <a:spcPct val="150000"/>
              </a:lnSpc>
              <a:spcBef>
                <a:spcPct val="0"/>
              </a:spcBef>
            </a:pPr>
            <a:r>
              <a:rPr lang="en-US" altLang="zh-CN" sz="3200" noProof="1">
                <a:solidFill>
                  <a:srgbClr val="003366"/>
                </a:solidFill>
                <a:effectLst/>
                <a:latin typeface="华文新魏" panose="02010800040101010101" pitchFamily="2" charset="-122"/>
                <a:ea typeface="华文新魏" panose="02010800040101010101" pitchFamily="2" charset="-122"/>
              </a:rPr>
              <a:t>               1.3.3  </a:t>
            </a:r>
            <a:r>
              <a:rPr lang="zh-CN" altLang="en-US" sz="3200" noProof="1">
                <a:solidFill>
                  <a:srgbClr val="003366"/>
                </a:solidFill>
                <a:effectLst/>
                <a:latin typeface="华文新魏" panose="02010800040101010101" pitchFamily="2" charset="-122"/>
                <a:ea typeface="华文新魏" panose="02010800040101010101" pitchFamily="2" charset="-122"/>
              </a:rPr>
              <a:t>层次模型</a:t>
            </a:r>
          </a:p>
          <a:p>
            <a:pPr>
              <a:lnSpc>
                <a:spcPct val="150000"/>
              </a:lnSpc>
              <a:spcBef>
                <a:spcPct val="0"/>
              </a:spcBef>
            </a:pPr>
            <a:r>
              <a:rPr lang="en-US" altLang="zh-CN" sz="3200" noProof="1">
                <a:solidFill>
                  <a:srgbClr val="003366"/>
                </a:solidFill>
                <a:effectLst/>
                <a:latin typeface="华文新魏" panose="02010800040101010101" pitchFamily="2" charset="-122"/>
                <a:ea typeface="华文新魏" panose="02010800040101010101" pitchFamily="2" charset="-122"/>
              </a:rPr>
              <a:t>               1.3.4</a:t>
            </a:r>
            <a:r>
              <a:rPr lang="zh-CN" altLang="en-US" sz="3200" noProof="1">
                <a:solidFill>
                  <a:srgbClr val="003366"/>
                </a:solidFill>
                <a:effectLst/>
                <a:latin typeface="华文新魏" panose="02010800040101010101" pitchFamily="2" charset="-122"/>
                <a:ea typeface="华文新魏" panose="02010800040101010101" pitchFamily="2" charset="-122"/>
              </a:rPr>
              <a:t>   网状模型</a:t>
            </a:r>
          </a:p>
          <a:p>
            <a:pPr>
              <a:lnSpc>
                <a:spcPct val="150000"/>
              </a:lnSpc>
              <a:spcBef>
                <a:spcPct val="0"/>
              </a:spcBef>
            </a:pPr>
            <a:r>
              <a:rPr lang="zh-CN" altLang="en-US" sz="3200" noProof="1">
                <a:solidFill>
                  <a:srgbClr val="003366"/>
                </a:solidFill>
                <a:effectLst/>
                <a:latin typeface="华文新魏" panose="02010800040101010101" pitchFamily="2" charset="-122"/>
                <a:ea typeface="华文新魏" panose="02010800040101010101" pitchFamily="2" charset="-122"/>
              </a:rPr>
              <a:t>     </a:t>
            </a:r>
            <a:r>
              <a:rPr lang="zh-CN" altLang="en-US" sz="3200" noProof="1">
                <a:solidFill>
                  <a:srgbClr val="003366"/>
                </a:solidFill>
                <a:effectLst/>
                <a:latin typeface="黑体" panose="02010609060101010101" pitchFamily="2" charset="-122"/>
                <a:ea typeface="黑体" panose="02010609060101010101" pitchFamily="2" charset="-122"/>
              </a:rPr>
              <a:t> </a:t>
            </a:r>
            <a:r>
              <a:rPr lang="zh-CN" altLang="en-US" sz="3200" noProof="1">
                <a:solidFill>
                  <a:srgbClr val="800080"/>
                </a:solidFill>
                <a:effectLst/>
                <a:latin typeface="黑体" panose="02010609060101010101" pitchFamily="2" charset="-122"/>
                <a:ea typeface="黑体" panose="02010609060101010101" pitchFamily="2" charset="-122"/>
              </a:rPr>
              <a:t>外</a:t>
            </a:r>
            <a:r>
              <a:rPr lang="zh-CN" altLang="en-US" sz="3200" noProof="1">
                <a:solidFill>
                  <a:srgbClr val="800080"/>
                </a:solidFill>
                <a:effectLst/>
                <a:latin typeface="华文新魏" panose="02010800040101010101" pitchFamily="2" charset="-122"/>
                <a:ea typeface="华文新魏" panose="02010800040101010101" pitchFamily="2" charset="-122"/>
              </a:rPr>
              <a:t>，</a:t>
            </a:r>
            <a:r>
              <a:rPr lang="zh-CN" altLang="en-US" sz="3200" noProof="1">
                <a:solidFill>
                  <a:srgbClr val="0066FF"/>
                </a:solidFill>
                <a:latin typeface="华文新魏" panose="02010800040101010101" pitchFamily="2" charset="-122"/>
                <a:ea typeface="华文新魏" panose="02010800040101010101" pitchFamily="2" charset="-122"/>
              </a:rPr>
              <a:t>都是本课程的重点内容。</a:t>
            </a:r>
            <a:endParaRPr lang="en-US" altLang="zh-CN" sz="3200" noProof="1">
              <a:solidFill>
                <a:srgbClr val="0066FF"/>
              </a:solidFill>
              <a:latin typeface="华文新魏" panose="02010800040101010101" pitchFamily="2" charset="-122"/>
              <a:ea typeface="华文新魏" panose="020108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53639"/>
    </mc:Choice>
    <mc:Fallback xmlns="">
      <p:transition spd="slow" advTm="53639"/>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48229">
                                            <p:txEl>
                                              <p:pRg st="0" end="0"/>
                                            </p:txEl>
                                          </p:spTgt>
                                        </p:tgtEl>
                                        <p:attrNameLst>
                                          <p:attrName>style.visibility</p:attrName>
                                        </p:attrNameLst>
                                      </p:cBhvr>
                                      <p:to>
                                        <p:strVal val="visible"/>
                                      </p:to>
                                    </p:set>
                                    <p:animEffect transition="in" filter="wipe(left)">
                                      <p:cBhvr>
                                        <p:cTn id="7" dur="500"/>
                                        <p:tgtEl>
                                          <p:spTgt spid="948229">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48229">
                                            <p:txEl>
                                              <p:pRg st="1" end="1"/>
                                            </p:txEl>
                                          </p:spTgt>
                                        </p:tgtEl>
                                        <p:attrNameLst>
                                          <p:attrName>style.visibility</p:attrName>
                                        </p:attrNameLst>
                                      </p:cBhvr>
                                      <p:to>
                                        <p:strVal val="visible"/>
                                      </p:to>
                                    </p:set>
                                    <p:animEffect transition="in" filter="wipe(left)">
                                      <p:cBhvr>
                                        <p:cTn id="11" dur="2000"/>
                                        <p:tgtEl>
                                          <p:spTgt spid="948229">
                                            <p:txEl>
                                              <p:pRg st="1" end="1"/>
                                            </p:txEl>
                                          </p:spTgt>
                                        </p:tgtEl>
                                      </p:cBhvr>
                                    </p:animEffect>
                                  </p:childTnLst>
                                </p:cTn>
                              </p:par>
                            </p:childTnLst>
                          </p:cTn>
                        </p:par>
                        <p:par>
                          <p:cTn id="12" fill="hold" nodeType="afterGroup">
                            <p:stCondLst>
                              <p:cond delay="2500"/>
                            </p:stCondLst>
                            <p:childTnLst>
                              <p:par>
                                <p:cTn id="13" presetID="22" presetClass="entr" presetSubtype="8" fill="hold" grpId="0" nodeType="afterEffect">
                                  <p:stCondLst>
                                    <p:cond delay="0"/>
                                  </p:stCondLst>
                                  <p:childTnLst>
                                    <p:set>
                                      <p:cBhvr>
                                        <p:cTn id="14" dur="1" fill="hold">
                                          <p:stCondLst>
                                            <p:cond delay="0"/>
                                          </p:stCondLst>
                                        </p:cTn>
                                        <p:tgtEl>
                                          <p:spTgt spid="948229">
                                            <p:txEl>
                                              <p:pRg st="2" end="2"/>
                                            </p:txEl>
                                          </p:spTgt>
                                        </p:tgtEl>
                                        <p:attrNameLst>
                                          <p:attrName>style.visibility</p:attrName>
                                        </p:attrNameLst>
                                      </p:cBhvr>
                                      <p:to>
                                        <p:strVal val="visible"/>
                                      </p:to>
                                    </p:set>
                                    <p:animEffect transition="in" filter="wipe(left)">
                                      <p:cBhvr>
                                        <p:cTn id="15" dur="500"/>
                                        <p:tgtEl>
                                          <p:spTgt spid="948229">
                                            <p:txEl>
                                              <p:pRg st="2" end="2"/>
                                            </p:txEl>
                                          </p:spTgt>
                                        </p:tgtEl>
                                      </p:cBhvr>
                                    </p:animEffect>
                                  </p:childTnLst>
                                </p:cTn>
                              </p:par>
                            </p:childTnLst>
                          </p:cTn>
                        </p:par>
                        <p:par>
                          <p:cTn id="16" fill="hold" nodeType="afterGroup">
                            <p:stCondLst>
                              <p:cond delay="3000"/>
                            </p:stCondLst>
                            <p:childTnLst>
                              <p:par>
                                <p:cTn id="17" presetID="22" presetClass="entr" presetSubtype="8" fill="hold" grpId="0" nodeType="afterEffect">
                                  <p:stCondLst>
                                    <p:cond delay="0"/>
                                  </p:stCondLst>
                                  <p:childTnLst>
                                    <p:set>
                                      <p:cBhvr>
                                        <p:cTn id="18" dur="1" fill="hold">
                                          <p:stCondLst>
                                            <p:cond delay="0"/>
                                          </p:stCondLst>
                                        </p:cTn>
                                        <p:tgtEl>
                                          <p:spTgt spid="948229">
                                            <p:txEl>
                                              <p:pRg st="3" end="3"/>
                                            </p:txEl>
                                          </p:spTgt>
                                        </p:tgtEl>
                                        <p:attrNameLst>
                                          <p:attrName>style.visibility</p:attrName>
                                        </p:attrNameLst>
                                      </p:cBhvr>
                                      <p:to>
                                        <p:strVal val="visible"/>
                                      </p:to>
                                    </p:set>
                                    <p:animEffect transition="in" filter="wipe(left)">
                                      <p:cBhvr>
                                        <p:cTn id="19" dur="500"/>
                                        <p:tgtEl>
                                          <p:spTgt spid="948229">
                                            <p:txEl>
                                              <p:pRg st="3" end="3"/>
                                            </p:txEl>
                                          </p:spTgt>
                                        </p:tgtEl>
                                      </p:cBhvr>
                                    </p:animEffect>
                                  </p:childTnLst>
                                </p:cTn>
                              </p:par>
                            </p:childTnLst>
                          </p:cTn>
                        </p:par>
                        <p:par>
                          <p:cTn id="20" fill="hold" nodeType="afterGroup">
                            <p:stCondLst>
                              <p:cond delay="3500"/>
                            </p:stCondLst>
                            <p:childTnLst>
                              <p:par>
                                <p:cTn id="21" presetID="22" presetClass="entr" presetSubtype="8" fill="hold" grpId="0" nodeType="afterEffect">
                                  <p:stCondLst>
                                    <p:cond delay="0"/>
                                  </p:stCondLst>
                                  <p:childTnLst>
                                    <p:set>
                                      <p:cBhvr>
                                        <p:cTn id="22" dur="1" fill="hold">
                                          <p:stCondLst>
                                            <p:cond delay="0"/>
                                          </p:stCondLst>
                                        </p:cTn>
                                        <p:tgtEl>
                                          <p:spTgt spid="948229">
                                            <p:txEl>
                                              <p:pRg st="4" end="4"/>
                                            </p:txEl>
                                          </p:spTgt>
                                        </p:tgtEl>
                                        <p:attrNameLst>
                                          <p:attrName>style.visibility</p:attrName>
                                        </p:attrNameLst>
                                      </p:cBhvr>
                                      <p:to>
                                        <p:strVal val="visible"/>
                                      </p:to>
                                    </p:set>
                                    <p:animEffect transition="in" filter="wipe(left)">
                                      <p:cBhvr>
                                        <p:cTn id="23" dur="500"/>
                                        <p:tgtEl>
                                          <p:spTgt spid="948229">
                                            <p:txEl>
                                              <p:pRg st="4" end="4"/>
                                            </p:txEl>
                                          </p:spTgt>
                                        </p:tgtEl>
                                      </p:cBhvr>
                                    </p:animEffect>
                                  </p:childTnLst>
                                </p:cTn>
                              </p:par>
                            </p:childTnLst>
                          </p:cTn>
                        </p:par>
                        <p:par>
                          <p:cTn id="24" fill="hold" nodeType="afterGroup">
                            <p:stCondLst>
                              <p:cond delay="4000"/>
                            </p:stCondLst>
                            <p:childTnLst>
                              <p:par>
                                <p:cTn id="25" presetID="22" presetClass="entr" presetSubtype="8" fill="hold" grpId="0" nodeType="afterEffect">
                                  <p:stCondLst>
                                    <p:cond delay="0"/>
                                  </p:stCondLst>
                                  <p:childTnLst>
                                    <p:set>
                                      <p:cBhvr>
                                        <p:cTn id="26" dur="1" fill="hold">
                                          <p:stCondLst>
                                            <p:cond delay="0"/>
                                          </p:stCondLst>
                                        </p:cTn>
                                        <p:tgtEl>
                                          <p:spTgt spid="948229">
                                            <p:txEl>
                                              <p:pRg st="5" end="5"/>
                                            </p:txEl>
                                          </p:spTgt>
                                        </p:tgtEl>
                                        <p:attrNameLst>
                                          <p:attrName>style.visibility</p:attrName>
                                        </p:attrNameLst>
                                      </p:cBhvr>
                                      <p:to>
                                        <p:strVal val="visible"/>
                                      </p:to>
                                    </p:set>
                                    <p:animEffect transition="in" filter="wipe(left)">
                                      <p:cBhvr>
                                        <p:cTn id="27" dur="2000"/>
                                        <p:tgtEl>
                                          <p:spTgt spid="94822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8229"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6917" name="矩形 806916">
            <a:extLst>
              <a:ext uri="{FF2B5EF4-FFF2-40B4-BE49-F238E27FC236}">
                <a16:creationId xmlns:a16="http://schemas.microsoft.com/office/drawing/2014/main" id="{CAAEE914-0F04-47E6-9C6B-462749C15DD9}"/>
              </a:ext>
            </a:extLst>
          </p:cNvPr>
          <p:cNvSpPr/>
          <p:nvPr/>
        </p:nvSpPr>
        <p:spPr>
          <a:xfrm>
            <a:off x="1743075" y="2325688"/>
            <a:ext cx="6237288" cy="1655762"/>
          </a:xfrm>
          <a:prstGeom prst="rect">
            <a:avLst/>
          </a:prstGeom>
          <a:noFill/>
          <a:ln w="9525">
            <a:noFill/>
          </a:ln>
        </p:spPr>
        <p:txBody>
          <a:bodyPr/>
          <a:lstStyle/>
          <a:p>
            <a:pPr marL="342900" indent="-342900" algn="ctr">
              <a:spcBef>
                <a:spcPct val="20000"/>
              </a:spcBef>
            </a:pPr>
            <a:r>
              <a:rPr lang="zh-CN" altLang="en-US" sz="8000" b="1" noProof="1">
                <a:solidFill>
                  <a:srgbClr val="FF6600"/>
                </a:solidFill>
                <a:effectLst>
                  <a:outerShdw blurRad="38100" dist="38100" dir="2700000">
                    <a:srgbClr val="C0C0C0"/>
                  </a:outerShdw>
                </a:effectLst>
                <a:ea typeface="华文新魏" panose="02010800040101010101" pitchFamily="2" charset="-122"/>
              </a:rPr>
              <a:t>谢谢大家！</a:t>
            </a:r>
          </a:p>
        </p:txBody>
      </p:sp>
      <p:sp>
        <p:nvSpPr>
          <p:cNvPr id="56322" name="矩形 806917">
            <a:extLst>
              <a:ext uri="{FF2B5EF4-FFF2-40B4-BE49-F238E27FC236}">
                <a16:creationId xmlns:a16="http://schemas.microsoft.com/office/drawing/2014/main" id="{C553C18A-8DCD-4647-B5B3-98F9F97BEB37}"/>
              </a:ext>
            </a:extLst>
          </p:cNvPr>
          <p:cNvSpPr>
            <a:spLocks noChangeArrowheads="1"/>
          </p:cNvSpPr>
          <p:nvPr/>
        </p:nvSpPr>
        <p:spPr bwMode="auto">
          <a:xfrm>
            <a:off x="63500" y="63500"/>
            <a:ext cx="8820150" cy="1628775"/>
          </a:xfrm>
          <a:prstGeom prst="rect">
            <a:avLst/>
          </a:prstGeom>
          <a:solidFill>
            <a:schemeClr val="bg1"/>
          </a:solidFill>
          <a:ln w="12700" cap="sq">
            <a:solidFill>
              <a:schemeClr val="bg1"/>
            </a:solidFill>
            <a:miter lim="800000"/>
            <a:headEnd type="none" w="sm" len="sm"/>
            <a:tailEnd type="none" w="sm" len="sm"/>
          </a:ln>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439"/>
    </mc:Choice>
    <mc:Fallback xmlns="">
      <p:transition spd="slow" advTm="2439"/>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9.2|9.2|11|12.7"/>
</p:tagLst>
</file>

<file path=ppt/tags/tag2.xml><?xml version="1.0" encoding="utf-8"?>
<p:tagLst xmlns:a="http://schemas.openxmlformats.org/drawingml/2006/main" xmlns:r="http://schemas.openxmlformats.org/officeDocument/2006/relationships" xmlns:p="http://schemas.openxmlformats.org/presentationml/2006/main">
  <p:tag name="TIMING" val="|6.3|2.4|3.1"/>
</p:tagLst>
</file>

<file path=ppt/tags/tag3.xml><?xml version="1.0" encoding="utf-8"?>
<p:tagLst xmlns:a="http://schemas.openxmlformats.org/drawingml/2006/main" xmlns:r="http://schemas.openxmlformats.org/officeDocument/2006/relationships" xmlns:p="http://schemas.openxmlformats.org/presentationml/2006/main">
  <p:tag name="TIMING" val="|6.1"/>
</p:tagLst>
</file>

<file path=ppt/tags/tag4.xml><?xml version="1.0" encoding="utf-8"?>
<p:tagLst xmlns:a="http://schemas.openxmlformats.org/drawingml/2006/main" xmlns:r="http://schemas.openxmlformats.org/officeDocument/2006/relationships" xmlns:p="http://schemas.openxmlformats.org/presentationml/2006/main">
  <p:tag name="TIMING" val="|0|37.5|23.6"/>
</p:tagLst>
</file>

<file path=ppt/tags/tag5.xml><?xml version="1.0" encoding="utf-8"?>
<p:tagLst xmlns:a="http://schemas.openxmlformats.org/drawingml/2006/main" xmlns:r="http://schemas.openxmlformats.org/officeDocument/2006/relationships" xmlns:p="http://schemas.openxmlformats.org/presentationml/2006/main">
  <p:tag name="TIMING" val="|62.0"/>
</p:tagLst>
</file>

<file path=ppt/tags/tag6.xml><?xml version="1.0" encoding="utf-8"?>
<p:tagLst xmlns:a="http://schemas.openxmlformats.org/drawingml/2006/main" xmlns:r="http://schemas.openxmlformats.org/officeDocument/2006/relationships" xmlns:p="http://schemas.openxmlformats.org/presentationml/2006/main">
  <p:tag name="TIMING" val="|62.0"/>
</p:tagLst>
</file>

<file path=ppt/tags/tag7.xml><?xml version="1.0" encoding="utf-8"?>
<p:tagLst xmlns:a="http://schemas.openxmlformats.org/drawingml/2006/main" xmlns:r="http://schemas.openxmlformats.org/officeDocument/2006/relationships" xmlns:p="http://schemas.openxmlformats.org/presentationml/2006/main">
  <p:tag name="TIMING" val="|27.5"/>
</p:tagLst>
</file>

<file path=ppt/tags/tag8.xml><?xml version="1.0" encoding="utf-8"?>
<p:tagLst xmlns:a="http://schemas.openxmlformats.org/drawingml/2006/main" xmlns:r="http://schemas.openxmlformats.org/officeDocument/2006/relationships" xmlns:p="http://schemas.openxmlformats.org/presentationml/2006/main">
  <p:tag name="TIMING" val="|4.3"/>
</p:tagLst>
</file>

<file path=ppt/tags/tag9.xml><?xml version="1.0" encoding="utf-8"?>
<p:tagLst xmlns:a="http://schemas.openxmlformats.org/drawingml/2006/main" xmlns:r="http://schemas.openxmlformats.org/officeDocument/2006/relationships" xmlns:p="http://schemas.openxmlformats.org/presentationml/2006/main">
  <p:tag name="TIMING" val="|5.8|21.4|9.9|16.7|11.9|13|15.1"/>
</p:tagLst>
</file>

<file path=ppt/tags/tag10.xml><?xml version="1.0" encoding="utf-8"?>
<p:tagLst xmlns:a="http://schemas.openxmlformats.org/drawingml/2006/main" xmlns:r="http://schemas.openxmlformats.org/officeDocument/2006/relationships" xmlns:p="http://schemas.openxmlformats.org/presentationml/2006/main">
  <p:tag name="TIMING" val="|7.9|28.3|35.9"/>
</p:tagLst>
</file>

<file path=ppt/tags/tag11.xml><?xml version="1.0" encoding="utf-8"?>
<p:tagLst xmlns:a="http://schemas.openxmlformats.org/drawingml/2006/main" xmlns:r="http://schemas.openxmlformats.org/officeDocument/2006/relationships" xmlns:p="http://schemas.openxmlformats.org/presentationml/2006/main">
  <p:tag name="TIMING" val="|9.3"/>
</p:tagLst>
</file>

<file path=ppt/tags/tag12.xml><?xml version="1.0" encoding="utf-8"?>
<p:tagLst xmlns:a="http://schemas.openxmlformats.org/drawingml/2006/main" xmlns:r="http://schemas.openxmlformats.org/officeDocument/2006/relationships" xmlns:p="http://schemas.openxmlformats.org/presentationml/2006/main">
  <p:tag name="TIMING" val="|60.7"/>
</p:tagLst>
</file>

<file path=ppt/tags/tag13.xml><?xml version="1.0" encoding="utf-8"?>
<p:tagLst xmlns:a="http://schemas.openxmlformats.org/drawingml/2006/main" xmlns:r="http://schemas.openxmlformats.org/officeDocument/2006/relationships" xmlns:p="http://schemas.openxmlformats.org/presentationml/2006/main">
  <p:tag name="TIMING" val="|4"/>
</p:tagLst>
</file>

<file path=ppt/tags/tag14.xml><?xml version="1.0" encoding="utf-8"?>
<p:tagLst xmlns:a="http://schemas.openxmlformats.org/drawingml/2006/main" xmlns:r="http://schemas.openxmlformats.org/officeDocument/2006/relationships" xmlns:p="http://schemas.openxmlformats.org/presentationml/2006/main">
  <p:tag name="TIMING" val="|0.4"/>
</p:tagLst>
</file>

<file path=ppt/tags/tag15.xml><?xml version="1.0" encoding="utf-8"?>
<p:tagLst xmlns:a="http://schemas.openxmlformats.org/drawingml/2006/main" xmlns:r="http://schemas.openxmlformats.org/officeDocument/2006/relationships" xmlns:p="http://schemas.openxmlformats.org/presentationml/2006/main">
  <p:tag name="TIMING" val="|13.2|8.2"/>
</p:tagLst>
</file>

<file path=ppt/tags/tag16.xml><?xml version="1.0" encoding="utf-8"?>
<p:tagLst xmlns:a="http://schemas.openxmlformats.org/drawingml/2006/main" xmlns:r="http://schemas.openxmlformats.org/officeDocument/2006/relationships" xmlns:p="http://schemas.openxmlformats.org/presentationml/2006/main">
  <p:tag name="TIMING" val="|4.1"/>
</p:tagLst>
</file>

<file path=ppt/theme/theme1.xml><?xml version="1.0" encoding="utf-8"?>
<a:theme xmlns:a="http://schemas.openxmlformats.org/drawingml/2006/main" name="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fontScheme name="">
      <a:majorFont>
        <a:latin typeface="Tahoma"/>
        <a:ea typeface="幼圆"/>
        <a:cs typeface=""/>
      </a:majorFont>
      <a:minorFont>
        <a:latin typeface="Tahoma"/>
        <a:ea typeface="楷体_GB2312"/>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190</TotalTime>
  <Words>2503</Words>
  <Application>Microsoft Office PowerPoint</Application>
  <PresentationFormat>全屏显示(4:3)</PresentationFormat>
  <Paragraphs>604</Paragraphs>
  <Slides>45</Slides>
  <Notes>5</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45</vt:i4>
      </vt:variant>
    </vt:vector>
  </HeadingPairs>
  <TitlesOfParts>
    <vt:vector size="60" baseType="lpstr">
      <vt:lpstr>黑体</vt:lpstr>
      <vt:lpstr>华文楷体</vt:lpstr>
      <vt:lpstr>华文隶书</vt:lpstr>
      <vt:lpstr>华文新魏</vt:lpstr>
      <vt:lpstr>华文中宋</vt:lpstr>
      <vt:lpstr>楷体_GB2312</vt:lpstr>
      <vt:lpstr>隶书</vt:lpstr>
      <vt:lpstr>宋体</vt:lpstr>
      <vt:lpstr>Arial</vt:lpstr>
      <vt:lpstr>Comic Sans MS</vt:lpstr>
      <vt:lpstr>Tahoma</vt:lpstr>
      <vt:lpstr>Times New Roman</vt:lpstr>
      <vt:lpstr>Wingdings</vt:lpstr>
      <vt:lpstr>Blends</vt:lpstr>
      <vt:lpstr>自定义设计方案</vt:lpstr>
      <vt:lpstr>第1章 数据库系统概述 </vt:lpstr>
      <vt:lpstr>PowerPoint 演示文稿</vt:lpstr>
      <vt:lpstr>1.3  数据描述与数据模型 </vt:lpstr>
      <vt:lpstr>一、现实世界的数据描述</vt:lpstr>
      <vt:lpstr>PowerPoint 演示文稿</vt:lpstr>
      <vt:lpstr>PowerPoint 演示文稿</vt:lpstr>
      <vt:lpstr>PowerPoint 演示文稿</vt:lpstr>
      <vt:lpstr>PowerPoint 演示文稿</vt:lpstr>
      <vt:lpstr>PowerPoint 演示文稿</vt:lpstr>
      <vt:lpstr>二、数据模型</vt:lpstr>
      <vt:lpstr>PowerPoint 演示文稿</vt:lpstr>
      <vt:lpstr>二、数据模型</vt:lpstr>
      <vt:lpstr>PowerPoint 演示文稿</vt:lpstr>
      <vt:lpstr>PowerPoint 演示文稿</vt:lpstr>
      <vt:lpstr>PowerPoint 演示文稿</vt:lpstr>
      <vt:lpstr>三、层次模型</vt:lpstr>
      <vt:lpstr>三、层次模型</vt:lpstr>
      <vt:lpstr>PowerPoint 演示文稿</vt:lpstr>
      <vt:lpstr>PowerPoint 演示文稿</vt:lpstr>
      <vt:lpstr>PowerPoint 演示文稿</vt:lpstr>
      <vt:lpstr>四、网状模型</vt:lpstr>
      <vt:lpstr>四、网状模型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乔淋漓的冷汗</dc:creator>
  <cp:lastModifiedBy>乔 淋漓的冷汗</cp:lastModifiedBy>
  <cp:revision>732</cp:revision>
  <cp:lastPrinted>2000-08-23T09:10:16Z</cp:lastPrinted>
  <dcterms:created xsi:type="dcterms:W3CDTF">2020-03-06T17:33:39Z</dcterms:created>
  <dcterms:modified xsi:type="dcterms:W3CDTF">2021-03-07T11:04:19Z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2052-11.3.0.8775</vt:lpwstr>
  </property>
</Properties>
</file>