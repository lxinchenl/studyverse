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9"/>
  </p:notesMasterIdLst>
  <p:handoutMasterIdLst>
    <p:handoutMasterId r:id="rId20"/>
  </p:handoutMasterIdLst>
  <p:sldIdLst>
    <p:sldId id="781" r:id="rId2"/>
    <p:sldId id="734" r:id="rId3"/>
    <p:sldId id="782" r:id="rId4"/>
    <p:sldId id="758" r:id="rId5"/>
    <p:sldId id="783" r:id="rId6"/>
    <p:sldId id="737" r:id="rId7"/>
    <p:sldId id="784" r:id="rId8"/>
    <p:sldId id="785" r:id="rId9"/>
    <p:sldId id="786" r:id="rId10"/>
    <p:sldId id="787" r:id="rId11"/>
    <p:sldId id="789" r:id="rId12"/>
    <p:sldId id="790" r:id="rId13"/>
    <p:sldId id="788" r:id="rId14"/>
    <p:sldId id="791" r:id="rId15"/>
    <p:sldId id="792" r:id="rId16"/>
    <p:sldId id="793" r:id="rId17"/>
    <p:sldId id="763" r:id="rId18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FF"/>
    <a:srgbClr val="FF00FF"/>
    <a:srgbClr val="99FF33"/>
    <a:srgbClr val="66FFFF"/>
    <a:srgbClr val="660033"/>
    <a:srgbClr val="CCECFF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8" autoAdjust="0"/>
    <p:restoredTop sz="82874" autoAdjust="0"/>
  </p:normalViewPr>
  <p:slideViewPr>
    <p:cSldViewPr>
      <p:cViewPr varScale="1">
        <p:scale>
          <a:sx n="109" d="100"/>
          <a:sy n="109" d="100"/>
        </p:scale>
        <p:origin x="1684" y="80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2CE75A51-D437-4FC6-B383-55F62424B6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CABD21B8-1747-4FBC-9CF6-C3E7B56741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E8D244C6-7D3C-4507-881B-7F97A2A1AA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E941AD9A-F8EE-44CF-9D70-C5DBC47741C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</a:lstStyle>
          <a:p>
            <a:fld id="{6A1857E1-F324-4089-8E0D-24D8C29916A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032F9183-2292-42CC-A48D-8CBD5A4D97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D620ED4F-3CFD-41BB-9AF9-5846A5ADCC8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8580" name="Rectangle 4">
            <a:extLst>
              <a:ext uri="{FF2B5EF4-FFF2-40B4-BE49-F238E27FC236}">
                <a16:creationId xmlns:a16="http://schemas.microsoft.com/office/drawing/2014/main" id="{3F0DE8E7-347C-424C-A80E-F27ECA2DE98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8581" name="Rectangle 5">
            <a:extLst>
              <a:ext uri="{FF2B5EF4-FFF2-40B4-BE49-F238E27FC236}">
                <a16:creationId xmlns:a16="http://schemas.microsoft.com/office/drawing/2014/main" id="{57172378-B561-4FC8-B1EE-FC9B1E55301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08582" name="Rectangle 6">
            <a:extLst>
              <a:ext uri="{FF2B5EF4-FFF2-40B4-BE49-F238E27FC236}">
                <a16:creationId xmlns:a16="http://schemas.microsoft.com/office/drawing/2014/main" id="{D4997E5F-676D-419E-AC52-9E1D252FB74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408583" name="Rectangle 7">
            <a:extLst>
              <a:ext uri="{FF2B5EF4-FFF2-40B4-BE49-F238E27FC236}">
                <a16:creationId xmlns:a16="http://schemas.microsoft.com/office/drawing/2014/main" id="{3F3D38BB-D152-440C-85AA-A99A26CB80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FC0DADF9-3FFF-422E-AC37-8748A730A0F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BB7043F-CA60-487E-A99D-303FEE476C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0894EC-F29A-44F9-AAA7-D24E5ADA6216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837634" name="Rectangle 2">
            <a:extLst>
              <a:ext uri="{FF2B5EF4-FFF2-40B4-BE49-F238E27FC236}">
                <a16:creationId xmlns:a16="http://schemas.microsoft.com/office/drawing/2014/main" id="{52780AB9-F59C-4455-AF60-FF040A3202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7635" name="Rectangle 3">
            <a:extLst>
              <a:ext uri="{FF2B5EF4-FFF2-40B4-BE49-F238E27FC236}">
                <a16:creationId xmlns:a16="http://schemas.microsoft.com/office/drawing/2014/main" id="{28E8BD6C-9705-4310-8A30-2C5AE8F8E9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354" name="Group 2">
            <a:extLst>
              <a:ext uri="{FF2B5EF4-FFF2-40B4-BE49-F238E27FC236}">
                <a16:creationId xmlns:a16="http://schemas.microsoft.com/office/drawing/2014/main" id="{E6BC910A-FA60-4510-A6CE-58C93FBAA6C6}"/>
              </a:ext>
            </a:extLst>
          </p:cNvPr>
          <p:cNvGrpSpPr>
            <a:grpSpLocks/>
          </p:cNvGrpSpPr>
          <p:nvPr/>
        </p:nvGrpSpPr>
        <p:grpSpPr bwMode="auto">
          <a:xfrm>
            <a:off x="0" y="1822450"/>
            <a:ext cx="9009063" cy="1052513"/>
            <a:chOff x="0" y="1536"/>
            <a:chExt cx="5675" cy="663"/>
          </a:xfrm>
        </p:grpSpPr>
        <p:grpSp>
          <p:nvGrpSpPr>
            <p:cNvPr id="740355" name="Group 3">
              <a:extLst>
                <a:ext uri="{FF2B5EF4-FFF2-40B4-BE49-F238E27FC236}">
                  <a16:creationId xmlns:a16="http://schemas.microsoft.com/office/drawing/2014/main" id="{F601B656-0CC7-40A3-9393-E7F8D0ADC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740356" name="Rectangle 4">
                <a:extLst>
                  <a:ext uri="{FF2B5EF4-FFF2-40B4-BE49-F238E27FC236}">
                    <a16:creationId xmlns:a16="http://schemas.microsoft.com/office/drawing/2014/main" id="{DC002443-B8D2-404A-A466-12F998356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0357" name="Rectangle 5">
                <a:extLst>
                  <a:ext uri="{FF2B5EF4-FFF2-40B4-BE49-F238E27FC236}">
                    <a16:creationId xmlns:a16="http://schemas.microsoft.com/office/drawing/2014/main" id="{DF04AEE4-5DED-4634-B668-8F4C32BC2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40358" name="Group 6">
              <a:extLst>
                <a:ext uri="{FF2B5EF4-FFF2-40B4-BE49-F238E27FC236}">
                  <a16:creationId xmlns:a16="http://schemas.microsoft.com/office/drawing/2014/main" id="{F764A016-3659-4206-929B-DDD02DF3BE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740359" name="Rectangle 7">
                <a:extLst>
                  <a:ext uri="{FF2B5EF4-FFF2-40B4-BE49-F238E27FC236}">
                    <a16:creationId xmlns:a16="http://schemas.microsoft.com/office/drawing/2014/main" id="{A07D8CED-FE25-43BE-A2ED-83BC59199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0360" name="Rectangle 8">
                <a:extLst>
                  <a:ext uri="{FF2B5EF4-FFF2-40B4-BE49-F238E27FC236}">
                    <a16:creationId xmlns:a16="http://schemas.microsoft.com/office/drawing/2014/main" id="{34FA184B-3D67-42A4-89E6-E85E2B762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40361" name="Rectangle 9">
              <a:extLst>
                <a:ext uri="{FF2B5EF4-FFF2-40B4-BE49-F238E27FC236}">
                  <a16:creationId xmlns:a16="http://schemas.microsoft.com/office/drawing/2014/main" id="{D4761A5E-E2A8-4F5D-BF69-C7799D09A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0362" name="Rectangle 10">
              <a:extLst>
                <a:ext uri="{FF2B5EF4-FFF2-40B4-BE49-F238E27FC236}">
                  <a16:creationId xmlns:a16="http://schemas.microsoft.com/office/drawing/2014/main" id="{6422AD51-F4ED-4986-A52B-C2FB57A5F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0363" name="Rectangle 11">
              <a:extLst>
                <a:ext uri="{FF2B5EF4-FFF2-40B4-BE49-F238E27FC236}">
                  <a16:creationId xmlns:a16="http://schemas.microsoft.com/office/drawing/2014/main" id="{396C0125-2F13-4CF8-A9A1-53583340536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0364" name="Rectangle 12">
            <a:extLst>
              <a:ext uri="{FF2B5EF4-FFF2-40B4-BE49-F238E27FC236}">
                <a16:creationId xmlns:a16="http://schemas.microsoft.com/office/drawing/2014/main" id="{2F70F360-5562-4744-9D12-D7E152A2066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676400"/>
            <a:ext cx="8137525" cy="1462088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40365" name="Rectangle 13">
            <a:extLst>
              <a:ext uri="{FF2B5EF4-FFF2-40B4-BE49-F238E27FC236}">
                <a16:creationId xmlns:a16="http://schemas.microsoft.com/office/drawing/2014/main" id="{4AC1C415-82DF-455D-B16A-9A2F4D801D4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40366" name="Rectangle 14">
            <a:extLst>
              <a:ext uri="{FF2B5EF4-FFF2-40B4-BE49-F238E27FC236}">
                <a16:creationId xmlns:a16="http://schemas.microsoft.com/office/drawing/2014/main" id="{57B4192D-B825-41FA-824E-F372EB16EB6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40367" name="Rectangle 15">
            <a:extLst>
              <a:ext uri="{FF2B5EF4-FFF2-40B4-BE49-F238E27FC236}">
                <a16:creationId xmlns:a16="http://schemas.microsoft.com/office/drawing/2014/main" id="{522B05BB-362D-4D5D-80C1-9F1DEC563CC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740368" name="Rectangle 16">
            <a:extLst>
              <a:ext uri="{FF2B5EF4-FFF2-40B4-BE49-F238E27FC236}">
                <a16:creationId xmlns:a16="http://schemas.microsoft.com/office/drawing/2014/main" id="{29104459-BC63-4F40-84F9-05E064D9D7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3AB09CA-2F92-494C-AB2A-E80EDE1CA1E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74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364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53637C-8891-45F5-A1FE-AD01FF3A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23D4FC-9C8B-44B4-9AFB-4C5F6F9BE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586731-86F1-4A4B-B8D3-90612CF9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339F3-E260-4AD9-ABDA-C5634C559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EAFD8C-90CC-4A70-9AC9-63E01A24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CF47F-F490-4DA4-9A85-E8E4F347653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986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5BA42-6533-468D-9631-65C61EDE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59DA8-63BE-4576-B4B6-53E05061C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0ADD60-F9A6-451B-A5BD-C5775003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3D9574-5CEA-4E02-8652-836F860D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8182E7-7144-4477-9D75-559ABA219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963808-451C-4027-9D68-3CEDCC5AC7C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9412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5EDB7-4C60-4E3D-8E98-291707A40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FA705B-1D33-4128-9C0E-97139B913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DA02DA-8E65-4FD9-83A6-D6645F8AF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8363" y="1158875"/>
            <a:ext cx="4057650" cy="5338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59AF24-50A9-40CD-974C-E9387C350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CC2419-1F90-4E83-8FB5-9C81E20B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B40F01-4B84-490A-83EA-65C3012F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3B76E1-1569-4161-834A-48E32B2C2D1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9662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4B635B-DA95-468A-88F1-7F5DFED8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C35A74-96D1-4F8F-BF40-E235A9EF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639509-8EE1-41CB-AE71-04E73BFA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87AAAA-FB2C-4884-AC51-7C35883AB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4E42BE-B19E-4F3D-B4A6-45493F96AD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9241AE-D3C9-4741-8F1B-A7ABB9E31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6AD491-E8E0-4309-BA8D-65CFE02F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CF4DD4-AECF-4820-9B5E-BD12EB42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AF4D0E-A7CE-4797-9AF4-C22779F343A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881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2ED6F-6BBE-4748-B12A-E2F8BCB0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5F8229-307F-421E-99CB-84FA634BB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8ED42C-7999-4FD2-B2A3-36D110229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75664C-1AC8-4DD5-8CAD-D14EAA57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DD2942-971F-4132-A6DD-30284E76D30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470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850FD1-2463-45C2-9021-883AFAA85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35884D-8983-462D-8DBB-B44DBD9E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08EBCA-0291-4B20-9841-E34703E2E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4BE4FD-DF48-4E27-8D2E-79D53CC0E16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50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EAD4E-EF8C-4F2B-84BF-2465A63F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3C187E-BF87-4FAA-8DEE-35BE0727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F82DCF-87FB-492C-B568-F24414136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DB6F8D-FC21-4B25-97F9-29845C9F3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52F482-0D9E-4246-9D33-47C5663C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84F4AA-FBBA-441F-B911-CF0DBDD7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CCDC6-5CAA-4E4D-B031-DC0A05BC26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175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4AFA0-82CF-438A-9F89-BC254C4EE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BDB487-F1AD-4735-AB70-3D2E9B4AF1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3B9062-47CD-485E-823E-D98740ECA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D98BF6-AF42-46AE-8A5B-C4019EC8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B1672D-EDC3-4FCA-842B-389600E4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EBA358-5DF0-4116-B1DE-9ED3F604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4D8422-9567-440E-8D9B-4A1CADA60B9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5864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89CC7-F35E-43C8-A870-1D93E168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0C19B5-FC88-4C9C-9A16-D83CA21C2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BC8330-2D58-46ED-9DB1-FB131D3A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C091BD-190B-4F0C-92FA-7939E385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C5CC0B-7F26-4836-8133-B1F7C032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EB48B3-6D9F-4877-9817-1EB1CD73BEC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415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DD67692-2A64-40E1-B0F7-27739B8FA2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26250" y="214313"/>
            <a:ext cx="2117725" cy="62833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E86D23-3D5D-4B08-9342-743EBB273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68313" y="214313"/>
            <a:ext cx="6205537" cy="62833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B29F95-1920-4398-B8B3-786FB035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A19D5-3A6C-444C-8941-6AE01A660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D9DF33-2E44-42FF-B126-EA8110CC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4D354-2335-4DE5-B818-138E78EBC0C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9600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43F9E-117D-4AE1-A091-A8215BA19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6223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977FB326-4BB9-4747-953A-2C5A09C57C0B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68313" y="1158875"/>
            <a:ext cx="8267700" cy="53387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16480E-58C0-4BAB-B044-292FCCA8B4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2786CB-BDF6-4C73-ACB1-94D18456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8ED3C7-3B8C-43E4-A1A8-89B20709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433EC41-6688-4A88-8097-A5BB7F2D4E1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228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330" name="Rectangle 2">
            <a:extLst>
              <a:ext uri="{FF2B5EF4-FFF2-40B4-BE49-F238E27FC236}">
                <a16:creationId xmlns:a16="http://schemas.microsoft.com/office/drawing/2014/main" id="{E2D2FFB8-DA5A-4BC9-8884-5FF89F09A5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1" name="Rectangle 3">
            <a:extLst>
              <a:ext uri="{FF2B5EF4-FFF2-40B4-BE49-F238E27FC236}">
                <a16:creationId xmlns:a16="http://schemas.microsoft.com/office/drawing/2014/main" id="{F0A6EC30-AB6A-4860-8468-34276D1FAA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2" name="Rectangle 4">
            <a:extLst>
              <a:ext uri="{FF2B5EF4-FFF2-40B4-BE49-F238E27FC236}">
                <a16:creationId xmlns:a16="http://schemas.microsoft.com/office/drawing/2014/main" id="{C3736E9E-93D1-463B-9E72-DF219F6969A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3" name="Rectangle 5">
            <a:extLst>
              <a:ext uri="{FF2B5EF4-FFF2-40B4-BE49-F238E27FC236}">
                <a16:creationId xmlns:a16="http://schemas.microsoft.com/office/drawing/2014/main" id="{7F12691C-3026-477C-A74C-3FA6838108F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4" name="Rectangle 6">
            <a:extLst>
              <a:ext uri="{FF2B5EF4-FFF2-40B4-BE49-F238E27FC236}">
                <a16:creationId xmlns:a16="http://schemas.microsoft.com/office/drawing/2014/main" id="{59020BA3-D591-413C-912D-DE18E18773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5" name="Rectangle 7">
            <a:extLst>
              <a:ext uri="{FF2B5EF4-FFF2-40B4-BE49-F238E27FC236}">
                <a16:creationId xmlns:a16="http://schemas.microsoft.com/office/drawing/2014/main" id="{D9B8CE43-7E94-4C8B-8E0B-7370F19070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6" name="Rectangle 8">
            <a:extLst>
              <a:ext uri="{FF2B5EF4-FFF2-40B4-BE49-F238E27FC236}">
                <a16:creationId xmlns:a16="http://schemas.microsoft.com/office/drawing/2014/main" id="{75598D78-A550-47EF-A5E3-62302F372FA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77225" cy="14287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739337" name="Rectangle 9">
            <a:extLst>
              <a:ext uri="{FF2B5EF4-FFF2-40B4-BE49-F238E27FC236}">
                <a16:creationId xmlns:a16="http://schemas.microsoft.com/office/drawing/2014/main" id="{FE5A2AF8-BF58-4C4A-B851-25A010E63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39338" name="Rectangle 10">
            <a:extLst>
              <a:ext uri="{FF2B5EF4-FFF2-40B4-BE49-F238E27FC236}">
                <a16:creationId xmlns:a16="http://schemas.microsoft.com/office/drawing/2014/main" id="{85245F20-820A-4297-997A-0AF38D8EF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9339" name="Rectangle 11">
            <a:extLst>
              <a:ext uri="{FF2B5EF4-FFF2-40B4-BE49-F238E27FC236}">
                <a16:creationId xmlns:a16="http://schemas.microsoft.com/office/drawing/2014/main" id="{2DB26681-ED89-4EA5-A31D-7A12E41F209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39340" name="Rectangle 12">
            <a:extLst>
              <a:ext uri="{FF2B5EF4-FFF2-40B4-BE49-F238E27FC236}">
                <a16:creationId xmlns:a16="http://schemas.microsoft.com/office/drawing/2014/main" id="{345F0F4D-AC56-4401-906A-B92EEDBD35D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739341" name="Rectangle 13">
            <a:extLst>
              <a:ext uri="{FF2B5EF4-FFF2-40B4-BE49-F238E27FC236}">
                <a16:creationId xmlns:a16="http://schemas.microsoft.com/office/drawing/2014/main" id="{37E93D84-62EC-4B16-B97D-407A177016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394D05D8-C93C-4E62-A7C4-AEB2C534390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20" name="Rectangle 4">
            <a:extLst>
              <a:ext uri="{FF2B5EF4-FFF2-40B4-BE49-F238E27FC236}">
                <a16:creationId xmlns:a16="http://schemas.microsoft.com/office/drawing/2014/main" id="{9DD7BE99-ACF5-48F4-A221-92C6D9874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、域关系演算表达式 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zh-CN" altLang="en-US" sz="2900">
                <a:solidFill>
                  <a:srgbClr val="003366"/>
                </a:solidFill>
                <a:latin typeface="楷体_GB2312" pitchFamily="49" charset="-122"/>
              </a:rPr>
              <a:t>一般形式：</a:t>
            </a:r>
            <a:r>
              <a:rPr lang="zh-CN" altLang="en-US" sz="2900">
                <a:latin typeface="楷体_GB2312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900">
                <a:latin typeface="Arial" panose="020B0604020202020204" pitchFamily="34" charset="0"/>
                <a:cs typeface="Times New Roman" panose="02020603050405020304" pitchFamily="18" charset="0"/>
              </a:rPr>
              <a:t>…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|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(x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900">
                <a:latin typeface="Arial" panose="020B0604020202020204" pitchFamily="34" charset="0"/>
                <a:cs typeface="Times New Roman" panose="02020603050405020304" pitchFamily="18" charset="0"/>
              </a:rPr>
              <a:t>…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)}</a:t>
            </a:r>
          </a:p>
          <a:p>
            <a:pPr algn="just">
              <a:lnSpc>
                <a:spcPct val="155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 sz="290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其中，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900">
                <a:latin typeface="Arial" panose="020B0604020202020204" pitchFamily="34" charset="0"/>
                <a:cs typeface="Times New Roman" panose="02020603050405020304" pitchFamily="18" charset="0"/>
              </a:rPr>
              <a:t>…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900">
                <a:latin typeface="楷体_GB2312" pitchFamily="49" charset="-122"/>
                <a:cs typeface="Times New Roman" panose="02020603050405020304" pitchFamily="18" charset="0"/>
              </a:rPr>
              <a:t>为域变量，也即元组变量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900">
                <a:latin typeface="楷体_GB2312" pitchFamily="49" charset="-122"/>
                <a:cs typeface="Times New Roman" panose="02020603050405020304" pitchFamily="18" charset="0"/>
              </a:rPr>
              <a:t>的各</a:t>
            </a:r>
          </a:p>
          <a:p>
            <a:pPr algn="just">
              <a:lnSpc>
                <a:spcPct val="155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 sz="2900">
                <a:latin typeface="楷体_GB2312" pitchFamily="49" charset="-122"/>
                <a:cs typeface="Times New Roman" panose="02020603050405020304" pitchFamily="18" charset="0"/>
              </a:rPr>
              <a:t>     个分量</a:t>
            </a:r>
            <a:r>
              <a:rPr lang="zh-CN" altLang="en-US" sz="2400"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(x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900">
                <a:latin typeface="Arial" panose="020B0604020202020204" pitchFamily="34" charset="0"/>
                <a:cs typeface="Times New Roman" panose="02020603050405020304" pitchFamily="18" charset="0"/>
              </a:rPr>
              <a:t>…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,x</a:t>
            </a:r>
            <a:r>
              <a:rPr lang="en-US" altLang="zh-CN" sz="2900" baseline="-30000">
                <a:latin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900"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900">
                <a:latin typeface="楷体_GB2312" pitchFamily="49" charset="-122"/>
                <a:cs typeface="Times New Roman" panose="02020603050405020304" pitchFamily="18" charset="0"/>
              </a:rPr>
              <a:t>是一个域演算公式</a:t>
            </a:r>
            <a:r>
              <a:rPr lang="zh-CN" altLang="en-US" sz="2400"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05221" name="Rectangle 5">
            <a:extLst>
              <a:ext uri="{FF2B5EF4-FFF2-40B4-BE49-F238E27FC236}">
                <a16:creationId xmlns:a16="http://schemas.microsoft.com/office/drawing/2014/main" id="{1B22F19A-9F17-43CB-9866-AF1AB5960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二、域关系演算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324"/>
    </mc:Choice>
    <mc:Fallback xmlns="">
      <p:transition spd="slow" advTm="473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05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05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905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905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4" name="Rectangle 6">
            <a:extLst>
              <a:ext uri="{FF2B5EF4-FFF2-40B4-BE49-F238E27FC236}">
                <a16:creationId xmlns:a16="http://schemas.microsoft.com/office/drawing/2014/main" id="{D5FCEA78-3BEB-4098-970E-B8567F2AC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、域关系演算</a:t>
            </a:r>
            <a:r>
              <a:rPr lang="zh-CN" altLang="en-US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的原子形式</a:t>
            </a:r>
            <a:endParaRPr lang="zh-CN" altLang="en-US" dirty="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ct val="5000"/>
              </a:spcBef>
            </a:pPr>
            <a:r>
              <a:rPr lang="zh-CN" altLang="en-US" sz="3000" dirty="0">
                <a:latin typeface="楷体_GB2312" pitchFamily="49" charset="-122"/>
              </a:rPr>
              <a:t>　（</a:t>
            </a:r>
            <a:r>
              <a:rPr lang="en-US" altLang="zh-CN" sz="3000" dirty="0">
                <a:latin typeface="楷体_GB2312" pitchFamily="49" charset="-122"/>
              </a:rPr>
              <a:t>1</a:t>
            </a:r>
            <a:r>
              <a:rPr lang="zh-CN" altLang="en-US" sz="3000" dirty="0">
                <a:latin typeface="楷体_GB2312" pitchFamily="49" charset="-122"/>
              </a:rPr>
              <a:t>） </a:t>
            </a:r>
            <a:r>
              <a:rPr lang="en-US" altLang="zh-CN" dirty="0">
                <a:solidFill>
                  <a:srgbClr val="008000"/>
                </a:solidFill>
                <a:latin typeface="楷体_GB2312" pitchFamily="49" charset="-122"/>
              </a:rPr>
              <a:t>R(x</a:t>
            </a:r>
            <a:r>
              <a:rPr lang="en-US" altLang="zh-CN" baseline="-30000" dirty="0">
                <a:solidFill>
                  <a:srgbClr val="008000"/>
                </a:solidFill>
                <a:latin typeface="楷体_GB2312" pitchFamily="49" charset="-122"/>
              </a:rPr>
              <a:t>1</a:t>
            </a:r>
            <a:r>
              <a:rPr lang="en-US" altLang="zh-CN" dirty="0">
                <a:solidFill>
                  <a:srgbClr val="008000"/>
                </a:solidFill>
                <a:latin typeface="楷体_GB2312" pitchFamily="49" charset="-122"/>
              </a:rPr>
              <a:t>,x</a:t>
            </a:r>
            <a:r>
              <a:rPr lang="en-US" altLang="zh-CN" baseline="-30000" dirty="0">
                <a:solidFill>
                  <a:srgbClr val="008000"/>
                </a:solidFill>
                <a:latin typeface="楷体_GB2312" pitchFamily="49" charset="-122"/>
              </a:rPr>
              <a:t>2</a:t>
            </a:r>
            <a:r>
              <a:rPr lang="en-US" altLang="zh-CN" dirty="0">
                <a:solidFill>
                  <a:srgbClr val="008000"/>
                </a:solidFill>
                <a:latin typeface="楷体_GB2312" pitchFamily="49" charset="-122"/>
              </a:rPr>
              <a:t>,</a:t>
            </a:r>
            <a:r>
              <a:rPr lang="en-US" altLang="zh-CN" dirty="0">
                <a:solidFill>
                  <a:srgbClr val="008000"/>
                </a:solidFill>
                <a:latin typeface="Arial" panose="020B0604020202020204" pitchFamily="34" charset="0"/>
              </a:rPr>
              <a:t>…</a:t>
            </a:r>
            <a:r>
              <a:rPr lang="en-US" altLang="zh-CN" dirty="0">
                <a:solidFill>
                  <a:srgbClr val="008000"/>
                </a:solidFill>
                <a:latin typeface="楷体_GB2312" pitchFamily="49" charset="-122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楷体_GB2312" pitchFamily="49" charset="-122"/>
              </a:rPr>
              <a:t>x</a:t>
            </a:r>
            <a:r>
              <a:rPr lang="en-US" altLang="zh-CN" baseline="-30000" dirty="0" err="1">
                <a:solidFill>
                  <a:srgbClr val="008000"/>
                </a:solidFill>
                <a:latin typeface="楷体_GB2312" pitchFamily="49" charset="-122"/>
              </a:rPr>
              <a:t>n</a:t>
            </a:r>
            <a:r>
              <a:rPr lang="en-US" altLang="zh-CN" dirty="0">
                <a:solidFill>
                  <a:srgbClr val="008000"/>
                </a:solidFill>
                <a:latin typeface="楷体_GB2312" pitchFamily="49" charset="-122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</a:rPr>
              <a:t> </a:t>
            </a:r>
            <a:endParaRPr lang="en-US" altLang="zh-CN" sz="2900" dirty="0"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660033"/>
                </a:solidFill>
                <a:latin typeface="楷体_GB2312" pitchFamily="49" charset="-122"/>
              </a:rPr>
              <a:t>    涵义：</a:t>
            </a:r>
            <a:r>
              <a:rPr lang="zh-CN" altLang="en-US" dirty="0">
                <a:latin typeface="楷体_GB2312" pitchFamily="49" charset="-122"/>
              </a:rPr>
              <a:t>域变量</a:t>
            </a:r>
            <a:r>
              <a:rPr lang="en-US" altLang="zh-CN" dirty="0" err="1">
                <a:latin typeface="楷体_GB2312" pitchFamily="49" charset="-122"/>
              </a:rPr>
              <a:t>x</a:t>
            </a:r>
            <a:r>
              <a:rPr lang="en-US" altLang="zh-CN" baseline="-25000" dirty="0" err="1">
                <a:latin typeface="楷体_GB2312" pitchFamily="49" charset="-122"/>
              </a:rPr>
              <a:t>j</a:t>
            </a:r>
            <a:r>
              <a:rPr lang="en-US" altLang="zh-CN" baseline="-25000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的选择应使</a:t>
            </a:r>
            <a:r>
              <a:rPr lang="en-US" altLang="zh-CN" dirty="0">
                <a:latin typeface="楷体_GB2312" pitchFamily="49" charset="-122"/>
              </a:rPr>
              <a:t>x</a:t>
            </a:r>
            <a:r>
              <a:rPr lang="en-US" altLang="zh-CN" baseline="-25000" dirty="0">
                <a:latin typeface="楷体_GB2312" pitchFamily="49" charset="-122"/>
              </a:rPr>
              <a:t>1</a:t>
            </a:r>
            <a:r>
              <a:rPr lang="en-US" altLang="zh-CN" dirty="0">
                <a:latin typeface="楷体_GB2312" pitchFamily="49" charset="-122"/>
              </a:rPr>
              <a:t>,x</a:t>
            </a:r>
            <a:r>
              <a:rPr lang="en-US" altLang="zh-CN" baseline="-25000" dirty="0">
                <a:latin typeface="楷体_GB2312" pitchFamily="49" charset="-122"/>
              </a:rPr>
              <a:t>2</a:t>
            </a:r>
            <a:r>
              <a:rPr lang="en-US" altLang="zh-CN" dirty="0">
                <a:latin typeface="楷体_GB2312" pitchFamily="49" charset="-122"/>
              </a:rPr>
              <a:t>,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>
                <a:latin typeface="楷体_GB2312" pitchFamily="49" charset="-122"/>
              </a:rPr>
              <a:t>,</a:t>
            </a:r>
            <a:r>
              <a:rPr lang="en-US" altLang="zh-CN" dirty="0" err="1">
                <a:latin typeface="楷体_GB2312" pitchFamily="49" charset="-122"/>
              </a:rPr>
              <a:t>x</a:t>
            </a:r>
            <a:r>
              <a:rPr lang="en-US" altLang="zh-CN" baseline="-25000" dirty="0" err="1">
                <a:latin typeface="楷体_GB2312" pitchFamily="49" charset="-122"/>
              </a:rPr>
              <a:t>n</a:t>
            </a:r>
            <a:r>
              <a:rPr lang="zh-CN" altLang="en-US" dirty="0">
                <a:latin typeface="楷体_GB2312" pitchFamily="49" charset="-122"/>
              </a:rPr>
              <a:t>是</a:t>
            </a:r>
            <a:r>
              <a:rPr lang="en-US" altLang="zh-CN" dirty="0">
                <a:latin typeface="楷体_GB2312" pitchFamily="49" charset="-122"/>
              </a:rPr>
              <a:t>R </a:t>
            </a:r>
            <a:r>
              <a:rPr lang="zh-CN" altLang="en-US" dirty="0">
                <a:latin typeface="楷体_GB2312" pitchFamily="49" charset="-122"/>
              </a:rPr>
              <a:t>的一个元组。</a:t>
            </a:r>
            <a:endParaRPr lang="zh-CN" altLang="en-US" sz="2900" dirty="0">
              <a:solidFill>
                <a:srgbClr val="660033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sz="2900" dirty="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    （</a:t>
            </a:r>
            <a:r>
              <a:rPr lang="en-US" altLang="zh-CN" sz="2900" dirty="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900" dirty="0">
                <a:solidFill>
                  <a:srgbClr val="660033"/>
                </a:solidFill>
                <a:latin typeface="楷体_GB2312" pitchFamily="49" charset="-122"/>
                <a:cs typeface="Times New Roman" panose="02020603050405020304" pitchFamily="18" charset="0"/>
              </a:rPr>
              <a:t>） </a:t>
            </a:r>
            <a:r>
              <a:rPr lang="en-US" altLang="zh-CN" dirty="0" err="1">
                <a:solidFill>
                  <a:srgbClr val="008000"/>
                </a:solidFill>
                <a:latin typeface="楷体_GB2312" pitchFamily="49" charset="-122"/>
              </a:rPr>
              <a:t>x</a:t>
            </a:r>
            <a:r>
              <a:rPr lang="en-US" altLang="zh-CN" baseline="-30000" dirty="0" err="1">
                <a:solidFill>
                  <a:srgbClr val="008000"/>
                </a:solidFill>
                <a:latin typeface="楷体_GB2312" pitchFamily="49" charset="-122"/>
              </a:rPr>
              <a:t>j</a:t>
            </a:r>
            <a:r>
              <a:rPr lang="en-US" altLang="zh-CN" dirty="0" err="1">
                <a:solidFill>
                  <a:srgbClr val="008000"/>
                </a:solidFill>
                <a:latin typeface="楷体_GB2312" pitchFamily="49" charset="-122"/>
                <a:sym typeface="Symbol" panose="05050102010706020507" pitchFamily="18" charset="2"/>
              </a:rPr>
              <a:t></a:t>
            </a:r>
            <a:r>
              <a:rPr lang="en-US" altLang="zh-CN" dirty="0" err="1">
                <a:solidFill>
                  <a:srgbClr val="008000"/>
                </a:solidFill>
                <a:latin typeface="楷体_GB2312" pitchFamily="49" charset="-122"/>
              </a:rPr>
              <a:t>c</a:t>
            </a:r>
            <a:r>
              <a:rPr lang="en-US" altLang="zh-CN" dirty="0">
                <a:solidFill>
                  <a:srgbClr val="008000"/>
                </a:solidFill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rgbClr val="008000"/>
                </a:solidFill>
                <a:latin typeface="楷体_GB2312" pitchFamily="49" charset="-122"/>
              </a:rPr>
              <a:t>或 </a:t>
            </a:r>
            <a:r>
              <a:rPr lang="en-US" altLang="zh-CN" dirty="0" err="1">
                <a:solidFill>
                  <a:srgbClr val="008000"/>
                </a:solidFill>
                <a:latin typeface="楷体_GB2312" pitchFamily="49" charset="-122"/>
              </a:rPr>
              <a:t>c</a:t>
            </a:r>
            <a:r>
              <a:rPr lang="en-US" altLang="zh-CN" dirty="0" err="1">
                <a:solidFill>
                  <a:srgbClr val="008000"/>
                </a:solidFill>
                <a:latin typeface="楷体_GB2312" pitchFamily="49" charset="-122"/>
                <a:sym typeface="Symbol" panose="05050102010706020507" pitchFamily="18" charset="2"/>
              </a:rPr>
              <a:t></a:t>
            </a:r>
            <a:r>
              <a:rPr lang="en-US" altLang="zh-CN" dirty="0" err="1">
                <a:solidFill>
                  <a:srgbClr val="008000"/>
                </a:solidFill>
                <a:latin typeface="楷体_GB2312" pitchFamily="49" charset="-122"/>
              </a:rPr>
              <a:t>x</a:t>
            </a:r>
            <a:r>
              <a:rPr lang="en-US" altLang="zh-CN" baseline="-30000" dirty="0" err="1">
                <a:solidFill>
                  <a:srgbClr val="008000"/>
                </a:solidFill>
                <a:latin typeface="楷体_GB2312" pitchFamily="49" charset="-122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</a:rPr>
              <a:t> </a:t>
            </a:r>
            <a:endParaRPr lang="en-US" altLang="zh-CN" sz="2900" dirty="0">
              <a:solidFill>
                <a:srgbClr val="660033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ct val="5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660033"/>
                </a:solidFill>
                <a:latin typeface="楷体_GB2312" pitchFamily="49" charset="-122"/>
              </a:rPr>
              <a:t>    涵义：</a:t>
            </a:r>
            <a:r>
              <a:rPr lang="en-US" altLang="zh-CN" dirty="0" err="1">
                <a:latin typeface="楷体_GB2312" pitchFamily="49" charset="-122"/>
              </a:rPr>
              <a:t>x</a:t>
            </a:r>
            <a:r>
              <a:rPr lang="en-US" altLang="zh-CN" baseline="-25000" dirty="0" err="1">
                <a:latin typeface="楷体_GB2312" pitchFamily="49" charset="-122"/>
              </a:rPr>
              <a:t>j</a:t>
            </a:r>
            <a:r>
              <a:rPr lang="en-US" altLang="zh-CN" baseline="-25000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是域变量，</a:t>
            </a:r>
            <a:r>
              <a:rPr lang="en-US" altLang="zh-CN" dirty="0" err="1">
                <a:latin typeface="楷体_GB2312" pitchFamily="49" charset="-122"/>
              </a:rPr>
              <a:t>x</a:t>
            </a:r>
            <a:r>
              <a:rPr lang="en-US" altLang="zh-CN" baseline="-25000" dirty="0" err="1">
                <a:latin typeface="楷体_GB2312" pitchFamily="49" charset="-122"/>
              </a:rPr>
              <a:t>j</a:t>
            </a:r>
            <a:r>
              <a:rPr lang="en-US" altLang="zh-CN" baseline="-25000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应取使</a:t>
            </a:r>
            <a:r>
              <a:rPr lang="en-US" altLang="zh-CN" dirty="0" err="1">
                <a:latin typeface="楷体_GB2312" pitchFamily="49" charset="-122"/>
              </a:rPr>
              <a:t>x</a:t>
            </a:r>
            <a:r>
              <a:rPr lang="en-US" altLang="zh-CN" baseline="-30000" dirty="0" err="1">
                <a:latin typeface="楷体_GB2312" pitchFamily="49" charset="-122"/>
              </a:rPr>
              <a:t>j</a:t>
            </a:r>
            <a:r>
              <a:rPr lang="en-US" altLang="zh-CN" dirty="0" err="1">
                <a:latin typeface="楷体_GB2312" pitchFamily="49" charset="-122"/>
                <a:sym typeface="Symbol" panose="05050102010706020507" pitchFamily="18" charset="2"/>
              </a:rPr>
              <a:t></a:t>
            </a:r>
            <a:r>
              <a:rPr lang="en-US" altLang="zh-CN" dirty="0" err="1">
                <a:latin typeface="楷体_GB2312" pitchFamily="49" charset="-122"/>
              </a:rPr>
              <a:t>c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或</a:t>
            </a:r>
            <a:r>
              <a:rPr lang="en-US" altLang="zh-CN" dirty="0" err="1">
                <a:latin typeface="楷体_GB2312" pitchFamily="49" charset="-122"/>
              </a:rPr>
              <a:t>c</a:t>
            </a:r>
            <a:r>
              <a:rPr lang="en-US" altLang="zh-CN" dirty="0" err="1">
                <a:latin typeface="楷体_GB2312" pitchFamily="49" charset="-122"/>
                <a:sym typeface="Symbol" panose="05050102010706020507" pitchFamily="18" charset="2"/>
              </a:rPr>
              <a:t></a:t>
            </a:r>
            <a:r>
              <a:rPr lang="en-US" altLang="zh-CN" dirty="0" err="1">
                <a:latin typeface="楷体_GB2312" pitchFamily="49" charset="-122"/>
              </a:rPr>
              <a:t>x</a:t>
            </a:r>
            <a:r>
              <a:rPr lang="en-US" altLang="zh-CN" baseline="-30000" dirty="0" err="1">
                <a:latin typeface="楷体_GB2312" pitchFamily="49" charset="-122"/>
              </a:rPr>
              <a:t>j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latin typeface="楷体_GB2312" pitchFamily="49" charset="-122"/>
              </a:rPr>
              <a:t>为真的值。</a:t>
            </a:r>
          </a:p>
        </p:txBody>
      </p:sp>
      <p:sp>
        <p:nvSpPr>
          <p:cNvPr id="836615" name="Rectangle 7">
            <a:extLst>
              <a:ext uri="{FF2B5EF4-FFF2-40B4-BE49-F238E27FC236}">
                <a16:creationId xmlns:a16="http://schemas.microsoft.com/office/drawing/2014/main" id="{5363DED1-FA5E-410A-94FD-377FDC01B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二、域关系演算</a:t>
            </a:r>
          </a:p>
        </p:txBody>
      </p:sp>
    </p:spTree>
  </p:cSld>
  <p:clrMapOvr>
    <a:masterClrMapping/>
  </p:clrMapOvr>
  <p:transition advTm="5313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366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366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36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836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836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244" name="Rectangle 4">
            <a:extLst>
              <a:ext uri="{FF2B5EF4-FFF2-40B4-BE49-F238E27FC236}">
                <a16:creationId xmlns:a16="http://schemas.microsoft.com/office/drawing/2014/main" id="{CE2BBC25-7926-4B08-8E03-712BCDF87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、域关系演算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的原子形式</a:t>
            </a:r>
            <a:endParaRPr lang="zh-CN" altLang="en-US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（</a:t>
            </a:r>
            <a:r>
              <a:rPr lang="en-US" altLang="zh-CN" sz="3000">
                <a:latin typeface="楷体_GB2312" pitchFamily="49" charset="-122"/>
              </a:rPr>
              <a:t>3</a:t>
            </a:r>
            <a:r>
              <a:rPr lang="zh-CN" altLang="en-US" sz="3000">
                <a:latin typeface="楷体_GB2312" pitchFamily="49" charset="-122"/>
              </a:rPr>
              <a:t>） </a:t>
            </a:r>
            <a:r>
              <a:rPr lang="en-US" altLang="zh-CN">
                <a:solidFill>
                  <a:srgbClr val="008000"/>
                </a:solidFill>
                <a:latin typeface="楷体_GB2312" pitchFamily="49" charset="-122"/>
              </a:rPr>
              <a:t>x</a:t>
            </a:r>
            <a:r>
              <a:rPr lang="en-US" altLang="zh-CN" baseline="-30000">
                <a:solidFill>
                  <a:srgbClr val="008000"/>
                </a:solidFill>
                <a:latin typeface="楷体_GB2312" pitchFamily="49" charset="-122"/>
              </a:rPr>
              <a:t>j</a:t>
            </a:r>
            <a:r>
              <a:rPr lang="en-US" altLang="zh-CN">
                <a:solidFill>
                  <a:srgbClr val="008000"/>
                </a:solidFill>
                <a:latin typeface="楷体_GB2312" pitchFamily="49" charset="-122"/>
                <a:sym typeface="Symbol" panose="05050102010706020507" pitchFamily="18" charset="2"/>
              </a:rPr>
              <a:t></a:t>
            </a:r>
            <a:r>
              <a:rPr lang="en-US" altLang="zh-CN">
                <a:solidFill>
                  <a:srgbClr val="008000"/>
                </a:solidFill>
                <a:latin typeface="楷体_GB2312" pitchFamily="49" charset="-122"/>
              </a:rPr>
              <a:t>y</a:t>
            </a:r>
            <a:r>
              <a:rPr lang="en-US" altLang="zh-CN" baseline="-30000">
                <a:solidFill>
                  <a:srgbClr val="008000"/>
                </a:solidFill>
                <a:latin typeface="楷体_GB2312" pitchFamily="49" charset="-122"/>
              </a:rPr>
              <a:t>k</a:t>
            </a:r>
            <a:r>
              <a:rPr lang="en-US" altLang="zh-CN">
                <a:solidFill>
                  <a:srgbClr val="008000"/>
                </a:solidFill>
                <a:latin typeface="楷体_GB2312" pitchFamily="49" charset="-122"/>
              </a:rPr>
              <a:t> </a:t>
            </a:r>
            <a:endParaRPr lang="en-US" altLang="zh-CN" sz="2900"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5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660033"/>
                </a:solidFill>
                <a:latin typeface="楷体_GB2312" pitchFamily="49" charset="-122"/>
              </a:rPr>
              <a:t>    涵义： </a:t>
            </a:r>
            <a:r>
              <a:rPr lang="en-US" altLang="zh-CN">
                <a:latin typeface="楷体_GB2312" pitchFamily="49" charset="-122"/>
              </a:rPr>
              <a:t>x</a:t>
            </a:r>
            <a:r>
              <a:rPr lang="en-US" altLang="zh-CN" baseline="-25000">
                <a:latin typeface="楷体_GB2312" pitchFamily="49" charset="-122"/>
              </a:rPr>
              <a:t>j </a:t>
            </a:r>
            <a:r>
              <a:rPr lang="zh-CN" altLang="en-US">
                <a:latin typeface="楷体_GB2312" pitchFamily="49" charset="-122"/>
              </a:rPr>
              <a:t>是域变量，即元组</a:t>
            </a:r>
            <a:r>
              <a:rPr lang="en-US" altLang="zh-CN">
                <a:latin typeface="楷体_GB2312" pitchFamily="49" charset="-122"/>
              </a:rPr>
              <a:t>x </a:t>
            </a:r>
            <a:r>
              <a:rPr lang="zh-CN" altLang="en-US">
                <a:latin typeface="楷体_GB2312" pitchFamily="49" charset="-122"/>
              </a:rPr>
              <a:t>的第</a:t>
            </a:r>
            <a:r>
              <a:rPr lang="en-US" altLang="zh-CN">
                <a:latin typeface="楷体_GB2312" pitchFamily="49" charset="-122"/>
              </a:rPr>
              <a:t>j </a:t>
            </a:r>
            <a:r>
              <a:rPr lang="zh-CN" altLang="en-US">
                <a:latin typeface="楷体_GB2312" pitchFamily="49" charset="-122"/>
              </a:rPr>
              <a:t>个分量，</a:t>
            </a:r>
            <a:r>
              <a:rPr lang="en-US" altLang="zh-CN">
                <a:latin typeface="楷体_GB2312" pitchFamily="49" charset="-122"/>
              </a:rPr>
              <a:t>y</a:t>
            </a:r>
            <a:r>
              <a:rPr lang="en-US" altLang="zh-CN" baseline="-25000">
                <a:latin typeface="楷体_GB2312" pitchFamily="49" charset="-122"/>
              </a:rPr>
              <a:t>k </a:t>
            </a:r>
            <a:r>
              <a:rPr lang="zh-CN" altLang="en-US">
                <a:latin typeface="楷体_GB2312" pitchFamily="49" charset="-122"/>
              </a:rPr>
              <a:t>为元组</a:t>
            </a:r>
            <a:r>
              <a:rPr lang="en-US" altLang="zh-CN">
                <a:latin typeface="楷体_GB2312" pitchFamily="49" charset="-122"/>
              </a:rPr>
              <a:t>y </a:t>
            </a:r>
            <a:r>
              <a:rPr lang="zh-CN" altLang="en-US">
                <a:latin typeface="楷体_GB2312" pitchFamily="49" charset="-122"/>
              </a:rPr>
              <a:t>的第</a:t>
            </a:r>
            <a:r>
              <a:rPr lang="en-US" altLang="zh-CN">
                <a:latin typeface="楷体_GB2312" pitchFamily="49" charset="-122"/>
              </a:rPr>
              <a:t>k </a:t>
            </a:r>
            <a:r>
              <a:rPr lang="zh-CN" altLang="en-US">
                <a:latin typeface="楷体_GB2312" pitchFamily="49" charset="-122"/>
              </a:rPr>
              <a:t>个分量。含义为</a:t>
            </a:r>
            <a:r>
              <a:rPr lang="en-US" altLang="zh-CN">
                <a:latin typeface="楷体_GB2312" pitchFamily="49" charset="-122"/>
              </a:rPr>
              <a:t>x</a:t>
            </a:r>
            <a:r>
              <a:rPr lang="en-US" altLang="zh-CN" baseline="-25000">
                <a:latin typeface="楷体_GB2312" pitchFamily="49" charset="-122"/>
              </a:rPr>
              <a:t>j </a:t>
            </a:r>
            <a:r>
              <a:rPr lang="zh-CN" altLang="en-US">
                <a:latin typeface="楷体_GB2312" pitchFamily="49" charset="-122"/>
              </a:rPr>
              <a:t>和</a:t>
            </a:r>
            <a:r>
              <a:rPr lang="en-US" altLang="zh-CN">
                <a:latin typeface="楷体_GB2312" pitchFamily="49" charset="-122"/>
              </a:rPr>
              <a:t>y</a:t>
            </a:r>
            <a:r>
              <a:rPr lang="en-US" altLang="zh-CN" baseline="-25000">
                <a:latin typeface="楷体_GB2312" pitchFamily="49" charset="-122"/>
              </a:rPr>
              <a:t>k </a:t>
            </a:r>
            <a:r>
              <a:rPr lang="zh-CN" altLang="en-US">
                <a:latin typeface="楷体_GB2312" pitchFamily="49" charset="-122"/>
              </a:rPr>
              <a:t>应取使</a:t>
            </a:r>
            <a:r>
              <a:rPr lang="en-US" altLang="zh-CN">
                <a:latin typeface="楷体_GB2312" pitchFamily="49" charset="-122"/>
              </a:rPr>
              <a:t>x</a:t>
            </a:r>
            <a:r>
              <a:rPr lang="en-US" altLang="zh-CN" baseline="-30000">
                <a:latin typeface="楷体_GB2312" pitchFamily="49" charset="-122"/>
              </a:rPr>
              <a:t>j</a:t>
            </a:r>
            <a:r>
              <a:rPr lang="en-US" altLang="zh-CN">
                <a:latin typeface="楷体_GB2312" pitchFamily="49" charset="-122"/>
                <a:sym typeface="Symbol" panose="05050102010706020507" pitchFamily="18" charset="2"/>
              </a:rPr>
              <a:t></a:t>
            </a:r>
            <a:r>
              <a:rPr lang="en-US" altLang="zh-CN">
                <a:latin typeface="楷体_GB2312" pitchFamily="49" charset="-122"/>
              </a:rPr>
              <a:t>y</a:t>
            </a:r>
            <a:r>
              <a:rPr lang="en-US" altLang="zh-CN" baseline="-30000">
                <a:latin typeface="楷体_GB2312" pitchFamily="49" charset="-122"/>
              </a:rPr>
              <a:t>k </a:t>
            </a:r>
            <a:r>
              <a:rPr lang="zh-CN" altLang="en-US">
                <a:latin typeface="楷体_GB2312" pitchFamily="49" charset="-122"/>
              </a:rPr>
              <a:t>为真的值。</a:t>
            </a:r>
          </a:p>
        </p:txBody>
      </p:sp>
      <p:sp>
        <p:nvSpPr>
          <p:cNvPr id="906245" name="Rectangle 5">
            <a:extLst>
              <a:ext uri="{FF2B5EF4-FFF2-40B4-BE49-F238E27FC236}">
                <a16:creationId xmlns:a16="http://schemas.microsoft.com/office/drawing/2014/main" id="{E670C502-B892-4E20-86CA-244B67F3A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二、域关系演算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50"/>
    </mc:Choice>
    <mc:Fallback xmlns="">
      <p:transition spd="slow" advTm="323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06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06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8" name="Rectangle 6">
            <a:extLst>
              <a:ext uri="{FF2B5EF4-FFF2-40B4-BE49-F238E27FC236}">
                <a16:creationId xmlns:a16="http://schemas.microsoft.com/office/drawing/2014/main" id="{9BC40E69-0592-4D91-BC73-4516A51A1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域关系演算的公式定义</a:t>
            </a:r>
            <a:endParaRPr lang="zh-CN" altLang="en-US" dirty="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 sz="3000" dirty="0">
                <a:latin typeface="楷体_GB2312" pitchFamily="49" charset="-122"/>
              </a:rPr>
              <a:t>　（</a:t>
            </a:r>
            <a:r>
              <a:rPr lang="en-US" altLang="zh-CN" sz="3000" dirty="0">
                <a:latin typeface="楷体_GB2312" pitchFamily="49" charset="-122"/>
              </a:rPr>
              <a:t>1</a:t>
            </a:r>
            <a:r>
              <a:rPr lang="zh-CN" altLang="en-US" sz="3000" dirty="0">
                <a:latin typeface="楷体_GB2312" pitchFamily="49" charset="-122"/>
              </a:rPr>
              <a:t>）</a:t>
            </a:r>
            <a:r>
              <a:rPr lang="zh-CN" altLang="en-US" sz="3000" dirty="0">
                <a:cs typeface="Times New Roman" panose="02020603050405020304" pitchFamily="18" charset="0"/>
              </a:rPr>
              <a:t>每个原子是一个公式，称为原子公式。</a:t>
            </a:r>
            <a:endParaRPr lang="en-US" altLang="zh-CN" sz="2900" dirty="0"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5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660033"/>
                </a:solidFill>
                <a:latin typeface="楷体_GB2312" pitchFamily="49" charset="-122"/>
              </a:rPr>
              <a:t>    （</a:t>
            </a:r>
            <a:r>
              <a:rPr lang="en-US" altLang="zh-CN" dirty="0">
                <a:solidFill>
                  <a:srgbClr val="660033"/>
                </a:solidFill>
                <a:latin typeface="楷体_GB2312" pitchFamily="49" charset="-122"/>
              </a:rPr>
              <a:t>2</a:t>
            </a:r>
            <a:r>
              <a:rPr lang="zh-CN" altLang="en-US" dirty="0">
                <a:solidFill>
                  <a:srgbClr val="660033"/>
                </a:solidFill>
                <a:latin typeface="楷体_GB2312" pitchFamily="49" charset="-122"/>
              </a:rPr>
              <a:t>）</a:t>
            </a:r>
            <a:r>
              <a:rPr lang="zh-CN" altLang="en-US" sz="3000" dirty="0">
                <a:cs typeface="Times New Roman" panose="02020603050405020304" pitchFamily="18" charset="0"/>
              </a:rPr>
              <a:t>如果</a:t>
            </a:r>
            <a:r>
              <a:rPr lang="zh-CN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25000" dirty="0">
                <a:cs typeface="Times New Roman" panose="02020603050405020304" pitchFamily="18" charset="0"/>
              </a:rPr>
              <a:t>1 </a:t>
            </a:r>
            <a:r>
              <a:rPr lang="zh-CN" altLang="en-US" sz="3000" dirty="0">
                <a:cs typeface="Times New Roman" panose="02020603050405020304" pitchFamily="18" charset="0"/>
              </a:rPr>
              <a:t>和</a:t>
            </a:r>
            <a:r>
              <a:rPr lang="zh-CN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25000" dirty="0">
                <a:cs typeface="Times New Roman" panose="02020603050405020304" pitchFamily="18" charset="0"/>
              </a:rPr>
              <a:t>2 </a:t>
            </a:r>
            <a:r>
              <a:rPr lang="zh-CN" altLang="en-US" sz="3000" dirty="0">
                <a:cs typeface="Times New Roman" panose="02020603050405020304" pitchFamily="18" charset="0"/>
              </a:rPr>
              <a:t>是公式，则</a:t>
            </a:r>
            <a:r>
              <a:rPr lang="zh-CN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cs typeface="Times New Roman" panose="02020603050405020304" pitchFamily="18" charset="0"/>
              </a:rPr>
              <a:t>∧</a:t>
            </a:r>
            <a:r>
              <a:rPr lang="en-US" altLang="zh-CN" sz="30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25000" dirty="0">
                <a:cs typeface="Times New Roman" panose="02020603050405020304" pitchFamily="18" charset="0"/>
              </a:rPr>
              <a:t>2</a:t>
            </a:r>
            <a:r>
              <a:rPr lang="zh-CN" altLang="en-US" sz="3000" dirty="0">
                <a:cs typeface="Times New Roman" panose="02020603050405020304" pitchFamily="18" charset="0"/>
              </a:rPr>
              <a:t>、</a:t>
            </a:r>
            <a:r>
              <a:rPr lang="zh-CN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cs typeface="Times New Roman" panose="02020603050405020304" pitchFamily="18" charset="0"/>
              </a:rPr>
              <a:t>∨</a:t>
            </a:r>
            <a:r>
              <a:rPr lang="en-US" altLang="zh-CN" sz="30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baseline="-25000" dirty="0">
                <a:cs typeface="Times New Roman" panose="02020603050405020304" pitchFamily="18" charset="0"/>
              </a:rPr>
              <a:t>2 </a:t>
            </a:r>
            <a:r>
              <a:rPr lang="zh-CN" altLang="en-US" sz="3000" dirty="0">
                <a:cs typeface="Times New Roman" panose="02020603050405020304" pitchFamily="18" charset="0"/>
              </a:rPr>
              <a:t>和</a:t>
            </a:r>
            <a:r>
              <a:rPr lang="zh-CN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</a:t>
            </a:r>
            <a:r>
              <a:rPr lang="en-US" altLang="zh-CN" sz="3000" baseline="-25000" dirty="0">
                <a:cs typeface="Times New Roman" panose="02020603050405020304" pitchFamily="18" charset="0"/>
              </a:rPr>
              <a:t>1 </a:t>
            </a:r>
            <a:r>
              <a:rPr lang="zh-CN" altLang="en-US" sz="3000" dirty="0">
                <a:cs typeface="Times New Roman" panose="02020603050405020304" pitchFamily="18" charset="0"/>
              </a:rPr>
              <a:t>也是公式。</a:t>
            </a:r>
          </a:p>
          <a:p>
            <a:pPr algn="just">
              <a:lnSpc>
                <a:spcPct val="155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 sz="3000" dirty="0">
                <a:cs typeface="Times New Roman" panose="02020603050405020304" pitchFamily="18" charset="0"/>
              </a:rPr>
              <a:t>    （</a:t>
            </a:r>
            <a:r>
              <a:rPr lang="en-US" altLang="zh-CN" sz="3000" dirty="0">
                <a:cs typeface="Times New Roman" panose="02020603050405020304" pitchFamily="18" charset="0"/>
              </a:rPr>
              <a:t>3</a:t>
            </a:r>
            <a:r>
              <a:rPr lang="zh-CN" altLang="en-US" sz="3000" dirty="0">
                <a:cs typeface="Times New Roman" panose="02020603050405020304" pitchFamily="18" charset="0"/>
              </a:rPr>
              <a:t>）若</a:t>
            </a:r>
            <a:r>
              <a:rPr lang="zh-CN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dirty="0">
                <a:cs typeface="Times New Roman" panose="02020603050405020304" pitchFamily="18" charset="0"/>
              </a:rPr>
              <a:t>(x</a:t>
            </a:r>
            <a:r>
              <a:rPr lang="en-US" altLang="zh-CN" sz="3000" baseline="-25000" dirty="0"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cs typeface="Times New Roman" panose="02020603050405020304" pitchFamily="18" charset="0"/>
              </a:rPr>
              <a:t>,x</a:t>
            </a:r>
            <a:r>
              <a:rPr lang="en-US" altLang="zh-CN" sz="30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3000" dirty="0">
                <a:cs typeface="Times New Roman" panose="02020603050405020304" pitchFamily="18" charset="0"/>
              </a:rPr>
              <a:t>,</a:t>
            </a:r>
            <a:r>
              <a:rPr lang="en-US" altLang="zh-CN" sz="3000" dirty="0">
                <a:latin typeface="Arial" panose="020B0604020202020204" pitchFamily="34" charset="0"/>
                <a:cs typeface="Times New Roman" panose="02020603050405020304" pitchFamily="18" charset="0"/>
              </a:rPr>
              <a:t>…</a:t>
            </a:r>
            <a:r>
              <a:rPr lang="en-US" altLang="zh-CN" sz="3000" dirty="0">
                <a:cs typeface="Times New Roman" panose="02020603050405020304" pitchFamily="18" charset="0"/>
              </a:rPr>
              <a:t>,</a:t>
            </a:r>
            <a:r>
              <a:rPr lang="en-US" altLang="zh-CN" sz="3000" dirty="0" err="1">
                <a:cs typeface="Times New Roman" panose="02020603050405020304" pitchFamily="18" charset="0"/>
              </a:rPr>
              <a:t>x</a:t>
            </a:r>
            <a:r>
              <a:rPr lang="en-US" altLang="zh-CN" sz="3000" baseline="-25000" dirty="0" err="1">
                <a:cs typeface="Times New Roman" panose="02020603050405020304" pitchFamily="18" charset="0"/>
              </a:rPr>
              <a:t>n</a:t>
            </a:r>
            <a:r>
              <a:rPr lang="en-US" altLang="zh-CN" sz="3000" dirty="0"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cs typeface="Times New Roman" panose="02020603050405020304" pitchFamily="18" charset="0"/>
              </a:rPr>
              <a:t>是公式，则</a:t>
            </a:r>
            <a:r>
              <a:rPr lang="en-US" altLang="zh-CN" sz="3000" dirty="0">
                <a:cs typeface="Times New Roman" panose="02020603050405020304" pitchFamily="18" charset="0"/>
              </a:rPr>
              <a:t>(</a:t>
            </a:r>
            <a:r>
              <a:rPr lang="en-US" altLang="zh-CN" sz="3000" dirty="0"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3000" dirty="0" err="1">
                <a:cs typeface="Times New Roman" panose="02020603050405020304" pitchFamily="18" charset="0"/>
              </a:rPr>
              <a:t>x</a:t>
            </a:r>
            <a:r>
              <a:rPr lang="en-US" altLang="zh-CN" sz="3000" baseline="-25000" dirty="0" err="1">
                <a:cs typeface="Times New Roman" panose="02020603050405020304" pitchFamily="18" charset="0"/>
              </a:rPr>
              <a:t>j</a:t>
            </a:r>
            <a:r>
              <a:rPr lang="en-US" altLang="zh-CN" sz="3000" dirty="0">
                <a:cs typeface="Times New Roman" panose="02020603050405020304" pitchFamily="18" charset="0"/>
              </a:rPr>
              <a:t>)(</a:t>
            </a:r>
            <a:r>
              <a:rPr lang="en-US" altLang="zh-CN" sz="30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dirty="0"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cs typeface="Times New Roman" panose="02020603050405020304" pitchFamily="18" charset="0"/>
              </a:rPr>
              <a:t>，</a:t>
            </a:r>
            <a:r>
              <a:rPr lang="en-US" altLang="zh-CN" sz="3000" dirty="0">
                <a:cs typeface="Times New Roman" panose="02020603050405020304" pitchFamily="18" charset="0"/>
              </a:rPr>
              <a:t>(</a:t>
            </a:r>
            <a:r>
              <a:rPr lang="en-US" altLang="zh-CN" sz="3000" dirty="0"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3000" dirty="0" err="1">
                <a:cs typeface="Times New Roman" panose="02020603050405020304" pitchFamily="18" charset="0"/>
              </a:rPr>
              <a:t>x</a:t>
            </a:r>
            <a:r>
              <a:rPr lang="en-US" altLang="zh-CN" sz="3000" baseline="-25000" dirty="0" err="1">
                <a:cs typeface="Times New Roman" panose="02020603050405020304" pitchFamily="18" charset="0"/>
              </a:rPr>
              <a:t>j</a:t>
            </a:r>
            <a:r>
              <a:rPr lang="en-US" altLang="zh-CN" sz="3000" dirty="0">
                <a:cs typeface="Times New Roman" panose="02020603050405020304" pitchFamily="18" charset="0"/>
              </a:rPr>
              <a:t>)(</a:t>
            </a:r>
            <a:r>
              <a:rPr lang="en-US" altLang="zh-CN" sz="3000" dirty="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 dirty="0">
                <a:cs typeface="Times New Roman" panose="02020603050405020304" pitchFamily="18" charset="0"/>
              </a:rPr>
              <a:t>)</a:t>
            </a:r>
            <a:r>
              <a:rPr lang="zh-CN" altLang="en-US" sz="3000" dirty="0">
                <a:cs typeface="Times New Roman" panose="02020603050405020304" pitchFamily="18" charset="0"/>
              </a:rPr>
              <a:t>也是公式。</a:t>
            </a:r>
            <a:endParaRPr lang="en-US" altLang="zh-CN" sz="3000" dirty="0">
              <a:cs typeface="Times New Roman" panose="02020603050405020304" pitchFamily="18" charset="0"/>
            </a:endParaRPr>
          </a:p>
        </p:txBody>
      </p:sp>
      <p:sp>
        <p:nvSpPr>
          <p:cNvPr id="868359" name="Rectangle 7">
            <a:extLst>
              <a:ext uri="{FF2B5EF4-FFF2-40B4-BE49-F238E27FC236}">
                <a16:creationId xmlns:a16="http://schemas.microsoft.com/office/drawing/2014/main" id="{087C5437-C686-4491-8765-3BF1905FD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二、域关系演算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846"/>
    </mc:Choice>
    <mc:Fallback xmlns="">
      <p:transition spd="slow" advTm="428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68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683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683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8683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8" name="Rectangle 4">
            <a:extLst>
              <a:ext uri="{FF2B5EF4-FFF2-40B4-BE49-F238E27FC236}">
                <a16:creationId xmlns:a16="http://schemas.microsoft.com/office/drawing/2014/main" id="{EF463B75-6219-4086-9FE8-C49343B08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dirty="0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域关系演算的公式定义</a:t>
            </a:r>
            <a:endParaRPr lang="zh-CN" altLang="en-US" dirty="0">
              <a:solidFill>
                <a:srgbClr val="660033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 sz="3000" dirty="0">
                <a:latin typeface="楷体_GB2312" pitchFamily="49" charset="-122"/>
              </a:rPr>
              <a:t>　（</a:t>
            </a:r>
            <a:r>
              <a:rPr lang="en-US" altLang="zh-CN" sz="3000" dirty="0">
                <a:latin typeface="楷体_GB2312" pitchFamily="49" charset="-122"/>
              </a:rPr>
              <a:t>4</a:t>
            </a:r>
            <a:r>
              <a:rPr lang="zh-CN" altLang="en-US" sz="3000" dirty="0">
                <a:latin typeface="楷体_GB2312" pitchFamily="49" charset="-122"/>
              </a:rPr>
              <a:t>）</a:t>
            </a:r>
            <a:r>
              <a:rPr lang="zh-CN" altLang="en-US" sz="3000" dirty="0"/>
              <a:t>域演算公式中运算符的优先级与元组演算规定相同。</a:t>
            </a:r>
            <a:endParaRPr lang="en-US" altLang="zh-CN" sz="2900" dirty="0"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5000"/>
              </a:lnSpc>
              <a:spcBef>
                <a:spcPct val="25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660033"/>
                </a:solidFill>
                <a:latin typeface="楷体_GB2312" pitchFamily="49" charset="-122"/>
              </a:rPr>
              <a:t>    （</a:t>
            </a:r>
            <a:r>
              <a:rPr lang="en-US" altLang="zh-CN" dirty="0">
                <a:solidFill>
                  <a:srgbClr val="660033"/>
                </a:solidFill>
                <a:latin typeface="楷体_GB2312" pitchFamily="49" charset="-122"/>
              </a:rPr>
              <a:t>5</a:t>
            </a:r>
            <a:r>
              <a:rPr lang="zh-CN" altLang="en-US" dirty="0">
                <a:solidFill>
                  <a:srgbClr val="660033"/>
                </a:solidFill>
                <a:latin typeface="楷体_GB2312" pitchFamily="49" charset="-122"/>
              </a:rPr>
              <a:t>）</a:t>
            </a:r>
            <a:r>
              <a:rPr lang="zh-CN" altLang="en-US" sz="3000" dirty="0"/>
              <a:t>公式或只限于上述</a:t>
            </a:r>
            <a:r>
              <a:rPr lang="en-US" altLang="zh-CN" sz="3000" dirty="0"/>
              <a:t>4 </a:t>
            </a:r>
            <a:r>
              <a:rPr lang="zh-CN" altLang="en-US" sz="3000" dirty="0"/>
              <a:t>种基本形式之一，即域演算公式或是一个原子公式，或是由原子公式经过有限次</a:t>
            </a:r>
            <a:r>
              <a:rPr lang="zh-CN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、</a:t>
            </a:r>
            <a:r>
              <a:rPr lang="en-US" altLang="zh-CN" sz="3000" dirty="0">
                <a:cs typeface="Times New Roman" panose="02020603050405020304" pitchFamily="18" charset="0"/>
              </a:rPr>
              <a:t>∨</a:t>
            </a:r>
            <a:r>
              <a:rPr lang="zh-CN" altLang="en-US" sz="3000" dirty="0"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cs typeface="Times New Roman" panose="02020603050405020304" pitchFamily="18" charset="0"/>
              </a:rPr>
              <a:t>∧</a:t>
            </a:r>
            <a:r>
              <a:rPr lang="zh-CN" altLang="en-US" sz="3000" dirty="0"/>
              <a:t>逻辑运算和</a:t>
            </a:r>
            <a:r>
              <a:rPr lang="en-US" altLang="zh-CN" sz="3000" dirty="0"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zh-CN" altLang="en-US" sz="3000" dirty="0">
                <a:cs typeface="Times New Roman" panose="02020603050405020304" pitchFamily="18" charset="0"/>
                <a:sym typeface="Symbol" panose="05050102010706020507" pitchFamily="18" charset="2"/>
              </a:rPr>
              <a:t>、 </a:t>
            </a:r>
            <a:r>
              <a:rPr lang="en-US" altLang="zh-CN" sz="3000" dirty="0"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zh-CN" altLang="en-US" sz="3000" dirty="0"/>
              <a:t>量词运算而形成的复合公式。</a:t>
            </a:r>
            <a:endParaRPr lang="en-US" altLang="zh-CN" sz="3000" dirty="0"/>
          </a:p>
        </p:txBody>
      </p:sp>
      <p:sp>
        <p:nvSpPr>
          <p:cNvPr id="907269" name="Rectangle 5">
            <a:extLst>
              <a:ext uri="{FF2B5EF4-FFF2-40B4-BE49-F238E27FC236}">
                <a16:creationId xmlns:a16="http://schemas.microsoft.com/office/drawing/2014/main" id="{9419931A-2A6B-47A8-8255-B6491DD98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二、域关系演算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25"/>
    </mc:Choice>
    <mc:Fallback xmlns="">
      <p:transition spd="slow" advTm="350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07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07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54" name="Rectangle 2">
            <a:extLst>
              <a:ext uri="{FF2B5EF4-FFF2-40B4-BE49-F238E27FC236}">
                <a16:creationId xmlns:a16="http://schemas.microsoft.com/office/drawing/2014/main" id="{C1920851-F0A0-48BE-ABD6-7AFC492D11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77482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kumimoji="1" lang="zh-CN" altLang="en-US" sz="260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zh-CN" altLang="en-US" sz="2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1" lang="zh-CN" altLang="en-US" sz="2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设有关系</a:t>
            </a:r>
            <a:r>
              <a:rPr kumimoji="1" lang="en-US" altLang="zh-CN" sz="2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R、W </a:t>
            </a:r>
            <a:r>
              <a:rPr kumimoji="1" lang="zh-CN" altLang="en-US" sz="2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如图</a:t>
            </a:r>
            <a:r>
              <a:rPr kumimoji="1" lang="zh-CN" altLang="en-US" sz="26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所示，求如下的域演算表达式的值</a:t>
            </a:r>
            <a:endParaRPr kumimoji="1" lang="en-US" altLang="zh-CN" sz="260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42907" name="Group 155">
            <a:extLst>
              <a:ext uri="{FF2B5EF4-FFF2-40B4-BE49-F238E27FC236}">
                <a16:creationId xmlns:a16="http://schemas.microsoft.com/office/drawing/2014/main" id="{B2D772F9-4B23-4FE2-9D31-A8AE0912EBDB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987675"/>
          <a:ext cx="2233613" cy="2131570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4172025882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3233803763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481289550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741681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975144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855800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030045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208609"/>
                  </a:ext>
                </a:extLst>
              </a:tr>
            </a:tbl>
          </a:graphicData>
        </a:graphic>
      </p:graphicFrame>
      <p:sp>
        <p:nvSpPr>
          <p:cNvPr id="842781" name="Text Box 29">
            <a:extLst>
              <a:ext uri="{FF2B5EF4-FFF2-40B4-BE49-F238E27FC236}">
                <a16:creationId xmlns:a16="http://schemas.microsoft.com/office/drawing/2014/main" id="{0D31D602-3DED-4A40-BA8A-38D093571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138" y="5180013"/>
            <a:ext cx="1122362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</a:t>
            </a:r>
          </a:p>
        </p:txBody>
      </p:sp>
      <p:graphicFrame>
        <p:nvGraphicFramePr>
          <p:cNvPr id="842908" name="Group 156">
            <a:extLst>
              <a:ext uri="{FF2B5EF4-FFF2-40B4-BE49-F238E27FC236}">
                <a16:creationId xmlns:a16="http://schemas.microsoft.com/office/drawing/2014/main" id="{31E7B95B-5BFB-4577-BB0B-896948D876FF}"/>
              </a:ext>
            </a:extLst>
          </p:cNvPr>
          <p:cNvGraphicFramePr>
            <a:graphicFrameLocks noGrp="1"/>
          </p:cNvGraphicFramePr>
          <p:nvPr/>
        </p:nvGraphicFramePr>
        <p:xfrm>
          <a:off x="3563938" y="3008313"/>
          <a:ext cx="1584325" cy="1258444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val="824157826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434992299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163486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905591"/>
                  </a:ext>
                </a:extLst>
              </a:tr>
              <a:tr h="4365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078405"/>
                  </a:ext>
                </a:extLst>
              </a:tr>
            </a:tbl>
          </a:graphicData>
        </a:graphic>
      </p:graphicFrame>
      <p:sp>
        <p:nvSpPr>
          <p:cNvPr id="842796" name="Text Box 44">
            <a:extLst>
              <a:ext uri="{FF2B5EF4-FFF2-40B4-BE49-F238E27FC236}">
                <a16:creationId xmlns:a16="http://schemas.microsoft.com/office/drawing/2014/main" id="{5FC54D94-08AF-4B23-97BC-87B63556E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4376738"/>
            <a:ext cx="1122362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W</a:t>
            </a:r>
          </a:p>
        </p:txBody>
      </p:sp>
      <p:sp>
        <p:nvSpPr>
          <p:cNvPr id="842797" name="Text Box 45">
            <a:extLst>
              <a:ext uri="{FF2B5EF4-FFF2-40B4-BE49-F238E27FC236}">
                <a16:creationId xmlns:a16="http://schemas.microsoft.com/office/drawing/2014/main" id="{B4BECB0A-2AD8-4A4B-A99E-5AFF82D07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973263"/>
            <a:ext cx="7993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R3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＝{yux|(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z)(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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v)（R(xyz)∧W(uv)∧z≥v）} </a:t>
            </a:r>
          </a:p>
        </p:txBody>
      </p:sp>
      <p:sp>
        <p:nvSpPr>
          <p:cNvPr id="842798" name="Rectangle 46">
            <a:extLst>
              <a:ext uri="{FF2B5EF4-FFF2-40B4-BE49-F238E27FC236}">
                <a16:creationId xmlns:a16="http://schemas.microsoft.com/office/drawing/2014/main" id="{4437E3CA-8973-4703-9504-27951F851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二、域关系演算</a:t>
            </a:r>
          </a:p>
        </p:txBody>
      </p:sp>
      <p:sp>
        <p:nvSpPr>
          <p:cNvPr id="842801" name="Text Box 49">
            <a:extLst>
              <a:ext uri="{FF2B5EF4-FFF2-40B4-BE49-F238E27FC236}">
                <a16:creationId xmlns:a16="http://schemas.microsoft.com/office/drawing/2014/main" id="{9D917605-12DD-4F34-87E6-63A09C2AE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5745163"/>
            <a:ext cx="1368425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400" b="1">
                <a:latin typeface="楷体_GB2312" pitchFamily="49" charset="-122"/>
                <a:ea typeface="楷体_GB2312" pitchFamily="49" charset="-122"/>
              </a:rPr>
              <a:t>关系</a:t>
            </a:r>
            <a:r>
              <a:rPr kumimoji="1" lang="en-US" altLang="zh-CN" sz="2400" b="1">
                <a:latin typeface="楷体_GB2312" pitchFamily="49" charset="-122"/>
                <a:ea typeface="楷体_GB2312" pitchFamily="49" charset="-122"/>
              </a:rPr>
              <a:t>R3</a:t>
            </a:r>
          </a:p>
        </p:txBody>
      </p:sp>
      <p:graphicFrame>
        <p:nvGraphicFramePr>
          <p:cNvPr id="843003" name="Group 251">
            <a:extLst>
              <a:ext uri="{FF2B5EF4-FFF2-40B4-BE49-F238E27FC236}">
                <a16:creationId xmlns:a16="http://schemas.microsoft.com/office/drawing/2014/main" id="{1F4D5686-9F69-404C-AEA4-1F572B14826F}"/>
              </a:ext>
            </a:extLst>
          </p:cNvPr>
          <p:cNvGraphicFramePr>
            <a:graphicFrameLocks noGrp="1"/>
          </p:cNvGraphicFramePr>
          <p:nvPr/>
        </p:nvGraphicFramePr>
        <p:xfrm>
          <a:off x="6180138" y="2936875"/>
          <a:ext cx="1905000" cy="2718881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418128761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406252705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928034696"/>
                    </a:ext>
                  </a:extLst>
                </a:gridCol>
              </a:tblGrid>
              <a:tr h="4413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531361"/>
                  </a:ext>
                </a:extLst>
              </a:tr>
              <a:tr h="4222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103529"/>
                  </a:ext>
                </a:extLst>
              </a:tr>
              <a:tr h="4587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317543"/>
                  </a:ext>
                </a:extLst>
              </a:tr>
              <a:tr h="4460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028723"/>
                  </a:ext>
                </a:extLst>
              </a:tr>
              <a:tr h="4587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f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182369"/>
                  </a:ext>
                </a:extLst>
              </a:tr>
              <a:tr h="4587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17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189741"/>
                  </a:ext>
                </a:extLst>
              </a:tr>
            </a:tbl>
          </a:graphicData>
        </a:graphic>
      </p:graphicFrame>
      <p:sp>
        <p:nvSpPr>
          <p:cNvPr id="842838" name="Line 86">
            <a:extLst>
              <a:ext uri="{FF2B5EF4-FFF2-40B4-BE49-F238E27FC236}">
                <a16:creationId xmlns:a16="http://schemas.microsoft.com/office/drawing/2014/main" id="{C6708016-1D97-46D3-9E8E-5C0737BE8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2505075"/>
            <a:ext cx="1081088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842859" name="Group 107">
            <a:extLst>
              <a:ext uri="{FF2B5EF4-FFF2-40B4-BE49-F238E27FC236}">
                <a16:creationId xmlns:a16="http://schemas.microsoft.com/office/drawing/2014/main" id="{5BD69C74-19B4-4FEF-89A4-FC08A3A97C4D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986088"/>
          <a:ext cx="2232025" cy="45561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739611113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168036817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954418339"/>
                    </a:ext>
                  </a:extLst>
                </a:gridCol>
              </a:tblGrid>
              <a:tr h="45561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y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C(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z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627370"/>
                  </a:ext>
                </a:extLst>
              </a:tr>
            </a:tbl>
          </a:graphicData>
        </a:graphic>
      </p:graphicFrame>
      <p:graphicFrame>
        <p:nvGraphicFramePr>
          <p:cNvPr id="842873" name="Group 121">
            <a:extLst>
              <a:ext uri="{FF2B5EF4-FFF2-40B4-BE49-F238E27FC236}">
                <a16:creationId xmlns:a16="http://schemas.microsoft.com/office/drawing/2014/main" id="{F5071D0F-D0C3-47A3-BA5A-6C5FE8B9E09A}"/>
              </a:ext>
            </a:extLst>
          </p:cNvPr>
          <p:cNvGraphicFramePr>
            <a:graphicFrameLocks noGrp="1"/>
          </p:cNvGraphicFramePr>
          <p:nvPr/>
        </p:nvGraphicFramePr>
        <p:xfrm>
          <a:off x="3563938" y="2986088"/>
          <a:ext cx="1584325" cy="455613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val="3824594816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626218864"/>
                    </a:ext>
                  </a:extLst>
                </a:gridCol>
              </a:tblGrid>
              <a:tr h="45561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u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E(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v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262169"/>
                  </a:ext>
                </a:extLst>
              </a:tr>
            </a:tbl>
          </a:graphicData>
        </a:graphic>
      </p:graphicFrame>
      <p:sp>
        <p:nvSpPr>
          <p:cNvPr id="842874" name="Line 122">
            <a:extLst>
              <a:ext uri="{FF2B5EF4-FFF2-40B4-BE49-F238E27FC236}">
                <a16:creationId xmlns:a16="http://schemas.microsoft.com/office/drawing/2014/main" id="{F9AC71A2-0224-4F1F-9AD9-C3E1BBB64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505075"/>
            <a:ext cx="792163" cy="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42875" name="Line 123">
            <a:extLst>
              <a:ext uri="{FF2B5EF4-FFF2-40B4-BE49-F238E27FC236}">
                <a16:creationId xmlns:a16="http://schemas.microsoft.com/office/drawing/2014/main" id="{1ECA2A5C-1164-40DF-BE72-42618D311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2505075"/>
            <a:ext cx="647700" cy="0"/>
          </a:xfrm>
          <a:prstGeom prst="line">
            <a:avLst/>
          </a:prstGeom>
          <a:noFill/>
          <a:ln w="38100" cap="sq">
            <a:solidFill>
              <a:srgbClr val="FF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843001" name="Group 249">
            <a:extLst>
              <a:ext uri="{FF2B5EF4-FFF2-40B4-BE49-F238E27FC236}">
                <a16:creationId xmlns:a16="http://schemas.microsoft.com/office/drawing/2014/main" id="{EBCAB089-446D-408E-B0A9-574974EFB969}"/>
              </a:ext>
            </a:extLst>
          </p:cNvPr>
          <p:cNvGraphicFramePr>
            <a:graphicFrameLocks noGrp="1"/>
          </p:cNvGraphicFramePr>
          <p:nvPr/>
        </p:nvGraphicFramePr>
        <p:xfrm>
          <a:off x="6191250" y="2924175"/>
          <a:ext cx="1905000" cy="286582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475842855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503735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3045401338"/>
                    </a:ext>
                  </a:extLst>
                </a:gridCol>
              </a:tblGrid>
              <a:tr h="3524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D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rPr>
                        <a:t>A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537512"/>
                  </a:ext>
                </a:extLst>
              </a:tr>
              <a:tr h="50958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6162"/>
                  </a:ext>
                </a:extLst>
              </a:tr>
              <a:tr h="50006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285954"/>
                  </a:ext>
                </a:extLst>
              </a:tr>
              <a:tr h="4349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547318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35511"/>
                  </a:ext>
                </a:extLst>
              </a:tr>
              <a:tr h="48577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panose="020B0604030504040204" pitchFamily="34" charset="0"/>
                        <a:ea typeface="楷体_GB2312" pitchFamily="49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521246"/>
                  </a:ext>
                </a:extLst>
              </a:tr>
            </a:tbl>
          </a:graphicData>
        </a:graphic>
      </p:graphicFrame>
      <p:sp>
        <p:nvSpPr>
          <p:cNvPr id="842906" name="Line 154">
            <a:extLst>
              <a:ext uri="{FF2B5EF4-FFF2-40B4-BE49-F238E27FC236}">
                <a16:creationId xmlns:a16="http://schemas.microsoft.com/office/drawing/2014/main" id="{4023E7B8-9D2C-47DC-9883-BF5CC78C3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2505075"/>
            <a:ext cx="792163" cy="0"/>
          </a:xfrm>
          <a:prstGeom prst="line">
            <a:avLst/>
          </a:prstGeom>
          <a:noFill/>
          <a:ln w="38100" cap="sq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42911" name="Line 159">
            <a:extLst>
              <a:ext uri="{FF2B5EF4-FFF2-40B4-BE49-F238E27FC236}">
                <a16:creationId xmlns:a16="http://schemas.microsoft.com/office/drawing/2014/main" id="{5E8C11A5-9732-48B3-BAC6-5ABFED147D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5300" y="3573463"/>
            <a:ext cx="504825" cy="0"/>
          </a:xfrm>
          <a:prstGeom prst="line">
            <a:avLst/>
          </a:prstGeom>
          <a:noFill/>
          <a:ln w="38100" cap="sq">
            <a:solidFill>
              <a:srgbClr val="FF00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42912" name="Line 160">
            <a:extLst>
              <a:ext uri="{FF2B5EF4-FFF2-40B4-BE49-F238E27FC236}">
                <a16:creationId xmlns:a16="http://schemas.microsoft.com/office/drawing/2014/main" id="{DB6FEDE4-35DE-45A7-B8B8-6503857DDA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3573463"/>
            <a:ext cx="576263" cy="576262"/>
          </a:xfrm>
          <a:prstGeom prst="line">
            <a:avLst/>
          </a:prstGeom>
          <a:noFill/>
          <a:ln w="38100" cap="sq">
            <a:solidFill>
              <a:srgbClr val="FF00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42913" name="Line 161">
            <a:extLst>
              <a:ext uri="{FF2B5EF4-FFF2-40B4-BE49-F238E27FC236}">
                <a16:creationId xmlns:a16="http://schemas.microsoft.com/office/drawing/2014/main" id="{03EBA219-F481-4EC2-85CC-5D73FDF925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7675" y="3603625"/>
            <a:ext cx="576263" cy="43180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42914" name="Line 162">
            <a:extLst>
              <a:ext uri="{FF2B5EF4-FFF2-40B4-BE49-F238E27FC236}">
                <a16:creationId xmlns:a16="http://schemas.microsoft.com/office/drawing/2014/main" id="{E5A26C88-61F1-455F-8772-F3AF0046F2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4067175"/>
            <a:ext cx="576263" cy="150813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42915" name="Line 163">
            <a:extLst>
              <a:ext uri="{FF2B5EF4-FFF2-40B4-BE49-F238E27FC236}">
                <a16:creationId xmlns:a16="http://schemas.microsoft.com/office/drawing/2014/main" id="{922A6A34-609D-48A8-BA17-7875656A8F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7675" y="3754438"/>
            <a:ext cx="576263" cy="8636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advTm="14488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84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84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4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84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84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842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84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42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843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42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42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4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4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4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280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Rectangle 2">
            <a:extLst>
              <a:ext uri="{FF2B5EF4-FFF2-40B4-BE49-F238E27FC236}">
                <a16:creationId xmlns:a16="http://schemas.microsoft.com/office/drawing/2014/main" id="{76E2FD5A-18B5-416A-8319-BC2FA2E94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95250"/>
            <a:ext cx="2987675" cy="544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2</a:t>
            </a: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章  关系运算</a:t>
            </a:r>
          </a:p>
        </p:txBody>
      </p:sp>
      <p:sp>
        <p:nvSpPr>
          <p:cNvPr id="908291" name="Rectangle 3">
            <a:extLst>
              <a:ext uri="{FF2B5EF4-FFF2-40B4-BE49-F238E27FC236}">
                <a16:creationId xmlns:a16="http://schemas.microsoft.com/office/drawing/2014/main" id="{8A4B84A0-8C1C-40FD-8445-B3775FA8A0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138238"/>
            <a:ext cx="8137525" cy="1462087"/>
          </a:xfrm>
          <a:noFill/>
          <a:ln/>
        </p:spPr>
        <p:txBody>
          <a:bodyPr/>
          <a:lstStyle/>
          <a:p>
            <a:r>
              <a:rPr lang="en-US" altLang="zh-CN" sz="3800"/>
              <a:t>2.4</a:t>
            </a:r>
            <a:r>
              <a:rPr lang="zh-CN" altLang="en-US" sz="3800"/>
              <a:t>  三种关系运算表达能力的等价性</a:t>
            </a:r>
            <a:endParaRPr lang="en-US" altLang="zh-CN" sz="3800"/>
          </a:p>
        </p:txBody>
      </p:sp>
    </p:spTree>
  </p:cSld>
  <p:clrMapOvr>
    <a:masterClrMapping/>
  </p:clrMapOvr>
  <p:transition advTm="60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90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6" name="Rectangle 4">
            <a:extLst>
              <a:ext uri="{FF2B5EF4-FFF2-40B4-BE49-F238E27FC236}">
                <a16:creationId xmlns:a16="http://schemas.microsoft.com/office/drawing/2014/main" id="{24775699-FCF5-4B36-B7B2-42B125004A1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55650" y="285750"/>
            <a:ext cx="7793038" cy="6223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pPr algn="ctr"/>
            <a:r>
              <a:rPr lang="zh-CN" altLang="en-US" sz="4000">
                <a:latin typeface="华文隶书" panose="02010800040101010101" pitchFamily="2" charset="-122"/>
                <a:ea typeface="华文隶书" panose="02010800040101010101" pitchFamily="2" charset="-122"/>
              </a:rPr>
              <a:t>三种关系运算方法</a:t>
            </a:r>
          </a:p>
        </p:txBody>
      </p:sp>
      <p:sp>
        <p:nvSpPr>
          <p:cNvPr id="909317" name="Rectangle 5">
            <a:extLst>
              <a:ext uri="{FF2B5EF4-FFF2-40B4-BE49-F238E27FC236}">
                <a16:creationId xmlns:a16="http://schemas.microsoft.com/office/drawing/2014/main" id="{14FFAC24-EB0F-40CE-B6D8-1FB0382AF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150938"/>
            <a:ext cx="8208963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74295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143000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00200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endParaRPr lang="zh-CN" altLang="en-US" sz="1000">
              <a:solidFill>
                <a:srgbClr val="990033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/>
              <a:t>          </a:t>
            </a:r>
            <a:r>
              <a:rPr lang="en-US" altLang="zh-CN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/>
              <a:t>、</a:t>
            </a:r>
            <a:r>
              <a:rPr lang="zh-CN" altLang="en-US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关系代数</a:t>
            </a:r>
          </a:p>
          <a:p>
            <a:pPr>
              <a:lnSpc>
                <a:spcPct val="150000"/>
              </a:lnSpc>
            </a:pPr>
            <a:r>
              <a:rPr lang="en-US" altLang="zh-CN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       2</a:t>
            </a:r>
            <a:r>
              <a:rPr lang="zh-CN" altLang="en-US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、元组关系演算</a:t>
            </a:r>
          </a:p>
          <a:p>
            <a:pPr>
              <a:lnSpc>
                <a:spcPct val="150000"/>
              </a:lnSpc>
            </a:pPr>
            <a:r>
              <a:rPr lang="en-US" altLang="zh-CN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       3</a:t>
            </a:r>
            <a:r>
              <a:rPr lang="zh-CN" altLang="en-US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、域关系演算</a:t>
            </a:r>
          </a:p>
          <a:p>
            <a:pPr>
              <a:lnSpc>
                <a:spcPct val="150000"/>
              </a:lnSpc>
            </a:pPr>
            <a:r>
              <a:rPr lang="en-US" altLang="zh-CN" sz="3200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zh-CN" altLang="en-US">
                <a:solidFill>
                  <a:srgbClr val="660033"/>
                </a:solidFill>
                <a:effectLst/>
                <a:latin typeface="华文新魏" panose="02010800040101010101" pitchFamily="2" charset="-122"/>
                <a:ea typeface="黑体" panose="02010609060101010101" pitchFamily="49" charset="-122"/>
              </a:rPr>
              <a:t>可以证明</a:t>
            </a:r>
            <a:r>
              <a:rPr lang="zh-CN" altLang="en-US">
                <a:solidFill>
                  <a:srgbClr val="003366"/>
                </a:solidFill>
                <a:effectLst/>
                <a:latin typeface="华文新魏" panose="02010800040101010101" pitchFamily="2" charset="-122"/>
                <a:ea typeface="黑体" panose="02010609060101010101" pitchFamily="49" charset="-122"/>
              </a:rPr>
              <a:t>，</a:t>
            </a:r>
            <a:r>
              <a:rPr lang="zh-CN" altLang="en-US">
                <a:solidFill>
                  <a:srgbClr val="006666"/>
                </a:solidFill>
                <a:effectLst/>
                <a:ea typeface="黑体" panose="02010609060101010101" pitchFamily="49" charset="-122"/>
              </a:rPr>
              <a:t>经安全约束后的三种关系运算的表达能力是等价的。</a:t>
            </a:r>
            <a:r>
              <a:rPr lang="zh-CN" altLang="en-US"/>
              <a:t> 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193"/>
    </mc:Choice>
    <mc:Fallback xmlns="">
      <p:transition spd="slow" advTm="171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9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09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909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909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931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340" name="Rectangle 4">
            <a:extLst>
              <a:ext uri="{FF2B5EF4-FFF2-40B4-BE49-F238E27FC236}">
                <a16:creationId xmlns:a16="http://schemas.microsoft.com/office/drawing/2014/main" id="{0CAD8C5D-7FA4-44DA-8902-4E053E744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、问题的引入</a:t>
            </a:r>
          </a:p>
          <a:p>
            <a:pPr>
              <a:lnSpc>
                <a:spcPct val="15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zh-CN" altLang="en-US"/>
              <a:t>关系代数中的基本操作是并、差、笛卡尔积、投影和选择，由于这些运算没有引入</a:t>
            </a:r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zh-CN" altLang="en-US"/>
              <a:t>补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zh-CN" altLang="en-US"/>
              <a:t>操作，在用计算机实现时不存在无限验证的情况，所以关系代数运算总是安全的。 </a:t>
            </a:r>
            <a:endParaRPr lang="en-US" altLang="zh-CN"/>
          </a:p>
        </p:txBody>
      </p:sp>
      <p:sp>
        <p:nvSpPr>
          <p:cNvPr id="910341" name="Rectangle 5">
            <a:extLst>
              <a:ext uri="{FF2B5EF4-FFF2-40B4-BE49-F238E27FC236}">
                <a16:creationId xmlns:a16="http://schemas.microsoft.com/office/drawing/2014/main" id="{5EE40991-CF9F-4EC7-A03B-D3AC7B210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一、关系演算表达式的安全性约束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777"/>
    </mc:Choice>
    <mc:Fallback xmlns="">
      <p:transition spd="slow" advTm="32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10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10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64" name="Rectangle 4">
            <a:extLst>
              <a:ext uri="{FF2B5EF4-FFF2-40B4-BE49-F238E27FC236}">
                <a16:creationId xmlns:a16="http://schemas.microsoft.com/office/drawing/2014/main" id="{A42A647D-CC28-43CC-BA6E-6BA8C5015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、问题的引入</a:t>
            </a:r>
          </a:p>
          <a:p>
            <a:pPr>
              <a:lnSpc>
                <a:spcPct val="14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但在</a:t>
            </a:r>
            <a:r>
              <a:rPr lang="zh-CN" altLang="en-US"/>
              <a:t>关系演算中，允许定义某些无限的关系。</a:t>
            </a:r>
          </a:p>
          <a:p>
            <a:pPr>
              <a:lnSpc>
                <a:spcPct val="145000"/>
              </a:lnSpc>
              <a:spcBef>
                <a:spcPct val="30000"/>
              </a:spcBef>
            </a:pPr>
            <a:r>
              <a:rPr lang="zh-CN" altLang="en-US"/>
              <a:t>       例如，元组关系演算表达式</a:t>
            </a:r>
            <a:r>
              <a:rPr lang="en-US" altLang="zh-CN"/>
              <a:t>{t|</a:t>
            </a:r>
            <a:r>
              <a:rPr lang="en-US" altLang="zh-CN">
                <a:cs typeface="Tahoma" panose="020B0604030504040204" pitchFamily="34" charset="0"/>
              </a:rPr>
              <a:t>¬R</a:t>
            </a:r>
            <a:r>
              <a:rPr lang="zh-CN" altLang="en-US">
                <a:cs typeface="Tahoma" panose="020B0604030504040204" pitchFamily="34" charset="0"/>
              </a:rPr>
              <a:t>（</a:t>
            </a:r>
            <a:r>
              <a:rPr lang="en-US" altLang="zh-CN">
                <a:cs typeface="Tahoma" panose="020B0604030504040204" pitchFamily="34" charset="0"/>
              </a:rPr>
              <a:t>R</a:t>
            </a:r>
            <a:r>
              <a:rPr lang="zh-CN" altLang="en-US">
                <a:cs typeface="Tahoma" panose="020B0604030504040204" pitchFamily="34" charset="0"/>
              </a:rPr>
              <a:t>）</a:t>
            </a:r>
            <a:r>
              <a:rPr lang="en-US" altLang="zh-CN"/>
              <a:t>}</a:t>
            </a:r>
            <a:r>
              <a:rPr lang="zh-CN" altLang="en-US"/>
              <a:t>表示目数与</a:t>
            </a:r>
            <a:r>
              <a:rPr lang="en-US" altLang="zh-CN"/>
              <a:t>R</a:t>
            </a:r>
            <a:r>
              <a:rPr lang="zh-CN" altLang="en-US"/>
              <a:t>相同且不属于</a:t>
            </a:r>
            <a:r>
              <a:rPr lang="en-US" altLang="zh-CN"/>
              <a:t>R</a:t>
            </a:r>
            <a:r>
              <a:rPr lang="zh-CN" altLang="en-US"/>
              <a:t>的所有可能的元组的集合。这显然是一个无限关系，计算机对无穷验证问题不可能得出结果，也就是说，这样的无穷关系在计算机上是无法实现的。 </a:t>
            </a:r>
            <a:endParaRPr lang="en-US" altLang="zh-CN"/>
          </a:p>
        </p:txBody>
      </p:sp>
      <p:sp>
        <p:nvSpPr>
          <p:cNvPr id="911365" name="Rectangle 5">
            <a:extLst>
              <a:ext uri="{FF2B5EF4-FFF2-40B4-BE49-F238E27FC236}">
                <a16:creationId xmlns:a16="http://schemas.microsoft.com/office/drawing/2014/main" id="{D2B95F6A-F476-4C23-9F2D-83CFF4410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一、关系演算表达式的安全性约束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526"/>
    </mc:Choice>
    <mc:Fallback xmlns="">
      <p:transition spd="slow" advTm="475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11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11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2" name="Rectangle 4">
            <a:extLst>
              <a:ext uri="{FF2B5EF4-FFF2-40B4-BE49-F238E27FC236}">
                <a16:creationId xmlns:a16="http://schemas.microsoft.com/office/drawing/2014/main" id="{FF8DB8BF-A3EA-4E08-88A6-CBA3990A9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、问题的引入</a:t>
            </a:r>
          </a:p>
          <a:p>
            <a:pPr>
              <a:lnSpc>
                <a:spcPct val="14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zh-CN" altLang="en-US"/>
              <a:t>另外，在元组关系演算中判断一个命题的正确与否，有时也会出现无穷次验证的情况。</a:t>
            </a:r>
          </a:p>
          <a:p>
            <a:pPr>
              <a:lnSpc>
                <a:spcPct val="145000"/>
              </a:lnSpc>
              <a:spcBef>
                <a:spcPct val="30000"/>
              </a:spcBef>
            </a:pPr>
            <a:r>
              <a:rPr lang="zh-CN" altLang="en-US"/>
              <a:t>       例如，判断命题</a:t>
            </a:r>
            <a:r>
              <a:rPr lang="en-US" altLang="zh-CN"/>
              <a:t>(</a:t>
            </a:r>
            <a:r>
              <a:rPr kumimoji="1" lang="zh-CN" altLang="en-US">
                <a:sym typeface="Symbol" panose="05050102010706020507" pitchFamily="18" charset="2"/>
              </a:rPr>
              <a:t></a:t>
            </a:r>
            <a:r>
              <a:rPr kumimoji="1" lang="en-US" altLang="zh-CN">
                <a:sym typeface="Symbol" panose="05050102010706020507" pitchFamily="18" charset="2"/>
              </a:rPr>
              <a:t>)u</a:t>
            </a:r>
            <a:r>
              <a:rPr lang="en-US" altLang="zh-CN"/>
              <a:t>(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cs typeface="Tahoma" panose="020B0604030504040204" pitchFamily="34" charset="0"/>
              </a:rPr>
              <a:t>(</a:t>
            </a:r>
            <a:r>
              <a:rPr lang="en-US" altLang="zh-CN"/>
              <a:t>u))</a:t>
            </a:r>
            <a:r>
              <a:rPr lang="zh-CN" altLang="en-US"/>
              <a:t>为真，必须对变量</a:t>
            </a:r>
            <a:r>
              <a:rPr lang="en-US" altLang="zh-CN"/>
              <a:t>u</a:t>
            </a:r>
            <a:r>
              <a:rPr lang="zh-CN" altLang="en-US"/>
              <a:t>的所有可能值进行验证，当没有一个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cs typeface="Tahoma" panose="020B0604030504040204" pitchFamily="34" charset="0"/>
              </a:rPr>
              <a:t>(</a:t>
            </a:r>
            <a:r>
              <a:rPr lang="en-US" altLang="zh-CN"/>
              <a:t>u))</a:t>
            </a:r>
            <a:r>
              <a:rPr lang="zh-CN" altLang="en-US"/>
              <a:t> 值能使为假时，才能做出结论。当</a:t>
            </a:r>
            <a:r>
              <a:rPr lang="en-US" altLang="zh-CN"/>
              <a:t>u</a:t>
            </a:r>
            <a:r>
              <a:rPr lang="zh-CN" altLang="en-US"/>
              <a:t>的值有无限多个时，验证过程就是无穷的。 </a:t>
            </a:r>
            <a:endParaRPr lang="en-US" altLang="zh-CN"/>
          </a:p>
        </p:txBody>
      </p:sp>
      <p:sp>
        <p:nvSpPr>
          <p:cNvPr id="913413" name="Rectangle 5">
            <a:extLst>
              <a:ext uri="{FF2B5EF4-FFF2-40B4-BE49-F238E27FC236}">
                <a16:creationId xmlns:a16="http://schemas.microsoft.com/office/drawing/2014/main" id="{F9CF1CD7-F1B8-4D32-902D-6A64216C0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一、关系演算表达式的安全性约束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71"/>
    </mc:Choice>
    <mc:Fallback xmlns="">
      <p:transition spd="slow" advTm="348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13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13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6" name="Rectangle 4">
            <a:extLst>
              <a:ext uri="{FF2B5EF4-FFF2-40B4-BE49-F238E27FC236}">
                <a16:creationId xmlns:a16="http://schemas.microsoft.com/office/drawing/2014/main" id="{745205C6-A394-4822-B6C3-D31B279A1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、问题的引入</a:t>
            </a:r>
          </a:p>
          <a:p>
            <a:pPr>
              <a:lnSpc>
                <a:spcPct val="160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zh-CN" altLang="en-US"/>
              <a:t>为了防止无限关系和无穷验证的出现，就必须人为地对关系演算表达式施加某种限制，于是就引入了安全约束的概念。</a:t>
            </a:r>
            <a:r>
              <a:rPr lang="en-US" altLang="zh-CN"/>
              <a:t> </a:t>
            </a:r>
          </a:p>
        </p:txBody>
      </p:sp>
      <p:sp>
        <p:nvSpPr>
          <p:cNvPr id="914437" name="Rectangle 5">
            <a:extLst>
              <a:ext uri="{FF2B5EF4-FFF2-40B4-BE49-F238E27FC236}">
                <a16:creationId xmlns:a16="http://schemas.microsoft.com/office/drawing/2014/main" id="{5F5B19EA-459C-4868-A58D-D16DE43EC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一、关系演算表达式的安全性约束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99"/>
    </mc:Choice>
    <mc:Fallback xmlns="">
      <p:transition spd="slow" advTm="153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14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8" name="Rectangle 4">
            <a:extLst>
              <a:ext uri="{FF2B5EF4-FFF2-40B4-BE49-F238E27FC236}">
                <a16:creationId xmlns:a16="http://schemas.microsoft.com/office/drawing/2014/main" id="{B0734AFF-B253-494A-ACB6-F85069D24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、关系演算表达式的安全性约束 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zh-CN" altLang="en-US"/>
              <a:t>定义一个与元组演算表达式</a:t>
            </a:r>
            <a:r>
              <a:rPr lang="en-US" altLang="zh-CN"/>
              <a:t>{t|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cs typeface="Tahoma" panose="020B0604030504040204" pitchFamily="34" charset="0"/>
              </a:rPr>
              <a:t>(t</a:t>
            </a:r>
            <a:r>
              <a:rPr lang="en-US" altLang="zh-CN"/>
              <a:t>)}</a:t>
            </a:r>
            <a:r>
              <a:rPr lang="zh-CN" altLang="en-US"/>
              <a:t>的安全性有关的集合</a:t>
            </a:r>
            <a:r>
              <a:rPr lang="en-US" altLang="zh-CN"/>
              <a:t>DOM(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cs typeface="Tahoma" panose="020B0604030504040204" pitchFamily="34" charset="0"/>
              </a:rPr>
              <a:t>(t</a:t>
            </a:r>
            <a:r>
              <a:rPr lang="en-US" altLang="zh-CN"/>
              <a:t>))</a:t>
            </a:r>
            <a:r>
              <a:rPr lang="zh-CN" altLang="en-US"/>
              <a:t>，简写为</a:t>
            </a:r>
            <a:r>
              <a:rPr lang="en-US" altLang="zh-CN"/>
              <a:t>DOM(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/>
              <a:t>)</a:t>
            </a:r>
            <a:r>
              <a:rPr lang="zh-CN" altLang="en-US"/>
              <a:t>。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en-US" altLang="zh-CN"/>
              <a:t>       DOM(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 sz="3000"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/>
              <a:t>称为元组演算表达式</a:t>
            </a:r>
            <a:r>
              <a:rPr lang="en-US" altLang="zh-CN"/>
              <a:t>{t|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cs typeface="Tahoma" panose="020B0604030504040204" pitchFamily="34" charset="0"/>
              </a:rPr>
              <a:t>(t</a:t>
            </a:r>
            <a:r>
              <a:rPr lang="en-US" altLang="zh-CN"/>
              <a:t>)}</a:t>
            </a:r>
            <a:r>
              <a:rPr lang="zh-CN" altLang="en-US"/>
              <a:t>的公式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zh-CN" altLang="en-US"/>
              <a:t>的域（</a:t>
            </a:r>
            <a:r>
              <a:rPr lang="en-US" altLang="zh-CN"/>
              <a:t>Domain</a:t>
            </a:r>
            <a:r>
              <a:rPr lang="zh-CN" altLang="en-US"/>
              <a:t>），也称为元组演算表达式的安全约束集合。</a:t>
            </a:r>
            <a:endParaRPr lang="en-US" altLang="zh-CN"/>
          </a:p>
        </p:txBody>
      </p:sp>
      <p:sp>
        <p:nvSpPr>
          <p:cNvPr id="912389" name="Rectangle 5">
            <a:extLst>
              <a:ext uri="{FF2B5EF4-FFF2-40B4-BE49-F238E27FC236}">
                <a16:creationId xmlns:a16="http://schemas.microsoft.com/office/drawing/2014/main" id="{FD12AFC0-4EF0-429F-8F37-AF8B07393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一、关系演算表达式的安全性约束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860"/>
    </mc:Choice>
    <mc:Fallback xmlns="">
      <p:transition spd="slow" advTm="528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1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12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912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60" name="Rectangle 4">
            <a:extLst>
              <a:ext uri="{FF2B5EF4-FFF2-40B4-BE49-F238E27FC236}">
                <a16:creationId xmlns:a16="http://schemas.microsoft.com/office/drawing/2014/main" id="{5DC29E71-402C-42EB-BDAB-AEB5C08B4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、关系演算表达式的安全性约束 </a:t>
            </a:r>
          </a:p>
          <a:p>
            <a:pPr>
              <a:lnSpc>
                <a:spcPct val="155000"/>
              </a:lnSpc>
              <a:spcBef>
                <a:spcPct val="30000"/>
              </a:spcBef>
            </a:pPr>
            <a:r>
              <a:rPr lang="zh-CN" altLang="en-US" sz="3000">
                <a:latin typeface="楷体_GB2312" pitchFamily="49" charset="-122"/>
              </a:rPr>
              <a:t>　　</a:t>
            </a:r>
            <a:r>
              <a:rPr lang="en-US" altLang="zh-CN"/>
              <a:t>DOM(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/>
              <a:t>)</a:t>
            </a:r>
            <a:r>
              <a:rPr lang="zh-CN" altLang="en-US"/>
              <a:t>是一个由在公式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cs typeface="Tahoma" panose="020B0604030504040204" pitchFamily="34" charset="0"/>
              </a:rPr>
              <a:t>(t</a:t>
            </a:r>
            <a:r>
              <a:rPr lang="en-US" altLang="zh-CN"/>
              <a:t>)</a:t>
            </a:r>
            <a:r>
              <a:rPr lang="zh-CN" altLang="en-US"/>
              <a:t>里出现的常数和在公式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cs typeface="Tahoma" panose="020B0604030504040204" pitchFamily="34" charset="0"/>
              </a:rPr>
              <a:t>(t</a:t>
            </a:r>
            <a:r>
              <a:rPr lang="en-US" altLang="zh-CN"/>
              <a:t>)</a:t>
            </a:r>
            <a:r>
              <a:rPr lang="zh-CN" altLang="en-US"/>
              <a:t>里出现的关系中的元组的分量组成的有限集合。  </a:t>
            </a:r>
            <a:endParaRPr lang="en-US" altLang="zh-CN"/>
          </a:p>
        </p:txBody>
      </p:sp>
      <p:sp>
        <p:nvSpPr>
          <p:cNvPr id="915461" name="Rectangle 5">
            <a:extLst>
              <a:ext uri="{FF2B5EF4-FFF2-40B4-BE49-F238E27FC236}">
                <a16:creationId xmlns:a16="http://schemas.microsoft.com/office/drawing/2014/main" id="{CCECA425-90AA-4A84-84E0-0F5FB7537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一、关系演算表达式的安全性约束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46"/>
    </mc:Choice>
    <mc:Fallback xmlns="">
      <p:transition spd="slow" advTm="208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15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484" name="Rectangle 4">
            <a:extLst>
              <a:ext uri="{FF2B5EF4-FFF2-40B4-BE49-F238E27FC236}">
                <a16:creationId xmlns:a16="http://schemas.microsoft.com/office/drawing/2014/main" id="{07A0039E-1EEB-4752-A3E9-7CF1705B7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10000"/>
              </a:spcBef>
            </a:pP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、关系演算表达式的安全性约束 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2.13</a:t>
            </a:r>
            <a:r>
              <a:rPr lang="en-US" altLang="zh-CN"/>
              <a:t>    </a:t>
            </a:r>
            <a:r>
              <a:rPr lang="zh-CN" altLang="en-US"/>
              <a:t>设</a:t>
            </a:r>
            <a:r>
              <a:rPr lang="en-US" altLang="zh-CN"/>
              <a:t>{t|t[1]</a:t>
            </a:r>
            <a:r>
              <a:rPr lang="zh-CN" altLang="en-US"/>
              <a:t>＝</a:t>
            </a:r>
            <a:r>
              <a:rPr lang="en-US" altLang="zh-CN" sz="300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/>
              <a:t>∨R(t)}</a:t>
            </a:r>
            <a:r>
              <a:rPr lang="zh-CN" altLang="en-US"/>
              <a:t>，也即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>
                <a:cs typeface="Tahoma" panose="020B0604030504040204" pitchFamily="34" charset="0"/>
              </a:rPr>
              <a:t>(t</a:t>
            </a:r>
            <a:r>
              <a:rPr lang="en-US" altLang="zh-CN"/>
              <a:t>)</a:t>
            </a:r>
            <a:r>
              <a:rPr lang="zh-CN" altLang="en-US"/>
              <a:t>为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en-US" altLang="zh-CN"/>
              <a:t>              t[1]</a:t>
            </a:r>
            <a:r>
              <a:rPr lang="zh-CN" altLang="en-US"/>
              <a:t>＝</a:t>
            </a:r>
            <a:r>
              <a:rPr lang="en-US" altLang="zh-CN" sz="300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/>
              <a:t>∨R(t)</a:t>
            </a:r>
            <a:r>
              <a:rPr lang="zh-CN" altLang="en-US"/>
              <a:t>，且关系</a:t>
            </a:r>
            <a:r>
              <a:rPr lang="en-US" altLang="zh-CN"/>
              <a:t>R</a:t>
            </a:r>
            <a:r>
              <a:rPr lang="zh-CN" altLang="en-US"/>
              <a:t>如图</a:t>
            </a:r>
            <a:r>
              <a:rPr lang="en-US" altLang="zh-CN"/>
              <a:t>2.14</a:t>
            </a:r>
            <a:r>
              <a:rPr lang="zh-CN" altLang="en-US"/>
              <a:t>所示。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/>
              <a:t>       则，该元组演算表达式的安全约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zh-CN" altLang="en-US"/>
              <a:t>束集合可以定义为：</a:t>
            </a:r>
          </a:p>
          <a:p>
            <a:pPr>
              <a:lnSpc>
                <a:spcPct val="135000"/>
              </a:lnSpc>
              <a:spcBef>
                <a:spcPct val="30000"/>
              </a:spcBef>
            </a:pPr>
            <a:endParaRPr lang="zh-CN" altLang="en-US" sz="1800"/>
          </a:p>
          <a:p>
            <a:pPr>
              <a:lnSpc>
                <a:spcPct val="135000"/>
              </a:lnSpc>
              <a:spcBef>
                <a:spcPct val="30000"/>
              </a:spcBef>
            </a:pPr>
            <a:r>
              <a:rPr lang="en-US" altLang="zh-CN"/>
              <a:t>DOM(</a:t>
            </a:r>
            <a:r>
              <a:rPr lang="zh-CN" altLang="en-US" sz="3000">
                <a:cs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en-US" altLang="zh-CN"/>
              <a:t>)</a:t>
            </a:r>
            <a:r>
              <a:rPr lang="zh-CN" altLang="en-US"/>
              <a:t>＝</a:t>
            </a:r>
            <a:r>
              <a:rPr lang="en-US" altLang="zh-CN"/>
              <a:t>{</a:t>
            </a:r>
            <a:r>
              <a:rPr lang="en-US" altLang="zh-CN" sz="300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/>
              <a:t>}∪</a:t>
            </a:r>
            <a:r>
              <a:rPr lang="el-GR" altLang="zh-CN">
                <a:latin typeface="楷体_GB2312" pitchFamily="49" charset="-122"/>
              </a:rPr>
              <a:t>π</a:t>
            </a:r>
            <a:r>
              <a:rPr lang="en-US" altLang="zh-CN" baseline="-25000">
                <a:latin typeface="楷体_GB2312" pitchFamily="49" charset="-122"/>
              </a:rPr>
              <a:t>1</a:t>
            </a:r>
            <a:r>
              <a:rPr lang="en-US" altLang="zh-CN">
                <a:latin typeface="楷体_GB2312" pitchFamily="49" charset="-122"/>
              </a:rPr>
              <a:t>(R)</a:t>
            </a:r>
            <a:r>
              <a:rPr lang="en-US" altLang="zh-CN"/>
              <a:t>∪</a:t>
            </a:r>
            <a:r>
              <a:rPr lang="el-GR" altLang="zh-CN">
                <a:latin typeface="楷体_GB2312" pitchFamily="49" charset="-122"/>
              </a:rPr>
              <a:t>π</a:t>
            </a:r>
            <a:r>
              <a:rPr lang="en-US" altLang="zh-CN" baseline="-25000">
                <a:latin typeface="楷体_GB2312" pitchFamily="49" charset="-122"/>
              </a:rPr>
              <a:t>2</a:t>
            </a:r>
            <a:r>
              <a:rPr lang="en-US" altLang="zh-CN">
                <a:latin typeface="楷体_GB2312" pitchFamily="49" charset="-122"/>
              </a:rPr>
              <a:t>(R)</a:t>
            </a:r>
            <a:r>
              <a:rPr lang="zh-CN" altLang="en-US"/>
              <a:t>＝</a:t>
            </a:r>
            <a:r>
              <a:rPr lang="en-US" altLang="zh-CN"/>
              <a:t>{</a:t>
            </a:r>
            <a:r>
              <a:rPr lang="en-US" altLang="zh-CN" sz="3000">
                <a:latin typeface="华文楷体" panose="02010600040101010101" pitchFamily="2" charset="-122"/>
                <a:ea typeface="华文楷体" panose="02010600040101010101" pitchFamily="2" charset="-122"/>
              </a:rPr>
              <a:t>a, c, d, 2, 4, 5</a:t>
            </a:r>
            <a:r>
              <a:rPr lang="en-US" altLang="zh-CN"/>
              <a:t>} </a:t>
            </a:r>
            <a:r>
              <a:rPr lang="zh-CN" altLang="en-US"/>
              <a:t> </a:t>
            </a:r>
          </a:p>
        </p:txBody>
      </p:sp>
      <p:sp>
        <p:nvSpPr>
          <p:cNvPr id="916485" name="Rectangle 5">
            <a:extLst>
              <a:ext uri="{FF2B5EF4-FFF2-40B4-BE49-F238E27FC236}">
                <a16:creationId xmlns:a16="http://schemas.microsoft.com/office/drawing/2014/main" id="{5D1C9D23-907F-47E5-A4D5-567697CB6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一、关系演算表达式的安全性约束 </a:t>
            </a:r>
          </a:p>
        </p:txBody>
      </p:sp>
      <p:graphicFrame>
        <p:nvGraphicFramePr>
          <p:cNvPr id="916519" name="Group 39">
            <a:extLst>
              <a:ext uri="{FF2B5EF4-FFF2-40B4-BE49-F238E27FC236}">
                <a16:creationId xmlns:a16="http://schemas.microsoft.com/office/drawing/2014/main" id="{525AE64D-8593-4343-A204-6B9B8356993B}"/>
              </a:ext>
            </a:extLst>
          </p:cNvPr>
          <p:cNvGraphicFramePr>
            <a:graphicFrameLocks noGrp="1"/>
          </p:cNvGraphicFramePr>
          <p:nvPr/>
        </p:nvGraphicFramePr>
        <p:xfrm>
          <a:off x="6659563" y="3357563"/>
          <a:ext cx="1584325" cy="1645920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val="3113636959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589415660"/>
                    </a:ext>
                  </a:extLst>
                </a:gridCol>
              </a:tblGrid>
              <a:tr h="4445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17293"/>
                  </a:ext>
                </a:extLst>
              </a:tr>
              <a:tr h="9969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c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4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21418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231"/>
    </mc:Choice>
    <mc:Fallback xmlns="">
      <p:transition spd="slow" advTm="662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16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16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916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916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916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7" dur="500"/>
                                        <p:tgtEl>
                                          <p:spTgt spid="91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508" name="Rectangle 4">
            <a:extLst>
              <a:ext uri="{FF2B5EF4-FFF2-40B4-BE49-F238E27FC236}">
                <a16:creationId xmlns:a16="http://schemas.microsoft.com/office/drawing/2014/main" id="{DADDD0AC-F6BC-43FA-8C88-59D842E94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58875"/>
            <a:ext cx="8267700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1pPr>
            <a:lvl2pPr marL="825500" indent="-28575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2pPr>
            <a:lvl3pPr marL="1233488" indent="-2286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3pPr>
            <a:lvl4pPr marL="1641475" indent="-22860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4pPr>
            <a:lvl5pPr marL="2057400" indent="-22860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5pPr>
            <a:lvl6pPr marL="25146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6pPr>
            <a:lvl7pPr marL="29718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7pPr>
            <a:lvl8pPr marL="34290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8pPr>
            <a:lvl9pPr marL="3886200" indent="-22860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60000"/>
              </a:lnSpc>
              <a:spcBef>
                <a:spcPct val="5000"/>
              </a:spcBef>
            </a:pPr>
            <a:r>
              <a:rPr lang="zh-CN" altLang="en-US" sz="3000">
                <a:latin typeface="楷体_GB2312" pitchFamily="49" charset="-122"/>
              </a:rPr>
              <a:t>　　（</a:t>
            </a:r>
            <a:r>
              <a:rPr lang="en-US" altLang="zh-CN"/>
              <a:t>1</a:t>
            </a:r>
            <a:r>
              <a:rPr lang="zh-CN" altLang="en-US"/>
              <a:t>）关系代数表达式与元组演算表达式的等价性。       </a:t>
            </a:r>
            <a:r>
              <a:rPr lang="en-US" altLang="zh-CN"/>
              <a:t>{</a:t>
            </a:r>
            <a:r>
              <a:rPr lang="zh-CN" altLang="en-US"/>
              <a:t>定理</a:t>
            </a:r>
            <a:r>
              <a:rPr lang="en-US" altLang="zh-CN"/>
              <a:t>2.1}</a:t>
            </a:r>
          </a:p>
          <a:p>
            <a:pPr>
              <a:lnSpc>
                <a:spcPct val="160000"/>
              </a:lnSpc>
              <a:spcBef>
                <a:spcPct val="5000"/>
              </a:spcBef>
            </a:pPr>
            <a:r>
              <a:rPr lang="en-US" altLang="zh-CN"/>
              <a:t>        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）元组演算表达式与域演算表达式的等价性。           </a:t>
            </a:r>
            <a:r>
              <a:rPr lang="en-US" altLang="zh-CN"/>
              <a:t>{</a:t>
            </a:r>
            <a:r>
              <a:rPr lang="zh-CN" altLang="en-US"/>
              <a:t>定理</a:t>
            </a:r>
            <a:r>
              <a:rPr lang="en-US" altLang="zh-CN"/>
              <a:t>2.2}</a:t>
            </a:r>
          </a:p>
          <a:p>
            <a:pPr>
              <a:lnSpc>
                <a:spcPct val="160000"/>
              </a:lnSpc>
              <a:spcBef>
                <a:spcPct val="5000"/>
              </a:spcBef>
            </a:pPr>
            <a:r>
              <a:rPr lang="zh-CN" altLang="en-US"/>
              <a:t>        （</a:t>
            </a:r>
            <a:r>
              <a:rPr lang="en-US" altLang="zh-CN"/>
              <a:t>3</a:t>
            </a:r>
            <a:r>
              <a:rPr lang="zh-CN" altLang="en-US"/>
              <a:t>）域演算表达式与关系代数表达式的等价性。</a:t>
            </a:r>
            <a:r>
              <a:rPr lang="en-US" altLang="zh-CN"/>
              <a:t>           {</a:t>
            </a:r>
            <a:r>
              <a:rPr lang="zh-CN" altLang="en-US"/>
              <a:t>定理</a:t>
            </a:r>
            <a:r>
              <a:rPr lang="en-US" altLang="zh-CN"/>
              <a:t>2.3}</a:t>
            </a:r>
          </a:p>
        </p:txBody>
      </p:sp>
      <p:sp>
        <p:nvSpPr>
          <p:cNvPr id="917509" name="Rectangle 5">
            <a:extLst>
              <a:ext uri="{FF2B5EF4-FFF2-40B4-BE49-F238E27FC236}">
                <a16:creationId xmlns:a16="http://schemas.microsoft.com/office/drawing/2014/main" id="{1934F058-D03A-41B6-AFE5-C099505F0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214313"/>
            <a:ext cx="7899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1pPr>
            <a:lvl2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2pPr>
            <a:lvl3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3pPr>
            <a:lvl4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4pPr>
            <a:lvl5pPr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幼圆" panose="02010509060101010101" pitchFamily="49" charset="-122"/>
              </a:defRPr>
            </a:lvl9pPr>
          </a:lstStyle>
          <a:p>
            <a:r>
              <a:rPr lang="zh-CN" altLang="en-US"/>
              <a:t>二、</a:t>
            </a:r>
            <a:r>
              <a:rPr lang="zh-CN" altLang="en-US" sz="3300"/>
              <a:t>三种关系运算表达能力的等价性定理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122"/>
    </mc:Choice>
    <mc:Fallback xmlns="">
      <p:transition spd="slow" advTm="431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17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917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917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6" name="Text Box 4">
            <a:extLst>
              <a:ext uri="{FF2B5EF4-FFF2-40B4-BE49-F238E27FC236}">
                <a16:creationId xmlns:a16="http://schemas.microsoft.com/office/drawing/2014/main" id="{42582A44-FF31-4D83-824C-8563524C3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2405063"/>
            <a:ext cx="576103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8000">
                <a:solidFill>
                  <a:schemeClr val="hlink"/>
                </a:solidFill>
                <a:ea typeface="华文隶书" panose="02010800040101010101" pitchFamily="2" charset="-122"/>
              </a:rPr>
              <a:t>谢谢大家！</a:t>
            </a:r>
            <a:endParaRPr lang="en-US" altLang="zh-CN" sz="8000">
              <a:solidFill>
                <a:schemeClr val="hlink"/>
              </a:solidFill>
              <a:ea typeface="华文隶书" panose="02010800040101010101" pitchFamily="2" charset="-122"/>
            </a:endParaRPr>
          </a:p>
        </p:txBody>
      </p:sp>
      <p:sp>
        <p:nvSpPr>
          <p:cNvPr id="873478" name="Rectangle 6">
            <a:extLst>
              <a:ext uri="{FF2B5EF4-FFF2-40B4-BE49-F238E27FC236}">
                <a16:creationId xmlns:a16="http://schemas.microsoft.com/office/drawing/2014/main" id="{B73A3D60-FDB4-4FF4-A22A-4BB73D6FB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" y="57150"/>
            <a:ext cx="8893175" cy="1989138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bg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9"/>
    </mc:Choice>
    <mc:Fallback xmlns="">
      <p:transition spd="slow" advTm="2599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|52.8|14.9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幼圆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11049</TotalTime>
  <Words>1186</Words>
  <Application>Microsoft Office PowerPoint</Application>
  <PresentationFormat>全屏显示(4:3)</PresentationFormat>
  <Paragraphs>125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黑体</vt:lpstr>
      <vt:lpstr>华文楷体</vt:lpstr>
      <vt:lpstr>华文隶书</vt:lpstr>
      <vt:lpstr>华文新魏</vt:lpstr>
      <vt:lpstr>楷体_GB2312</vt:lpstr>
      <vt:lpstr>Arial</vt:lpstr>
      <vt:lpstr>Monotype Sorts</vt:lpstr>
      <vt:lpstr>Tahoma</vt:lpstr>
      <vt:lpstr>Times New Roman</vt:lpstr>
      <vt:lpstr>Wingdings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例：设有关系R、W 如图所示，求如下的域演算表达式的值</vt:lpstr>
      <vt:lpstr>2.4  三种关系运算表达能力的等价性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722</cp:revision>
  <cp:lastPrinted>2000-08-23T09:10:16Z</cp:lastPrinted>
  <dcterms:created xsi:type="dcterms:W3CDTF">1601-01-01T00:00:00Z</dcterms:created>
  <dcterms:modified xsi:type="dcterms:W3CDTF">2021-03-07T11:20:43Z</dcterms:modified>
</cp:coreProperties>
</file>