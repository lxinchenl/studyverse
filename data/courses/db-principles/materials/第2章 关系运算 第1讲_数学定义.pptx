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7"/>
  </p:notesMasterIdLst>
  <p:handoutMasterIdLst>
    <p:handoutMasterId r:id="rId18"/>
  </p:handoutMasterIdLst>
  <p:sldIdLst>
    <p:sldId id="604" r:id="rId2"/>
    <p:sldId id="664" r:id="rId3"/>
    <p:sldId id="771" r:id="rId4"/>
    <p:sldId id="605" r:id="rId5"/>
    <p:sldId id="467" r:id="rId6"/>
    <p:sldId id="767" r:id="rId7"/>
    <p:sldId id="772" r:id="rId8"/>
    <p:sldId id="587" r:id="rId9"/>
    <p:sldId id="667" r:id="rId10"/>
    <p:sldId id="668" r:id="rId11"/>
    <p:sldId id="744" r:id="rId12"/>
    <p:sldId id="741" r:id="rId13"/>
    <p:sldId id="773" r:id="rId14"/>
    <p:sldId id="774" r:id="rId15"/>
    <p:sldId id="670" r:id="rId16"/>
  </p:sldIdLst>
  <p:sldSz cx="9144000" cy="6858000" type="screen4x3"/>
  <p:notesSz cx="6662738" cy="98329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99"/>
    <a:srgbClr val="FF00FF"/>
    <a:srgbClr val="99FF33"/>
    <a:srgbClr val="66FFFF"/>
    <a:srgbClr val="006666"/>
    <a:srgbClr val="00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83186" autoAdjust="0"/>
  </p:normalViewPr>
  <p:slideViewPr>
    <p:cSldViewPr>
      <p:cViewPr varScale="1">
        <p:scale>
          <a:sx n="109" d="100"/>
          <a:sy n="109" d="100"/>
        </p:scale>
        <p:origin x="1680" y="88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D40871A9-0028-4C9A-9902-87A88F300C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6F73CA9B-2AAB-44FB-ADD6-AD105E9EE4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DA02F48C-5E9E-4E1C-878E-50D0C1357EF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0312E9BA-98C4-4D39-8A7A-EADCF42E2E8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CC63C3C-B912-47EE-B070-688E3009EB5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191B4BE1-E627-41B8-B58E-7BE3DF9CAA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D1FA4F44-A111-4677-A3DA-C3B62F0C7FF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BA1AB77C-2563-425B-9B5B-5744C6E3BF0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8581" name="Rectangle 5">
            <a:extLst>
              <a:ext uri="{FF2B5EF4-FFF2-40B4-BE49-F238E27FC236}">
                <a16:creationId xmlns:a16="http://schemas.microsoft.com/office/drawing/2014/main" id="{9E7BF1D9-C811-4246-977F-C0A4CE0E252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8582" name="Rectangle 6">
            <a:extLst>
              <a:ext uri="{FF2B5EF4-FFF2-40B4-BE49-F238E27FC236}">
                <a16:creationId xmlns:a16="http://schemas.microsoft.com/office/drawing/2014/main" id="{4667DAA0-A37E-40DA-882C-7133F16F16B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8583" name="Rectangle 7">
            <a:extLst>
              <a:ext uri="{FF2B5EF4-FFF2-40B4-BE49-F238E27FC236}">
                <a16:creationId xmlns:a16="http://schemas.microsoft.com/office/drawing/2014/main" id="{3342BF02-7D8E-4FD8-8F2A-2524071DDD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0800AF4-7AC9-4F78-9F4C-DD5296FCF5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C9C35BF5-7FCD-4538-9F8F-856B224498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8360AA-E266-4A4F-A1AE-FF1E83EC9DB9}" type="slidenum">
              <a:rPr lang="zh-CN" altLang="en-US">
                <a:latin typeface="Times New Roman" panose="02020603050405020304" pitchFamily="18" charset="0"/>
              </a:rPr>
              <a:pPr/>
              <a:t>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05F78C1-7514-417C-ACB5-82480E0DE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5839C2C-FE09-49B8-A115-83CFCFF2C5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关系数据库之所以取得巨大成功和广泛运用，就是因为它具有适合关系运算的集合运算、投影、选择、联接和商运算的数学基础，以及以这些运算为基础建立起来的其他各种运算。关系的数学基础是集合代数理论，那么关系又是什么呢？可不可以用集合论给出关系的定义呢？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FF41BFEE-CA52-421A-8095-72B0707200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93BE3B-A246-48E9-A59B-1F7FEFF784EF}" type="slidenum">
              <a:rPr lang="zh-CN" altLang="en-US">
                <a:latin typeface="Times New Roman" panose="02020603050405020304" pitchFamily="18" charset="0"/>
              </a:rPr>
              <a:pPr/>
              <a:t>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2B147FF-8BC5-482B-AF42-C993B0054C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B244E8C-E674-493A-8749-E314EC0D00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28A6F172-FAD3-43C4-A16D-B8A1627FCB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4CB095-EE8B-434B-80F2-8A2703D4C218}" type="slidenum">
              <a:rPr lang="zh-CN" altLang="en-US">
                <a:latin typeface="Times New Roman" panose="02020603050405020304" pitchFamily="18" charset="0"/>
              </a:rPr>
              <a:pPr/>
              <a:t>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A909484-C300-4F8B-AD79-FAC880D177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29A6708-451C-435D-9E52-5EBB7FB8C7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93C0A567-BEB1-4D66-B49F-FFD2542F33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7FC9CB-1A3E-4222-BFDC-DBD342BBC1AE}" type="slidenum">
              <a:rPr lang="zh-CN" altLang="en-US">
                <a:latin typeface="Times New Roman" panose="02020603050405020304" pitchFamily="18" charset="0"/>
              </a:rPr>
              <a:pPr/>
              <a:t>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9CBA8A0-663A-4F33-B992-FAF22A7FC4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D3BB920-6E96-480C-9629-4C8A001365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455C6D0-F496-4764-B202-6D26C63772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96F47C5-172C-46AB-B973-33BDB8D031C5}" type="slidenum">
              <a:rPr lang="zh-CN" altLang="en-US">
                <a:latin typeface="Times New Roman" panose="02020603050405020304" pitchFamily="18" charset="0"/>
              </a:rPr>
              <a:pPr/>
              <a:t>10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ACF1377-6F12-4077-9A6E-B4C72EDD63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5FB3F5A-F61A-4F2C-8B21-4671468A9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FB6DE828-737F-4089-9B6F-38EFF946FC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4699D2-524D-4207-ABF4-9F1B180FEA41}" type="slidenum">
              <a:rPr lang="zh-CN" altLang="en-US">
                <a:latin typeface="Times New Roman" panose="02020603050405020304" pitchFamily="18" charset="0"/>
              </a:rPr>
              <a:pPr/>
              <a:t>15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4AE8D887-0093-4A5A-AE1E-FB489F3733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07BAECF4-5A7A-442A-A534-C8076054A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44BDC508-2458-4997-9167-29E65AC4636B}"/>
              </a:ext>
            </a:extLst>
          </p:cNvPr>
          <p:cNvGrpSpPr>
            <a:grpSpLocks/>
          </p:cNvGrpSpPr>
          <p:nvPr/>
        </p:nvGrpSpPr>
        <p:grpSpPr bwMode="auto">
          <a:xfrm>
            <a:off x="0" y="1817688"/>
            <a:ext cx="9009063" cy="1052512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ADF6C011-4000-436C-BCF6-86EF391E93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AEF7EF3-667B-4C82-B309-2365D24A5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4E56F385-72DE-437A-942F-46C27364E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70F92E6-F50F-442E-B582-CB1B30A17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E9B577B8-F115-4FE9-A8B3-675078A5C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3618EBC6-CA6E-4BE3-80A0-B5B740FB1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CDDAF5C-5517-41B5-A4A5-B72C2F5C2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72D5E9BD-7EA2-4860-A092-5123E3CDA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DA543C8B-4A37-45D7-9B18-56DAA9D811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4036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1EC6890A-A43B-494A-84EF-A565054640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498C188A-A022-4E7E-B26D-9E87C5E1EC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98240F31-A69F-40BC-8917-E18CBBE373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8DBF785-7AD6-43E5-875E-C1A0DFF0C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250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9D4A653-1545-401C-B3BA-E3D27C9EC0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FAA7EAC-98ED-42DB-9CDD-33E0EE286C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C3BE94E-83C0-4495-BCA0-98D17A05AE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1B2F2-A87F-4254-B008-C52B6AA27BF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5504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4EE772E-7847-4ABC-9A96-7E574C3DE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F857BE3-CE35-4E15-B57B-8B5C44605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53662E8-0917-4FAF-9EF1-3BA75BF571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2B336-27D4-40CF-AEA6-F0301A2B8E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167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9AF3E49-3FE5-412F-93D8-7C231CA4F3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515CCFC-3AF0-4C1B-A29B-22AAFB692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FC2DD21-C2CB-4AFB-B8D6-C52C9D6E1C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159E7-C7B0-4BCF-B02B-3472BE36C11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43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E5A91CF-9FB3-4E55-BCD6-8B589C4ED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5C5FC42-285F-498D-B824-78B5E4BB3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E6373F2-7D2D-4CE6-9716-29652885D3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E1B68-8698-4513-86F2-E2BBCBFBFE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95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CB795A0-6B31-4BEA-9671-C8434413DC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E3F334BD-C626-4A8B-86E9-68C89867E3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C3608C9-CCEB-4EA5-A059-91F21DA41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4A1AA-805A-4776-82E8-481E4581D4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463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DA14888-1676-40D5-A1C0-FE13115B33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19B197A-7F4B-41A1-9101-4DBB0F34B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883113E-7C6F-4720-B5F7-41EBE73D12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EDED4-A6F6-4987-A7B1-E819FFE345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625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8E28100-C949-4350-B949-FD68A0081E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80291CE-740C-4E36-AC39-C0B16ECFAC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CD0ED54-3B08-443B-BF12-205FE2E6BF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40203-8A99-4C60-9D86-64BF6EA2A4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610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48DE5C3-A967-465F-9749-E3ACADB68B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0C7EE66-93C1-4CF8-907D-298F98A0E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FE6FB2A-FC37-45B5-A962-8C2A96E109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36763-DAB8-4C81-8069-4FA207B3D9C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0411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7C13ECB-2C46-4215-A949-EE78AC9541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EA40154-79AD-4A5F-95BC-C47DFC9857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AE17CB0-0834-44FA-B4C6-53E3FD0F7B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176F5-B964-4DE6-88DA-E5F1EC74039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87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063D7AD-BBF0-445C-B631-7CF2AB254E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BB2CCCF-B55E-4F3C-93F1-DD135F6C99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38AEE33-9A5E-441D-ACFC-039A8CFE03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D23A2-36DA-4F9A-B95D-9C700F01F55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6780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622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CC8548F-D481-4AD0-B8ED-70B60312F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286DDA3-E465-4C48-886F-10408257AA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C1FC054-2FCE-4FC4-B0F0-A61276F552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8A430-2AC9-400D-B451-781749E42D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254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EB4C36-C341-4FAE-93C9-E4B128B2A7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ABB1FEF-0006-4A8F-88B5-2894DD6E910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D337F6-E7E9-409D-8825-1E2A0E18AC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1473C0-B2FC-4C79-A6A8-BDAF7E8A38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D5D036-FBB2-4BFD-A813-CC0FDB8732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9AF4544-BD45-474A-8A2E-80301153C2C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A2D1DEB-8D2B-4029-85FD-E113690CAAA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>
            <a:extLst>
              <a:ext uri="{FF2B5EF4-FFF2-40B4-BE49-F238E27FC236}">
                <a16:creationId xmlns:a16="http://schemas.microsoft.com/office/drawing/2014/main" id="{30E4628C-2C77-4BA5-A9FF-0C2626085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>
            <a:extLst>
              <a:ext uri="{FF2B5EF4-FFF2-40B4-BE49-F238E27FC236}">
                <a16:creationId xmlns:a16="http://schemas.microsoft.com/office/drawing/2014/main" id="{15024F2C-9848-4D42-A395-7F23BA0F4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>
            <a:extLst>
              <a:ext uri="{FF2B5EF4-FFF2-40B4-BE49-F238E27FC236}">
                <a16:creationId xmlns:a16="http://schemas.microsoft.com/office/drawing/2014/main" id="{AD8F73C4-1610-4D93-8551-C3E8B025E5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0" name="Rectangle 12">
            <a:extLst>
              <a:ext uri="{FF2B5EF4-FFF2-40B4-BE49-F238E27FC236}">
                <a16:creationId xmlns:a16="http://schemas.microsoft.com/office/drawing/2014/main" id="{D3ADFBC4-3F74-4041-8BD5-D731BF4EAE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1" name="Rectangle 13">
            <a:extLst>
              <a:ext uri="{FF2B5EF4-FFF2-40B4-BE49-F238E27FC236}">
                <a16:creationId xmlns:a16="http://schemas.microsoft.com/office/drawing/2014/main" id="{4BACC733-380C-4E5C-984B-976CE5E305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9DC88A84-BC17-4A71-AF7B-C27FB8C083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>
            <a:extLst>
              <a:ext uri="{FF2B5EF4-FFF2-40B4-BE49-F238E27FC236}">
                <a16:creationId xmlns:a16="http://schemas.microsoft.com/office/drawing/2014/main" id="{791CD0CD-F314-4D67-841D-4A973F82B7E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214438"/>
            <a:ext cx="8137525" cy="14620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 关系运算</a:t>
            </a:r>
          </a:p>
        </p:txBody>
      </p:sp>
      <p:sp>
        <p:nvSpPr>
          <p:cNvPr id="622598" name="Rectangle 6">
            <a:extLst>
              <a:ext uri="{FF2B5EF4-FFF2-40B4-BE49-F238E27FC236}">
                <a16:creationId xmlns:a16="http://schemas.microsoft.com/office/drawing/2014/main" id="{F88D3779-E025-407B-8911-7FB48F83A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0963"/>
            <a:ext cx="4608513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tIns="76176" bIns="72000" anchor="ctr" anchorCtr="1">
            <a:spAutoFit/>
          </a:bodyPr>
          <a:lstStyle/>
          <a:p>
            <a:pPr algn="ctr" eaLnBrk="1" hangingPunct="1">
              <a:defRPr/>
            </a:pPr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数据库系统原理及应用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2603" name="Text Box 11">
            <a:extLst>
              <a:ext uri="{FF2B5EF4-FFF2-40B4-BE49-F238E27FC236}">
                <a16:creationId xmlns:a16="http://schemas.microsoft.com/office/drawing/2014/main" id="{A888912A-F7D6-43D2-A011-060301096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957638"/>
            <a:ext cx="4681537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endParaRPr lang="zh-CN" altLang="en-US" sz="4400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6149" name="Picture 12">
            <a:extLst>
              <a:ext uri="{FF2B5EF4-FFF2-40B4-BE49-F238E27FC236}">
                <a16:creationId xmlns:a16="http://schemas.microsoft.com/office/drawing/2014/main" id="{99A2F4BF-8034-4334-A9DF-D5B2A9127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70363"/>
            <a:ext cx="2700338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2606" name="Text Box 14">
            <a:extLst>
              <a:ext uri="{FF2B5EF4-FFF2-40B4-BE49-F238E27FC236}">
                <a16:creationId xmlns:a16="http://schemas.microsoft.com/office/drawing/2014/main" id="{C66BEDAF-3EEA-4FF3-AD20-22090D540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2708275"/>
            <a:ext cx="4681537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0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（第一讲）</a:t>
            </a:r>
            <a:endParaRPr lang="zh-CN" altLang="en-US" sz="4400" b="1">
              <a:solidFill>
                <a:srgbClr val="0066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27"/>
    </mc:Choice>
    <mc:Fallback xmlns="">
      <p:transition spd="slow" advTm="46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62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2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4" grpId="0"/>
      <p:bldP spid="62259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Rectangle 2">
            <a:extLst>
              <a:ext uri="{FF2B5EF4-FFF2-40B4-BE49-F238E27FC236}">
                <a16:creationId xmlns:a16="http://schemas.microsoft.com/office/drawing/2014/main" id="{3B9B2035-D7F1-4D64-BE17-B8D6E7F2C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14313"/>
            <a:ext cx="7793038" cy="6223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/>
              <a:t>学习关系运算的意义</a:t>
            </a:r>
            <a:endParaRPr lang="en-US" altLang="zh-CN"/>
          </a:p>
        </p:txBody>
      </p:sp>
      <p:sp>
        <p:nvSpPr>
          <p:cNvPr id="741380" name="Text Box 4">
            <a:extLst>
              <a:ext uri="{FF2B5EF4-FFF2-40B4-BE49-F238E27FC236}">
                <a16:creationId xmlns:a16="http://schemas.microsoft.com/office/drawing/2014/main" id="{2A28B11C-8DFE-4C89-9B7C-EDC7CA16B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1052513"/>
            <a:ext cx="8308975" cy="42687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50000"/>
              </a:lnSpc>
              <a:defRPr/>
            </a:pPr>
            <a:endParaRPr lang="zh-CN" altLang="en-US" sz="800" b="1">
              <a:solidFill>
                <a:srgbClr val="0066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30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关系运算是以集合运算等为基础，实现关系数据库的数据表中数据的联系、设计关系数据库操作语言和实现各种数据库操作的</a:t>
            </a:r>
            <a:r>
              <a:rPr lang="zh-CN" altLang="en-US" sz="30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数学基础</a:t>
            </a:r>
            <a:r>
              <a:rPr lang="zh-CN" altLang="en-US" sz="30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30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学习和理解关系运算的机理，对于理解关系数据库中的数据查询机制等，都具有十分重要的意义。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364"/>
    </mc:Choice>
    <mc:Fallback xmlns="">
      <p:transition spd="slow" advTm="443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8" name="Rectangle 4">
            <a:extLst>
              <a:ext uri="{FF2B5EF4-FFF2-40B4-BE49-F238E27FC236}">
                <a16:creationId xmlns:a16="http://schemas.microsoft.com/office/drawing/2014/main" id="{114ADCAF-6292-4FEB-BB45-09CAF0A6D5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5650" y="285750"/>
            <a:ext cx="7793038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>
                <a:latin typeface="华文隶书" panose="02010800040101010101" pitchFamily="2" charset="-122"/>
                <a:ea typeface="华文隶书" panose="02010800040101010101" pitchFamily="2" charset="-122"/>
              </a:rPr>
              <a:t>主要内容</a:t>
            </a:r>
          </a:p>
        </p:txBody>
      </p:sp>
      <p:sp>
        <p:nvSpPr>
          <p:cNvPr id="897029" name="Rectangle 5">
            <a:extLst>
              <a:ext uri="{FF2B5EF4-FFF2-40B4-BE49-F238E27FC236}">
                <a16:creationId xmlns:a16="http://schemas.microsoft.com/office/drawing/2014/main" id="{AE617EEE-EE68-40A6-B443-237A43CCA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258888"/>
            <a:ext cx="8208963" cy="53387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3200" dirty="0">
              <a:solidFill>
                <a:srgbClr val="990033"/>
              </a:solidFill>
              <a:effectLst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         </a:t>
            </a:r>
            <a:r>
              <a:rPr lang="en-US" altLang="zh-CN" sz="3200" dirty="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2.1</a:t>
            </a:r>
            <a:r>
              <a:rPr lang="zh-CN" altLang="en-US" sz="3200" dirty="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关系的数学定义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dirty="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      2.2</a:t>
            </a:r>
            <a:r>
              <a:rPr lang="zh-CN" altLang="en-US" sz="3200" dirty="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关系代数</a:t>
            </a:r>
            <a:endParaRPr lang="zh-CN" altLang="en-US" sz="3200" dirty="0">
              <a:solidFill>
                <a:srgbClr val="006666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0"/>
    </mc:Choice>
    <mc:Fallback xmlns="">
      <p:transition spd="slow" advTm="7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7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97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702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>
            <a:extLst>
              <a:ext uri="{FF2B5EF4-FFF2-40B4-BE49-F238E27FC236}">
                <a16:creationId xmlns:a16="http://schemas.microsoft.com/office/drawing/2014/main" id="{D8B495AA-1420-4415-9F95-F74C6D133F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214438"/>
            <a:ext cx="8137525" cy="14620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2.1 </a:t>
            </a:r>
            <a:r>
              <a:rPr lang="zh-CN" altLang="en-US"/>
              <a:t> 关系的数学定义</a:t>
            </a:r>
          </a:p>
        </p:txBody>
      </p:sp>
      <p:sp>
        <p:nvSpPr>
          <p:cNvPr id="623620" name="Rectangle 4">
            <a:extLst>
              <a:ext uri="{FF2B5EF4-FFF2-40B4-BE49-F238E27FC236}">
                <a16:creationId xmlns:a16="http://schemas.microsoft.com/office/drawing/2014/main" id="{BBE18407-63C0-4180-9211-16682B444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95250"/>
            <a:ext cx="2987675" cy="544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tIns="76176" bIns="72000" anchor="ctr" anchorCtr="1">
            <a:spAutoFit/>
          </a:bodyPr>
          <a:lstStyle/>
          <a:p>
            <a:pPr eaLnBrk="1" hangingPunct="1">
              <a:defRPr/>
            </a:pP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2</a:t>
            </a: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章  关系运算</a:t>
            </a:r>
          </a:p>
        </p:txBody>
      </p:sp>
      <p:pic>
        <p:nvPicPr>
          <p:cNvPr id="10244" name="Picture 6">
            <a:extLst>
              <a:ext uri="{FF2B5EF4-FFF2-40B4-BE49-F238E27FC236}">
                <a16:creationId xmlns:a16="http://schemas.microsoft.com/office/drawing/2014/main" id="{0A084180-3FA4-4C89-99AD-47A7D2C2D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4288"/>
            <a:ext cx="3048000" cy="303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66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62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01" name="Rectangle 5">
            <a:extLst>
              <a:ext uri="{FF2B5EF4-FFF2-40B4-BE49-F238E27FC236}">
                <a16:creationId xmlns:a16="http://schemas.microsoft.com/office/drawing/2014/main" id="{080E6A8B-5A13-47D1-8B56-051730391F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一、笛卡儿积的数学定义</a:t>
            </a:r>
          </a:p>
        </p:txBody>
      </p:sp>
      <p:sp>
        <p:nvSpPr>
          <p:cNvPr id="260102" name="Rectangle 6">
            <a:extLst>
              <a:ext uri="{FF2B5EF4-FFF2-40B4-BE49-F238E27FC236}">
                <a16:creationId xmlns:a16="http://schemas.microsoft.com/office/drawing/2014/main" id="{5D7119AC-F73C-4921-8BEA-C0E93571E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995363"/>
            <a:ext cx="7993062" cy="5457825"/>
          </a:xfrm>
        </p:spPr>
        <p:txBody>
          <a:bodyPr/>
          <a:lstStyle/>
          <a:p>
            <a:pPr marL="0" indent="0" eaLnBrk="1" hangingPunct="1">
              <a:spcBef>
                <a:spcPct val="10000"/>
              </a:spcBef>
              <a:defRPr/>
            </a:pPr>
            <a:r>
              <a:rPr lang="zh-CN" altLang="en-US" sz="3000"/>
              <a:t>　 </a:t>
            </a:r>
            <a:r>
              <a:rPr lang="zh-CN" altLang="en-US" sz="3000">
                <a:solidFill>
                  <a:schemeClr val="hlink"/>
                </a:solidFill>
              </a:rPr>
              <a:t>定义</a:t>
            </a:r>
            <a:r>
              <a:rPr lang="en-US" altLang="zh-CN" sz="3000">
                <a:solidFill>
                  <a:schemeClr val="hlink"/>
                </a:solidFill>
              </a:rPr>
              <a:t>2.1</a:t>
            </a:r>
            <a:r>
              <a:rPr lang="en-US" altLang="zh-CN" sz="3000"/>
              <a:t>  </a:t>
            </a:r>
            <a:r>
              <a:rPr lang="zh-CN" altLang="en-US" sz="3000"/>
              <a:t>设有属性</a:t>
            </a:r>
            <a:r>
              <a:rPr lang="en-US" altLang="zh-CN" sz="3000"/>
              <a:t>A</a:t>
            </a:r>
            <a:r>
              <a:rPr lang="en-US" altLang="zh-CN" sz="3000" baseline="-25000"/>
              <a:t>1</a:t>
            </a:r>
            <a:r>
              <a:rPr lang="zh-CN" altLang="en-US" sz="3000"/>
              <a:t>和</a:t>
            </a:r>
            <a:r>
              <a:rPr lang="en-US" altLang="zh-CN" sz="3000"/>
              <a:t>A</a:t>
            </a:r>
            <a:r>
              <a:rPr lang="en-US" altLang="zh-CN" sz="3000" baseline="-25000"/>
              <a:t>2</a:t>
            </a:r>
            <a:r>
              <a:rPr lang="zh-CN" altLang="en-US" sz="3000"/>
              <a:t>分别在值域</a:t>
            </a:r>
            <a:r>
              <a:rPr lang="en-US" altLang="zh-CN" sz="3000"/>
              <a:t>D</a:t>
            </a:r>
            <a:r>
              <a:rPr lang="en-US" altLang="zh-CN" sz="3000" baseline="-25000"/>
              <a:t>1</a:t>
            </a:r>
            <a:r>
              <a:rPr lang="zh-CN" altLang="en-US" sz="3000"/>
              <a:t>和</a:t>
            </a:r>
            <a:r>
              <a:rPr lang="en-US" altLang="zh-CN" sz="3000"/>
              <a:t>D</a:t>
            </a:r>
            <a:r>
              <a:rPr lang="en-US" altLang="zh-CN" sz="3000" baseline="-25000"/>
              <a:t>2</a:t>
            </a:r>
            <a:r>
              <a:rPr lang="zh-CN" altLang="en-US" sz="3000"/>
              <a:t>中取值，</a:t>
            </a:r>
            <a:r>
              <a:rPr lang="zh-CN" altLang="en-US" sz="3200"/>
              <a:t>则这两个属性的值域集合的笛卡儿积定义为： </a:t>
            </a:r>
            <a:endParaRPr lang="zh-CN" altLang="en-US" sz="3000"/>
          </a:p>
          <a:p>
            <a:pPr marL="0" indent="0" eaLnBrk="1" hangingPunct="1">
              <a:spcBef>
                <a:spcPct val="10000"/>
              </a:spcBef>
              <a:defRPr/>
            </a:pPr>
            <a:r>
              <a:rPr lang="en-US" altLang="zh-CN" sz="3000"/>
              <a:t>      D</a:t>
            </a:r>
            <a:r>
              <a:rPr lang="en-US" altLang="zh-CN" sz="3000" baseline="-25000"/>
              <a:t>1</a:t>
            </a:r>
            <a:r>
              <a:rPr lang="en-US" altLang="zh-CN" sz="3000"/>
              <a:t>×D</a:t>
            </a:r>
            <a:r>
              <a:rPr lang="en-US" altLang="zh-CN" sz="3000" baseline="-25000"/>
              <a:t>2</a:t>
            </a:r>
            <a:r>
              <a:rPr kumimoji="1" lang="en-US" altLang="zh-CN" sz="3000">
                <a:effectLst/>
              </a:rPr>
              <a:t>={&lt;d</a:t>
            </a:r>
            <a:r>
              <a:rPr kumimoji="1" lang="en-US" altLang="zh-CN" sz="3000" baseline="-25000">
                <a:effectLst/>
              </a:rPr>
              <a:t>1</a:t>
            </a:r>
            <a:r>
              <a:rPr kumimoji="1" lang="zh-CN" altLang="en-US" sz="3000" baseline="-25000">
                <a:effectLst/>
              </a:rPr>
              <a:t>，</a:t>
            </a:r>
            <a:r>
              <a:rPr kumimoji="1" lang="en-US" altLang="zh-CN" sz="3000">
                <a:effectLst/>
              </a:rPr>
              <a:t>d</a:t>
            </a:r>
            <a:r>
              <a:rPr kumimoji="1" lang="en-US" altLang="zh-CN" sz="3000" baseline="-25000">
                <a:effectLst/>
              </a:rPr>
              <a:t>2</a:t>
            </a:r>
            <a:r>
              <a:rPr kumimoji="1" lang="en-US" altLang="zh-CN" sz="3000">
                <a:effectLst/>
              </a:rPr>
              <a:t>&gt;|d</a:t>
            </a:r>
            <a:r>
              <a:rPr kumimoji="1" lang="en-US" altLang="zh-CN" sz="3000" baseline="-25000">
                <a:effectLst/>
              </a:rPr>
              <a:t>1</a:t>
            </a:r>
            <a:r>
              <a:rPr kumimoji="1" lang="en-US" altLang="zh-CN" sz="3000">
                <a:effectLst/>
                <a:cs typeface="Times New Roman" panose="02020603050405020304" pitchFamily="18" charset="0"/>
              </a:rPr>
              <a:t>∈D</a:t>
            </a:r>
            <a:r>
              <a:rPr kumimoji="1" lang="en-US" altLang="zh-CN" sz="3000" baseline="-25000">
                <a:effectLst/>
                <a:cs typeface="Times New Roman" panose="02020603050405020304" pitchFamily="18" charset="0"/>
              </a:rPr>
              <a:t>1</a:t>
            </a:r>
            <a:r>
              <a:rPr kumimoji="1" lang="zh-CN" altLang="en-US" sz="3000">
                <a:effectLst/>
                <a:cs typeface="Times New Roman" panose="02020603050405020304" pitchFamily="18" charset="0"/>
              </a:rPr>
              <a:t>且</a:t>
            </a:r>
            <a:r>
              <a:rPr kumimoji="1" lang="en-US" altLang="zh-CN" sz="3000">
                <a:effectLst/>
              </a:rPr>
              <a:t>d</a:t>
            </a:r>
            <a:r>
              <a:rPr kumimoji="1" lang="en-US" altLang="zh-CN" sz="3000" baseline="-25000">
                <a:effectLst/>
              </a:rPr>
              <a:t>2</a:t>
            </a:r>
            <a:r>
              <a:rPr kumimoji="1" lang="en-US" altLang="zh-CN" sz="3000">
                <a:effectLst/>
                <a:cs typeface="Times New Roman" panose="02020603050405020304" pitchFamily="18" charset="0"/>
              </a:rPr>
              <a:t>∈D</a:t>
            </a:r>
            <a:r>
              <a:rPr kumimoji="1" lang="en-US" altLang="zh-CN" sz="3000" baseline="-25000">
                <a:effectLst/>
                <a:cs typeface="Times New Roman" panose="02020603050405020304" pitchFamily="18" charset="0"/>
              </a:rPr>
              <a:t>2</a:t>
            </a:r>
            <a:r>
              <a:rPr kumimoji="1" lang="en-US" altLang="zh-CN" sz="3000">
                <a:effectLst/>
              </a:rPr>
              <a:t>}</a:t>
            </a:r>
          </a:p>
          <a:p>
            <a:pPr marL="0" indent="0" eaLnBrk="1" hangingPunct="1">
              <a:defRPr/>
            </a:pPr>
            <a:r>
              <a:rPr kumimoji="1" lang="zh-CN" altLang="en-US" sz="3000">
                <a:effectLst/>
              </a:rPr>
              <a:t>      </a:t>
            </a:r>
            <a:r>
              <a:rPr kumimoji="1" lang="zh-CN" altLang="en-US" sz="3000">
                <a:solidFill>
                  <a:schemeClr val="hlink"/>
                </a:solidFill>
                <a:effectLst/>
                <a:ea typeface="黑体" panose="02010609060101010101" pitchFamily="49" charset="-122"/>
              </a:rPr>
              <a:t>其中，</a:t>
            </a:r>
            <a:r>
              <a:rPr kumimoji="1" lang="zh-CN" altLang="en-US">
                <a:effectLst/>
              </a:rPr>
              <a:t>序偶＜</a:t>
            </a:r>
            <a:r>
              <a:rPr kumimoji="1" lang="en-US" altLang="zh-CN">
                <a:effectLst/>
              </a:rPr>
              <a:t>d</a:t>
            </a:r>
            <a:r>
              <a:rPr kumimoji="1" lang="en-US" altLang="zh-CN" baseline="-25000">
                <a:effectLst/>
              </a:rPr>
              <a:t>1</a:t>
            </a:r>
            <a:r>
              <a:rPr kumimoji="1" lang="zh-CN" altLang="en-US">
                <a:effectLst/>
              </a:rPr>
              <a:t>，</a:t>
            </a:r>
            <a:r>
              <a:rPr kumimoji="1" lang="en-US" altLang="zh-CN">
                <a:effectLst/>
              </a:rPr>
              <a:t>d</a:t>
            </a:r>
            <a:r>
              <a:rPr kumimoji="1" lang="en-US" altLang="zh-CN" baseline="-25000">
                <a:effectLst/>
              </a:rPr>
              <a:t>2</a:t>
            </a:r>
            <a:r>
              <a:rPr kumimoji="1" lang="zh-CN" altLang="en-US">
                <a:effectLst/>
              </a:rPr>
              <a:t>＞中的两个元素</a:t>
            </a:r>
            <a:r>
              <a:rPr kumimoji="1" lang="en-US" altLang="zh-CN">
                <a:effectLst/>
              </a:rPr>
              <a:t>d</a:t>
            </a:r>
            <a:r>
              <a:rPr kumimoji="1" lang="en-US" altLang="zh-CN" baseline="-25000">
                <a:effectLst/>
              </a:rPr>
              <a:t>1</a:t>
            </a:r>
            <a:r>
              <a:rPr kumimoji="1" lang="zh-CN" altLang="en-US">
                <a:effectLst/>
              </a:rPr>
              <a:t>和</a:t>
            </a:r>
            <a:r>
              <a:rPr kumimoji="1" lang="en-US" altLang="zh-CN">
                <a:effectLst/>
              </a:rPr>
              <a:t>d</a:t>
            </a:r>
            <a:r>
              <a:rPr kumimoji="1" lang="en-US" altLang="zh-CN" baseline="-25000">
                <a:effectLst/>
              </a:rPr>
              <a:t>2</a:t>
            </a:r>
            <a:r>
              <a:rPr kumimoji="1" lang="zh-CN" altLang="en-US">
                <a:effectLst/>
              </a:rPr>
              <a:t>是有序的，也即其次序是不能改变的。进一步讲，</a:t>
            </a:r>
            <a:r>
              <a:rPr kumimoji="1" lang="en-US" altLang="zh-CN">
                <a:effectLst/>
              </a:rPr>
              <a:t>D</a:t>
            </a:r>
            <a:r>
              <a:rPr kumimoji="1" lang="en-US" altLang="zh-CN" baseline="-25000">
                <a:effectLst/>
              </a:rPr>
              <a:t>1</a:t>
            </a:r>
            <a:r>
              <a:rPr kumimoji="1" lang="en-US" altLang="zh-CN">
                <a:effectLst/>
              </a:rPr>
              <a:t>×D</a:t>
            </a:r>
            <a:r>
              <a:rPr kumimoji="1" lang="en-US" altLang="zh-CN" baseline="-25000">
                <a:effectLst/>
              </a:rPr>
              <a:t>2</a:t>
            </a:r>
            <a:r>
              <a:rPr kumimoji="1" lang="en-US" altLang="zh-CN">
                <a:effectLst/>
              </a:rPr>
              <a:t>≠D</a:t>
            </a:r>
            <a:r>
              <a:rPr kumimoji="1" lang="en-US" altLang="zh-CN" baseline="-25000">
                <a:effectLst/>
              </a:rPr>
              <a:t>2</a:t>
            </a:r>
            <a:r>
              <a:rPr kumimoji="1" lang="en-US" altLang="zh-CN">
                <a:effectLst/>
              </a:rPr>
              <a:t>×D</a:t>
            </a:r>
            <a:r>
              <a:rPr kumimoji="1" lang="en-US" altLang="zh-CN" baseline="-25000">
                <a:effectLst/>
              </a:rPr>
              <a:t>1</a:t>
            </a:r>
            <a:r>
              <a:rPr kumimoji="1" lang="zh-CN" altLang="en-US">
                <a:effectLst/>
              </a:rPr>
              <a:t>。</a:t>
            </a:r>
          </a:p>
          <a:p>
            <a:pPr marL="0" indent="0" eaLnBrk="1" hangingPunct="1">
              <a:spcBef>
                <a:spcPct val="10000"/>
              </a:spcBef>
              <a:defRPr/>
            </a:pPr>
            <a:r>
              <a:rPr kumimoji="1" lang="zh-CN" altLang="en-US">
                <a:effectLst/>
              </a:rPr>
              <a:t>     </a:t>
            </a:r>
            <a:r>
              <a:rPr kumimoji="1" lang="zh-CN" altLang="en-US">
                <a:solidFill>
                  <a:srgbClr val="660066"/>
                </a:solidFill>
                <a:effectLst/>
              </a:rPr>
              <a:t>例如，</a:t>
            </a:r>
            <a:r>
              <a:rPr kumimoji="1" lang="zh-CN" altLang="en-US">
                <a:effectLst/>
              </a:rPr>
              <a:t>笛卡儿坐标系的二维平面上一个点的坐标＜</a:t>
            </a:r>
            <a:r>
              <a:rPr kumimoji="1" lang="en-US" altLang="zh-CN">
                <a:effectLst/>
              </a:rPr>
              <a:t>x, y</a:t>
            </a:r>
            <a:r>
              <a:rPr kumimoji="1" lang="zh-CN" altLang="en-US">
                <a:effectLst/>
              </a:rPr>
              <a:t>＞的次序就是不能改变的。</a:t>
            </a:r>
            <a:endParaRPr kumimoji="1" lang="en-US" altLang="zh-CN">
              <a:effectLst/>
            </a:endParaRPr>
          </a:p>
        </p:txBody>
      </p:sp>
    </p:spTree>
    <p:custDataLst>
      <p:tags r:id="rId1"/>
    </p:custDataLst>
  </p:cSld>
  <p:clrMapOvr>
    <a:masterClrMapping/>
  </p:clrMapOvr>
  <p:transition advTm="1050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60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60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0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60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20" name="Rectangle 4">
            <a:extLst>
              <a:ext uri="{FF2B5EF4-FFF2-40B4-BE49-F238E27FC236}">
                <a16:creationId xmlns:a16="http://schemas.microsoft.com/office/drawing/2014/main" id="{B85F4D6E-661F-45B1-849C-D3970A736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一、笛卡儿积的数学定义</a:t>
            </a:r>
          </a:p>
        </p:txBody>
      </p:sp>
      <p:sp>
        <p:nvSpPr>
          <p:cNvPr id="879621" name="Rectangle 5">
            <a:extLst>
              <a:ext uri="{FF2B5EF4-FFF2-40B4-BE49-F238E27FC236}">
                <a16:creationId xmlns:a16="http://schemas.microsoft.com/office/drawing/2014/main" id="{14E31E76-6BF3-4A86-9A3D-9BD2DE95F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95363"/>
            <a:ext cx="7993062" cy="54578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0000"/>
              </a:spcBef>
              <a:defRPr/>
            </a:pPr>
            <a:r>
              <a:rPr lang="zh-CN" altLang="en-US" sz="3000"/>
              <a:t>　 </a:t>
            </a:r>
            <a:r>
              <a:rPr lang="zh-CN" altLang="en-US" sz="3000">
                <a:solidFill>
                  <a:schemeClr val="hlink"/>
                </a:solidFill>
              </a:rPr>
              <a:t>定义</a:t>
            </a:r>
            <a:r>
              <a:rPr lang="en-US" altLang="zh-CN" sz="3000">
                <a:solidFill>
                  <a:schemeClr val="hlink"/>
                </a:solidFill>
              </a:rPr>
              <a:t>2.2</a:t>
            </a:r>
            <a:r>
              <a:rPr lang="en-US" altLang="zh-CN" sz="3000"/>
              <a:t>  </a:t>
            </a:r>
            <a:r>
              <a:rPr lang="zh-CN" altLang="en-US"/>
              <a:t> 设有属性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n</a:t>
            </a:r>
            <a:r>
              <a:rPr lang="zh-CN" altLang="en-US"/>
              <a:t>分别在值域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n</a:t>
            </a:r>
            <a:r>
              <a:rPr lang="zh-CN" altLang="en-US"/>
              <a:t>中取值，则这</a:t>
            </a:r>
            <a:r>
              <a:rPr lang="en-US" altLang="zh-CN"/>
              <a:t>n </a:t>
            </a:r>
            <a:r>
              <a:rPr lang="zh-CN" altLang="en-US"/>
              <a:t>个值域集合的笛卡儿积定义为：</a:t>
            </a:r>
          </a:p>
          <a:p>
            <a:pPr eaLnBrk="1" hangingPunct="1">
              <a:spcBef>
                <a:spcPct val="30000"/>
              </a:spcBef>
              <a:defRPr/>
            </a:pPr>
            <a:r>
              <a:rPr lang="en-US" altLang="zh-CN"/>
              <a:t>       D</a:t>
            </a:r>
            <a:r>
              <a:rPr lang="en-US" altLang="zh-CN" baseline="-25000"/>
              <a:t>1</a:t>
            </a:r>
            <a:r>
              <a:rPr lang="en-US" altLang="zh-CN"/>
              <a:t>×D</a:t>
            </a:r>
            <a:r>
              <a:rPr lang="en-US" altLang="zh-CN" baseline="-25000"/>
              <a:t>2</a:t>
            </a:r>
            <a:r>
              <a:rPr lang="en-US" altLang="zh-CN"/>
              <a:t>×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×D</a:t>
            </a:r>
            <a:r>
              <a:rPr lang="en-US" altLang="zh-CN" baseline="-25000"/>
              <a:t>n</a:t>
            </a:r>
            <a:r>
              <a:rPr lang="zh-CN" altLang="en-US"/>
              <a:t>＝</a:t>
            </a:r>
            <a:r>
              <a:rPr lang="en-US" altLang="zh-CN"/>
              <a:t>{&lt;d</a:t>
            </a:r>
            <a:r>
              <a:rPr lang="en-US" altLang="zh-CN" baseline="-25000"/>
              <a:t>1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d</a:t>
            </a:r>
            <a:r>
              <a:rPr lang="en-US" altLang="zh-CN" baseline="-25000"/>
              <a:t>n</a:t>
            </a:r>
            <a:r>
              <a:rPr lang="en-US" altLang="zh-CN"/>
              <a:t>&gt;|</a:t>
            </a:r>
          </a:p>
          <a:p>
            <a:pPr eaLnBrk="1" hangingPunct="1">
              <a:lnSpc>
                <a:spcPct val="140000"/>
              </a:lnSpc>
              <a:spcBef>
                <a:spcPct val="15000"/>
              </a:spcBef>
              <a:defRPr/>
            </a:pPr>
            <a:r>
              <a:rPr lang="en-US" altLang="zh-CN"/>
              <a:t>                                    d</a:t>
            </a:r>
            <a:r>
              <a:rPr lang="en-US" altLang="zh-CN" baseline="-25000"/>
              <a:t>j</a:t>
            </a:r>
            <a:r>
              <a:rPr lang="en-US" altLang="zh-CN"/>
              <a:t>∈D</a:t>
            </a:r>
            <a:r>
              <a:rPr lang="en-US" altLang="zh-CN" baseline="-25000"/>
              <a:t>j</a:t>
            </a:r>
            <a:r>
              <a:rPr lang="zh-CN" altLang="en-US"/>
              <a:t>，</a:t>
            </a:r>
            <a:r>
              <a:rPr lang="en-US" altLang="zh-CN"/>
              <a:t>j=1</a:t>
            </a:r>
            <a:r>
              <a:rPr lang="zh-CN" altLang="en-US"/>
              <a:t>，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zh-CN" altLang="en-US"/>
              <a:t>，</a:t>
            </a:r>
            <a:r>
              <a:rPr lang="en-US" altLang="zh-CN"/>
              <a:t>n}</a:t>
            </a:r>
            <a:endParaRPr lang="zh-CN" altLang="en-US"/>
          </a:p>
          <a:p>
            <a:pPr eaLnBrk="1" hangingPunct="1">
              <a:spcBef>
                <a:spcPct val="30000"/>
              </a:spcBef>
              <a:defRPr/>
            </a:pPr>
            <a:r>
              <a:rPr lang="zh-CN" altLang="en-US">
                <a:solidFill>
                  <a:schemeClr val="hlink"/>
                </a:solidFill>
              </a:rPr>
              <a:t>其中：</a:t>
            </a:r>
            <a:r>
              <a:rPr lang="zh-CN" altLang="en-US">
                <a:solidFill>
                  <a:srgbClr val="660066"/>
                </a:solidFill>
              </a:rPr>
              <a:t>①</a:t>
            </a:r>
            <a:r>
              <a:rPr lang="zh-CN" altLang="en-US"/>
              <a:t> 每个元素</a:t>
            </a:r>
            <a:r>
              <a:rPr lang="en-US" altLang="zh-CN"/>
              <a:t>&lt;d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n</a:t>
            </a:r>
            <a:r>
              <a:rPr lang="en-US" altLang="zh-CN"/>
              <a:t>&gt;</a:t>
            </a:r>
            <a:r>
              <a:rPr lang="zh-CN" altLang="en-US"/>
              <a:t>称为有序</a:t>
            </a:r>
            <a:r>
              <a:rPr lang="en-US" altLang="zh-CN"/>
              <a:t>n</a:t>
            </a:r>
            <a:r>
              <a:rPr lang="zh-CN" altLang="en-US"/>
              <a:t>元组，也即＜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a</a:t>
            </a:r>
            <a:r>
              <a:rPr lang="en-US" altLang="zh-CN" baseline="-25000"/>
              <a:t>n</a:t>
            </a:r>
            <a:r>
              <a:rPr lang="zh-CN" altLang="en-US"/>
              <a:t>＞＝＜</a:t>
            </a:r>
            <a:r>
              <a:rPr lang="en-US" altLang="zh-CN"/>
              <a:t>b</a:t>
            </a:r>
            <a:r>
              <a:rPr lang="en-US" altLang="zh-CN" baseline="-25000"/>
              <a:t>1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b</a:t>
            </a:r>
            <a:r>
              <a:rPr lang="en-US" altLang="zh-CN" baseline="-25000"/>
              <a:t>2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b</a:t>
            </a:r>
            <a:r>
              <a:rPr lang="en-US" altLang="zh-CN" baseline="-25000"/>
              <a:t>n</a:t>
            </a:r>
            <a:r>
              <a:rPr lang="zh-CN" altLang="en-US"/>
              <a:t>＞</a:t>
            </a:r>
            <a:r>
              <a:rPr lang="zh-CN" altLang="en-US" sz="1200"/>
              <a:t>，</a:t>
            </a:r>
            <a:r>
              <a:rPr lang="zh-CN" altLang="en-US"/>
              <a:t>当且仅当</a:t>
            </a:r>
            <a:r>
              <a:rPr lang="en-US" altLang="zh-CN"/>
              <a:t>a</a:t>
            </a:r>
            <a:r>
              <a:rPr lang="en-US" altLang="zh-CN" baseline="-25000"/>
              <a:t>j</a:t>
            </a:r>
            <a:r>
              <a:rPr lang="en-US" altLang="zh-CN"/>
              <a:t>=b</a:t>
            </a:r>
            <a:r>
              <a:rPr lang="en-US" altLang="zh-CN" baseline="-25000"/>
              <a:t>j </a:t>
            </a:r>
            <a:r>
              <a:rPr lang="en-US" altLang="zh-CN"/>
              <a:t>(j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 2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 3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 n)</a:t>
            </a:r>
            <a:r>
              <a:rPr lang="zh-CN" altLang="en-US"/>
              <a:t>。 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069"/>
    </mc:Choice>
    <mc:Fallback xmlns="">
      <p:transition spd="slow" advTm="1400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79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79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879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8796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2" name="Rectangle 4">
            <a:extLst>
              <a:ext uri="{FF2B5EF4-FFF2-40B4-BE49-F238E27FC236}">
                <a16:creationId xmlns:a16="http://schemas.microsoft.com/office/drawing/2014/main" id="{CA0ECF8A-679A-453F-B39A-2D1A658E9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一、笛卡儿积的数学定义</a:t>
            </a:r>
          </a:p>
        </p:txBody>
      </p:sp>
      <p:sp>
        <p:nvSpPr>
          <p:cNvPr id="898053" name="Rectangle 5">
            <a:extLst>
              <a:ext uri="{FF2B5EF4-FFF2-40B4-BE49-F238E27FC236}">
                <a16:creationId xmlns:a16="http://schemas.microsoft.com/office/drawing/2014/main" id="{7AF8E734-E00D-4065-A508-5BEA1890E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95363"/>
            <a:ext cx="7993062" cy="54578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0000"/>
              </a:spcBef>
              <a:defRPr/>
            </a:pPr>
            <a:r>
              <a:rPr lang="zh-CN" altLang="en-US" sz="3000"/>
              <a:t>　 </a:t>
            </a:r>
            <a:r>
              <a:rPr lang="zh-CN" altLang="en-US" sz="3000">
                <a:solidFill>
                  <a:schemeClr val="hlink"/>
                </a:solidFill>
              </a:rPr>
              <a:t>定义</a:t>
            </a:r>
            <a:r>
              <a:rPr lang="en-US" altLang="zh-CN" sz="3000">
                <a:solidFill>
                  <a:schemeClr val="hlink"/>
                </a:solidFill>
              </a:rPr>
              <a:t>2.2</a:t>
            </a:r>
            <a:r>
              <a:rPr lang="en-US" altLang="zh-CN" sz="3000"/>
              <a:t>  </a:t>
            </a:r>
            <a:r>
              <a:rPr lang="zh-CN" altLang="en-US"/>
              <a:t> 设有属性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n</a:t>
            </a:r>
            <a:r>
              <a:rPr lang="zh-CN" altLang="en-US"/>
              <a:t>分别在值域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n</a:t>
            </a:r>
            <a:r>
              <a:rPr lang="zh-CN" altLang="en-US"/>
              <a:t>中取值，则这</a:t>
            </a:r>
            <a:r>
              <a:rPr lang="en-US" altLang="zh-CN"/>
              <a:t>n </a:t>
            </a:r>
            <a:r>
              <a:rPr lang="zh-CN" altLang="en-US"/>
              <a:t>个值域集合的笛卡儿积定义为：</a:t>
            </a:r>
          </a:p>
          <a:p>
            <a:pPr eaLnBrk="1" hangingPunct="1">
              <a:spcBef>
                <a:spcPct val="30000"/>
              </a:spcBef>
              <a:defRPr/>
            </a:pPr>
            <a:r>
              <a:rPr lang="en-US" altLang="zh-CN"/>
              <a:t>       D</a:t>
            </a:r>
            <a:r>
              <a:rPr lang="en-US" altLang="zh-CN" baseline="-25000"/>
              <a:t>1</a:t>
            </a:r>
            <a:r>
              <a:rPr lang="en-US" altLang="zh-CN"/>
              <a:t>×D</a:t>
            </a:r>
            <a:r>
              <a:rPr lang="en-US" altLang="zh-CN" baseline="-25000"/>
              <a:t>2</a:t>
            </a:r>
            <a:r>
              <a:rPr lang="en-US" altLang="zh-CN"/>
              <a:t>×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×D</a:t>
            </a:r>
            <a:r>
              <a:rPr lang="en-US" altLang="zh-CN" baseline="-25000"/>
              <a:t>n</a:t>
            </a:r>
            <a:r>
              <a:rPr lang="zh-CN" altLang="en-US"/>
              <a:t>＝</a:t>
            </a:r>
            <a:r>
              <a:rPr lang="en-US" altLang="zh-CN"/>
              <a:t>{&lt;d</a:t>
            </a:r>
            <a:r>
              <a:rPr lang="en-US" altLang="zh-CN" baseline="-25000"/>
              <a:t>1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/>
              <a:t>d</a:t>
            </a:r>
            <a:r>
              <a:rPr lang="en-US" altLang="zh-CN" baseline="-25000"/>
              <a:t>n</a:t>
            </a:r>
            <a:r>
              <a:rPr lang="en-US" altLang="zh-CN"/>
              <a:t>&gt;|</a:t>
            </a:r>
          </a:p>
          <a:p>
            <a:pPr eaLnBrk="1" hangingPunct="1">
              <a:lnSpc>
                <a:spcPct val="140000"/>
              </a:lnSpc>
              <a:spcBef>
                <a:spcPct val="15000"/>
              </a:spcBef>
              <a:defRPr/>
            </a:pPr>
            <a:r>
              <a:rPr lang="en-US" altLang="zh-CN"/>
              <a:t>                                    d</a:t>
            </a:r>
            <a:r>
              <a:rPr lang="en-US" altLang="zh-CN" baseline="-25000"/>
              <a:t>j</a:t>
            </a:r>
            <a:r>
              <a:rPr lang="en-US" altLang="zh-CN"/>
              <a:t>∈D</a:t>
            </a:r>
            <a:r>
              <a:rPr lang="en-US" altLang="zh-CN" baseline="-25000"/>
              <a:t>j</a:t>
            </a:r>
            <a:r>
              <a:rPr lang="zh-CN" altLang="en-US"/>
              <a:t>，</a:t>
            </a:r>
            <a:r>
              <a:rPr lang="en-US" altLang="zh-CN"/>
              <a:t>j=1</a:t>
            </a:r>
            <a:r>
              <a:rPr lang="zh-CN" altLang="en-US"/>
              <a:t>，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zh-CN" altLang="en-US"/>
              <a:t>，</a:t>
            </a:r>
            <a:r>
              <a:rPr lang="en-US" altLang="zh-CN"/>
              <a:t>n}</a:t>
            </a:r>
            <a:endParaRPr lang="zh-CN" altLang="en-US"/>
          </a:p>
          <a:p>
            <a:pPr eaLnBrk="1" hangingPunct="1">
              <a:lnSpc>
                <a:spcPct val="125000"/>
              </a:lnSpc>
              <a:spcBef>
                <a:spcPct val="30000"/>
              </a:spcBef>
              <a:defRPr/>
            </a:pPr>
            <a:r>
              <a:rPr lang="zh-CN" altLang="en-US">
                <a:solidFill>
                  <a:schemeClr val="hlink"/>
                </a:solidFill>
              </a:rPr>
              <a:t>其中：</a:t>
            </a:r>
            <a:r>
              <a:rPr lang="zh-CN" altLang="en-US"/>
              <a:t> </a:t>
            </a:r>
            <a:r>
              <a:rPr lang="zh-CN" altLang="en-US">
                <a:solidFill>
                  <a:srgbClr val="660066"/>
                </a:solidFill>
              </a:rPr>
              <a:t>②</a:t>
            </a:r>
            <a:r>
              <a:rPr lang="zh-CN" altLang="en-US"/>
              <a:t> 有序</a:t>
            </a:r>
            <a:r>
              <a:rPr lang="en-US" altLang="zh-CN"/>
              <a:t>n</a:t>
            </a:r>
            <a:r>
              <a:rPr lang="zh-CN" altLang="en-US"/>
              <a:t>元组中的第</a:t>
            </a:r>
            <a:r>
              <a:rPr lang="en-US" altLang="zh-CN"/>
              <a:t>j</a:t>
            </a:r>
            <a:r>
              <a:rPr lang="zh-CN" altLang="en-US"/>
              <a:t>个值</a:t>
            </a:r>
            <a:r>
              <a:rPr lang="en-US" altLang="zh-CN"/>
              <a:t>d</a:t>
            </a:r>
            <a:r>
              <a:rPr lang="en-US" altLang="zh-CN" baseline="-25000"/>
              <a:t>j</a:t>
            </a:r>
            <a:r>
              <a:rPr lang="zh-CN" altLang="en-US"/>
              <a:t>称为有序</a:t>
            </a:r>
            <a:r>
              <a:rPr lang="en-US" altLang="zh-CN"/>
              <a:t>n</a:t>
            </a:r>
            <a:r>
              <a:rPr lang="zh-CN" altLang="en-US"/>
              <a:t>元组的第</a:t>
            </a:r>
            <a:r>
              <a:rPr lang="en-US" altLang="zh-CN"/>
              <a:t>j</a:t>
            </a:r>
            <a:r>
              <a:rPr lang="zh-CN" altLang="en-US"/>
              <a:t>个分量。若</a:t>
            </a:r>
            <a:r>
              <a:rPr lang="en-US" altLang="zh-CN"/>
              <a:t>D</a:t>
            </a:r>
            <a:r>
              <a:rPr lang="en-US" altLang="zh-CN" baseline="-25000"/>
              <a:t>j</a:t>
            </a:r>
            <a:r>
              <a:rPr lang="zh-CN" altLang="en-US"/>
              <a:t>为有限集，且其基数为</a:t>
            </a:r>
            <a:r>
              <a:rPr lang="en-US" altLang="zh-CN"/>
              <a:t>m</a:t>
            </a:r>
            <a:r>
              <a:rPr lang="en-US" altLang="zh-CN" baseline="-25000"/>
              <a:t>j</a:t>
            </a:r>
            <a:r>
              <a:rPr lang="zh-CN" altLang="en-US"/>
              <a:t>，则笛卡儿积的基数为</a:t>
            </a:r>
            <a:r>
              <a:rPr lang="en-US" altLang="zh-CN"/>
              <a:t>m</a:t>
            </a:r>
            <a:r>
              <a:rPr lang="zh-CN" altLang="en-US"/>
              <a:t>＝         。</a:t>
            </a:r>
            <a:endParaRPr lang="en-US" altLang="zh-CN"/>
          </a:p>
        </p:txBody>
      </p:sp>
      <p:graphicFrame>
        <p:nvGraphicFramePr>
          <p:cNvPr id="898054" name="Object 6">
            <a:extLst>
              <a:ext uri="{FF2B5EF4-FFF2-40B4-BE49-F238E27FC236}">
                <a16:creationId xmlns:a16="http://schemas.microsoft.com/office/drawing/2014/main" id="{E3163460-C510-4C78-9D5A-2BC44EE89A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1700" y="5033963"/>
          <a:ext cx="719138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1800" imgH="457200" progId="Equation.3">
                  <p:embed/>
                </p:oleObj>
              </mc:Choice>
              <mc:Fallback>
                <p:oleObj name="公式" r:id="rId2" imgW="4318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5033963"/>
                        <a:ext cx="719138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59"/>
    </mc:Choice>
    <mc:Fallback xmlns="">
      <p:transition spd="slow" advTm="693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980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9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2" name="Rectangle 4">
            <a:extLst>
              <a:ext uri="{FF2B5EF4-FFF2-40B4-BE49-F238E27FC236}">
                <a16:creationId xmlns:a16="http://schemas.microsoft.com/office/drawing/2014/main" id="{E6334847-05E2-47EA-819D-8672126FB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一、笛卡儿积的数学定义</a:t>
            </a:r>
          </a:p>
        </p:txBody>
      </p:sp>
      <p:sp>
        <p:nvSpPr>
          <p:cNvPr id="565254" name="Rectangle 6">
            <a:extLst>
              <a:ext uri="{FF2B5EF4-FFF2-40B4-BE49-F238E27FC236}">
                <a16:creationId xmlns:a16="http://schemas.microsoft.com/office/drawing/2014/main" id="{EE37F2B8-B833-45AE-87F6-794165634D4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58875"/>
            <a:ext cx="8135937" cy="533876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10000"/>
              </a:spcBef>
              <a:defRPr/>
            </a:pPr>
            <a:r>
              <a:rPr lang="zh-CN" altLang="en-US" sz="2600">
                <a:solidFill>
                  <a:srgbClr val="660033"/>
                </a:solidFill>
                <a:ea typeface="黑体" panose="02010609060101010101" pitchFamily="49" charset="-122"/>
              </a:rPr>
              <a:t>比如：</a:t>
            </a:r>
            <a:r>
              <a:rPr lang="zh-CN" altLang="en-US" sz="2400"/>
              <a:t>设</a:t>
            </a:r>
            <a:r>
              <a:rPr lang="en-US" altLang="zh-CN" sz="2400"/>
              <a:t>D</a:t>
            </a:r>
            <a:r>
              <a:rPr lang="en-US" altLang="zh-CN" sz="2400" baseline="-25000"/>
              <a:t>1</a:t>
            </a:r>
            <a:r>
              <a:rPr lang="en-US" altLang="zh-CN" sz="2400"/>
              <a:t>={1</a:t>
            </a:r>
            <a:r>
              <a:rPr lang="zh-CN" altLang="en-US" sz="2400"/>
              <a:t>，</a:t>
            </a:r>
            <a:r>
              <a:rPr lang="en-US" altLang="zh-CN" sz="2400"/>
              <a:t>2</a:t>
            </a:r>
            <a:r>
              <a:rPr lang="zh-CN" altLang="en-US" sz="2400"/>
              <a:t>，</a:t>
            </a:r>
            <a:r>
              <a:rPr lang="en-US" altLang="zh-CN" sz="2400"/>
              <a:t>3}</a:t>
            </a:r>
            <a:r>
              <a:rPr lang="zh-CN" altLang="en-US" sz="2400"/>
              <a:t>，基数为</a:t>
            </a:r>
            <a:r>
              <a:rPr lang="en-US" altLang="zh-CN" sz="2400"/>
              <a:t>3</a:t>
            </a:r>
            <a:r>
              <a:rPr lang="zh-CN" altLang="en-US" sz="2400"/>
              <a:t>；</a:t>
            </a:r>
          </a:p>
          <a:p>
            <a:pPr marL="0" indent="0" eaLnBrk="1" hangingPunct="1">
              <a:lnSpc>
                <a:spcPct val="150000"/>
              </a:lnSpc>
              <a:spcBef>
                <a:spcPct val="10000"/>
              </a:spcBef>
              <a:defRPr/>
            </a:pPr>
            <a:r>
              <a:rPr lang="zh-CN" altLang="en-US" sz="2400"/>
              <a:t>　　　  </a:t>
            </a:r>
            <a:r>
              <a:rPr lang="en-US" altLang="zh-CN" sz="2400"/>
              <a:t>D</a:t>
            </a:r>
            <a:r>
              <a:rPr lang="en-US" altLang="zh-CN" sz="2400" baseline="-25000"/>
              <a:t>2</a:t>
            </a:r>
            <a:r>
              <a:rPr lang="en-US" altLang="zh-CN" sz="2400"/>
              <a:t>={a</a:t>
            </a:r>
            <a:r>
              <a:rPr lang="zh-CN" altLang="en-US" sz="2400"/>
              <a:t>，</a:t>
            </a:r>
            <a:r>
              <a:rPr lang="en-US" altLang="zh-CN" sz="2400"/>
              <a:t>b}</a:t>
            </a:r>
            <a:r>
              <a:rPr lang="zh-CN" altLang="en-US" sz="2400"/>
              <a:t>，基数为</a:t>
            </a:r>
            <a:r>
              <a:rPr lang="en-US" altLang="zh-CN" sz="2400"/>
              <a:t>2</a:t>
            </a:r>
            <a:r>
              <a:rPr lang="zh-CN" altLang="en-US" sz="2400"/>
              <a:t>；　则有：</a:t>
            </a:r>
          </a:p>
          <a:p>
            <a:pPr marL="0" indent="0" eaLnBrk="1" hangingPunct="1">
              <a:lnSpc>
                <a:spcPct val="150000"/>
              </a:lnSpc>
              <a:spcBef>
                <a:spcPct val="10000"/>
              </a:spcBef>
              <a:defRPr/>
            </a:pPr>
            <a:r>
              <a:rPr lang="en-US" altLang="zh-CN" sz="2400">
                <a:solidFill>
                  <a:srgbClr val="003366"/>
                </a:solidFill>
              </a:rPr>
              <a:t>        D</a:t>
            </a:r>
            <a:r>
              <a:rPr lang="en-US" altLang="zh-CN" sz="2400" baseline="-25000">
                <a:solidFill>
                  <a:srgbClr val="003366"/>
                </a:solidFill>
              </a:rPr>
              <a:t>1</a:t>
            </a:r>
            <a:r>
              <a:rPr lang="en-US" altLang="zh-CN" sz="2400">
                <a:solidFill>
                  <a:srgbClr val="003366"/>
                </a:solidFill>
              </a:rPr>
              <a:t>×D</a:t>
            </a:r>
            <a:r>
              <a:rPr lang="en-US" altLang="zh-CN" sz="2400" baseline="-25000">
                <a:solidFill>
                  <a:srgbClr val="003366"/>
                </a:solidFill>
              </a:rPr>
              <a:t>2</a:t>
            </a:r>
            <a:r>
              <a:rPr lang="en-US" altLang="zh-CN" sz="2400">
                <a:solidFill>
                  <a:srgbClr val="003366"/>
                </a:solidFill>
              </a:rPr>
              <a:t>={&lt;1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a&gt;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&lt;1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b&gt;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&lt;2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a&gt;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</a:p>
          <a:p>
            <a:pPr marL="0" indent="0" eaLnBrk="1" hangingPunct="1">
              <a:lnSpc>
                <a:spcPct val="150000"/>
              </a:lnSpc>
              <a:spcBef>
                <a:spcPct val="10000"/>
              </a:spcBef>
              <a:defRPr/>
            </a:pPr>
            <a:r>
              <a:rPr lang="en-US" altLang="zh-CN" sz="2400">
                <a:solidFill>
                  <a:srgbClr val="003366"/>
                </a:solidFill>
              </a:rPr>
              <a:t>                          &lt;2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b&gt;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&lt;3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a&gt;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&lt;3</a:t>
            </a:r>
            <a:r>
              <a:rPr lang="zh-CN" altLang="en-US" sz="2400">
                <a:solidFill>
                  <a:srgbClr val="003366"/>
                </a:solidFill>
              </a:rPr>
              <a:t>，</a:t>
            </a:r>
            <a:r>
              <a:rPr lang="en-US" altLang="zh-CN" sz="2400">
                <a:solidFill>
                  <a:srgbClr val="003366"/>
                </a:solidFill>
              </a:rPr>
              <a:t>b&gt;}</a:t>
            </a:r>
          </a:p>
          <a:p>
            <a:pPr marL="0" indent="0" eaLnBrk="1" hangingPunct="1">
              <a:lnSpc>
                <a:spcPct val="150000"/>
              </a:lnSpc>
              <a:spcBef>
                <a:spcPct val="10000"/>
              </a:spcBef>
              <a:defRPr/>
            </a:pPr>
            <a:r>
              <a:rPr lang="zh-CN" altLang="en-US" sz="2400"/>
              <a:t>        且基数为</a:t>
            </a:r>
            <a:r>
              <a:rPr lang="en-US" altLang="zh-CN" sz="2400"/>
              <a:t>3×2=6</a:t>
            </a:r>
            <a:r>
              <a:rPr lang="zh-CN" altLang="en-US" sz="2400"/>
              <a:t>。</a:t>
            </a:r>
          </a:p>
          <a:p>
            <a:pPr marL="0" indent="0" eaLnBrk="1" hangingPunct="1">
              <a:lnSpc>
                <a:spcPct val="180000"/>
              </a:lnSpc>
              <a:spcBef>
                <a:spcPct val="10000"/>
              </a:spcBef>
              <a:defRPr/>
            </a:pPr>
            <a:r>
              <a:rPr lang="zh-CN" altLang="en-US" sz="2400"/>
              <a:t>         </a:t>
            </a:r>
            <a:r>
              <a:rPr lang="zh-CN" altLang="en-US" sz="2400">
                <a:solidFill>
                  <a:srgbClr val="003366"/>
                </a:solidFill>
                <a:ea typeface="黑体" panose="02010609060101010101" pitchFamily="49" charset="-122"/>
              </a:rPr>
              <a:t>对比基数的定义式：</a:t>
            </a:r>
            <a:r>
              <a:rPr lang="zh-CN" altLang="en-US" sz="2400"/>
              <a:t> </a:t>
            </a:r>
            <a:r>
              <a:rPr lang="en-US" altLang="zh-CN" sz="2400"/>
              <a:t>m</a:t>
            </a:r>
            <a:r>
              <a:rPr lang="zh-CN" altLang="en-US" sz="2400"/>
              <a:t>＝            </a:t>
            </a:r>
            <a:r>
              <a:rPr lang="zh-CN" altLang="en-US" sz="24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可见</a:t>
            </a:r>
            <a:r>
              <a:rPr lang="zh-CN" altLang="en-US" sz="2400">
                <a:solidFill>
                  <a:schemeClr val="hlink"/>
                </a:solidFill>
              </a:rPr>
              <a:t>，</a:t>
            </a:r>
            <a:r>
              <a:rPr lang="zh-CN" altLang="en-US" sz="2400"/>
              <a:t>笛卡儿积的基数即为笛卡儿积定义的元组集合中的元组的个数。</a:t>
            </a:r>
          </a:p>
        </p:txBody>
      </p:sp>
      <p:graphicFrame>
        <p:nvGraphicFramePr>
          <p:cNvPr id="565263" name="Object 15">
            <a:extLst>
              <a:ext uri="{FF2B5EF4-FFF2-40B4-BE49-F238E27FC236}">
                <a16:creationId xmlns:a16="http://schemas.microsoft.com/office/drawing/2014/main" id="{303FA1BA-33D1-4869-8DB2-A248307EAB2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805363" y="4068763"/>
          <a:ext cx="928687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31800" imgH="457200" progId="Equation.3">
                  <p:embed/>
                </p:oleObj>
              </mc:Choice>
              <mc:Fallback>
                <p:oleObj name="公式" r:id="rId4" imgW="431800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4068763"/>
                        <a:ext cx="928687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 advTm="1294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65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65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65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65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65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65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Rectangle 2">
            <a:extLst>
              <a:ext uri="{FF2B5EF4-FFF2-40B4-BE49-F238E27FC236}">
                <a16:creationId xmlns:a16="http://schemas.microsoft.com/office/drawing/2014/main" id="{72422451-6A47-406B-87F9-CA2230969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一、笛卡儿积的数学定义</a:t>
            </a:r>
          </a:p>
        </p:txBody>
      </p:sp>
      <p:sp>
        <p:nvSpPr>
          <p:cNvPr id="744451" name="Rectangle 3">
            <a:extLst>
              <a:ext uri="{FF2B5EF4-FFF2-40B4-BE49-F238E27FC236}">
                <a16:creationId xmlns:a16="http://schemas.microsoft.com/office/drawing/2014/main" id="{119F17BF-00E9-4E75-8E35-E9B515F8B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8488" y="1158875"/>
            <a:ext cx="8294687" cy="53387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lnSpc>
                <a:spcPct val="130000"/>
              </a:lnSpc>
              <a:defRPr/>
            </a:pPr>
            <a:r>
              <a:rPr lang="zh-CN" altLang="en-US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</a:t>
            </a:r>
            <a:r>
              <a:rPr lang="zh-CN" altLang="en-US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600">
                <a:solidFill>
                  <a:srgbClr val="003366"/>
                </a:solidFill>
              </a:rPr>
              <a:t>设</a:t>
            </a:r>
            <a:r>
              <a:rPr lang="en-US" altLang="zh-CN" sz="2600">
                <a:solidFill>
                  <a:srgbClr val="003366"/>
                </a:solidFill>
              </a:rPr>
              <a:t>D</a:t>
            </a:r>
            <a:r>
              <a:rPr lang="en-US" altLang="zh-CN" sz="2600" baseline="-25000">
                <a:solidFill>
                  <a:srgbClr val="003366"/>
                </a:solidFill>
              </a:rPr>
              <a:t>1</a:t>
            </a:r>
            <a:r>
              <a:rPr lang="en-US" altLang="zh-CN" sz="2600">
                <a:solidFill>
                  <a:srgbClr val="003366"/>
                </a:solidFill>
              </a:rPr>
              <a:t>={</a:t>
            </a:r>
            <a:r>
              <a:rPr lang="zh-CN" altLang="en-US" sz="2600">
                <a:solidFill>
                  <a:srgbClr val="003366"/>
                </a:solidFill>
              </a:rPr>
              <a:t>李兵，王芳</a:t>
            </a:r>
            <a:r>
              <a:rPr lang="en-US" altLang="zh-CN" sz="2600">
                <a:solidFill>
                  <a:srgbClr val="003366"/>
                </a:solidFill>
              </a:rPr>
              <a:t>}</a:t>
            </a:r>
            <a:r>
              <a:rPr lang="zh-CN" altLang="en-US" sz="2600">
                <a:solidFill>
                  <a:srgbClr val="003366"/>
                </a:solidFill>
              </a:rPr>
              <a:t>，</a:t>
            </a:r>
            <a:r>
              <a:rPr lang="en-US" altLang="zh-CN" sz="2600">
                <a:solidFill>
                  <a:srgbClr val="003366"/>
                </a:solidFill>
              </a:rPr>
              <a:t>D</a:t>
            </a:r>
            <a:r>
              <a:rPr lang="en-US" altLang="zh-CN" sz="2600" baseline="-25000">
                <a:solidFill>
                  <a:srgbClr val="003366"/>
                </a:solidFill>
              </a:rPr>
              <a:t>2</a:t>
            </a:r>
            <a:r>
              <a:rPr lang="en-US" altLang="zh-CN" sz="2600">
                <a:solidFill>
                  <a:srgbClr val="003366"/>
                </a:solidFill>
              </a:rPr>
              <a:t>={</a:t>
            </a:r>
            <a:r>
              <a:rPr lang="zh-CN" altLang="en-US" sz="2600">
                <a:solidFill>
                  <a:srgbClr val="003366"/>
                </a:solidFill>
              </a:rPr>
              <a:t>男，女</a:t>
            </a:r>
            <a:r>
              <a:rPr lang="en-US" altLang="zh-CN" sz="2600">
                <a:solidFill>
                  <a:srgbClr val="003366"/>
                </a:solidFill>
              </a:rPr>
              <a:t>}</a:t>
            </a:r>
            <a:r>
              <a:rPr lang="zh-CN" altLang="en-US" sz="2600">
                <a:solidFill>
                  <a:srgbClr val="003366"/>
                </a:solidFill>
              </a:rPr>
              <a:t>，</a:t>
            </a:r>
          </a:p>
          <a:p>
            <a:pPr marL="0" indent="0" eaLnBrk="1" hangingPunct="1">
              <a:lnSpc>
                <a:spcPct val="130000"/>
              </a:lnSpc>
              <a:defRPr/>
            </a:pPr>
            <a:r>
              <a:rPr lang="zh-CN" altLang="en-US" sz="2600">
                <a:solidFill>
                  <a:srgbClr val="003366"/>
                </a:solidFill>
              </a:rPr>
              <a:t>　　　  </a:t>
            </a:r>
            <a:r>
              <a:rPr lang="en-US" altLang="zh-CN" sz="2600">
                <a:solidFill>
                  <a:srgbClr val="003366"/>
                </a:solidFill>
              </a:rPr>
              <a:t>D</a:t>
            </a:r>
            <a:r>
              <a:rPr lang="en-US" altLang="zh-CN" sz="2600" baseline="-25000">
                <a:solidFill>
                  <a:srgbClr val="003366"/>
                </a:solidFill>
              </a:rPr>
              <a:t>3</a:t>
            </a:r>
            <a:r>
              <a:rPr lang="en-US" altLang="zh-CN" sz="2600">
                <a:solidFill>
                  <a:srgbClr val="003366"/>
                </a:solidFill>
              </a:rPr>
              <a:t>={</a:t>
            </a:r>
            <a:r>
              <a:rPr lang="zh-CN" altLang="en-US" sz="2600">
                <a:solidFill>
                  <a:srgbClr val="003366"/>
                </a:solidFill>
              </a:rPr>
              <a:t>北京，上海</a:t>
            </a:r>
            <a:r>
              <a:rPr lang="en-US" altLang="zh-CN" sz="2600">
                <a:solidFill>
                  <a:srgbClr val="003366"/>
                </a:solidFill>
              </a:rPr>
              <a:t>}</a:t>
            </a:r>
            <a:r>
              <a:rPr lang="zh-CN" altLang="en-US" sz="2600">
                <a:solidFill>
                  <a:srgbClr val="003366"/>
                </a:solidFill>
              </a:rPr>
              <a:t>。</a:t>
            </a:r>
          </a:p>
          <a:p>
            <a:pPr marL="0" indent="0" eaLnBrk="1" hangingPunct="1">
              <a:lnSpc>
                <a:spcPct val="135000"/>
              </a:lnSpc>
              <a:spcBef>
                <a:spcPct val="40000"/>
              </a:spcBef>
              <a:defRPr/>
            </a:pPr>
            <a:r>
              <a:rPr lang="en-US" altLang="zh-CN" sz="2600"/>
              <a:t>D</a:t>
            </a:r>
            <a:r>
              <a:rPr lang="en-US" altLang="zh-CN" sz="2600" baseline="-25000"/>
              <a:t>1</a:t>
            </a:r>
            <a:r>
              <a:rPr lang="en-US" altLang="zh-CN" sz="2600"/>
              <a:t>×D</a:t>
            </a:r>
            <a:r>
              <a:rPr lang="en-US" altLang="zh-CN" sz="2600" baseline="-25000"/>
              <a:t>2</a:t>
            </a:r>
            <a:r>
              <a:rPr lang="en-US" altLang="zh-CN" sz="2600"/>
              <a:t>×D</a:t>
            </a:r>
            <a:r>
              <a:rPr lang="en-US" altLang="zh-CN" sz="2600" baseline="-25000"/>
              <a:t>3</a:t>
            </a:r>
            <a:r>
              <a:rPr lang="en-US" altLang="zh-CN" sz="2600"/>
              <a:t>=</a:t>
            </a:r>
          </a:p>
          <a:p>
            <a:pPr marL="0" indent="0" eaLnBrk="1" hangingPunct="1">
              <a:lnSpc>
                <a:spcPct val="135000"/>
              </a:lnSpc>
              <a:spcBef>
                <a:spcPct val="40000"/>
              </a:spcBef>
              <a:defRPr/>
            </a:pPr>
            <a:r>
              <a:rPr lang="en-US" altLang="zh-CN" sz="2600"/>
              <a:t>             {&lt;</a:t>
            </a:r>
            <a:r>
              <a:rPr lang="zh-CN" altLang="en-US" sz="2600"/>
              <a:t>李兵，男，北京</a:t>
            </a:r>
            <a:r>
              <a:rPr lang="en-US" altLang="zh-CN" sz="2600"/>
              <a:t>&gt;</a:t>
            </a:r>
            <a:r>
              <a:rPr lang="zh-CN" altLang="en-US" sz="2600"/>
              <a:t>，</a:t>
            </a:r>
            <a:r>
              <a:rPr lang="en-US" altLang="zh-CN" sz="2600"/>
              <a:t>&lt;</a:t>
            </a:r>
            <a:r>
              <a:rPr lang="zh-CN" altLang="en-US" sz="2600"/>
              <a:t>李兵，男，上海</a:t>
            </a:r>
            <a:r>
              <a:rPr lang="en-US" altLang="zh-CN" sz="2600"/>
              <a:t>&gt; </a:t>
            </a:r>
            <a:r>
              <a:rPr lang="zh-CN" altLang="en-US" sz="2600"/>
              <a:t>，</a:t>
            </a:r>
          </a:p>
          <a:p>
            <a:pPr marL="0" indent="0" eaLnBrk="1" hangingPunct="1">
              <a:lnSpc>
                <a:spcPct val="135000"/>
              </a:lnSpc>
              <a:defRPr/>
            </a:pPr>
            <a:r>
              <a:rPr lang="zh-CN" altLang="en-US" sz="2600"/>
              <a:t>　  　　   </a:t>
            </a:r>
            <a:r>
              <a:rPr lang="en-US" altLang="zh-CN" sz="2600"/>
              <a:t>&lt;</a:t>
            </a:r>
            <a:r>
              <a:rPr lang="zh-CN" altLang="en-US" sz="2600"/>
              <a:t>李兵，女，北京</a:t>
            </a:r>
            <a:r>
              <a:rPr lang="en-US" altLang="zh-CN" sz="2600"/>
              <a:t>&gt; </a:t>
            </a:r>
            <a:r>
              <a:rPr lang="zh-CN" altLang="en-US" sz="2600"/>
              <a:t>，</a:t>
            </a:r>
            <a:r>
              <a:rPr lang="en-US" altLang="zh-CN" sz="2600"/>
              <a:t>&lt;</a:t>
            </a:r>
            <a:r>
              <a:rPr lang="zh-CN" altLang="en-US" sz="2600"/>
              <a:t>李兵，女，上海</a:t>
            </a:r>
            <a:r>
              <a:rPr lang="en-US" altLang="zh-CN" sz="2600"/>
              <a:t>&gt; </a:t>
            </a:r>
            <a:r>
              <a:rPr lang="zh-CN" altLang="en-US" sz="2600"/>
              <a:t>，</a:t>
            </a:r>
          </a:p>
          <a:p>
            <a:pPr marL="0" indent="0" eaLnBrk="1" hangingPunct="1">
              <a:lnSpc>
                <a:spcPct val="135000"/>
              </a:lnSpc>
              <a:defRPr/>
            </a:pPr>
            <a:r>
              <a:rPr lang="zh-CN" altLang="en-US" sz="2600"/>
              <a:t>　　　     </a:t>
            </a:r>
            <a:r>
              <a:rPr lang="en-US" altLang="zh-CN" sz="2600"/>
              <a:t>&lt;</a:t>
            </a:r>
            <a:r>
              <a:rPr lang="zh-CN" altLang="en-US" sz="2600"/>
              <a:t>王芳，男，北京</a:t>
            </a:r>
            <a:r>
              <a:rPr lang="en-US" altLang="zh-CN" sz="2600"/>
              <a:t>&gt; </a:t>
            </a:r>
            <a:r>
              <a:rPr lang="zh-CN" altLang="en-US" sz="2600"/>
              <a:t>，</a:t>
            </a:r>
            <a:r>
              <a:rPr lang="en-US" altLang="zh-CN" sz="2600"/>
              <a:t>&lt;</a:t>
            </a:r>
            <a:r>
              <a:rPr lang="zh-CN" altLang="en-US" sz="2600"/>
              <a:t>王芳，男，上海</a:t>
            </a:r>
            <a:r>
              <a:rPr lang="en-US" altLang="zh-CN" sz="2600"/>
              <a:t>&gt; </a:t>
            </a:r>
            <a:r>
              <a:rPr lang="zh-CN" altLang="en-US" sz="2600"/>
              <a:t>，</a:t>
            </a:r>
          </a:p>
          <a:p>
            <a:pPr marL="0" indent="0" eaLnBrk="1" hangingPunct="1">
              <a:lnSpc>
                <a:spcPct val="135000"/>
              </a:lnSpc>
              <a:defRPr/>
            </a:pPr>
            <a:r>
              <a:rPr lang="zh-CN" altLang="en-US" sz="2600"/>
              <a:t>　　　     </a:t>
            </a:r>
            <a:r>
              <a:rPr lang="en-US" altLang="zh-CN" sz="2600"/>
              <a:t>&lt;</a:t>
            </a:r>
            <a:r>
              <a:rPr lang="zh-CN" altLang="en-US" sz="2600"/>
              <a:t>王芳，女，北京</a:t>
            </a:r>
            <a:r>
              <a:rPr lang="en-US" altLang="zh-CN" sz="2600"/>
              <a:t>&gt; </a:t>
            </a:r>
            <a:r>
              <a:rPr lang="zh-CN" altLang="en-US" sz="2600"/>
              <a:t>，</a:t>
            </a:r>
            <a:r>
              <a:rPr lang="en-US" altLang="zh-CN" sz="2600"/>
              <a:t>&lt;</a:t>
            </a:r>
            <a:r>
              <a:rPr lang="zh-CN" altLang="en-US" sz="2600"/>
              <a:t>王芳，女，上海</a:t>
            </a:r>
            <a:r>
              <a:rPr lang="en-US" altLang="zh-CN" sz="2600"/>
              <a:t>&gt;}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2600"/>
              <a:t>    </a:t>
            </a:r>
            <a:r>
              <a:rPr lang="zh-CN" altLang="en-US" sz="2600">
                <a:solidFill>
                  <a:srgbClr val="003366"/>
                </a:solidFill>
              </a:rPr>
              <a:t>且基数为</a:t>
            </a:r>
            <a:r>
              <a:rPr lang="en-US" altLang="zh-CN" sz="2600">
                <a:solidFill>
                  <a:srgbClr val="003366"/>
                </a:solidFill>
              </a:rPr>
              <a:t>2×2×2=8</a:t>
            </a:r>
            <a:r>
              <a:rPr lang="zh-CN" altLang="en-US" sz="2600">
                <a:solidFill>
                  <a:srgbClr val="003366"/>
                </a:solidFill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ransition advTm="8829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4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4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4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4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4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4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74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4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45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>
            <a:extLst>
              <a:ext uri="{FF2B5EF4-FFF2-40B4-BE49-F238E27FC236}">
                <a16:creationId xmlns:a16="http://schemas.microsoft.com/office/drawing/2014/main" id="{81C3CAB1-D3F2-4AA3-AF5B-E2CFCFDE9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一、笛卡儿积的数学定义</a:t>
            </a:r>
          </a:p>
        </p:txBody>
      </p:sp>
      <p:sp>
        <p:nvSpPr>
          <p:cNvPr id="746499" name="Rectangle 3">
            <a:extLst>
              <a:ext uri="{FF2B5EF4-FFF2-40B4-BE49-F238E27FC236}">
                <a16:creationId xmlns:a16="http://schemas.microsoft.com/office/drawing/2014/main" id="{C5C964FF-479F-4312-B8BC-2CDB372947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137525" cy="10795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defRPr/>
            </a:pPr>
            <a:r>
              <a:rPr lang="zh-CN" altLang="en-US"/>
              <a:t>       分析上述例</a:t>
            </a:r>
            <a:r>
              <a:rPr lang="en-US" altLang="zh-CN"/>
              <a:t>2</a:t>
            </a:r>
            <a:r>
              <a:rPr lang="zh-CN" altLang="en-US"/>
              <a:t>中的笛卡儿积结果可知，可将其表示成一个具有</a:t>
            </a:r>
            <a:r>
              <a:rPr lang="en-US" altLang="zh-CN"/>
              <a:t>8</a:t>
            </a:r>
            <a:r>
              <a:rPr lang="zh-CN" altLang="en-US"/>
              <a:t>个元组的二维表。</a:t>
            </a:r>
          </a:p>
        </p:txBody>
      </p:sp>
      <p:graphicFrame>
        <p:nvGraphicFramePr>
          <p:cNvPr id="746631" name="Group 135">
            <a:extLst>
              <a:ext uri="{FF2B5EF4-FFF2-40B4-BE49-F238E27FC236}">
                <a16:creationId xmlns:a16="http://schemas.microsoft.com/office/drawing/2014/main" id="{E6EA926C-E848-4CE0-BD92-E61D2B9A013B}"/>
              </a:ext>
            </a:extLst>
          </p:cNvPr>
          <p:cNvGraphicFramePr>
            <a:graphicFrameLocks noGrp="1"/>
          </p:cNvGraphicFramePr>
          <p:nvPr/>
        </p:nvGraphicFramePr>
        <p:xfrm>
          <a:off x="1619250" y="2276475"/>
          <a:ext cx="6121400" cy="4251525"/>
        </p:xfrm>
        <a:graphic>
          <a:graphicData uri="http://schemas.openxmlformats.org/drawingml/2006/table">
            <a:tbl>
              <a:tblPr/>
              <a:tblGrid>
                <a:gridCol w="191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03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姓名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性别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籍贯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Tm="390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4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4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499" grpId="0" uiExpand="1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20" name="Rectangle 4">
            <a:extLst>
              <a:ext uri="{FF2B5EF4-FFF2-40B4-BE49-F238E27FC236}">
                <a16:creationId xmlns:a16="http://schemas.microsoft.com/office/drawing/2014/main" id="{39BFD8B1-6B46-4022-AE66-074B13B31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二、关系的数学定义</a:t>
            </a:r>
          </a:p>
        </p:txBody>
      </p:sp>
      <p:sp>
        <p:nvSpPr>
          <p:cNvPr id="854022" name="Rectangle 6">
            <a:extLst>
              <a:ext uri="{FF2B5EF4-FFF2-40B4-BE49-F238E27FC236}">
                <a16:creationId xmlns:a16="http://schemas.microsoft.com/office/drawing/2014/main" id="{2C68744D-60B8-4A71-A7B0-43E740E7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3382962" cy="53387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10000"/>
              </a:spcBef>
              <a:defRPr/>
            </a:pPr>
            <a:r>
              <a:rPr lang="zh-CN" altLang="en-US"/>
              <a:t>      </a:t>
            </a:r>
            <a:r>
              <a:rPr lang="zh-CN" altLang="en-US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考察</a:t>
            </a:r>
            <a:r>
              <a:rPr lang="zh-CN" altLang="en-US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</a:t>
            </a:r>
            <a:r>
              <a:rPr lang="zh-CN" altLang="en-US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中用表格表示的根据笛卡儿定义所得的结果可知，其内容是难以符合现实中的实际情况的。</a:t>
            </a:r>
          </a:p>
        </p:txBody>
      </p:sp>
      <p:graphicFrame>
        <p:nvGraphicFramePr>
          <p:cNvPr id="854023" name="Group 7">
            <a:extLst>
              <a:ext uri="{FF2B5EF4-FFF2-40B4-BE49-F238E27FC236}">
                <a16:creationId xmlns:a16="http://schemas.microsoft.com/office/drawing/2014/main" id="{D7BA7B76-DFFC-4A9A-B897-A1D85A163F0F}"/>
              </a:ext>
            </a:extLst>
          </p:cNvPr>
          <p:cNvGraphicFramePr>
            <a:graphicFrameLocks noGrp="1"/>
          </p:cNvGraphicFramePr>
          <p:nvPr/>
        </p:nvGraphicFramePr>
        <p:xfrm>
          <a:off x="4179888" y="1341438"/>
          <a:ext cx="4537075" cy="4251525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03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姓名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性别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籍贯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54065" name="Text Box 49">
            <a:extLst>
              <a:ext uri="{FF2B5EF4-FFF2-40B4-BE49-F238E27FC236}">
                <a16:creationId xmlns:a16="http://schemas.microsoft.com/office/drawing/2014/main" id="{6B30ED6C-E36B-4A3D-BE0B-B5218F676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8" y="5734050"/>
            <a:ext cx="2305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336600"/>
                </a:solidFill>
              </a:rPr>
              <a:t>例</a:t>
            </a:r>
            <a:r>
              <a:rPr lang="en-US" altLang="zh-CN" b="1">
                <a:solidFill>
                  <a:srgbClr val="336600"/>
                </a:solidFill>
              </a:rPr>
              <a:t>2.1 </a:t>
            </a:r>
            <a:r>
              <a:rPr lang="zh-CN" altLang="en-US" b="1">
                <a:solidFill>
                  <a:srgbClr val="336600"/>
                </a:solidFill>
              </a:rPr>
              <a:t>的笛卡儿结果</a:t>
            </a:r>
            <a:endParaRPr lang="en-US" altLang="zh-CN" b="1">
              <a:solidFill>
                <a:srgbClr val="3366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299"/>
    </mc:Choice>
    <mc:Fallback xmlns="">
      <p:transition spd="slow" advTm="482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54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85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406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8" name="Rectangle 4">
            <a:extLst>
              <a:ext uri="{FF2B5EF4-FFF2-40B4-BE49-F238E27FC236}">
                <a16:creationId xmlns:a16="http://schemas.microsoft.com/office/drawing/2014/main" id="{80EF21B1-C161-490A-873D-F86DC22E3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二、关系的数学定义</a:t>
            </a:r>
          </a:p>
        </p:txBody>
      </p:sp>
      <p:sp>
        <p:nvSpPr>
          <p:cNvPr id="850951" name="Rectangle 7">
            <a:extLst>
              <a:ext uri="{FF2B5EF4-FFF2-40B4-BE49-F238E27FC236}">
                <a16:creationId xmlns:a16="http://schemas.microsoft.com/office/drawing/2014/main" id="{19EA2ADA-3D0F-4B3A-9266-347205201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565525"/>
            <a:ext cx="2232025" cy="863600"/>
          </a:xfrm>
          <a:prstGeom prst="rect">
            <a:avLst/>
          </a:prstGeom>
          <a:gradFill rotWithShape="1">
            <a:gsLst>
              <a:gs pos="0">
                <a:srgbClr val="0066FF">
                  <a:gamma/>
                  <a:shade val="50980"/>
                  <a:invGamma/>
                </a:srgbClr>
              </a:gs>
              <a:gs pos="50000">
                <a:srgbClr val="0066FF"/>
              </a:gs>
              <a:gs pos="100000">
                <a:srgbClr val="0066FF">
                  <a:gamma/>
                  <a:shade val="50980"/>
                  <a:invGamma/>
                </a:srgbClr>
              </a:gs>
            </a:gsLst>
            <a:lin ang="2700000" scaled="1"/>
          </a:gradFill>
          <a:ln w="25400" cap="sq">
            <a:solidFill>
              <a:srgbClr val="003366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有意义！</a:t>
            </a:r>
          </a:p>
        </p:txBody>
      </p:sp>
      <p:graphicFrame>
        <p:nvGraphicFramePr>
          <p:cNvPr id="850993" name="Group 49">
            <a:extLst>
              <a:ext uri="{FF2B5EF4-FFF2-40B4-BE49-F238E27FC236}">
                <a16:creationId xmlns:a16="http://schemas.microsoft.com/office/drawing/2014/main" id="{AA65FA9F-5588-4BA2-8B9E-037FF91DC2AC}"/>
              </a:ext>
            </a:extLst>
          </p:cNvPr>
          <p:cNvGraphicFramePr>
            <a:graphicFrameLocks noGrp="1"/>
          </p:cNvGraphicFramePr>
          <p:nvPr/>
        </p:nvGraphicFramePr>
        <p:xfrm>
          <a:off x="3417888" y="2413000"/>
          <a:ext cx="4824412" cy="1463778"/>
        </p:xfrm>
        <a:graphic>
          <a:graphicData uri="http://schemas.openxmlformats.org/drawingml/2006/table">
            <a:tbl>
              <a:tblPr/>
              <a:tblGrid>
                <a:gridCol w="1512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2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姓名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性别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籍贯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19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19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0995" name="Group 51">
            <a:extLst>
              <a:ext uri="{FF2B5EF4-FFF2-40B4-BE49-F238E27FC236}">
                <a16:creationId xmlns:a16="http://schemas.microsoft.com/office/drawing/2014/main" id="{6E16CFC6-AB01-4025-A8CD-AC44F691D512}"/>
              </a:ext>
            </a:extLst>
          </p:cNvPr>
          <p:cNvGraphicFramePr>
            <a:graphicFrameLocks noGrp="1"/>
          </p:cNvGraphicFramePr>
          <p:nvPr/>
        </p:nvGraphicFramePr>
        <p:xfrm>
          <a:off x="3851275" y="4141788"/>
          <a:ext cx="4824413" cy="1485900"/>
        </p:xfrm>
        <a:graphic>
          <a:graphicData uri="http://schemas.openxmlformats.org/drawingml/2006/table">
            <a:tbl>
              <a:tblPr/>
              <a:tblGrid>
                <a:gridCol w="151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3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姓名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性别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籍贯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99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李兵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男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上海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99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王芳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北京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0988" name="AutoShape 44">
            <a:extLst>
              <a:ext uri="{FF2B5EF4-FFF2-40B4-BE49-F238E27FC236}">
                <a16:creationId xmlns:a16="http://schemas.microsoft.com/office/drawing/2014/main" id="{4E1DC69C-CEE3-4873-AF6F-D6F98C92955D}"/>
              </a:ext>
            </a:extLst>
          </p:cNvPr>
          <p:cNvSpPr>
            <a:spLocks noChangeArrowheads="1"/>
          </p:cNvSpPr>
          <p:nvPr/>
        </p:nvSpPr>
        <p:spPr bwMode="auto">
          <a:xfrm rot="-1678096">
            <a:off x="2409825" y="3060700"/>
            <a:ext cx="1023938" cy="363538"/>
          </a:xfrm>
          <a:prstGeom prst="notchedRightArrow">
            <a:avLst>
              <a:gd name="adj1" fmla="val 50000"/>
              <a:gd name="adj2" fmla="val 70415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89" name="AutoShape 45">
            <a:extLst>
              <a:ext uri="{FF2B5EF4-FFF2-40B4-BE49-F238E27FC236}">
                <a16:creationId xmlns:a16="http://schemas.microsoft.com/office/drawing/2014/main" id="{6F3793AF-20B8-475C-9B2E-DF582D44E6AB}"/>
              </a:ext>
            </a:extLst>
          </p:cNvPr>
          <p:cNvSpPr>
            <a:spLocks noChangeArrowheads="1"/>
          </p:cNvSpPr>
          <p:nvPr/>
        </p:nvSpPr>
        <p:spPr bwMode="auto">
          <a:xfrm rot="1796655">
            <a:off x="2698750" y="4357688"/>
            <a:ext cx="1023938" cy="363537"/>
          </a:xfrm>
          <a:prstGeom prst="notchedRightArrow">
            <a:avLst>
              <a:gd name="adj1" fmla="val 50000"/>
              <a:gd name="adj2" fmla="val 70415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91" name="Rectangle 47">
            <a:extLst>
              <a:ext uri="{FF2B5EF4-FFF2-40B4-BE49-F238E27FC236}">
                <a16:creationId xmlns:a16="http://schemas.microsoft.com/office/drawing/2014/main" id="{545C261E-6EFC-4DE9-A82E-8C81E3F15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80400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defRPr/>
            </a:pPr>
            <a:r>
              <a:rPr lang="zh-CN" altLang="en-US">
                <a:solidFill>
                  <a:srgbClr val="003366"/>
                </a:solidFill>
              </a:rPr>
              <a:t>       在实际中，只有取该表格中的一部分元组，其元组值才可能有意义。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86"/>
    </mc:Choice>
    <mc:Fallback xmlns="">
      <p:transition spd="slow" advTm="260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850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850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5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5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5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5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9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6" name="Rectangle 4">
            <a:extLst>
              <a:ext uri="{FF2B5EF4-FFF2-40B4-BE49-F238E27FC236}">
                <a16:creationId xmlns:a16="http://schemas.microsoft.com/office/drawing/2014/main" id="{91FC098C-613A-420F-989B-B8D1C4E72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二、关系的数学定义</a:t>
            </a:r>
          </a:p>
        </p:txBody>
      </p:sp>
      <p:sp>
        <p:nvSpPr>
          <p:cNvPr id="899077" name="Rectangle 5">
            <a:extLst>
              <a:ext uri="{FF2B5EF4-FFF2-40B4-BE49-F238E27FC236}">
                <a16:creationId xmlns:a16="http://schemas.microsoft.com/office/drawing/2014/main" id="{A5B45103-7561-4E58-BB07-96CE0DA87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defRPr/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、关系的数学定义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defRPr/>
            </a:pPr>
            <a:r>
              <a:rPr lang="zh-CN" altLang="en-US"/>
              <a:t>　   </a:t>
            </a: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2.2</a:t>
            </a:r>
            <a:r>
              <a:rPr lang="en-US" altLang="zh-CN"/>
              <a:t>  </a:t>
            </a:r>
            <a:r>
              <a:rPr lang="zh-CN" altLang="en-US"/>
              <a:t>笛卡儿积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en-US" altLang="zh-CN"/>
              <a:t>×D</a:t>
            </a:r>
            <a:r>
              <a:rPr lang="en-US" altLang="zh-CN" baseline="-25000"/>
              <a:t>2</a:t>
            </a:r>
            <a:r>
              <a:rPr kumimoji="1" lang="en-US" altLang="zh-CN">
                <a:effectLst/>
              </a:rPr>
              <a:t>×</a:t>
            </a:r>
            <a:r>
              <a:rPr kumimoji="1" lang="en-US" altLang="zh-CN">
                <a:effectLst/>
                <a:sym typeface="Symbol" panose="05050102010706020507" pitchFamily="18" charset="2"/>
              </a:rPr>
              <a:t></a:t>
            </a:r>
            <a:r>
              <a:rPr kumimoji="1" lang="en-US" altLang="zh-CN">
                <a:effectLst/>
              </a:rPr>
              <a:t>×D</a:t>
            </a:r>
            <a:r>
              <a:rPr kumimoji="1" lang="en-US" altLang="zh-CN" baseline="-25000">
                <a:effectLst/>
              </a:rPr>
              <a:t>n</a:t>
            </a:r>
            <a:r>
              <a:rPr lang="zh-CN" altLang="en-US"/>
              <a:t>的任一子集称为在域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n</a:t>
            </a:r>
            <a:r>
              <a:rPr lang="zh-CN" altLang="en-US"/>
              <a:t>上的关系。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defRPr/>
            </a:pPr>
            <a:r>
              <a:rPr lang="zh-CN" altLang="en-US"/>
              <a:t>　   </a:t>
            </a:r>
            <a:r>
              <a:rPr lang="zh-CN" altLang="en-US">
                <a:solidFill>
                  <a:srgbClr val="660033"/>
                </a:solidFill>
                <a:ea typeface="黑体" panose="02010609060101010101" pitchFamily="49" charset="-122"/>
              </a:rPr>
              <a:t>其中，</a:t>
            </a:r>
            <a:r>
              <a:rPr lang="zh-CN" altLang="en-US"/>
              <a:t>值域集合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n</a:t>
            </a:r>
            <a:r>
              <a:rPr lang="zh-CN" altLang="en-US"/>
              <a:t>是关系中元组的取值范围，称为关系的</a:t>
            </a:r>
            <a:r>
              <a:rPr lang="zh-CN" altLang="en-US">
                <a:solidFill>
                  <a:schemeClr val="folHlink"/>
                </a:solidFill>
              </a:rPr>
              <a:t>域</a:t>
            </a:r>
            <a:r>
              <a:rPr lang="zh-CN" altLang="en-US"/>
              <a:t>（</a:t>
            </a:r>
            <a:r>
              <a:rPr lang="en-US" altLang="zh-CN"/>
              <a:t>Domain</a:t>
            </a:r>
            <a:r>
              <a:rPr lang="zh-CN" altLang="en-US"/>
              <a:t>），</a:t>
            </a:r>
            <a:r>
              <a:rPr lang="en-US" altLang="zh-CN"/>
              <a:t>n</a:t>
            </a:r>
            <a:r>
              <a:rPr lang="zh-CN" altLang="en-US"/>
              <a:t>称为关系的</a:t>
            </a:r>
            <a:r>
              <a:rPr lang="zh-CN" altLang="en-US">
                <a:solidFill>
                  <a:schemeClr val="folHlink"/>
                </a:solidFill>
              </a:rPr>
              <a:t>目</a:t>
            </a:r>
            <a:r>
              <a:rPr lang="zh-CN" altLang="en-US"/>
              <a:t>或关系的</a:t>
            </a:r>
            <a:r>
              <a:rPr lang="zh-CN" altLang="en-US">
                <a:solidFill>
                  <a:schemeClr val="folHlink"/>
                </a:solidFill>
              </a:rPr>
              <a:t>度</a:t>
            </a:r>
            <a:r>
              <a:rPr lang="zh-CN" altLang="en-US"/>
              <a:t>（</a:t>
            </a:r>
            <a:r>
              <a:rPr lang="en-US" altLang="zh-CN"/>
              <a:t>Degree</a:t>
            </a:r>
            <a:r>
              <a:rPr lang="zh-CN" altLang="en-US"/>
              <a:t>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626"/>
    </mc:Choice>
    <mc:Fallback xmlns="">
      <p:transition spd="slow" advTm="100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99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99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99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00" name="Rectangle 4">
            <a:extLst>
              <a:ext uri="{FF2B5EF4-FFF2-40B4-BE49-F238E27FC236}">
                <a16:creationId xmlns:a16="http://schemas.microsoft.com/office/drawing/2014/main" id="{DD6C31B7-992C-4A40-A9B9-3765EB039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二、关系的数学定义</a:t>
            </a:r>
          </a:p>
        </p:txBody>
      </p:sp>
      <p:sp>
        <p:nvSpPr>
          <p:cNvPr id="900101" name="AutoShape 5">
            <a:extLst>
              <a:ext uri="{FF2B5EF4-FFF2-40B4-BE49-F238E27FC236}">
                <a16:creationId xmlns:a16="http://schemas.microsoft.com/office/drawing/2014/main" id="{46107E71-9F3C-48D9-AA2E-ECAEC366E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868863"/>
            <a:ext cx="2881313" cy="1079500"/>
          </a:xfrm>
          <a:prstGeom prst="wedgeRoundRectCallout">
            <a:avLst>
              <a:gd name="adj1" fmla="val 30329"/>
              <a:gd name="adj2" fmla="val -120736"/>
              <a:gd name="adj3" fmla="val 16667"/>
            </a:avLst>
          </a:prstGeom>
          <a:gradFill rotWithShape="1">
            <a:gsLst>
              <a:gs pos="0">
                <a:schemeClr val="accent1">
                  <a:gamma/>
                  <a:shade val="69804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12700" cap="sq">
            <a:solidFill>
              <a:srgbClr val="006600"/>
            </a:solidFill>
            <a:miter lim="800000"/>
            <a:headEnd type="none" w="sm" len="sm"/>
            <a:tailEnd type="none" w="sm" len="sm"/>
          </a:ln>
          <a:effectLst/>
        </p:spPr>
        <p:txBody>
          <a:bodyPr lIns="54000" rIns="54000" anchor="ctr"/>
          <a:lstStyle/>
          <a:p>
            <a:pPr eaLnBrk="1" hangingPunct="1">
              <a:defRPr/>
            </a:pPr>
            <a:r>
              <a:rPr lang="en-US" altLang="zh-CN" sz="2400" b="1">
                <a:solidFill>
                  <a:srgbClr val="003366"/>
                </a:solidFill>
              </a:rPr>
              <a:t>n=2</a:t>
            </a:r>
            <a:r>
              <a:rPr lang="zh-CN" altLang="en-US" sz="2400" b="1">
                <a:solidFill>
                  <a:srgbClr val="003366"/>
                </a:solidFill>
              </a:rPr>
              <a:t>时，二元关系</a:t>
            </a:r>
          </a:p>
          <a:p>
            <a:pPr eaLnBrk="1" hangingPunct="1">
              <a:defRPr/>
            </a:pPr>
            <a:r>
              <a:rPr lang="en-US" altLang="zh-CN" sz="2400" b="1">
                <a:solidFill>
                  <a:srgbClr val="003366"/>
                </a:solidFill>
              </a:rPr>
              <a:t>n=m</a:t>
            </a:r>
            <a:r>
              <a:rPr lang="zh-CN" altLang="en-US" sz="2400" b="1">
                <a:solidFill>
                  <a:srgbClr val="003366"/>
                </a:solidFill>
              </a:rPr>
              <a:t>时，</a:t>
            </a:r>
            <a:r>
              <a:rPr lang="en-US" altLang="zh-CN" sz="2400" b="1">
                <a:solidFill>
                  <a:srgbClr val="003366"/>
                </a:solidFill>
              </a:rPr>
              <a:t>m</a:t>
            </a:r>
            <a:r>
              <a:rPr lang="zh-CN" altLang="en-US" sz="2400" b="1">
                <a:solidFill>
                  <a:srgbClr val="003366"/>
                </a:solidFill>
              </a:rPr>
              <a:t>元关系</a:t>
            </a:r>
          </a:p>
        </p:txBody>
      </p:sp>
      <p:sp>
        <p:nvSpPr>
          <p:cNvPr id="900102" name="Rectangle 6">
            <a:extLst>
              <a:ext uri="{FF2B5EF4-FFF2-40B4-BE49-F238E27FC236}">
                <a16:creationId xmlns:a16="http://schemas.microsoft.com/office/drawing/2014/main" id="{6F319D72-FF8B-407D-A55C-E06332E72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370998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defRPr/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、关系的数学定义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defRPr/>
            </a:pPr>
            <a:r>
              <a:rPr lang="zh-CN" altLang="en-US"/>
              <a:t>　   </a:t>
            </a: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2.2</a:t>
            </a:r>
            <a:r>
              <a:rPr lang="en-US" altLang="zh-CN"/>
              <a:t>  </a:t>
            </a:r>
            <a:r>
              <a:rPr lang="zh-CN" altLang="en-US"/>
              <a:t>笛卡儿积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en-US" altLang="zh-CN"/>
              <a:t>×D</a:t>
            </a:r>
            <a:r>
              <a:rPr lang="en-US" altLang="zh-CN" baseline="-25000"/>
              <a:t>2</a:t>
            </a:r>
            <a:r>
              <a:rPr kumimoji="1" lang="en-US" altLang="zh-CN">
                <a:effectLst/>
              </a:rPr>
              <a:t>×</a:t>
            </a:r>
            <a:r>
              <a:rPr kumimoji="1" lang="en-US" altLang="zh-CN">
                <a:effectLst/>
                <a:sym typeface="Symbol" panose="05050102010706020507" pitchFamily="18" charset="2"/>
              </a:rPr>
              <a:t></a:t>
            </a:r>
            <a:r>
              <a:rPr kumimoji="1" lang="en-US" altLang="zh-CN">
                <a:effectLst/>
              </a:rPr>
              <a:t>×D</a:t>
            </a:r>
            <a:r>
              <a:rPr kumimoji="1" lang="en-US" altLang="zh-CN" baseline="-25000">
                <a:effectLst/>
              </a:rPr>
              <a:t>n</a:t>
            </a:r>
            <a:r>
              <a:rPr lang="zh-CN" altLang="en-US"/>
              <a:t>的任一子集称为在域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n</a:t>
            </a:r>
            <a:r>
              <a:rPr lang="zh-CN" altLang="en-US"/>
              <a:t>上的关系。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defRPr/>
            </a:pPr>
            <a:r>
              <a:rPr lang="zh-CN" altLang="en-US"/>
              <a:t>　   </a:t>
            </a:r>
            <a:r>
              <a:rPr lang="zh-CN" altLang="en-US">
                <a:solidFill>
                  <a:srgbClr val="660033"/>
                </a:solidFill>
                <a:ea typeface="黑体" panose="02010609060101010101" pitchFamily="49" charset="-122"/>
              </a:rPr>
              <a:t>其中，</a:t>
            </a:r>
            <a:r>
              <a:rPr lang="zh-CN" altLang="en-US"/>
              <a:t>值域集合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n</a:t>
            </a:r>
            <a:r>
              <a:rPr lang="zh-CN" altLang="en-US"/>
              <a:t>是关系中元组的取值范围，称为关系的</a:t>
            </a:r>
            <a:r>
              <a:rPr lang="zh-CN" altLang="en-US">
                <a:solidFill>
                  <a:schemeClr val="folHlink"/>
                </a:solidFill>
              </a:rPr>
              <a:t>域</a:t>
            </a:r>
            <a:r>
              <a:rPr lang="zh-CN" altLang="en-US"/>
              <a:t>（</a:t>
            </a:r>
            <a:r>
              <a:rPr lang="en-US" altLang="zh-CN"/>
              <a:t>Domain</a:t>
            </a:r>
            <a:r>
              <a:rPr lang="zh-CN" altLang="en-US"/>
              <a:t>），</a:t>
            </a:r>
            <a:r>
              <a:rPr lang="en-US" altLang="zh-CN"/>
              <a:t>n</a:t>
            </a:r>
            <a:r>
              <a:rPr lang="zh-CN" altLang="en-US"/>
              <a:t>称为关系的</a:t>
            </a:r>
            <a:r>
              <a:rPr lang="zh-CN" altLang="en-US">
                <a:solidFill>
                  <a:schemeClr val="folHlink"/>
                </a:solidFill>
              </a:rPr>
              <a:t>目</a:t>
            </a:r>
            <a:r>
              <a:rPr lang="zh-CN" altLang="en-US"/>
              <a:t>或关系的</a:t>
            </a:r>
            <a:r>
              <a:rPr lang="zh-CN" altLang="en-US">
                <a:solidFill>
                  <a:schemeClr val="folHlink"/>
                </a:solidFill>
              </a:rPr>
              <a:t>度</a:t>
            </a:r>
            <a:r>
              <a:rPr lang="zh-CN" altLang="en-US"/>
              <a:t>（</a:t>
            </a:r>
            <a:r>
              <a:rPr lang="en-US" altLang="zh-CN"/>
              <a:t>Degree</a:t>
            </a:r>
            <a:r>
              <a:rPr lang="zh-CN" altLang="en-US"/>
              <a:t>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80"/>
    </mc:Choice>
    <mc:Fallback xmlns="">
      <p:transition spd="slow" advTm="1278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Rectangle 2">
            <a:extLst>
              <a:ext uri="{FF2B5EF4-FFF2-40B4-BE49-F238E27FC236}">
                <a16:creationId xmlns:a16="http://schemas.microsoft.com/office/drawing/2014/main" id="{9FBD921D-FCE2-4BB5-A239-C53291E8D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三、关系的性质</a:t>
            </a:r>
          </a:p>
        </p:txBody>
      </p:sp>
      <p:sp>
        <p:nvSpPr>
          <p:cNvPr id="750636" name="Rectangle 44">
            <a:extLst>
              <a:ext uri="{FF2B5EF4-FFF2-40B4-BE49-F238E27FC236}">
                <a16:creationId xmlns:a16="http://schemas.microsoft.com/office/drawing/2014/main" id="{C1CF8A7C-78D5-4D20-82D8-796C34625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43000"/>
            <a:ext cx="8267700" cy="53387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sz="32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、关系的性质</a:t>
            </a:r>
            <a:r>
              <a:rPr lang="zh-CN" altLang="en-US" sz="3000">
                <a:solidFill>
                  <a:srgbClr val="660033"/>
                </a:solidFill>
              </a:rPr>
              <a:t>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/>
              <a:t>         （</a:t>
            </a:r>
            <a:r>
              <a:rPr lang="en-US" altLang="zh-CN" sz="3000"/>
              <a:t>1</a:t>
            </a:r>
            <a:r>
              <a:rPr lang="zh-CN" altLang="en-US" sz="3000"/>
              <a:t>）关系中的每个属性值都是不可再分的数据单位，即关系表中不能再有子表；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/>
              <a:t>         </a:t>
            </a:r>
            <a:r>
              <a:rPr lang="zh-CN" altLang="en-US" sz="3000">
                <a:solidFill>
                  <a:srgbClr val="003366"/>
                </a:solidFill>
              </a:rPr>
              <a:t>（</a:t>
            </a:r>
            <a:r>
              <a:rPr lang="en-US" altLang="zh-CN" sz="3000">
                <a:solidFill>
                  <a:srgbClr val="003366"/>
                </a:solidFill>
              </a:rPr>
              <a:t>2</a:t>
            </a:r>
            <a:r>
              <a:rPr lang="zh-CN" altLang="en-US" sz="3000">
                <a:solidFill>
                  <a:srgbClr val="003366"/>
                </a:solidFill>
              </a:rPr>
              <a:t>）关系中任意两行不能完全相同，即关系中不允许出现相同的元组；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/>
              <a:t>         （</a:t>
            </a:r>
            <a:r>
              <a:rPr lang="en-US" altLang="zh-CN" sz="3000"/>
              <a:t>3</a:t>
            </a:r>
            <a:r>
              <a:rPr lang="zh-CN" altLang="en-US" sz="3000"/>
              <a:t>）关系是一个元组的集合，所以关系中元组间的顺序可以任意；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/>
              <a:t>         </a:t>
            </a:r>
            <a:r>
              <a:rPr lang="zh-CN" altLang="en-US" sz="3000">
                <a:solidFill>
                  <a:srgbClr val="003366"/>
                </a:solidFill>
              </a:rPr>
              <a:t>（</a:t>
            </a:r>
            <a:r>
              <a:rPr lang="en-US" altLang="zh-CN" sz="3000">
                <a:solidFill>
                  <a:srgbClr val="003366"/>
                </a:solidFill>
              </a:rPr>
              <a:t>4</a:t>
            </a:r>
            <a:r>
              <a:rPr lang="zh-CN" altLang="en-US" sz="3000">
                <a:solidFill>
                  <a:srgbClr val="003366"/>
                </a:solidFill>
              </a:rPr>
              <a:t>）每一个关系都有一个主键，用于唯一地标识它的各个元组。</a:t>
            </a:r>
          </a:p>
        </p:txBody>
      </p:sp>
    </p:spTree>
  </p:cSld>
  <p:clrMapOvr>
    <a:masterClrMapping/>
  </p:clrMapOvr>
  <p:transition advTm="258033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7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67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1|23.7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11225</TotalTime>
  <Words>1305</Words>
  <Application>Microsoft Office PowerPoint</Application>
  <PresentationFormat>全屏显示(4:3)</PresentationFormat>
  <Paragraphs>148</Paragraphs>
  <Slides>15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仿宋_GB2312</vt:lpstr>
      <vt:lpstr>黑体</vt:lpstr>
      <vt:lpstr>华文隶书</vt:lpstr>
      <vt:lpstr>华文新魏</vt:lpstr>
      <vt:lpstr>楷体_GB2312</vt:lpstr>
      <vt:lpstr>隶书</vt:lpstr>
      <vt:lpstr>Arial</vt:lpstr>
      <vt:lpstr>Tahoma</vt:lpstr>
      <vt:lpstr>Times New Roman</vt:lpstr>
      <vt:lpstr>Wingdings</vt:lpstr>
      <vt:lpstr>Blends</vt:lpstr>
      <vt:lpstr>公式</vt:lpstr>
      <vt:lpstr>第2章  关系运算</vt:lpstr>
      <vt:lpstr>学习关系运算的意义</vt:lpstr>
      <vt:lpstr>PowerPoint 演示文稿</vt:lpstr>
      <vt:lpstr>2.1  关系的数学定义</vt:lpstr>
      <vt:lpstr>一、笛卡儿积的数学定义</vt:lpstr>
      <vt:lpstr>PowerPoint 演示文稿</vt:lpstr>
      <vt:lpstr>PowerPoint 演示文稿</vt:lpstr>
      <vt:lpstr>一、笛卡儿积的数学定义</vt:lpstr>
      <vt:lpstr>一、笛卡儿积的数学定义</vt:lpstr>
      <vt:lpstr>一、笛卡儿积的数学定义</vt:lpstr>
      <vt:lpstr>PowerPoint 演示文稿</vt:lpstr>
      <vt:lpstr>PowerPoint 演示文稿</vt:lpstr>
      <vt:lpstr>PowerPoint 演示文稿</vt:lpstr>
      <vt:lpstr>PowerPoint 演示文稿</vt:lpstr>
      <vt:lpstr>三、关系的性质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741</cp:revision>
  <cp:lastPrinted>2000-08-23T09:10:16Z</cp:lastPrinted>
  <dcterms:created xsi:type="dcterms:W3CDTF">1601-01-01T00:00:00Z</dcterms:created>
  <dcterms:modified xsi:type="dcterms:W3CDTF">2021-03-07T11:17:30Z</dcterms:modified>
</cp:coreProperties>
</file>