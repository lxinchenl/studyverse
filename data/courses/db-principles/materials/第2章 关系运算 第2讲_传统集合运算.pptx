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671" r:id="rId2"/>
    <p:sldId id="676" r:id="rId3"/>
    <p:sldId id="673" r:id="rId4"/>
    <p:sldId id="745" r:id="rId5"/>
    <p:sldId id="677" r:id="rId6"/>
    <p:sldId id="679" r:id="rId7"/>
    <p:sldId id="746" r:id="rId8"/>
    <p:sldId id="678" r:id="rId9"/>
    <p:sldId id="680" r:id="rId10"/>
    <p:sldId id="747" r:id="rId11"/>
    <p:sldId id="681" r:id="rId12"/>
    <p:sldId id="682" r:id="rId13"/>
    <p:sldId id="769" r:id="rId14"/>
    <p:sldId id="748" r:id="rId15"/>
    <p:sldId id="683" r:id="rId16"/>
    <p:sldId id="750" r:id="rId17"/>
    <p:sldId id="685" r:id="rId18"/>
  </p:sldIdLst>
  <p:sldSz cx="9144000" cy="6858000" type="screen4x3"/>
  <p:notesSz cx="6662738" cy="98329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99"/>
    <a:srgbClr val="FF00FF"/>
    <a:srgbClr val="99FF33"/>
    <a:srgbClr val="66FFFF"/>
    <a:srgbClr val="006666"/>
    <a:srgbClr val="00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3186" autoAdjust="0"/>
  </p:normalViewPr>
  <p:slideViewPr>
    <p:cSldViewPr>
      <p:cViewPr varScale="1">
        <p:scale>
          <a:sx n="109" d="100"/>
          <a:sy n="109" d="100"/>
        </p:scale>
        <p:origin x="1680" y="88"/>
      </p:cViewPr>
      <p:guideLst>
        <p:guide orient="horz" pos="1584"/>
        <p:guide pos="28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algn="r"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/>
          <a:lstStyle>
            <a:lvl1pPr eaLnBrk="1" hangingPunct="1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/>
          <a:lstStyle>
            <a:lvl1pPr algn="r" eaLnBrk="1" hangingPunct="1">
              <a:defRPr kumimoji="1" sz="1200" smtClean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CC63C3C-B912-47EE-B070-688E3009EB53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800AF4-7AC9-4F78-9F4C-DD5296FCF57D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9F9380-ED62-4EB2-95EA-781500A79E63}" type="slidenum">
              <a:rPr lang="zh-CN" altLang="en-US">
                <a:latin typeface="Times New Roman" panose="02020603050405020304" pitchFamily="18" charset="0"/>
              </a:rPr>
              <a:t>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AD53CA-9895-48B5-A2F5-0BCDD732C8B7}" type="slidenum">
              <a:rPr lang="zh-CN" altLang="en-US">
                <a:latin typeface="Times New Roman" panose="02020603050405020304" pitchFamily="18" charset="0"/>
              </a:rPr>
              <a:t>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21F7D31-4C80-42C6-8E1F-F4406098CC21}" type="slidenum">
              <a:rPr lang="zh-CN" altLang="en-US">
                <a:latin typeface="Times New Roman" panose="02020603050405020304" pitchFamily="18" charset="0"/>
              </a:rPr>
              <a:t>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79BD2F-13C2-4415-969B-493209934183}" type="slidenum">
              <a:rPr lang="zh-CN" altLang="en-US">
                <a:latin typeface="Times New Roman" panose="02020603050405020304" pitchFamily="18" charset="0"/>
              </a:rPr>
              <a:t>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8EA2FC-9439-415F-B576-13B16A6E7236}" type="slidenum">
              <a:rPr lang="zh-CN" altLang="en-US">
                <a:latin typeface="Times New Roman" panose="02020603050405020304" pitchFamily="18" charset="0"/>
              </a:rPr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7423E47-CCB8-4A44-B504-4343D60AAD3A}" type="slidenum">
              <a:rPr lang="zh-CN" altLang="en-US">
                <a:latin typeface="Times New Roman" panose="02020603050405020304" pitchFamily="18" charset="0"/>
              </a:rPr>
              <a:t>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53E622-E79F-4F6A-97E0-390E5C129E5D}" type="slidenum">
              <a:rPr lang="zh-CN" altLang="en-US">
                <a:latin typeface="Times New Roman" panose="02020603050405020304" pitchFamily="18" charset="0"/>
              </a:rPr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8B9A59-3042-4DCD-BBBB-21D78559B926}" type="slidenum">
              <a:rPr lang="zh-CN" altLang="en-US">
                <a:latin typeface="Times New Roman" panose="02020603050405020304" pitchFamily="18" charset="0"/>
              </a:rPr>
              <a:t>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EA9AE5-4859-4F13-A387-6550D92EE9DD}" type="slidenum">
              <a:rPr lang="zh-CN" altLang="en-US">
                <a:latin typeface="Times New Roman" panose="02020603050405020304" pitchFamily="18" charset="0"/>
              </a:rPr>
              <a:t>17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817688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40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8DBF785-7AD6-43E5-875E-C1A0DFF0CA1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1B2F2-A87F-4254-B008-C52B6AA27BF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2B336-27D4-40CF-AEA6-F0301A2B8E2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159E7-C7B0-4BCF-B02B-3472BE36C11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E1B68-8698-4513-86F2-E2BBCBFBFEF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4A1AA-805A-4776-82E8-481E4581D44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EDED4-A6F6-4987-A7B1-E819FFE345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40203-8A99-4C60-9D86-64BF6EA2A44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36763-DAB8-4C81-8069-4FA207B3D9C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176F5-B964-4DE6-88DA-E5F1EC74039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D23A2-36DA-4F9A-B95D-9C700F01F5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622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8A430-2AC9-400D-B451-781749E42D4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>
                <a:schemeClr val="bg1"/>
              </a:buClr>
              <a:defRPr dirty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>
                <a:schemeClr val="bg1"/>
              </a:buClr>
              <a:defRPr dirty="0"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934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9DC88A84-BC17-4A71-AF7B-C27FB8C08320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1158875"/>
            <a:ext cx="8137525" cy="14620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2.2</a:t>
            </a:r>
            <a:r>
              <a:rPr lang="zh-CN" altLang="en-US"/>
              <a:t>  关系代数</a:t>
            </a:r>
          </a:p>
        </p:txBody>
      </p:sp>
      <p:sp>
        <p:nvSpPr>
          <p:cNvPr id="752645" name="Rectangle 5"/>
          <p:cNvSpPr>
            <a:spLocks noChangeArrowheads="1"/>
          </p:cNvSpPr>
          <p:nvPr/>
        </p:nvSpPr>
        <p:spPr bwMode="auto">
          <a:xfrm>
            <a:off x="71438" y="95250"/>
            <a:ext cx="2987675" cy="544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tIns="76176" bIns="72000" anchor="ctr" anchorCtr="1">
            <a:spAutoFit/>
          </a:bodyPr>
          <a:lstStyle/>
          <a:p>
            <a:pPr eaLnBrk="1" hangingPunct="1">
              <a:defRPr/>
            </a:pP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2</a:t>
            </a: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 关系运算</a:t>
            </a:r>
          </a:p>
        </p:txBody>
      </p:sp>
    </p:spTree>
  </p:cSld>
  <p:clrMapOvr>
    <a:masterClrMapping/>
  </p:clrMapOvr>
  <p:transition advTm="42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75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26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812" name="Rectangle 28"/>
          <p:cNvSpPr>
            <a:spLocks noGrp="1" noChangeArrowheads="1"/>
          </p:cNvSpPr>
          <p:nvPr>
            <p:ph type="title"/>
          </p:nvPr>
        </p:nvSpPr>
        <p:spPr>
          <a:xfrm>
            <a:off x="107950" y="100013"/>
            <a:ext cx="9036050" cy="1127125"/>
          </a:xfrm>
          <a:solidFill>
            <a:schemeClr val="bg1"/>
          </a:solidFill>
        </p:spPr>
        <p:txBody>
          <a:bodyPr/>
          <a:lstStyle/>
          <a:p>
            <a:pPr algn="ctr" eaLnBrk="1" hangingPunct="1">
              <a:defRPr/>
            </a:pPr>
            <a:br>
              <a:rPr lang="zh-CN" altLang="en-US"/>
            </a:br>
            <a:endParaRPr lang="zh-CN" altLang="en-US"/>
          </a:p>
        </p:txBody>
      </p:sp>
      <p:grpSp>
        <p:nvGrpSpPr>
          <p:cNvPr id="758832" name="Group 48"/>
          <p:cNvGrpSpPr/>
          <p:nvPr/>
        </p:nvGrpSpPr>
        <p:grpSpPr bwMode="auto">
          <a:xfrm>
            <a:off x="471488" y="1984375"/>
            <a:ext cx="8280400" cy="3460750"/>
            <a:chOff x="297" y="1250"/>
            <a:chExt cx="5216" cy="2180"/>
          </a:xfrm>
        </p:grpSpPr>
        <p:sp>
          <p:nvSpPr>
            <p:cNvPr id="28677" name="AutoShape 31"/>
            <p:cNvSpPr/>
            <p:nvPr/>
          </p:nvSpPr>
          <p:spPr bwMode="auto">
            <a:xfrm>
              <a:off x="1208" y="1287"/>
              <a:ext cx="137" cy="1866"/>
            </a:xfrm>
            <a:prstGeom prst="leftBrace">
              <a:avLst>
                <a:gd name="adj1" fmla="val 113504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8816" name="Text Box 32"/>
            <p:cNvSpPr txBox="1">
              <a:spLocks noChangeArrowheads="1"/>
            </p:cNvSpPr>
            <p:nvPr/>
          </p:nvSpPr>
          <p:spPr bwMode="auto">
            <a:xfrm>
              <a:off x="297" y="2055"/>
              <a:ext cx="912" cy="33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zh-CN" altLang="en-US" sz="2600" b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关系代数</a:t>
              </a:r>
            </a:p>
          </p:txBody>
        </p:sp>
        <p:sp>
          <p:nvSpPr>
            <p:cNvPr id="758817" name="Text Box 33"/>
            <p:cNvSpPr txBox="1">
              <a:spLocks noChangeArrowheads="1"/>
            </p:cNvSpPr>
            <p:nvPr/>
          </p:nvSpPr>
          <p:spPr bwMode="auto">
            <a:xfrm>
              <a:off x="1426" y="3084"/>
              <a:ext cx="1862" cy="34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zh-CN" altLang="en-US" sz="2600" b="1">
                  <a:solidFill>
                    <a:srgbClr val="00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运算结果</a:t>
              </a:r>
              <a:r>
                <a:rPr lang="en-US" altLang="zh-CN" sz="2600" b="1">
                  <a:solidFill>
                    <a:srgbClr val="00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: </a:t>
              </a:r>
              <a:r>
                <a:rPr lang="zh-CN" altLang="en-US" sz="2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关系</a:t>
              </a:r>
            </a:p>
          </p:txBody>
        </p:sp>
        <p:sp>
          <p:nvSpPr>
            <p:cNvPr id="758818" name="Text Box 34"/>
            <p:cNvSpPr txBox="1">
              <a:spLocks noChangeArrowheads="1"/>
            </p:cNvSpPr>
            <p:nvPr/>
          </p:nvSpPr>
          <p:spPr bwMode="auto">
            <a:xfrm>
              <a:off x="1391" y="1250"/>
              <a:ext cx="1807" cy="35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lang="zh-CN" altLang="en-US" sz="2600" b="1">
                  <a:solidFill>
                    <a:srgbClr val="00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运算对象</a:t>
              </a:r>
              <a:r>
                <a:rPr lang="en-US" altLang="zh-CN" sz="2600" b="1">
                  <a:solidFill>
                    <a:srgbClr val="0033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: </a:t>
              </a:r>
              <a:r>
                <a:rPr lang="zh-CN" altLang="en-US" sz="2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关系</a:t>
              </a:r>
            </a:p>
          </p:txBody>
        </p:sp>
        <p:grpSp>
          <p:nvGrpSpPr>
            <p:cNvPr id="28681" name="Group 35"/>
            <p:cNvGrpSpPr/>
            <p:nvPr/>
          </p:nvGrpSpPr>
          <p:grpSpPr bwMode="auto">
            <a:xfrm>
              <a:off x="1401" y="1655"/>
              <a:ext cx="4112" cy="1416"/>
              <a:chOff x="1408" y="1992"/>
              <a:chExt cx="4112" cy="1302"/>
            </a:xfrm>
          </p:grpSpPr>
          <p:sp>
            <p:nvSpPr>
              <p:cNvPr id="28682" name="AutoShape 36"/>
              <p:cNvSpPr/>
              <p:nvPr/>
            </p:nvSpPr>
            <p:spPr bwMode="auto">
              <a:xfrm>
                <a:off x="2192" y="2060"/>
                <a:ext cx="160" cy="1060"/>
              </a:xfrm>
              <a:prstGeom prst="leftBrace">
                <a:avLst>
                  <a:gd name="adj1" fmla="val 55208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58821" name="Text Box 37"/>
              <p:cNvSpPr txBox="1">
                <a:spLocks noChangeArrowheads="1"/>
              </p:cNvSpPr>
              <p:nvPr/>
            </p:nvSpPr>
            <p:spPr bwMode="auto">
              <a:xfrm>
                <a:off x="2407" y="2976"/>
                <a:ext cx="2325" cy="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逻辑运算符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: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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，∧，∨</a:t>
                </a:r>
              </a:p>
            </p:txBody>
          </p:sp>
          <p:sp>
            <p:nvSpPr>
              <p:cNvPr id="758822" name="Text Box 38"/>
              <p:cNvSpPr txBox="1">
                <a:spLocks noChangeArrowheads="1"/>
              </p:cNvSpPr>
              <p:nvPr/>
            </p:nvSpPr>
            <p:spPr bwMode="auto">
              <a:xfrm>
                <a:off x="2407" y="2640"/>
                <a:ext cx="1913" cy="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算数比较符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:&lt;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&gt;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等</a:t>
                </a:r>
              </a:p>
            </p:txBody>
          </p:sp>
          <p:sp>
            <p:nvSpPr>
              <p:cNvPr id="758823" name="Text Box 39"/>
              <p:cNvSpPr txBox="1">
                <a:spLocks noChangeArrowheads="1"/>
              </p:cNvSpPr>
              <p:nvPr/>
            </p:nvSpPr>
            <p:spPr bwMode="auto">
              <a:xfrm>
                <a:off x="2405" y="2341"/>
                <a:ext cx="3115" cy="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专门的关系运算符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:÷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π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  <a:sym typeface="Symbol" panose="05050102010706020507" pitchFamily="18" charset="2"/>
                  </a:rPr>
                  <a:t>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</a:p>
            </p:txBody>
          </p:sp>
          <p:sp>
            <p:nvSpPr>
              <p:cNvPr id="758824" name="Text Box 40"/>
              <p:cNvSpPr txBox="1">
                <a:spLocks noChangeArrowheads="1"/>
              </p:cNvSpPr>
              <p:nvPr/>
            </p:nvSpPr>
            <p:spPr bwMode="auto">
              <a:xfrm>
                <a:off x="2407" y="1992"/>
                <a:ext cx="2681" cy="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集合运算符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:∩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，∪，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黑体" panose="02010609060101010101" pitchFamily="49" charset="-122"/>
                  </a:rPr>
                  <a:t>—</a:t>
                </a:r>
                <a:r>
                  <a:rPr lang="zh-CN" altLang="en-US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en-US" altLang="zh-CN" sz="26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×</a:t>
                </a:r>
              </a:p>
            </p:txBody>
          </p:sp>
          <p:sp>
            <p:nvSpPr>
              <p:cNvPr id="758825" name="Text Box 41"/>
              <p:cNvSpPr txBox="1">
                <a:spLocks noChangeArrowheads="1"/>
              </p:cNvSpPr>
              <p:nvPr/>
            </p:nvSpPr>
            <p:spPr bwMode="auto">
              <a:xfrm>
                <a:off x="1408" y="2448"/>
                <a:ext cx="708" cy="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lang="zh-CN" altLang="en-US" sz="2600" b="1">
                    <a:solidFill>
                      <a:srgbClr val="0033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黑体" panose="02010609060101010101" pitchFamily="49" charset="-122"/>
                    <a:ea typeface="黑体" panose="02010609060101010101" pitchFamily="49" charset="-122"/>
                  </a:rPr>
                  <a:t>运算符</a:t>
                </a:r>
              </a:p>
            </p:txBody>
          </p:sp>
          <p:grpSp>
            <p:nvGrpSpPr>
              <p:cNvPr id="28688" name="Group 42"/>
              <p:cNvGrpSpPr/>
              <p:nvPr/>
            </p:nvGrpSpPr>
            <p:grpSpPr bwMode="auto">
              <a:xfrm>
                <a:off x="5280" y="2400"/>
                <a:ext cx="144" cy="144"/>
                <a:chOff x="5040" y="1824"/>
                <a:chExt cx="144" cy="144"/>
              </a:xfrm>
            </p:grpSpPr>
            <p:sp>
              <p:nvSpPr>
                <p:cNvPr id="28689" name="Line 43"/>
                <p:cNvSpPr>
                  <a:spLocks noChangeShapeType="1"/>
                </p:cNvSpPr>
                <p:nvPr/>
              </p:nvSpPr>
              <p:spPr bwMode="auto">
                <a:xfrm>
                  <a:off x="5040" y="18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90" name="Line 44"/>
                <p:cNvSpPr>
                  <a:spLocks noChangeShapeType="1"/>
                </p:cNvSpPr>
                <p:nvPr/>
              </p:nvSpPr>
              <p:spPr bwMode="auto">
                <a:xfrm>
                  <a:off x="5184" y="182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91" name="Line 45"/>
                <p:cNvSpPr>
                  <a:spLocks noChangeShapeType="1"/>
                </p:cNvSpPr>
                <p:nvPr/>
              </p:nvSpPr>
              <p:spPr bwMode="auto">
                <a:xfrm>
                  <a:off x="5040" y="1824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692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5040" y="1824"/>
                  <a:ext cx="144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58831" name="Text Box 47"/>
          <p:cNvSpPr txBox="1">
            <a:spLocks noChangeArrowheads="1"/>
          </p:cNvSpPr>
          <p:nvPr/>
        </p:nvSpPr>
        <p:spPr bwMode="auto">
          <a:xfrm>
            <a:off x="395288" y="908050"/>
            <a:ext cx="67818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◆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关系代数的运算对象和运算符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93"/>
    </mc:Choice>
    <mc:Fallback xmlns="">
      <p:transition spd="slow" advTm="478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758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5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267700" cy="3783013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ct val="10000"/>
              </a:spcBef>
              <a:defRPr/>
            </a:pP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、并</a:t>
            </a:r>
          </a:p>
          <a:p>
            <a:pPr marL="0" indent="0" eaLnBrk="1" hangingPunct="1">
              <a:lnSpc>
                <a:spcPct val="130000"/>
              </a:lnSpc>
              <a:spcBef>
                <a:spcPct val="10000"/>
              </a:spcBef>
              <a:defRPr/>
            </a:pP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    设关系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具有相同的</a:t>
            </a:r>
            <a:r>
              <a:rPr lang="zh-CN" altLang="en-US" sz="3200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关系模式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的并是由属于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，或属于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，或同时属于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的所有元组组成的集合，并定义为： </a:t>
            </a:r>
          </a:p>
          <a:p>
            <a:pPr marL="0" indent="0" eaLnBrk="1" hangingPunct="1">
              <a:defRPr/>
            </a:pP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defRPr/>
            </a:pPr>
            <a:r>
              <a:rPr lang="zh-CN" altLang="en-US"/>
              <a:t>                     </a:t>
            </a:r>
            <a:r>
              <a:rPr lang="en-US" altLang="zh-CN"/>
              <a:t>R∪S</a:t>
            </a:r>
            <a:r>
              <a:rPr lang="zh-CN" altLang="en-US"/>
              <a:t>＝</a:t>
            </a:r>
            <a:r>
              <a:rPr lang="en-US" altLang="zh-CN"/>
              <a:t>{ t</a:t>
            </a:r>
            <a:r>
              <a:rPr lang="zh-CN" altLang="en-US"/>
              <a:t>｜</a:t>
            </a:r>
            <a:r>
              <a:rPr lang="en-US" altLang="zh-CN"/>
              <a:t>t∈R∨t∈S}</a:t>
            </a:r>
          </a:p>
        </p:txBody>
      </p:sp>
      <p:sp>
        <p:nvSpPr>
          <p:cNvPr id="754705" name="Line 17"/>
          <p:cNvSpPr>
            <a:spLocks noChangeShapeType="1"/>
          </p:cNvSpPr>
          <p:nvPr/>
        </p:nvSpPr>
        <p:spPr bwMode="auto">
          <a:xfrm>
            <a:off x="5867400" y="4652963"/>
            <a:ext cx="8636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54706" name="Line 18"/>
          <p:cNvSpPr>
            <a:spLocks noChangeShapeType="1"/>
          </p:cNvSpPr>
          <p:nvPr/>
        </p:nvSpPr>
        <p:spPr bwMode="auto">
          <a:xfrm>
            <a:off x="4787900" y="4652963"/>
            <a:ext cx="8636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6680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5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5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5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75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4" name="Rectangle 4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855045" name="Rectangle 5"/>
          <p:cNvSpPr>
            <a:spLocks noChangeArrowheads="1"/>
          </p:cNvSpPr>
          <p:nvPr/>
        </p:nvSpPr>
        <p:spPr bwMode="auto">
          <a:xfrm>
            <a:off x="107950" y="1158875"/>
            <a:ext cx="8567738" cy="16224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805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defRPr/>
            </a:pPr>
            <a:r>
              <a:rPr lang="zh-CN" altLang="en-US">
                <a:solidFill>
                  <a:srgbClr val="003366"/>
                </a:solidFill>
              </a:rPr>
              <a:t>  </a:t>
            </a:r>
            <a:r>
              <a:rPr lang="zh-CN" altLang="en-US">
                <a:solidFill>
                  <a:srgbClr val="003366"/>
                </a:solidFill>
                <a:ea typeface="黑体" panose="02010609060101010101" pitchFamily="49" charset="-122"/>
              </a:rPr>
              <a:t>并运算过程：</a:t>
            </a:r>
            <a:endParaRPr lang="en-US" altLang="zh-CN">
              <a:solidFill>
                <a:srgbClr val="003366"/>
              </a:solidFill>
              <a:ea typeface="黑体" panose="02010609060101010101" pitchFamily="49" charset="-122"/>
            </a:endParaRPr>
          </a:p>
          <a:p>
            <a:pPr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/>
              <a:t>         将关系</a:t>
            </a:r>
            <a:r>
              <a:rPr lang="en-US" altLang="zh-CN"/>
              <a:t>R </a:t>
            </a:r>
            <a:r>
              <a:rPr lang="zh-CN" altLang="en-US"/>
              <a:t>和</a:t>
            </a:r>
            <a:r>
              <a:rPr lang="en-US" altLang="zh-CN"/>
              <a:t>S </a:t>
            </a:r>
            <a:r>
              <a:rPr lang="zh-CN" altLang="en-US"/>
              <a:t>的元组放在一起，然后消去重复的元组。</a:t>
            </a:r>
            <a:endParaRPr lang="en-US" altLang="zh-CN"/>
          </a:p>
        </p:txBody>
      </p:sp>
      <p:grpSp>
        <p:nvGrpSpPr>
          <p:cNvPr id="31748" name="Group 6"/>
          <p:cNvGrpSpPr/>
          <p:nvPr/>
        </p:nvGrpSpPr>
        <p:grpSpPr bwMode="auto">
          <a:xfrm>
            <a:off x="1331913" y="3373438"/>
            <a:ext cx="2782887" cy="1727200"/>
            <a:chOff x="1152" y="3216"/>
            <a:chExt cx="1440" cy="912"/>
          </a:xfrm>
        </p:grpSpPr>
        <p:sp>
          <p:nvSpPr>
            <p:cNvPr id="31754" name="Text Box 7"/>
            <p:cNvSpPr txBox="1">
              <a:spLocks noChangeArrowheads="1"/>
            </p:cNvSpPr>
            <p:nvPr/>
          </p:nvSpPr>
          <p:spPr bwMode="auto">
            <a:xfrm>
              <a:off x="1292" y="3475"/>
              <a:ext cx="1180" cy="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600" b="1">
                  <a:latin typeface="楷体_GB2312" pitchFamily="49" charset="-122"/>
                  <a:ea typeface="楷体_GB2312" pitchFamily="49" charset="-122"/>
                </a:rPr>
                <a:t>R     S </a:t>
              </a:r>
            </a:p>
          </p:txBody>
        </p:sp>
        <p:grpSp>
          <p:nvGrpSpPr>
            <p:cNvPr id="31755" name="Group 8"/>
            <p:cNvGrpSpPr/>
            <p:nvPr/>
          </p:nvGrpSpPr>
          <p:grpSpPr bwMode="auto">
            <a:xfrm>
              <a:off x="1152" y="3216"/>
              <a:ext cx="1440" cy="912"/>
              <a:chOff x="1152" y="3216"/>
              <a:chExt cx="1440" cy="912"/>
            </a:xfrm>
          </p:grpSpPr>
          <p:sp>
            <p:nvSpPr>
              <p:cNvPr id="31756" name="Oval 9"/>
              <p:cNvSpPr>
                <a:spLocks noChangeArrowheads="1"/>
              </p:cNvSpPr>
              <p:nvPr/>
            </p:nvSpPr>
            <p:spPr bwMode="auto">
              <a:xfrm>
                <a:off x="1152" y="3216"/>
                <a:ext cx="960" cy="9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757" name="Oval 10"/>
              <p:cNvSpPr>
                <a:spLocks noChangeArrowheads="1"/>
              </p:cNvSpPr>
              <p:nvPr/>
            </p:nvSpPr>
            <p:spPr bwMode="auto">
              <a:xfrm>
                <a:off x="1632" y="3216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31749" name="Group 29"/>
          <p:cNvGrpSpPr/>
          <p:nvPr/>
        </p:nvGrpSpPr>
        <p:grpSpPr bwMode="auto">
          <a:xfrm>
            <a:off x="5132388" y="3341688"/>
            <a:ext cx="2952750" cy="1816100"/>
            <a:chOff x="2879" y="1872"/>
            <a:chExt cx="2496" cy="1296"/>
          </a:xfrm>
        </p:grpSpPr>
        <p:sp>
          <p:nvSpPr>
            <p:cNvPr id="31750" name="Oval 24"/>
            <p:cNvSpPr>
              <a:spLocks noChangeArrowheads="1"/>
            </p:cNvSpPr>
            <p:nvPr/>
          </p:nvSpPr>
          <p:spPr bwMode="auto">
            <a:xfrm>
              <a:off x="3735" y="1872"/>
              <a:ext cx="1640" cy="1296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1" name="Oval 26"/>
            <p:cNvSpPr>
              <a:spLocks noChangeArrowheads="1"/>
            </p:cNvSpPr>
            <p:nvPr/>
          </p:nvSpPr>
          <p:spPr bwMode="auto">
            <a:xfrm>
              <a:off x="2879" y="1872"/>
              <a:ext cx="1640" cy="1296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2" name="Oval 27"/>
            <p:cNvSpPr>
              <a:spLocks noChangeArrowheads="1"/>
            </p:cNvSpPr>
            <p:nvPr/>
          </p:nvSpPr>
          <p:spPr bwMode="auto">
            <a:xfrm>
              <a:off x="3735" y="1872"/>
              <a:ext cx="1640" cy="12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53" name="Text Box 28"/>
            <p:cNvSpPr txBox="1">
              <a:spLocks noChangeArrowheads="1"/>
            </p:cNvSpPr>
            <p:nvPr/>
          </p:nvSpPr>
          <p:spPr bwMode="auto">
            <a:xfrm>
              <a:off x="3592" y="2095"/>
              <a:ext cx="1070" cy="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3600" b="1"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3600" b="1">
                  <a:latin typeface="Times New Roman" panose="02020603050405020304" pitchFamily="18" charset="0"/>
                  <a:sym typeface="Symbol" panose="05050102010706020507" pitchFamily="18" charset="2"/>
                </a:rPr>
                <a:t></a:t>
              </a:r>
              <a:r>
                <a:rPr kumimoji="1" lang="en-US" altLang="zh-CN" sz="3600" b="1">
                  <a:latin typeface="Times New Roman" panose="02020603050405020304" pitchFamily="18" charset="0"/>
                </a:rPr>
                <a:t>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72"/>
    </mc:Choice>
    <mc:Fallback xmlns="">
      <p:transition spd="slow" advTm="4077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61946" name="Rectangle 90"/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158875"/>
            <a:ext cx="8193088" cy="53276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、并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</a:t>
            </a:r>
            <a:r>
              <a:rPr lang="en-US" altLang="zh-CN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/>
              <a:t>　求</a:t>
            </a:r>
            <a:r>
              <a:rPr lang="en-US" altLang="zh-CN" sz="2400"/>
              <a:t>R1∪R2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</p:txBody>
      </p:sp>
      <p:graphicFrame>
        <p:nvGraphicFramePr>
          <p:cNvPr id="761947" name="Group 91"/>
          <p:cNvGraphicFramePr>
            <a:graphicFrameLocks noGrp="1"/>
          </p:cNvGraphicFramePr>
          <p:nvPr/>
        </p:nvGraphicFramePr>
        <p:xfrm>
          <a:off x="971550" y="2492375"/>
          <a:ext cx="1905000" cy="182403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794" name="Text Box 113"/>
          <p:cNvSpPr txBox="1">
            <a:spLocks noChangeArrowheads="1"/>
          </p:cNvSpPr>
          <p:nvPr/>
        </p:nvSpPr>
        <p:spPr bwMode="auto">
          <a:xfrm>
            <a:off x="1330325" y="4484688"/>
            <a:ext cx="172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graphicFrame>
        <p:nvGraphicFramePr>
          <p:cNvPr id="761970" name="Group 114"/>
          <p:cNvGraphicFramePr>
            <a:graphicFrameLocks noGrp="1"/>
          </p:cNvGraphicFramePr>
          <p:nvPr/>
        </p:nvGraphicFramePr>
        <p:xfrm>
          <a:off x="3638550" y="2492375"/>
          <a:ext cx="1905000" cy="182403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817" name="Text Box 136"/>
          <p:cNvSpPr txBox="1">
            <a:spLocks noChangeArrowheads="1"/>
          </p:cNvSpPr>
          <p:nvPr/>
        </p:nvSpPr>
        <p:spPr bwMode="auto">
          <a:xfrm>
            <a:off x="3997325" y="4484688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</a:p>
        </p:txBody>
      </p:sp>
      <p:graphicFrame>
        <p:nvGraphicFramePr>
          <p:cNvPr id="761993" name="Group 137"/>
          <p:cNvGraphicFramePr>
            <a:graphicFrameLocks noGrp="1"/>
          </p:cNvGraphicFramePr>
          <p:nvPr/>
        </p:nvGraphicFramePr>
        <p:xfrm>
          <a:off x="6300788" y="2495550"/>
          <a:ext cx="1905000" cy="2208402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27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7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274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9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9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06" marB="45706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06" marB="45706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2019" name="Text Box 163"/>
          <p:cNvSpPr txBox="1">
            <a:spLocks noChangeArrowheads="1"/>
          </p:cNvSpPr>
          <p:nvPr/>
        </p:nvSpPr>
        <p:spPr bwMode="auto">
          <a:xfrm>
            <a:off x="6588125" y="1757363"/>
            <a:ext cx="1258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solidFill>
                  <a:srgbClr val="000000"/>
                </a:solidFill>
                <a:latin typeface="宋体" panose="02010600030101010101" pitchFamily="2" charset="-122"/>
              </a:rPr>
              <a:t>R1∪R2</a:t>
            </a:r>
          </a:p>
        </p:txBody>
      </p:sp>
      <p:sp>
        <p:nvSpPr>
          <p:cNvPr id="762021" name="Rectangle 165"/>
          <p:cNvSpPr>
            <a:spLocks noChangeArrowheads="1"/>
          </p:cNvSpPr>
          <p:nvPr/>
        </p:nvSpPr>
        <p:spPr bwMode="auto">
          <a:xfrm>
            <a:off x="395288" y="5013325"/>
            <a:ext cx="8137525" cy="10414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适用于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：找出所有出现在两个关系之一的或同时出现在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              两个关系中的元组的运算需求。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816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6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6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019" grpId="0"/>
      <p:bldP spid="7620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6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267700" cy="3565525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、交</a:t>
            </a:r>
          </a:p>
          <a:p>
            <a:pPr marL="0" indent="0" eaLnBrk="1" hangingPunct="1">
              <a:defRPr/>
            </a:pP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    设关系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具有相同的关系模式，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的交是由既属于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也属于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的所有元组组成的集合，并定义为：</a:t>
            </a:r>
          </a:p>
          <a:p>
            <a:pPr marL="0" indent="0" eaLnBrk="1" hangingPunct="1">
              <a:spcBef>
                <a:spcPct val="50000"/>
              </a:spcBef>
              <a:defRPr/>
            </a:pPr>
            <a:r>
              <a:rPr lang="zh-CN" altLang="en-US" sz="2400">
                <a:effectLst/>
              </a:rPr>
              <a:t>             </a:t>
            </a:r>
            <a:r>
              <a:rPr lang="en-US" altLang="zh-CN" sz="3000">
                <a:effectLst/>
              </a:rPr>
              <a:t>R∩S</a:t>
            </a:r>
            <a:r>
              <a:rPr lang="zh-CN" altLang="en-US" sz="3000">
                <a:effectLst/>
              </a:rPr>
              <a:t>＝</a:t>
            </a:r>
            <a:r>
              <a:rPr lang="en-US" altLang="zh-CN" sz="3000">
                <a:effectLst/>
              </a:rPr>
              <a:t>{ t</a:t>
            </a:r>
            <a:r>
              <a:rPr lang="zh-CN" altLang="en-US" sz="3000">
                <a:effectLst/>
              </a:rPr>
              <a:t>｜</a:t>
            </a:r>
            <a:r>
              <a:rPr lang="en-US" altLang="zh-CN" sz="3000">
                <a:effectLst/>
              </a:rPr>
              <a:t>t∈R∧t∈S}</a:t>
            </a:r>
            <a:endParaRPr lang="en-US" altLang="zh-CN" sz="2400"/>
          </a:p>
        </p:txBody>
      </p:sp>
    </p:spTree>
  </p:cSld>
  <p:clrMapOvr>
    <a:masterClrMapping/>
  </p:clrMapOvr>
  <p:transition advTm="38985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8" name="Rectangle 4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856069" name="Rectangle 5"/>
          <p:cNvSpPr>
            <a:spLocks noChangeArrowheads="1"/>
          </p:cNvSpPr>
          <p:nvPr/>
        </p:nvSpPr>
        <p:spPr bwMode="auto">
          <a:xfrm>
            <a:off x="468313" y="1158875"/>
            <a:ext cx="8267700" cy="18383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805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rgbClr val="003366"/>
                </a:solidFill>
                <a:ea typeface="黑体" panose="02010609060101010101" pitchFamily="49" charset="-122"/>
              </a:rPr>
              <a:t>交运算过程：</a:t>
            </a:r>
          </a:p>
          <a:p>
            <a:pPr lvl="1" eaLnBrk="1" hangingPunct="1">
              <a:spcBef>
                <a:spcPct val="35000"/>
              </a:spcBef>
              <a:defRPr/>
            </a:pPr>
            <a:r>
              <a:rPr lang="zh-CN" altLang="en-US"/>
              <a:t>找出</a:t>
            </a:r>
            <a:r>
              <a:rPr lang="zh-CN" altLang="zh-CN"/>
              <a:t>同时存在于关系R 和S 中的所有相同的元组</a:t>
            </a:r>
            <a:r>
              <a:rPr lang="zh-CN" altLang="en-US"/>
              <a:t>。</a:t>
            </a:r>
            <a:endParaRPr lang="en-US" altLang="zh-CN" sz="2400"/>
          </a:p>
        </p:txBody>
      </p:sp>
      <p:grpSp>
        <p:nvGrpSpPr>
          <p:cNvPr id="36868" name="Group 7"/>
          <p:cNvGrpSpPr/>
          <p:nvPr/>
        </p:nvGrpSpPr>
        <p:grpSpPr bwMode="auto">
          <a:xfrm>
            <a:off x="1828800" y="3294063"/>
            <a:ext cx="2286000" cy="1447800"/>
            <a:chOff x="1152" y="1525"/>
            <a:chExt cx="1440" cy="912"/>
          </a:xfrm>
        </p:grpSpPr>
        <p:grpSp>
          <p:nvGrpSpPr>
            <p:cNvPr id="36879" name="Group 8"/>
            <p:cNvGrpSpPr/>
            <p:nvPr/>
          </p:nvGrpSpPr>
          <p:grpSpPr bwMode="auto">
            <a:xfrm>
              <a:off x="1152" y="1525"/>
              <a:ext cx="1440" cy="912"/>
              <a:chOff x="1152" y="3216"/>
              <a:chExt cx="1440" cy="912"/>
            </a:xfrm>
          </p:grpSpPr>
          <p:sp>
            <p:nvSpPr>
              <p:cNvPr id="36881" name="Oval 9"/>
              <p:cNvSpPr>
                <a:spLocks noChangeArrowheads="1"/>
              </p:cNvSpPr>
              <p:nvPr/>
            </p:nvSpPr>
            <p:spPr bwMode="auto">
              <a:xfrm>
                <a:off x="1152" y="3216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E4A8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882" name="Oval 10"/>
              <p:cNvSpPr>
                <a:spLocks noChangeArrowheads="1"/>
              </p:cNvSpPr>
              <p:nvPr/>
            </p:nvSpPr>
            <p:spPr bwMode="auto">
              <a:xfrm>
                <a:off x="1632" y="3216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E4A8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6880" name="Text Box 11"/>
            <p:cNvSpPr txBox="1">
              <a:spLocks noChangeArrowheads="1"/>
            </p:cNvSpPr>
            <p:nvPr/>
          </p:nvSpPr>
          <p:spPr bwMode="auto">
            <a:xfrm>
              <a:off x="1247" y="1752"/>
              <a:ext cx="11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600" b="1">
                  <a:latin typeface="楷体_GB2312" pitchFamily="49" charset="-122"/>
                  <a:ea typeface="楷体_GB2312" pitchFamily="49" charset="-122"/>
                </a:rPr>
                <a:t>R     S </a:t>
              </a:r>
            </a:p>
          </p:txBody>
        </p:sp>
      </p:grpSp>
      <p:grpSp>
        <p:nvGrpSpPr>
          <p:cNvPr id="36869" name="Group 12"/>
          <p:cNvGrpSpPr/>
          <p:nvPr/>
        </p:nvGrpSpPr>
        <p:grpSpPr bwMode="auto">
          <a:xfrm>
            <a:off x="5332413" y="3284538"/>
            <a:ext cx="2287587" cy="1449387"/>
            <a:chOff x="3359" y="1470"/>
            <a:chExt cx="1441" cy="913"/>
          </a:xfrm>
        </p:grpSpPr>
        <p:grpSp>
          <p:nvGrpSpPr>
            <p:cNvPr id="36870" name="Group 13"/>
            <p:cNvGrpSpPr/>
            <p:nvPr/>
          </p:nvGrpSpPr>
          <p:grpSpPr bwMode="auto">
            <a:xfrm>
              <a:off x="3359" y="1470"/>
              <a:ext cx="1441" cy="913"/>
              <a:chOff x="3359" y="3120"/>
              <a:chExt cx="1441" cy="913"/>
            </a:xfrm>
          </p:grpSpPr>
          <p:sp>
            <p:nvSpPr>
              <p:cNvPr id="36872" name="Oval 14"/>
              <p:cNvSpPr>
                <a:spLocks noChangeArrowheads="1"/>
              </p:cNvSpPr>
              <p:nvPr/>
            </p:nvSpPr>
            <p:spPr bwMode="auto">
              <a:xfrm>
                <a:off x="3360" y="3120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EB0B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873" name="Oval 15"/>
              <p:cNvSpPr>
                <a:spLocks noChangeArrowheads="1"/>
              </p:cNvSpPr>
              <p:nvPr/>
            </p:nvSpPr>
            <p:spPr bwMode="auto">
              <a:xfrm>
                <a:off x="3840" y="3120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EB0B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36874" name="Group 16"/>
              <p:cNvGrpSpPr/>
              <p:nvPr/>
            </p:nvGrpSpPr>
            <p:grpSpPr bwMode="auto">
              <a:xfrm>
                <a:off x="3359" y="3121"/>
                <a:ext cx="961" cy="912"/>
                <a:chOff x="3359" y="3217"/>
                <a:chExt cx="961" cy="912"/>
              </a:xfrm>
            </p:grpSpPr>
            <p:sp>
              <p:nvSpPr>
                <p:cNvPr id="36877" name="Arc 17"/>
                <p:cNvSpPr/>
                <p:nvPr/>
              </p:nvSpPr>
              <p:spPr bwMode="auto">
                <a:xfrm flipH="1">
                  <a:off x="3359" y="3217"/>
                  <a:ext cx="705" cy="912"/>
                </a:xfrm>
                <a:custGeom>
                  <a:avLst/>
                  <a:gdLst>
                    <a:gd name="T0" fmla="*/ 0 w 31719"/>
                    <a:gd name="T1" fmla="*/ 53 h 43200"/>
                    <a:gd name="T2" fmla="*/ 3 w 31719"/>
                    <a:gd name="T3" fmla="*/ 860 h 43200"/>
                    <a:gd name="T4" fmla="*/ 225 w 31719"/>
                    <a:gd name="T5" fmla="*/ 45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719" h="43200" fill="none" extrusionOk="0">
                      <a:moveTo>
                        <a:pt x="-1" y="2516"/>
                      </a:moveTo>
                      <a:cubicBezTo>
                        <a:pt x="3116" y="864"/>
                        <a:pt x="6591" y="0"/>
                        <a:pt x="10119" y="0"/>
                      </a:cubicBezTo>
                      <a:cubicBezTo>
                        <a:pt x="22048" y="0"/>
                        <a:pt x="31719" y="9670"/>
                        <a:pt x="31719" y="21600"/>
                      </a:cubicBezTo>
                      <a:cubicBezTo>
                        <a:pt x="31719" y="33529"/>
                        <a:pt x="22048" y="43200"/>
                        <a:pt x="10119" y="43200"/>
                      </a:cubicBezTo>
                      <a:cubicBezTo>
                        <a:pt x="6644" y="43200"/>
                        <a:pt x="3221" y="42361"/>
                        <a:pt x="140" y="40756"/>
                      </a:cubicBezTo>
                    </a:path>
                    <a:path w="31719" h="43200" stroke="0" extrusionOk="0">
                      <a:moveTo>
                        <a:pt x="-1" y="2516"/>
                      </a:moveTo>
                      <a:cubicBezTo>
                        <a:pt x="3116" y="864"/>
                        <a:pt x="6591" y="0"/>
                        <a:pt x="10119" y="0"/>
                      </a:cubicBezTo>
                      <a:cubicBezTo>
                        <a:pt x="22048" y="0"/>
                        <a:pt x="31719" y="9670"/>
                        <a:pt x="31719" y="21600"/>
                      </a:cubicBezTo>
                      <a:cubicBezTo>
                        <a:pt x="31719" y="33529"/>
                        <a:pt x="22048" y="43200"/>
                        <a:pt x="10119" y="43200"/>
                      </a:cubicBezTo>
                      <a:cubicBezTo>
                        <a:pt x="6644" y="43200"/>
                        <a:pt x="3221" y="42361"/>
                        <a:pt x="140" y="40756"/>
                      </a:cubicBezTo>
                      <a:lnTo>
                        <a:pt x="10119" y="21600"/>
                      </a:lnTo>
                      <a:lnTo>
                        <a:pt x="-1" y="2516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dash"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AEB0B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878" name="Arc 18"/>
                <p:cNvSpPr/>
                <p:nvPr/>
              </p:nvSpPr>
              <p:spPr bwMode="auto">
                <a:xfrm flipH="1">
                  <a:off x="3840" y="3264"/>
                  <a:ext cx="480" cy="796"/>
                </a:xfrm>
                <a:custGeom>
                  <a:avLst/>
                  <a:gdLst>
                    <a:gd name="T0" fmla="*/ 213 w 21600"/>
                    <a:gd name="T1" fmla="*/ 0 h 37697"/>
                    <a:gd name="T2" fmla="*/ 254 w 21600"/>
                    <a:gd name="T3" fmla="*/ 796 h 37697"/>
                    <a:gd name="T4" fmla="*/ 0 w 21600"/>
                    <a:gd name="T5" fmla="*/ 409 h 3769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7697" fill="none" extrusionOk="0">
                      <a:moveTo>
                        <a:pt x="9574" y="0"/>
                      </a:moveTo>
                      <a:cubicBezTo>
                        <a:pt x="16939" y="3642"/>
                        <a:pt x="21600" y="11146"/>
                        <a:pt x="21600" y="19362"/>
                      </a:cubicBezTo>
                      <a:cubicBezTo>
                        <a:pt x="21600" y="26821"/>
                        <a:pt x="17750" y="33753"/>
                        <a:pt x="11418" y="37696"/>
                      </a:cubicBezTo>
                    </a:path>
                    <a:path w="21600" h="37697" stroke="0" extrusionOk="0">
                      <a:moveTo>
                        <a:pt x="9574" y="0"/>
                      </a:moveTo>
                      <a:cubicBezTo>
                        <a:pt x="16939" y="3642"/>
                        <a:pt x="21600" y="11146"/>
                        <a:pt x="21600" y="19362"/>
                      </a:cubicBezTo>
                      <a:cubicBezTo>
                        <a:pt x="21600" y="26821"/>
                        <a:pt x="17750" y="33753"/>
                        <a:pt x="11418" y="37696"/>
                      </a:cubicBezTo>
                      <a:lnTo>
                        <a:pt x="0" y="19362"/>
                      </a:lnTo>
                      <a:lnTo>
                        <a:pt x="9574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dash"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AEB0B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875" name="Arc 19"/>
              <p:cNvSpPr/>
              <p:nvPr/>
            </p:nvSpPr>
            <p:spPr bwMode="auto">
              <a:xfrm flipH="1">
                <a:off x="3840" y="3167"/>
                <a:ext cx="480" cy="796"/>
              </a:xfrm>
              <a:custGeom>
                <a:avLst/>
                <a:gdLst>
                  <a:gd name="T0" fmla="*/ 213 w 21600"/>
                  <a:gd name="T1" fmla="*/ 0 h 37697"/>
                  <a:gd name="T2" fmla="*/ 254 w 21600"/>
                  <a:gd name="T3" fmla="*/ 796 h 37697"/>
                  <a:gd name="T4" fmla="*/ 0 w 21600"/>
                  <a:gd name="T5" fmla="*/ 409 h 376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7697" fill="none" extrusionOk="0">
                    <a:moveTo>
                      <a:pt x="9574" y="0"/>
                    </a:moveTo>
                    <a:cubicBezTo>
                      <a:pt x="16939" y="3642"/>
                      <a:pt x="21600" y="11146"/>
                      <a:pt x="21600" y="19362"/>
                    </a:cubicBezTo>
                    <a:cubicBezTo>
                      <a:pt x="21600" y="26821"/>
                      <a:pt x="17750" y="33753"/>
                      <a:pt x="11418" y="37696"/>
                    </a:cubicBezTo>
                  </a:path>
                  <a:path w="21600" h="37697" stroke="0" extrusionOk="0">
                    <a:moveTo>
                      <a:pt x="9574" y="0"/>
                    </a:moveTo>
                    <a:cubicBezTo>
                      <a:pt x="16939" y="3642"/>
                      <a:pt x="21600" y="11146"/>
                      <a:pt x="21600" y="19362"/>
                    </a:cubicBezTo>
                    <a:cubicBezTo>
                      <a:pt x="21600" y="26821"/>
                      <a:pt x="17750" y="33753"/>
                      <a:pt x="11418" y="37696"/>
                    </a:cubicBezTo>
                    <a:lnTo>
                      <a:pt x="0" y="19362"/>
                    </a:lnTo>
                    <a:lnTo>
                      <a:pt x="9574" y="0"/>
                    </a:lnTo>
                    <a:close/>
                  </a:path>
                </a:pathLst>
              </a:custGeom>
              <a:solidFill>
                <a:srgbClr val="FF9900"/>
              </a:solidFill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76" name="Arc 20"/>
              <p:cNvSpPr/>
              <p:nvPr/>
            </p:nvSpPr>
            <p:spPr bwMode="auto">
              <a:xfrm>
                <a:off x="3840" y="3184"/>
                <a:ext cx="480" cy="781"/>
              </a:xfrm>
              <a:custGeom>
                <a:avLst/>
                <a:gdLst>
                  <a:gd name="T0" fmla="*/ 243 w 21600"/>
                  <a:gd name="T1" fmla="*/ 0 h 36975"/>
                  <a:gd name="T2" fmla="*/ 254 w 21600"/>
                  <a:gd name="T3" fmla="*/ 781 h 36975"/>
                  <a:gd name="T4" fmla="*/ 0 w 21600"/>
                  <a:gd name="T5" fmla="*/ 394 h 369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975" fill="none" extrusionOk="0">
                    <a:moveTo>
                      <a:pt x="10913" y="0"/>
                    </a:moveTo>
                    <a:cubicBezTo>
                      <a:pt x="17532" y="3875"/>
                      <a:pt x="21600" y="10970"/>
                      <a:pt x="21600" y="18640"/>
                    </a:cubicBezTo>
                    <a:cubicBezTo>
                      <a:pt x="21600" y="26099"/>
                      <a:pt x="17750" y="33031"/>
                      <a:pt x="11418" y="36974"/>
                    </a:cubicBezTo>
                  </a:path>
                  <a:path w="21600" h="36975" stroke="0" extrusionOk="0">
                    <a:moveTo>
                      <a:pt x="10913" y="0"/>
                    </a:moveTo>
                    <a:cubicBezTo>
                      <a:pt x="17532" y="3875"/>
                      <a:pt x="21600" y="10970"/>
                      <a:pt x="21600" y="18640"/>
                    </a:cubicBezTo>
                    <a:cubicBezTo>
                      <a:pt x="21600" y="26099"/>
                      <a:pt x="17750" y="33031"/>
                      <a:pt x="11418" y="36974"/>
                    </a:cubicBezTo>
                    <a:lnTo>
                      <a:pt x="0" y="18640"/>
                    </a:lnTo>
                    <a:lnTo>
                      <a:pt x="10913" y="0"/>
                    </a:lnTo>
                    <a:close/>
                  </a:path>
                </a:pathLst>
              </a:custGeom>
              <a:solidFill>
                <a:srgbClr val="FF9900"/>
              </a:solidFill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56085" name="Text Box 21"/>
            <p:cNvSpPr txBox="1">
              <a:spLocks noChangeArrowheads="1"/>
            </p:cNvSpPr>
            <p:nvPr/>
          </p:nvSpPr>
          <p:spPr bwMode="auto">
            <a:xfrm>
              <a:off x="3798" y="1752"/>
              <a:ext cx="633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R</a:t>
              </a:r>
              <a:r>
                <a:rPr kumimoji="1"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sym typeface="Symbol" panose="05050102010706020507" pitchFamily="18" charset="2"/>
                </a:rPr>
                <a:t>∩</a:t>
              </a:r>
              <a:r>
                <a:rPr kumimoji="1" lang="en-US" altLang="zh-CN" sz="28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34"/>
    </mc:Choice>
    <mc:Fallback xmlns="">
      <p:transition spd="slow" advTm="1123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6390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158875"/>
            <a:ext cx="8193088" cy="53276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、交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</a:t>
            </a:r>
            <a:r>
              <a:rPr lang="en-US" altLang="zh-CN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/>
              <a:t>　</a:t>
            </a:r>
            <a:r>
              <a:rPr lang="zh-CN" altLang="zh-CN" sz="2400"/>
              <a:t>求R1∩R2</a:t>
            </a: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</p:txBody>
      </p:sp>
      <p:graphicFrame>
        <p:nvGraphicFramePr>
          <p:cNvPr id="763908" name="Group 4"/>
          <p:cNvGraphicFramePr>
            <a:graphicFrameLocks noGrp="1"/>
          </p:cNvGraphicFramePr>
          <p:nvPr/>
        </p:nvGraphicFramePr>
        <p:xfrm>
          <a:off x="971550" y="2492375"/>
          <a:ext cx="1905000" cy="182403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914" name="Text Box 26"/>
          <p:cNvSpPr txBox="1">
            <a:spLocks noChangeArrowheads="1"/>
          </p:cNvSpPr>
          <p:nvPr/>
        </p:nvSpPr>
        <p:spPr bwMode="auto">
          <a:xfrm>
            <a:off x="1330325" y="4437063"/>
            <a:ext cx="1801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graphicFrame>
        <p:nvGraphicFramePr>
          <p:cNvPr id="763931" name="Group 27"/>
          <p:cNvGraphicFramePr>
            <a:graphicFrameLocks noGrp="1"/>
          </p:cNvGraphicFramePr>
          <p:nvPr/>
        </p:nvGraphicFramePr>
        <p:xfrm>
          <a:off x="3638550" y="2492375"/>
          <a:ext cx="1905000" cy="182403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937" name="Text Box 49"/>
          <p:cNvSpPr txBox="1">
            <a:spLocks noChangeArrowheads="1"/>
          </p:cNvSpPr>
          <p:nvPr/>
        </p:nvSpPr>
        <p:spPr bwMode="auto">
          <a:xfrm>
            <a:off x="3997325" y="4437063"/>
            <a:ext cx="1798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</a:p>
        </p:txBody>
      </p:sp>
      <p:sp>
        <p:nvSpPr>
          <p:cNvPr id="763981" name="Rectangle 77"/>
          <p:cNvSpPr>
            <a:spLocks noChangeArrowheads="1"/>
          </p:cNvSpPr>
          <p:nvPr/>
        </p:nvSpPr>
        <p:spPr bwMode="auto">
          <a:xfrm>
            <a:off x="395288" y="5013325"/>
            <a:ext cx="8137525" cy="10414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适用于：</a:t>
            </a:r>
            <a:r>
              <a:rPr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需要找出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那些</a:t>
            </a:r>
            <a:r>
              <a:rPr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所有同时出现在两个关系中的元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              </a:t>
            </a:r>
            <a:r>
              <a:rPr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组的运算需求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。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764002" name="Text Box 98"/>
          <p:cNvSpPr txBox="1">
            <a:spLocks noChangeArrowheads="1"/>
          </p:cNvSpPr>
          <p:nvPr/>
        </p:nvSpPr>
        <p:spPr bwMode="auto">
          <a:xfrm>
            <a:off x="6664325" y="4221163"/>
            <a:ext cx="1363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R1∩R2</a:t>
            </a:r>
          </a:p>
        </p:txBody>
      </p:sp>
      <p:graphicFrame>
        <p:nvGraphicFramePr>
          <p:cNvPr id="764003" name="Group 99"/>
          <p:cNvGraphicFramePr>
            <a:graphicFrameLocks noGrp="1"/>
          </p:cNvGraphicFramePr>
          <p:nvPr/>
        </p:nvGraphicFramePr>
        <p:xfrm>
          <a:off x="6267450" y="2568575"/>
          <a:ext cx="1905000" cy="1376452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29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9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77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07" marB="45707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07" marB="45707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advTm="716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6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6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81" grpId="0"/>
      <p:bldP spid="7640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267700" cy="3322638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、差</a:t>
            </a:r>
          </a:p>
          <a:p>
            <a:pPr marL="0" indent="0" eaLnBrk="1" hangingPunct="1">
              <a:lnSpc>
                <a:spcPct val="130000"/>
              </a:lnSpc>
              <a:defRPr/>
            </a:pP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 设关系</a:t>
            </a: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具有相同的关系模式，</a:t>
            </a: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的差运算是由属于</a:t>
            </a: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但不属于</a:t>
            </a: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的元组组成的集合，并定义为：</a:t>
            </a:r>
          </a:p>
          <a:p>
            <a:pPr marL="0" indent="0" eaLnBrk="1" hangingPunct="1">
              <a:spcBef>
                <a:spcPct val="40000"/>
              </a:spcBef>
              <a:defRPr/>
            </a:pPr>
            <a:r>
              <a:rPr lang="zh-CN" altLang="en-US" sz="2400">
                <a:effectLst/>
              </a:rPr>
              <a:t>                  </a:t>
            </a:r>
            <a:r>
              <a:rPr lang="en-US" altLang="zh-CN" sz="3000">
                <a:effectLst/>
              </a:rPr>
              <a:t>R</a:t>
            </a:r>
            <a:r>
              <a:rPr lang="zh-CN" altLang="en-US" sz="3000">
                <a:effectLst/>
              </a:rPr>
              <a:t>－</a:t>
            </a:r>
            <a:r>
              <a:rPr lang="en-US" altLang="zh-CN" sz="3000">
                <a:effectLst/>
              </a:rPr>
              <a:t>S</a:t>
            </a:r>
            <a:r>
              <a:rPr lang="zh-CN" altLang="en-US" sz="3000">
                <a:effectLst/>
              </a:rPr>
              <a:t>＝</a:t>
            </a:r>
            <a:r>
              <a:rPr lang="en-US" altLang="zh-CN" sz="3000">
                <a:effectLst/>
              </a:rPr>
              <a:t>{ t</a:t>
            </a:r>
            <a:r>
              <a:rPr lang="zh-CN" altLang="en-US" sz="3000">
                <a:effectLst/>
              </a:rPr>
              <a:t>｜</a:t>
            </a:r>
            <a:r>
              <a:rPr lang="en-US" altLang="zh-CN" sz="3000">
                <a:effectLst/>
              </a:rPr>
              <a:t>t∈R∧t∈S}</a:t>
            </a:r>
            <a:endParaRPr lang="en-US" altLang="zh-CN" sz="2400"/>
          </a:p>
        </p:txBody>
      </p:sp>
      <p:sp>
        <p:nvSpPr>
          <p:cNvPr id="39940" name="Line 30"/>
          <p:cNvSpPr>
            <a:spLocks noChangeShapeType="1"/>
          </p:cNvSpPr>
          <p:nvPr/>
        </p:nvSpPr>
        <p:spPr bwMode="auto">
          <a:xfrm>
            <a:off x="5756275" y="3821113"/>
            <a:ext cx="287338" cy="36036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advTm="5202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2" name="Rectangle 4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857093" name="Rectangle 5"/>
          <p:cNvSpPr>
            <a:spLocks noChangeArrowheads="1"/>
          </p:cNvSpPr>
          <p:nvPr/>
        </p:nvSpPr>
        <p:spPr bwMode="auto">
          <a:xfrm>
            <a:off x="468313" y="1158875"/>
            <a:ext cx="8267700" cy="18383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805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rgbClr val="003366"/>
                </a:solidFill>
                <a:ea typeface="黑体" panose="02010609060101010101" pitchFamily="49" charset="-122"/>
              </a:rPr>
              <a:t>差运算过程：</a:t>
            </a:r>
          </a:p>
          <a:p>
            <a:pPr lvl="1" eaLnBrk="1" hangingPunct="1">
              <a:defRPr/>
            </a:pPr>
            <a:r>
              <a:rPr lang="zh-CN" altLang="en-US"/>
              <a:t>    从关系</a:t>
            </a:r>
            <a:r>
              <a:rPr lang="en-US" altLang="zh-CN"/>
              <a:t>R </a:t>
            </a:r>
            <a:r>
              <a:rPr lang="zh-CN" altLang="en-US"/>
              <a:t>的元组中去除它与关系</a:t>
            </a:r>
            <a:r>
              <a:rPr lang="en-US" altLang="zh-CN"/>
              <a:t>S </a:t>
            </a:r>
            <a:r>
              <a:rPr lang="zh-CN" altLang="en-US"/>
              <a:t>相同的那些元组。</a:t>
            </a:r>
            <a:endParaRPr lang="en-US" altLang="zh-CN" sz="2400"/>
          </a:p>
        </p:txBody>
      </p:sp>
      <p:grpSp>
        <p:nvGrpSpPr>
          <p:cNvPr id="41988" name="Group 7"/>
          <p:cNvGrpSpPr/>
          <p:nvPr/>
        </p:nvGrpSpPr>
        <p:grpSpPr bwMode="auto">
          <a:xfrm>
            <a:off x="1828800" y="3521075"/>
            <a:ext cx="2286000" cy="1447800"/>
            <a:chOff x="1152" y="1525"/>
            <a:chExt cx="1440" cy="912"/>
          </a:xfrm>
        </p:grpSpPr>
        <p:grpSp>
          <p:nvGrpSpPr>
            <p:cNvPr id="41999" name="Group 8"/>
            <p:cNvGrpSpPr/>
            <p:nvPr/>
          </p:nvGrpSpPr>
          <p:grpSpPr bwMode="auto">
            <a:xfrm>
              <a:off x="1152" y="1525"/>
              <a:ext cx="1440" cy="912"/>
              <a:chOff x="1152" y="3216"/>
              <a:chExt cx="1440" cy="912"/>
            </a:xfrm>
          </p:grpSpPr>
          <p:sp>
            <p:nvSpPr>
              <p:cNvPr id="42001" name="Oval 9"/>
              <p:cNvSpPr>
                <a:spLocks noChangeArrowheads="1"/>
              </p:cNvSpPr>
              <p:nvPr/>
            </p:nvSpPr>
            <p:spPr bwMode="auto">
              <a:xfrm>
                <a:off x="1152" y="3216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E4A8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2002" name="Oval 10"/>
              <p:cNvSpPr>
                <a:spLocks noChangeArrowheads="1"/>
              </p:cNvSpPr>
              <p:nvPr/>
            </p:nvSpPr>
            <p:spPr bwMode="auto">
              <a:xfrm>
                <a:off x="1632" y="3216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E4A8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2000" name="Text Box 11"/>
            <p:cNvSpPr txBox="1">
              <a:spLocks noChangeArrowheads="1"/>
            </p:cNvSpPr>
            <p:nvPr/>
          </p:nvSpPr>
          <p:spPr bwMode="auto">
            <a:xfrm>
              <a:off x="1247" y="1752"/>
              <a:ext cx="11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3600" b="1">
                  <a:latin typeface="楷体_GB2312" pitchFamily="49" charset="-122"/>
                  <a:ea typeface="楷体_GB2312" pitchFamily="49" charset="-122"/>
                </a:rPr>
                <a:t>R     S </a:t>
              </a:r>
            </a:p>
          </p:txBody>
        </p:sp>
      </p:grpSp>
      <p:grpSp>
        <p:nvGrpSpPr>
          <p:cNvPr id="41989" name="Group 12"/>
          <p:cNvGrpSpPr/>
          <p:nvPr/>
        </p:nvGrpSpPr>
        <p:grpSpPr bwMode="auto">
          <a:xfrm>
            <a:off x="5300663" y="3430588"/>
            <a:ext cx="2319337" cy="1449387"/>
            <a:chOff x="3339" y="1525"/>
            <a:chExt cx="1461" cy="913"/>
          </a:xfrm>
        </p:grpSpPr>
        <p:grpSp>
          <p:nvGrpSpPr>
            <p:cNvPr id="41990" name="Group 13"/>
            <p:cNvGrpSpPr/>
            <p:nvPr/>
          </p:nvGrpSpPr>
          <p:grpSpPr bwMode="auto">
            <a:xfrm>
              <a:off x="3359" y="1525"/>
              <a:ext cx="1441" cy="913"/>
              <a:chOff x="3359" y="3216"/>
              <a:chExt cx="1441" cy="913"/>
            </a:xfrm>
          </p:grpSpPr>
          <p:sp>
            <p:nvSpPr>
              <p:cNvPr id="41992" name="Oval 14"/>
              <p:cNvSpPr>
                <a:spLocks noChangeArrowheads="1"/>
              </p:cNvSpPr>
              <p:nvPr/>
            </p:nvSpPr>
            <p:spPr bwMode="auto">
              <a:xfrm>
                <a:off x="3360" y="3216"/>
                <a:ext cx="960" cy="912"/>
              </a:xfrm>
              <a:prstGeom prst="ellipse">
                <a:avLst/>
              </a:prstGeom>
              <a:solidFill>
                <a:srgbClr val="AEB0B6"/>
              </a:solidFill>
              <a:ln w="28575">
                <a:solidFill>
                  <a:srgbClr val="000000"/>
                </a:solidFill>
                <a:prstDash val="dash"/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993" name="Oval 15"/>
              <p:cNvSpPr>
                <a:spLocks noChangeArrowheads="1"/>
              </p:cNvSpPr>
              <p:nvPr/>
            </p:nvSpPr>
            <p:spPr bwMode="auto">
              <a:xfrm>
                <a:off x="3840" y="3216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EB0B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1994" name="Group 16"/>
              <p:cNvGrpSpPr/>
              <p:nvPr/>
            </p:nvGrpSpPr>
            <p:grpSpPr bwMode="auto">
              <a:xfrm>
                <a:off x="3359" y="3217"/>
                <a:ext cx="961" cy="912"/>
                <a:chOff x="3359" y="3217"/>
                <a:chExt cx="961" cy="912"/>
              </a:xfrm>
            </p:grpSpPr>
            <p:sp>
              <p:nvSpPr>
                <p:cNvPr id="41997" name="Arc 17"/>
                <p:cNvSpPr/>
                <p:nvPr/>
              </p:nvSpPr>
              <p:spPr bwMode="auto">
                <a:xfrm flipH="1">
                  <a:off x="3359" y="3217"/>
                  <a:ext cx="705" cy="912"/>
                </a:xfrm>
                <a:custGeom>
                  <a:avLst/>
                  <a:gdLst>
                    <a:gd name="T0" fmla="*/ 0 w 31719"/>
                    <a:gd name="T1" fmla="*/ 53 h 43200"/>
                    <a:gd name="T2" fmla="*/ 3 w 31719"/>
                    <a:gd name="T3" fmla="*/ 860 h 43200"/>
                    <a:gd name="T4" fmla="*/ 225 w 31719"/>
                    <a:gd name="T5" fmla="*/ 456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719" h="43200" fill="none" extrusionOk="0">
                      <a:moveTo>
                        <a:pt x="-1" y="2516"/>
                      </a:moveTo>
                      <a:cubicBezTo>
                        <a:pt x="3116" y="864"/>
                        <a:pt x="6591" y="0"/>
                        <a:pt x="10119" y="0"/>
                      </a:cubicBezTo>
                      <a:cubicBezTo>
                        <a:pt x="22048" y="0"/>
                        <a:pt x="31719" y="9670"/>
                        <a:pt x="31719" y="21600"/>
                      </a:cubicBezTo>
                      <a:cubicBezTo>
                        <a:pt x="31719" y="33529"/>
                        <a:pt x="22048" y="43200"/>
                        <a:pt x="10119" y="43200"/>
                      </a:cubicBezTo>
                      <a:cubicBezTo>
                        <a:pt x="6644" y="43200"/>
                        <a:pt x="3221" y="42361"/>
                        <a:pt x="140" y="40756"/>
                      </a:cubicBezTo>
                    </a:path>
                    <a:path w="31719" h="43200" stroke="0" extrusionOk="0">
                      <a:moveTo>
                        <a:pt x="-1" y="2516"/>
                      </a:moveTo>
                      <a:cubicBezTo>
                        <a:pt x="3116" y="864"/>
                        <a:pt x="6591" y="0"/>
                        <a:pt x="10119" y="0"/>
                      </a:cubicBezTo>
                      <a:cubicBezTo>
                        <a:pt x="22048" y="0"/>
                        <a:pt x="31719" y="9670"/>
                        <a:pt x="31719" y="21600"/>
                      </a:cubicBezTo>
                      <a:cubicBezTo>
                        <a:pt x="31719" y="33529"/>
                        <a:pt x="22048" y="43200"/>
                        <a:pt x="10119" y="43200"/>
                      </a:cubicBezTo>
                      <a:cubicBezTo>
                        <a:pt x="6644" y="43200"/>
                        <a:pt x="3221" y="42361"/>
                        <a:pt x="140" y="40756"/>
                      </a:cubicBezTo>
                      <a:lnTo>
                        <a:pt x="10119" y="21600"/>
                      </a:lnTo>
                      <a:lnTo>
                        <a:pt x="-1" y="2516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AEB0B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998" name="Arc 18"/>
                <p:cNvSpPr/>
                <p:nvPr/>
              </p:nvSpPr>
              <p:spPr bwMode="auto">
                <a:xfrm flipH="1">
                  <a:off x="3840" y="3264"/>
                  <a:ext cx="480" cy="796"/>
                </a:xfrm>
                <a:custGeom>
                  <a:avLst/>
                  <a:gdLst>
                    <a:gd name="T0" fmla="*/ 213 w 21600"/>
                    <a:gd name="T1" fmla="*/ 0 h 37697"/>
                    <a:gd name="T2" fmla="*/ 254 w 21600"/>
                    <a:gd name="T3" fmla="*/ 796 h 37697"/>
                    <a:gd name="T4" fmla="*/ 0 w 21600"/>
                    <a:gd name="T5" fmla="*/ 409 h 3769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7697" fill="none" extrusionOk="0">
                      <a:moveTo>
                        <a:pt x="9574" y="0"/>
                      </a:moveTo>
                      <a:cubicBezTo>
                        <a:pt x="16939" y="3642"/>
                        <a:pt x="21600" y="11146"/>
                        <a:pt x="21600" y="19362"/>
                      </a:cubicBezTo>
                      <a:cubicBezTo>
                        <a:pt x="21600" y="26821"/>
                        <a:pt x="17750" y="33753"/>
                        <a:pt x="11418" y="37696"/>
                      </a:cubicBezTo>
                    </a:path>
                    <a:path w="21600" h="37697" stroke="0" extrusionOk="0">
                      <a:moveTo>
                        <a:pt x="9574" y="0"/>
                      </a:moveTo>
                      <a:cubicBezTo>
                        <a:pt x="16939" y="3642"/>
                        <a:pt x="21600" y="11146"/>
                        <a:pt x="21600" y="19362"/>
                      </a:cubicBezTo>
                      <a:cubicBezTo>
                        <a:pt x="21600" y="26821"/>
                        <a:pt x="17750" y="33753"/>
                        <a:pt x="11418" y="37696"/>
                      </a:cubicBezTo>
                      <a:lnTo>
                        <a:pt x="0" y="19362"/>
                      </a:lnTo>
                      <a:lnTo>
                        <a:pt x="9574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AEB0B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995" name="Arc 19"/>
              <p:cNvSpPr/>
              <p:nvPr/>
            </p:nvSpPr>
            <p:spPr bwMode="auto">
              <a:xfrm flipH="1">
                <a:off x="3840" y="3263"/>
                <a:ext cx="480" cy="796"/>
              </a:xfrm>
              <a:custGeom>
                <a:avLst/>
                <a:gdLst>
                  <a:gd name="T0" fmla="*/ 213 w 21600"/>
                  <a:gd name="T1" fmla="*/ 0 h 37697"/>
                  <a:gd name="T2" fmla="*/ 254 w 21600"/>
                  <a:gd name="T3" fmla="*/ 796 h 37697"/>
                  <a:gd name="T4" fmla="*/ 0 w 21600"/>
                  <a:gd name="T5" fmla="*/ 409 h 376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7697" fill="none" extrusionOk="0">
                    <a:moveTo>
                      <a:pt x="9574" y="0"/>
                    </a:moveTo>
                    <a:cubicBezTo>
                      <a:pt x="16939" y="3642"/>
                      <a:pt x="21600" y="11146"/>
                      <a:pt x="21600" y="19362"/>
                    </a:cubicBezTo>
                    <a:cubicBezTo>
                      <a:pt x="21600" y="26821"/>
                      <a:pt x="17750" y="33753"/>
                      <a:pt x="11418" y="37696"/>
                    </a:cubicBezTo>
                  </a:path>
                  <a:path w="21600" h="37697" stroke="0" extrusionOk="0">
                    <a:moveTo>
                      <a:pt x="9574" y="0"/>
                    </a:moveTo>
                    <a:cubicBezTo>
                      <a:pt x="16939" y="3642"/>
                      <a:pt x="21600" y="11146"/>
                      <a:pt x="21600" y="19362"/>
                    </a:cubicBezTo>
                    <a:cubicBezTo>
                      <a:pt x="21600" y="26821"/>
                      <a:pt x="17750" y="33753"/>
                      <a:pt x="11418" y="37696"/>
                    </a:cubicBezTo>
                    <a:lnTo>
                      <a:pt x="0" y="19362"/>
                    </a:lnTo>
                    <a:lnTo>
                      <a:pt x="95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996" name="Arc 20"/>
              <p:cNvSpPr/>
              <p:nvPr/>
            </p:nvSpPr>
            <p:spPr bwMode="auto">
              <a:xfrm>
                <a:off x="3840" y="3280"/>
                <a:ext cx="480" cy="781"/>
              </a:xfrm>
              <a:custGeom>
                <a:avLst/>
                <a:gdLst>
                  <a:gd name="T0" fmla="*/ 243 w 21600"/>
                  <a:gd name="T1" fmla="*/ 0 h 36975"/>
                  <a:gd name="T2" fmla="*/ 254 w 21600"/>
                  <a:gd name="T3" fmla="*/ 781 h 36975"/>
                  <a:gd name="T4" fmla="*/ 0 w 21600"/>
                  <a:gd name="T5" fmla="*/ 394 h 369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975" fill="none" extrusionOk="0">
                    <a:moveTo>
                      <a:pt x="10913" y="0"/>
                    </a:moveTo>
                    <a:cubicBezTo>
                      <a:pt x="17532" y="3875"/>
                      <a:pt x="21600" y="10970"/>
                      <a:pt x="21600" y="18640"/>
                    </a:cubicBezTo>
                    <a:cubicBezTo>
                      <a:pt x="21600" y="26099"/>
                      <a:pt x="17750" y="33031"/>
                      <a:pt x="11418" y="36974"/>
                    </a:cubicBezTo>
                  </a:path>
                  <a:path w="21600" h="36975" stroke="0" extrusionOk="0">
                    <a:moveTo>
                      <a:pt x="10913" y="0"/>
                    </a:moveTo>
                    <a:cubicBezTo>
                      <a:pt x="17532" y="3875"/>
                      <a:pt x="21600" y="10970"/>
                      <a:pt x="21600" y="18640"/>
                    </a:cubicBezTo>
                    <a:cubicBezTo>
                      <a:pt x="21600" y="26099"/>
                      <a:pt x="17750" y="33031"/>
                      <a:pt x="11418" y="36974"/>
                    </a:cubicBezTo>
                    <a:lnTo>
                      <a:pt x="0" y="18640"/>
                    </a:lnTo>
                    <a:lnTo>
                      <a:pt x="109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>
                <a:solidFill>
                  <a:srgbClr val="000000"/>
                </a:solidFill>
                <a:prstDash val="dash"/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991" name="Text Box 21"/>
            <p:cNvSpPr txBox="1">
              <a:spLocks noChangeArrowheads="1"/>
            </p:cNvSpPr>
            <p:nvPr/>
          </p:nvSpPr>
          <p:spPr bwMode="auto">
            <a:xfrm>
              <a:off x="3339" y="178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53"/>
    </mc:Choice>
    <mc:Fallback xmlns="">
      <p:transition spd="slow" advTm="2685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700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158875"/>
            <a:ext cx="8193088" cy="53276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、差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</a:t>
            </a:r>
            <a:r>
              <a:rPr lang="en-US" altLang="zh-CN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/>
              <a:t>　</a:t>
            </a:r>
            <a:r>
              <a:rPr lang="zh-CN" altLang="zh-CN" sz="2400"/>
              <a:t>求R1－R2</a:t>
            </a: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</p:txBody>
      </p:sp>
      <p:graphicFrame>
        <p:nvGraphicFramePr>
          <p:cNvPr id="770052" name="Group 4"/>
          <p:cNvGraphicFramePr>
            <a:graphicFrameLocks noGrp="1"/>
          </p:cNvGraphicFramePr>
          <p:nvPr/>
        </p:nvGraphicFramePr>
        <p:xfrm>
          <a:off x="971550" y="2492375"/>
          <a:ext cx="1905000" cy="182403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1330325" y="4484688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graphicFrame>
        <p:nvGraphicFramePr>
          <p:cNvPr id="770075" name="Group 27"/>
          <p:cNvGraphicFramePr>
            <a:graphicFrameLocks noGrp="1"/>
          </p:cNvGraphicFramePr>
          <p:nvPr/>
        </p:nvGraphicFramePr>
        <p:xfrm>
          <a:off x="3638550" y="2492375"/>
          <a:ext cx="1905000" cy="1824038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4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1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31" marB="45731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31" marB="4573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057" name="Text Box 49"/>
          <p:cNvSpPr txBox="1">
            <a:spLocks noChangeArrowheads="1"/>
          </p:cNvSpPr>
          <p:nvPr/>
        </p:nvSpPr>
        <p:spPr bwMode="auto">
          <a:xfrm>
            <a:off x="3997325" y="4484688"/>
            <a:ext cx="143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</a:p>
        </p:txBody>
      </p:sp>
      <p:sp>
        <p:nvSpPr>
          <p:cNvPr id="770098" name="Rectangle 50"/>
          <p:cNvSpPr>
            <a:spLocks noChangeArrowheads="1"/>
          </p:cNvSpPr>
          <p:nvPr/>
        </p:nvSpPr>
        <p:spPr bwMode="auto">
          <a:xfrm>
            <a:off x="395288" y="5013325"/>
            <a:ext cx="8137525" cy="10414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适用于：</a:t>
            </a:r>
            <a:r>
              <a:rPr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找出在一个关系中而不在另一个关系中的那些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楷体_GB2312" pitchFamily="49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              </a:t>
            </a:r>
            <a:r>
              <a:rPr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元组的运算需求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.</a:t>
            </a:r>
          </a:p>
        </p:txBody>
      </p:sp>
      <p:sp>
        <p:nvSpPr>
          <p:cNvPr id="770118" name="Text Box 70"/>
          <p:cNvSpPr txBox="1">
            <a:spLocks noChangeArrowheads="1"/>
          </p:cNvSpPr>
          <p:nvPr/>
        </p:nvSpPr>
        <p:spPr bwMode="auto">
          <a:xfrm>
            <a:off x="6664325" y="3692525"/>
            <a:ext cx="150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R1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R2</a:t>
            </a:r>
          </a:p>
        </p:txBody>
      </p:sp>
      <p:graphicFrame>
        <p:nvGraphicFramePr>
          <p:cNvPr id="770119" name="Group 71"/>
          <p:cNvGraphicFramePr>
            <a:graphicFrameLocks noGrp="1"/>
          </p:cNvGraphicFramePr>
          <p:nvPr/>
        </p:nvGraphicFramePr>
        <p:xfrm>
          <a:off x="6267450" y="2495550"/>
          <a:ext cx="1905000" cy="95885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0133" name="Line 85"/>
          <p:cNvSpPr>
            <a:spLocks noChangeShapeType="1"/>
          </p:cNvSpPr>
          <p:nvPr/>
        </p:nvSpPr>
        <p:spPr bwMode="auto">
          <a:xfrm>
            <a:off x="3867150" y="3868738"/>
            <a:ext cx="1441450" cy="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0134" name="Line 86"/>
          <p:cNvSpPr>
            <a:spLocks noChangeShapeType="1"/>
          </p:cNvSpPr>
          <p:nvPr/>
        </p:nvSpPr>
        <p:spPr bwMode="auto">
          <a:xfrm>
            <a:off x="1217613" y="4292600"/>
            <a:ext cx="1441450" cy="0"/>
          </a:xfrm>
          <a:prstGeom prst="line">
            <a:avLst/>
          </a:prstGeom>
          <a:noFill/>
          <a:ln w="28575" cap="sq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0135" name="Line 87"/>
          <p:cNvSpPr>
            <a:spLocks noChangeShapeType="1"/>
          </p:cNvSpPr>
          <p:nvPr/>
        </p:nvSpPr>
        <p:spPr bwMode="auto">
          <a:xfrm>
            <a:off x="1187450" y="3860800"/>
            <a:ext cx="1441450" cy="0"/>
          </a:xfrm>
          <a:prstGeom prst="line">
            <a:avLst/>
          </a:prstGeom>
          <a:noFill/>
          <a:ln w="28575" cap="sq">
            <a:solidFill>
              <a:srgbClr val="FF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0136" name="Line 88"/>
          <p:cNvSpPr>
            <a:spLocks noChangeShapeType="1"/>
          </p:cNvSpPr>
          <p:nvPr/>
        </p:nvSpPr>
        <p:spPr bwMode="auto">
          <a:xfrm>
            <a:off x="3876675" y="3373438"/>
            <a:ext cx="1441450" cy="0"/>
          </a:xfrm>
          <a:prstGeom prst="line">
            <a:avLst/>
          </a:prstGeom>
          <a:noFill/>
          <a:ln w="28575" cap="sq">
            <a:solidFill>
              <a:srgbClr val="FF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7414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7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7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7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7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7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98" grpId="0"/>
      <p:bldP spid="7701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7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207375" cy="514985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altLang="zh-CN" sz="25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50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、广义笛卡儿积</a:t>
            </a:r>
          </a:p>
          <a:p>
            <a:pPr marL="0" indent="0" eaLnBrk="1" hangingPunct="1">
              <a:lnSpc>
                <a:spcPct val="140000"/>
              </a:lnSpc>
              <a:defRPr/>
            </a:pPr>
            <a:r>
              <a:rPr lang="zh-CN" altLang="en-US" sz="2500"/>
              <a:t>　    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由前面的关系的数学定义可知，在面向关系运算的广义笛卡儿积中，并不强调</a:t>
            </a:r>
            <a:r>
              <a:rPr lang="zh-CN" altLang="en-US" sz="250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序偶</a:t>
            </a:r>
            <a:r>
              <a:rPr lang="zh-CN" altLang="en-US" sz="250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＜</a:t>
            </a:r>
            <a:r>
              <a:rPr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＞和</a:t>
            </a:r>
            <a:r>
              <a:rPr lang="zh-CN" altLang="en-US" sz="250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有序</a:t>
            </a:r>
            <a:r>
              <a:rPr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元组</a:t>
            </a:r>
            <a:r>
              <a:rPr lang="zh-CN" altLang="en-US" sz="250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＜</a:t>
            </a:r>
            <a:r>
              <a:rPr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a,a,</a:t>
            </a:r>
            <a:r>
              <a:rPr lang="en-US" altLang="zh-CN" sz="2500">
                <a:latin typeface="Arial" panose="020B0604020202020204" pitchFamily="34" charset="0"/>
                <a:ea typeface="黑体" panose="02010609060101010101" pitchFamily="49" charset="-122"/>
              </a:rPr>
              <a:t>…</a:t>
            </a:r>
            <a:r>
              <a:rPr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,a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＞中各元素的次序问题。</a:t>
            </a:r>
            <a:r>
              <a:rPr lang="zh-CN" altLang="en-US" sz="250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比如：</a:t>
            </a:r>
          </a:p>
          <a:p>
            <a:pPr marL="0" indent="0" eaLnBrk="1" hangingPunct="1">
              <a:lnSpc>
                <a:spcPct val="140000"/>
              </a:lnSpc>
              <a:defRPr/>
            </a:pPr>
            <a:r>
              <a:rPr lang="zh-CN" altLang="en-US" sz="25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（学号，姓名，性别）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500">
                <a:solidFill>
                  <a:srgbClr val="00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（姓名，学号，性别）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的表示只是习惯问题而不是严格的次序问题。</a:t>
            </a:r>
          </a:p>
          <a:p>
            <a:pPr marL="0" indent="0" eaLnBrk="1" hangingPunct="1">
              <a:lnSpc>
                <a:spcPct val="140000"/>
              </a:lnSpc>
              <a:defRPr/>
            </a:pP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    所以，把这种不强调其</a:t>
            </a:r>
            <a:r>
              <a:rPr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元组中元素次序的笛卡儿积运算，称为广义笛卡儿积运算。在广义笛卡儿积运算中，用一对圆括号表示一个</a:t>
            </a:r>
            <a:r>
              <a:rPr lang="en-US" altLang="zh-CN" sz="250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500">
                <a:latin typeface="黑体" panose="02010609060101010101" pitchFamily="49" charset="-122"/>
                <a:ea typeface="黑体" panose="02010609060101010101" pitchFamily="49" charset="-122"/>
              </a:rPr>
              <a:t>元组。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</p:cSld>
  <p:clrMapOvr>
    <a:masterClrMapping/>
  </p:clrMapOvr>
  <p:transition advTm="70668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8" name="Rectangle 4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881669" name="Rectangle 5"/>
          <p:cNvSpPr>
            <a:spLocks noChangeArrowheads="1"/>
          </p:cNvSpPr>
          <p:nvPr/>
        </p:nvSpPr>
        <p:spPr bwMode="auto">
          <a:xfrm>
            <a:off x="468313" y="1158875"/>
            <a:ext cx="8207375" cy="45751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805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、广义笛卡儿积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sz="2400"/>
              <a:t>　    </a:t>
            </a:r>
            <a:r>
              <a:rPr lang="zh-CN" altLang="en-US">
                <a:solidFill>
                  <a:srgbClr val="660033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设关系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目数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分别为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的笛卡尔积是一个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目的元组集合，每个元组的前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en-US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分量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来自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中的一个元组，后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个分量来自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中的一个元组，并定义为：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en-US" altLang="zh-CN" sz="3000"/>
              <a:t>      R×S</a:t>
            </a:r>
            <a:r>
              <a:rPr lang="zh-CN" altLang="en-US" sz="3000"/>
              <a:t>＝｛</a:t>
            </a:r>
            <a:r>
              <a:rPr lang="en-US" altLang="zh-CN" sz="3000"/>
              <a:t>t | t</a:t>
            </a:r>
            <a:r>
              <a:rPr lang="zh-CN" altLang="en-US" sz="3000"/>
              <a:t>＝</a:t>
            </a:r>
            <a:r>
              <a:rPr lang="en-US" altLang="zh-CN" sz="3000"/>
              <a:t>(t</a:t>
            </a:r>
            <a:r>
              <a:rPr lang="en-US" altLang="zh-CN" sz="3000" baseline="30000"/>
              <a:t>r</a:t>
            </a:r>
            <a:r>
              <a:rPr lang="zh-CN" altLang="en-US" sz="3000"/>
              <a:t>，</a:t>
            </a:r>
            <a:r>
              <a:rPr lang="en-US" altLang="zh-CN" sz="3000"/>
              <a:t>t</a:t>
            </a:r>
            <a:r>
              <a:rPr lang="en-US" altLang="zh-CN" sz="3000" baseline="30000"/>
              <a:t>s</a:t>
            </a:r>
            <a:r>
              <a:rPr lang="en-US" altLang="zh-CN" sz="3000"/>
              <a:t>)∧t</a:t>
            </a:r>
            <a:r>
              <a:rPr lang="en-US" altLang="zh-CN" sz="3000" baseline="30000"/>
              <a:t>r</a:t>
            </a:r>
            <a:r>
              <a:rPr lang="en-US" altLang="zh-CN" sz="3000"/>
              <a:t>∈R∧t</a:t>
            </a:r>
            <a:r>
              <a:rPr lang="en-US" altLang="zh-CN" sz="3000" baseline="30000"/>
              <a:t>s</a:t>
            </a:r>
            <a:r>
              <a:rPr lang="en-US" altLang="zh-CN" sz="3000"/>
              <a:t>∈S</a:t>
            </a:r>
            <a:r>
              <a:rPr lang="zh-CN" altLang="en-US" sz="3000"/>
              <a:t>｝</a:t>
            </a: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>
                <a:solidFill>
                  <a:schemeClr val="hlink"/>
                </a:solidFill>
              </a:rPr>
              <a:t>其中，</a:t>
            </a:r>
            <a:r>
              <a:rPr lang="en-US" altLang="zh-CN" sz="3000"/>
              <a:t>t</a:t>
            </a:r>
            <a:r>
              <a:rPr lang="en-US" altLang="zh-CN" sz="3000" baseline="30000"/>
              <a:t>j </a:t>
            </a:r>
            <a:r>
              <a:rPr lang="zh-CN" altLang="en-US" sz="3000"/>
              <a:t>表示</a:t>
            </a:r>
            <a:r>
              <a:rPr lang="en-US" altLang="zh-CN" sz="3000"/>
              <a:t>t </a:t>
            </a:r>
            <a:r>
              <a:rPr lang="zh-CN" altLang="en-US" sz="3000"/>
              <a:t>的目数为</a:t>
            </a:r>
            <a:r>
              <a:rPr lang="en-US" altLang="zh-CN" sz="3000"/>
              <a:t>j</a:t>
            </a:r>
            <a:r>
              <a:rPr lang="zh-CN" altLang="en-US" sz="3000"/>
              <a:t>。</a:t>
            </a:r>
            <a:r>
              <a:rPr lang="zh-CN" altLang="en-US"/>
              <a:t> </a:t>
            </a:r>
          </a:p>
        </p:txBody>
      </p:sp>
      <p:sp>
        <p:nvSpPr>
          <p:cNvPr id="47108" name="Line 6"/>
          <p:cNvSpPr>
            <a:spLocks noChangeShapeType="1"/>
          </p:cNvSpPr>
          <p:nvPr/>
        </p:nvSpPr>
        <p:spPr bwMode="auto">
          <a:xfrm>
            <a:off x="3492500" y="4957763"/>
            <a:ext cx="172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109" name="Line 7"/>
          <p:cNvSpPr>
            <a:spLocks noChangeShapeType="1"/>
          </p:cNvSpPr>
          <p:nvPr/>
        </p:nvSpPr>
        <p:spPr bwMode="auto">
          <a:xfrm>
            <a:off x="5795963" y="4949825"/>
            <a:ext cx="8636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110" name="Line 8"/>
          <p:cNvSpPr>
            <a:spLocks noChangeShapeType="1"/>
          </p:cNvSpPr>
          <p:nvPr/>
        </p:nvSpPr>
        <p:spPr bwMode="auto">
          <a:xfrm>
            <a:off x="7067550" y="4965700"/>
            <a:ext cx="8636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36"/>
    </mc:Choice>
    <mc:Fallback xmlns="">
      <p:transition spd="slow" advTm="11243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6" name="Rectangle 4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858117" name="Rectangle 5"/>
          <p:cNvSpPr>
            <a:spLocks noChangeArrowheads="1"/>
          </p:cNvSpPr>
          <p:nvPr/>
        </p:nvSpPr>
        <p:spPr bwMode="auto">
          <a:xfrm>
            <a:off x="468313" y="1125538"/>
            <a:ext cx="8280400" cy="418623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805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defRPr/>
            </a:pPr>
            <a:r>
              <a:rPr lang="zh-CN" altLang="en-US">
                <a:solidFill>
                  <a:srgbClr val="003366"/>
                </a:solidFill>
                <a:ea typeface="黑体" panose="02010609060101010101" pitchFamily="49" charset="-122"/>
              </a:rPr>
              <a:t>  广义笛卡儿积运算过程：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/>
              <a:t>          </a:t>
            </a:r>
            <a:r>
              <a:rPr lang="zh-CN" altLang="en-US" sz="2900"/>
              <a:t>用</a:t>
            </a:r>
            <a:r>
              <a:rPr lang="en-US" altLang="zh-CN" sz="2900"/>
              <a:t>R </a:t>
            </a:r>
            <a:r>
              <a:rPr lang="zh-CN" altLang="en-US" sz="2900"/>
              <a:t>的第</a:t>
            </a:r>
            <a:r>
              <a:rPr lang="en-US" altLang="zh-CN" sz="2900"/>
              <a:t>i</a:t>
            </a:r>
            <a:r>
              <a:rPr lang="zh-CN" altLang="en-US" sz="2900"/>
              <a:t>（</a:t>
            </a:r>
            <a:r>
              <a:rPr lang="en-US" altLang="zh-CN" sz="2900"/>
              <a:t>i=1</a:t>
            </a:r>
            <a:r>
              <a:rPr lang="zh-CN" altLang="en-US" sz="2900"/>
              <a:t>，</a:t>
            </a:r>
            <a:r>
              <a:rPr lang="en-US" altLang="zh-CN" sz="2900"/>
              <a:t>2</a:t>
            </a:r>
            <a:r>
              <a:rPr lang="zh-CN" altLang="en-US" sz="2900"/>
              <a:t>，</a:t>
            </a:r>
            <a:r>
              <a:rPr lang="en-US" altLang="zh-CN" sz="2900">
                <a:latin typeface="Arial" panose="020B0604020202020204" pitchFamily="34" charset="0"/>
              </a:rPr>
              <a:t>…</a:t>
            </a:r>
            <a:r>
              <a:rPr lang="zh-CN" altLang="en-US" sz="2900"/>
              <a:t>，</a:t>
            </a:r>
            <a:r>
              <a:rPr lang="en-US" altLang="zh-CN" sz="2900"/>
              <a:t>m</a:t>
            </a:r>
            <a:r>
              <a:rPr lang="zh-CN" altLang="en-US" sz="2900"/>
              <a:t>）个元组与</a:t>
            </a:r>
            <a:r>
              <a:rPr lang="en-US" altLang="zh-CN" sz="2900"/>
              <a:t>S</a:t>
            </a:r>
            <a:r>
              <a:rPr lang="zh-CN" altLang="en-US" sz="2900"/>
              <a:t>的全部元组（设为</a:t>
            </a:r>
            <a:r>
              <a:rPr lang="en-US" altLang="zh-CN" sz="2900"/>
              <a:t>n </a:t>
            </a:r>
            <a:r>
              <a:rPr lang="zh-CN" altLang="en-US" sz="2900"/>
              <a:t>个元组）进行结合（为</a:t>
            </a:r>
            <a:r>
              <a:rPr lang="en-US" altLang="zh-CN" sz="2900"/>
              <a:t>n</a:t>
            </a:r>
            <a:r>
              <a:rPr lang="zh-CN" altLang="en-US" sz="2900"/>
              <a:t>个），所以</a:t>
            </a:r>
            <a:r>
              <a:rPr lang="en-US" altLang="zh-CN" sz="2900"/>
              <a:t>R×S </a:t>
            </a:r>
            <a:r>
              <a:rPr lang="zh-CN" altLang="en-US" sz="2900"/>
              <a:t>有</a:t>
            </a:r>
            <a:r>
              <a:rPr lang="en-US" altLang="zh-CN" sz="2900"/>
              <a:t>m×n </a:t>
            </a:r>
            <a:r>
              <a:rPr lang="zh-CN" altLang="en-US" sz="2900"/>
              <a:t>个元组。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99"/>
    </mc:Choice>
    <mc:Fallback xmlns="">
      <p:transition spd="slow" advTm="3219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741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158875"/>
            <a:ext cx="8193088" cy="53276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、广义笛卡儿积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</a:t>
            </a:r>
            <a:r>
              <a:rPr lang="en-US" altLang="zh-CN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/>
              <a:t>　</a:t>
            </a:r>
            <a:r>
              <a:rPr lang="zh-CN" altLang="zh-CN" sz="2400"/>
              <a:t>求R1×R</a:t>
            </a:r>
            <a:r>
              <a:rPr lang="zh-CN" altLang="en-US" sz="2400"/>
              <a:t>3</a:t>
            </a: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</p:txBody>
      </p:sp>
      <p:graphicFrame>
        <p:nvGraphicFramePr>
          <p:cNvPr id="774301" name="Group 157"/>
          <p:cNvGraphicFramePr>
            <a:graphicFrameLocks noGrp="1"/>
          </p:cNvGraphicFramePr>
          <p:nvPr/>
        </p:nvGraphicFramePr>
        <p:xfrm>
          <a:off x="3086100" y="3290888"/>
          <a:ext cx="1270000" cy="143351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4224" name="Text Box 80"/>
          <p:cNvSpPr txBox="1">
            <a:spLocks noChangeArrowheads="1"/>
          </p:cNvSpPr>
          <p:nvPr/>
        </p:nvSpPr>
        <p:spPr bwMode="auto">
          <a:xfrm>
            <a:off x="3187700" y="4843463"/>
            <a:ext cx="138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R3</a:t>
            </a:r>
          </a:p>
        </p:txBody>
      </p:sp>
      <p:sp>
        <p:nvSpPr>
          <p:cNvPr id="774225" name="Text Box 81"/>
          <p:cNvSpPr txBox="1">
            <a:spLocks noChangeArrowheads="1"/>
          </p:cNvSpPr>
          <p:nvPr/>
        </p:nvSpPr>
        <p:spPr bwMode="auto">
          <a:xfrm>
            <a:off x="5003800" y="17383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latin typeface="仿宋_GB2312" pitchFamily="49" charset="-122"/>
                <a:ea typeface="仿宋_GB2312" pitchFamily="49" charset="-122"/>
              </a:rPr>
              <a:t>R1×R3</a:t>
            </a:r>
            <a:endParaRPr kumimoji="1" lang="zh-CN" altLang="en-US" sz="2800" b="1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774226" name="Group 82"/>
          <p:cNvGraphicFramePr>
            <a:graphicFrameLocks noGrp="1"/>
          </p:cNvGraphicFramePr>
          <p:nvPr/>
        </p:nvGraphicFramePr>
        <p:xfrm>
          <a:off x="638175" y="2852738"/>
          <a:ext cx="1905000" cy="185585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0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4248" name="Text Box 104"/>
          <p:cNvSpPr txBox="1">
            <a:spLocks noChangeArrowheads="1"/>
          </p:cNvSpPr>
          <p:nvPr/>
        </p:nvSpPr>
        <p:spPr bwMode="auto">
          <a:xfrm>
            <a:off x="996950" y="4843463"/>
            <a:ext cx="1343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graphicFrame>
        <p:nvGraphicFramePr>
          <p:cNvPr id="774353" name="Group 209"/>
          <p:cNvGraphicFramePr>
            <a:graphicFrameLocks noGrp="1"/>
          </p:cNvGraphicFramePr>
          <p:nvPr/>
        </p:nvGraphicFramePr>
        <p:xfrm>
          <a:off x="5068888" y="2616200"/>
          <a:ext cx="3175000" cy="310991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4299" name="Line 155"/>
          <p:cNvSpPr>
            <a:spLocks noChangeShapeType="1"/>
          </p:cNvSpPr>
          <p:nvPr/>
        </p:nvSpPr>
        <p:spPr bwMode="auto">
          <a:xfrm>
            <a:off x="709613" y="3716338"/>
            <a:ext cx="172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74354" name="Group 210"/>
          <p:cNvGraphicFramePr>
            <a:graphicFrameLocks noGrp="1"/>
          </p:cNvGraphicFramePr>
          <p:nvPr/>
        </p:nvGraphicFramePr>
        <p:xfrm>
          <a:off x="5068888" y="2616200"/>
          <a:ext cx="3175000" cy="310991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4352" name="Text Box 208"/>
          <p:cNvSpPr txBox="1">
            <a:spLocks noChangeArrowheads="1"/>
          </p:cNvSpPr>
          <p:nvPr/>
        </p:nvSpPr>
        <p:spPr bwMode="auto">
          <a:xfrm>
            <a:off x="5076825" y="3141663"/>
            <a:ext cx="3167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pt-BR" altLang="zh-CN" sz="2000" b="1">
                <a:solidFill>
                  <a:srgbClr val="CC0000"/>
                </a:solidFill>
              </a:rPr>
              <a:t>a</a:t>
            </a:r>
            <a:r>
              <a:rPr lang="pt-BR" altLang="zh-CN" sz="2000">
                <a:solidFill>
                  <a:srgbClr val="CC0000"/>
                </a:solidFill>
              </a:rPr>
              <a:t>       </a:t>
            </a:r>
            <a:r>
              <a:rPr lang="pt-BR" altLang="zh-CN" sz="2000" b="1">
                <a:solidFill>
                  <a:srgbClr val="CC0000"/>
                </a:solidFill>
              </a:rPr>
              <a:t>b</a:t>
            </a:r>
            <a:r>
              <a:rPr lang="pt-BR" altLang="zh-CN" sz="2000">
                <a:solidFill>
                  <a:srgbClr val="CC0000"/>
                </a:solidFill>
              </a:rPr>
              <a:t>	     </a:t>
            </a:r>
            <a:r>
              <a:rPr lang="pt-BR" altLang="zh-CN" sz="2000" b="1">
                <a:solidFill>
                  <a:srgbClr val="CC0000"/>
                </a:solidFill>
              </a:rPr>
              <a:t>c</a:t>
            </a:r>
            <a:r>
              <a:rPr lang="pt-BR" altLang="zh-CN" sz="2000">
                <a:solidFill>
                  <a:srgbClr val="CC0000"/>
                </a:solidFill>
              </a:rPr>
              <a:t>       </a:t>
            </a:r>
            <a:r>
              <a:rPr lang="pt-BR" altLang="zh-CN" sz="2000" b="1">
                <a:solidFill>
                  <a:srgbClr val="CC0000"/>
                </a:solidFill>
              </a:rPr>
              <a:t>g</a:t>
            </a:r>
            <a:r>
              <a:rPr lang="pt-BR" altLang="zh-CN" sz="2000">
                <a:solidFill>
                  <a:srgbClr val="CC0000"/>
                </a:solidFill>
              </a:rPr>
              <a:t>       </a:t>
            </a:r>
            <a:r>
              <a:rPr lang="pt-BR" altLang="zh-CN" sz="2000" b="1">
                <a:solidFill>
                  <a:srgbClr val="CC0000"/>
                </a:solidFill>
              </a:rPr>
              <a:t>h</a:t>
            </a:r>
            <a:r>
              <a:rPr lang="pt-BR" altLang="zh-CN" sz="2000">
                <a:solidFill>
                  <a:srgbClr val="CC0000"/>
                </a:solidFill>
              </a:rPr>
              <a:t>   </a:t>
            </a:r>
            <a:endParaRPr lang="zh-CN" altLang="en-US" sz="2000">
              <a:solidFill>
                <a:srgbClr val="CC0000"/>
              </a:solidFill>
            </a:endParaRPr>
          </a:p>
        </p:txBody>
      </p:sp>
      <p:sp>
        <p:nvSpPr>
          <p:cNvPr id="774355" name="Text Box 211"/>
          <p:cNvSpPr txBox="1">
            <a:spLocks noChangeArrowheads="1"/>
          </p:cNvSpPr>
          <p:nvPr/>
        </p:nvSpPr>
        <p:spPr bwMode="auto">
          <a:xfrm>
            <a:off x="5076825" y="3644900"/>
            <a:ext cx="3167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pt-BR" altLang="zh-CN" sz="2000">
                <a:solidFill>
                  <a:srgbClr val="008000"/>
                </a:solidFill>
              </a:rPr>
              <a:t>  </a:t>
            </a:r>
            <a:r>
              <a:rPr lang="pt-BR" altLang="zh-CN" sz="2000" b="1">
                <a:solidFill>
                  <a:schemeClr val="hlink"/>
                </a:solidFill>
              </a:rPr>
              <a:t>a</a:t>
            </a:r>
            <a:r>
              <a:rPr lang="pt-BR" altLang="zh-CN" sz="2000">
                <a:solidFill>
                  <a:schemeClr val="hlink"/>
                </a:solidFill>
              </a:rPr>
              <a:t>       </a:t>
            </a:r>
            <a:r>
              <a:rPr lang="pt-BR" altLang="zh-CN" sz="2000" b="1">
                <a:solidFill>
                  <a:schemeClr val="hlink"/>
                </a:solidFill>
              </a:rPr>
              <a:t>b</a:t>
            </a:r>
            <a:r>
              <a:rPr lang="pt-BR" altLang="zh-CN" sz="2000">
                <a:solidFill>
                  <a:schemeClr val="hlink"/>
                </a:solidFill>
              </a:rPr>
              <a:t>       </a:t>
            </a:r>
            <a:r>
              <a:rPr lang="pt-BR" altLang="zh-CN" sz="2000" b="1">
                <a:solidFill>
                  <a:schemeClr val="hlink"/>
                </a:solidFill>
              </a:rPr>
              <a:t>c</a:t>
            </a:r>
            <a:r>
              <a:rPr lang="pt-BR" altLang="zh-CN" sz="2000">
                <a:solidFill>
                  <a:schemeClr val="hlink"/>
                </a:solidFill>
              </a:rPr>
              <a:t>        </a:t>
            </a:r>
            <a:r>
              <a:rPr lang="pt-BR" altLang="zh-CN" sz="2000" b="1">
                <a:solidFill>
                  <a:schemeClr val="hlink"/>
                </a:solidFill>
              </a:rPr>
              <a:t>i</a:t>
            </a:r>
            <a:r>
              <a:rPr lang="pt-BR" altLang="zh-CN" sz="2000">
                <a:solidFill>
                  <a:schemeClr val="hlink"/>
                </a:solidFill>
              </a:rPr>
              <a:t>        </a:t>
            </a:r>
            <a:r>
              <a:rPr lang="pt-BR" altLang="zh-CN" sz="2000" b="1">
                <a:solidFill>
                  <a:schemeClr val="hlink"/>
                </a:solidFill>
              </a:rPr>
              <a:t>j</a:t>
            </a:r>
            <a:r>
              <a:rPr lang="pt-BR" altLang="zh-CN" sz="2000">
                <a:solidFill>
                  <a:srgbClr val="CC0000"/>
                </a:solidFill>
              </a:rPr>
              <a:t>   </a:t>
            </a:r>
            <a:endParaRPr lang="zh-CN" altLang="en-US" sz="2000">
              <a:solidFill>
                <a:srgbClr val="CC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320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7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77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7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1000"/>
                                        <p:tgtEl>
                                          <p:spTgt spid="77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7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7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7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9.82659E-7 L -4.16667E-6 0.073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774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7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224" grpId="0"/>
      <p:bldP spid="774225" grpId="0"/>
      <p:bldP spid="774248" grpId="0"/>
      <p:bldP spid="774352" grpId="0"/>
      <p:bldP spid="77435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64" name="Rectangle 4"/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860165" name="Rectangle 5"/>
          <p:cNvSpPr>
            <a:spLocks noRot="1" noChangeArrowheads="1"/>
          </p:cNvSpPr>
          <p:nvPr/>
        </p:nvSpPr>
        <p:spPr bwMode="auto">
          <a:xfrm>
            <a:off x="527050" y="1158875"/>
            <a:ext cx="8193088" cy="53276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、广义笛卡儿积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</a:t>
            </a:r>
            <a:r>
              <a:rPr lang="en-US" altLang="zh-CN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60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r>
              <a:rPr lang="zh-CN" altLang="zh-CN" sz="2400"/>
              <a:t>求R1×R</a:t>
            </a:r>
            <a:r>
              <a:rPr lang="zh-CN" altLang="en-US" sz="2400"/>
              <a:t>3</a:t>
            </a: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/>
          </a:p>
        </p:txBody>
      </p:sp>
      <p:graphicFrame>
        <p:nvGraphicFramePr>
          <p:cNvPr id="860166" name="Group 6"/>
          <p:cNvGraphicFramePr>
            <a:graphicFrameLocks noGrp="1"/>
          </p:cNvGraphicFramePr>
          <p:nvPr/>
        </p:nvGraphicFramePr>
        <p:xfrm>
          <a:off x="3086100" y="3290888"/>
          <a:ext cx="1270000" cy="143351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218" name="Text Box 20"/>
          <p:cNvSpPr txBox="1">
            <a:spLocks noChangeArrowheads="1"/>
          </p:cNvSpPr>
          <p:nvPr/>
        </p:nvSpPr>
        <p:spPr bwMode="auto">
          <a:xfrm>
            <a:off x="3187700" y="4843463"/>
            <a:ext cx="1528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R3</a:t>
            </a:r>
          </a:p>
        </p:txBody>
      </p:sp>
      <p:sp>
        <p:nvSpPr>
          <p:cNvPr id="51219" name="Text Box 21"/>
          <p:cNvSpPr txBox="1">
            <a:spLocks noChangeArrowheads="1"/>
          </p:cNvSpPr>
          <p:nvPr/>
        </p:nvSpPr>
        <p:spPr bwMode="auto">
          <a:xfrm>
            <a:off x="5003800" y="17383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latin typeface="仿宋_GB2312" pitchFamily="49" charset="-122"/>
                <a:ea typeface="仿宋_GB2312" pitchFamily="49" charset="-122"/>
              </a:rPr>
              <a:t>R1×R3</a:t>
            </a:r>
            <a:endParaRPr kumimoji="1" lang="zh-CN" altLang="en-US" sz="2800" b="1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860182" name="Group 22"/>
          <p:cNvGraphicFramePr>
            <a:graphicFrameLocks noGrp="1"/>
          </p:cNvGraphicFramePr>
          <p:nvPr/>
        </p:nvGraphicFramePr>
        <p:xfrm>
          <a:off x="638175" y="2852738"/>
          <a:ext cx="1905000" cy="185585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0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242" name="Text Box 44"/>
          <p:cNvSpPr txBox="1">
            <a:spLocks noChangeArrowheads="1"/>
          </p:cNvSpPr>
          <p:nvPr/>
        </p:nvSpPr>
        <p:spPr bwMode="auto">
          <a:xfrm>
            <a:off x="996950" y="4843463"/>
            <a:ext cx="1414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graphicFrame>
        <p:nvGraphicFramePr>
          <p:cNvPr id="860205" name="Group 45"/>
          <p:cNvGraphicFramePr>
            <a:graphicFrameLocks noGrp="1"/>
          </p:cNvGraphicFramePr>
          <p:nvPr/>
        </p:nvGraphicFramePr>
        <p:xfrm>
          <a:off x="5068888" y="2616200"/>
          <a:ext cx="3175000" cy="310991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293" name="Line 95"/>
          <p:cNvSpPr>
            <a:spLocks noChangeShapeType="1"/>
          </p:cNvSpPr>
          <p:nvPr/>
        </p:nvSpPr>
        <p:spPr bwMode="auto">
          <a:xfrm>
            <a:off x="709613" y="4652963"/>
            <a:ext cx="17272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60256" name="Group 96"/>
          <p:cNvGraphicFramePr>
            <a:graphicFrameLocks noGrp="1"/>
          </p:cNvGraphicFramePr>
          <p:nvPr/>
        </p:nvGraphicFramePr>
        <p:xfrm>
          <a:off x="5068888" y="2616200"/>
          <a:ext cx="3175000" cy="310991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3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02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21" marB="4572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marT="45721" marB="4572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344" name="Text Box 146"/>
          <p:cNvSpPr txBox="1">
            <a:spLocks noChangeArrowheads="1"/>
          </p:cNvSpPr>
          <p:nvPr/>
        </p:nvSpPr>
        <p:spPr bwMode="auto">
          <a:xfrm>
            <a:off x="5076825" y="3141663"/>
            <a:ext cx="3167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pt-BR" altLang="zh-CN" sz="2000" b="1">
                <a:solidFill>
                  <a:srgbClr val="CC0000"/>
                </a:solidFill>
              </a:rPr>
              <a:t>a</a:t>
            </a:r>
            <a:r>
              <a:rPr lang="pt-BR" altLang="zh-CN" sz="2000">
                <a:solidFill>
                  <a:srgbClr val="CC0000"/>
                </a:solidFill>
              </a:rPr>
              <a:t>       </a:t>
            </a:r>
            <a:r>
              <a:rPr lang="pt-BR" altLang="zh-CN" sz="2000" b="1">
                <a:solidFill>
                  <a:srgbClr val="CC0000"/>
                </a:solidFill>
              </a:rPr>
              <a:t>b</a:t>
            </a:r>
            <a:r>
              <a:rPr lang="pt-BR" altLang="zh-CN" sz="2000">
                <a:solidFill>
                  <a:srgbClr val="CC0000"/>
                </a:solidFill>
              </a:rPr>
              <a:t>	     </a:t>
            </a:r>
            <a:r>
              <a:rPr lang="pt-BR" altLang="zh-CN" sz="2000" b="1">
                <a:solidFill>
                  <a:srgbClr val="CC0000"/>
                </a:solidFill>
              </a:rPr>
              <a:t>c</a:t>
            </a:r>
            <a:r>
              <a:rPr lang="pt-BR" altLang="zh-CN" sz="2000">
                <a:solidFill>
                  <a:srgbClr val="CC0000"/>
                </a:solidFill>
              </a:rPr>
              <a:t>       </a:t>
            </a:r>
            <a:r>
              <a:rPr lang="pt-BR" altLang="zh-CN" sz="2000" b="1">
                <a:solidFill>
                  <a:srgbClr val="CC0000"/>
                </a:solidFill>
              </a:rPr>
              <a:t>g</a:t>
            </a:r>
            <a:r>
              <a:rPr lang="pt-BR" altLang="zh-CN" sz="2000">
                <a:solidFill>
                  <a:srgbClr val="CC0000"/>
                </a:solidFill>
              </a:rPr>
              <a:t>       </a:t>
            </a:r>
            <a:r>
              <a:rPr lang="pt-BR" altLang="zh-CN" sz="2000" b="1">
                <a:solidFill>
                  <a:srgbClr val="CC0000"/>
                </a:solidFill>
              </a:rPr>
              <a:t>h</a:t>
            </a:r>
            <a:r>
              <a:rPr lang="pt-BR" altLang="zh-CN" sz="2000">
                <a:solidFill>
                  <a:srgbClr val="CC0000"/>
                </a:solidFill>
              </a:rPr>
              <a:t>   </a:t>
            </a:r>
            <a:endParaRPr lang="zh-CN" altLang="en-US" sz="2000">
              <a:solidFill>
                <a:srgbClr val="CC0000"/>
              </a:solidFill>
            </a:endParaRPr>
          </a:p>
        </p:txBody>
      </p:sp>
      <p:sp>
        <p:nvSpPr>
          <p:cNvPr id="51345" name="Text Box 147"/>
          <p:cNvSpPr txBox="1">
            <a:spLocks noChangeArrowheads="1"/>
          </p:cNvSpPr>
          <p:nvPr/>
        </p:nvSpPr>
        <p:spPr bwMode="auto">
          <a:xfrm>
            <a:off x="5076825" y="3644900"/>
            <a:ext cx="3167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pt-BR" altLang="zh-CN" sz="2000">
                <a:solidFill>
                  <a:srgbClr val="008000"/>
                </a:solidFill>
              </a:rPr>
              <a:t>  </a:t>
            </a:r>
            <a:r>
              <a:rPr lang="pt-BR" altLang="zh-CN" sz="2000" b="1">
                <a:solidFill>
                  <a:schemeClr val="hlink"/>
                </a:solidFill>
              </a:rPr>
              <a:t>a</a:t>
            </a:r>
            <a:r>
              <a:rPr lang="pt-BR" altLang="zh-CN" sz="2000">
                <a:solidFill>
                  <a:schemeClr val="hlink"/>
                </a:solidFill>
              </a:rPr>
              <a:t>       </a:t>
            </a:r>
            <a:r>
              <a:rPr lang="pt-BR" altLang="zh-CN" sz="2000" b="1">
                <a:solidFill>
                  <a:schemeClr val="hlink"/>
                </a:solidFill>
              </a:rPr>
              <a:t>b</a:t>
            </a:r>
            <a:r>
              <a:rPr lang="pt-BR" altLang="zh-CN" sz="2000">
                <a:solidFill>
                  <a:schemeClr val="hlink"/>
                </a:solidFill>
              </a:rPr>
              <a:t>       </a:t>
            </a:r>
            <a:r>
              <a:rPr lang="pt-BR" altLang="zh-CN" sz="2000" b="1">
                <a:solidFill>
                  <a:schemeClr val="hlink"/>
                </a:solidFill>
              </a:rPr>
              <a:t>c</a:t>
            </a:r>
            <a:r>
              <a:rPr lang="pt-BR" altLang="zh-CN" sz="2000">
                <a:solidFill>
                  <a:schemeClr val="hlink"/>
                </a:solidFill>
              </a:rPr>
              <a:t>        </a:t>
            </a:r>
            <a:r>
              <a:rPr lang="pt-BR" altLang="zh-CN" sz="2000" b="1">
                <a:solidFill>
                  <a:schemeClr val="hlink"/>
                </a:solidFill>
              </a:rPr>
              <a:t>i</a:t>
            </a:r>
            <a:r>
              <a:rPr lang="pt-BR" altLang="zh-CN" sz="2000">
                <a:solidFill>
                  <a:schemeClr val="hlink"/>
                </a:solidFill>
              </a:rPr>
              <a:t>        </a:t>
            </a:r>
            <a:r>
              <a:rPr lang="pt-BR" altLang="zh-CN" sz="2000" b="1">
                <a:solidFill>
                  <a:schemeClr val="hlink"/>
                </a:solidFill>
              </a:rPr>
              <a:t>j</a:t>
            </a:r>
            <a:r>
              <a:rPr lang="pt-BR" altLang="zh-CN" sz="2000">
                <a:solidFill>
                  <a:srgbClr val="CC0000"/>
                </a:solidFill>
              </a:rPr>
              <a:t>   </a:t>
            </a:r>
            <a:endParaRPr lang="zh-CN" altLang="en-US" sz="2000">
              <a:solidFill>
                <a:srgbClr val="CC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4"/>
    </mc:Choice>
    <mc:Fallback xmlns="">
      <p:transition spd="slow" advTm="413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一、基于传统集合理论的关系运算</a:t>
            </a:r>
          </a:p>
        </p:txBody>
      </p:sp>
      <p:sp>
        <p:nvSpPr>
          <p:cNvPr id="7782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27050" y="1158875"/>
            <a:ext cx="8193088" cy="53276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、广义笛卡儿积</a:t>
            </a:r>
          </a:p>
          <a:p>
            <a:pPr eaLnBrk="1" hangingPunct="1">
              <a:defRPr/>
            </a:pPr>
            <a:r>
              <a:rPr lang="en-US" altLang="zh-CN" sz="2400">
                <a:latin typeface="楷体_GB2312" pitchFamily="49" charset="-122"/>
              </a:rPr>
              <a:t>  </a:t>
            </a:r>
            <a:r>
              <a:rPr lang="zh-CN" altLang="en-US" sz="2600">
                <a:solidFill>
                  <a:srgbClr val="660033"/>
                </a:solidFill>
                <a:ea typeface="黑体" panose="02010609060101010101" pitchFamily="49" charset="-122"/>
              </a:rPr>
              <a:t>命名机制</a:t>
            </a:r>
          </a:p>
          <a:p>
            <a:pPr eaLnBrk="1" hangingPunct="1">
              <a:defRPr/>
            </a:pPr>
            <a:r>
              <a:rPr lang="zh-CN" altLang="en-US" sz="2400"/>
              <a:t>    关系名</a:t>
            </a:r>
            <a:r>
              <a:rPr lang="en-US" altLang="zh-CN" sz="2400"/>
              <a:t>.</a:t>
            </a:r>
            <a:r>
              <a:rPr lang="zh-CN" altLang="en-US" sz="2400"/>
              <a:t>属性名</a:t>
            </a:r>
          </a:p>
          <a:p>
            <a:pPr eaLnBrk="1" hangingPunct="1">
              <a:defRPr/>
            </a:pPr>
            <a:r>
              <a:rPr lang="en-US" altLang="zh-CN" sz="2400">
                <a:latin typeface="楷体_GB2312" pitchFamily="49" charset="-122"/>
              </a:rPr>
              <a:t>  </a:t>
            </a:r>
            <a:endParaRPr lang="en-US" altLang="zh-CN" sz="2400"/>
          </a:p>
        </p:txBody>
      </p:sp>
      <p:graphicFrame>
        <p:nvGraphicFramePr>
          <p:cNvPr id="778387" name="Group 147"/>
          <p:cNvGraphicFramePr>
            <a:graphicFrameLocks noGrp="1"/>
          </p:cNvGraphicFramePr>
          <p:nvPr/>
        </p:nvGraphicFramePr>
        <p:xfrm>
          <a:off x="3086100" y="3290888"/>
          <a:ext cx="1270000" cy="1433513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242" name="Text Box 161"/>
          <p:cNvSpPr txBox="1">
            <a:spLocks noChangeArrowheads="1"/>
          </p:cNvSpPr>
          <p:nvPr/>
        </p:nvSpPr>
        <p:spPr bwMode="auto">
          <a:xfrm>
            <a:off x="3190875" y="4843463"/>
            <a:ext cx="1452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R3</a:t>
            </a:r>
          </a:p>
        </p:txBody>
      </p:sp>
      <p:sp>
        <p:nvSpPr>
          <p:cNvPr id="778402" name="Text Box 162"/>
          <p:cNvSpPr txBox="1">
            <a:spLocks noChangeArrowheads="1"/>
          </p:cNvSpPr>
          <p:nvPr/>
        </p:nvSpPr>
        <p:spPr bwMode="auto">
          <a:xfrm>
            <a:off x="5003800" y="12684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800" b="1">
                <a:latin typeface="仿宋_GB2312" pitchFamily="49" charset="-122"/>
                <a:ea typeface="仿宋_GB2312" pitchFamily="49" charset="-122"/>
              </a:rPr>
              <a:t>R1×R3</a:t>
            </a:r>
            <a:endParaRPr kumimoji="1" lang="zh-CN" altLang="en-US" sz="2800" b="1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778403" name="Group 163"/>
          <p:cNvGraphicFramePr>
            <a:graphicFrameLocks noGrp="1"/>
          </p:cNvGraphicFramePr>
          <p:nvPr/>
        </p:nvGraphicFramePr>
        <p:xfrm>
          <a:off x="638175" y="2852738"/>
          <a:ext cx="1905000" cy="185585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0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T="45711" marB="4571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T="45711" marB="4571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66" name="Text Box 185"/>
          <p:cNvSpPr txBox="1">
            <a:spLocks noChangeArrowheads="1"/>
          </p:cNvSpPr>
          <p:nvPr/>
        </p:nvSpPr>
        <p:spPr bwMode="auto">
          <a:xfrm>
            <a:off x="1000125" y="4843463"/>
            <a:ext cx="1411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R1</a:t>
            </a:r>
          </a:p>
        </p:txBody>
      </p:sp>
      <p:graphicFrame>
        <p:nvGraphicFramePr>
          <p:cNvPr id="778534" name="Group 294"/>
          <p:cNvGraphicFramePr>
            <a:graphicFrameLocks noGrp="1"/>
          </p:cNvGraphicFramePr>
          <p:nvPr/>
        </p:nvGraphicFramePr>
        <p:xfrm>
          <a:off x="5068888" y="1916113"/>
          <a:ext cx="3175000" cy="3118114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18000" marR="18000" marT="46790" marB="467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.C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.C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18000" marR="18000" marT="46790" marB="467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2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18000" marR="18000" marT="46790" marB="467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96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18000" marR="18000" marT="46790" marB="467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96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marL="18000" marR="18000" marT="46790" marB="467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96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L="18000" marR="18000" marT="46790" marB="467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g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h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96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marL="18000" marR="18000" marT="46790" marB="467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j</a:t>
                      </a:r>
                    </a:p>
                  </a:txBody>
                  <a:tcPr marL="18000" marR="18000" marT="46790" marB="467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8531" name="Rectangle 291"/>
          <p:cNvSpPr>
            <a:spLocks noChangeArrowheads="1"/>
          </p:cNvSpPr>
          <p:nvPr/>
        </p:nvSpPr>
        <p:spPr bwMode="auto">
          <a:xfrm>
            <a:off x="755650" y="5411788"/>
            <a:ext cx="7561263" cy="10414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广义笛卡儿积适用于</a:t>
            </a:r>
            <a:r>
              <a:rPr lang="en-US" altLang="zh-CN" sz="24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: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rPr>
              <a:t>   将任意两个关系的信息无条件组合在一起的运算需求。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advTm="874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77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7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02" grpId="0"/>
      <p:bldP spid="77853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48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31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6|12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4|24.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1214</Words>
  <Application>Microsoft Office PowerPoint</Application>
  <PresentationFormat>全屏显示(4:3)</PresentationFormat>
  <Paragraphs>369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仿宋_GB2312</vt:lpstr>
      <vt:lpstr>黑体</vt:lpstr>
      <vt:lpstr>楷体_GB2312</vt:lpstr>
      <vt:lpstr>宋体</vt:lpstr>
      <vt:lpstr>Arial</vt:lpstr>
      <vt:lpstr>Tahoma</vt:lpstr>
      <vt:lpstr>Times New Roman</vt:lpstr>
      <vt:lpstr>Wingdings</vt:lpstr>
      <vt:lpstr>Blends</vt:lpstr>
      <vt:lpstr>2.2  关系代数</vt:lpstr>
      <vt:lpstr> </vt:lpstr>
      <vt:lpstr>一、基于传统集合理论的关系运算</vt:lpstr>
      <vt:lpstr>PowerPoint 演示文稿</vt:lpstr>
      <vt:lpstr>一、基于传统集合理论的关系运算</vt:lpstr>
      <vt:lpstr>一、基于传统集合理论的关系运算</vt:lpstr>
      <vt:lpstr>PowerPoint 演示文稿</vt:lpstr>
      <vt:lpstr>一、基于传统集合理论的关系运算</vt:lpstr>
      <vt:lpstr>一、基于传统集合理论的关系运算</vt:lpstr>
      <vt:lpstr>PowerPoint 演示文稿</vt:lpstr>
      <vt:lpstr>一、基于传统集合理论的关系运算</vt:lpstr>
      <vt:lpstr>一、基于传统集合理论的关系运算</vt:lpstr>
      <vt:lpstr>PowerPoint 演示文稿</vt:lpstr>
      <vt:lpstr>PowerPoint 演示文稿</vt:lpstr>
      <vt:lpstr>一、基于传统集合理论的关系运算</vt:lpstr>
      <vt:lpstr>PowerPoint 演示文稿</vt:lpstr>
      <vt:lpstr>一、基于传统集合理论的关系运算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741</cp:revision>
  <cp:lastPrinted>2000-08-23T09:10:00Z</cp:lastPrinted>
  <dcterms:created xsi:type="dcterms:W3CDTF">2113-01-01T00:00:00Z</dcterms:created>
  <dcterms:modified xsi:type="dcterms:W3CDTF">2021-03-07T11:17:59Z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