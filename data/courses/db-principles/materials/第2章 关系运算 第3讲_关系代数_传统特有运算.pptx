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684" r:id="rId2"/>
    <p:sldId id="686" r:id="rId3"/>
    <p:sldId id="687" r:id="rId4"/>
    <p:sldId id="688" r:id="rId5"/>
    <p:sldId id="749" r:id="rId6"/>
    <p:sldId id="689" r:id="rId7"/>
    <p:sldId id="690" r:id="rId8"/>
    <p:sldId id="691" r:id="rId9"/>
  </p:sldIdLst>
  <p:sldSz cx="9144000" cy="6858000" type="screen4x3"/>
  <p:notesSz cx="6662738" cy="98329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99"/>
    <a:srgbClr val="FF00FF"/>
    <a:srgbClr val="99FF33"/>
    <a:srgbClr val="66FFFF"/>
    <a:srgbClr val="006666"/>
    <a:srgbClr val="0066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 autoAdjust="0"/>
    <p:restoredTop sz="83186" autoAdjust="0"/>
  </p:normalViewPr>
  <p:slideViewPr>
    <p:cSldViewPr>
      <p:cViewPr varScale="1">
        <p:scale>
          <a:sx n="109" d="100"/>
          <a:sy n="109" d="100"/>
        </p:scale>
        <p:origin x="1680" y="88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/>
          <a:lstStyle>
            <a:lvl1pPr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/>
          <a:lstStyle>
            <a:lvl1pPr algn="r"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/>
          <a:lstStyle>
            <a:lvl1pPr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/>
          <a:lstStyle>
            <a:lvl1pPr algn="r" eaLnBrk="1" hangingPunct="1">
              <a:defRPr kumimoji="1" sz="1200" smtClean="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CC63C3C-B912-47EE-B070-688E3009EB53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0800AF4-7AC9-4F78-9F4C-DD5296FCF57D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3736974-900B-457B-A9B6-4D45286B15BD}" type="slidenum">
              <a:rPr lang="zh-CN" altLang="en-US">
                <a:latin typeface="Times New Roman" panose="02020603050405020304" pitchFamily="18" charset="0"/>
              </a:rPr>
              <a:t>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817688"/>
            <a:ext cx="9009063" cy="1052512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4036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27088" y="16764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4036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8DBF785-7AD6-43E5-875E-C1A0DFF0CA1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1B2F2-A87F-4254-B008-C52B6AA27BF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2B336-27D4-40CF-AEA6-F0301A2B8E2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E159E7-C7B0-4BCF-B02B-3472BE36C11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E1B68-8698-4513-86F2-E2BBCBFBFEF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4A1AA-805A-4776-82E8-481E4581D44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EDED4-A6F6-4987-A7B1-E819FFE345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40203-8A99-4C60-9D86-64BF6EA2A44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36763-DAB8-4C81-8069-4FA207B3D9C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176F5-B964-4DE6-88DA-E5F1EC74039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214313"/>
            <a:ext cx="2117725" cy="6283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214313"/>
            <a:ext cx="6205537" cy="6283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D23A2-36DA-4F9A-B95D-9C700F01F55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622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8A430-2AC9-400D-B451-781749E42D4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935038"/>
            <a:ext cx="8277225" cy="1428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393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933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934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934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fld id="{9DC88A84-BC17-4A71-AF7B-C27FB8C08320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sp>
        <p:nvSpPr>
          <p:cNvPr id="776210" name="Line 18"/>
          <p:cNvSpPr>
            <a:spLocks noChangeShapeType="1"/>
          </p:cNvSpPr>
          <p:nvPr/>
        </p:nvSpPr>
        <p:spPr bwMode="auto">
          <a:xfrm>
            <a:off x="4772025" y="4660900"/>
            <a:ext cx="273685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6213" name="Rectangle 21"/>
          <p:cNvSpPr>
            <a:spLocks noChangeArrowheads="1"/>
          </p:cNvSpPr>
          <p:nvPr/>
        </p:nvSpPr>
        <p:spPr bwMode="auto">
          <a:xfrm>
            <a:off x="323850" y="1185863"/>
            <a:ext cx="8424863" cy="49799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ffectLst/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defRPr/>
            </a:pPr>
            <a:r>
              <a:rPr kumimoji="0" lang="en-US" altLang="zh-CN" sz="30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1</a:t>
            </a:r>
            <a:r>
              <a:rPr kumimoji="0" lang="zh-CN" altLang="en-US" sz="30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、投影（</a:t>
            </a:r>
            <a:r>
              <a:rPr kumimoji="0" lang="en-US" altLang="zh-CN" sz="30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Projection</a:t>
            </a:r>
            <a:r>
              <a:rPr kumimoji="0" lang="zh-CN" altLang="en-US" sz="30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3200" b="1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lnSpc>
                <a:spcPct val="120000"/>
              </a:lnSpc>
              <a:spcBef>
                <a:spcPct val="5000"/>
              </a:spcBef>
              <a:defRPr/>
            </a:pPr>
            <a:r>
              <a:rPr kumimoji="0" lang="zh-CN" altLang="en-US" sz="3200" b="1">
                <a:ea typeface="黑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设关系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目关系，其元组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8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变量为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t=(t</a:t>
            </a:r>
            <a:r>
              <a:rPr kumimoji="0" lang="en-US" altLang="zh-CN" sz="2800" b="1" baseline="-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,t</a:t>
            </a:r>
            <a:r>
              <a:rPr kumimoji="0" lang="en-US" altLang="zh-CN" sz="2800" b="1" baseline="-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,t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10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在其分量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j1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j2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jk</a:t>
            </a:r>
            <a:r>
              <a:rPr kumimoji="0"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k≤r</a:t>
            </a:r>
            <a:r>
              <a:rPr kumimoji="0"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j1</a:t>
            </a:r>
            <a:r>
              <a:rPr kumimoji="0"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j2</a:t>
            </a:r>
            <a:r>
              <a:rPr kumimoji="0"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0"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jk</a:t>
            </a:r>
            <a:r>
              <a:rPr kumimoji="0"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0"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kumimoji="0"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之间互不相同的整数）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上的投影是一个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kumimoji="0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目关系，并定义为：</a:t>
            </a:r>
          </a:p>
          <a:p>
            <a:pPr algn="just" eaLnBrk="1" hangingPunct="1">
              <a:lnSpc>
                <a:spcPct val="135000"/>
              </a:lnSpc>
              <a:spcBef>
                <a:spcPct val="30000"/>
              </a:spcBef>
              <a:defRPr/>
            </a:pP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kumimoji="0" lang="en-US" altLang="zh-CN" sz="2900" b="1" baseline="-25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j1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900" b="1" baseline="-25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j2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900" b="1" baseline="-30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900" b="1" baseline="-25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jk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(R)</a:t>
            </a:r>
            <a:r>
              <a:rPr kumimoji="0" lang="zh-CN" altLang="en-US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＝｛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t|t</a:t>
            </a:r>
            <a:r>
              <a:rPr kumimoji="0" lang="zh-CN" altLang="en-US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(t</a:t>
            </a:r>
            <a:r>
              <a:rPr kumimoji="0" lang="en-US" altLang="zh-CN" sz="2900" b="1" baseline="-25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j1</a:t>
            </a:r>
            <a:r>
              <a:rPr kumimoji="0" lang="zh-CN" altLang="en-US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900" b="1" baseline="-25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j2</a:t>
            </a:r>
            <a:r>
              <a:rPr kumimoji="0" lang="zh-CN" altLang="en-US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0" lang="zh-CN" altLang="en-US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900" b="1" baseline="-25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jk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)∧</a:t>
            </a:r>
          </a:p>
          <a:p>
            <a:pPr algn="just" eaLnBrk="1" hangingPunct="1">
              <a:lnSpc>
                <a:spcPct val="135000"/>
              </a:lnSpc>
              <a:spcBef>
                <a:spcPct val="5000"/>
              </a:spcBef>
              <a:defRPr/>
            </a:pP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(A</a:t>
            </a:r>
            <a:r>
              <a:rPr kumimoji="0" lang="en-US" altLang="zh-CN" sz="2900" b="1" baseline="-25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j1</a:t>
            </a:r>
            <a:r>
              <a:rPr kumimoji="0" lang="zh-CN" altLang="en-US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900" b="1" baseline="-25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j2</a:t>
            </a:r>
            <a:r>
              <a:rPr kumimoji="0" lang="zh-CN" altLang="en-US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0" lang="zh-CN" altLang="en-US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900" b="1" baseline="-25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jr</a:t>
            </a:r>
            <a:r>
              <a:rPr kumimoji="0" lang="en-US" altLang="zh-CN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)∈R</a:t>
            </a:r>
            <a:r>
              <a:rPr kumimoji="0" lang="zh-CN" altLang="en-US" sz="2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｝</a:t>
            </a:r>
          </a:p>
          <a:p>
            <a:pPr algn="just" eaLnBrk="1" hangingPunct="1">
              <a:lnSpc>
                <a:spcPct val="145000"/>
              </a:lnSpc>
              <a:spcBef>
                <a:spcPct val="5000"/>
              </a:spcBef>
              <a:defRPr/>
            </a:pPr>
            <a:r>
              <a:rPr kumimoji="0" lang="zh-CN" altLang="en-US" sz="29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</a:rPr>
              <a:t>其中，</a:t>
            </a:r>
            <a:r>
              <a:rPr kumimoji="0"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</a:rPr>
              <a:t>π</a:t>
            </a:r>
            <a:r>
              <a:rPr kumimoji="0" lang="zh-CN" altLang="en-US" sz="2900" b="1"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</a:rPr>
              <a:t>为投影运算符。</a:t>
            </a:r>
            <a:r>
              <a:rPr kumimoji="0" lang="zh-CN" altLang="en-US" sz="2900" b="1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  <p:transition advTm="1440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7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7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2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07950" y="1182688"/>
            <a:ext cx="8567738" cy="51260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12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>
                <a:solidFill>
                  <a:srgbClr val="0033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投影</a:t>
            </a:r>
            <a:r>
              <a:rPr lang="zh-CN" altLang="en-US">
                <a:solidFill>
                  <a:srgbClr val="0033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运算过程：</a:t>
            </a:r>
          </a:p>
          <a:p>
            <a:pPr lvl="1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首先按照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的顺序，从关系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中取出列序号为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或属性名序列为</a:t>
            </a:r>
            <a:r>
              <a:rPr lang="en-US" altLang="zh-CN" sz="2400" b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j1</a:t>
            </a:r>
            <a:r>
              <a:rPr lang="zh-CN" altLang="en-US" sz="2400" b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j2</a:t>
            </a:r>
            <a:r>
              <a:rPr lang="zh-CN" altLang="en-US" sz="2400" b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400" b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jk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）的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列，然后除去结果中的重复元组，构成一个以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jk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为属性顺序的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目关系。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ct val="130000"/>
              </a:lnSpc>
              <a:spcBef>
                <a:spcPct val="30000"/>
              </a:spcBef>
              <a:buClr>
                <a:srgbClr val="0099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投影是从列的角度进行的运算</a:t>
            </a:r>
          </a:p>
          <a:p>
            <a:pPr lvl="2" eaLnBrk="1" hangingPunct="1">
              <a:lnSpc>
                <a:spcPct val="130000"/>
              </a:lnSpc>
              <a:buClr>
                <a:srgbClr val="0099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投影的下标可是列序号，也可是列属性名</a:t>
            </a:r>
          </a:p>
        </p:txBody>
      </p:sp>
      <p:sp>
        <p:nvSpPr>
          <p:cNvPr id="78029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</p:spTree>
    <p:custDataLst>
      <p:tags r:id="rId1"/>
    </p:custDataLst>
  </p:cSld>
  <p:clrMapOvr>
    <a:masterClrMapping/>
  </p:clrMapOvr>
  <p:transition advTm="682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9750" y="1125538"/>
            <a:ext cx="8062913" cy="54721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投影</a:t>
            </a:r>
            <a:endParaRPr lang="en-US" altLang="zh-CN" sz="300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hlink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示例：</a:t>
            </a:r>
            <a:r>
              <a:rPr kumimoji="1" lang="en-US" altLang="zh-CN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kumimoji="1" lang="en-US" altLang="zh-CN" sz="2400" baseline="-300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1,2</a:t>
            </a:r>
            <a:r>
              <a:rPr kumimoji="1" lang="en-US" altLang="zh-CN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（R2）</a:t>
            </a:r>
            <a:r>
              <a:rPr kumimoji="1"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400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i="1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</a:t>
            </a:r>
            <a:endParaRPr lang="en-US" altLang="zh-CN" sz="2400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81316" name="Group 4"/>
          <p:cNvGraphicFramePr>
            <a:graphicFrameLocks noGrp="1"/>
          </p:cNvGraphicFramePr>
          <p:nvPr/>
        </p:nvGraphicFramePr>
        <p:xfrm>
          <a:off x="1763713" y="2568575"/>
          <a:ext cx="1905000" cy="1824038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369" name="Text Box 26"/>
          <p:cNvSpPr txBox="1">
            <a:spLocks noChangeArrowheads="1"/>
          </p:cNvSpPr>
          <p:nvPr/>
        </p:nvSpPr>
        <p:spPr bwMode="auto">
          <a:xfrm>
            <a:off x="2195513" y="4556125"/>
            <a:ext cx="1296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R2</a:t>
            </a:r>
          </a:p>
        </p:txBody>
      </p:sp>
      <p:graphicFrame>
        <p:nvGraphicFramePr>
          <p:cNvPr id="781339" name="Group 27"/>
          <p:cNvGraphicFramePr>
            <a:graphicFrameLocks noGrp="1"/>
          </p:cNvGraphicFramePr>
          <p:nvPr/>
        </p:nvGraphicFramePr>
        <p:xfrm>
          <a:off x="4500563" y="2571750"/>
          <a:ext cx="1270000" cy="1793876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2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81356" name="Group 44"/>
          <p:cNvGraphicFramePr>
            <a:graphicFrameLocks noGrp="1"/>
          </p:cNvGraphicFramePr>
          <p:nvPr/>
        </p:nvGraphicFramePr>
        <p:xfrm>
          <a:off x="6445250" y="2565400"/>
          <a:ext cx="1270000" cy="143827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81371" name="Rectangle 5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sp>
        <p:nvSpPr>
          <p:cNvPr id="781373" name="Rectangle 61"/>
          <p:cNvSpPr>
            <a:spLocks noChangeArrowheads="1"/>
          </p:cNvSpPr>
          <p:nvPr/>
        </p:nvSpPr>
        <p:spPr bwMode="auto">
          <a:xfrm>
            <a:off x="466725" y="5084763"/>
            <a:ext cx="8677275" cy="10414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适用于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：可以从某一关系中选出若干属性列构成新的关系，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通常用于查询结果的输出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81374" name="Text Box 62"/>
          <p:cNvSpPr txBox="1">
            <a:spLocks noChangeArrowheads="1"/>
          </p:cNvSpPr>
          <p:nvPr/>
        </p:nvSpPr>
        <p:spPr bwMode="auto">
          <a:xfrm>
            <a:off x="4095750" y="4508500"/>
            <a:ext cx="2205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取出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、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B</a:t>
            </a:r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两列</a:t>
            </a:r>
            <a:endParaRPr kumimoji="1" lang="en-US" altLang="zh-CN" sz="24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81375" name="Text Box 63"/>
          <p:cNvSpPr txBox="1">
            <a:spLocks noChangeArrowheads="1"/>
          </p:cNvSpPr>
          <p:nvPr/>
        </p:nvSpPr>
        <p:spPr bwMode="auto">
          <a:xfrm>
            <a:off x="6516688" y="4221163"/>
            <a:ext cx="2376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取掉重复元组</a:t>
            </a:r>
            <a:endParaRPr kumimoji="1" lang="en-US" altLang="zh-CN" sz="2400" b="1"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advTm="10076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8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8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8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1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1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1373" grpId="0"/>
      <p:bldP spid="781374" grpId="0"/>
      <p:bldP spid="7813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9750" y="1125538"/>
            <a:ext cx="8062913" cy="547211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选择</a:t>
            </a:r>
            <a:endParaRPr lang="en-US" altLang="zh-CN" sz="300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          设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是一个命题公式，其运算对象是常量或</a:t>
            </a:r>
            <a:r>
              <a:rPr lang="zh-CN" altLang="en-US">
                <a:solidFill>
                  <a:srgbClr val="0066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元组分量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（属性名或列序号），运算符为算术比较运算符（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，≤，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≥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，＝，≠）和逻辑运算符（∧，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∨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┐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）。则关系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关于公式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的选择运算定义为：</a:t>
            </a:r>
          </a:p>
          <a:p>
            <a:pPr eaLnBrk="1" hangingPunct="1">
              <a:spcBef>
                <a:spcPct val="35000"/>
              </a:spcBef>
              <a:defRPr/>
            </a:pP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3000">
                <a:ea typeface="黑体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3000" baseline="-25000"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3000"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000"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3000">
                <a:ea typeface="黑体" panose="02010609060101010101" pitchFamily="49" charset="-122"/>
                <a:cs typeface="Times New Roman" panose="02020603050405020304" pitchFamily="18" charset="0"/>
              </a:rPr>
              <a:t>）＝｛</a:t>
            </a:r>
            <a:r>
              <a:rPr lang="en-US" altLang="zh-CN" sz="3000"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3000">
                <a:ea typeface="黑体" panose="02010609060101010101" pitchFamily="49" charset="-122"/>
                <a:cs typeface="Times New Roman" panose="02020603050405020304" pitchFamily="18" charset="0"/>
              </a:rPr>
              <a:t>｜</a:t>
            </a:r>
            <a:r>
              <a:rPr lang="en-US" altLang="zh-CN" sz="3000">
                <a:ea typeface="黑体" panose="02010609060101010101" pitchFamily="49" charset="-122"/>
                <a:cs typeface="Times New Roman" panose="02020603050405020304" pitchFamily="18" charset="0"/>
              </a:rPr>
              <a:t>t∈R∧F</a:t>
            </a:r>
            <a:r>
              <a:rPr lang="zh-CN" altLang="en-US" sz="3000"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3000">
                <a:ea typeface="黑体" panose="02010609060101010101" pitchFamily="49" charset="-122"/>
                <a:cs typeface="Times New Roman" panose="02020603050405020304" pitchFamily="18" charset="0"/>
              </a:rPr>
              <a:t>true</a:t>
            </a:r>
            <a:r>
              <a:rPr lang="zh-CN" altLang="en-US" sz="3000">
                <a:ea typeface="黑体" panose="02010609060101010101" pitchFamily="49" charset="-122"/>
                <a:cs typeface="Times New Roman" panose="02020603050405020304" pitchFamily="18" charset="0"/>
              </a:rPr>
              <a:t>｝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  <a:defRPr/>
            </a:pP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lang="zh-CN" altLang="en-US">
                <a:solidFill>
                  <a:schemeClr val="hlink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其中，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为选择运算符。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baseline="-25000"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）运算是从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中挑选满足公式</a:t>
            </a:r>
            <a:r>
              <a:rPr lang="en-US" altLang="zh-CN"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zh-CN" altLang="en-US">
                <a:ea typeface="黑体" panose="02010609060101010101" pitchFamily="49" charset="-122"/>
                <a:cs typeface="Times New Roman" panose="02020603050405020304" pitchFamily="18" charset="0"/>
              </a:rPr>
              <a:t>的那些元组。</a:t>
            </a:r>
          </a:p>
        </p:txBody>
      </p:sp>
      <p:sp>
        <p:nvSpPr>
          <p:cNvPr id="78234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</p:spTree>
  </p:cSld>
  <p:clrMapOvr>
    <a:masterClrMapping/>
  </p:clrMapOvr>
  <p:transition advTm="16299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40" name="Rectangle 4"/>
          <p:cNvSpPr>
            <a:spLocks noRot="1" noChangeArrowheads="1"/>
          </p:cNvSpPr>
          <p:nvPr/>
        </p:nvSpPr>
        <p:spPr bwMode="auto">
          <a:xfrm>
            <a:off x="107950" y="1125538"/>
            <a:ext cx="8567738" cy="547211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>
                <a:solidFill>
                  <a:srgbClr val="0033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选择</a:t>
            </a:r>
            <a:r>
              <a:rPr lang="zh-CN" altLang="en-US">
                <a:solidFill>
                  <a:srgbClr val="0033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运算过程：</a:t>
            </a:r>
            <a:r>
              <a:rPr lang="en-US" altLang="zh-CN" sz="2700">
                <a:solidFill>
                  <a:srgbClr val="FF33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700" baseline="-300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7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(R)≡{t∣t∈R∧F(t)=true}</a:t>
            </a:r>
            <a:endParaRPr lang="zh-CN" altLang="en-US" sz="2700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25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根据由形如</a:t>
            </a:r>
          </a:p>
          <a:p>
            <a:pPr lvl="2" eaLnBrk="1" hangingPunct="1">
              <a:lnSpc>
                <a:spcPct val="125000"/>
              </a:lnSpc>
              <a:spcBef>
                <a:spcPct val="5000"/>
              </a:spcBef>
              <a:buClr>
                <a:srgbClr val="00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&lt;</a:t>
            </a:r>
            <a:r>
              <a:rPr lang="zh-CN" altLang="en-US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属性名</a:t>
            </a:r>
            <a:r>
              <a:rPr lang="en-US" altLang="zh-CN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&gt; &lt;</a:t>
            </a:r>
            <a:r>
              <a:rPr lang="zh-CN" altLang="en-US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比较操作符</a:t>
            </a:r>
            <a:r>
              <a:rPr lang="en-US" altLang="zh-CN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&gt; &lt;</a:t>
            </a:r>
            <a:r>
              <a:rPr lang="zh-CN" altLang="en-US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常量值</a:t>
            </a:r>
            <a:r>
              <a:rPr lang="en-US" altLang="zh-CN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 lvl="2" eaLnBrk="1" hangingPunct="1">
              <a:lnSpc>
                <a:spcPct val="125000"/>
              </a:lnSpc>
              <a:spcBef>
                <a:spcPct val="5000"/>
              </a:spcBef>
              <a:buClr>
                <a:srgbClr val="00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或  </a:t>
            </a:r>
            <a:r>
              <a:rPr lang="en-US" altLang="zh-CN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zh-CN" altLang="en-US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属性名</a:t>
            </a:r>
            <a:r>
              <a:rPr lang="en-US" altLang="zh-CN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&gt; &lt;</a:t>
            </a:r>
            <a:r>
              <a:rPr lang="zh-CN" altLang="en-US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比较操作符</a:t>
            </a:r>
            <a:r>
              <a:rPr lang="en-US" altLang="zh-CN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&gt; &lt;</a:t>
            </a:r>
            <a:r>
              <a:rPr lang="zh-CN" altLang="en-US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属性名</a:t>
            </a:r>
            <a:r>
              <a:rPr lang="en-US" altLang="zh-CN" sz="2800">
                <a:solidFill>
                  <a:srgbClr val="660033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endParaRPr lang="zh-CN" altLang="en-US" sz="2800">
              <a:solidFill>
                <a:srgbClr val="660033"/>
              </a:solidFill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5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6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组成的命题公式（关系表达式 ）</a:t>
            </a: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对关系</a:t>
            </a:r>
            <a:r>
              <a:rPr lang="zh-CN" altLang="en-US" sz="2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作水平（行）分割，从中挑选出满足公式</a:t>
            </a:r>
            <a:r>
              <a:rPr lang="zh-CN" altLang="en-US" sz="2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的那些元组，组成新关系。</a:t>
            </a:r>
            <a:endParaRPr lang="en-US" altLang="zh-CN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25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>
                <a:solidFill>
                  <a:srgbClr val="003366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运算得到的新关系与</a:t>
            </a:r>
            <a:r>
              <a:rPr lang="zh-CN" altLang="en-US" sz="2000">
                <a:solidFill>
                  <a:srgbClr val="003366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3366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>
                <a:solidFill>
                  <a:srgbClr val="003366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003366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的属性相同，但其元组数量总是小于或等于</a:t>
            </a:r>
            <a:r>
              <a:rPr lang="zh-CN" altLang="en-US" sz="2000">
                <a:solidFill>
                  <a:srgbClr val="003366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3366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>
                <a:solidFill>
                  <a:srgbClr val="003366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003366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中的元组数量。</a:t>
            </a:r>
          </a:p>
        </p:txBody>
      </p:sp>
      <p:sp>
        <p:nvSpPr>
          <p:cNvPr id="859141" name="Rectangle 5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973"/>
    </mc:Choice>
    <mc:Fallback xmlns="">
      <p:transition spd="slow" advTm="1379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9750" y="1125538"/>
            <a:ext cx="8062913" cy="54721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选择</a:t>
            </a:r>
            <a:endParaRPr lang="en-US" altLang="zh-CN" sz="300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示例：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zh-CN" altLang="en-US" sz="2400">
              <a:latin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zh-CN" altLang="en-US" sz="2400">
              <a:latin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zh-CN" altLang="en-US" sz="2400">
              <a:latin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zh-CN" altLang="en-US" sz="2400">
              <a:latin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zh-CN" altLang="en-US" sz="2400">
              <a:latin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zh-CN" altLang="en-US" sz="240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83364" name="Group 4"/>
          <p:cNvGraphicFramePr>
            <a:graphicFrameLocks noGrp="1"/>
          </p:cNvGraphicFramePr>
          <p:nvPr/>
        </p:nvGraphicFramePr>
        <p:xfrm>
          <a:off x="2305050" y="2565400"/>
          <a:ext cx="1905000" cy="1901891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357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29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29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1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441" name="Text Box 26"/>
          <p:cNvSpPr txBox="1">
            <a:spLocks noChangeArrowheads="1"/>
          </p:cNvSpPr>
          <p:nvPr/>
        </p:nvSpPr>
        <p:spPr bwMode="auto">
          <a:xfrm>
            <a:off x="323850" y="3235325"/>
            <a:ext cx="167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R1</a:t>
            </a:r>
          </a:p>
        </p:txBody>
      </p:sp>
      <p:sp>
        <p:nvSpPr>
          <p:cNvPr id="783387" name="Text Box 27"/>
          <p:cNvSpPr txBox="1">
            <a:spLocks noChangeArrowheads="1"/>
          </p:cNvSpPr>
          <p:nvPr/>
        </p:nvSpPr>
        <p:spPr bwMode="auto">
          <a:xfrm>
            <a:off x="2411413" y="1700213"/>
            <a:ext cx="288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σ</a:t>
            </a:r>
            <a:r>
              <a:rPr kumimoji="1" lang="en-US" altLang="zh-CN" sz="2800" b="1" baseline="-3000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B=</a:t>
            </a:r>
            <a:r>
              <a:rPr kumimoji="1" lang="en-US" altLang="zh-CN" sz="28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kumimoji="1" lang="en-US" altLang="zh-CN" sz="2800" b="1" baseline="-3000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kumimoji="1" lang="en-US" altLang="zh-CN" sz="2800" b="1" baseline="-3000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∧C=</a:t>
            </a:r>
            <a:r>
              <a:rPr kumimoji="1" lang="en-US" altLang="zh-CN" sz="28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kumimoji="1" lang="en-US" altLang="zh-CN" sz="2800" b="1" baseline="-3000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400" b="1" baseline="-30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（R1） </a:t>
            </a:r>
          </a:p>
        </p:txBody>
      </p:sp>
      <p:graphicFrame>
        <p:nvGraphicFramePr>
          <p:cNvPr id="783388" name="Group 28"/>
          <p:cNvGraphicFramePr>
            <a:graphicFrameLocks noGrp="1"/>
          </p:cNvGraphicFramePr>
          <p:nvPr/>
        </p:nvGraphicFramePr>
        <p:xfrm>
          <a:off x="5495925" y="2781300"/>
          <a:ext cx="1905000" cy="95885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83403" name="Rectangle 4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sp>
        <p:nvSpPr>
          <p:cNvPr id="783405" name="Rectangle 45"/>
          <p:cNvSpPr>
            <a:spLocks noChangeArrowheads="1"/>
          </p:cNvSpPr>
          <p:nvPr/>
        </p:nvSpPr>
        <p:spPr bwMode="auto">
          <a:xfrm>
            <a:off x="468313" y="4797425"/>
            <a:ext cx="8280400" cy="10414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适用于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：可以在某一关系中选择满足给定条件的诸元组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构成新的关系</a:t>
            </a:r>
          </a:p>
        </p:txBody>
      </p:sp>
      <p:sp>
        <p:nvSpPr>
          <p:cNvPr id="783406" name="Text Box 46"/>
          <p:cNvSpPr txBox="1">
            <a:spLocks noChangeArrowheads="1"/>
          </p:cNvSpPr>
          <p:nvPr/>
        </p:nvSpPr>
        <p:spPr bwMode="auto">
          <a:xfrm>
            <a:off x="5508625" y="3932238"/>
            <a:ext cx="18716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b="1"/>
              <a:t>运算结果</a:t>
            </a:r>
          </a:p>
        </p:txBody>
      </p:sp>
      <p:sp>
        <p:nvSpPr>
          <p:cNvPr id="783407" name="Line 47"/>
          <p:cNvSpPr>
            <a:spLocks noChangeShapeType="1"/>
          </p:cNvSpPr>
          <p:nvPr/>
        </p:nvSpPr>
        <p:spPr bwMode="auto">
          <a:xfrm>
            <a:off x="3019425" y="2276475"/>
            <a:ext cx="144463" cy="1439863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3408" name="Line 48"/>
          <p:cNvSpPr>
            <a:spLocks noChangeShapeType="1"/>
          </p:cNvSpPr>
          <p:nvPr/>
        </p:nvSpPr>
        <p:spPr bwMode="auto">
          <a:xfrm>
            <a:off x="3667125" y="2276475"/>
            <a:ext cx="144463" cy="1439863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7001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78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78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8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3387" grpId="0"/>
      <p:bldP spid="783405" grpId="0"/>
      <p:bldP spid="78340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AutoShape 3"/>
          <p:cNvSpPr>
            <a:spLocks noChangeArrowheads="1"/>
          </p:cNvSpPr>
          <p:nvPr/>
        </p:nvSpPr>
        <p:spPr bwMode="auto">
          <a:xfrm>
            <a:off x="468313" y="1771650"/>
            <a:ext cx="1727200" cy="720725"/>
          </a:xfrm>
          <a:prstGeom prst="horizontalScroll">
            <a:avLst>
              <a:gd name="adj" fmla="val 12500"/>
            </a:avLst>
          </a:prstGeom>
          <a:solidFill>
            <a:srgbClr val="CC99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rgbClr val="663300"/>
                </a:solidFill>
                <a:ea typeface="隶书" panose="02010509060101010101" pitchFamily="49" charset="-122"/>
              </a:rPr>
              <a:t>练习</a:t>
            </a:r>
          </a:p>
        </p:txBody>
      </p:sp>
      <p:graphicFrame>
        <p:nvGraphicFramePr>
          <p:cNvPr id="784388" name="Group 4"/>
          <p:cNvGraphicFramePr>
            <a:graphicFrameLocks noGrp="1"/>
          </p:cNvGraphicFramePr>
          <p:nvPr/>
        </p:nvGraphicFramePr>
        <p:xfrm>
          <a:off x="2663825" y="1903413"/>
          <a:ext cx="1905000" cy="185585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0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1465" name="Text Box 26"/>
          <p:cNvSpPr txBox="1">
            <a:spLocks noChangeArrowheads="1"/>
          </p:cNvSpPr>
          <p:nvPr/>
        </p:nvSpPr>
        <p:spPr bwMode="auto">
          <a:xfrm>
            <a:off x="3022600" y="3894138"/>
            <a:ext cx="111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R1</a:t>
            </a:r>
          </a:p>
        </p:txBody>
      </p:sp>
      <p:sp>
        <p:nvSpPr>
          <p:cNvPr id="61466" name="Text Box 51"/>
          <p:cNvSpPr txBox="1">
            <a:spLocks noChangeArrowheads="1"/>
          </p:cNvSpPr>
          <p:nvPr/>
        </p:nvSpPr>
        <p:spPr bwMode="auto">
          <a:xfrm>
            <a:off x="3635375" y="4854575"/>
            <a:ext cx="2089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①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sz="2800" b="1" baseline="-30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baseline="-30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baseline="-30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(R1)</a:t>
            </a:r>
            <a:endParaRPr lang="zh-CN" altLang="en-US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4437" name="Rectangle 5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graphicFrame>
        <p:nvGraphicFramePr>
          <p:cNvPr id="784438" name="Group 54"/>
          <p:cNvGraphicFramePr>
            <a:graphicFrameLocks noGrp="1"/>
          </p:cNvGraphicFramePr>
          <p:nvPr/>
        </p:nvGraphicFramePr>
        <p:xfrm>
          <a:off x="5529263" y="1916113"/>
          <a:ext cx="1270000" cy="185585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0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advTm="530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8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5429" name="Group 21"/>
          <p:cNvGraphicFramePr>
            <a:graphicFrameLocks noGrp="1"/>
          </p:cNvGraphicFramePr>
          <p:nvPr/>
        </p:nvGraphicFramePr>
        <p:xfrm>
          <a:off x="5475288" y="2420938"/>
          <a:ext cx="1905000" cy="1376452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29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9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77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85450" name="Rectangle 4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graphicFrame>
        <p:nvGraphicFramePr>
          <p:cNvPr id="785451" name="Group 43"/>
          <p:cNvGraphicFramePr>
            <a:graphicFrameLocks noGrp="1"/>
          </p:cNvGraphicFramePr>
          <p:nvPr/>
        </p:nvGraphicFramePr>
        <p:xfrm>
          <a:off x="2525713" y="2119313"/>
          <a:ext cx="1905000" cy="185585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0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507" name="Text Box 65"/>
          <p:cNvSpPr txBox="1">
            <a:spLocks noChangeArrowheads="1"/>
          </p:cNvSpPr>
          <p:nvPr/>
        </p:nvSpPr>
        <p:spPr bwMode="auto">
          <a:xfrm>
            <a:off x="2884488" y="4106863"/>
            <a:ext cx="118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R2</a:t>
            </a:r>
          </a:p>
        </p:txBody>
      </p:sp>
      <p:sp>
        <p:nvSpPr>
          <p:cNvPr id="62508" name="Text Box 66"/>
          <p:cNvSpPr txBox="1">
            <a:spLocks noChangeArrowheads="1"/>
          </p:cNvSpPr>
          <p:nvPr/>
        </p:nvSpPr>
        <p:spPr bwMode="auto">
          <a:xfrm>
            <a:off x="3649663" y="5070475"/>
            <a:ext cx="19672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②σ</a:t>
            </a:r>
            <a:r>
              <a:rPr kumimoji="1" lang="en-US" altLang="zh-CN" sz="2800" b="1" baseline="-3000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2&lt;3</a:t>
            </a:r>
            <a:r>
              <a:rPr kumimoji="1" lang="en-US" altLang="zh-CN" sz="2800" b="1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(R2) </a:t>
            </a:r>
            <a:endParaRPr kumimoji="1" lang="zh-CN" altLang="en-US" sz="2800" b="1"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2509" name="AutoShape 67"/>
          <p:cNvSpPr>
            <a:spLocks noChangeArrowheads="1"/>
          </p:cNvSpPr>
          <p:nvPr/>
        </p:nvSpPr>
        <p:spPr bwMode="auto">
          <a:xfrm>
            <a:off x="250825" y="1771650"/>
            <a:ext cx="1944688" cy="720725"/>
          </a:xfrm>
          <a:prstGeom prst="horizontalScroll">
            <a:avLst>
              <a:gd name="adj" fmla="val 12500"/>
            </a:avLst>
          </a:prstGeom>
          <a:solidFill>
            <a:srgbClr val="CC99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rgbClr val="663300"/>
                </a:solidFill>
                <a:ea typeface="隶书" panose="02010509060101010101" pitchFamily="49" charset="-122"/>
              </a:rPr>
              <a:t>练习</a:t>
            </a:r>
          </a:p>
        </p:txBody>
      </p:sp>
    </p:spTree>
    <p:custDataLst>
      <p:tags r:id="rId1"/>
    </p:custDataLst>
  </p:cSld>
  <p:clrMapOvr>
    <a:masterClrMapping/>
  </p:clrMapOvr>
  <p:transition advTm="480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8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5|13.4|7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6|17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2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</Words>
  <Application>Microsoft Office PowerPoint</Application>
  <PresentationFormat>全屏显示(4:3)</PresentationFormat>
  <Paragraphs>143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仿宋_GB2312</vt:lpstr>
      <vt:lpstr>黑体</vt:lpstr>
      <vt:lpstr>楷体_GB2312</vt:lpstr>
      <vt:lpstr>宋体</vt:lpstr>
      <vt:lpstr>Arial</vt:lpstr>
      <vt:lpstr>Tahoma</vt:lpstr>
      <vt:lpstr>Times New Roman</vt:lpstr>
      <vt:lpstr>Wingdings</vt:lpstr>
      <vt:lpstr>Blends</vt:lpstr>
      <vt:lpstr>二、关系代数特有的关系运算</vt:lpstr>
      <vt:lpstr>二、关系代数特有的关系运算</vt:lpstr>
      <vt:lpstr>二、关系代数特有的关系运算</vt:lpstr>
      <vt:lpstr>二、关系代数特有的关系运算</vt:lpstr>
      <vt:lpstr>PowerPoint 演示文稿</vt:lpstr>
      <vt:lpstr>二、关系代数特有的关系运算</vt:lpstr>
      <vt:lpstr>二、关系代数特有的关系运算</vt:lpstr>
      <vt:lpstr>二、关系代数特有的关系运算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747</cp:revision>
  <cp:lastPrinted>2000-08-23T09:10:00Z</cp:lastPrinted>
  <dcterms:created xsi:type="dcterms:W3CDTF">2113-01-01T00:00:00Z</dcterms:created>
  <dcterms:modified xsi:type="dcterms:W3CDTF">2021-03-07T11:18:19Z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2052-11.3.0.8775</vt:lpwstr>
  </property>
</Properties>
</file>