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705" r:id="rId2"/>
    <p:sldId id="751" r:id="rId3"/>
    <p:sldId id="698" r:id="rId4"/>
    <p:sldId id="753" r:id="rId5"/>
    <p:sldId id="706" r:id="rId6"/>
    <p:sldId id="754" r:id="rId7"/>
    <p:sldId id="703" r:id="rId8"/>
    <p:sldId id="755" r:id="rId9"/>
    <p:sldId id="704" r:id="rId10"/>
    <p:sldId id="761" r:id="rId11"/>
    <p:sldId id="763" r:id="rId12"/>
  </p:sldIdLst>
  <p:sldSz cx="9144000" cy="6858000" type="screen4x3"/>
  <p:notesSz cx="6662738" cy="98329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99"/>
    <a:srgbClr val="FF00FF"/>
    <a:srgbClr val="99FF33"/>
    <a:srgbClr val="66FFFF"/>
    <a:srgbClr val="006666"/>
    <a:srgbClr val="00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3186" autoAdjust="0"/>
  </p:normalViewPr>
  <p:slideViewPr>
    <p:cSldViewPr>
      <p:cViewPr varScale="1">
        <p:scale>
          <a:sx n="109" d="100"/>
          <a:sy n="109" d="100"/>
        </p:scale>
        <p:origin x="1680" y="88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algn="r"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/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/>
          <a:lstStyle>
            <a:lvl1pPr algn="r" eaLnBrk="1" hangingPunct="1">
              <a:defRPr kumimoji="1" sz="1200" smtClean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CC63C3C-B912-47EE-B070-688E3009EB53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800AF4-7AC9-4F78-9F4C-DD5296FCF57D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817688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40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8DBF785-7AD6-43E5-875E-C1A0DFF0CA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1B2F2-A87F-4254-B008-C52B6AA27BF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2B336-27D4-40CF-AEA6-F0301A2B8E2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159E7-C7B0-4BCF-B02B-3472BE36C11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E1B68-8698-4513-86F2-E2BBCBFBFEF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4A1AA-805A-4776-82E8-481E4581D44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EDED4-A6F6-4987-A7B1-E819FFE345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40203-8A99-4C60-9D86-64BF6EA2A44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36763-DAB8-4C81-8069-4FA207B3D9C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176F5-B964-4DE6-88DA-E5F1EC74039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D23A2-36DA-4F9A-B95D-9C700F01F5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622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8A430-2AC9-400D-B451-781749E42D4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9DC88A84-BC17-4A71-AF7B-C27FB8C08320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0" name="Rectangle 2"/>
          <p:cNvSpPr>
            <a:spLocks noGrp="1" noRot="1" noChangeArrowheads="1"/>
          </p:cNvSpPr>
          <p:nvPr>
            <p:ph type="body" idx="1"/>
          </p:nvPr>
        </p:nvSpPr>
        <p:spPr>
          <a:xfrm>
            <a:off x="107950" y="1158875"/>
            <a:ext cx="8640763" cy="53276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tabLst>
                <a:tab pos="1524000" algn="l"/>
              </a:tabLst>
              <a:defRPr/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4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连接</a:t>
            </a:r>
            <a:endParaRPr lang="en-US" altLang="zh-CN" sz="300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zh-CN" altLang="en-US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设关系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的目数分别为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l-GR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是算术比较运算符，则连接运算定义为：</a:t>
            </a:r>
          </a:p>
        </p:txBody>
      </p:sp>
      <p:sp>
        <p:nvSpPr>
          <p:cNvPr id="8007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graphicFrame>
        <p:nvGraphicFramePr>
          <p:cNvPr id="800804" name="Object 36"/>
          <p:cNvGraphicFramePr>
            <a:graphicFrameLocks noChangeAspect="1"/>
          </p:cNvGraphicFramePr>
          <p:nvPr/>
        </p:nvGraphicFramePr>
        <p:xfrm>
          <a:off x="684213" y="3346450"/>
          <a:ext cx="806608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57500" imgH="304800" progId="Equation.3">
                  <p:embed/>
                </p:oleObj>
              </mc:Choice>
              <mc:Fallback>
                <p:oleObj name="公式" r:id="rId2" imgW="2857500" imgH="304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346450"/>
                        <a:ext cx="8066087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807" name="Line 39"/>
          <p:cNvSpPr>
            <a:spLocks noChangeShapeType="1"/>
          </p:cNvSpPr>
          <p:nvPr/>
        </p:nvSpPr>
        <p:spPr bwMode="auto">
          <a:xfrm>
            <a:off x="4935538" y="3933825"/>
            <a:ext cx="936625" cy="0"/>
          </a:xfrm>
          <a:prstGeom prst="line">
            <a:avLst/>
          </a:prstGeom>
          <a:noFill/>
          <a:ln w="25400" cap="sq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0808" name="Line 40"/>
          <p:cNvSpPr>
            <a:spLocks noChangeShapeType="1"/>
          </p:cNvSpPr>
          <p:nvPr/>
        </p:nvSpPr>
        <p:spPr bwMode="auto">
          <a:xfrm>
            <a:off x="6324600" y="3933825"/>
            <a:ext cx="936625" cy="0"/>
          </a:xfrm>
          <a:prstGeom prst="line">
            <a:avLst/>
          </a:prstGeom>
          <a:noFill/>
          <a:ln w="25400" cap="sq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0809" name="Line 41"/>
          <p:cNvSpPr>
            <a:spLocks noChangeShapeType="1"/>
          </p:cNvSpPr>
          <p:nvPr/>
        </p:nvSpPr>
        <p:spPr bwMode="auto">
          <a:xfrm>
            <a:off x="7634288" y="3933825"/>
            <a:ext cx="936625" cy="0"/>
          </a:xfrm>
          <a:prstGeom prst="line">
            <a:avLst/>
          </a:prstGeom>
          <a:noFill/>
          <a:ln w="25400" cap="sq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advTm="516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0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0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0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9" name="Rectangle 5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861191" name="Rectangle 7"/>
          <p:cNvSpPr>
            <a:spLocks noChangeArrowheads="1"/>
          </p:cNvSpPr>
          <p:nvPr/>
        </p:nvSpPr>
        <p:spPr bwMode="auto">
          <a:xfrm>
            <a:off x="107950" y="1196975"/>
            <a:ext cx="8640763" cy="42386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连接运算过程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lvl="1" algn="just"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　　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的每个元组的第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个分量与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的每个元组的第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个分量做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比较运算，当满足比较条件时，就把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的该分量所在元组接在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的相应元组的右边构成一个新关系的元组；当不满足比较条件时，继续下一次比较，直到关系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中的元组都比较完为止。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329"/>
    </mc:Choice>
    <mc:Fallback xmlns="">
      <p:transition spd="slow" advTm="373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2700" name="Group 124"/>
          <p:cNvGraphicFramePr>
            <a:graphicFrameLocks noGrp="1"/>
          </p:cNvGraphicFramePr>
          <p:nvPr/>
        </p:nvGraphicFramePr>
        <p:xfrm>
          <a:off x="892175" y="2205038"/>
          <a:ext cx="1905000" cy="187966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13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09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920" name="Text Box 26"/>
          <p:cNvSpPr txBox="1">
            <a:spLocks noChangeArrowheads="1"/>
          </p:cNvSpPr>
          <p:nvPr/>
        </p:nvSpPr>
        <p:spPr bwMode="auto">
          <a:xfrm>
            <a:off x="684213" y="4184650"/>
            <a:ext cx="1543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graphicFrame>
        <p:nvGraphicFramePr>
          <p:cNvPr id="792603" name="Group 27"/>
          <p:cNvGraphicFramePr>
            <a:graphicFrameLocks noGrp="1"/>
          </p:cNvGraphicFramePr>
          <p:nvPr/>
        </p:nvGraphicFramePr>
        <p:xfrm>
          <a:off x="3411538" y="2254250"/>
          <a:ext cx="1270000" cy="143827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935" name="Text Box 41"/>
          <p:cNvSpPr txBox="1">
            <a:spLocks noChangeArrowheads="1"/>
          </p:cNvSpPr>
          <p:nvPr/>
        </p:nvSpPr>
        <p:spPr bwMode="auto">
          <a:xfrm>
            <a:off x="3654425" y="3895725"/>
            <a:ext cx="1204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S</a:t>
            </a:r>
          </a:p>
        </p:txBody>
      </p:sp>
      <p:graphicFrame>
        <p:nvGraphicFramePr>
          <p:cNvPr id="792620" name="Group 44"/>
          <p:cNvGraphicFramePr>
            <a:graphicFrameLocks noGrp="1"/>
          </p:cNvGraphicFramePr>
          <p:nvPr/>
        </p:nvGraphicFramePr>
        <p:xfrm>
          <a:off x="5284788" y="2133600"/>
          <a:ext cx="3175000" cy="19177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2652" name="Rectangle 76"/>
          <p:cNvSpPr>
            <a:spLocks noChangeArrowheads="1"/>
          </p:cNvSpPr>
          <p:nvPr/>
        </p:nvSpPr>
        <p:spPr bwMode="auto">
          <a:xfrm>
            <a:off x="468313" y="1138238"/>
            <a:ext cx="716597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2.4 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已知关系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，求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    S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    S</a:t>
            </a:r>
            <a:endParaRPr lang="zh-CN" altLang="en-US" sz="28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2653" name="Rectangle 7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792664" name="Rectangle 88"/>
          <p:cNvSpPr>
            <a:spLocks noChangeArrowheads="1"/>
          </p:cNvSpPr>
          <p:nvPr/>
        </p:nvSpPr>
        <p:spPr bwMode="auto">
          <a:xfrm>
            <a:off x="684213" y="4746625"/>
            <a:ext cx="8064500" cy="1203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适用于：</a:t>
            </a:r>
            <a:r>
              <a:rPr lang="zh-CN" altLang="en-US" sz="2800" b="1">
                <a:solidFill>
                  <a:srgbClr val="D6009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有选择条件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的多个关系的数据组合运算需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求。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2701" name="Line 125"/>
          <p:cNvSpPr>
            <a:spLocks noChangeShapeType="1"/>
          </p:cNvSpPr>
          <p:nvPr/>
        </p:nvSpPr>
        <p:spPr bwMode="auto">
          <a:xfrm>
            <a:off x="1187450" y="3141663"/>
            <a:ext cx="1441450" cy="0"/>
          </a:xfrm>
          <a:prstGeom prst="line">
            <a:avLst/>
          </a:prstGeom>
          <a:noFill/>
          <a:ln w="28575" cap="sq">
            <a:solidFill>
              <a:srgbClr val="FF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702" name="Line 126"/>
          <p:cNvSpPr>
            <a:spLocks noChangeShapeType="1"/>
          </p:cNvSpPr>
          <p:nvPr/>
        </p:nvSpPr>
        <p:spPr bwMode="auto">
          <a:xfrm>
            <a:off x="5435600" y="3052763"/>
            <a:ext cx="2808288" cy="0"/>
          </a:xfrm>
          <a:prstGeom prst="line">
            <a:avLst/>
          </a:prstGeom>
          <a:noFill/>
          <a:ln w="28575" cap="sq">
            <a:solidFill>
              <a:srgbClr val="FF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703" name="Line 127"/>
          <p:cNvSpPr>
            <a:spLocks noChangeShapeType="1"/>
          </p:cNvSpPr>
          <p:nvPr/>
        </p:nvSpPr>
        <p:spPr bwMode="auto">
          <a:xfrm>
            <a:off x="5492750" y="3500438"/>
            <a:ext cx="2808288" cy="0"/>
          </a:xfrm>
          <a:prstGeom prst="line">
            <a:avLst/>
          </a:prstGeom>
          <a:noFill/>
          <a:ln w="28575" cap="sq">
            <a:solidFill>
              <a:srgbClr val="FF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704" name="Line 128"/>
          <p:cNvSpPr>
            <a:spLocks noChangeShapeType="1"/>
          </p:cNvSpPr>
          <p:nvPr/>
        </p:nvSpPr>
        <p:spPr bwMode="auto">
          <a:xfrm>
            <a:off x="1116013" y="3613150"/>
            <a:ext cx="1441450" cy="0"/>
          </a:xfrm>
          <a:prstGeom prst="line">
            <a:avLst/>
          </a:prstGeom>
          <a:noFill/>
          <a:ln w="28575" cap="sq">
            <a:solidFill>
              <a:srgbClr val="66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2707" name="Line 131"/>
          <p:cNvSpPr>
            <a:spLocks noChangeShapeType="1"/>
          </p:cNvSpPr>
          <p:nvPr/>
        </p:nvSpPr>
        <p:spPr bwMode="auto">
          <a:xfrm>
            <a:off x="5435600" y="3989388"/>
            <a:ext cx="2881313" cy="0"/>
          </a:xfrm>
          <a:prstGeom prst="line">
            <a:avLst/>
          </a:prstGeom>
          <a:noFill/>
          <a:ln w="28575" cap="sq">
            <a:solidFill>
              <a:srgbClr val="66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0976" name="Object 139"/>
          <p:cNvGraphicFramePr>
            <a:graphicFrameLocks noChangeAspect="1"/>
          </p:cNvGraphicFramePr>
          <p:nvPr/>
        </p:nvGraphicFramePr>
        <p:xfrm>
          <a:off x="4873625" y="1052513"/>
          <a:ext cx="6461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600" imgH="266700" progId="Equation.3">
                  <p:embed/>
                </p:oleObj>
              </mc:Choice>
              <mc:Fallback>
                <p:oleObj name="公式" r:id="rId3" imgW="228600" imgH="266700" progId="Equation.3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1052513"/>
                        <a:ext cx="646113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77" name="Object 140"/>
          <p:cNvGraphicFramePr>
            <a:graphicFrameLocks noChangeAspect="1"/>
          </p:cNvGraphicFramePr>
          <p:nvPr/>
        </p:nvGraphicFramePr>
        <p:xfrm>
          <a:off x="6672263" y="1052513"/>
          <a:ext cx="64611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8600" imgH="266700" progId="Equation.3">
                  <p:embed/>
                </p:oleObj>
              </mc:Choice>
              <mc:Fallback>
                <p:oleObj name="公式" r:id="rId5" imgW="228600" imgH="266700" progId="Equation.3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1052513"/>
                        <a:ext cx="64611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advTm="1498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9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9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9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6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6" name="Rectangle 4"/>
          <p:cNvSpPr>
            <a:spLocks noRot="1" noChangeArrowheads="1"/>
          </p:cNvSpPr>
          <p:nvPr/>
        </p:nvSpPr>
        <p:spPr bwMode="auto">
          <a:xfrm>
            <a:off x="179388" y="1125538"/>
            <a:ext cx="8496300" cy="518318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tabLst>
                <a:tab pos="1524000" algn="l"/>
              </a:tabLs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524000" algn="l"/>
              </a:tabLst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67130" indent="-25273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524000" algn="l"/>
              </a:tabLst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3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连接运算的条件：</a:t>
            </a:r>
            <a:endParaRPr lang="zh-CN" altLang="en-US" sz="300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① 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   S，F＝F</a:t>
            </a:r>
            <a:r>
              <a:rPr lang="en-US" altLang="zh-CN" baseline="-250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∧F</a:t>
            </a:r>
            <a:r>
              <a:rPr lang="en-US" altLang="zh-CN" baseline="-250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∧F</a:t>
            </a:r>
            <a:r>
              <a:rPr lang="en-US" altLang="zh-CN" baseline="-250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②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aseline="-250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中的关系运算符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θ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时，为等值连接。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b="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63237" name="Rectangle 5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863239" name="Text Box 7"/>
          <p:cNvSpPr txBox="1">
            <a:spLocks noChangeArrowheads="1"/>
          </p:cNvSpPr>
          <p:nvPr/>
        </p:nvSpPr>
        <p:spPr bwMode="auto">
          <a:xfrm>
            <a:off x="5522913" y="4005263"/>
            <a:ext cx="3455987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视同一种自然情况下的连接</a:t>
            </a:r>
            <a:endParaRPr lang="en-US" altLang="zh-CN" sz="20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63242" name="AutoShape 10"/>
          <p:cNvSpPr>
            <a:spLocks noChangeArrowheads="1"/>
          </p:cNvSpPr>
          <p:nvPr/>
        </p:nvSpPr>
        <p:spPr bwMode="auto">
          <a:xfrm>
            <a:off x="7308850" y="3213100"/>
            <a:ext cx="288925" cy="720725"/>
          </a:xfrm>
          <a:prstGeom prst="downArrow">
            <a:avLst>
              <a:gd name="adj1" fmla="val 50000"/>
              <a:gd name="adj2" fmla="val 6236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1926" name="Object 11"/>
          <p:cNvGraphicFramePr>
            <a:graphicFrameLocks noChangeAspect="1"/>
          </p:cNvGraphicFramePr>
          <p:nvPr/>
        </p:nvGraphicFramePr>
        <p:xfrm>
          <a:off x="1471613" y="1844675"/>
          <a:ext cx="64611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600" imgH="266700" progId="Equation.3">
                  <p:embed/>
                </p:oleObj>
              </mc:Choice>
              <mc:Fallback>
                <p:oleObj name="公式" r:id="rId3" imgW="228600" imgH="266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1844675"/>
                        <a:ext cx="64611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364"/>
    </mc:Choice>
    <mc:Fallback xmlns="">
      <p:transition spd="slow" advTm="56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63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6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6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32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Rectangle 2"/>
          <p:cNvSpPr>
            <a:spLocks noGrp="1" noRot="1" noChangeArrowheads="1"/>
          </p:cNvSpPr>
          <p:nvPr>
            <p:ph type="body" idx="1"/>
          </p:nvPr>
        </p:nvSpPr>
        <p:spPr>
          <a:xfrm>
            <a:off x="107950" y="1158875"/>
            <a:ext cx="9015413" cy="36385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tabLst>
                <a:tab pos="1524000" algn="l"/>
              </a:tabLst>
              <a:defRPr/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5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、自然</a:t>
            </a:r>
            <a:r>
              <a:rPr lang="zh-CN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连接</a:t>
            </a:r>
            <a:endParaRPr lang="en-US" altLang="zh-CN" sz="300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r>
              <a:rPr lang="en-US" altLang="zh-CN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设关系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的目数分别为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，且关系 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的属性中有部分相同属性 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，则自然连接定义为：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endParaRPr lang="zh-CN" altLang="en-US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524000" algn="l"/>
              </a:tabLst>
              <a:defRPr/>
            </a:pPr>
            <a:endParaRPr lang="zh-CN" altLang="en-US"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947" name="Object 9"/>
          <p:cNvGraphicFramePr>
            <a:graphicFrameLocks noChangeAspect="1"/>
          </p:cNvGraphicFramePr>
          <p:nvPr/>
        </p:nvGraphicFramePr>
        <p:xfrm>
          <a:off x="63500" y="3644900"/>
          <a:ext cx="9015413" cy="796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19600" imgH="266700" progId="Equation.3">
                  <p:embed/>
                </p:oleObj>
              </mc:Choice>
              <mc:Fallback>
                <p:oleObj name="公式" r:id="rId2" imgW="4419600" imgH="266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" y="3644900"/>
                        <a:ext cx="9015413" cy="796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29" name="Rectangle 13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82949" name="Line 6"/>
          <p:cNvSpPr>
            <a:spLocks noChangeShapeType="1"/>
          </p:cNvSpPr>
          <p:nvPr/>
        </p:nvSpPr>
        <p:spPr bwMode="auto">
          <a:xfrm>
            <a:off x="3163888" y="4324350"/>
            <a:ext cx="790575" cy="0"/>
          </a:xfrm>
          <a:prstGeom prst="line">
            <a:avLst/>
          </a:prstGeom>
          <a:noFill/>
          <a:ln w="25400" cap="sq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0" name="Line 7"/>
          <p:cNvSpPr>
            <a:spLocks noChangeShapeType="1"/>
          </p:cNvSpPr>
          <p:nvPr/>
        </p:nvSpPr>
        <p:spPr bwMode="auto">
          <a:xfrm>
            <a:off x="5180013" y="4324350"/>
            <a:ext cx="3455987" cy="0"/>
          </a:xfrm>
          <a:prstGeom prst="line">
            <a:avLst/>
          </a:prstGeom>
          <a:noFill/>
          <a:ln w="25400" cap="sq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1" name="Line 10"/>
          <p:cNvSpPr>
            <a:spLocks noChangeShapeType="1"/>
          </p:cNvSpPr>
          <p:nvPr/>
        </p:nvSpPr>
        <p:spPr bwMode="auto">
          <a:xfrm>
            <a:off x="4171950" y="4324350"/>
            <a:ext cx="790575" cy="0"/>
          </a:xfrm>
          <a:prstGeom prst="line">
            <a:avLst/>
          </a:prstGeom>
          <a:noFill/>
          <a:ln w="25400" cap="sq">
            <a:solidFill>
              <a:srgbClr val="0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2" name="Line 11"/>
          <p:cNvSpPr>
            <a:spLocks noChangeShapeType="1"/>
          </p:cNvSpPr>
          <p:nvPr/>
        </p:nvSpPr>
        <p:spPr bwMode="auto">
          <a:xfrm>
            <a:off x="2284413" y="4324350"/>
            <a:ext cx="360362" cy="0"/>
          </a:xfrm>
          <a:prstGeom prst="line">
            <a:avLst/>
          </a:prstGeom>
          <a:noFill/>
          <a:ln w="31750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02840" name="Group 24"/>
          <p:cNvGrpSpPr/>
          <p:nvPr/>
        </p:nvGrpSpPr>
        <p:grpSpPr bwMode="auto">
          <a:xfrm>
            <a:off x="107950" y="4581525"/>
            <a:ext cx="9015413" cy="1943100"/>
            <a:chOff x="68" y="3016"/>
            <a:chExt cx="5679" cy="1224"/>
          </a:xfrm>
        </p:grpSpPr>
        <p:graphicFrame>
          <p:nvGraphicFramePr>
            <p:cNvPr id="82954" name="Object 14"/>
            <p:cNvGraphicFramePr>
              <a:graphicFrameLocks noChangeAspect="1"/>
            </p:cNvGraphicFramePr>
            <p:nvPr/>
          </p:nvGraphicFramePr>
          <p:xfrm>
            <a:off x="1066" y="3022"/>
            <a:ext cx="308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65100" imgH="228600" progId="Equation.3">
                    <p:embed/>
                  </p:oleObj>
                </mc:Choice>
                <mc:Fallback>
                  <p:oleObj name="公式" r:id="rId4" imgW="165100" imgH="228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3022"/>
                          <a:ext cx="308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55" name="Object 16"/>
            <p:cNvGraphicFramePr>
              <a:graphicFrameLocks noChangeAspect="1"/>
            </p:cNvGraphicFramePr>
            <p:nvPr/>
          </p:nvGraphicFramePr>
          <p:xfrm>
            <a:off x="4332" y="3067"/>
            <a:ext cx="29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2400" imgH="228600" progId="Equation.3">
                    <p:embed/>
                  </p:oleObj>
                </mc:Choice>
                <mc:Fallback>
                  <p:oleObj name="公式" r:id="rId6" imgW="15240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3067"/>
                          <a:ext cx="295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56" name="Object 18"/>
            <p:cNvGraphicFramePr>
              <a:graphicFrameLocks noChangeAspect="1"/>
            </p:cNvGraphicFramePr>
            <p:nvPr/>
          </p:nvGraphicFramePr>
          <p:xfrm>
            <a:off x="4624" y="3067"/>
            <a:ext cx="34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52400" imgH="228600" progId="Equation.3">
                    <p:embed/>
                  </p:oleObj>
                </mc:Choice>
                <mc:Fallback>
                  <p:oleObj name="公式" r:id="rId8" imgW="152400" imgH="228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4" y="3067"/>
                          <a:ext cx="34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957" name="Object 20"/>
            <p:cNvGraphicFramePr>
              <a:graphicFrameLocks noChangeAspect="1"/>
            </p:cNvGraphicFramePr>
            <p:nvPr/>
          </p:nvGraphicFramePr>
          <p:xfrm>
            <a:off x="5249" y="3057"/>
            <a:ext cx="36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52400" imgH="241300" progId="Equation.3">
                    <p:embed/>
                  </p:oleObj>
                </mc:Choice>
                <mc:Fallback>
                  <p:oleObj name="公式" r:id="rId10" imgW="152400" imgH="2413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9" y="3057"/>
                          <a:ext cx="36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2838" name="Rectangle 22"/>
            <p:cNvSpPr>
              <a:spLocks noRot="1" noChangeArrowheads="1"/>
            </p:cNvSpPr>
            <p:nvPr/>
          </p:nvSpPr>
          <p:spPr bwMode="auto">
            <a:xfrm>
              <a:off x="68" y="3016"/>
              <a:ext cx="5679" cy="122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>
                <a:lnSpc>
                  <a:spcPct val="12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tabLst>
                  <a:tab pos="1524000" algn="l"/>
                </a:tabLst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8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2pPr>
              <a:lvl3pPr marL="1167130" indent="-252730">
                <a:lnSpc>
                  <a:spcPct val="12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4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524000" algn="l"/>
                </a:tabLst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buFont typeface="Wingdings" panose="05000000000000000000" pitchFamily="2" charset="2"/>
                <a:buNone/>
                <a:defRPr/>
              </a:pPr>
              <a:r>
                <a:rPr lang="zh-CN" altLang="en-US" dirty="0">
                  <a:solidFill>
                    <a:srgbClr val="660033"/>
                  </a:solidFill>
                  <a:latin typeface="楷体_GB2312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其中：</a:t>
              </a:r>
              <a:r>
                <a:rPr lang="zh-CN" altLang="en-US" dirty="0">
                  <a:latin typeface="楷体_GB2312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lang="zh-CN" altLang="en-US" dirty="0">
                  <a:ea typeface="黑体" panose="02010609060101010101" pitchFamily="49" charset="-122"/>
                  <a:cs typeface="Times New Roman" panose="02020603050405020304" pitchFamily="18" charset="0"/>
                </a:rPr>
                <a:t>表示从 </a:t>
              </a:r>
              <a:r>
                <a: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rPr>
                <a:t>S </a:t>
              </a:r>
              <a:r>
                <a:rPr lang="zh-CN" altLang="en-US" dirty="0">
                  <a:ea typeface="黑体" panose="02010609060101010101" pitchFamily="49" charset="-122"/>
                  <a:cs typeface="Times New Roman" panose="02020603050405020304" pitchFamily="18" charset="0"/>
                </a:rPr>
                <a:t>关系的元组变量</a:t>
              </a:r>
              <a:r>
                <a:rPr lang="en-US" altLang="zh-CN" dirty="0" err="1">
                  <a:ea typeface="黑体" panose="02010609060101010101" pitchFamily="49" charset="-122"/>
                  <a:cs typeface="Times New Roman" panose="02020603050405020304" pitchFamily="18" charset="0"/>
                </a:rPr>
                <a:t>ts</a:t>
              </a:r>
              <a:r>
                <a: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rPr>
                <a:t>=(    ,    ,</a:t>
              </a:r>
              <a:r>
                <a:rPr lang="en-US" altLang="zh-CN" dirty="0"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rPr>
                <a:t>,    )</a:t>
              </a:r>
              <a:r>
                <a:rPr lang="zh-CN" altLang="en-US" dirty="0">
                  <a:ea typeface="黑体" panose="02010609060101010101" pitchFamily="49" charset="-122"/>
                  <a:cs typeface="Times New Roman" panose="02020603050405020304" pitchFamily="18" charset="0"/>
                </a:rPr>
                <a:t>中取掉分量</a:t>
              </a:r>
              <a:r>
                <a: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rPr>
                <a:t>S.A</a:t>
              </a:r>
              <a:r>
                <a:rPr lang="en-US" altLang="zh-CN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ea typeface="黑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dirty="0">
                  <a:ea typeface="黑体" panose="02010609060101010101" pitchFamily="49" charset="-122"/>
                  <a:cs typeface="Times New Roman" panose="02020603050405020304" pitchFamily="18" charset="0"/>
                </a:rPr>
                <a:t>S.A</a:t>
              </a:r>
              <a:r>
                <a:rPr lang="en-US" altLang="zh-CN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lang="zh-CN" altLang="en-US" dirty="0">
                  <a:ea typeface="黑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…</a:t>
              </a:r>
              <a:r>
                <a:rPr lang="zh-CN" altLang="en-US" dirty="0">
                  <a:ea typeface="黑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dirty="0" err="1">
                  <a:ea typeface="黑体" panose="02010609060101010101" pitchFamily="49" charset="-122"/>
                  <a:cs typeface="Times New Roman" panose="02020603050405020304" pitchFamily="18" charset="0"/>
                </a:rPr>
                <a:t>S.A</a:t>
              </a:r>
              <a:r>
                <a:rPr lang="en-US" altLang="zh-CN" baseline="-25000" dirty="0" err="1">
                  <a:ea typeface="黑体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ea typeface="黑体" panose="02010609060101010101" pitchFamily="49" charset="-122"/>
                  <a:cs typeface="Times New Roman" panose="02020603050405020304" pitchFamily="18" charset="0"/>
                </a:rPr>
                <a:t>后所形成的新元组变量。 </a:t>
              </a:r>
              <a:endParaRPr lang="en-US" altLang="zh-CN" dirty="0"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advTm="17814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80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61" name="Rectangle 5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sp>
        <p:nvSpPr>
          <p:cNvPr id="864262" name="Rectangle 6"/>
          <p:cNvSpPr>
            <a:spLocks noChangeArrowheads="1"/>
          </p:cNvSpPr>
          <p:nvPr/>
        </p:nvSpPr>
        <p:spPr bwMode="auto">
          <a:xfrm>
            <a:off x="107950" y="1125538"/>
            <a:ext cx="8640763" cy="52212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algn="just" eaLnBrk="1" hangingPunct="1">
              <a:lnSpc>
                <a:spcPct val="130000"/>
              </a:lnSpc>
              <a:spcBef>
                <a:spcPct val="3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自然连接运算过程：</a:t>
            </a:r>
          </a:p>
          <a:p>
            <a:pPr lvl="1" algn="just" eaLnBrk="1" hangingPunct="1">
              <a:lnSpc>
                <a:spcPct val="130000"/>
              </a:lnSpc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　　将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的每个元组的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列的值和关系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的每个元组的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列的值按条件：</a:t>
            </a:r>
          </a:p>
          <a:p>
            <a:pPr lvl="1" algn="just" eaLnBrk="1" hangingPunct="1">
              <a:lnSpc>
                <a:spcPct val="130000"/>
              </a:lnSpc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R.A</a:t>
            </a:r>
            <a:r>
              <a:rPr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S.A</a:t>
            </a:r>
            <a:r>
              <a:rPr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∧R.A</a:t>
            </a:r>
            <a:r>
              <a:rPr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S.A</a:t>
            </a:r>
            <a:r>
              <a:rPr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∧R.A</a:t>
            </a:r>
            <a:r>
              <a:rPr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S.A</a:t>
            </a:r>
            <a:r>
              <a:rPr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</a:p>
          <a:p>
            <a:pPr lvl="1" algn="just" eaLnBrk="1" hangingPunct="1">
              <a:lnSpc>
                <a:spcPct val="130000"/>
              </a:lnSpc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进行比较，当条件都满足时，就从关系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中正在比较的元组中去掉被比较的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个分量后，把剩余的分量依原序接在关系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的元组的右边构成新关系的一个元组；当至少有一个条件不满足时，就继续下一次比较，直到关系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中的元组均比较完为止。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85"/>
    </mc:Choice>
    <mc:Fallback xmlns="">
      <p:transition spd="slow" advTm="625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7872" name="Group 176"/>
          <p:cNvGraphicFramePr>
            <a:graphicFrameLocks noGrp="1"/>
          </p:cNvGraphicFramePr>
          <p:nvPr/>
        </p:nvGraphicFramePr>
        <p:xfrm>
          <a:off x="852488" y="2060575"/>
          <a:ext cx="1905000" cy="2244909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777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7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27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9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9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020" name="Text Box 28"/>
          <p:cNvSpPr txBox="1">
            <a:spLocks noChangeArrowheads="1"/>
          </p:cNvSpPr>
          <p:nvPr/>
        </p:nvSpPr>
        <p:spPr bwMode="auto">
          <a:xfrm>
            <a:off x="323850" y="1989138"/>
            <a:ext cx="312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sp>
        <p:nvSpPr>
          <p:cNvPr id="85021" name="Text Box 29"/>
          <p:cNvSpPr txBox="1">
            <a:spLocks noChangeArrowheads="1"/>
          </p:cNvSpPr>
          <p:nvPr/>
        </p:nvSpPr>
        <p:spPr bwMode="auto">
          <a:xfrm>
            <a:off x="2859088" y="2060575"/>
            <a:ext cx="31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S</a:t>
            </a:r>
          </a:p>
        </p:txBody>
      </p:sp>
      <p:graphicFrame>
        <p:nvGraphicFramePr>
          <p:cNvPr id="797873" name="Group 177"/>
          <p:cNvGraphicFramePr>
            <a:graphicFrameLocks noGrp="1"/>
          </p:cNvGraphicFramePr>
          <p:nvPr/>
        </p:nvGraphicFramePr>
        <p:xfrm>
          <a:off x="3387725" y="2133600"/>
          <a:ext cx="1905000" cy="182245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95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97793" name="Group 97"/>
          <p:cNvGraphicFramePr>
            <a:graphicFrameLocks noGrp="1"/>
          </p:cNvGraphicFramePr>
          <p:nvPr/>
        </p:nvGraphicFramePr>
        <p:xfrm>
          <a:off x="5919788" y="2060575"/>
          <a:ext cx="2540000" cy="256857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38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97786" name="Oval 90"/>
          <p:cNvSpPr>
            <a:spLocks noChangeArrowheads="1"/>
          </p:cNvSpPr>
          <p:nvPr/>
        </p:nvSpPr>
        <p:spPr bwMode="auto">
          <a:xfrm>
            <a:off x="1462088" y="2627313"/>
            <a:ext cx="1296987" cy="368300"/>
          </a:xfrm>
          <a:prstGeom prst="ellipse">
            <a:avLst/>
          </a:prstGeom>
          <a:noFill/>
          <a:ln w="28575" algn="ctr">
            <a:solidFill>
              <a:srgbClr val="D6009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97787" name="Oval 91"/>
          <p:cNvSpPr>
            <a:spLocks noChangeArrowheads="1"/>
          </p:cNvSpPr>
          <p:nvPr/>
        </p:nvSpPr>
        <p:spPr bwMode="auto">
          <a:xfrm>
            <a:off x="3349625" y="2668588"/>
            <a:ext cx="1296988" cy="361950"/>
          </a:xfrm>
          <a:prstGeom prst="ellipse">
            <a:avLst/>
          </a:prstGeom>
          <a:noFill/>
          <a:ln w="28575" algn="ctr">
            <a:solidFill>
              <a:srgbClr val="D6009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97788" name="Rectangle 92"/>
          <p:cNvSpPr>
            <a:spLocks noChangeArrowheads="1"/>
          </p:cNvSpPr>
          <p:nvPr/>
        </p:nvSpPr>
        <p:spPr bwMode="auto">
          <a:xfrm>
            <a:off x="484188" y="1196975"/>
            <a:ext cx="595947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2.5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已知关系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，求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endParaRPr lang="zh-CN" altLang="en-US" sz="28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7789" name="Rectangle 9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graphicFrame>
        <p:nvGraphicFramePr>
          <p:cNvPr id="797874" name="Group 178"/>
          <p:cNvGraphicFramePr>
            <a:graphicFrameLocks noGrp="1"/>
          </p:cNvGraphicFramePr>
          <p:nvPr/>
        </p:nvGraphicFramePr>
        <p:xfrm>
          <a:off x="5940425" y="2060575"/>
          <a:ext cx="2519363" cy="2568574"/>
        </p:xfrm>
        <a:graphic>
          <a:graphicData uri="http://schemas.openxmlformats.org/drawingml/2006/table">
            <a:tbl>
              <a:tblPr/>
              <a:tblGrid>
                <a:gridCol w="61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38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97851" name="Group 155"/>
          <p:cNvGraphicFramePr>
            <a:graphicFrameLocks noGrp="1"/>
          </p:cNvGraphicFramePr>
          <p:nvPr/>
        </p:nvGraphicFramePr>
        <p:xfrm>
          <a:off x="5919788" y="2482850"/>
          <a:ext cx="2540000" cy="4365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7871" name="Group 175"/>
          <p:cNvGraphicFramePr>
            <a:graphicFrameLocks noGrp="1"/>
          </p:cNvGraphicFramePr>
          <p:nvPr/>
        </p:nvGraphicFramePr>
        <p:xfrm>
          <a:off x="5919788" y="2914650"/>
          <a:ext cx="2540000" cy="4365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146" name="Object 179"/>
          <p:cNvGraphicFramePr>
            <a:graphicFrameLocks noGrp="1" noChangeAspect="1"/>
          </p:cNvGraphicFramePr>
          <p:nvPr>
            <p:ph idx="1"/>
          </p:nvPr>
        </p:nvGraphicFramePr>
        <p:xfrm>
          <a:off x="5051425" y="1268413"/>
          <a:ext cx="71913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600" imgH="139700" progId="Equation.3">
                  <p:embed/>
                </p:oleObj>
              </mc:Choice>
              <mc:Fallback>
                <p:oleObj name="公式" r:id="rId3" imgW="228600" imgH="139700" progId="Equation.3">
                  <p:embed/>
                  <p:pic>
                    <p:nvPicPr>
                      <p:cNvPr id="0" name="Object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425" y="1268413"/>
                        <a:ext cx="71913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advTm="8179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9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9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9.11404E-7 L -0.00017 0.07402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977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37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9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88804E-7 L 0.00156 0.0795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977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39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9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86" grpId="0" animBg="1" autoUpdateAnimBg="0"/>
      <p:bldP spid="79778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5284" name="Group 4"/>
          <p:cNvGraphicFramePr>
            <a:graphicFrameLocks noGrp="1"/>
          </p:cNvGraphicFramePr>
          <p:nvPr/>
        </p:nvGraphicFramePr>
        <p:xfrm>
          <a:off x="852488" y="2060575"/>
          <a:ext cx="1905000" cy="2244909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777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7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27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9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9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044" name="Text Box 30"/>
          <p:cNvSpPr txBox="1">
            <a:spLocks noChangeArrowheads="1"/>
          </p:cNvSpPr>
          <p:nvPr/>
        </p:nvSpPr>
        <p:spPr bwMode="auto">
          <a:xfrm>
            <a:off x="323850" y="1989138"/>
            <a:ext cx="312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sp>
        <p:nvSpPr>
          <p:cNvPr id="86045" name="Text Box 31"/>
          <p:cNvSpPr txBox="1">
            <a:spLocks noChangeArrowheads="1"/>
          </p:cNvSpPr>
          <p:nvPr/>
        </p:nvSpPr>
        <p:spPr bwMode="auto">
          <a:xfrm>
            <a:off x="2859088" y="2060575"/>
            <a:ext cx="31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b="1">
                <a:latin typeface="楷体_GB2312" pitchFamily="49" charset="-122"/>
                <a:ea typeface="楷体_GB2312" pitchFamily="49" charset="-122"/>
              </a:rPr>
              <a:t>S</a:t>
            </a:r>
          </a:p>
        </p:txBody>
      </p:sp>
      <p:graphicFrame>
        <p:nvGraphicFramePr>
          <p:cNvPr id="865312" name="Group 32"/>
          <p:cNvGraphicFramePr>
            <a:graphicFrameLocks noGrp="1"/>
          </p:cNvGraphicFramePr>
          <p:nvPr/>
        </p:nvGraphicFramePr>
        <p:xfrm>
          <a:off x="3387725" y="2133600"/>
          <a:ext cx="1905000" cy="182245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95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65334" name="Group 54"/>
          <p:cNvGraphicFramePr>
            <a:graphicFrameLocks noGrp="1"/>
          </p:cNvGraphicFramePr>
          <p:nvPr/>
        </p:nvGraphicFramePr>
        <p:xfrm>
          <a:off x="5919788" y="2060575"/>
          <a:ext cx="2540000" cy="256857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38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65371" name="Oval 91"/>
          <p:cNvSpPr>
            <a:spLocks noChangeArrowheads="1"/>
          </p:cNvSpPr>
          <p:nvPr/>
        </p:nvSpPr>
        <p:spPr bwMode="auto">
          <a:xfrm>
            <a:off x="1462088" y="4013200"/>
            <a:ext cx="1296987" cy="368300"/>
          </a:xfrm>
          <a:prstGeom prst="ellipse">
            <a:avLst/>
          </a:prstGeom>
          <a:noFill/>
          <a:ln w="28575" algn="ctr">
            <a:solidFill>
              <a:srgbClr val="D6009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65372" name="Oval 92"/>
          <p:cNvSpPr>
            <a:spLocks noChangeArrowheads="1"/>
          </p:cNvSpPr>
          <p:nvPr/>
        </p:nvSpPr>
        <p:spPr bwMode="auto">
          <a:xfrm>
            <a:off x="3349625" y="3611563"/>
            <a:ext cx="1296988" cy="361950"/>
          </a:xfrm>
          <a:prstGeom prst="ellipse">
            <a:avLst/>
          </a:prstGeom>
          <a:noFill/>
          <a:ln w="28575" algn="ctr">
            <a:solidFill>
              <a:srgbClr val="D6009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65373" name="Rectangle 93"/>
          <p:cNvSpPr>
            <a:spLocks noChangeArrowheads="1"/>
          </p:cNvSpPr>
          <p:nvPr/>
        </p:nvSpPr>
        <p:spPr bwMode="auto">
          <a:xfrm>
            <a:off x="484188" y="1196975"/>
            <a:ext cx="552767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2.5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已知关系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，求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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endParaRPr lang="zh-CN" altLang="en-US" sz="28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65374" name="Rectangle 94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  <p:graphicFrame>
        <p:nvGraphicFramePr>
          <p:cNvPr id="865375" name="Group 95"/>
          <p:cNvGraphicFramePr>
            <a:graphicFrameLocks noGrp="1"/>
          </p:cNvGraphicFramePr>
          <p:nvPr/>
        </p:nvGraphicFramePr>
        <p:xfrm>
          <a:off x="5919788" y="2060575"/>
          <a:ext cx="2540000" cy="256857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38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65412" name="Group 132"/>
          <p:cNvGraphicFramePr>
            <a:graphicFrameLocks noGrp="1"/>
          </p:cNvGraphicFramePr>
          <p:nvPr/>
        </p:nvGraphicFramePr>
        <p:xfrm>
          <a:off x="5919788" y="2498725"/>
          <a:ext cx="2540000" cy="4365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5424" name="Group 144"/>
          <p:cNvGraphicFramePr>
            <a:graphicFrameLocks noGrp="1"/>
          </p:cNvGraphicFramePr>
          <p:nvPr/>
        </p:nvGraphicFramePr>
        <p:xfrm>
          <a:off x="5919788" y="2930525"/>
          <a:ext cx="2540000" cy="4365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5436" name="Group 156"/>
          <p:cNvGraphicFramePr>
            <a:graphicFrameLocks noGrp="1"/>
          </p:cNvGraphicFramePr>
          <p:nvPr/>
        </p:nvGraphicFramePr>
        <p:xfrm>
          <a:off x="5908675" y="4221163"/>
          <a:ext cx="2540000" cy="436562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6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14"/>
    </mc:Choice>
    <mc:Fallback xmlns="">
      <p:transition spd="slow" advTm="181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6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6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3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1763" y="1200150"/>
            <a:ext cx="8616950" cy="4895850"/>
          </a:xfrm>
        </p:spPr>
        <p:txBody>
          <a:bodyPr/>
          <a:lstStyle/>
          <a:p>
            <a:pPr eaLnBrk="1" hangingPunct="1">
              <a:tabLst>
                <a:tab pos="1524000" algn="l"/>
              </a:tabLst>
            </a:pPr>
            <a:r>
              <a:rPr lang="en-US" altLang="zh-CN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5</a:t>
            </a:r>
            <a:r>
              <a:rPr lang="zh-CN" altLang="en-US" sz="30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、自然连接</a:t>
            </a:r>
          </a:p>
          <a:p>
            <a:pPr eaLnBrk="1" hangingPunct="1">
              <a:tabLst>
                <a:tab pos="1524000" algn="l"/>
              </a:tabLst>
            </a:pPr>
            <a:r>
              <a:rPr lang="en-US" altLang="zh-CN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① </a:t>
            </a:r>
            <a:r>
              <a:rPr lang="zh-CN" altLang="en-US" sz="2400">
                <a:solidFill>
                  <a:srgbClr val="CC33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适用性</a:t>
            </a: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：自然连接在关系数据库理论和实践中处于中心地位，它的使用非常方便。</a:t>
            </a:r>
          </a:p>
          <a:p>
            <a:pPr eaLnBrk="1" hangingPunct="1">
              <a:tabLst>
                <a:tab pos="1524000" algn="l"/>
              </a:tabLst>
            </a:pP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400"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② </a:t>
            </a:r>
            <a:r>
              <a:rPr lang="zh-CN" altLang="en-US" sz="2400">
                <a:solidFill>
                  <a:srgbClr val="CC33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与等值连接的区别：</a:t>
            </a:r>
            <a:endParaRPr lang="en-US" altLang="zh-CN" sz="2400">
              <a:solidFill>
                <a:srgbClr val="CC3300"/>
              </a:solidFill>
              <a:latin typeface="楷体_GB2312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167130" lvl="2" indent="-252730" algn="just" eaLnBrk="1" hangingPunct="1">
              <a:buClr>
                <a:srgbClr val="009900"/>
              </a:buClr>
              <a:buFont typeface="Symbol" panose="05050102010706020507" pitchFamily="18" charset="2"/>
              <a:buChar char="·"/>
              <a:tabLst>
                <a:tab pos="1524000" algn="l"/>
              </a:tabLst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当两个关系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有相同属性时，自然联接与等值连接都是判断在相同属性上的值是否相等。但结果关系中，自然连接的公共属性只出现一次，而等值连接的公共属性则要重复出现；</a:t>
            </a:r>
          </a:p>
          <a:p>
            <a:pPr marL="1167130" lvl="2" indent="-252730" algn="just" eaLnBrk="1" hangingPunct="1">
              <a:buClr>
                <a:srgbClr val="009900"/>
              </a:buClr>
              <a:buFont typeface="Symbol" panose="05050102010706020507" pitchFamily="18" charset="2"/>
              <a:buChar char="·"/>
              <a:tabLst>
                <a:tab pos="1524000" algn="l"/>
              </a:tabLst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当关系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无公共属性时，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的自然连接即为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的广义笛卡儿积。 </a:t>
            </a:r>
          </a:p>
        </p:txBody>
      </p:sp>
      <p:sp>
        <p:nvSpPr>
          <p:cNvPr id="87043" name="AutoShape 4"/>
          <p:cNvSpPr>
            <a:spLocks noChangeArrowheads="1"/>
          </p:cNvSpPr>
          <p:nvPr/>
        </p:nvSpPr>
        <p:spPr bwMode="auto">
          <a:xfrm>
            <a:off x="322263" y="1484313"/>
            <a:ext cx="217487" cy="23177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rgbClr val="FF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7987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二、关系代数特有的关系运算</a:t>
            </a:r>
          </a:p>
        </p:txBody>
      </p:sp>
    </p:spTree>
  </p:cSld>
  <p:clrMapOvr>
    <a:masterClrMapping/>
  </p:clrMapOvr>
  <p:transition advTm="154227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47" name="Rectangle 23"/>
          <p:cNvSpPr>
            <a:spLocks noChangeArrowheads="1"/>
          </p:cNvSpPr>
          <p:nvPr/>
        </p:nvSpPr>
        <p:spPr bwMode="gray">
          <a:xfrm>
            <a:off x="755650" y="285750"/>
            <a:ext cx="7793038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</p:spPr>
        <p:txBody>
          <a:bodyPr anchor="ctr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>
                <a:latin typeface="华文隶书" panose="02010800040101010101" pitchFamily="2" charset="-122"/>
                <a:ea typeface="华文隶书" panose="02010800040101010101" pitchFamily="2" charset="-122"/>
              </a:rPr>
              <a:t>本次课复习要点</a:t>
            </a:r>
          </a:p>
        </p:txBody>
      </p:sp>
      <p:sp>
        <p:nvSpPr>
          <p:cNvPr id="871450" name="Rectangle 26"/>
          <p:cNvSpPr>
            <a:spLocks noChangeArrowheads="1"/>
          </p:cNvSpPr>
          <p:nvPr/>
        </p:nvSpPr>
        <p:spPr bwMode="auto">
          <a:xfrm>
            <a:off x="466725" y="1258888"/>
            <a:ext cx="8208963" cy="53387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000">
              <a:solidFill>
                <a:srgbClr val="990033"/>
              </a:solidFill>
              <a:effectLst/>
              <a:ea typeface="黑体" panose="02010609060101010101" pitchFamily="49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defRPr/>
            </a:pPr>
            <a:r>
              <a:rPr lang="zh-CN" altLang="en-US"/>
              <a:t>       </a:t>
            </a: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3200">
                <a:solidFill>
                  <a:srgbClr val="6600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关系代数的</a:t>
            </a:r>
            <a:r>
              <a:rPr lang="en-US" altLang="zh-CN" sz="3200">
                <a:solidFill>
                  <a:srgbClr val="6600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3200">
                <a:solidFill>
                  <a:srgbClr val="6600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种运算：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defRPr/>
            </a:pP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    并，交，差，广义笛卡儿积</a:t>
            </a:r>
            <a:endParaRPr lang="en-US" altLang="zh-CN" sz="3200">
              <a:solidFill>
                <a:srgbClr val="003366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defRPr/>
            </a:pP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    投影，选择，商，连接，自然连接</a:t>
            </a:r>
            <a:endParaRPr lang="en-US" altLang="zh-CN" sz="3200">
              <a:solidFill>
                <a:srgbClr val="003366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981"/>
    </mc:Choice>
    <mc:Fallback xmlns="">
      <p:transition spd="slow" advTm="679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1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1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71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5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4"/>
          <p:cNvSpPr txBox="1">
            <a:spLocks noChangeArrowheads="1"/>
          </p:cNvSpPr>
          <p:nvPr/>
        </p:nvSpPr>
        <p:spPr bwMode="auto">
          <a:xfrm>
            <a:off x="2266950" y="2405063"/>
            <a:ext cx="576103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8000">
                <a:solidFill>
                  <a:schemeClr val="hlink"/>
                </a:solidFill>
                <a:ea typeface="华文隶书" panose="02010800040101010101" pitchFamily="2" charset="-122"/>
              </a:rPr>
              <a:t>谢谢大家！</a:t>
            </a:r>
            <a:endParaRPr lang="en-US" altLang="zh-CN" sz="8000">
              <a:solidFill>
                <a:schemeClr val="hlink"/>
              </a:solidFill>
              <a:ea typeface="华文隶书" panose="02010800040101010101" pitchFamily="2" charset="-122"/>
            </a:endParaRPr>
          </a:p>
        </p:txBody>
      </p:sp>
      <p:sp>
        <p:nvSpPr>
          <p:cNvPr id="90115" name="Rectangle 6"/>
          <p:cNvSpPr>
            <a:spLocks noChangeArrowheads="1"/>
          </p:cNvSpPr>
          <p:nvPr/>
        </p:nvSpPr>
        <p:spPr bwMode="auto">
          <a:xfrm>
            <a:off x="57150" y="57150"/>
            <a:ext cx="8893175" cy="1989138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57"/>
    </mc:Choice>
    <mc:Fallback xmlns="">
      <p:transition spd="slow" advTm="245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3|54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5|26.8|0.5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</Words>
  <Application>Microsoft Office PowerPoint</Application>
  <PresentationFormat>全屏显示(4:3)</PresentationFormat>
  <Paragraphs>194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黑体</vt:lpstr>
      <vt:lpstr>华文隶书</vt:lpstr>
      <vt:lpstr>华文新魏</vt:lpstr>
      <vt:lpstr>楷体_GB2312</vt:lpstr>
      <vt:lpstr>Arial</vt:lpstr>
      <vt:lpstr>Symbol</vt:lpstr>
      <vt:lpstr>Tahoma</vt:lpstr>
      <vt:lpstr>Times New Roman</vt:lpstr>
      <vt:lpstr>Wingdings</vt:lpstr>
      <vt:lpstr>Blends</vt:lpstr>
      <vt:lpstr>公式</vt:lpstr>
      <vt:lpstr>二、关系代数特有的关系运算</vt:lpstr>
      <vt:lpstr>PowerPoint 演示文稿</vt:lpstr>
      <vt:lpstr>二、关系代数特有的关系运算</vt:lpstr>
      <vt:lpstr>PowerPoint 演示文稿</vt:lpstr>
      <vt:lpstr>PowerPoint 演示文稿</vt:lpstr>
      <vt:lpstr>PowerPoint 演示文稿</vt:lpstr>
      <vt:lpstr>二、关系代数特有的关系运算</vt:lpstr>
      <vt:lpstr>PowerPoint 演示文稿</vt:lpstr>
      <vt:lpstr>二、关系代数特有的关系运算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748</cp:revision>
  <cp:lastPrinted>2000-08-23T09:10:00Z</cp:lastPrinted>
  <dcterms:created xsi:type="dcterms:W3CDTF">2113-01-01T00:00:00Z</dcterms:created>
  <dcterms:modified xsi:type="dcterms:W3CDTF">2021-03-07T11:19:04Z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