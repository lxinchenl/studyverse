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2"/>
  </p:notesMasterIdLst>
  <p:handoutMasterIdLst>
    <p:handoutMasterId r:id="rId13"/>
  </p:handoutMasterIdLst>
  <p:sldIdLst>
    <p:sldId id="604" r:id="rId2"/>
    <p:sldId id="765" r:id="rId3"/>
    <p:sldId id="707" r:id="rId4"/>
    <p:sldId id="708" r:id="rId5"/>
    <p:sldId id="766" r:id="rId6"/>
    <p:sldId id="767" r:id="rId7"/>
    <p:sldId id="770" r:id="rId8"/>
    <p:sldId id="709" r:id="rId9"/>
    <p:sldId id="768" r:id="rId10"/>
    <p:sldId id="710" r:id="rId11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FF"/>
    <a:srgbClr val="FF00FF"/>
    <a:srgbClr val="99FF33"/>
    <a:srgbClr val="66FFFF"/>
    <a:srgbClr val="66CCFF"/>
    <a:srgbClr val="660033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5" autoAdjust="0"/>
    <p:restoredTop sz="58333" autoAdjust="0"/>
  </p:normalViewPr>
  <p:slideViewPr>
    <p:cSldViewPr>
      <p:cViewPr varScale="1">
        <p:scale>
          <a:sx n="132" d="100"/>
          <a:sy n="132" d="100"/>
        </p:scale>
        <p:origin x="1000" y="68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8A3F2B99-FFDE-48EE-9FDB-4A74829C9A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8D5B6F9-A7FC-4D2F-A7FE-63FF3AF182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1099119D-2A78-41EF-AF4A-B63728A6508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7BB66964-D60D-4722-8111-7598CF6AA4F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fld id="{F8E1EC45-3C6D-4A1A-9436-D7ACA776059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86CFBB35-1092-46FF-A21A-2E344A44B0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550733D1-DFBB-44EA-9D37-75C290B85FD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8580" name="Rectangle 4">
            <a:extLst>
              <a:ext uri="{FF2B5EF4-FFF2-40B4-BE49-F238E27FC236}">
                <a16:creationId xmlns:a16="http://schemas.microsoft.com/office/drawing/2014/main" id="{B1CAFCB0-4F86-4847-A0BE-36D9CDE70E7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8581" name="Rectangle 5">
            <a:extLst>
              <a:ext uri="{FF2B5EF4-FFF2-40B4-BE49-F238E27FC236}">
                <a16:creationId xmlns:a16="http://schemas.microsoft.com/office/drawing/2014/main" id="{D2353369-4CBB-449B-A0F6-1B768A2D399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08582" name="Rectangle 6">
            <a:extLst>
              <a:ext uri="{FF2B5EF4-FFF2-40B4-BE49-F238E27FC236}">
                <a16:creationId xmlns:a16="http://schemas.microsoft.com/office/drawing/2014/main" id="{09BBD701-BC28-4890-83FE-27FF231D1C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8583" name="Rectangle 7">
            <a:extLst>
              <a:ext uri="{FF2B5EF4-FFF2-40B4-BE49-F238E27FC236}">
                <a16:creationId xmlns:a16="http://schemas.microsoft.com/office/drawing/2014/main" id="{4FC819DD-DDC8-4850-B20B-C98F3D606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3CE302D7-3AF1-47DD-8BEF-36C52A68BA7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354" name="Group 2">
            <a:extLst>
              <a:ext uri="{FF2B5EF4-FFF2-40B4-BE49-F238E27FC236}">
                <a16:creationId xmlns:a16="http://schemas.microsoft.com/office/drawing/2014/main" id="{C09323D3-3C43-4657-A418-6DB651E09973}"/>
              </a:ext>
            </a:extLst>
          </p:cNvPr>
          <p:cNvGrpSpPr>
            <a:grpSpLocks/>
          </p:cNvGrpSpPr>
          <p:nvPr/>
        </p:nvGrpSpPr>
        <p:grpSpPr bwMode="auto">
          <a:xfrm>
            <a:off x="0" y="1822450"/>
            <a:ext cx="9009063" cy="1052513"/>
            <a:chOff x="0" y="1536"/>
            <a:chExt cx="5675" cy="663"/>
          </a:xfrm>
        </p:grpSpPr>
        <p:grpSp>
          <p:nvGrpSpPr>
            <p:cNvPr id="740355" name="Group 3">
              <a:extLst>
                <a:ext uri="{FF2B5EF4-FFF2-40B4-BE49-F238E27FC236}">
                  <a16:creationId xmlns:a16="http://schemas.microsoft.com/office/drawing/2014/main" id="{E17FA483-C4E4-475F-BE6E-46224EFC5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0356" name="Rectangle 4">
                <a:extLst>
                  <a:ext uri="{FF2B5EF4-FFF2-40B4-BE49-F238E27FC236}">
                    <a16:creationId xmlns:a16="http://schemas.microsoft.com/office/drawing/2014/main" id="{DDA329D9-12FF-406F-BE57-F1D1A369C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0357" name="Rectangle 5">
                <a:extLst>
                  <a:ext uri="{FF2B5EF4-FFF2-40B4-BE49-F238E27FC236}">
                    <a16:creationId xmlns:a16="http://schemas.microsoft.com/office/drawing/2014/main" id="{67A9DD85-F6C7-447B-AB0B-E0C6FA8D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40358" name="Group 6">
              <a:extLst>
                <a:ext uri="{FF2B5EF4-FFF2-40B4-BE49-F238E27FC236}">
                  <a16:creationId xmlns:a16="http://schemas.microsoft.com/office/drawing/2014/main" id="{32638E86-3BC5-48F4-A3DC-C0668A5957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0359" name="Rectangle 7">
                <a:extLst>
                  <a:ext uri="{FF2B5EF4-FFF2-40B4-BE49-F238E27FC236}">
                    <a16:creationId xmlns:a16="http://schemas.microsoft.com/office/drawing/2014/main" id="{804D766E-BAAE-4FEA-BC19-792256A5C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0360" name="Rectangle 8">
                <a:extLst>
                  <a:ext uri="{FF2B5EF4-FFF2-40B4-BE49-F238E27FC236}">
                    <a16:creationId xmlns:a16="http://schemas.microsoft.com/office/drawing/2014/main" id="{14C2E78D-4BA4-4ED4-A113-1DCEB8372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40361" name="Rectangle 9">
              <a:extLst>
                <a:ext uri="{FF2B5EF4-FFF2-40B4-BE49-F238E27FC236}">
                  <a16:creationId xmlns:a16="http://schemas.microsoft.com/office/drawing/2014/main" id="{FA3BDF6C-28FF-46A5-9606-2E65D9282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0362" name="Rectangle 10">
              <a:extLst>
                <a:ext uri="{FF2B5EF4-FFF2-40B4-BE49-F238E27FC236}">
                  <a16:creationId xmlns:a16="http://schemas.microsoft.com/office/drawing/2014/main" id="{259D400F-B863-4AA8-A8B9-2AA7037DC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0363" name="Rectangle 11">
              <a:extLst>
                <a:ext uri="{FF2B5EF4-FFF2-40B4-BE49-F238E27FC236}">
                  <a16:creationId xmlns:a16="http://schemas.microsoft.com/office/drawing/2014/main" id="{A42EB16D-0D68-4793-A072-4A946D4977C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0364" name="Rectangle 12">
            <a:extLst>
              <a:ext uri="{FF2B5EF4-FFF2-40B4-BE49-F238E27FC236}">
                <a16:creationId xmlns:a16="http://schemas.microsoft.com/office/drawing/2014/main" id="{7580267B-8E8C-4B35-8A13-C037E840D4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6764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40365" name="Rectangle 13">
            <a:extLst>
              <a:ext uri="{FF2B5EF4-FFF2-40B4-BE49-F238E27FC236}">
                <a16:creationId xmlns:a16="http://schemas.microsoft.com/office/drawing/2014/main" id="{90817CE3-1C14-49D4-BC0B-0ABD24679A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40366" name="Rectangle 14">
            <a:extLst>
              <a:ext uri="{FF2B5EF4-FFF2-40B4-BE49-F238E27FC236}">
                <a16:creationId xmlns:a16="http://schemas.microsoft.com/office/drawing/2014/main" id="{30F479F1-713D-438D-BC33-E3543AFC08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40367" name="Rectangle 15">
            <a:extLst>
              <a:ext uri="{FF2B5EF4-FFF2-40B4-BE49-F238E27FC236}">
                <a16:creationId xmlns:a16="http://schemas.microsoft.com/office/drawing/2014/main" id="{BFC00540-D41A-456B-93D0-CD8848FCBD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40368" name="Rectangle 16">
            <a:extLst>
              <a:ext uri="{FF2B5EF4-FFF2-40B4-BE49-F238E27FC236}">
                <a16:creationId xmlns:a16="http://schemas.microsoft.com/office/drawing/2014/main" id="{266810F4-3E04-4B71-8FFA-B23592D8CC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3365E6-8AB0-4DA0-B483-63588715553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74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64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87B0A-DC78-4826-82A4-C09B857A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37268D-9E3B-4FC7-8B7A-4864E5A82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A3487A-BAEE-4F66-8E43-A9856CC8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633FA5-42F5-4E62-99AF-475D145D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F7C407-35E9-4531-B8E5-4CF6D809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95BD14-D7C3-4E4D-B381-59CB7456F27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05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2FCFC-DF41-4BBC-8CEA-B6E6749C5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3CCD26-1264-4766-B814-14FA6439D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C05F3-5B24-48BE-BCE4-D127B9C7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61D224-17A4-4922-AF25-234711AE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405E3-E3B1-4FED-B995-C9D084739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A7604F-CDA7-491A-BEF5-A28463253D2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649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D66FF-F580-4E68-84A0-21BF23BD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28AA7F-F2D5-4F8A-91A7-3837FC991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A0BF43-C2AE-459C-8F2F-F501B82B1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4568AA-FCDD-48F3-88BD-F0C7AE07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1CD014-6060-4348-BD4B-1C65916E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59F7A-1010-4EE0-AAC5-88FA2601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9DFD99-F399-4B49-A9C2-9C33EF98AC5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343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2A8FB-F55A-486F-B724-9FAB2365A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750134-82C4-4430-9A4A-19783660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175980-D42B-4A91-8474-737BFC341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6DED92-E6B4-475C-A59A-E81D0B9FD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1CD494-4CF5-4E1A-9673-442154AD5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7F8EC8-D8F5-4B65-84DA-E9995378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B6C33D-B48A-437F-9B7E-4AC14197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7C4E45-CF0D-473E-B0C6-20F3C669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837175-48CF-40E1-B369-369D28A3401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48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7B7FC-9F0F-4349-B43E-0FBB19EF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4B6EE0-7E81-42B2-870F-3457367E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7AC47E-5B22-4CC0-AE0B-25AD0DE7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15A665-72A1-49EF-9DD0-C78A4974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3C3EF4-7EFD-45F8-9771-BA74CD501E6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149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526F62-FB28-405D-B8CD-77734CC9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48439C-E28D-4623-92D2-7BF61372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8CE25-33E4-4B36-A682-32F6E2DD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4EE62A-2706-4F03-8D85-BA7B2C360E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709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450AF-2FBB-4AD9-A2B2-4CC459E0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800072-5781-4571-A2FF-EF5347BD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E11A3A-C92D-4576-B7EF-74DEC1F2D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E8596D-3866-4132-B9B7-86433147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CB8D9D-9A8E-4E1F-BD5B-623E3525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9997B1-24B0-479B-BCBF-DCEDD4EF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8DE56-A5BF-4A4B-8A8C-D67E27FFFD0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5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AD1A7-EA3A-4137-B9DC-B5A477AB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C95506-86FD-440C-8F3E-AE0A018AB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1CFAF9-C4F2-49FA-9DB2-DCA97FC51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FA22CF-DCF9-4774-AFAA-623B642A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3784AD-DB5C-4CF3-A148-A935CA44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3EBFD6-17A3-4500-AAEA-2E36F70D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525AE-8A39-48CE-BEF2-699BCC97AC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896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D01A7-FF52-4F76-9765-4123135F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98C0C3-5D9F-4E8B-AE86-0B664529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BC1BB-3A56-47B8-920C-33881D6B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10CDBA-A329-4274-A3B4-1DE38387B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E72F9-9286-4EC5-A74B-F7CFBF49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5C5C0-F108-4ED5-8032-BFBCAC47980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93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F7C647-0B4B-456F-B2FA-07994956B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26250" y="214313"/>
            <a:ext cx="2117725" cy="6283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ACBBFF-3632-4FD2-B147-C97AE6D9B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214313"/>
            <a:ext cx="6205537" cy="6283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9604F-0D16-459A-8332-A4360289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3CDAB-5316-455C-9733-BB97AE57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8996A-651C-4D4C-8BF0-F726676A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CBFFB4-7685-46CB-9E31-6A55E664A7C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4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>
            <a:extLst>
              <a:ext uri="{FF2B5EF4-FFF2-40B4-BE49-F238E27FC236}">
                <a16:creationId xmlns:a16="http://schemas.microsoft.com/office/drawing/2014/main" id="{0EFC91BC-C92F-4B70-BA22-65E9444401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63EAB6B4-F82C-464C-9329-90D88CD7BE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2" name="Rectangle 4">
            <a:extLst>
              <a:ext uri="{FF2B5EF4-FFF2-40B4-BE49-F238E27FC236}">
                <a16:creationId xmlns:a16="http://schemas.microsoft.com/office/drawing/2014/main" id="{6BE9F582-D743-4A4A-B865-C9E6EC75D2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3" name="Rectangle 5">
            <a:extLst>
              <a:ext uri="{FF2B5EF4-FFF2-40B4-BE49-F238E27FC236}">
                <a16:creationId xmlns:a16="http://schemas.microsoft.com/office/drawing/2014/main" id="{12CE0FAC-E234-4490-983C-FEC9D5F66E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4" name="Rectangle 6">
            <a:extLst>
              <a:ext uri="{FF2B5EF4-FFF2-40B4-BE49-F238E27FC236}">
                <a16:creationId xmlns:a16="http://schemas.microsoft.com/office/drawing/2014/main" id="{4258E330-B1B0-43D6-B20D-6AB9DFB25D0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5" name="Rectangle 7">
            <a:extLst>
              <a:ext uri="{FF2B5EF4-FFF2-40B4-BE49-F238E27FC236}">
                <a16:creationId xmlns:a16="http://schemas.microsoft.com/office/drawing/2014/main" id="{BA36D06A-B55B-402A-9DB3-7153BF4333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6" name="Rectangle 8">
            <a:extLst>
              <a:ext uri="{FF2B5EF4-FFF2-40B4-BE49-F238E27FC236}">
                <a16:creationId xmlns:a16="http://schemas.microsoft.com/office/drawing/2014/main" id="{38D09C0F-F5B9-472D-82B7-09C532F2F0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77225" cy="1428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7" name="Rectangle 9">
            <a:extLst>
              <a:ext uri="{FF2B5EF4-FFF2-40B4-BE49-F238E27FC236}">
                <a16:creationId xmlns:a16="http://schemas.microsoft.com/office/drawing/2014/main" id="{5BD10C8B-46C4-4BAA-9220-62077FD27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39338" name="Rectangle 10">
            <a:extLst>
              <a:ext uri="{FF2B5EF4-FFF2-40B4-BE49-F238E27FC236}">
                <a16:creationId xmlns:a16="http://schemas.microsoft.com/office/drawing/2014/main" id="{BEE0BBFC-5846-4B5C-BAB0-0467A9E13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9339" name="Rectangle 11">
            <a:extLst>
              <a:ext uri="{FF2B5EF4-FFF2-40B4-BE49-F238E27FC236}">
                <a16:creationId xmlns:a16="http://schemas.microsoft.com/office/drawing/2014/main" id="{BE962DF2-9AED-47C8-8020-53D694CA70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39340" name="Rectangle 12">
            <a:extLst>
              <a:ext uri="{FF2B5EF4-FFF2-40B4-BE49-F238E27FC236}">
                <a16:creationId xmlns:a16="http://schemas.microsoft.com/office/drawing/2014/main" id="{6A771D50-33B0-4EDC-985F-AA6292C711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39341" name="Rectangle 13">
            <a:extLst>
              <a:ext uri="{FF2B5EF4-FFF2-40B4-BE49-F238E27FC236}">
                <a16:creationId xmlns:a16="http://schemas.microsoft.com/office/drawing/2014/main" id="{BADA23DB-F862-41BA-B5CA-DBDA436C9F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949270A4-86DE-44EE-B994-1E0DA961763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>
            <a:extLst>
              <a:ext uri="{FF2B5EF4-FFF2-40B4-BE49-F238E27FC236}">
                <a16:creationId xmlns:a16="http://schemas.microsoft.com/office/drawing/2014/main" id="{10EA07DE-55D5-4544-8CFB-9A244F3AD6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125538"/>
            <a:ext cx="8137525" cy="1462087"/>
          </a:xfrm>
        </p:spPr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 关系运算</a:t>
            </a:r>
          </a:p>
        </p:txBody>
      </p:sp>
      <p:sp>
        <p:nvSpPr>
          <p:cNvPr id="622598" name="Rectangle 6">
            <a:extLst>
              <a:ext uri="{FF2B5EF4-FFF2-40B4-BE49-F238E27FC236}">
                <a16:creationId xmlns:a16="http://schemas.microsoft.com/office/drawing/2014/main" id="{1438C215-6968-47DB-8EFA-40BDEF9CA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0963"/>
            <a:ext cx="4608513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 algn="ctr"/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数据库系统原理及应用</a:t>
            </a:r>
            <a:endParaRPr kumimoji="1" lang="zh-CN" altLang="en-US" sz="3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2604" name="Text Box 12">
            <a:extLst>
              <a:ext uri="{FF2B5EF4-FFF2-40B4-BE49-F238E27FC236}">
                <a16:creationId xmlns:a16="http://schemas.microsoft.com/office/drawing/2014/main" id="{58DBBC96-809A-4B55-B93C-5DB999FB5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957638"/>
            <a:ext cx="46815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40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endParaRPr lang="zh-CN" altLang="en-US" sz="4400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622605" name="Picture 13">
            <a:extLst>
              <a:ext uri="{FF2B5EF4-FFF2-40B4-BE49-F238E27FC236}">
                <a16:creationId xmlns:a16="http://schemas.microsoft.com/office/drawing/2014/main" id="{9E10F542-0C30-4B0B-99F8-02F3A03BB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70363"/>
            <a:ext cx="2700338" cy="268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2606" name="Text Box 14">
            <a:extLst>
              <a:ext uri="{FF2B5EF4-FFF2-40B4-BE49-F238E27FC236}">
                <a16:creationId xmlns:a16="http://schemas.microsoft.com/office/drawing/2014/main" id="{14AE6DB3-8F6A-46CC-9B3C-D9F4A68EC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2708275"/>
            <a:ext cx="46815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（第二讲）</a:t>
            </a:r>
            <a:endParaRPr lang="zh-CN" altLang="en-US" sz="4400" b="1">
              <a:solidFill>
                <a:srgbClr val="0066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16"/>
    </mc:Choice>
    <mc:Fallback xmlns="">
      <p:transition spd="slow" advTm="81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62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2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4" grpId="0"/>
      <p:bldP spid="62259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8" name="Rectangle 4">
            <a:extLst>
              <a:ext uri="{FF2B5EF4-FFF2-40B4-BE49-F238E27FC236}">
                <a16:creationId xmlns:a16="http://schemas.microsoft.com/office/drawing/2014/main" id="{A141F02B-75F3-4690-9CC1-01E5E274D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     基本的关系运算方法小结</a:t>
            </a:r>
          </a:p>
        </p:txBody>
      </p:sp>
      <p:sp>
        <p:nvSpPr>
          <p:cNvPr id="897029" name="Rectangle 5">
            <a:extLst>
              <a:ext uri="{FF2B5EF4-FFF2-40B4-BE49-F238E27FC236}">
                <a16:creationId xmlns:a16="http://schemas.microsoft.com/office/drawing/2014/main" id="{77E3BB4D-B5A6-4032-96F9-CD0A39B42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30313"/>
            <a:ext cx="8267700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               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、并：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               2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、交：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               3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、差：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               4</a:t>
            </a: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、广义笛卡儿积：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5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、投影：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6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选择：</a:t>
            </a:r>
            <a:endParaRPr lang="zh-CN" altLang="en-US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7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商：</a:t>
            </a:r>
            <a:endParaRPr lang="zh-CN" altLang="en-US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8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连接：</a:t>
            </a:r>
            <a:endParaRPr lang="zh-CN" altLang="en-US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9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、自然</a:t>
            </a:r>
            <a:r>
              <a:rPr lang="zh-CN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连接：</a:t>
            </a:r>
            <a:endParaRPr lang="en-US" altLang="zh-CN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97030" name="AutoShape 6">
            <a:extLst>
              <a:ext uri="{FF2B5EF4-FFF2-40B4-BE49-F238E27FC236}">
                <a16:creationId xmlns:a16="http://schemas.microsoft.com/office/drawing/2014/main" id="{45AC7C55-85EB-4B0F-8286-C5DC20388C4C}"/>
              </a:ext>
            </a:extLst>
          </p:cNvPr>
          <p:cNvSpPr>
            <a:spLocks/>
          </p:cNvSpPr>
          <p:nvPr/>
        </p:nvSpPr>
        <p:spPr bwMode="auto">
          <a:xfrm>
            <a:off x="1514475" y="2165350"/>
            <a:ext cx="431800" cy="2376488"/>
          </a:xfrm>
          <a:prstGeom prst="leftBrace">
            <a:avLst>
              <a:gd name="adj1" fmla="val 45864"/>
              <a:gd name="adj2" fmla="val 50000"/>
            </a:avLst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7031" name="Text Box 7">
            <a:extLst>
              <a:ext uri="{FF2B5EF4-FFF2-40B4-BE49-F238E27FC236}">
                <a16:creationId xmlns:a16="http://schemas.microsoft.com/office/drawing/2014/main" id="{410452DC-08CC-464A-9EC4-54F9EBE11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2170113"/>
            <a:ext cx="581025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基本关系运算</a:t>
            </a:r>
          </a:p>
        </p:txBody>
      </p:sp>
      <p:sp>
        <p:nvSpPr>
          <p:cNvPr id="897032" name="Text Box 8">
            <a:extLst>
              <a:ext uri="{FF2B5EF4-FFF2-40B4-BE49-F238E27FC236}">
                <a16:creationId xmlns:a16="http://schemas.microsoft.com/office/drawing/2014/main" id="{7E441DAF-6972-4EDE-8A1C-0D9A4F5CF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3416300"/>
            <a:ext cx="504825" cy="221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特有的关系运算</a:t>
            </a:r>
          </a:p>
        </p:txBody>
      </p:sp>
      <p:sp>
        <p:nvSpPr>
          <p:cNvPr id="897033" name="Text Box 9">
            <a:extLst>
              <a:ext uri="{FF2B5EF4-FFF2-40B4-BE49-F238E27FC236}">
                <a16:creationId xmlns:a16="http://schemas.microsoft.com/office/drawing/2014/main" id="{F2710536-03C0-4A71-AD48-DFDA5AD9B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3" y="1268413"/>
            <a:ext cx="504825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传统的关系运算</a:t>
            </a:r>
          </a:p>
        </p:txBody>
      </p:sp>
      <p:sp>
        <p:nvSpPr>
          <p:cNvPr id="897034" name="AutoShape 10">
            <a:extLst>
              <a:ext uri="{FF2B5EF4-FFF2-40B4-BE49-F238E27FC236}">
                <a16:creationId xmlns:a16="http://schemas.microsoft.com/office/drawing/2014/main" id="{E4331125-1B6B-4AED-ABA5-500327CD64AF}"/>
              </a:ext>
            </a:extLst>
          </p:cNvPr>
          <p:cNvSpPr>
            <a:spLocks/>
          </p:cNvSpPr>
          <p:nvPr/>
        </p:nvSpPr>
        <p:spPr bwMode="auto">
          <a:xfrm>
            <a:off x="2751138" y="1412875"/>
            <a:ext cx="431800" cy="1655763"/>
          </a:xfrm>
          <a:prstGeom prst="leftBrace">
            <a:avLst>
              <a:gd name="adj1" fmla="val 31955"/>
              <a:gd name="adj2" fmla="val 50000"/>
            </a:avLst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7035" name="AutoShape 11">
            <a:extLst>
              <a:ext uri="{FF2B5EF4-FFF2-40B4-BE49-F238E27FC236}">
                <a16:creationId xmlns:a16="http://schemas.microsoft.com/office/drawing/2014/main" id="{073776C1-1EFD-45B0-ACD3-F60301BEEC13}"/>
              </a:ext>
            </a:extLst>
          </p:cNvPr>
          <p:cNvSpPr>
            <a:spLocks/>
          </p:cNvSpPr>
          <p:nvPr/>
        </p:nvSpPr>
        <p:spPr bwMode="auto">
          <a:xfrm>
            <a:off x="2751138" y="3573463"/>
            <a:ext cx="431800" cy="1943100"/>
          </a:xfrm>
          <a:prstGeom prst="leftBrace">
            <a:avLst>
              <a:gd name="adj1" fmla="val 37500"/>
              <a:gd name="adj2" fmla="val 50000"/>
            </a:avLst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7036" name="AutoShape 12">
            <a:extLst>
              <a:ext uri="{FF2B5EF4-FFF2-40B4-BE49-F238E27FC236}">
                <a16:creationId xmlns:a16="http://schemas.microsoft.com/office/drawing/2014/main" id="{2755B08D-9F2D-4326-B79A-D0EF08B8FD1F}"/>
              </a:ext>
            </a:extLst>
          </p:cNvPr>
          <p:cNvSpPr>
            <a:spLocks/>
          </p:cNvSpPr>
          <p:nvPr/>
        </p:nvSpPr>
        <p:spPr bwMode="auto">
          <a:xfrm>
            <a:off x="6959600" y="1484313"/>
            <a:ext cx="288925" cy="4105275"/>
          </a:xfrm>
          <a:prstGeom prst="rightBrace">
            <a:avLst>
              <a:gd name="adj1" fmla="val 118407"/>
              <a:gd name="adj2" fmla="val 50000"/>
            </a:avLst>
          </a:prstGeom>
          <a:noFill/>
          <a:ln w="28575" cap="sq">
            <a:solidFill>
              <a:srgbClr val="0066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7037" name="Text Box 13">
            <a:extLst>
              <a:ext uri="{FF2B5EF4-FFF2-40B4-BE49-F238E27FC236}">
                <a16:creationId xmlns:a16="http://schemas.microsoft.com/office/drawing/2014/main" id="{B1247C89-69BC-4751-9D2A-11B466FAC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3150" y="1954213"/>
            <a:ext cx="604838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300">
                <a:ea typeface="黑体" panose="02010609060101010101" pitchFamily="49" charset="-122"/>
              </a:rPr>
              <a:t>均可用集合理论来定义</a:t>
            </a:r>
          </a:p>
        </p:txBody>
      </p:sp>
      <p:sp>
        <p:nvSpPr>
          <p:cNvPr id="897046" name="Text Box 22">
            <a:extLst>
              <a:ext uri="{FF2B5EF4-FFF2-40B4-BE49-F238E27FC236}">
                <a16:creationId xmlns:a16="http://schemas.microsoft.com/office/drawing/2014/main" id="{1D8F6CB5-88D2-4A43-A082-8D0ABC5E7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550" y="1293813"/>
            <a:ext cx="1158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∪</a:t>
            </a: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97047" name="Text Box 23">
            <a:extLst>
              <a:ext uri="{FF2B5EF4-FFF2-40B4-BE49-F238E27FC236}">
                <a16:creationId xmlns:a16="http://schemas.microsoft.com/office/drawing/2014/main" id="{7B1ECF3C-00A6-430D-A770-8D4FA6303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575" y="2298700"/>
            <a:ext cx="1230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</a:p>
        </p:txBody>
      </p:sp>
      <p:sp>
        <p:nvSpPr>
          <p:cNvPr id="897048" name="Text Box 24">
            <a:extLst>
              <a:ext uri="{FF2B5EF4-FFF2-40B4-BE49-F238E27FC236}">
                <a16:creationId xmlns:a16="http://schemas.microsoft.com/office/drawing/2014/main" id="{8D02110D-1918-4DAD-8CD3-CCDF9C3BF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550" y="1776413"/>
            <a:ext cx="12303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∩</a:t>
            </a:r>
          </a:p>
        </p:txBody>
      </p:sp>
      <p:sp>
        <p:nvSpPr>
          <p:cNvPr id="897049" name="Text Box 25">
            <a:extLst>
              <a:ext uri="{FF2B5EF4-FFF2-40B4-BE49-F238E27FC236}">
                <a16:creationId xmlns:a16="http://schemas.microsoft.com/office/drawing/2014/main" id="{E0EA239B-2F8C-47F7-8334-30D2CB107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988" y="2776538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endParaRPr lang="zh-CN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897050" name="Text Box 26">
            <a:extLst>
              <a:ext uri="{FF2B5EF4-FFF2-40B4-BE49-F238E27FC236}">
                <a16:creationId xmlns:a16="http://schemas.microsoft.com/office/drawing/2014/main" id="{B5F15805-BC16-4638-B243-AE7C60A5C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3259138"/>
            <a:ext cx="65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r>
              <a:rPr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</a:t>
            </a:r>
          </a:p>
        </p:txBody>
      </p:sp>
      <p:sp>
        <p:nvSpPr>
          <p:cNvPr id="897051" name="Text Box 27">
            <a:extLst>
              <a:ext uri="{FF2B5EF4-FFF2-40B4-BE49-F238E27FC236}">
                <a16:creationId xmlns:a16="http://schemas.microsoft.com/office/drawing/2014/main" id="{4476C6D2-E97D-4D04-AA1B-112249C01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3775075"/>
            <a:ext cx="942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r>
              <a:rPr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</a:t>
            </a:r>
          </a:p>
        </p:txBody>
      </p:sp>
      <p:sp>
        <p:nvSpPr>
          <p:cNvPr id="897052" name="Text Box 28">
            <a:extLst>
              <a:ext uri="{FF2B5EF4-FFF2-40B4-BE49-F238E27FC236}">
                <a16:creationId xmlns:a16="http://schemas.microsoft.com/office/drawing/2014/main" id="{DF6A1959-A79D-40F7-B1B6-A5B198141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4292600"/>
            <a:ext cx="5826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r>
              <a:rPr lang="zh-CN" altLang="en-US" sz="28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</a:t>
            </a:r>
          </a:p>
        </p:txBody>
      </p:sp>
      <p:sp>
        <p:nvSpPr>
          <p:cNvPr id="897053" name="Text Box 29">
            <a:extLst>
              <a:ext uri="{FF2B5EF4-FFF2-40B4-BE49-F238E27FC236}">
                <a16:creationId xmlns:a16="http://schemas.microsoft.com/office/drawing/2014/main" id="{83158D0D-6272-42A3-9C40-B8486EC7C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4810125"/>
            <a:ext cx="1230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endParaRPr lang="en-US" altLang="zh-CN" sz="24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7054" name="Text Box 30">
            <a:extLst>
              <a:ext uri="{FF2B5EF4-FFF2-40B4-BE49-F238E27FC236}">
                <a16:creationId xmlns:a16="http://schemas.microsoft.com/office/drawing/2014/main" id="{9D54229E-A90C-41D3-AA33-756047850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2638" y="5229225"/>
            <a:ext cx="1014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r>
              <a:rPr lang="zh-CN" altLang="en-US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</a:t>
            </a:r>
            <a:endParaRPr lang="en-US" altLang="zh-CN" sz="28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897055" name="Object 31">
            <a:extLst>
              <a:ext uri="{FF2B5EF4-FFF2-40B4-BE49-F238E27FC236}">
                <a16:creationId xmlns:a16="http://schemas.microsoft.com/office/drawing/2014/main" id="{51EA6D4E-9D26-40E2-BCBE-1542CA8A8B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9525" y="4641850"/>
          <a:ext cx="609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419040" progId="Equation.3">
                  <p:embed/>
                </p:oleObj>
              </mc:Choice>
              <mc:Fallback>
                <p:oleObj name="Equation" r:id="rId2" imgW="241200" imgH="41904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525" y="4641850"/>
                        <a:ext cx="6096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709"/>
    </mc:Choice>
    <mc:Fallback xmlns="">
      <p:transition spd="slow" advTm="4570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2" name="Rectangle 2">
            <a:extLst>
              <a:ext uri="{FF2B5EF4-FFF2-40B4-BE49-F238E27FC236}">
                <a16:creationId xmlns:a16="http://schemas.microsoft.com/office/drawing/2014/main" id="{DC02BFC1-C880-4A64-872B-4197F2D135AB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27050" y="1231900"/>
            <a:ext cx="8208963" cy="4895850"/>
          </a:xfrm>
          <a:noFill/>
          <a:ln/>
        </p:spPr>
        <p:txBody>
          <a:bodyPr/>
          <a:lstStyle/>
          <a:p>
            <a:pPr>
              <a:tabLst>
                <a:tab pos="1524000" algn="l"/>
              </a:tabLst>
            </a:pPr>
            <a:r>
              <a:rPr lang="en-US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、交</a:t>
            </a:r>
          </a:p>
          <a:p>
            <a:pPr>
              <a:tabLst>
                <a:tab pos="1524000" algn="l"/>
              </a:tabLst>
            </a:pPr>
            <a:r>
              <a:rPr lang="zh-CN" altLang="en-US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　　　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具有相同的关系模式。</a:t>
            </a:r>
          </a:p>
          <a:p>
            <a:pPr>
              <a:tabLst>
                <a:tab pos="1524000" algn="l"/>
              </a:tabLst>
            </a:pP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　　　定义：</a:t>
            </a:r>
          </a:p>
          <a:p>
            <a:pPr>
              <a:tabLst>
                <a:tab pos="1524000" algn="l"/>
              </a:tabLst>
            </a:pPr>
            <a:r>
              <a:rPr lang="zh-CN" altLang="en-US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　　　　　　　</a:t>
            </a:r>
            <a:r>
              <a:rPr lang="en-US" altLang="en-US">
                <a:ea typeface="黑体" panose="02010609060101010101" pitchFamily="49" charset="-122"/>
                <a:cs typeface="Times New Roman" panose="02020603050405020304" pitchFamily="18" charset="0"/>
              </a:rPr>
              <a:t>R∩S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(R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S)</a:t>
            </a:r>
          </a:p>
          <a:p>
            <a:pPr>
              <a:tabLst>
                <a:tab pos="1524000" algn="l"/>
              </a:tabLst>
            </a:pP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　　　  或　</a:t>
            </a:r>
            <a:r>
              <a:rPr lang="en-US" altLang="en-US">
                <a:ea typeface="黑体" panose="02010609060101010101" pitchFamily="49" charset="-122"/>
                <a:cs typeface="Times New Roman" panose="02020603050405020304" pitchFamily="18" charset="0"/>
              </a:rPr>
              <a:t>R∩S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(S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R)</a:t>
            </a:r>
          </a:p>
        </p:txBody>
      </p:sp>
      <p:sp>
        <p:nvSpPr>
          <p:cNvPr id="803844" name="Rectangle 4">
            <a:extLst>
              <a:ext uri="{FF2B5EF4-FFF2-40B4-BE49-F238E27FC236}">
                <a16:creationId xmlns:a16="http://schemas.microsoft.com/office/drawing/2014/main" id="{041B3512-9400-42D3-9891-CAEEB149B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214313"/>
            <a:ext cx="8051800" cy="622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3200"/>
              <a:t>三、用</a:t>
            </a:r>
            <a:r>
              <a:rPr lang="en-US" altLang="zh-CN" sz="3200"/>
              <a:t>5</a:t>
            </a:r>
            <a:r>
              <a:rPr lang="zh-CN" altLang="en-US" sz="3200"/>
              <a:t>种基本关系表示</a:t>
            </a:r>
            <a:r>
              <a:rPr lang="en-US" altLang="zh-CN" sz="3200"/>
              <a:t>4</a:t>
            </a:r>
            <a:r>
              <a:rPr lang="zh-CN" altLang="en-US" sz="3200"/>
              <a:t>种非基本关系运算</a:t>
            </a:r>
          </a:p>
        </p:txBody>
      </p:sp>
    </p:spTree>
  </p:cSld>
  <p:clrMapOvr>
    <a:masterClrMapping/>
  </p:clrMapOvr>
  <p:transition advTm="9324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>
            <a:extLst>
              <a:ext uri="{FF2B5EF4-FFF2-40B4-BE49-F238E27FC236}">
                <a16:creationId xmlns:a16="http://schemas.microsoft.com/office/drawing/2014/main" id="{2EEB8010-D38B-4445-B295-415CB3CBE8E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27050" y="1231900"/>
            <a:ext cx="8208963" cy="4895850"/>
          </a:xfrm>
          <a:noFill/>
          <a:ln/>
        </p:spPr>
        <p:txBody>
          <a:bodyPr/>
          <a:lstStyle/>
          <a:p>
            <a:pPr>
              <a:tabLst>
                <a:tab pos="1524000" algn="l"/>
              </a:tabLst>
            </a:pPr>
            <a:r>
              <a:rPr lang="en-US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、商</a:t>
            </a:r>
          </a:p>
          <a:p>
            <a:pPr>
              <a:tabLst>
                <a:tab pos="1524000" algn="l"/>
              </a:tabLst>
            </a:pPr>
            <a:r>
              <a:rPr lang="zh-CN" altLang="en-US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　　　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的目数分别为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r&gt;s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s≠</a:t>
            </a:r>
            <a:r>
              <a:rPr lang="el-GR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。用基本关系代数运算可定义商为：</a:t>
            </a:r>
          </a:p>
          <a:p>
            <a:pPr>
              <a:lnSpc>
                <a:spcPct val="140000"/>
              </a:lnSpc>
              <a:spcBef>
                <a:spcPct val="60000"/>
              </a:spcBef>
              <a:tabLst>
                <a:tab pos="1524000" algn="l"/>
              </a:tabLst>
            </a:pP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en-US" sz="2400">
                <a:ea typeface="黑体" panose="02010609060101010101" pitchFamily="49" charset="-122"/>
                <a:cs typeface="Times New Roman" panose="02020603050405020304" pitchFamily="18" charset="0"/>
              </a:rPr>
              <a:t>R÷S</a:t>
            </a:r>
            <a:r>
              <a:rPr lang="zh-CN" altLang="en-US" sz="2400"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l-GR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1,2,</a:t>
            </a:r>
            <a:r>
              <a:rPr lang="en-US" altLang="zh-CN" sz="2400" baseline="-2500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,r-s</a:t>
            </a: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(R)-</a:t>
            </a:r>
            <a:r>
              <a:rPr lang="el-GR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1,2,</a:t>
            </a:r>
            <a:r>
              <a:rPr lang="en-US" altLang="zh-CN" sz="2400" baseline="-2500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,r-s</a:t>
            </a:r>
            <a:r>
              <a:rPr lang="en-US" altLang="zh-CN" sz="2400">
                <a:solidFill>
                  <a:srgbClr val="000099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>
                <a:solidFill>
                  <a:srgbClr val="660033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l-GR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1,2,</a:t>
            </a:r>
            <a:r>
              <a:rPr lang="en-US" altLang="zh-CN" sz="2400" baseline="-2500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,r-s</a:t>
            </a:r>
            <a:r>
              <a:rPr lang="en-US" altLang="zh-CN" sz="2400">
                <a:solidFill>
                  <a:schemeClr val="hlink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>
                <a:solidFill>
                  <a:schemeClr val="hlink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×S</a:t>
            </a:r>
            <a:r>
              <a:rPr lang="en-US" altLang="zh-CN" sz="2400">
                <a:solidFill>
                  <a:srgbClr val="660033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-R</a:t>
            </a:r>
            <a:r>
              <a:rPr lang="en-US" altLang="zh-CN" sz="2400">
                <a:solidFill>
                  <a:srgbClr val="000099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04868" name="Line 4">
            <a:extLst>
              <a:ext uri="{FF2B5EF4-FFF2-40B4-BE49-F238E27FC236}">
                <a16:creationId xmlns:a16="http://schemas.microsoft.com/office/drawing/2014/main" id="{D50393F8-2AA7-4BBD-B73A-5ADD46449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4825" y="3736975"/>
            <a:ext cx="2160588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04869" name="Line 5">
            <a:extLst>
              <a:ext uri="{FF2B5EF4-FFF2-40B4-BE49-F238E27FC236}">
                <a16:creationId xmlns:a16="http://schemas.microsoft.com/office/drawing/2014/main" id="{588C1E17-9F24-4BB1-9107-6BAC0E04F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3835400"/>
            <a:ext cx="2735263" cy="0"/>
          </a:xfrm>
          <a:prstGeom prst="line">
            <a:avLst/>
          </a:prstGeom>
          <a:noFill/>
          <a:ln w="28575" cap="sq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04870" name="Line 6">
            <a:extLst>
              <a:ext uri="{FF2B5EF4-FFF2-40B4-BE49-F238E27FC236}">
                <a16:creationId xmlns:a16="http://schemas.microsoft.com/office/drawing/2014/main" id="{423C44E0-95F8-4DC4-B563-605FC510F8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2425" y="3935413"/>
            <a:ext cx="4248150" cy="0"/>
          </a:xfrm>
          <a:prstGeom prst="line">
            <a:avLst/>
          </a:prstGeom>
          <a:noFill/>
          <a:ln w="28575" cap="sq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04871" name="Line 7">
            <a:extLst>
              <a:ext uri="{FF2B5EF4-FFF2-40B4-BE49-F238E27FC236}">
                <a16:creationId xmlns:a16="http://schemas.microsoft.com/office/drawing/2014/main" id="{F098BF3B-21F3-4D21-83E4-380F669D8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1875" y="4068763"/>
            <a:ext cx="6119813" cy="0"/>
          </a:xfrm>
          <a:prstGeom prst="line">
            <a:avLst/>
          </a:prstGeom>
          <a:noFill/>
          <a:ln w="28575" cap="sq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04883" name="Rectangle 19">
            <a:extLst>
              <a:ext uri="{FF2B5EF4-FFF2-40B4-BE49-F238E27FC236}">
                <a16:creationId xmlns:a16="http://schemas.microsoft.com/office/drawing/2014/main" id="{521BF549-700F-4A5E-8E37-6778C7685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214313"/>
            <a:ext cx="8051800" cy="622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3200"/>
              <a:t>三、用</a:t>
            </a:r>
            <a:r>
              <a:rPr lang="en-US" altLang="zh-CN" sz="3200"/>
              <a:t>5</a:t>
            </a:r>
            <a:r>
              <a:rPr lang="zh-CN" altLang="en-US" sz="3200"/>
              <a:t>种基本关系表示</a:t>
            </a:r>
            <a:r>
              <a:rPr lang="en-US" altLang="zh-CN" sz="3200"/>
              <a:t>4</a:t>
            </a:r>
            <a:r>
              <a:rPr lang="zh-CN" altLang="en-US" sz="3200"/>
              <a:t>种非基本关系运算</a:t>
            </a:r>
          </a:p>
        </p:txBody>
      </p:sp>
    </p:spTree>
  </p:cSld>
  <p:clrMapOvr>
    <a:masterClrMapping/>
  </p:clrMapOvr>
  <p:transition advTm="239248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9160" name="Group 88">
            <a:extLst>
              <a:ext uri="{FF2B5EF4-FFF2-40B4-BE49-F238E27FC236}">
                <a16:creationId xmlns:a16="http://schemas.microsoft.com/office/drawing/2014/main" id="{5251D1FB-AF37-42A9-83BC-4F05A72DD129}"/>
              </a:ext>
            </a:extLst>
          </p:cNvPr>
          <p:cNvGraphicFramePr>
            <a:graphicFrameLocks noGrp="1"/>
          </p:cNvGraphicFramePr>
          <p:nvPr/>
        </p:nvGraphicFramePr>
        <p:xfrm>
          <a:off x="6564313" y="1628775"/>
          <a:ext cx="1951037" cy="352666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8345176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1015208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03576656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1813805187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416372"/>
                  </a:ext>
                </a:extLst>
              </a:tr>
              <a:tr h="23780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430410"/>
                  </a:ext>
                </a:extLst>
              </a:tr>
            </a:tbl>
          </a:graphicData>
        </a:graphic>
      </p:graphicFrame>
      <p:sp>
        <p:nvSpPr>
          <p:cNvPr id="899123" name="Text Box 51">
            <a:extLst>
              <a:ext uri="{FF2B5EF4-FFF2-40B4-BE49-F238E27FC236}">
                <a16:creationId xmlns:a16="http://schemas.microsoft.com/office/drawing/2014/main" id="{75B52ACB-6280-42AD-A5BB-440E474C5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5550" y="5300663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(d) </a:t>
            </a:r>
            <a:r>
              <a:rPr lang="en-US" altLang="zh-CN" sz="2400" b="1"/>
              <a:t>π</a:t>
            </a:r>
            <a:r>
              <a:rPr lang="en-US" altLang="zh-CN" sz="2400"/>
              <a:t>1,2(R) ×S</a:t>
            </a:r>
          </a:p>
        </p:txBody>
      </p:sp>
      <p:sp>
        <p:nvSpPr>
          <p:cNvPr id="899125" name="Text Box 53">
            <a:extLst>
              <a:ext uri="{FF2B5EF4-FFF2-40B4-BE49-F238E27FC236}">
                <a16:creationId xmlns:a16="http://schemas.microsoft.com/office/drawing/2014/main" id="{C37F8FDA-C2B4-4C48-8AC2-C0D11E4A9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52500"/>
            <a:ext cx="8610600" cy="5318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2.7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已知关系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如图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2.7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(b)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，求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R÷S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899128" name="Group 56">
            <a:extLst>
              <a:ext uri="{FF2B5EF4-FFF2-40B4-BE49-F238E27FC236}">
                <a16:creationId xmlns:a16="http://schemas.microsoft.com/office/drawing/2014/main" id="{0EB411C9-F970-4A50-BA1F-17DA0C28E49C}"/>
              </a:ext>
            </a:extLst>
          </p:cNvPr>
          <p:cNvGraphicFramePr>
            <a:graphicFrameLocks noGrp="1"/>
          </p:cNvGraphicFramePr>
          <p:nvPr/>
        </p:nvGraphicFramePr>
        <p:xfrm>
          <a:off x="1162050" y="1628775"/>
          <a:ext cx="1951038" cy="2917825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340044955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3726144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3705105119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5692576"/>
                    </a:ext>
                  </a:extLst>
                </a:gridCol>
              </a:tblGrid>
              <a:tr h="4603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151802"/>
                  </a:ext>
                </a:extLst>
              </a:tr>
              <a:tr h="24574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698034"/>
                  </a:ext>
                </a:extLst>
              </a:tr>
            </a:tbl>
          </a:graphicData>
        </a:graphic>
      </p:graphicFrame>
      <p:sp>
        <p:nvSpPr>
          <p:cNvPr id="899145" name="Text Box 73">
            <a:extLst>
              <a:ext uri="{FF2B5EF4-FFF2-40B4-BE49-F238E27FC236}">
                <a16:creationId xmlns:a16="http://schemas.microsoft.com/office/drawing/2014/main" id="{21D5B9C4-8998-4ED2-B8B3-CCFCB600F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390775"/>
            <a:ext cx="609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hlink"/>
                </a:solidFill>
              </a:rPr>
              <a:t>(a)</a:t>
            </a:r>
            <a:r>
              <a:rPr lang="zh-CN" altLang="en-US" sz="2400" b="1"/>
              <a:t>关系</a:t>
            </a:r>
            <a:r>
              <a:rPr lang="en-US" altLang="zh-CN" sz="2400"/>
              <a:t>R </a:t>
            </a:r>
          </a:p>
        </p:txBody>
      </p:sp>
      <p:graphicFrame>
        <p:nvGraphicFramePr>
          <p:cNvPr id="899146" name="Group 74">
            <a:extLst>
              <a:ext uri="{FF2B5EF4-FFF2-40B4-BE49-F238E27FC236}">
                <a16:creationId xmlns:a16="http://schemas.microsoft.com/office/drawing/2014/main" id="{E78EA839-1975-4100-BD60-6D597F3564FE}"/>
              </a:ext>
            </a:extLst>
          </p:cNvPr>
          <p:cNvGraphicFramePr>
            <a:graphicFrameLocks noGrp="1"/>
          </p:cNvGraphicFramePr>
          <p:nvPr/>
        </p:nvGraphicFramePr>
        <p:xfrm>
          <a:off x="1390650" y="4905375"/>
          <a:ext cx="1524000" cy="139223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102990769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0945726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185912"/>
                  </a:ext>
                </a:extLst>
              </a:tr>
              <a:tr h="8588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092358"/>
                  </a:ext>
                </a:extLst>
              </a:tr>
            </a:tbl>
          </a:graphicData>
        </a:graphic>
      </p:graphicFrame>
      <p:sp>
        <p:nvSpPr>
          <p:cNvPr id="899157" name="Text Box 85">
            <a:extLst>
              <a:ext uri="{FF2B5EF4-FFF2-40B4-BE49-F238E27FC236}">
                <a16:creationId xmlns:a16="http://schemas.microsoft.com/office/drawing/2014/main" id="{FDB6920E-FD11-4BB8-83CE-CEE40A960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4981575"/>
            <a:ext cx="533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hlink"/>
                </a:solidFill>
              </a:rPr>
              <a:t>(b)</a:t>
            </a:r>
            <a:r>
              <a:rPr lang="zh-CN" altLang="en-US" sz="2400" b="1"/>
              <a:t>关系</a:t>
            </a:r>
            <a:r>
              <a:rPr lang="en-US" altLang="zh-CN" sz="2400"/>
              <a:t>S</a:t>
            </a:r>
          </a:p>
        </p:txBody>
      </p:sp>
      <p:graphicFrame>
        <p:nvGraphicFramePr>
          <p:cNvPr id="899161" name="Group 89">
            <a:extLst>
              <a:ext uri="{FF2B5EF4-FFF2-40B4-BE49-F238E27FC236}">
                <a16:creationId xmlns:a16="http://schemas.microsoft.com/office/drawing/2014/main" id="{E4798E68-82A1-4327-B3F5-B554563280AC}"/>
              </a:ext>
            </a:extLst>
          </p:cNvPr>
          <p:cNvGraphicFramePr>
            <a:graphicFrameLocks noGrp="1"/>
          </p:cNvGraphicFramePr>
          <p:nvPr/>
        </p:nvGraphicFramePr>
        <p:xfrm>
          <a:off x="4105275" y="1628775"/>
          <a:ext cx="1295400" cy="20574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192214882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61635989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797581"/>
                  </a:ext>
                </a:extLst>
              </a:tr>
              <a:tr h="15240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739254"/>
                  </a:ext>
                </a:extLst>
              </a:tr>
            </a:tbl>
          </a:graphicData>
        </a:graphic>
      </p:graphicFrame>
      <p:graphicFrame>
        <p:nvGraphicFramePr>
          <p:cNvPr id="899172" name="Group 100">
            <a:extLst>
              <a:ext uri="{FF2B5EF4-FFF2-40B4-BE49-F238E27FC236}">
                <a16:creationId xmlns:a16="http://schemas.microsoft.com/office/drawing/2014/main" id="{615C0DB9-610F-4C55-A8E9-0CA36B6EDD88}"/>
              </a:ext>
            </a:extLst>
          </p:cNvPr>
          <p:cNvGraphicFramePr>
            <a:graphicFrameLocks noGrp="1"/>
          </p:cNvGraphicFramePr>
          <p:nvPr/>
        </p:nvGraphicFramePr>
        <p:xfrm>
          <a:off x="3673475" y="4924425"/>
          <a:ext cx="2336800" cy="1032447"/>
        </p:xfrm>
        <a:graphic>
          <a:graphicData uri="http://schemas.openxmlformats.org/drawingml/2006/table">
            <a:tbl>
              <a:tblPr/>
              <a:tblGrid>
                <a:gridCol w="584200">
                  <a:extLst>
                    <a:ext uri="{9D8B030D-6E8A-4147-A177-3AD203B41FA5}">
                      <a16:colId xmlns:a16="http://schemas.microsoft.com/office/drawing/2014/main" val="192781606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381188300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19517433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470347007"/>
                    </a:ext>
                  </a:extLst>
                </a:gridCol>
              </a:tblGrid>
              <a:tr h="4032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922025"/>
                  </a:ext>
                </a:extLst>
              </a:tr>
              <a:tr h="5492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976947"/>
                  </a:ext>
                </a:extLst>
              </a:tr>
            </a:tbl>
          </a:graphicData>
        </a:graphic>
      </p:graphicFrame>
      <p:sp>
        <p:nvSpPr>
          <p:cNvPr id="899189" name="Text Box 117">
            <a:extLst>
              <a:ext uri="{FF2B5EF4-FFF2-40B4-BE49-F238E27FC236}">
                <a16:creationId xmlns:a16="http://schemas.microsoft.com/office/drawing/2014/main" id="{0D60EDA6-BE91-494C-B74B-9A4AB1A0A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383857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(c) </a:t>
            </a:r>
            <a:r>
              <a:rPr lang="en-US" altLang="zh-CN" sz="2400" b="1"/>
              <a:t>π</a:t>
            </a:r>
            <a:r>
              <a:rPr lang="en-US" altLang="zh-CN" sz="2400"/>
              <a:t>1,2(R)</a:t>
            </a:r>
          </a:p>
        </p:txBody>
      </p:sp>
      <p:sp>
        <p:nvSpPr>
          <p:cNvPr id="899190" name="Text Box 118">
            <a:extLst>
              <a:ext uri="{FF2B5EF4-FFF2-40B4-BE49-F238E27FC236}">
                <a16:creationId xmlns:a16="http://schemas.microsoft.com/office/drawing/2014/main" id="{FAB07582-8FBA-46B3-B1D7-FA14DCE30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6067425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(e) </a:t>
            </a:r>
            <a:r>
              <a:rPr lang="en-US" altLang="zh-CN" sz="2400" b="1">
                <a:solidFill>
                  <a:srgbClr val="660033"/>
                </a:solidFill>
              </a:rPr>
              <a:t>π</a:t>
            </a:r>
            <a:r>
              <a:rPr lang="en-US" altLang="zh-CN" sz="2400" b="1" baseline="-25000">
                <a:solidFill>
                  <a:srgbClr val="660033"/>
                </a:solidFill>
              </a:rPr>
              <a:t>1,2</a:t>
            </a:r>
            <a:r>
              <a:rPr lang="en-US" altLang="zh-CN" sz="2400" b="1">
                <a:solidFill>
                  <a:srgbClr val="660033"/>
                </a:solidFill>
              </a:rPr>
              <a:t>(R) ×S</a:t>
            </a:r>
            <a:r>
              <a:rPr lang="en-US" altLang="zh-CN" sz="2400" b="1"/>
              <a:t> </a:t>
            </a:r>
            <a:r>
              <a:rPr lang="zh-CN" altLang="en-US" sz="2400" b="1"/>
              <a:t>－</a:t>
            </a:r>
            <a:r>
              <a:rPr lang="en-US" altLang="zh-CN" sz="2400" b="1"/>
              <a:t>R</a:t>
            </a:r>
          </a:p>
        </p:txBody>
      </p:sp>
      <p:sp>
        <p:nvSpPr>
          <p:cNvPr id="899192" name="Rectangle 120">
            <a:extLst>
              <a:ext uri="{FF2B5EF4-FFF2-40B4-BE49-F238E27FC236}">
                <a16:creationId xmlns:a16="http://schemas.microsoft.com/office/drawing/2014/main" id="{BBE0CAC1-FCA6-4E06-9057-87A9359B1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14313"/>
            <a:ext cx="80518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 sz="3200"/>
              <a:t>三、用</a:t>
            </a:r>
            <a:r>
              <a:rPr lang="en-US" altLang="zh-CN" sz="3200"/>
              <a:t>5</a:t>
            </a:r>
            <a:r>
              <a:rPr lang="zh-CN" altLang="en-US" sz="3200"/>
              <a:t>种基本关系表示</a:t>
            </a:r>
            <a:r>
              <a:rPr lang="en-US" altLang="zh-CN" sz="3200"/>
              <a:t>4</a:t>
            </a:r>
            <a:r>
              <a:rPr lang="zh-CN" altLang="en-US" sz="3200"/>
              <a:t>种非基本关系运算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844"/>
    </mc:Choice>
    <mc:Fallback xmlns="">
      <p:transition spd="slow" advTm="11184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01" name="Text Box 5">
            <a:extLst>
              <a:ext uri="{FF2B5EF4-FFF2-40B4-BE49-F238E27FC236}">
                <a16:creationId xmlns:a16="http://schemas.microsoft.com/office/drawing/2014/main" id="{C42C5041-CB02-4448-A249-2A747F0E8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52500"/>
            <a:ext cx="8610600" cy="5318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2.7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已知关系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如图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2.7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(b)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，求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R÷S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900179" name="Group 83">
            <a:extLst>
              <a:ext uri="{FF2B5EF4-FFF2-40B4-BE49-F238E27FC236}">
                <a16:creationId xmlns:a16="http://schemas.microsoft.com/office/drawing/2014/main" id="{7A9198CB-9A4C-41B5-A031-82010E703199}"/>
              </a:ext>
            </a:extLst>
          </p:cNvPr>
          <p:cNvGraphicFramePr>
            <a:graphicFrameLocks noGrp="1"/>
          </p:cNvGraphicFramePr>
          <p:nvPr/>
        </p:nvGraphicFramePr>
        <p:xfrm>
          <a:off x="3292475" y="1798638"/>
          <a:ext cx="2336800" cy="1032447"/>
        </p:xfrm>
        <a:graphic>
          <a:graphicData uri="http://schemas.openxmlformats.org/drawingml/2006/table">
            <a:tbl>
              <a:tblPr/>
              <a:tblGrid>
                <a:gridCol w="584200">
                  <a:extLst>
                    <a:ext uri="{9D8B030D-6E8A-4147-A177-3AD203B41FA5}">
                      <a16:colId xmlns:a16="http://schemas.microsoft.com/office/drawing/2014/main" val="3200529117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131789958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9765013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382793686"/>
                    </a:ext>
                  </a:extLst>
                </a:gridCol>
              </a:tblGrid>
              <a:tr h="4032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099140"/>
                  </a:ext>
                </a:extLst>
              </a:tr>
              <a:tr h="5492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723247"/>
                  </a:ext>
                </a:extLst>
              </a:tr>
            </a:tbl>
          </a:graphicData>
        </a:graphic>
      </p:graphicFrame>
      <p:sp>
        <p:nvSpPr>
          <p:cNvPr id="900131" name="Text Box 35">
            <a:extLst>
              <a:ext uri="{FF2B5EF4-FFF2-40B4-BE49-F238E27FC236}">
                <a16:creationId xmlns:a16="http://schemas.microsoft.com/office/drawing/2014/main" id="{36482050-F68B-4FE8-9184-6974E6094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30178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(e) π</a:t>
            </a:r>
            <a:r>
              <a:rPr lang="en-US" altLang="zh-CN" sz="2400" b="1" baseline="-25000"/>
              <a:t>1,2</a:t>
            </a:r>
            <a:r>
              <a:rPr lang="en-US" altLang="zh-CN" sz="2400" b="1"/>
              <a:t>(R) ×S </a:t>
            </a:r>
            <a:r>
              <a:rPr lang="zh-CN" altLang="en-US" sz="2400" b="1"/>
              <a:t>－</a:t>
            </a:r>
            <a:r>
              <a:rPr lang="en-US" altLang="zh-CN" sz="2400" b="1"/>
              <a:t>R</a:t>
            </a:r>
          </a:p>
        </p:txBody>
      </p:sp>
      <p:graphicFrame>
        <p:nvGraphicFramePr>
          <p:cNvPr id="900132" name="Group 36">
            <a:extLst>
              <a:ext uri="{FF2B5EF4-FFF2-40B4-BE49-F238E27FC236}">
                <a16:creationId xmlns:a16="http://schemas.microsoft.com/office/drawing/2014/main" id="{13D8B4A8-6A16-4DB0-A84F-4D07DFB21477}"/>
              </a:ext>
            </a:extLst>
          </p:cNvPr>
          <p:cNvGraphicFramePr>
            <a:graphicFrameLocks noGrp="1"/>
          </p:cNvGraphicFramePr>
          <p:nvPr/>
        </p:nvGraphicFramePr>
        <p:xfrm>
          <a:off x="6877050" y="2205038"/>
          <a:ext cx="1016000" cy="1371600"/>
        </p:xfrm>
        <a:graphic>
          <a:graphicData uri="http://schemas.openxmlformats.org/drawingml/2006/table">
            <a:tbl>
              <a:tblPr/>
              <a:tblGrid>
                <a:gridCol w="482600">
                  <a:extLst>
                    <a:ext uri="{9D8B030D-6E8A-4147-A177-3AD203B41FA5}">
                      <a16:colId xmlns:a16="http://schemas.microsoft.com/office/drawing/2014/main" val="284410333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52671934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866347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891214"/>
                  </a:ext>
                </a:extLst>
              </a:tr>
            </a:tbl>
          </a:graphicData>
        </a:graphic>
      </p:graphicFrame>
      <p:sp>
        <p:nvSpPr>
          <p:cNvPr id="900157" name="Text Box 61">
            <a:extLst>
              <a:ext uri="{FF2B5EF4-FFF2-40B4-BE49-F238E27FC236}">
                <a16:creationId xmlns:a16="http://schemas.microsoft.com/office/drawing/2014/main" id="{6435BB7C-5004-4650-BE6B-9A2CB2C4A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8850" y="374015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（</a:t>
            </a:r>
            <a:r>
              <a:rPr lang="en-US" altLang="zh-CN" sz="2400" b="1"/>
              <a:t>f</a:t>
            </a:r>
            <a:r>
              <a:rPr lang="zh-CN" altLang="en-US" sz="2400" b="1"/>
              <a:t>）</a:t>
            </a:r>
            <a:r>
              <a:rPr lang="en-US" altLang="zh-CN" sz="2200" b="1"/>
              <a:t>π1,2 </a:t>
            </a:r>
            <a:r>
              <a:rPr lang="en-US" altLang="zh-CN" sz="2200" b="1">
                <a:solidFill>
                  <a:srgbClr val="660033"/>
                </a:solidFill>
              </a:rPr>
              <a:t>(</a:t>
            </a:r>
            <a:r>
              <a:rPr lang="en-US" altLang="zh-CN" sz="2200" b="1">
                <a:solidFill>
                  <a:srgbClr val="003366"/>
                </a:solidFill>
              </a:rPr>
              <a:t>(π1,2(R) </a:t>
            </a:r>
            <a:r>
              <a:rPr lang="el-GR" altLang="zh-CN" sz="2200" b="1">
                <a:solidFill>
                  <a:srgbClr val="003366"/>
                </a:solidFill>
                <a:latin typeface="宋体" panose="02010600030101010101" pitchFamily="2" charset="-122"/>
              </a:rPr>
              <a:t>×</a:t>
            </a:r>
            <a:r>
              <a:rPr lang="en-US" altLang="zh-CN" sz="2200" b="1">
                <a:solidFill>
                  <a:srgbClr val="003366"/>
                </a:solidFill>
              </a:rPr>
              <a:t>S) </a:t>
            </a:r>
            <a:r>
              <a:rPr lang="zh-CN" altLang="en-US" sz="2200" b="1"/>
              <a:t>－</a:t>
            </a:r>
            <a:r>
              <a:rPr lang="en-US" altLang="zh-CN" sz="2200" b="1"/>
              <a:t>R</a:t>
            </a:r>
            <a:r>
              <a:rPr lang="en-US" altLang="zh-CN" sz="2200" b="1">
                <a:solidFill>
                  <a:srgbClr val="660033"/>
                </a:solidFill>
              </a:rPr>
              <a:t>)</a:t>
            </a:r>
            <a:endParaRPr lang="el-GR" altLang="zh-CN" sz="2200" b="1">
              <a:solidFill>
                <a:srgbClr val="660033"/>
              </a:solidFill>
            </a:endParaRPr>
          </a:p>
        </p:txBody>
      </p:sp>
      <p:sp>
        <p:nvSpPr>
          <p:cNvPr id="900159" name="Text Box 63">
            <a:extLst>
              <a:ext uri="{FF2B5EF4-FFF2-40B4-BE49-F238E27FC236}">
                <a16:creationId xmlns:a16="http://schemas.microsoft.com/office/drawing/2014/main" id="{8B65154E-3BDC-407E-9B4E-4D14E9344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188" y="5761038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图</a:t>
            </a:r>
            <a:r>
              <a:rPr lang="en-US" altLang="zh-CN" sz="2400" b="1"/>
              <a:t>2.4  </a:t>
            </a:r>
            <a:r>
              <a:rPr lang="zh-CN" altLang="en-US" sz="2400" b="1"/>
              <a:t>商运算</a:t>
            </a:r>
          </a:p>
        </p:txBody>
      </p:sp>
      <p:graphicFrame>
        <p:nvGraphicFramePr>
          <p:cNvPr id="900160" name="Group 64">
            <a:extLst>
              <a:ext uri="{FF2B5EF4-FFF2-40B4-BE49-F238E27FC236}">
                <a16:creationId xmlns:a16="http://schemas.microsoft.com/office/drawing/2014/main" id="{992B25D5-1904-4F65-9222-0DE53EE25F81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700213"/>
          <a:ext cx="1951037" cy="2917825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125815971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48506190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72658659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48960685"/>
                    </a:ext>
                  </a:extLst>
                </a:gridCol>
              </a:tblGrid>
              <a:tr h="4603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04645"/>
                  </a:ext>
                </a:extLst>
              </a:tr>
              <a:tr h="24574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46466"/>
                  </a:ext>
                </a:extLst>
              </a:tr>
            </a:tbl>
          </a:graphicData>
        </a:graphic>
      </p:graphicFrame>
      <p:sp>
        <p:nvSpPr>
          <p:cNvPr id="900177" name="Text Box 81">
            <a:extLst>
              <a:ext uri="{FF2B5EF4-FFF2-40B4-BE49-F238E27FC236}">
                <a16:creationId xmlns:a16="http://schemas.microsoft.com/office/drawing/2014/main" id="{A441F0D1-3966-4E14-B531-35EEB9629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846638"/>
            <a:ext cx="151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hlink"/>
                </a:solidFill>
              </a:rPr>
              <a:t>(a)</a:t>
            </a:r>
            <a:r>
              <a:rPr lang="zh-CN" altLang="en-US" sz="2400" b="1"/>
              <a:t>关系</a:t>
            </a:r>
            <a:r>
              <a:rPr lang="en-US" altLang="zh-CN" sz="2400"/>
              <a:t>R </a:t>
            </a:r>
          </a:p>
        </p:txBody>
      </p:sp>
      <p:sp>
        <p:nvSpPr>
          <p:cNvPr id="900181" name="Rectangle 85">
            <a:extLst>
              <a:ext uri="{FF2B5EF4-FFF2-40B4-BE49-F238E27FC236}">
                <a16:creationId xmlns:a16="http://schemas.microsoft.com/office/drawing/2014/main" id="{3F4D529A-810D-4B8E-9095-9F6DE5A92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14313"/>
            <a:ext cx="80518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 sz="3200"/>
              <a:t>三、用</a:t>
            </a:r>
            <a:r>
              <a:rPr lang="en-US" altLang="zh-CN" sz="3200"/>
              <a:t>5</a:t>
            </a:r>
            <a:r>
              <a:rPr lang="zh-CN" altLang="en-US" sz="3200"/>
              <a:t>种基本关系表示</a:t>
            </a:r>
            <a:r>
              <a:rPr lang="en-US" altLang="zh-CN" sz="3200"/>
              <a:t>4</a:t>
            </a:r>
            <a:r>
              <a:rPr lang="zh-CN" altLang="en-US" sz="3200"/>
              <a:t>种非基本关系运算</a:t>
            </a:r>
          </a:p>
        </p:txBody>
      </p:sp>
      <p:sp>
        <p:nvSpPr>
          <p:cNvPr id="900182" name="AutoShape 86">
            <a:extLst>
              <a:ext uri="{FF2B5EF4-FFF2-40B4-BE49-F238E27FC236}">
                <a16:creationId xmlns:a16="http://schemas.microsoft.com/office/drawing/2014/main" id="{A9F9F248-6082-449B-AA34-1FA6135B1CB4}"/>
              </a:ext>
            </a:extLst>
          </p:cNvPr>
          <p:cNvSpPr>
            <a:spLocks/>
          </p:cNvSpPr>
          <p:nvPr/>
        </p:nvSpPr>
        <p:spPr bwMode="auto">
          <a:xfrm rot="5400000">
            <a:off x="7415213" y="3114675"/>
            <a:ext cx="358775" cy="2447925"/>
          </a:xfrm>
          <a:prstGeom prst="rightBrace">
            <a:avLst>
              <a:gd name="adj1" fmla="val 56858"/>
              <a:gd name="adj2" fmla="val 50000"/>
            </a:avLst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0183" name="Text Box 87">
            <a:extLst>
              <a:ext uri="{FF2B5EF4-FFF2-40B4-BE49-F238E27FC236}">
                <a16:creationId xmlns:a16="http://schemas.microsoft.com/office/drawing/2014/main" id="{0573F674-2202-4159-843F-BBB99CE2A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4429125"/>
            <a:ext cx="668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(e)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46"/>
    </mc:Choice>
    <mc:Fallback xmlns="">
      <p:transition spd="slow" advTm="2264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2" name="Text Box 4">
            <a:extLst>
              <a:ext uri="{FF2B5EF4-FFF2-40B4-BE49-F238E27FC236}">
                <a16:creationId xmlns:a16="http://schemas.microsoft.com/office/drawing/2014/main" id="{F7968A62-77CC-4B20-A98C-590008976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52500"/>
            <a:ext cx="8610600" cy="5318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2.7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已知关系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如图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2.7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(b)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，求</a:t>
            </a:r>
            <a:r>
              <a:rPr lang="en-US" altLang="zh-CN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R÷S</a:t>
            </a:r>
            <a:r>
              <a:rPr lang="zh-CN" altLang="en-US" sz="28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903173" name="Rectangle 5">
            <a:extLst>
              <a:ext uri="{FF2B5EF4-FFF2-40B4-BE49-F238E27FC236}">
                <a16:creationId xmlns:a16="http://schemas.microsoft.com/office/drawing/2014/main" id="{8A0099BF-05BD-4D4B-AFEF-85D5A4221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14313"/>
            <a:ext cx="80518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 sz="3200"/>
              <a:t>三、用</a:t>
            </a:r>
            <a:r>
              <a:rPr lang="en-US" altLang="zh-CN" sz="3200"/>
              <a:t>5</a:t>
            </a:r>
            <a:r>
              <a:rPr lang="zh-CN" altLang="en-US" sz="3200"/>
              <a:t>种基本关系表示</a:t>
            </a:r>
            <a:r>
              <a:rPr lang="en-US" altLang="zh-CN" sz="3200"/>
              <a:t>4</a:t>
            </a:r>
            <a:r>
              <a:rPr lang="zh-CN" altLang="en-US" sz="3200"/>
              <a:t>种非基本关系运算</a:t>
            </a:r>
          </a:p>
        </p:txBody>
      </p:sp>
      <p:graphicFrame>
        <p:nvGraphicFramePr>
          <p:cNvPr id="903174" name="Group 6">
            <a:extLst>
              <a:ext uri="{FF2B5EF4-FFF2-40B4-BE49-F238E27FC236}">
                <a16:creationId xmlns:a16="http://schemas.microsoft.com/office/drawing/2014/main" id="{92196AE3-20E7-485F-AAA3-6D4FEF6F2CE5}"/>
              </a:ext>
            </a:extLst>
          </p:cNvPr>
          <p:cNvGraphicFramePr>
            <a:graphicFrameLocks noGrp="1"/>
          </p:cNvGraphicFramePr>
          <p:nvPr/>
        </p:nvGraphicFramePr>
        <p:xfrm>
          <a:off x="2976563" y="1701800"/>
          <a:ext cx="1295400" cy="20574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398567136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891593909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8014"/>
                  </a:ext>
                </a:extLst>
              </a:tr>
              <a:tr h="15240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513796"/>
                  </a:ext>
                </a:extLst>
              </a:tr>
            </a:tbl>
          </a:graphicData>
        </a:graphic>
      </p:graphicFrame>
      <p:sp>
        <p:nvSpPr>
          <p:cNvPr id="903185" name="Text Box 17">
            <a:extLst>
              <a:ext uri="{FF2B5EF4-FFF2-40B4-BE49-F238E27FC236}">
                <a16:creationId xmlns:a16="http://schemas.microsoft.com/office/drawing/2014/main" id="{B17622DE-B1EF-4F85-B9F6-1CD85B551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3" y="3911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(c) </a:t>
            </a:r>
            <a:r>
              <a:rPr lang="en-US" altLang="zh-CN" sz="2400" b="1"/>
              <a:t>π</a:t>
            </a:r>
            <a:r>
              <a:rPr lang="en-US" altLang="zh-CN" sz="2400"/>
              <a:t>1,2(R)</a:t>
            </a:r>
          </a:p>
        </p:txBody>
      </p:sp>
      <p:graphicFrame>
        <p:nvGraphicFramePr>
          <p:cNvPr id="903186" name="Group 18">
            <a:extLst>
              <a:ext uri="{FF2B5EF4-FFF2-40B4-BE49-F238E27FC236}">
                <a16:creationId xmlns:a16="http://schemas.microsoft.com/office/drawing/2014/main" id="{89217AFB-1F00-46BF-913C-A963D62DD997}"/>
              </a:ext>
            </a:extLst>
          </p:cNvPr>
          <p:cNvGraphicFramePr>
            <a:graphicFrameLocks noGrp="1"/>
          </p:cNvGraphicFramePr>
          <p:nvPr/>
        </p:nvGraphicFramePr>
        <p:xfrm>
          <a:off x="5924550" y="1628775"/>
          <a:ext cx="1016000" cy="1371600"/>
        </p:xfrm>
        <a:graphic>
          <a:graphicData uri="http://schemas.openxmlformats.org/drawingml/2006/table">
            <a:tbl>
              <a:tblPr/>
              <a:tblGrid>
                <a:gridCol w="482600">
                  <a:extLst>
                    <a:ext uri="{9D8B030D-6E8A-4147-A177-3AD203B41FA5}">
                      <a16:colId xmlns:a16="http://schemas.microsoft.com/office/drawing/2014/main" val="345804564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20597799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643250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045434"/>
                  </a:ext>
                </a:extLst>
              </a:tr>
            </a:tbl>
          </a:graphicData>
        </a:graphic>
      </p:graphicFrame>
      <p:sp>
        <p:nvSpPr>
          <p:cNvPr id="903197" name="Text Box 29">
            <a:extLst>
              <a:ext uri="{FF2B5EF4-FFF2-40B4-BE49-F238E27FC236}">
                <a16:creationId xmlns:a16="http://schemas.microsoft.com/office/drawing/2014/main" id="{59AEE3EB-B49B-4263-8950-F07A0D35C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2950" y="3068638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（</a:t>
            </a:r>
            <a:r>
              <a:rPr lang="en-US" altLang="zh-CN" sz="2400" b="1"/>
              <a:t>f</a:t>
            </a:r>
            <a:r>
              <a:rPr lang="zh-CN" altLang="en-US" sz="2400" b="1"/>
              <a:t>）</a:t>
            </a:r>
            <a:r>
              <a:rPr lang="en-US" altLang="zh-CN" sz="2200" b="1"/>
              <a:t>π1,2 </a:t>
            </a:r>
            <a:r>
              <a:rPr lang="en-US" altLang="zh-CN" sz="2200" b="1">
                <a:solidFill>
                  <a:srgbClr val="660033"/>
                </a:solidFill>
              </a:rPr>
              <a:t>(</a:t>
            </a:r>
            <a:r>
              <a:rPr lang="en-US" altLang="zh-CN" sz="2200" b="1">
                <a:solidFill>
                  <a:srgbClr val="003366"/>
                </a:solidFill>
              </a:rPr>
              <a:t>(π1,2(R) </a:t>
            </a:r>
            <a:r>
              <a:rPr lang="el-GR" altLang="zh-CN" sz="2200" b="1">
                <a:solidFill>
                  <a:srgbClr val="003366"/>
                </a:solidFill>
                <a:latin typeface="宋体" panose="02010600030101010101" pitchFamily="2" charset="-122"/>
              </a:rPr>
              <a:t>×</a:t>
            </a:r>
            <a:r>
              <a:rPr lang="en-US" altLang="zh-CN" sz="2200" b="1">
                <a:solidFill>
                  <a:srgbClr val="003366"/>
                </a:solidFill>
              </a:rPr>
              <a:t>S) </a:t>
            </a:r>
            <a:r>
              <a:rPr lang="zh-CN" altLang="en-US" sz="2200" b="1"/>
              <a:t>－</a:t>
            </a:r>
            <a:r>
              <a:rPr lang="en-US" altLang="zh-CN" sz="2200" b="1"/>
              <a:t>R</a:t>
            </a:r>
            <a:r>
              <a:rPr lang="en-US" altLang="zh-CN" sz="2200" b="1">
                <a:solidFill>
                  <a:srgbClr val="660033"/>
                </a:solidFill>
              </a:rPr>
              <a:t>)</a:t>
            </a:r>
            <a:endParaRPr lang="el-GR" altLang="zh-CN" sz="2200" b="1">
              <a:solidFill>
                <a:srgbClr val="660033"/>
              </a:solidFill>
            </a:endParaRPr>
          </a:p>
        </p:txBody>
      </p:sp>
      <p:sp>
        <p:nvSpPr>
          <p:cNvPr id="903198" name="Text Box 30">
            <a:extLst>
              <a:ext uri="{FF2B5EF4-FFF2-40B4-BE49-F238E27FC236}">
                <a16:creationId xmlns:a16="http://schemas.microsoft.com/office/drawing/2014/main" id="{6FBBB809-5B7B-44B6-A748-EB57DF5C0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4797425"/>
            <a:ext cx="1943100" cy="98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</a:pPr>
            <a:r>
              <a:rPr kumimoji="0" lang="en-US" altLang="zh-CN" sz="2800">
                <a:latin typeface="Arial" panose="020B0604020202020204" pitchFamily="34" charset="0"/>
              </a:rPr>
              <a:t>(g) R</a:t>
            </a:r>
            <a:r>
              <a:rPr kumimoji="0" lang="en-US" altLang="zh-CN">
                <a:latin typeface="Arial" panose="020B0604020202020204" pitchFamily="34" charset="0"/>
              </a:rPr>
              <a:t>÷</a:t>
            </a:r>
            <a:r>
              <a:rPr kumimoji="0" lang="en-US" altLang="zh-CN" sz="2800">
                <a:latin typeface="Arial" panose="020B0604020202020204" pitchFamily="34" charset="0"/>
              </a:rPr>
              <a:t>S</a:t>
            </a:r>
          </a:p>
          <a:p>
            <a:pPr>
              <a:spcBef>
                <a:spcPct val="10000"/>
              </a:spcBef>
            </a:pPr>
            <a:r>
              <a:rPr kumimoji="0" lang="en-US" altLang="zh-CN" sz="2800">
                <a:latin typeface="Arial" panose="020B0604020202020204" pitchFamily="34" charset="0"/>
              </a:rPr>
              <a:t>     =(c)-(f)</a:t>
            </a:r>
          </a:p>
        </p:txBody>
      </p:sp>
      <p:sp>
        <p:nvSpPr>
          <p:cNvPr id="903199" name="AutoShape 31">
            <a:extLst>
              <a:ext uri="{FF2B5EF4-FFF2-40B4-BE49-F238E27FC236}">
                <a16:creationId xmlns:a16="http://schemas.microsoft.com/office/drawing/2014/main" id="{9D67947F-278A-42D5-93DB-48E636FC9696}"/>
              </a:ext>
            </a:extLst>
          </p:cNvPr>
          <p:cNvSpPr>
            <a:spLocks/>
          </p:cNvSpPr>
          <p:nvPr/>
        </p:nvSpPr>
        <p:spPr bwMode="auto">
          <a:xfrm rot="5400000">
            <a:off x="7199313" y="2443163"/>
            <a:ext cx="358775" cy="2447925"/>
          </a:xfrm>
          <a:prstGeom prst="rightBrace">
            <a:avLst>
              <a:gd name="adj1" fmla="val 56858"/>
              <a:gd name="adj2" fmla="val 50000"/>
            </a:avLst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3200" name="Text Box 32">
            <a:extLst>
              <a:ext uri="{FF2B5EF4-FFF2-40B4-BE49-F238E27FC236}">
                <a16:creationId xmlns:a16="http://schemas.microsoft.com/office/drawing/2014/main" id="{422BE2CC-0DF5-4FB6-BFD2-949A5BC80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9150" y="3757613"/>
            <a:ext cx="668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(e)</a:t>
            </a:r>
          </a:p>
        </p:txBody>
      </p:sp>
      <p:graphicFrame>
        <p:nvGraphicFramePr>
          <p:cNvPr id="903201" name="Group 33">
            <a:extLst>
              <a:ext uri="{FF2B5EF4-FFF2-40B4-BE49-F238E27FC236}">
                <a16:creationId xmlns:a16="http://schemas.microsoft.com/office/drawing/2014/main" id="{1488B150-9D71-4B19-AF5C-ADA4448BBD8E}"/>
              </a:ext>
            </a:extLst>
          </p:cNvPr>
          <p:cNvGraphicFramePr>
            <a:graphicFrameLocks noGrp="1"/>
          </p:cNvGraphicFramePr>
          <p:nvPr/>
        </p:nvGraphicFramePr>
        <p:xfrm>
          <a:off x="322263" y="1557338"/>
          <a:ext cx="1951037" cy="2917825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11630636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68327285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1221511156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375433548"/>
                    </a:ext>
                  </a:extLst>
                </a:gridCol>
              </a:tblGrid>
              <a:tr h="4603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996815"/>
                  </a:ext>
                </a:extLst>
              </a:tr>
              <a:tr h="24574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94402"/>
                  </a:ext>
                </a:extLst>
              </a:tr>
            </a:tbl>
          </a:graphicData>
        </a:graphic>
      </p:graphicFrame>
      <p:sp>
        <p:nvSpPr>
          <p:cNvPr id="903218" name="Text Box 50">
            <a:extLst>
              <a:ext uri="{FF2B5EF4-FFF2-40B4-BE49-F238E27FC236}">
                <a16:creationId xmlns:a16="http://schemas.microsoft.com/office/drawing/2014/main" id="{EE00F4ED-72C7-4B87-A196-2013EC743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703763"/>
            <a:ext cx="151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(a)</a:t>
            </a:r>
            <a:r>
              <a:rPr lang="zh-CN" altLang="en-US" sz="2400" b="1"/>
              <a:t>关系</a:t>
            </a:r>
            <a:r>
              <a:rPr lang="en-US" altLang="zh-CN" sz="2400"/>
              <a:t>R </a:t>
            </a:r>
          </a:p>
        </p:txBody>
      </p:sp>
      <p:sp>
        <p:nvSpPr>
          <p:cNvPr id="903219" name="Rectangle 51">
            <a:extLst>
              <a:ext uri="{FF2B5EF4-FFF2-40B4-BE49-F238E27FC236}">
                <a16:creationId xmlns:a16="http://schemas.microsoft.com/office/drawing/2014/main" id="{3238AC4A-B701-4329-8135-A56A2847ACF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7950" y="5984875"/>
            <a:ext cx="8208963" cy="828675"/>
          </a:xfrm>
          <a:prstGeom prst="rect">
            <a:avLst/>
          </a:prstGeom>
          <a:noFill/>
          <a:ln w="9525">
            <a:solidFill>
              <a:srgbClr val="0033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tabLst>
                <a:tab pos="1524000" algn="l"/>
              </a:tabLst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1524000" algn="l"/>
              </a:tabLst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66813" indent="-252413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en-US" sz="2400">
                <a:ea typeface="黑体" panose="02010609060101010101" pitchFamily="49" charset="-122"/>
                <a:cs typeface="Times New Roman" panose="02020603050405020304" pitchFamily="18" charset="0"/>
              </a:rPr>
              <a:t>R÷S</a:t>
            </a:r>
            <a:r>
              <a:rPr lang="zh-CN" altLang="en-US" sz="2400"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l-GR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1,2,</a:t>
            </a:r>
            <a:r>
              <a:rPr lang="en-US" altLang="zh-CN" sz="2400" baseline="-2500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,r-s</a:t>
            </a: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(R)-</a:t>
            </a:r>
            <a:r>
              <a:rPr lang="el-GR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1,2,</a:t>
            </a:r>
            <a:r>
              <a:rPr lang="en-US" altLang="zh-CN" sz="2400" baseline="-2500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,r-s</a:t>
            </a:r>
            <a:r>
              <a:rPr lang="en-US" altLang="zh-CN" sz="2400">
                <a:solidFill>
                  <a:srgbClr val="000099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>
                <a:solidFill>
                  <a:srgbClr val="660033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l-GR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1,2,</a:t>
            </a:r>
            <a:r>
              <a:rPr lang="en-US" altLang="zh-CN" sz="2400" baseline="-2500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400" baseline="-25000">
                <a:ea typeface="黑体" panose="02010609060101010101" pitchFamily="49" charset="-122"/>
                <a:cs typeface="Times New Roman" panose="02020603050405020304" pitchFamily="18" charset="0"/>
              </a:rPr>
              <a:t>,r-s</a:t>
            </a:r>
            <a:r>
              <a:rPr lang="en-US" altLang="zh-CN" sz="2400">
                <a:solidFill>
                  <a:schemeClr val="hlink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>
                <a:solidFill>
                  <a:schemeClr val="hlink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×S</a:t>
            </a:r>
            <a:r>
              <a:rPr lang="en-US" altLang="zh-CN" sz="2400">
                <a:solidFill>
                  <a:srgbClr val="660033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-R</a:t>
            </a:r>
            <a:r>
              <a:rPr lang="en-US" altLang="zh-CN" sz="2400">
                <a:solidFill>
                  <a:srgbClr val="000099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03220" name="Line 52">
            <a:extLst>
              <a:ext uri="{FF2B5EF4-FFF2-40B4-BE49-F238E27FC236}">
                <a16:creationId xmlns:a16="http://schemas.microsoft.com/office/drawing/2014/main" id="{1D14335A-75D2-4E65-8178-C3DE040F6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5" y="6635750"/>
            <a:ext cx="4248150" cy="0"/>
          </a:xfrm>
          <a:prstGeom prst="line">
            <a:avLst/>
          </a:prstGeom>
          <a:noFill/>
          <a:ln w="28575" cap="sq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03221" name="Line 53">
            <a:extLst>
              <a:ext uri="{FF2B5EF4-FFF2-40B4-BE49-F238E27FC236}">
                <a16:creationId xmlns:a16="http://schemas.microsoft.com/office/drawing/2014/main" id="{34589669-5573-4411-B89B-26A958D20242}"/>
              </a:ext>
            </a:extLst>
          </p:cNvPr>
          <p:cNvSpPr>
            <a:spLocks noChangeShapeType="1"/>
          </p:cNvSpPr>
          <p:nvPr/>
        </p:nvSpPr>
        <p:spPr bwMode="auto">
          <a:xfrm rot="60000" flipV="1">
            <a:off x="1971675" y="6597650"/>
            <a:ext cx="1406525" cy="42863"/>
          </a:xfrm>
          <a:prstGeom prst="line">
            <a:avLst/>
          </a:prstGeom>
          <a:noFill/>
          <a:ln w="28575" cap="sq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903239" name="Group 71">
            <a:extLst>
              <a:ext uri="{FF2B5EF4-FFF2-40B4-BE49-F238E27FC236}">
                <a16:creationId xmlns:a16="http://schemas.microsoft.com/office/drawing/2014/main" id="{5FDF9E70-2B33-46B3-B91B-4EF3F9DACA04}"/>
              </a:ext>
            </a:extLst>
          </p:cNvPr>
          <p:cNvGraphicFramePr>
            <a:graphicFrameLocks noGrp="1"/>
          </p:cNvGraphicFramePr>
          <p:nvPr/>
        </p:nvGraphicFramePr>
        <p:xfrm>
          <a:off x="5297488" y="4005263"/>
          <a:ext cx="1219200" cy="176688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124963932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67529516"/>
                    </a:ext>
                  </a:extLst>
                </a:gridCol>
              </a:tblGrid>
              <a:tr h="7207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969245"/>
                  </a:ext>
                </a:extLst>
              </a:tr>
              <a:tr h="5032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107042"/>
                  </a:ext>
                </a:extLst>
              </a:tr>
              <a:tr h="5429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791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834"/>
    </mc:Choice>
    <mc:Fallback xmlns="">
      <p:transition spd="slow" advTm="3983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0" name="Rectangle 2">
            <a:extLst>
              <a:ext uri="{FF2B5EF4-FFF2-40B4-BE49-F238E27FC236}">
                <a16:creationId xmlns:a16="http://schemas.microsoft.com/office/drawing/2014/main" id="{E23FBB44-2721-4BDB-A5D6-5A8A0D7AE24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27050" y="1231900"/>
            <a:ext cx="8208963" cy="4895850"/>
          </a:xfrm>
          <a:noFill/>
          <a:ln/>
        </p:spPr>
        <p:txBody>
          <a:bodyPr/>
          <a:lstStyle/>
          <a:p>
            <a:pPr>
              <a:tabLst>
                <a:tab pos="1524000" algn="l"/>
              </a:tabLst>
            </a:pPr>
            <a:r>
              <a:rPr lang="en-US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、连接</a:t>
            </a:r>
            <a:endParaRPr lang="en-US" altLang="zh-CN" sz="300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tabLst>
                <a:tab pos="1524000" algn="l"/>
              </a:tabLst>
            </a:pPr>
            <a:r>
              <a:rPr lang="zh-CN" altLang="en-US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　　　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的目数分别为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>
              <a:tabLst>
                <a:tab pos="1524000" algn="l"/>
              </a:tabLst>
            </a:pP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　　　用基本关系代数运算可定义连接为：</a:t>
            </a:r>
          </a:p>
          <a:p>
            <a:pPr>
              <a:tabLst>
                <a:tab pos="1524000" algn="l"/>
              </a:tabLst>
            </a:pP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805892" name="Object 4">
            <a:extLst>
              <a:ext uri="{FF2B5EF4-FFF2-40B4-BE49-F238E27FC236}">
                <a16:creationId xmlns:a16="http://schemas.microsoft.com/office/drawing/2014/main" id="{8119BFE4-0581-4B29-A887-BE4DEF3420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3354388"/>
          <a:ext cx="367188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85720" imgH="291960" progId="Equation.3">
                  <p:embed/>
                </p:oleObj>
              </mc:Choice>
              <mc:Fallback>
                <p:oleObj name="公式" r:id="rId3" imgW="1485720" imgH="291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54388"/>
                        <a:ext cx="3671887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894" name="Rectangle 6">
            <a:extLst>
              <a:ext uri="{FF2B5EF4-FFF2-40B4-BE49-F238E27FC236}">
                <a16:creationId xmlns:a16="http://schemas.microsoft.com/office/drawing/2014/main" id="{D13DC012-C6CA-454C-8101-E302DE8E1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262438"/>
            <a:ext cx="8064500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　　</a:t>
            </a:r>
            <a:r>
              <a:rPr lang="zh-CN" altLang="en-US" sz="24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运算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过程为：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的广义笛卡儿积中挑选那些其第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个分量和第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r+k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个分量满足算术比较条件</a:t>
            </a:r>
            <a:r>
              <a:rPr lang="el-GR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的元组。</a:t>
            </a:r>
          </a:p>
        </p:txBody>
      </p:sp>
      <p:sp>
        <p:nvSpPr>
          <p:cNvPr id="805903" name="Rectangle 15">
            <a:extLst>
              <a:ext uri="{FF2B5EF4-FFF2-40B4-BE49-F238E27FC236}">
                <a16:creationId xmlns:a16="http://schemas.microsoft.com/office/drawing/2014/main" id="{E9C6360D-2A76-4EF5-9BDB-BBB715893B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214313"/>
            <a:ext cx="8051800" cy="622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3200"/>
              <a:t>三、用</a:t>
            </a:r>
            <a:r>
              <a:rPr lang="en-US" altLang="zh-CN" sz="3200"/>
              <a:t>5</a:t>
            </a:r>
            <a:r>
              <a:rPr lang="zh-CN" altLang="en-US" sz="3200"/>
              <a:t>种基本关系表示</a:t>
            </a:r>
            <a:r>
              <a:rPr lang="en-US" altLang="zh-CN" sz="3200"/>
              <a:t>4</a:t>
            </a:r>
            <a:r>
              <a:rPr lang="zh-CN" altLang="en-US" sz="3200"/>
              <a:t>种非基本关系运算</a:t>
            </a:r>
          </a:p>
        </p:txBody>
      </p:sp>
    </p:spTree>
    <p:custDataLst>
      <p:tags r:id="rId1"/>
    </p:custDataLst>
  </p:cSld>
  <p:clrMapOvr>
    <a:masterClrMapping/>
  </p:clrMapOvr>
  <p:transition advTm="5298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89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5" name="Text Box 5">
            <a:extLst>
              <a:ext uri="{FF2B5EF4-FFF2-40B4-BE49-F238E27FC236}">
                <a16:creationId xmlns:a16="http://schemas.microsoft.com/office/drawing/2014/main" id="{DA9ACAF1-CB9B-4088-9AAE-98FC432FE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019175"/>
            <a:ext cx="8991600" cy="601663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6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2.8</a:t>
            </a:r>
            <a:r>
              <a:rPr lang="en-US" altLang="zh-CN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如图</a:t>
            </a:r>
            <a:r>
              <a:rPr lang="en-US" altLang="zh-CN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2.8</a:t>
            </a:r>
            <a:r>
              <a:rPr lang="zh-CN" altLang="en-US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</a:t>
            </a:r>
            <a:r>
              <a:rPr lang="zh-CN" altLang="en-US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(b)</a:t>
            </a:r>
            <a:r>
              <a:rPr lang="zh-CN" altLang="en-US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。求</a:t>
            </a:r>
            <a:r>
              <a:rPr lang="en-US" altLang="zh-CN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    S</a:t>
            </a:r>
            <a:r>
              <a:rPr lang="zh-CN" altLang="en-US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     S</a:t>
            </a:r>
            <a:r>
              <a:rPr lang="zh-CN" altLang="en-US" sz="2600" b="1">
                <a:solidFill>
                  <a:srgbClr val="4F41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901126" name="Object 6">
            <a:extLst>
              <a:ext uri="{FF2B5EF4-FFF2-40B4-BE49-F238E27FC236}">
                <a16:creationId xmlns:a16="http://schemas.microsoft.com/office/drawing/2014/main" id="{D12F377A-40BA-4883-BC8B-75581FDF5A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7300" y="981075"/>
          <a:ext cx="622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8600" imgH="266400" progId="Equation.3">
                  <p:embed/>
                </p:oleObj>
              </mc:Choice>
              <mc:Fallback>
                <p:oleObj name="公式" r:id="rId3" imgW="228600" imgH="266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981075"/>
                        <a:ext cx="622300" cy="7239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808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27" name="Object 7">
            <a:extLst>
              <a:ext uri="{FF2B5EF4-FFF2-40B4-BE49-F238E27FC236}">
                <a16:creationId xmlns:a16="http://schemas.microsoft.com/office/drawing/2014/main" id="{089888C2-E4D6-4AAF-BF28-44CBB122AF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1019175"/>
          <a:ext cx="56356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8600" imgH="266400" progId="Equation.3">
                  <p:embed/>
                </p:oleObj>
              </mc:Choice>
              <mc:Fallback>
                <p:oleObj name="公式" r:id="rId5" imgW="228600" imgH="266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019175"/>
                        <a:ext cx="563563" cy="6667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1" name="Group 81">
            <a:extLst>
              <a:ext uri="{FF2B5EF4-FFF2-40B4-BE49-F238E27FC236}">
                <a16:creationId xmlns:a16="http://schemas.microsoft.com/office/drawing/2014/main" id="{59F11022-827C-4C4A-9FB1-32EB48F2C050}"/>
              </a:ext>
            </a:extLst>
          </p:cNvPr>
          <p:cNvGraphicFramePr>
            <a:graphicFrameLocks noGrp="1"/>
          </p:cNvGraphicFramePr>
          <p:nvPr/>
        </p:nvGraphicFramePr>
        <p:xfrm>
          <a:off x="336550" y="2293938"/>
          <a:ext cx="1524000" cy="1946847"/>
        </p:xfrm>
        <a:graphic>
          <a:graphicData uri="http://schemas.openxmlformats.org/drawingml/2006/table">
            <a:tbl>
              <a:tblPr/>
              <a:tblGrid>
                <a:gridCol w="528638">
                  <a:extLst>
                    <a:ext uri="{9D8B030D-6E8A-4147-A177-3AD203B41FA5}">
                      <a16:colId xmlns:a16="http://schemas.microsoft.com/office/drawing/2014/main" val="2378879216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1111740447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4662067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678366"/>
                  </a:ext>
                </a:extLst>
              </a:tr>
              <a:tr h="14636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147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258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228961"/>
                  </a:ext>
                </a:extLst>
              </a:tr>
            </a:tbl>
          </a:graphicData>
        </a:graphic>
      </p:graphicFrame>
      <p:graphicFrame>
        <p:nvGraphicFramePr>
          <p:cNvPr id="901205" name="Group 85">
            <a:extLst>
              <a:ext uri="{FF2B5EF4-FFF2-40B4-BE49-F238E27FC236}">
                <a16:creationId xmlns:a16="http://schemas.microsoft.com/office/drawing/2014/main" id="{65701391-42C6-4A6A-B292-3B59CD12C2C0}"/>
              </a:ext>
            </a:extLst>
          </p:cNvPr>
          <p:cNvGraphicFramePr>
            <a:graphicFrameLocks noGrp="1"/>
          </p:cNvGraphicFramePr>
          <p:nvPr/>
        </p:nvGraphicFramePr>
        <p:xfrm>
          <a:off x="6907213" y="2508250"/>
          <a:ext cx="1981200" cy="1894460"/>
        </p:xfrm>
        <a:graphic>
          <a:graphicData uri="http://schemas.openxmlformats.org/drawingml/2006/table">
            <a:tbl>
              <a:tblPr/>
              <a:tblGrid>
                <a:gridCol w="396875">
                  <a:extLst>
                    <a:ext uri="{9D8B030D-6E8A-4147-A177-3AD203B41FA5}">
                      <a16:colId xmlns:a16="http://schemas.microsoft.com/office/drawing/2014/main" val="1756704884"/>
                    </a:ext>
                  </a:extLst>
                </a:gridCol>
                <a:gridCol w="395287">
                  <a:extLst>
                    <a:ext uri="{9D8B030D-6E8A-4147-A177-3AD203B41FA5}">
                      <a16:colId xmlns:a16="http://schemas.microsoft.com/office/drawing/2014/main" val="1688381032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151440560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017089792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3792868127"/>
                    </a:ext>
                  </a:extLst>
                </a:gridCol>
              </a:tblGrid>
              <a:tr h="2079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054416"/>
                  </a:ext>
                </a:extLst>
              </a:tr>
              <a:tr h="7667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225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942291"/>
                  </a:ext>
                </a:extLst>
              </a:tr>
            </a:tbl>
          </a:graphicData>
        </a:graphic>
      </p:graphicFrame>
      <p:graphicFrame>
        <p:nvGraphicFramePr>
          <p:cNvPr id="901203" name="Group 83">
            <a:extLst>
              <a:ext uri="{FF2B5EF4-FFF2-40B4-BE49-F238E27FC236}">
                <a16:creationId xmlns:a16="http://schemas.microsoft.com/office/drawing/2014/main" id="{925B48B5-85D1-49C8-8713-A9E141DE6A3C}"/>
              </a:ext>
            </a:extLst>
          </p:cNvPr>
          <p:cNvGraphicFramePr>
            <a:graphicFrameLocks noGrp="1"/>
          </p:cNvGraphicFramePr>
          <p:nvPr/>
        </p:nvGraphicFramePr>
        <p:xfrm>
          <a:off x="4230688" y="1989138"/>
          <a:ext cx="2286000" cy="3160904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196782923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101505222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319646869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1744206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33419507"/>
                    </a:ext>
                  </a:extLst>
                </a:gridCol>
              </a:tblGrid>
              <a:tr h="3143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63071"/>
                  </a:ext>
                </a:extLst>
              </a:tr>
              <a:tr h="18732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114477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225588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336699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363636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121212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241163"/>
                  </a:ext>
                </a:extLst>
              </a:tr>
            </a:tbl>
          </a:graphicData>
        </a:graphic>
      </p:graphicFrame>
      <p:sp>
        <p:nvSpPr>
          <p:cNvPr id="901182" name="Text Box 62">
            <a:extLst>
              <a:ext uri="{FF2B5EF4-FFF2-40B4-BE49-F238E27FC236}">
                <a16:creationId xmlns:a16="http://schemas.microsoft.com/office/drawing/2014/main" id="{AEF916B9-0A17-44A1-990F-269D43437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656138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(a)  </a:t>
            </a:r>
            <a:r>
              <a:rPr lang="zh-CN" altLang="en-US" sz="2400"/>
              <a:t>关系</a:t>
            </a:r>
            <a:r>
              <a:rPr lang="en-US" altLang="zh-CN" sz="2400"/>
              <a:t>R</a:t>
            </a:r>
          </a:p>
        </p:txBody>
      </p:sp>
      <p:sp>
        <p:nvSpPr>
          <p:cNvPr id="901183" name="Text Box 63">
            <a:extLst>
              <a:ext uri="{FF2B5EF4-FFF2-40B4-BE49-F238E27FC236}">
                <a16:creationId xmlns:a16="http://schemas.microsoft.com/office/drawing/2014/main" id="{2C55B95C-67F0-4C0F-922A-9B007F1E2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0" y="4579938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(b)  </a:t>
            </a:r>
            <a:r>
              <a:rPr lang="zh-CN" altLang="en-US" sz="2400"/>
              <a:t>关系</a:t>
            </a:r>
            <a:r>
              <a:rPr lang="en-US" altLang="zh-CN" sz="2400"/>
              <a:t>S</a:t>
            </a:r>
          </a:p>
        </p:txBody>
      </p:sp>
      <p:sp>
        <p:nvSpPr>
          <p:cNvPr id="901184" name="Text Box 64">
            <a:extLst>
              <a:ext uri="{FF2B5EF4-FFF2-40B4-BE49-F238E27FC236}">
                <a16:creationId xmlns:a16="http://schemas.microsoft.com/office/drawing/2014/main" id="{CE23DC55-7A62-4245-BD51-641D28C43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88" y="531177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(c)  R×S</a:t>
            </a:r>
          </a:p>
        </p:txBody>
      </p:sp>
      <p:graphicFrame>
        <p:nvGraphicFramePr>
          <p:cNvPr id="901204" name="Group 84">
            <a:extLst>
              <a:ext uri="{FF2B5EF4-FFF2-40B4-BE49-F238E27FC236}">
                <a16:creationId xmlns:a16="http://schemas.microsoft.com/office/drawing/2014/main" id="{A64EB336-44E5-4964-B38E-FDC14EB94DE4}"/>
              </a:ext>
            </a:extLst>
          </p:cNvPr>
          <p:cNvGraphicFramePr>
            <a:graphicFrameLocks noGrp="1"/>
          </p:cNvGraphicFramePr>
          <p:nvPr/>
        </p:nvGraphicFramePr>
        <p:xfrm>
          <a:off x="2484438" y="2652713"/>
          <a:ext cx="990600" cy="1554163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965932707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427132131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637354"/>
                  </a:ext>
                </a:extLst>
              </a:tr>
              <a:tr h="10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569549"/>
                  </a:ext>
                </a:extLst>
              </a:tr>
            </a:tbl>
          </a:graphicData>
        </a:graphic>
      </p:graphicFrame>
      <p:grpSp>
        <p:nvGrpSpPr>
          <p:cNvPr id="901196" name="Group 76">
            <a:extLst>
              <a:ext uri="{FF2B5EF4-FFF2-40B4-BE49-F238E27FC236}">
                <a16:creationId xmlns:a16="http://schemas.microsoft.com/office/drawing/2014/main" id="{FC658AA0-DCEA-4931-931A-07839779E549}"/>
              </a:ext>
            </a:extLst>
          </p:cNvPr>
          <p:cNvGrpSpPr>
            <a:grpSpLocks/>
          </p:cNvGrpSpPr>
          <p:nvPr/>
        </p:nvGrpSpPr>
        <p:grpSpPr bwMode="auto">
          <a:xfrm>
            <a:off x="6907213" y="5235575"/>
            <a:ext cx="2057400" cy="533400"/>
            <a:chOff x="4320" y="3504"/>
            <a:chExt cx="1296" cy="336"/>
          </a:xfrm>
        </p:grpSpPr>
        <p:sp>
          <p:nvSpPr>
            <p:cNvPr id="901197" name="Text Box 77">
              <a:extLst>
                <a:ext uri="{FF2B5EF4-FFF2-40B4-BE49-F238E27FC236}">
                  <a16:creationId xmlns:a16="http://schemas.microsoft.com/office/drawing/2014/main" id="{76AED82E-E7A8-4757-AB70-7E58AA827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504"/>
              <a:ext cx="1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99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(d)  R </a:t>
              </a:r>
              <a:r>
                <a:rPr lang="en-US" altLang="zh-CN" sz="2400">
                  <a:cs typeface="Arial" panose="020B0604020202020204" pitchFamily="34" charset="0"/>
                </a:rPr>
                <a:t>	       </a:t>
              </a:r>
              <a:r>
                <a:rPr lang="en-US" altLang="zh-CN" sz="2400"/>
                <a:t>S</a:t>
              </a:r>
              <a:endParaRPr lang="en-US" altLang="zh-CN" sz="2400" b="1"/>
            </a:p>
          </p:txBody>
        </p:sp>
        <p:graphicFrame>
          <p:nvGraphicFramePr>
            <p:cNvPr id="901198" name="Object 78">
              <a:extLst>
                <a:ext uri="{FF2B5EF4-FFF2-40B4-BE49-F238E27FC236}">
                  <a16:creationId xmlns:a16="http://schemas.microsoft.com/office/drawing/2014/main" id="{DB27348F-4785-43A4-BC75-49383005CD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96" y="3504"/>
            <a:ext cx="336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28600" imgH="139680" progId="Equation.3">
                    <p:embed/>
                  </p:oleObj>
                </mc:Choice>
                <mc:Fallback>
                  <p:oleObj name="公式" r:id="rId7" imgW="228600" imgH="139680" progId="Equation.3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3504"/>
                          <a:ext cx="336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199" name="Text Box 79">
              <a:extLst>
                <a:ext uri="{FF2B5EF4-FFF2-40B4-BE49-F238E27FC236}">
                  <a16:creationId xmlns:a16="http://schemas.microsoft.com/office/drawing/2014/main" id="{AE6D0C9A-3C6C-4DAF-88E1-F9967D408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64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99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latin typeface="黑体" panose="02010609060101010101" pitchFamily="49" charset="-122"/>
                  <a:ea typeface="黑体" panose="02010609060101010101" pitchFamily="49" charset="-122"/>
                </a:rPr>
                <a:t>2&lt;1</a:t>
              </a:r>
            </a:p>
          </p:txBody>
        </p:sp>
      </p:grpSp>
      <p:sp>
        <p:nvSpPr>
          <p:cNvPr id="901207" name="Rectangle 87">
            <a:extLst>
              <a:ext uri="{FF2B5EF4-FFF2-40B4-BE49-F238E27FC236}">
                <a16:creationId xmlns:a16="http://schemas.microsoft.com/office/drawing/2014/main" id="{F1592AED-C2F2-4569-ADC5-0C64BE622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14313"/>
            <a:ext cx="80518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 sz="3200"/>
              <a:t>三、用</a:t>
            </a:r>
            <a:r>
              <a:rPr lang="en-US" altLang="zh-CN" sz="3200"/>
              <a:t>5</a:t>
            </a:r>
            <a:r>
              <a:rPr lang="zh-CN" altLang="en-US" sz="3200"/>
              <a:t>种基本关系表示</a:t>
            </a:r>
            <a:r>
              <a:rPr lang="en-US" altLang="zh-CN" sz="3200"/>
              <a:t>4</a:t>
            </a:r>
            <a:r>
              <a:rPr lang="zh-CN" altLang="en-US" sz="3200"/>
              <a:t>种非基本关系运算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090"/>
    </mc:Choice>
    <mc:Fallback xmlns="">
      <p:transition spd="slow" advTm="1050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4" name="Rectangle 2">
            <a:extLst>
              <a:ext uri="{FF2B5EF4-FFF2-40B4-BE49-F238E27FC236}">
                <a16:creationId xmlns:a16="http://schemas.microsoft.com/office/drawing/2014/main" id="{689024BF-193A-469B-85C2-A7E757FF5FD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468313" y="1165225"/>
            <a:ext cx="8208962" cy="4895850"/>
          </a:xfrm>
          <a:noFill/>
          <a:ln/>
        </p:spPr>
        <p:txBody>
          <a:bodyPr/>
          <a:lstStyle/>
          <a:p>
            <a:pPr>
              <a:tabLst>
                <a:tab pos="1524000" algn="l"/>
              </a:tabLst>
            </a:pPr>
            <a:r>
              <a:rPr lang="en-US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、自连联接</a:t>
            </a:r>
            <a:endParaRPr lang="en-US" altLang="zh-CN" sz="300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tabLst>
                <a:tab pos="1524000" algn="l"/>
              </a:tabLst>
            </a:pPr>
            <a:r>
              <a:rPr lang="zh-CN" altLang="en-US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　　　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的目数分别为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，且关系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有部分相同属性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。用基本关系代数运算可定义联接为：</a:t>
            </a:r>
          </a:p>
          <a:p>
            <a:pPr>
              <a:tabLst>
                <a:tab pos="1524000" algn="l"/>
              </a:tabLst>
            </a:pP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806917" name="Rectangle 5">
            <a:extLst>
              <a:ext uri="{FF2B5EF4-FFF2-40B4-BE49-F238E27FC236}">
                <a16:creationId xmlns:a16="http://schemas.microsoft.com/office/drawing/2014/main" id="{F8CB952B-118B-44AD-A2FC-9CB790D31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310063"/>
            <a:ext cx="8137525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运算过程为：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先计算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的广义笛卡儿积，然后从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R×S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中挑选出同时满足条件：</a:t>
            </a:r>
          </a:p>
          <a:p>
            <a:pPr>
              <a:lnSpc>
                <a:spcPct val="110000"/>
              </a:lnSpc>
            </a:pP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R.A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=S.A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R.A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=S.A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R.A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S.A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的元组，投影后再去掉重复值，即为自然联接的运算结果。</a:t>
            </a:r>
          </a:p>
        </p:txBody>
      </p:sp>
      <p:graphicFrame>
        <p:nvGraphicFramePr>
          <p:cNvPr id="806918" name="Object 6">
            <a:extLst>
              <a:ext uri="{FF2B5EF4-FFF2-40B4-BE49-F238E27FC236}">
                <a16:creationId xmlns:a16="http://schemas.microsoft.com/office/drawing/2014/main" id="{3A2C3207-84A8-41CE-A715-D12C5D8AC9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3573463"/>
          <a:ext cx="78549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174840" imgH="241200" progId="Equation.3">
                  <p:embed/>
                </p:oleObj>
              </mc:Choice>
              <mc:Fallback>
                <p:oleObj name="公式" r:id="rId3" imgW="317484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3573463"/>
                        <a:ext cx="785495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6924" name="Rectangle 12">
            <a:extLst>
              <a:ext uri="{FF2B5EF4-FFF2-40B4-BE49-F238E27FC236}">
                <a16:creationId xmlns:a16="http://schemas.microsoft.com/office/drawing/2014/main" id="{545A9801-545C-40C1-841B-5FA2D38D1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214313"/>
            <a:ext cx="8051800" cy="622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3200"/>
              <a:t>三、用</a:t>
            </a:r>
            <a:r>
              <a:rPr lang="en-US" altLang="zh-CN" sz="3200"/>
              <a:t>5</a:t>
            </a:r>
            <a:r>
              <a:rPr lang="zh-CN" altLang="en-US" sz="3200"/>
              <a:t>种基本关系表示</a:t>
            </a:r>
            <a:r>
              <a:rPr lang="en-US" altLang="zh-CN" sz="3200"/>
              <a:t>4</a:t>
            </a:r>
            <a:r>
              <a:rPr lang="zh-CN" altLang="en-US" sz="3200"/>
              <a:t>种非基本关系运算</a:t>
            </a:r>
          </a:p>
        </p:txBody>
      </p:sp>
    </p:spTree>
    <p:custDataLst>
      <p:tags r:id="rId1"/>
    </p:custDataLst>
  </p:cSld>
  <p:clrMapOvr>
    <a:masterClrMapping/>
  </p:clrMapOvr>
  <p:transition advTm="991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9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4.5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10963</TotalTime>
  <Words>967</Words>
  <Application>Microsoft Office PowerPoint</Application>
  <PresentationFormat>全屏显示(4:3)</PresentationFormat>
  <Paragraphs>274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黑体</vt:lpstr>
      <vt:lpstr>华文新魏</vt:lpstr>
      <vt:lpstr>楷体_GB2312</vt:lpstr>
      <vt:lpstr>隶书</vt:lpstr>
      <vt:lpstr>宋体</vt:lpstr>
      <vt:lpstr>Arial</vt:lpstr>
      <vt:lpstr>Tahoma</vt:lpstr>
      <vt:lpstr>Times New Roman</vt:lpstr>
      <vt:lpstr>Wingdings</vt:lpstr>
      <vt:lpstr>Blends</vt:lpstr>
      <vt:lpstr>Equation</vt:lpstr>
      <vt:lpstr>公式</vt:lpstr>
      <vt:lpstr>第2章  关系运算</vt:lpstr>
      <vt:lpstr>PowerPoint 演示文稿</vt:lpstr>
      <vt:lpstr>三、用5种基本关系表示4种非基本关系运算</vt:lpstr>
      <vt:lpstr>三、用5种基本关系表示4种非基本关系运算</vt:lpstr>
      <vt:lpstr>PowerPoint 演示文稿</vt:lpstr>
      <vt:lpstr>PowerPoint 演示文稿</vt:lpstr>
      <vt:lpstr>PowerPoint 演示文稿</vt:lpstr>
      <vt:lpstr>三、用5种基本关系表示4种非基本关系运算</vt:lpstr>
      <vt:lpstr>PowerPoint 演示文稿</vt:lpstr>
      <vt:lpstr>三、用5种基本关系表示4种非基本关系运算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726</cp:revision>
  <cp:lastPrinted>2000-08-23T09:10:16Z</cp:lastPrinted>
  <dcterms:created xsi:type="dcterms:W3CDTF">1601-01-01T00:00:00Z</dcterms:created>
  <dcterms:modified xsi:type="dcterms:W3CDTF">2021-03-07T11:19:24Z</dcterms:modified>
</cp:coreProperties>
</file>