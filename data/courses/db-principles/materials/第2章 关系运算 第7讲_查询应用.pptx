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7"/>
  </p:notesMasterIdLst>
  <p:handoutMasterIdLst>
    <p:handoutMasterId r:id="rId8"/>
  </p:handoutMasterIdLst>
  <p:sldIdLst>
    <p:sldId id="714" r:id="rId2"/>
    <p:sldId id="715" r:id="rId3"/>
    <p:sldId id="721" r:id="rId4"/>
    <p:sldId id="720" r:id="rId5"/>
    <p:sldId id="722" r:id="rId6"/>
  </p:sldIdLst>
  <p:sldSz cx="9144000" cy="6858000" type="screen4x3"/>
  <p:notesSz cx="6662738" cy="98329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66FF"/>
    <a:srgbClr val="FF00FF"/>
    <a:srgbClr val="99FF33"/>
    <a:srgbClr val="66FFFF"/>
    <a:srgbClr val="66CCFF"/>
    <a:srgbClr val="660033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75" autoAdjust="0"/>
    <p:restoredTop sz="58333" autoAdjust="0"/>
  </p:normalViewPr>
  <p:slideViewPr>
    <p:cSldViewPr>
      <p:cViewPr varScale="1">
        <p:scale>
          <a:sx n="132" d="100"/>
          <a:sy n="132" d="100"/>
        </p:scale>
        <p:origin x="1000" y="68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8A3F2B99-FFDE-48EE-9FDB-4A74829C9A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B8D5B6F9-A7FC-4D2F-A7FE-63FF3AF182D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1099119D-2A78-41EF-AF4A-B63728A6508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7BB66964-D60D-4722-8111-7598CF6AA4F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fld id="{F8E1EC45-3C6D-4A1A-9436-D7ACA776059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>
            <a:extLst>
              <a:ext uri="{FF2B5EF4-FFF2-40B4-BE49-F238E27FC236}">
                <a16:creationId xmlns:a16="http://schemas.microsoft.com/office/drawing/2014/main" id="{86CFBB35-1092-46FF-A21A-2E344A44B0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408579" name="Rectangle 3">
            <a:extLst>
              <a:ext uri="{FF2B5EF4-FFF2-40B4-BE49-F238E27FC236}">
                <a16:creationId xmlns:a16="http://schemas.microsoft.com/office/drawing/2014/main" id="{550733D1-DFBB-44EA-9D37-75C290B85FD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08580" name="Rectangle 4">
            <a:extLst>
              <a:ext uri="{FF2B5EF4-FFF2-40B4-BE49-F238E27FC236}">
                <a16:creationId xmlns:a16="http://schemas.microsoft.com/office/drawing/2014/main" id="{B1CAFCB0-4F86-4847-A0BE-36D9CDE70E7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8581" name="Rectangle 5">
            <a:extLst>
              <a:ext uri="{FF2B5EF4-FFF2-40B4-BE49-F238E27FC236}">
                <a16:creationId xmlns:a16="http://schemas.microsoft.com/office/drawing/2014/main" id="{D2353369-4CBB-449B-A0F6-1B768A2D399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08582" name="Rectangle 6">
            <a:extLst>
              <a:ext uri="{FF2B5EF4-FFF2-40B4-BE49-F238E27FC236}">
                <a16:creationId xmlns:a16="http://schemas.microsoft.com/office/drawing/2014/main" id="{09BBD701-BC28-4890-83FE-27FF231D1C6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08583" name="Rectangle 7">
            <a:extLst>
              <a:ext uri="{FF2B5EF4-FFF2-40B4-BE49-F238E27FC236}">
                <a16:creationId xmlns:a16="http://schemas.microsoft.com/office/drawing/2014/main" id="{4FC819DD-DDC8-4850-B20B-C98F3D6060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3CE302D7-3AF1-47DD-8BEF-36C52A68BA7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354" name="Group 2">
            <a:extLst>
              <a:ext uri="{FF2B5EF4-FFF2-40B4-BE49-F238E27FC236}">
                <a16:creationId xmlns:a16="http://schemas.microsoft.com/office/drawing/2014/main" id="{C09323D3-3C43-4657-A418-6DB651E09973}"/>
              </a:ext>
            </a:extLst>
          </p:cNvPr>
          <p:cNvGrpSpPr>
            <a:grpSpLocks/>
          </p:cNvGrpSpPr>
          <p:nvPr/>
        </p:nvGrpSpPr>
        <p:grpSpPr bwMode="auto">
          <a:xfrm>
            <a:off x="0" y="1822450"/>
            <a:ext cx="9009063" cy="1052513"/>
            <a:chOff x="0" y="1536"/>
            <a:chExt cx="5675" cy="663"/>
          </a:xfrm>
        </p:grpSpPr>
        <p:grpSp>
          <p:nvGrpSpPr>
            <p:cNvPr id="740355" name="Group 3">
              <a:extLst>
                <a:ext uri="{FF2B5EF4-FFF2-40B4-BE49-F238E27FC236}">
                  <a16:creationId xmlns:a16="http://schemas.microsoft.com/office/drawing/2014/main" id="{E17FA483-C4E4-475F-BE6E-46224EFC56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740356" name="Rectangle 4">
                <a:extLst>
                  <a:ext uri="{FF2B5EF4-FFF2-40B4-BE49-F238E27FC236}">
                    <a16:creationId xmlns:a16="http://schemas.microsoft.com/office/drawing/2014/main" id="{DDA329D9-12FF-406F-BE57-F1D1A369C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0357" name="Rectangle 5">
                <a:extLst>
                  <a:ext uri="{FF2B5EF4-FFF2-40B4-BE49-F238E27FC236}">
                    <a16:creationId xmlns:a16="http://schemas.microsoft.com/office/drawing/2014/main" id="{67A9DD85-F6C7-447B-AB0B-E0C6FA8D8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40358" name="Group 6">
              <a:extLst>
                <a:ext uri="{FF2B5EF4-FFF2-40B4-BE49-F238E27FC236}">
                  <a16:creationId xmlns:a16="http://schemas.microsoft.com/office/drawing/2014/main" id="{32638E86-3BC5-48F4-A3DC-C0668A5957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740359" name="Rectangle 7">
                <a:extLst>
                  <a:ext uri="{FF2B5EF4-FFF2-40B4-BE49-F238E27FC236}">
                    <a16:creationId xmlns:a16="http://schemas.microsoft.com/office/drawing/2014/main" id="{804D766E-BAAE-4FEA-BC19-792256A5C1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0360" name="Rectangle 8">
                <a:extLst>
                  <a:ext uri="{FF2B5EF4-FFF2-40B4-BE49-F238E27FC236}">
                    <a16:creationId xmlns:a16="http://schemas.microsoft.com/office/drawing/2014/main" id="{14C2E78D-4BA4-4ED4-A113-1DCEB8372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40361" name="Rectangle 9">
              <a:extLst>
                <a:ext uri="{FF2B5EF4-FFF2-40B4-BE49-F238E27FC236}">
                  <a16:creationId xmlns:a16="http://schemas.microsoft.com/office/drawing/2014/main" id="{FA3BDF6C-28FF-46A5-9606-2E65D9282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0362" name="Rectangle 10">
              <a:extLst>
                <a:ext uri="{FF2B5EF4-FFF2-40B4-BE49-F238E27FC236}">
                  <a16:creationId xmlns:a16="http://schemas.microsoft.com/office/drawing/2014/main" id="{259D400F-B863-4AA8-A8B9-2AA7037DC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0363" name="Rectangle 11">
              <a:extLst>
                <a:ext uri="{FF2B5EF4-FFF2-40B4-BE49-F238E27FC236}">
                  <a16:creationId xmlns:a16="http://schemas.microsoft.com/office/drawing/2014/main" id="{A42EB16D-0D68-4793-A072-4A946D4977C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40364" name="Rectangle 12">
            <a:extLst>
              <a:ext uri="{FF2B5EF4-FFF2-40B4-BE49-F238E27FC236}">
                <a16:creationId xmlns:a16="http://schemas.microsoft.com/office/drawing/2014/main" id="{7580267B-8E8C-4B35-8A13-C037E840D49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676400"/>
            <a:ext cx="8137525" cy="1462088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40365" name="Rectangle 13">
            <a:extLst>
              <a:ext uri="{FF2B5EF4-FFF2-40B4-BE49-F238E27FC236}">
                <a16:creationId xmlns:a16="http://schemas.microsoft.com/office/drawing/2014/main" id="{90817CE3-1C14-49D4-BC0B-0ABD24679A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40366" name="Rectangle 14">
            <a:extLst>
              <a:ext uri="{FF2B5EF4-FFF2-40B4-BE49-F238E27FC236}">
                <a16:creationId xmlns:a16="http://schemas.microsoft.com/office/drawing/2014/main" id="{30F479F1-713D-438D-BC33-E3543AFC084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740367" name="Rectangle 15">
            <a:extLst>
              <a:ext uri="{FF2B5EF4-FFF2-40B4-BE49-F238E27FC236}">
                <a16:creationId xmlns:a16="http://schemas.microsoft.com/office/drawing/2014/main" id="{BFC00540-D41A-456B-93D0-CD8848FCBDA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740368" name="Rectangle 16">
            <a:extLst>
              <a:ext uri="{FF2B5EF4-FFF2-40B4-BE49-F238E27FC236}">
                <a16:creationId xmlns:a16="http://schemas.microsoft.com/office/drawing/2014/main" id="{266810F4-3E04-4B71-8FFA-B23592D8CC7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E3365E6-8AB0-4DA0-B483-63588715553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74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364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87B0A-DC78-4826-82A4-C09B857A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37268D-9E3B-4FC7-8B7A-4864E5A82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A3487A-BAEE-4F66-8E43-A9856CC87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633FA5-42F5-4E62-99AF-475D145D6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F7C407-35E9-4531-B8E5-4CF6D809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95BD14-D7C3-4E4D-B381-59CB7456F27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053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D2FCFC-DF41-4BBC-8CEA-B6E6749C5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3CCD26-1264-4766-B814-14FA6439D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4C05F3-5B24-48BE-BCE4-D127B9C7C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61D224-17A4-4922-AF25-234711AED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7405E3-E3B1-4FED-B995-C9D084739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A7604F-CDA7-491A-BEF5-A28463253D2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6497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D66FF-F580-4E68-84A0-21BF23BD4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28AA7F-F2D5-4F8A-91A7-3837FC991F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A0BF43-C2AE-459C-8F2F-F501B82B1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836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4568AA-FCDD-48F3-88BD-F0C7AE07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1CD014-6060-4348-BD4B-1C65916E7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559F7A-1010-4EE0-AAC5-88FA26019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9DFD99-F399-4B49-A9C2-9C33EF98AC5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3438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2A8FB-F55A-486F-B724-9FAB2365A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750134-82C4-4430-9A4A-19783660D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175980-D42B-4A91-8474-737BFC341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E6DED92-E6B4-475C-A59A-E81D0B9FDF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1CD494-4CF5-4E1A-9673-442154AD5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7F8EC8-D8F5-4B65-84DA-E9995378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2B6C33D-B48A-437F-9B7E-4AC14197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7C4E45-CF0D-473E-B0C6-20F3C669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837175-48CF-40E1-B369-369D28A3401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4488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7B7FC-9F0F-4349-B43E-0FBB19EFC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4B6EE0-7E81-42B2-870F-3457367E6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7AC47E-5B22-4CC0-AE0B-25AD0DE7E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15A665-72A1-49EF-9DD0-C78A4974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3C3EF4-7EFD-45F8-9771-BA74CD501E6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149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526F62-FB28-405D-B8CD-77734CC95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48439C-E28D-4623-92D2-7BF61372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18CE25-33E4-4B36-A682-32F6E2DD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4EE62A-2706-4F03-8D85-BA7B2C360E0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7095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450AF-2FBB-4AD9-A2B2-4CC459E0A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800072-5781-4571-A2FF-EF5347BD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E11A3A-C92D-4576-B7EF-74DEC1F2D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E8596D-3866-4132-B9B7-86433147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CB8D9D-9A8E-4E1F-BD5B-623E3525C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9997B1-24B0-479B-BCBF-DCEDD4EF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D8DE56-A5BF-4A4B-8A8C-D67E27FFFD0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055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0AD1A7-EA3A-4137-B9DC-B5A477ABF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C95506-86FD-440C-8F3E-AE0A018AB7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1CFAF9-C4F2-49FA-9DB2-DCA97FC51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FA22CF-DCF9-4774-AFAA-623B642AC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3784AD-DB5C-4CF3-A148-A935CA44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3EBFD6-17A3-4500-AAEA-2E36F70DF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B525AE-8A39-48CE-BEF2-699BCC97AC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8965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7D01A7-FF52-4F76-9765-4123135F1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98C0C3-5D9F-4E8B-AE86-0B664529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BBC1BB-3A56-47B8-920C-33881D6B9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10CDBA-A329-4274-A3B4-1DE38387B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9E72F9-9286-4EC5-A74B-F7CFBF490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5C5C0-F108-4ED5-8032-BFBCAC47980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193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2F7C647-0B4B-456F-B2FA-07994956B5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26250" y="214313"/>
            <a:ext cx="2117725" cy="62833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ACBBFF-3632-4FD2-B147-C97AE6D9B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68313" y="214313"/>
            <a:ext cx="6205537" cy="62833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09604F-0D16-459A-8332-A4360289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3CDAB-5316-455C-9733-BB97AE57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18996A-651C-4D4C-8BF0-F726676A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CBFFB4-7685-46CB-9E31-6A55E664A7C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4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>
            <a:extLst>
              <a:ext uri="{FF2B5EF4-FFF2-40B4-BE49-F238E27FC236}">
                <a16:creationId xmlns:a16="http://schemas.microsoft.com/office/drawing/2014/main" id="{0EFC91BC-C92F-4B70-BA22-65E9444401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1" name="Rectangle 3">
            <a:extLst>
              <a:ext uri="{FF2B5EF4-FFF2-40B4-BE49-F238E27FC236}">
                <a16:creationId xmlns:a16="http://schemas.microsoft.com/office/drawing/2014/main" id="{63EAB6B4-F82C-464C-9329-90D88CD7BEB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2" name="Rectangle 4">
            <a:extLst>
              <a:ext uri="{FF2B5EF4-FFF2-40B4-BE49-F238E27FC236}">
                <a16:creationId xmlns:a16="http://schemas.microsoft.com/office/drawing/2014/main" id="{6BE9F582-D743-4A4A-B865-C9E6EC75D20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3" name="Rectangle 5">
            <a:extLst>
              <a:ext uri="{FF2B5EF4-FFF2-40B4-BE49-F238E27FC236}">
                <a16:creationId xmlns:a16="http://schemas.microsoft.com/office/drawing/2014/main" id="{12CE0FAC-E234-4490-983C-FEC9D5F66ED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4" name="Rectangle 6">
            <a:extLst>
              <a:ext uri="{FF2B5EF4-FFF2-40B4-BE49-F238E27FC236}">
                <a16:creationId xmlns:a16="http://schemas.microsoft.com/office/drawing/2014/main" id="{4258E330-B1B0-43D6-B20D-6AB9DFB25D0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5" name="Rectangle 7">
            <a:extLst>
              <a:ext uri="{FF2B5EF4-FFF2-40B4-BE49-F238E27FC236}">
                <a16:creationId xmlns:a16="http://schemas.microsoft.com/office/drawing/2014/main" id="{BA36D06A-B55B-402A-9DB3-7153BF43336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6" name="Rectangle 8">
            <a:extLst>
              <a:ext uri="{FF2B5EF4-FFF2-40B4-BE49-F238E27FC236}">
                <a16:creationId xmlns:a16="http://schemas.microsoft.com/office/drawing/2014/main" id="{38D09C0F-F5B9-472D-82B7-09C532F2F0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935038"/>
            <a:ext cx="8277225" cy="1428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7" name="Rectangle 9">
            <a:extLst>
              <a:ext uri="{FF2B5EF4-FFF2-40B4-BE49-F238E27FC236}">
                <a16:creationId xmlns:a16="http://schemas.microsoft.com/office/drawing/2014/main" id="{5BD10C8B-46C4-4BAA-9220-62077FD27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39338" name="Rectangle 10">
            <a:extLst>
              <a:ext uri="{FF2B5EF4-FFF2-40B4-BE49-F238E27FC236}">
                <a16:creationId xmlns:a16="http://schemas.microsoft.com/office/drawing/2014/main" id="{BEE0BBFC-5846-4B5C-BAB0-0467A9E13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39339" name="Rectangle 11">
            <a:extLst>
              <a:ext uri="{FF2B5EF4-FFF2-40B4-BE49-F238E27FC236}">
                <a16:creationId xmlns:a16="http://schemas.microsoft.com/office/drawing/2014/main" id="{BE962DF2-9AED-47C8-8020-53D694CA700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39340" name="Rectangle 12">
            <a:extLst>
              <a:ext uri="{FF2B5EF4-FFF2-40B4-BE49-F238E27FC236}">
                <a16:creationId xmlns:a16="http://schemas.microsoft.com/office/drawing/2014/main" id="{6A771D50-33B0-4EDC-985F-AA6292C7114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39341" name="Rectangle 13">
            <a:extLst>
              <a:ext uri="{FF2B5EF4-FFF2-40B4-BE49-F238E27FC236}">
                <a16:creationId xmlns:a16="http://schemas.microsoft.com/office/drawing/2014/main" id="{BADA23DB-F862-41BA-B5CA-DBDA436C9FA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949270A4-86DE-44EE-B994-1E0DA961763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5" name="Rectangle 3">
            <a:extLst>
              <a:ext uri="{FF2B5EF4-FFF2-40B4-BE49-F238E27FC236}">
                <a16:creationId xmlns:a16="http://schemas.microsoft.com/office/drawing/2014/main" id="{C0B92F16-D942-4A40-BE92-2EECA7B0C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8" y="1052513"/>
            <a:ext cx="8675687" cy="563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已知教学管理数据库系统中的七个关系模式如下：</a:t>
            </a:r>
          </a:p>
          <a:p>
            <a:pPr>
              <a:lnSpc>
                <a:spcPct val="105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学生关系模式：</a:t>
            </a:r>
          </a:p>
          <a:p>
            <a:pPr>
              <a:lnSpc>
                <a:spcPct val="105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2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　   </a:t>
            </a:r>
            <a:r>
              <a:rPr lang="en-US" altLang="zh-CN" sz="22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S（S#，SNAME，SSEX，SBIRTHIN，PLACEOFB，SCODE#，CLASS）</a:t>
            </a:r>
          </a:p>
          <a:p>
            <a:pPr>
              <a:lnSpc>
                <a:spcPct val="105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2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专业关系模式：</a:t>
            </a:r>
          </a:p>
          <a:p>
            <a:pPr>
              <a:lnSpc>
                <a:spcPct val="105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2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　   </a:t>
            </a:r>
            <a:r>
              <a:rPr lang="en-US" altLang="zh-CN" sz="22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SS（SCODE#，SSNAME）</a:t>
            </a:r>
          </a:p>
          <a:p>
            <a:pPr>
              <a:lnSpc>
                <a:spcPct val="105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课程关系模式：</a:t>
            </a:r>
          </a:p>
          <a:p>
            <a:pPr>
              <a:lnSpc>
                <a:spcPct val="105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2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　 </a:t>
            </a:r>
            <a:r>
              <a:rPr lang="zh-CN" altLang="en-US" sz="22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en-US" altLang="zh-CN" sz="22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C（C#，CNAME，CLASSH）</a:t>
            </a:r>
          </a:p>
          <a:p>
            <a:pPr>
              <a:lnSpc>
                <a:spcPct val="105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设置关系模式：</a:t>
            </a:r>
          </a:p>
          <a:p>
            <a:pPr>
              <a:lnSpc>
                <a:spcPct val="105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2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　　 </a:t>
            </a:r>
            <a:r>
              <a:rPr lang="en-US" altLang="zh-CN" sz="22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CS（SCODE#，C#）</a:t>
            </a:r>
          </a:p>
          <a:p>
            <a:pPr>
              <a:lnSpc>
                <a:spcPct val="105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学习关系模式：</a:t>
            </a:r>
          </a:p>
          <a:p>
            <a:pPr>
              <a:lnSpc>
                <a:spcPct val="105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2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　　 </a:t>
            </a:r>
            <a:r>
              <a:rPr lang="en-US" altLang="zh-CN" sz="22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SC（S#，C#，GRADE）</a:t>
            </a:r>
          </a:p>
          <a:p>
            <a:pPr>
              <a:lnSpc>
                <a:spcPct val="105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教师关系模式：</a:t>
            </a:r>
          </a:p>
          <a:p>
            <a:pPr>
              <a:lnSpc>
                <a:spcPct val="105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2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　　 </a:t>
            </a:r>
            <a:r>
              <a:rPr lang="en-US" altLang="zh-CN" sz="22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T（T#，TNAME，TSEX，TBIRTHIN，TITLEOF，TRSECTION，TEL）</a:t>
            </a:r>
          </a:p>
          <a:p>
            <a:pPr>
              <a:lnSpc>
                <a:spcPct val="105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2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讲授关系模式：</a:t>
            </a:r>
          </a:p>
          <a:p>
            <a:pPr>
              <a:lnSpc>
                <a:spcPct val="105000"/>
              </a:lnSpc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2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　   </a:t>
            </a:r>
            <a:r>
              <a:rPr lang="en-US" altLang="zh-CN" sz="22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TEACH（T#，C#）</a:t>
            </a:r>
          </a:p>
        </p:txBody>
      </p:sp>
      <p:sp>
        <p:nvSpPr>
          <p:cNvPr id="812037" name="Rectangle 5">
            <a:extLst>
              <a:ext uri="{FF2B5EF4-FFF2-40B4-BE49-F238E27FC236}">
                <a16:creationId xmlns:a16="http://schemas.microsoft.com/office/drawing/2014/main" id="{AE2423FC-F585-481A-9A22-07806B7B4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四、关系代数运算在查询中的应用</a:t>
            </a:r>
          </a:p>
        </p:txBody>
      </p:sp>
    </p:spTree>
    <p:custDataLst>
      <p:tags r:id="rId1"/>
    </p:custDataLst>
  </p:cSld>
  <p:clrMapOvr>
    <a:masterClrMapping/>
  </p:clrMapOvr>
  <p:transition advTm="8640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81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203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9" name="Rectangle 3">
            <a:extLst>
              <a:ext uri="{FF2B5EF4-FFF2-40B4-BE49-F238E27FC236}">
                <a16:creationId xmlns:a16="http://schemas.microsoft.com/office/drawing/2014/main" id="{3704BE74-0F49-4B81-A249-0F60AA08B3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196975"/>
            <a:ext cx="8610600" cy="1152525"/>
          </a:xfrm>
        </p:spPr>
        <p:txBody>
          <a:bodyPr/>
          <a:lstStyle/>
          <a:p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、查询全体教师的教职工号、教师姓名、职称和所在教</a:t>
            </a:r>
          </a:p>
          <a:p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   研室。</a:t>
            </a:r>
          </a:p>
          <a:p>
            <a:endParaRPr lang="zh-CN" altLang="en-US" sz="2600"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13060" name="Rectangle 4">
            <a:extLst>
              <a:ext uri="{FF2B5EF4-FFF2-40B4-BE49-F238E27FC236}">
                <a16:creationId xmlns:a16="http://schemas.microsoft.com/office/drawing/2014/main" id="{ACCDD7FC-2500-4796-9C9E-665E68F5E1CE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763713" y="4005263"/>
            <a:ext cx="5545137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r>
              <a:rPr lang="en-US" altLang="zh-CN">
                <a:cs typeface="Times New Roman" panose="02020603050405020304" pitchFamily="18" charset="0"/>
              </a:rPr>
              <a:t>π</a:t>
            </a:r>
            <a:r>
              <a:rPr lang="en-US" altLang="zh-CN" baseline="-25000">
                <a:cs typeface="Times New Roman" panose="02020603050405020304" pitchFamily="18" charset="0"/>
              </a:rPr>
              <a:t>T#</a:t>
            </a:r>
            <a:r>
              <a:rPr lang="zh-CN" altLang="en-US" baseline="-25000">
                <a:cs typeface="Times New Roman" panose="02020603050405020304" pitchFamily="18" charset="0"/>
              </a:rPr>
              <a:t>，</a:t>
            </a:r>
            <a:r>
              <a:rPr lang="en-US" altLang="zh-CN" baseline="-25000">
                <a:cs typeface="Times New Roman" panose="02020603050405020304" pitchFamily="18" charset="0"/>
              </a:rPr>
              <a:t>TNAME</a:t>
            </a:r>
            <a:r>
              <a:rPr lang="zh-CN" altLang="en-US" baseline="-25000">
                <a:cs typeface="Times New Roman" panose="02020603050405020304" pitchFamily="18" charset="0"/>
              </a:rPr>
              <a:t>，</a:t>
            </a:r>
            <a:r>
              <a:rPr lang="en-US" altLang="zh-CN" baseline="-25000">
                <a:cs typeface="Times New Roman" panose="02020603050405020304" pitchFamily="18" charset="0"/>
              </a:rPr>
              <a:t>TITLEOF</a:t>
            </a:r>
            <a:r>
              <a:rPr lang="zh-CN" altLang="en-US" baseline="-25000">
                <a:cs typeface="Times New Roman" panose="02020603050405020304" pitchFamily="18" charset="0"/>
              </a:rPr>
              <a:t>，</a:t>
            </a:r>
            <a:r>
              <a:rPr lang="en-US" altLang="zh-CN" baseline="-25000">
                <a:cs typeface="Times New Roman" panose="02020603050405020304" pitchFamily="18" charset="0"/>
              </a:rPr>
              <a:t>TRSECTION </a:t>
            </a:r>
            <a:r>
              <a:rPr lang="en-US" altLang="zh-CN">
                <a:cs typeface="Times New Roman" panose="02020603050405020304" pitchFamily="18" charset="0"/>
              </a:rPr>
              <a:t>(T) </a:t>
            </a:r>
          </a:p>
        </p:txBody>
      </p:sp>
      <p:sp>
        <p:nvSpPr>
          <p:cNvPr id="813061" name="Rectangle 5">
            <a:extLst>
              <a:ext uri="{FF2B5EF4-FFF2-40B4-BE49-F238E27FC236}">
                <a16:creationId xmlns:a16="http://schemas.microsoft.com/office/drawing/2014/main" id="{8934CF4A-A4E6-4C06-B787-FAFA9D830F9D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771775" y="4868863"/>
            <a:ext cx="3313113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400">
                <a:latin typeface="楷体_GB2312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4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>
                <a:cs typeface="Times New Roman" panose="02020603050405020304" pitchFamily="18" charset="0"/>
              </a:rPr>
              <a:t>π</a:t>
            </a:r>
            <a:r>
              <a:rPr lang="en-US" altLang="zh-CN" baseline="-25000">
                <a:cs typeface="Times New Roman" panose="02020603050405020304" pitchFamily="18" charset="0"/>
              </a:rPr>
              <a:t>1, 2, 5, 6</a:t>
            </a:r>
            <a:r>
              <a:rPr lang="en-US" altLang="zh-CN">
                <a:cs typeface="Times New Roman" panose="02020603050405020304" pitchFamily="18" charset="0"/>
              </a:rPr>
              <a:t>(T)</a:t>
            </a:r>
            <a:r>
              <a:rPr lang="en-US" altLang="zh-CN" sz="240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13063" name="Rectangle 7">
            <a:extLst>
              <a:ext uri="{FF2B5EF4-FFF2-40B4-BE49-F238E27FC236}">
                <a16:creationId xmlns:a16="http://schemas.microsoft.com/office/drawing/2014/main" id="{A0110FA5-198C-4E63-9B21-AC2999BE5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四、关系代数运算在查询中的应用</a:t>
            </a:r>
          </a:p>
        </p:txBody>
      </p:sp>
      <p:sp>
        <p:nvSpPr>
          <p:cNvPr id="813064" name="Rectangle 8">
            <a:extLst>
              <a:ext uri="{FF2B5EF4-FFF2-40B4-BE49-F238E27FC236}">
                <a16:creationId xmlns:a16="http://schemas.microsoft.com/office/drawing/2014/main" id="{FBE5AF10-A467-4054-B653-4A3226CC5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05038"/>
            <a:ext cx="9032875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5000"/>
              </a:lnSpc>
            </a:pPr>
            <a:r>
              <a:rPr kumimoji="1" lang="zh-CN" altLang="en-US" sz="22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教师关系模式：</a:t>
            </a:r>
          </a:p>
          <a:p>
            <a:pPr>
              <a:lnSpc>
                <a:spcPct val="135000"/>
              </a:lnSpc>
            </a:pPr>
            <a:r>
              <a:rPr kumimoji="1" lang="zh-CN" altLang="en-US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　　 </a:t>
            </a:r>
            <a:r>
              <a:rPr kumimoji="1" lang="en-US" altLang="zh-CN" sz="20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T（T#，TNAME，TSEX，TBIRTHIN，TITLEOF，TRSECTION，TEL）</a:t>
            </a:r>
          </a:p>
        </p:txBody>
      </p:sp>
      <p:sp>
        <p:nvSpPr>
          <p:cNvPr id="813066" name="Rectangle 10">
            <a:extLst>
              <a:ext uri="{FF2B5EF4-FFF2-40B4-BE49-F238E27FC236}">
                <a16:creationId xmlns:a16="http://schemas.microsoft.com/office/drawing/2014/main" id="{78E08C4F-4471-4FE4-8160-2B2C32AFC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" y="3232150"/>
            <a:ext cx="8893175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600" b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解题思路：</a:t>
            </a:r>
            <a:r>
              <a:rPr lang="zh-CN" altLang="en-US" sz="2600" b="1">
                <a:effectLst>
                  <a:outerShdw blurRad="38100" dist="38100" dir="2700000" algn="tl">
                    <a:srgbClr val="C0C0C0"/>
                  </a:outerShdw>
                </a:effectLst>
              </a:rPr>
              <a:t>从教师表中把各教师的相应属性投影出来。</a:t>
            </a:r>
            <a:endParaRPr kumimoji="1" lang="en-US" altLang="zh-CN" sz="20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  <p:transition advTm="13122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1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81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1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0"/>
                                        <p:tgtEl>
                                          <p:spTgt spid="81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3060" grpId="0"/>
      <p:bldP spid="813061" grpId="0"/>
      <p:bldP spid="813064" grpId="0"/>
      <p:bldP spid="81306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03" name="Rectangle 3">
            <a:extLst>
              <a:ext uri="{FF2B5EF4-FFF2-40B4-BE49-F238E27FC236}">
                <a16:creationId xmlns:a16="http://schemas.microsoft.com/office/drawing/2014/main" id="{A8EE9821-3294-4C01-96D2-C5FA9940871B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203575" y="3933825"/>
            <a:ext cx="2736850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r>
              <a:rPr lang="el-GR" altLang="zh-CN" sz="2600">
                <a:cs typeface="Tahoma" panose="020B0604030504040204" pitchFamily="34" charset="0"/>
              </a:rPr>
              <a:t>σ</a:t>
            </a:r>
            <a:r>
              <a:rPr lang="en-US" altLang="zh-CN" sz="2600" baseline="-25000">
                <a:cs typeface="Times New Roman" panose="02020603050405020304" pitchFamily="18" charset="0"/>
              </a:rPr>
              <a:t>SSEX = 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zh-CN" altLang="en-US" sz="2600" baseline="-25000">
                <a:cs typeface="Times New Roman" panose="02020603050405020304" pitchFamily="18" charset="0"/>
              </a:rPr>
              <a:t>女</a:t>
            </a:r>
            <a:r>
              <a:rPr lang="en-US" altLang="zh-CN" sz="2600" baseline="-25000">
                <a:cs typeface="Tahoma" panose="020B0604030504040204" pitchFamily="34" charset="0"/>
              </a:rPr>
              <a:t>’ </a:t>
            </a:r>
            <a:r>
              <a:rPr lang="en-US" altLang="zh-CN" sz="2600">
                <a:cs typeface="Times New Roman" panose="02020603050405020304" pitchFamily="18" charset="0"/>
              </a:rPr>
              <a:t>(S) </a:t>
            </a:r>
          </a:p>
        </p:txBody>
      </p:sp>
      <p:sp>
        <p:nvSpPr>
          <p:cNvPr id="819204" name="Rectangle 4">
            <a:extLst>
              <a:ext uri="{FF2B5EF4-FFF2-40B4-BE49-F238E27FC236}">
                <a16:creationId xmlns:a16="http://schemas.microsoft.com/office/drawing/2014/main" id="{733FDE5D-F5F6-426E-8730-8212B5FAB68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843213" y="4846638"/>
            <a:ext cx="3313112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l-GR" altLang="zh-CN" sz="2600">
                <a:cs typeface="Tahoma" panose="020B0604030504040204" pitchFamily="34" charset="0"/>
              </a:rPr>
              <a:t>σ</a:t>
            </a:r>
            <a:r>
              <a:rPr lang="en-US" altLang="zh-CN" sz="2600" baseline="-25000">
                <a:cs typeface="Times New Roman" panose="02020603050405020304" pitchFamily="18" charset="0"/>
              </a:rPr>
              <a:t>3 = 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zh-CN" altLang="en-US" sz="2600" baseline="-25000">
                <a:cs typeface="Times New Roman" panose="02020603050405020304" pitchFamily="18" charset="0"/>
              </a:rPr>
              <a:t>女</a:t>
            </a:r>
            <a:r>
              <a:rPr lang="en-US" altLang="zh-CN" sz="2600" baseline="-25000">
                <a:cs typeface="Tahoma" panose="020B0604030504040204" pitchFamily="34" charset="0"/>
              </a:rPr>
              <a:t>’ </a:t>
            </a:r>
            <a:r>
              <a:rPr lang="en-US" altLang="zh-CN" sz="2600">
                <a:cs typeface="Times New Roman" panose="02020603050405020304" pitchFamily="18" charset="0"/>
              </a:rPr>
              <a:t>(S)</a:t>
            </a:r>
            <a:r>
              <a:rPr lang="en-US" altLang="zh-CN" sz="240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19205" name="Rectangle 5">
            <a:extLst>
              <a:ext uri="{FF2B5EF4-FFF2-40B4-BE49-F238E27FC236}">
                <a16:creationId xmlns:a16="http://schemas.microsoft.com/office/drawing/2014/main" id="{05DD6B03-ADD3-4C98-BFB8-1A02193F3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四、关系代数运算在查询中的应用</a:t>
            </a:r>
          </a:p>
        </p:txBody>
      </p:sp>
      <p:sp>
        <p:nvSpPr>
          <p:cNvPr id="819207" name="Rectangle 7">
            <a:extLst>
              <a:ext uri="{FF2B5EF4-FFF2-40B4-BE49-F238E27FC236}">
                <a16:creationId xmlns:a16="http://schemas.microsoft.com/office/drawing/2014/main" id="{975A27DE-2AEB-4A69-99F1-A7020FA1A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58875"/>
            <a:ext cx="8496300" cy="263048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、查询全部女学生的基本信息。</a:t>
            </a:r>
          </a:p>
          <a:p>
            <a:pPr>
              <a:lnSpc>
                <a:spcPct val="110000"/>
              </a:lnSpc>
            </a:pP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　 </a:t>
            </a:r>
            <a:r>
              <a:rPr kumimoji="1" lang="zh-CN" altLang="en-US" sz="2400">
                <a:solidFill>
                  <a:srgbClr val="660033"/>
                </a:solidFill>
              </a:rPr>
              <a:t>学生关系模式：</a:t>
            </a:r>
          </a:p>
          <a:p>
            <a:pPr>
              <a:lnSpc>
                <a:spcPct val="110000"/>
              </a:lnSpc>
            </a:pPr>
            <a:r>
              <a:rPr kumimoji="1" lang="zh-CN" altLang="en-US" sz="2400">
                <a:solidFill>
                  <a:srgbClr val="008000"/>
                </a:solidFill>
              </a:rPr>
              <a:t>    </a:t>
            </a:r>
            <a:r>
              <a:rPr kumimoji="1" lang="en-US" altLang="zh-CN" sz="2400">
                <a:solidFill>
                  <a:srgbClr val="003366"/>
                </a:solidFill>
              </a:rPr>
              <a:t>S（S#，SNAME，SSEX，SBIRTHIN，</a:t>
            </a:r>
          </a:p>
          <a:p>
            <a:pPr>
              <a:lnSpc>
                <a:spcPct val="110000"/>
              </a:lnSpc>
            </a:pPr>
            <a:r>
              <a:rPr kumimoji="1" lang="en-US" altLang="zh-CN" sz="2400">
                <a:solidFill>
                  <a:srgbClr val="003366"/>
                </a:solidFill>
              </a:rPr>
              <a:t>                                       PLACEOFB，SCODE#，CLASS）</a:t>
            </a:r>
          </a:p>
          <a:p>
            <a:pPr>
              <a:lnSpc>
                <a:spcPct val="110000"/>
              </a:lnSpc>
            </a:pPr>
            <a:r>
              <a:rPr lang="zh-CN" altLang="en-US" sz="2600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</a:rPr>
              <a:t>解题思路：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从学生表中选择出那些性别为</a:t>
            </a:r>
            <a:r>
              <a:rPr lang="zh-CN" altLang="en-US" sz="2600">
                <a:latin typeface="Arial" panose="020B0604020202020204" pitchFamily="34" charset="0"/>
                <a:cs typeface="Times New Roman" panose="02020603050405020304" pitchFamily="18" charset="0"/>
              </a:rPr>
              <a:t>“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女</a:t>
            </a:r>
            <a:r>
              <a:rPr lang="zh-CN" altLang="en-US" sz="2600">
                <a:latin typeface="Arial" panose="020B0604020202020204" pitchFamily="34" charset="0"/>
                <a:cs typeface="Times New Roman" panose="02020603050405020304" pitchFamily="18" charset="0"/>
              </a:rPr>
              <a:t>”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的元组。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  <p:transition advTm="10659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9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19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19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19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1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1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03" grpId="0"/>
      <p:bldP spid="81920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179" name="Rectangle 3">
            <a:extLst>
              <a:ext uri="{FF2B5EF4-FFF2-40B4-BE49-F238E27FC236}">
                <a16:creationId xmlns:a16="http://schemas.microsoft.com/office/drawing/2014/main" id="{8F2753B6-91ED-49BE-9EEC-92A7CDA8D602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187450" y="4508500"/>
            <a:ext cx="7561263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r>
              <a:rPr lang="en-US" altLang="zh-CN">
                <a:cs typeface="Times New Roman" panose="02020603050405020304" pitchFamily="18" charset="0"/>
              </a:rPr>
              <a:t>π</a:t>
            </a:r>
            <a:r>
              <a:rPr lang="en-US" altLang="zh-CN" baseline="-25000">
                <a:cs typeface="Times New Roman" panose="02020603050405020304" pitchFamily="18" charset="0"/>
              </a:rPr>
              <a:t>S#, SNAME</a:t>
            </a:r>
            <a:r>
              <a:rPr lang="el-GR" altLang="zh-CN">
                <a:cs typeface="Tahoma" panose="020B0604030504040204" pitchFamily="34" charset="0"/>
              </a:rPr>
              <a:t> </a:t>
            </a:r>
            <a:r>
              <a:rPr lang="en-US" altLang="zh-CN">
                <a:cs typeface="Tahoma" panose="020B0604030504040204" pitchFamily="34" charset="0"/>
              </a:rPr>
              <a:t>(</a:t>
            </a:r>
            <a:r>
              <a:rPr lang="el-GR" altLang="zh-CN">
                <a:cs typeface="Tahoma" panose="020B0604030504040204" pitchFamily="34" charset="0"/>
              </a:rPr>
              <a:t>σ</a:t>
            </a:r>
            <a:r>
              <a:rPr lang="en-US" altLang="zh-CN" baseline="-25000">
                <a:cs typeface="Times New Roman" panose="02020603050405020304" pitchFamily="18" charset="0"/>
              </a:rPr>
              <a:t>SSEX= 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zh-CN" altLang="en-US" baseline="-25000">
                <a:cs typeface="Times New Roman" panose="02020603050405020304" pitchFamily="18" charset="0"/>
              </a:rPr>
              <a:t>男</a:t>
            </a:r>
            <a:r>
              <a:rPr lang="en-US" altLang="zh-CN" sz="2600" baseline="-25000">
                <a:cs typeface="Tahoma" panose="020B0604030504040204" pitchFamily="34" charset="0"/>
              </a:rPr>
              <a:t>’ </a:t>
            </a:r>
            <a:r>
              <a:rPr lang="zh-CN" altLang="en-US" baseline="-25000">
                <a:cs typeface="Times New Roman" panose="02020603050405020304" pitchFamily="18" charset="0"/>
              </a:rPr>
              <a:t>∧</a:t>
            </a:r>
            <a:r>
              <a:rPr lang="en-US" altLang="zh-CN" baseline="-25000">
                <a:cs typeface="Times New Roman" panose="02020603050405020304" pitchFamily="18" charset="0"/>
              </a:rPr>
              <a:t>SCODE#= </a:t>
            </a:r>
            <a:r>
              <a:rPr lang="en-US" altLang="zh-CN" sz="2600" baseline="-25000">
                <a:cs typeface="Tahoma" panose="020B0604030504040204" pitchFamily="34" charset="0"/>
              </a:rPr>
              <a:t>’ </a:t>
            </a:r>
            <a:r>
              <a:rPr lang="en-US" altLang="zh-CN" baseline="-25000">
                <a:cs typeface="Times New Roman" panose="02020603050405020304" pitchFamily="18" charset="0"/>
              </a:rPr>
              <a:t>S0401</a:t>
            </a:r>
            <a:r>
              <a:rPr lang="en-US" altLang="zh-CN" sz="2600" baseline="-25000">
                <a:cs typeface="Tahoma" panose="020B0604030504040204" pitchFamily="34" charset="0"/>
              </a:rPr>
              <a:t>’ </a:t>
            </a:r>
            <a:r>
              <a:rPr lang="en-US" altLang="zh-CN">
                <a:cs typeface="Times New Roman" panose="02020603050405020304" pitchFamily="18" charset="0"/>
              </a:rPr>
              <a:t>(S) )</a:t>
            </a:r>
          </a:p>
        </p:txBody>
      </p:sp>
      <p:sp>
        <p:nvSpPr>
          <p:cNvPr id="818180" name="Rectangle 4">
            <a:extLst>
              <a:ext uri="{FF2B5EF4-FFF2-40B4-BE49-F238E27FC236}">
                <a16:creationId xmlns:a16="http://schemas.microsoft.com/office/drawing/2014/main" id="{E2064DF2-F3EC-4DBD-9577-7387BDAFC8F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692275" y="5302250"/>
            <a:ext cx="6192838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>
                <a:cs typeface="Times New Roman" panose="02020603050405020304" pitchFamily="18" charset="0"/>
              </a:rPr>
              <a:t>π</a:t>
            </a:r>
            <a:r>
              <a:rPr lang="en-US" altLang="zh-CN" baseline="-25000">
                <a:cs typeface="Times New Roman" panose="02020603050405020304" pitchFamily="18" charset="0"/>
              </a:rPr>
              <a:t>1, 2</a:t>
            </a:r>
            <a:r>
              <a:rPr lang="el-GR" altLang="zh-CN">
                <a:cs typeface="Tahoma" panose="020B0604030504040204" pitchFamily="34" charset="0"/>
              </a:rPr>
              <a:t> </a:t>
            </a:r>
            <a:r>
              <a:rPr lang="en-US" altLang="zh-CN">
                <a:cs typeface="Tahoma" panose="020B0604030504040204" pitchFamily="34" charset="0"/>
              </a:rPr>
              <a:t>(</a:t>
            </a:r>
            <a:r>
              <a:rPr lang="el-GR" altLang="zh-CN">
                <a:cs typeface="Tahoma" panose="020B0604030504040204" pitchFamily="34" charset="0"/>
              </a:rPr>
              <a:t>σ</a:t>
            </a:r>
            <a:r>
              <a:rPr lang="en-US" altLang="zh-CN" baseline="-25000">
                <a:cs typeface="Times New Roman" panose="02020603050405020304" pitchFamily="18" charset="0"/>
              </a:rPr>
              <a:t>3= 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zh-CN" altLang="en-US" baseline="-25000">
                <a:cs typeface="Times New Roman" panose="02020603050405020304" pitchFamily="18" charset="0"/>
              </a:rPr>
              <a:t>男</a:t>
            </a:r>
            <a:r>
              <a:rPr lang="en-US" altLang="zh-CN" sz="2600" baseline="-25000">
                <a:cs typeface="Tahoma" panose="020B0604030504040204" pitchFamily="34" charset="0"/>
              </a:rPr>
              <a:t>’ </a:t>
            </a:r>
            <a:r>
              <a:rPr lang="zh-CN" altLang="en-US" baseline="-25000">
                <a:cs typeface="Times New Roman" panose="02020603050405020304" pitchFamily="18" charset="0"/>
              </a:rPr>
              <a:t>∧</a:t>
            </a:r>
            <a:r>
              <a:rPr lang="en-US" altLang="zh-CN" baseline="-25000">
                <a:cs typeface="Times New Roman" panose="02020603050405020304" pitchFamily="18" charset="0"/>
              </a:rPr>
              <a:t>6= </a:t>
            </a:r>
            <a:r>
              <a:rPr lang="en-US" altLang="zh-CN" sz="2600" baseline="-25000">
                <a:cs typeface="Tahoma" panose="020B0604030504040204" pitchFamily="34" charset="0"/>
              </a:rPr>
              <a:t>’ </a:t>
            </a:r>
            <a:r>
              <a:rPr lang="en-US" altLang="zh-CN" baseline="-25000">
                <a:cs typeface="Times New Roman" panose="02020603050405020304" pitchFamily="18" charset="0"/>
              </a:rPr>
              <a:t>s0401</a:t>
            </a:r>
            <a:r>
              <a:rPr lang="en-US" altLang="zh-CN" sz="2600" baseline="-25000">
                <a:cs typeface="Tahoma" panose="020B0604030504040204" pitchFamily="34" charset="0"/>
              </a:rPr>
              <a:t>’ </a:t>
            </a:r>
            <a:r>
              <a:rPr lang="en-US" altLang="zh-CN">
                <a:cs typeface="Times New Roman" panose="02020603050405020304" pitchFamily="18" charset="0"/>
              </a:rPr>
              <a:t>(S) )</a:t>
            </a:r>
          </a:p>
        </p:txBody>
      </p:sp>
      <p:sp>
        <p:nvSpPr>
          <p:cNvPr id="818181" name="Rectangle 5">
            <a:extLst>
              <a:ext uri="{FF2B5EF4-FFF2-40B4-BE49-F238E27FC236}">
                <a16:creationId xmlns:a16="http://schemas.microsoft.com/office/drawing/2014/main" id="{B23EFA75-8E3B-4A6F-B140-652A1FEB4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四、关系代数运算在查询中的应用</a:t>
            </a:r>
          </a:p>
        </p:txBody>
      </p:sp>
      <p:sp>
        <p:nvSpPr>
          <p:cNvPr id="818182" name="Rectangle 6">
            <a:extLst>
              <a:ext uri="{FF2B5EF4-FFF2-40B4-BE49-F238E27FC236}">
                <a16:creationId xmlns:a16="http://schemas.microsoft.com/office/drawing/2014/main" id="{5CAEAC97-4D89-4BD5-9F17-55B8B078F2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6563" y="1143000"/>
            <a:ext cx="8528050" cy="401478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、找出专业代码为</a:t>
            </a: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S0401 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的男学生的学号和姓名。</a:t>
            </a:r>
          </a:p>
          <a:p>
            <a:pPr>
              <a:lnSpc>
                <a:spcPct val="100000"/>
              </a:lnSpc>
            </a:pPr>
            <a:r>
              <a:rPr kumimoji="1" lang="zh-CN" altLang="en-US" sz="2700">
                <a:solidFill>
                  <a:srgbClr val="660033"/>
                </a:solidFill>
              </a:rPr>
              <a:t>学生关系模式：</a:t>
            </a:r>
          </a:p>
          <a:p>
            <a:pPr>
              <a:lnSpc>
                <a:spcPct val="110000"/>
              </a:lnSpc>
            </a:pPr>
            <a:r>
              <a:rPr kumimoji="1" lang="zh-CN" altLang="en-US" sz="2700">
                <a:solidFill>
                  <a:srgbClr val="008000"/>
                </a:solidFill>
              </a:rPr>
              <a:t>　   </a:t>
            </a:r>
            <a:r>
              <a:rPr kumimoji="1" lang="en-US" altLang="zh-CN" sz="2700">
                <a:solidFill>
                  <a:srgbClr val="003366"/>
                </a:solidFill>
              </a:rPr>
              <a:t>S（S#，SNAME，SSEX，SBIRTHIN，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sz="2700">
                <a:solidFill>
                  <a:srgbClr val="003366"/>
                </a:solidFill>
              </a:rPr>
              <a:t>                             PLACEOFB，SCODE#，CLASS）</a:t>
            </a:r>
            <a:endParaRPr kumimoji="1" lang="zh-CN" altLang="en-US" sz="2700">
              <a:solidFill>
                <a:srgbClr val="003366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2300">
                <a:latin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900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</a:rPr>
              <a:t>解题思路：</a:t>
            </a:r>
            <a:r>
              <a:rPr lang="zh-CN" altLang="en-US" sz="2700">
                <a:latin typeface="楷体_GB2312" pitchFamily="49" charset="-122"/>
                <a:cs typeface="Times New Roman" panose="02020603050405020304" pitchFamily="18" charset="0"/>
              </a:rPr>
              <a:t>首先确定涉及到的表，仅有学生表；涉及到的查询条件有两个，选择专业代码为</a:t>
            </a:r>
            <a:r>
              <a:rPr lang="zh-CN" altLang="en-US" sz="2700">
                <a:latin typeface="Arial" panose="020B06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altLang="zh-CN" sz="2700">
                <a:latin typeface="楷体_GB2312" pitchFamily="49" charset="-122"/>
                <a:cs typeface="Times New Roman" panose="02020603050405020304" pitchFamily="18" charset="0"/>
              </a:rPr>
              <a:t>S0401</a:t>
            </a:r>
            <a:r>
              <a:rPr lang="en-US" altLang="zh-CN" sz="2700">
                <a:latin typeface="Arial" panose="020B0604020202020204" pitchFamily="34" charset="0"/>
                <a:cs typeface="Times New Roman" panose="02020603050405020304" pitchFamily="18" charset="0"/>
              </a:rPr>
              <a:t>”</a:t>
            </a:r>
            <a:r>
              <a:rPr lang="zh-CN" altLang="en-US" sz="2700">
                <a:latin typeface="楷体_GB2312" pitchFamily="49" charset="-122"/>
                <a:cs typeface="Times New Roman" panose="02020603050405020304" pitchFamily="18" charset="0"/>
              </a:rPr>
              <a:t>和性别为</a:t>
            </a:r>
            <a:r>
              <a:rPr lang="zh-CN" altLang="en-US" sz="2700">
                <a:latin typeface="Arial" panose="020B0604020202020204" pitchFamily="34" charset="0"/>
                <a:cs typeface="Times New Roman" panose="02020603050405020304" pitchFamily="18" charset="0"/>
              </a:rPr>
              <a:t>“</a:t>
            </a:r>
            <a:r>
              <a:rPr lang="zh-CN" altLang="en-US" sz="2700">
                <a:latin typeface="楷体_GB2312" pitchFamily="49" charset="-122"/>
                <a:cs typeface="Times New Roman" panose="02020603050405020304" pitchFamily="18" charset="0"/>
              </a:rPr>
              <a:t>男</a:t>
            </a:r>
            <a:r>
              <a:rPr lang="zh-CN" altLang="en-US" sz="2700">
                <a:latin typeface="Arial" panose="020B0604020202020204" pitchFamily="34" charset="0"/>
                <a:cs typeface="Times New Roman" panose="02020603050405020304" pitchFamily="18" charset="0"/>
              </a:rPr>
              <a:t>”</a:t>
            </a:r>
            <a:r>
              <a:rPr lang="zh-CN" altLang="en-US" sz="2700">
                <a:latin typeface="楷体_GB2312" pitchFamily="49" charset="-122"/>
                <a:cs typeface="Times New Roman" panose="02020603050405020304" pitchFamily="18" charset="0"/>
              </a:rPr>
              <a:t>的元组；最后，查询结果用投影表示出来。</a:t>
            </a:r>
            <a:r>
              <a:rPr kumimoji="1" lang="zh-CN" altLang="en-US" sz="2700">
                <a:solidFill>
                  <a:srgbClr val="660033"/>
                </a:solidFill>
              </a:rPr>
              <a:t>  </a:t>
            </a:r>
          </a:p>
        </p:txBody>
      </p:sp>
    </p:spTree>
    <p:custDataLst>
      <p:tags r:id="rId1"/>
    </p:custDataLst>
  </p:cSld>
  <p:clrMapOvr>
    <a:masterClrMapping/>
  </p:clrMapOvr>
  <p:transition advTm="10876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18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18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818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818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1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1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8179" grpId="0"/>
      <p:bldP spid="81818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6" name="Rectangle 2">
            <a:extLst>
              <a:ext uri="{FF2B5EF4-FFF2-40B4-BE49-F238E27FC236}">
                <a16:creationId xmlns:a16="http://schemas.microsoft.com/office/drawing/2014/main" id="{DEE6D2FF-D501-4D4B-B2CA-2034C42F607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835150" y="4532313"/>
            <a:ext cx="6624638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2600">
                <a:cs typeface="Times New Roman" panose="02020603050405020304" pitchFamily="18" charset="0"/>
              </a:rPr>
              <a:t>π</a:t>
            </a:r>
            <a:r>
              <a:rPr lang="en-US" altLang="zh-CN" sz="2600" baseline="-25000">
                <a:cs typeface="Times New Roman" panose="02020603050405020304" pitchFamily="18" charset="0"/>
              </a:rPr>
              <a:t>S#</a:t>
            </a:r>
            <a:r>
              <a:rPr lang="en-US" altLang="zh-CN" sz="2600">
                <a:cs typeface="Tahoma" panose="020B0604030504040204" pitchFamily="34" charset="0"/>
              </a:rPr>
              <a:t>(</a:t>
            </a:r>
            <a:r>
              <a:rPr lang="el-GR" altLang="zh-CN" sz="2600">
                <a:cs typeface="Tahoma" panose="020B0604030504040204" pitchFamily="34" charset="0"/>
              </a:rPr>
              <a:t>σ</a:t>
            </a:r>
            <a:r>
              <a:rPr lang="en-US" altLang="zh-CN" sz="2600" baseline="-25000">
                <a:cs typeface="Times New Roman" panose="02020603050405020304" pitchFamily="18" charset="0"/>
              </a:rPr>
              <a:t>C#= 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en-US" altLang="zh-CN" sz="2600" baseline="-25000">
                <a:cs typeface="Times New Roman" panose="02020603050405020304" pitchFamily="18" charset="0"/>
              </a:rPr>
              <a:t>C401001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en-US" altLang="zh-CN" sz="2600" baseline="-25000">
                <a:cs typeface="Times New Roman" panose="02020603050405020304" pitchFamily="18" charset="0"/>
              </a:rPr>
              <a:t> </a:t>
            </a:r>
            <a:r>
              <a:rPr lang="en-US" altLang="zh-CN" sz="2600" baseline="-25000">
                <a:solidFill>
                  <a:schemeClr val="hlink"/>
                </a:solidFill>
                <a:latin typeface="楷体_GB2312" pitchFamily="49" charset="-122"/>
                <a:cs typeface="Times New Roman" panose="02020603050405020304" pitchFamily="18" charset="0"/>
              </a:rPr>
              <a:t>∨</a:t>
            </a:r>
            <a:r>
              <a:rPr lang="en-US" altLang="zh-CN" sz="2600" baseline="-25000">
                <a:cs typeface="Times New Roman" panose="02020603050405020304" pitchFamily="18" charset="0"/>
              </a:rPr>
              <a:t>C#= 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en-US" altLang="zh-CN" sz="2600" baseline="-25000">
                <a:cs typeface="Times New Roman" panose="02020603050405020304" pitchFamily="18" charset="0"/>
              </a:rPr>
              <a:t>C401002</a:t>
            </a:r>
            <a:r>
              <a:rPr lang="en-US" altLang="zh-CN" sz="2600" baseline="-25000">
                <a:cs typeface="Tahoma" panose="020B0604030504040204" pitchFamily="34" charset="0"/>
              </a:rPr>
              <a:t>’ </a:t>
            </a:r>
            <a:r>
              <a:rPr lang="en-US" altLang="zh-CN" sz="2600">
                <a:cs typeface="Times New Roman" panose="02020603050405020304" pitchFamily="18" charset="0"/>
              </a:rPr>
              <a:t>(SC) )</a:t>
            </a:r>
          </a:p>
        </p:txBody>
      </p:sp>
      <p:sp>
        <p:nvSpPr>
          <p:cNvPr id="820227" name="Rectangle 3">
            <a:extLst>
              <a:ext uri="{FF2B5EF4-FFF2-40B4-BE49-F238E27FC236}">
                <a16:creationId xmlns:a16="http://schemas.microsoft.com/office/drawing/2014/main" id="{DCB6ACB2-60F3-4E8E-B1B6-FA022DF5CA2B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96850" y="5302250"/>
            <a:ext cx="882015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6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600">
                <a:cs typeface="Times New Roman" panose="02020603050405020304" pitchFamily="18" charset="0"/>
              </a:rPr>
              <a:t>π</a:t>
            </a:r>
            <a:r>
              <a:rPr lang="en-US" altLang="zh-CN" sz="2600" baseline="-25000">
                <a:cs typeface="Times New Roman" panose="02020603050405020304" pitchFamily="18" charset="0"/>
              </a:rPr>
              <a:t>S#</a:t>
            </a:r>
            <a:r>
              <a:rPr lang="en-US" altLang="zh-CN" sz="2600">
                <a:cs typeface="Tahoma" panose="020B0604030504040204" pitchFamily="34" charset="0"/>
              </a:rPr>
              <a:t>(</a:t>
            </a:r>
            <a:r>
              <a:rPr lang="el-GR" altLang="zh-CN" sz="2600">
                <a:cs typeface="Tahoma" panose="020B0604030504040204" pitchFamily="34" charset="0"/>
              </a:rPr>
              <a:t>σ</a:t>
            </a:r>
            <a:r>
              <a:rPr lang="en-US" altLang="zh-CN" sz="2600" baseline="-25000">
                <a:cs typeface="Times New Roman" panose="02020603050405020304" pitchFamily="18" charset="0"/>
              </a:rPr>
              <a:t>C#= 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en-US" altLang="zh-CN" sz="2600" baseline="-25000">
                <a:cs typeface="Times New Roman" panose="02020603050405020304" pitchFamily="18" charset="0"/>
              </a:rPr>
              <a:t>C401001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en-US" altLang="zh-CN" sz="2600" baseline="-25000">
                <a:cs typeface="Times New Roman" panose="02020603050405020304" pitchFamily="18" charset="0"/>
              </a:rPr>
              <a:t> </a:t>
            </a:r>
            <a:r>
              <a:rPr lang="en-US" altLang="zh-CN" sz="2600">
                <a:cs typeface="Times New Roman" panose="02020603050405020304" pitchFamily="18" charset="0"/>
              </a:rPr>
              <a:t>(SC) )</a:t>
            </a: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∪</a:t>
            </a:r>
            <a:r>
              <a:rPr lang="en-US" altLang="zh-CN" sz="2600">
                <a:cs typeface="Times New Roman" panose="02020603050405020304" pitchFamily="18" charset="0"/>
              </a:rPr>
              <a:t>π</a:t>
            </a:r>
            <a:r>
              <a:rPr lang="en-US" altLang="zh-CN" sz="2600" baseline="-25000">
                <a:cs typeface="Times New Roman" panose="02020603050405020304" pitchFamily="18" charset="0"/>
              </a:rPr>
              <a:t>S#</a:t>
            </a:r>
            <a:r>
              <a:rPr lang="en-US" altLang="zh-CN" sz="2600">
                <a:cs typeface="Tahoma" panose="020B0604030504040204" pitchFamily="34" charset="0"/>
              </a:rPr>
              <a:t>(</a:t>
            </a:r>
            <a:r>
              <a:rPr lang="el-GR" altLang="zh-CN" sz="2600">
                <a:cs typeface="Tahoma" panose="020B0604030504040204" pitchFamily="34" charset="0"/>
              </a:rPr>
              <a:t>σ</a:t>
            </a:r>
            <a:r>
              <a:rPr lang="en-US" altLang="zh-CN" sz="2600" baseline="-25000">
                <a:cs typeface="Times New Roman" panose="02020603050405020304" pitchFamily="18" charset="0"/>
              </a:rPr>
              <a:t>C#= </a:t>
            </a:r>
            <a:r>
              <a:rPr lang="en-US" altLang="zh-CN" sz="2600" baseline="-25000">
                <a:cs typeface="Tahoma" panose="020B0604030504040204" pitchFamily="34" charset="0"/>
              </a:rPr>
              <a:t>’</a:t>
            </a:r>
            <a:r>
              <a:rPr lang="en-US" altLang="zh-CN" sz="2600" baseline="-25000">
                <a:cs typeface="Times New Roman" panose="02020603050405020304" pitchFamily="18" charset="0"/>
              </a:rPr>
              <a:t>C401002</a:t>
            </a:r>
            <a:r>
              <a:rPr lang="en-US" altLang="zh-CN" sz="2600" baseline="-25000">
                <a:cs typeface="Tahoma" panose="020B0604030504040204" pitchFamily="34" charset="0"/>
              </a:rPr>
              <a:t>’ </a:t>
            </a:r>
            <a:r>
              <a:rPr lang="en-US" altLang="zh-CN" sz="2600">
                <a:cs typeface="Times New Roman" panose="02020603050405020304" pitchFamily="18" charset="0"/>
              </a:rPr>
              <a:t>(SC) )</a:t>
            </a:r>
          </a:p>
        </p:txBody>
      </p:sp>
      <p:sp>
        <p:nvSpPr>
          <p:cNvPr id="820228" name="Rectangle 4">
            <a:extLst>
              <a:ext uri="{FF2B5EF4-FFF2-40B4-BE49-F238E27FC236}">
                <a16:creationId xmlns:a16="http://schemas.microsoft.com/office/drawing/2014/main" id="{382013DE-0C69-498B-98AB-E4CABDE64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四、关系代数运算在查询中的应用</a:t>
            </a:r>
          </a:p>
        </p:txBody>
      </p:sp>
      <p:sp>
        <p:nvSpPr>
          <p:cNvPr id="820229" name="Rectangle 5">
            <a:extLst>
              <a:ext uri="{FF2B5EF4-FFF2-40B4-BE49-F238E27FC236}">
                <a16:creationId xmlns:a16="http://schemas.microsoft.com/office/drawing/2014/main" id="{A7BB1231-C4B4-435B-9B79-E665A63AD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58875"/>
            <a:ext cx="8267700" cy="334962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、找出选修了课程号为</a:t>
            </a: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C401001 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或课程号为</a:t>
            </a: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C401002 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的学生的学号。</a:t>
            </a:r>
          </a:p>
          <a:p>
            <a:pPr>
              <a:lnSpc>
                <a:spcPct val="110000"/>
              </a:lnSpc>
            </a:pP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　　  </a:t>
            </a:r>
            <a:r>
              <a:rPr lang="zh-CN" altLang="en-US" sz="2600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</a:rPr>
              <a:t>解题思路：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SC 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表中判断元组是否满足条件为选修了课程号</a:t>
            </a: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C401001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600">
                <a:latin typeface="楷体_GB2312" pitchFamily="49" charset="-122"/>
                <a:cs typeface="Times New Roman" panose="02020603050405020304" pitchFamily="18" charset="0"/>
              </a:rPr>
              <a:t>C401002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，可以在选择条件中用</a:t>
            </a:r>
            <a:r>
              <a:rPr lang="zh-CN" altLang="en-US" sz="2600">
                <a:latin typeface="Arial" panose="020B0604020202020204" pitchFamily="34" charset="0"/>
                <a:cs typeface="Times New Roman" panose="02020603050405020304" pitchFamily="18" charset="0"/>
              </a:rPr>
              <a:t>“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∨</a:t>
            </a:r>
            <a:r>
              <a:rPr lang="zh-CN" altLang="en-US" sz="2600">
                <a:latin typeface="Arial" panose="020B0604020202020204" pitchFamily="34" charset="0"/>
                <a:cs typeface="Times New Roman" panose="02020603050405020304" pitchFamily="18" charset="0"/>
              </a:rPr>
              <a:t>”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连接</a:t>
            </a:r>
            <a:r>
              <a:rPr lang="zh-CN" altLang="en-US" sz="2600">
                <a:latin typeface="Arial" panose="020B0604020202020204" pitchFamily="34" charset="0"/>
                <a:cs typeface="Times New Roman" panose="02020603050405020304" pitchFamily="18" charset="0"/>
              </a:rPr>
              <a:t>“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或</a:t>
            </a:r>
            <a:r>
              <a:rPr lang="zh-CN" altLang="en-US" sz="2600">
                <a:latin typeface="Arial" panose="020B0604020202020204" pitchFamily="34" charset="0"/>
                <a:cs typeface="Times New Roman" panose="02020603050405020304" pitchFamily="18" charset="0"/>
              </a:rPr>
              <a:t>”</a:t>
            </a:r>
            <a:r>
              <a:rPr lang="zh-CN" altLang="en-US" sz="2600">
                <a:latin typeface="楷体_GB2312" pitchFamily="49" charset="-122"/>
                <a:cs typeface="Times New Roman" panose="02020603050405020304" pitchFamily="18" charset="0"/>
              </a:rPr>
              <a:t>的条件；也可以分别查询出满足条件的元组，再并运算。</a:t>
            </a:r>
            <a:r>
              <a:rPr lang="zh-CN" altLang="en-US" sz="2400">
                <a:latin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kumimoji="1" lang="zh-CN" altLang="en-US" sz="2400">
                <a:solidFill>
                  <a:srgbClr val="660033"/>
                </a:solidFill>
              </a:rPr>
              <a:t>学习关系模式：</a:t>
            </a:r>
            <a:r>
              <a:rPr kumimoji="1" lang="zh-CN" altLang="en-US" sz="2400">
                <a:solidFill>
                  <a:srgbClr val="008000"/>
                </a:solidFill>
              </a:rPr>
              <a:t> </a:t>
            </a:r>
            <a:r>
              <a:rPr kumimoji="1" lang="en-US" altLang="zh-CN" sz="2400">
                <a:solidFill>
                  <a:srgbClr val="003366"/>
                </a:solidFill>
              </a:rPr>
              <a:t>SC（S#，C#，GRADE）</a:t>
            </a:r>
            <a:endParaRPr kumimoji="1" lang="zh-CN" altLang="en-US" sz="2400">
              <a:solidFill>
                <a:srgbClr val="003366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advTm="13342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0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20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2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2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26" grpId="0"/>
      <p:bldP spid="82022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3|28|10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5|29|9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4.1|11.9|30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82.7|2.7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幼圆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10987</TotalTime>
  <Words>584</Words>
  <Application>Microsoft Office PowerPoint</Application>
  <PresentationFormat>全屏显示(4:3)</PresentationFormat>
  <Paragraphs>46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黑体</vt:lpstr>
      <vt:lpstr>楷体_GB2312</vt:lpstr>
      <vt:lpstr>Arial</vt:lpstr>
      <vt:lpstr>Monotype Sorts</vt:lpstr>
      <vt:lpstr>Tahoma</vt:lpstr>
      <vt:lpstr>Times New Roman</vt:lpstr>
      <vt:lpstr>Wingdings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727</cp:revision>
  <cp:lastPrinted>2000-08-23T09:10:16Z</cp:lastPrinted>
  <dcterms:created xsi:type="dcterms:W3CDTF">1601-01-01T00:00:00Z</dcterms:created>
  <dcterms:modified xsi:type="dcterms:W3CDTF">2021-03-07T11:19:36Z</dcterms:modified>
</cp:coreProperties>
</file>