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7"/>
  </p:notesMasterIdLst>
  <p:handoutMasterIdLst>
    <p:handoutMasterId r:id="rId8"/>
  </p:handoutMasterIdLst>
  <p:sldIdLst>
    <p:sldId id="723" r:id="rId2"/>
    <p:sldId id="724" r:id="rId3"/>
    <p:sldId id="725" r:id="rId4"/>
    <p:sldId id="726" r:id="rId5"/>
    <p:sldId id="763" r:id="rId6"/>
  </p:sldIdLst>
  <p:sldSz cx="9144000" cy="6858000" type="screen4x3"/>
  <p:notesSz cx="6662738" cy="98329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66FF"/>
    <a:srgbClr val="FF00FF"/>
    <a:srgbClr val="99FF33"/>
    <a:srgbClr val="66FFFF"/>
    <a:srgbClr val="66CCFF"/>
    <a:srgbClr val="660033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75" autoAdjust="0"/>
    <p:restoredTop sz="58333" autoAdjust="0"/>
  </p:normalViewPr>
  <p:slideViewPr>
    <p:cSldViewPr>
      <p:cViewPr varScale="1">
        <p:scale>
          <a:sx n="132" d="100"/>
          <a:sy n="132" d="100"/>
        </p:scale>
        <p:origin x="1000" y="68"/>
      </p:cViewPr>
      <p:guideLst>
        <p:guide orient="horz" pos="158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8A3F2B99-FFDE-48EE-9FDB-4A74829C9A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B8D5B6F9-A7FC-4D2F-A7FE-63FF3AF182D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0000" y="0"/>
            <a:ext cx="281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107524" name="Rectangle 4">
            <a:extLst>
              <a:ext uri="{FF2B5EF4-FFF2-40B4-BE49-F238E27FC236}">
                <a16:creationId xmlns:a16="http://schemas.microsoft.com/office/drawing/2014/main" id="{1099119D-2A78-41EF-AF4A-B63728A6508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107525" name="Rectangle 5">
            <a:extLst>
              <a:ext uri="{FF2B5EF4-FFF2-40B4-BE49-F238E27FC236}">
                <a16:creationId xmlns:a16="http://schemas.microsoft.com/office/drawing/2014/main" id="{7BB66964-D60D-4722-8111-7598CF6AA4F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0000" y="9372600"/>
            <a:ext cx="281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fld id="{F8E1EC45-3C6D-4A1A-9436-D7ACA776059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>
            <a:extLst>
              <a:ext uri="{FF2B5EF4-FFF2-40B4-BE49-F238E27FC236}">
                <a16:creationId xmlns:a16="http://schemas.microsoft.com/office/drawing/2014/main" id="{86CFBB35-1092-46FF-A21A-2E344A44B0E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7663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408579" name="Rectangle 3">
            <a:extLst>
              <a:ext uri="{FF2B5EF4-FFF2-40B4-BE49-F238E27FC236}">
                <a16:creationId xmlns:a16="http://schemas.microsoft.com/office/drawing/2014/main" id="{550733D1-DFBB-44EA-9D37-75C290B85FD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73488" y="0"/>
            <a:ext cx="2887662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408580" name="Rectangle 4">
            <a:extLst>
              <a:ext uri="{FF2B5EF4-FFF2-40B4-BE49-F238E27FC236}">
                <a16:creationId xmlns:a16="http://schemas.microsoft.com/office/drawing/2014/main" id="{B1CAFCB0-4F86-4847-A0BE-36D9CDE70E7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4713" y="738188"/>
            <a:ext cx="4914900" cy="36861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08581" name="Rectangle 5">
            <a:extLst>
              <a:ext uri="{FF2B5EF4-FFF2-40B4-BE49-F238E27FC236}">
                <a16:creationId xmlns:a16="http://schemas.microsoft.com/office/drawing/2014/main" id="{D2353369-4CBB-449B-A0F6-1B768A2D399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670425"/>
            <a:ext cx="5329238" cy="442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08582" name="Rectangle 6">
            <a:extLst>
              <a:ext uri="{FF2B5EF4-FFF2-40B4-BE49-F238E27FC236}">
                <a16:creationId xmlns:a16="http://schemas.microsoft.com/office/drawing/2014/main" id="{09BBD701-BC28-4890-83FE-27FF231D1C6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39263"/>
            <a:ext cx="2887663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408583" name="Rectangle 7">
            <a:extLst>
              <a:ext uri="{FF2B5EF4-FFF2-40B4-BE49-F238E27FC236}">
                <a16:creationId xmlns:a16="http://schemas.microsoft.com/office/drawing/2014/main" id="{4FC819DD-DDC8-4850-B20B-C98F3D6060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3488" y="9339263"/>
            <a:ext cx="2887662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fld id="{3CE302D7-3AF1-47DD-8BEF-36C52A68BA7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0354" name="Group 2">
            <a:extLst>
              <a:ext uri="{FF2B5EF4-FFF2-40B4-BE49-F238E27FC236}">
                <a16:creationId xmlns:a16="http://schemas.microsoft.com/office/drawing/2014/main" id="{C09323D3-3C43-4657-A418-6DB651E09973}"/>
              </a:ext>
            </a:extLst>
          </p:cNvPr>
          <p:cNvGrpSpPr>
            <a:grpSpLocks/>
          </p:cNvGrpSpPr>
          <p:nvPr/>
        </p:nvGrpSpPr>
        <p:grpSpPr bwMode="auto">
          <a:xfrm>
            <a:off x="0" y="1822450"/>
            <a:ext cx="9009063" cy="1052513"/>
            <a:chOff x="0" y="1536"/>
            <a:chExt cx="5675" cy="663"/>
          </a:xfrm>
        </p:grpSpPr>
        <p:grpSp>
          <p:nvGrpSpPr>
            <p:cNvPr id="740355" name="Group 3">
              <a:extLst>
                <a:ext uri="{FF2B5EF4-FFF2-40B4-BE49-F238E27FC236}">
                  <a16:creationId xmlns:a16="http://schemas.microsoft.com/office/drawing/2014/main" id="{E17FA483-C4E4-475F-BE6E-46224EFC56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740356" name="Rectangle 4">
                <a:extLst>
                  <a:ext uri="{FF2B5EF4-FFF2-40B4-BE49-F238E27FC236}">
                    <a16:creationId xmlns:a16="http://schemas.microsoft.com/office/drawing/2014/main" id="{DDA329D9-12FF-406F-BE57-F1D1A369CD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0357" name="Rectangle 5">
                <a:extLst>
                  <a:ext uri="{FF2B5EF4-FFF2-40B4-BE49-F238E27FC236}">
                    <a16:creationId xmlns:a16="http://schemas.microsoft.com/office/drawing/2014/main" id="{67A9DD85-F6C7-447B-AB0B-E0C6FA8D82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740358" name="Group 6">
              <a:extLst>
                <a:ext uri="{FF2B5EF4-FFF2-40B4-BE49-F238E27FC236}">
                  <a16:creationId xmlns:a16="http://schemas.microsoft.com/office/drawing/2014/main" id="{32638E86-3BC5-48F4-A3DC-C0668A5957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740359" name="Rectangle 7">
                <a:extLst>
                  <a:ext uri="{FF2B5EF4-FFF2-40B4-BE49-F238E27FC236}">
                    <a16:creationId xmlns:a16="http://schemas.microsoft.com/office/drawing/2014/main" id="{804D766E-BAAE-4FEA-BC19-792256A5C1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0360" name="Rectangle 8">
                <a:extLst>
                  <a:ext uri="{FF2B5EF4-FFF2-40B4-BE49-F238E27FC236}">
                    <a16:creationId xmlns:a16="http://schemas.microsoft.com/office/drawing/2014/main" id="{14C2E78D-4BA4-4ED4-A113-1DCEB8372E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40361" name="Rectangle 9">
              <a:extLst>
                <a:ext uri="{FF2B5EF4-FFF2-40B4-BE49-F238E27FC236}">
                  <a16:creationId xmlns:a16="http://schemas.microsoft.com/office/drawing/2014/main" id="{FA3BDF6C-28FF-46A5-9606-2E65D9282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0362" name="Rectangle 10">
              <a:extLst>
                <a:ext uri="{FF2B5EF4-FFF2-40B4-BE49-F238E27FC236}">
                  <a16:creationId xmlns:a16="http://schemas.microsoft.com/office/drawing/2014/main" id="{259D400F-B863-4AA8-A8B9-2AA7037DC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0363" name="Rectangle 11">
              <a:extLst>
                <a:ext uri="{FF2B5EF4-FFF2-40B4-BE49-F238E27FC236}">
                  <a16:creationId xmlns:a16="http://schemas.microsoft.com/office/drawing/2014/main" id="{A42EB16D-0D68-4793-A072-4A946D4977C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40364" name="Rectangle 12">
            <a:extLst>
              <a:ext uri="{FF2B5EF4-FFF2-40B4-BE49-F238E27FC236}">
                <a16:creationId xmlns:a16="http://schemas.microsoft.com/office/drawing/2014/main" id="{7580267B-8E8C-4B35-8A13-C037E840D49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827088" y="1676400"/>
            <a:ext cx="8137525" cy="1462088"/>
          </a:xfrm>
        </p:spPr>
        <p:txBody>
          <a:bodyPr/>
          <a:lstStyle>
            <a:lvl1pPr algn="ctr">
              <a:defRPr sz="4800"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740365" name="Rectangle 13">
            <a:extLst>
              <a:ext uri="{FF2B5EF4-FFF2-40B4-BE49-F238E27FC236}">
                <a16:creationId xmlns:a16="http://schemas.microsoft.com/office/drawing/2014/main" id="{90817CE3-1C14-49D4-BC0B-0ABD24679A2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740366" name="Rectangle 14">
            <a:extLst>
              <a:ext uri="{FF2B5EF4-FFF2-40B4-BE49-F238E27FC236}">
                <a16:creationId xmlns:a16="http://schemas.microsoft.com/office/drawing/2014/main" id="{30F479F1-713D-438D-BC33-E3543AFC084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740367" name="Rectangle 15">
            <a:extLst>
              <a:ext uri="{FF2B5EF4-FFF2-40B4-BE49-F238E27FC236}">
                <a16:creationId xmlns:a16="http://schemas.microsoft.com/office/drawing/2014/main" id="{BFC00540-D41A-456B-93D0-CD8848FCBDA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740368" name="Rectangle 16">
            <a:extLst>
              <a:ext uri="{FF2B5EF4-FFF2-40B4-BE49-F238E27FC236}">
                <a16:creationId xmlns:a16="http://schemas.microsoft.com/office/drawing/2014/main" id="{266810F4-3E04-4B71-8FFA-B23592D8CC7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9E3365E6-8AB0-4DA0-B483-635887155534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000"/>
                                        <p:tgtEl>
                                          <p:spTgt spid="740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0364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C87B0A-DC78-4826-82A4-C09B857A3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37268D-9E3B-4FC7-8B7A-4864E5A82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A3487A-BAEE-4F66-8E43-A9856CC87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633FA5-42F5-4E62-99AF-475D145D6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F7C407-35E9-4531-B8E5-4CF6D8094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95BD14-D7C3-4E4D-B381-59CB7456F27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8053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D2FCFC-DF41-4BBC-8CEA-B6E6749C5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3CCD26-1264-4766-B814-14FA6439D1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4C05F3-5B24-48BE-BCE4-D127B9C7C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61D224-17A4-4922-AF25-234711AED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7405E3-E3B1-4FED-B995-C9D084739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A7604F-CDA7-491A-BEF5-A28463253D2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6497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5D66FF-F580-4E68-84A0-21BF23BD4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28AA7F-F2D5-4F8A-91A7-3837FC991F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313" y="1158875"/>
            <a:ext cx="4057650" cy="53387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9A0BF43-C2AE-459C-8F2F-F501B82B1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78363" y="1158875"/>
            <a:ext cx="4057650" cy="53387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4568AA-FCDD-48F3-88BD-F0C7AE07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1CD014-6060-4348-BD4B-1C65916E7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559F7A-1010-4EE0-AAC5-88FA26019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9DFD99-F399-4B49-A9C2-9C33EF98AC5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3438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2A8FB-F55A-486F-B724-9FAB2365A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750134-82C4-4430-9A4A-19783660D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175980-D42B-4A91-8474-737BFC3410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E6DED92-E6B4-475C-A59A-E81D0B9FDF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71CD494-4CF5-4E1A-9673-442154AD5B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F7F8EC8-D8F5-4B65-84DA-E9995378C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2B6C33D-B48A-437F-9B7E-4AC14197C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37C4E45-CF0D-473E-B0C6-20F3C669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837175-48CF-40E1-B369-369D28A3401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4488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57B7FC-9F0F-4349-B43E-0FBB19EFC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74B6EE0-7E81-42B2-870F-3457367E6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7AC47E-5B22-4CC0-AE0B-25AD0DE7E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D15A665-72A1-49EF-9DD0-C78A49744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3C3EF4-7EFD-45F8-9771-BA74CD501E6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149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9526F62-FB28-405D-B8CD-77734CC95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C48439C-E28D-4623-92D2-7BF613725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18CE25-33E4-4B36-A682-32F6E2DD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4EE62A-2706-4F03-8D85-BA7B2C360E0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7095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A450AF-2FBB-4AD9-A2B2-4CC459E0A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800072-5781-4571-A2FF-EF5347BDB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9E11A3A-C92D-4576-B7EF-74DEC1F2DE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E8596D-3866-4132-B9B7-864331474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CB8D9D-9A8E-4E1F-BD5B-623E3525C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9997B1-24B0-479B-BCBF-DCEDD4EFB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D8DE56-A5BF-4A4B-8A8C-D67E27FFFD0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055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0AD1A7-EA3A-4137-B9DC-B5A477ABF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CC95506-86FD-440C-8F3E-AE0A018AB7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01CFAF9-C4F2-49FA-9DB2-DCA97FC51F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FA22CF-DCF9-4774-AFAA-623B642AC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3784AD-DB5C-4CF3-A148-A935CA44F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3EBFD6-17A3-4500-AAEA-2E36F70DF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B525AE-8A39-48CE-BEF2-699BCC97AC3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8965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7D01A7-FF52-4F76-9765-4123135F1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98C0C3-5D9F-4E8B-AE86-0B66452923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BBC1BB-3A56-47B8-920C-33881D6B9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10CDBA-A329-4274-A3B4-1DE38387B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9E72F9-9286-4EC5-A74B-F7CFBF490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25C5C0-F108-4ED5-8032-BFBCAC47980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1938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2F7C647-0B4B-456F-B2FA-07994956B5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26250" y="214313"/>
            <a:ext cx="2117725" cy="62833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6ACBBFF-3632-4FD2-B147-C97AE6D9B7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68313" y="214313"/>
            <a:ext cx="6205537" cy="62833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09604F-0D16-459A-8332-A43602890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C3CDAB-5316-455C-9733-BB97AE576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18996A-651C-4D4C-8BF0-F726676A7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CBFFB4-7685-46CB-9E31-6A55E664A7C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843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330" name="Rectangle 2">
            <a:extLst>
              <a:ext uri="{FF2B5EF4-FFF2-40B4-BE49-F238E27FC236}">
                <a16:creationId xmlns:a16="http://schemas.microsoft.com/office/drawing/2014/main" id="{0EFC91BC-C92F-4B70-BA22-65E9444401D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252413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739331" name="Rectangle 3">
            <a:extLst>
              <a:ext uri="{FF2B5EF4-FFF2-40B4-BE49-F238E27FC236}">
                <a16:creationId xmlns:a16="http://schemas.microsoft.com/office/drawing/2014/main" id="{63EAB6B4-F82C-464C-9329-90D88CD7BEB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252413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739332" name="Rectangle 4">
            <a:extLst>
              <a:ext uri="{FF2B5EF4-FFF2-40B4-BE49-F238E27FC236}">
                <a16:creationId xmlns:a16="http://schemas.microsoft.com/office/drawing/2014/main" id="{6BE9F582-D743-4A4A-B865-C9E6EC75D20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674688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739333" name="Rectangle 5">
            <a:extLst>
              <a:ext uri="{FF2B5EF4-FFF2-40B4-BE49-F238E27FC236}">
                <a16:creationId xmlns:a16="http://schemas.microsoft.com/office/drawing/2014/main" id="{12CE0FAC-E234-4490-983C-FEC9D5F66ED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674688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739334" name="Rectangle 6">
            <a:extLst>
              <a:ext uri="{FF2B5EF4-FFF2-40B4-BE49-F238E27FC236}">
                <a16:creationId xmlns:a16="http://schemas.microsoft.com/office/drawing/2014/main" id="{4258E330-B1B0-43D6-B20D-6AB9DFB25D0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6016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739335" name="Rectangle 7">
            <a:extLst>
              <a:ext uri="{FF2B5EF4-FFF2-40B4-BE49-F238E27FC236}">
                <a16:creationId xmlns:a16="http://schemas.microsoft.com/office/drawing/2014/main" id="{BA36D06A-B55B-402A-9DB3-7153BF433361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144463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739336" name="Rectangle 8">
            <a:extLst>
              <a:ext uri="{FF2B5EF4-FFF2-40B4-BE49-F238E27FC236}">
                <a16:creationId xmlns:a16="http://schemas.microsoft.com/office/drawing/2014/main" id="{38D09C0F-F5B9-472D-82B7-09C532F2F0A5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935038"/>
            <a:ext cx="8277225" cy="14287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739337" name="Rectangle 9">
            <a:extLst>
              <a:ext uri="{FF2B5EF4-FFF2-40B4-BE49-F238E27FC236}">
                <a16:creationId xmlns:a16="http://schemas.microsoft.com/office/drawing/2014/main" id="{5BD10C8B-46C4-4BAA-9220-62077FD27E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739338" name="Rectangle 10">
            <a:extLst>
              <a:ext uri="{FF2B5EF4-FFF2-40B4-BE49-F238E27FC236}">
                <a16:creationId xmlns:a16="http://schemas.microsoft.com/office/drawing/2014/main" id="{BEE0BBFC-5846-4B5C-BAB0-0467A9E13A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158875"/>
            <a:ext cx="8267700" cy="533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39339" name="Rectangle 11">
            <a:extLst>
              <a:ext uri="{FF2B5EF4-FFF2-40B4-BE49-F238E27FC236}">
                <a16:creationId xmlns:a16="http://schemas.microsoft.com/office/drawing/2014/main" id="{BE962DF2-9AED-47C8-8020-53D694CA700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739340" name="Rectangle 12">
            <a:extLst>
              <a:ext uri="{FF2B5EF4-FFF2-40B4-BE49-F238E27FC236}">
                <a16:creationId xmlns:a16="http://schemas.microsoft.com/office/drawing/2014/main" id="{6A771D50-33B0-4EDC-985F-AA6292C7114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739341" name="Rectangle 13">
            <a:extLst>
              <a:ext uri="{FF2B5EF4-FFF2-40B4-BE49-F238E27FC236}">
                <a16:creationId xmlns:a16="http://schemas.microsoft.com/office/drawing/2014/main" id="{BADA23DB-F862-41BA-B5CA-DBDA436C9FA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fld id="{949270A4-86DE-44EE-B994-1E0DA961763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9pPr>
    </p:titleStyle>
    <p:bodyStyle>
      <a:lvl1pPr marL="342900" indent="-3429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defRPr sz="28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250" name="Rectangle 2">
            <a:extLst>
              <a:ext uri="{FF2B5EF4-FFF2-40B4-BE49-F238E27FC236}">
                <a16:creationId xmlns:a16="http://schemas.microsoft.com/office/drawing/2014/main" id="{77829B22-A57C-493E-AE51-9E7DA6760C46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546225" y="4652963"/>
            <a:ext cx="6986588" cy="841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2600">
                <a:cs typeface="Times New Roman" panose="02020603050405020304" pitchFamily="18" charset="0"/>
              </a:rPr>
              <a:t>π</a:t>
            </a:r>
            <a:r>
              <a:rPr lang="en-US" altLang="zh-CN" sz="2600" baseline="-25000">
                <a:cs typeface="Times New Roman" panose="02020603050405020304" pitchFamily="18" charset="0"/>
              </a:rPr>
              <a:t>1</a:t>
            </a:r>
            <a:r>
              <a:rPr lang="en-US" altLang="zh-CN" sz="2600">
                <a:cs typeface="Tahoma" panose="020B0604030504040204" pitchFamily="34" charset="0"/>
              </a:rPr>
              <a:t>(</a:t>
            </a:r>
            <a:r>
              <a:rPr lang="el-GR" altLang="zh-CN" sz="2600">
                <a:cs typeface="Tahoma" panose="020B0604030504040204" pitchFamily="34" charset="0"/>
              </a:rPr>
              <a:t>σ</a:t>
            </a:r>
            <a:r>
              <a:rPr lang="en-US" altLang="zh-CN" sz="2600" baseline="-25000">
                <a:cs typeface="Times New Roman" panose="02020603050405020304" pitchFamily="18" charset="0"/>
              </a:rPr>
              <a:t>2= </a:t>
            </a:r>
            <a:r>
              <a:rPr lang="en-US" altLang="zh-CN" sz="2600" baseline="-25000">
                <a:cs typeface="Tahoma" panose="020B0604030504040204" pitchFamily="34" charset="0"/>
              </a:rPr>
              <a:t>’</a:t>
            </a:r>
            <a:r>
              <a:rPr lang="en-US" altLang="zh-CN" sz="2600" baseline="-25000">
                <a:cs typeface="Times New Roman" panose="02020603050405020304" pitchFamily="18" charset="0"/>
              </a:rPr>
              <a:t>C401001</a:t>
            </a:r>
            <a:r>
              <a:rPr lang="en-US" altLang="zh-CN" sz="2600" baseline="-25000">
                <a:cs typeface="Tahoma" panose="020B0604030504040204" pitchFamily="34" charset="0"/>
              </a:rPr>
              <a:t>’</a:t>
            </a:r>
            <a:r>
              <a:rPr lang="en-US" altLang="zh-CN" sz="2600" baseline="-25000">
                <a:cs typeface="Times New Roman" panose="02020603050405020304" pitchFamily="18" charset="0"/>
              </a:rPr>
              <a:t>∧5= </a:t>
            </a:r>
            <a:r>
              <a:rPr lang="en-US" altLang="zh-CN" sz="2600" baseline="-25000">
                <a:cs typeface="Tahoma" panose="020B0604030504040204" pitchFamily="34" charset="0"/>
              </a:rPr>
              <a:t>’</a:t>
            </a:r>
            <a:r>
              <a:rPr lang="en-US" altLang="zh-CN" sz="2600" baseline="-25000">
                <a:cs typeface="Times New Roman" panose="02020603050405020304" pitchFamily="18" charset="0"/>
              </a:rPr>
              <a:t>C401002</a:t>
            </a:r>
            <a:r>
              <a:rPr lang="en-US" altLang="zh-CN" sz="2600" baseline="-25000">
                <a:cs typeface="Tahoma" panose="020B0604030504040204" pitchFamily="34" charset="0"/>
              </a:rPr>
              <a:t>’ </a:t>
            </a:r>
            <a:r>
              <a:rPr lang="en-US" altLang="zh-CN" sz="2600">
                <a:cs typeface="Times New Roman" panose="02020603050405020304" pitchFamily="18" charset="0"/>
              </a:rPr>
              <a:t>(SC       SC) )</a:t>
            </a:r>
          </a:p>
        </p:txBody>
      </p:sp>
      <p:sp>
        <p:nvSpPr>
          <p:cNvPr id="821251" name="Rectangle 3">
            <a:extLst>
              <a:ext uri="{FF2B5EF4-FFF2-40B4-BE49-F238E27FC236}">
                <a16:creationId xmlns:a16="http://schemas.microsoft.com/office/drawing/2014/main" id="{BEBE5B3D-98BF-4F34-82C4-1873B40008A0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611188" y="5445125"/>
            <a:ext cx="8351837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r>
              <a:rPr lang="zh-CN" altLang="en-US" sz="2500">
                <a:latin typeface="楷体_GB2312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5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>
                <a:cs typeface="Times New Roman" panose="02020603050405020304" pitchFamily="18" charset="0"/>
              </a:rPr>
              <a:t>π</a:t>
            </a:r>
            <a:r>
              <a:rPr lang="en-US" altLang="zh-CN" sz="2500" baseline="-25000">
                <a:cs typeface="Times New Roman" panose="02020603050405020304" pitchFamily="18" charset="0"/>
              </a:rPr>
              <a:t>S#</a:t>
            </a:r>
            <a:r>
              <a:rPr lang="en-US" altLang="zh-CN" sz="2500">
                <a:cs typeface="Tahoma" panose="020B0604030504040204" pitchFamily="34" charset="0"/>
              </a:rPr>
              <a:t>(</a:t>
            </a:r>
            <a:r>
              <a:rPr lang="el-GR" altLang="zh-CN" sz="2500">
                <a:cs typeface="Tahoma" panose="020B0604030504040204" pitchFamily="34" charset="0"/>
              </a:rPr>
              <a:t>σ</a:t>
            </a:r>
            <a:r>
              <a:rPr lang="en-US" altLang="zh-CN" sz="2500" baseline="-25000">
                <a:cs typeface="Times New Roman" panose="02020603050405020304" pitchFamily="18" charset="0"/>
              </a:rPr>
              <a:t>C#= </a:t>
            </a:r>
            <a:r>
              <a:rPr lang="en-US" altLang="zh-CN" sz="2600" baseline="-25000">
                <a:cs typeface="Tahoma" panose="020B0604030504040204" pitchFamily="34" charset="0"/>
              </a:rPr>
              <a:t>’</a:t>
            </a:r>
            <a:r>
              <a:rPr lang="en-US" altLang="zh-CN" sz="2500" baseline="-25000">
                <a:cs typeface="Times New Roman" panose="02020603050405020304" pitchFamily="18" charset="0"/>
              </a:rPr>
              <a:t>C401001</a:t>
            </a:r>
            <a:r>
              <a:rPr lang="en-US" altLang="zh-CN" sz="2600" baseline="-25000">
                <a:cs typeface="Tahoma" panose="020B0604030504040204" pitchFamily="34" charset="0"/>
              </a:rPr>
              <a:t>’</a:t>
            </a:r>
            <a:r>
              <a:rPr lang="en-US" altLang="zh-CN" sz="2500" baseline="-25000">
                <a:cs typeface="Times New Roman" panose="02020603050405020304" pitchFamily="18" charset="0"/>
              </a:rPr>
              <a:t> </a:t>
            </a:r>
            <a:r>
              <a:rPr lang="en-US" altLang="zh-CN" sz="2500">
                <a:cs typeface="Times New Roman" panose="02020603050405020304" pitchFamily="18" charset="0"/>
              </a:rPr>
              <a:t>(SC) )</a:t>
            </a:r>
            <a:r>
              <a:rPr lang="en-US" altLang="zh-CN" sz="2500">
                <a:latin typeface="楷体_GB2312" pitchFamily="49" charset="-122"/>
                <a:cs typeface="Times New Roman" panose="02020603050405020304" pitchFamily="18" charset="0"/>
              </a:rPr>
              <a:t>∩</a:t>
            </a:r>
            <a:r>
              <a:rPr lang="en-US" altLang="zh-CN" sz="2500">
                <a:cs typeface="Times New Roman" panose="02020603050405020304" pitchFamily="18" charset="0"/>
              </a:rPr>
              <a:t>π</a:t>
            </a:r>
            <a:r>
              <a:rPr lang="en-US" altLang="zh-CN" sz="2500" baseline="-25000">
                <a:cs typeface="Times New Roman" panose="02020603050405020304" pitchFamily="18" charset="0"/>
              </a:rPr>
              <a:t>S#</a:t>
            </a:r>
            <a:r>
              <a:rPr lang="en-US" altLang="zh-CN" sz="2500">
                <a:cs typeface="Tahoma" panose="020B0604030504040204" pitchFamily="34" charset="0"/>
              </a:rPr>
              <a:t>(</a:t>
            </a:r>
            <a:r>
              <a:rPr lang="el-GR" altLang="zh-CN" sz="2500">
                <a:cs typeface="Tahoma" panose="020B0604030504040204" pitchFamily="34" charset="0"/>
              </a:rPr>
              <a:t>σ</a:t>
            </a:r>
            <a:r>
              <a:rPr lang="en-US" altLang="zh-CN" sz="2500" baseline="-25000">
                <a:cs typeface="Times New Roman" panose="02020603050405020304" pitchFamily="18" charset="0"/>
              </a:rPr>
              <a:t>C#= </a:t>
            </a:r>
            <a:r>
              <a:rPr lang="en-US" altLang="zh-CN" sz="2600" baseline="-25000">
                <a:cs typeface="Tahoma" panose="020B0604030504040204" pitchFamily="34" charset="0"/>
              </a:rPr>
              <a:t>’</a:t>
            </a:r>
            <a:r>
              <a:rPr lang="en-US" altLang="zh-CN" sz="2500" baseline="-25000">
                <a:cs typeface="Times New Roman" panose="02020603050405020304" pitchFamily="18" charset="0"/>
              </a:rPr>
              <a:t>C401002</a:t>
            </a:r>
            <a:r>
              <a:rPr lang="en-US" altLang="zh-CN" sz="2600" baseline="-25000">
                <a:cs typeface="Tahoma" panose="020B0604030504040204" pitchFamily="34" charset="0"/>
              </a:rPr>
              <a:t>’ </a:t>
            </a:r>
            <a:r>
              <a:rPr lang="en-US" altLang="zh-CN" sz="2500">
                <a:cs typeface="Times New Roman" panose="02020603050405020304" pitchFamily="18" charset="0"/>
              </a:rPr>
              <a:t>(SC) )</a:t>
            </a:r>
          </a:p>
        </p:txBody>
      </p:sp>
      <p:sp>
        <p:nvSpPr>
          <p:cNvPr id="821252" name="Rectangle 4">
            <a:extLst>
              <a:ext uri="{FF2B5EF4-FFF2-40B4-BE49-F238E27FC236}">
                <a16:creationId xmlns:a16="http://schemas.microsoft.com/office/drawing/2014/main" id="{9D2C12E8-8158-4CA8-905B-12F393CB2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r>
              <a:rPr lang="zh-CN" altLang="en-US"/>
              <a:t>四、关系代数运算在查询中的应用</a:t>
            </a:r>
          </a:p>
        </p:txBody>
      </p:sp>
      <p:sp>
        <p:nvSpPr>
          <p:cNvPr id="821253" name="Rectangle 5">
            <a:extLst>
              <a:ext uri="{FF2B5EF4-FFF2-40B4-BE49-F238E27FC236}">
                <a16:creationId xmlns:a16="http://schemas.microsoft.com/office/drawing/2014/main" id="{18766BA1-1CD5-42D6-A43C-27BF000721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158875"/>
            <a:ext cx="8267700" cy="363855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 sz="2600">
                <a:latin typeface="楷体_GB2312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2600">
                <a:latin typeface="楷体_GB2312" pitchFamily="49" charset="-122"/>
                <a:cs typeface="Times New Roman" panose="02020603050405020304" pitchFamily="18" charset="0"/>
              </a:rPr>
              <a:t>、找出选修了课程号为</a:t>
            </a:r>
            <a:r>
              <a:rPr lang="en-US" altLang="zh-CN" sz="2600">
                <a:latin typeface="楷体_GB2312" pitchFamily="49" charset="-122"/>
                <a:cs typeface="Times New Roman" panose="02020603050405020304" pitchFamily="18" charset="0"/>
              </a:rPr>
              <a:t>C401001 </a:t>
            </a:r>
            <a:r>
              <a:rPr lang="zh-CN" altLang="en-US" sz="2600">
                <a:solidFill>
                  <a:schemeClr val="hlink"/>
                </a:solidFill>
                <a:latin typeface="楷体_GB2312" pitchFamily="49" charset="-122"/>
                <a:cs typeface="Times New Roman" panose="02020603050405020304" pitchFamily="18" charset="0"/>
              </a:rPr>
              <a:t>和</a:t>
            </a:r>
            <a:r>
              <a:rPr lang="zh-CN" altLang="en-US" sz="2600">
                <a:latin typeface="楷体_GB2312" pitchFamily="49" charset="-122"/>
                <a:cs typeface="Times New Roman" panose="02020603050405020304" pitchFamily="18" charset="0"/>
              </a:rPr>
              <a:t>课程号为</a:t>
            </a:r>
            <a:r>
              <a:rPr lang="en-US" altLang="zh-CN" sz="2600">
                <a:latin typeface="楷体_GB2312" pitchFamily="49" charset="-122"/>
                <a:cs typeface="Times New Roman" panose="02020603050405020304" pitchFamily="18" charset="0"/>
              </a:rPr>
              <a:t>C401002 </a:t>
            </a:r>
            <a:r>
              <a:rPr lang="zh-CN" altLang="en-US" sz="2600">
                <a:latin typeface="楷体_GB2312" pitchFamily="49" charset="-122"/>
                <a:cs typeface="Times New Roman" panose="02020603050405020304" pitchFamily="18" charset="0"/>
              </a:rPr>
              <a:t>的学生的学号。</a:t>
            </a: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楷体_GB2312" pitchFamily="49" charset="-122"/>
                <a:cs typeface="Times New Roman" panose="02020603050405020304" pitchFamily="18" charset="0"/>
              </a:rPr>
              <a:t>　　  </a:t>
            </a:r>
            <a:r>
              <a:rPr lang="zh-CN" altLang="en-US" sz="2400">
                <a:solidFill>
                  <a:srgbClr val="008000"/>
                </a:solidFill>
                <a:latin typeface="楷体_GB2312" pitchFamily="49" charset="-122"/>
                <a:cs typeface="Times New Roman" panose="02020603050405020304" pitchFamily="18" charset="0"/>
              </a:rPr>
              <a:t>解题思路：</a:t>
            </a:r>
            <a:r>
              <a:rPr lang="zh-CN" altLang="en-US" sz="2400">
                <a:latin typeface="楷体_GB2312" pitchFamily="49" charset="-122"/>
                <a:cs typeface="Times New Roman" panose="02020603050405020304" pitchFamily="18" charset="0"/>
              </a:rPr>
              <a:t>由于查询是按元组一行一行地检索，因此在</a:t>
            </a:r>
            <a:r>
              <a:rPr lang="en-US" altLang="zh-CN" sz="2400">
                <a:latin typeface="楷体_GB2312" pitchFamily="49" charset="-122"/>
                <a:cs typeface="Times New Roman" panose="02020603050405020304" pitchFamily="18" charset="0"/>
              </a:rPr>
              <a:t>SC</a:t>
            </a:r>
            <a:r>
              <a:rPr lang="zh-CN" altLang="en-US" sz="2400">
                <a:latin typeface="楷体_GB2312" pitchFamily="49" charset="-122"/>
                <a:cs typeface="Times New Roman" panose="02020603050405020304" pitchFamily="18" charset="0"/>
              </a:rPr>
              <a:t>表中一个元组只能满足一个课程号的条件。因此，可利用连接运算创造出对于某一个学生来说，一个元组中有两个课程号能分别满足不同的课程号要求；另一种办法为分别求出满足条件的元组，再交运算。</a:t>
            </a: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楷体_GB2312" pitchFamily="49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400">
                <a:solidFill>
                  <a:srgbClr val="003366"/>
                </a:solidFill>
              </a:rPr>
              <a:t>SC（S#，C#，GRADE）</a:t>
            </a:r>
            <a:endParaRPr kumimoji="1" lang="zh-CN" altLang="en-US" sz="2400">
              <a:solidFill>
                <a:srgbClr val="003366"/>
              </a:solidFill>
            </a:endParaRPr>
          </a:p>
        </p:txBody>
      </p:sp>
      <p:sp>
        <p:nvSpPr>
          <p:cNvPr id="821255" name="Rectangle 7">
            <a:extLst>
              <a:ext uri="{FF2B5EF4-FFF2-40B4-BE49-F238E27FC236}">
                <a16:creationId xmlns:a16="http://schemas.microsoft.com/office/drawing/2014/main" id="{0E68985A-85D4-4B01-B51C-C417E33A87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956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821254" name="Object 6">
            <a:extLst>
              <a:ext uri="{FF2B5EF4-FFF2-40B4-BE49-F238E27FC236}">
                <a16:creationId xmlns:a16="http://schemas.microsoft.com/office/drawing/2014/main" id="{51284122-A893-4E29-B231-BEC61AB6D0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4302647"/>
              </p:ext>
            </p:extLst>
          </p:nvPr>
        </p:nvGraphicFramePr>
        <p:xfrm>
          <a:off x="6228184" y="4675981"/>
          <a:ext cx="6842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28501" imgH="266584" progId="Equation.3">
                  <p:embed/>
                </p:oleObj>
              </mc:Choice>
              <mc:Fallback>
                <p:oleObj name="公式" r:id="rId3" imgW="228501" imgH="26658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8184" y="4675981"/>
                        <a:ext cx="684213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ransition advTm="26353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12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212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2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21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500"/>
                                        <p:tgtEl>
                                          <p:spTgt spid="821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1250" grpId="0"/>
      <p:bldP spid="82125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276" name="Rectangle 4">
            <a:extLst>
              <a:ext uri="{FF2B5EF4-FFF2-40B4-BE49-F238E27FC236}">
                <a16:creationId xmlns:a16="http://schemas.microsoft.com/office/drawing/2014/main" id="{68F03FCF-3494-4280-A64B-3963392D9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r>
              <a:rPr lang="zh-CN" altLang="en-US"/>
              <a:t>四、关系代数运算在查询中的应用</a:t>
            </a:r>
          </a:p>
        </p:txBody>
      </p:sp>
      <p:sp>
        <p:nvSpPr>
          <p:cNvPr id="822277" name="Rectangle 5">
            <a:extLst>
              <a:ext uri="{FF2B5EF4-FFF2-40B4-BE49-F238E27FC236}">
                <a16:creationId xmlns:a16="http://schemas.microsoft.com/office/drawing/2014/main" id="{6E9879DA-B377-481E-92B2-54FC424818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600">
                <a:latin typeface="楷体_GB2312" pitchFamily="49" charset="-122"/>
                <a:cs typeface="Times New Roman" panose="02020603050405020304" pitchFamily="18" charset="0"/>
              </a:rPr>
              <a:t>6</a:t>
            </a:r>
            <a:r>
              <a:rPr lang="zh-CN" altLang="en-US" sz="2600">
                <a:latin typeface="楷体_GB2312" pitchFamily="49" charset="-122"/>
                <a:cs typeface="Times New Roman" panose="02020603050405020304" pitchFamily="18" charset="0"/>
              </a:rPr>
              <a:t>、找出选修了课程号为</a:t>
            </a:r>
            <a:r>
              <a:rPr lang="en-US" altLang="zh-CN" sz="2600">
                <a:latin typeface="楷体_GB2312" pitchFamily="49" charset="-122"/>
                <a:cs typeface="Times New Roman" panose="02020603050405020304" pitchFamily="18" charset="0"/>
              </a:rPr>
              <a:t>C402002 </a:t>
            </a:r>
            <a:r>
              <a:rPr lang="zh-CN" altLang="en-US" sz="2600">
                <a:latin typeface="楷体_GB2312" pitchFamily="49" charset="-122"/>
                <a:cs typeface="Times New Roman" panose="02020603050405020304" pitchFamily="18" charset="0"/>
              </a:rPr>
              <a:t>的学生的学号、姓名的考试成绩。</a:t>
            </a:r>
          </a:p>
          <a:p>
            <a:pPr>
              <a:lnSpc>
                <a:spcPct val="130000"/>
              </a:lnSpc>
            </a:pPr>
            <a:r>
              <a:rPr lang="zh-CN" altLang="en-US" sz="2600">
                <a:latin typeface="楷体_GB2312" pitchFamily="49" charset="-122"/>
                <a:cs typeface="Times New Roman" panose="02020603050405020304" pitchFamily="18" charset="0"/>
              </a:rPr>
              <a:t>　　  </a:t>
            </a:r>
            <a:r>
              <a:rPr lang="zh-CN" altLang="en-US" sz="2600">
                <a:solidFill>
                  <a:srgbClr val="008000"/>
                </a:solidFill>
                <a:latin typeface="楷体_GB2312" pitchFamily="49" charset="-122"/>
                <a:cs typeface="Times New Roman" panose="02020603050405020304" pitchFamily="18" charset="0"/>
              </a:rPr>
              <a:t>解题思路：</a:t>
            </a:r>
            <a:r>
              <a:rPr lang="zh-CN" altLang="en-US" sz="2600">
                <a:latin typeface="楷体_GB2312" pitchFamily="49" charset="-122"/>
                <a:cs typeface="Times New Roman" panose="02020603050405020304" pitchFamily="18" charset="0"/>
              </a:rPr>
              <a:t>首先确定涉及到的表，学号和姓名在</a:t>
            </a:r>
            <a:r>
              <a:rPr lang="en-US" altLang="zh-CN" sz="2600">
                <a:latin typeface="楷体_GB2312" pitchFamily="49" charset="-122"/>
                <a:cs typeface="Times New Roman" panose="02020603050405020304" pitchFamily="18" charset="0"/>
              </a:rPr>
              <a:t>S </a:t>
            </a:r>
            <a:r>
              <a:rPr lang="zh-CN" altLang="en-US" sz="2600">
                <a:latin typeface="楷体_GB2312" pitchFamily="49" charset="-122"/>
                <a:cs typeface="Times New Roman" panose="02020603050405020304" pitchFamily="18" charset="0"/>
              </a:rPr>
              <a:t>表中，成绩在</a:t>
            </a:r>
            <a:r>
              <a:rPr lang="en-US" altLang="zh-CN" sz="2600">
                <a:latin typeface="楷体_GB2312" pitchFamily="49" charset="-122"/>
                <a:cs typeface="Times New Roman" panose="02020603050405020304" pitchFamily="18" charset="0"/>
              </a:rPr>
              <a:t>SC </a:t>
            </a:r>
            <a:r>
              <a:rPr lang="zh-CN" altLang="en-US" sz="2600">
                <a:latin typeface="楷体_GB2312" pitchFamily="49" charset="-122"/>
                <a:cs typeface="Times New Roman" panose="02020603050405020304" pitchFamily="18" charset="0"/>
              </a:rPr>
              <a:t>表中，而</a:t>
            </a:r>
            <a:r>
              <a:rPr lang="en-US" altLang="zh-CN" sz="2600">
                <a:latin typeface="楷体_GB2312" pitchFamily="49" charset="-122"/>
                <a:cs typeface="Times New Roman" panose="02020603050405020304" pitchFamily="18" charset="0"/>
              </a:rPr>
              <a:t>S </a:t>
            </a:r>
            <a:r>
              <a:rPr lang="zh-CN" altLang="en-US" sz="2600">
                <a:latin typeface="楷体_GB2312" pitchFamily="49" charset="-122"/>
                <a:cs typeface="Times New Roman" panose="02020603050405020304" pitchFamily="18" charset="0"/>
              </a:rPr>
              <a:t>表和</a:t>
            </a:r>
            <a:r>
              <a:rPr lang="en-US" altLang="zh-CN" sz="2600">
                <a:latin typeface="楷体_GB2312" pitchFamily="49" charset="-122"/>
                <a:cs typeface="Times New Roman" panose="02020603050405020304" pitchFamily="18" charset="0"/>
              </a:rPr>
              <a:t>SC </a:t>
            </a:r>
            <a:r>
              <a:rPr lang="zh-CN" altLang="en-US" sz="2600">
                <a:latin typeface="楷体_GB2312" pitchFamily="49" charset="-122"/>
                <a:cs typeface="Times New Roman" panose="02020603050405020304" pitchFamily="18" charset="0"/>
              </a:rPr>
              <a:t>表具有相同属性</a:t>
            </a:r>
            <a:r>
              <a:rPr lang="en-US" altLang="zh-CN" sz="2600">
                <a:latin typeface="楷体_GB2312" pitchFamily="49" charset="-122"/>
                <a:cs typeface="Times New Roman" panose="02020603050405020304" pitchFamily="18" charset="0"/>
              </a:rPr>
              <a:t>S#</a:t>
            </a:r>
            <a:r>
              <a:rPr lang="zh-CN" altLang="en-US" sz="2600">
                <a:latin typeface="楷体_GB2312" pitchFamily="49" charset="-122"/>
                <a:cs typeface="Times New Roman" panose="02020603050405020304" pitchFamily="18" charset="0"/>
              </a:rPr>
              <a:t>，因此需将两个表作自然联接操作；查询条件为选修了课程号</a:t>
            </a:r>
            <a:r>
              <a:rPr lang="en-US" altLang="zh-CN" sz="2600">
                <a:latin typeface="楷体_GB2312" pitchFamily="49" charset="-122"/>
                <a:cs typeface="Times New Roman" panose="02020603050405020304" pitchFamily="18" charset="0"/>
              </a:rPr>
              <a:t>C402002</a:t>
            </a:r>
            <a:r>
              <a:rPr lang="zh-CN" altLang="en-US" sz="2600">
                <a:latin typeface="楷体_GB2312" pitchFamily="49" charset="-122"/>
                <a:cs typeface="Times New Roman" panose="02020603050405020304" pitchFamily="18" charset="0"/>
              </a:rPr>
              <a:t>，作选择操作；最后，投影出查询结果的列。</a:t>
            </a:r>
          </a:p>
        </p:txBody>
      </p:sp>
      <p:sp>
        <p:nvSpPr>
          <p:cNvPr id="822278" name="Rectangle 6">
            <a:extLst>
              <a:ext uri="{FF2B5EF4-FFF2-40B4-BE49-F238E27FC236}">
                <a16:creationId xmlns:a16="http://schemas.microsoft.com/office/drawing/2014/main" id="{4755B776-4344-4D3F-9D26-88F90CBB2DB0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042988" y="4892675"/>
            <a:ext cx="6842125" cy="841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2600">
                <a:cs typeface="Times New Roman" panose="02020603050405020304" pitchFamily="18" charset="0"/>
              </a:rPr>
              <a:t>π</a:t>
            </a:r>
            <a:r>
              <a:rPr lang="en-US" altLang="zh-CN" sz="2600" baseline="-25000">
                <a:cs typeface="Times New Roman" panose="02020603050405020304" pitchFamily="18" charset="0"/>
              </a:rPr>
              <a:t>S#,SNAME,GRADE</a:t>
            </a:r>
            <a:r>
              <a:rPr lang="en-US" altLang="zh-CN" sz="2600">
                <a:cs typeface="Tahoma" panose="020B0604030504040204" pitchFamily="34" charset="0"/>
              </a:rPr>
              <a:t>(</a:t>
            </a:r>
            <a:r>
              <a:rPr lang="el-GR" altLang="zh-CN" sz="2600">
                <a:cs typeface="Tahoma" panose="020B0604030504040204" pitchFamily="34" charset="0"/>
              </a:rPr>
              <a:t>σ</a:t>
            </a:r>
            <a:r>
              <a:rPr lang="en-US" altLang="zh-CN" sz="2600" baseline="-25000">
                <a:cs typeface="Times New Roman" panose="02020603050405020304" pitchFamily="18" charset="0"/>
              </a:rPr>
              <a:t>C#= </a:t>
            </a:r>
            <a:r>
              <a:rPr lang="en-US" altLang="zh-CN" sz="2600" baseline="-25000">
                <a:cs typeface="Tahoma" panose="020B0604030504040204" pitchFamily="34" charset="0"/>
              </a:rPr>
              <a:t>’</a:t>
            </a:r>
            <a:r>
              <a:rPr lang="en-US" altLang="zh-CN" sz="2600" baseline="-25000">
                <a:cs typeface="Times New Roman" panose="02020603050405020304" pitchFamily="18" charset="0"/>
              </a:rPr>
              <a:t>C402002</a:t>
            </a:r>
            <a:r>
              <a:rPr lang="en-US" altLang="zh-CN" sz="2600" baseline="-25000">
                <a:cs typeface="Tahoma" panose="020B0604030504040204" pitchFamily="34" charset="0"/>
              </a:rPr>
              <a:t>’</a:t>
            </a:r>
            <a:r>
              <a:rPr lang="en-US" altLang="zh-CN" sz="2600" baseline="-25000">
                <a:cs typeface="Times New Roman" panose="02020603050405020304" pitchFamily="18" charset="0"/>
              </a:rPr>
              <a:t> </a:t>
            </a:r>
            <a:r>
              <a:rPr lang="en-US" altLang="zh-CN" sz="2600">
                <a:cs typeface="Times New Roman" panose="02020603050405020304" pitchFamily="18" charset="0"/>
              </a:rPr>
              <a:t>(S</a:t>
            </a:r>
            <a:r>
              <a:rPr lang="en-US" altLang="zh-CN" sz="2600">
                <a:latin typeface="Times New Roman" panose="02020603050405020304" pitchFamily="18" charset="0"/>
                <a:cs typeface="Times New Roman" panose="02020603050405020304" pitchFamily="18" charset="0"/>
                <a:sym typeface="Wingdings 3" panose="05040102010807070707" pitchFamily="18" charset="2"/>
              </a:rPr>
              <a:t></a:t>
            </a:r>
            <a:r>
              <a:rPr lang="en-US" altLang="zh-CN" sz="2600">
                <a:cs typeface="Times New Roman" panose="02020603050405020304" pitchFamily="18" charset="0"/>
              </a:rPr>
              <a:t>SC) )</a:t>
            </a:r>
          </a:p>
        </p:txBody>
      </p:sp>
    </p:spTree>
    <p:custDataLst>
      <p:tags r:id="rId1"/>
    </p:custDataLst>
  </p:cSld>
  <p:clrMapOvr>
    <a:masterClrMapping/>
  </p:clrMapOvr>
  <p:transition advTm="15961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22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2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227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299" name="Rectangle 3">
            <a:extLst>
              <a:ext uri="{FF2B5EF4-FFF2-40B4-BE49-F238E27FC236}">
                <a16:creationId xmlns:a16="http://schemas.microsoft.com/office/drawing/2014/main" id="{09A8B551-FBDD-45F2-BD88-D1B40B75D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r>
              <a:rPr lang="zh-CN" altLang="en-US"/>
              <a:t>四、关系代数运算在查询中的应用</a:t>
            </a:r>
          </a:p>
        </p:txBody>
      </p:sp>
      <p:sp>
        <p:nvSpPr>
          <p:cNvPr id="823300" name="Rectangle 4">
            <a:extLst>
              <a:ext uri="{FF2B5EF4-FFF2-40B4-BE49-F238E27FC236}">
                <a16:creationId xmlns:a16="http://schemas.microsoft.com/office/drawing/2014/main" id="{97FFBF3A-8B89-4B70-8393-12C43603D1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500">
                <a:latin typeface="楷体_GB2312" pitchFamily="49" charset="-122"/>
                <a:cs typeface="Times New Roman" panose="02020603050405020304" pitchFamily="18" charset="0"/>
              </a:rPr>
              <a:t>7</a:t>
            </a:r>
            <a:r>
              <a:rPr lang="zh-CN" altLang="en-US" sz="2500">
                <a:latin typeface="楷体_GB2312" pitchFamily="49" charset="-122"/>
                <a:cs typeface="Times New Roman" panose="02020603050405020304" pitchFamily="18" charset="0"/>
              </a:rPr>
              <a:t>、找出网络工程专业（专业代码为</a:t>
            </a:r>
            <a:r>
              <a:rPr lang="en-US" altLang="zh-CN" sz="2500">
                <a:latin typeface="楷体_GB2312" pitchFamily="49" charset="-122"/>
                <a:cs typeface="Times New Roman" panose="02020603050405020304" pitchFamily="18" charset="0"/>
              </a:rPr>
              <a:t>S0403</a:t>
            </a:r>
            <a:r>
              <a:rPr lang="zh-CN" altLang="en-US" sz="2500">
                <a:latin typeface="楷体_GB2312" pitchFamily="49" charset="-122"/>
                <a:cs typeface="Times New Roman" panose="02020603050405020304" pitchFamily="18" charset="0"/>
              </a:rPr>
              <a:t>）学习了</a:t>
            </a:r>
            <a:r>
              <a:rPr lang="zh-CN" altLang="en-US" sz="2500">
                <a:latin typeface="Arial" panose="020B0604020202020204" pitchFamily="34" charset="0"/>
                <a:cs typeface="Times New Roman" panose="02020603050405020304" pitchFamily="18" charset="0"/>
              </a:rPr>
              <a:t>“</a:t>
            </a:r>
            <a:r>
              <a:rPr lang="zh-CN" altLang="en-US" sz="2500">
                <a:latin typeface="楷体_GB2312" pitchFamily="49" charset="-122"/>
                <a:cs typeface="Times New Roman" panose="02020603050405020304" pitchFamily="18" charset="0"/>
              </a:rPr>
              <a:t>计算机网络</a:t>
            </a:r>
            <a:r>
              <a:rPr lang="zh-CN" altLang="en-US" sz="2500">
                <a:latin typeface="Arial" panose="020B0604020202020204" pitchFamily="34" charset="0"/>
                <a:cs typeface="Times New Roman" panose="02020603050405020304" pitchFamily="18" charset="0"/>
              </a:rPr>
              <a:t>”</a:t>
            </a:r>
            <a:r>
              <a:rPr lang="zh-CN" altLang="en-US" sz="2500">
                <a:latin typeface="楷体_GB2312" pitchFamily="49" charset="-122"/>
                <a:cs typeface="Times New Roman" panose="02020603050405020304" pitchFamily="18" charset="0"/>
              </a:rPr>
              <a:t>课程的学生的学号、姓名的考试成绩。</a:t>
            </a:r>
          </a:p>
          <a:p>
            <a:r>
              <a:rPr lang="zh-CN" altLang="en-US" sz="2500">
                <a:latin typeface="楷体_GB2312" pitchFamily="49" charset="-122"/>
                <a:cs typeface="Times New Roman" panose="02020603050405020304" pitchFamily="18" charset="0"/>
              </a:rPr>
              <a:t>　　  </a:t>
            </a:r>
            <a:r>
              <a:rPr lang="zh-CN" altLang="en-US" sz="2500">
                <a:solidFill>
                  <a:srgbClr val="008000"/>
                </a:solidFill>
                <a:latin typeface="楷体_GB2312" pitchFamily="49" charset="-122"/>
                <a:cs typeface="Times New Roman" panose="02020603050405020304" pitchFamily="18" charset="0"/>
              </a:rPr>
              <a:t>解题思路：</a:t>
            </a:r>
            <a:r>
              <a:rPr lang="zh-CN" altLang="en-US" sz="2500">
                <a:latin typeface="楷体_GB2312" pitchFamily="49" charset="-122"/>
                <a:cs typeface="Times New Roman" panose="02020603050405020304" pitchFamily="18" charset="0"/>
              </a:rPr>
              <a:t>首先确定涉及到的表，由于查询涉及到条件</a:t>
            </a:r>
            <a:r>
              <a:rPr lang="zh-CN" altLang="en-US" sz="2500">
                <a:latin typeface="Arial" panose="020B0604020202020204" pitchFamily="34" charset="0"/>
                <a:cs typeface="Times New Roman" panose="02020603050405020304" pitchFamily="18" charset="0"/>
              </a:rPr>
              <a:t>“</a:t>
            </a:r>
            <a:r>
              <a:rPr lang="zh-CN" altLang="en-US" sz="2500">
                <a:latin typeface="楷体_GB2312" pitchFamily="49" charset="-122"/>
                <a:cs typeface="Times New Roman" panose="02020603050405020304" pitchFamily="18" charset="0"/>
              </a:rPr>
              <a:t>计算机网络</a:t>
            </a:r>
            <a:r>
              <a:rPr lang="zh-CN" altLang="en-US" sz="2500">
                <a:latin typeface="Arial" panose="020B0604020202020204" pitchFamily="34" charset="0"/>
                <a:cs typeface="Times New Roman" panose="02020603050405020304" pitchFamily="18" charset="0"/>
              </a:rPr>
              <a:t>”</a:t>
            </a:r>
            <a:r>
              <a:rPr lang="zh-CN" altLang="en-US" sz="2500">
                <a:latin typeface="楷体_GB2312" pitchFamily="49" charset="-122"/>
                <a:cs typeface="Times New Roman" panose="02020603050405020304" pitchFamily="18" charset="0"/>
              </a:rPr>
              <a:t>课程，该属性在</a:t>
            </a:r>
            <a:r>
              <a:rPr lang="en-US" altLang="zh-CN" sz="2500">
                <a:latin typeface="楷体_GB2312" pitchFamily="49" charset="-122"/>
                <a:cs typeface="Times New Roman" panose="02020603050405020304" pitchFamily="18" charset="0"/>
              </a:rPr>
              <a:t>C </a:t>
            </a:r>
            <a:r>
              <a:rPr lang="zh-CN" altLang="en-US" sz="2500">
                <a:latin typeface="楷体_GB2312" pitchFamily="49" charset="-122"/>
                <a:cs typeface="Times New Roman" panose="02020603050405020304" pitchFamily="18" charset="0"/>
              </a:rPr>
              <a:t>表中，而查询学生的学号、姓名及专业代码在</a:t>
            </a:r>
            <a:r>
              <a:rPr lang="en-US" altLang="zh-CN" sz="2500">
                <a:latin typeface="楷体_GB2312" pitchFamily="49" charset="-122"/>
                <a:cs typeface="Times New Roman" panose="02020603050405020304" pitchFamily="18" charset="0"/>
              </a:rPr>
              <a:t>S </a:t>
            </a:r>
            <a:r>
              <a:rPr lang="zh-CN" altLang="en-US" sz="2500">
                <a:latin typeface="楷体_GB2312" pitchFamily="49" charset="-122"/>
                <a:cs typeface="Times New Roman" panose="02020603050405020304" pitchFamily="18" charset="0"/>
              </a:rPr>
              <a:t>表中，另外，考试成绩在</a:t>
            </a:r>
            <a:r>
              <a:rPr lang="en-US" altLang="zh-CN" sz="2500">
                <a:latin typeface="楷体_GB2312" pitchFamily="49" charset="-122"/>
                <a:cs typeface="Times New Roman" panose="02020603050405020304" pitchFamily="18" charset="0"/>
              </a:rPr>
              <a:t>SC </a:t>
            </a:r>
            <a:r>
              <a:rPr lang="zh-CN" altLang="en-US" sz="2500">
                <a:latin typeface="楷体_GB2312" pitchFamily="49" charset="-122"/>
                <a:cs typeface="Times New Roman" panose="02020603050405020304" pitchFamily="18" charset="0"/>
              </a:rPr>
              <a:t>表中，需将三个表作自然联接；选择出满足条件的元组；并投影出相应结果列。</a:t>
            </a:r>
          </a:p>
          <a:p>
            <a:r>
              <a:rPr lang="zh-CN" altLang="en-US" sz="2400">
                <a:latin typeface="楷体_GB2312" pitchFamily="49" charset="-122"/>
                <a:cs typeface="Times New Roman" panose="02020603050405020304" pitchFamily="18" charset="0"/>
              </a:rPr>
              <a:t>      </a:t>
            </a:r>
            <a:r>
              <a:rPr kumimoji="1" lang="zh-CN" altLang="en-US" sz="2400">
                <a:solidFill>
                  <a:srgbClr val="660033"/>
                </a:solidFill>
              </a:rPr>
              <a:t>课程关系模式：</a:t>
            </a:r>
            <a:r>
              <a:rPr kumimoji="1" lang="en-US" altLang="zh-CN" sz="2400">
                <a:solidFill>
                  <a:srgbClr val="003366"/>
                </a:solidFill>
              </a:rPr>
              <a:t>C（C#，CNAME，CLASSH）</a:t>
            </a:r>
          </a:p>
          <a:p>
            <a:pPr>
              <a:lnSpc>
                <a:spcPct val="105000"/>
              </a:lnSpc>
              <a:spcBef>
                <a:spcPct val="5000"/>
              </a:spcBef>
              <a:buClr>
                <a:schemeClr val="bg2"/>
              </a:buClr>
              <a:buSzTx/>
              <a:buFont typeface="Monotype Sorts" pitchFamily="2" charset="2"/>
              <a:buNone/>
            </a:pPr>
            <a:endParaRPr lang="zh-CN" altLang="en-US" sz="2400"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823301" name="Rectangle 5">
            <a:extLst>
              <a:ext uri="{FF2B5EF4-FFF2-40B4-BE49-F238E27FC236}">
                <a16:creationId xmlns:a16="http://schemas.microsoft.com/office/drawing/2014/main" id="{D150C599-8592-4A93-B088-E604E7DA76C4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-53975" y="5229225"/>
            <a:ext cx="9140825" cy="841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2400">
                <a:cs typeface="Times New Roman" panose="02020603050405020304" pitchFamily="18" charset="0"/>
              </a:rPr>
              <a:t>π</a:t>
            </a:r>
            <a:r>
              <a:rPr lang="en-US" altLang="zh-CN" sz="2400" baseline="-25000">
                <a:cs typeface="Times New Roman" panose="02020603050405020304" pitchFamily="18" charset="0"/>
              </a:rPr>
              <a:t>S#,SNAME,GRADE</a:t>
            </a:r>
            <a:r>
              <a:rPr lang="en-US" altLang="zh-CN" sz="2400">
                <a:solidFill>
                  <a:srgbClr val="0066FF"/>
                </a:solidFill>
                <a:cs typeface="Tahoma" panose="020B0604030504040204" pitchFamily="34" charset="0"/>
              </a:rPr>
              <a:t>(</a:t>
            </a:r>
            <a:r>
              <a:rPr lang="el-GR" altLang="zh-CN" sz="2400">
                <a:cs typeface="Tahoma" panose="020B0604030504040204" pitchFamily="34" charset="0"/>
              </a:rPr>
              <a:t>σ</a:t>
            </a:r>
            <a:r>
              <a:rPr lang="en-US" altLang="zh-CN" sz="2400" baseline="-25000">
                <a:cs typeface="Times New Roman" panose="02020603050405020304" pitchFamily="18" charset="0"/>
              </a:rPr>
              <a:t>SCODE#= </a:t>
            </a:r>
            <a:r>
              <a:rPr lang="en-US" altLang="zh-CN" sz="2600" baseline="-25000">
                <a:cs typeface="Tahoma" panose="020B0604030504040204" pitchFamily="34" charset="0"/>
              </a:rPr>
              <a:t>’</a:t>
            </a:r>
            <a:r>
              <a:rPr lang="en-US" altLang="zh-CN" sz="2400" baseline="-25000">
                <a:cs typeface="Times New Roman" panose="02020603050405020304" pitchFamily="18" charset="0"/>
              </a:rPr>
              <a:t>s0403 </a:t>
            </a:r>
            <a:r>
              <a:rPr lang="en-US" altLang="zh-CN" sz="2600" baseline="-25000">
                <a:cs typeface="Tahoma" panose="020B0604030504040204" pitchFamily="34" charset="0"/>
              </a:rPr>
              <a:t>’</a:t>
            </a:r>
            <a:r>
              <a:rPr lang="en-US" altLang="zh-CN" sz="2400" baseline="-25000">
                <a:cs typeface="Times New Roman" panose="02020603050405020304" pitchFamily="18" charset="0"/>
              </a:rPr>
              <a:t> ∧CNAME= </a:t>
            </a:r>
            <a:r>
              <a:rPr lang="en-US" altLang="zh-CN" sz="2600" baseline="-25000">
                <a:cs typeface="Tahoma" panose="020B0604030504040204" pitchFamily="34" charset="0"/>
              </a:rPr>
              <a:t>’</a:t>
            </a:r>
            <a:r>
              <a:rPr lang="zh-CN" altLang="en-US" sz="2400" baseline="-25000">
                <a:cs typeface="Times New Roman" panose="02020603050405020304" pitchFamily="18" charset="0"/>
              </a:rPr>
              <a:t>计算机网络</a:t>
            </a:r>
            <a:r>
              <a:rPr lang="en-US" altLang="zh-CN" sz="2600" baseline="-25000">
                <a:cs typeface="Tahoma" panose="020B0604030504040204" pitchFamily="34" charset="0"/>
              </a:rPr>
              <a:t>’ </a:t>
            </a:r>
            <a:r>
              <a:rPr lang="en-US" altLang="zh-CN" sz="2400">
                <a:solidFill>
                  <a:srgbClr val="660033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200">
                <a:cs typeface="Times New Roman" panose="02020603050405020304" pitchFamily="18" charset="0"/>
              </a:rPr>
              <a:t>S</a:t>
            </a:r>
            <a:r>
              <a:rPr lang="en-US" altLang="zh-CN" sz="2400">
                <a:cs typeface="Times New Roman" panose="02020603050405020304" pitchFamily="18" charset="0"/>
              </a:rPr>
              <a:t> 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  <a:sym typeface="Wingdings 3" panose="05040102010807070707" pitchFamily="18" charset="2"/>
              </a:rPr>
              <a:t></a:t>
            </a:r>
            <a:r>
              <a:rPr lang="en-US" altLang="zh-CN" sz="2400">
                <a:cs typeface="Times New Roman" panose="02020603050405020304" pitchFamily="18" charset="0"/>
              </a:rPr>
              <a:t> </a:t>
            </a:r>
            <a:r>
              <a:rPr lang="en-US" altLang="zh-CN" sz="2200">
                <a:cs typeface="Times New Roman" panose="02020603050405020304" pitchFamily="18" charset="0"/>
              </a:rPr>
              <a:t>SC</a:t>
            </a:r>
            <a:r>
              <a:rPr lang="en-US" altLang="zh-CN" sz="2400">
                <a:cs typeface="Times New Roman" panose="02020603050405020304" pitchFamily="18" charset="0"/>
              </a:rPr>
              <a:t> 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  <a:sym typeface="Wingdings 3" panose="05040102010807070707" pitchFamily="18" charset="2"/>
              </a:rPr>
              <a:t></a:t>
            </a:r>
            <a:r>
              <a:rPr lang="en-US" altLang="zh-CN" sz="2400">
                <a:cs typeface="Times New Roman" panose="02020603050405020304" pitchFamily="18" charset="0"/>
              </a:rPr>
              <a:t> </a:t>
            </a:r>
            <a:r>
              <a:rPr lang="en-US" altLang="zh-CN" sz="2200">
                <a:cs typeface="Times New Roman" panose="02020603050405020304" pitchFamily="18" charset="0"/>
              </a:rPr>
              <a:t>C</a:t>
            </a:r>
            <a:r>
              <a:rPr lang="en-US" altLang="zh-CN" sz="2400">
                <a:solidFill>
                  <a:srgbClr val="660033"/>
                </a:solidFill>
                <a:cs typeface="Times New Roman" panose="02020603050405020304" pitchFamily="18" charset="0"/>
              </a:rPr>
              <a:t>)</a:t>
            </a:r>
            <a:r>
              <a:rPr lang="en-US" altLang="zh-CN" sz="2400">
                <a:solidFill>
                  <a:srgbClr val="0066FF"/>
                </a:solidFill>
                <a:cs typeface="Times New Roman" panose="02020603050405020304" pitchFamily="18" charset="0"/>
              </a:rPr>
              <a:t>)</a:t>
            </a:r>
          </a:p>
        </p:txBody>
      </p:sp>
    </p:spTree>
    <p:custDataLst>
      <p:tags r:id="rId1"/>
    </p:custDataLst>
  </p:cSld>
  <p:clrMapOvr>
    <a:masterClrMapping/>
  </p:clrMapOvr>
  <p:transition advTm="11642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3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23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23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330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322" name="Rectangle 2">
            <a:extLst>
              <a:ext uri="{FF2B5EF4-FFF2-40B4-BE49-F238E27FC236}">
                <a16:creationId xmlns:a16="http://schemas.microsoft.com/office/drawing/2014/main" id="{185172AD-2953-44CB-AC64-8D34395108F7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200025" y="1196975"/>
            <a:ext cx="8620125" cy="4679950"/>
          </a:xfrm>
          <a:noFill/>
          <a:ln/>
        </p:spPr>
        <p:txBody>
          <a:bodyPr/>
          <a:lstStyle/>
          <a:p>
            <a:pPr marL="609600" indent="-609600" algn="just">
              <a:tabLst>
                <a:tab pos="1524000" algn="l"/>
              </a:tabLst>
            </a:pPr>
            <a:r>
              <a:rPr lang="zh-CN" altLang="en-US" sz="24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      </a:t>
            </a:r>
            <a:r>
              <a:rPr lang="zh-CN" altLang="en-US" sz="26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将一个汉语查询语句表示成一个关系代数表达式时，应从如下几个方面入手：</a:t>
            </a:r>
          </a:p>
          <a:p>
            <a:pPr marL="609600" indent="-609600" algn="just">
              <a:tabLst>
                <a:tab pos="1524000" algn="l"/>
              </a:tabLst>
            </a:pPr>
            <a:r>
              <a:rPr lang="en-US" altLang="zh-CN" sz="24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、确定结果关系的属性有哪些？分别来自哪些关系</a:t>
            </a:r>
            <a:r>
              <a:rPr lang="en-US" altLang="zh-CN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? </a:t>
            </a:r>
            <a:r>
              <a:rPr lang="en-US" altLang="zh-CN" sz="2600">
                <a:solidFill>
                  <a:srgbClr val="FF0066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endParaRPr lang="en-US" altLang="zh-CN" sz="2600">
              <a:solidFill>
                <a:srgbClr val="FF0066"/>
              </a:solidFill>
              <a:latin typeface="楷体_GB2312" pitchFamily="49" charset="-122"/>
              <a:cs typeface="Times New Roman" panose="02020603050405020304" pitchFamily="18" charset="0"/>
            </a:endParaRPr>
          </a:p>
          <a:p>
            <a:pPr marL="609600" indent="-609600" algn="just">
              <a:tabLst>
                <a:tab pos="1524000" algn="l"/>
              </a:tabLst>
            </a:pPr>
            <a:r>
              <a:rPr lang="en-US" altLang="zh-CN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      2</a:t>
            </a:r>
            <a:r>
              <a:rPr lang="zh-CN" altLang="en-US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、是否有选择条件？条件涉及哪些关系？应用何种运算符表示条件？</a:t>
            </a:r>
            <a:r>
              <a:rPr lang="en-US" altLang="zh-CN" sz="2600">
                <a:solidFill>
                  <a:srgbClr val="FF0066"/>
                </a:solidFill>
                <a:latin typeface="楷体_GB2312" pitchFamily="49" charset="-122"/>
                <a:cs typeface="Times New Roman" panose="02020603050405020304" pitchFamily="18" charset="0"/>
              </a:rPr>
              <a:t>σ</a:t>
            </a:r>
            <a:r>
              <a:rPr lang="zh-CN" altLang="en-US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600">
                <a:solidFill>
                  <a:srgbClr val="FF0066"/>
                </a:solidFill>
                <a:latin typeface="楷体_GB2312" pitchFamily="49" charset="-122"/>
                <a:cs typeface="Times New Roman" panose="02020603050405020304" pitchFamily="18" charset="0"/>
              </a:rPr>
              <a:t>÷</a:t>
            </a:r>
          </a:p>
          <a:p>
            <a:pPr marL="609600" indent="-609600">
              <a:tabLst>
                <a:tab pos="1524000" algn="l"/>
              </a:tabLst>
            </a:pPr>
            <a:r>
              <a:rPr lang="en-US" altLang="zh-CN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      3</a:t>
            </a:r>
            <a:r>
              <a:rPr lang="zh-CN" altLang="en-US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、查询如果涉及多个关系，应用何种运算符进行联接？ </a:t>
            </a:r>
            <a:r>
              <a:rPr lang="en-US" altLang="zh-CN" sz="2600">
                <a:solidFill>
                  <a:srgbClr val="FF0066"/>
                </a:solidFill>
                <a:latin typeface="楷体_GB2312" pitchFamily="49" charset="-122"/>
                <a:cs typeface="Times New Roman" panose="02020603050405020304" pitchFamily="18" charset="0"/>
              </a:rPr>
              <a:t>×</a:t>
            </a:r>
            <a:r>
              <a:rPr lang="zh-CN" altLang="en-US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 </a:t>
            </a:r>
            <a:r>
              <a:rPr lang="en-US" altLang="zh-CN" sz="2600">
                <a:solidFill>
                  <a:srgbClr val="FF0066"/>
                </a:solidFill>
                <a:latin typeface="楷体_GB2312" pitchFamily="49" charset="-122"/>
                <a:cs typeface="Times New Roman" panose="02020603050405020304" pitchFamily="18" charset="0"/>
                <a:sym typeface="Wingdings 3" panose="05040102010807070707" pitchFamily="18" charset="2"/>
              </a:rPr>
              <a:t></a:t>
            </a:r>
            <a:r>
              <a:rPr lang="zh-CN" altLang="en-US" sz="2600">
                <a:solidFill>
                  <a:srgbClr val="FF0066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lang="zh-CN" altLang="en-US" sz="2600">
                <a:solidFill>
                  <a:srgbClr val="FF0066"/>
                </a:solidFill>
                <a:latin typeface="楷体_GB2312" pitchFamily="49" charset="-122"/>
                <a:cs typeface="Times New Roman" panose="02020603050405020304" pitchFamily="18" charset="0"/>
              </a:rPr>
              <a:t>联接</a:t>
            </a:r>
            <a:r>
              <a:rPr lang="zh-CN" altLang="en-US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600">
                <a:solidFill>
                  <a:srgbClr val="FF0066"/>
                </a:solidFill>
                <a:latin typeface="楷体_GB2312" pitchFamily="49" charset="-122"/>
                <a:cs typeface="Times New Roman" panose="02020603050405020304" pitchFamily="18" charset="0"/>
              </a:rPr>
              <a:t>∪</a:t>
            </a:r>
            <a:r>
              <a:rPr lang="zh-CN" altLang="en-US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600">
                <a:solidFill>
                  <a:srgbClr val="FF0066"/>
                </a:solidFill>
                <a:latin typeface="楷体_GB2312" pitchFamily="49" charset="-122"/>
                <a:cs typeface="Times New Roman" panose="02020603050405020304" pitchFamily="18" charset="0"/>
              </a:rPr>
              <a:t>∩</a:t>
            </a:r>
            <a:r>
              <a:rPr lang="zh-CN" altLang="en-US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lang="zh-CN" altLang="en-US" sz="2600">
                <a:solidFill>
                  <a:srgbClr val="FF0066"/>
                </a:solidFill>
                <a:latin typeface="楷体_GB2312" pitchFamily="49" charset="-122"/>
                <a:cs typeface="Times New Roman" panose="02020603050405020304" pitchFamily="18" charset="0"/>
              </a:rPr>
              <a:t>－</a:t>
            </a:r>
            <a:r>
              <a:rPr lang="zh-CN" altLang="en-US" sz="24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24324" name="Rectangle 4">
            <a:extLst>
              <a:ext uri="{FF2B5EF4-FFF2-40B4-BE49-F238E27FC236}">
                <a16:creationId xmlns:a16="http://schemas.microsoft.com/office/drawing/2014/main" id="{11D6D688-3883-4125-897B-DC28584DC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pPr algn="ctr"/>
            <a:r>
              <a:rPr lang="zh-CN" altLang="en-US" sz="4000"/>
              <a:t>关系查询表示方法小结</a:t>
            </a:r>
            <a:endParaRPr lang="en-US" altLang="zh-CN" sz="4000"/>
          </a:p>
        </p:txBody>
      </p:sp>
    </p:spTree>
  </p:cSld>
  <p:clrMapOvr>
    <a:masterClrMapping/>
  </p:clrMapOvr>
  <p:transition advTm="156195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476" name="Text Box 4">
            <a:extLst>
              <a:ext uri="{FF2B5EF4-FFF2-40B4-BE49-F238E27FC236}">
                <a16:creationId xmlns:a16="http://schemas.microsoft.com/office/drawing/2014/main" id="{A0E1F879-0712-4EC2-9DAC-C09DCEC27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6950" y="2405063"/>
            <a:ext cx="5761038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8000">
                <a:solidFill>
                  <a:schemeClr val="hlink"/>
                </a:solidFill>
                <a:ea typeface="华文隶书" panose="02010800040101010101" pitchFamily="2" charset="-122"/>
              </a:rPr>
              <a:t>谢谢大家！</a:t>
            </a:r>
            <a:endParaRPr lang="en-US" altLang="zh-CN" sz="8000">
              <a:solidFill>
                <a:schemeClr val="hlink"/>
              </a:solidFill>
              <a:ea typeface="华文隶书" panose="02010800040101010101" pitchFamily="2" charset="-122"/>
            </a:endParaRPr>
          </a:p>
        </p:txBody>
      </p:sp>
      <p:sp>
        <p:nvSpPr>
          <p:cNvPr id="873478" name="Rectangle 6">
            <a:extLst>
              <a:ext uri="{FF2B5EF4-FFF2-40B4-BE49-F238E27FC236}">
                <a16:creationId xmlns:a16="http://schemas.microsoft.com/office/drawing/2014/main" id="{5CCD279F-B50A-4BAD-99B8-EA9E68CD9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" y="57150"/>
            <a:ext cx="8893175" cy="1989138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bg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24"/>
    </mc:Choice>
    <mc:Fallback xmlns="">
      <p:transition spd="slow" advTm="3724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2|162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7.8|87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4.1|5.4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幼圆"/>
        <a:cs typeface=""/>
      </a:majorFont>
      <a:minorFont>
        <a:latin typeface="Tahoma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10988</TotalTime>
  <Words>529</Words>
  <Application>Microsoft Office PowerPoint</Application>
  <PresentationFormat>全屏显示(4:3)</PresentationFormat>
  <Paragraphs>21</Paragraphs>
  <Slides>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Monotype Sorts</vt:lpstr>
      <vt:lpstr>黑体</vt:lpstr>
      <vt:lpstr>楷体_GB2312</vt:lpstr>
      <vt:lpstr>Arial</vt:lpstr>
      <vt:lpstr>Tahoma</vt:lpstr>
      <vt:lpstr>Times New Roman</vt:lpstr>
      <vt:lpstr>Wingdings</vt:lpstr>
      <vt:lpstr>Blends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乔淋漓的冷汗</dc:creator>
  <cp:lastModifiedBy>乔 淋漓的冷汗</cp:lastModifiedBy>
  <cp:revision>728</cp:revision>
  <cp:lastPrinted>2000-08-23T09:10:16Z</cp:lastPrinted>
  <dcterms:created xsi:type="dcterms:W3CDTF">1601-01-01T00:00:00Z</dcterms:created>
  <dcterms:modified xsi:type="dcterms:W3CDTF">2021-04-09T14:39:52Z</dcterms:modified>
</cp:coreProperties>
</file>