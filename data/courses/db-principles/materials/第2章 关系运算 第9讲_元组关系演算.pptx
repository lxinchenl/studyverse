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0"/>
  </p:notesMasterIdLst>
  <p:handoutMasterIdLst>
    <p:handoutMasterId r:id="rId21"/>
  </p:handoutMasterIdLst>
  <p:sldIdLst>
    <p:sldId id="604" r:id="rId2"/>
    <p:sldId id="773" r:id="rId3"/>
    <p:sldId id="774" r:id="rId4"/>
    <p:sldId id="776" r:id="rId5"/>
    <p:sldId id="777" r:id="rId6"/>
    <p:sldId id="757" r:id="rId7"/>
    <p:sldId id="727" r:id="rId8"/>
    <p:sldId id="778" r:id="rId9"/>
    <p:sldId id="728" r:id="rId10"/>
    <p:sldId id="775" r:id="rId11"/>
    <p:sldId id="779" r:id="rId12"/>
    <p:sldId id="729" r:id="rId13"/>
    <p:sldId id="730" r:id="rId14"/>
    <p:sldId id="731" r:id="rId15"/>
    <p:sldId id="732" r:id="rId16"/>
    <p:sldId id="733" r:id="rId17"/>
    <p:sldId id="765" r:id="rId18"/>
    <p:sldId id="766" r:id="rId19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FF00FF"/>
    <a:srgbClr val="99FF33"/>
    <a:srgbClr val="66FFFF"/>
    <a:srgbClr val="660033"/>
    <a:srgbClr val="CCEC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8" autoAdjust="0"/>
    <p:restoredTop sz="82874" autoAdjust="0"/>
  </p:normalViewPr>
  <p:slideViewPr>
    <p:cSldViewPr>
      <p:cViewPr varScale="1">
        <p:scale>
          <a:sx n="109" d="100"/>
          <a:sy n="109" d="100"/>
        </p:scale>
        <p:origin x="168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CE75A51-D437-4FC6-B383-55F62424B6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ABD21B8-1747-4FBC-9CF6-C3E7B56741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E8D244C6-7D3C-4507-881B-7F97A2A1AA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E941AD9A-F8EE-44CF-9D70-C5DBC47741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6A1857E1-F324-4089-8E0D-24D8C29916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032F9183-2292-42CC-A48D-8CBD5A4D97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D620ED4F-3CFD-41BB-9AF9-5846A5ADCC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3F0DE8E7-347C-424C-A80E-F27ECA2DE9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57172378-B561-4FC8-B1EE-FC9B1E55301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D4997E5F-676D-419E-AC52-9E1D252FB7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3F3D38BB-D152-440C-85AA-A99A26CB80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C0DADF9-3FFF-422E-AC37-8748A730A0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DA9CCEB-BA0E-4957-B407-BEDA45B60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8DE9-E2D4-4E1E-9C58-5E1814E3F564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826370" name="Rectangle 2">
            <a:extLst>
              <a:ext uri="{FF2B5EF4-FFF2-40B4-BE49-F238E27FC236}">
                <a16:creationId xmlns:a16="http://schemas.microsoft.com/office/drawing/2014/main" id="{D196EAA8-43CD-4281-84A4-35BA5B85F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>
            <a:extLst>
              <a:ext uri="{FF2B5EF4-FFF2-40B4-BE49-F238E27FC236}">
                <a16:creationId xmlns:a16="http://schemas.microsoft.com/office/drawing/2014/main" id="{14958852-0A21-490C-9651-5CA8EEF8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6138AE-6F7A-4889-AF06-F1035C753C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255E2F-30F9-4439-A021-663E2736143E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828418" name="Rectangle 2">
            <a:extLst>
              <a:ext uri="{FF2B5EF4-FFF2-40B4-BE49-F238E27FC236}">
                <a16:creationId xmlns:a16="http://schemas.microsoft.com/office/drawing/2014/main" id="{5DB4CE53-6A8A-4550-831A-AF8161F146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8419" name="Rectangle 3">
            <a:extLst>
              <a:ext uri="{FF2B5EF4-FFF2-40B4-BE49-F238E27FC236}">
                <a16:creationId xmlns:a16="http://schemas.microsoft.com/office/drawing/2014/main" id="{B92AFD3F-416C-4307-B5F6-19FB71039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F6FD71-EC67-4ABA-BACA-304320D8E3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77ED9C-7413-4E1F-9EBD-3DF2BA645E14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830466" name="Rectangle 2">
            <a:extLst>
              <a:ext uri="{FF2B5EF4-FFF2-40B4-BE49-F238E27FC236}">
                <a16:creationId xmlns:a16="http://schemas.microsoft.com/office/drawing/2014/main" id="{7056F84F-4105-4DAF-8F58-9C710105F5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0467" name="Rectangle 3">
            <a:extLst>
              <a:ext uri="{FF2B5EF4-FFF2-40B4-BE49-F238E27FC236}">
                <a16:creationId xmlns:a16="http://schemas.microsoft.com/office/drawing/2014/main" id="{11DB6D84-BFB6-4B28-843A-6C84BC418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9CCA05-CEDD-42FD-A63E-BD4D310BA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DD8AE0-9CA7-4435-9D79-D89BEEF972AD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832514" name="Rectangle 2">
            <a:extLst>
              <a:ext uri="{FF2B5EF4-FFF2-40B4-BE49-F238E27FC236}">
                <a16:creationId xmlns:a16="http://schemas.microsoft.com/office/drawing/2014/main" id="{DAE1E285-773C-4BB5-9105-E8AF8B2F3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>
            <a:extLst>
              <a:ext uri="{FF2B5EF4-FFF2-40B4-BE49-F238E27FC236}">
                <a16:creationId xmlns:a16="http://schemas.microsoft.com/office/drawing/2014/main" id="{AF388A1D-51E1-4CB9-BBAA-A3A183474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>
            <a:extLst>
              <a:ext uri="{FF2B5EF4-FFF2-40B4-BE49-F238E27FC236}">
                <a16:creationId xmlns:a16="http://schemas.microsoft.com/office/drawing/2014/main" id="{E6BC910A-FA60-4510-A6CE-58C93FBAA6C6}"/>
              </a:ext>
            </a:extLst>
          </p:cNvPr>
          <p:cNvGrpSpPr>
            <a:grpSpLocks/>
          </p:cNvGrpSpPr>
          <p:nvPr/>
        </p:nvGrpSpPr>
        <p:grpSpPr bwMode="auto">
          <a:xfrm>
            <a:off x="0" y="1822450"/>
            <a:ext cx="9009063" cy="1052513"/>
            <a:chOff x="0" y="1536"/>
            <a:chExt cx="5675" cy="663"/>
          </a:xfrm>
        </p:grpSpPr>
        <p:grpSp>
          <p:nvGrpSpPr>
            <p:cNvPr id="740355" name="Group 3">
              <a:extLst>
                <a:ext uri="{FF2B5EF4-FFF2-40B4-BE49-F238E27FC236}">
                  <a16:creationId xmlns:a16="http://schemas.microsoft.com/office/drawing/2014/main" id="{F601B656-0CC7-40A3-9393-E7F8D0ADC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0356" name="Rectangle 4">
                <a:extLst>
                  <a:ext uri="{FF2B5EF4-FFF2-40B4-BE49-F238E27FC236}">
                    <a16:creationId xmlns:a16="http://schemas.microsoft.com/office/drawing/2014/main" id="{DC002443-B8D2-404A-A466-12F998356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57" name="Rectangle 5">
                <a:extLst>
                  <a:ext uri="{FF2B5EF4-FFF2-40B4-BE49-F238E27FC236}">
                    <a16:creationId xmlns:a16="http://schemas.microsoft.com/office/drawing/2014/main" id="{DF04AEE4-5DED-4634-B668-8F4C32BC2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40358" name="Group 6">
              <a:extLst>
                <a:ext uri="{FF2B5EF4-FFF2-40B4-BE49-F238E27FC236}">
                  <a16:creationId xmlns:a16="http://schemas.microsoft.com/office/drawing/2014/main" id="{F764A016-3659-4206-929B-DDD02DF3B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0359" name="Rectangle 7">
                <a:extLst>
                  <a:ext uri="{FF2B5EF4-FFF2-40B4-BE49-F238E27FC236}">
                    <a16:creationId xmlns:a16="http://schemas.microsoft.com/office/drawing/2014/main" id="{A07D8CED-FE25-43BE-A2ED-83BC5919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60" name="Rectangle 8">
                <a:extLst>
                  <a:ext uri="{FF2B5EF4-FFF2-40B4-BE49-F238E27FC236}">
                    <a16:creationId xmlns:a16="http://schemas.microsoft.com/office/drawing/2014/main" id="{34FA184B-3D67-42A4-89E6-E85E2B762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40361" name="Rectangle 9">
              <a:extLst>
                <a:ext uri="{FF2B5EF4-FFF2-40B4-BE49-F238E27FC236}">
                  <a16:creationId xmlns:a16="http://schemas.microsoft.com/office/drawing/2014/main" id="{D4761A5E-E2A8-4F5D-BF69-C7799D09A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2" name="Rectangle 10">
              <a:extLst>
                <a:ext uri="{FF2B5EF4-FFF2-40B4-BE49-F238E27FC236}">
                  <a16:creationId xmlns:a16="http://schemas.microsoft.com/office/drawing/2014/main" id="{6422AD51-F4ED-4986-A52B-C2FB57A5F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3" name="Rectangle 11">
              <a:extLst>
                <a:ext uri="{FF2B5EF4-FFF2-40B4-BE49-F238E27FC236}">
                  <a16:creationId xmlns:a16="http://schemas.microsoft.com/office/drawing/2014/main" id="{396C0125-2F13-4CF8-A9A1-5358334053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0364" name="Rectangle 12">
            <a:extLst>
              <a:ext uri="{FF2B5EF4-FFF2-40B4-BE49-F238E27FC236}">
                <a16:creationId xmlns:a16="http://schemas.microsoft.com/office/drawing/2014/main" id="{2F70F360-5562-4744-9D12-D7E152A206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>
            <a:extLst>
              <a:ext uri="{FF2B5EF4-FFF2-40B4-BE49-F238E27FC236}">
                <a16:creationId xmlns:a16="http://schemas.microsoft.com/office/drawing/2014/main" id="{4AC1C415-82DF-455D-B16A-9A2F4D801D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40366" name="Rectangle 14">
            <a:extLst>
              <a:ext uri="{FF2B5EF4-FFF2-40B4-BE49-F238E27FC236}">
                <a16:creationId xmlns:a16="http://schemas.microsoft.com/office/drawing/2014/main" id="{57B4192D-B825-41FA-824E-F372EB16EB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7" name="Rectangle 15">
            <a:extLst>
              <a:ext uri="{FF2B5EF4-FFF2-40B4-BE49-F238E27FC236}">
                <a16:creationId xmlns:a16="http://schemas.microsoft.com/office/drawing/2014/main" id="{522B05BB-362D-4D5D-80C1-9F1DEC563C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8" name="Rectangle 16">
            <a:extLst>
              <a:ext uri="{FF2B5EF4-FFF2-40B4-BE49-F238E27FC236}">
                <a16:creationId xmlns:a16="http://schemas.microsoft.com/office/drawing/2014/main" id="{29104459-BC63-4F40-84F9-05E064D9D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3AB09CA-2F92-494C-AB2A-E80EDE1CA1E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3637C-8891-45F5-A1FE-AD01FF3A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23D4FC-9C8B-44B4-9AFB-4C5F6F9B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86731-86F1-4A4B-B8D3-90612CF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339F3-E260-4AD9-ABDA-C5634C55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AFD8C-90CC-4A70-9AC9-63E01A24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CF47F-F490-4DA4-9A85-E8E4F34765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86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5BA42-6533-468D-9631-65C61EDE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59DA8-63BE-4576-B4B6-53E05061C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ADD60-F9A6-451B-A5BD-C5775003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D9574-5CEA-4E02-8652-836F860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182E7-7144-4477-9D75-559ABA21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63808-451C-4027-9D68-3CEDCC5AC7C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41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5EDB7-4C60-4E3D-8E98-291707A4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A705B-1D33-4128-9C0E-97139B91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DA02DA-8E65-4FD9-83A6-D6645F8AF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59AF24-50A9-40CD-974C-E9387C350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C2419-1F90-4E83-8FB5-9C81E20B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B40F01-4B84-490A-83EA-65C3012F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B76E1-1569-4161-834A-48E32B2C2D1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6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B635B-DA95-468A-88F1-7F5DFED8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5A74-96D1-4F8F-BF40-E235A9EF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639509-8EE1-41CB-AE71-04E73BFA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7AAAA-FB2C-4884-AC51-7C35883AB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4E42BE-B19E-4F3D-B4A6-45493F96A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9241AE-D3C9-4741-8F1B-A7ABB9E3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AD491-E8E0-4309-BA8D-65CFE02F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CF4DD4-AECF-4820-9B5E-BD12EB42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F4D0E-A7CE-4797-9AF4-C22779F343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81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ED6F-6BBE-4748-B12A-E2F8BCB0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5F8229-307F-421E-99CB-84FA634B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8ED42C-7999-4FD2-B2A3-36D11022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75664C-1AC8-4DD5-8CAD-D14EAA57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D2942-971F-4132-A6DD-30284E76D3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47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850FD1-2463-45C2-9021-883AFAA8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5884D-8983-462D-8DBB-B44DBD9E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8EBCA-0291-4B20-9841-E34703E2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BE4FD-DF48-4E27-8D2E-79D53CC0E16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50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EAD4E-EF8C-4F2B-84BF-2465A63F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C187E-BF87-4FAA-8DEE-35BE0727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F82DCF-87FB-492C-B568-F24414136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DB6F8D-FC21-4B25-97F9-29845C9F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52F482-0D9E-4246-9D33-47C5663C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84F4AA-FBBA-441F-B911-CF0DBDD7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CCDC6-5CAA-4E4D-B031-DC0A05BC26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75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4AFA0-82CF-438A-9F89-BC254C4E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BDB487-F1AD-4735-AB70-3D2E9B4AF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B9062-47CD-485E-823E-D98740ECA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D98BF6-AF42-46AE-8A5B-C4019EC8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B1672D-EDC3-4FCA-842B-389600E4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BA358-5DF0-4116-B1DE-9ED3F604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D8422-9567-440E-8D9B-4A1CADA60B9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6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89CC7-F35E-43C8-A870-1D93E168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0C19B5-FC88-4C9C-9A16-D83CA21C2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C8330-2D58-46ED-9DB1-FB131D3A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091BD-190B-4F0C-92FA-7939E385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C5CC0B-7F26-4836-8133-B1F7C03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B48B3-6D9F-4877-9817-1EB1CD73BEC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15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D67692-2A64-40E1-B0F7-27739B8FA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86D23-3D5D-4B08-9342-743EBB273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29F95-1920-4398-B8B3-786FB035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A19D5-3A6C-444C-8941-6AE01A66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9DF33-2E44-42FF-B126-EA8110C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4D354-2335-4DE5-B818-138E78EBC0C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9600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43F9E-117D-4AE1-A091-A8215BA1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977FB326-4BB9-4747-953A-2C5A09C57C0B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68313" y="1158875"/>
            <a:ext cx="8267700" cy="53387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6480E-58C0-4BAB-B044-292FCCA8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786CB-BDF6-4C73-ACB1-94D18456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ED3C7-3B8C-43E4-A1A8-89B20709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433EC41-6688-4A88-8097-A5BB7F2D4E1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28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E2D2FFB8-DA5A-4BC9-8884-5FF89F09A5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F0A6EC30-AB6A-4860-8468-34276D1FAA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2" name="Rectangle 4">
            <a:extLst>
              <a:ext uri="{FF2B5EF4-FFF2-40B4-BE49-F238E27FC236}">
                <a16:creationId xmlns:a16="http://schemas.microsoft.com/office/drawing/2014/main" id="{C3736E9E-93D1-463B-9E72-DF219F6969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3" name="Rectangle 5">
            <a:extLst>
              <a:ext uri="{FF2B5EF4-FFF2-40B4-BE49-F238E27FC236}">
                <a16:creationId xmlns:a16="http://schemas.microsoft.com/office/drawing/2014/main" id="{7F12691C-3026-477C-A74C-3FA6838108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4" name="Rectangle 6">
            <a:extLst>
              <a:ext uri="{FF2B5EF4-FFF2-40B4-BE49-F238E27FC236}">
                <a16:creationId xmlns:a16="http://schemas.microsoft.com/office/drawing/2014/main" id="{59020BA3-D591-413C-912D-DE18E18773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5" name="Rectangle 7">
            <a:extLst>
              <a:ext uri="{FF2B5EF4-FFF2-40B4-BE49-F238E27FC236}">
                <a16:creationId xmlns:a16="http://schemas.microsoft.com/office/drawing/2014/main" id="{D9B8CE43-7E94-4C8B-8E0B-7370F19070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6" name="Rectangle 8">
            <a:extLst>
              <a:ext uri="{FF2B5EF4-FFF2-40B4-BE49-F238E27FC236}">
                <a16:creationId xmlns:a16="http://schemas.microsoft.com/office/drawing/2014/main" id="{75598D78-A550-47EF-A5E3-62302F372F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FE5A2AF8-BF58-4C4A-B851-25A010E63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85245F20-820A-4297-997A-0AF38D8EF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2DB26681-ED89-4EA5-A31D-7A12E41F20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345F0F4D-AC56-4401-906A-B92EEDBD35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37E93D84-62EC-4B16-B97D-407A177016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394D05D8-C93C-4E62-A7C4-AEB2C534390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>
            <a:extLst>
              <a:ext uri="{FF2B5EF4-FFF2-40B4-BE49-F238E27FC236}">
                <a16:creationId xmlns:a16="http://schemas.microsoft.com/office/drawing/2014/main" id="{842D1013-89BD-4306-97E4-B949CF7FDB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138238"/>
            <a:ext cx="8137525" cy="1462087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 关系运算</a:t>
            </a:r>
          </a:p>
        </p:txBody>
      </p:sp>
      <p:sp>
        <p:nvSpPr>
          <p:cNvPr id="622598" name="Rectangle 6">
            <a:extLst>
              <a:ext uri="{FF2B5EF4-FFF2-40B4-BE49-F238E27FC236}">
                <a16:creationId xmlns:a16="http://schemas.microsoft.com/office/drawing/2014/main" id="{BD1F6C19-9D67-4CDE-80F2-BEC37C6F2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4608513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2603" name="Text Box 11">
            <a:extLst>
              <a:ext uri="{FF2B5EF4-FFF2-40B4-BE49-F238E27FC236}">
                <a16:creationId xmlns:a16="http://schemas.microsoft.com/office/drawing/2014/main" id="{ABF44689-3459-4E7E-93AA-A06098E36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957638"/>
            <a:ext cx="46815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44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622604" name="Picture 12">
            <a:extLst>
              <a:ext uri="{FF2B5EF4-FFF2-40B4-BE49-F238E27FC236}">
                <a16:creationId xmlns:a16="http://schemas.microsoft.com/office/drawing/2014/main" id="{29E6D577-5D51-44B1-BB38-C5AA85279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0363"/>
            <a:ext cx="2700338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2605" name="Text Box 13">
            <a:extLst>
              <a:ext uri="{FF2B5EF4-FFF2-40B4-BE49-F238E27FC236}">
                <a16:creationId xmlns:a16="http://schemas.microsoft.com/office/drawing/2014/main" id="{B5E67262-0505-4666-B0B7-290BF482D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（第三讲）</a:t>
            </a:r>
            <a:endParaRPr lang="zh-CN" altLang="en-US" sz="4400" b="1">
              <a:solidFill>
                <a:srgbClr val="0066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2"/>
    </mc:Choice>
    <mc:Fallback xmlns="">
      <p:transition spd="slow" advTm="5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6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4" grpId="0"/>
      <p:bldP spid="62259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8" name="Rectangle 4">
            <a:extLst>
              <a:ext uri="{FF2B5EF4-FFF2-40B4-BE49-F238E27FC236}">
                <a16:creationId xmlns:a16="http://schemas.microsoft.com/office/drawing/2014/main" id="{859037B1-658D-4106-A706-36EDBF54D4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/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主要内容</a:t>
            </a:r>
          </a:p>
        </p:txBody>
      </p:sp>
      <p:sp>
        <p:nvSpPr>
          <p:cNvPr id="897029" name="Rectangle 5">
            <a:extLst>
              <a:ext uri="{FF2B5EF4-FFF2-40B4-BE49-F238E27FC236}">
                <a16:creationId xmlns:a16="http://schemas.microsoft.com/office/drawing/2014/main" id="{98E1EF5F-23E5-4394-B5C7-CC1D5F38D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endParaRPr lang="zh-CN" altLang="en-US" sz="32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         </a:t>
            </a: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2.3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关系演算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2.4</a:t>
            </a:r>
            <a:r>
              <a:rPr lang="en-US" altLang="zh-CN" sz="3200" baseline="300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*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三种关系运算表达能力的等价性</a:t>
            </a:r>
            <a:endParaRPr lang="zh-CN" altLang="en-US" sz="3200">
              <a:solidFill>
                <a:srgbClr val="006666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08"/>
    </mc:Choice>
    <mc:Fallback xmlns="">
      <p:transition spd="slow" advTm="10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97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2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4" name="Text Box 6">
            <a:extLst>
              <a:ext uri="{FF2B5EF4-FFF2-40B4-BE49-F238E27FC236}">
                <a16:creationId xmlns:a16="http://schemas.microsoft.com/office/drawing/2014/main" id="{20CF1EEF-6DD8-45C5-9BEC-28B63D059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" y="63500"/>
            <a:ext cx="8820150" cy="1192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898053" name="Text Box 5">
            <a:extLst>
              <a:ext uri="{FF2B5EF4-FFF2-40B4-BE49-F238E27FC236}">
                <a16:creationId xmlns:a16="http://schemas.microsoft.com/office/drawing/2014/main" id="{3F5DD99E-D64E-4358-BB10-9DFB9C9BE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1543050"/>
            <a:ext cx="8164512" cy="332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</a:pPr>
            <a:endParaRPr lang="zh-CN" altLang="en-US" sz="800" b="1">
              <a:solidFill>
                <a:srgbClr val="0066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关系演算是谓词演算在关系运算中的推广应用。</a:t>
            </a:r>
          </a:p>
          <a:p>
            <a:pPr>
              <a:lnSpc>
                <a:spcPct val="170000"/>
              </a:lnSpc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关系演算：</a:t>
            </a:r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元组关系演算、域关系演算</a:t>
            </a:r>
            <a:endParaRPr lang="en-US" altLang="zh-CN" sz="3200" b="1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943"/>
    </mc:Choice>
    <mc:Fallback xmlns="">
      <p:transition spd="slow" advTm="919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00" name="Rectangle 4">
            <a:extLst>
              <a:ext uri="{FF2B5EF4-FFF2-40B4-BE49-F238E27FC236}">
                <a16:creationId xmlns:a16="http://schemas.microsoft.com/office/drawing/2014/main" id="{CDB3B551-F84E-4DCE-B9B1-F396E8D7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、元组关系演算表达式</a:t>
            </a:r>
            <a:r>
              <a:rPr lang="zh-CN" altLang="en-US" sz="3000">
                <a:latin typeface="楷体_GB2312" pitchFamily="49" charset="-122"/>
              </a:rPr>
              <a:t> </a:t>
            </a:r>
          </a:p>
          <a:p>
            <a:pPr>
              <a:lnSpc>
                <a:spcPct val="135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 sz="3000">
                <a:solidFill>
                  <a:srgbClr val="003366"/>
                </a:solidFill>
                <a:latin typeface="楷体_GB2312" pitchFamily="49" charset="-122"/>
              </a:rPr>
              <a:t>一般形式：</a:t>
            </a:r>
            <a:r>
              <a:rPr lang="zh-CN" altLang="en-US" sz="3000">
                <a:latin typeface="楷体_GB2312" pitchFamily="49" charset="-122"/>
              </a:rPr>
              <a:t> {</a:t>
            </a:r>
            <a:r>
              <a:rPr lang="en-US" altLang="zh-CN" sz="3000">
                <a:latin typeface="楷体_GB2312" pitchFamily="49" charset="-122"/>
              </a:rPr>
              <a:t>t|</a:t>
            </a:r>
            <a:r>
              <a:rPr lang="en-US" altLang="zh-CN" sz="3000">
                <a:latin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3000">
                <a:latin typeface="楷体_GB2312" pitchFamily="49" charset="-122"/>
              </a:rPr>
              <a:t>(t)} 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</a:rPr>
              <a:t>其中：</a:t>
            </a:r>
            <a:r>
              <a:rPr lang="en-US" altLang="zh-CN" sz="3000">
                <a:latin typeface="楷体_GB2312" pitchFamily="49" charset="-122"/>
              </a:rPr>
              <a:t>t </a:t>
            </a:r>
            <a:r>
              <a:rPr lang="zh-CN" altLang="en-US" sz="3000">
                <a:latin typeface="楷体_GB2312" pitchFamily="49" charset="-122"/>
              </a:rPr>
              <a:t>为元组变量，</a:t>
            </a:r>
            <a:r>
              <a:rPr lang="en-US" altLang="zh-CN" sz="3000">
                <a:latin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3000">
                <a:latin typeface="楷体_GB2312" pitchFamily="49" charset="-122"/>
              </a:rPr>
              <a:t>(t)</a:t>
            </a:r>
            <a:r>
              <a:rPr lang="zh-CN" altLang="en-US" sz="3000">
                <a:latin typeface="楷体_GB2312" pitchFamily="49" charset="-122"/>
              </a:rPr>
              <a:t>为由原子公式和运算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sz="3000">
                <a:latin typeface="楷体_GB2312" pitchFamily="49" charset="-122"/>
              </a:rPr>
              <a:t>      符组成的公式。</a:t>
            </a:r>
          </a:p>
        </p:txBody>
      </p:sp>
      <p:sp>
        <p:nvSpPr>
          <p:cNvPr id="900101" name="Rectangle 5">
            <a:extLst>
              <a:ext uri="{FF2B5EF4-FFF2-40B4-BE49-F238E27FC236}">
                <a16:creationId xmlns:a16="http://schemas.microsoft.com/office/drawing/2014/main" id="{9BD3D0F6-F87C-45C8-A8C2-86B2FC283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04"/>
    </mc:Choice>
    <mc:Fallback xmlns="">
      <p:transition spd="slow" advTm="38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00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00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4" name="Rectangle 4">
            <a:extLst>
              <a:ext uri="{FF2B5EF4-FFF2-40B4-BE49-F238E27FC236}">
                <a16:creationId xmlns:a16="http://schemas.microsoft.com/office/drawing/2014/main" id="{272A96BA-9332-4F09-A44F-8F0BD531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、元组关系演算表达式中的原子形式</a:t>
            </a:r>
          </a:p>
          <a:p>
            <a:pPr>
              <a:lnSpc>
                <a:spcPct val="135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>
                <a:latin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）</a:t>
            </a:r>
            <a:r>
              <a:rPr lang="en-US" altLang="zh-CN">
                <a:solidFill>
                  <a:srgbClr val="CC0000"/>
                </a:solidFill>
                <a:latin typeface="楷体_GB2312" pitchFamily="49" charset="-122"/>
              </a:rPr>
              <a:t>R(t)</a:t>
            </a:r>
            <a:r>
              <a:rPr lang="en-US" altLang="zh-CN" sz="1000">
                <a:solidFill>
                  <a:srgbClr val="CC0000"/>
                </a:solidFill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：表示</a:t>
            </a:r>
            <a:r>
              <a:rPr lang="en-US" altLang="zh-CN">
                <a:latin typeface="楷体_GB2312" pitchFamily="49" charset="-122"/>
              </a:rPr>
              <a:t>t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是关系</a:t>
            </a:r>
            <a:r>
              <a:rPr lang="en-US" altLang="zh-CN">
                <a:latin typeface="楷体_GB2312" pitchFamily="49" charset="-122"/>
              </a:rPr>
              <a:t>R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的元组。</a:t>
            </a:r>
            <a:endParaRPr lang="en-US" altLang="zh-CN" sz="3000">
              <a:latin typeface="楷体_GB2312" pitchFamily="49" charset="-122"/>
            </a:endParaRP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）</a:t>
            </a:r>
            <a:r>
              <a:rPr lang="en-US" altLang="zh-CN">
                <a:solidFill>
                  <a:srgbClr val="CC0000"/>
                </a:solidFill>
                <a:latin typeface="楷体_GB2312" pitchFamily="49" charset="-122"/>
              </a:rPr>
              <a:t>t[j]θu[k]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：表示元组</a:t>
            </a:r>
            <a:r>
              <a:rPr lang="en-US" altLang="zh-CN">
                <a:latin typeface="楷体_GB2312" pitchFamily="49" charset="-122"/>
              </a:rPr>
              <a:t>t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的第</a:t>
            </a:r>
            <a:r>
              <a:rPr lang="en-US" altLang="zh-CN">
                <a:latin typeface="楷体_GB2312" pitchFamily="49" charset="-122"/>
              </a:rPr>
              <a:t>j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个分量与元组</a:t>
            </a:r>
            <a:r>
              <a:rPr lang="en-US" altLang="zh-CN">
                <a:latin typeface="楷体_GB2312" pitchFamily="49" charset="-122"/>
              </a:rPr>
              <a:t>u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的第</a:t>
            </a:r>
            <a:r>
              <a:rPr lang="en-US" altLang="zh-CN">
                <a:latin typeface="楷体_GB2312" pitchFamily="49" charset="-122"/>
              </a:rPr>
              <a:t>k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个分量满足</a:t>
            </a:r>
            <a:r>
              <a:rPr lang="en-US" altLang="zh-CN">
                <a:latin typeface="楷体_GB2312" pitchFamily="49" charset="-122"/>
              </a:rPr>
              <a:t>θ</a:t>
            </a:r>
            <a:r>
              <a:rPr lang="zh-CN" altLang="en-US">
                <a:latin typeface="楷体_GB2312" pitchFamily="49" charset="-122"/>
              </a:rPr>
              <a:t>运算。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>
                <a:latin typeface="楷体_GB2312" pitchFamily="49" charset="-122"/>
              </a:rPr>
              <a:t>    （</a:t>
            </a:r>
            <a:r>
              <a:rPr lang="en-US" altLang="zh-CN">
                <a:latin typeface="楷体_GB2312" pitchFamily="49" charset="-122"/>
              </a:rPr>
              <a:t>3</a:t>
            </a:r>
            <a:r>
              <a:rPr lang="zh-CN" altLang="en-US">
                <a:latin typeface="楷体_GB2312" pitchFamily="49" charset="-122"/>
              </a:rPr>
              <a:t>）</a:t>
            </a:r>
            <a:r>
              <a:rPr lang="en-US" altLang="zh-CN">
                <a:solidFill>
                  <a:srgbClr val="CC0000"/>
                </a:solidFill>
                <a:latin typeface="楷体_GB2312" pitchFamily="49" charset="-122"/>
              </a:rPr>
              <a:t>t[j]θa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CC0000"/>
                </a:solidFill>
                <a:latin typeface="楷体_GB2312" pitchFamily="49" charset="-122"/>
              </a:rPr>
              <a:t>或</a:t>
            </a:r>
            <a:r>
              <a:rPr lang="zh-CN" altLang="en-US" sz="1000">
                <a:latin typeface="楷体_GB2312" pitchFamily="49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latin typeface="楷体_GB2312" pitchFamily="49" charset="-122"/>
              </a:rPr>
              <a:t>aθt[j]</a:t>
            </a:r>
            <a:r>
              <a:rPr lang="zh-CN" altLang="en-US">
                <a:latin typeface="楷体_GB2312" pitchFamily="49" charset="-122"/>
              </a:rPr>
              <a:t>：表示元组</a:t>
            </a:r>
            <a:r>
              <a:rPr lang="en-US" altLang="zh-CN">
                <a:latin typeface="楷体_GB2312" pitchFamily="49" charset="-122"/>
              </a:rPr>
              <a:t>t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的第</a:t>
            </a:r>
            <a:r>
              <a:rPr lang="en-US" altLang="zh-CN">
                <a:latin typeface="楷体_GB2312" pitchFamily="49" charset="-122"/>
              </a:rPr>
              <a:t>j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个分量与常数</a:t>
            </a:r>
            <a:r>
              <a:rPr lang="en-US" altLang="zh-CN">
                <a:latin typeface="楷体_GB2312" pitchFamily="49" charset="-122"/>
              </a:rPr>
              <a:t>a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之间满足</a:t>
            </a:r>
            <a:r>
              <a:rPr lang="en-US" altLang="zh-CN">
                <a:latin typeface="楷体_GB2312" pitchFamily="49" charset="-122"/>
              </a:rPr>
              <a:t>θ</a:t>
            </a:r>
            <a:r>
              <a:rPr lang="zh-CN" altLang="en-US">
                <a:latin typeface="楷体_GB2312" pitchFamily="49" charset="-122"/>
              </a:rPr>
              <a:t>运算。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endParaRPr lang="zh-CN" altLang="en-US">
              <a:latin typeface="楷体_GB2312" pitchFamily="49" charset="-122"/>
            </a:endParaRP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一般形式： {</a:t>
            </a: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t|</a:t>
            </a: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(t)}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01125" name="Rectangle 5">
            <a:extLst>
              <a:ext uri="{FF2B5EF4-FFF2-40B4-BE49-F238E27FC236}">
                <a16:creationId xmlns:a16="http://schemas.microsoft.com/office/drawing/2014/main" id="{99116207-D691-47F8-8470-8D5CFF34F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  <p:sp>
        <p:nvSpPr>
          <p:cNvPr id="901126" name="Line 6">
            <a:extLst>
              <a:ext uri="{FF2B5EF4-FFF2-40B4-BE49-F238E27FC236}">
                <a16:creationId xmlns:a16="http://schemas.microsoft.com/office/drawing/2014/main" id="{8D7E7C7D-3AE0-4008-B132-7A17F4B82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445125"/>
            <a:ext cx="9144000" cy="0"/>
          </a:xfrm>
          <a:prstGeom prst="line">
            <a:avLst/>
          </a:prstGeom>
          <a:noFill/>
          <a:ln w="28575" cap="sq">
            <a:solidFill>
              <a:srgbClr val="0033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038"/>
    </mc:Choice>
    <mc:Fallback xmlns="">
      <p:transition spd="slow" advTm="67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1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01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01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5" name="Rectangle 7">
            <a:extLst>
              <a:ext uri="{FF2B5EF4-FFF2-40B4-BE49-F238E27FC236}">
                <a16:creationId xmlns:a16="http://schemas.microsoft.com/office/drawing/2014/main" id="{B4677805-3447-475E-AE5E-DFBCEDD44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、自由元组变量和约束元组变量</a:t>
            </a:r>
            <a:r>
              <a:rPr lang="zh-CN" altLang="en-US" sz="3000" dirty="0"/>
              <a:t> </a:t>
            </a:r>
            <a:endParaRPr lang="zh-CN" altLang="en-US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zh-CN" altLang="en-US" sz="3000" dirty="0">
                <a:latin typeface="楷体_GB2312" pitchFamily="49" charset="-122"/>
              </a:rPr>
              <a:t>　　</a:t>
            </a:r>
            <a:r>
              <a:rPr lang="zh-CN" altLang="en-US" sz="3000" dirty="0"/>
              <a:t>在一个公式中，一个元组变量称为约束元组变量，当且仅当这个元组变量前面有存在量词</a:t>
            </a:r>
            <a:r>
              <a:rPr lang="en-US" altLang="zh-CN" sz="3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zh-CN" altLang="en-US" sz="3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或全程量词</a:t>
            </a:r>
            <a:r>
              <a:rPr lang="en-US" altLang="zh-CN" sz="3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3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，反之，则称这个元组变量为自由元组变量。</a:t>
            </a:r>
            <a:endParaRPr lang="en-US" altLang="zh-CN" sz="3000" dirty="0">
              <a:latin typeface="楷体_GB2312" pitchFamily="49" charset="-122"/>
            </a:endParaRP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dirty="0"/>
              <a:t> 在公式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t(R(t)∧S(u))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中，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为约束变量，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         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u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为自由变量。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867336" name="Rectangle 8">
            <a:extLst>
              <a:ext uri="{FF2B5EF4-FFF2-40B4-BE49-F238E27FC236}">
                <a16:creationId xmlns:a16="http://schemas.microsoft.com/office/drawing/2014/main" id="{14333279-5F3C-43C1-92F2-4A1A6BCAB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400"/>
    </mc:Choice>
    <mc:Fallback xmlns="">
      <p:transition spd="slow" advTm="87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67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67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67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67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54" name="Rectangle 10">
            <a:extLst>
              <a:ext uri="{FF2B5EF4-FFF2-40B4-BE49-F238E27FC236}">
                <a16:creationId xmlns:a16="http://schemas.microsoft.com/office/drawing/2014/main" id="{D221E53E-5FCF-4504-8521-31583B1AA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、元组关系演算的公式定义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（</a:t>
            </a:r>
            <a:r>
              <a:rPr lang="en-US" altLang="zh-CN" sz="3000">
                <a:latin typeface="楷体_GB2312" pitchFamily="49" charset="-122"/>
              </a:rPr>
              <a:t>1</a:t>
            </a:r>
            <a:r>
              <a:rPr lang="zh-CN" altLang="en-US" sz="3000">
                <a:latin typeface="楷体_GB2312" pitchFamily="49" charset="-122"/>
              </a:rPr>
              <a:t>）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每个原子是一个公式，称为原子公式。原子中的所有元组变量在该公式中是自由变量。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5355" name="Rectangle 11">
            <a:extLst>
              <a:ext uri="{FF2B5EF4-FFF2-40B4-BE49-F238E27FC236}">
                <a16:creationId xmlns:a16="http://schemas.microsoft.com/office/drawing/2014/main" id="{14D19CD6-46A5-40FA-8287-AA1262C40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p:transition advTm="235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5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8" name="Rectangle 4">
            <a:extLst>
              <a:ext uri="{FF2B5EF4-FFF2-40B4-BE49-F238E27FC236}">
                <a16:creationId xmlns:a16="http://schemas.microsoft.com/office/drawing/2014/main" id="{FEC93409-3D82-44C4-A817-E2A230090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、元组关系演算的公式定义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）如果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是公式，则</a:t>
            </a: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∨</a:t>
            </a:r>
            <a:r>
              <a:rPr lang="en-US" altLang="zh-CN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00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</a:t>
            </a:r>
            <a:r>
              <a:rPr lang="en-US" altLang="zh-CN" sz="30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也是公式。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    它们分别表示：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均为真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rgbClr val="006666"/>
                </a:solidFill>
                <a:latin typeface="楷体_GB2312" pitchFamily="49" charset="-122"/>
                <a:cs typeface="Times New Roman" panose="02020603050405020304" pitchFamily="18" charset="0"/>
              </a:rPr>
              <a:t>至少有一个为真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300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latin typeface="楷体_GB2312" pitchFamily="49" charset="-122"/>
                <a:cs typeface="Times New Roman" panose="02020603050405020304" pitchFamily="18" charset="0"/>
              </a:rPr>
              <a:t>不为真</a:t>
            </a:r>
            <a:r>
              <a:rPr lang="zh-CN" altLang="en-US" sz="30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    这些公式中的元组变量依然如它们在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30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中是自由的或是约束的。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02149" name="Rectangle 5">
            <a:extLst>
              <a:ext uri="{FF2B5EF4-FFF2-40B4-BE49-F238E27FC236}">
                <a16:creationId xmlns:a16="http://schemas.microsoft.com/office/drawing/2014/main" id="{F00CE6E1-001D-461D-81DF-7A207A5A8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943"/>
    </mc:Choice>
    <mc:Fallback xmlns="">
      <p:transition spd="slow" advTm="58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0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402" name="Rectangle 10">
            <a:extLst>
              <a:ext uri="{FF2B5EF4-FFF2-40B4-BE49-F238E27FC236}">
                <a16:creationId xmlns:a16="http://schemas.microsoft.com/office/drawing/2014/main" id="{66D77086-59B1-4B87-8E28-36AD0446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、元组关系演算的公式定义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（</a:t>
            </a:r>
            <a:r>
              <a:rPr lang="en-US" altLang="zh-CN" sz="3000">
                <a:latin typeface="楷体_GB2312" pitchFamily="49" charset="-122"/>
              </a:rPr>
              <a:t>3</a:t>
            </a:r>
            <a:r>
              <a:rPr lang="zh-CN" altLang="en-US" sz="3000">
                <a:latin typeface="楷体_GB2312" pitchFamily="49" charset="-122"/>
              </a:rPr>
              <a:t>）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是公式，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中的某个自由元组变量，则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也是公式，它表示：存在一个元组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使公式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为真。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中是自由的，但在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中是约束的。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中的其它元组变量的自由约束性在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中没有变化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 sz="3000">
              <a:solidFill>
                <a:schemeClr val="tx2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7403" name="Rectangle 11">
            <a:extLst>
              <a:ext uri="{FF2B5EF4-FFF2-40B4-BE49-F238E27FC236}">
                <a16:creationId xmlns:a16="http://schemas.microsoft.com/office/drawing/2014/main" id="{B0637356-A630-4E5C-B324-CD3A8700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p:transition advTm="1087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7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8" name="Rectangle 6">
            <a:extLst>
              <a:ext uri="{FF2B5EF4-FFF2-40B4-BE49-F238E27FC236}">
                <a16:creationId xmlns:a16="http://schemas.microsoft.com/office/drawing/2014/main" id="{3BA9618F-DF53-4064-BCA3-6DBF29A61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、元组关系演算的公式定义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是公式，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中的某个自由元组变量，则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也是公式，它表示：对于所有元组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都使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为真。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中是自由的，但在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中是约束的。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中的其它元组变量的自由约束性在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u)(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中没有变化。</a:t>
            </a:r>
          </a:p>
        </p:txBody>
      </p:sp>
      <p:sp>
        <p:nvSpPr>
          <p:cNvPr id="899079" name="Rectangle 7">
            <a:extLst>
              <a:ext uri="{FF2B5EF4-FFF2-40B4-BE49-F238E27FC236}">
                <a16:creationId xmlns:a16="http://schemas.microsoft.com/office/drawing/2014/main" id="{D1AC8752-8BE3-4826-A55A-A0939528F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39"/>
    </mc:Choice>
    <mc:Fallback xmlns="">
      <p:transition spd="slow" advTm="546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9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2" name="Rectangle 4">
            <a:extLst>
              <a:ext uri="{FF2B5EF4-FFF2-40B4-BE49-F238E27FC236}">
                <a16:creationId xmlns:a16="http://schemas.microsoft.com/office/drawing/2014/main" id="{4EAFDE1D-7D0C-4F76-856E-105FC2D32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、元组关系演算的公式定义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）公式中运算符的优先次序从高到低依次为：算术比较符，量词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，逻辑运算符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∧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∨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。添加括号可改变上述次序。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    （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）公式或只限于上述五种形式，或只由上述五种基本形式组合而成。</a:t>
            </a:r>
          </a:p>
        </p:txBody>
      </p:sp>
      <p:sp>
        <p:nvSpPr>
          <p:cNvPr id="903173" name="Rectangle 5">
            <a:extLst>
              <a:ext uri="{FF2B5EF4-FFF2-40B4-BE49-F238E27FC236}">
                <a16:creationId xmlns:a16="http://schemas.microsoft.com/office/drawing/2014/main" id="{7F6037DD-1284-417C-819F-54E05D32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385"/>
    </mc:Choice>
    <mc:Fallback xmlns="">
      <p:transition spd="slow" advTm="813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3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03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6" name="Rectangle 6">
            <a:extLst>
              <a:ext uri="{FF2B5EF4-FFF2-40B4-BE49-F238E27FC236}">
                <a16:creationId xmlns:a16="http://schemas.microsoft.com/office/drawing/2014/main" id="{456EA394-EFFA-487B-A135-D8EF6701F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、五种基本关系代数表达式的元组演算表示形式    </a:t>
            </a: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000">
                <a:latin typeface="楷体_GB2312" pitchFamily="49" charset="-122"/>
              </a:rPr>
              <a:t>　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R∪S≡{t|R(t)∨S(t)}</a:t>
            </a: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楷体_GB2312" pitchFamily="49" charset="-122"/>
              </a:rPr>
              <a:t>　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S≡{t|R(t)∧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S(t)}</a:t>
            </a:r>
          </a:p>
          <a:p>
            <a:pPr lvl="1" algn="just"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R×S≡{t|(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)(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)(R(u)∧S(v)∧</a:t>
            </a:r>
          </a:p>
          <a:p>
            <a:pPr lvl="1" algn="just"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         t[1]=u[1]∧</a:t>
            </a: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∧t[r]=u[r]∧</a:t>
            </a:r>
          </a:p>
          <a:p>
            <a:pPr lvl="1" algn="just"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       t[r+1]=v[1]∧</a:t>
            </a: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∧t[r+s]=v[s])}</a:t>
            </a:r>
            <a:endParaRPr lang="zh-CN" altLang="en-US" sz="32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9447" name="Rectangle 7">
            <a:extLst>
              <a:ext uri="{FF2B5EF4-FFF2-40B4-BE49-F238E27FC236}">
                <a16:creationId xmlns:a16="http://schemas.microsoft.com/office/drawing/2014/main" id="{94C617EF-0141-4393-B9D9-94E490342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p:transition advTm="15164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9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9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29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2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29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8294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4" name="Rectangle 6">
            <a:extLst>
              <a:ext uri="{FF2B5EF4-FFF2-40B4-BE49-F238E27FC236}">
                <a16:creationId xmlns:a16="http://schemas.microsoft.com/office/drawing/2014/main" id="{C7E78E01-2FF4-401A-BFCF-22D17EDA9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、五种基本关系代数表达式的元组演算表示形式    </a:t>
            </a: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000">
                <a:latin typeface="楷体_GB2312" pitchFamily="49" charset="-122"/>
              </a:rPr>
              <a:t>　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3200">
                <a:latin typeface="楷体_GB2312" pitchFamily="49" charset="-122"/>
              </a:rPr>
              <a:t>π</a:t>
            </a:r>
            <a:r>
              <a:rPr lang="en-US" altLang="zh-CN" sz="3200" baseline="-30000">
                <a:latin typeface="楷体_GB2312" pitchFamily="49" charset="-122"/>
              </a:rPr>
              <a:t>j1,j2,</a:t>
            </a:r>
            <a:r>
              <a:rPr lang="en-US" altLang="zh-CN" sz="3200" baseline="-30000">
                <a:latin typeface="Arial" panose="020B0604020202020204" pitchFamily="34" charset="0"/>
              </a:rPr>
              <a:t>…</a:t>
            </a:r>
            <a:r>
              <a:rPr lang="en-US" altLang="zh-CN" sz="3200" baseline="-30000">
                <a:latin typeface="楷体_GB2312" pitchFamily="49" charset="-122"/>
              </a:rPr>
              <a:t>,jk</a:t>
            </a:r>
            <a:r>
              <a:rPr lang="en-US" altLang="zh-CN" sz="3200">
                <a:latin typeface="楷体_GB2312" pitchFamily="49" charset="-122"/>
              </a:rPr>
              <a:t>(R)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≡</a:t>
            </a:r>
            <a:r>
              <a:rPr lang="en-US" altLang="zh-CN" sz="2900">
                <a:latin typeface="楷体_GB2312" pitchFamily="49" charset="-122"/>
              </a:rPr>
              <a:t>｛t</a:t>
            </a:r>
            <a:r>
              <a:rPr lang="en-US" altLang="zh-CN" sz="2900" baseline="30000">
                <a:latin typeface="楷体_GB2312" pitchFamily="49" charset="-122"/>
              </a:rPr>
              <a:t>k</a:t>
            </a:r>
            <a:r>
              <a:rPr lang="en-US" altLang="zh-CN" sz="2900">
                <a:latin typeface="楷体_GB2312" pitchFamily="49" charset="-122"/>
              </a:rPr>
              <a:t>|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9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9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)(R(u)∧</a:t>
            </a: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                t[1]=u[j</a:t>
            </a:r>
            <a:r>
              <a:rPr lang="en-US" altLang="zh-CN" sz="2900" baseline="-25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]∧</a:t>
            </a:r>
            <a:r>
              <a:rPr lang="en-US" altLang="zh-CN" sz="29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∧t[k]=u[j</a:t>
            </a:r>
            <a:r>
              <a:rPr lang="en-US" altLang="zh-CN" sz="2900" baseline="-25000">
                <a:latin typeface="楷体_GB2312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])}</a:t>
            </a:r>
            <a:endParaRPr lang="en-US" altLang="zh-CN" sz="3200">
              <a:latin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楷体_GB2312" pitchFamily="49" charset="-122"/>
              </a:rPr>
              <a:t>　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3200">
                <a:latin typeface="楷体_GB2312" pitchFamily="49" charset="-122"/>
                <a:cs typeface="Times New Roman" panose="02020603050405020304" pitchFamily="18" charset="0"/>
              </a:rPr>
              <a:t>） </a:t>
            </a:r>
            <a:r>
              <a:rPr lang="el-GR" altLang="zh-CN" sz="3000">
                <a:latin typeface="楷体_GB2312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3000" baseline="-25000"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000">
                <a:latin typeface="楷体_GB2312" pitchFamily="49" charset="-122"/>
                <a:cs typeface="Times New Roman" panose="02020603050405020304" pitchFamily="18" charset="0"/>
              </a:rPr>
              <a:t>(R)≡</a:t>
            </a:r>
            <a:r>
              <a:rPr lang="en-US" altLang="zh-CN" sz="3000">
                <a:latin typeface="楷体_GB2312" pitchFamily="49" charset="-122"/>
              </a:rPr>
              <a:t>{t|R(t)</a:t>
            </a:r>
            <a:r>
              <a:rPr lang="en-US" altLang="zh-CN" sz="3000">
                <a:latin typeface="楷体_GB2312" pitchFamily="49" charset="-122"/>
                <a:cs typeface="Times New Roman" panose="02020603050405020304" pitchFamily="18" charset="0"/>
              </a:rPr>
              <a:t>∧F</a:t>
            </a:r>
            <a:r>
              <a:rPr lang="en-US" altLang="zh-CN" sz="3000">
                <a:latin typeface="Arial" panose="020B0604020202020204" pitchFamily="34" charset="0"/>
                <a:cs typeface="Times New Roman" panose="02020603050405020304" pitchFamily="18" charset="0"/>
              </a:rPr>
              <a:t>’</a:t>
            </a:r>
            <a:r>
              <a:rPr lang="en-US" altLang="zh-CN" sz="3000">
                <a:latin typeface="楷体_GB2312" pitchFamily="49" charset="-122"/>
              </a:rPr>
              <a:t>}</a:t>
            </a:r>
          </a:p>
          <a:p>
            <a:pPr lvl="1"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zh-CN" altLang="en-US" sz="2700">
                <a:solidFill>
                  <a:srgbClr val="003366"/>
                </a:solidFill>
                <a:latin typeface="楷体_GB2312" pitchFamily="49" charset="-122"/>
              </a:rPr>
              <a:t>其中：</a:t>
            </a:r>
            <a:r>
              <a:rPr lang="zh-CN" altLang="en-US" sz="2700">
                <a:latin typeface="楷体_GB2312" pitchFamily="49" charset="-122"/>
              </a:rPr>
              <a:t>用</a:t>
            </a:r>
            <a:r>
              <a:rPr lang="en-US" altLang="zh-CN" sz="2700">
                <a:latin typeface="楷体_GB2312" pitchFamily="49" charset="-122"/>
              </a:rPr>
              <a:t>t[j]</a:t>
            </a:r>
            <a:r>
              <a:rPr lang="en-US" altLang="zh-CN" sz="1000">
                <a:latin typeface="楷体_GB2312" pitchFamily="49" charset="-122"/>
              </a:rPr>
              <a:t> </a:t>
            </a:r>
            <a:r>
              <a:rPr lang="zh-CN" altLang="en-US" sz="2700">
                <a:latin typeface="楷体_GB2312" pitchFamily="49" charset="-122"/>
              </a:rPr>
              <a:t>代替公式</a:t>
            </a:r>
            <a:r>
              <a:rPr lang="en-US" altLang="zh-CN" sz="2700">
                <a:latin typeface="楷体_GB2312" pitchFamily="49" charset="-122"/>
              </a:rPr>
              <a:t>F</a:t>
            </a:r>
            <a:r>
              <a:rPr lang="zh-CN" altLang="en-US" sz="2700">
                <a:latin typeface="楷体_GB2312" pitchFamily="49" charset="-122"/>
              </a:rPr>
              <a:t>中的运算对象可得到</a:t>
            </a:r>
            <a:r>
              <a:rPr lang="zh-CN" altLang="en-US" sz="1000">
                <a:latin typeface="楷体_GB2312" pitchFamily="49" charset="-122"/>
              </a:rPr>
              <a:t> </a:t>
            </a:r>
            <a:r>
              <a:rPr lang="en-US" altLang="zh-CN" sz="2700">
                <a:latin typeface="楷体_GB2312" pitchFamily="49" charset="-122"/>
              </a:rPr>
              <a:t>F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’</a:t>
            </a:r>
            <a:r>
              <a:rPr lang="zh-CN" altLang="en-US" sz="2700">
                <a:latin typeface="楷体_GB2312" pitchFamily="49" charset="-122"/>
              </a:rPr>
              <a:t>。</a:t>
            </a:r>
          </a:p>
        </p:txBody>
      </p:sp>
      <p:sp>
        <p:nvSpPr>
          <p:cNvPr id="831495" name="Rectangle 7">
            <a:extLst>
              <a:ext uri="{FF2B5EF4-FFF2-40B4-BE49-F238E27FC236}">
                <a16:creationId xmlns:a16="http://schemas.microsoft.com/office/drawing/2014/main" id="{0E289569-3FC9-428D-BEE7-D5820227D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p:transition advTm="987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31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31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31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31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>
            <a:extLst>
              <a:ext uri="{FF2B5EF4-FFF2-40B4-BE49-F238E27FC236}">
                <a16:creationId xmlns:a16="http://schemas.microsoft.com/office/drawing/2014/main" id="{A4ACE0A0-E25E-4AC3-B789-006234F14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268413"/>
            <a:ext cx="8424862" cy="4889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zh-CN" sz="24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zh-CN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设有已知关系R 如图所示，求如下元组演算表达式的值</a:t>
            </a:r>
            <a:r>
              <a: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zh-CN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33593" name="Group 57">
            <a:extLst>
              <a:ext uri="{FF2B5EF4-FFF2-40B4-BE49-F238E27FC236}">
                <a16:creationId xmlns:a16="http://schemas.microsoft.com/office/drawing/2014/main" id="{7F4FE81F-3C36-4BF1-9A47-A3B65F7F8473}"/>
              </a:ext>
            </a:extLst>
          </p:cNvPr>
          <p:cNvGraphicFramePr>
            <a:graphicFrameLocks noGrp="1"/>
          </p:cNvGraphicFramePr>
          <p:nvPr/>
        </p:nvGraphicFramePr>
        <p:xfrm>
          <a:off x="1514475" y="3162300"/>
          <a:ext cx="1905000" cy="2164146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98395691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90673244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541899613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62892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643314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56089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570343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97968"/>
                  </a:ext>
                </a:extLst>
              </a:tr>
            </a:tbl>
          </a:graphicData>
        </a:graphic>
      </p:graphicFrame>
      <p:sp>
        <p:nvSpPr>
          <p:cNvPr id="833565" name="Text Box 29">
            <a:extLst>
              <a:ext uri="{FF2B5EF4-FFF2-40B4-BE49-F238E27FC236}">
                <a16:creationId xmlns:a16="http://schemas.microsoft.com/office/drawing/2014/main" id="{759A3B68-899C-4E21-84D3-730E61204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5600700"/>
            <a:ext cx="9604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sp>
        <p:nvSpPr>
          <p:cNvPr id="833566" name="Text Box 30">
            <a:extLst>
              <a:ext uri="{FF2B5EF4-FFF2-40B4-BE49-F238E27FC236}">
                <a16:creationId xmlns:a16="http://schemas.microsoft.com/office/drawing/2014/main" id="{DC2D19FC-51F7-4B34-9E77-88E00A36B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2046288"/>
            <a:ext cx="6618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R2＝{t|R(t)∧t[3]≥4}</a:t>
            </a:r>
          </a:p>
        </p:txBody>
      </p:sp>
      <p:graphicFrame>
        <p:nvGraphicFramePr>
          <p:cNvPr id="833595" name="Group 59">
            <a:extLst>
              <a:ext uri="{FF2B5EF4-FFF2-40B4-BE49-F238E27FC236}">
                <a16:creationId xmlns:a16="http://schemas.microsoft.com/office/drawing/2014/main" id="{430A21DD-2651-4480-8E07-037F6789227F}"/>
              </a:ext>
            </a:extLst>
          </p:cNvPr>
          <p:cNvGraphicFramePr>
            <a:graphicFrameLocks noGrp="1"/>
          </p:cNvGraphicFramePr>
          <p:nvPr/>
        </p:nvGraphicFramePr>
        <p:xfrm>
          <a:off x="5076825" y="3213100"/>
          <a:ext cx="1905000" cy="172758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70233819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13304258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249917366"/>
                    </a:ext>
                  </a:extLst>
                </a:gridCol>
              </a:tblGrid>
              <a:tr h="3444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180007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59687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919302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35943"/>
                  </a:ext>
                </a:extLst>
              </a:tr>
            </a:tbl>
          </a:graphicData>
        </a:graphic>
      </p:graphicFrame>
      <p:sp>
        <p:nvSpPr>
          <p:cNvPr id="833589" name="Line 53">
            <a:extLst>
              <a:ext uri="{FF2B5EF4-FFF2-40B4-BE49-F238E27FC236}">
                <a16:creationId xmlns:a16="http://schemas.microsoft.com/office/drawing/2014/main" id="{D9032D3A-2CB4-4D01-AA1A-56671745E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636838"/>
            <a:ext cx="647700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33590" name="Line 54">
            <a:extLst>
              <a:ext uri="{FF2B5EF4-FFF2-40B4-BE49-F238E27FC236}">
                <a16:creationId xmlns:a16="http://schemas.microsoft.com/office/drawing/2014/main" id="{C4DB0130-2707-4667-9200-6A08CA1B0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2636838"/>
            <a:ext cx="1296987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33591" name="Text Box 55">
            <a:extLst>
              <a:ext uri="{FF2B5EF4-FFF2-40B4-BE49-F238E27FC236}">
                <a16:creationId xmlns:a16="http://schemas.microsoft.com/office/drawing/2014/main" id="{DDAF09B1-1E6F-4C35-B20E-F51185BB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5343525"/>
            <a:ext cx="119538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sp>
        <p:nvSpPr>
          <p:cNvPr id="833592" name="Rectangle 56">
            <a:extLst>
              <a:ext uri="{FF2B5EF4-FFF2-40B4-BE49-F238E27FC236}">
                <a16:creationId xmlns:a16="http://schemas.microsoft.com/office/drawing/2014/main" id="{1448A2BC-5947-45F3-9C07-274BBBDB6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  <p:custDataLst>
      <p:tags r:id="rId1"/>
    </p:custDataLst>
  </p:cSld>
  <p:clrMapOvr>
    <a:masterClrMapping/>
  </p:clrMapOvr>
  <p:transition advTm="566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83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3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35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4562" name="Group 2">
            <a:extLst>
              <a:ext uri="{FF2B5EF4-FFF2-40B4-BE49-F238E27FC236}">
                <a16:creationId xmlns:a16="http://schemas.microsoft.com/office/drawing/2014/main" id="{3BF8EB63-AA12-41C0-ADF9-5483543FA1D9}"/>
              </a:ext>
            </a:extLst>
          </p:cNvPr>
          <p:cNvGraphicFramePr>
            <a:graphicFrameLocks noGrp="1"/>
          </p:cNvGraphicFramePr>
          <p:nvPr/>
        </p:nvGraphicFramePr>
        <p:xfrm>
          <a:off x="2339975" y="1968500"/>
          <a:ext cx="1905000" cy="213157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62275025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82717126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849417762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833908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8622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150045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949903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782657"/>
                  </a:ext>
                </a:extLst>
              </a:tr>
            </a:tbl>
          </a:graphicData>
        </a:graphic>
      </p:graphicFrame>
      <p:sp>
        <p:nvSpPr>
          <p:cNvPr id="834588" name="Text Box 28">
            <a:extLst>
              <a:ext uri="{FF2B5EF4-FFF2-40B4-BE49-F238E27FC236}">
                <a16:creationId xmlns:a16="http://schemas.microsoft.com/office/drawing/2014/main" id="{4DE3173B-FF10-4858-9FB5-EF2F212B3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4160838"/>
            <a:ext cx="1127125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graphicFrame>
        <p:nvGraphicFramePr>
          <p:cNvPr id="834589" name="Group 29">
            <a:extLst>
              <a:ext uri="{FF2B5EF4-FFF2-40B4-BE49-F238E27FC236}">
                <a16:creationId xmlns:a16="http://schemas.microsoft.com/office/drawing/2014/main" id="{F2707A11-088C-4231-A4F9-0BC40987E133}"/>
              </a:ext>
            </a:extLst>
          </p:cNvPr>
          <p:cNvGraphicFramePr>
            <a:graphicFrameLocks noGrp="1"/>
          </p:cNvGraphicFramePr>
          <p:nvPr/>
        </p:nvGraphicFramePr>
        <p:xfrm>
          <a:off x="5148263" y="1968500"/>
          <a:ext cx="1270000" cy="125844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04742543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778602180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700557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660295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050081"/>
                  </a:ext>
                </a:extLst>
              </a:tr>
            </a:tbl>
          </a:graphicData>
        </a:graphic>
      </p:graphicFrame>
      <p:sp>
        <p:nvSpPr>
          <p:cNvPr id="834603" name="Text Box 43">
            <a:extLst>
              <a:ext uri="{FF2B5EF4-FFF2-40B4-BE49-F238E27FC236}">
                <a16:creationId xmlns:a16="http://schemas.microsoft.com/office/drawing/2014/main" id="{DCA5CD5E-68CF-4F96-9BCE-51D26B66D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663" y="3381375"/>
            <a:ext cx="973137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W</a:t>
            </a:r>
          </a:p>
        </p:txBody>
      </p:sp>
      <p:sp>
        <p:nvSpPr>
          <p:cNvPr id="834604" name="Text Box 44">
            <a:extLst>
              <a:ext uri="{FF2B5EF4-FFF2-40B4-BE49-F238E27FC236}">
                <a16:creationId xmlns:a16="http://schemas.microsoft.com/office/drawing/2014/main" id="{C43BD8FB-557B-43D4-9631-039EC902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97425"/>
            <a:ext cx="84963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R4＝{t|(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u)(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v)(R(u)∧W(v)∧u[2]=f∧t[1]＝u[3]</a:t>
            </a:r>
          </a:p>
          <a:p>
            <a:pPr algn="just"/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 ∧t[2]＝u[2]∧t[3]＝u[1]∧t[4]＝v[2])}</a:t>
            </a:r>
          </a:p>
        </p:txBody>
      </p:sp>
      <p:sp>
        <p:nvSpPr>
          <p:cNvPr id="834605" name="Rectangle 45">
            <a:extLst>
              <a:ext uri="{FF2B5EF4-FFF2-40B4-BE49-F238E27FC236}">
                <a16:creationId xmlns:a16="http://schemas.microsoft.com/office/drawing/2014/main" id="{5138C8F7-3AEC-4255-AC89-94DE356D2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054100"/>
            <a:ext cx="8893175" cy="5746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zh-CN" sz="24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zh-CN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设有已知关系R、W 如图所示，求如下元组演算表达式的值</a:t>
            </a:r>
            <a:r>
              <a: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zh-CN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4606" name="Rectangle 46">
            <a:extLst>
              <a:ext uri="{FF2B5EF4-FFF2-40B4-BE49-F238E27FC236}">
                <a16:creationId xmlns:a16="http://schemas.microsoft.com/office/drawing/2014/main" id="{9E2DB32E-9867-48F0-B75A-5DC3B67C4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</p:spTree>
  </p:cSld>
  <p:clrMapOvr>
    <a:masterClrMapping/>
  </p:clrMapOvr>
  <p:transition advTm="99894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Text Box 2">
            <a:extLst>
              <a:ext uri="{FF2B5EF4-FFF2-40B4-BE49-F238E27FC236}">
                <a16:creationId xmlns:a16="http://schemas.microsoft.com/office/drawing/2014/main" id="{82A34B99-EF9D-417E-B081-4C64A4E86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3788"/>
            <a:ext cx="8280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R4＝{t|(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u)(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v)(R(u)∧W(v)∧u[2]＝f∧t[1]＝u[3] 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              ∧t[2]＝u[2]∧t[3]＝u[1]∧t[4]＝v[2])}</a:t>
            </a:r>
          </a:p>
        </p:txBody>
      </p:sp>
      <p:graphicFrame>
        <p:nvGraphicFramePr>
          <p:cNvPr id="835677" name="Group 93">
            <a:extLst>
              <a:ext uri="{FF2B5EF4-FFF2-40B4-BE49-F238E27FC236}">
                <a16:creationId xmlns:a16="http://schemas.microsoft.com/office/drawing/2014/main" id="{3E16096D-293D-46EA-BD7B-C89A415D63B6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349500"/>
          <a:ext cx="3168650" cy="1524000"/>
        </p:xfrm>
        <a:graphic>
          <a:graphicData uri="http://schemas.openxmlformats.org/drawingml/2006/table">
            <a:tbl>
              <a:tblPr/>
              <a:tblGrid>
                <a:gridCol w="1057275">
                  <a:extLst>
                    <a:ext uri="{9D8B030D-6E8A-4147-A177-3AD203B41FA5}">
                      <a16:colId xmlns:a16="http://schemas.microsoft.com/office/drawing/2014/main" val="697325339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50464889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483309447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98809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46870"/>
                  </a:ext>
                </a:extLst>
              </a:tr>
            </a:tbl>
          </a:graphicData>
        </a:graphic>
      </p:graphicFrame>
      <p:graphicFrame>
        <p:nvGraphicFramePr>
          <p:cNvPr id="835601" name="Group 17">
            <a:extLst>
              <a:ext uri="{FF2B5EF4-FFF2-40B4-BE49-F238E27FC236}">
                <a16:creationId xmlns:a16="http://schemas.microsoft.com/office/drawing/2014/main" id="{19A0255D-BEAD-4436-BE66-DA00CA9A2479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425950"/>
          <a:ext cx="3227388" cy="1524000"/>
        </p:xfrm>
        <a:graphic>
          <a:graphicData uri="http://schemas.openxmlformats.org/drawingml/2006/table">
            <a:tbl>
              <a:tblPr/>
              <a:tblGrid>
                <a:gridCol w="1069975">
                  <a:extLst>
                    <a:ext uri="{9D8B030D-6E8A-4147-A177-3AD203B41FA5}">
                      <a16:colId xmlns:a16="http://schemas.microsoft.com/office/drawing/2014/main" val="2477728217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3444326328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1978425517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911280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897607"/>
                  </a:ext>
                </a:extLst>
              </a:tr>
            </a:tbl>
          </a:graphicData>
        </a:graphic>
      </p:graphicFrame>
      <p:sp>
        <p:nvSpPr>
          <p:cNvPr id="835666" name="Rectangle 82">
            <a:extLst>
              <a:ext uri="{FF2B5EF4-FFF2-40B4-BE49-F238E27FC236}">
                <a16:creationId xmlns:a16="http://schemas.microsoft.com/office/drawing/2014/main" id="{9648A1CB-BAE6-43F5-B9F5-34822CECE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一、元组关系演算</a:t>
            </a:r>
          </a:p>
        </p:txBody>
      </p:sp>
      <p:sp>
        <p:nvSpPr>
          <p:cNvPr id="835667" name="Line 83">
            <a:extLst>
              <a:ext uri="{FF2B5EF4-FFF2-40B4-BE49-F238E27FC236}">
                <a16:creationId xmlns:a16="http://schemas.microsoft.com/office/drawing/2014/main" id="{054EEC57-DC78-4D5B-B017-393B1FA38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1525588"/>
            <a:ext cx="10810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35668" name="Line 84">
            <a:extLst>
              <a:ext uri="{FF2B5EF4-FFF2-40B4-BE49-F238E27FC236}">
                <a16:creationId xmlns:a16="http://schemas.microsoft.com/office/drawing/2014/main" id="{EF5DF64E-2E2F-4F1F-BE96-4334C8A24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1525588"/>
            <a:ext cx="1368425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35669" name="Line 85">
            <a:extLst>
              <a:ext uri="{FF2B5EF4-FFF2-40B4-BE49-F238E27FC236}">
                <a16:creationId xmlns:a16="http://schemas.microsoft.com/office/drawing/2014/main" id="{14085FFB-DF3F-4A57-A9D8-D94B01BB9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2036763"/>
            <a:ext cx="3529013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35682" name="Group 98">
            <a:extLst>
              <a:ext uri="{FF2B5EF4-FFF2-40B4-BE49-F238E27FC236}">
                <a16:creationId xmlns:a16="http://schemas.microsoft.com/office/drawing/2014/main" id="{35049DF6-F574-43F6-A24F-2726E85877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9700" y="2492375"/>
          <a:ext cx="3024188" cy="3024188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81396394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4783965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751109508"/>
                    </a:ext>
                  </a:extLst>
                </a:gridCol>
              </a:tblGrid>
              <a:tr h="558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98793"/>
                  </a:ext>
                </a:extLst>
              </a:tr>
              <a:tr h="6159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726948"/>
                  </a:ext>
                </a:extLst>
              </a:tr>
              <a:tr h="6159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184209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20895"/>
                  </a:ext>
                </a:extLst>
              </a:tr>
              <a:tr h="6159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175301"/>
                  </a:ext>
                </a:extLst>
              </a:tr>
            </a:tbl>
          </a:graphicData>
        </a:graphic>
      </p:graphicFrame>
      <p:sp>
        <p:nvSpPr>
          <p:cNvPr id="835709" name="AutoShape 125">
            <a:extLst>
              <a:ext uri="{FF2B5EF4-FFF2-40B4-BE49-F238E27FC236}">
                <a16:creationId xmlns:a16="http://schemas.microsoft.com/office/drawing/2014/main" id="{7F8DAB66-C388-4935-8260-98055D2D4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3117850"/>
            <a:ext cx="574675" cy="431800"/>
          </a:xfrm>
          <a:prstGeom prst="leftArrow">
            <a:avLst>
              <a:gd name="adj1" fmla="val 50000"/>
              <a:gd name="adj2" fmla="val 3327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710" name="AutoShape 126">
            <a:extLst>
              <a:ext uri="{FF2B5EF4-FFF2-40B4-BE49-F238E27FC236}">
                <a16:creationId xmlns:a16="http://schemas.microsoft.com/office/drawing/2014/main" id="{04969615-2632-45C3-A20A-C006CA377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4005263"/>
            <a:ext cx="431800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8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835711" name="Text Box 127">
            <a:extLst>
              <a:ext uri="{FF2B5EF4-FFF2-40B4-BE49-F238E27FC236}">
                <a16:creationId xmlns:a16="http://schemas.microsoft.com/office/drawing/2014/main" id="{5E127230-43DF-4FEA-831E-30D41336C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5661025"/>
            <a:ext cx="12255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/>
              <a:t>关系</a:t>
            </a:r>
            <a:r>
              <a:rPr lang="en-US" altLang="zh-CN" sz="2200" b="1"/>
              <a:t>R</a:t>
            </a:r>
          </a:p>
        </p:txBody>
      </p:sp>
      <p:sp>
        <p:nvSpPr>
          <p:cNvPr id="835712" name="Text Box 128">
            <a:extLst>
              <a:ext uri="{FF2B5EF4-FFF2-40B4-BE49-F238E27FC236}">
                <a16:creationId xmlns:a16="http://schemas.microsoft.com/office/drawing/2014/main" id="{5812A602-4E34-4274-9E8F-C23944B4D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00213"/>
            <a:ext cx="16557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6666"/>
                </a:solidFill>
              </a:rPr>
              <a:t>运算过程展示：</a:t>
            </a:r>
            <a:endParaRPr lang="en-US" altLang="zh-CN" b="1">
              <a:solidFill>
                <a:srgbClr val="006666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700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3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3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3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3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3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3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3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7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4" name="Text Box 4">
            <a:extLst>
              <a:ext uri="{FF2B5EF4-FFF2-40B4-BE49-F238E27FC236}">
                <a16:creationId xmlns:a16="http://schemas.microsoft.com/office/drawing/2014/main" id="{51F92BB9-CCB7-4571-A2AA-228855CF0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3788"/>
            <a:ext cx="8280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R4＝{t|(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u)(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v)(R(u)∧W(v)∧u[2]＝f∧t[1]＝u[3] 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              ∧t[2]＝u[2]∧t[3]＝u[1]∧t[4]＝v[2])}</a:t>
            </a:r>
          </a:p>
        </p:txBody>
      </p:sp>
      <p:graphicFrame>
        <p:nvGraphicFramePr>
          <p:cNvPr id="875525" name="Group 5">
            <a:extLst>
              <a:ext uri="{FF2B5EF4-FFF2-40B4-BE49-F238E27FC236}">
                <a16:creationId xmlns:a16="http://schemas.microsoft.com/office/drawing/2014/main" id="{4516499E-CCD5-4132-8303-6A6FB4458013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349500"/>
          <a:ext cx="3168650" cy="1524000"/>
        </p:xfrm>
        <a:graphic>
          <a:graphicData uri="http://schemas.openxmlformats.org/drawingml/2006/table">
            <a:tbl>
              <a:tblPr/>
              <a:tblGrid>
                <a:gridCol w="1057275">
                  <a:extLst>
                    <a:ext uri="{9D8B030D-6E8A-4147-A177-3AD203B41FA5}">
                      <a16:colId xmlns:a16="http://schemas.microsoft.com/office/drawing/2014/main" val="673157576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20630643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224321782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97707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696885"/>
                  </a:ext>
                </a:extLst>
              </a:tr>
            </a:tbl>
          </a:graphicData>
        </a:graphic>
      </p:graphicFrame>
      <p:graphicFrame>
        <p:nvGraphicFramePr>
          <p:cNvPr id="875539" name="Group 19">
            <a:extLst>
              <a:ext uri="{FF2B5EF4-FFF2-40B4-BE49-F238E27FC236}">
                <a16:creationId xmlns:a16="http://schemas.microsoft.com/office/drawing/2014/main" id="{EBFF106F-C4AA-4D26-AE8A-9E6E2E411039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221163"/>
          <a:ext cx="3227388" cy="1524000"/>
        </p:xfrm>
        <a:graphic>
          <a:graphicData uri="http://schemas.openxmlformats.org/drawingml/2006/table">
            <a:tbl>
              <a:tblPr/>
              <a:tblGrid>
                <a:gridCol w="1069975">
                  <a:extLst>
                    <a:ext uri="{9D8B030D-6E8A-4147-A177-3AD203B41FA5}">
                      <a16:colId xmlns:a16="http://schemas.microsoft.com/office/drawing/2014/main" val="280391892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162129863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23268569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975302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525646"/>
                  </a:ext>
                </a:extLst>
              </a:tr>
            </a:tbl>
          </a:graphicData>
        </a:graphic>
      </p:graphicFrame>
      <p:graphicFrame>
        <p:nvGraphicFramePr>
          <p:cNvPr id="875626" name="Group 106">
            <a:extLst>
              <a:ext uri="{FF2B5EF4-FFF2-40B4-BE49-F238E27FC236}">
                <a16:creationId xmlns:a16="http://schemas.microsoft.com/office/drawing/2014/main" id="{730B4DCF-B64D-4CA3-BABA-D536C5E6D05D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75025"/>
          <a:ext cx="987425" cy="1311657"/>
        </p:xfrm>
        <a:graphic>
          <a:graphicData uri="http://schemas.openxmlformats.org/drawingml/2006/table">
            <a:tbl>
              <a:tblPr/>
              <a:tblGrid>
                <a:gridCol w="987425">
                  <a:extLst>
                    <a:ext uri="{9D8B030D-6E8A-4147-A177-3AD203B41FA5}">
                      <a16:colId xmlns:a16="http://schemas.microsoft.com/office/drawing/2014/main" val="3920249484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t[4](E)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284"/>
                  </a:ext>
                </a:extLst>
              </a:tr>
              <a:tr h="8937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53579"/>
                  </a:ext>
                </a:extLst>
              </a:tr>
            </a:tbl>
          </a:graphicData>
        </a:graphic>
      </p:graphicFrame>
      <p:sp>
        <p:nvSpPr>
          <p:cNvPr id="875604" name="Rectangle 84">
            <a:extLst>
              <a:ext uri="{FF2B5EF4-FFF2-40B4-BE49-F238E27FC236}">
                <a16:creationId xmlns:a16="http://schemas.microsoft.com/office/drawing/2014/main" id="{D80283F6-47C3-4D55-87D4-913809F1E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  <p:sp>
        <p:nvSpPr>
          <p:cNvPr id="875605" name="Line 85">
            <a:extLst>
              <a:ext uri="{FF2B5EF4-FFF2-40B4-BE49-F238E27FC236}">
                <a16:creationId xmlns:a16="http://schemas.microsoft.com/office/drawing/2014/main" id="{08F0F080-0017-4041-8DEA-31D0D27A7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1525588"/>
            <a:ext cx="10810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5606" name="Line 86">
            <a:extLst>
              <a:ext uri="{FF2B5EF4-FFF2-40B4-BE49-F238E27FC236}">
                <a16:creationId xmlns:a16="http://schemas.microsoft.com/office/drawing/2014/main" id="{9516CDE8-5C84-4F94-9137-D67D8F1E1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1525588"/>
            <a:ext cx="1368425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5607" name="Line 87">
            <a:extLst>
              <a:ext uri="{FF2B5EF4-FFF2-40B4-BE49-F238E27FC236}">
                <a16:creationId xmlns:a16="http://schemas.microsoft.com/office/drawing/2014/main" id="{137A2818-287B-42AB-92B0-BF5B4D5D1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2036763"/>
            <a:ext cx="3529012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5608" name="Line 88">
            <a:extLst>
              <a:ext uri="{FF2B5EF4-FFF2-40B4-BE49-F238E27FC236}">
                <a16:creationId xmlns:a16="http://schemas.microsoft.com/office/drawing/2014/main" id="{9435D8ED-8D11-4A69-B706-33D923AD1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020888"/>
            <a:ext cx="1439863" cy="0"/>
          </a:xfrm>
          <a:prstGeom prst="line">
            <a:avLst/>
          </a:prstGeom>
          <a:noFill/>
          <a:ln w="38100" cap="sq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75623" name="Group 103">
            <a:extLst>
              <a:ext uri="{FF2B5EF4-FFF2-40B4-BE49-F238E27FC236}">
                <a16:creationId xmlns:a16="http://schemas.microsoft.com/office/drawing/2014/main" id="{3ADB25EC-053D-4AED-A083-1B2C2377E13E}"/>
              </a:ext>
            </a:extLst>
          </p:cNvPr>
          <p:cNvGraphicFramePr>
            <a:graphicFrameLocks noGrp="1"/>
          </p:cNvGraphicFramePr>
          <p:nvPr/>
        </p:nvGraphicFramePr>
        <p:xfrm>
          <a:off x="6831013" y="3213100"/>
          <a:ext cx="1270000" cy="125844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19282744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732481224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706679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523467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711817"/>
                  </a:ext>
                </a:extLst>
              </a:tr>
            </a:tbl>
          </a:graphicData>
        </a:graphic>
      </p:graphicFrame>
      <p:sp>
        <p:nvSpPr>
          <p:cNvPr id="875624" name="AutoShape 104">
            <a:extLst>
              <a:ext uri="{FF2B5EF4-FFF2-40B4-BE49-F238E27FC236}">
                <a16:creationId xmlns:a16="http://schemas.microsoft.com/office/drawing/2014/main" id="{849CF2FA-ED44-4143-B10E-683C6E00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75" y="3716338"/>
            <a:ext cx="574675" cy="360362"/>
          </a:xfrm>
          <a:prstGeom prst="leftArrow">
            <a:avLst>
              <a:gd name="adj1" fmla="val 50000"/>
              <a:gd name="adj2" fmla="val 39868"/>
            </a:avLst>
          </a:prstGeom>
          <a:solidFill>
            <a:srgbClr val="9900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5625" name="Text Box 105">
            <a:extLst>
              <a:ext uri="{FF2B5EF4-FFF2-40B4-BE49-F238E27FC236}">
                <a16:creationId xmlns:a16="http://schemas.microsoft.com/office/drawing/2014/main" id="{DAA42635-D690-437B-9845-C8D50B72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4652963"/>
            <a:ext cx="973138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W</a:t>
            </a:r>
          </a:p>
        </p:txBody>
      </p:sp>
      <p:sp>
        <p:nvSpPr>
          <p:cNvPr id="875627" name="AutoShape 107">
            <a:extLst>
              <a:ext uri="{FF2B5EF4-FFF2-40B4-BE49-F238E27FC236}">
                <a16:creationId xmlns:a16="http://schemas.microsoft.com/office/drawing/2014/main" id="{5753D3F3-61A5-41EC-BA6E-6E4CC18FD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3910013"/>
            <a:ext cx="431800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8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8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65"/>
    </mc:Choice>
    <mc:Fallback xmlns="">
      <p:transition spd="slow" advTm="188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7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7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7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2" name="Text Box 4">
            <a:extLst>
              <a:ext uri="{FF2B5EF4-FFF2-40B4-BE49-F238E27FC236}">
                <a16:creationId xmlns:a16="http://schemas.microsoft.com/office/drawing/2014/main" id="{15D90ED1-8C1E-46B3-8F3C-3ACBDB5C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3788"/>
            <a:ext cx="8280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R4＝{t|(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u)(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v)(R(u)∧W(v)∧u[2]＝f∧t[1]＝u[3] 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              ∧t[2]＝u[2]∧t[3]＝u[1]∧t[4]＝v[2])}</a:t>
            </a:r>
          </a:p>
        </p:txBody>
      </p:sp>
      <p:graphicFrame>
        <p:nvGraphicFramePr>
          <p:cNvPr id="877573" name="Group 5">
            <a:extLst>
              <a:ext uri="{FF2B5EF4-FFF2-40B4-BE49-F238E27FC236}">
                <a16:creationId xmlns:a16="http://schemas.microsoft.com/office/drawing/2014/main" id="{7A2BA78C-0CB8-4FAD-BCA6-CD52379E544F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349500"/>
          <a:ext cx="3168650" cy="1524000"/>
        </p:xfrm>
        <a:graphic>
          <a:graphicData uri="http://schemas.openxmlformats.org/drawingml/2006/table">
            <a:tbl>
              <a:tblPr/>
              <a:tblGrid>
                <a:gridCol w="1057275">
                  <a:extLst>
                    <a:ext uri="{9D8B030D-6E8A-4147-A177-3AD203B41FA5}">
                      <a16:colId xmlns:a16="http://schemas.microsoft.com/office/drawing/2014/main" val="2575860476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1090413648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101050633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394988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509058"/>
                  </a:ext>
                </a:extLst>
              </a:tr>
            </a:tbl>
          </a:graphicData>
        </a:graphic>
      </p:graphicFrame>
      <p:graphicFrame>
        <p:nvGraphicFramePr>
          <p:cNvPr id="877587" name="Group 19">
            <a:extLst>
              <a:ext uri="{FF2B5EF4-FFF2-40B4-BE49-F238E27FC236}">
                <a16:creationId xmlns:a16="http://schemas.microsoft.com/office/drawing/2014/main" id="{3F64FC76-EFE7-4838-815E-00D4909C186A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221163"/>
          <a:ext cx="3227388" cy="1524000"/>
        </p:xfrm>
        <a:graphic>
          <a:graphicData uri="http://schemas.openxmlformats.org/drawingml/2006/table">
            <a:tbl>
              <a:tblPr/>
              <a:tblGrid>
                <a:gridCol w="1069975">
                  <a:extLst>
                    <a:ext uri="{9D8B030D-6E8A-4147-A177-3AD203B41FA5}">
                      <a16:colId xmlns:a16="http://schemas.microsoft.com/office/drawing/2014/main" val="2966075534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541176656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87162054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t[1](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t[2](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t[3](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873452"/>
                  </a:ext>
                </a:extLst>
              </a:tr>
              <a:tr h="990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939837"/>
                  </a:ext>
                </a:extLst>
              </a:tr>
            </a:tbl>
          </a:graphicData>
        </a:graphic>
      </p:graphicFrame>
      <p:graphicFrame>
        <p:nvGraphicFramePr>
          <p:cNvPr id="877601" name="Group 33">
            <a:extLst>
              <a:ext uri="{FF2B5EF4-FFF2-40B4-BE49-F238E27FC236}">
                <a16:creationId xmlns:a16="http://schemas.microsoft.com/office/drawing/2014/main" id="{57194E66-0D2A-4643-B9C4-5C9B5A1CA149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75025"/>
          <a:ext cx="987425" cy="1311657"/>
        </p:xfrm>
        <a:graphic>
          <a:graphicData uri="http://schemas.openxmlformats.org/drawingml/2006/table">
            <a:tbl>
              <a:tblPr/>
              <a:tblGrid>
                <a:gridCol w="987425">
                  <a:extLst>
                    <a:ext uri="{9D8B030D-6E8A-4147-A177-3AD203B41FA5}">
                      <a16:colId xmlns:a16="http://schemas.microsoft.com/office/drawing/2014/main" val="302329026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t[4](E)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11190"/>
                  </a:ext>
                </a:extLst>
              </a:tr>
              <a:tr h="8937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78388"/>
                  </a:ext>
                </a:extLst>
              </a:tr>
            </a:tbl>
          </a:graphicData>
        </a:graphic>
      </p:graphicFrame>
      <p:sp>
        <p:nvSpPr>
          <p:cNvPr id="877617" name="Line 49">
            <a:extLst>
              <a:ext uri="{FF2B5EF4-FFF2-40B4-BE49-F238E27FC236}">
                <a16:creationId xmlns:a16="http://schemas.microsoft.com/office/drawing/2014/main" id="{0DE0F37B-7062-4152-8F47-FBE22638E5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0163" y="4221163"/>
            <a:ext cx="660400" cy="80010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7618" name="Line 50">
            <a:extLst>
              <a:ext uri="{FF2B5EF4-FFF2-40B4-BE49-F238E27FC236}">
                <a16:creationId xmlns:a16="http://schemas.microsoft.com/office/drawing/2014/main" id="{95B07A87-AE71-47F9-8FB3-EF9A1E585D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0163" y="4652963"/>
            <a:ext cx="660400" cy="792162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7619" name="Group 51">
            <a:extLst>
              <a:ext uri="{FF2B5EF4-FFF2-40B4-BE49-F238E27FC236}">
                <a16:creationId xmlns:a16="http://schemas.microsoft.com/office/drawing/2014/main" id="{B8932774-1B9B-4F7A-AEA7-B66B7FB65F08}"/>
              </a:ext>
            </a:extLst>
          </p:cNvPr>
          <p:cNvGraphicFramePr>
            <a:graphicFrameLocks noGrp="1"/>
          </p:cNvGraphicFramePr>
          <p:nvPr/>
        </p:nvGraphicFramePr>
        <p:xfrm>
          <a:off x="6323013" y="3059113"/>
          <a:ext cx="2209800" cy="2457451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37499929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78704549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148419701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45906550"/>
                    </a:ext>
                  </a:extLst>
                </a:gridCol>
              </a:tblGrid>
              <a:tr h="4921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6159"/>
                  </a:ext>
                </a:extLst>
              </a:tr>
              <a:tr h="4921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585408"/>
                  </a:ext>
                </a:extLst>
              </a:tr>
              <a:tr h="490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696864"/>
                  </a:ext>
                </a:extLst>
              </a:tr>
              <a:tr h="4921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794468"/>
                  </a:ext>
                </a:extLst>
              </a:tr>
              <a:tr h="490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61335"/>
                  </a:ext>
                </a:extLst>
              </a:tr>
            </a:tbl>
          </a:graphicData>
        </a:graphic>
      </p:graphicFrame>
      <p:sp>
        <p:nvSpPr>
          <p:cNvPr id="877651" name="AutoShape 83">
            <a:extLst>
              <a:ext uri="{FF2B5EF4-FFF2-40B4-BE49-F238E27FC236}">
                <a16:creationId xmlns:a16="http://schemas.microsoft.com/office/drawing/2014/main" id="{7227AAE9-E503-47CD-8B93-2BC20304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067175"/>
            <a:ext cx="576263" cy="457200"/>
          </a:xfrm>
          <a:prstGeom prst="rightArrow">
            <a:avLst>
              <a:gd name="adj1" fmla="val 50000"/>
              <a:gd name="adj2" fmla="val 31510"/>
            </a:avLst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7652" name="Rectangle 84">
            <a:extLst>
              <a:ext uri="{FF2B5EF4-FFF2-40B4-BE49-F238E27FC236}">
                <a16:creationId xmlns:a16="http://schemas.microsoft.com/office/drawing/2014/main" id="{8101317D-D330-4A30-A620-8719F1923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一、元组关系演算</a:t>
            </a:r>
          </a:p>
        </p:txBody>
      </p:sp>
      <p:sp>
        <p:nvSpPr>
          <p:cNvPr id="877653" name="Line 85">
            <a:extLst>
              <a:ext uri="{FF2B5EF4-FFF2-40B4-BE49-F238E27FC236}">
                <a16:creationId xmlns:a16="http://schemas.microsoft.com/office/drawing/2014/main" id="{BF27E851-2905-4704-B75E-B3211A284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1525588"/>
            <a:ext cx="10810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7654" name="Line 86">
            <a:extLst>
              <a:ext uri="{FF2B5EF4-FFF2-40B4-BE49-F238E27FC236}">
                <a16:creationId xmlns:a16="http://schemas.microsoft.com/office/drawing/2014/main" id="{4F60444F-C87E-4DC5-89A5-9276B8317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1525588"/>
            <a:ext cx="1368425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7655" name="Line 87">
            <a:extLst>
              <a:ext uri="{FF2B5EF4-FFF2-40B4-BE49-F238E27FC236}">
                <a16:creationId xmlns:a16="http://schemas.microsoft.com/office/drawing/2014/main" id="{1BEA2ADF-2B47-4ECB-9466-24DBB312D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2036763"/>
            <a:ext cx="3529013" cy="0"/>
          </a:xfrm>
          <a:prstGeom prst="line">
            <a:avLst/>
          </a:prstGeom>
          <a:noFill/>
          <a:ln w="38100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7656" name="Line 88">
            <a:extLst>
              <a:ext uri="{FF2B5EF4-FFF2-40B4-BE49-F238E27FC236}">
                <a16:creationId xmlns:a16="http://schemas.microsoft.com/office/drawing/2014/main" id="{EA8E016E-FD5C-401B-8566-1385A18B9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020888"/>
            <a:ext cx="1439863" cy="0"/>
          </a:xfrm>
          <a:prstGeom prst="line">
            <a:avLst/>
          </a:prstGeom>
          <a:noFill/>
          <a:ln w="38100" cap="sq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7657" name="AutoShape 89">
            <a:extLst>
              <a:ext uri="{FF2B5EF4-FFF2-40B4-BE49-F238E27FC236}">
                <a16:creationId xmlns:a16="http://schemas.microsoft.com/office/drawing/2014/main" id="{CCD1BEF6-1BC8-4655-A58D-C81810D5B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3910013"/>
            <a:ext cx="431800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8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8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46"/>
    </mc:Choice>
    <mc:Fallback xmlns="">
      <p:transition spd="slow" advTm="9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7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7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32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11052</TotalTime>
  <Words>1566</Words>
  <Application>Microsoft Office PowerPoint</Application>
  <PresentationFormat>全屏显示(4:3)</PresentationFormat>
  <Paragraphs>237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黑体</vt:lpstr>
      <vt:lpstr>华文楷体</vt:lpstr>
      <vt:lpstr>华文隶书</vt:lpstr>
      <vt:lpstr>华文新魏</vt:lpstr>
      <vt:lpstr>楷体_GB2312</vt:lpstr>
      <vt:lpstr>隶书</vt:lpstr>
      <vt:lpstr>Arial</vt:lpstr>
      <vt:lpstr>Monotype Sorts</vt:lpstr>
      <vt:lpstr>Tahoma</vt:lpstr>
      <vt:lpstr>Times New Roman</vt:lpstr>
      <vt:lpstr>Wingdings</vt:lpstr>
      <vt:lpstr>Blends</vt:lpstr>
      <vt:lpstr>第2章  关系运算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例：设有已知关系R 如图所示，求如下元组演算表达式的值。 </vt:lpstr>
      <vt:lpstr>例：设有已知关系R、W 如图所示，求如下元组演算表达式的值。 </vt:lpstr>
      <vt:lpstr>一、元组关系演算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722</cp:revision>
  <cp:lastPrinted>2000-08-23T09:10:16Z</cp:lastPrinted>
  <dcterms:created xsi:type="dcterms:W3CDTF">1601-01-01T00:00:00Z</dcterms:created>
  <dcterms:modified xsi:type="dcterms:W3CDTF">2021-03-07T11:20:17Z</dcterms:modified>
</cp:coreProperties>
</file>