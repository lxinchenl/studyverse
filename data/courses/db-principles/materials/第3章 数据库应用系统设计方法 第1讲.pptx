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handoutMasterIdLst>
    <p:handoutMasterId r:id="rId23"/>
  </p:handoutMasterIdLst>
  <p:sldIdLst>
    <p:sldId id="498" r:id="rId2"/>
    <p:sldId id="521" r:id="rId3"/>
    <p:sldId id="525" r:id="rId4"/>
    <p:sldId id="523" r:id="rId5"/>
    <p:sldId id="526" r:id="rId6"/>
    <p:sldId id="687" r:id="rId7"/>
    <p:sldId id="528" r:id="rId8"/>
    <p:sldId id="499" r:id="rId9"/>
    <p:sldId id="740" r:id="rId10"/>
    <p:sldId id="741" r:id="rId11"/>
    <p:sldId id="742" r:id="rId12"/>
    <p:sldId id="743" r:id="rId13"/>
    <p:sldId id="738" r:id="rId14"/>
    <p:sldId id="799" r:id="rId15"/>
    <p:sldId id="796" r:id="rId16"/>
    <p:sldId id="797" r:id="rId17"/>
    <p:sldId id="798" r:id="rId18"/>
    <p:sldId id="739" r:id="rId19"/>
    <p:sldId id="800" r:id="rId20"/>
    <p:sldId id="671" r:id="rId21"/>
  </p:sldIdLst>
  <p:sldSz cx="9144000" cy="6858000" type="screen4x3"/>
  <p:notesSz cx="6662738" cy="9832975"/>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00"/>
    <a:srgbClr val="003366"/>
    <a:srgbClr val="99FFCC"/>
    <a:srgbClr val="FFFF66"/>
    <a:srgbClr val="006666"/>
    <a:srgbClr val="CC0000"/>
    <a:srgbClr val="00FF00"/>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74"/>
    <p:restoredTop sz="94152"/>
  </p:normalViewPr>
  <p:slideViewPr>
    <p:cSldViewPr showGuides="1">
      <p:cViewPr varScale="1">
        <p:scale>
          <a:sx n="124" d="100"/>
          <a:sy n="124" d="100"/>
        </p:scale>
        <p:origin x="1240" y="80"/>
      </p:cViewPr>
      <p:guideLst>
        <p:guide orient="horz" pos="1584"/>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120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页眉占位符 107521"/>
          <p:cNvSpPr>
            <a:spLocks noGrp="1"/>
          </p:cNvSpPr>
          <p:nvPr>
            <p:ph type="hdr" sz="quarter"/>
          </p:nvPr>
        </p:nvSpPr>
        <p:spPr>
          <a:xfrm>
            <a:off x="0" y="0"/>
            <a:ext cx="2895600" cy="457200"/>
          </a:xfrm>
          <a:prstGeom prst="rect">
            <a:avLst/>
          </a:prstGeom>
          <a:noFill/>
          <a:ln w="12700">
            <a:noFill/>
          </a:ln>
        </p:spPr>
        <p:txBody>
          <a:bodyPr wrap="none" anchor="ctr"/>
          <a:lstStyle/>
          <a:p>
            <a:pPr lvl="0"/>
            <a:endParaRPr lang="zh-CN" altLang="en-US" sz="1200" dirty="0">
              <a:solidFill>
                <a:schemeClr val="tx2"/>
              </a:solidFill>
            </a:endParaRPr>
          </a:p>
        </p:txBody>
      </p:sp>
      <p:sp>
        <p:nvSpPr>
          <p:cNvPr id="107523" name="日期占位符 107522"/>
          <p:cNvSpPr>
            <a:spLocks noGrp="1"/>
          </p:cNvSpPr>
          <p:nvPr>
            <p:ph type="dt" sz="quarter" idx="1"/>
          </p:nvPr>
        </p:nvSpPr>
        <p:spPr>
          <a:xfrm>
            <a:off x="3810000" y="0"/>
            <a:ext cx="2819400" cy="457200"/>
          </a:xfrm>
          <a:prstGeom prst="rect">
            <a:avLst/>
          </a:prstGeom>
          <a:noFill/>
          <a:ln w="12700">
            <a:noFill/>
          </a:ln>
        </p:spPr>
        <p:txBody>
          <a:bodyPr wrap="none" anchor="ctr"/>
          <a:lstStyle/>
          <a:p>
            <a:pPr lvl="0" algn="r"/>
            <a:endParaRPr lang="zh-CN" altLang="en-US" sz="1200" dirty="0">
              <a:solidFill>
                <a:schemeClr val="tx2"/>
              </a:solidFill>
            </a:endParaRPr>
          </a:p>
        </p:txBody>
      </p:sp>
      <p:sp>
        <p:nvSpPr>
          <p:cNvPr id="107524" name="页脚占位符 107523"/>
          <p:cNvSpPr>
            <a:spLocks noGrp="1"/>
          </p:cNvSpPr>
          <p:nvPr>
            <p:ph type="ftr" sz="quarter" idx="2"/>
          </p:nvPr>
        </p:nvSpPr>
        <p:spPr>
          <a:xfrm>
            <a:off x="0" y="9372600"/>
            <a:ext cx="2895600" cy="457200"/>
          </a:xfrm>
          <a:prstGeom prst="rect">
            <a:avLst/>
          </a:prstGeom>
          <a:noFill/>
          <a:ln w="12700">
            <a:noFill/>
          </a:ln>
        </p:spPr>
        <p:txBody>
          <a:bodyPr wrap="none" anchor="b"/>
          <a:lstStyle/>
          <a:p>
            <a:pPr lvl="0"/>
            <a:endParaRPr lang="zh-CN" altLang="en-US" sz="1200" dirty="0">
              <a:solidFill>
                <a:schemeClr val="tx2"/>
              </a:solidFill>
            </a:endParaRPr>
          </a:p>
        </p:txBody>
      </p:sp>
      <p:sp>
        <p:nvSpPr>
          <p:cNvPr id="107525" name="灯片编号占位符 107524"/>
          <p:cNvSpPr>
            <a:spLocks noGrp="1"/>
          </p:cNvSpPr>
          <p:nvPr>
            <p:ph type="sldNum" sz="quarter" idx="3"/>
          </p:nvPr>
        </p:nvSpPr>
        <p:spPr>
          <a:xfrm>
            <a:off x="3810000" y="9372600"/>
            <a:ext cx="2819400" cy="457200"/>
          </a:xfrm>
          <a:prstGeom prst="rect">
            <a:avLst/>
          </a:prstGeom>
          <a:noFill/>
          <a:ln w="12700">
            <a:noFill/>
          </a:ln>
        </p:spPr>
        <p:txBody>
          <a:bodyPr wrap="none" anchor="b"/>
          <a:lstStyle/>
          <a:p>
            <a:pPr lvl="0" algn="r"/>
            <a:fld id="{9A0DB2DC-4C9A-4742-B13C-FB6460FD3503}" type="slidenum">
              <a:rPr lang="zh-CN" altLang="en-US" sz="1200" dirty="0">
                <a:solidFill>
                  <a:schemeClr val="tx2"/>
                </a:solidFill>
              </a:rPr>
              <a:t>‹#›</a:t>
            </a:fld>
            <a:endParaRPr lang="zh-CN" altLang="en-US" sz="1200" dirty="0">
              <a:solidFill>
                <a:schemeClr val="tx2"/>
              </a:solidFill>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2562" name="页眉占位符 322561"/>
          <p:cNvSpPr>
            <a:spLocks noGrp="1"/>
          </p:cNvSpPr>
          <p:nvPr>
            <p:ph type="hdr" sz="quarter"/>
          </p:nvPr>
        </p:nvSpPr>
        <p:spPr>
          <a:xfrm>
            <a:off x="0" y="0"/>
            <a:ext cx="2887663" cy="492125"/>
          </a:xfrm>
          <a:prstGeom prst="rect">
            <a:avLst/>
          </a:prstGeom>
          <a:noFill/>
          <a:ln w="9525">
            <a:noFill/>
          </a:ln>
        </p:spPr>
        <p:txBody>
          <a:bodyPr/>
          <a:lstStyle/>
          <a:p>
            <a:pPr lvl="0"/>
            <a:endParaRPr lang="zh-CN" altLang="en-US" sz="1200" dirty="0"/>
          </a:p>
        </p:txBody>
      </p:sp>
      <p:sp>
        <p:nvSpPr>
          <p:cNvPr id="322563" name="日期占位符 322562"/>
          <p:cNvSpPr>
            <a:spLocks noGrp="1"/>
          </p:cNvSpPr>
          <p:nvPr>
            <p:ph type="dt" idx="1"/>
          </p:nvPr>
        </p:nvSpPr>
        <p:spPr>
          <a:xfrm>
            <a:off x="3773488" y="0"/>
            <a:ext cx="2887662" cy="492125"/>
          </a:xfrm>
          <a:prstGeom prst="rect">
            <a:avLst/>
          </a:prstGeom>
          <a:noFill/>
          <a:ln w="9525">
            <a:noFill/>
          </a:ln>
        </p:spPr>
        <p:txBody>
          <a:bodyPr/>
          <a:lstStyle/>
          <a:p>
            <a:pPr lvl="0" algn="r"/>
            <a:endParaRPr lang="zh-CN" altLang="en-US" sz="1200" dirty="0"/>
          </a:p>
        </p:txBody>
      </p:sp>
      <p:sp>
        <p:nvSpPr>
          <p:cNvPr id="322564" name="幻灯片图像占位符 322563"/>
          <p:cNvSpPr>
            <a:spLocks noGrp="1" noRot="1" noChangeAspect="1" noTextEdit="1"/>
          </p:cNvSpPr>
          <p:nvPr>
            <p:ph type="sldImg" idx="2"/>
          </p:nvPr>
        </p:nvSpPr>
        <p:spPr>
          <a:xfrm>
            <a:off x="874713" y="738188"/>
            <a:ext cx="4914900" cy="3686175"/>
          </a:xfrm>
          <a:prstGeom prst="rect">
            <a:avLst/>
          </a:prstGeom>
          <a:ln w="9525" cap="flat" cmpd="sng">
            <a:solidFill>
              <a:srgbClr val="000000"/>
            </a:solidFill>
            <a:prstDash val="solid"/>
            <a:miter/>
            <a:headEnd type="none" w="med" len="med"/>
            <a:tailEnd type="none" w="med" len="med"/>
          </a:ln>
        </p:spPr>
      </p:sp>
      <p:sp>
        <p:nvSpPr>
          <p:cNvPr id="322565" name="文本占位符 322564"/>
          <p:cNvSpPr>
            <a:spLocks noGrp="1"/>
          </p:cNvSpPr>
          <p:nvPr>
            <p:ph type="body" sz="quarter" idx="3"/>
          </p:nvPr>
        </p:nvSpPr>
        <p:spPr>
          <a:xfrm>
            <a:off x="666750" y="4670425"/>
            <a:ext cx="5329238" cy="44243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22566" name="页脚占位符 322565"/>
          <p:cNvSpPr>
            <a:spLocks noGrp="1"/>
          </p:cNvSpPr>
          <p:nvPr>
            <p:ph type="ftr" sz="quarter" idx="4"/>
          </p:nvPr>
        </p:nvSpPr>
        <p:spPr>
          <a:xfrm>
            <a:off x="0" y="9339263"/>
            <a:ext cx="2887663" cy="492125"/>
          </a:xfrm>
          <a:prstGeom prst="rect">
            <a:avLst/>
          </a:prstGeom>
          <a:noFill/>
          <a:ln w="9525">
            <a:noFill/>
          </a:ln>
        </p:spPr>
        <p:txBody>
          <a:bodyPr anchor="b"/>
          <a:lstStyle/>
          <a:p>
            <a:pPr lvl="0"/>
            <a:endParaRPr lang="zh-CN" altLang="en-US" sz="1200" dirty="0"/>
          </a:p>
        </p:txBody>
      </p:sp>
      <p:sp>
        <p:nvSpPr>
          <p:cNvPr id="322567" name="灯片编号占位符 322566"/>
          <p:cNvSpPr>
            <a:spLocks noGrp="1"/>
          </p:cNvSpPr>
          <p:nvPr>
            <p:ph type="sldNum" sz="quarter" idx="5"/>
          </p:nvPr>
        </p:nvSpPr>
        <p:spPr>
          <a:xfrm>
            <a:off x="3773488" y="9339263"/>
            <a:ext cx="2887662" cy="492125"/>
          </a:xfrm>
          <a:prstGeom prst="rect">
            <a:avLst/>
          </a:prstGeom>
          <a:noFill/>
          <a:ln w="9525">
            <a:noFill/>
          </a:ln>
        </p:spPr>
        <p:txBody>
          <a:bodyPr anchor="b"/>
          <a:lstStyle/>
          <a:p>
            <a:pPr lvl="0" algn="r"/>
            <a:fld id="{9A0DB2DC-4C9A-4742-B13C-FB6460FD3503}" type="slidenum">
              <a:rPr lang="zh-CN" altLang="en-US" sz="1200" dirty="0"/>
              <a:t>‹#›</a:t>
            </a:fld>
            <a:endParaRPr lang="zh-CN" altLang="en-US" sz="120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t>1</a:t>
            </a:fld>
            <a:endParaRPr lang="zh-CN" altLang="en-US" sz="1200" dirty="0"/>
          </a:p>
        </p:txBody>
      </p:sp>
      <p:sp>
        <p:nvSpPr>
          <p:cNvPr id="329730" name="幻灯片图像占位符 329729"/>
          <p:cNvSpPr>
            <a:spLocks noGrp="1" noRot="1" noChangeAspect="1" noTextEdit="1"/>
          </p:cNvSpPr>
          <p:nvPr>
            <p:ph type="sldImg"/>
          </p:nvPr>
        </p:nvSpPr>
        <p:spPr>
          <a:ln/>
        </p:spPr>
      </p:sp>
      <p:sp>
        <p:nvSpPr>
          <p:cNvPr id="329731" name="文本占位符 329730"/>
          <p:cNvSpPr>
            <a:spLocks noGrp="1"/>
          </p:cNvSpPr>
          <p:nvPr>
            <p:ph type="body" idx="1"/>
          </p:nvPr>
        </p:nvSpPr>
        <p:spPr>
          <a:ln/>
        </p:spPr>
        <p:txBody>
          <a:bodyPr/>
          <a:lstStyle/>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t>3</a:t>
            </a:fld>
            <a:endParaRPr lang="zh-CN" altLang="en-US" sz="1200" dirty="0"/>
          </a:p>
        </p:txBody>
      </p:sp>
      <p:sp>
        <p:nvSpPr>
          <p:cNvPr id="377858" name="幻灯片图像占位符 377857"/>
          <p:cNvSpPr>
            <a:spLocks noGrp="1" noRot="1" noChangeAspect="1" noTextEdit="1"/>
          </p:cNvSpPr>
          <p:nvPr>
            <p:ph type="sldImg"/>
          </p:nvPr>
        </p:nvSpPr>
        <p:spPr>
          <a:ln/>
        </p:spPr>
      </p:sp>
      <p:sp>
        <p:nvSpPr>
          <p:cNvPr id="377859" name="文本占位符 377858"/>
          <p:cNvSpPr>
            <a:spLocks noGrp="1"/>
          </p:cNvSpPr>
          <p:nvPr>
            <p:ph type="body" idx="1"/>
          </p:nvPr>
        </p:nvSpPr>
        <p:spPr>
          <a:ln/>
        </p:spPr>
        <p:txBody>
          <a:bodyPr/>
          <a:lstStyle/>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t>8</a:t>
            </a:fld>
            <a:endParaRPr lang="zh-CN" altLang="en-US" sz="1200" dirty="0"/>
          </a:p>
        </p:txBody>
      </p:sp>
      <p:sp>
        <p:nvSpPr>
          <p:cNvPr id="333826" name="幻灯片图像占位符 333825"/>
          <p:cNvSpPr>
            <a:spLocks noGrp="1" noRot="1" noChangeAspect="1" noTextEdit="1"/>
          </p:cNvSpPr>
          <p:nvPr>
            <p:ph type="sldImg"/>
          </p:nvPr>
        </p:nvSpPr>
        <p:spPr>
          <a:ln/>
        </p:spPr>
      </p:sp>
      <p:sp>
        <p:nvSpPr>
          <p:cNvPr id="333827" name="文本占位符 333826"/>
          <p:cNvSpPr>
            <a:spLocks noGrp="1"/>
          </p:cNvSpPr>
          <p:nvPr>
            <p:ph type="body" idx="1"/>
          </p:nvPr>
        </p:nvSpPr>
        <p:spPr>
          <a:ln/>
        </p:spPr>
        <p:txBody>
          <a:bodyPr/>
          <a:lstStyle/>
          <a:p>
            <a:pPr lvl="0"/>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solidFill>
          <a:schemeClr val="bg1"/>
        </a:solidFill>
        <a:effectLst/>
      </p:bgPr>
    </p:bg>
    <p:spTree>
      <p:nvGrpSpPr>
        <p:cNvPr id="1" name=""/>
        <p:cNvGrpSpPr/>
        <p:nvPr/>
      </p:nvGrpSpPr>
      <p:grpSpPr>
        <a:xfrm>
          <a:off x="0" y="0"/>
          <a:ext cx="0" cy="0"/>
          <a:chOff x="0" y="0"/>
          <a:chExt cx="0" cy="0"/>
        </a:xfrm>
      </p:grpSpPr>
      <p:grpSp>
        <p:nvGrpSpPr>
          <p:cNvPr id="368642" name="组合 368641"/>
          <p:cNvGrpSpPr/>
          <p:nvPr/>
        </p:nvGrpSpPr>
        <p:grpSpPr>
          <a:xfrm>
            <a:off x="0" y="1822450"/>
            <a:ext cx="9009063" cy="1052513"/>
            <a:chOff x="0" y="1536"/>
            <a:chExt cx="5675" cy="663"/>
          </a:xfrm>
        </p:grpSpPr>
        <p:grpSp>
          <p:nvGrpSpPr>
            <p:cNvPr id="368643" name="组合 368642"/>
            <p:cNvGrpSpPr/>
            <p:nvPr/>
          </p:nvGrpSpPr>
          <p:grpSpPr>
            <a:xfrm>
              <a:off x="183" y="1604"/>
              <a:ext cx="448" cy="299"/>
              <a:chOff x="720" y="336"/>
              <a:chExt cx="624" cy="432"/>
            </a:xfrm>
          </p:grpSpPr>
          <p:sp>
            <p:nvSpPr>
              <p:cNvPr id="368644" name="矩形 368643"/>
              <p:cNvSpPr/>
              <p:nvPr/>
            </p:nvSpPr>
            <p:spPr>
              <a:xfrm>
                <a:off x="720" y="336"/>
                <a:ext cx="384" cy="432"/>
              </a:xfrm>
              <a:prstGeom prst="rect">
                <a:avLst/>
              </a:prstGeom>
              <a:solidFill>
                <a:schemeClr val="folHlink"/>
              </a:solidFill>
              <a:ln w="9525">
                <a:noFill/>
              </a:ln>
            </p:spPr>
            <p:txBody>
              <a:bodyPr/>
              <a:lstStyle/>
              <a:p>
                <a:endParaRPr lang="zh-CN" altLang="en-US"/>
              </a:p>
            </p:txBody>
          </p:sp>
          <p:sp>
            <p:nvSpPr>
              <p:cNvPr id="368645" name="矩形 368644"/>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a:lstStyle/>
              <a:p>
                <a:endParaRPr lang="zh-CN" altLang="en-US"/>
              </a:p>
            </p:txBody>
          </p:sp>
        </p:grpSp>
        <p:grpSp>
          <p:nvGrpSpPr>
            <p:cNvPr id="368646" name="组合 368645"/>
            <p:cNvGrpSpPr/>
            <p:nvPr/>
          </p:nvGrpSpPr>
          <p:grpSpPr>
            <a:xfrm>
              <a:off x="261" y="1870"/>
              <a:ext cx="465" cy="299"/>
              <a:chOff x="912" y="2640"/>
              <a:chExt cx="672" cy="432"/>
            </a:xfrm>
          </p:grpSpPr>
          <p:sp>
            <p:nvSpPr>
              <p:cNvPr id="368647" name="矩形 368646"/>
              <p:cNvSpPr/>
              <p:nvPr/>
            </p:nvSpPr>
            <p:spPr>
              <a:xfrm>
                <a:off x="912" y="2640"/>
                <a:ext cx="384" cy="432"/>
              </a:xfrm>
              <a:prstGeom prst="rect">
                <a:avLst/>
              </a:prstGeom>
              <a:solidFill>
                <a:schemeClr val="accent2"/>
              </a:solidFill>
              <a:ln w="9525">
                <a:noFill/>
              </a:ln>
            </p:spPr>
            <p:txBody>
              <a:bodyPr/>
              <a:lstStyle/>
              <a:p>
                <a:endParaRPr lang="zh-CN" altLang="en-US"/>
              </a:p>
            </p:txBody>
          </p:sp>
          <p:sp>
            <p:nvSpPr>
              <p:cNvPr id="368648" name="矩形 368647"/>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a:lstStyle/>
              <a:p>
                <a:endParaRPr lang="zh-CN" altLang="en-US"/>
              </a:p>
            </p:txBody>
          </p:sp>
        </p:grpSp>
        <p:sp>
          <p:nvSpPr>
            <p:cNvPr id="368649" name="矩形 368648"/>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a:lstStyle/>
            <a:p>
              <a:endParaRPr lang="zh-CN" altLang="en-US"/>
            </a:p>
          </p:txBody>
        </p:sp>
        <p:sp>
          <p:nvSpPr>
            <p:cNvPr id="368650" name="矩形 368649"/>
            <p:cNvSpPr/>
            <p:nvPr/>
          </p:nvSpPr>
          <p:spPr>
            <a:xfrm>
              <a:off x="400" y="1536"/>
              <a:ext cx="20" cy="663"/>
            </a:xfrm>
            <a:prstGeom prst="rect">
              <a:avLst/>
            </a:prstGeom>
            <a:solidFill>
              <a:schemeClr val="bg2"/>
            </a:solidFill>
            <a:ln w="9525">
              <a:noFill/>
            </a:ln>
          </p:spPr>
          <p:txBody>
            <a:bodyPr/>
            <a:lstStyle/>
            <a:p>
              <a:endParaRPr lang="zh-CN" altLang="en-US"/>
            </a:p>
          </p:txBody>
        </p:sp>
        <p:sp>
          <p:nvSpPr>
            <p:cNvPr id="368651" name="矩形 368650"/>
            <p:cNvSpPr/>
            <p:nvPr/>
          </p:nvSpPr>
          <p:spPr>
            <a:xfrm flipV="1">
              <a:off x="199" y="2054"/>
              <a:ext cx="5476" cy="35"/>
            </a:xfrm>
            <a:prstGeom prst="rect">
              <a:avLst/>
            </a:prstGeom>
            <a:gradFill rotWithShape="0">
              <a:gsLst>
                <a:gs pos="0">
                  <a:schemeClr val="bg2"/>
                </a:gs>
                <a:gs pos="100000">
                  <a:schemeClr val="bg1"/>
                </a:gs>
              </a:gsLst>
              <a:lin ang="0" scaled="1"/>
              <a:tileRect/>
            </a:gradFill>
            <a:ln w="9525">
              <a:noFill/>
            </a:ln>
          </p:spPr>
          <p:txBody>
            <a:bodyPr/>
            <a:lstStyle/>
            <a:p>
              <a:endParaRPr lang="zh-CN" altLang="en-US"/>
            </a:p>
          </p:txBody>
        </p:sp>
      </p:grpSp>
      <p:sp>
        <p:nvSpPr>
          <p:cNvPr id="368652" name="标题 368651"/>
          <p:cNvSpPr>
            <a:spLocks noGrp="1"/>
          </p:cNvSpPr>
          <p:nvPr>
            <p:ph type="ctrTitle"/>
          </p:nvPr>
        </p:nvSpPr>
        <p:spPr>
          <a:xfrm>
            <a:off x="827088" y="1676400"/>
            <a:ext cx="8137525" cy="1462088"/>
          </a:xfrm>
          <a:prstGeom prst="rect">
            <a:avLst/>
          </a:prstGeom>
          <a:noFill/>
          <a:ln w="9525">
            <a:noFill/>
          </a:ln>
        </p:spPr>
        <p:txBody>
          <a:bodyPr anchor="b"/>
          <a:lstStyle>
            <a:lvl1pPr lvl="0" algn="ctr">
              <a:buClrTx/>
              <a:buSzTx/>
              <a:buFontTx/>
              <a:defRPr sz="4800">
                <a:ea typeface="隶书" panose="02010509060101010101" pitchFamily="49" charset="-122"/>
              </a:defRPr>
            </a:lvl1pPr>
          </a:lstStyle>
          <a:p>
            <a:pPr lvl="0"/>
            <a:r>
              <a:rPr lang="zh-CN" altLang="en-US" dirty="0"/>
              <a:t>单击此处编辑母版标题样式</a:t>
            </a:r>
          </a:p>
        </p:txBody>
      </p:sp>
      <p:sp>
        <p:nvSpPr>
          <p:cNvPr id="368653" name="副标题 368652"/>
          <p:cNvSpPr>
            <a:spLocks noGrp="1"/>
          </p:cNvSpPr>
          <p:nvPr>
            <p:ph type="subTitle" idx="1"/>
          </p:nvPr>
        </p:nvSpPr>
        <p:spPr>
          <a:xfrm>
            <a:off x="1371600" y="3886200"/>
            <a:ext cx="6400800" cy="1752600"/>
          </a:xfrm>
          <a:prstGeom prst="rect">
            <a:avLst/>
          </a:prstGeom>
          <a:noFill/>
          <a:ln w="9525">
            <a:noFill/>
          </a:ln>
        </p:spPr>
        <p:txBody>
          <a:bodyPr anchor="t"/>
          <a:lstStyle>
            <a:lvl1pPr marL="0" lvl="0" indent="0" algn="ctr">
              <a:buClr>
                <a:schemeClr val="folHlink"/>
              </a:buClr>
              <a:buSzPct val="60000"/>
              <a:buFont typeface="Wingdings" panose="05000000000000000000" pitchFamily="2" charset="2"/>
              <a:defRPr/>
            </a:lvl1pPr>
            <a:lvl2pPr marL="457200" lvl="1" indent="0" algn="ctr">
              <a:buClr>
                <a:schemeClr val="hlink"/>
              </a:buClr>
              <a:buSzPct val="55000"/>
              <a:buFont typeface="Wingdings" panose="05000000000000000000" pitchFamily="2" charset="2"/>
              <a:buNone/>
              <a:defRPr/>
            </a:lvl2pPr>
            <a:lvl3pPr marL="914400" lvl="2" indent="0" algn="ctr">
              <a:buClr>
                <a:schemeClr val="folHlink"/>
              </a:buClr>
              <a:buSzPct val="50000"/>
              <a:buFont typeface="Wingdings" panose="05000000000000000000" pitchFamily="2" charset="2"/>
              <a:buNone/>
              <a:defRPr/>
            </a:lvl3pPr>
            <a:lvl4pPr marL="1371600" lvl="3" indent="0" algn="ctr">
              <a:buClr>
                <a:schemeClr val="accent2"/>
              </a:buClr>
              <a:buSzPct val="55000"/>
              <a:buFont typeface="Wingdings" panose="05000000000000000000" pitchFamily="2" charset="2"/>
              <a:buNone/>
              <a:defRPr/>
            </a:lvl4pPr>
            <a:lvl5pPr marL="1828800" lvl="4" indent="0" algn="ctr">
              <a:buClr>
                <a:schemeClr val="accent1"/>
              </a:buClr>
              <a:buSzPct val="50000"/>
              <a:buFont typeface="Wingdings" panose="05000000000000000000" pitchFamily="2" charset="2"/>
              <a:buNone/>
              <a:defRPr/>
            </a:lvl5pPr>
          </a:lstStyle>
          <a:p>
            <a:pPr lvl="0"/>
            <a:r>
              <a:rPr lang="zh-CN" altLang="en-US" dirty="0"/>
              <a:t>单击此处编辑母版副标题样式</a:t>
            </a:r>
          </a:p>
        </p:txBody>
      </p:sp>
      <p:sp>
        <p:nvSpPr>
          <p:cNvPr id="368654" name="日期占位符 368653"/>
          <p:cNvSpPr>
            <a:spLocks noGrp="1"/>
          </p:cNvSpPr>
          <p:nvPr>
            <p:ph type="dt" sz="half" idx="2"/>
          </p:nvPr>
        </p:nvSpPr>
        <p:spPr>
          <a:xfrm>
            <a:off x="990600" y="6248400"/>
            <a:ext cx="1905000" cy="457200"/>
          </a:xfrm>
          <a:prstGeom prst="rect">
            <a:avLst/>
          </a:prstGeom>
          <a:noFill/>
          <a:ln w="9525">
            <a:noFill/>
          </a:ln>
        </p:spPr>
        <p:txBody>
          <a:bodyPr anchor="b"/>
          <a:lstStyle>
            <a:lvl1pPr>
              <a:defRPr sz="1400">
                <a:solidFill>
                  <a:schemeClr val="bg2"/>
                </a:solidFill>
                <a:latin typeface="Tahoma" panose="020B0604030504040204" pitchFamily="34" charset="0"/>
              </a:defRPr>
            </a:lvl1pPr>
          </a:lstStyle>
          <a:p>
            <a:fld id="{BB962C8B-B14F-4D97-AF65-F5344CB8AC3E}" type="datetime1">
              <a:rPr lang="zh-CN" altLang="en-US" dirty="0"/>
              <a:t>2021-4-12</a:t>
            </a:fld>
            <a:endParaRPr lang="zh-CN" altLang="en-US" dirty="0">
              <a:latin typeface="Times New Roman" panose="02020603050405020304" pitchFamily="18" charset="0"/>
            </a:endParaRPr>
          </a:p>
        </p:txBody>
      </p:sp>
      <p:sp>
        <p:nvSpPr>
          <p:cNvPr id="368655" name="页脚占位符 368654"/>
          <p:cNvSpPr>
            <a:spLocks noGrp="1"/>
          </p:cNvSpPr>
          <p:nvPr>
            <p:ph type="ftr" sz="quarter" idx="3"/>
          </p:nvPr>
        </p:nvSpPr>
        <p:spPr>
          <a:xfrm>
            <a:off x="3429000" y="6248400"/>
            <a:ext cx="2895600" cy="457200"/>
          </a:xfrm>
          <a:prstGeom prst="rect">
            <a:avLst/>
          </a:prstGeom>
          <a:noFill/>
          <a:ln w="9525">
            <a:noFill/>
          </a:ln>
        </p:spPr>
        <p:txBody>
          <a:bodyPr anchor="b"/>
          <a:lstStyle>
            <a:lvl1pPr algn="ctr">
              <a:defRPr sz="1400">
                <a:solidFill>
                  <a:schemeClr val="bg2"/>
                </a:solidFill>
                <a:latin typeface="Tahoma" panose="020B0604030504040204" pitchFamily="34" charset="0"/>
              </a:defRPr>
            </a:lvl1pPr>
          </a:lstStyle>
          <a:p>
            <a:endParaRPr lang="zh-CN" altLang="en-US" dirty="0"/>
          </a:p>
        </p:txBody>
      </p:sp>
      <p:sp>
        <p:nvSpPr>
          <p:cNvPr id="368656" name="灯片编号占位符 368655"/>
          <p:cNvSpPr>
            <a:spLocks noGrp="1"/>
          </p:cNvSpPr>
          <p:nvPr>
            <p:ph type="sldNum" sz="quarter" idx="4"/>
          </p:nvPr>
        </p:nvSpPr>
        <p:spPr>
          <a:xfrm>
            <a:off x="6858000" y="6248400"/>
            <a:ext cx="1905000" cy="457200"/>
          </a:xfrm>
          <a:prstGeom prst="rect">
            <a:avLst/>
          </a:prstGeom>
          <a:noFill/>
          <a:ln w="9525">
            <a:noFill/>
          </a:ln>
        </p:spPr>
        <p:txBody>
          <a:bodyPr anchor="b"/>
          <a:lstStyle>
            <a:lvl1pPr algn="r">
              <a:defRPr sz="1400">
                <a:solidFill>
                  <a:schemeClr val="bg2"/>
                </a:solidFill>
                <a:latin typeface="Tahoma" panose="020B0604030504040204" pitchFamily="34" charset="0"/>
              </a:defRPr>
            </a:lvl1pPr>
          </a:lstStyle>
          <a:p>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11188" y="1258888"/>
            <a:ext cx="3916600" cy="5338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7650" y="1258888"/>
            <a:ext cx="3916600" cy="5338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a:endParaRPr lang="zh-CN" altLang="en-US" dirty="0"/>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a:endParaRPr lang="zh-CN" altLang="en-US" dirty="0"/>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60778" y="71438"/>
            <a:ext cx="2083197" cy="65262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11188" y="71438"/>
            <a:ext cx="6128825" cy="65262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67618" name="矩形 367617"/>
          <p:cNvSpPr/>
          <p:nvPr/>
        </p:nvSpPr>
        <p:spPr>
          <a:xfrm>
            <a:off x="417513" y="252413"/>
            <a:ext cx="438150" cy="474662"/>
          </a:xfrm>
          <a:prstGeom prst="rect">
            <a:avLst/>
          </a:prstGeom>
          <a:solidFill>
            <a:schemeClr val="accent2"/>
          </a:solidFill>
          <a:ln w="9525">
            <a:noFill/>
          </a:ln>
        </p:spPr>
        <p:txBody>
          <a:bodyPr wrap="none" anchor="ctr"/>
          <a:lstStyle/>
          <a:p>
            <a:pPr lvl="0" algn="ctr"/>
            <a:endParaRPr lang="zh-CN" altLang="en-US" sz="2400" dirty="0">
              <a:latin typeface="Tahoma" panose="020B0604030504040204" pitchFamily="34" charset="0"/>
            </a:endParaRPr>
          </a:p>
        </p:txBody>
      </p:sp>
      <p:sp>
        <p:nvSpPr>
          <p:cNvPr id="367619" name="矩形 367618"/>
          <p:cNvSpPr/>
          <p:nvPr/>
        </p:nvSpPr>
        <p:spPr>
          <a:xfrm>
            <a:off x="800100" y="252413"/>
            <a:ext cx="328613" cy="474662"/>
          </a:xfrm>
          <a:prstGeom prst="rect">
            <a:avLst/>
          </a:prstGeom>
          <a:gradFill rotWithShape="0">
            <a:gsLst>
              <a:gs pos="0">
                <a:schemeClr val="accent2"/>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0" name="矩形 367619"/>
          <p:cNvSpPr/>
          <p:nvPr/>
        </p:nvSpPr>
        <p:spPr>
          <a:xfrm>
            <a:off x="541338" y="674688"/>
            <a:ext cx="422275" cy="474662"/>
          </a:xfrm>
          <a:prstGeom prst="rect">
            <a:avLst/>
          </a:prstGeom>
          <a:solidFill>
            <a:schemeClr val="folHlink"/>
          </a:solidFill>
          <a:ln w="9525">
            <a:noFill/>
          </a:ln>
        </p:spPr>
        <p:txBody>
          <a:bodyPr wrap="none" anchor="ctr"/>
          <a:lstStyle/>
          <a:p>
            <a:pPr lvl="0" algn="ctr"/>
            <a:endParaRPr lang="zh-CN" altLang="en-US" sz="2400" dirty="0">
              <a:latin typeface="Tahoma" panose="020B0604030504040204" pitchFamily="34" charset="0"/>
            </a:endParaRPr>
          </a:p>
        </p:txBody>
      </p:sp>
      <p:sp>
        <p:nvSpPr>
          <p:cNvPr id="367621" name="矩形 367620"/>
          <p:cNvSpPr/>
          <p:nvPr/>
        </p:nvSpPr>
        <p:spPr>
          <a:xfrm>
            <a:off x="911225" y="674688"/>
            <a:ext cx="368300" cy="474662"/>
          </a:xfrm>
          <a:prstGeom prst="rect">
            <a:avLst/>
          </a:prstGeom>
          <a:gradFill rotWithShape="0">
            <a:gsLst>
              <a:gs pos="0">
                <a:schemeClr val="folHlink"/>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2" name="矩形 367621"/>
          <p:cNvSpPr/>
          <p:nvPr/>
        </p:nvSpPr>
        <p:spPr>
          <a:xfrm>
            <a:off x="127000" y="601663"/>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3" name="矩形 367622"/>
          <p:cNvSpPr/>
          <p:nvPr/>
        </p:nvSpPr>
        <p:spPr>
          <a:xfrm>
            <a:off x="762000" y="144463"/>
            <a:ext cx="31750" cy="1052512"/>
          </a:xfrm>
          <a:prstGeom prst="rect">
            <a:avLst/>
          </a:prstGeom>
          <a:solidFill>
            <a:schemeClr val="bg2"/>
          </a:solidFill>
          <a:ln w="9525">
            <a:noFill/>
          </a:ln>
        </p:spPr>
        <p:txBody>
          <a:bodyPr wrap="none" anchor="ctr"/>
          <a:lstStyle/>
          <a:p>
            <a:pPr lvl="0" algn="ctr"/>
            <a:endParaRPr lang="zh-CN" altLang="en-US" sz="2400" dirty="0">
              <a:latin typeface="Tahoma" panose="020B0604030504040204" pitchFamily="34" charset="0"/>
            </a:endParaRPr>
          </a:p>
        </p:txBody>
      </p:sp>
      <p:sp>
        <p:nvSpPr>
          <p:cNvPr id="367624" name="矩形 367623"/>
          <p:cNvSpPr/>
          <p:nvPr/>
        </p:nvSpPr>
        <p:spPr>
          <a:xfrm>
            <a:off x="442913" y="935038"/>
            <a:ext cx="8226425" cy="31750"/>
          </a:xfrm>
          <a:prstGeom prst="rect">
            <a:avLst/>
          </a:prstGeom>
          <a:gradFill rotWithShape="0">
            <a:gsLst>
              <a:gs pos="0">
                <a:schemeClr val="bg2"/>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5" name="标题 367624"/>
          <p:cNvSpPr>
            <a:spLocks noGrp="1"/>
          </p:cNvSpPr>
          <p:nvPr>
            <p:ph type="title"/>
          </p:nvPr>
        </p:nvSpPr>
        <p:spPr>
          <a:xfrm>
            <a:off x="1150938" y="71438"/>
            <a:ext cx="7793037" cy="836612"/>
          </a:xfrm>
          <a:prstGeom prst="rect">
            <a:avLst/>
          </a:prstGeom>
          <a:noFill/>
          <a:ln w="9525">
            <a:noFill/>
          </a:ln>
        </p:spPr>
        <p:txBody>
          <a:bodyPr anchor="b"/>
          <a:lstStyle/>
          <a:p>
            <a:pPr lvl="0"/>
            <a:r>
              <a:rPr lang="zh-CN" altLang="en-US" dirty="0"/>
              <a:t>单击此处编辑母版标题样式</a:t>
            </a:r>
          </a:p>
        </p:txBody>
      </p:sp>
      <p:sp>
        <p:nvSpPr>
          <p:cNvPr id="367626" name="文本占位符 367625"/>
          <p:cNvSpPr>
            <a:spLocks noGrp="1"/>
          </p:cNvSpPr>
          <p:nvPr>
            <p:ph type="body" idx="1"/>
          </p:nvPr>
        </p:nvSpPr>
        <p:spPr>
          <a:xfrm>
            <a:off x="611188" y="1258888"/>
            <a:ext cx="7993062" cy="5338762"/>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67627" name="日期占位符 367626"/>
          <p:cNvSpPr>
            <a:spLocks noGrp="1"/>
          </p:cNvSpPr>
          <p:nvPr>
            <p:ph type="dt" sz="half" idx="2"/>
          </p:nvPr>
        </p:nvSpPr>
        <p:spPr>
          <a:xfrm>
            <a:off x="1162050" y="6243638"/>
            <a:ext cx="1905000" cy="457200"/>
          </a:xfrm>
          <a:prstGeom prst="rect">
            <a:avLst/>
          </a:prstGeom>
          <a:noFill/>
          <a:ln w="9525">
            <a:noFill/>
          </a:ln>
        </p:spPr>
        <p:txBody>
          <a:bodyPr anchor="b"/>
          <a:lstStyle>
            <a:lvl1pPr>
              <a:defRPr sz="1400">
                <a:latin typeface="Tahoma" panose="020B0604030504040204" pitchFamily="34" charset="0"/>
              </a:defRPr>
            </a:lvl1pPr>
          </a:lstStyle>
          <a:p>
            <a:pPr lvl="0"/>
            <a:endParaRPr lang="zh-CN" altLang="en-US" dirty="0">
              <a:latin typeface="Times New Roman" panose="02020603050405020304" pitchFamily="18" charset="0"/>
            </a:endParaRPr>
          </a:p>
        </p:txBody>
      </p:sp>
      <p:sp>
        <p:nvSpPr>
          <p:cNvPr id="367628" name="页脚占位符 367627"/>
          <p:cNvSpPr>
            <a:spLocks noGrp="1"/>
          </p:cNvSpPr>
          <p:nvPr>
            <p:ph type="ftr" sz="quarter" idx="3"/>
          </p:nvPr>
        </p:nvSpPr>
        <p:spPr>
          <a:xfrm>
            <a:off x="3657600" y="6243638"/>
            <a:ext cx="2895600" cy="457200"/>
          </a:xfrm>
          <a:prstGeom prst="rect">
            <a:avLst/>
          </a:prstGeom>
          <a:noFill/>
          <a:ln w="9525">
            <a:noFill/>
          </a:ln>
        </p:spPr>
        <p:txBody>
          <a:bodyPr anchor="b"/>
          <a:lstStyle>
            <a:lvl1pPr algn="ctr">
              <a:defRPr sz="1400">
                <a:latin typeface="Tahoma" panose="020B0604030504040204" pitchFamily="34" charset="0"/>
              </a:defRPr>
            </a:lvl1pPr>
          </a:lstStyle>
          <a:p>
            <a:pPr lvl="0"/>
            <a:endParaRPr lang="zh-CN" altLang="en-US" dirty="0"/>
          </a:p>
        </p:txBody>
      </p:sp>
      <p:sp>
        <p:nvSpPr>
          <p:cNvPr id="367629" name="灯片编号占位符 367628"/>
          <p:cNvSpPr>
            <a:spLocks noGrp="1"/>
          </p:cNvSpPr>
          <p:nvPr>
            <p:ph type="sldNum" sz="quarter" idx="4"/>
          </p:nvPr>
        </p:nvSpPr>
        <p:spPr>
          <a:xfrm>
            <a:off x="7042150" y="6243638"/>
            <a:ext cx="1905000" cy="457200"/>
          </a:xfrm>
          <a:prstGeom prst="rect">
            <a:avLst/>
          </a:prstGeom>
          <a:noFill/>
          <a:ln w="9525">
            <a:noFill/>
          </a:ln>
        </p:spPr>
        <p:txBody>
          <a:bodyPr anchor="b"/>
          <a:lstStyle>
            <a:lvl1pPr algn="r">
              <a:defRPr sz="1400">
                <a:latin typeface="Tahoma" panose="020B0604030504040204" pitchFamily="34" charset="0"/>
              </a:defRPr>
            </a:lvl1p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l" defTabSz="914400" rtl="0" eaLnBrk="1" fontAlgn="base" latinLnBrk="0" hangingPunct="1">
        <a:lnSpc>
          <a:spcPct val="100000"/>
        </a:lnSpc>
        <a:spcBef>
          <a:spcPct val="0"/>
        </a:spcBef>
        <a:spcAft>
          <a:spcPct val="0"/>
        </a:spcAft>
        <a:buNone/>
        <a:defRPr sz="3600" b="1" i="0" u="none" kern="1200" baseline="0">
          <a:solidFill>
            <a:schemeClr val="tx2"/>
          </a:solidFill>
          <a:effectLst>
            <a:outerShdw blurRad="38100" dist="38100" dir="2700000">
              <a:srgbClr val="C0C0C0"/>
            </a:outerShdw>
          </a:effectLst>
          <a:latin typeface="+mj-lt"/>
          <a:ea typeface="+mj-ea"/>
          <a:cs typeface="+mj-cs"/>
        </a:defRPr>
      </a:lvl1pPr>
    </p:titleStyle>
    <p:body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i="0" u="none" kern="1200" baseline="0">
          <a:solidFill>
            <a:schemeClr val="tx1"/>
          </a:solidFill>
          <a:effectLst>
            <a:outerShdw blurRad="38100" dist="38100" dir="2700000">
              <a:srgbClr val="C0C0C0"/>
            </a:outerShdw>
          </a:effectLst>
          <a:latin typeface="+mn-lt"/>
          <a:ea typeface="+mn-ea"/>
          <a:cs typeface="+mn-cs"/>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mn-lt"/>
          <a:ea typeface="+mn-ea"/>
          <a:cs typeface="+mn-cs"/>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mn-lt"/>
          <a:ea typeface="+mn-ea"/>
          <a:cs typeface="+mn-cs"/>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5pPr>
      <a:lvl6pPr marL="2514600" lvl="5"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6pPr>
      <a:lvl7pPr marL="2971800" lvl="6"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7pPr>
      <a:lvl8pPr marL="3429000" lvl="7"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8pPr>
      <a:lvl9pPr marL="3886200" lvl="8"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9" name="矩形 328708"/>
          <p:cNvSpPr/>
          <p:nvPr/>
        </p:nvSpPr>
        <p:spPr>
          <a:xfrm>
            <a:off x="107950" y="80963"/>
            <a:ext cx="4608513" cy="574675"/>
          </a:xfrm>
          <a:prstGeom prst="rect">
            <a:avLst/>
          </a:prstGeom>
          <a:gradFill rotWithShape="1">
            <a:gsLst>
              <a:gs pos="0">
                <a:srgbClr val="C0C0C0"/>
              </a:gs>
              <a:gs pos="100000">
                <a:srgbClr val="C0C0C0">
                  <a:gamma/>
                  <a:tint val="0"/>
                  <a:invGamma/>
                </a:srgbClr>
              </a:gs>
            </a:gsLst>
            <a:path path="shape">
              <a:fillToRect l="50000" t="50000" r="50000" b="50000"/>
            </a:path>
            <a:tileRect/>
          </a:gradFill>
          <a:ln w="9525">
            <a:noFill/>
          </a:ln>
        </p:spPr>
        <p:txBody>
          <a:bodyPr tIns="76176" bIns="72000" anchor="ctr" anchorCtr="1">
            <a:spAutoFit/>
          </a:bodyPr>
          <a:lstStyle/>
          <a:p>
            <a:pPr algn="ctr"/>
            <a:r>
              <a:rPr lang="zh-CN" altLang="en-US" sz="2800" b="1" dirty="0">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rPr>
              <a:t>数据库系统原理及应用</a:t>
            </a:r>
            <a:endParaRPr lang="zh-CN" altLang="en-US" sz="3000" b="1">
              <a:solidFill>
                <a:srgbClr val="000000"/>
              </a:solidFill>
              <a:effectLst>
                <a:outerShdw blurRad="38100" dist="38100" dir="2700000">
                  <a:srgbClr val="FFFFFF"/>
                </a:outerShdw>
              </a:effectLst>
              <a:latin typeface="Times New Roman" panose="02020603050405020304" pitchFamily="18" charset="0"/>
              <a:ea typeface="楷体_GB2312" pitchFamily="49" charset="-122"/>
            </a:endParaRPr>
          </a:p>
        </p:txBody>
      </p:sp>
      <p:sp>
        <p:nvSpPr>
          <p:cNvPr id="328711" name="标题 328710"/>
          <p:cNvSpPr>
            <a:spLocks noGrp="1"/>
          </p:cNvSpPr>
          <p:nvPr>
            <p:ph type="ctrTitle"/>
          </p:nvPr>
        </p:nvSpPr>
        <p:spPr>
          <a:xfrm>
            <a:off x="684213" y="1230313"/>
            <a:ext cx="8137525" cy="1462087"/>
          </a:xfrm>
          <a:ln/>
        </p:spPr>
        <p:txBody>
          <a:bodyPr anchor="b"/>
          <a:lstStyle/>
          <a:p>
            <a:pPr defTabSz="914400">
              <a:buSzTx/>
            </a:pPr>
            <a:r>
              <a:rPr lang="zh-CN" altLang="en-US" sz="4200" kern="1200" baseline="0" dirty="0">
                <a:latin typeface="Tahoma" panose="020B0604030504040204" pitchFamily="34" charset="0"/>
                <a:ea typeface="隶书" panose="02010509060101010101" pitchFamily="49" charset="-122"/>
              </a:rPr>
              <a:t>第</a:t>
            </a:r>
            <a:r>
              <a:rPr lang="en-US" altLang="zh-CN" sz="4200" kern="1200" baseline="0">
                <a:latin typeface="Tahoma" panose="020B0604030504040204" pitchFamily="34" charset="0"/>
                <a:ea typeface="隶书" panose="02010509060101010101" pitchFamily="49" charset="-122"/>
              </a:rPr>
              <a:t>3</a:t>
            </a:r>
            <a:r>
              <a:rPr lang="zh-CN" altLang="en-US" sz="4200" kern="1200" baseline="0" dirty="0">
                <a:latin typeface="Tahoma" panose="020B0604030504040204" pitchFamily="34" charset="0"/>
                <a:ea typeface="隶书" panose="02010509060101010101" pitchFamily="49" charset="-122"/>
              </a:rPr>
              <a:t>章 数据库应用系统设计方法</a:t>
            </a:r>
            <a:r>
              <a:rPr lang="zh-CN" altLang="en-US" kern="1200" baseline="0" dirty="0">
                <a:latin typeface="Tahoma" panose="020B0604030504040204" pitchFamily="34" charset="0"/>
                <a:ea typeface="隶书" panose="02010509060101010101" pitchFamily="49" charset="-122"/>
              </a:rPr>
              <a:t> </a:t>
            </a:r>
          </a:p>
        </p:txBody>
      </p:sp>
      <p:sp>
        <p:nvSpPr>
          <p:cNvPr id="328715" name="文本框 328714"/>
          <p:cNvSpPr txBox="1"/>
          <p:nvPr/>
        </p:nvSpPr>
        <p:spPr>
          <a:xfrm>
            <a:off x="2516188" y="3957638"/>
            <a:ext cx="4681537" cy="706755"/>
          </a:xfrm>
          <a:prstGeom prst="rect">
            <a:avLst/>
          </a:prstGeom>
          <a:noFill/>
          <a:ln w="12700">
            <a:noFill/>
          </a:ln>
        </p:spPr>
        <p:txBody>
          <a:bodyPr>
            <a:spAutoFit/>
          </a:bodyPr>
          <a:lstStyle/>
          <a:p>
            <a:r>
              <a:rPr lang="zh-CN" altLang="en-US" sz="4000" b="1" dirty="0">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     </a:t>
            </a:r>
            <a:endParaRPr lang="zh-CN" altLang="en-US" sz="4400" b="1" dirty="0">
              <a:solidFill>
                <a:srgbClr val="660033"/>
              </a:solidFill>
              <a:effectLst>
                <a:outerShdw blurRad="38100" dist="38100" dir="2700000">
                  <a:srgbClr val="C0C0C0"/>
                </a:outerShdw>
              </a:effectLst>
              <a:latin typeface="隶书" panose="02010509060101010101" pitchFamily="49" charset="-122"/>
              <a:ea typeface="隶书" panose="02010509060101010101" pitchFamily="49" charset="-122"/>
            </a:endParaRPr>
          </a:p>
        </p:txBody>
      </p:sp>
      <p:pic>
        <p:nvPicPr>
          <p:cNvPr id="328716" name="图片 328715" descr="BS02064_"/>
          <p:cNvPicPr>
            <a:picLocks noChangeAspect="1"/>
          </p:cNvPicPr>
          <p:nvPr/>
        </p:nvPicPr>
        <p:blipFill>
          <a:blip r:embed="rId3"/>
          <a:stretch>
            <a:fillRect/>
          </a:stretch>
        </p:blipFill>
        <p:spPr>
          <a:xfrm>
            <a:off x="0" y="4170363"/>
            <a:ext cx="2700338" cy="2687637"/>
          </a:xfrm>
          <a:prstGeom prst="rect">
            <a:avLst/>
          </a:prstGeom>
          <a:noFill/>
          <a:ln w="9525">
            <a:noFill/>
          </a:ln>
        </p:spPr>
      </p:pic>
      <p:sp>
        <p:nvSpPr>
          <p:cNvPr id="328717" name="文本框 328716"/>
          <p:cNvSpPr txBox="1"/>
          <p:nvPr/>
        </p:nvSpPr>
        <p:spPr>
          <a:xfrm>
            <a:off x="2338388" y="2708275"/>
            <a:ext cx="4681537" cy="701675"/>
          </a:xfrm>
          <a:prstGeom prst="rect">
            <a:avLst/>
          </a:prstGeom>
          <a:noFill/>
          <a:ln w="12700">
            <a:noFill/>
          </a:ln>
        </p:spPr>
        <p:txBody>
          <a:bodyPr>
            <a:spAutoFit/>
          </a:bodyPr>
          <a:lstStyle/>
          <a:p>
            <a:pPr algn="ctr"/>
            <a:r>
              <a:rPr lang="zh-CN" altLang="en-US" sz="4000" b="1" dirty="0">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（第一讲）</a:t>
            </a:r>
            <a:endParaRPr lang="zh-CN" altLang="en-US" sz="4400" b="1" dirty="0">
              <a:solidFill>
                <a:srgbClr val="006699"/>
              </a:solidFill>
              <a:effectLst>
                <a:outerShdw blurRad="38100" dist="38100" dir="2700000">
                  <a:srgbClr val="C0C0C0"/>
                </a:outerShdw>
              </a:effectLst>
              <a:latin typeface="隶书" panose="02010509060101010101" pitchFamily="49" charset="-122"/>
              <a:ea typeface="隶书" panose="02010509060101010101" pitchFamily="49" charset="-122"/>
            </a:endParaRPr>
          </a:p>
        </p:txBody>
      </p:sp>
    </p:spTree>
  </p:cSld>
  <p:clrMapOvr>
    <a:masterClrMapping/>
  </p:clrMapOvr>
  <p:transition spd="slow" advTm="389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28709"/>
                                        </p:tgtEl>
                                        <p:attrNameLst>
                                          <p:attrName>style.visibility</p:attrName>
                                        </p:attrNameLst>
                                      </p:cBhvr>
                                      <p:to>
                                        <p:strVal val="visible"/>
                                      </p:to>
                                    </p:set>
                                    <p:animEffect transition="in" filter="wipe(left)">
                                      <p:cBhvr>
                                        <p:cTn id="7" dur="1000"/>
                                        <p:tgtEl>
                                          <p:spTgt spid="328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42" name="矩形 372741"/>
          <p:cNvSpPr/>
          <p:nvPr/>
        </p:nvSpPr>
        <p:spPr>
          <a:xfrm>
            <a:off x="42863" y="74613"/>
            <a:ext cx="8748712" cy="1223962"/>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372741" name="矩形 372740"/>
          <p:cNvSpPr/>
          <p:nvPr/>
        </p:nvSpPr>
        <p:spPr>
          <a:xfrm>
            <a:off x="496888" y="908050"/>
            <a:ext cx="8208962" cy="4537075"/>
          </a:xfrm>
          <a:prstGeom prst="rect">
            <a:avLst/>
          </a:prstGeom>
          <a:noFill/>
          <a:ln w="9525" cap="flat" cmpd="sng">
            <a:solidFill>
              <a:srgbClr val="00CC00"/>
            </a:solidFill>
            <a:prstDash val="solid"/>
            <a:miter/>
            <a:headEnd type="none" w="med" len="med"/>
            <a:tailEnd type="none" w="med" len="med"/>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b="0" dirty="0">
                <a:effectLst/>
                <a:ea typeface="黑体" panose="02010609060101010101" pitchFamily="2" charset="-122"/>
              </a:rPr>
              <a:t>          </a:t>
            </a:r>
          </a:p>
          <a:p>
            <a:pPr lvl="0"/>
            <a:r>
              <a:rPr lang="zh-CN" altLang="en-US" b="0" dirty="0">
                <a:effectLst/>
                <a:ea typeface="黑体" panose="02010609060101010101" pitchFamily="2" charset="-122"/>
              </a:rPr>
              <a:t>          </a:t>
            </a:r>
            <a:r>
              <a:rPr lang="zh-CN" altLang="en-US" sz="3200" dirty="0">
                <a:solidFill>
                  <a:srgbClr val="660033"/>
                </a:solidFill>
                <a:effectLst/>
                <a:ea typeface="华文新魏" panose="02010800040101010101" pitchFamily="2" charset="-122"/>
              </a:rPr>
              <a:t>数据库应用系统设计</a:t>
            </a:r>
            <a:r>
              <a:rPr lang="zh-CN" altLang="en-US" b="0" dirty="0">
                <a:effectLst/>
              </a:rPr>
              <a:t>是指以计算机为开发和应用平台，以操作系统、某一商用数据库管理系统软件及开发工具、某一程序语言等为软件环境，采用数据库设计技术进行完成某一特定应用领域或部门的数据管理功能的数据库应用系统的</a:t>
            </a:r>
            <a:r>
              <a:rPr lang="zh-CN" altLang="en-US" b="0" dirty="0">
                <a:solidFill>
                  <a:srgbClr val="003366"/>
                </a:solidFill>
                <a:effectLst/>
                <a:ea typeface="黑体" panose="02010609060101010101" pitchFamily="2" charset="-122"/>
              </a:rPr>
              <a:t>设计实现过程</a:t>
            </a:r>
            <a:r>
              <a:rPr lang="zh-CN" altLang="en-US" b="0" dirty="0">
                <a:effectLst/>
              </a:rPr>
              <a:t>。</a:t>
            </a:r>
            <a:r>
              <a:rPr lang="zh-CN" altLang="en-US" b="0" dirty="0">
                <a:effectLst/>
                <a:ea typeface="黑体" panose="02010609060101010101" pitchFamily="2" charset="-122"/>
              </a:rPr>
              <a:t>     </a:t>
            </a:r>
            <a:r>
              <a:rPr lang="zh-CN" altLang="en-US" sz="1000" b="0" dirty="0">
                <a:effectLst/>
                <a:ea typeface="黑体" panose="02010609060101010101" pitchFamily="2" charset="-122"/>
              </a:rPr>
              <a:t>  </a:t>
            </a:r>
          </a:p>
        </p:txBody>
      </p:sp>
    </p:spTree>
  </p:cSld>
  <p:clrMapOvr>
    <a:masterClrMapping/>
  </p:clrMapOvr>
  <mc:AlternateContent xmlns:mc="http://schemas.openxmlformats.org/markup-compatibility/2006" xmlns:p14="http://schemas.microsoft.com/office/powerpoint/2010/main">
    <mc:Choice Requires="p14">
      <p:transition spd="slow" p14:dur="2000" advTm="31188"/>
    </mc:Choice>
    <mc:Fallback xmlns="">
      <p:transition spd="slow" advTm="31188"/>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7" name="标题 376836"/>
          <p:cNvSpPr>
            <a:spLocks noGrp="1"/>
          </p:cNvSpPr>
          <p:nvPr>
            <p:ph type="ctrTitle"/>
          </p:nvPr>
        </p:nvSpPr>
        <p:spPr>
          <a:xfrm>
            <a:off x="827088" y="1230313"/>
            <a:ext cx="8137525" cy="1462087"/>
          </a:xfrm>
          <a:ln/>
        </p:spPr>
        <p:txBody>
          <a:bodyPr vert="horz" wrap="square" lIns="91440" tIns="45720" rIns="91440" bIns="45720" anchor="b"/>
          <a:lstStyle/>
          <a:p>
            <a:pPr defTabSz="914400">
              <a:buSzTx/>
            </a:pPr>
            <a:r>
              <a:rPr lang="en-US" altLang="zh-CN" sz="4400" kern="1200" baseline="0">
                <a:latin typeface="Tahoma" panose="020B0604030504040204" pitchFamily="34" charset="0"/>
                <a:ea typeface="隶书" panose="02010509060101010101" pitchFamily="49" charset="-122"/>
              </a:rPr>
              <a:t>3.1</a:t>
            </a:r>
            <a:r>
              <a:rPr lang="zh-CN" altLang="en-US" sz="4400" kern="1200" baseline="0" dirty="0">
                <a:latin typeface="Tahoma" panose="020B0604030504040204" pitchFamily="34" charset="0"/>
                <a:ea typeface="隶书" panose="02010509060101010101" pitchFamily="49" charset="-122"/>
              </a:rPr>
              <a:t>  数据库应用系统设计概述</a:t>
            </a:r>
          </a:p>
        </p:txBody>
      </p:sp>
      <p:sp>
        <p:nvSpPr>
          <p:cNvPr id="376838" name="矩形 376837"/>
          <p:cNvSpPr/>
          <p:nvPr/>
        </p:nvSpPr>
        <p:spPr>
          <a:xfrm>
            <a:off x="71438" y="95250"/>
            <a:ext cx="4932362" cy="544513"/>
          </a:xfrm>
          <a:prstGeom prst="rect">
            <a:avLst/>
          </a:prstGeom>
          <a:gradFill rotWithShape="1">
            <a:gsLst>
              <a:gs pos="0">
                <a:srgbClr val="C0C0C0"/>
              </a:gs>
              <a:gs pos="100000">
                <a:srgbClr val="C0C0C0">
                  <a:gamma/>
                  <a:tint val="0"/>
                  <a:invGamma/>
                </a:srgbClr>
              </a:gs>
            </a:gsLst>
            <a:path path="shape">
              <a:fillToRect l="50000" t="50000" r="50000" b="50000"/>
            </a:path>
            <a:tileRect/>
          </a:gradFill>
          <a:ln w="9525">
            <a:noFill/>
          </a:ln>
        </p:spPr>
        <p:txBody>
          <a:bodyPr tIns="76176" bIns="72000" anchor="ctr" anchorCtr="1">
            <a:spAutoFit/>
          </a:bodyPr>
          <a:lstStyle/>
          <a:p>
            <a:r>
              <a:rPr lang="zh-CN" altLang="en-US" sz="2600" b="1" dirty="0">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rPr>
              <a:t>第</a:t>
            </a:r>
            <a:r>
              <a:rPr lang="en-US" altLang="zh-CN" sz="2600" b="1">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rPr>
              <a:t>3</a:t>
            </a:r>
            <a:r>
              <a:rPr lang="zh-CN" altLang="en-US" sz="2600" b="1" dirty="0">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rPr>
              <a:t>章  数据库应用系统设计方法</a:t>
            </a:r>
            <a:endParaRPr lang="zh-CN" altLang="en-US" sz="2600" b="1">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endParaRPr>
          </a:p>
        </p:txBody>
      </p:sp>
    </p:spTree>
  </p:cSld>
  <p:clrMapOvr>
    <a:masterClrMapping/>
  </p:clrMapOvr>
  <p:transition spd="slow" advTm="3456"/>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8" name="矩形 374787"/>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一、数据库应用系统的生命周期</a:t>
            </a:r>
          </a:p>
        </p:txBody>
      </p:sp>
      <p:sp>
        <p:nvSpPr>
          <p:cNvPr id="374789" name="矩形 374788"/>
          <p:cNvSpPr/>
          <p:nvPr/>
        </p:nvSpPr>
        <p:spPr>
          <a:xfrm>
            <a:off x="395288" y="1258888"/>
            <a:ext cx="8208962"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0000"/>
              </a:lnSpc>
            </a:pPr>
            <a:r>
              <a:rPr lang="zh-CN" altLang="en-US" b="0" dirty="0">
                <a:effectLst/>
                <a:ea typeface="黑体" panose="02010609060101010101" pitchFamily="2" charset="-122"/>
              </a:rPr>
              <a:t>   </a:t>
            </a:r>
            <a:r>
              <a:rPr lang="en-US" altLang="zh-CN" sz="3000">
                <a:solidFill>
                  <a:srgbClr val="660033"/>
                </a:solidFill>
                <a:ea typeface="华文新魏" panose="02010800040101010101" pitchFamily="2" charset="-122"/>
              </a:rPr>
              <a:t>1</a:t>
            </a:r>
            <a:r>
              <a:rPr lang="zh-CN" altLang="en-US" sz="3000" dirty="0">
                <a:solidFill>
                  <a:srgbClr val="660033"/>
                </a:solidFill>
                <a:ea typeface="华文新魏" panose="02010800040101010101" pitchFamily="2" charset="-122"/>
              </a:rPr>
              <a:t>、数据库应用系统设计问题的特点</a:t>
            </a:r>
          </a:p>
          <a:p>
            <a:pPr lvl="0">
              <a:lnSpc>
                <a:spcPct val="130000"/>
              </a:lnSpc>
            </a:pPr>
            <a:r>
              <a:rPr lang="zh-CN" altLang="en-US" dirty="0">
                <a:effectLst/>
              </a:rPr>
              <a:t>          </a:t>
            </a:r>
            <a:r>
              <a:rPr lang="zh-CN" altLang="en-US" dirty="0"/>
              <a:t>（</a:t>
            </a:r>
            <a:r>
              <a:rPr lang="en-US" altLang="zh-CN"/>
              <a:t>1</a:t>
            </a:r>
            <a:r>
              <a:rPr lang="zh-CN" altLang="en-US" dirty="0"/>
              <a:t>）一个数据库应用系统首先是一个应用软件系统，所以其设计过程总体上应遵循</a:t>
            </a:r>
            <a:r>
              <a:rPr lang="zh-CN" altLang="en-US" dirty="0">
                <a:solidFill>
                  <a:srgbClr val="660033"/>
                </a:solidFill>
              </a:rPr>
              <a:t>问题定义、可行性研究、需求分析、总体设计、详细设计、编码与单元测试、综合测试、软件维护</a:t>
            </a:r>
            <a:r>
              <a:rPr lang="zh-CN" altLang="en-US" dirty="0"/>
              <a:t>的软件生命周期的阶段划分原则。 </a:t>
            </a:r>
          </a:p>
        </p:txBody>
      </p:sp>
      <p:sp>
        <p:nvSpPr>
          <p:cNvPr id="374790" name="直接连接符 374789"/>
          <p:cNvSpPr/>
          <p:nvPr/>
        </p:nvSpPr>
        <p:spPr>
          <a:xfrm>
            <a:off x="7300913" y="3087688"/>
            <a:ext cx="993775" cy="0"/>
          </a:xfrm>
          <a:prstGeom prst="line">
            <a:avLst/>
          </a:prstGeom>
          <a:ln w="28575" cap="sq" cmpd="sng">
            <a:solidFill>
              <a:srgbClr val="FF0066"/>
            </a:solidFill>
            <a:prstDash val="solid"/>
            <a:headEnd type="none" w="sm" len="sm"/>
            <a:tailEnd type="none" w="sm" len="sm"/>
          </a:ln>
          <a:effectLst>
            <a:outerShdw dist="35921" dir="2699999" algn="ctr" rotWithShape="0">
              <a:schemeClr val="tx1"/>
            </a:outerShdw>
          </a:effectLst>
        </p:spPr>
      </p:sp>
      <p:sp>
        <p:nvSpPr>
          <p:cNvPr id="374791" name="直接连接符 374790"/>
          <p:cNvSpPr/>
          <p:nvPr/>
        </p:nvSpPr>
        <p:spPr>
          <a:xfrm flipV="1">
            <a:off x="885825" y="3643313"/>
            <a:ext cx="7431088" cy="28575"/>
          </a:xfrm>
          <a:prstGeom prst="line">
            <a:avLst/>
          </a:prstGeom>
          <a:ln w="28575" cap="sq" cmpd="sng">
            <a:solidFill>
              <a:srgbClr val="FF0066"/>
            </a:solidFill>
            <a:prstDash val="solid"/>
            <a:headEnd type="none" w="sm" len="sm"/>
            <a:tailEnd type="none" w="sm" len="sm"/>
          </a:ln>
          <a:effectLst>
            <a:outerShdw dist="35921" dir="2699999" algn="ctr" rotWithShape="0">
              <a:schemeClr val="tx1"/>
            </a:outerShdw>
          </a:effectLst>
        </p:spPr>
      </p:sp>
      <p:sp>
        <p:nvSpPr>
          <p:cNvPr id="374792" name="直接连接符 374791"/>
          <p:cNvSpPr/>
          <p:nvPr/>
        </p:nvSpPr>
        <p:spPr>
          <a:xfrm>
            <a:off x="871538" y="4205288"/>
            <a:ext cx="6724650" cy="0"/>
          </a:xfrm>
          <a:prstGeom prst="line">
            <a:avLst/>
          </a:prstGeom>
          <a:ln w="28575" cap="sq" cmpd="sng">
            <a:solidFill>
              <a:srgbClr val="FF0066"/>
            </a:solidFill>
            <a:prstDash val="solid"/>
            <a:headEnd type="none" w="sm" len="sm"/>
            <a:tailEnd type="none" w="sm" len="sm"/>
          </a:ln>
          <a:effectLst>
            <a:outerShdw dist="35921" dir="2699999" algn="ctr" rotWithShape="0">
              <a:schemeClr val="tx1"/>
            </a:outerShdw>
          </a:effectLst>
        </p:spPr>
      </p:sp>
    </p:spTree>
  </p:cSld>
  <p:clrMapOvr>
    <a:masterClrMapping/>
  </p:clrMapOvr>
  <mc:AlternateContent xmlns:mc="http://schemas.openxmlformats.org/markup-compatibility/2006" xmlns:p14="http://schemas.microsoft.com/office/powerpoint/2010/main">
    <mc:Choice Requires="p14">
      <p:transition spd="slow" p14:dur="2000" advTm="49521"/>
    </mc:Choice>
    <mc:Fallback xmlns="">
      <p:transition spd="slow" advTm="4952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74789">
                                            <p:txEl>
                                              <p:pRg st="0" end="0"/>
                                            </p:txEl>
                                          </p:spTgt>
                                        </p:tgtEl>
                                        <p:attrNameLst>
                                          <p:attrName>style.visibility</p:attrName>
                                        </p:attrNameLst>
                                      </p:cBhvr>
                                      <p:to>
                                        <p:strVal val="visible"/>
                                      </p:to>
                                    </p:set>
                                    <p:animEffect transition="in" filter="wipe(left)">
                                      <p:cBhvr>
                                        <p:cTn id="7" dur="1000"/>
                                        <p:tgtEl>
                                          <p:spTgt spid="374789">
                                            <p:txEl>
                                              <p:pRg st="0" end="0"/>
                                            </p:txEl>
                                          </p:spTgt>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374789">
                                            <p:txEl>
                                              <p:pRg st="1" end="1"/>
                                            </p:txEl>
                                          </p:spTgt>
                                        </p:tgtEl>
                                        <p:attrNameLst>
                                          <p:attrName>style.visibility</p:attrName>
                                        </p:attrNameLst>
                                      </p:cBhvr>
                                      <p:to>
                                        <p:strVal val="visible"/>
                                      </p:to>
                                    </p:set>
                                    <p:animEffect transition="in" filter="wipe(up)">
                                      <p:cBhvr>
                                        <p:cTn id="11" dur="5000"/>
                                        <p:tgtEl>
                                          <p:spTgt spid="374789">
                                            <p:txEl>
                                              <p:pRg st="1" end="1"/>
                                            </p:txEl>
                                          </p:spTgt>
                                        </p:tgtEl>
                                      </p:cBhvr>
                                    </p:animEffect>
                                  </p:childTnLst>
                                </p:cTn>
                              </p:par>
                            </p:childTnLst>
                          </p:cTn>
                        </p:par>
                        <p:par>
                          <p:cTn id="12" fill="hold">
                            <p:stCondLst>
                              <p:cond delay="6000"/>
                            </p:stCondLst>
                            <p:childTnLst>
                              <p:par>
                                <p:cTn id="13" presetID="22" presetClass="entr" presetSubtype="8" fill="hold" nodeType="afterEffect">
                                  <p:stCondLst>
                                    <p:cond delay="0"/>
                                  </p:stCondLst>
                                  <p:childTnLst>
                                    <p:set>
                                      <p:cBhvr>
                                        <p:cTn id="14" dur="1" fill="hold">
                                          <p:stCondLst>
                                            <p:cond delay="0"/>
                                          </p:stCondLst>
                                        </p:cTn>
                                        <p:tgtEl>
                                          <p:spTgt spid="374790"/>
                                        </p:tgtEl>
                                        <p:attrNameLst>
                                          <p:attrName>style.visibility</p:attrName>
                                        </p:attrNameLst>
                                      </p:cBhvr>
                                      <p:to>
                                        <p:strVal val="visible"/>
                                      </p:to>
                                    </p:set>
                                    <p:animEffect transition="in" filter="wipe(left)">
                                      <p:cBhvr>
                                        <p:cTn id="15" dur="3000"/>
                                        <p:tgtEl>
                                          <p:spTgt spid="374790"/>
                                        </p:tgtEl>
                                      </p:cBhvr>
                                    </p:animEffect>
                                  </p:childTnLst>
                                </p:cTn>
                              </p:par>
                            </p:childTnLst>
                          </p:cTn>
                        </p:par>
                        <p:par>
                          <p:cTn id="16" fill="hold">
                            <p:stCondLst>
                              <p:cond delay="9000"/>
                            </p:stCondLst>
                            <p:childTnLst>
                              <p:par>
                                <p:cTn id="17" presetID="22" presetClass="entr" presetSubtype="8" fill="hold" nodeType="afterEffect">
                                  <p:stCondLst>
                                    <p:cond delay="0"/>
                                  </p:stCondLst>
                                  <p:childTnLst>
                                    <p:set>
                                      <p:cBhvr>
                                        <p:cTn id="18" dur="1" fill="hold">
                                          <p:stCondLst>
                                            <p:cond delay="0"/>
                                          </p:stCondLst>
                                        </p:cTn>
                                        <p:tgtEl>
                                          <p:spTgt spid="374791"/>
                                        </p:tgtEl>
                                        <p:attrNameLst>
                                          <p:attrName>style.visibility</p:attrName>
                                        </p:attrNameLst>
                                      </p:cBhvr>
                                      <p:to>
                                        <p:strVal val="visible"/>
                                      </p:to>
                                    </p:set>
                                    <p:animEffect transition="in" filter="wipe(left)">
                                      <p:cBhvr>
                                        <p:cTn id="19" dur="3000"/>
                                        <p:tgtEl>
                                          <p:spTgt spid="374791"/>
                                        </p:tgtEl>
                                      </p:cBhvr>
                                    </p:animEffect>
                                  </p:childTnLst>
                                </p:cTn>
                              </p:par>
                            </p:childTnLst>
                          </p:cTn>
                        </p:par>
                        <p:par>
                          <p:cTn id="20" fill="hold">
                            <p:stCondLst>
                              <p:cond delay="12000"/>
                            </p:stCondLst>
                            <p:childTnLst>
                              <p:par>
                                <p:cTn id="21" presetID="22" presetClass="entr" presetSubtype="8" fill="hold" nodeType="afterEffect">
                                  <p:stCondLst>
                                    <p:cond delay="0"/>
                                  </p:stCondLst>
                                  <p:childTnLst>
                                    <p:set>
                                      <p:cBhvr>
                                        <p:cTn id="22" dur="1" fill="hold">
                                          <p:stCondLst>
                                            <p:cond delay="0"/>
                                          </p:stCondLst>
                                        </p:cTn>
                                        <p:tgtEl>
                                          <p:spTgt spid="374792"/>
                                        </p:tgtEl>
                                        <p:attrNameLst>
                                          <p:attrName>style.visibility</p:attrName>
                                        </p:attrNameLst>
                                      </p:cBhvr>
                                      <p:to>
                                        <p:strVal val="visible"/>
                                      </p:to>
                                    </p:set>
                                    <p:animEffect transition="in" filter="wipe(left)">
                                      <p:cBhvr>
                                        <p:cTn id="23" dur="3000"/>
                                        <p:tgtEl>
                                          <p:spTgt spid="3747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5" name="矩形 378884"/>
          <p:cNvSpPr/>
          <p:nvPr/>
        </p:nvSpPr>
        <p:spPr>
          <a:xfrm>
            <a:off x="395288" y="1258888"/>
            <a:ext cx="8208962"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0000"/>
              </a:lnSpc>
            </a:pPr>
            <a:r>
              <a:rPr lang="zh-CN" altLang="en-US" b="0" dirty="0">
                <a:effectLst/>
                <a:ea typeface="黑体" panose="02010609060101010101" pitchFamily="2" charset="-122"/>
              </a:rPr>
              <a:t>   </a:t>
            </a:r>
            <a:r>
              <a:rPr lang="en-US" altLang="zh-CN" sz="3000">
                <a:solidFill>
                  <a:srgbClr val="660033"/>
                </a:solidFill>
                <a:ea typeface="华文新魏" panose="02010800040101010101" pitchFamily="2" charset="-122"/>
              </a:rPr>
              <a:t>1</a:t>
            </a:r>
            <a:r>
              <a:rPr lang="zh-CN" altLang="en-US" sz="3000" dirty="0">
                <a:solidFill>
                  <a:srgbClr val="660033"/>
                </a:solidFill>
                <a:ea typeface="华文新魏" panose="02010800040101010101" pitchFamily="2" charset="-122"/>
              </a:rPr>
              <a:t>、数据库应用系统设计问题的特点</a:t>
            </a:r>
          </a:p>
          <a:p>
            <a:pPr lvl="0">
              <a:lnSpc>
                <a:spcPct val="130000"/>
              </a:lnSpc>
            </a:pPr>
            <a:r>
              <a:rPr lang="zh-CN" altLang="en-US" dirty="0">
                <a:effectLst/>
              </a:rPr>
              <a:t>          </a:t>
            </a:r>
            <a:r>
              <a:rPr lang="zh-CN" altLang="en-US" dirty="0"/>
              <a:t>（</a:t>
            </a:r>
            <a:r>
              <a:rPr lang="en-US" altLang="zh-CN"/>
              <a:t>2</a:t>
            </a:r>
            <a:r>
              <a:rPr lang="zh-CN" altLang="en-US" dirty="0"/>
              <a:t>）数据库应用系统的设计涉及到数据库的</a:t>
            </a:r>
            <a:r>
              <a:rPr lang="zh-CN" altLang="en-US" dirty="0">
                <a:solidFill>
                  <a:srgbClr val="660033"/>
                </a:solidFill>
              </a:rPr>
              <a:t>逻辑组织、物理组织、查询策略与控制机制</a:t>
            </a:r>
            <a:r>
              <a:rPr lang="zh-CN" altLang="en-US" dirty="0"/>
              <a:t>等专门知识。所以也需要一定的数据库设计知识和设计方法：</a:t>
            </a:r>
          </a:p>
          <a:p>
            <a:pPr lvl="0">
              <a:lnSpc>
                <a:spcPct val="80000"/>
              </a:lnSpc>
              <a:spcBef>
                <a:spcPct val="0"/>
              </a:spcBef>
            </a:pPr>
            <a:endParaRPr lang="zh-CN" altLang="en-US" sz="1800" dirty="0">
              <a:solidFill>
                <a:srgbClr val="006666"/>
              </a:solidFill>
            </a:endParaRPr>
          </a:p>
          <a:p>
            <a:pPr lvl="0">
              <a:lnSpc>
                <a:spcPct val="80000"/>
              </a:lnSpc>
              <a:spcBef>
                <a:spcPct val="0"/>
              </a:spcBef>
            </a:pPr>
            <a:r>
              <a:rPr lang="zh-CN" altLang="en-US" dirty="0">
                <a:solidFill>
                  <a:srgbClr val="006666"/>
                </a:solidFill>
              </a:rPr>
              <a:t>          概念结构设计</a:t>
            </a:r>
          </a:p>
          <a:p>
            <a:pPr lvl="0">
              <a:lnSpc>
                <a:spcPct val="125000"/>
              </a:lnSpc>
              <a:spcBef>
                <a:spcPct val="0"/>
              </a:spcBef>
            </a:pPr>
            <a:r>
              <a:rPr lang="zh-CN" altLang="en-US" dirty="0">
                <a:solidFill>
                  <a:srgbClr val="006666"/>
                </a:solidFill>
              </a:rPr>
              <a:t>          逻辑结构设计</a:t>
            </a:r>
          </a:p>
          <a:p>
            <a:pPr lvl="0">
              <a:lnSpc>
                <a:spcPct val="125000"/>
              </a:lnSpc>
              <a:spcBef>
                <a:spcPct val="0"/>
              </a:spcBef>
            </a:pPr>
            <a:r>
              <a:rPr lang="zh-CN" altLang="en-US" dirty="0">
                <a:solidFill>
                  <a:srgbClr val="006666"/>
                </a:solidFill>
              </a:rPr>
              <a:t>          物理结构设计</a:t>
            </a:r>
            <a:endParaRPr lang="en-US" altLang="zh-CN"/>
          </a:p>
          <a:p>
            <a:pPr lvl="0">
              <a:lnSpc>
                <a:spcPct val="125000"/>
              </a:lnSpc>
              <a:spcBef>
                <a:spcPct val="0"/>
              </a:spcBef>
            </a:pPr>
            <a:r>
              <a:rPr lang="zh-CN" altLang="en-US" dirty="0"/>
              <a:t>          </a:t>
            </a:r>
          </a:p>
        </p:txBody>
      </p:sp>
      <p:sp>
        <p:nvSpPr>
          <p:cNvPr id="378886" name="直接连接符 378885"/>
          <p:cNvSpPr/>
          <p:nvPr/>
        </p:nvSpPr>
        <p:spPr>
          <a:xfrm>
            <a:off x="1216025" y="3094038"/>
            <a:ext cx="6769100" cy="14287"/>
          </a:xfrm>
          <a:prstGeom prst="line">
            <a:avLst/>
          </a:prstGeom>
          <a:ln w="28575" cap="sq" cmpd="sng">
            <a:solidFill>
              <a:srgbClr val="FF0066"/>
            </a:solidFill>
            <a:prstDash val="solid"/>
            <a:headEnd type="none" w="sm" len="sm"/>
            <a:tailEnd type="none" w="sm" len="sm"/>
          </a:ln>
          <a:effectLst>
            <a:outerShdw dist="35921" dir="2699999" algn="ctr" rotWithShape="0">
              <a:schemeClr val="tx1"/>
            </a:outerShdw>
          </a:effectLst>
        </p:spPr>
      </p:sp>
      <p:sp>
        <p:nvSpPr>
          <p:cNvPr id="378889" name="矩形 378888"/>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一、数据库应用系统的生命周期</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8257"/>
    </mc:Choice>
    <mc:Fallback xmlns="">
      <p:transition spd="slow" advTm="482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78885">
                                            <p:txEl>
                                              <p:pRg st="1" end="1"/>
                                            </p:txEl>
                                          </p:spTgt>
                                        </p:tgtEl>
                                        <p:attrNameLst>
                                          <p:attrName>style.visibility</p:attrName>
                                        </p:attrNameLst>
                                      </p:cBhvr>
                                      <p:to>
                                        <p:strVal val="visible"/>
                                      </p:to>
                                    </p:set>
                                    <p:animEffect transition="in" filter="wipe(up)">
                                      <p:cBhvr>
                                        <p:cTn id="7" dur="2000"/>
                                        <p:tgtEl>
                                          <p:spTgt spid="378885">
                                            <p:txEl>
                                              <p:pRg st="1" end="1"/>
                                            </p:txEl>
                                          </p:spTgt>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378886"/>
                                        </p:tgtEl>
                                        <p:attrNameLst>
                                          <p:attrName>style.visibility</p:attrName>
                                        </p:attrNameLst>
                                      </p:cBhvr>
                                      <p:to>
                                        <p:strVal val="visible"/>
                                      </p:to>
                                    </p:set>
                                    <p:animEffect transition="in" filter="wipe(left)">
                                      <p:cBhvr>
                                        <p:cTn id="11" dur="3000"/>
                                        <p:tgtEl>
                                          <p:spTgt spid="37888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378885">
                                            <p:txEl>
                                              <p:pRg st="3" end="3"/>
                                            </p:txEl>
                                          </p:spTgt>
                                        </p:tgtEl>
                                        <p:attrNameLst>
                                          <p:attrName>style.visibility</p:attrName>
                                        </p:attrNameLst>
                                      </p:cBhvr>
                                      <p:to>
                                        <p:strVal val="visible"/>
                                      </p:to>
                                    </p:set>
                                    <p:animEffect transition="in" filter="wipe(up)">
                                      <p:cBhvr>
                                        <p:cTn id="16" dur="1000"/>
                                        <p:tgtEl>
                                          <p:spTgt spid="378885">
                                            <p:txEl>
                                              <p:pRg st="3" end="3"/>
                                            </p:txEl>
                                          </p:spTgt>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378885">
                                            <p:txEl>
                                              <p:pRg st="4" end="4"/>
                                            </p:txEl>
                                          </p:spTgt>
                                        </p:tgtEl>
                                        <p:attrNameLst>
                                          <p:attrName>style.visibility</p:attrName>
                                        </p:attrNameLst>
                                      </p:cBhvr>
                                      <p:to>
                                        <p:strVal val="visible"/>
                                      </p:to>
                                    </p:set>
                                    <p:animEffect transition="in" filter="wipe(up)">
                                      <p:cBhvr>
                                        <p:cTn id="20" dur="1000"/>
                                        <p:tgtEl>
                                          <p:spTgt spid="378885">
                                            <p:txEl>
                                              <p:pRg st="4" end="4"/>
                                            </p:txEl>
                                          </p:spTgt>
                                        </p:tgtEl>
                                      </p:cBhvr>
                                    </p:animEffect>
                                  </p:childTnLst>
                                </p:cTn>
                              </p:par>
                            </p:childTnLst>
                          </p:cTn>
                        </p:par>
                        <p:par>
                          <p:cTn id="21" fill="hold">
                            <p:stCondLst>
                              <p:cond delay="2000"/>
                            </p:stCondLst>
                            <p:childTnLst>
                              <p:par>
                                <p:cTn id="22" presetID="22" presetClass="entr" presetSubtype="1" fill="hold" nodeType="afterEffect">
                                  <p:stCondLst>
                                    <p:cond delay="0"/>
                                  </p:stCondLst>
                                  <p:childTnLst>
                                    <p:set>
                                      <p:cBhvr>
                                        <p:cTn id="23" dur="1" fill="hold">
                                          <p:stCondLst>
                                            <p:cond delay="0"/>
                                          </p:stCondLst>
                                        </p:cTn>
                                        <p:tgtEl>
                                          <p:spTgt spid="378885">
                                            <p:txEl>
                                              <p:pRg st="5" end="5"/>
                                            </p:txEl>
                                          </p:spTgt>
                                        </p:tgtEl>
                                        <p:attrNameLst>
                                          <p:attrName>style.visibility</p:attrName>
                                        </p:attrNameLst>
                                      </p:cBhvr>
                                      <p:to>
                                        <p:strVal val="visible"/>
                                      </p:to>
                                    </p:set>
                                    <p:animEffect transition="in" filter="wipe(up)">
                                      <p:cBhvr>
                                        <p:cTn id="24" dur="1000"/>
                                        <p:tgtEl>
                                          <p:spTgt spid="37888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9" name="矩形 559108"/>
          <p:cNvSpPr/>
          <p:nvPr/>
        </p:nvSpPr>
        <p:spPr>
          <a:xfrm>
            <a:off x="395288" y="1258888"/>
            <a:ext cx="8208962"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0000"/>
              </a:lnSpc>
            </a:pPr>
            <a:r>
              <a:rPr lang="zh-CN" altLang="en-US" b="0" dirty="0">
                <a:effectLst/>
                <a:ea typeface="黑体" panose="02010609060101010101" pitchFamily="2" charset="-122"/>
              </a:rPr>
              <a:t>   </a:t>
            </a:r>
            <a:r>
              <a:rPr lang="en-US" altLang="zh-CN" sz="3000">
                <a:solidFill>
                  <a:srgbClr val="660033"/>
                </a:solidFill>
                <a:ea typeface="华文新魏" panose="02010800040101010101" pitchFamily="2" charset="-122"/>
              </a:rPr>
              <a:t>1</a:t>
            </a:r>
            <a:r>
              <a:rPr lang="zh-CN" altLang="en-US" sz="3000" dirty="0">
                <a:solidFill>
                  <a:srgbClr val="660033"/>
                </a:solidFill>
                <a:ea typeface="华文新魏" panose="02010800040101010101" pitchFamily="2" charset="-122"/>
              </a:rPr>
              <a:t>、数据库应用系统设计问题的特点</a:t>
            </a:r>
            <a:endParaRPr lang="zh-CN" altLang="en-US" dirty="0">
              <a:solidFill>
                <a:srgbClr val="006699"/>
              </a:solidFill>
              <a:ea typeface="黑体" panose="02010609060101010101" pitchFamily="2" charset="-122"/>
            </a:endParaRPr>
          </a:p>
          <a:p>
            <a:pPr lvl="0">
              <a:lnSpc>
                <a:spcPct val="140000"/>
              </a:lnSpc>
              <a:spcBef>
                <a:spcPct val="0"/>
              </a:spcBef>
            </a:pPr>
            <a:r>
              <a:rPr lang="zh-CN" altLang="en-US" dirty="0">
                <a:effectLst/>
              </a:rPr>
              <a:t>          </a:t>
            </a:r>
            <a:r>
              <a:rPr lang="zh-CN" altLang="en-US" dirty="0"/>
              <a:t>（</a:t>
            </a:r>
            <a:r>
              <a:rPr lang="en-US" altLang="zh-CN"/>
              <a:t>3</a:t>
            </a:r>
            <a:r>
              <a:rPr lang="zh-CN" altLang="en-US" dirty="0"/>
              <a:t>）数据库应用系统的设计，还要求设计人员应具有一定的</a:t>
            </a:r>
            <a:r>
              <a:rPr lang="zh-CN" altLang="en-US" dirty="0">
                <a:solidFill>
                  <a:srgbClr val="660033"/>
                </a:solidFill>
              </a:rPr>
              <a:t>关于该组织的业务知识或实践经验</a:t>
            </a:r>
            <a:r>
              <a:rPr lang="zh-CN" altLang="en-US" dirty="0"/>
              <a:t>。</a:t>
            </a:r>
          </a:p>
        </p:txBody>
      </p:sp>
      <p:sp>
        <p:nvSpPr>
          <p:cNvPr id="559111" name="直接连接符 559110"/>
          <p:cNvSpPr/>
          <p:nvPr/>
        </p:nvSpPr>
        <p:spPr>
          <a:xfrm>
            <a:off x="3706813" y="3076575"/>
            <a:ext cx="4681537" cy="14288"/>
          </a:xfrm>
          <a:prstGeom prst="line">
            <a:avLst/>
          </a:prstGeom>
          <a:ln w="28575" cap="sq" cmpd="sng">
            <a:solidFill>
              <a:srgbClr val="FF0066"/>
            </a:solidFill>
            <a:prstDash val="solid"/>
            <a:headEnd type="none" w="sm" len="sm"/>
            <a:tailEnd type="none" w="sm" len="sm"/>
          </a:ln>
          <a:effectLst>
            <a:outerShdw dist="35921" dir="2699999" algn="ctr" rotWithShape="0">
              <a:schemeClr val="tx1"/>
            </a:outerShdw>
          </a:effectLst>
        </p:spPr>
      </p:sp>
      <p:sp>
        <p:nvSpPr>
          <p:cNvPr id="559112" name="直接连接符 559111"/>
          <p:cNvSpPr/>
          <p:nvPr/>
        </p:nvSpPr>
        <p:spPr>
          <a:xfrm>
            <a:off x="741363" y="3667125"/>
            <a:ext cx="1009650" cy="14288"/>
          </a:xfrm>
          <a:prstGeom prst="line">
            <a:avLst/>
          </a:prstGeom>
          <a:ln w="28575" cap="sq" cmpd="sng">
            <a:solidFill>
              <a:srgbClr val="FF0066"/>
            </a:solidFill>
            <a:prstDash val="solid"/>
            <a:headEnd type="none" w="sm" len="sm"/>
            <a:tailEnd type="none" w="sm" len="sm"/>
          </a:ln>
          <a:effectLst>
            <a:outerShdw dist="35921" dir="2699999" algn="ctr" rotWithShape="0">
              <a:schemeClr val="tx1"/>
            </a:outerShdw>
          </a:effectLst>
        </p:spPr>
      </p:sp>
      <p:sp>
        <p:nvSpPr>
          <p:cNvPr id="559113" name="矩形 559112"/>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一、数据库应用系统的生命周期</a:t>
            </a:r>
          </a:p>
        </p:txBody>
      </p:sp>
    </p:spTree>
  </p:cSld>
  <p:clrMapOvr>
    <a:masterClrMapping/>
  </p:clrMapOvr>
  <mc:AlternateContent xmlns:mc="http://schemas.openxmlformats.org/markup-compatibility/2006" xmlns:p14="http://schemas.microsoft.com/office/powerpoint/2010/main">
    <mc:Choice Requires="p14">
      <p:transition spd="slow" p14:dur="2000" advTm="34704"/>
    </mc:Choice>
    <mc:Fallback xmlns="">
      <p:transition spd="slow" advTm="3470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59109">
                                            <p:txEl>
                                              <p:pRg st="1" end="1"/>
                                            </p:txEl>
                                          </p:spTgt>
                                        </p:tgtEl>
                                        <p:attrNameLst>
                                          <p:attrName>style.visibility</p:attrName>
                                        </p:attrNameLst>
                                      </p:cBhvr>
                                      <p:to>
                                        <p:strVal val="visible"/>
                                      </p:to>
                                    </p:set>
                                    <p:animEffect transition="in" filter="wipe(up)">
                                      <p:cBhvr>
                                        <p:cTn id="7" dur="2000"/>
                                        <p:tgtEl>
                                          <p:spTgt spid="559109">
                                            <p:txEl>
                                              <p:pRg st="1" end="1"/>
                                            </p:txEl>
                                          </p:spTgt>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559111"/>
                                        </p:tgtEl>
                                        <p:attrNameLst>
                                          <p:attrName>style.visibility</p:attrName>
                                        </p:attrNameLst>
                                      </p:cBhvr>
                                      <p:to>
                                        <p:strVal val="visible"/>
                                      </p:to>
                                    </p:set>
                                    <p:animEffect transition="in" filter="wipe(left)">
                                      <p:cBhvr>
                                        <p:cTn id="11" dur="2000"/>
                                        <p:tgtEl>
                                          <p:spTgt spid="559111"/>
                                        </p:tgtEl>
                                      </p:cBhvr>
                                    </p:animEffect>
                                  </p:childTnLst>
                                </p:cTn>
                              </p:par>
                            </p:childTnLst>
                          </p:cTn>
                        </p:par>
                        <p:par>
                          <p:cTn id="12" fill="hold">
                            <p:stCondLst>
                              <p:cond delay="4000"/>
                            </p:stCondLst>
                            <p:childTnLst>
                              <p:par>
                                <p:cTn id="13" presetID="22" presetClass="entr" presetSubtype="8" fill="hold" nodeType="afterEffect">
                                  <p:stCondLst>
                                    <p:cond delay="0"/>
                                  </p:stCondLst>
                                  <p:childTnLst>
                                    <p:set>
                                      <p:cBhvr>
                                        <p:cTn id="14" dur="1" fill="hold">
                                          <p:stCondLst>
                                            <p:cond delay="0"/>
                                          </p:stCondLst>
                                        </p:cTn>
                                        <p:tgtEl>
                                          <p:spTgt spid="559112"/>
                                        </p:tgtEl>
                                        <p:attrNameLst>
                                          <p:attrName>style.visibility</p:attrName>
                                        </p:attrNameLst>
                                      </p:cBhvr>
                                      <p:to>
                                        <p:strVal val="visible"/>
                                      </p:to>
                                    </p:set>
                                    <p:animEffect transition="in" filter="wipe(left)">
                                      <p:cBhvr>
                                        <p:cTn id="15" dur="2000"/>
                                        <p:tgtEl>
                                          <p:spTgt spid="559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3" name="矩形 380932"/>
          <p:cNvSpPr/>
          <p:nvPr/>
        </p:nvSpPr>
        <p:spPr>
          <a:xfrm>
            <a:off x="395288" y="1258888"/>
            <a:ext cx="8208962"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0000"/>
              </a:lnSpc>
              <a:buClr>
                <a:schemeClr val="folHlink"/>
              </a:buClr>
              <a:buSzPct val="60000"/>
              <a:buNone/>
            </a:pPr>
            <a:r>
              <a:rPr lang="zh-CN" altLang="en-US" b="0" dirty="0">
                <a:effectLst/>
                <a:ea typeface="黑体" panose="02010609060101010101" pitchFamily="2" charset="-122"/>
              </a:rPr>
              <a:t>          </a:t>
            </a:r>
            <a:r>
              <a:rPr lang="zh-CN" altLang="en-US" sz="3000" dirty="0">
                <a:solidFill>
                  <a:srgbClr val="660033"/>
                </a:solidFill>
                <a:ea typeface="华文新魏" panose="02010800040101010101" pitchFamily="2" charset="-122"/>
              </a:rPr>
              <a:t>所以数据库应用系统的设计是一个极具挑战性的课题。</a:t>
            </a:r>
            <a:endParaRPr lang="zh-CN" altLang="en-US" dirty="0">
              <a:solidFill>
                <a:srgbClr val="006699"/>
              </a:solidFill>
              <a:ea typeface="黑体" panose="02010609060101010101" pitchFamily="2" charset="-122"/>
            </a:endParaRPr>
          </a:p>
          <a:p>
            <a:pPr lvl="0">
              <a:lnSpc>
                <a:spcPct val="150000"/>
              </a:lnSpc>
              <a:buClrTx/>
              <a:buSzTx/>
              <a:buFontTx/>
              <a:buNone/>
            </a:pPr>
            <a:r>
              <a:rPr lang="zh-CN" altLang="en-US" dirty="0"/>
              <a:t>           </a:t>
            </a:r>
            <a:r>
              <a:rPr lang="zh-CN" altLang="en-US" b="0" dirty="0">
                <a:effectLst/>
                <a:ea typeface="黑体" panose="02010609060101010101" pitchFamily="2" charset="-122"/>
              </a:rPr>
              <a:t>本课程（教材），依照数据库应用系统设计的三个特点，将软件工程与数据库技术相结合，提出了基于</a:t>
            </a:r>
            <a:r>
              <a:rPr lang="zh-CN" altLang="en-US" dirty="0">
                <a:solidFill>
                  <a:srgbClr val="003366"/>
                </a:solidFill>
                <a:ea typeface="黑体" panose="02010609060101010101" pitchFamily="2" charset="-122"/>
              </a:rPr>
              <a:t>数据库应用系统生命周期</a:t>
            </a:r>
            <a:r>
              <a:rPr lang="zh-CN" altLang="en-US" b="0" dirty="0">
                <a:effectLst/>
                <a:ea typeface="黑体" panose="02010609060101010101" pitchFamily="2" charset="-122"/>
              </a:rPr>
              <a:t>的数据库应用系统设计方法。</a:t>
            </a:r>
            <a:endParaRPr lang="en-US" altLang="zh-CN" b="0">
              <a:effectLst/>
              <a:ea typeface="黑体" panose="02010609060101010101" pitchFamily="2" charset="-122"/>
            </a:endParaRPr>
          </a:p>
        </p:txBody>
      </p:sp>
      <p:sp>
        <p:nvSpPr>
          <p:cNvPr id="380934" name="圆角矩形标注 380933"/>
          <p:cNvSpPr/>
          <p:nvPr/>
        </p:nvSpPr>
        <p:spPr>
          <a:xfrm>
            <a:off x="3852863" y="4941888"/>
            <a:ext cx="5183187" cy="1511300"/>
          </a:xfrm>
          <a:prstGeom prst="wedgeRoundRectCallout">
            <a:avLst>
              <a:gd name="adj1" fmla="val -49634"/>
              <a:gd name="adj2" fmla="val -76574"/>
              <a:gd name="adj3" fmla="val 16667"/>
            </a:avLst>
          </a:prstGeom>
          <a:solidFill>
            <a:srgbClr val="16EAC7"/>
          </a:solidFill>
          <a:ln w="9525" cap="flat" cmpd="sng">
            <a:solidFill>
              <a:schemeClr val="tx1"/>
            </a:solidFill>
            <a:prstDash val="solid"/>
            <a:miter/>
            <a:headEnd type="none" w="med" len="med"/>
            <a:tailEnd type="none" w="med" len="med"/>
          </a:ln>
        </p:spPr>
        <p:txBody>
          <a:bodyPr/>
          <a:lstStyle/>
          <a:p>
            <a:pPr>
              <a:lnSpc>
                <a:spcPct val="115000"/>
              </a:lnSpc>
            </a:pPr>
            <a:r>
              <a:rPr lang="zh-CN" altLang="en-US" sz="2000" b="1" dirty="0">
                <a:latin typeface="Arial" panose="020B0604020202020204" pitchFamily="34" charset="0"/>
              </a:rPr>
              <a:t>         </a:t>
            </a:r>
            <a:r>
              <a:rPr lang="zh-CN" altLang="en-US" sz="2400" b="1" dirty="0">
                <a:solidFill>
                  <a:srgbClr val="660033"/>
                </a:solidFill>
                <a:latin typeface="Arial" panose="020B0604020202020204" pitchFamily="34" charset="0"/>
                <a:ea typeface="黑体" panose="02010609060101010101" pitchFamily="2" charset="-122"/>
              </a:rPr>
              <a:t>是指</a:t>
            </a:r>
            <a:r>
              <a:rPr lang="zh-CN" altLang="en-US" sz="2000" b="1" dirty="0">
                <a:solidFill>
                  <a:srgbClr val="660033"/>
                </a:solidFill>
                <a:latin typeface="Arial" panose="020B0604020202020204" pitchFamily="34" charset="0"/>
              </a:rPr>
              <a:t>：</a:t>
            </a:r>
            <a:r>
              <a:rPr lang="zh-CN" altLang="en-US" sz="2400" b="1" dirty="0">
                <a:effectLst>
                  <a:outerShdw blurRad="38100" dist="38100" dir="2700000">
                    <a:srgbClr val="FFFFFF"/>
                  </a:outerShdw>
                </a:effectLst>
                <a:latin typeface="Arial" panose="020B0604020202020204" pitchFamily="34" charset="0"/>
              </a:rPr>
              <a:t>把数据库应用系统从开始进行用户需求分析，到被新的系统取代而停止使用的整个时期。</a:t>
            </a:r>
            <a:endParaRPr lang="zh-CN" altLang="en-US" sz="2400" b="1" dirty="0">
              <a:solidFill>
                <a:srgbClr val="000066"/>
              </a:solidFill>
              <a:latin typeface="Arial" panose="020B0604020202020204" pitchFamily="34" charset="0"/>
            </a:endParaRPr>
          </a:p>
        </p:txBody>
      </p:sp>
      <p:sp>
        <p:nvSpPr>
          <p:cNvPr id="380936" name="直接连接符 380935"/>
          <p:cNvSpPr/>
          <p:nvPr/>
        </p:nvSpPr>
        <p:spPr>
          <a:xfrm>
            <a:off x="2628900" y="4508500"/>
            <a:ext cx="3851275" cy="0"/>
          </a:xfrm>
          <a:prstGeom prst="line">
            <a:avLst/>
          </a:prstGeom>
          <a:ln w="28575" cap="sq" cmpd="sng">
            <a:solidFill>
              <a:srgbClr val="FF0066"/>
            </a:solidFill>
            <a:prstDash val="solid"/>
            <a:headEnd type="none" w="sm" len="sm"/>
            <a:tailEnd type="none" w="sm" len="sm"/>
          </a:ln>
          <a:effectLst>
            <a:outerShdw dist="35921" dir="2699999" algn="ctr" rotWithShape="0">
              <a:schemeClr val="tx1"/>
            </a:outerShdw>
          </a:effectLst>
        </p:spPr>
      </p:sp>
      <p:sp>
        <p:nvSpPr>
          <p:cNvPr id="380937" name="矩形 380936"/>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一、数据库应用系统的生命周期</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6715"/>
    </mc:Choice>
    <mc:Fallback xmlns="">
      <p:transition spd="slow" advTm="467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80933">
                                            <p:txEl>
                                              <p:pRg st="1" end="1"/>
                                            </p:txEl>
                                          </p:spTgt>
                                        </p:tgtEl>
                                        <p:attrNameLst>
                                          <p:attrName>style.visibility</p:attrName>
                                        </p:attrNameLst>
                                      </p:cBhvr>
                                      <p:to>
                                        <p:strVal val="visible"/>
                                      </p:to>
                                    </p:set>
                                    <p:animEffect transition="in" filter="wipe(up)">
                                      <p:cBhvr>
                                        <p:cTn id="7" dur="3000"/>
                                        <p:tgtEl>
                                          <p:spTgt spid="380933">
                                            <p:txEl>
                                              <p:pRg st="1" end="1"/>
                                            </p:txEl>
                                          </p:spTgt>
                                        </p:tgtEl>
                                      </p:cBhvr>
                                    </p:animEffect>
                                  </p:childTnLst>
                                </p:cTn>
                              </p:par>
                            </p:childTnLst>
                          </p:cTn>
                        </p:par>
                        <p:par>
                          <p:cTn id="8" fill="hold">
                            <p:stCondLst>
                              <p:cond delay="3000"/>
                            </p:stCondLst>
                            <p:childTnLst>
                              <p:par>
                                <p:cTn id="9" presetID="22" presetClass="entr" presetSubtype="8" fill="hold" nodeType="afterEffect">
                                  <p:stCondLst>
                                    <p:cond delay="0"/>
                                  </p:stCondLst>
                                  <p:childTnLst>
                                    <p:set>
                                      <p:cBhvr>
                                        <p:cTn id="10" dur="1" fill="hold">
                                          <p:stCondLst>
                                            <p:cond delay="0"/>
                                          </p:stCondLst>
                                        </p:cTn>
                                        <p:tgtEl>
                                          <p:spTgt spid="380936"/>
                                        </p:tgtEl>
                                        <p:attrNameLst>
                                          <p:attrName>style.visibility</p:attrName>
                                        </p:attrNameLst>
                                      </p:cBhvr>
                                      <p:to>
                                        <p:strVal val="visible"/>
                                      </p:to>
                                    </p:set>
                                    <p:animEffect transition="in" filter="wipe(left)">
                                      <p:cBhvr>
                                        <p:cTn id="11" dur="3000"/>
                                        <p:tgtEl>
                                          <p:spTgt spid="380936"/>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380934"/>
                                        </p:tgtEl>
                                        <p:attrNameLst>
                                          <p:attrName>style.visibility</p:attrName>
                                        </p:attrNameLst>
                                      </p:cBhvr>
                                      <p:to>
                                        <p:strVal val="visible"/>
                                      </p:to>
                                    </p:set>
                                    <p:animEffect transition="in" filter="checkerboard(across)">
                                      <p:cBhvr>
                                        <p:cTn id="16" dur="1000"/>
                                        <p:tgtEl>
                                          <p:spTgt spid="380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3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36" name="矩形 332835"/>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一、数据库应用系统的生命周期</a:t>
            </a:r>
          </a:p>
        </p:txBody>
      </p:sp>
      <p:grpSp>
        <p:nvGrpSpPr>
          <p:cNvPr id="332837" name="组合 332836"/>
          <p:cNvGrpSpPr/>
          <p:nvPr/>
        </p:nvGrpSpPr>
        <p:grpSpPr>
          <a:xfrm>
            <a:off x="1187450" y="1839913"/>
            <a:ext cx="6769100" cy="4684712"/>
            <a:chOff x="3859" y="1614"/>
            <a:chExt cx="4058" cy="4656"/>
          </a:xfrm>
        </p:grpSpPr>
        <p:grpSp>
          <p:nvGrpSpPr>
            <p:cNvPr id="332838" name="组合 332837"/>
            <p:cNvGrpSpPr/>
            <p:nvPr/>
          </p:nvGrpSpPr>
          <p:grpSpPr>
            <a:xfrm>
              <a:off x="6295" y="1614"/>
              <a:ext cx="1622" cy="4656"/>
              <a:chOff x="6645" y="1614"/>
              <a:chExt cx="1622" cy="4656"/>
            </a:xfrm>
          </p:grpSpPr>
          <p:sp>
            <p:nvSpPr>
              <p:cNvPr id="332839" name="文本框 332838"/>
              <p:cNvSpPr txBox="1"/>
              <p:nvPr/>
            </p:nvSpPr>
            <p:spPr>
              <a:xfrm>
                <a:off x="6921" y="1655"/>
                <a:ext cx="1080" cy="595"/>
              </a:xfrm>
              <a:prstGeom prst="rect">
                <a:avLst/>
              </a:prstGeom>
              <a:solidFill>
                <a:srgbClr val="FFFFFF"/>
              </a:solidFill>
              <a:ln w="9525" cap="flat" cmpd="sng">
                <a:solidFill>
                  <a:srgbClr val="FFFFFF"/>
                </a:solidFill>
                <a:prstDash val="solid"/>
                <a:miter/>
                <a:headEnd type="none" w="med" len="med"/>
                <a:tailEnd type="none" w="med" len="med"/>
              </a:ln>
            </p:spPr>
            <p:txBody>
              <a:bodyPr anchor="ctr"/>
              <a:lstStyle/>
              <a:p>
                <a:pPr algn="ctr">
                  <a:lnSpc>
                    <a:spcPct val="88000"/>
                  </a:lnSpc>
                </a:pPr>
                <a:r>
                  <a:rPr lang="zh-CN" altLang="en-US" dirty="0">
                    <a:latin typeface="华文中宋" panose="02010600040101010101" pitchFamily="2" charset="-122"/>
                    <a:ea typeface="华文中宋" panose="02010600040101010101" pitchFamily="2" charset="-122"/>
                  </a:rPr>
                  <a:t>用户需求</a:t>
                </a:r>
              </a:p>
              <a:p>
                <a:pPr algn="ctr">
                  <a:lnSpc>
                    <a:spcPct val="88000"/>
                  </a:lnSpc>
                </a:pPr>
                <a:r>
                  <a:rPr lang="zh-CN" altLang="en-US" dirty="0">
                    <a:latin typeface="华文中宋" panose="02010600040101010101" pitchFamily="2" charset="-122"/>
                    <a:ea typeface="华文中宋" panose="02010600040101010101" pitchFamily="2" charset="-122"/>
                  </a:rPr>
                  <a:t>分析时期</a:t>
                </a:r>
              </a:p>
            </p:txBody>
          </p:sp>
          <p:sp>
            <p:nvSpPr>
              <p:cNvPr id="332840" name="文本框 332839"/>
              <p:cNvSpPr txBox="1"/>
              <p:nvPr/>
            </p:nvSpPr>
            <p:spPr>
              <a:xfrm>
                <a:off x="6729" y="5597"/>
                <a:ext cx="1440" cy="595"/>
              </a:xfrm>
              <a:prstGeom prst="rect">
                <a:avLst/>
              </a:prstGeom>
              <a:solidFill>
                <a:srgbClr val="FFFFFF"/>
              </a:solidFill>
              <a:ln w="9525" cap="flat" cmpd="sng">
                <a:solidFill>
                  <a:srgbClr val="FFFFFF"/>
                </a:solidFill>
                <a:prstDash val="solid"/>
                <a:miter/>
                <a:headEnd type="none" w="med" len="med"/>
                <a:tailEnd type="none" w="med" len="med"/>
              </a:ln>
            </p:spPr>
            <p:txBody>
              <a:bodyPr anchor="ctr"/>
              <a:lstStyle/>
              <a:p>
                <a:pPr algn="ctr">
                  <a:lnSpc>
                    <a:spcPct val="88000"/>
                  </a:lnSpc>
                </a:pPr>
                <a:r>
                  <a:rPr lang="zh-CN" altLang="en-US" dirty="0">
                    <a:latin typeface="华文中宋" panose="02010600040101010101" pitchFamily="2" charset="-122"/>
                    <a:ea typeface="华文中宋" panose="02010600040101010101" pitchFamily="2" charset="-122"/>
                  </a:rPr>
                  <a:t>数据库运行</a:t>
                </a:r>
              </a:p>
              <a:p>
                <a:pPr algn="ctr">
                  <a:lnSpc>
                    <a:spcPct val="88000"/>
                  </a:lnSpc>
                </a:pPr>
                <a:r>
                  <a:rPr lang="zh-CN" altLang="en-US" dirty="0">
                    <a:latin typeface="华文中宋" panose="02010600040101010101" pitchFamily="2" charset="-122"/>
                    <a:ea typeface="华文中宋" panose="02010600040101010101" pitchFamily="2" charset="-122"/>
                  </a:rPr>
                  <a:t>与维护时期</a:t>
                </a:r>
              </a:p>
            </p:txBody>
          </p:sp>
          <p:sp>
            <p:nvSpPr>
              <p:cNvPr id="332841" name="文本框 332840"/>
              <p:cNvSpPr txBox="1"/>
              <p:nvPr/>
            </p:nvSpPr>
            <p:spPr>
              <a:xfrm>
                <a:off x="6647" y="2973"/>
                <a:ext cx="1620" cy="595"/>
              </a:xfrm>
              <a:prstGeom prst="rect">
                <a:avLst/>
              </a:prstGeom>
              <a:solidFill>
                <a:srgbClr val="FFFFFF"/>
              </a:solidFill>
              <a:ln w="9525" cap="flat" cmpd="sng">
                <a:solidFill>
                  <a:srgbClr val="FFFFFF"/>
                </a:solidFill>
                <a:prstDash val="solid"/>
                <a:miter/>
                <a:headEnd type="none" w="med" len="med"/>
                <a:tailEnd type="none" w="med" len="med"/>
              </a:ln>
            </p:spPr>
            <p:txBody>
              <a:bodyPr anchor="ctr"/>
              <a:lstStyle/>
              <a:p>
                <a:pPr algn="ctr">
                  <a:lnSpc>
                    <a:spcPct val="88000"/>
                  </a:lnSpc>
                </a:pPr>
                <a:r>
                  <a:rPr lang="zh-CN" altLang="en-US" dirty="0">
                    <a:latin typeface="华文中宋" panose="02010600040101010101" pitchFamily="2" charset="-122"/>
                    <a:ea typeface="华文中宋" panose="02010600040101010101" pitchFamily="2" charset="-122"/>
                  </a:rPr>
                  <a:t>数 据 库</a:t>
                </a:r>
              </a:p>
              <a:p>
                <a:pPr algn="ctr">
                  <a:lnSpc>
                    <a:spcPct val="88000"/>
                  </a:lnSpc>
                </a:pPr>
                <a:r>
                  <a:rPr lang="zh-CN" altLang="en-US" dirty="0">
                    <a:latin typeface="华文中宋" panose="02010600040101010101" pitchFamily="2" charset="-122"/>
                    <a:ea typeface="华文中宋" panose="02010600040101010101" pitchFamily="2" charset="-122"/>
                  </a:rPr>
                  <a:t>设计时期</a:t>
                </a:r>
              </a:p>
            </p:txBody>
          </p:sp>
          <p:sp>
            <p:nvSpPr>
              <p:cNvPr id="332842" name="文本框 332841"/>
              <p:cNvSpPr txBox="1"/>
              <p:nvPr/>
            </p:nvSpPr>
            <p:spPr>
              <a:xfrm>
                <a:off x="6645" y="4590"/>
                <a:ext cx="1620" cy="595"/>
              </a:xfrm>
              <a:prstGeom prst="rect">
                <a:avLst/>
              </a:prstGeom>
              <a:solidFill>
                <a:srgbClr val="FFFFFF"/>
              </a:solidFill>
              <a:ln w="9525" cap="flat" cmpd="sng">
                <a:solidFill>
                  <a:srgbClr val="FFFFFF"/>
                </a:solidFill>
                <a:prstDash val="solid"/>
                <a:miter/>
                <a:headEnd type="none" w="med" len="med"/>
                <a:tailEnd type="none" w="med" len="med"/>
              </a:ln>
            </p:spPr>
            <p:txBody>
              <a:bodyPr anchor="ctr"/>
              <a:lstStyle/>
              <a:p>
                <a:pPr algn="ctr">
                  <a:lnSpc>
                    <a:spcPct val="88000"/>
                  </a:lnSpc>
                </a:pPr>
                <a:r>
                  <a:rPr lang="zh-CN" altLang="en-US" dirty="0">
                    <a:latin typeface="华文中宋" panose="02010600040101010101" pitchFamily="2" charset="-122"/>
                    <a:ea typeface="华文中宋" panose="02010600040101010101" pitchFamily="2" charset="-122"/>
                  </a:rPr>
                  <a:t>数 据 库</a:t>
                </a:r>
              </a:p>
              <a:p>
                <a:pPr algn="ctr">
                  <a:lnSpc>
                    <a:spcPct val="88000"/>
                  </a:lnSpc>
                </a:pPr>
                <a:r>
                  <a:rPr lang="zh-CN" altLang="en-US" dirty="0">
                    <a:latin typeface="华文中宋" panose="02010600040101010101" pitchFamily="2" charset="-122"/>
                    <a:ea typeface="华文中宋" panose="02010600040101010101" pitchFamily="2" charset="-122"/>
                  </a:rPr>
                  <a:t>实现时期</a:t>
                </a:r>
              </a:p>
            </p:txBody>
          </p:sp>
          <p:sp>
            <p:nvSpPr>
              <p:cNvPr id="332843" name="直接连接符 332842"/>
              <p:cNvSpPr/>
              <p:nvPr/>
            </p:nvSpPr>
            <p:spPr>
              <a:xfrm>
                <a:off x="6849" y="4236"/>
                <a:ext cx="1230" cy="0"/>
              </a:xfrm>
              <a:prstGeom prst="line">
                <a:avLst/>
              </a:prstGeom>
              <a:ln w="9525" cap="flat" cmpd="sng">
                <a:solidFill>
                  <a:srgbClr val="000000"/>
                </a:solidFill>
                <a:prstDash val="dash"/>
                <a:headEnd type="none" w="med" len="med"/>
                <a:tailEnd type="none" w="med" len="med"/>
              </a:ln>
            </p:spPr>
          </p:sp>
          <p:sp>
            <p:nvSpPr>
              <p:cNvPr id="332844" name="直接连接符 332843"/>
              <p:cNvSpPr/>
              <p:nvPr/>
            </p:nvSpPr>
            <p:spPr>
              <a:xfrm>
                <a:off x="6849" y="5538"/>
                <a:ext cx="1230" cy="0"/>
              </a:xfrm>
              <a:prstGeom prst="line">
                <a:avLst/>
              </a:prstGeom>
              <a:ln w="9525" cap="flat" cmpd="sng">
                <a:solidFill>
                  <a:srgbClr val="000000"/>
                </a:solidFill>
                <a:prstDash val="dash"/>
                <a:headEnd type="none" w="med" len="med"/>
                <a:tailEnd type="none" w="med" len="med"/>
              </a:ln>
            </p:spPr>
          </p:sp>
          <p:sp>
            <p:nvSpPr>
              <p:cNvPr id="332845" name="直接连接符 332844"/>
              <p:cNvSpPr/>
              <p:nvPr/>
            </p:nvSpPr>
            <p:spPr>
              <a:xfrm>
                <a:off x="6855" y="2295"/>
                <a:ext cx="1230" cy="0"/>
              </a:xfrm>
              <a:prstGeom prst="line">
                <a:avLst/>
              </a:prstGeom>
              <a:ln w="9525" cap="flat" cmpd="sng">
                <a:solidFill>
                  <a:srgbClr val="000000"/>
                </a:solidFill>
                <a:prstDash val="dash"/>
                <a:headEnd type="none" w="med" len="med"/>
                <a:tailEnd type="none" w="med" len="med"/>
              </a:ln>
            </p:spPr>
          </p:sp>
          <p:sp>
            <p:nvSpPr>
              <p:cNvPr id="332846" name="直接连接符 332845"/>
              <p:cNvSpPr/>
              <p:nvPr/>
            </p:nvSpPr>
            <p:spPr>
              <a:xfrm>
                <a:off x="6849" y="1614"/>
                <a:ext cx="1230" cy="0"/>
              </a:xfrm>
              <a:prstGeom prst="line">
                <a:avLst/>
              </a:prstGeom>
              <a:ln w="9525" cap="flat" cmpd="sng">
                <a:solidFill>
                  <a:srgbClr val="000000"/>
                </a:solidFill>
                <a:prstDash val="dash"/>
                <a:headEnd type="none" w="med" len="med"/>
                <a:tailEnd type="none" w="med" len="med"/>
              </a:ln>
            </p:spPr>
          </p:sp>
          <p:sp>
            <p:nvSpPr>
              <p:cNvPr id="332847" name="直接连接符 332846"/>
              <p:cNvSpPr/>
              <p:nvPr/>
            </p:nvSpPr>
            <p:spPr>
              <a:xfrm>
                <a:off x="7464" y="1626"/>
                <a:ext cx="0" cy="142"/>
              </a:xfrm>
              <a:prstGeom prst="line">
                <a:avLst/>
              </a:prstGeom>
              <a:ln w="9525" cap="flat" cmpd="sng">
                <a:solidFill>
                  <a:srgbClr val="000000"/>
                </a:solidFill>
                <a:prstDash val="solid"/>
                <a:headEnd type="none" w="med" len="med"/>
                <a:tailEnd type="arrow" w="med" len="med"/>
              </a:ln>
            </p:spPr>
          </p:sp>
          <p:sp>
            <p:nvSpPr>
              <p:cNvPr id="332848" name="直接连接符 332847"/>
              <p:cNvSpPr/>
              <p:nvPr/>
            </p:nvSpPr>
            <p:spPr>
              <a:xfrm>
                <a:off x="6837" y="6270"/>
                <a:ext cx="1230" cy="0"/>
              </a:xfrm>
              <a:prstGeom prst="line">
                <a:avLst/>
              </a:prstGeom>
              <a:ln w="9525" cap="flat" cmpd="sng">
                <a:solidFill>
                  <a:srgbClr val="000000"/>
                </a:solidFill>
                <a:prstDash val="dash"/>
                <a:headEnd type="none" w="med" len="med"/>
                <a:tailEnd type="none" w="med" len="med"/>
              </a:ln>
            </p:spPr>
          </p:sp>
          <p:sp>
            <p:nvSpPr>
              <p:cNvPr id="332849" name="直接连接符 332848"/>
              <p:cNvSpPr/>
              <p:nvPr/>
            </p:nvSpPr>
            <p:spPr>
              <a:xfrm flipV="1">
                <a:off x="7452" y="6132"/>
                <a:ext cx="0" cy="136"/>
              </a:xfrm>
              <a:prstGeom prst="line">
                <a:avLst/>
              </a:prstGeom>
              <a:ln w="9525" cap="flat" cmpd="sng">
                <a:solidFill>
                  <a:srgbClr val="000000"/>
                </a:solidFill>
                <a:prstDash val="solid"/>
                <a:headEnd type="none" w="med" len="med"/>
                <a:tailEnd type="arrow" w="med" len="med"/>
              </a:ln>
            </p:spPr>
          </p:sp>
          <p:sp>
            <p:nvSpPr>
              <p:cNvPr id="332850" name="直接连接符 332849"/>
              <p:cNvSpPr/>
              <p:nvPr/>
            </p:nvSpPr>
            <p:spPr>
              <a:xfrm flipV="1">
                <a:off x="7461" y="3504"/>
                <a:ext cx="0" cy="726"/>
              </a:xfrm>
              <a:prstGeom prst="line">
                <a:avLst/>
              </a:prstGeom>
              <a:ln w="9525" cap="flat" cmpd="sng">
                <a:solidFill>
                  <a:srgbClr val="000000"/>
                </a:solidFill>
                <a:prstDash val="solid"/>
                <a:headEnd type="arrow" w="med" len="med"/>
                <a:tailEnd type="none" w="med" len="med"/>
              </a:ln>
            </p:spPr>
          </p:sp>
          <p:sp>
            <p:nvSpPr>
              <p:cNvPr id="332851" name="直接连接符 332850"/>
              <p:cNvSpPr/>
              <p:nvPr/>
            </p:nvSpPr>
            <p:spPr>
              <a:xfrm flipV="1">
                <a:off x="7464" y="4229"/>
                <a:ext cx="0" cy="408"/>
              </a:xfrm>
              <a:prstGeom prst="line">
                <a:avLst/>
              </a:prstGeom>
              <a:ln w="9525" cap="flat" cmpd="sng">
                <a:solidFill>
                  <a:srgbClr val="000000"/>
                </a:solidFill>
                <a:prstDash val="solid"/>
                <a:headEnd type="none" w="med" len="med"/>
                <a:tailEnd type="arrow" w="med" len="med"/>
              </a:ln>
            </p:spPr>
          </p:sp>
          <p:sp>
            <p:nvSpPr>
              <p:cNvPr id="332852" name="直接连接符 332851"/>
              <p:cNvSpPr/>
              <p:nvPr/>
            </p:nvSpPr>
            <p:spPr>
              <a:xfrm flipV="1">
                <a:off x="7461" y="5133"/>
                <a:ext cx="0" cy="408"/>
              </a:xfrm>
              <a:prstGeom prst="line">
                <a:avLst/>
              </a:prstGeom>
              <a:ln w="9525" cap="flat" cmpd="sng">
                <a:solidFill>
                  <a:srgbClr val="000000"/>
                </a:solidFill>
                <a:prstDash val="solid"/>
                <a:headEnd type="arrow" w="med" len="med"/>
                <a:tailEnd type="none" w="med" len="med"/>
              </a:ln>
            </p:spPr>
          </p:sp>
          <p:sp>
            <p:nvSpPr>
              <p:cNvPr id="332853" name="直接连接符 332852"/>
              <p:cNvSpPr/>
              <p:nvPr/>
            </p:nvSpPr>
            <p:spPr>
              <a:xfrm flipV="1">
                <a:off x="7464" y="5537"/>
                <a:ext cx="0" cy="142"/>
              </a:xfrm>
              <a:prstGeom prst="line">
                <a:avLst/>
              </a:prstGeom>
              <a:ln w="9525" cap="flat" cmpd="sng">
                <a:solidFill>
                  <a:srgbClr val="000000"/>
                </a:solidFill>
                <a:prstDash val="solid"/>
                <a:headEnd type="none" w="med" len="med"/>
                <a:tailEnd type="arrow" w="med" len="med"/>
              </a:ln>
            </p:spPr>
          </p:sp>
          <p:sp>
            <p:nvSpPr>
              <p:cNvPr id="332854" name="直接连接符 332853"/>
              <p:cNvSpPr/>
              <p:nvPr/>
            </p:nvSpPr>
            <p:spPr>
              <a:xfrm flipV="1">
                <a:off x="7464" y="2281"/>
                <a:ext cx="0" cy="726"/>
              </a:xfrm>
              <a:prstGeom prst="line">
                <a:avLst/>
              </a:prstGeom>
              <a:ln w="9525" cap="flat" cmpd="sng">
                <a:solidFill>
                  <a:srgbClr val="000000"/>
                </a:solidFill>
                <a:prstDash val="solid"/>
                <a:headEnd type="none" w="med" len="med"/>
                <a:tailEnd type="arrow" w="med" len="med"/>
              </a:ln>
            </p:spPr>
          </p:sp>
          <p:sp>
            <p:nvSpPr>
              <p:cNvPr id="332855" name="直接连接符 332854"/>
              <p:cNvSpPr/>
              <p:nvPr/>
            </p:nvSpPr>
            <p:spPr>
              <a:xfrm flipV="1">
                <a:off x="7464" y="2172"/>
                <a:ext cx="0" cy="142"/>
              </a:xfrm>
              <a:prstGeom prst="line">
                <a:avLst/>
              </a:prstGeom>
              <a:ln w="9525" cap="flat" cmpd="sng">
                <a:solidFill>
                  <a:srgbClr val="000000"/>
                </a:solidFill>
                <a:prstDash val="solid"/>
                <a:headEnd type="arrow" w="med" len="med"/>
                <a:tailEnd type="none" w="med" len="med"/>
              </a:ln>
            </p:spPr>
          </p:sp>
        </p:grpSp>
        <p:grpSp>
          <p:nvGrpSpPr>
            <p:cNvPr id="332856" name="组合 332855"/>
            <p:cNvGrpSpPr/>
            <p:nvPr/>
          </p:nvGrpSpPr>
          <p:grpSpPr>
            <a:xfrm>
              <a:off x="3859" y="1779"/>
              <a:ext cx="2520" cy="4248"/>
              <a:chOff x="3859" y="1779"/>
              <a:chExt cx="2520" cy="4248"/>
            </a:xfrm>
          </p:grpSpPr>
          <p:sp>
            <p:nvSpPr>
              <p:cNvPr id="332857" name="文本框 332856"/>
              <p:cNvSpPr txBox="1"/>
              <p:nvPr/>
            </p:nvSpPr>
            <p:spPr>
              <a:xfrm>
                <a:off x="4315" y="1779"/>
                <a:ext cx="1620" cy="357"/>
              </a:xfrm>
              <a:prstGeom prst="rect">
                <a:avLst/>
              </a:prstGeom>
              <a:solidFill>
                <a:srgbClr val="FFFFFF"/>
              </a:solidFill>
              <a:ln w="9525" cap="flat" cmpd="sng">
                <a:solidFill>
                  <a:srgbClr val="000000"/>
                </a:solidFill>
                <a:prstDash val="solid"/>
                <a:miter/>
                <a:headEnd type="none" w="med" len="med"/>
                <a:tailEnd type="none" w="med" len="med"/>
              </a:ln>
            </p:spPr>
            <p:txBody>
              <a:bodyPr anchor="ctr"/>
              <a:lstStyle/>
              <a:p>
                <a:pPr algn="ctr">
                  <a:lnSpc>
                    <a:spcPct val="88000"/>
                  </a:lnSpc>
                </a:pPr>
                <a:r>
                  <a:rPr lang="zh-CN" altLang="en-US" sz="2000" b="1" dirty="0">
                    <a:solidFill>
                      <a:srgbClr val="660033"/>
                    </a:solidFill>
                    <a:latin typeface="华文中宋" panose="02010600040101010101" pitchFamily="2" charset="-122"/>
                    <a:ea typeface="华文中宋" panose="02010600040101010101" pitchFamily="2" charset="-122"/>
                  </a:rPr>
                  <a:t>用户需求分析</a:t>
                </a:r>
              </a:p>
            </p:txBody>
          </p:sp>
          <p:sp>
            <p:nvSpPr>
              <p:cNvPr id="332858" name="文本框 332857"/>
              <p:cNvSpPr txBox="1"/>
              <p:nvPr/>
            </p:nvSpPr>
            <p:spPr>
              <a:xfrm>
                <a:off x="4315" y="2439"/>
                <a:ext cx="1620" cy="357"/>
              </a:xfrm>
              <a:prstGeom prst="rect">
                <a:avLst/>
              </a:prstGeom>
              <a:solidFill>
                <a:srgbClr val="FFFFFF"/>
              </a:solidFill>
              <a:ln w="9525" cap="flat" cmpd="sng">
                <a:solidFill>
                  <a:srgbClr val="000000"/>
                </a:solidFill>
                <a:prstDash val="solid"/>
                <a:miter/>
                <a:headEnd type="none" w="med" len="med"/>
                <a:tailEnd type="none" w="med" len="med"/>
              </a:ln>
            </p:spPr>
            <p:txBody>
              <a:bodyPr anchor="ctr"/>
              <a:lstStyle/>
              <a:p>
                <a:pPr algn="ctr">
                  <a:lnSpc>
                    <a:spcPct val="88000"/>
                  </a:lnSpc>
                </a:pPr>
                <a:r>
                  <a:rPr lang="zh-CN" altLang="en-US" sz="2000" b="1" dirty="0">
                    <a:solidFill>
                      <a:srgbClr val="003366"/>
                    </a:solidFill>
                    <a:latin typeface="华文中宋" panose="02010600040101010101" pitchFamily="2" charset="-122"/>
                    <a:ea typeface="华文中宋" panose="02010600040101010101" pitchFamily="2" charset="-122"/>
                  </a:rPr>
                  <a:t>概念结构设计</a:t>
                </a:r>
              </a:p>
            </p:txBody>
          </p:sp>
          <p:sp>
            <p:nvSpPr>
              <p:cNvPr id="332859" name="文本框 332858"/>
              <p:cNvSpPr txBox="1"/>
              <p:nvPr/>
            </p:nvSpPr>
            <p:spPr>
              <a:xfrm>
                <a:off x="4315" y="3084"/>
                <a:ext cx="1620" cy="357"/>
              </a:xfrm>
              <a:prstGeom prst="rect">
                <a:avLst/>
              </a:prstGeom>
              <a:solidFill>
                <a:srgbClr val="FFFFFF"/>
              </a:solidFill>
              <a:ln w="9525" cap="flat" cmpd="sng">
                <a:solidFill>
                  <a:srgbClr val="000000"/>
                </a:solidFill>
                <a:prstDash val="solid"/>
                <a:miter/>
                <a:headEnd type="none" w="med" len="med"/>
                <a:tailEnd type="none" w="med" len="med"/>
              </a:ln>
            </p:spPr>
            <p:txBody>
              <a:bodyPr anchor="ctr"/>
              <a:lstStyle/>
              <a:p>
                <a:pPr algn="ctr">
                  <a:lnSpc>
                    <a:spcPct val="88000"/>
                  </a:lnSpc>
                </a:pPr>
                <a:r>
                  <a:rPr lang="zh-CN" altLang="en-US" sz="2000" b="1" dirty="0">
                    <a:solidFill>
                      <a:srgbClr val="003366"/>
                    </a:solidFill>
                    <a:latin typeface="华文中宋" panose="02010600040101010101" pitchFamily="2" charset="-122"/>
                    <a:ea typeface="华文中宋" panose="02010600040101010101" pitchFamily="2" charset="-122"/>
                  </a:rPr>
                  <a:t>逻辑结构设计</a:t>
                </a:r>
              </a:p>
            </p:txBody>
          </p:sp>
          <p:sp>
            <p:nvSpPr>
              <p:cNvPr id="332860" name="文本框 332859"/>
              <p:cNvSpPr txBox="1"/>
              <p:nvPr/>
            </p:nvSpPr>
            <p:spPr>
              <a:xfrm>
                <a:off x="4315" y="3729"/>
                <a:ext cx="1620" cy="357"/>
              </a:xfrm>
              <a:prstGeom prst="rect">
                <a:avLst/>
              </a:prstGeom>
              <a:solidFill>
                <a:srgbClr val="FFFFFF"/>
              </a:solidFill>
              <a:ln w="9525" cap="flat" cmpd="sng">
                <a:solidFill>
                  <a:srgbClr val="000000"/>
                </a:solidFill>
                <a:prstDash val="solid"/>
                <a:miter/>
                <a:headEnd type="none" w="med" len="med"/>
                <a:tailEnd type="none" w="med" len="med"/>
              </a:ln>
            </p:spPr>
            <p:txBody>
              <a:bodyPr anchor="ctr"/>
              <a:lstStyle/>
              <a:p>
                <a:pPr algn="ctr">
                  <a:lnSpc>
                    <a:spcPct val="88000"/>
                  </a:lnSpc>
                </a:pPr>
                <a:r>
                  <a:rPr lang="zh-CN" altLang="en-US" sz="2000" b="1" dirty="0">
                    <a:solidFill>
                      <a:srgbClr val="003366"/>
                    </a:solidFill>
                    <a:latin typeface="华文中宋" panose="02010600040101010101" pitchFamily="2" charset="-122"/>
                    <a:ea typeface="华文中宋" panose="02010600040101010101" pitchFamily="2" charset="-122"/>
                  </a:rPr>
                  <a:t>物理结构设计</a:t>
                </a:r>
              </a:p>
            </p:txBody>
          </p:sp>
          <p:sp>
            <p:nvSpPr>
              <p:cNvPr id="332861" name="文本框 332860"/>
              <p:cNvSpPr txBox="1"/>
              <p:nvPr/>
            </p:nvSpPr>
            <p:spPr>
              <a:xfrm>
                <a:off x="4315" y="4386"/>
                <a:ext cx="1620" cy="357"/>
              </a:xfrm>
              <a:prstGeom prst="rect">
                <a:avLst/>
              </a:prstGeom>
              <a:solidFill>
                <a:srgbClr val="FFFFFF"/>
              </a:solidFill>
              <a:ln w="9525" cap="flat" cmpd="sng">
                <a:solidFill>
                  <a:srgbClr val="000000"/>
                </a:solidFill>
                <a:prstDash val="solid"/>
                <a:miter/>
                <a:headEnd type="none" w="med" len="med"/>
                <a:tailEnd type="none" w="med" len="med"/>
              </a:ln>
            </p:spPr>
            <p:txBody>
              <a:bodyPr anchor="ctr"/>
              <a:lstStyle/>
              <a:p>
                <a:pPr algn="ctr">
                  <a:lnSpc>
                    <a:spcPct val="88000"/>
                  </a:lnSpc>
                </a:pPr>
                <a:r>
                  <a:rPr lang="zh-CN" altLang="en-US" sz="2000" b="1" dirty="0">
                    <a:solidFill>
                      <a:srgbClr val="006666"/>
                    </a:solidFill>
                    <a:latin typeface="华文中宋" panose="02010600040101010101" pitchFamily="2" charset="-122"/>
                    <a:ea typeface="华文中宋" panose="02010600040101010101" pitchFamily="2" charset="-122"/>
                  </a:rPr>
                  <a:t>数据库结构创建</a:t>
                </a:r>
              </a:p>
            </p:txBody>
          </p:sp>
          <p:sp>
            <p:nvSpPr>
              <p:cNvPr id="332862" name="文本框 332861"/>
              <p:cNvSpPr txBox="1"/>
              <p:nvPr/>
            </p:nvSpPr>
            <p:spPr>
              <a:xfrm>
                <a:off x="3859" y="5031"/>
                <a:ext cx="2520" cy="357"/>
              </a:xfrm>
              <a:prstGeom prst="rect">
                <a:avLst/>
              </a:prstGeom>
              <a:solidFill>
                <a:srgbClr val="FFFFFF"/>
              </a:solidFill>
              <a:ln w="9525" cap="flat" cmpd="sng">
                <a:solidFill>
                  <a:srgbClr val="000000"/>
                </a:solidFill>
                <a:prstDash val="solid"/>
                <a:miter/>
                <a:headEnd type="none" w="med" len="med"/>
                <a:tailEnd type="none" w="med" len="med"/>
              </a:ln>
            </p:spPr>
            <p:txBody>
              <a:bodyPr anchor="ctr"/>
              <a:lstStyle/>
              <a:p>
                <a:pPr algn="ctr">
                  <a:lnSpc>
                    <a:spcPct val="88000"/>
                  </a:lnSpc>
                </a:pPr>
                <a:r>
                  <a:rPr lang="zh-CN" altLang="en-US" sz="2000" b="1" dirty="0">
                    <a:solidFill>
                      <a:srgbClr val="006666"/>
                    </a:solidFill>
                    <a:latin typeface="华文中宋" panose="02010600040101010101" pitchFamily="2" charset="-122"/>
                    <a:ea typeface="华文中宋" panose="02010600040101010101" pitchFamily="2" charset="-122"/>
                  </a:rPr>
                  <a:t>数据库应用行为设计与实现</a:t>
                </a:r>
              </a:p>
            </p:txBody>
          </p:sp>
          <p:sp>
            <p:nvSpPr>
              <p:cNvPr id="332863" name="文本框 332862"/>
              <p:cNvSpPr txBox="1"/>
              <p:nvPr/>
            </p:nvSpPr>
            <p:spPr>
              <a:xfrm>
                <a:off x="4219" y="5670"/>
                <a:ext cx="1800" cy="357"/>
              </a:xfrm>
              <a:prstGeom prst="rect">
                <a:avLst/>
              </a:prstGeom>
              <a:solidFill>
                <a:srgbClr val="FFFFFF"/>
              </a:solidFill>
              <a:ln w="9525" cap="flat" cmpd="sng">
                <a:solidFill>
                  <a:srgbClr val="000000"/>
                </a:solidFill>
                <a:prstDash val="solid"/>
                <a:miter/>
                <a:headEnd type="none" w="med" len="med"/>
                <a:tailEnd type="none" w="med" len="med"/>
              </a:ln>
            </p:spPr>
            <p:txBody>
              <a:bodyPr anchor="ctr"/>
              <a:lstStyle/>
              <a:p>
                <a:pPr algn="ctr">
                  <a:lnSpc>
                    <a:spcPct val="88000"/>
                  </a:lnSpc>
                </a:pPr>
                <a:r>
                  <a:rPr lang="zh-CN" altLang="en-US" sz="2000" b="1" dirty="0">
                    <a:solidFill>
                      <a:schemeClr val="folHlink"/>
                    </a:solidFill>
                    <a:latin typeface="华文中宋" panose="02010600040101010101" pitchFamily="2" charset="-122"/>
                    <a:ea typeface="华文中宋" panose="02010600040101010101" pitchFamily="2" charset="-122"/>
                  </a:rPr>
                  <a:t>数据库运行与维护</a:t>
                </a:r>
              </a:p>
            </p:txBody>
          </p:sp>
          <p:sp>
            <p:nvSpPr>
              <p:cNvPr id="332864" name="直接连接符 332863"/>
              <p:cNvSpPr/>
              <p:nvPr/>
            </p:nvSpPr>
            <p:spPr>
              <a:xfrm>
                <a:off x="5131" y="2796"/>
                <a:ext cx="0" cy="283"/>
              </a:xfrm>
              <a:prstGeom prst="line">
                <a:avLst/>
              </a:prstGeom>
              <a:ln w="9525" cap="flat" cmpd="sng">
                <a:solidFill>
                  <a:srgbClr val="000000"/>
                </a:solidFill>
                <a:prstDash val="solid"/>
                <a:headEnd type="none" w="med" len="med"/>
                <a:tailEnd type="arrow" w="med" len="med"/>
              </a:ln>
            </p:spPr>
          </p:sp>
          <p:sp>
            <p:nvSpPr>
              <p:cNvPr id="332865" name="直接连接符 332864"/>
              <p:cNvSpPr/>
              <p:nvPr/>
            </p:nvSpPr>
            <p:spPr>
              <a:xfrm>
                <a:off x="5131" y="3442"/>
                <a:ext cx="0" cy="283"/>
              </a:xfrm>
              <a:prstGeom prst="line">
                <a:avLst/>
              </a:prstGeom>
              <a:ln w="9525" cap="flat" cmpd="sng">
                <a:solidFill>
                  <a:srgbClr val="000000"/>
                </a:solidFill>
                <a:prstDash val="solid"/>
                <a:headEnd type="none" w="med" len="med"/>
                <a:tailEnd type="arrow" w="med" len="med"/>
              </a:ln>
            </p:spPr>
          </p:sp>
          <p:sp>
            <p:nvSpPr>
              <p:cNvPr id="332866" name="直接连接符 332865"/>
              <p:cNvSpPr/>
              <p:nvPr/>
            </p:nvSpPr>
            <p:spPr>
              <a:xfrm>
                <a:off x="5131" y="4746"/>
                <a:ext cx="0" cy="283"/>
              </a:xfrm>
              <a:prstGeom prst="line">
                <a:avLst/>
              </a:prstGeom>
              <a:ln w="9525" cap="flat" cmpd="sng">
                <a:solidFill>
                  <a:srgbClr val="000000"/>
                </a:solidFill>
                <a:prstDash val="solid"/>
                <a:headEnd type="none" w="med" len="med"/>
                <a:tailEnd type="arrow" w="med" len="med"/>
              </a:ln>
            </p:spPr>
          </p:sp>
          <p:sp>
            <p:nvSpPr>
              <p:cNvPr id="332867" name="直接连接符 332866"/>
              <p:cNvSpPr/>
              <p:nvPr/>
            </p:nvSpPr>
            <p:spPr>
              <a:xfrm>
                <a:off x="5131" y="2136"/>
                <a:ext cx="0" cy="295"/>
              </a:xfrm>
              <a:prstGeom prst="line">
                <a:avLst/>
              </a:prstGeom>
              <a:ln w="9525" cap="flat" cmpd="sng">
                <a:solidFill>
                  <a:srgbClr val="000000"/>
                </a:solidFill>
                <a:prstDash val="solid"/>
                <a:headEnd type="none" w="med" len="med"/>
                <a:tailEnd type="arrow" w="med" len="med"/>
              </a:ln>
            </p:spPr>
          </p:sp>
          <p:sp>
            <p:nvSpPr>
              <p:cNvPr id="332868" name="直接连接符 332867"/>
              <p:cNvSpPr/>
              <p:nvPr/>
            </p:nvSpPr>
            <p:spPr>
              <a:xfrm>
                <a:off x="5131" y="4086"/>
                <a:ext cx="0" cy="295"/>
              </a:xfrm>
              <a:prstGeom prst="line">
                <a:avLst/>
              </a:prstGeom>
              <a:ln w="9525" cap="flat" cmpd="sng">
                <a:solidFill>
                  <a:srgbClr val="000000"/>
                </a:solidFill>
                <a:prstDash val="solid"/>
                <a:headEnd type="none" w="med" len="med"/>
                <a:tailEnd type="arrow" w="med" len="med"/>
              </a:ln>
            </p:spPr>
          </p:sp>
          <p:sp>
            <p:nvSpPr>
              <p:cNvPr id="332869" name="直接连接符 332868"/>
              <p:cNvSpPr/>
              <p:nvPr/>
            </p:nvSpPr>
            <p:spPr>
              <a:xfrm>
                <a:off x="5131" y="5381"/>
                <a:ext cx="0" cy="295"/>
              </a:xfrm>
              <a:prstGeom prst="line">
                <a:avLst/>
              </a:prstGeom>
              <a:ln w="9525" cap="flat" cmpd="sng">
                <a:solidFill>
                  <a:srgbClr val="000000"/>
                </a:solidFill>
                <a:prstDash val="solid"/>
                <a:headEnd type="none" w="med" len="med"/>
                <a:tailEnd type="arrow" w="med" len="med"/>
              </a:ln>
            </p:spPr>
          </p:sp>
        </p:grpSp>
      </p:grpSp>
      <p:sp>
        <p:nvSpPr>
          <p:cNvPr id="332871" name="矩形 332870"/>
          <p:cNvSpPr/>
          <p:nvPr/>
        </p:nvSpPr>
        <p:spPr>
          <a:xfrm>
            <a:off x="395288" y="1125538"/>
            <a:ext cx="8208962" cy="719137"/>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0000"/>
              </a:lnSpc>
            </a:pPr>
            <a:r>
              <a:rPr lang="zh-CN" altLang="en-US" b="0" dirty="0">
                <a:effectLst/>
                <a:ea typeface="黑体" panose="02010609060101010101" pitchFamily="2" charset="-122"/>
              </a:rPr>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、数据库应用系统的生命周期</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5198"/>
    </mc:Choice>
    <mc:Fallback xmlns="">
      <p:transition spd="slow" advTm="9519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nodeType="clickEffect">
                                  <p:stCondLst>
                                    <p:cond delay="0"/>
                                  </p:stCondLst>
                                  <p:childTnLst>
                                    <p:set>
                                      <p:cBhvr>
                                        <p:cTn id="6" dur="1" fill="hold">
                                          <p:stCondLst>
                                            <p:cond delay="0"/>
                                          </p:stCondLst>
                                        </p:cTn>
                                        <p:tgtEl>
                                          <p:spTgt spid="332837"/>
                                        </p:tgtEl>
                                        <p:attrNameLst>
                                          <p:attrName>style.visibility</p:attrName>
                                        </p:attrNameLst>
                                      </p:cBhvr>
                                      <p:to>
                                        <p:strVal val="visible"/>
                                      </p:to>
                                    </p:set>
                                    <p:animEffect transition="in" filter="diamond(out)">
                                      <p:cBhvr>
                                        <p:cTn id="7" dur="1000"/>
                                        <p:tgtEl>
                                          <p:spTgt spid="3328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4" name="矩形 614403"/>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二、数据库应用系统设计方法</a:t>
            </a:r>
          </a:p>
        </p:txBody>
      </p:sp>
      <p:sp>
        <p:nvSpPr>
          <p:cNvPr id="614405" name="矩形 614404"/>
          <p:cNvSpPr/>
          <p:nvPr/>
        </p:nvSpPr>
        <p:spPr>
          <a:xfrm>
            <a:off x="395288" y="1258888"/>
            <a:ext cx="8208962"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0000"/>
              </a:lnSpc>
              <a:buClr>
                <a:schemeClr val="folHlink"/>
              </a:buClr>
              <a:buSzPct val="60000"/>
              <a:buNone/>
            </a:pPr>
            <a:r>
              <a:rPr lang="zh-CN" altLang="en-US" b="0" dirty="0">
                <a:effectLst/>
                <a:ea typeface="黑体" panose="02010609060101010101" pitchFamily="2" charset="-122"/>
              </a:rPr>
              <a:t>          </a:t>
            </a:r>
            <a:r>
              <a:rPr lang="en-US" altLang="zh-CN" sz="3000">
                <a:solidFill>
                  <a:srgbClr val="660033"/>
                </a:solidFill>
                <a:ea typeface="华文新魏" panose="02010800040101010101" pitchFamily="2" charset="-122"/>
              </a:rPr>
              <a:t>1</a:t>
            </a:r>
            <a:r>
              <a:rPr lang="zh-CN" altLang="en-US" sz="3000" dirty="0">
                <a:solidFill>
                  <a:srgbClr val="660033"/>
                </a:solidFill>
                <a:ea typeface="华文新魏" panose="02010800040101010101" pitchFamily="2" charset="-122"/>
              </a:rPr>
              <a:t>、用户需求分析时期</a:t>
            </a:r>
          </a:p>
          <a:p>
            <a:pPr lvl="0">
              <a:lnSpc>
                <a:spcPct val="150000"/>
              </a:lnSpc>
              <a:buClrTx/>
              <a:buSzTx/>
              <a:buFontTx/>
              <a:buNone/>
            </a:pPr>
            <a:r>
              <a:rPr lang="zh-CN" altLang="en-US" dirty="0"/>
              <a:t>           </a:t>
            </a:r>
            <a:r>
              <a:rPr lang="zh-CN" altLang="en-US" b="0" dirty="0">
                <a:effectLst/>
                <a:ea typeface="黑体" panose="02010609060101010101" pitchFamily="2" charset="-122"/>
              </a:rPr>
              <a:t>用户需求分析是指分析用户对数据管理的功能需求和应用需求，是进行数据库应用系统设计的基础。</a:t>
            </a:r>
            <a:r>
              <a:rPr lang="zh-CN" altLang="en-US" dirty="0"/>
              <a:t> </a:t>
            </a:r>
            <a:endParaRPr lang="en-US" altLang="zh-CN" b="0">
              <a:effectLst/>
              <a:ea typeface="黑体" panose="0201060906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78030"/>
    </mc:Choice>
    <mc:Fallback xmlns="">
      <p:transition spd="slow" advTm="780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614405">
                                            <p:txEl>
                                              <p:pRg st="1" end="1"/>
                                            </p:txEl>
                                          </p:spTgt>
                                        </p:tgtEl>
                                        <p:attrNameLst>
                                          <p:attrName>style.visibility</p:attrName>
                                        </p:attrNameLst>
                                      </p:cBhvr>
                                      <p:to>
                                        <p:strVal val="visible"/>
                                      </p:to>
                                    </p:set>
                                    <p:animEffect transition="in" filter="blinds(horizontal)">
                                      <p:cBhvr>
                                        <p:cTn id="7" dur="1000"/>
                                        <p:tgtEl>
                                          <p:spTgt spid="61440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8" name="矩形 615427"/>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二、数据库应用系统设计方法</a:t>
            </a:r>
          </a:p>
        </p:txBody>
      </p:sp>
      <p:sp>
        <p:nvSpPr>
          <p:cNvPr id="615429" name="矩形 615428"/>
          <p:cNvSpPr/>
          <p:nvPr/>
        </p:nvSpPr>
        <p:spPr>
          <a:xfrm>
            <a:off x="395288" y="1258888"/>
            <a:ext cx="8208962"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0000"/>
              </a:lnSpc>
              <a:buClr>
                <a:schemeClr val="folHlink"/>
              </a:buClr>
              <a:buSzPct val="60000"/>
              <a:buNone/>
            </a:pPr>
            <a:r>
              <a:rPr lang="zh-CN" altLang="en-US" b="0" dirty="0">
                <a:effectLst/>
                <a:ea typeface="黑体" panose="02010609060101010101" pitchFamily="2" charset="-122"/>
              </a:rPr>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、数据库设计时期</a:t>
            </a:r>
          </a:p>
          <a:p>
            <a:pPr lvl="0">
              <a:lnSpc>
                <a:spcPct val="150000"/>
              </a:lnSpc>
              <a:buClrTx/>
              <a:buSzTx/>
              <a:buFontTx/>
              <a:buNone/>
            </a:pPr>
            <a:r>
              <a:rPr lang="zh-CN" altLang="en-US" dirty="0"/>
              <a:t>           </a:t>
            </a:r>
            <a:r>
              <a:rPr lang="zh-CN" altLang="en-US" b="0" dirty="0">
                <a:effectLst/>
                <a:ea typeface="黑体" panose="02010609060101010101" pitchFamily="2" charset="-122"/>
              </a:rPr>
              <a:t>数据库设计是指设计数据库的结构特性，也即为某一用户组织的数据管理应用需求构造出最优的数据库逻辑结构和物理结构。</a:t>
            </a:r>
          </a:p>
          <a:p>
            <a:pPr lvl="0">
              <a:lnSpc>
                <a:spcPct val="150000"/>
              </a:lnSpc>
              <a:buClrTx/>
              <a:buSzTx/>
              <a:buFontTx/>
              <a:buNone/>
            </a:pPr>
            <a:r>
              <a:rPr lang="zh-CN" altLang="en-US" b="0" dirty="0">
                <a:effectLst/>
                <a:ea typeface="黑体" panose="02010609060101010101" pitchFamily="2" charset="-122"/>
              </a:rPr>
              <a:t>         数据库设计主要包括数据库的概念结构设计、逻辑结构设计和物理结构设计三个阶段。 </a:t>
            </a:r>
            <a:endParaRPr lang="en-US" altLang="zh-CN" b="0">
              <a:effectLst/>
              <a:ea typeface="黑体" panose="0201060906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57333"/>
    </mc:Choice>
    <mc:Fallback xmlns="">
      <p:transition spd="slow" advTm="573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615429">
                                            <p:txEl>
                                              <p:pRg st="1" end="1"/>
                                            </p:txEl>
                                          </p:spTgt>
                                        </p:tgtEl>
                                        <p:attrNameLst>
                                          <p:attrName>style.visibility</p:attrName>
                                        </p:attrNameLst>
                                      </p:cBhvr>
                                      <p:to>
                                        <p:strVal val="visible"/>
                                      </p:to>
                                    </p:set>
                                    <p:animEffect transition="in" filter="box(in)">
                                      <p:cBhvr>
                                        <p:cTn id="7" dur="500"/>
                                        <p:tgtEl>
                                          <p:spTgt spid="615429">
                                            <p:txEl>
                                              <p:pRg st="1" end="1"/>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615429">
                                            <p:txEl>
                                              <p:pRg st="2" end="2"/>
                                            </p:txEl>
                                          </p:spTgt>
                                        </p:tgtEl>
                                        <p:attrNameLst>
                                          <p:attrName>style.visibility</p:attrName>
                                        </p:attrNameLst>
                                      </p:cBhvr>
                                      <p:to>
                                        <p:strVal val="visible"/>
                                      </p:to>
                                    </p:set>
                                    <p:animEffect transition="in" filter="blinds(horizontal)">
                                      <p:cBhvr>
                                        <p:cTn id="11" dur="1000"/>
                                        <p:tgtEl>
                                          <p:spTgt spid="61542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2" name="矩形 616451"/>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二、数据库应用系统设计方法</a:t>
            </a:r>
          </a:p>
        </p:txBody>
      </p:sp>
      <p:sp>
        <p:nvSpPr>
          <p:cNvPr id="616453" name="矩形 616452"/>
          <p:cNvSpPr/>
          <p:nvPr/>
        </p:nvSpPr>
        <p:spPr>
          <a:xfrm>
            <a:off x="395288" y="1258888"/>
            <a:ext cx="8208962"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0000"/>
              </a:lnSpc>
              <a:buClr>
                <a:schemeClr val="folHlink"/>
              </a:buClr>
              <a:buSzPct val="60000"/>
              <a:buNone/>
            </a:pPr>
            <a:r>
              <a:rPr lang="zh-CN" altLang="en-US" b="0" dirty="0">
                <a:effectLst/>
                <a:ea typeface="黑体" panose="02010609060101010101" pitchFamily="2" charset="-122"/>
              </a:rPr>
              <a:t>          </a:t>
            </a:r>
            <a:r>
              <a:rPr lang="en-US" altLang="zh-CN" sz="3000">
                <a:solidFill>
                  <a:srgbClr val="660033"/>
                </a:solidFill>
                <a:ea typeface="华文新魏" panose="02010800040101010101" pitchFamily="2" charset="-122"/>
              </a:rPr>
              <a:t>3</a:t>
            </a:r>
            <a:r>
              <a:rPr lang="zh-CN" altLang="en-US" sz="3000" dirty="0">
                <a:solidFill>
                  <a:srgbClr val="660033"/>
                </a:solidFill>
                <a:ea typeface="华文新魏" panose="02010800040101010101" pitchFamily="2" charset="-122"/>
              </a:rPr>
              <a:t>、数据库实现时期</a:t>
            </a:r>
          </a:p>
          <a:p>
            <a:pPr lvl="0">
              <a:lnSpc>
                <a:spcPct val="125000"/>
              </a:lnSpc>
              <a:buClrTx/>
              <a:buSzTx/>
              <a:buFontTx/>
              <a:buNone/>
            </a:pPr>
            <a:r>
              <a:rPr lang="zh-CN" altLang="en-US" dirty="0"/>
              <a:t>           </a:t>
            </a:r>
            <a:r>
              <a:rPr lang="zh-CN" altLang="en-US" b="0" dirty="0">
                <a:effectLst/>
                <a:ea typeface="黑体" panose="02010609060101010101" pitchFamily="2" charset="-122"/>
              </a:rPr>
              <a:t>数据库实现是指，依据数据库物理结构设计阶段设计好的数据库物理模型，创建数据库的物理存储结构，编程设计实现能够满足该用户组织中各种用户对数据库应用需求的功能模型和行为特性。</a:t>
            </a:r>
          </a:p>
          <a:p>
            <a:pPr lvl="0">
              <a:lnSpc>
                <a:spcPct val="110000"/>
              </a:lnSpc>
              <a:spcBef>
                <a:spcPct val="0"/>
              </a:spcBef>
              <a:buClrTx/>
              <a:buSzTx/>
              <a:buFontTx/>
              <a:buNone/>
            </a:pPr>
            <a:r>
              <a:rPr lang="zh-CN" altLang="en-US" b="0" dirty="0">
                <a:effectLst/>
                <a:ea typeface="黑体" panose="02010609060101010101" pitchFamily="2" charset="-122"/>
              </a:rPr>
              <a:t>          </a:t>
            </a:r>
            <a:r>
              <a:rPr lang="zh-CN" altLang="en-US" sz="2600" dirty="0">
                <a:solidFill>
                  <a:srgbClr val="003366"/>
                </a:solidFill>
                <a:effectLst/>
                <a:ea typeface="华文中宋" panose="02010600040101010101" pitchFamily="2" charset="-122"/>
              </a:rPr>
              <a:t>数据库实现主要包括</a:t>
            </a:r>
            <a:r>
              <a:rPr lang="zh-CN" altLang="en-US" sz="2400" b="0" dirty="0">
                <a:effectLst/>
                <a:ea typeface="隶书" panose="02010509060101010101" pitchFamily="49" charset="-122"/>
              </a:rPr>
              <a:t>数据库物理存储结构创建、数据库的子模式设计、数据库应用需求功能模块和行为特性的编程设计及实现、装入实际数据进行系统试验性运行等。</a:t>
            </a:r>
            <a:r>
              <a:rPr lang="zh-CN" altLang="en-US" b="0" dirty="0">
                <a:effectLst/>
                <a:ea typeface="黑体" panose="02010609060101010101" pitchFamily="2" charset="-122"/>
              </a:rPr>
              <a:t> </a:t>
            </a:r>
            <a:endParaRPr lang="en-US" altLang="zh-CN" b="0">
              <a:effectLst/>
              <a:ea typeface="黑体" panose="0201060906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64628"/>
    </mc:Choice>
    <mc:Fallback xmlns="">
      <p:transition spd="slow" advTm="646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616453">
                                            <p:txEl>
                                              <p:pRg st="1" end="1"/>
                                            </p:txEl>
                                          </p:spTgt>
                                        </p:tgtEl>
                                        <p:attrNameLst>
                                          <p:attrName>style.visibility</p:attrName>
                                        </p:attrNameLst>
                                      </p:cBhvr>
                                      <p:to>
                                        <p:strVal val="visible"/>
                                      </p:to>
                                    </p:set>
                                    <p:animEffect transition="in" filter="diamond(in)">
                                      <p:cBhvr>
                                        <p:cTn id="7" dur="1000"/>
                                        <p:tgtEl>
                                          <p:spTgt spid="616453">
                                            <p:txEl>
                                              <p:pRg st="1" end="1"/>
                                            </p:txEl>
                                          </p:spTgt>
                                        </p:tgtEl>
                                      </p:cBhvr>
                                    </p:animEffect>
                                  </p:childTnLst>
                                </p:cTn>
                              </p:par>
                            </p:childTnLst>
                          </p:cTn>
                        </p:par>
                        <p:par>
                          <p:cTn id="8" fill="hold">
                            <p:stCondLst>
                              <p:cond delay="1000"/>
                            </p:stCondLst>
                            <p:childTnLst>
                              <p:par>
                                <p:cTn id="9" presetID="3" presetClass="entr" presetSubtype="10" fill="hold" nodeType="afterEffect">
                                  <p:stCondLst>
                                    <p:cond delay="0"/>
                                  </p:stCondLst>
                                  <p:childTnLst>
                                    <p:set>
                                      <p:cBhvr>
                                        <p:cTn id="10" dur="1" fill="hold">
                                          <p:stCondLst>
                                            <p:cond delay="0"/>
                                          </p:stCondLst>
                                        </p:cTn>
                                        <p:tgtEl>
                                          <p:spTgt spid="616453">
                                            <p:txEl>
                                              <p:pRg st="2" end="2"/>
                                            </p:txEl>
                                          </p:spTgt>
                                        </p:tgtEl>
                                        <p:attrNameLst>
                                          <p:attrName>style.visibility</p:attrName>
                                        </p:attrNameLst>
                                      </p:cBhvr>
                                      <p:to>
                                        <p:strVal val="visible"/>
                                      </p:to>
                                    </p:set>
                                    <p:animEffect transition="in" filter="blinds(horizontal)">
                                      <p:cBhvr>
                                        <p:cTn id="11" dur="1000"/>
                                        <p:tgtEl>
                                          <p:spTgt spid="61645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6" name="矩形 617475"/>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二、数据库应用系统设计方法</a:t>
            </a:r>
          </a:p>
        </p:txBody>
      </p:sp>
      <p:sp>
        <p:nvSpPr>
          <p:cNvPr id="617477" name="矩形 617476"/>
          <p:cNvSpPr/>
          <p:nvPr/>
        </p:nvSpPr>
        <p:spPr>
          <a:xfrm>
            <a:off x="395288" y="1258888"/>
            <a:ext cx="8208962"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0000"/>
              </a:lnSpc>
              <a:buClr>
                <a:schemeClr val="folHlink"/>
              </a:buClr>
              <a:buSzPct val="60000"/>
              <a:buNone/>
            </a:pPr>
            <a:r>
              <a:rPr lang="zh-CN" altLang="en-US" b="0" dirty="0">
                <a:effectLst/>
                <a:ea typeface="黑体" panose="02010609060101010101" pitchFamily="2" charset="-122"/>
              </a:rPr>
              <a:t>          </a:t>
            </a:r>
            <a:r>
              <a:rPr lang="en-US" altLang="zh-CN" sz="3000">
                <a:solidFill>
                  <a:srgbClr val="660033"/>
                </a:solidFill>
                <a:ea typeface="华文新魏" panose="02010800040101010101" pitchFamily="2" charset="-122"/>
              </a:rPr>
              <a:t>4</a:t>
            </a:r>
            <a:r>
              <a:rPr lang="zh-CN" altLang="en-US" sz="3000" dirty="0">
                <a:solidFill>
                  <a:srgbClr val="660033"/>
                </a:solidFill>
                <a:ea typeface="华文新魏" panose="02010800040101010101" pitchFamily="2" charset="-122"/>
              </a:rPr>
              <a:t>、数据库运行维护时期</a:t>
            </a:r>
          </a:p>
          <a:p>
            <a:pPr lvl="0">
              <a:lnSpc>
                <a:spcPct val="150000"/>
              </a:lnSpc>
              <a:buClrTx/>
              <a:buSzTx/>
              <a:buFontTx/>
              <a:buNone/>
            </a:pPr>
            <a:r>
              <a:rPr lang="zh-CN" altLang="en-US" dirty="0"/>
              <a:t>           </a:t>
            </a:r>
            <a:r>
              <a:rPr lang="zh-CN" altLang="en-US" b="0" dirty="0">
                <a:effectLst/>
                <a:ea typeface="黑体" panose="02010609060101010101" pitchFamily="2" charset="-122"/>
              </a:rPr>
              <a:t>数据库应用系统运行与维护时期的主要工作包括：必要的改正性维护、适应性维护、完善性维护；数据库转储备份与恢复及故障维护；数据库运行性能的检测与改善等。 </a:t>
            </a:r>
            <a:endParaRPr lang="en-US" altLang="zh-CN" b="0">
              <a:effectLst/>
              <a:ea typeface="黑体" panose="0201060906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8821"/>
    </mc:Choice>
    <mc:Fallback xmlns="">
      <p:transition spd="slow" advTm="2882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617477">
                                            <p:txEl>
                                              <p:pRg st="1" end="1"/>
                                            </p:txEl>
                                          </p:spTgt>
                                        </p:tgtEl>
                                        <p:attrNameLst>
                                          <p:attrName>style.visibility</p:attrName>
                                        </p:attrNameLst>
                                      </p:cBhvr>
                                      <p:to>
                                        <p:strVal val="visible"/>
                                      </p:to>
                                    </p:set>
                                    <p:animEffect transition="in" filter="checkerboard(across)">
                                      <p:cBhvr>
                                        <p:cTn id="7" dur="500"/>
                                        <p:tgtEl>
                                          <p:spTgt spid="61747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6" name="矩形 612355"/>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三、数据库应用系统的视图级别</a:t>
            </a:r>
          </a:p>
        </p:txBody>
      </p:sp>
      <p:sp>
        <p:nvSpPr>
          <p:cNvPr id="612357" name="矩形 612356"/>
          <p:cNvSpPr/>
          <p:nvPr/>
        </p:nvSpPr>
        <p:spPr>
          <a:xfrm>
            <a:off x="395288" y="1258888"/>
            <a:ext cx="8497887"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0000"/>
              </a:lnSpc>
            </a:pPr>
            <a:r>
              <a:rPr lang="zh-CN" altLang="en-US" b="0" dirty="0">
                <a:effectLst/>
                <a:ea typeface="黑体" panose="02010609060101010101" pitchFamily="2" charset="-122"/>
              </a:rPr>
              <a:t>          </a:t>
            </a:r>
            <a:r>
              <a:rPr lang="zh-CN" altLang="en-US" dirty="0">
                <a:solidFill>
                  <a:srgbClr val="006699"/>
                </a:solidFill>
                <a:ea typeface="黑体" panose="02010609060101010101" pitchFamily="2" charset="-122"/>
              </a:rPr>
              <a:t>在数据库应用系统的开发、使用和管理中，涉及到的人员主要有：</a:t>
            </a:r>
          </a:p>
          <a:p>
            <a:pPr lvl="0"/>
            <a:r>
              <a:rPr lang="zh-CN" altLang="en-US" dirty="0">
                <a:latin typeface="楷体_GB2312" pitchFamily="49" charset="-122"/>
              </a:rPr>
              <a:t>    （</a:t>
            </a:r>
            <a:r>
              <a:rPr lang="en-US" altLang="zh-CN" dirty="0">
                <a:latin typeface="楷体_GB2312" pitchFamily="49" charset="-122"/>
              </a:rPr>
              <a:t>1</a:t>
            </a:r>
            <a:r>
              <a:rPr lang="zh-CN" altLang="en-US" dirty="0">
                <a:latin typeface="楷体_GB2312" pitchFamily="49" charset="-122"/>
              </a:rPr>
              <a:t>）数据库应用系统用户</a:t>
            </a:r>
            <a:r>
              <a:rPr lang="en-US" altLang="zh-CN" dirty="0">
                <a:latin typeface="楷体_GB2312" pitchFamily="49" charset="-122"/>
              </a:rPr>
              <a:t>(</a:t>
            </a:r>
            <a:r>
              <a:rPr lang="zh-CN" altLang="en-US" dirty="0">
                <a:latin typeface="楷体_GB2312" pitchFamily="49" charset="-122"/>
              </a:rPr>
              <a:t>一般简称用户</a:t>
            </a:r>
            <a:r>
              <a:rPr lang="en-US" altLang="zh-CN" dirty="0">
                <a:latin typeface="楷体_GB2312" pitchFamily="49" charset="-122"/>
              </a:rPr>
              <a:t>)</a:t>
            </a:r>
          </a:p>
          <a:p>
            <a:pPr lvl="0"/>
            <a:r>
              <a:rPr lang="en-US" altLang="zh-CN" dirty="0">
                <a:latin typeface="楷体_GB2312" pitchFamily="49" charset="-122"/>
              </a:rPr>
              <a:t>    </a:t>
            </a:r>
            <a:r>
              <a:rPr lang="zh-CN" altLang="en-US" dirty="0">
                <a:latin typeface="楷体_GB2312" pitchFamily="49" charset="-122"/>
              </a:rPr>
              <a:t>（</a:t>
            </a:r>
            <a:r>
              <a:rPr lang="en-US" altLang="zh-CN" dirty="0">
                <a:latin typeface="楷体_GB2312" pitchFamily="49" charset="-122"/>
              </a:rPr>
              <a:t>2</a:t>
            </a:r>
            <a:r>
              <a:rPr lang="zh-CN" altLang="en-US" dirty="0">
                <a:latin typeface="楷体_GB2312" pitchFamily="49" charset="-122"/>
              </a:rPr>
              <a:t>）应用程序员</a:t>
            </a:r>
          </a:p>
          <a:p>
            <a:pPr lvl="0"/>
            <a:r>
              <a:rPr lang="zh-CN" altLang="en-US" dirty="0">
                <a:latin typeface="楷体_GB2312" pitchFamily="49" charset="-122"/>
              </a:rPr>
              <a:t>    （</a:t>
            </a:r>
            <a:r>
              <a:rPr lang="en-US" altLang="zh-CN" dirty="0">
                <a:latin typeface="楷体_GB2312" pitchFamily="49" charset="-122"/>
              </a:rPr>
              <a:t>3</a:t>
            </a:r>
            <a:r>
              <a:rPr lang="zh-CN" altLang="en-US" dirty="0">
                <a:latin typeface="楷体_GB2312" pitchFamily="49" charset="-122"/>
              </a:rPr>
              <a:t>）系统分析员</a:t>
            </a:r>
          </a:p>
          <a:p>
            <a:pPr lvl="0"/>
            <a:r>
              <a:rPr lang="zh-CN" altLang="en-US" dirty="0">
                <a:latin typeface="楷体_GB2312" pitchFamily="49" charset="-122"/>
              </a:rPr>
              <a:t>    （</a:t>
            </a:r>
            <a:r>
              <a:rPr lang="en-US" altLang="zh-CN" dirty="0">
                <a:latin typeface="楷体_GB2312" pitchFamily="49" charset="-122"/>
              </a:rPr>
              <a:t>4</a:t>
            </a:r>
            <a:r>
              <a:rPr lang="zh-CN" altLang="en-US" dirty="0">
                <a:latin typeface="楷体_GB2312" pitchFamily="49" charset="-122"/>
              </a:rPr>
              <a:t>）数据库管理员</a:t>
            </a:r>
            <a:r>
              <a:rPr lang="en-US" altLang="zh-CN" dirty="0">
                <a:latin typeface="楷体_GB2312" pitchFamily="49" charset="-122"/>
              </a:rPr>
              <a:t>(</a:t>
            </a:r>
            <a:r>
              <a:rPr lang="en-US" altLang="zh-CN" sz="2200" dirty="0">
                <a:latin typeface="楷体_GB2312" pitchFamily="49" charset="-122"/>
              </a:rPr>
              <a:t>Data Base Administrator</a:t>
            </a:r>
            <a:r>
              <a:rPr lang="zh-CN" altLang="en-US" sz="2200" dirty="0">
                <a:latin typeface="楷体_GB2312" pitchFamily="49" charset="-122"/>
              </a:rPr>
              <a:t>，</a:t>
            </a:r>
            <a:r>
              <a:rPr lang="en-US" altLang="zh-CN" sz="2200" dirty="0">
                <a:latin typeface="楷体_GB2312" pitchFamily="49" charset="-122"/>
              </a:rPr>
              <a:t>DBA</a:t>
            </a:r>
            <a:r>
              <a:rPr lang="en-US" altLang="zh-CN" sz="2000" dirty="0">
                <a:latin typeface="楷体_GB2312" pitchFamily="49" charset="-122"/>
              </a:rPr>
              <a:t>)</a:t>
            </a:r>
            <a:endParaRPr lang="zh-CN" altLang="en-US" dirty="0">
              <a:latin typeface="楷体_GB2312" pitchFamily="49" charset="-122"/>
            </a:endParaRPr>
          </a:p>
          <a:p>
            <a:pPr lvl="0"/>
            <a:r>
              <a:rPr lang="zh-CN" altLang="en-US" dirty="0">
                <a:effectLst/>
              </a:rPr>
              <a:t>          </a:t>
            </a:r>
            <a:r>
              <a:rPr lang="zh-CN" altLang="en-US" sz="3000" dirty="0">
                <a:solidFill>
                  <a:srgbClr val="006666"/>
                </a:solidFill>
                <a:ea typeface="华文新魏" panose="02010800040101010101" pitchFamily="2" charset="-122"/>
              </a:rPr>
              <a:t>不同的人员所看到的数据库是有区别的，所以数据库应用系统具有不同的视图级别。</a:t>
            </a:r>
          </a:p>
        </p:txBody>
      </p:sp>
    </p:spTree>
  </p:cSld>
  <p:clrMapOvr>
    <a:masterClrMapping/>
  </p:clrMapOvr>
  <mc:AlternateContent xmlns:mc="http://schemas.openxmlformats.org/markup-compatibility/2006" xmlns:p14="http://schemas.microsoft.com/office/powerpoint/2010/main">
    <mc:Choice Requires="p14">
      <p:transition spd="slow" p14:dur="2000" advTm="30433"/>
    </mc:Choice>
    <mc:Fallback xmlns="">
      <p:transition spd="slow" advTm="304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12357">
                                            <p:txEl>
                                              <p:pRg st="1" end="1"/>
                                            </p:txEl>
                                          </p:spTgt>
                                        </p:tgtEl>
                                        <p:attrNameLst>
                                          <p:attrName>style.visibility</p:attrName>
                                        </p:attrNameLst>
                                      </p:cBhvr>
                                      <p:to>
                                        <p:strVal val="visible"/>
                                      </p:to>
                                    </p:set>
                                    <p:animEffect transition="in" filter="wipe(left)">
                                      <p:cBhvr>
                                        <p:cTn id="7" dur="2000"/>
                                        <p:tgtEl>
                                          <p:spTgt spid="612357">
                                            <p:txEl>
                                              <p:pRg st="1" end="1"/>
                                            </p:txEl>
                                          </p:spTgt>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612357">
                                            <p:txEl>
                                              <p:pRg st="2" end="2"/>
                                            </p:txEl>
                                          </p:spTgt>
                                        </p:tgtEl>
                                        <p:attrNameLst>
                                          <p:attrName>style.visibility</p:attrName>
                                        </p:attrNameLst>
                                      </p:cBhvr>
                                      <p:to>
                                        <p:strVal val="visible"/>
                                      </p:to>
                                    </p:set>
                                    <p:animEffect transition="in" filter="wipe(left)">
                                      <p:cBhvr>
                                        <p:cTn id="11" dur="2000"/>
                                        <p:tgtEl>
                                          <p:spTgt spid="612357">
                                            <p:txEl>
                                              <p:pRg st="2" end="2"/>
                                            </p:txEl>
                                          </p:spTgt>
                                        </p:tgtEl>
                                      </p:cBhvr>
                                    </p:animEffect>
                                  </p:childTnLst>
                                </p:cTn>
                              </p:par>
                            </p:childTnLst>
                          </p:cTn>
                        </p:par>
                        <p:par>
                          <p:cTn id="12" fill="hold">
                            <p:stCondLst>
                              <p:cond delay="4000"/>
                            </p:stCondLst>
                            <p:childTnLst>
                              <p:par>
                                <p:cTn id="13" presetID="22" presetClass="entr" presetSubtype="8" fill="hold" nodeType="afterEffect">
                                  <p:stCondLst>
                                    <p:cond delay="0"/>
                                  </p:stCondLst>
                                  <p:childTnLst>
                                    <p:set>
                                      <p:cBhvr>
                                        <p:cTn id="14" dur="1" fill="hold">
                                          <p:stCondLst>
                                            <p:cond delay="0"/>
                                          </p:stCondLst>
                                        </p:cTn>
                                        <p:tgtEl>
                                          <p:spTgt spid="612357">
                                            <p:txEl>
                                              <p:pRg st="3" end="3"/>
                                            </p:txEl>
                                          </p:spTgt>
                                        </p:tgtEl>
                                        <p:attrNameLst>
                                          <p:attrName>style.visibility</p:attrName>
                                        </p:attrNameLst>
                                      </p:cBhvr>
                                      <p:to>
                                        <p:strVal val="visible"/>
                                      </p:to>
                                    </p:set>
                                    <p:animEffect transition="in" filter="wipe(left)">
                                      <p:cBhvr>
                                        <p:cTn id="15" dur="2000"/>
                                        <p:tgtEl>
                                          <p:spTgt spid="612357">
                                            <p:txEl>
                                              <p:pRg st="3" end="3"/>
                                            </p:txEl>
                                          </p:spTgt>
                                        </p:tgtEl>
                                      </p:cBhvr>
                                    </p:animEffect>
                                  </p:childTnLst>
                                </p:cTn>
                              </p:par>
                            </p:childTnLst>
                          </p:cTn>
                        </p:par>
                        <p:par>
                          <p:cTn id="16" fill="hold">
                            <p:stCondLst>
                              <p:cond delay="6000"/>
                            </p:stCondLst>
                            <p:childTnLst>
                              <p:par>
                                <p:cTn id="17" presetID="22" presetClass="entr" presetSubtype="8" fill="hold" nodeType="afterEffect">
                                  <p:stCondLst>
                                    <p:cond delay="0"/>
                                  </p:stCondLst>
                                  <p:childTnLst>
                                    <p:set>
                                      <p:cBhvr>
                                        <p:cTn id="18" dur="1" fill="hold">
                                          <p:stCondLst>
                                            <p:cond delay="0"/>
                                          </p:stCondLst>
                                        </p:cTn>
                                        <p:tgtEl>
                                          <p:spTgt spid="612357">
                                            <p:txEl>
                                              <p:pRg st="4" end="4"/>
                                            </p:txEl>
                                          </p:spTgt>
                                        </p:tgtEl>
                                        <p:attrNameLst>
                                          <p:attrName>style.visibility</p:attrName>
                                        </p:attrNameLst>
                                      </p:cBhvr>
                                      <p:to>
                                        <p:strVal val="visible"/>
                                      </p:to>
                                    </p:set>
                                    <p:animEffect transition="in" filter="wipe(left)">
                                      <p:cBhvr>
                                        <p:cTn id="19" dur="2000"/>
                                        <p:tgtEl>
                                          <p:spTgt spid="612357">
                                            <p:txEl>
                                              <p:pRg st="4" end="4"/>
                                            </p:txEl>
                                          </p:spTgt>
                                        </p:tgtEl>
                                      </p:cBhvr>
                                    </p:animEffect>
                                  </p:childTnLst>
                                </p:cTn>
                              </p:par>
                            </p:childTnLst>
                          </p:cTn>
                        </p:par>
                        <p:par>
                          <p:cTn id="20" fill="hold">
                            <p:stCondLst>
                              <p:cond delay="8000"/>
                            </p:stCondLst>
                            <p:childTnLst>
                              <p:par>
                                <p:cTn id="21" presetID="22" presetClass="entr" presetSubtype="8" fill="hold" nodeType="afterEffect">
                                  <p:stCondLst>
                                    <p:cond delay="0"/>
                                  </p:stCondLst>
                                  <p:childTnLst>
                                    <p:set>
                                      <p:cBhvr>
                                        <p:cTn id="22" dur="1" fill="hold">
                                          <p:stCondLst>
                                            <p:cond delay="0"/>
                                          </p:stCondLst>
                                        </p:cTn>
                                        <p:tgtEl>
                                          <p:spTgt spid="612357">
                                            <p:txEl>
                                              <p:pRg st="5" end="5"/>
                                            </p:txEl>
                                          </p:spTgt>
                                        </p:tgtEl>
                                        <p:attrNameLst>
                                          <p:attrName>style.visibility</p:attrName>
                                        </p:attrNameLst>
                                      </p:cBhvr>
                                      <p:to>
                                        <p:strVal val="visible"/>
                                      </p:to>
                                    </p:set>
                                    <p:animEffect transition="in" filter="wipe(left)">
                                      <p:cBhvr>
                                        <p:cTn id="23" dur="2000"/>
                                        <p:tgtEl>
                                          <p:spTgt spid="61235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4" name="矩形 675843"/>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三、数据库应用系统的视图级别</a:t>
            </a:r>
          </a:p>
        </p:txBody>
      </p:sp>
      <p:sp>
        <p:nvSpPr>
          <p:cNvPr id="675845" name="矩形 675844"/>
          <p:cNvSpPr/>
          <p:nvPr/>
        </p:nvSpPr>
        <p:spPr>
          <a:xfrm>
            <a:off x="395288" y="1258888"/>
            <a:ext cx="8497887"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0000"/>
              </a:lnSpc>
            </a:pPr>
            <a:r>
              <a:rPr lang="zh-CN" altLang="en-US" b="0" dirty="0">
                <a:effectLst/>
                <a:ea typeface="黑体" panose="02010609060101010101" pitchFamily="2" charset="-122"/>
              </a:rPr>
              <a:t>          </a:t>
            </a:r>
            <a:r>
              <a:rPr lang="zh-CN" altLang="en-US" dirty="0">
                <a:solidFill>
                  <a:srgbClr val="006699"/>
                </a:solidFill>
                <a:ea typeface="黑体" panose="02010609060101010101" pitchFamily="2" charset="-122"/>
              </a:rPr>
              <a:t>在数据库应用系统的开发、使用和管理中，涉及到的人员主要有：</a:t>
            </a:r>
          </a:p>
          <a:p>
            <a:pPr lvl="0"/>
            <a:r>
              <a:rPr lang="zh-CN" altLang="en-US" dirty="0">
                <a:solidFill>
                  <a:srgbClr val="660033"/>
                </a:solidFill>
                <a:latin typeface="楷体_GB2312" pitchFamily="49" charset="-122"/>
              </a:rPr>
              <a:t>    （</a:t>
            </a:r>
            <a:r>
              <a:rPr lang="en-US" altLang="zh-CN" dirty="0">
                <a:solidFill>
                  <a:srgbClr val="660033"/>
                </a:solidFill>
                <a:latin typeface="楷体_GB2312" pitchFamily="49" charset="-122"/>
              </a:rPr>
              <a:t>1</a:t>
            </a:r>
            <a:r>
              <a:rPr lang="zh-CN" altLang="en-US" dirty="0">
                <a:solidFill>
                  <a:srgbClr val="660033"/>
                </a:solidFill>
                <a:latin typeface="楷体_GB2312" pitchFamily="49" charset="-122"/>
              </a:rPr>
              <a:t>）</a:t>
            </a:r>
            <a:r>
              <a:rPr lang="zh-CN" altLang="en-US" b="0" dirty="0">
                <a:solidFill>
                  <a:srgbClr val="660033"/>
                </a:solidFill>
                <a:effectLst/>
                <a:latin typeface="黑体" panose="02010609060101010101" pitchFamily="2" charset="-122"/>
                <a:ea typeface="黑体" panose="02010609060101010101" pitchFamily="2" charset="-122"/>
              </a:rPr>
              <a:t>数据库应用系统用户</a:t>
            </a:r>
            <a:r>
              <a:rPr lang="en-US" altLang="zh-CN" dirty="0">
                <a:solidFill>
                  <a:srgbClr val="660033"/>
                </a:solidFill>
                <a:latin typeface="楷体_GB2312" pitchFamily="49" charset="-122"/>
              </a:rPr>
              <a:t>(</a:t>
            </a:r>
            <a:r>
              <a:rPr lang="zh-CN" altLang="en-US" dirty="0">
                <a:solidFill>
                  <a:srgbClr val="660033"/>
                </a:solidFill>
                <a:latin typeface="楷体_GB2312" pitchFamily="49" charset="-122"/>
              </a:rPr>
              <a:t>一般简称用户</a:t>
            </a:r>
            <a:r>
              <a:rPr lang="en-US" altLang="zh-CN" dirty="0">
                <a:solidFill>
                  <a:srgbClr val="660033"/>
                </a:solidFill>
                <a:latin typeface="楷体_GB2312" pitchFamily="49" charset="-122"/>
              </a:rPr>
              <a:t>)</a:t>
            </a:r>
          </a:p>
          <a:p>
            <a:pPr lvl="0"/>
            <a:r>
              <a:rPr lang="en-US" altLang="zh-CN" dirty="0">
                <a:latin typeface="楷体_GB2312" pitchFamily="49" charset="-122"/>
              </a:rPr>
              <a:t>    </a:t>
            </a:r>
            <a:r>
              <a:rPr lang="zh-CN" altLang="en-US" dirty="0">
                <a:latin typeface="楷体_GB2312" pitchFamily="49" charset="-122"/>
              </a:rPr>
              <a:t>（</a:t>
            </a:r>
            <a:r>
              <a:rPr lang="en-US" altLang="zh-CN" dirty="0">
                <a:latin typeface="楷体_GB2312" pitchFamily="49" charset="-122"/>
              </a:rPr>
              <a:t>2</a:t>
            </a:r>
            <a:r>
              <a:rPr lang="zh-CN" altLang="en-US" dirty="0">
                <a:latin typeface="楷体_GB2312" pitchFamily="49" charset="-122"/>
              </a:rPr>
              <a:t>）应用程序员</a:t>
            </a:r>
          </a:p>
          <a:p>
            <a:pPr lvl="0"/>
            <a:r>
              <a:rPr lang="zh-CN" altLang="en-US" dirty="0">
                <a:latin typeface="楷体_GB2312" pitchFamily="49" charset="-122"/>
              </a:rPr>
              <a:t>    （</a:t>
            </a:r>
            <a:r>
              <a:rPr lang="en-US" altLang="zh-CN" dirty="0">
                <a:latin typeface="楷体_GB2312" pitchFamily="49" charset="-122"/>
              </a:rPr>
              <a:t>3</a:t>
            </a:r>
            <a:r>
              <a:rPr lang="zh-CN" altLang="en-US" dirty="0">
                <a:latin typeface="楷体_GB2312" pitchFamily="49" charset="-122"/>
              </a:rPr>
              <a:t>）系统分析员</a:t>
            </a:r>
          </a:p>
          <a:p>
            <a:pPr lvl="0"/>
            <a:r>
              <a:rPr lang="zh-CN" altLang="en-US" dirty="0">
                <a:latin typeface="楷体_GB2312" pitchFamily="49" charset="-122"/>
              </a:rPr>
              <a:t>    （</a:t>
            </a:r>
            <a:r>
              <a:rPr lang="en-US" altLang="zh-CN" dirty="0">
                <a:latin typeface="楷体_GB2312" pitchFamily="49" charset="-122"/>
              </a:rPr>
              <a:t>4</a:t>
            </a:r>
            <a:r>
              <a:rPr lang="zh-CN" altLang="en-US" dirty="0">
                <a:latin typeface="楷体_GB2312" pitchFamily="49" charset="-122"/>
              </a:rPr>
              <a:t>）数据库管理员</a:t>
            </a:r>
            <a:r>
              <a:rPr lang="en-US" altLang="zh-CN" dirty="0">
                <a:latin typeface="楷体_GB2312" pitchFamily="49" charset="-122"/>
              </a:rPr>
              <a:t>(</a:t>
            </a:r>
            <a:r>
              <a:rPr lang="en-US" altLang="zh-CN" sz="2200" dirty="0">
                <a:latin typeface="楷体_GB2312" pitchFamily="49" charset="-122"/>
              </a:rPr>
              <a:t>Data Base Administrator</a:t>
            </a:r>
            <a:r>
              <a:rPr lang="zh-CN" altLang="en-US" sz="2200" dirty="0">
                <a:latin typeface="楷体_GB2312" pitchFamily="49" charset="-122"/>
              </a:rPr>
              <a:t>，</a:t>
            </a:r>
            <a:r>
              <a:rPr lang="en-US" altLang="zh-CN" sz="2200" dirty="0">
                <a:latin typeface="楷体_GB2312" pitchFamily="49" charset="-122"/>
              </a:rPr>
              <a:t>DBA</a:t>
            </a:r>
            <a:r>
              <a:rPr lang="en-US" altLang="zh-CN" sz="2000" dirty="0">
                <a:latin typeface="楷体_GB2312" pitchFamily="49" charset="-122"/>
              </a:rPr>
              <a:t>)</a:t>
            </a:r>
            <a:endParaRPr lang="zh-CN" altLang="en-US" dirty="0">
              <a:latin typeface="楷体_GB2312" pitchFamily="49" charset="-122"/>
            </a:endParaRPr>
          </a:p>
          <a:p>
            <a:pPr lvl="0"/>
            <a:r>
              <a:rPr lang="zh-CN" altLang="en-US" dirty="0">
                <a:effectLst/>
              </a:rPr>
              <a:t>          </a:t>
            </a:r>
            <a:r>
              <a:rPr lang="zh-CN" altLang="en-US" sz="3000" dirty="0">
                <a:solidFill>
                  <a:srgbClr val="006666"/>
                </a:solidFill>
                <a:ea typeface="华文新魏" panose="02010800040101010101" pitchFamily="2" charset="-122"/>
              </a:rPr>
              <a:t>不同的人员所看到的数据库是有区别的，所以数据库应用系统具有不同的视图级别。</a:t>
            </a:r>
          </a:p>
        </p:txBody>
      </p:sp>
    </p:spTree>
  </p:cSld>
  <p:clrMapOvr>
    <a:masterClrMapping/>
  </p:clrMapOvr>
  <mc:AlternateContent xmlns:mc="http://schemas.openxmlformats.org/markup-compatibility/2006" xmlns:p14="http://schemas.microsoft.com/office/powerpoint/2010/main">
    <mc:Choice Requires="p14">
      <p:transition spd="slow" p14:dur="2000" advTm="28724"/>
    </mc:Choice>
    <mc:Fallback xmlns="">
      <p:transition spd="slow" advTm="287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75845">
                                            <p:txEl>
                                              <p:pRg st="1" end="1"/>
                                            </p:txEl>
                                          </p:spTgt>
                                        </p:tgtEl>
                                        <p:attrNameLst>
                                          <p:attrName>style.visibility</p:attrName>
                                        </p:attrNameLst>
                                      </p:cBhvr>
                                      <p:to>
                                        <p:strVal val="visible"/>
                                      </p:to>
                                    </p:set>
                                    <p:animEffect transition="in" filter="wipe(left)">
                                      <p:cBhvr>
                                        <p:cTn id="7" dur="1000"/>
                                        <p:tgtEl>
                                          <p:spTgt spid="67584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2" name="矩形 672771"/>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三、数据库应用系统的视图级别</a:t>
            </a:r>
          </a:p>
        </p:txBody>
      </p:sp>
      <p:sp>
        <p:nvSpPr>
          <p:cNvPr id="672773" name="矩形 672772"/>
          <p:cNvSpPr/>
          <p:nvPr/>
        </p:nvSpPr>
        <p:spPr>
          <a:xfrm>
            <a:off x="395288" y="1258888"/>
            <a:ext cx="8497887"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0000"/>
              </a:lnSpc>
            </a:pPr>
            <a:r>
              <a:rPr lang="zh-CN" altLang="en-US" b="0" dirty="0">
                <a:effectLst/>
                <a:ea typeface="黑体" panose="02010609060101010101" pitchFamily="2" charset="-122"/>
              </a:rPr>
              <a:t>          </a:t>
            </a:r>
            <a:r>
              <a:rPr lang="zh-CN" altLang="en-US" dirty="0">
                <a:solidFill>
                  <a:srgbClr val="006699"/>
                </a:solidFill>
                <a:ea typeface="黑体" panose="02010609060101010101" pitchFamily="2" charset="-122"/>
              </a:rPr>
              <a:t>在数据库应用系统的开发、使用和管理中，涉及到的人员主要有：</a:t>
            </a:r>
          </a:p>
          <a:p>
            <a:pPr lvl="0"/>
            <a:r>
              <a:rPr lang="zh-CN" altLang="en-US" dirty="0">
                <a:latin typeface="楷体_GB2312" pitchFamily="49" charset="-122"/>
              </a:rPr>
              <a:t>    （</a:t>
            </a:r>
            <a:r>
              <a:rPr lang="en-US" altLang="zh-CN" dirty="0">
                <a:latin typeface="楷体_GB2312" pitchFamily="49" charset="-122"/>
              </a:rPr>
              <a:t>1</a:t>
            </a:r>
            <a:r>
              <a:rPr lang="zh-CN" altLang="en-US" dirty="0">
                <a:latin typeface="楷体_GB2312" pitchFamily="49" charset="-122"/>
              </a:rPr>
              <a:t>）数据库应用系统用户</a:t>
            </a:r>
            <a:r>
              <a:rPr lang="en-US" altLang="zh-CN" dirty="0">
                <a:latin typeface="楷体_GB2312" pitchFamily="49" charset="-122"/>
              </a:rPr>
              <a:t>(</a:t>
            </a:r>
            <a:r>
              <a:rPr lang="zh-CN" altLang="en-US" dirty="0">
                <a:latin typeface="楷体_GB2312" pitchFamily="49" charset="-122"/>
              </a:rPr>
              <a:t>一般简称用户</a:t>
            </a:r>
            <a:r>
              <a:rPr lang="en-US" altLang="zh-CN" dirty="0">
                <a:latin typeface="楷体_GB2312" pitchFamily="49" charset="-122"/>
              </a:rPr>
              <a:t>)</a:t>
            </a:r>
          </a:p>
          <a:p>
            <a:pPr lvl="0"/>
            <a:r>
              <a:rPr lang="en-US" altLang="zh-CN" dirty="0">
                <a:latin typeface="楷体_GB2312" pitchFamily="49" charset="-122"/>
              </a:rPr>
              <a:t>    </a:t>
            </a:r>
            <a:r>
              <a:rPr lang="zh-CN" altLang="en-US" dirty="0">
                <a:latin typeface="楷体_GB2312" pitchFamily="49" charset="-122"/>
              </a:rPr>
              <a:t>（</a:t>
            </a:r>
            <a:r>
              <a:rPr lang="en-US" altLang="zh-CN" dirty="0">
                <a:latin typeface="楷体_GB2312" pitchFamily="49" charset="-122"/>
              </a:rPr>
              <a:t>2</a:t>
            </a:r>
            <a:r>
              <a:rPr lang="zh-CN" altLang="en-US" dirty="0">
                <a:latin typeface="楷体_GB2312" pitchFamily="49" charset="-122"/>
              </a:rPr>
              <a:t>）</a:t>
            </a:r>
            <a:r>
              <a:rPr lang="zh-CN" altLang="en-US" b="0" dirty="0">
                <a:effectLst/>
                <a:latin typeface="黑体" panose="02010609060101010101" pitchFamily="2" charset="-122"/>
                <a:ea typeface="黑体" panose="02010609060101010101" pitchFamily="2" charset="-122"/>
              </a:rPr>
              <a:t>应用程序员</a:t>
            </a:r>
          </a:p>
          <a:p>
            <a:pPr lvl="0"/>
            <a:r>
              <a:rPr lang="zh-CN" altLang="en-US" dirty="0">
                <a:latin typeface="楷体_GB2312" pitchFamily="49" charset="-122"/>
              </a:rPr>
              <a:t>    （</a:t>
            </a:r>
            <a:r>
              <a:rPr lang="en-US" altLang="zh-CN" dirty="0">
                <a:latin typeface="楷体_GB2312" pitchFamily="49" charset="-122"/>
              </a:rPr>
              <a:t>3</a:t>
            </a:r>
            <a:r>
              <a:rPr lang="zh-CN" altLang="en-US" dirty="0">
                <a:latin typeface="楷体_GB2312" pitchFamily="49" charset="-122"/>
              </a:rPr>
              <a:t>）系统分析员</a:t>
            </a:r>
          </a:p>
          <a:p>
            <a:pPr lvl="0"/>
            <a:r>
              <a:rPr lang="zh-CN" altLang="en-US" dirty="0">
                <a:latin typeface="楷体_GB2312" pitchFamily="49" charset="-122"/>
              </a:rPr>
              <a:t>    （</a:t>
            </a:r>
            <a:r>
              <a:rPr lang="en-US" altLang="zh-CN" dirty="0">
                <a:latin typeface="楷体_GB2312" pitchFamily="49" charset="-122"/>
              </a:rPr>
              <a:t>4</a:t>
            </a:r>
            <a:r>
              <a:rPr lang="zh-CN" altLang="en-US" dirty="0">
                <a:latin typeface="楷体_GB2312" pitchFamily="49" charset="-122"/>
              </a:rPr>
              <a:t>）数据库管理员</a:t>
            </a:r>
            <a:r>
              <a:rPr lang="en-US" altLang="zh-CN" dirty="0">
                <a:latin typeface="楷体_GB2312" pitchFamily="49" charset="-122"/>
              </a:rPr>
              <a:t>(</a:t>
            </a:r>
            <a:r>
              <a:rPr lang="en-US" altLang="zh-CN" sz="2200" dirty="0">
                <a:latin typeface="楷体_GB2312" pitchFamily="49" charset="-122"/>
              </a:rPr>
              <a:t>Data Base Administrator</a:t>
            </a:r>
            <a:r>
              <a:rPr lang="zh-CN" altLang="en-US" sz="2200" dirty="0">
                <a:latin typeface="楷体_GB2312" pitchFamily="49" charset="-122"/>
              </a:rPr>
              <a:t>，</a:t>
            </a:r>
            <a:r>
              <a:rPr lang="en-US" altLang="zh-CN" sz="2200" dirty="0">
                <a:latin typeface="楷体_GB2312" pitchFamily="49" charset="-122"/>
              </a:rPr>
              <a:t>DBA</a:t>
            </a:r>
            <a:r>
              <a:rPr lang="en-US" altLang="zh-CN" sz="2000" dirty="0">
                <a:latin typeface="楷体_GB2312" pitchFamily="49" charset="-122"/>
              </a:rPr>
              <a:t>)</a:t>
            </a:r>
            <a:endParaRPr lang="zh-CN" altLang="en-US" dirty="0">
              <a:latin typeface="楷体_GB2312" pitchFamily="49" charset="-122"/>
            </a:endParaRPr>
          </a:p>
          <a:p>
            <a:pPr lvl="0"/>
            <a:r>
              <a:rPr lang="zh-CN" altLang="en-US" dirty="0">
                <a:effectLst/>
              </a:rPr>
              <a:t>          </a:t>
            </a:r>
            <a:r>
              <a:rPr lang="zh-CN" altLang="en-US" sz="3000" dirty="0">
                <a:solidFill>
                  <a:srgbClr val="006666"/>
                </a:solidFill>
                <a:ea typeface="华文新魏" panose="02010800040101010101" pitchFamily="2" charset="-122"/>
              </a:rPr>
              <a:t>不同的人员所看到的数据库是有区别的，所以数据库应用系统具有不同的视图级别。</a:t>
            </a:r>
          </a:p>
        </p:txBody>
      </p:sp>
      <p:sp>
        <p:nvSpPr>
          <p:cNvPr id="672774" name="圆角矩形标注 672773"/>
          <p:cNvSpPr/>
          <p:nvPr/>
        </p:nvSpPr>
        <p:spPr>
          <a:xfrm>
            <a:off x="4572000" y="1844675"/>
            <a:ext cx="3473450" cy="1800225"/>
          </a:xfrm>
          <a:prstGeom prst="wedgeRoundRectCallout">
            <a:avLst>
              <a:gd name="adj1" fmla="val -70843"/>
              <a:gd name="adj2" fmla="val 34833"/>
              <a:gd name="adj3" fmla="val 16667"/>
            </a:avLst>
          </a:prstGeom>
          <a:solidFill>
            <a:srgbClr val="99FFCC"/>
          </a:solidFill>
          <a:ln w="9525" cap="flat" cmpd="sng">
            <a:solidFill>
              <a:schemeClr val="tx1"/>
            </a:solidFill>
            <a:prstDash val="solid"/>
            <a:miter/>
            <a:headEnd type="none" w="med" len="med"/>
            <a:tailEnd type="none" w="med" len="med"/>
          </a:ln>
        </p:spPr>
        <p:txBody>
          <a:bodyPr/>
          <a:lstStyle/>
          <a:p>
            <a:pPr>
              <a:lnSpc>
                <a:spcPct val="105000"/>
              </a:lnSpc>
            </a:pPr>
            <a:r>
              <a:rPr lang="zh-CN" altLang="en-US" b="1" dirty="0">
                <a:latin typeface="Arial" panose="020B0604020202020204" pitchFamily="34" charset="0"/>
                <a:ea typeface="楷体_GB2312" pitchFamily="49" charset="-122"/>
              </a:rPr>
              <a:t>          </a:t>
            </a:r>
            <a:r>
              <a:rPr lang="zh-CN" altLang="en-US" sz="2500" b="1" dirty="0">
                <a:solidFill>
                  <a:srgbClr val="660033"/>
                </a:solidFill>
                <a:latin typeface="Arial" panose="020B0604020202020204" pitchFamily="34" charset="0"/>
                <a:ea typeface="楷体_GB2312" pitchFamily="49" charset="-122"/>
              </a:rPr>
              <a:t>指那些在数据库应用系统设计中专门从事应用程序编写的程序员。</a:t>
            </a:r>
            <a:r>
              <a:rPr lang="zh-CN" altLang="en-US" sz="2500" b="1" dirty="0">
                <a:latin typeface="Arial" panose="020B0604020202020204" pitchFamily="34" charset="0"/>
                <a:ea typeface="楷体_GB2312" pitchFamily="49" charset="-122"/>
              </a:rPr>
              <a:t> </a:t>
            </a:r>
          </a:p>
        </p:txBody>
      </p:sp>
    </p:spTree>
  </p:cSld>
  <p:clrMapOvr>
    <a:masterClrMapping/>
  </p:clrMapOvr>
  <mc:AlternateContent xmlns:mc="http://schemas.openxmlformats.org/markup-compatibility/2006" xmlns:p14="http://schemas.microsoft.com/office/powerpoint/2010/main">
    <mc:Choice Requires="p14">
      <p:transition spd="slow" p14:dur="2000" advTm="18007"/>
    </mc:Choice>
    <mc:Fallback xmlns="">
      <p:transition spd="slow" advTm="1800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672774"/>
                                        </p:tgtEl>
                                        <p:attrNameLst>
                                          <p:attrName>style.visibility</p:attrName>
                                        </p:attrNameLst>
                                      </p:cBhvr>
                                      <p:to>
                                        <p:strVal val="visible"/>
                                      </p:to>
                                    </p:set>
                                    <p:animEffect transition="in" filter="box(in)">
                                      <p:cBhvr>
                                        <p:cTn id="7" dur="500"/>
                                        <p:tgtEl>
                                          <p:spTgt spid="672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277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6" name="矩形 673795"/>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三、数据库应用系统的视图级别</a:t>
            </a:r>
          </a:p>
        </p:txBody>
      </p:sp>
      <p:sp>
        <p:nvSpPr>
          <p:cNvPr id="673797" name="矩形 673796"/>
          <p:cNvSpPr/>
          <p:nvPr/>
        </p:nvSpPr>
        <p:spPr>
          <a:xfrm>
            <a:off x="395288" y="1258888"/>
            <a:ext cx="8497887"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0000"/>
              </a:lnSpc>
            </a:pPr>
            <a:r>
              <a:rPr lang="zh-CN" altLang="en-US" b="0" dirty="0">
                <a:effectLst/>
                <a:ea typeface="黑体" panose="02010609060101010101" pitchFamily="2" charset="-122"/>
              </a:rPr>
              <a:t>          </a:t>
            </a:r>
            <a:r>
              <a:rPr lang="zh-CN" altLang="en-US" dirty="0">
                <a:solidFill>
                  <a:srgbClr val="006699"/>
                </a:solidFill>
                <a:ea typeface="黑体" panose="02010609060101010101" pitchFamily="2" charset="-122"/>
              </a:rPr>
              <a:t>在数据库应用系统的开发、使用和管理中，涉及到的人员主要有：</a:t>
            </a:r>
          </a:p>
          <a:p>
            <a:pPr lvl="0"/>
            <a:r>
              <a:rPr lang="zh-CN" altLang="en-US" dirty="0">
                <a:latin typeface="楷体_GB2312" pitchFamily="49" charset="-122"/>
              </a:rPr>
              <a:t>    （</a:t>
            </a:r>
            <a:r>
              <a:rPr lang="en-US" altLang="zh-CN" dirty="0">
                <a:latin typeface="楷体_GB2312" pitchFamily="49" charset="-122"/>
              </a:rPr>
              <a:t>1</a:t>
            </a:r>
            <a:r>
              <a:rPr lang="zh-CN" altLang="en-US" dirty="0">
                <a:latin typeface="楷体_GB2312" pitchFamily="49" charset="-122"/>
              </a:rPr>
              <a:t>）数据库应用系统用户</a:t>
            </a:r>
            <a:r>
              <a:rPr lang="en-US" altLang="zh-CN" dirty="0">
                <a:latin typeface="楷体_GB2312" pitchFamily="49" charset="-122"/>
              </a:rPr>
              <a:t>(</a:t>
            </a:r>
            <a:r>
              <a:rPr lang="zh-CN" altLang="en-US" dirty="0">
                <a:latin typeface="楷体_GB2312" pitchFamily="49" charset="-122"/>
              </a:rPr>
              <a:t>一般简称用户</a:t>
            </a:r>
            <a:r>
              <a:rPr lang="en-US" altLang="zh-CN" dirty="0">
                <a:latin typeface="楷体_GB2312" pitchFamily="49" charset="-122"/>
              </a:rPr>
              <a:t>)</a:t>
            </a:r>
          </a:p>
          <a:p>
            <a:pPr lvl="0"/>
            <a:r>
              <a:rPr lang="en-US" altLang="zh-CN" dirty="0">
                <a:latin typeface="楷体_GB2312" pitchFamily="49" charset="-122"/>
              </a:rPr>
              <a:t>    </a:t>
            </a:r>
            <a:r>
              <a:rPr lang="zh-CN" altLang="en-US" dirty="0">
                <a:latin typeface="楷体_GB2312" pitchFamily="49" charset="-122"/>
              </a:rPr>
              <a:t>（</a:t>
            </a:r>
            <a:r>
              <a:rPr lang="en-US" altLang="zh-CN" dirty="0">
                <a:latin typeface="楷体_GB2312" pitchFamily="49" charset="-122"/>
              </a:rPr>
              <a:t>2</a:t>
            </a:r>
            <a:r>
              <a:rPr lang="zh-CN" altLang="en-US" dirty="0">
                <a:latin typeface="楷体_GB2312" pitchFamily="49" charset="-122"/>
              </a:rPr>
              <a:t>）应用程序员</a:t>
            </a:r>
          </a:p>
          <a:p>
            <a:pPr lvl="0"/>
            <a:r>
              <a:rPr lang="zh-CN" altLang="en-US" dirty="0">
                <a:latin typeface="楷体_GB2312" pitchFamily="49" charset="-122"/>
              </a:rPr>
              <a:t>    （</a:t>
            </a:r>
            <a:r>
              <a:rPr lang="en-US" altLang="zh-CN" dirty="0">
                <a:latin typeface="楷体_GB2312" pitchFamily="49" charset="-122"/>
              </a:rPr>
              <a:t>3</a:t>
            </a:r>
            <a:r>
              <a:rPr lang="zh-CN" altLang="en-US" dirty="0">
                <a:latin typeface="楷体_GB2312" pitchFamily="49" charset="-122"/>
              </a:rPr>
              <a:t>）</a:t>
            </a:r>
            <a:r>
              <a:rPr lang="zh-CN" altLang="en-US" b="0" dirty="0">
                <a:effectLst/>
                <a:latin typeface="黑体" panose="02010609060101010101" pitchFamily="2" charset="-122"/>
                <a:ea typeface="黑体" panose="02010609060101010101" pitchFamily="2" charset="-122"/>
              </a:rPr>
              <a:t>系统分析员</a:t>
            </a:r>
          </a:p>
          <a:p>
            <a:pPr lvl="0"/>
            <a:r>
              <a:rPr lang="zh-CN" altLang="en-US" dirty="0">
                <a:latin typeface="楷体_GB2312" pitchFamily="49" charset="-122"/>
              </a:rPr>
              <a:t>    （</a:t>
            </a:r>
            <a:r>
              <a:rPr lang="en-US" altLang="zh-CN" dirty="0">
                <a:latin typeface="楷体_GB2312" pitchFamily="49" charset="-122"/>
              </a:rPr>
              <a:t>4</a:t>
            </a:r>
            <a:r>
              <a:rPr lang="zh-CN" altLang="en-US" dirty="0">
                <a:latin typeface="楷体_GB2312" pitchFamily="49" charset="-122"/>
              </a:rPr>
              <a:t>）数据库管理员</a:t>
            </a:r>
            <a:r>
              <a:rPr lang="en-US" altLang="zh-CN" dirty="0">
                <a:latin typeface="楷体_GB2312" pitchFamily="49" charset="-122"/>
              </a:rPr>
              <a:t>(</a:t>
            </a:r>
            <a:r>
              <a:rPr lang="en-US" altLang="zh-CN" sz="2200" dirty="0">
                <a:latin typeface="楷体_GB2312" pitchFamily="49" charset="-122"/>
              </a:rPr>
              <a:t>Data Base Administrator</a:t>
            </a:r>
            <a:r>
              <a:rPr lang="zh-CN" altLang="en-US" sz="2200" dirty="0">
                <a:latin typeface="楷体_GB2312" pitchFamily="49" charset="-122"/>
              </a:rPr>
              <a:t>，</a:t>
            </a:r>
            <a:r>
              <a:rPr lang="en-US" altLang="zh-CN" sz="2200" dirty="0">
                <a:latin typeface="楷体_GB2312" pitchFamily="49" charset="-122"/>
              </a:rPr>
              <a:t>DBA</a:t>
            </a:r>
            <a:r>
              <a:rPr lang="en-US" altLang="zh-CN" sz="2000" dirty="0">
                <a:latin typeface="楷体_GB2312" pitchFamily="49" charset="-122"/>
              </a:rPr>
              <a:t>)</a:t>
            </a:r>
            <a:endParaRPr lang="zh-CN" altLang="en-US" dirty="0">
              <a:latin typeface="楷体_GB2312" pitchFamily="49" charset="-122"/>
            </a:endParaRPr>
          </a:p>
          <a:p>
            <a:pPr lvl="0"/>
            <a:r>
              <a:rPr lang="zh-CN" altLang="en-US" dirty="0">
                <a:effectLst/>
              </a:rPr>
              <a:t>          </a:t>
            </a:r>
            <a:r>
              <a:rPr lang="zh-CN" altLang="en-US" sz="3000" dirty="0">
                <a:solidFill>
                  <a:srgbClr val="006666"/>
                </a:solidFill>
                <a:ea typeface="华文新魏" panose="02010800040101010101" pitchFamily="2" charset="-122"/>
              </a:rPr>
              <a:t>不同的人员所看到的数据库是有区别的，所以数据库应用系统具有不同的视图级别。</a:t>
            </a:r>
          </a:p>
        </p:txBody>
      </p:sp>
      <p:sp>
        <p:nvSpPr>
          <p:cNvPr id="673798" name="圆角矩形标注 673797"/>
          <p:cNvSpPr/>
          <p:nvPr/>
        </p:nvSpPr>
        <p:spPr>
          <a:xfrm>
            <a:off x="4572000" y="2060575"/>
            <a:ext cx="4392613" cy="2016125"/>
          </a:xfrm>
          <a:prstGeom prst="wedgeRoundRectCallout">
            <a:avLst>
              <a:gd name="adj1" fmla="val -66731"/>
              <a:gd name="adj2" fmla="val 43542"/>
              <a:gd name="adj3" fmla="val 16667"/>
            </a:avLst>
          </a:prstGeom>
          <a:solidFill>
            <a:srgbClr val="99FFCC"/>
          </a:solidFill>
          <a:ln w="9525" cap="flat" cmpd="sng">
            <a:solidFill>
              <a:schemeClr val="tx1"/>
            </a:solidFill>
            <a:prstDash val="solid"/>
            <a:miter/>
            <a:headEnd type="none" w="med" len="med"/>
            <a:tailEnd type="none" w="med" len="med"/>
          </a:ln>
        </p:spPr>
        <p:txBody>
          <a:bodyPr/>
          <a:lstStyle/>
          <a:p>
            <a:pPr>
              <a:lnSpc>
                <a:spcPct val="105000"/>
              </a:lnSpc>
            </a:pPr>
            <a:r>
              <a:rPr lang="zh-CN" altLang="en-US" b="1" dirty="0">
                <a:latin typeface="Arial" panose="020B0604020202020204" pitchFamily="34" charset="0"/>
                <a:ea typeface="楷体_GB2312" pitchFamily="49" charset="-122"/>
              </a:rPr>
              <a:t>          </a:t>
            </a:r>
            <a:r>
              <a:rPr lang="zh-CN" altLang="en-US" sz="2200" b="1" dirty="0">
                <a:solidFill>
                  <a:srgbClr val="660033"/>
                </a:solidFill>
                <a:latin typeface="Arial" panose="020B0604020202020204" pitchFamily="34" charset="0"/>
                <a:ea typeface="楷体_GB2312" pitchFamily="49" charset="-122"/>
              </a:rPr>
              <a:t>是指在数据库应用系统设计中负责系统需求分析，承担数据库应用系统的软、硬件配置，参与数据库各级模式设计的工作人员（总设计师）。 </a:t>
            </a:r>
          </a:p>
        </p:txBody>
      </p:sp>
    </p:spTree>
  </p:cSld>
  <p:clrMapOvr>
    <a:masterClrMapping/>
  </p:clrMapOvr>
  <mc:AlternateContent xmlns:mc="http://schemas.openxmlformats.org/markup-compatibility/2006" xmlns:p14="http://schemas.microsoft.com/office/powerpoint/2010/main">
    <mc:Choice Requires="p14">
      <p:transition spd="slow" p14:dur="2000" advTm="37131"/>
    </mc:Choice>
    <mc:Fallback xmlns="">
      <p:transition spd="slow" advTm="371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673798"/>
                                        </p:tgtEl>
                                        <p:attrNameLst>
                                          <p:attrName>style.visibility</p:attrName>
                                        </p:attrNameLst>
                                      </p:cBhvr>
                                      <p:to>
                                        <p:strVal val="visible"/>
                                      </p:to>
                                    </p:set>
                                    <p:animEffect transition="in" filter="box(in)">
                                      <p:cBhvr>
                                        <p:cTn id="7" dur="500"/>
                                        <p:tgtEl>
                                          <p:spTgt spid="673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79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20" name="矩形 674819"/>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三、数据库应用系统的视图级别</a:t>
            </a:r>
          </a:p>
        </p:txBody>
      </p:sp>
      <p:sp>
        <p:nvSpPr>
          <p:cNvPr id="674821" name="矩形 674820"/>
          <p:cNvSpPr/>
          <p:nvPr/>
        </p:nvSpPr>
        <p:spPr>
          <a:xfrm>
            <a:off x="395288" y="1258888"/>
            <a:ext cx="8497887"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0000"/>
              </a:lnSpc>
            </a:pPr>
            <a:r>
              <a:rPr lang="zh-CN" altLang="en-US" b="0" dirty="0">
                <a:effectLst/>
                <a:ea typeface="黑体" panose="02010609060101010101" pitchFamily="2" charset="-122"/>
              </a:rPr>
              <a:t>          </a:t>
            </a:r>
            <a:r>
              <a:rPr lang="zh-CN" altLang="en-US" dirty="0">
                <a:solidFill>
                  <a:srgbClr val="006699"/>
                </a:solidFill>
                <a:ea typeface="黑体" panose="02010609060101010101" pitchFamily="2" charset="-122"/>
              </a:rPr>
              <a:t>在数据库应用系统的开发、使用和管理中，涉及到的人员主要有：</a:t>
            </a:r>
          </a:p>
          <a:p>
            <a:pPr lvl="0"/>
            <a:r>
              <a:rPr lang="zh-CN" altLang="en-US" dirty="0">
                <a:latin typeface="楷体_GB2312" pitchFamily="49" charset="-122"/>
              </a:rPr>
              <a:t>    （</a:t>
            </a:r>
            <a:r>
              <a:rPr lang="en-US" altLang="zh-CN" dirty="0">
                <a:latin typeface="楷体_GB2312" pitchFamily="49" charset="-122"/>
              </a:rPr>
              <a:t>1</a:t>
            </a:r>
            <a:r>
              <a:rPr lang="zh-CN" altLang="en-US" dirty="0">
                <a:latin typeface="楷体_GB2312" pitchFamily="49" charset="-122"/>
              </a:rPr>
              <a:t>）数据库应用系统用户</a:t>
            </a:r>
            <a:r>
              <a:rPr lang="en-US" altLang="zh-CN" dirty="0">
                <a:latin typeface="楷体_GB2312" pitchFamily="49" charset="-122"/>
              </a:rPr>
              <a:t>(</a:t>
            </a:r>
            <a:r>
              <a:rPr lang="zh-CN" altLang="en-US" dirty="0">
                <a:latin typeface="楷体_GB2312" pitchFamily="49" charset="-122"/>
              </a:rPr>
              <a:t>一般简称用户</a:t>
            </a:r>
            <a:r>
              <a:rPr lang="en-US" altLang="zh-CN" dirty="0">
                <a:latin typeface="楷体_GB2312" pitchFamily="49" charset="-122"/>
              </a:rPr>
              <a:t>)</a:t>
            </a:r>
          </a:p>
          <a:p>
            <a:pPr lvl="0"/>
            <a:r>
              <a:rPr lang="en-US" altLang="zh-CN" dirty="0">
                <a:latin typeface="楷体_GB2312" pitchFamily="49" charset="-122"/>
              </a:rPr>
              <a:t>    </a:t>
            </a:r>
            <a:r>
              <a:rPr lang="zh-CN" altLang="en-US" dirty="0">
                <a:latin typeface="楷体_GB2312" pitchFamily="49" charset="-122"/>
              </a:rPr>
              <a:t>（</a:t>
            </a:r>
            <a:r>
              <a:rPr lang="en-US" altLang="zh-CN" dirty="0">
                <a:latin typeface="楷体_GB2312" pitchFamily="49" charset="-122"/>
              </a:rPr>
              <a:t>2</a:t>
            </a:r>
            <a:r>
              <a:rPr lang="zh-CN" altLang="en-US" dirty="0">
                <a:latin typeface="楷体_GB2312" pitchFamily="49" charset="-122"/>
              </a:rPr>
              <a:t>）应用程序员</a:t>
            </a:r>
          </a:p>
          <a:p>
            <a:pPr lvl="0"/>
            <a:r>
              <a:rPr lang="zh-CN" altLang="en-US" dirty="0">
                <a:latin typeface="楷体_GB2312" pitchFamily="49" charset="-122"/>
              </a:rPr>
              <a:t>    （</a:t>
            </a:r>
            <a:r>
              <a:rPr lang="en-US" altLang="zh-CN" dirty="0">
                <a:latin typeface="楷体_GB2312" pitchFamily="49" charset="-122"/>
              </a:rPr>
              <a:t>3</a:t>
            </a:r>
            <a:r>
              <a:rPr lang="zh-CN" altLang="en-US" dirty="0">
                <a:latin typeface="楷体_GB2312" pitchFamily="49" charset="-122"/>
              </a:rPr>
              <a:t>）系统分析员</a:t>
            </a:r>
          </a:p>
          <a:p>
            <a:pPr lvl="0"/>
            <a:r>
              <a:rPr lang="zh-CN" altLang="en-US" dirty="0">
                <a:latin typeface="楷体_GB2312" pitchFamily="49" charset="-122"/>
              </a:rPr>
              <a:t>    （</a:t>
            </a:r>
            <a:r>
              <a:rPr lang="en-US" altLang="zh-CN" dirty="0">
                <a:latin typeface="楷体_GB2312" pitchFamily="49" charset="-122"/>
              </a:rPr>
              <a:t>4</a:t>
            </a:r>
            <a:r>
              <a:rPr lang="zh-CN" altLang="en-US" dirty="0">
                <a:latin typeface="楷体_GB2312" pitchFamily="49" charset="-122"/>
              </a:rPr>
              <a:t>）</a:t>
            </a:r>
            <a:r>
              <a:rPr lang="zh-CN" altLang="en-US" b="0" dirty="0">
                <a:effectLst/>
                <a:latin typeface="黑体" panose="02010609060101010101" pitchFamily="2" charset="-122"/>
                <a:ea typeface="黑体" panose="02010609060101010101" pitchFamily="2" charset="-122"/>
              </a:rPr>
              <a:t>数据库管理员</a:t>
            </a:r>
            <a:r>
              <a:rPr lang="en-US" altLang="zh-CN" dirty="0">
                <a:latin typeface="楷体_GB2312" pitchFamily="49" charset="-122"/>
              </a:rPr>
              <a:t>(</a:t>
            </a:r>
            <a:r>
              <a:rPr lang="en-US" altLang="zh-CN" sz="2200" dirty="0">
                <a:latin typeface="楷体_GB2312" pitchFamily="49" charset="-122"/>
              </a:rPr>
              <a:t>Data Base Administrator</a:t>
            </a:r>
            <a:r>
              <a:rPr lang="zh-CN" altLang="en-US" sz="2200" dirty="0">
                <a:latin typeface="楷体_GB2312" pitchFamily="49" charset="-122"/>
              </a:rPr>
              <a:t>，</a:t>
            </a:r>
            <a:r>
              <a:rPr lang="en-US" altLang="zh-CN" sz="2200" dirty="0">
                <a:latin typeface="楷体_GB2312" pitchFamily="49" charset="-122"/>
              </a:rPr>
              <a:t>DBA</a:t>
            </a:r>
            <a:r>
              <a:rPr lang="en-US" altLang="zh-CN" sz="2000" dirty="0">
                <a:latin typeface="楷体_GB2312" pitchFamily="49" charset="-122"/>
              </a:rPr>
              <a:t>)</a:t>
            </a:r>
            <a:endParaRPr lang="zh-CN" altLang="en-US" dirty="0">
              <a:latin typeface="楷体_GB2312" pitchFamily="49" charset="-122"/>
            </a:endParaRPr>
          </a:p>
          <a:p>
            <a:pPr lvl="0"/>
            <a:r>
              <a:rPr lang="zh-CN" altLang="en-US" dirty="0">
                <a:effectLst/>
              </a:rPr>
              <a:t>          </a:t>
            </a:r>
            <a:r>
              <a:rPr lang="zh-CN" altLang="en-US" sz="3000" dirty="0">
                <a:solidFill>
                  <a:srgbClr val="006666"/>
                </a:solidFill>
                <a:ea typeface="华文新魏" panose="02010800040101010101" pitchFamily="2" charset="-122"/>
              </a:rPr>
              <a:t>不同的人员所看到的数据库是有区别的，所以数据库应用系统具有不同的视图级别。</a:t>
            </a:r>
          </a:p>
        </p:txBody>
      </p:sp>
      <p:sp>
        <p:nvSpPr>
          <p:cNvPr id="674822" name="圆角矩形标注 674821"/>
          <p:cNvSpPr/>
          <p:nvPr/>
        </p:nvSpPr>
        <p:spPr>
          <a:xfrm>
            <a:off x="4572000" y="2349500"/>
            <a:ext cx="4392613" cy="2016125"/>
          </a:xfrm>
          <a:prstGeom prst="wedgeRoundRectCallout">
            <a:avLst>
              <a:gd name="adj1" fmla="val -64671"/>
              <a:gd name="adj2" fmla="val 54014"/>
              <a:gd name="adj3" fmla="val 16667"/>
            </a:avLst>
          </a:prstGeom>
          <a:solidFill>
            <a:srgbClr val="99FFCC"/>
          </a:solidFill>
          <a:ln w="9525" cap="flat" cmpd="sng">
            <a:solidFill>
              <a:schemeClr val="tx1"/>
            </a:solidFill>
            <a:prstDash val="solid"/>
            <a:miter/>
            <a:headEnd type="none" w="med" len="med"/>
            <a:tailEnd type="none" w="med" len="med"/>
          </a:ln>
        </p:spPr>
        <p:txBody>
          <a:bodyPr/>
          <a:lstStyle/>
          <a:p>
            <a:pPr>
              <a:lnSpc>
                <a:spcPct val="105000"/>
              </a:lnSpc>
            </a:pPr>
            <a:r>
              <a:rPr lang="zh-CN" altLang="en-US" b="1" dirty="0">
                <a:latin typeface="Arial" panose="020B0604020202020204" pitchFamily="34" charset="0"/>
                <a:ea typeface="楷体_GB2312" pitchFamily="49" charset="-122"/>
              </a:rPr>
              <a:t>          </a:t>
            </a:r>
            <a:r>
              <a:rPr lang="zh-CN" altLang="en-US" sz="2200" b="1" dirty="0">
                <a:solidFill>
                  <a:srgbClr val="660033"/>
                </a:solidFill>
                <a:latin typeface="Arial" panose="020B0604020202020204" pitchFamily="34" charset="0"/>
                <a:ea typeface="楷体_GB2312" pitchFamily="49" charset="-122"/>
              </a:rPr>
              <a:t>是指在数据库系统运行过程中监管系统运行情况，改进系统性能和存储空间管理，负责数据库的备份与恢复等工作的系统管理人员 </a:t>
            </a:r>
          </a:p>
        </p:txBody>
      </p:sp>
    </p:spTree>
  </p:cSld>
  <p:clrMapOvr>
    <a:masterClrMapping/>
  </p:clrMapOvr>
  <mc:AlternateContent xmlns:mc="http://schemas.openxmlformats.org/markup-compatibility/2006" xmlns:p14="http://schemas.microsoft.com/office/powerpoint/2010/main">
    <mc:Choice Requires="p14">
      <p:transition spd="slow" p14:dur="2000" advTm="45305"/>
    </mc:Choice>
    <mc:Fallback xmlns="">
      <p:transition spd="slow" advTm="453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674822"/>
                                        </p:tgtEl>
                                        <p:attrNameLst>
                                          <p:attrName>style.visibility</p:attrName>
                                        </p:attrNameLst>
                                      </p:cBhvr>
                                      <p:to>
                                        <p:strVal val="visible"/>
                                      </p:to>
                                    </p:set>
                                    <p:animEffect transition="in" filter="box(in)">
                                      <p:cBhvr>
                                        <p:cTn id="7" dur="500"/>
                                        <p:tgtEl>
                                          <p:spTgt spid="6748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482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380" name="矩形 613379"/>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三、数据库应用系统的视图级别</a:t>
            </a:r>
          </a:p>
        </p:txBody>
      </p:sp>
      <p:grpSp>
        <p:nvGrpSpPr>
          <p:cNvPr id="613409" name="组合 613408"/>
          <p:cNvGrpSpPr/>
          <p:nvPr/>
        </p:nvGrpSpPr>
        <p:grpSpPr>
          <a:xfrm>
            <a:off x="822325" y="1341438"/>
            <a:ext cx="7781925" cy="4752975"/>
            <a:chOff x="518" y="845"/>
            <a:chExt cx="4902" cy="2994"/>
          </a:xfrm>
        </p:grpSpPr>
        <p:sp>
          <p:nvSpPr>
            <p:cNvPr id="613382" name="矩形 613381"/>
            <p:cNvSpPr/>
            <p:nvPr/>
          </p:nvSpPr>
          <p:spPr>
            <a:xfrm>
              <a:off x="2316" y="992"/>
              <a:ext cx="1188" cy="294"/>
            </a:xfrm>
            <a:prstGeom prst="rect">
              <a:avLst/>
            </a:prstGeom>
            <a:gradFill rotWithShape="1">
              <a:gsLst>
                <a:gs pos="0">
                  <a:srgbClr val="CCFFCC">
                    <a:gamma/>
                    <a:shade val="46275"/>
                    <a:invGamma/>
                  </a:srgbClr>
                </a:gs>
                <a:gs pos="50000">
                  <a:srgbClr val="CCFFCC"/>
                </a:gs>
                <a:gs pos="100000">
                  <a:srgbClr val="CCFFCC">
                    <a:gamma/>
                    <a:shade val="46275"/>
                    <a:invGamma/>
                  </a:srgbClr>
                </a:gs>
              </a:gsLst>
              <a:lin ang="5400000" scaled="1"/>
              <a:tileRect/>
            </a:gradFill>
            <a:ln w="9525" cap="flat" cmpd="sng">
              <a:solidFill>
                <a:schemeClr val="tx1"/>
              </a:solidFill>
              <a:prstDash val="solid"/>
              <a:miter/>
              <a:headEnd type="none" w="med" len="med"/>
              <a:tailEnd type="none" w="med" len="med"/>
            </a:ln>
          </p:spPr>
          <p:txBody>
            <a:bodyPr wrap="none" anchor="ctr"/>
            <a:lstStyle/>
            <a:p>
              <a:pPr algn="ctr"/>
              <a:r>
                <a:rPr lang="zh-CN" altLang="en-US" sz="2200" b="1" dirty="0">
                  <a:latin typeface="Arial" panose="020B0604020202020204" pitchFamily="34" charset="0"/>
                  <a:ea typeface="新宋体" panose="02010609030101010101" charset="-122"/>
                </a:rPr>
                <a:t>用户终端</a:t>
              </a:r>
              <a:endParaRPr lang="en-US" altLang="zh-CN" sz="2200" b="1">
                <a:latin typeface="Arial" panose="020B0604020202020204" pitchFamily="34" charset="0"/>
                <a:ea typeface="新宋体" panose="02010609030101010101" charset="-122"/>
              </a:endParaRPr>
            </a:p>
          </p:txBody>
        </p:sp>
        <p:sp>
          <p:nvSpPr>
            <p:cNvPr id="613383" name="矩形 613382" descr="花束"/>
            <p:cNvSpPr/>
            <p:nvPr/>
          </p:nvSpPr>
          <p:spPr>
            <a:xfrm>
              <a:off x="2316" y="1581"/>
              <a:ext cx="1195" cy="297"/>
            </a:xfrm>
            <a:prstGeom prst="rect">
              <a:avLst/>
            </a:prstGeom>
            <a:blipFill rotWithShape="1">
              <a:blip r:embed="rId2"/>
            </a:blipFill>
            <a:ln w="9525" cap="flat" cmpd="sng">
              <a:solidFill>
                <a:schemeClr val="tx1"/>
              </a:solidFill>
              <a:prstDash val="solid"/>
              <a:miter/>
              <a:headEnd type="none" w="med" len="med"/>
              <a:tailEnd type="none" w="med" len="med"/>
            </a:ln>
          </p:spPr>
          <p:txBody>
            <a:bodyPr wrap="none" anchor="ctr"/>
            <a:lstStyle/>
            <a:p>
              <a:pPr algn="ctr"/>
              <a:r>
                <a:rPr lang="zh-CN" altLang="en-US" sz="2200" b="1" dirty="0">
                  <a:latin typeface="Arial" panose="020B0604020202020204" pitchFamily="34" charset="0"/>
                  <a:ea typeface="新宋体" panose="02010609030101010101" charset="-122"/>
                </a:rPr>
                <a:t>外模式</a:t>
              </a:r>
            </a:p>
          </p:txBody>
        </p:sp>
        <p:sp>
          <p:nvSpPr>
            <p:cNvPr id="613384" name="矩形 613383" descr="花束"/>
            <p:cNvSpPr/>
            <p:nvPr/>
          </p:nvSpPr>
          <p:spPr>
            <a:xfrm>
              <a:off x="2316" y="2170"/>
              <a:ext cx="1188" cy="295"/>
            </a:xfrm>
            <a:prstGeom prst="rect">
              <a:avLst/>
            </a:prstGeom>
            <a:blipFill rotWithShape="1">
              <a:blip r:embed="rId2"/>
            </a:blipFill>
            <a:ln w="9525" cap="flat" cmpd="sng">
              <a:solidFill>
                <a:schemeClr val="tx1"/>
              </a:solidFill>
              <a:prstDash val="solid"/>
              <a:miter/>
              <a:headEnd type="none" w="med" len="med"/>
              <a:tailEnd type="none" w="med" len="med"/>
            </a:ln>
          </p:spPr>
          <p:txBody>
            <a:bodyPr wrap="none" anchor="ctr"/>
            <a:lstStyle/>
            <a:p>
              <a:pPr algn="ctr"/>
              <a:r>
                <a:rPr lang="zh-CN" altLang="en-US" sz="2200" b="1" dirty="0">
                  <a:latin typeface="Arial" panose="020B0604020202020204" pitchFamily="34" charset="0"/>
                  <a:ea typeface="新宋体" panose="02010609030101010101" charset="-122"/>
                </a:rPr>
                <a:t>逻辑模式</a:t>
              </a:r>
              <a:endParaRPr lang="zh-CN" altLang="en-US" sz="2200" b="1">
                <a:latin typeface="Arial" panose="020B0604020202020204" pitchFamily="34" charset="0"/>
                <a:ea typeface="新宋体" panose="02010609030101010101" charset="-122"/>
              </a:endParaRPr>
            </a:p>
          </p:txBody>
        </p:sp>
        <p:sp>
          <p:nvSpPr>
            <p:cNvPr id="613385" name="矩形 613384" descr="蓝色面巾纸"/>
            <p:cNvSpPr/>
            <p:nvPr/>
          </p:nvSpPr>
          <p:spPr>
            <a:xfrm>
              <a:off x="518" y="1729"/>
              <a:ext cx="1035" cy="294"/>
            </a:xfrm>
            <a:prstGeom prst="rect">
              <a:avLst/>
            </a:prstGeom>
            <a:blipFill rotWithShape="1">
              <a:blip r:embed="rId3"/>
            </a:blipFill>
            <a:ln w="9525" cap="flat" cmpd="sng">
              <a:solidFill>
                <a:schemeClr val="tx1"/>
              </a:solidFill>
              <a:prstDash val="solid"/>
              <a:miter/>
              <a:headEnd type="none" w="med" len="med"/>
              <a:tailEnd type="none" w="med" len="med"/>
            </a:ln>
          </p:spPr>
          <p:txBody>
            <a:bodyPr wrap="none" anchor="ctr"/>
            <a:lstStyle/>
            <a:p>
              <a:pPr algn="ctr"/>
              <a:r>
                <a:rPr lang="zh-CN" altLang="en-US" sz="2200" b="1" dirty="0">
                  <a:latin typeface="Arial" panose="020B0604020202020204" pitchFamily="34" charset="0"/>
                  <a:ea typeface="新宋体" panose="02010609030101010101" charset="-122"/>
                </a:rPr>
                <a:t>应用程序员</a:t>
              </a:r>
            </a:p>
          </p:txBody>
        </p:sp>
        <p:sp>
          <p:nvSpPr>
            <p:cNvPr id="613386" name="矩形 613385" descr="花束"/>
            <p:cNvSpPr/>
            <p:nvPr/>
          </p:nvSpPr>
          <p:spPr>
            <a:xfrm>
              <a:off x="2316" y="2808"/>
              <a:ext cx="1197" cy="297"/>
            </a:xfrm>
            <a:prstGeom prst="rect">
              <a:avLst/>
            </a:prstGeom>
            <a:blipFill rotWithShape="1">
              <a:blip r:embed="rId2"/>
            </a:blipFill>
            <a:ln w="9525" cap="flat" cmpd="sng">
              <a:solidFill>
                <a:schemeClr val="tx1"/>
              </a:solidFill>
              <a:prstDash val="solid"/>
              <a:miter/>
              <a:headEnd type="none" w="med" len="med"/>
              <a:tailEnd type="none" w="med" len="med"/>
            </a:ln>
          </p:spPr>
          <p:txBody>
            <a:bodyPr wrap="none" anchor="ctr"/>
            <a:lstStyle/>
            <a:p>
              <a:pPr algn="ctr"/>
              <a:r>
                <a:rPr lang="zh-CN" altLang="en-US" sz="2200" b="1" dirty="0">
                  <a:latin typeface="Arial" panose="020B0604020202020204" pitchFamily="34" charset="0"/>
                  <a:ea typeface="新宋体" panose="02010609030101010101" charset="-122"/>
                </a:rPr>
                <a:t>内模式</a:t>
              </a:r>
              <a:endParaRPr lang="zh-CN" altLang="en-US" sz="2200" b="1">
                <a:latin typeface="Arial" panose="020B0604020202020204" pitchFamily="34" charset="0"/>
                <a:ea typeface="新宋体" panose="02010609030101010101" charset="-122"/>
              </a:endParaRPr>
            </a:p>
          </p:txBody>
        </p:sp>
        <p:sp>
          <p:nvSpPr>
            <p:cNvPr id="613387" name="圆柱形 613386"/>
            <p:cNvSpPr/>
            <p:nvPr/>
          </p:nvSpPr>
          <p:spPr>
            <a:xfrm>
              <a:off x="2316" y="3398"/>
              <a:ext cx="1197" cy="441"/>
            </a:xfrm>
            <a:prstGeom prst="can">
              <a:avLst>
                <a:gd name="adj" fmla="val 25000"/>
              </a:avLst>
            </a:prstGeom>
            <a:gradFill rotWithShape="1">
              <a:gsLst>
                <a:gs pos="0">
                  <a:srgbClr val="CCFFCC">
                    <a:gamma/>
                    <a:shade val="46275"/>
                    <a:invGamma/>
                  </a:srgbClr>
                </a:gs>
                <a:gs pos="50000">
                  <a:srgbClr val="CCFFCC"/>
                </a:gs>
                <a:gs pos="100000">
                  <a:srgbClr val="CCFFCC">
                    <a:gamma/>
                    <a:shade val="46275"/>
                    <a:invGamma/>
                  </a:srgbClr>
                </a:gs>
              </a:gsLst>
              <a:lin ang="5400000" scaled="1"/>
              <a:tileRect/>
            </a:gradFill>
            <a:ln w="9525" cap="flat" cmpd="sng">
              <a:solidFill>
                <a:schemeClr val="tx1"/>
              </a:solidFill>
              <a:prstDash val="solid"/>
              <a:headEnd type="none" w="med" len="med"/>
              <a:tailEnd type="none" w="med" len="med"/>
            </a:ln>
          </p:spPr>
          <p:txBody>
            <a:bodyPr wrap="none" anchor="ctr"/>
            <a:lstStyle/>
            <a:p>
              <a:pPr algn="ctr"/>
              <a:r>
                <a:rPr lang="zh-CN" altLang="en-US" sz="2200" b="1" dirty="0">
                  <a:latin typeface="Arial" panose="020B0604020202020204" pitchFamily="34" charset="0"/>
                </a:rPr>
                <a:t>数据库</a:t>
              </a:r>
              <a:endParaRPr lang="zh-CN" altLang="en-US" sz="2200" b="1">
                <a:latin typeface="Arial" panose="020B0604020202020204" pitchFamily="34" charset="0"/>
              </a:endParaRPr>
            </a:p>
          </p:txBody>
        </p:sp>
        <p:sp>
          <p:nvSpPr>
            <p:cNvPr id="613388" name="椭圆 613387"/>
            <p:cNvSpPr/>
            <p:nvPr/>
          </p:nvSpPr>
          <p:spPr>
            <a:xfrm>
              <a:off x="4168" y="845"/>
              <a:ext cx="1252" cy="589"/>
            </a:xfrm>
            <a:prstGeom prst="ellipse">
              <a:avLst/>
            </a:prstGeom>
            <a:gradFill rotWithShape="1">
              <a:gsLst>
                <a:gs pos="0">
                  <a:srgbClr val="000082">
                    <a:alpha val="74001"/>
                  </a:srgbClr>
                </a:gs>
                <a:gs pos="30000">
                  <a:srgbClr val="66008F">
                    <a:alpha val="53600"/>
                  </a:srgbClr>
                </a:gs>
                <a:gs pos="64999">
                  <a:srgbClr val="BA0066">
                    <a:alpha val="29800"/>
                  </a:srgbClr>
                </a:gs>
                <a:gs pos="89999">
                  <a:srgbClr val="FF0000">
                    <a:alpha val="12800"/>
                  </a:srgbClr>
                </a:gs>
                <a:gs pos="100000">
                  <a:srgbClr val="FF8200">
                    <a:alpha val="6000"/>
                  </a:srgbClr>
                </a:gs>
              </a:gsLst>
              <a:lin ang="5400000" scaled="1"/>
              <a:tileRect/>
            </a:gradFill>
            <a:ln w="9525" cap="flat" cmpd="sng">
              <a:solidFill>
                <a:schemeClr val="tx1"/>
              </a:solidFill>
              <a:prstDash val="solid"/>
              <a:headEnd type="none" w="med" len="med"/>
              <a:tailEnd type="none" w="med" len="med"/>
            </a:ln>
          </p:spPr>
          <p:txBody>
            <a:bodyPr wrap="none" anchor="ctr"/>
            <a:lstStyle/>
            <a:p>
              <a:pPr algn="ctr"/>
              <a:r>
                <a:rPr lang="zh-CN" altLang="en-US" sz="2200" b="1" dirty="0">
                  <a:latin typeface="Arial" panose="020B0604020202020204" pitchFamily="34" charset="0"/>
                </a:rPr>
                <a:t>应用数据</a:t>
              </a:r>
            </a:p>
            <a:p>
              <a:pPr algn="ctr"/>
              <a:r>
                <a:rPr lang="zh-CN" altLang="en-US" sz="2200" b="1" dirty="0">
                  <a:latin typeface="Arial" panose="020B0604020202020204" pitchFamily="34" charset="0"/>
                </a:rPr>
                <a:t>库系统</a:t>
              </a:r>
              <a:endParaRPr lang="zh-CN" altLang="en-US" sz="2200" b="1">
                <a:latin typeface="Arial" panose="020B0604020202020204" pitchFamily="34" charset="0"/>
              </a:endParaRPr>
            </a:p>
          </p:txBody>
        </p:sp>
        <p:sp>
          <p:nvSpPr>
            <p:cNvPr id="613389" name="椭圆 613388"/>
            <p:cNvSpPr/>
            <p:nvPr/>
          </p:nvSpPr>
          <p:spPr>
            <a:xfrm>
              <a:off x="4439" y="2023"/>
              <a:ext cx="599" cy="540"/>
            </a:xfrm>
            <a:prstGeom prst="ellipse">
              <a:avLst/>
            </a:prstGeom>
            <a:gradFill rotWithShape="1">
              <a:gsLst>
                <a:gs pos="0">
                  <a:srgbClr val="000082">
                    <a:alpha val="70000"/>
                  </a:srgbClr>
                </a:gs>
                <a:gs pos="30000">
                  <a:srgbClr val="66008F">
                    <a:alpha val="51400"/>
                  </a:srgbClr>
                </a:gs>
                <a:gs pos="64999">
                  <a:srgbClr val="BA0066">
                    <a:alpha val="29700"/>
                  </a:srgbClr>
                </a:gs>
                <a:gs pos="89999">
                  <a:srgbClr val="FF0000">
                    <a:alpha val="14201"/>
                  </a:srgbClr>
                </a:gs>
                <a:gs pos="100000">
                  <a:srgbClr val="FF8200">
                    <a:alpha val="8000"/>
                  </a:srgbClr>
                </a:gs>
              </a:gsLst>
              <a:lin ang="5400000" scaled="1"/>
              <a:tileRect/>
            </a:gradFill>
            <a:ln w="9525" cap="flat" cmpd="sng">
              <a:solidFill>
                <a:schemeClr val="tx1"/>
              </a:solidFill>
              <a:prstDash val="solid"/>
              <a:headEnd type="none" w="med" len="med"/>
              <a:tailEnd type="none" w="med" len="med"/>
            </a:ln>
          </p:spPr>
          <p:txBody>
            <a:bodyPr wrap="none" anchor="ctr"/>
            <a:lstStyle/>
            <a:p>
              <a:pPr algn="ctr"/>
              <a:r>
                <a:rPr lang="en-US" altLang="zh-CN" sz="2200" b="1">
                  <a:latin typeface="Arial" panose="020B0604020202020204" pitchFamily="34" charset="0"/>
                </a:rPr>
                <a:t>DBMS</a:t>
              </a:r>
            </a:p>
          </p:txBody>
        </p:sp>
        <p:sp>
          <p:nvSpPr>
            <p:cNvPr id="613390" name="椭圆 613389"/>
            <p:cNvSpPr/>
            <p:nvPr/>
          </p:nvSpPr>
          <p:spPr>
            <a:xfrm>
              <a:off x="4512" y="2946"/>
              <a:ext cx="437" cy="443"/>
            </a:xfrm>
            <a:prstGeom prst="ellipse">
              <a:avLst/>
            </a:prstGeom>
            <a:gradFill rotWithShape="1">
              <a:gsLst>
                <a:gs pos="0">
                  <a:srgbClr val="000082">
                    <a:alpha val="60001"/>
                  </a:srgbClr>
                </a:gs>
                <a:gs pos="30000">
                  <a:srgbClr val="66008F">
                    <a:alpha val="44400"/>
                  </a:srgbClr>
                </a:gs>
                <a:gs pos="64999">
                  <a:srgbClr val="BA0066">
                    <a:alpha val="26201"/>
                  </a:srgbClr>
                </a:gs>
                <a:gs pos="89999">
                  <a:srgbClr val="FF0000">
                    <a:alpha val="13201"/>
                  </a:srgbClr>
                </a:gs>
                <a:gs pos="100000">
                  <a:srgbClr val="FF8200">
                    <a:alpha val="8000"/>
                  </a:srgbClr>
                </a:gs>
              </a:gsLst>
              <a:lin ang="5400000" scaled="1"/>
              <a:tileRect/>
            </a:gradFill>
            <a:ln w="9525" cap="flat" cmpd="sng">
              <a:solidFill>
                <a:schemeClr val="tx1"/>
              </a:solidFill>
              <a:prstDash val="solid"/>
              <a:headEnd type="none" w="med" len="med"/>
              <a:tailEnd type="none" w="med" len="med"/>
            </a:ln>
          </p:spPr>
          <p:txBody>
            <a:bodyPr wrap="none" anchor="ctr"/>
            <a:lstStyle/>
            <a:p>
              <a:pPr algn="ctr"/>
              <a:r>
                <a:rPr lang="en-US" altLang="zh-CN" sz="2200" b="1">
                  <a:latin typeface="Arial" panose="020B0604020202020204" pitchFamily="34" charset="0"/>
                </a:rPr>
                <a:t>OS</a:t>
              </a:r>
            </a:p>
          </p:txBody>
        </p:sp>
        <p:sp>
          <p:nvSpPr>
            <p:cNvPr id="613391" name="直接连接符 613390"/>
            <p:cNvSpPr/>
            <p:nvPr/>
          </p:nvSpPr>
          <p:spPr>
            <a:xfrm>
              <a:off x="2860" y="1286"/>
              <a:ext cx="0" cy="295"/>
            </a:xfrm>
            <a:prstGeom prst="line">
              <a:avLst/>
            </a:prstGeom>
            <a:ln w="9525" cap="flat" cmpd="sng">
              <a:solidFill>
                <a:schemeClr val="tx1"/>
              </a:solidFill>
              <a:prstDash val="solid"/>
              <a:headEnd type="none" w="med" len="med"/>
              <a:tailEnd type="triangle" w="med" len="med"/>
            </a:ln>
          </p:spPr>
        </p:sp>
        <p:sp>
          <p:nvSpPr>
            <p:cNvPr id="613392" name="直接连接符 613391"/>
            <p:cNvSpPr/>
            <p:nvPr/>
          </p:nvSpPr>
          <p:spPr>
            <a:xfrm>
              <a:off x="2860" y="1876"/>
              <a:ext cx="0" cy="294"/>
            </a:xfrm>
            <a:prstGeom prst="line">
              <a:avLst/>
            </a:prstGeom>
            <a:ln w="9525" cap="flat" cmpd="sng">
              <a:solidFill>
                <a:schemeClr val="tx1"/>
              </a:solidFill>
              <a:prstDash val="solid"/>
              <a:headEnd type="none" w="med" len="med"/>
              <a:tailEnd type="triangle" w="med" len="med"/>
            </a:ln>
          </p:spPr>
        </p:sp>
        <p:sp>
          <p:nvSpPr>
            <p:cNvPr id="613393" name="直接连接符 613392"/>
            <p:cNvSpPr/>
            <p:nvPr/>
          </p:nvSpPr>
          <p:spPr>
            <a:xfrm>
              <a:off x="2860" y="2465"/>
              <a:ext cx="0" cy="343"/>
            </a:xfrm>
            <a:prstGeom prst="line">
              <a:avLst/>
            </a:prstGeom>
            <a:ln w="9525" cap="flat" cmpd="sng">
              <a:solidFill>
                <a:schemeClr val="tx1"/>
              </a:solidFill>
              <a:prstDash val="solid"/>
              <a:headEnd type="none" w="med" len="med"/>
              <a:tailEnd type="triangle" w="med" len="med"/>
            </a:ln>
          </p:spPr>
        </p:sp>
        <p:sp>
          <p:nvSpPr>
            <p:cNvPr id="613394" name="直接连接符 613393"/>
            <p:cNvSpPr/>
            <p:nvPr/>
          </p:nvSpPr>
          <p:spPr>
            <a:xfrm>
              <a:off x="2914" y="3103"/>
              <a:ext cx="0" cy="295"/>
            </a:xfrm>
            <a:prstGeom prst="line">
              <a:avLst/>
            </a:prstGeom>
            <a:ln w="9525" cap="flat" cmpd="sng">
              <a:solidFill>
                <a:schemeClr val="tx1"/>
              </a:solidFill>
              <a:prstDash val="solid"/>
              <a:headEnd type="none" w="med" len="med"/>
              <a:tailEnd type="triangle" w="med" len="med"/>
            </a:ln>
          </p:spPr>
        </p:sp>
        <p:sp>
          <p:nvSpPr>
            <p:cNvPr id="613395" name="直接连接符 613394"/>
            <p:cNvSpPr/>
            <p:nvPr/>
          </p:nvSpPr>
          <p:spPr>
            <a:xfrm flipH="1">
              <a:off x="3513" y="1140"/>
              <a:ext cx="655" cy="0"/>
            </a:xfrm>
            <a:prstGeom prst="line">
              <a:avLst/>
            </a:prstGeom>
            <a:ln w="19050" cap="flat" cmpd="sng">
              <a:solidFill>
                <a:schemeClr val="tx1"/>
              </a:solidFill>
              <a:prstDash val="solid"/>
              <a:headEnd type="none" w="med" len="med"/>
              <a:tailEnd type="none" w="med" len="med"/>
            </a:ln>
          </p:spPr>
        </p:sp>
        <p:sp>
          <p:nvSpPr>
            <p:cNvPr id="613396" name="直接连接符 613395"/>
            <p:cNvSpPr/>
            <p:nvPr/>
          </p:nvSpPr>
          <p:spPr>
            <a:xfrm>
              <a:off x="4749" y="1434"/>
              <a:ext cx="0" cy="589"/>
            </a:xfrm>
            <a:prstGeom prst="line">
              <a:avLst/>
            </a:prstGeom>
            <a:ln w="19050" cap="flat" cmpd="sng">
              <a:solidFill>
                <a:schemeClr val="tx1"/>
              </a:solidFill>
              <a:prstDash val="solid"/>
              <a:headEnd type="triangle" w="med" len="med"/>
              <a:tailEnd type="triangle" w="med" len="med"/>
            </a:ln>
          </p:spPr>
        </p:sp>
        <p:sp>
          <p:nvSpPr>
            <p:cNvPr id="613397" name="直接连接符 613396"/>
            <p:cNvSpPr/>
            <p:nvPr/>
          </p:nvSpPr>
          <p:spPr>
            <a:xfrm>
              <a:off x="4731" y="2563"/>
              <a:ext cx="0" cy="392"/>
            </a:xfrm>
            <a:prstGeom prst="line">
              <a:avLst/>
            </a:prstGeom>
            <a:ln w="19050" cap="flat" cmpd="sng">
              <a:solidFill>
                <a:schemeClr val="tx1"/>
              </a:solidFill>
              <a:prstDash val="solid"/>
              <a:headEnd type="none" w="med" len="med"/>
              <a:tailEnd type="triangle" w="med" len="med"/>
            </a:ln>
          </p:spPr>
        </p:sp>
        <p:sp>
          <p:nvSpPr>
            <p:cNvPr id="613398" name="直接连接符 613397"/>
            <p:cNvSpPr/>
            <p:nvPr/>
          </p:nvSpPr>
          <p:spPr>
            <a:xfrm flipH="1">
              <a:off x="3513" y="3299"/>
              <a:ext cx="1035" cy="294"/>
            </a:xfrm>
            <a:prstGeom prst="line">
              <a:avLst/>
            </a:prstGeom>
            <a:ln w="19050" cap="flat" cmpd="sng">
              <a:solidFill>
                <a:schemeClr val="tx1"/>
              </a:solidFill>
              <a:prstDash val="solid"/>
              <a:headEnd type="none" w="med" len="med"/>
              <a:tailEnd type="triangle" w="med" len="med"/>
            </a:ln>
          </p:spPr>
        </p:sp>
        <p:sp>
          <p:nvSpPr>
            <p:cNvPr id="613399" name="直接连接符 613398"/>
            <p:cNvSpPr/>
            <p:nvPr/>
          </p:nvSpPr>
          <p:spPr>
            <a:xfrm flipH="1">
              <a:off x="3513" y="2317"/>
              <a:ext cx="926" cy="0"/>
            </a:xfrm>
            <a:prstGeom prst="line">
              <a:avLst/>
            </a:prstGeom>
            <a:ln w="19050" cap="flat" cmpd="sng">
              <a:solidFill>
                <a:schemeClr val="tx1"/>
              </a:solidFill>
              <a:prstDash val="solid"/>
              <a:headEnd type="none" w="med" len="med"/>
              <a:tailEnd type="triangle" w="med" len="med"/>
            </a:ln>
          </p:spPr>
        </p:sp>
        <p:sp>
          <p:nvSpPr>
            <p:cNvPr id="613400" name="直接连接符 613399"/>
            <p:cNvSpPr/>
            <p:nvPr/>
          </p:nvSpPr>
          <p:spPr>
            <a:xfrm flipH="1">
              <a:off x="3513" y="2432"/>
              <a:ext cx="959" cy="526"/>
            </a:xfrm>
            <a:prstGeom prst="line">
              <a:avLst/>
            </a:prstGeom>
            <a:ln w="19050" cap="flat" cmpd="sng">
              <a:solidFill>
                <a:schemeClr val="tx1"/>
              </a:solidFill>
              <a:prstDash val="solid"/>
              <a:headEnd type="none" w="med" len="med"/>
              <a:tailEnd type="triangle" w="med" len="med"/>
            </a:ln>
          </p:spPr>
        </p:sp>
        <p:sp>
          <p:nvSpPr>
            <p:cNvPr id="613401" name="左大括号 613400"/>
            <p:cNvSpPr/>
            <p:nvPr/>
          </p:nvSpPr>
          <p:spPr>
            <a:xfrm>
              <a:off x="1608" y="1042"/>
              <a:ext cx="109" cy="490"/>
            </a:xfrm>
            <a:prstGeom prst="leftBrace">
              <a:avLst>
                <a:gd name="adj1" fmla="val 37461"/>
                <a:gd name="adj2" fmla="val 50000"/>
              </a:avLst>
            </a:prstGeom>
            <a:noFill/>
            <a:ln w="19050" cap="flat" cmpd="sng">
              <a:solidFill>
                <a:schemeClr val="tx1"/>
              </a:solidFill>
              <a:prstDash val="solid"/>
              <a:headEnd type="none" w="med" len="med"/>
              <a:tailEnd type="none" w="med" len="med"/>
            </a:ln>
          </p:spPr>
          <p:txBody>
            <a:bodyPr/>
            <a:lstStyle/>
            <a:p>
              <a:endParaRPr lang="zh-CN" altLang="en-US"/>
            </a:p>
          </p:txBody>
        </p:sp>
        <p:sp>
          <p:nvSpPr>
            <p:cNvPr id="613402" name="左大括号 613401"/>
            <p:cNvSpPr/>
            <p:nvPr/>
          </p:nvSpPr>
          <p:spPr>
            <a:xfrm>
              <a:off x="1608" y="1630"/>
              <a:ext cx="109" cy="589"/>
            </a:xfrm>
            <a:prstGeom prst="leftBrace">
              <a:avLst>
                <a:gd name="adj1" fmla="val 45030"/>
                <a:gd name="adj2" fmla="val 50000"/>
              </a:avLst>
            </a:prstGeom>
            <a:noFill/>
            <a:ln w="19050" cap="flat" cmpd="sng">
              <a:solidFill>
                <a:schemeClr val="tx1"/>
              </a:solidFill>
              <a:prstDash val="solid"/>
              <a:headEnd type="none" w="med" len="med"/>
              <a:tailEnd type="none" w="med" len="med"/>
            </a:ln>
          </p:spPr>
          <p:txBody>
            <a:bodyPr/>
            <a:lstStyle/>
            <a:p>
              <a:endParaRPr lang="zh-CN" altLang="en-US"/>
            </a:p>
          </p:txBody>
        </p:sp>
        <p:sp>
          <p:nvSpPr>
            <p:cNvPr id="613403" name="左大括号 613402"/>
            <p:cNvSpPr/>
            <p:nvPr/>
          </p:nvSpPr>
          <p:spPr>
            <a:xfrm>
              <a:off x="2043" y="1679"/>
              <a:ext cx="109" cy="2062"/>
            </a:xfrm>
            <a:prstGeom prst="leftBrace">
              <a:avLst>
                <a:gd name="adj1" fmla="val 157645"/>
                <a:gd name="adj2" fmla="val 50000"/>
              </a:avLst>
            </a:prstGeom>
            <a:noFill/>
            <a:ln w="19050" cap="flat" cmpd="sng">
              <a:solidFill>
                <a:schemeClr val="tx1"/>
              </a:solidFill>
              <a:prstDash val="solid"/>
              <a:headEnd type="none" w="med" len="med"/>
              <a:tailEnd type="none" w="med" len="med"/>
            </a:ln>
          </p:spPr>
          <p:txBody>
            <a:bodyPr/>
            <a:lstStyle/>
            <a:p>
              <a:endParaRPr lang="zh-CN" altLang="en-US"/>
            </a:p>
          </p:txBody>
        </p:sp>
        <p:sp>
          <p:nvSpPr>
            <p:cNvPr id="613404" name="左大括号 613403"/>
            <p:cNvSpPr/>
            <p:nvPr/>
          </p:nvSpPr>
          <p:spPr>
            <a:xfrm>
              <a:off x="1770" y="2906"/>
              <a:ext cx="55" cy="835"/>
            </a:xfrm>
            <a:prstGeom prst="leftBrace">
              <a:avLst>
                <a:gd name="adj1" fmla="val 126515"/>
                <a:gd name="adj2" fmla="val 50000"/>
              </a:avLst>
            </a:prstGeom>
            <a:noFill/>
            <a:ln w="19050" cap="flat" cmpd="sng">
              <a:solidFill>
                <a:schemeClr val="tx1"/>
              </a:solidFill>
              <a:prstDash val="solid"/>
              <a:headEnd type="none" w="med" len="med"/>
              <a:tailEnd type="none" w="med" len="med"/>
            </a:ln>
          </p:spPr>
          <p:txBody>
            <a:bodyPr/>
            <a:lstStyle/>
            <a:p>
              <a:endParaRPr lang="zh-CN" altLang="en-US"/>
            </a:p>
          </p:txBody>
        </p:sp>
        <p:sp>
          <p:nvSpPr>
            <p:cNvPr id="613405" name="矩形 613404" descr="蓝色面巾纸"/>
            <p:cNvSpPr/>
            <p:nvPr/>
          </p:nvSpPr>
          <p:spPr>
            <a:xfrm>
              <a:off x="565" y="1189"/>
              <a:ext cx="988" cy="245"/>
            </a:xfrm>
            <a:prstGeom prst="rect">
              <a:avLst/>
            </a:prstGeom>
            <a:blipFill rotWithShape="1">
              <a:blip r:embed="rId3"/>
            </a:blipFill>
            <a:ln w="9525" cap="flat" cmpd="sng">
              <a:solidFill>
                <a:schemeClr val="tx1"/>
              </a:solidFill>
              <a:prstDash val="solid"/>
              <a:miter/>
              <a:headEnd type="none" w="med" len="med"/>
              <a:tailEnd type="none" w="med" len="med"/>
            </a:ln>
          </p:spPr>
          <p:txBody>
            <a:bodyPr wrap="none" anchor="ctr"/>
            <a:lstStyle/>
            <a:p>
              <a:pPr algn="ctr"/>
              <a:r>
                <a:rPr lang="zh-CN" altLang="en-US" sz="2200" b="1" dirty="0">
                  <a:latin typeface="Arial" panose="020B0604020202020204" pitchFamily="34" charset="0"/>
                </a:rPr>
                <a:t>用户</a:t>
              </a:r>
              <a:endParaRPr lang="zh-CN" altLang="en-US" sz="2200" b="1">
                <a:latin typeface="Arial" panose="020B0604020202020204" pitchFamily="34" charset="0"/>
              </a:endParaRPr>
            </a:p>
          </p:txBody>
        </p:sp>
        <p:sp>
          <p:nvSpPr>
            <p:cNvPr id="613406" name="矩形 613405" descr="蓝色面巾纸"/>
            <p:cNvSpPr/>
            <p:nvPr/>
          </p:nvSpPr>
          <p:spPr>
            <a:xfrm>
              <a:off x="696" y="2563"/>
              <a:ext cx="1090" cy="245"/>
            </a:xfrm>
            <a:prstGeom prst="rect">
              <a:avLst/>
            </a:prstGeom>
            <a:blipFill rotWithShape="1">
              <a:blip r:embed="rId3"/>
            </a:blipFill>
            <a:ln w="9525" cap="flat" cmpd="sng">
              <a:solidFill>
                <a:schemeClr val="tx1"/>
              </a:solidFill>
              <a:prstDash val="solid"/>
              <a:miter/>
              <a:headEnd type="none" w="med" len="med"/>
              <a:tailEnd type="none" w="med" len="med"/>
            </a:ln>
          </p:spPr>
          <p:txBody>
            <a:bodyPr wrap="none" anchor="ctr"/>
            <a:lstStyle/>
            <a:p>
              <a:pPr algn="ctr"/>
              <a:r>
                <a:rPr lang="zh-CN" altLang="en-US" sz="2200" b="1" dirty="0">
                  <a:latin typeface="Arial" panose="020B0604020202020204" pitchFamily="34" charset="0"/>
                </a:rPr>
                <a:t>系统分析员</a:t>
              </a:r>
              <a:endParaRPr lang="zh-CN" altLang="en-US" sz="2200" b="1">
                <a:latin typeface="Arial" panose="020B0604020202020204" pitchFamily="34" charset="0"/>
              </a:endParaRPr>
            </a:p>
          </p:txBody>
        </p:sp>
        <p:sp>
          <p:nvSpPr>
            <p:cNvPr id="613407" name="矩形 613406" descr="蓝色面巾纸"/>
            <p:cNvSpPr/>
            <p:nvPr/>
          </p:nvSpPr>
          <p:spPr>
            <a:xfrm>
              <a:off x="696" y="3250"/>
              <a:ext cx="966" cy="246"/>
            </a:xfrm>
            <a:prstGeom prst="rect">
              <a:avLst/>
            </a:prstGeom>
            <a:blipFill rotWithShape="1">
              <a:blip r:embed="rId3"/>
            </a:blipFill>
            <a:ln w="9525" cap="flat" cmpd="sng">
              <a:solidFill>
                <a:schemeClr val="tx1"/>
              </a:solidFill>
              <a:prstDash val="solid"/>
              <a:miter/>
              <a:headEnd type="none" w="med" len="med"/>
              <a:tailEnd type="none" w="med" len="med"/>
            </a:ln>
          </p:spPr>
          <p:txBody>
            <a:bodyPr wrap="none" anchor="ctr"/>
            <a:lstStyle/>
            <a:p>
              <a:pPr algn="ctr"/>
              <a:r>
                <a:rPr lang="en-US" altLang="zh-CN" sz="2200" b="1">
                  <a:latin typeface="Arial" panose="020B0604020202020204" pitchFamily="34" charset="0"/>
                </a:rPr>
                <a:t>DBA</a:t>
              </a:r>
            </a:p>
          </p:txBody>
        </p:sp>
        <p:sp>
          <p:nvSpPr>
            <p:cNvPr id="613408" name="直接连接符 613407"/>
            <p:cNvSpPr/>
            <p:nvPr/>
          </p:nvSpPr>
          <p:spPr>
            <a:xfrm flipH="1" flipV="1">
              <a:off x="3515" y="1706"/>
              <a:ext cx="953" cy="454"/>
            </a:xfrm>
            <a:prstGeom prst="line">
              <a:avLst/>
            </a:prstGeom>
            <a:ln w="19050" cap="flat" cmpd="sng">
              <a:solidFill>
                <a:schemeClr val="tx1"/>
              </a:solidFill>
              <a:prstDash val="solid"/>
              <a:headEnd type="none" w="med" len="med"/>
              <a:tailEnd type="triangle" w="med" len="med"/>
            </a:ln>
          </p:spPr>
        </p:sp>
      </p:grpSp>
      <p:sp>
        <p:nvSpPr>
          <p:cNvPr id="613410" name="文本框 613409"/>
          <p:cNvSpPr txBox="1"/>
          <p:nvPr/>
        </p:nvSpPr>
        <p:spPr>
          <a:xfrm>
            <a:off x="6227763" y="5734050"/>
            <a:ext cx="576262" cy="366713"/>
          </a:xfrm>
          <a:prstGeom prst="rect">
            <a:avLst/>
          </a:prstGeom>
          <a:noFill/>
          <a:ln w="9525">
            <a:noFill/>
          </a:ln>
        </p:spPr>
        <p:txBody>
          <a:bodyPr anchor="b">
            <a:spAutoFit/>
          </a:bodyPr>
          <a:lstStyle/>
          <a:p>
            <a:pPr>
              <a:spcBef>
                <a:spcPct val="50000"/>
              </a:spcBef>
            </a:pPr>
            <a:r>
              <a:rPr lang="en-US" altLang="zh-CN">
                <a:solidFill>
                  <a:srgbClr val="B2B2B2"/>
                </a:solidFill>
                <a:latin typeface="Arial" panose="020B0604020202020204" pitchFamily="34" charset="0"/>
              </a:rPr>
              <a:t>#</a:t>
            </a:r>
          </a:p>
        </p:txBody>
      </p:sp>
    </p:spTree>
  </p:cSld>
  <p:clrMapOvr>
    <a:masterClrMapping/>
  </p:clrMapOvr>
  <mc:AlternateContent xmlns:mc="http://schemas.openxmlformats.org/markup-compatibility/2006" xmlns:p14="http://schemas.microsoft.com/office/powerpoint/2010/main">
    <mc:Choice Requires="p14">
      <p:transition spd="slow" p14:dur="2000" advTm="113369"/>
    </mc:Choice>
    <mc:Fallback xmlns="">
      <p:transition spd="slow" advTm="1133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613409"/>
                                        </p:tgtEl>
                                        <p:attrNameLst>
                                          <p:attrName>style.visibility</p:attrName>
                                        </p:attrNameLst>
                                      </p:cBhvr>
                                      <p:to>
                                        <p:strVal val="visible"/>
                                      </p:to>
                                    </p:set>
                                    <p:animEffect transition="in" filter="box(in)">
                                      <p:cBhvr>
                                        <p:cTn id="7" dur="500"/>
                                        <p:tgtEl>
                                          <p:spTgt spid="613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2" name="矩形 677891"/>
          <p:cNvSpPr/>
          <p:nvPr/>
        </p:nvSpPr>
        <p:spPr>
          <a:xfrm>
            <a:off x="755650" y="285750"/>
            <a:ext cx="7793038" cy="622300"/>
          </a:xfrm>
          <a:prstGeom prst="rect">
            <a:avLst/>
          </a:prstGeom>
          <a:noFill/>
          <a:ln w="9525">
            <a:noFill/>
          </a:ln>
          <a:effectLst>
            <a:outerShdw dist="17961" dir="2699999" algn="ctr" rotWithShape="0">
              <a:schemeClr val="tx1">
                <a:alpha val="50000"/>
              </a:schemeClr>
            </a:outerShdw>
          </a:effectLst>
        </p:spPr>
        <p:txBody>
          <a:bodyPr anchor="ctr"/>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lgn="ctr"/>
            <a:r>
              <a:rPr lang="zh-CN" altLang="en-US" sz="4000" dirty="0">
                <a:latin typeface="华文隶书" panose="02010800040101010101" pitchFamily="2" charset="-122"/>
                <a:ea typeface="华文隶书" panose="02010800040101010101" pitchFamily="2" charset="-122"/>
              </a:rPr>
              <a:t>本次课复习要点</a:t>
            </a:r>
          </a:p>
        </p:txBody>
      </p:sp>
      <p:sp>
        <p:nvSpPr>
          <p:cNvPr id="677893" name="矩形 677892"/>
          <p:cNvSpPr/>
          <p:nvPr/>
        </p:nvSpPr>
        <p:spPr>
          <a:xfrm>
            <a:off x="466725" y="1258888"/>
            <a:ext cx="8208963"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endParaRPr lang="zh-CN" altLang="en-US" sz="1000" dirty="0">
              <a:solidFill>
                <a:srgbClr val="990033"/>
              </a:solidFill>
              <a:effectLst/>
              <a:ea typeface="黑体" panose="02010609060101010101" pitchFamily="2" charset="-122"/>
            </a:endParaRPr>
          </a:p>
          <a:p>
            <a:pPr lvl="0">
              <a:lnSpc>
                <a:spcPct val="135000"/>
              </a:lnSpc>
              <a:spcBef>
                <a:spcPct val="0"/>
              </a:spcBef>
            </a:pPr>
            <a:r>
              <a:rPr lang="zh-CN" altLang="en-US" dirty="0"/>
              <a:t>           </a:t>
            </a:r>
            <a:r>
              <a:rPr lang="en-US" altLang="zh-CN" sz="3200">
                <a:solidFill>
                  <a:srgbClr val="003366"/>
                </a:solidFill>
                <a:effectLst/>
                <a:latin typeface="华文新魏" panose="02010800040101010101" pitchFamily="2" charset="-122"/>
                <a:ea typeface="华文新魏" panose="02010800040101010101" pitchFamily="2" charset="-122"/>
              </a:rPr>
              <a:t>   </a:t>
            </a:r>
            <a:r>
              <a:rPr lang="zh-CN" altLang="en-US" sz="3000" dirty="0">
                <a:solidFill>
                  <a:srgbClr val="660033"/>
                </a:solidFill>
                <a:ea typeface="华文新魏" panose="02010800040101010101" pitchFamily="2" charset="-122"/>
              </a:rPr>
              <a:t>数据库应用系统的生命周期（</a:t>
            </a:r>
            <a:r>
              <a:rPr lang="en-US" altLang="zh-CN" sz="3000">
                <a:solidFill>
                  <a:srgbClr val="006666"/>
                </a:solidFill>
                <a:ea typeface="华文新魏" panose="02010800040101010101" pitchFamily="2" charset="-122"/>
              </a:rPr>
              <a:t>4</a:t>
            </a:r>
            <a:r>
              <a:rPr lang="zh-CN" altLang="en-US" sz="3000" dirty="0">
                <a:solidFill>
                  <a:srgbClr val="006666"/>
                </a:solidFill>
                <a:ea typeface="华文新魏" panose="02010800040101010101" pitchFamily="2" charset="-122"/>
              </a:rPr>
              <a:t>个时期</a:t>
            </a:r>
            <a:r>
              <a:rPr lang="en-US" altLang="zh-CN" sz="3000">
                <a:solidFill>
                  <a:srgbClr val="006666"/>
                </a:solidFill>
                <a:ea typeface="华文新魏" panose="02010800040101010101" pitchFamily="2" charset="-122"/>
              </a:rPr>
              <a:t>7</a:t>
            </a:r>
            <a:r>
              <a:rPr lang="zh-CN" altLang="en-US" sz="3000" dirty="0">
                <a:solidFill>
                  <a:srgbClr val="006666"/>
                </a:solidFill>
                <a:ea typeface="华文新魏" panose="02010800040101010101" pitchFamily="2" charset="-122"/>
              </a:rPr>
              <a:t>个阶段）</a:t>
            </a:r>
            <a:endParaRPr lang="zh-CN" altLang="en-US" sz="3200" dirty="0">
              <a:solidFill>
                <a:srgbClr val="006666"/>
              </a:solidFill>
              <a:effectLst/>
              <a:latin typeface="华文新魏" panose="02010800040101010101" pitchFamily="2" charset="-122"/>
              <a:ea typeface="华文新魏" panose="02010800040101010101" pitchFamily="2" charset="-122"/>
            </a:endParaRPr>
          </a:p>
          <a:p>
            <a:pPr lvl="0">
              <a:lnSpc>
                <a:spcPct val="135000"/>
              </a:lnSpc>
              <a:spcBef>
                <a:spcPct val="0"/>
              </a:spcBef>
            </a:pPr>
            <a:r>
              <a:rPr lang="zh-CN" altLang="en-US" sz="3200" dirty="0">
                <a:solidFill>
                  <a:srgbClr val="003366"/>
                </a:solidFill>
                <a:effectLst/>
                <a:latin typeface="华文新魏" panose="02010800040101010101" pitchFamily="2" charset="-122"/>
                <a:ea typeface="华文新魏" panose="02010800040101010101" pitchFamily="2" charset="-122"/>
              </a:rPr>
              <a:t>               </a:t>
            </a:r>
            <a:r>
              <a:rPr lang="zh-CN" altLang="en-US" sz="3000" dirty="0">
                <a:solidFill>
                  <a:srgbClr val="660033"/>
                </a:solidFill>
                <a:ea typeface="华文新魏" panose="02010800040101010101" pitchFamily="2" charset="-122"/>
              </a:rPr>
              <a:t>数据库管理员及其职责</a:t>
            </a:r>
          </a:p>
          <a:p>
            <a:pPr lvl="0">
              <a:lnSpc>
                <a:spcPct val="135000"/>
              </a:lnSpc>
              <a:spcBef>
                <a:spcPct val="0"/>
              </a:spcBef>
            </a:pPr>
            <a:r>
              <a:rPr lang="en-US" altLang="zh-CN" sz="3000">
                <a:solidFill>
                  <a:srgbClr val="660033"/>
                </a:solidFill>
                <a:ea typeface="华文新魏" panose="02010800040101010101" pitchFamily="2" charset="-122"/>
              </a:rPr>
              <a:t>              </a:t>
            </a:r>
            <a:endParaRPr lang="en-US" altLang="zh-CN" sz="3200">
              <a:solidFill>
                <a:srgbClr val="003366"/>
              </a:solidFill>
              <a:effectLst/>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11774"/>
    </mc:Choice>
    <mc:Fallback xmlns="">
      <p:transition spd="slow" advTm="1177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77893">
                                            <p:txEl>
                                              <p:pRg st="1" end="1"/>
                                            </p:txEl>
                                          </p:spTgt>
                                        </p:tgtEl>
                                        <p:attrNameLst>
                                          <p:attrName>style.visibility</p:attrName>
                                        </p:attrNameLst>
                                      </p:cBhvr>
                                      <p:to>
                                        <p:strVal val="visible"/>
                                      </p:to>
                                    </p:set>
                                    <p:animEffect transition="in" filter="wipe(left)">
                                      <p:cBhvr>
                                        <p:cTn id="7" dur="500"/>
                                        <p:tgtEl>
                                          <p:spTgt spid="677893">
                                            <p:txEl>
                                              <p:pRg st="1" end="1"/>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77893">
                                            <p:txEl>
                                              <p:pRg st="2" end="2"/>
                                            </p:txEl>
                                          </p:spTgt>
                                        </p:tgtEl>
                                        <p:attrNameLst>
                                          <p:attrName>style.visibility</p:attrName>
                                        </p:attrNameLst>
                                      </p:cBhvr>
                                      <p:to>
                                        <p:strVal val="visible"/>
                                      </p:to>
                                    </p:set>
                                    <p:animEffect transition="in" filter="wipe(left)">
                                      <p:cBhvr>
                                        <p:cTn id="11" dur="500"/>
                                        <p:tgtEl>
                                          <p:spTgt spid="67789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89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6" name="矩形 540675"/>
          <p:cNvSpPr/>
          <p:nvPr/>
        </p:nvSpPr>
        <p:spPr>
          <a:xfrm>
            <a:off x="1458913" y="2590800"/>
            <a:ext cx="6237287" cy="1143000"/>
          </a:xfrm>
          <a:prstGeom prst="rect">
            <a:avLst/>
          </a:prstGeom>
          <a:noFill/>
          <a:ln w="9525">
            <a:noFill/>
          </a:ln>
        </p:spPr>
        <p:txBody>
          <a:bodyPr/>
          <a:lstStyle/>
          <a:p>
            <a:pPr marL="342900" indent="-342900" algn="ctr">
              <a:spcBef>
                <a:spcPct val="20000"/>
              </a:spcBef>
            </a:pPr>
            <a:r>
              <a:rPr lang="zh-CN" altLang="en-US" sz="6000" b="1" dirty="0">
                <a:solidFill>
                  <a:srgbClr val="FF6600"/>
                </a:solidFill>
                <a:effectLst>
                  <a:outerShdw blurRad="38100" dist="38100" dir="2700000">
                    <a:srgbClr val="C0C0C0"/>
                  </a:outerShdw>
                </a:effectLst>
                <a:latin typeface="Arial" panose="020B0604020202020204" pitchFamily="34" charset="0"/>
                <a:ea typeface="华文新魏" panose="02010800040101010101" pitchFamily="2" charset="-122"/>
              </a:rPr>
              <a:t>谢谢大家！</a:t>
            </a:r>
          </a:p>
        </p:txBody>
      </p:sp>
    </p:spTree>
  </p:cSld>
  <p:clrMapOvr>
    <a:masterClrMapping/>
  </p:clrMapOvr>
  <mc:AlternateContent xmlns:mc="http://schemas.openxmlformats.org/markup-compatibility/2006" xmlns:p14="http://schemas.microsoft.com/office/powerpoint/2010/main">
    <mc:Choice Requires="p14">
      <p:transition spd="slow" p14:dur="2000" advTm="1028"/>
    </mc:Choice>
    <mc:Fallback xmlns="">
      <p:transition spd="slow" advTm="1028"/>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2.9"/>
</p:tagLst>
</file>

<file path=ppt/tags/tag2.xml><?xml version="1.0" encoding="utf-8"?>
<p:tagLst xmlns:a="http://schemas.openxmlformats.org/drawingml/2006/main" xmlns:r="http://schemas.openxmlformats.org/officeDocument/2006/relationships" xmlns:p="http://schemas.openxmlformats.org/presentationml/2006/main">
  <p:tag name="TIMING" val="|9.4"/>
</p:tagLst>
</file>

<file path=ppt/tags/tag3.xml><?xml version="1.0" encoding="utf-8"?>
<p:tagLst xmlns:a="http://schemas.openxmlformats.org/drawingml/2006/main" xmlns:r="http://schemas.openxmlformats.org/officeDocument/2006/relationships" xmlns:p="http://schemas.openxmlformats.org/presentationml/2006/main">
  <p:tag name="TIMING" val="|5.4"/>
</p:tagLst>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幼圆"/>
        <a:cs typeface=""/>
      </a:majorFont>
      <a:minorFont>
        <a:latin typeface="Tahoma"/>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000000"/>
        </a:lt1>
        <a:dk2>
          <a:srgbClr val="DDDDDD"/>
        </a:dk2>
        <a:lt2>
          <a:srgbClr val="969696"/>
        </a:lt2>
        <a:accent1>
          <a:srgbClr val="00E4A8"/>
        </a:accent1>
        <a:accent2>
          <a:srgbClr val="3333CC"/>
        </a:accent2>
        <a:accent3>
          <a:srgbClr val="AAAAAA"/>
        </a:accent3>
        <a:accent4>
          <a:srgbClr val="DCDCDC"/>
        </a:accent4>
        <a:accent5>
          <a:srgbClr val="AAEFD0"/>
        </a:accent5>
        <a:accent6>
          <a:srgbClr val="2D2DB7"/>
        </a:accent6>
        <a:hlink>
          <a:srgbClr val="FF5050"/>
        </a:hlink>
        <a:folHlink>
          <a:srgbClr val="FFCF01"/>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CC"/>
        </a:dk2>
        <a:lt2>
          <a:srgbClr val="000094"/>
        </a:lt2>
        <a:accent1>
          <a:srgbClr val="3193FF"/>
        </a:accent1>
        <a:accent2>
          <a:srgbClr val="9900FF"/>
        </a:accent2>
        <a:accent3>
          <a:srgbClr val="AAAAE2"/>
        </a:accent3>
        <a:accent4>
          <a:srgbClr val="DCDCDC"/>
        </a:accent4>
        <a:accent5>
          <a:srgbClr val="ADC8FF"/>
        </a:accent5>
        <a:accent6>
          <a:srgbClr val="8900E5"/>
        </a:accent6>
        <a:hlink>
          <a:srgbClr val="FF3399"/>
        </a:hlink>
        <a:folHlink>
          <a:srgbClr val="FF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5"/>
        </a:accent5>
        <a:accent6>
          <a:srgbClr val="ACACAC"/>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CCA"/>
        </a:accent5>
        <a:accent6>
          <a:srgbClr val="4345A2"/>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AAB82"/>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1228</Words>
  <Application>Microsoft Office PowerPoint</Application>
  <PresentationFormat>全屏显示(4:3)</PresentationFormat>
  <Paragraphs>119</Paragraphs>
  <Slides>20</Slides>
  <Notes>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20</vt:i4>
      </vt:variant>
    </vt:vector>
  </HeadingPairs>
  <TitlesOfParts>
    <vt:vector size="31" baseType="lpstr">
      <vt:lpstr>黑体</vt:lpstr>
      <vt:lpstr>华文隶书</vt:lpstr>
      <vt:lpstr>华文新魏</vt:lpstr>
      <vt:lpstr>华文中宋</vt:lpstr>
      <vt:lpstr>楷体_GB2312</vt:lpstr>
      <vt:lpstr>隶书</vt:lpstr>
      <vt:lpstr>Arial</vt:lpstr>
      <vt:lpstr>Tahoma</vt:lpstr>
      <vt:lpstr>Times New Roman</vt:lpstr>
      <vt:lpstr>Wingdings</vt:lpstr>
      <vt:lpstr>Blends</vt:lpstr>
      <vt:lpstr>第3章 数据库应用系统设计方法 </vt:lpstr>
      <vt:lpstr>PowerPoint 演示文稿</vt:lpstr>
      <vt:lpstr>3.1  数据库应用系统设计概述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乔淋漓的冷汗</dc:creator>
  <cp:lastModifiedBy>乔 淋漓的冷汗</cp:lastModifiedBy>
  <cp:revision>652</cp:revision>
  <cp:lastPrinted>2000-08-23T09:10:16Z</cp:lastPrinted>
  <dcterms:created xsi:type="dcterms:W3CDTF">2020-04-04T09:38:57Z</dcterms:created>
  <dcterms:modified xsi:type="dcterms:W3CDTF">2021-04-12T14:58:39Z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2052-11.3.0.8775</vt:lpwstr>
  </property>
</Properties>
</file>