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handoutMasterIdLst>
    <p:handoutMasterId r:id="rId20"/>
  </p:handoutMasterIdLst>
  <p:sldIdLst>
    <p:sldId id="498" r:id="rId2"/>
    <p:sldId id="532" r:id="rId3"/>
    <p:sldId id="744" r:id="rId4"/>
    <p:sldId id="535" r:id="rId5"/>
    <p:sldId id="536" r:id="rId6"/>
    <p:sldId id="537" r:id="rId7"/>
    <p:sldId id="538" r:id="rId8"/>
    <p:sldId id="539" r:id="rId9"/>
    <p:sldId id="540" r:id="rId10"/>
    <p:sldId id="541" r:id="rId11"/>
    <p:sldId id="542" r:id="rId12"/>
    <p:sldId id="543" r:id="rId13"/>
    <p:sldId id="544" r:id="rId14"/>
    <p:sldId id="545" r:id="rId15"/>
    <p:sldId id="800" r:id="rId16"/>
    <p:sldId id="548" r:id="rId17"/>
    <p:sldId id="546" r:id="rId18"/>
  </p:sldIdLst>
  <p:sldSz cx="9144000" cy="6858000" type="screen4x3"/>
  <p:notesSz cx="6662738" cy="9832975"/>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a:srgbClr val="003366"/>
    <a:srgbClr val="99FFCC"/>
    <a:srgbClr val="FFFF66"/>
    <a:srgbClr val="006666"/>
    <a:srgbClr val="CC0000"/>
    <a:srgbClr val="969696"/>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4"/>
    <p:restoredTop sz="94152"/>
  </p:normalViewPr>
  <p:slideViewPr>
    <p:cSldViewPr showGuides="1">
      <p:cViewPr varScale="1">
        <p:scale>
          <a:sx n="124" d="100"/>
          <a:sy n="124" d="100"/>
        </p:scale>
        <p:origin x="1240" y="80"/>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12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页眉占位符 107521"/>
          <p:cNvSpPr>
            <a:spLocks noGrp="1"/>
          </p:cNvSpPr>
          <p:nvPr>
            <p:ph type="hdr" sz="quarter"/>
          </p:nvPr>
        </p:nvSpPr>
        <p:spPr>
          <a:xfrm>
            <a:off x="0" y="0"/>
            <a:ext cx="2895600" cy="457200"/>
          </a:xfrm>
          <a:prstGeom prst="rect">
            <a:avLst/>
          </a:prstGeom>
          <a:noFill/>
          <a:ln w="12700">
            <a:noFill/>
          </a:ln>
        </p:spPr>
        <p:txBody>
          <a:bodyPr wrap="none" anchor="ctr"/>
          <a:lstStyle/>
          <a:p>
            <a:pPr lvl="0"/>
            <a:endParaRPr lang="zh-CN" altLang="en-US" sz="1200" dirty="0">
              <a:solidFill>
                <a:schemeClr val="tx2"/>
              </a:solidFill>
            </a:endParaRPr>
          </a:p>
        </p:txBody>
      </p:sp>
      <p:sp>
        <p:nvSpPr>
          <p:cNvPr id="107523" name="日期占位符 107522"/>
          <p:cNvSpPr>
            <a:spLocks noGrp="1"/>
          </p:cNvSpPr>
          <p:nvPr>
            <p:ph type="dt" sz="quarter" idx="1"/>
          </p:nvPr>
        </p:nvSpPr>
        <p:spPr>
          <a:xfrm>
            <a:off x="3810000" y="0"/>
            <a:ext cx="2819400" cy="457200"/>
          </a:xfrm>
          <a:prstGeom prst="rect">
            <a:avLst/>
          </a:prstGeom>
          <a:noFill/>
          <a:ln w="12700">
            <a:noFill/>
          </a:ln>
        </p:spPr>
        <p:txBody>
          <a:bodyPr wrap="none" anchor="ctr"/>
          <a:lstStyle/>
          <a:p>
            <a:pPr lvl="0" algn="r"/>
            <a:endParaRPr lang="zh-CN" altLang="en-US" sz="1200" dirty="0">
              <a:solidFill>
                <a:schemeClr val="tx2"/>
              </a:solidFill>
            </a:endParaRPr>
          </a:p>
        </p:txBody>
      </p:sp>
      <p:sp>
        <p:nvSpPr>
          <p:cNvPr id="107524" name="页脚占位符 107523"/>
          <p:cNvSpPr>
            <a:spLocks noGrp="1"/>
          </p:cNvSpPr>
          <p:nvPr>
            <p:ph type="ftr" sz="quarter" idx="2"/>
          </p:nvPr>
        </p:nvSpPr>
        <p:spPr>
          <a:xfrm>
            <a:off x="0" y="9372600"/>
            <a:ext cx="2895600" cy="457200"/>
          </a:xfrm>
          <a:prstGeom prst="rect">
            <a:avLst/>
          </a:prstGeom>
          <a:noFill/>
          <a:ln w="12700">
            <a:noFill/>
          </a:ln>
        </p:spPr>
        <p:txBody>
          <a:bodyPr wrap="none" anchor="b"/>
          <a:lstStyle/>
          <a:p>
            <a:pPr lvl="0"/>
            <a:endParaRPr lang="zh-CN" altLang="en-US" sz="1200" dirty="0">
              <a:solidFill>
                <a:schemeClr val="tx2"/>
              </a:solidFill>
            </a:endParaRPr>
          </a:p>
        </p:txBody>
      </p:sp>
      <p:sp>
        <p:nvSpPr>
          <p:cNvPr id="107525" name="灯片编号占位符 107524"/>
          <p:cNvSpPr>
            <a:spLocks noGrp="1"/>
          </p:cNvSpPr>
          <p:nvPr>
            <p:ph type="sldNum" sz="quarter" idx="3"/>
          </p:nvPr>
        </p:nvSpPr>
        <p:spPr>
          <a:xfrm>
            <a:off x="3810000" y="9372600"/>
            <a:ext cx="2819400" cy="457200"/>
          </a:xfrm>
          <a:prstGeom prst="rect">
            <a:avLst/>
          </a:prstGeom>
          <a:noFill/>
          <a:ln w="12700">
            <a:noFill/>
          </a:ln>
        </p:spPr>
        <p:txBody>
          <a:bodyPr wrap="none" anchor="b"/>
          <a:lstStyle/>
          <a:p>
            <a:pPr lvl="0" algn="r"/>
            <a:fld id="{9A0DB2DC-4C9A-4742-B13C-FB6460FD3503}" type="slidenum">
              <a:rPr lang="zh-CN" altLang="en-US" sz="1200" dirty="0">
                <a:solidFill>
                  <a:schemeClr val="tx2"/>
                </a:solidFill>
              </a:rPr>
              <a:t>‹#›</a:t>
            </a:fld>
            <a:endParaRPr lang="zh-CN" altLang="en-US" sz="1200" dirty="0">
              <a:solidFill>
                <a:schemeClr val="tx2"/>
              </a:solidFill>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2562" name="页眉占位符 322561"/>
          <p:cNvSpPr>
            <a:spLocks noGrp="1"/>
          </p:cNvSpPr>
          <p:nvPr>
            <p:ph type="hdr" sz="quarter"/>
          </p:nvPr>
        </p:nvSpPr>
        <p:spPr>
          <a:xfrm>
            <a:off x="0" y="0"/>
            <a:ext cx="2887663" cy="492125"/>
          </a:xfrm>
          <a:prstGeom prst="rect">
            <a:avLst/>
          </a:prstGeom>
          <a:noFill/>
          <a:ln w="9525">
            <a:noFill/>
          </a:ln>
        </p:spPr>
        <p:txBody>
          <a:bodyPr/>
          <a:lstStyle/>
          <a:p>
            <a:pPr lvl="0"/>
            <a:endParaRPr lang="zh-CN" altLang="en-US" sz="1200" dirty="0"/>
          </a:p>
        </p:txBody>
      </p:sp>
      <p:sp>
        <p:nvSpPr>
          <p:cNvPr id="322563" name="日期占位符 322562"/>
          <p:cNvSpPr>
            <a:spLocks noGrp="1"/>
          </p:cNvSpPr>
          <p:nvPr>
            <p:ph type="dt" idx="1"/>
          </p:nvPr>
        </p:nvSpPr>
        <p:spPr>
          <a:xfrm>
            <a:off x="3773488" y="0"/>
            <a:ext cx="2887662" cy="492125"/>
          </a:xfrm>
          <a:prstGeom prst="rect">
            <a:avLst/>
          </a:prstGeom>
          <a:noFill/>
          <a:ln w="9525">
            <a:noFill/>
          </a:ln>
        </p:spPr>
        <p:txBody>
          <a:bodyPr/>
          <a:lstStyle/>
          <a:p>
            <a:pPr lvl="0" algn="r"/>
            <a:endParaRPr lang="zh-CN" altLang="en-US" sz="1200" dirty="0"/>
          </a:p>
        </p:txBody>
      </p:sp>
      <p:sp>
        <p:nvSpPr>
          <p:cNvPr id="322564" name="幻灯片图像占位符 322563"/>
          <p:cNvSpPr>
            <a:spLocks noGrp="1" noRot="1" noChangeAspect="1" noTextEdit="1"/>
          </p:cNvSpPr>
          <p:nvPr>
            <p:ph type="sldImg" idx="2"/>
          </p:nvPr>
        </p:nvSpPr>
        <p:spPr>
          <a:xfrm>
            <a:off x="874713" y="738188"/>
            <a:ext cx="4914900" cy="3686175"/>
          </a:xfrm>
          <a:prstGeom prst="rect">
            <a:avLst/>
          </a:prstGeom>
          <a:ln w="9525" cap="flat" cmpd="sng">
            <a:solidFill>
              <a:srgbClr val="000000"/>
            </a:solidFill>
            <a:prstDash val="solid"/>
            <a:miter/>
            <a:headEnd type="none" w="med" len="med"/>
            <a:tailEnd type="none" w="med" len="med"/>
          </a:ln>
        </p:spPr>
      </p:sp>
      <p:sp>
        <p:nvSpPr>
          <p:cNvPr id="322565" name="文本占位符 322564"/>
          <p:cNvSpPr>
            <a:spLocks noGrp="1"/>
          </p:cNvSpPr>
          <p:nvPr>
            <p:ph type="body" sz="quarter" idx="3"/>
          </p:nvPr>
        </p:nvSpPr>
        <p:spPr>
          <a:xfrm>
            <a:off x="666750" y="4670425"/>
            <a:ext cx="5329238" cy="44243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22566" name="页脚占位符 322565"/>
          <p:cNvSpPr>
            <a:spLocks noGrp="1"/>
          </p:cNvSpPr>
          <p:nvPr>
            <p:ph type="ftr" sz="quarter" idx="4"/>
          </p:nvPr>
        </p:nvSpPr>
        <p:spPr>
          <a:xfrm>
            <a:off x="0" y="9339263"/>
            <a:ext cx="2887663" cy="492125"/>
          </a:xfrm>
          <a:prstGeom prst="rect">
            <a:avLst/>
          </a:prstGeom>
          <a:noFill/>
          <a:ln w="9525">
            <a:noFill/>
          </a:ln>
        </p:spPr>
        <p:txBody>
          <a:bodyPr anchor="b"/>
          <a:lstStyle/>
          <a:p>
            <a:pPr lvl="0"/>
            <a:endParaRPr lang="zh-CN" altLang="en-US" sz="1200" dirty="0"/>
          </a:p>
        </p:txBody>
      </p:sp>
      <p:sp>
        <p:nvSpPr>
          <p:cNvPr id="322567" name="灯片编号占位符 322566"/>
          <p:cNvSpPr>
            <a:spLocks noGrp="1"/>
          </p:cNvSpPr>
          <p:nvPr>
            <p:ph type="sldNum" sz="quarter" idx="5"/>
          </p:nvPr>
        </p:nvSpPr>
        <p:spPr>
          <a:xfrm>
            <a:off x="3773488" y="9339263"/>
            <a:ext cx="2887662" cy="492125"/>
          </a:xfrm>
          <a:prstGeom prst="rect">
            <a:avLst/>
          </a:prstGeom>
          <a:noFill/>
          <a:ln w="9525">
            <a:noFill/>
          </a:ln>
        </p:spPr>
        <p:txBody>
          <a:bodyPr anchor="b"/>
          <a:lstStyle/>
          <a:p>
            <a:pPr lvl="0" algn="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1</a:t>
            </a:fld>
            <a:endParaRPr lang="zh-CN" altLang="en-US" sz="1200" dirty="0"/>
          </a:p>
        </p:txBody>
      </p:sp>
      <p:sp>
        <p:nvSpPr>
          <p:cNvPr id="329730" name="幻灯片图像占位符 329729"/>
          <p:cNvSpPr>
            <a:spLocks noGrp="1" noRot="1" noChangeAspect="1" noTextEdit="1"/>
          </p:cNvSpPr>
          <p:nvPr>
            <p:ph type="sldImg"/>
          </p:nvPr>
        </p:nvSpPr>
        <p:spPr>
          <a:ln/>
        </p:spPr>
      </p:sp>
      <p:sp>
        <p:nvSpPr>
          <p:cNvPr id="329731" name="文本占位符 329730"/>
          <p:cNvSpPr>
            <a:spLocks noGrp="1"/>
          </p:cNvSpPr>
          <p:nvPr>
            <p:ph type="body" idx="1"/>
          </p:nvPr>
        </p:nvSpPr>
        <p:spPr>
          <a:ln/>
        </p:spPr>
        <p:txBody>
          <a:bodyPr/>
          <a:lstStyle/>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2</a:t>
            </a:fld>
            <a:endParaRPr lang="zh-CN" altLang="en-US" sz="1200" dirty="0"/>
          </a:p>
        </p:txBody>
      </p:sp>
      <p:sp>
        <p:nvSpPr>
          <p:cNvPr id="389122" name="幻灯片图像占位符 389121"/>
          <p:cNvSpPr>
            <a:spLocks noGrp="1" noRot="1" noChangeAspect="1" noTextEdit="1"/>
          </p:cNvSpPr>
          <p:nvPr>
            <p:ph type="sldImg"/>
          </p:nvPr>
        </p:nvSpPr>
        <p:spPr>
          <a:ln/>
        </p:spPr>
      </p:sp>
      <p:sp>
        <p:nvSpPr>
          <p:cNvPr id="389123" name="文本占位符 389122"/>
          <p:cNvSpPr>
            <a:spLocks noGrp="1"/>
          </p:cNvSpPr>
          <p:nvPr>
            <p:ph type="body" idx="1"/>
          </p:nvPr>
        </p:nvSpPr>
        <p:spPr>
          <a:ln/>
        </p:spPr>
        <p:txBody>
          <a:bodyPr/>
          <a:lstStyle/>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368642" name="组合 368641"/>
          <p:cNvGrpSpPr/>
          <p:nvPr/>
        </p:nvGrpSpPr>
        <p:grpSpPr>
          <a:xfrm>
            <a:off x="0" y="1822450"/>
            <a:ext cx="9009063" cy="1052513"/>
            <a:chOff x="0" y="1536"/>
            <a:chExt cx="5675" cy="663"/>
          </a:xfrm>
        </p:grpSpPr>
        <p:grpSp>
          <p:nvGrpSpPr>
            <p:cNvPr id="368643" name="组合 368642"/>
            <p:cNvGrpSpPr/>
            <p:nvPr/>
          </p:nvGrpSpPr>
          <p:grpSpPr>
            <a:xfrm>
              <a:off x="183" y="1604"/>
              <a:ext cx="448" cy="299"/>
              <a:chOff x="720" y="336"/>
              <a:chExt cx="624" cy="432"/>
            </a:xfrm>
          </p:grpSpPr>
          <p:sp>
            <p:nvSpPr>
              <p:cNvPr id="368644" name="矩形 368643"/>
              <p:cNvSpPr/>
              <p:nvPr/>
            </p:nvSpPr>
            <p:spPr>
              <a:xfrm>
                <a:off x="720" y="336"/>
                <a:ext cx="384" cy="432"/>
              </a:xfrm>
              <a:prstGeom prst="rect">
                <a:avLst/>
              </a:prstGeom>
              <a:solidFill>
                <a:schemeClr val="folHlink"/>
              </a:solidFill>
              <a:ln w="9525">
                <a:noFill/>
              </a:ln>
            </p:spPr>
            <p:txBody>
              <a:bodyPr/>
              <a:lstStyle/>
              <a:p>
                <a:endParaRPr lang="zh-CN" altLang="en-US"/>
              </a:p>
            </p:txBody>
          </p:sp>
          <p:sp>
            <p:nvSpPr>
              <p:cNvPr id="368645" name="矩形 368644"/>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lstStyle/>
              <a:p>
                <a:endParaRPr lang="zh-CN" altLang="en-US"/>
              </a:p>
            </p:txBody>
          </p:sp>
        </p:grpSp>
        <p:grpSp>
          <p:nvGrpSpPr>
            <p:cNvPr id="368646" name="组合 368645"/>
            <p:cNvGrpSpPr/>
            <p:nvPr/>
          </p:nvGrpSpPr>
          <p:grpSpPr>
            <a:xfrm>
              <a:off x="261" y="1870"/>
              <a:ext cx="465" cy="299"/>
              <a:chOff x="912" y="2640"/>
              <a:chExt cx="672" cy="432"/>
            </a:xfrm>
          </p:grpSpPr>
          <p:sp>
            <p:nvSpPr>
              <p:cNvPr id="368647" name="矩形 368646"/>
              <p:cNvSpPr/>
              <p:nvPr/>
            </p:nvSpPr>
            <p:spPr>
              <a:xfrm>
                <a:off x="912" y="2640"/>
                <a:ext cx="384" cy="432"/>
              </a:xfrm>
              <a:prstGeom prst="rect">
                <a:avLst/>
              </a:prstGeom>
              <a:solidFill>
                <a:schemeClr val="accent2"/>
              </a:solidFill>
              <a:ln w="9525">
                <a:noFill/>
              </a:ln>
            </p:spPr>
            <p:txBody>
              <a:bodyPr/>
              <a:lstStyle/>
              <a:p>
                <a:endParaRPr lang="zh-CN" altLang="en-US"/>
              </a:p>
            </p:txBody>
          </p:sp>
          <p:sp>
            <p:nvSpPr>
              <p:cNvPr id="368648" name="矩形 368647"/>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lstStyle/>
              <a:p>
                <a:endParaRPr lang="zh-CN" altLang="en-US"/>
              </a:p>
            </p:txBody>
          </p:sp>
        </p:grpSp>
        <p:sp>
          <p:nvSpPr>
            <p:cNvPr id="368649" name="矩形 368648"/>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lstStyle/>
            <a:p>
              <a:endParaRPr lang="zh-CN" altLang="en-US"/>
            </a:p>
          </p:txBody>
        </p:sp>
        <p:sp>
          <p:nvSpPr>
            <p:cNvPr id="368650" name="矩形 368649"/>
            <p:cNvSpPr/>
            <p:nvPr/>
          </p:nvSpPr>
          <p:spPr>
            <a:xfrm>
              <a:off x="400" y="1536"/>
              <a:ext cx="20" cy="663"/>
            </a:xfrm>
            <a:prstGeom prst="rect">
              <a:avLst/>
            </a:prstGeom>
            <a:solidFill>
              <a:schemeClr val="bg2"/>
            </a:solidFill>
            <a:ln w="9525">
              <a:noFill/>
            </a:ln>
          </p:spPr>
          <p:txBody>
            <a:bodyPr/>
            <a:lstStyle/>
            <a:p>
              <a:endParaRPr lang="zh-CN" altLang="en-US"/>
            </a:p>
          </p:txBody>
        </p:sp>
        <p:sp>
          <p:nvSpPr>
            <p:cNvPr id="368651" name="矩形 368650"/>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lstStyle/>
            <a:p>
              <a:endParaRPr lang="zh-CN" altLang="en-US"/>
            </a:p>
          </p:txBody>
        </p:sp>
      </p:grpSp>
      <p:sp>
        <p:nvSpPr>
          <p:cNvPr id="368652" name="标题 368651"/>
          <p:cNvSpPr>
            <a:spLocks noGrp="1"/>
          </p:cNvSpPr>
          <p:nvPr>
            <p:ph type="ctrTitle"/>
          </p:nvPr>
        </p:nvSpPr>
        <p:spPr>
          <a:xfrm>
            <a:off x="827088" y="1676400"/>
            <a:ext cx="8137525" cy="1462088"/>
          </a:xfrm>
          <a:prstGeom prst="rect">
            <a:avLst/>
          </a:prstGeom>
          <a:noFill/>
          <a:ln w="9525">
            <a:noFill/>
          </a:ln>
        </p:spPr>
        <p:txBody>
          <a:bodyPr anchor="b"/>
          <a:lstStyle>
            <a:lvl1pPr lvl="0" algn="ctr">
              <a:buClrTx/>
              <a:buSzTx/>
              <a:buFontTx/>
              <a:defRPr sz="4800">
                <a:ea typeface="隶书" panose="02010509060101010101" pitchFamily="49" charset="-122"/>
              </a:defRPr>
            </a:lvl1pPr>
          </a:lstStyle>
          <a:p>
            <a:pPr lvl="0"/>
            <a:r>
              <a:rPr lang="zh-CN" altLang="en-US" dirty="0"/>
              <a:t>单击此处编辑母版标题样式</a:t>
            </a:r>
          </a:p>
        </p:txBody>
      </p:sp>
      <p:sp>
        <p:nvSpPr>
          <p:cNvPr id="368653" name="副标题 368652"/>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Clr>
                <a:schemeClr val="folHlink"/>
              </a:buClr>
              <a:buSzPct val="60000"/>
              <a:buFont typeface="Wingdings" panose="05000000000000000000" pitchFamily="2" charset="2"/>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a:r>
              <a:rPr lang="zh-CN" altLang="en-US" dirty="0"/>
              <a:t>单击此处编辑母版副标题样式</a:t>
            </a:r>
          </a:p>
        </p:txBody>
      </p:sp>
      <p:sp>
        <p:nvSpPr>
          <p:cNvPr id="368654" name="日期占位符 368653"/>
          <p:cNvSpPr>
            <a:spLocks noGrp="1"/>
          </p:cNvSpPr>
          <p:nvPr>
            <p:ph type="dt" sz="half" idx="2"/>
          </p:nvPr>
        </p:nvSpPr>
        <p:spPr>
          <a:xfrm>
            <a:off x="990600" y="6248400"/>
            <a:ext cx="1905000" cy="457200"/>
          </a:xfrm>
          <a:prstGeom prst="rect">
            <a:avLst/>
          </a:prstGeom>
          <a:noFill/>
          <a:ln w="9525">
            <a:noFill/>
          </a:ln>
        </p:spPr>
        <p:txBody>
          <a:bodyPr anchor="b"/>
          <a:lstStyle>
            <a:lvl1pPr>
              <a:defRPr sz="1400">
                <a:solidFill>
                  <a:schemeClr val="bg2"/>
                </a:solidFill>
                <a:latin typeface="Tahoma" panose="020B0604030504040204" pitchFamily="34" charset="0"/>
              </a:defRPr>
            </a:lvl1pPr>
          </a:lstStyle>
          <a:p>
            <a:fld id="{BB962C8B-B14F-4D97-AF65-F5344CB8AC3E}" type="datetime1">
              <a:rPr lang="zh-CN" altLang="en-US" dirty="0"/>
              <a:t>2021-4-12</a:t>
            </a:fld>
            <a:endParaRPr lang="zh-CN" altLang="en-US" dirty="0">
              <a:latin typeface="Times New Roman" panose="02020603050405020304" pitchFamily="18" charset="0"/>
            </a:endParaRPr>
          </a:p>
        </p:txBody>
      </p:sp>
      <p:sp>
        <p:nvSpPr>
          <p:cNvPr id="368655" name="页脚占位符 368654"/>
          <p:cNvSpPr>
            <a:spLocks noGrp="1"/>
          </p:cNvSpPr>
          <p:nvPr>
            <p:ph type="ftr" sz="quarter" idx="3"/>
          </p:nvPr>
        </p:nvSpPr>
        <p:spPr>
          <a:xfrm>
            <a:off x="3429000" y="6248400"/>
            <a:ext cx="2895600" cy="457200"/>
          </a:xfrm>
          <a:prstGeom prst="rect">
            <a:avLst/>
          </a:prstGeom>
          <a:noFill/>
          <a:ln w="9525">
            <a:noFill/>
          </a:ln>
        </p:spPr>
        <p:txBody>
          <a:bodyPr anchor="b"/>
          <a:lstStyle>
            <a:lvl1pPr algn="ctr">
              <a:defRPr sz="1400">
                <a:solidFill>
                  <a:schemeClr val="bg2"/>
                </a:solidFill>
                <a:latin typeface="Tahoma" panose="020B0604030504040204" pitchFamily="34" charset="0"/>
              </a:defRPr>
            </a:lvl1pPr>
          </a:lstStyle>
          <a:p>
            <a:endParaRPr lang="zh-CN" altLang="en-US" dirty="0"/>
          </a:p>
        </p:txBody>
      </p:sp>
      <p:sp>
        <p:nvSpPr>
          <p:cNvPr id="368656" name="灯片编号占位符 368655"/>
          <p:cNvSpPr>
            <a:spLocks noGrp="1"/>
          </p:cNvSpPr>
          <p:nvPr>
            <p:ph type="sldNum" sz="quarter" idx="4"/>
          </p:nvPr>
        </p:nvSpPr>
        <p:spPr>
          <a:xfrm>
            <a:off x="6858000" y="6248400"/>
            <a:ext cx="1905000" cy="457200"/>
          </a:xfrm>
          <a:prstGeom prst="rect">
            <a:avLst/>
          </a:prstGeom>
          <a:noFill/>
          <a:ln w="9525">
            <a:noFill/>
          </a:ln>
        </p:spPr>
        <p:txBody>
          <a:bodyPr anchor="b"/>
          <a:lstStyle>
            <a:lvl1pPr algn="r">
              <a:defRPr sz="1400">
                <a:solidFill>
                  <a:schemeClr val="bg2"/>
                </a:solidFill>
                <a:latin typeface="Tahoma" panose="020B0604030504040204" pitchFamily="34" charset="0"/>
              </a:defRPr>
            </a:lvl1pPr>
          </a:lstStyle>
          <a:p>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1188"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7650"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0778" y="71438"/>
            <a:ext cx="2083197" cy="65262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1188" y="71438"/>
            <a:ext cx="6128825" cy="65262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67618" name="矩形 367617"/>
          <p:cNvSpPr/>
          <p:nvPr/>
        </p:nvSpPr>
        <p:spPr>
          <a:xfrm>
            <a:off x="417513" y="252413"/>
            <a:ext cx="438150" cy="474662"/>
          </a:xfrm>
          <a:prstGeom prst="rect">
            <a:avLst/>
          </a:prstGeom>
          <a:solidFill>
            <a:schemeClr val="accent2"/>
          </a:solidFill>
          <a:ln w="9525">
            <a:noFill/>
          </a:ln>
        </p:spPr>
        <p:txBody>
          <a:bodyPr wrap="none" anchor="ctr"/>
          <a:lstStyle/>
          <a:p>
            <a:pPr lvl="0" algn="ctr"/>
            <a:endParaRPr lang="zh-CN" altLang="en-US" sz="2400" dirty="0">
              <a:latin typeface="Tahoma" panose="020B0604030504040204" pitchFamily="34" charset="0"/>
            </a:endParaRPr>
          </a:p>
        </p:txBody>
      </p:sp>
      <p:sp>
        <p:nvSpPr>
          <p:cNvPr id="367619" name="矩形 367618"/>
          <p:cNvSpPr/>
          <p:nvPr/>
        </p:nvSpPr>
        <p:spPr>
          <a:xfrm>
            <a:off x="800100" y="252413"/>
            <a:ext cx="328613" cy="474662"/>
          </a:xfrm>
          <a:prstGeom prst="rect">
            <a:avLst/>
          </a:prstGeom>
          <a:gradFill rotWithShape="0">
            <a:gsLst>
              <a:gs pos="0">
                <a:schemeClr val="accent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0" name="矩形 367619"/>
          <p:cNvSpPr/>
          <p:nvPr/>
        </p:nvSpPr>
        <p:spPr>
          <a:xfrm>
            <a:off x="541338" y="674688"/>
            <a:ext cx="422275" cy="474662"/>
          </a:xfrm>
          <a:prstGeom prst="rect">
            <a:avLst/>
          </a:prstGeom>
          <a:solidFill>
            <a:schemeClr val="folHlink"/>
          </a:solidFill>
          <a:ln w="9525">
            <a:noFill/>
          </a:ln>
        </p:spPr>
        <p:txBody>
          <a:bodyPr wrap="none" anchor="ctr"/>
          <a:lstStyle/>
          <a:p>
            <a:pPr lvl="0" algn="ctr"/>
            <a:endParaRPr lang="zh-CN" altLang="en-US" sz="2400" dirty="0">
              <a:latin typeface="Tahoma" panose="020B0604030504040204" pitchFamily="34" charset="0"/>
            </a:endParaRPr>
          </a:p>
        </p:txBody>
      </p:sp>
      <p:sp>
        <p:nvSpPr>
          <p:cNvPr id="367621" name="矩形 367620"/>
          <p:cNvSpPr/>
          <p:nvPr/>
        </p:nvSpPr>
        <p:spPr>
          <a:xfrm>
            <a:off x="911225" y="674688"/>
            <a:ext cx="368300" cy="474662"/>
          </a:xfrm>
          <a:prstGeom prst="rect">
            <a:avLst/>
          </a:prstGeom>
          <a:gradFill rotWithShape="0">
            <a:gsLst>
              <a:gs pos="0">
                <a:schemeClr val="folHlink"/>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2" name="矩形 367621"/>
          <p:cNvSpPr/>
          <p:nvPr/>
        </p:nvSpPr>
        <p:spPr>
          <a:xfrm>
            <a:off x="127000" y="601663"/>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3" name="矩形 367622"/>
          <p:cNvSpPr/>
          <p:nvPr/>
        </p:nvSpPr>
        <p:spPr>
          <a:xfrm>
            <a:off x="762000" y="144463"/>
            <a:ext cx="31750" cy="1052512"/>
          </a:xfrm>
          <a:prstGeom prst="rect">
            <a:avLst/>
          </a:prstGeom>
          <a:solidFill>
            <a:schemeClr val="bg2"/>
          </a:solidFill>
          <a:ln w="9525">
            <a:noFill/>
          </a:ln>
        </p:spPr>
        <p:txBody>
          <a:bodyPr wrap="none" anchor="ctr"/>
          <a:lstStyle/>
          <a:p>
            <a:pPr lvl="0" algn="ctr"/>
            <a:endParaRPr lang="zh-CN" altLang="en-US" sz="2400" dirty="0">
              <a:latin typeface="Tahoma" panose="020B0604030504040204" pitchFamily="34" charset="0"/>
            </a:endParaRPr>
          </a:p>
        </p:txBody>
      </p:sp>
      <p:sp>
        <p:nvSpPr>
          <p:cNvPr id="367624" name="矩形 367623"/>
          <p:cNvSpPr/>
          <p:nvPr/>
        </p:nvSpPr>
        <p:spPr>
          <a:xfrm>
            <a:off x="442913" y="935038"/>
            <a:ext cx="8226425" cy="31750"/>
          </a:xfrm>
          <a:prstGeom prst="rect">
            <a:avLst/>
          </a:prstGeom>
          <a:gradFill rotWithShape="0">
            <a:gsLst>
              <a:gs pos="0">
                <a:schemeClr val="bg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5" name="标题 367624"/>
          <p:cNvSpPr>
            <a:spLocks noGrp="1"/>
          </p:cNvSpPr>
          <p:nvPr>
            <p:ph type="title"/>
          </p:nvPr>
        </p:nvSpPr>
        <p:spPr>
          <a:xfrm>
            <a:off x="1150938" y="71438"/>
            <a:ext cx="7793037" cy="836612"/>
          </a:xfrm>
          <a:prstGeom prst="rect">
            <a:avLst/>
          </a:prstGeom>
          <a:noFill/>
          <a:ln w="9525">
            <a:noFill/>
          </a:ln>
        </p:spPr>
        <p:txBody>
          <a:bodyPr anchor="b"/>
          <a:lstStyle/>
          <a:p>
            <a:pPr lvl="0"/>
            <a:r>
              <a:rPr lang="zh-CN" altLang="en-US" dirty="0"/>
              <a:t>单击此处编辑母版标题样式</a:t>
            </a:r>
          </a:p>
        </p:txBody>
      </p:sp>
      <p:sp>
        <p:nvSpPr>
          <p:cNvPr id="367626" name="文本占位符 367625"/>
          <p:cNvSpPr>
            <a:spLocks noGrp="1"/>
          </p:cNvSpPr>
          <p:nvPr>
            <p:ph type="body" idx="1"/>
          </p:nvPr>
        </p:nvSpPr>
        <p:spPr>
          <a:xfrm>
            <a:off x="611188" y="1258888"/>
            <a:ext cx="7993062" cy="5338762"/>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67627" name="日期占位符 367626"/>
          <p:cNvSpPr>
            <a:spLocks noGrp="1"/>
          </p:cNvSpPr>
          <p:nvPr>
            <p:ph type="dt" sz="half" idx="2"/>
          </p:nvPr>
        </p:nvSpPr>
        <p:spPr>
          <a:xfrm>
            <a:off x="1162050" y="6243638"/>
            <a:ext cx="1905000" cy="457200"/>
          </a:xfrm>
          <a:prstGeom prst="rect">
            <a:avLst/>
          </a:prstGeom>
          <a:noFill/>
          <a:ln w="9525">
            <a:noFill/>
          </a:ln>
        </p:spPr>
        <p:txBody>
          <a:bodyPr anchor="b"/>
          <a:lstStyle>
            <a:lvl1pPr>
              <a:defRPr sz="1400">
                <a:latin typeface="Tahoma" panose="020B0604030504040204" pitchFamily="34" charset="0"/>
              </a:defRPr>
            </a:lvl1pPr>
          </a:lstStyle>
          <a:p>
            <a:pPr lvl="0"/>
            <a:endParaRPr lang="zh-CN" altLang="en-US" dirty="0">
              <a:latin typeface="Times New Roman" panose="02020603050405020304" pitchFamily="18" charset="0"/>
            </a:endParaRPr>
          </a:p>
        </p:txBody>
      </p:sp>
      <p:sp>
        <p:nvSpPr>
          <p:cNvPr id="367628" name="页脚占位符 367627"/>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a:latin typeface="Tahoma" panose="020B0604030504040204" pitchFamily="34" charset="0"/>
              </a:defRPr>
            </a:lvl1pPr>
          </a:lstStyle>
          <a:p>
            <a:pPr lvl="0"/>
            <a:endParaRPr lang="zh-CN" altLang="en-US" dirty="0"/>
          </a:p>
        </p:txBody>
      </p:sp>
      <p:sp>
        <p:nvSpPr>
          <p:cNvPr id="367629" name="灯片编号占位符 367628"/>
          <p:cNvSpPr>
            <a:spLocks noGrp="1"/>
          </p:cNvSpPr>
          <p:nvPr>
            <p:ph type="sldNum" sz="quarter" idx="4"/>
          </p:nvPr>
        </p:nvSpPr>
        <p:spPr>
          <a:xfrm>
            <a:off x="7042150" y="6243638"/>
            <a:ext cx="1905000" cy="457200"/>
          </a:xfrm>
          <a:prstGeom prst="rect">
            <a:avLst/>
          </a:prstGeom>
          <a:noFill/>
          <a:ln w="9525">
            <a:noFill/>
          </a:ln>
        </p:spPr>
        <p:txBody>
          <a:bodyPr anchor="b"/>
          <a:lstStyle>
            <a:lvl1pPr algn="r">
              <a:defRPr sz="1400">
                <a:latin typeface="Tahoma" panose="020B0604030504040204" pitchFamily="34" charset="0"/>
              </a:defRPr>
            </a:lvl1p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3600" b="1" i="0" u="none" kern="1200" baseline="0">
          <a:solidFill>
            <a:schemeClr val="tx2"/>
          </a:solidFill>
          <a:effectLst>
            <a:outerShdw blurRad="38100" dist="38100" dir="2700000">
              <a:srgbClr val="C0C0C0"/>
            </a:outerShdw>
          </a:effectLst>
          <a:latin typeface="+mj-lt"/>
          <a:ea typeface="+mj-ea"/>
          <a:cs typeface="+mj-cs"/>
        </a:defRPr>
      </a:lvl1pPr>
    </p:titleStyle>
    <p:body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i="0" u="none" kern="1200" baseline="0">
          <a:solidFill>
            <a:schemeClr val="tx1"/>
          </a:solidFill>
          <a:effectLst>
            <a:outerShdw blurRad="38100" dist="38100" dir="2700000">
              <a:srgbClr val="C0C0C0"/>
            </a:outerShdw>
          </a:effectLst>
          <a:latin typeface="+mn-lt"/>
          <a:ea typeface="+mn-ea"/>
          <a:cs typeface="+mn-cs"/>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mn-lt"/>
          <a:ea typeface="+mn-ea"/>
          <a:cs typeface="+mn-cs"/>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mn-lt"/>
          <a:ea typeface="+mn-ea"/>
          <a:cs typeface="+mn-cs"/>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5pPr>
      <a:lvl6pPr marL="2514600" lvl="5"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6pPr>
      <a:lvl7pPr marL="2971800" lvl="6"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7pPr>
      <a:lvl8pPr marL="3429000" lvl="7"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8pPr>
      <a:lvl9pPr marL="3886200" lvl="8"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9" name="矩形 328708"/>
          <p:cNvSpPr/>
          <p:nvPr/>
        </p:nvSpPr>
        <p:spPr>
          <a:xfrm>
            <a:off x="107950" y="80963"/>
            <a:ext cx="4608513" cy="574675"/>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pPr algn="ctr"/>
            <a:r>
              <a:rPr lang="zh-CN" altLang="en-US" sz="28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数据库系统原理及应用</a:t>
            </a:r>
            <a:endParaRPr lang="zh-CN" altLang="en-US" sz="3000" b="1">
              <a:solidFill>
                <a:srgbClr val="000000"/>
              </a:solidFill>
              <a:effectLst>
                <a:outerShdw blurRad="38100" dist="38100" dir="2700000">
                  <a:srgbClr val="FFFFFF"/>
                </a:outerShdw>
              </a:effectLst>
              <a:latin typeface="Times New Roman" panose="02020603050405020304" pitchFamily="18" charset="0"/>
              <a:ea typeface="楷体_GB2312" pitchFamily="49" charset="-122"/>
            </a:endParaRPr>
          </a:p>
        </p:txBody>
      </p:sp>
      <p:sp>
        <p:nvSpPr>
          <p:cNvPr id="328711" name="标题 328710"/>
          <p:cNvSpPr>
            <a:spLocks noGrp="1"/>
          </p:cNvSpPr>
          <p:nvPr>
            <p:ph type="ctrTitle"/>
          </p:nvPr>
        </p:nvSpPr>
        <p:spPr>
          <a:xfrm>
            <a:off x="684213" y="1230313"/>
            <a:ext cx="8137525" cy="1462087"/>
          </a:xfrm>
          <a:ln/>
        </p:spPr>
        <p:txBody>
          <a:bodyPr anchor="b"/>
          <a:lstStyle/>
          <a:p>
            <a:pPr defTabSz="914400">
              <a:buSzTx/>
            </a:pPr>
            <a:r>
              <a:rPr lang="zh-CN" altLang="en-US" sz="4200" kern="1200" baseline="0" dirty="0">
                <a:latin typeface="Tahoma" panose="020B0604030504040204" pitchFamily="34" charset="0"/>
                <a:ea typeface="隶书" panose="02010509060101010101" pitchFamily="49" charset="-122"/>
              </a:rPr>
              <a:t>第</a:t>
            </a:r>
            <a:r>
              <a:rPr lang="en-US" altLang="zh-CN" sz="4200" kern="1200" baseline="0">
                <a:latin typeface="Tahoma" panose="020B0604030504040204" pitchFamily="34" charset="0"/>
                <a:ea typeface="隶书" panose="02010509060101010101" pitchFamily="49" charset="-122"/>
              </a:rPr>
              <a:t>3</a:t>
            </a:r>
            <a:r>
              <a:rPr lang="zh-CN" altLang="en-US" sz="4200" kern="1200" baseline="0" dirty="0">
                <a:latin typeface="Tahoma" panose="020B0604030504040204" pitchFamily="34" charset="0"/>
                <a:ea typeface="隶书" panose="02010509060101010101" pitchFamily="49" charset="-122"/>
              </a:rPr>
              <a:t>章 数据库应用系统设计方法</a:t>
            </a:r>
            <a:r>
              <a:rPr lang="zh-CN" altLang="en-US" kern="1200" baseline="0" dirty="0">
                <a:latin typeface="Tahoma" panose="020B0604030504040204" pitchFamily="34" charset="0"/>
                <a:ea typeface="隶书" panose="02010509060101010101" pitchFamily="49" charset="-122"/>
              </a:rPr>
              <a:t> </a:t>
            </a:r>
          </a:p>
        </p:txBody>
      </p:sp>
      <p:sp>
        <p:nvSpPr>
          <p:cNvPr id="328715" name="文本框 328714"/>
          <p:cNvSpPr txBox="1"/>
          <p:nvPr/>
        </p:nvSpPr>
        <p:spPr>
          <a:xfrm>
            <a:off x="2516188" y="3957638"/>
            <a:ext cx="4681537" cy="706755"/>
          </a:xfrm>
          <a:prstGeom prst="rect">
            <a:avLst/>
          </a:prstGeom>
          <a:noFill/>
          <a:ln w="12700">
            <a:noFill/>
          </a:ln>
        </p:spPr>
        <p:txBody>
          <a:bodyPr>
            <a:spAutoFit/>
          </a:bodyPr>
          <a:lstStyle/>
          <a:p>
            <a:r>
              <a:rPr lang="zh-CN" altLang="en-US" sz="4000" b="1" dirty="0">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     </a:t>
            </a:r>
            <a:endParaRPr lang="zh-CN" altLang="en-US" sz="4400" b="1" dirty="0">
              <a:solidFill>
                <a:srgbClr val="660033"/>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pic>
        <p:nvPicPr>
          <p:cNvPr id="328716" name="图片 328715" descr="BS02064_"/>
          <p:cNvPicPr>
            <a:picLocks noChangeAspect="1"/>
          </p:cNvPicPr>
          <p:nvPr/>
        </p:nvPicPr>
        <p:blipFill>
          <a:blip r:embed="rId3"/>
          <a:stretch>
            <a:fillRect/>
          </a:stretch>
        </p:blipFill>
        <p:spPr>
          <a:xfrm>
            <a:off x="0" y="4170363"/>
            <a:ext cx="2700338" cy="2687637"/>
          </a:xfrm>
          <a:prstGeom prst="rect">
            <a:avLst/>
          </a:prstGeom>
          <a:noFill/>
          <a:ln w="9525">
            <a:noFill/>
          </a:ln>
        </p:spPr>
      </p:pic>
      <p:sp>
        <p:nvSpPr>
          <p:cNvPr id="328717" name="文本框 328716"/>
          <p:cNvSpPr txBox="1"/>
          <p:nvPr/>
        </p:nvSpPr>
        <p:spPr>
          <a:xfrm>
            <a:off x="2338388" y="2708275"/>
            <a:ext cx="4681537" cy="701675"/>
          </a:xfrm>
          <a:prstGeom prst="rect">
            <a:avLst/>
          </a:prstGeom>
          <a:noFill/>
          <a:ln w="12700">
            <a:noFill/>
          </a:ln>
        </p:spPr>
        <p:txBody>
          <a:bodyPr>
            <a:spAutoFit/>
          </a:bodyPr>
          <a:lstStyle/>
          <a:p>
            <a:pPr algn="ctr"/>
            <a:r>
              <a:rPr lang="zh-CN" altLang="en-US" sz="4000" b="1" dirty="0">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（第二讲）</a:t>
            </a:r>
            <a:endParaRPr lang="zh-CN" altLang="en-US" sz="4400" b="1" dirty="0">
              <a:solidFill>
                <a:srgbClr val="006699"/>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spTree>
  </p:cSld>
  <p:clrMapOvr>
    <a:masterClrMapping/>
  </p:clrMapOvr>
  <p:transition spd="slow" advTm="907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28709"/>
                                        </p:tgtEl>
                                        <p:attrNameLst>
                                          <p:attrName>style.visibility</p:attrName>
                                        </p:attrNameLst>
                                      </p:cBhvr>
                                      <p:to>
                                        <p:strVal val="visible"/>
                                      </p:to>
                                    </p:set>
                                    <p:animEffect transition="in" filter="wipe(left)">
                                      <p:cBhvr>
                                        <p:cTn id="7" dur="1000"/>
                                        <p:tgtEl>
                                          <p:spTgt spid="328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9" name="标题 388098"/>
          <p:cNvSpPr>
            <a:spLocks noGrp="1"/>
          </p:cNvSpPr>
          <p:nvPr>
            <p:ph type="ctrTitle"/>
          </p:nvPr>
        </p:nvSpPr>
        <p:spPr>
          <a:xfrm>
            <a:off x="827088" y="1230313"/>
            <a:ext cx="8137525" cy="1462087"/>
          </a:xfrm>
          <a:ln/>
        </p:spPr>
        <p:txBody>
          <a:bodyPr vert="horz" wrap="square" lIns="91440" tIns="45720" rIns="91440" bIns="45720" anchor="b"/>
          <a:lstStyle/>
          <a:p>
            <a:pPr defTabSz="914400">
              <a:buSzTx/>
            </a:pPr>
            <a:r>
              <a:rPr lang="en-US" altLang="zh-CN" sz="4600" kern="1200" baseline="0">
                <a:latin typeface="Tahoma" panose="020B0604030504040204" pitchFamily="34" charset="0"/>
                <a:ea typeface="隶书" panose="02010509060101010101" pitchFamily="49" charset="-122"/>
              </a:rPr>
              <a:t>3.2</a:t>
            </a:r>
            <a:r>
              <a:rPr lang="zh-CN" altLang="en-US" sz="4600" kern="1200" baseline="0" dirty="0">
                <a:latin typeface="Tahoma" panose="020B0604030504040204" pitchFamily="34" charset="0"/>
                <a:ea typeface="隶书" panose="02010509060101010101" pitchFamily="49" charset="-122"/>
              </a:rPr>
              <a:t>  用户需求分析</a:t>
            </a:r>
          </a:p>
        </p:txBody>
      </p:sp>
      <p:sp>
        <p:nvSpPr>
          <p:cNvPr id="388100" name="矩形 388099"/>
          <p:cNvSpPr/>
          <p:nvPr/>
        </p:nvSpPr>
        <p:spPr>
          <a:xfrm>
            <a:off x="71438" y="95250"/>
            <a:ext cx="4932362" cy="544513"/>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r>
              <a:rPr lang="zh-CN" altLang="en-US" sz="26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第</a:t>
            </a:r>
            <a:r>
              <a:rPr lang="en-US" altLang="zh-CN" sz="2600" b="1">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3</a:t>
            </a:r>
            <a:r>
              <a:rPr lang="zh-CN" altLang="en-US" sz="26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章  数据库应用系统设计方法</a:t>
            </a:r>
            <a:endParaRPr lang="zh-CN" altLang="en-US" sz="2600" b="1">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endParaRPr>
          </a:p>
        </p:txBody>
      </p:sp>
    </p:spTree>
  </p:cSld>
  <p:clrMapOvr>
    <a:masterClrMapping/>
  </p:clrMapOvr>
  <p:transition spd="slow" advTm="364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501" name="文本框 618500"/>
          <p:cNvSpPr txBox="1"/>
          <p:nvPr/>
        </p:nvSpPr>
        <p:spPr>
          <a:xfrm>
            <a:off x="55563" y="115888"/>
            <a:ext cx="8316912" cy="1192212"/>
          </a:xfrm>
          <a:prstGeom prst="rect">
            <a:avLst/>
          </a:prstGeom>
          <a:solidFill>
            <a:schemeClr val="bg1"/>
          </a:solidFill>
          <a:ln w="9525">
            <a:noFill/>
          </a:ln>
        </p:spPr>
        <p:txBody>
          <a:bodyPr anchor="b">
            <a:spAutoFit/>
          </a:bodyPr>
          <a:lstStyle/>
          <a:p>
            <a:pPr>
              <a:spcBef>
                <a:spcPct val="50000"/>
              </a:spcBef>
            </a:pPr>
            <a:endParaRPr lang="zh-CN" altLang="en-US" dirty="0">
              <a:latin typeface="Arial" panose="020B0604020202020204" pitchFamily="34" charset="0"/>
            </a:endParaRPr>
          </a:p>
          <a:p>
            <a:pPr>
              <a:spcBef>
                <a:spcPct val="50000"/>
              </a:spcBef>
            </a:pPr>
            <a:endParaRPr lang="zh-CN" altLang="en-US" dirty="0">
              <a:latin typeface="Arial" panose="020B0604020202020204" pitchFamily="34" charset="0"/>
            </a:endParaRPr>
          </a:p>
          <a:p>
            <a:pPr>
              <a:spcBef>
                <a:spcPct val="50000"/>
              </a:spcBef>
            </a:pPr>
            <a:endParaRPr lang="zh-CN" altLang="en-US" dirty="0">
              <a:latin typeface="Arial" panose="020B0604020202020204" pitchFamily="34" charset="0"/>
            </a:endParaRPr>
          </a:p>
        </p:txBody>
      </p:sp>
      <p:sp>
        <p:nvSpPr>
          <p:cNvPr id="618500" name="矩形 618499"/>
          <p:cNvSpPr/>
          <p:nvPr/>
        </p:nvSpPr>
        <p:spPr>
          <a:xfrm>
            <a:off x="395288" y="765175"/>
            <a:ext cx="8280400" cy="5338763"/>
          </a:xfrm>
          <a:prstGeom prst="rect">
            <a:avLst/>
          </a:prstGeom>
          <a:noFill/>
          <a:ln w="9525" cap="flat" cmpd="sng">
            <a:solidFill>
              <a:srgbClr val="00FF00"/>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85000"/>
              </a:spcBef>
            </a:pPr>
            <a:endParaRPr lang="zh-CN" altLang="en-US" sz="1400" b="0" dirty="0">
              <a:effectLst/>
              <a:latin typeface="黑体" panose="02010609060101010101" pitchFamily="2" charset="-122"/>
              <a:ea typeface="黑体" panose="02010609060101010101" pitchFamily="2" charset="-122"/>
            </a:endParaRPr>
          </a:p>
          <a:p>
            <a:pPr lvl="0">
              <a:lnSpc>
                <a:spcPct val="150000"/>
              </a:lnSpc>
              <a:spcBef>
                <a:spcPct val="0"/>
              </a:spcBef>
            </a:pPr>
            <a:r>
              <a:rPr lang="zh-CN" altLang="en-US" b="0" dirty="0">
                <a:effectLst/>
                <a:latin typeface="黑体" panose="02010609060101010101" pitchFamily="2" charset="-122"/>
                <a:ea typeface="黑体" panose="02010609060101010101" pitchFamily="2" charset="-122"/>
              </a:rPr>
              <a:t>      </a:t>
            </a:r>
            <a:r>
              <a:rPr lang="zh-CN" altLang="en-US" b="0" dirty="0">
                <a:solidFill>
                  <a:srgbClr val="003366"/>
                </a:solidFill>
                <a:effectLst/>
                <a:latin typeface="黑体" panose="02010609060101010101" pitchFamily="2" charset="-122"/>
                <a:ea typeface="黑体" panose="02010609060101010101" pitchFamily="2" charset="-122"/>
              </a:rPr>
              <a:t>用户需求分析阶段的</a:t>
            </a:r>
            <a:r>
              <a:rPr lang="zh-CN" altLang="en-US" b="0" dirty="0">
                <a:solidFill>
                  <a:srgbClr val="660033"/>
                </a:solidFill>
                <a:effectLst/>
                <a:latin typeface="黑体" panose="02010609060101010101" pitchFamily="2" charset="-122"/>
                <a:ea typeface="黑体" panose="02010609060101010101" pitchFamily="2" charset="-122"/>
              </a:rPr>
              <a:t>主要任务</a:t>
            </a:r>
            <a:r>
              <a:rPr lang="zh-CN" altLang="en-US" b="0" dirty="0">
                <a:effectLst/>
                <a:latin typeface="黑体" panose="02010609060101010101" pitchFamily="2" charset="-122"/>
                <a:ea typeface="黑体" panose="02010609060101010101" pitchFamily="2" charset="-122"/>
              </a:rPr>
              <a:t>是了解用户组织的机构，建立用户组织的结构层次方框图；分析用户的业务活动，建立用户的数据管理业务数据流图；收集所需数据，整理数据库中的信息内容；分析用户的数据处理要求和数据安全性与完整性要求；确定系统功能和软硬环境配置，最终形成系统需求分析说明书。 </a:t>
            </a:r>
          </a:p>
        </p:txBody>
      </p:sp>
    </p:spTree>
  </p:cSld>
  <p:clrMapOvr>
    <a:masterClrMapping/>
  </p:clrMapOvr>
  <mc:AlternateContent xmlns:mc="http://schemas.openxmlformats.org/markup-compatibility/2006" xmlns:p14="http://schemas.microsoft.com/office/powerpoint/2010/main">
    <mc:Choice Requires="p14">
      <p:transition spd="slow" p14:dur="2000" advTm="96854"/>
    </mc:Choice>
    <mc:Fallback xmlns="">
      <p:transition spd="slow" advTm="968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618500">
                                            <p:txEl>
                                              <p:pRg st="1" end="1"/>
                                            </p:txEl>
                                          </p:spTgt>
                                        </p:tgtEl>
                                        <p:attrNameLst>
                                          <p:attrName>style.visibility</p:attrName>
                                        </p:attrNameLst>
                                      </p:cBhvr>
                                      <p:to>
                                        <p:strVal val="visible"/>
                                      </p:to>
                                    </p:set>
                                    <p:animEffect transition="in" filter="box(in)">
                                      <p:cBhvr>
                                        <p:cTn id="7" dur="500"/>
                                        <p:tgtEl>
                                          <p:spTgt spid="61850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20" name="矩形 393219"/>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a:t>
            </a:r>
            <a:r>
              <a:rPr lang="zh-CN" altLang="en-US" sz="3500" dirty="0"/>
              <a:t>数据流图及用户业务处理逻辑描述</a:t>
            </a:r>
            <a:r>
              <a:rPr lang="zh-CN" altLang="en-US" dirty="0"/>
              <a:t> </a:t>
            </a:r>
            <a:endParaRPr lang="en-US" altLang="zh-CN"/>
          </a:p>
        </p:txBody>
      </p:sp>
      <p:sp>
        <p:nvSpPr>
          <p:cNvPr id="393221" name="矩形 393220"/>
          <p:cNvSpPr/>
          <p:nvPr/>
        </p:nvSpPr>
        <p:spPr>
          <a:xfrm>
            <a:off x="395288" y="112553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en-US" altLang="zh-CN" sz="2900">
                <a:solidFill>
                  <a:srgbClr val="660033"/>
                </a:solidFill>
                <a:ea typeface="华文新魏" panose="02010800040101010101" pitchFamily="2" charset="-122"/>
              </a:rPr>
              <a:t>1</a:t>
            </a:r>
            <a:r>
              <a:rPr lang="zh-CN" altLang="en-US" sz="2900" dirty="0">
                <a:solidFill>
                  <a:srgbClr val="660033"/>
                </a:solidFill>
                <a:ea typeface="华文新魏" panose="02010800040101010101" pitchFamily="2" charset="-122"/>
              </a:rPr>
              <a:t>、数据流图的概念</a:t>
            </a:r>
          </a:p>
          <a:p>
            <a:pPr lvl="0">
              <a:lnSpc>
                <a:spcPct val="125000"/>
              </a:lnSpc>
              <a:spcBef>
                <a:spcPct val="10000"/>
              </a:spcBef>
            </a:pPr>
            <a:r>
              <a:rPr lang="zh-CN" altLang="en-US" dirty="0">
                <a:solidFill>
                  <a:srgbClr val="6600FF"/>
                </a:solidFill>
              </a:rPr>
              <a:t>          </a:t>
            </a:r>
            <a:r>
              <a:rPr lang="zh-CN" altLang="en-US" dirty="0">
                <a:solidFill>
                  <a:srgbClr val="6600FF"/>
                </a:solidFill>
                <a:latin typeface="华文中宋" panose="02010600040101010101" pitchFamily="2" charset="-122"/>
                <a:ea typeface="华文中宋" panose="02010600040101010101" pitchFamily="2" charset="-122"/>
              </a:rPr>
              <a:t>◆ </a:t>
            </a:r>
            <a:r>
              <a:rPr lang="zh-CN" altLang="en-US" dirty="0"/>
              <a:t>数据流图是一种用于描绘系统逻辑模型的图形工具，是逻辑系统的图形表示。</a:t>
            </a:r>
          </a:p>
          <a:p>
            <a:pPr lvl="0">
              <a:lnSpc>
                <a:spcPct val="125000"/>
              </a:lnSpc>
              <a:spcBef>
                <a:spcPct val="10000"/>
              </a:spcBef>
            </a:pPr>
            <a:r>
              <a:rPr lang="zh-CN" altLang="en-US" dirty="0"/>
              <a:t>          </a:t>
            </a:r>
            <a:r>
              <a:rPr lang="zh-CN" altLang="en-US" dirty="0">
                <a:solidFill>
                  <a:srgbClr val="6600FF"/>
                </a:solidFill>
                <a:latin typeface="华文中宋" panose="02010600040101010101" pitchFamily="2" charset="-122"/>
                <a:ea typeface="华文中宋" panose="02010600040101010101" pitchFamily="2" charset="-122"/>
              </a:rPr>
              <a:t>◆ </a:t>
            </a:r>
            <a:r>
              <a:rPr lang="zh-CN" altLang="en-US" dirty="0">
                <a:solidFill>
                  <a:srgbClr val="003366"/>
                </a:solidFill>
              </a:rPr>
              <a:t>数据流图只关心系统需要完成的基本逻辑功能，而无须考虑这些逻辑功能的实现问题。</a:t>
            </a:r>
          </a:p>
          <a:p>
            <a:pPr lvl="0">
              <a:lnSpc>
                <a:spcPct val="125000"/>
              </a:lnSpc>
              <a:spcBef>
                <a:spcPct val="10000"/>
              </a:spcBef>
            </a:pPr>
            <a:r>
              <a:rPr lang="zh-CN" altLang="en-US" dirty="0"/>
              <a:t>          </a:t>
            </a:r>
            <a:r>
              <a:rPr lang="zh-CN" altLang="en-US" dirty="0">
                <a:solidFill>
                  <a:srgbClr val="6600FF"/>
                </a:solidFill>
                <a:latin typeface="华文中宋" panose="02010600040101010101" pitchFamily="2" charset="-122"/>
                <a:ea typeface="华文中宋" panose="02010600040101010101" pitchFamily="2" charset="-122"/>
              </a:rPr>
              <a:t>◆ </a:t>
            </a:r>
            <a:r>
              <a:rPr lang="zh-CN" altLang="en-US" dirty="0">
                <a:solidFill>
                  <a:srgbClr val="003399"/>
                </a:solidFill>
              </a:rPr>
              <a:t>数据流图中没有任何具体的物理元素，只从数据传递和处理的角度反映信息在系统中的流动情况。</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7994"/>
    </mc:Choice>
    <mc:Fallback xmlns="">
      <p:transition spd="slow" advTm="10799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3221">
                                            <p:txEl>
                                              <p:pRg st="0" end="0"/>
                                            </p:txEl>
                                          </p:spTgt>
                                        </p:tgtEl>
                                        <p:attrNameLst>
                                          <p:attrName>style.visibility</p:attrName>
                                        </p:attrNameLst>
                                      </p:cBhvr>
                                      <p:to>
                                        <p:strVal val="visible"/>
                                      </p:to>
                                    </p:set>
                                    <p:animEffect transition="in" filter="wipe(left)">
                                      <p:cBhvr>
                                        <p:cTn id="7" dur="1000"/>
                                        <p:tgtEl>
                                          <p:spTgt spid="393221">
                                            <p:txEl>
                                              <p:pRg st="0" end="0"/>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393221">
                                            <p:txEl>
                                              <p:pRg st="1" end="1"/>
                                            </p:txEl>
                                          </p:spTgt>
                                        </p:tgtEl>
                                        <p:attrNameLst>
                                          <p:attrName>style.visibility</p:attrName>
                                        </p:attrNameLst>
                                      </p:cBhvr>
                                      <p:to>
                                        <p:strVal val="visible"/>
                                      </p:to>
                                    </p:set>
                                    <p:animEffect transition="in" filter="wipe(left)">
                                      <p:cBhvr>
                                        <p:cTn id="11" dur="2000"/>
                                        <p:tgtEl>
                                          <p:spTgt spid="393221">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93221">
                                            <p:txEl>
                                              <p:pRg st="2" end="2"/>
                                            </p:txEl>
                                          </p:spTgt>
                                        </p:tgtEl>
                                        <p:attrNameLst>
                                          <p:attrName>style.visibility</p:attrName>
                                        </p:attrNameLst>
                                      </p:cBhvr>
                                      <p:to>
                                        <p:strVal val="visible"/>
                                      </p:to>
                                    </p:set>
                                    <p:animEffect transition="in" filter="wipe(left)">
                                      <p:cBhvr>
                                        <p:cTn id="16" dur="2000"/>
                                        <p:tgtEl>
                                          <p:spTgt spid="393221">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93221">
                                            <p:txEl>
                                              <p:pRg st="3" end="3"/>
                                            </p:txEl>
                                          </p:spTgt>
                                        </p:tgtEl>
                                        <p:attrNameLst>
                                          <p:attrName>style.visibility</p:attrName>
                                        </p:attrNameLst>
                                      </p:cBhvr>
                                      <p:to>
                                        <p:strVal val="visible"/>
                                      </p:to>
                                    </p:set>
                                    <p:animEffect transition="in" filter="wipe(left)">
                                      <p:cBhvr>
                                        <p:cTn id="21" dur="2000"/>
                                        <p:tgtEl>
                                          <p:spTgt spid="3932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4" name="矩形 394243"/>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a:t>
            </a:r>
            <a:r>
              <a:rPr lang="zh-CN" altLang="en-US" sz="3500" dirty="0"/>
              <a:t>数据流图及用户业务处理逻辑描述</a:t>
            </a:r>
            <a:r>
              <a:rPr lang="zh-CN" altLang="en-US" dirty="0"/>
              <a:t> </a:t>
            </a:r>
            <a:endParaRPr lang="en-US" altLang="zh-CN"/>
          </a:p>
        </p:txBody>
      </p:sp>
      <p:sp>
        <p:nvSpPr>
          <p:cNvPr id="394245" name="矩形 394244"/>
          <p:cNvSpPr/>
          <p:nvPr/>
        </p:nvSpPr>
        <p:spPr>
          <a:xfrm>
            <a:off x="395288" y="1125538"/>
            <a:ext cx="8280400" cy="65722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en-US" altLang="zh-CN" sz="2900">
                <a:solidFill>
                  <a:srgbClr val="660033"/>
                </a:solidFill>
                <a:ea typeface="华文新魏" panose="02010800040101010101" pitchFamily="2" charset="-122"/>
              </a:rPr>
              <a:t>2</a:t>
            </a:r>
            <a:r>
              <a:rPr lang="zh-CN" altLang="en-US" sz="2900" dirty="0">
                <a:solidFill>
                  <a:srgbClr val="660033"/>
                </a:solidFill>
                <a:ea typeface="华文新魏" panose="02010800040101010101" pitchFamily="2" charset="-122"/>
              </a:rPr>
              <a:t>、数据流图的基本符号</a:t>
            </a:r>
            <a:endParaRPr lang="zh-CN" altLang="en-US" sz="2900" dirty="0">
              <a:solidFill>
                <a:srgbClr val="003399"/>
              </a:solidFill>
            </a:endParaRPr>
          </a:p>
        </p:txBody>
      </p:sp>
      <p:grpSp>
        <p:nvGrpSpPr>
          <p:cNvPr id="394246" name="组合 394245"/>
          <p:cNvGrpSpPr/>
          <p:nvPr/>
        </p:nvGrpSpPr>
        <p:grpSpPr>
          <a:xfrm>
            <a:off x="838200" y="1912938"/>
            <a:ext cx="7467600" cy="1311275"/>
            <a:chOff x="624" y="1209"/>
            <a:chExt cx="4704" cy="826"/>
          </a:xfrm>
        </p:grpSpPr>
        <p:sp>
          <p:nvSpPr>
            <p:cNvPr id="394247" name="矩形 394246"/>
            <p:cNvSpPr/>
            <p:nvPr/>
          </p:nvSpPr>
          <p:spPr>
            <a:xfrm>
              <a:off x="1056" y="1209"/>
              <a:ext cx="461" cy="480"/>
            </a:xfrm>
            <a:prstGeom prst="rect">
              <a:avLst/>
            </a:prstGeom>
            <a:solidFill>
              <a:schemeClr val="bg1"/>
            </a:solidFill>
            <a:ln w="28575" cap="flat" cmpd="sng">
              <a:solidFill>
                <a:srgbClr val="0066FF"/>
              </a:solidFill>
              <a:prstDash val="solid"/>
              <a:miter/>
              <a:headEnd type="none" w="med" len="med"/>
              <a:tailEnd type="none" w="med" len="med"/>
            </a:ln>
          </p:spPr>
          <p:txBody>
            <a:bodyPr/>
            <a:lstStyle/>
            <a:p>
              <a:endParaRPr lang="zh-CN" altLang="en-US"/>
            </a:p>
          </p:txBody>
        </p:sp>
        <p:sp>
          <p:nvSpPr>
            <p:cNvPr id="394248" name="椭圆 394247"/>
            <p:cNvSpPr/>
            <p:nvPr/>
          </p:nvSpPr>
          <p:spPr>
            <a:xfrm>
              <a:off x="2323" y="1209"/>
              <a:ext cx="461" cy="480"/>
            </a:xfrm>
            <a:prstGeom prst="ellipse">
              <a:avLst/>
            </a:prstGeom>
            <a:solidFill>
              <a:schemeClr val="bg1"/>
            </a:solidFill>
            <a:ln w="28575" cap="flat" cmpd="sng">
              <a:solidFill>
                <a:srgbClr val="0066FF"/>
              </a:solidFill>
              <a:prstDash val="solid"/>
              <a:headEnd type="none" w="med" len="med"/>
              <a:tailEnd type="none" w="med" len="med"/>
            </a:ln>
          </p:spPr>
          <p:txBody>
            <a:bodyPr/>
            <a:lstStyle/>
            <a:p>
              <a:endParaRPr lang="zh-CN" altLang="en-US"/>
            </a:p>
          </p:txBody>
        </p:sp>
        <p:grpSp>
          <p:nvGrpSpPr>
            <p:cNvPr id="394249" name="组合 394248"/>
            <p:cNvGrpSpPr/>
            <p:nvPr/>
          </p:nvGrpSpPr>
          <p:grpSpPr>
            <a:xfrm>
              <a:off x="3475" y="1329"/>
              <a:ext cx="461" cy="240"/>
              <a:chOff x="5940" y="4248"/>
              <a:chExt cx="720" cy="312"/>
            </a:xfrm>
          </p:grpSpPr>
          <p:sp>
            <p:nvSpPr>
              <p:cNvPr id="394250" name="直接连接符 394249"/>
              <p:cNvSpPr/>
              <p:nvPr/>
            </p:nvSpPr>
            <p:spPr>
              <a:xfrm>
                <a:off x="5940" y="4248"/>
                <a:ext cx="720" cy="0"/>
              </a:xfrm>
              <a:prstGeom prst="line">
                <a:avLst/>
              </a:prstGeom>
              <a:ln w="28575" cap="flat" cmpd="sng">
                <a:solidFill>
                  <a:srgbClr val="0066FF"/>
                </a:solidFill>
                <a:prstDash val="solid"/>
                <a:headEnd type="none" w="med" len="med"/>
                <a:tailEnd type="none" w="med" len="med"/>
              </a:ln>
            </p:spPr>
          </p:sp>
          <p:sp>
            <p:nvSpPr>
              <p:cNvPr id="394251" name="直接连接符 394250"/>
              <p:cNvSpPr/>
              <p:nvPr/>
            </p:nvSpPr>
            <p:spPr>
              <a:xfrm>
                <a:off x="5940" y="4560"/>
                <a:ext cx="720" cy="0"/>
              </a:xfrm>
              <a:prstGeom prst="line">
                <a:avLst/>
              </a:prstGeom>
              <a:ln w="28575" cap="flat" cmpd="sng">
                <a:solidFill>
                  <a:srgbClr val="0066FF"/>
                </a:solidFill>
                <a:prstDash val="solid"/>
                <a:headEnd type="none" w="med" len="med"/>
                <a:tailEnd type="none" w="med" len="med"/>
              </a:ln>
            </p:spPr>
          </p:sp>
          <p:sp>
            <p:nvSpPr>
              <p:cNvPr id="394252" name="直接连接符 394251"/>
              <p:cNvSpPr/>
              <p:nvPr/>
            </p:nvSpPr>
            <p:spPr>
              <a:xfrm>
                <a:off x="5940" y="4248"/>
                <a:ext cx="0" cy="312"/>
              </a:xfrm>
              <a:prstGeom prst="line">
                <a:avLst/>
              </a:prstGeom>
              <a:ln w="28575" cap="flat" cmpd="sng">
                <a:solidFill>
                  <a:srgbClr val="0066FF"/>
                </a:solidFill>
                <a:prstDash val="solid"/>
                <a:headEnd type="none" w="med" len="med"/>
                <a:tailEnd type="none" w="med" len="med"/>
              </a:ln>
            </p:spPr>
          </p:sp>
        </p:grpSp>
        <p:sp>
          <p:nvSpPr>
            <p:cNvPr id="394253" name="直接连接符 394252"/>
            <p:cNvSpPr/>
            <p:nvPr/>
          </p:nvSpPr>
          <p:spPr>
            <a:xfrm>
              <a:off x="4627" y="1449"/>
              <a:ext cx="461" cy="0"/>
            </a:xfrm>
            <a:prstGeom prst="line">
              <a:avLst/>
            </a:prstGeom>
            <a:ln w="28575" cap="flat" cmpd="sng">
              <a:solidFill>
                <a:srgbClr val="0066FF"/>
              </a:solidFill>
              <a:prstDash val="solid"/>
              <a:headEnd type="none" w="med" len="med"/>
              <a:tailEnd type="triangle" w="med" len="med"/>
            </a:ln>
          </p:spPr>
        </p:sp>
        <p:sp>
          <p:nvSpPr>
            <p:cNvPr id="394254" name="文本框 394253"/>
            <p:cNvSpPr txBox="1"/>
            <p:nvPr/>
          </p:nvSpPr>
          <p:spPr>
            <a:xfrm>
              <a:off x="624" y="1785"/>
              <a:ext cx="4704" cy="250"/>
            </a:xfrm>
            <a:prstGeom prst="rect">
              <a:avLst/>
            </a:prstGeom>
            <a:noFill/>
            <a:ln w="9525">
              <a:noFill/>
            </a:ln>
          </p:spPr>
          <p:txBody>
            <a:bodyPr>
              <a:spAutoFit/>
            </a:bodyPr>
            <a:lstStyle/>
            <a:p>
              <a:pPr>
                <a:spcBef>
                  <a:spcPct val="50000"/>
                </a:spcBef>
              </a:pPr>
              <a:r>
                <a:rPr lang="zh-CN" altLang="en-US" sz="2000" dirty="0">
                  <a:latin typeface="黑体" panose="02010609060101010101" pitchFamily="2" charset="-122"/>
                  <a:ea typeface="黑体" panose="02010609060101010101" pitchFamily="2" charset="-122"/>
                </a:rPr>
                <a:t>数据源点与终点      数据处理      数据存储       数据流</a:t>
              </a:r>
            </a:p>
          </p:txBody>
        </p:sp>
      </p:grpSp>
      <p:sp>
        <p:nvSpPr>
          <p:cNvPr id="394255" name="矩形 394254"/>
          <p:cNvSpPr/>
          <p:nvPr/>
        </p:nvSpPr>
        <p:spPr>
          <a:xfrm>
            <a:off x="395288" y="3357563"/>
            <a:ext cx="8280400" cy="303371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zh-CN" altLang="en-US" dirty="0">
                <a:solidFill>
                  <a:srgbClr val="990000"/>
                </a:solidFill>
              </a:rPr>
              <a:t>（</a:t>
            </a:r>
            <a:r>
              <a:rPr lang="en-US" altLang="zh-CN">
                <a:solidFill>
                  <a:srgbClr val="990000"/>
                </a:solidFill>
              </a:rPr>
              <a:t>1</a:t>
            </a:r>
            <a:r>
              <a:rPr lang="zh-CN" altLang="en-US" dirty="0">
                <a:solidFill>
                  <a:srgbClr val="990000"/>
                </a:solidFill>
              </a:rPr>
              <a:t>）数据源点与终点</a:t>
            </a:r>
          </a:p>
          <a:p>
            <a:pPr lvl="0"/>
            <a:r>
              <a:rPr lang="zh-CN" altLang="en-US" dirty="0">
                <a:solidFill>
                  <a:srgbClr val="990000"/>
                </a:solidFill>
              </a:rPr>
              <a:t>          </a:t>
            </a:r>
            <a:r>
              <a:rPr lang="zh-CN" altLang="en-US" dirty="0">
                <a:solidFill>
                  <a:srgbClr val="006666"/>
                </a:solidFill>
              </a:rPr>
              <a:t>数据源点与终点</a:t>
            </a:r>
            <a:r>
              <a:rPr lang="zh-CN" altLang="en-US" dirty="0">
                <a:effectLst/>
              </a:rPr>
              <a:t>用于</a:t>
            </a:r>
            <a:r>
              <a:rPr lang="zh-CN" altLang="en-US" dirty="0"/>
              <a:t>表示外部客体，比如存在于系统之外的人、事或组织等。</a:t>
            </a:r>
          </a:p>
          <a:p>
            <a:pPr lvl="0"/>
            <a:r>
              <a:rPr lang="zh-CN" altLang="en-US" dirty="0"/>
              <a:t>          </a:t>
            </a:r>
            <a:r>
              <a:rPr lang="zh-CN" altLang="en-US" dirty="0">
                <a:solidFill>
                  <a:srgbClr val="003366"/>
                </a:solidFill>
              </a:rPr>
              <a:t>数据的源点是指数据的起源处，数据的终点是指数据的目的地。</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1553"/>
    </mc:Choice>
    <mc:Fallback xmlns="">
      <p:transition spd="slow" advTm="715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94246"/>
                                        </p:tgtEl>
                                        <p:attrNameLst>
                                          <p:attrName>style.visibility</p:attrName>
                                        </p:attrNameLst>
                                      </p:cBhvr>
                                      <p:to>
                                        <p:strVal val="visible"/>
                                      </p:to>
                                    </p:set>
                                    <p:animEffect transition="in" filter="wipe(left)">
                                      <p:cBhvr>
                                        <p:cTn id="7" dur="3000"/>
                                        <p:tgtEl>
                                          <p:spTgt spid="3942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4255">
                                            <p:txEl>
                                              <p:pRg st="0" end="0"/>
                                            </p:txEl>
                                          </p:spTgt>
                                        </p:tgtEl>
                                        <p:attrNameLst>
                                          <p:attrName>style.visibility</p:attrName>
                                        </p:attrNameLst>
                                      </p:cBhvr>
                                      <p:to>
                                        <p:strVal val="visible"/>
                                      </p:to>
                                    </p:set>
                                    <p:animEffect transition="in" filter="blinds(horizontal)">
                                      <p:cBhvr>
                                        <p:cTn id="12" dur="1000"/>
                                        <p:tgtEl>
                                          <p:spTgt spid="394255">
                                            <p:txEl>
                                              <p:pRg st="0" end="0"/>
                                            </p:txEl>
                                          </p:spTgt>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394255">
                                            <p:txEl>
                                              <p:pRg st="1" end="1"/>
                                            </p:txEl>
                                          </p:spTgt>
                                        </p:tgtEl>
                                        <p:attrNameLst>
                                          <p:attrName>style.visibility</p:attrName>
                                        </p:attrNameLst>
                                      </p:cBhvr>
                                      <p:to>
                                        <p:strVal val="visible"/>
                                      </p:to>
                                    </p:set>
                                    <p:animEffect transition="in" filter="wipe(up)">
                                      <p:cBhvr>
                                        <p:cTn id="16" dur="1000"/>
                                        <p:tgtEl>
                                          <p:spTgt spid="394255">
                                            <p:txEl>
                                              <p:pRg st="1" end="1"/>
                                            </p:txEl>
                                          </p:spTgt>
                                        </p:tgtEl>
                                      </p:cBhvr>
                                    </p:animEffect>
                                  </p:childTnLst>
                                </p:cTn>
                              </p:par>
                            </p:childTnLst>
                          </p:cTn>
                        </p:par>
                        <p:par>
                          <p:cTn id="17" fill="hold">
                            <p:stCondLst>
                              <p:cond delay="2000"/>
                            </p:stCondLst>
                            <p:childTnLst>
                              <p:par>
                                <p:cTn id="18" presetID="22" presetClass="entr" presetSubtype="1" fill="hold" nodeType="afterEffect">
                                  <p:stCondLst>
                                    <p:cond delay="0"/>
                                  </p:stCondLst>
                                  <p:childTnLst>
                                    <p:set>
                                      <p:cBhvr>
                                        <p:cTn id="19" dur="1" fill="hold">
                                          <p:stCondLst>
                                            <p:cond delay="0"/>
                                          </p:stCondLst>
                                        </p:cTn>
                                        <p:tgtEl>
                                          <p:spTgt spid="394255">
                                            <p:txEl>
                                              <p:pRg st="2" end="2"/>
                                            </p:txEl>
                                          </p:spTgt>
                                        </p:tgtEl>
                                        <p:attrNameLst>
                                          <p:attrName>style.visibility</p:attrName>
                                        </p:attrNameLst>
                                      </p:cBhvr>
                                      <p:to>
                                        <p:strVal val="visible"/>
                                      </p:to>
                                    </p:set>
                                    <p:animEffect transition="in" filter="wipe(up)">
                                      <p:cBhvr>
                                        <p:cTn id="20" dur="1000"/>
                                        <p:tgtEl>
                                          <p:spTgt spid="3942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8" name="矩形 395267"/>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a:t>
            </a:r>
            <a:r>
              <a:rPr lang="zh-CN" altLang="en-US" sz="3500" dirty="0"/>
              <a:t>数据流图及用户业务处理逻辑描述</a:t>
            </a:r>
            <a:r>
              <a:rPr lang="zh-CN" altLang="en-US" dirty="0"/>
              <a:t> </a:t>
            </a:r>
            <a:endParaRPr lang="en-US" altLang="zh-CN"/>
          </a:p>
        </p:txBody>
      </p:sp>
      <p:sp>
        <p:nvSpPr>
          <p:cNvPr id="395269" name="矩形 395268"/>
          <p:cNvSpPr/>
          <p:nvPr/>
        </p:nvSpPr>
        <p:spPr>
          <a:xfrm>
            <a:off x="395288" y="1125538"/>
            <a:ext cx="8280400" cy="65722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en-US" altLang="zh-CN" sz="2900">
                <a:solidFill>
                  <a:srgbClr val="660033"/>
                </a:solidFill>
                <a:ea typeface="华文新魏" panose="02010800040101010101" pitchFamily="2" charset="-122"/>
              </a:rPr>
              <a:t>2</a:t>
            </a:r>
            <a:r>
              <a:rPr lang="zh-CN" altLang="en-US" sz="2900" dirty="0">
                <a:solidFill>
                  <a:srgbClr val="660033"/>
                </a:solidFill>
                <a:ea typeface="华文新魏" panose="02010800040101010101" pitchFamily="2" charset="-122"/>
              </a:rPr>
              <a:t>、数据流图的基本符号</a:t>
            </a:r>
            <a:endParaRPr lang="zh-CN" altLang="en-US" sz="2900" dirty="0">
              <a:solidFill>
                <a:srgbClr val="003399"/>
              </a:solidFill>
            </a:endParaRPr>
          </a:p>
        </p:txBody>
      </p:sp>
      <p:grpSp>
        <p:nvGrpSpPr>
          <p:cNvPr id="395270" name="组合 395269"/>
          <p:cNvGrpSpPr/>
          <p:nvPr/>
        </p:nvGrpSpPr>
        <p:grpSpPr>
          <a:xfrm>
            <a:off x="838200" y="1912938"/>
            <a:ext cx="7467600" cy="1311275"/>
            <a:chOff x="624" y="1209"/>
            <a:chExt cx="4704" cy="826"/>
          </a:xfrm>
        </p:grpSpPr>
        <p:sp>
          <p:nvSpPr>
            <p:cNvPr id="395271" name="矩形 395270"/>
            <p:cNvSpPr/>
            <p:nvPr/>
          </p:nvSpPr>
          <p:spPr>
            <a:xfrm>
              <a:off x="1056" y="1209"/>
              <a:ext cx="461" cy="480"/>
            </a:xfrm>
            <a:prstGeom prst="rect">
              <a:avLst/>
            </a:prstGeom>
            <a:solidFill>
              <a:schemeClr val="bg1"/>
            </a:solidFill>
            <a:ln w="28575" cap="flat" cmpd="sng">
              <a:solidFill>
                <a:srgbClr val="0066FF"/>
              </a:solidFill>
              <a:prstDash val="solid"/>
              <a:miter/>
              <a:headEnd type="none" w="med" len="med"/>
              <a:tailEnd type="none" w="med" len="med"/>
            </a:ln>
          </p:spPr>
          <p:txBody>
            <a:bodyPr/>
            <a:lstStyle/>
            <a:p>
              <a:endParaRPr lang="zh-CN" altLang="en-US"/>
            </a:p>
          </p:txBody>
        </p:sp>
        <p:sp>
          <p:nvSpPr>
            <p:cNvPr id="395272" name="椭圆 395271"/>
            <p:cNvSpPr/>
            <p:nvPr/>
          </p:nvSpPr>
          <p:spPr>
            <a:xfrm>
              <a:off x="2323" y="1209"/>
              <a:ext cx="461" cy="480"/>
            </a:xfrm>
            <a:prstGeom prst="ellipse">
              <a:avLst/>
            </a:prstGeom>
            <a:solidFill>
              <a:schemeClr val="bg1"/>
            </a:solidFill>
            <a:ln w="28575" cap="flat" cmpd="sng">
              <a:solidFill>
                <a:srgbClr val="0066FF"/>
              </a:solidFill>
              <a:prstDash val="solid"/>
              <a:headEnd type="none" w="med" len="med"/>
              <a:tailEnd type="none" w="med" len="med"/>
            </a:ln>
          </p:spPr>
          <p:txBody>
            <a:bodyPr/>
            <a:lstStyle/>
            <a:p>
              <a:endParaRPr lang="zh-CN" altLang="en-US"/>
            </a:p>
          </p:txBody>
        </p:sp>
        <p:grpSp>
          <p:nvGrpSpPr>
            <p:cNvPr id="395273" name="组合 395272"/>
            <p:cNvGrpSpPr/>
            <p:nvPr/>
          </p:nvGrpSpPr>
          <p:grpSpPr>
            <a:xfrm>
              <a:off x="3475" y="1329"/>
              <a:ext cx="461" cy="240"/>
              <a:chOff x="5940" y="4248"/>
              <a:chExt cx="720" cy="312"/>
            </a:xfrm>
          </p:grpSpPr>
          <p:sp>
            <p:nvSpPr>
              <p:cNvPr id="395274" name="直接连接符 395273"/>
              <p:cNvSpPr/>
              <p:nvPr/>
            </p:nvSpPr>
            <p:spPr>
              <a:xfrm>
                <a:off x="5940" y="4248"/>
                <a:ext cx="720" cy="0"/>
              </a:xfrm>
              <a:prstGeom prst="line">
                <a:avLst/>
              </a:prstGeom>
              <a:ln w="28575" cap="flat" cmpd="sng">
                <a:solidFill>
                  <a:srgbClr val="0066FF"/>
                </a:solidFill>
                <a:prstDash val="solid"/>
                <a:headEnd type="none" w="med" len="med"/>
                <a:tailEnd type="none" w="med" len="med"/>
              </a:ln>
            </p:spPr>
          </p:sp>
          <p:sp>
            <p:nvSpPr>
              <p:cNvPr id="395275" name="直接连接符 395274"/>
              <p:cNvSpPr/>
              <p:nvPr/>
            </p:nvSpPr>
            <p:spPr>
              <a:xfrm>
                <a:off x="5940" y="4560"/>
                <a:ext cx="720" cy="0"/>
              </a:xfrm>
              <a:prstGeom prst="line">
                <a:avLst/>
              </a:prstGeom>
              <a:ln w="28575" cap="flat" cmpd="sng">
                <a:solidFill>
                  <a:srgbClr val="0066FF"/>
                </a:solidFill>
                <a:prstDash val="solid"/>
                <a:headEnd type="none" w="med" len="med"/>
                <a:tailEnd type="none" w="med" len="med"/>
              </a:ln>
            </p:spPr>
          </p:sp>
          <p:sp>
            <p:nvSpPr>
              <p:cNvPr id="395276" name="直接连接符 395275"/>
              <p:cNvSpPr/>
              <p:nvPr/>
            </p:nvSpPr>
            <p:spPr>
              <a:xfrm>
                <a:off x="5940" y="4248"/>
                <a:ext cx="0" cy="312"/>
              </a:xfrm>
              <a:prstGeom prst="line">
                <a:avLst/>
              </a:prstGeom>
              <a:ln w="28575" cap="flat" cmpd="sng">
                <a:solidFill>
                  <a:srgbClr val="0066FF"/>
                </a:solidFill>
                <a:prstDash val="solid"/>
                <a:headEnd type="none" w="med" len="med"/>
                <a:tailEnd type="none" w="med" len="med"/>
              </a:ln>
            </p:spPr>
          </p:sp>
        </p:grpSp>
        <p:sp>
          <p:nvSpPr>
            <p:cNvPr id="395277" name="直接连接符 395276"/>
            <p:cNvSpPr/>
            <p:nvPr/>
          </p:nvSpPr>
          <p:spPr>
            <a:xfrm>
              <a:off x="4627" y="1449"/>
              <a:ext cx="461" cy="0"/>
            </a:xfrm>
            <a:prstGeom prst="line">
              <a:avLst/>
            </a:prstGeom>
            <a:ln w="28575" cap="flat" cmpd="sng">
              <a:solidFill>
                <a:srgbClr val="0066FF"/>
              </a:solidFill>
              <a:prstDash val="solid"/>
              <a:headEnd type="none" w="med" len="med"/>
              <a:tailEnd type="triangle" w="med" len="med"/>
            </a:ln>
          </p:spPr>
        </p:sp>
        <p:sp>
          <p:nvSpPr>
            <p:cNvPr id="395278" name="文本框 395277"/>
            <p:cNvSpPr txBox="1"/>
            <p:nvPr/>
          </p:nvSpPr>
          <p:spPr>
            <a:xfrm>
              <a:off x="624" y="1785"/>
              <a:ext cx="4704" cy="250"/>
            </a:xfrm>
            <a:prstGeom prst="rect">
              <a:avLst/>
            </a:prstGeom>
            <a:noFill/>
            <a:ln w="9525">
              <a:noFill/>
            </a:ln>
          </p:spPr>
          <p:txBody>
            <a:bodyPr>
              <a:spAutoFit/>
            </a:bodyPr>
            <a:lstStyle/>
            <a:p>
              <a:pPr>
                <a:spcBef>
                  <a:spcPct val="50000"/>
                </a:spcBef>
              </a:pPr>
              <a:r>
                <a:rPr lang="zh-CN" altLang="en-US" sz="2000" dirty="0">
                  <a:latin typeface="黑体" panose="02010609060101010101" pitchFamily="2" charset="-122"/>
                  <a:ea typeface="黑体" panose="02010609060101010101" pitchFamily="2" charset="-122"/>
                </a:rPr>
                <a:t>数据源点与终点      数据处理      数据存储       数据流</a:t>
              </a:r>
            </a:p>
          </p:txBody>
        </p:sp>
      </p:grpSp>
      <p:sp>
        <p:nvSpPr>
          <p:cNvPr id="395279" name="矩形 395278"/>
          <p:cNvSpPr/>
          <p:nvPr/>
        </p:nvSpPr>
        <p:spPr>
          <a:xfrm>
            <a:off x="395288" y="3357563"/>
            <a:ext cx="8280400" cy="303371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zh-CN" altLang="en-US" dirty="0">
                <a:solidFill>
                  <a:srgbClr val="990000"/>
                </a:solidFill>
              </a:rPr>
              <a:t>（</a:t>
            </a:r>
            <a:r>
              <a:rPr lang="en-US" altLang="zh-CN">
                <a:solidFill>
                  <a:srgbClr val="990000"/>
                </a:solidFill>
              </a:rPr>
              <a:t>2</a:t>
            </a:r>
            <a:r>
              <a:rPr lang="zh-CN" altLang="en-US" dirty="0">
                <a:solidFill>
                  <a:srgbClr val="990000"/>
                </a:solidFill>
              </a:rPr>
              <a:t>）数据处理</a:t>
            </a:r>
          </a:p>
          <a:p>
            <a:pPr lvl="0"/>
            <a:r>
              <a:rPr lang="zh-CN" altLang="en-US" dirty="0">
                <a:effectLst/>
              </a:rPr>
              <a:t>          </a:t>
            </a:r>
            <a:r>
              <a:rPr lang="zh-CN" altLang="en-US" dirty="0">
                <a:solidFill>
                  <a:srgbClr val="006666"/>
                </a:solidFill>
              </a:rPr>
              <a:t>数据处理</a:t>
            </a:r>
            <a:r>
              <a:rPr lang="zh-CN" altLang="en-US" dirty="0"/>
              <a:t>是对数据流图中的数据进行的特定加工过程。</a:t>
            </a:r>
          </a:p>
          <a:p>
            <a:pPr lvl="0"/>
            <a:r>
              <a:rPr lang="zh-CN" altLang="en-US" dirty="0"/>
              <a:t>          </a:t>
            </a:r>
            <a:r>
              <a:rPr lang="zh-CN" altLang="en-US" dirty="0">
                <a:solidFill>
                  <a:srgbClr val="003366"/>
                </a:solidFill>
              </a:rPr>
              <a:t>一个处理可以是一个程序、一组程序或一个程序模块，也可以是某个人工处理过程。</a:t>
            </a:r>
          </a:p>
        </p:txBody>
      </p:sp>
    </p:spTree>
  </p:cSld>
  <p:clrMapOvr>
    <a:masterClrMapping/>
  </p:clrMapOvr>
  <mc:AlternateContent xmlns:mc="http://schemas.openxmlformats.org/markup-compatibility/2006" xmlns:p14="http://schemas.microsoft.com/office/powerpoint/2010/main">
    <mc:Choice Requires="p14">
      <p:transition spd="slow" p14:dur="2000" advTm="30281"/>
    </mc:Choice>
    <mc:Fallback xmlns="">
      <p:transition spd="slow" advTm="302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95279">
                                            <p:txEl>
                                              <p:pRg st="0" end="0"/>
                                            </p:txEl>
                                          </p:spTgt>
                                        </p:tgtEl>
                                        <p:attrNameLst>
                                          <p:attrName>style.visibility</p:attrName>
                                        </p:attrNameLst>
                                      </p:cBhvr>
                                      <p:to>
                                        <p:strVal val="visible"/>
                                      </p:to>
                                    </p:set>
                                    <p:animEffect transition="in" filter="wipe(left)">
                                      <p:cBhvr>
                                        <p:cTn id="7" dur="500"/>
                                        <p:tgtEl>
                                          <p:spTgt spid="395279">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95279">
                                            <p:txEl>
                                              <p:pRg st="1" end="1"/>
                                            </p:txEl>
                                          </p:spTgt>
                                        </p:tgtEl>
                                        <p:attrNameLst>
                                          <p:attrName>style.visibility</p:attrName>
                                        </p:attrNameLst>
                                      </p:cBhvr>
                                      <p:to>
                                        <p:strVal val="visible"/>
                                      </p:to>
                                    </p:set>
                                    <p:animEffect transition="in" filter="wipe(up)">
                                      <p:cBhvr>
                                        <p:cTn id="11" dur="2000"/>
                                        <p:tgtEl>
                                          <p:spTgt spid="395279">
                                            <p:txEl>
                                              <p:pRg st="1" end="1"/>
                                            </p:txEl>
                                          </p:spTgt>
                                        </p:tgtEl>
                                      </p:cBhvr>
                                    </p:animEffect>
                                  </p:childTnLst>
                                </p:cTn>
                              </p:par>
                            </p:childTnLst>
                          </p:cTn>
                        </p:par>
                        <p:par>
                          <p:cTn id="12" fill="hold">
                            <p:stCondLst>
                              <p:cond delay="2500"/>
                            </p:stCondLst>
                            <p:childTnLst>
                              <p:par>
                                <p:cTn id="13" presetID="22" presetClass="entr" presetSubtype="1" fill="hold" nodeType="afterEffect">
                                  <p:stCondLst>
                                    <p:cond delay="0"/>
                                  </p:stCondLst>
                                  <p:childTnLst>
                                    <p:set>
                                      <p:cBhvr>
                                        <p:cTn id="14" dur="1" fill="hold">
                                          <p:stCondLst>
                                            <p:cond delay="0"/>
                                          </p:stCondLst>
                                        </p:cTn>
                                        <p:tgtEl>
                                          <p:spTgt spid="395279">
                                            <p:txEl>
                                              <p:pRg st="2" end="2"/>
                                            </p:txEl>
                                          </p:spTgt>
                                        </p:tgtEl>
                                        <p:attrNameLst>
                                          <p:attrName>style.visibility</p:attrName>
                                        </p:attrNameLst>
                                      </p:cBhvr>
                                      <p:to>
                                        <p:strVal val="visible"/>
                                      </p:to>
                                    </p:set>
                                    <p:animEffect transition="in" filter="wipe(up)">
                                      <p:cBhvr>
                                        <p:cTn id="15" dur="3000"/>
                                        <p:tgtEl>
                                          <p:spTgt spid="3952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2" name="矩形 396291"/>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a:t>
            </a:r>
            <a:r>
              <a:rPr lang="zh-CN" altLang="en-US" sz="3500" dirty="0"/>
              <a:t>数据流图及用户业务处理逻辑描述</a:t>
            </a:r>
            <a:r>
              <a:rPr lang="zh-CN" altLang="en-US" dirty="0"/>
              <a:t> </a:t>
            </a:r>
            <a:endParaRPr lang="en-US" altLang="zh-CN"/>
          </a:p>
        </p:txBody>
      </p:sp>
      <p:sp>
        <p:nvSpPr>
          <p:cNvPr id="396293" name="矩形 396292"/>
          <p:cNvSpPr/>
          <p:nvPr/>
        </p:nvSpPr>
        <p:spPr>
          <a:xfrm>
            <a:off x="395288" y="1125538"/>
            <a:ext cx="8280400" cy="65722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、数据流图的基本符号</a:t>
            </a:r>
            <a:endParaRPr lang="zh-CN" altLang="en-US" dirty="0">
              <a:solidFill>
                <a:srgbClr val="003399"/>
              </a:solidFill>
            </a:endParaRPr>
          </a:p>
        </p:txBody>
      </p:sp>
      <p:grpSp>
        <p:nvGrpSpPr>
          <p:cNvPr id="396294" name="组合 396293"/>
          <p:cNvGrpSpPr/>
          <p:nvPr/>
        </p:nvGrpSpPr>
        <p:grpSpPr>
          <a:xfrm>
            <a:off x="838200" y="1912938"/>
            <a:ext cx="7467600" cy="1311275"/>
            <a:chOff x="624" y="1209"/>
            <a:chExt cx="4704" cy="826"/>
          </a:xfrm>
        </p:grpSpPr>
        <p:sp>
          <p:nvSpPr>
            <p:cNvPr id="396295" name="矩形 396294"/>
            <p:cNvSpPr/>
            <p:nvPr/>
          </p:nvSpPr>
          <p:spPr>
            <a:xfrm>
              <a:off x="1056" y="1209"/>
              <a:ext cx="461" cy="480"/>
            </a:xfrm>
            <a:prstGeom prst="rect">
              <a:avLst/>
            </a:prstGeom>
            <a:solidFill>
              <a:schemeClr val="bg1"/>
            </a:solidFill>
            <a:ln w="28575" cap="flat" cmpd="sng">
              <a:solidFill>
                <a:srgbClr val="0066FF"/>
              </a:solidFill>
              <a:prstDash val="solid"/>
              <a:miter/>
              <a:headEnd type="none" w="med" len="med"/>
              <a:tailEnd type="none" w="med" len="med"/>
            </a:ln>
          </p:spPr>
          <p:txBody>
            <a:bodyPr/>
            <a:lstStyle/>
            <a:p>
              <a:endParaRPr lang="zh-CN" altLang="en-US"/>
            </a:p>
          </p:txBody>
        </p:sp>
        <p:sp>
          <p:nvSpPr>
            <p:cNvPr id="396296" name="椭圆 396295"/>
            <p:cNvSpPr/>
            <p:nvPr/>
          </p:nvSpPr>
          <p:spPr>
            <a:xfrm>
              <a:off x="2323" y="1209"/>
              <a:ext cx="461" cy="480"/>
            </a:xfrm>
            <a:prstGeom prst="ellipse">
              <a:avLst/>
            </a:prstGeom>
            <a:solidFill>
              <a:schemeClr val="bg1"/>
            </a:solidFill>
            <a:ln w="28575" cap="flat" cmpd="sng">
              <a:solidFill>
                <a:srgbClr val="0066FF"/>
              </a:solidFill>
              <a:prstDash val="solid"/>
              <a:headEnd type="none" w="med" len="med"/>
              <a:tailEnd type="none" w="med" len="med"/>
            </a:ln>
          </p:spPr>
          <p:txBody>
            <a:bodyPr/>
            <a:lstStyle/>
            <a:p>
              <a:endParaRPr lang="zh-CN" altLang="en-US"/>
            </a:p>
          </p:txBody>
        </p:sp>
        <p:grpSp>
          <p:nvGrpSpPr>
            <p:cNvPr id="396297" name="组合 396296"/>
            <p:cNvGrpSpPr/>
            <p:nvPr/>
          </p:nvGrpSpPr>
          <p:grpSpPr>
            <a:xfrm>
              <a:off x="3475" y="1329"/>
              <a:ext cx="461" cy="240"/>
              <a:chOff x="5940" y="4248"/>
              <a:chExt cx="720" cy="312"/>
            </a:xfrm>
          </p:grpSpPr>
          <p:sp>
            <p:nvSpPr>
              <p:cNvPr id="396298" name="直接连接符 396297"/>
              <p:cNvSpPr/>
              <p:nvPr/>
            </p:nvSpPr>
            <p:spPr>
              <a:xfrm>
                <a:off x="5940" y="4248"/>
                <a:ext cx="720" cy="0"/>
              </a:xfrm>
              <a:prstGeom prst="line">
                <a:avLst/>
              </a:prstGeom>
              <a:ln w="28575" cap="flat" cmpd="sng">
                <a:solidFill>
                  <a:srgbClr val="0066FF"/>
                </a:solidFill>
                <a:prstDash val="solid"/>
                <a:headEnd type="none" w="med" len="med"/>
                <a:tailEnd type="none" w="med" len="med"/>
              </a:ln>
            </p:spPr>
          </p:sp>
          <p:sp>
            <p:nvSpPr>
              <p:cNvPr id="396299" name="直接连接符 396298"/>
              <p:cNvSpPr/>
              <p:nvPr/>
            </p:nvSpPr>
            <p:spPr>
              <a:xfrm>
                <a:off x="5940" y="4560"/>
                <a:ext cx="720" cy="0"/>
              </a:xfrm>
              <a:prstGeom prst="line">
                <a:avLst/>
              </a:prstGeom>
              <a:ln w="28575" cap="flat" cmpd="sng">
                <a:solidFill>
                  <a:srgbClr val="0066FF"/>
                </a:solidFill>
                <a:prstDash val="solid"/>
                <a:headEnd type="none" w="med" len="med"/>
                <a:tailEnd type="none" w="med" len="med"/>
              </a:ln>
            </p:spPr>
          </p:sp>
          <p:sp>
            <p:nvSpPr>
              <p:cNvPr id="396300" name="直接连接符 396299"/>
              <p:cNvSpPr/>
              <p:nvPr/>
            </p:nvSpPr>
            <p:spPr>
              <a:xfrm>
                <a:off x="5940" y="4248"/>
                <a:ext cx="0" cy="312"/>
              </a:xfrm>
              <a:prstGeom prst="line">
                <a:avLst/>
              </a:prstGeom>
              <a:ln w="28575" cap="flat" cmpd="sng">
                <a:solidFill>
                  <a:srgbClr val="0066FF"/>
                </a:solidFill>
                <a:prstDash val="solid"/>
                <a:headEnd type="none" w="med" len="med"/>
                <a:tailEnd type="none" w="med" len="med"/>
              </a:ln>
            </p:spPr>
          </p:sp>
        </p:grpSp>
        <p:sp>
          <p:nvSpPr>
            <p:cNvPr id="396301" name="直接连接符 396300"/>
            <p:cNvSpPr/>
            <p:nvPr/>
          </p:nvSpPr>
          <p:spPr>
            <a:xfrm>
              <a:off x="4627" y="1449"/>
              <a:ext cx="461" cy="0"/>
            </a:xfrm>
            <a:prstGeom prst="line">
              <a:avLst/>
            </a:prstGeom>
            <a:ln w="28575" cap="flat" cmpd="sng">
              <a:solidFill>
                <a:srgbClr val="0066FF"/>
              </a:solidFill>
              <a:prstDash val="solid"/>
              <a:headEnd type="none" w="med" len="med"/>
              <a:tailEnd type="triangle" w="med" len="med"/>
            </a:ln>
          </p:spPr>
        </p:sp>
        <p:sp>
          <p:nvSpPr>
            <p:cNvPr id="396302" name="文本框 396301"/>
            <p:cNvSpPr txBox="1"/>
            <p:nvPr/>
          </p:nvSpPr>
          <p:spPr>
            <a:xfrm>
              <a:off x="624" y="1785"/>
              <a:ext cx="4704" cy="250"/>
            </a:xfrm>
            <a:prstGeom prst="rect">
              <a:avLst/>
            </a:prstGeom>
            <a:noFill/>
            <a:ln w="9525">
              <a:noFill/>
            </a:ln>
          </p:spPr>
          <p:txBody>
            <a:bodyPr>
              <a:spAutoFit/>
            </a:bodyPr>
            <a:lstStyle/>
            <a:p>
              <a:pPr>
                <a:spcBef>
                  <a:spcPct val="50000"/>
                </a:spcBef>
              </a:pPr>
              <a:r>
                <a:rPr lang="zh-CN" altLang="en-US" sz="2000" dirty="0">
                  <a:latin typeface="黑体" panose="02010609060101010101" pitchFamily="2" charset="-122"/>
                  <a:ea typeface="黑体" panose="02010609060101010101" pitchFamily="2" charset="-122"/>
                </a:rPr>
                <a:t>数据源点与终点      数据处理      数据存储       数据流</a:t>
              </a:r>
            </a:p>
          </p:txBody>
        </p:sp>
      </p:grpSp>
      <p:sp>
        <p:nvSpPr>
          <p:cNvPr id="396303" name="矩形 396302"/>
          <p:cNvSpPr/>
          <p:nvPr/>
        </p:nvSpPr>
        <p:spPr>
          <a:xfrm>
            <a:off x="395288" y="3357563"/>
            <a:ext cx="8280400" cy="303371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zh-CN" altLang="en-US" dirty="0">
                <a:solidFill>
                  <a:srgbClr val="990000"/>
                </a:solidFill>
              </a:rPr>
              <a:t>（</a:t>
            </a:r>
            <a:r>
              <a:rPr lang="en-US" altLang="zh-CN">
                <a:solidFill>
                  <a:srgbClr val="990000"/>
                </a:solidFill>
              </a:rPr>
              <a:t>3</a:t>
            </a:r>
            <a:r>
              <a:rPr lang="zh-CN" altLang="en-US" dirty="0">
                <a:solidFill>
                  <a:srgbClr val="990000"/>
                </a:solidFill>
              </a:rPr>
              <a:t>）数据存储</a:t>
            </a:r>
          </a:p>
          <a:p>
            <a:pPr lvl="0"/>
            <a:r>
              <a:rPr lang="zh-CN" altLang="en-US" dirty="0">
                <a:effectLst/>
              </a:rPr>
              <a:t>          </a:t>
            </a:r>
            <a:r>
              <a:rPr lang="zh-CN" altLang="en-US" dirty="0">
                <a:solidFill>
                  <a:srgbClr val="006666"/>
                </a:solidFill>
              </a:rPr>
              <a:t>数据存储</a:t>
            </a:r>
            <a:r>
              <a:rPr lang="zh-CN" altLang="en-US" dirty="0"/>
              <a:t>代表待处理的数据存放的场所，表示了处于静止状态的数据。</a:t>
            </a:r>
          </a:p>
          <a:p>
            <a:pPr lvl="0"/>
            <a:r>
              <a:rPr lang="zh-CN" altLang="en-US" dirty="0"/>
              <a:t>          </a:t>
            </a:r>
            <a:r>
              <a:rPr lang="zh-CN" altLang="en-US" dirty="0">
                <a:solidFill>
                  <a:srgbClr val="003366"/>
                </a:solidFill>
              </a:rPr>
              <a:t>一个数据存储可以是一个文件、文件的一部分、一个数据库、数据库中的一个记录等。</a:t>
            </a:r>
          </a:p>
        </p:txBody>
      </p:sp>
    </p:spTree>
  </p:cSld>
  <p:clrMapOvr>
    <a:masterClrMapping/>
  </p:clrMapOvr>
  <mc:AlternateContent xmlns:mc="http://schemas.openxmlformats.org/markup-compatibility/2006" xmlns:p14="http://schemas.microsoft.com/office/powerpoint/2010/main">
    <mc:Choice Requires="p14">
      <p:transition spd="slow" p14:dur="2000" advTm="35545"/>
    </mc:Choice>
    <mc:Fallback xmlns="">
      <p:transition spd="slow" advTm="355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96303">
                                            <p:txEl>
                                              <p:pRg st="0" end="0"/>
                                            </p:txEl>
                                          </p:spTgt>
                                        </p:tgtEl>
                                        <p:attrNameLst>
                                          <p:attrName>style.visibility</p:attrName>
                                        </p:attrNameLst>
                                      </p:cBhvr>
                                      <p:to>
                                        <p:strVal val="visible"/>
                                      </p:to>
                                    </p:set>
                                    <p:animEffect transition="in" filter="wipe(left)">
                                      <p:cBhvr>
                                        <p:cTn id="7" dur="500"/>
                                        <p:tgtEl>
                                          <p:spTgt spid="396303">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96303">
                                            <p:txEl>
                                              <p:pRg st="1" end="1"/>
                                            </p:txEl>
                                          </p:spTgt>
                                        </p:tgtEl>
                                        <p:attrNameLst>
                                          <p:attrName>style.visibility</p:attrName>
                                        </p:attrNameLst>
                                      </p:cBhvr>
                                      <p:to>
                                        <p:strVal val="visible"/>
                                      </p:to>
                                    </p:set>
                                    <p:animEffect transition="in" filter="wipe(up)">
                                      <p:cBhvr>
                                        <p:cTn id="11" dur="2000"/>
                                        <p:tgtEl>
                                          <p:spTgt spid="396303">
                                            <p:txEl>
                                              <p:pRg st="1" end="1"/>
                                            </p:txEl>
                                          </p:spTgt>
                                        </p:tgtEl>
                                      </p:cBhvr>
                                    </p:animEffect>
                                  </p:childTnLst>
                                </p:cTn>
                              </p:par>
                            </p:childTnLst>
                          </p:cTn>
                        </p:par>
                        <p:par>
                          <p:cTn id="12" fill="hold">
                            <p:stCondLst>
                              <p:cond delay="2500"/>
                            </p:stCondLst>
                            <p:childTnLst>
                              <p:par>
                                <p:cTn id="13" presetID="22" presetClass="entr" presetSubtype="1" fill="hold" nodeType="afterEffect">
                                  <p:stCondLst>
                                    <p:cond delay="0"/>
                                  </p:stCondLst>
                                  <p:childTnLst>
                                    <p:set>
                                      <p:cBhvr>
                                        <p:cTn id="14" dur="1" fill="hold">
                                          <p:stCondLst>
                                            <p:cond delay="0"/>
                                          </p:stCondLst>
                                        </p:cTn>
                                        <p:tgtEl>
                                          <p:spTgt spid="396303">
                                            <p:txEl>
                                              <p:pRg st="2" end="2"/>
                                            </p:txEl>
                                          </p:spTgt>
                                        </p:tgtEl>
                                        <p:attrNameLst>
                                          <p:attrName>style.visibility</p:attrName>
                                        </p:attrNameLst>
                                      </p:cBhvr>
                                      <p:to>
                                        <p:strVal val="visible"/>
                                      </p:to>
                                    </p:set>
                                    <p:animEffect transition="in" filter="wipe(up)">
                                      <p:cBhvr>
                                        <p:cTn id="15" dur="3000"/>
                                        <p:tgtEl>
                                          <p:spTgt spid="3963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6" name="矩形 397315"/>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a:t>
            </a:r>
            <a:r>
              <a:rPr lang="zh-CN" altLang="en-US" sz="3500" dirty="0"/>
              <a:t>数据流图及用户业务处理逻辑描述</a:t>
            </a:r>
            <a:r>
              <a:rPr lang="zh-CN" altLang="en-US" dirty="0"/>
              <a:t> </a:t>
            </a:r>
            <a:endParaRPr lang="en-US" altLang="zh-CN"/>
          </a:p>
        </p:txBody>
      </p:sp>
      <p:sp>
        <p:nvSpPr>
          <p:cNvPr id="397317" name="矩形 397316"/>
          <p:cNvSpPr/>
          <p:nvPr/>
        </p:nvSpPr>
        <p:spPr>
          <a:xfrm>
            <a:off x="395288" y="1125538"/>
            <a:ext cx="8280400" cy="65722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、数据流图的基本符号</a:t>
            </a:r>
            <a:endParaRPr lang="zh-CN" altLang="en-US" dirty="0">
              <a:solidFill>
                <a:srgbClr val="003399"/>
              </a:solidFill>
            </a:endParaRPr>
          </a:p>
        </p:txBody>
      </p:sp>
      <p:grpSp>
        <p:nvGrpSpPr>
          <p:cNvPr id="397318" name="组合 397317"/>
          <p:cNvGrpSpPr/>
          <p:nvPr/>
        </p:nvGrpSpPr>
        <p:grpSpPr>
          <a:xfrm>
            <a:off x="838200" y="1912938"/>
            <a:ext cx="7467600" cy="1311275"/>
            <a:chOff x="624" y="1209"/>
            <a:chExt cx="4704" cy="826"/>
          </a:xfrm>
        </p:grpSpPr>
        <p:sp>
          <p:nvSpPr>
            <p:cNvPr id="397319" name="矩形 397318"/>
            <p:cNvSpPr/>
            <p:nvPr/>
          </p:nvSpPr>
          <p:spPr>
            <a:xfrm>
              <a:off x="1056" y="1209"/>
              <a:ext cx="461" cy="480"/>
            </a:xfrm>
            <a:prstGeom prst="rect">
              <a:avLst/>
            </a:prstGeom>
            <a:solidFill>
              <a:schemeClr val="bg1"/>
            </a:solidFill>
            <a:ln w="28575" cap="flat" cmpd="sng">
              <a:solidFill>
                <a:srgbClr val="0066FF"/>
              </a:solidFill>
              <a:prstDash val="solid"/>
              <a:miter/>
              <a:headEnd type="none" w="med" len="med"/>
              <a:tailEnd type="none" w="med" len="med"/>
            </a:ln>
          </p:spPr>
          <p:txBody>
            <a:bodyPr/>
            <a:lstStyle/>
            <a:p>
              <a:endParaRPr lang="zh-CN" altLang="en-US"/>
            </a:p>
          </p:txBody>
        </p:sp>
        <p:sp>
          <p:nvSpPr>
            <p:cNvPr id="397320" name="椭圆 397319"/>
            <p:cNvSpPr/>
            <p:nvPr/>
          </p:nvSpPr>
          <p:spPr>
            <a:xfrm>
              <a:off x="2323" y="1209"/>
              <a:ext cx="461" cy="480"/>
            </a:xfrm>
            <a:prstGeom prst="ellipse">
              <a:avLst/>
            </a:prstGeom>
            <a:solidFill>
              <a:schemeClr val="bg1"/>
            </a:solidFill>
            <a:ln w="28575" cap="flat" cmpd="sng">
              <a:solidFill>
                <a:srgbClr val="0066FF"/>
              </a:solidFill>
              <a:prstDash val="solid"/>
              <a:headEnd type="none" w="med" len="med"/>
              <a:tailEnd type="none" w="med" len="med"/>
            </a:ln>
          </p:spPr>
          <p:txBody>
            <a:bodyPr/>
            <a:lstStyle/>
            <a:p>
              <a:endParaRPr lang="zh-CN" altLang="en-US"/>
            </a:p>
          </p:txBody>
        </p:sp>
        <p:grpSp>
          <p:nvGrpSpPr>
            <p:cNvPr id="397321" name="组合 397320"/>
            <p:cNvGrpSpPr/>
            <p:nvPr/>
          </p:nvGrpSpPr>
          <p:grpSpPr>
            <a:xfrm>
              <a:off x="3475" y="1329"/>
              <a:ext cx="461" cy="240"/>
              <a:chOff x="5940" y="4248"/>
              <a:chExt cx="720" cy="312"/>
            </a:xfrm>
          </p:grpSpPr>
          <p:sp>
            <p:nvSpPr>
              <p:cNvPr id="397322" name="直接连接符 397321"/>
              <p:cNvSpPr/>
              <p:nvPr/>
            </p:nvSpPr>
            <p:spPr>
              <a:xfrm>
                <a:off x="5940" y="4248"/>
                <a:ext cx="720" cy="0"/>
              </a:xfrm>
              <a:prstGeom prst="line">
                <a:avLst/>
              </a:prstGeom>
              <a:ln w="28575" cap="flat" cmpd="sng">
                <a:solidFill>
                  <a:srgbClr val="0066FF"/>
                </a:solidFill>
                <a:prstDash val="solid"/>
                <a:headEnd type="none" w="med" len="med"/>
                <a:tailEnd type="none" w="med" len="med"/>
              </a:ln>
            </p:spPr>
          </p:sp>
          <p:sp>
            <p:nvSpPr>
              <p:cNvPr id="397323" name="直接连接符 397322"/>
              <p:cNvSpPr/>
              <p:nvPr/>
            </p:nvSpPr>
            <p:spPr>
              <a:xfrm>
                <a:off x="5940" y="4560"/>
                <a:ext cx="720" cy="0"/>
              </a:xfrm>
              <a:prstGeom prst="line">
                <a:avLst/>
              </a:prstGeom>
              <a:ln w="28575" cap="flat" cmpd="sng">
                <a:solidFill>
                  <a:srgbClr val="0066FF"/>
                </a:solidFill>
                <a:prstDash val="solid"/>
                <a:headEnd type="none" w="med" len="med"/>
                <a:tailEnd type="none" w="med" len="med"/>
              </a:ln>
            </p:spPr>
          </p:sp>
          <p:sp>
            <p:nvSpPr>
              <p:cNvPr id="397324" name="直接连接符 397323"/>
              <p:cNvSpPr/>
              <p:nvPr/>
            </p:nvSpPr>
            <p:spPr>
              <a:xfrm>
                <a:off x="5940" y="4248"/>
                <a:ext cx="0" cy="312"/>
              </a:xfrm>
              <a:prstGeom prst="line">
                <a:avLst/>
              </a:prstGeom>
              <a:ln w="28575" cap="flat" cmpd="sng">
                <a:solidFill>
                  <a:srgbClr val="0066FF"/>
                </a:solidFill>
                <a:prstDash val="solid"/>
                <a:headEnd type="none" w="med" len="med"/>
                <a:tailEnd type="none" w="med" len="med"/>
              </a:ln>
            </p:spPr>
          </p:sp>
        </p:grpSp>
        <p:sp>
          <p:nvSpPr>
            <p:cNvPr id="397325" name="直接连接符 397324"/>
            <p:cNvSpPr/>
            <p:nvPr/>
          </p:nvSpPr>
          <p:spPr>
            <a:xfrm>
              <a:off x="4627" y="1449"/>
              <a:ext cx="461" cy="0"/>
            </a:xfrm>
            <a:prstGeom prst="line">
              <a:avLst/>
            </a:prstGeom>
            <a:ln w="28575" cap="flat" cmpd="sng">
              <a:solidFill>
                <a:srgbClr val="0066FF"/>
              </a:solidFill>
              <a:prstDash val="solid"/>
              <a:headEnd type="none" w="med" len="med"/>
              <a:tailEnd type="triangle" w="med" len="med"/>
            </a:ln>
          </p:spPr>
        </p:sp>
        <p:sp>
          <p:nvSpPr>
            <p:cNvPr id="397326" name="文本框 397325"/>
            <p:cNvSpPr txBox="1"/>
            <p:nvPr/>
          </p:nvSpPr>
          <p:spPr>
            <a:xfrm>
              <a:off x="624" y="1785"/>
              <a:ext cx="4704" cy="250"/>
            </a:xfrm>
            <a:prstGeom prst="rect">
              <a:avLst/>
            </a:prstGeom>
            <a:noFill/>
            <a:ln w="9525">
              <a:noFill/>
            </a:ln>
          </p:spPr>
          <p:txBody>
            <a:bodyPr>
              <a:spAutoFit/>
            </a:bodyPr>
            <a:lstStyle/>
            <a:p>
              <a:pPr>
                <a:spcBef>
                  <a:spcPct val="50000"/>
                </a:spcBef>
              </a:pPr>
              <a:r>
                <a:rPr lang="zh-CN" altLang="en-US" sz="2000" dirty="0">
                  <a:latin typeface="黑体" panose="02010609060101010101" pitchFamily="2" charset="-122"/>
                  <a:ea typeface="黑体" panose="02010609060101010101" pitchFamily="2" charset="-122"/>
                </a:rPr>
                <a:t>数据源点与终点      数据处理      数据存储       数据流</a:t>
              </a:r>
            </a:p>
          </p:txBody>
        </p:sp>
      </p:grpSp>
      <p:sp>
        <p:nvSpPr>
          <p:cNvPr id="397327" name="矩形 397326"/>
          <p:cNvSpPr/>
          <p:nvPr/>
        </p:nvSpPr>
        <p:spPr>
          <a:xfrm>
            <a:off x="395288" y="3357563"/>
            <a:ext cx="8280400" cy="303371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zh-CN" altLang="en-US" dirty="0">
                <a:solidFill>
                  <a:srgbClr val="990000"/>
                </a:solidFill>
              </a:rPr>
              <a:t>（</a:t>
            </a:r>
            <a:r>
              <a:rPr lang="en-US" altLang="zh-CN">
                <a:solidFill>
                  <a:srgbClr val="990000"/>
                </a:solidFill>
              </a:rPr>
              <a:t>4</a:t>
            </a:r>
            <a:r>
              <a:rPr lang="zh-CN" altLang="en-US" dirty="0">
                <a:solidFill>
                  <a:srgbClr val="990000"/>
                </a:solidFill>
              </a:rPr>
              <a:t>）数据流</a:t>
            </a:r>
          </a:p>
          <a:p>
            <a:pPr lvl="0"/>
            <a:r>
              <a:rPr lang="zh-CN" altLang="en-US" dirty="0">
                <a:effectLst/>
              </a:rPr>
              <a:t>          </a:t>
            </a:r>
            <a:r>
              <a:rPr lang="zh-CN" altLang="en-US" dirty="0">
                <a:solidFill>
                  <a:srgbClr val="006666"/>
                </a:solidFill>
              </a:rPr>
              <a:t>数据流</a:t>
            </a:r>
            <a:r>
              <a:rPr lang="zh-CN" altLang="en-US" dirty="0"/>
              <a:t>代表数据流图中数据的流动情况，箭头指明数据流动的方向。</a:t>
            </a:r>
          </a:p>
          <a:p>
            <a:pPr lvl="0"/>
            <a:r>
              <a:rPr lang="zh-CN" altLang="en-US" dirty="0"/>
              <a:t>          </a:t>
            </a:r>
          </a:p>
        </p:txBody>
      </p:sp>
    </p:spTree>
  </p:cSld>
  <p:clrMapOvr>
    <a:masterClrMapping/>
  </p:clrMapOvr>
  <mc:AlternateContent xmlns:mc="http://schemas.openxmlformats.org/markup-compatibility/2006" xmlns:p14="http://schemas.microsoft.com/office/powerpoint/2010/main">
    <mc:Choice Requires="p14">
      <p:transition spd="slow" p14:dur="2000" advTm="11180"/>
    </mc:Choice>
    <mc:Fallback xmlns="">
      <p:transition spd="slow" advTm="11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97327">
                                            <p:txEl>
                                              <p:pRg st="0" end="0"/>
                                            </p:txEl>
                                          </p:spTgt>
                                        </p:tgtEl>
                                        <p:attrNameLst>
                                          <p:attrName>style.visibility</p:attrName>
                                        </p:attrNameLst>
                                      </p:cBhvr>
                                      <p:to>
                                        <p:strVal val="visible"/>
                                      </p:to>
                                    </p:set>
                                    <p:animEffect transition="in" filter="wipe(left)">
                                      <p:cBhvr>
                                        <p:cTn id="7" dur="500"/>
                                        <p:tgtEl>
                                          <p:spTgt spid="397327">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97327">
                                            <p:txEl>
                                              <p:pRg st="1" end="1"/>
                                            </p:txEl>
                                          </p:spTgt>
                                        </p:tgtEl>
                                        <p:attrNameLst>
                                          <p:attrName>style.visibility</p:attrName>
                                        </p:attrNameLst>
                                      </p:cBhvr>
                                      <p:to>
                                        <p:strVal val="visible"/>
                                      </p:to>
                                    </p:set>
                                    <p:animEffect transition="in" filter="wipe(up)">
                                      <p:cBhvr>
                                        <p:cTn id="11" dur="2000"/>
                                        <p:tgtEl>
                                          <p:spTgt spid="3973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40" name="矩形 398339"/>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a:t>
            </a:r>
            <a:r>
              <a:rPr lang="zh-CN" altLang="en-US" sz="3500" dirty="0"/>
              <a:t>数据流图及用户业务处理逻辑描述</a:t>
            </a:r>
            <a:r>
              <a:rPr lang="zh-CN" altLang="en-US" dirty="0"/>
              <a:t> </a:t>
            </a:r>
            <a:endParaRPr lang="en-US" altLang="zh-CN"/>
          </a:p>
        </p:txBody>
      </p:sp>
      <p:sp>
        <p:nvSpPr>
          <p:cNvPr id="398341" name="矩形 398340"/>
          <p:cNvSpPr/>
          <p:nvPr/>
        </p:nvSpPr>
        <p:spPr>
          <a:xfrm>
            <a:off x="395288" y="1125538"/>
            <a:ext cx="8280400" cy="65722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en-US" altLang="zh-CN" sz="3000">
                <a:solidFill>
                  <a:srgbClr val="660033"/>
                </a:solidFill>
                <a:ea typeface="华文新魏" panose="02010800040101010101" pitchFamily="2" charset="-122"/>
              </a:rPr>
              <a:t>3</a:t>
            </a:r>
            <a:r>
              <a:rPr lang="zh-CN" altLang="en-US" sz="3000" dirty="0">
                <a:solidFill>
                  <a:srgbClr val="660033"/>
                </a:solidFill>
                <a:ea typeface="华文新魏" panose="02010800040101010101" pitchFamily="2" charset="-122"/>
              </a:rPr>
              <a:t>、</a:t>
            </a:r>
            <a:r>
              <a:rPr lang="zh-CN" altLang="en-US" sz="3000" dirty="0">
                <a:solidFill>
                  <a:srgbClr val="003366"/>
                </a:solidFill>
                <a:ea typeface="华文中宋" panose="02010600040101010101" pitchFamily="2" charset="-122"/>
              </a:rPr>
              <a:t>图书预定系统</a:t>
            </a:r>
            <a:r>
              <a:rPr lang="en-US" altLang="zh-CN" sz="3000">
                <a:solidFill>
                  <a:schemeClr val="hlink"/>
                </a:solidFill>
                <a:latin typeface="Arial" panose="020B0604020202020204" pitchFamily="34" charset="0"/>
                <a:ea typeface="华文新魏" panose="02010800040101010101" pitchFamily="2" charset="-122"/>
              </a:rPr>
              <a:t>——</a:t>
            </a:r>
            <a:r>
              <a:rPr lang="zh-CN" altLang="en-US" sz="3000" dirty="0">
                <a:solidFill>
                  <a:srgbClr val="660033"/>
                </a:solidFill>
                <a:ea typeface="华文新魏" panose="02010800040101010101" pitchFamily="2" charset="-122"/>
              </a:rPr>
              <a:t>数据流图应用示例</a:t>
            </a:r>
            <a:endParaRPr lang="en-US" altLang="zh-CN" sz="3000">
              <a:solidFill>
                <a:srgbClr val="660033"/>
              </a:solidFill>
              <a:ea typeface="华文新魏" panose="02010800040101010101" pitchFamily="2" charset="-122"/>
            </a:endParaRPr>
          </a:p>
        </p:txBody>
      </p:sp>
      <p:grpSp>
        <p:nvGrpSpPr>
          <p:cNvPr id="398380" name="组合 398379"/>
          <p:cNvGrpSpPr/>
          <p:nvPr/>
        </p:nvGrpSpPr>
        <p:grpSpPr>
          <a:xfrm>
            <a:off x="533400" y="2212975"/>
            <a:ext cx="8142288" cy="3365500"/>
            <a:chOff x="336" y="1394"/>
            <a:chExt cx="5129" cy="2120"/>
          </a:xfrm>
        </p:grpSpPr>
        <p:sp>
          <p:nvSpPr>
            <p:cNvPr id="398343" name="椭圆 398342" descr="花束"/>
            <p:cNvSpPr/>
            <p:nvPr/>
          </p:nvSpPr>
          <p:spPr>
            <a:xfrm>
              <a:off x="1603" y="1891"/>
              <a:ext cx="808" cy="932"/>
            </a:xfrm>
            <a:prstGeom prst="ellipse">
              <a:avLst/>
            </a:prstGeom>
            <a:blipFill rotWithShape="1">
              <a:blip r:embed="rId2"/>
            </a:blip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图书预定</a:t>
              </a:r>
            </a:p>
            <a:p>
              <a:pPr algn="ctr">
                <a:spcBef>
                  <a:spcPct val="50000"/>
                </a:spcBef>
              </a:pPr>
              <a:r>
                <a:rPr lang="zh-CN" altLang="en-US" sz="2000" b="1" dirty="0">
                  <a:latin typeface="Arial" panose="020B0604020202020204" pitchFamily="34" charset="0"/>
                </a:rPr>
                <a:t>处理</a:t>
              </a:r>
            </a:p>
          </p:txBody>
        </p:sp>
        <p:sp>
          <p:nvSpPr>
            <p:cNvPr id="398344" name="椭圆 398343" descr="花束"/>
            <p:cNvSpPr/>
            <p:nvPr/>
          </p:nvSpPr>
          <p:spPr>
            <a:xfrm>
              <a:off x="3332" y="1891"/>
              <a:ext cx="806" cy="932"/>
            </a:xfrm>
            <a:prstGeom prst="ellipse">
              <a:avLst/>
            </a:prstGeom>
            <a:blipFill rotWithShape="1">
              <a:blip r:embed="rId2"/>
            </a:blip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图书预定</a:t>
              </a:r>
            </a:p>
            <a:p>
              <a:pPr algn="ctr">
                <a:spcBef>
                  <a:spcPct val="50000"/>
                </a:spcBef>
              </a:pPr>
              <a:r>
                <a:rPr lang="zh-CN" altLang="en-US" sz="2000" b="1" dirty="0">
                  <a:latin typeface="Arial" panose="020B0604020202020204" pitchFamily="34" charset="0"/>
                </a:rPr>
                <a:t>汇总</a:t>
              </a:r>
            </a:p>
          </p:txBody>
        </p:sp>
        <p:sp>
          <p:nvSpPr>
            <p:cNvPr id="398345" name="矩形 398344" descr="信纸"/>
            <p:cNvSpPr/>
            <p:nvPr/>
          </p:nvSpPr>
          <p:spPr>
            <a:xfrm>
              <a:off x="1257" y="1394"/>
              <a:ext cx="1211" cy="248"/>
            </a:xfrm>
            <a:prstGeom prst="rect">
              <a:avLst/>
            </a:prstGeom>
            <a:blipFill rotWithShape="1">
              <a:blip r:embed="rId3"/>
            </a:blipFill>
            <a:ln w="19050" cap="flat" cmpd="sng">
              <a:solidFill>
                <a:schemeClr val="bg1"/>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图书目录文件</a:t>
              </a:r>
            </a:p>
          </p:txBody>
        </p:sp>
        <p:sp>
          <p:nvSpPr>
            <p:cNvPr id="398346" name="直接连接符 398345"/>
            <p:cNvSpPr/>
            <p:nvPr/>
          </p:nvSpPr>
          <p:spPr>
            <a:xfrm>
              <a:off x="1257" y="1642"/>
              <a:ext cx="1211" cy="0"/>
            </a:xfrm>
            <a:prstGeom prst="line">
              <a:avLst/>
            </a:prstGeom>
            <a:ln w="19050" cap="flat" cmpd="sng">
              <a:solidFill>
                <a:srgbClr val="000000"/>
              </a:solidFill>
              <a:prstDash val="solid"/>
              <a:headEnd type="none" w="med" len="med"/>
              <a:tailEnd type="none" w="med" len="med"/>
            </a:ln>
          </p:spPr>
        </p:sp>
        <p:sp>
          <p:nvSpPr>
            <p:cNvPr id="398347" name="直接连接符 398346"/>
            <p:cNvSpPr/>
            <p:nvPr/>
          </p:nvSpPr>
          <p:spPr>
            <a:xfrm>
              <a:off x="1257" y="1394"/>
              <a:ext cx="1211" cy="0"/>
            </a:xfrm>
            <a:prstGeom prst="line">
              <a:avLst/>
            </a:prstGeom>
            <a:ln w="19050" cap="flat" cmpd="sng">
              <a:solidFill>
                <a:srgbClr val="000000"/>
              </a:solidFill>
              <a:prstDash val="solid"/>
              <a:headEnd type="none" w="med" len="med"/>
              <a:tailEnd type="none" w="med" len="med"/>
            </a:ln>
          </p:spPr>
        </p:sp>
        <p:sp>
          <p:nvSpPr>
            <p:cNvPr id="398348" name="直接连接符 398347"/>
            <p:cNvSpPr/>
            <p:nvPr/>
          </p:nvSpPr>
          <p:spPr>
            <a:xfrm>
              <a:off x="1257" y="1394"/>
              <a:ext cx="0" cy="248"/>
            </a:xfrm>
            <a:prstGeom prst="line">
              <a:avLst/>
            </a:prstGeom>
            <a:ln w="19050" cap="flat" cmpd="sng">
              <a:solidFill>
                <a:srgbClr val="000000"/>
              </a:solidFill>
              <a:prstDash val="solid"/>
              <a:headEnd type="none" w="med" len="med"/>
              <a:tailEnd type="none" w="med" len="med"/>
            </a:ln>
          </p:spPr>
        </p:sp>
        <p:sp>
          <p:nvSpPr>
            <p:cNvPr id="398349" name="矩形 398348" descr="信纸"/>
            <p:cNvSpPr/>
            <p:nvPr/>
          </p:nvSpPr>
          <p:spPr>
            <a:xfrm>
              <a:off x="3101" y="1394"/>
              <a:ext cx="1211" cy="248"/>
            </a:xfrm>
            <a:prstGeom prst="rect">
              <a:avLst/>
            </a:prstGeom>
            <a:blipFill rotWithShape="1">
              <a:blip r:embed="rId3"/>
            </a:blipFill>
            <a:ln w="19050" cap="flat" cmpd="sng">
              <a:solidFill>
                <a:schemeClr val="bg1"/>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出版社档案文件</a:t>
              </a:r>
            </a:p>
          </p:txBody>
        </p:sp>
        <p:sp>
          <p:nvSpPr>
            <p:cNvPr id="398350" name="矩形 398349" descr="信纸"/>
            <p:cNvSpPr/>
            <p:nvPr/>
          </p:nvSpPr>
          <p:spPr>
            <a:xfrm>
              <a:off x="1275" y="3274"/>
              <a:ext cx="1335" cy="240"/>
            </a:xfrm>
            <a:prstGeom prst="rect">
              <a:avLst/>
            </a:prstGeom>
            <a:blipFill rotWithShape="1">
              <a:blip r:embed="rId3"/>
            </a:blipFill>
            <a:ln w="19050" cap="flat" cmpd="sng">
              <a:solidFill>
                <a:schemeClr val="bg1"/>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顾客购书档案文件</a:t>
              </a:r>
            </a:p>
          </p:txBody>
        </p:sp>
        <p:sp>
          <p:nvSpPr>
            <p:cNvPr id="398351" name="矩形 398350" descr="信纸"/>
            <p:cNvSpPr/>
            <p:nvPr/>
          </p:nvSpPr>
          <p:spPr>
            <a:xfrm>
              <a:off x="3217" y="3258"/>
              <a:ext cx="1210" cy="248"/>
            </a:xfrm>
            <a:prstGeom prst="rect">
              <a:avLst/>
            </a:prstGeom>
            <a:blipFill rotWithShape="1">
              <a:blip r:embed="rId3"/>
            </a:blipFill>
            <a:ln w="19050" cap="flat" cmpd="sng">
              <a:solidFill>
                <a:schemeClr val="bg1"/>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订货汇总文件</a:t>
              </a:r>
            </a:p>
          </p:txBody>
        </p:sp>
        <p:sp>
          <p:nvSpPr>
            <p:cNvPr id="398352" name="矩形 398351"/>
            <p:cNvSpPr/>
            <p:nvPr/>
          </p:nvSpPr>
          <p:spPr>
            <a:xfrm>
              <a:off x="336" y="2139"/>
              <a:ext cx="578" cy="435"/>
            </a:xfrm>
            <a:prstGeom prst="rect">
              <a:avLst/>
            </a:prstGeom>
            <a:gradFill rotWithShape="1">
              <a:gsLst>
                <a:gs pos="0">
                  <a:srgbClr val="CCFFCC">
                    <a:gamma/>
                    <a:shade val="46275"/>
                    <a:invGamma/>
                  </a:srgbClr>
                </a:gs>
                <a:gs pos="50000">
                  <a:srgbClr val="CCFFCC"/>
                </a:gs>
                <a:gs pos="100000">
                  <a:srgbClr val="CCFFCC">
                    <a:gamma/>
                    <a:shade val="46275"/>
                    <a:invGamma/>
                  </a:srgbClr>
                </a:gs>
              </a:gsLst>
              <a:lin ang="5400000" scaled="1"/>
              <a:tileRect/>
            </a:gradFill>
            <a:ln w="19050" cap="flat" cmpd="sng">
              <a:solidFill>
                <a:srgbClr val="000000"/>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顾客</a:t>
              </a:r>
            </a:p>
          </p:txBody>
        </p:sp>
        <p:sp>
          <p:nvSpPr>
            <p:cNvPr id="398353" name="矩形 398352"/>
            <p:cNvSpPr/>
            <p:nvPr/>
          </p:nvSpPr>
          <p:spPr>
            <a:xfrm>
              <a:off x="4887" y="2139"/>
              <a:ext cx="578" cy="435"/>
            </a:xfrm>
            <a:prstGeom prst="rect">
              <a:avLst/>
            </a:prstGeom>
            <a:gradFill rotWithShape="1">
              <a:gsLst>
                <a:gs pos="0">
                  <a:srgbClr val="CCFFCC">
                    <a:gamma/>
                    <a:shade val="46275"/>
                    <a:invGamma/>
                  </a:srgbClr>
                </a:gs>
                <a:gs pos="50000">
                  <a:srgbClr val="CCFFCC"/>
                </a:gs>
                <a:gs pos="100000">
                  <a:srgbClr val="CCFFCC">
                    <a:gamma/>
                    <a:shade val="46275"/>
                    <a:invGamma/>
                  </a:srgbClr>
                </a:gs>
              </a:gsLst>
              <a:lin ang="5400000" scaled="1"/>
              <a:tileRect/>
            </a:gradFill>
            <a:ln w="19050" cap="flat" cmpd="sng">
              <a:solidFill>
                <a:srgbClr val="000000"/>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出版社</a:t>
              </a:r>
            </a:p>
          </p:txBody>
        </p:sp>
        <p:sp>
          <p:nvSpPr>
            <p:cNvPr id="398354" name="直接连接符 398353"/>
            <p:cNvSpPr/>
            <p:nvPr/>
          </p:nvSpPr>
          <p:spPr>
            <a:xfrm>
              <a:off x="913" y="2388"/>
              <a:ext cx="690" cy="0"/>
            </a:xfrm>
            <a:prstGeom prst="line">
              <a:avLst/>
            </a:prstGeom>
            <a:ln w="9525" cap="flat" cmpd="sng">
              <a:solidFill>
                <a:srgbClr val="000000"/>
              </a:solidFill>
              <a:prstDash val="solid"/>
              <a:headEnd type="none" w="med" len="med"/>
              <a:tailEnd type="triangle" w="med" len="med"/>
            </a:ln>
          </p:spPr>
        </p:sp>
        <p:sp>
          <p:nvSpPr>
            <p:cNvPr id="398355" name="直接连接符 398354"/>
            <p:cNvSpPr/>
            <p:nvPr/>
          </p:nvSpPr>
          <p:spPr>
            <a:xfrm>
              <a:off x="1949" y="1642"/>
              <a:ext cx="0" cy="249"/>
            </a:xfrm>
            <a:prstGeom prst="line">
              <a:avLst/>
            </a:prstGeom>
            <a:ln w="9525" cap="flat" cmpd="sng">
              <a:solidFill>
                <a:srgbClr val="000000"/>
              </a:solidFill>
              <a:prstDash val="solid"/>
              <a:headEnd type="none" w="med" len="med"/>
              <a:tailEnd type="triangle" w="med" len="med"/>
            </a:ln>
          </p:spPr>
        </p:sp>
        <p:sp>
          <p:nvSpPr>
            <p:cNvPr id="398356" name="直接连接符 398355"/>
            <p:cNvSpPr/>
            <p:nvPr/>
          </p:nvSpPr>
          <p:spPr>
            <a:xfrm flipV="1">
              <a:off x="1949" y="2823"/>
              <a:ext cx="0" cy="435"/>
            </a:xfrm>
            <a:prstGeom prst="line">
              <a:avLst/>
            </a:prstGeom>
            <a:ln w="9525" cap="flat" cmpd="sng">
              <a:solidFill>
                <a:srgbClr val="000000"/>
              </a:solidFill>
              <a:prstDash val="solid"/>
              <a:headEnd type="none" w="med" len="med"/>
              <a:tailEnd type="triangle" w="med" len="med"/>
            </a:ln>
          </p:spPr>
        </p:sp>
        <p:sp>
          <p:nvSpPr>
            <p:cNvPr id="398357" name="直接连接符 398356"/>
            <p:cNvSpPr/>
            <p:nvPr/>
          </p:nvSpPr>
          <p:spPr>
            <a:xfrm flipV="1">
              <a:off x="3793" y="2823"/>
              <a:ext cx="0" cy="435"/>
            </a:xfrm>
            <a:prstGeom prst="line">
              <a:avLst/>
            </a:prstGeom>
            <a:ln w="9525" cap="flat" cmpd="sng">
              <a:solidFill>
                <a:srgbClr val="000000"/>
              </a:solidFill>
              <a:prstDash val="solid"/>
              <a:headEnd type="none" w="med" len="med"/>
              <a:tailEnd type="triangle" w="med" len="med"/>
            </a:ln>
          </p:spPr>
        </p:sp>
        <p:sp>
          <p:nvSpPr>
            <p:cNvPr id="398358" name="矩形 398357" descr="信纸"/>
            <p:cNvSpPr/>
            <p:nvPr/>
          </p:nvSpPr>
          <p:spPr>
            <a:xfrm>
              <a:off x="2526" y="2823"/>
              <a:ext cx="806" cy="248"/>
            </a:xfrm>
            <a:prstGeom prst="rect">
              <a:avLst/>
            </a:prstGeom>
            <a:blipFill rotWithShape="1">
              <a:blip r:embed="rId3"/>
            </a:blipFill>
            <a:ln w="19050" cap="flat" cmpd="sng">
              <a:solidFill>
                <a:schemeClr val="bg1"/>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订单文件</a:t>
              </a:r>
            </a:p>
          </p:txBody>
        </p:sp>
        <p:sp>
          <p:nvSpPr>
            <p:cNvPr id="398359" name="直接连接符 398358"/>
            <p:cNvSpPr/>
            <p:nvPr/>
          </p:nvSpPr>
          <p:spPr>
            <a:xfrm>
              <a:off x="4138" y="2388"/>
              <a:ext cx="749" cy="0"/>
            </a:xfrm>
            <a:prstGeom prst="line">
              <a:avLst/>
            </a:prstGeom>
            <a:ln w="9525" cap="flat" cmpd="sng">
              <a:solidFill>
                <a:srgbClr val="000000"/>
              </a:solidFill>
              <a:prstDash val="solid"/>
              <a:headEnd type="none" w="med" len="med"/>
              <a:tailEnd type="triangle" w="med" len="med"/>
            </a:ln>
          </p:spPr>
        </p:sp>
        <p:sp>
          <p:nvSpPr>
            <p:cNvPr id="398360" name="矩形 398359"/>
            <p:cNvSpPr/>
            <p:nvPr/>
          </p:nvSpPr>
          <p:spPr>
            <a:xfrm>
              <a:off x="970" y="1953"/>
              <a:ext cx="633" cy="249"/>
            </a:xfrm>
            <a:prstGeom prst="rect">
              <a:avLst/>
            </a:prstGeom>
            <a:solidFill>
              <a:schemeClr val="bg1"/>
            </a:solidFill>
            <a:ln w="9525">
              <a:noFill/>
            </a:ln>
          </p:spPr>
          <p:txBody>
            <a:bodyPr wrap="none" anchor="ctr"/>
            <a:lstStyle/>
            <a:p>
              <a:pPr algn="ctr">
                <a:spcBef>
                  <a:spcPct val="50000"/>
                </a:spcBef>
              </a:pPr>
              <a:r>
                <a:rPr lang="zh-CN" altLang="en-US" sz="2000" b="1" dirty="0">
                  <a:latin typeface="Arial" panose="020B0604020202020204" pitchFamily="34" charset="0"/>
                </a:rPr>
                <a:t>顾客订单</a:t>
              </a:r>
            </a:p>
          </p:txBody>
        </p:sp>
        <p:sp>
          <p:nvSpPr>
            <p:cNvPr id="398361" name="矩形 398360"/>
            <p:cNvSpPr/>
            <p:nvPr/>
          </p:nvSpPr>
          <p:spPr>
            <a:xfrm>
              <a:off x="4196" y="1891"/>
              <a:ext cx="634" cy="435"/>
            </a:xfrm>
            <a:prstGeom prst="rect">
              <a:avLst/>
            </a:prstGeom>
            <a:solidFill>
              <a:schemeClr val="bg1"/>
            </a:solidFill>
            <a:ln w="9525">
              <a:noFill/>
            </a:ln>
          </p:spPr>
          <p:txBody>
            <a:bodyPr wrap="none" anchor="ctr"/>
            <a:lstStyle/>
            <a:p>
              <a:pPr algn="ctr">
                <a:spcBef>
                  <a:spcPct val="50000"/>
                </a:spcBef>
              </a:pPr>
              <a:r>
                <a:rPr lang="zh-CN" altLang="en-US" sz="2000" b="1" dirty="0">
                  <a:latin typeface="Arial" panose="020B0604020202020204" pitchFamily="34" charset="0"/>
                </a:rPr>
                <a:t>出版社</a:t>
              </a:r>
            </a:p>
            <a:p>
              <a:pPr algn="ctr">
                <a:spcBef>
                  <a:spcPct val="50000"/>
                </a:spcBef>
              </a:pPr>
              <a:r>
                <a:rPr lang="zh-CN" altLang="en-US" sz="2000" b="1" dirty="0">
                  <a:latin typeface="Arial" panose="020B0604020202020204" pitchFamily="34" charset="0"/>
                </a:rPr>
                <a:t>订单</a:t>
              </a:r>
            </a:p>
          </p:txBody>
        </p:sp>
        <p:sp>
          <p:nvSpPr>
            <p:cNvPr id="398362" name="直接连接符 398361"/>
            <p:cNvSpPr/>
            <p:nvPr/>
          </p:nvSpPr>
          <p:spPr>
            <a:xfrm>
              <a:off x="1268" y="3258"/>
              <a:ext cx="1344" cy="0"/>
            </a:xfrm>
            <a:prstGeom prst="line">
              <a:avLst/>
            </a:prstGeom>
            <a:ln w="19050" cap="flat" cmpd="sng">
              <a:solidFill>
                <a:srgbClr val="000000"/>
              </a:solidFill>
              <a:prstDash val="solid"/>
              <a:headEnd type="none" w="med" len="med"/>
              <a:tailEnd type="none" w="med" len="med"/>
            </a:ln>
          </p:spPr>
        </p:sp>
        <p:sp>
          <p:nvSpPr>
            <p:cNvPr id="398363" name="直接连接符 398362"/>
            <p:cNvSpPr/>
            <p:nvPr/>
          </p:nvSpPr>
          <p:spPr>
            <a:xfrm>
              <a:off x="1271" y="3514"/>
              <a:ext cx="1344" cy="0"/>
            </a:xfrm>
            <a:prstGeom prst="line">
              <a:avLst/>
            </a:prstGeom>
            <a:ln w="19050" cap="flat" cmpd="sng">
              <a:solidFill>
                <a:srgbClr val="000000"/>
              </a:solidFill>
              <a:prstDash val="solid"/>
              <a:headEnd type="none" w="med" len="med"/>
              <a:tailEnd type="none" w="med" len="med"/>
            </a:ln>
          </p:spPr>
        </p:sp>
        <p:sp>
          <p:nvSpPr>
            <p:cNvPr id="398364" name="直接连接符 398363"/>
            <p:cNvSpPr/>
            <p:nvPr/>
          </p:nvSpPr>
          <p:spPr>
            <a:xfrm>
              <a:off x="1268" y="3258"/>
              <a:ext cx="0" cy="248"/>
            </a:xfrm>
            <a:prstGeom prst="line">
              <a:avLst/>
            </a:prstGeom>
            <a:ln w="19050" cap="flat" cmpd="sng">
              <a:solidFill>
                <a:srgbClr val="000000"/>
              </a:solidFill>
              <a:prstDash val="solid"/>
              <a:headEnd type="none" w="med" len="med"/>
              <a:tailEnd type="none" w="med" len="med"/>
            </a:ln>
          </p:spPr>
        </p:sp>
        <p:sp>
          <p:nvSpPr>
            <p:cNvPr id="398365" name="直接连接符 398364"/>
            <p:cNvSpPr/>
            <p:nvPr/>
          </p:nvSpPr>
          <p:spPr>
            <a:xfrm>
              <a:off x="3217" y="3258"/>
              <a:ext cx="1210" cy="0"/>
            </a:xfrm>
            <a:prstGeom prst="line">
              <a:avLst/>
            </a:prstGeom>
            <a:ln w="19050" cap="flat" cmpd="sng">
              <a:solidFill>
                <a:srgbClr val="000000"/>
              </a:solidFill>
              <a:prstDash val="solid"/>
              <a:headEnd type="none" w="med" len="med"/>
              <a:tailEnd type="none" w="med" len="med"/>
            </a:ln>
          </p:spPr>
        </p:sp>
        <p:sp>
          <p:nvSpPr>
            <p:cNvPr id="398366" name="直接连接符 398365"/>
            <p:cNvSpPr/>
            <p:nvPr/>
          </p:nvSpPr>
          <p:spPr>
            <a:xfrm>
              <a:off x="3217" y="3506"/>
              <a:ext cx="1210" cy="0"/>
            </a:xfrm>
            <a:prstGeom prst="line">
              <a:avLst/>
            </a:prstGeom>
            <a:ln w="19050" cap="flat" cmpd="sng">
              <a:solidFill>
                <a:srgbClr val="000000"/>
              </a:solidFill>
              <a:prstDash val="solid"/>
              <a:headEnd type="none" w="med" len="med"/>
              <a:tailEnd type="none" w="med" len="med"/>
            </a:ln>
          </p:spPr>
        </p:sp>
        <p:sp>
          <p:nvSpPr>
            <p:cNvPr id="398367" name="直接连接符 398366"/>
            <p:cNvSpPr/>
            <p:nvPr/>
          </p:nvSpPr>
          <p:spPr>
            <a:xfrm>
              <a:off x="3217" y="3258"/>
              <a:ext cx="0" cy="248"/>
            </a:xfrm>
            <a:prstGeom prst="line">
              <a:avLst/>
            </a:prstGeom>
            <a:ln w="19050" cap="flat" cmpd="sng">
              <a:solidFill>
                <a:srgbClr val="000000"/>
              </a:solidFill>
              <a:prstDash val="solid"/>
              <a:headEnd type="none" w="med" len="med"/>
              <a:tailEnd type="none" w="med" len="med"/>
            </a:ln>
          </p:spPr>
        </p:sp>
        <p:sp>
          <p:nvSpPr>
            <p:cNvPr id="398368" name="直接连接符 398367"/>
            <p:cNvSpPr/>
            <p:nvPr/>
          </p:nvSpPr>
          <p:spPr>
            <a:xfrm>
              <a:off x="2526" y="2823"/>
              <a:ext cx="806" cy="0"/>
            </a:xfrm>
            <a:prstGeom prst="line">
              <a:avLst/>
            </a:prstGeom>
            <a:ln w="19050" cap="flat" cmpd="sng">
              <a:solidFill>
                <a:srgbClr val="000000"/>
              </a:solidFill>
              <a:prstDash val="solid"/>
              <a:headEnd type="none" w="med" len="med"/>
              <a:tailEnd type="none" w="med" len="med"/>
            </a:ln>
          </p:spPr>
        </p:sp>
        <p:sp>
          <p:nvSpPr>
            <p:cNvPr id="398369" name="直接连接符 398368"/>
            <p:cNvSpPr/>
            <p:nvPr/>
          </p:nvSpPr>
          <p:spPr>
            <a:xfrm>
              <a:off x="2526" y="3071"/>
              <a:ext cx="806" cy="0"/>
            </a:xfrm>
            <a:prstGeom prst="line">
              <a:avLst/>
            </a:prstGeom>
            <a:ln w="19050" cap="flat" cmpd="sng">
              <a:solidFill>
                <a:srgbClr val="000000"/>
              </a:solidFill>
              <a:prstDash val="solid"/>
              <a:headEnd type="none" w="med" len="med"/>
              <a:tailEnd type="none" w="med" len="med"/>
            </a:ln>
          </p:spPr>
        </p:sp>
        <p:sp>
          <p:nvSpPr>
            <p:cNvPr id="398370" name="直接连接符 398369"/>
            <p:cNvSpPr/>
            <p:nvPr/>
          </p:nvSpPr>
          <p:spPr>
            <a:xfrm>
              <a:off x="2526" y="2823"/>
              <a:ext cx="0" cy="248"/>
            </a:xfrm>
            <a:prstGeom prst="line">
              <a:avLst/>
            </a:prstGeom>
            <a:ln w="19050" cap="flat" cmpd="sng">
              <a:solidFill>
                <a:srgbClr val="000000"/>
              </a:solidFill>
              <a:prstDash val="solid"/>
              <a:headEnd type="none" w="med" len="med"/>
              <a:tailEnd type="none" w="med" len="med"/>
            </a:ln>
          </p:spPr>
        </p:sp>
        <p:sp>
          <p:nvSpPr>
            <p:cNvPr id="398371" name="直接连接符 398370"/>
            <p:cNvSpPr/>
            <p:nvPr/>
          </p:nvSpPr>
          <p:spPr>
            <a:xfrm>
              <a:off x="3101" y="1394"/>
              <a:ext cx="1211" cy="0"/>
            </a:xfrm>
            <a:prstGeom prst="line">
              <a:avLst/>
            </a:prstGeom>
            <a:ln w="19050" cap="flat" cmpd="sng">
              <a:solidFill>
                <a:srgbClr val="000000"/>
              </a:solidFill>
              <a:prstDash val="solid"/>
              <a:headEnd type="none" w="med" len="med"/>
              <a:tailEnd type="none" w="med" len="med"/>
            </a:ln>
          </p:spPr>
        </p:sp>
        <p:sp>
          <p:nvSpPr>
            <p:cNvPr id="398372" name="直接连接符 398371"/>
            <p:cNvSpPr/>
            <p:nvPr/>
          </p:nvSpPr>
          <p:spPr>
            <a:xfrm>
              <a:off x="3101" y="1642"/>
              <a:ext cx="1211" cy="0"/>
            </a:xfrm>
            <a:prstGeom prst="line">
              <a:avLst/>
            </a:prstGeom>
            <a:ln w="19050" cap="flat" cmpd="sng">
              <a:solidFill>
                <a:srgbClr val="000000"/>
              </a:solidFill>
              <a:prstDash val="solid"/>
              <a:headEnd type="none" w="med" len="med"/>
              <a:tailEnd type="none" w="med" len="med"/>
            </a:ln>
          </p:spPr>
        </p:sp>
        <p:sp>
          <p:nvSpPr>
            <p:cNvPr id="398373" name="直接连接符 398372"/>
            <p:cNvSpPr/>
            <p:nvPr/>
          </p:nvSpPr>
          <p:spPr>
            <a:xfrm>
              <a:off x="3101" y="1394"/>
              <a:ext cx="0" cy="248"/>
            </a:xfrm>
            <a:prstGeom prst="line">
              <a:avLst/>
            </a:prstGeom>
            <a:ln w="19050" cap="flat" cmpd="sng">
              <a:solidFill>
                <a:srgbClr val="000000"/>
              </a:solidFill>
              <a:prstDash val="solid"/>
              <a:headEnd type="none" w="med" len="med"/>
              <a:tailEnd type="none" w="med" len="med"/>
            </a:ln>
          </p:spPr>
        </p:sp>
        <p:sp>
          <p:nvSpPr>
            <p:cNvPr id="398374" name="直接连接符 398373"/>
            <p:cNvSpPr/>
            <p:nvPr/>
          </p:nvSpPr>
          <p:spPr>
            <a:xfrm>
              <a:off x="2411" y="2512"/>
              <a:ext cx="403" cy="311"/>
            </a:xfrm>
            <a:prstGeom prst="line">
              <a:avLst/>
            </a:prstGeom>
            <a:ln w="9525" cap="flat" cmpd="sng">
              <a:solidFill>
                <a:srgbClr val="000000"/>
              </a:solidFill>
              <a:prstDash val="solid"/>
              <a:headEnd type="none" w="med" len="med"/>
              <a:tailEnd type="triangle" w="med" len="med"/>
            </a:ln>
          </p:spPr>
        </p:sp>
        <p:sp>
          <p:nvSpPr>
            <p:cNvPr id="398375" name="直接连接符 398374"/>
            <p:cNvSpPr/>
            <p:nvPr/>
          </p:nvSpPr>
          <p:spPr>
            <a:xfrm flipV="1">
              <a:off x="3044" y="2450"/>
              <a:ext cx="288" cy="373"/>
            </a:xfrm>
            <a:prstGeom prst="line">
              <a:avLst/>
            </a:prstGeom>
            <a:ln w="9525" cap="flat" cmpd="sng">
              <a:solidFill>
                <a:srgbClr val="000000"/>
              </a:solidFill>
              <a:prstDash val="solid"/>
              <a:headEnd type="none" w="med" len="med"/>
              <a:tailEnd type="triangle" w="med" len="med"/>
            </a:ln>
          </p:spPr>
        </p:sp>
        <p:sp>
          <p:nvSpPr>
            <p:cNvPr id="398376" name="直接连接符 398375"/>
            <p:cNvSpPr/>
            <p:nvPr/>
          </p:nvSpPr>
          <p:spPr>
            <a:xfrm>
              <a:off x="3735" y="1642"/>
              <a:ext cx="0" cy="249"/>
            </a:xfrm>
            <a:prstGeom prst="line">
              <a:avLst/>
            </a:prstGeom>
            <a:ln w="9525" cap="flat" cmpd="sng">
              <a:solidFill>
                <a:srgbClr val="000000"/>
              </a:solidFill>
              <a:prstDash val="solid"/>
              <a:headEnd type="none" w="med" len="med"/>
              <a:tailEnd type="triangle" w="med" len="med"/>
            </a:ln>
          </p:spPr>
        </p:sp>
      </p:grpSp>
      <p:sp>
        <p:nvSpPr>
          <p:cNvPr id="398381" name="文本框 398380"/>
          <p:cNvSpPr txBox="1"/>
          <p:nvPr/>
        </p:nvSpPr>
        <p:spPr>
          <a:xfrm>
            <a:off x="7669213" y="5516563"/>
            <a:ext cx="719137" cy="457200"/>
          </a:xfrm>
          <a:prstGeom prst="rect">
            <a:avLst/>
          </a:prstGeom>
          <a:noFill/>
          <a:ln w="9525">
            <a:noFill/>
          </a:ln>
        </p:spPr>
        <p:txBody>
          <a:bodyPr anchor="b">
            <a:spAutoFit/>
          </a:bodyPr>
          <a:lstStyle/>
          <a:p>
            <a:pPr>
              <a:spcBef>
                <a:spcPct val="50000"/>
              </a:spcBef>
            </a:pPr>
            <a:r>
              <a:rPr lang="en-US" altLang="zh-CN" sz="2400">
                <a:solidFill>
                  <a:srgbClr val="808080"/>
                </a:solidFill>
                <a:latin typeface="Arial" panose="020B0604020202020204" pitchFamily="34" charset="0"/>
              </a:rPr>
              <a:t>#</a:t>
            </a:r>
          </a:p>
        </p:txBody>
      </p:sp>
    </p:spTree>
  </p:cSld>
  <p:clrMapOvr>
    <a:masterClrMapping/>
  </p:clrMapOvr>
  <mc:AlternateContent xmlns:mc="http://schemas.openxmlformats.org/markup-compatibility/2006" xmlns:p14="http://schemas.microsoft.com/office/powerpoint/2010/main">
    <mc:Choice Requires="p14">
      <p:transition spd="slow" p14:dur="2000" advTm="90360"/>
    </mc:Choice>
    <mc:Fallback xmlns="">
      <p:transition spd="slow" advTm="903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8341"/>
                                        </p:tgtEl>
                                        <p:attrNameLst>
                                          <p:attrName>style.visibility</p:attrName>
                                        </p:attrNameLst>
                                      </p:cBhvr>
                                      <p:to>
                                        <p:strVal val="visible"/>
                                      </p:to>
                                    </p:set>
                                    <p:animEffect transition="in" filter="wipe(left)">
                                      <p:cBhvr>
                                        <p:cTn id="7" dur="500"/>
                                        <p:tgtEl>
                                          <p:spTgt spid="398341"/>
                                        </p:tgtEl>
                                      </p:cBhvr>
                                    </p:animEffect>
                                  </p:childTnLst>
                                </p:cTn>
                              </p:par>
                            </p:childTnLst>
                          </p:cTn>
                        </p:par>
                        <p:par>
                          <p:cTn id="8" fill="hold">
                            <p:stCondLst>
                              <p:cond delay="500"/>
                            </p:stCondLst>
                            <p:childTnLst>
                              <p:par>
                                <p:cTn id="9" presetID="8" presetClass="entr" presetSubtype="32" fill="hold" nodeType="afterEffect">
                                  <p:stCondLst>
                                    <p:cond delay="0"/>
                                  </p:stCondLst>
                                  <p:childTnLst>
                                    <p:set>
                                      <p:cBhvr>
                                        <p:cTn id="10" dur="1" fill="hold">
                                          <p:stCondLst>
                                            <p:cond delay="0"/>
                                          </p:stCondLst>
                                        </p:cTn>
                                        <p:tgtEl>
                                          <p:spTgt spid="398380"/>
                                        </p:tgtEl>
                                        <p:attrNameLst>
                                          <p:attrName>style.visibility</p:attrName>
                                        </p:attrNameLst>
                                      </p:cBhvr>
                                      <p:to>
                                        <p:strVal val="visible"/>
                                      </p:to>
                                    </p:set>
                                    <p:animEffect transition="in" filter="diamond(out)">
                                      <p:cBhvr>
                                        <p:cTn id="11" dur="2000"/>
                                        <p:tgtEl>
                                          <p:spTgt spid="398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4" name="矩形 399363"/>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a:t>
            </a:r>
            <a:r>
              <a:rPr lang="zh-CN" altLang="en-US" sz="3400" dirty="0"/>
              <a:t>数据字典</a:t>
            </a:r>
            <a:endParaRPr lang="en-US" altLang="zh-CN"/>
          </a:p>
        </p:txBody>
      </p:sp>
      <p:sp>
        <p:nvSpPr>
          <p:cNvPr id="399365" name="矩形 399364"/>
          <p:cNvSpPr/>
          <p:nvPr/>
        </p:nvSpPr>
        <p:spPr>
          <a:xfrm>
            <a:off x="395288" y="112553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buClr>
                <a:schemeClr val="folHlink"/>
              </a:buClr>
              <a:buSzPct val="60000"/>
              <a:buNone/>
            </a:pPr>
            <a:r>
              <a:rPr lang="zh-CN" altLang="en-US" dirty="0"/>
              <a:t>          </a:t>
            </a:r>
            <a:r>
              <a:rPr lang="en-US" altLang="zh-CN" sz="2900">
                <a:solidFill>
                  <a:srgbClr val="660033"/>
                </a:solidFill>
                <a:ea typeface="华文新魏" panose="02010800040101010101" pitchFamily="2" charset="-122"/>
              </a:rPr>
              <a:t>1</a:t>
            </a:r>
            <a:r>
              <a:rPr lang="zh-CN" altLang="en-US" sz="2900" dirty="0">
                <a:solidFill>
                  <a:srgbClr val="660033"/>
                </a:solidFill>
                <a:ea typeface="华文新魏" panose="02010800040101010101" pitchFamily="2" charset="-122"/>
              </a:rPr>
              <a:t>、数据字典的引入</a:t>
            </a:r>
          </a:p>
          <a:p>
            <a:pPr lvl="0">
              <a:spcBef>
                <a:spcPct val="10000"/>
              </a:spcBef>
              <a:buClrTx/>
              <a:buSzTx/>
              <a:buFontTx/>
              <a:buNone/>
            </a:pPr>
            <a:r>
              <a:rPr lang="zh-CN" altLang="en-US" dirty="0"/>
              <a:t>          数据流图表示了数据与处理的关系，但在数据流图中无法表达出每个数据和处理的具体含义和详细描述信息，于是引入数据字典来弥补数据流图的不足，并和数据流图一起构成了用户需求信息的描述手段和工具。</a:t>
            </a:r>
          </a:p>
        </p:txBody>
      </p:sp>
      <p:grpSp>
        <p:nvGrpSpPr>
          <p:cNvPr id="399402" name="组合 399401"/>
          <p:cNvGrpSpPr/>
          <p:nvPr/>
        </p:nvGrpSpPr>
        <p:grpSpPr>
          <a:xfrm>
            <a:off x="0" y="4437063"/>
            <a:ext cx="9144000" cy="2103437"/>
            <a:chOff x="0" y="2795"/>
            <a:chExt cx="5760" cy="1325"/>
          </a:xfrm>
        </p:grpSpPr>
        <p:grpSp>
          <p:nvGrpSpPr>
            <p:cNvPr id="399366" name="组合 399365"/>
            <p:cNvGrpSpPr/>
            <p:nvPr/>
          </p:nvGrpSpPr>
          <p:grpSpPr>
            <a:xfrm>
              <a:off x="336" y="2886"/>
              <a:ext cx="5129" cy="1234"/>
              <a:chOff x="336" y="1487"/>
              <a:chExt cx="5129" cy="2120"/>
            </a:xfrm>
          </p:grpSpPr>
          <p:sp>
            <p:nvSpPr>
              <p:cNvPr id="399367" name="椭圆 399366" descr="花束"/>
              <p:cNvSpPr/>
              <p:nvPr/>
            </p:nvSpPr>
            <p:spPr>
              <a:xfrm>
                <a:off x="1603" y="1984"/>
                <a:ext cx="808" cy="932"/>
              </a:xfrm>
              <a:prstGeom prst="ellipse">
                <a:avLst/>
              </a:prstGeom>
              <a:blipFill rotWithShape="1">
                <a:blip r:embed="rId3"/>
              </a:blip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图书预定</a:t>
                </a:r>
              </a:p>
              <a:p>
                <a:pPr algn="ctr">
                  <a:spcBef>
                    <a:spcPct val="50000"/>
                  </a:spcBef>
                </a:pPr>
                <a:r>
                  <a:rPr lang="zh-CN" altLang="en-US" sz="2000" b="1" dirty="0">
                    <a:latin typeface="Arial" panose="020B0604020202020204" pitchFamily="34" charset="0"/>
                  </a:rPr>
                  <a:t>处理</a:t>
                </a:r>
              </a:p>
            </p:txBody>
          </p:sp>
          <p:sp>
            <p:nvSpPr>
              <p:cNvPr id="399368" name="椭圆 399367" descr="花束"/>
              <p:cNvSpPr/>
              <p:nvPr/>
            </p:nvSpPr>
            <p:spPr>
              <a:xfrm>
                <a:off x="3332" y="1984"/>
                <a:ext cx="806" cy="932"/>
              </a:xfrm>
              <a:prstGeom prst="ellipse">
                <a:avLst/>
              </a:prstGeom>
              <a:blipFill rotWithShape="1">
                <a:blip r:embed="rId3"/>
              </a:blip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图书预定</a:t>
                </a:r>
              </a:p>
              <a:p>
                <a:pPr algn="ctr">
                  <a:spcBef>
                    <a:spcPct val="50000"/>
                  </a:spcBef>
                </a:pPr>
                <a:r>
                  <a:rPr lang="zh-CN" altLang="en-US" sz="2000" b="1" dirty="0">
                    <a:latin typeface="Arial" panose="020B0604020202020204" pitchFamily="34" charset="0"/>
                  </a:rPr>
                  <a:t>汇总</a:t>
                </a:r>
              </a:p>
            </p:txBody>
          </p:sp>
          <p:sp>
            <p:nvSpPr>
              <p:cNvPr id="399369" name="矩形 399368" descr="信纸"/>
              <p:cNvSpPr/>
              <p:nvPr/>
            </p:nvSpPr>
            <p:spPr>
              <a:xfrm>
                <a:off x="1257" y="1487"/>
                <a:ext cx="1211" cy="248"/>
              </a:xfrm>
              <a:prstGeom prst="rect">
                <a:avLst/>
              </a:prstGeom>
              <a:blipFill rotWithShape="1">
                <a:blip r:embed="rId4"/>
              </a:blipFill>
              <a:ln w="19050" cap="flat" cmpd="sng">
                <a:solidFill>
                  <a:srgbClr val="CCFFCC"/>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图书目录文件</a:t>
                </a:r>
              </a:p>
            </p:txBody>
          </p:sp>
          <p:sp>
            <p:nvSpPr>
              <p:cNvPr id="399370" name="直接连接符 399369"/>
              <p:cNvSpPr/>
              <p:nvPr/>
            </p:nvSpPr>
            <p:spPr>
              <a:xfrm>
                <a:off x="1257" y="1735"/>
                <a:ext cx="1211" cy="0"/>
              </a:xfrm>
              <a:prstGeom prst="line">
                <a:avLst/>
              </a:prstGeom>
              <a:ln w="9525" cap="flat" cmpd="sng">
                <a:solidFill>
                  <a:srgbClr val="000000"/>
                </a:solidFill>
                <a:prstDash val="solid"/>
                <a:headEnd type="none" w="med" len="med"/>
                <a:tailEnd type="none" w="med" len="med"/>
              </a:ln>
            </p:spPr>
          </p:sp>
          <p:sp>
            <p:nvSpPr>
              <p:cNvPr id="399371" name="直接连接符 399370"/>
              <p:cNvSpPr/>
              <p:nvPr/>
            </p:nvSpPr>
            <p:spPr>
              <a:xfrm>
                <a:off x="1257" y="1487"/>
                <a:ext cx="1211" cy="0"/>
              </a:xfrm>
              <a:prstGeom prst="line">
                <a:avLst/>
              </a:prstGeom>
              <a:ln w="9525" cap="flat" cmpd="sng">
                <a:solidFill>
                  <a:srgbClr val="000000"/>
                </a:solidFill>
                <a:prstDash val="solid"/>
                <a:headEnd type="none" w="med" len="med"/>
                <a:tailEnd type="none" w="med" len="med"/>
              </a:ln>
            </p:spPr>
          </p:sp>
          <p:sp>
            <p:nvSpPr>
              <p:cNvPr id="399372" name="直接连接符 399371"/>
              <p:cNvSpPr/>
              <p:nvPr/>
            </p:nvSpPr>
            <p:spPr>
              <a:xfrm>
                <a:off x="1257" y="1487"/>
                <a:ext cx="0" cy="248"/>
              </a:xfrm>
              <a:prstGeom prst="line">
                <a:avLst/>
              </a:prstGeom>
              <a:ln w="9525" cap="flat" cmpd="sng">
                <a:solidFill>
                  <a:srgbClr val="000000"/>
                </a:solidFill>
                <a:prstDash val="solid"/>
                <a:headEnd type="none" w="med" len="med"/>
                <a:tailEnd type="none" w="med" len="med"/>
              </a:ln>
            </p:spPr>
          </p:sp>
          <p:sp>
            <p:nvSpPr>
              <p:cNvPr id="399373" name="矩形 399372" descr="信纸"/>
              <p:cNvSpPr/>
              <p:nvPr/>
            </p:nvSpPr>
            <p:spPr>
              <a:xfrm>
                <a:off x="3101" y="1487"/>
                <a:ext cx="1211" cy="248"/>
              </a:xfrm>
              <a:prstGeom prst="rect">
                <a:avLst/>
              </a:prstGeom>
              <a:blipFill rotWithShape="1">
                <a:blip r:embed="rId4"/>
              </a:blipFill>
              <a:ln w="19050" cap="flat" cmpd="sng">
                <a:solidFill>
                  <a:srgbClr val="CCFFCC"/>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出版社档案文件</a:t>
                </a:r>
              </a:p>
            </p:txBody>
          </p:sp>
          <p:sp>
            <p:nvSpPr>
              <p:cNvPr id="399374" name="矩形 399373" descr="信纸"/>
              <p:cNvSpPr/>
              <p:nvPr/>
            </p:nvSpPr>
            <p:spPr>
              <a:xfrm>
                <a:off x="1275" y="3367"/>
                <a:ext cx="1335" cy="240"/>
              </a:xfrm>
              <a:prstGeom prst="rect">
                <a:avLst/>
              </a:prstGeom>
              <a:blipFill rotWithShape="1">
                <a:blip r:embed="rId4"/>
              </a:blipFill>
              <a:ln w="19050" cap="flat" cmpd="sng">
                <a:solidFill>
                  <a:srgbClr val="CCFFCC"/>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顾客购书档案文件</a:t>
                </a:r>
              </a:p>
            </p:txBody>
          </p:sp>
          <p:sp>
            <p:nvSpPr>
              <p:cNvPr id="399375" name="矩形 399374" descr="信纸"/>
              <p:cNvSpPr/>
              <p:nvPr/>
            </p:nvSpPr>
            <p:spPr>
              <a:xfrm>
                <a:off x="3217" y="3351"/>
                <a:ext cx="1210" cy="248"/>
              </a:xfrm>
              <a:prstGeom prst="rect">
                <a:avLst/>
              </a:prstGeom>
              <a:blipFill rotWithShape="1">
                <a:blip r:embed="rId4"/>
              </a:blipFill>
              <a:ln w="19050" cap="flat" cmpd="sng">
                <a:solidFill>
                  <a:srgbClr val="CCFFCC"/>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订货汇总文件</a:t>
                </a:r>
              </a:p>
            </p:txBody>
          </p:sp>
          <p:sp>
            <p:nvSpPr>
              <p:cNvPr id="399376" name="矩形 399375"/>
              <p:cNvSpPr/>
              <p:nvPr/>
            </p:nvSpPr>
            <p:spPr>
              <a:xfrm>
                <a:off x="336" y="2232"/>
                <a:ext cx="578" cy="435"/>
              </a:xfrm>
              <a:prstGeom prst="rect">
                <a:avLst/>
              </a:prstGeom>
              <a:gradFill rotWithShape="1">
                <a:gsLst>
                  <a:gs pos="0">
                    <a:srgbClr val="CCFFCC">
                      <a:gamma/>
                      <a:shade val="46275"/>
                      <a:invGamma/>
                    </a:srgbClr>
                  </a:gs>
                  <a:gs pos="50000">
                    <a:srgbClr val="CCFFCC"/>
                  </a:gs>
                  <a:gs pos="100000">
                    <a:srgbClr val="CCFFCC">
                      <a:gamma/>
                      <a:shade val="46275"/>
                      <a:invGamma/>
                    </a:srgbClr>
                  </a:gs>
                </a:gsLst>
                <a:lin ang="5400000" scaled="1"/>
                <a:tileRect/>
              </a:gradFill>
              <a:ln w="9525" cap="flat" cmpd="sng">
                <a:solidFill>
                  <a:srgbClr val="000000"/>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顾客</a:t>
                </a:r>
              </a:p>
            </p:txBody>
          </p:sp>
          <p:sp>
            <p:nvSpPr>
              <p:cNvPr id="399377" name="矩形 399376"/>
              <p:cNvSpPr/>
              <p:nvPr/>
            </p:nvSpPr>
            <p:spPr>
              <a:xfrm>
                <a:off x="4887" y="2232"/>
                <a:ext cx="578" cy="435"/>
              </a:xfrm>
              <a:prstGeom prst="rect">
                <a:avLst/>
              </a:prstGeom>
              <a:gradFill rotWithShape="1">
                <a:gsLst>
                  <a:gs pos="0">
                    <a:srgbClr val="CCFFCC">
                      <a:gamma/>
                      <a:shade val="46275"/>
                      <a:invGamma/>
                    </a:srgbClr>
                  </a:gs>
                  <a:gs pos="50000">
                    <a:srgbClr val="CCFFCC"/>
                  </a:gs>
                  <a:gs pos="100000">
                    <a:srgbClr val="CCFFCC">
                      <a:gamma/>
                      <a:shade val="46275"/>
                      <a:invGamma/>
                    </a:srgbClr>
                  </a:gs>
                </a:gsLst>
                <a:lin ang="5400000" scaled="1"/>
                <a:tileRect/>
              </a:gradFill>
              <a:ln w="9525" cap="flat" cmpd="sng">
                <a:solidFill>
                  <a:srgbClr val="000000"/>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出版社</a:t>
                </a:r>
              </a:p>
            </p:txBody>
          </p:sp>
          <p:sp>
            <p:nvSpPr>
              <p:cNvPr id="399378" name="直接连接符 399377"/>
              <p:cNvSpPr/>
              <p:nvPr/>
            </p:nvSpPr>
            <p:spPr>
              <a:xfrm>
                <a:off x="913" y="2481"/>
                <a:ext cx="690" cy="0"/>
              </a:xfrm>
              <a:prstGeom prst="line">
                <a:avLst/>
              </a:prstGeom>
              <a:ln w="9525" cap="flat" cmpd="sng">
                <a:solidFill>
                  <a:srgbClr val="000000"/>
                </a:solidFill>
                <a:prstDash val="solid"/>
                <a:headEnd type="none" w="med" len="med"/>
                <a:tailEnd type="triangle" w="med" len="med"/>
              </a:ln>
            </p:spPr>
          </p:sp>
          <p:sp>
            <p:nvSpPr>
              <p:cNvPr id="399379" name="直接连接符 399378"/>
              <p:cNvSpPr/>
              <p:nvPr/>
            </p:nvSpPr>
            <p:spPr>
              <a:xfrm>
                <a:off x="1949" y="1735"/>
                <a:ext cx="0" cy="249"/>
              </a:xfrm>
              <a:prstGeom prst="line">
                <a:avLst/>
              </a:prstGeom>
              <a:ln w="9525" cap="flat" cmpd="sng">
                <a:solidFill>
                  <a:srgbClr val="000000"/>
                </a:solidFill>
                <a:prstDash val="solid"/>
                <a:headEnd type="none" w="med" len="med"/>
                <a:tailEnd type="triangle" w="med" len="med"/>
              </a:ln>
            </p:spPr>
          </p:sp>
          <p:sp>
            <p:nvSpPr>
              <p:cNvPr id="399380" name="直接连接符 399379"/>
              <p:cNvSpPr/>
              <p:nvPr/>
            </p:nvSpPr>
            <p:spPr>
              <a:xfrm flipV="1">
                <a:off x="1949" y="2916"/>
                <a:ext cx="0" cy="435"/>
              </a:xfrm>
              <a:prstGeom prst="line">
                <a:avLst/>
              </a:prstGeom>
              <a:ln w="9525" cap="flat" cmpd="sng">
                <a:solidFill>
                  <a:srgbClr val="000000"/>
                </a:solidFill>
                <a:prstDash val="solid"/>
                <a:headEnd type="none" w="med" len="med"/>
                <a:tailEnd type="triangle" w="med" len="med"/>
              </a:ln>
            </p:spPr>
          </p:sp>
          <p:sp>
            <p:nvSpPr>
              <p:cNvPr id="399381" name="直接连接符 399380"/>
              <p:cNvSpPr/>
              <p:nvPr/>
            </p:nvSpPr>
            <p:spPr>
              <a:xfrm flipV="1">
                <a:off x="3793" y="2916"/>
                <a:ext cx="0" cy="435"/>
              </a:xfrm>
              <a:prstGeom prst="line">
                <a:avLst/>
              </a:prstGeom>
              <a:ln w="9525" cap="flat" cmpd="sng">
                <a:solidFill>
                  <a:srgbClr val="000000"/>
                </a:solidFill>
                <a:prstDash val="solid"/>
                <a:headEnd type="none" w="med" len="med"/>
                <a:tailEnd type="triangle" w="med" len="med"/>
              </a:ln>
            </p:spPr>
          </p:sp>
          <p:sp>
            <p:nvSpPr>
              <p:cNvPr id="399382" name="矩形 399381" descr="信纸"/>
              <p:cNvSpPr/>
              <p:nvPr/>
            </p:nvSpPr>
            <p:spPr>
              <a:xfrm>
                <a:off x="2526" y="2916"/>
                <a:ext cx="806" cy="248"/>
              </a:xfrm>
              <a:prstGeom prst="rect">
                <a:avLst/>
              </a:prstGeom>
              <a:blipFill rotWithShape="1">
                <a:blip r:embed="rId4"/>
              </a:blipFill>
              <a:ln w="19050" cap="flat" cmpd="sng">
                <a:solidFill>
                  <a:srgbClr val="CCFFCC"/>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订单文件</a:t>
                </a:r>
              </a:p>
            </p:txBody>
          </p:sp>
          <p:sp>
            <p:nvSpPr>
              <p:cNvPr id="399383" name="直接连接符 399382"/>
              <p:cNvSpPr/>
              <p:nvPr/>
            </p:nvSpPr>
            <p:spPr>
              <a:xfrm>
                <a:off x="4138" y="2481"/>
                <a:ext cx="749" cy="0"/>
              </a:xfrm>
              <a:prstGeom prst="line">
                <a:avLst/>
              </a:prstGeom>
              <a:ln w="9525" cap="flat" cmpd="sng">
                <a:solidFill>
                  <a:srgbClr val="000000"/>
                </a:solidFill>
                <a:prstDash val="solid"/>
                <a:headEnd type="none" w="med" len="med"/>
                <a:tailEnd type="triangle" w="med" len="med"/>
              </a:ln>
            </p:spPr>
          </p:sp>
          <p:sp>
            <p:nvSpPr>
              <p:cNvPr id="399384" name="矩形 399383"/>
              <p:cNvSpPr/>
              <p:nvPr/>
            </p:nvSpPr>
            <p:spPr>
              <a:xfrm>
                <a:off x="970" y="2046"/>
                <a:ext cx="633" cy="249"/>
              </a:xfrm>
              <a:prstGeom prst="rect">
                <a:avLst/>
              </a:prstGeom>
              <a:solidFill>
                <a:schemeClr val="bg1"/>
              </a:solidFill>
              <a:ln w="9525">
                <a:noFill/>
              </a:ln>
            </p:spPr>
            <p:txBody>
              <a:bodyPr wrap="none" anchor="ctr"/>
              <a:lstStyle/>
              <a:p>
                <a:pPr algn="ctr">
                  <a:spcBef>
                    <a:spcPct val="50000"/>
                  </a:spcBef>
                </a:pPr>
                <a:r>
                  <a:rPr lang="zh-CN" altLang="en-US" sz="2000" b="1" dirty="0">
                    <a:latin typeface="Arial" panose="020B0604020202020204" pitchFamily="34" charset="0"/>
                  </a:rPr>
                  <a:t>顾客订单</a:t>
                </a:r>
              </a:p>
            </p:txBody>
          </p:sp>
          <p:sp>
            <p:nvSpPr>
              <p:cNvPr id="399385" name="矩形 399384"/>
              <p:cNvSpPr/>
              <p:nvPr/>
            </p:nvSpPr>
            <p:spPr>
              <a:xfrm>
                <a:off x="4196" y="1984"/>
                <a:ext cx="634" cy="435"/>
              </a:xfrm>
              <a:prstGeom prst="rect">
                <a:avLst/>
              </a:prstGeom>
              <a:solidFill>
                <a:schemeClr val="bg1"/>
              </a:solidFill>
              <a:ln w="9525">
                <a:noFill/>
              </a:ln>
            </p:spPr>
            <p:txBody>
              <a:bodyPr wrap="none" anchor="ctr"/>
              <a:lstStyle/>
              <a:p>
                <a:pPr algn="ctr">
                  <a:spcBef>
                    <a:spcPct val="50000"/>
                  </a:spcBef>
                </a:pPr>
                <a:r>
                  <a:rPr lang="zh-CN" altLang="en-US" sz="2000" b="1" dirty="0">
                    <a:latin typeface="Arial" panose="020B0604020202020204" pitchFamily="34" charset="0"/>
                  </a:rPr>
                  <a:t>出版社</a:t>
                </a:r>
              </a:p>
              <a:p>
                <a:pPr algn="ctr">
                  <a:spcBef>
                    <a:spcPct val="50000"/>
                  </a:spcBef>
                </a:pPr>
                <a:r>
                  <a:rPr lang="zh-CN" altLang="en-US" sz="2000" b="1" dirty="0">
                    <a:latin typeface="Arial" panose="020B0604020202020204" pitchFamily="34" charset="0"/>
                  </a:rPr>
                  <a:t>订单</a:t>
                </a:r>
              </a:p>
            </p:txBody>
          </p:sp>
          <p:sp>
            <p:nvSpPr>
              <p:cNvPr id="399386" name="直接连接符 399385"/>
              <p:cNvSpPr/>
              <p:nvPr/>
            </p:nvSpPr>
            <p:spPr>
              <a:xfrm>
                <a:off x="1268" y="3351"/>
                <a:ext cx="1344" cy="0"/>
              </a:xfrm>
              <a:prstGeom prst="line">
                <a:avLst/>
              </a:prstGeom>
              <a:ln w="9525" cap="flat" cmpd="sng">
                <a:solidFill>
                  <a:srgbClr val="000000"/>
                </a:solidFill>
                <a:prstDash val="solid"/>
                <a:headEnd type="none" w="med" len="med"/>
                <a:tailEnd type="none" w="med" len="med"/>
              </a:ln>
            </p:spPr>
          </p:sp>
          <p:sp>
            <p:nvSpPr>
              <p:cNvPr id="399387" name="直接连接符 399386"/>
              <p:cNvSpPr/>
              <p:nvPr/>
            </p:nvSpPr>
            <p:spPr>
              <a:xfrm>
                <a:off x="1271" y="3607"/>
                <a:ext cx="1344" cy="0"/>
              </a:xfrm>
              <a:prstGeom prst="line">
                <a:avLst/>
              </a:prstGeom>
              <a:ln w="9525" cap="flat" cmpd="sng">
                <a:solidFill>
                  <a:srgbClr val="000000"/>
                </a:solidFill>
                <a:prstDash val="solid"/>
                <a:headEnd type="none" w="med" len="med"/>
                <a:tailEnd type="none" w="med" len="med"/>
              </a:ln>
            </p:spPr>
          </p:sp>
          <p:sp>
            <p:nvSpPr>
              <p:cNvPr id="399388" name="直接连接符 399387"/>
              <p:cNvSpPr/>
              <p:nvPr/>
            </p:nvSpPr>
            <p:spPr>
              <a:xfrm>
                <a:off x="1268" y="3351"/>
                <a:ext cx="0" cy="248"/>
              </a:xfrm>
              <a:prstGeom prst="line">
                <a:avLst/>
              </a:prstGeom>
              <a:ln w="9525" cap="flat" cmpd="sng">
                <a:solidFill>
                  <a:srgbClr val="000000"/>
                </a:solidFill>
                <a:prstDash val="solid"/>
                <a:headEnd type="none" w="med" len="med"/>
                <a:tailEnd type="none" w="med" len="med"/>
              </a:ln>
            </p:spPr>
          </p:sp>
          <p:sp>
            <p:nvSpPr>
              <p:cNvPr id="399389" name="直接连接符 399388"/>
              <p:cNvSpPr/>
              <p:nvPr/>
            </p:nvSpPr>
            <p:spPr>
              <a:xfrm>
                <a:off x="3217" y="3351"/>
                <a:ext cx="1210" cy="0"/>
              </a:xfrm>
              <a:prstGeom prst="line">
                <a:avLst/>
              </a:prstGeom>
              <a:ln w="9525" cap="flat" cmpd="sng">
                <a:solidFill>
                  <a:srgbClr val="000000"/>
                </a:solidFill>
                <a:prstDash val="solid"/>
                <a:headEnd type="none" w="med" len="med"/>
                <a:tailEnd type="none" w="med" len="med"/>
              </a:ln>
            </p:spPr>
          </p:sp>
          <p:sp>
            <p:nvSpPr>
              <p:cNvPr id="399390" name="直接连接符 399389"/>
              <p:cNvSpPr/>
              <p:nvPr/>
            </p:nvSpPr>
            <p:spPr>
              <a:xfrm>
                <a:off x="3217" y="3599"/>
                <a:ext cx="1210" cy="0"/>
              </a:xfrm>
              <a:prstGeom prst="line">
                <a:avLst/>
              </a:prstGeom>
              <a:ln w="9525" cap="flat" cmpd="sng">
                <a:solidFill>
                  <a:srgbClr val="000000"/>
                </a:solidFill>
                <a:prstDash val="solid"/>
                <a:headEnd type="none" w="med" len="med"/>
                <a:tailEnd type="none" w="med" len="med"/>
              </a:ln>
            </p:spPr>
          </p:sp>
          <p:sp>
            <p:nvSpPr>
              <p:cNvPr id="399391" name="直接连接符 399390"/>
              <p:cNvSpPr/>
              <p:nvPr/>
            </p:nvSpPr>
            <p:spPr>
              <a:xfrm>
                <a:off x="3217" y="3351"/>
                <a:ext cx="0" cy="248"/>
              </a:xfrm>
              <a:prstGeom prst="line">
                <a:avLst/>
              </a:prstGeom>
              <a:ln w="9525" cap="flat" cmpd="sng">
                <a:solidFill>
                  <a:srgbClr val="000000"/>
                </a:solidFill>
                <a:prstDash val="solid"/>
                <a:headEnd type="none" w="med" len="med"/>
                <a:tailEnd type="none" w="med" len="med"/>
              </a:ln>
            </p:spPr>
          </p:sp>
          <p:sp>
            <p:nvSpPr>
              <p:cNvPr id="399392" name="直接连接符 399391"/>
              <p:cNvSpPr/>
              <p:nvPr/>
            </p:nvSpPr>
            <p:spPr>
              <a:xfrm>
                <a:off x="2526" y="2916"/>
                <a:ext cx="806" cy="0"/>
              </a:xfrm>
              <a:prstGeom prst="line">
                <a:avLst/>
              </a:prstGeom>
              <a:ln w="9525" cap="flat" cmpd="sng">
                <a:solidFill>
                  <a:srgbClr val="000000"/>
                </a:solidFill>
                <a:prstDash val="solid"/>
                <a:headEnd type="none" w="med" len="med"/>
                <a:tailEnd type="none" w="med" len="med"/>
              </a:ln>
            </p:spPr>
          </p:sp>
          <p:sp>
            <p:nvSpPr>
              <p:cNvPr id="399393" name="直接连接符 399392"/>
              <p:cNvSpPr/>
              <p:nvPr/>
            </p:nvSpPr>
            <p:spPr>
              <a:xfrm>
                <a:off x="2526" y="3164"/>
                <a:ext cx="806" cy="0"/>
              </a:xfrm>
              <a:prstGeom prst="line">
                <a:avLst/>
              </a:prstGeom>
              <a:ln w="9525" cap="flat" cmpd="sng">
                <a:solidFill>
                  <a:srgbClr val="000000"/>
                </a:solidFill>
                <a:prstDash val="solid"/>
                <a:headEnd type="none" w="med" len="med"/>
                <a:tailEnd type="none" w="med" len="med"/>
              </a:ln>
            </p:spPr>
          </p:sp>
          <p:sp>
            <p:nvSpPr>
              <p:cNvPr id="399394" name="直接连接符 399393"/>
              <p:cNvSpPr/>
              <p:nvPr/>
            </p:nvSpPr>
            <p:spPr>
              <a:xfrm>
                <a:off x="2526" y="2916"/>
                <a:ext cx="0" cy="248"/>
              </a:xfrm>
              <a:prstGeom prst="line">
                <a:avLst/>
              </a:prstGeom>
              <a:ln w="9525" cap="flat" cmpd="sng">
                <a:solidFill>
                  <a:srgbClr val="000000"/>
                </a:solidFill>
                <a:prstDash val="solid"/>
                <a:headEnd type="none" w="med" len="med"/>
                <a:tailEnd type="none" w="med" len="med"/>
              </a:ln>
            </p:spPr>
          </p:sp>
          <p:sp>
            <p:nvSpPr>
              <p:cNvPr id="399395" name="直接连接符 399394"/>
              <p:cNvSpPr/>
              <p:nvPr/>
            </p:nvSpPr>
            <p:spPr>
              <a:xfrm>
                <a:off x="3101" y="1487"/>
                <a:ext cx="1211" cy="0"/>
              </a:xfrm>
              <a:prstGeom prst="line">
                <a:avLst/>
              </a:prstGeom>
              <a:ln w="9525" cap="flat" cmpd="sng">
                <a:solidFill>
                  <a:srgbClr val="000000"/>
                </a:solidFill>
                <a:prstDash val="solid"/>
                <a:headEnd type="none" w="med" len="med"/>
                <a:tailEnd type="none" w="med" len="med"/>
              </a:ln>
            </p:spPr>
          </p:sp>
          <p:sp>
            <p:nvSpPr>
              <p:cNvPr id="399396" name="直接连接符 399395"/>
              <p:cNvSpPr/>
              <p:nvPr/>
            </p:nvSpPr>
            <p:spPr>
              <a:xfrm>
                <a:off x="3101" y="1735"/>
                <a:ext cx="1211" cy="0"/>
              </a:xfrm>
              <a:prstGeom prst="line">
                <a:avLst/>
              </a:prstGeom>
              <a:ln w="9525" cap="flat" cmpd="sng">
                <a:solidFill>
                  <a:srgbClr val="000000"/>
                </a:solidFill>
                <a:prstDash val="solid"/>
                <a:headEnd type="none" w="med" len="med"/>
                <a:tailEnd type="none" w="med" len="med"/>
              </a:ln>
            </p:spPr>
          </p:sp>
          <p:sp>
            <p:nvSpPr>
              <p:cNvPr id="399397" name="直接连接符 399396"/>
              <p:cNvSpPr/>
              <p:nvPr/>
            </p:nvSpPr>
            <p:spPr>
              <a:xfrm>
                <a:off x="3101" y="1487"/>
                <a:ext cx="0" cy="248"/>
              </a:xfrm>
              <a:prstGeom prst="line">
                <a:avLst/>
              </a:prstGeom>
              <a:ln w="9525" cap="flat" cmpd="sng">
                <a:solidFill>
                  <a:srgbClr val="000000"/>
                </a:solidFill>
                <a:prstDash val="solid"/>
                <a:headEnd type="none" w="med" len="med"/>
                <a:tailEnd type="none" w="med" len="med"/>
              </a:ln>
            </p:spPr>
          </p:sp>
          <p:sp>
            <p:nvSpPr>
              <p:cNvPr id="399398" name="直接连接符 399397"/>
              <p:cNvSpPr/>
              <p:nvPr/>
            </p:nvSpPr>
            <p:spPr>
              <a:xfrm>
                <a:off x="2411" y="2605"/>
                <a:ext cx="403" cy="311"/>
              </a:xfrm>
              <a:prstGeom prst="line">
                <a:avLst/>
              </a:prstGeom>
              <a:ln w="9525" cap="flat" cmpd="sng">
                <a:solidFill>
                  <a:srgbClr val="000000"/>
                </a:solidFill>
                <a:prstDash val="solid"/>
                <a:headEnd type="none" w="med" len="med"/>
                <a:tailEnd type="triangle" w="med" len="med"/>
              </a:ln>
            </p:spPr>
          </p:sp>
          <p:sp>
            <p:nvSpPr>
              <p:cNvPr id="399399" name="直接连接符 399398"/>
              <p:cNvSpPr/>
              <p:nvPr/>
            </p:nvSpPr>
            <p:spPr>
              <a:xfrm flipV="1">
                <a:off x="3044" y="2543"/>
                <a:ext cx="288" cy="373"/>
              </a:xfrm>
              <a:prstGeom prst="line">
                <a:avLst/>
              </a:prstGeom>
              <a:ln w="9525" cap="flat" cmpd="sng">
                <a:solidFill>
                  <a:srgbClr val="000000"/>
                </a:solidFill>
                <a:prstDash val="solid"/>
                <a:headEnd type="none" w="med" len="med"/>
                <a:tailEnd type="triangle" w="med" len="med"/>
              </a:ln>
            </p:spPr>
          </p:sp>
          <p:sp>
            <p:nvSpPr>
              <p:cNvPr id="399400" name="直接连接符 399399"/>
              <p:cNvSpPr/>
              <p:nvPr/>
            </p:nvSpPr>
            <p:spPr>
              <a:xfrm>
                <a:off x="3735" y="1735"/>
                <a:ext cx="0" cy="249"/>
              </a:xfrm>
              <a:prstGeom prst="line">
                <a:avLst/>
              </a:prstGeom>
              <a:ln w="9525" cap="flat" cmpd="sng">
                <a:solidFill>
                  <a:srgbClr val="000000"/>
                </a:solidFill>
                <a:prstDash val="solid"/>
                <a:headEnd type="none" w="med" len="med"/>
                <a:tailEnd type="triangle" w="med" len="med"/>
              </a:ln>
            </p:spPr>
          </p:sp>
        </p:grpSp>
        <p:sp>
          <p:nvSpPr>
            <p:cNvPr id="399401" name="直接连接符 399400"/>
            <p:cNvSpPr/>
            <p:nvPr/>
          </p:nvSpPr>
          <p:spPr>
            <a:xfrm>
              <a:off x="0" y="2795"/>
              <a:ext cx="5760" cy="0"/>
            </a:xfrm>
            <a:prstGeom prst="line">
              <a:avLst/>
            </a:prstGeom>
            <a:ln w="9525" cap="flat" cmpd="sng">
              <a:solidFill>
                <a:schemeClr val="accent1"/>
              </a:solidFill>
              <a:prstDash val="solid"/>
              <a:headEnd type="none" w="med" len="med"/>
              <a:tailEnd type="none" w="med" len="med"/>
            </a:ln>
          </p:spPr>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8517"/>
    </mc:Choice>
    <mc:Fallback xmlns="">
      <p:transition spd="slow" advTm="485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99402"/>
                                        </p:tgtEl>
                                        <p:attrNameLst>
                                          <p:attrName>style.visibility</p:attrName>
                                        </p:attrNameLst>
                                      </p:cBhvr>
                                      <p:to>
                                        <p:strVal val="visible"/>
                                      </p:to>
                                    </p:set>
                                    <p:animEffect transition="in" filter="checkerboard(across)">
                                      <p:cBhvr>
                                        <p:cTn id="7" dur="500"/>
                                        <p:tgtEl>
                                          <p:spTgt spid="39940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99365">
                                            <p:txEl>
                                              <p:pRg st="0" end="0"/>
                                            </p:txEl>
                                          </p:spTgt>
                                        </p:tgtEl>
                                        <p:attrNameLst>
                                          <p:attrName>style.visibility</p:attrName>
                                        </p:attrNameLst>
                                      </p:cBhvr>
                                      <p:to>
                                        <p:strVal val="visible"/>
                                      </p:to>
                                    </p:set>
                                    <p:animEffect transition="in" filter="wipe(left)">
                                      <p:cBhvr>
                                        <p:cTn id="11" dur="1000"/>
                                        <p:tgtEl>
                                          <p:spTgt spid="399365">
                                            <p:txEl>
                                              <p:pRg st="0" end="0"/>
                                            </p:txEl>
                                          </p:spTgt>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399365">
                                            <p:txEl>
                                              <p:pRg st="1" end="1"/>
                                            </p:txEl>
                                          </p:spTgt>
                                        </p:tgtEl>
                                        <p:attrNameLst>
                                          <p:attrName>style.visibility</p:attrName>
                                        </p:attrNameLst>
                                      </p:cBhvr>
                                      <p:to>
                                        <p:strVal val="visible"/>
                                      </p:to>
                                    </p:set>
                                    <p:animEffect transition="in" filter="wipe(up)">
                                      <p:cBhvr>
                                        <p:cTn id="15" dur="1000"/>
                                        <p:tgtEl>
                                          <p:spTgt spid="39936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8" name="矩形 400387"/>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a:t>
            </a:r>
            <a:r>
              <a:rPr lang="zh-CN" altLang="en-US" sz="3400" dirty="0"/>
              <a:t>数据字典</a:t>
            </a:r>
            <a:endParaRPr lang="en-US" altLang="zh-CN"/>
          </a:p>
        </p:txBody>
      </p:sp>
      <p:sp>
        <p:nvSpPr>
          <p:cNvPr id="400389" name="矩形 400388"/>
          <p:cNvSpPr/>
          <p:nvPr/>
        </p:nvSpPr>
        <p:spPr>
          <a:xfrm>
            <a:off x="395288" y="112553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buClr>
                <a:schemeClr val="folHlink"/>
              </a:buClr>
              <a:buSzPct val="60000"/>
              <a:buNone/>
            </a:pPr>
            <a:r>
              <a:rPr lang="zh-CN" altLang="en-US" dirty="0"/>
              <a:t>          </a:t>
            </a:r>
            <a:r>
              <a:rPr lang="en-US" altLang="zh-CN" sz="2900">
                <a:solidFill>
                  <a:srgbClr val="660033"/>
                </a:solidFill>
                <a:ea typeface="华文新魏" panose="02010800040101010101" pitchFamily="2" charset="-122"/>
              </a:rPr>
              <a:t>2</a:t>
            </a:r>
            <a:r>
              <a:rPr lang="zh-CN" altLang="en-US" sz="2900" dirty="0">
                <a:solidFill>
                  <a:srgbClr val="660033"/>
                </a:solidFill>
                <a:ea typeface="华文新魏" panose="02010800040101010101" pitchFamily="2" charset="-122"/>
              </a:rPr>
              <a:t>、数据字典的概念</a:t>
            </a:r>
          </a:p>
          <a:p>
            <a:pPr lvl="0">
              <a:lnSpc>
                <a:spcPct val="140000"/>
              </a:lnSpc>
              <a:buClrTx/>
              <a:buSzTx/>
              <a:buFontTx/>
              <a:buNone/>
            </a:pPr>
            <a:r>
              <a:rPr lang="zh-CN" altLang="en-US" dirty="0"/>
              <a:t>          数据字典是描述和定义数据流图中所有数据的集合，用于给出数据流图中所有数据的定义和描述信息。 </a:t>
            </a:r>
          </a:p>
        </p:txBody>
      </p:sp>
    </p:spTree>
  </p:cSld>
  <p:clrMapOvr>
    <a:masterClrMapping/>
  </p:clrMapOvr>
  <mc:AlternateContent xmlns:mc="http://schemas.openxmlformats.org/markup-compatibility/2006" xmlns:p14="http://schemas.microsoft.com/office/powerpoint/2010/main">
    <mc:Choice Requires="p14">
      <p:transition spd="slow" p14:dur="2000" advTm="17001"/>
    </mc:Choice>
    <mc:Fallback xmlns="">
      <p:transition spd="slow" advTm="170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0389">
                                            <p:txEl>
                                              <p:pRg st="1" end="1"/>
                                            </p:txEl>
                                          </p:spTgt>
                                        </p:tgtEl>
                                        <p:attrNameLst>
                                          <p:attrName>style.visibility</p:attrName>
                                        </p:attrNameLst>
                                      </p:cBhvr>
                                      <p:to>
                                        <p:strVal val="visible"/>
                                      </p:to>
                                    </p:set>
                                    <p:animEffect transition="in" filter="wipe(up)">
                                      <p:cBhvr>
                                        <p:cTn id="7" dur="3000"/>
                                        <p:tgtEl>
                                          <p:spTgt spid="40038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2" name="矩形 401411"/>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a:t>
            </a:r>
            <a:r>
              <a:rPr lang="zh-CN" altLang="en-US" sz="3400" dirty="0"/>
              <a:t>数据字典及用户业务处理逻辑描述</a:t>
            </a:r>
            <a:r>
              <a:rPr lang="zh-CN" altLang="en-US" dirty="0"/>
              <a:t> </a:t>
            </a:r>
            <a:endParaRPr lang="en-US" altLang="zh-CN"/>
          </a:p>
        </p:txBody>
      </p:sp>
      <p:sp>
        <p:nvSpPr>
          <p:cNvPr id="401413" name="矩形 401412"/>
          <p:cNvSpPr/>
          <p:nvPr/>
        </p:nvSpPr>
        <p:spPr>
          <a:xfrm>
            <a:off x="395288" y="1125538"/>
            <a:ext cx="8280400" cy="7302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en-US" altLang="zh-CN" sz="2900">
                <a:solidFill>
                  <a:srgbClr val="660033"/>
                </a:solidFill>
                <a:ea typeface="华文新魏" panose="02010800040101010101" pitchFamily="2" charset="-122"/>
              </a:rPr>
              <a:t>3</a:t>
            </a:r>
            <a:r>
              <a:rPr lang="zh-CN" altLang="en-US" sz="2900" dirty="0">
                <a:solidFill>
                  <a:srgbClr val="660033"/>
                </a:solidFill>
                <a:ea typeface="华文新魏" panose="02010800040101010101" pitchFamily="2" charset="-122"/>
              </a:rPr>
              <a:t>、数据字典定义和描述信息的方法</a:t>
            </a:r>
            <a:endParaRPr lang="zh-CN" altLang="en-US" sz="2900" dirty="0"/>
          </a:p>
        </p:txBody>
      </p:sp>
      <p:sp>
        <p:nvSpPr>
          <p:cNvPr id="401414" name="矩形 401413"/>
          <p:cNvSpPr/>
          <p:nvPr/>
        </p:nvSpPr>
        <p:spPr>
          <a:xfrm>
            <a:off x="395288" y="1846263"/>
            <a:ext cx="8280400" cy="44021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003366"/>
                </a:solidFill>
              </a:rPr>
              <a:t>         （</a:t>
            </a:r>
            <a:r>
              <a:rPr lang="en-US" altLang="zh-CN">
                <a:solidFill>
                  <a:srgbClr val="003366"/>
                </a:solidFill>
              </a:rPr>
              <a:t>1</a:t>
            </a:r>
            <a:r>
              <a:rPr lang="zh-CN" altLang="en-US" dirty="0">
                <a:solidFill>
                  <a:srgbClr val="003366"/>
                </a:solidFill>
              </a:rPr>
              <a:t>）数据项</a:t>
            </a:r>
          </a:p>
          <a:p>
            <a:pPr lvl="0">
              <a:lnSpc>
                <a:spcPct val="130000"/>
              </a:lnSpc>
              <a:spcBef>
                <a:spcPct val="10000"/>
              </a:spcBef>
            </a:pPr>
            <a:r>
              <a:rPr lang="zh-CN" altLang="en-US" dirty="0"/>
              <a:t>          数据项是最小的数据单位，是组成数据流的基本元素。</a:t>
            </a:r>
          </a:p>
          <a:p>
            <a:pPr lvl="0">
              <a:lnSpc>
                <a:spcPct val="130000"/>
              </a:lnSpc>
              <a:spcBef>
                <a:spcPct val="10000"/>
              </a:spcBef>
            </a:pPr>
            <a:r>
              <a:rPr lang="zh-CN" altLang="en-US" dirty="0"/>
              <a:t>          </a:t>
            </a:r>
            <a:r>
              <a:rPr lang="zh-CN" altLang="en-US" sz="2900" dirty="0">
                <a:solidFill>
                  <a:schemeClr val="tx2"/>
                </a:solidFill>
                <a:ea typeface="华文新魏" panose="02010800040101010101" pitchFamily="2" charset="-122"/>
              </a:rPr>
              <a:t>对数据项的定义和描述信息主要包括：</a:t>
            </a:r>
          </a:p>
          <a:p>
            <a:pPr lvl="0">
              <a:lnSpc>
                <a:spcPct val="130000"/>
              </a:lnSpc>
              <a:spcBef>
                <a:spcPct val="10000"/>
              </a:spcBef>
            </a:pPr>
            <a:r>
              <a:rPr lang="zh-CN" altLang="en-US" dirty="0"/>
              <a:t>          数据项名、别名、含义、类型、长度、取值范围、使用频率、使用方式，及与其它数据项的关系等。</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5479"/>
    </mc:Choice>
    <mc:Fallback xmlns="">
      <p:transition spd="slow" advTm="554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1413"/>
                                        </p:tgtEl>
                                        <p:attrNameLst>
                                          <p:attrName>style.visibility</p:attrName>
                                        </p:attrNameLst>
                                      </p:cBhvr>
                                      <p:to>
                                        <p:strVal val="visible"/>
                                      </p:to>
                                    </p:set>
                                    <p:animEffect transition="in" filter="wipe(left)">
                                      <p:cBhvr>
                                        <p:cTn id="7" dur="1000"/>
                                        <p:tgtEl>
                                          <p:spTgt spid="4014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01414"/>
                                        </p:tgtEl>
                                        <p:attrNameLst>
                                          <p:attrName>style.visibility</p:attrName>
                                        </p:attrNameLst>
                                      </p:cBhvr>
                                      <p:to>
                                        <p:strVal val="visible"/>
                                      </p:to>
                                    </p:set>
                                    <p:animEffect transition="in" filter="wipe(up)">
                                      <p:cBhvr>
                                        <p:cTn id="12" dur="1000"/>
                                        <p:tgtEl>
                                          <p:spTgt spid="401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3" grpId="0"/>
      <p:bldP spid="4014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6" name="矩形 402435"/>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二、数据字典</a:t>
            </a:r>
            <a:endParaRPr lang="en-US" altLang="zh-CN"/>
          </a:p>
        </p:txBody>
      </p:sp>
      <p:sp>
        <p:nvSpPr>
          <p:cNvPr id="402437" name="矩形 402436"/>
          <p:cNvSpPr/>
          <p:nvPr/>
        </p:nvSpPr>
        <p:spPr>
          <a:xfrm>
            <a:off x="401638" y="1125538"/>
            <a:ext cx="8280400" cy="7302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en-US" altLang="zh-CN" sz="2900">
                <a:solidFill>
                  <a:srgbClr val="660033"/>
                </a:solidFill>
                <a:ea typeface="华文新魏" panose="02010800040101010101" pitchFamily="2" charset="-122"/>
              </a:rPr>
              <a:t>3</a:t>
            </a:r>
            <a:r>
              <a:rPr lang="zh-CN" altLang="en-US" sz="2900" dirty="0">
                <a:solidFill>
                  <a:srgbClr val="660033"/>
                </a:solidFill>
                <a:ea typeface="华文新魏" panose="02010800040101010101" pitchFamily="2" charset="-122"/>
              </a:rPr>
              <a:t>、数据字典定义和描述信息的方法</a:t>
            </a:r>
            <a:endParaRPr lang="zh-CN" altLang="en-US" sz="2900" dirty="0"/>
          </a:p>
        </p:txBody>
      </p:sp>
      <p:sp>
        <p:nvSpPr>
          <p:cNvPr id="402438" name="矩形 402437"/>
          <p:cNvSpPr/>
          <p:nvPr/>
        </p:nvSpPr>
        <p:spPr>
          <a:xfrm>
            <a:off x="395288" y="1844675"/>
            <a:ext cx="8280400" cy="4402138"/>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003366"/>
                </a:solidFill>
              </a:rPr>
              <a:t>         （</a:t>
            </a:r>
            <a:r>
              <a:rPr lang="en-US" altLang="zh-CN">
                <a:solidFill>
                  <a:srgbClr val="003366"/>
                </a:solidFill>
              </a:rPr>
              <a:t>2</a:t>
            </a:r>
            <a:r>
              <a:rPr lang="zh-CN" altLang="en-US" dirty="0">
                <a:solidFill>
                  <a:srgbClr val="003366"/>
                </a:solidFill>
              </a:rPr>
              <a:t>）数据流</a:t>
            </a:r>
          </a:p>
          <a:p>
            <a:pPr lvl="0">
              <a:lnSpc>
                <a:spcPct val="130000"/>
              </a:lnSpc>
              <a:spcBef>
                <a:spcPct val="10000"/>
              </a:spcBef>
            </a:pPr>
            <a:r>
              <a:rPr lang="zh-CN" altLang="en-US" dirty="0"/>
              <a:t>          数据流表示数据处理过程中的输入或输出数据，可以是数据项，也可以是由数据项组成的某种数据结构的数据单位。</a:t>
            </a:r>
          </a:p>
          <a:p>
            <a:pPr lvl="0">
              <a:lnSpc>
                <a:spcPct val="130000"/>
              </a:lnSpc>
              <a:spcBef>
                <a:spcPct val="10000"/>
              </a:spcBef>
            </a:pPr>
            <a:r>
              <a:rPr lang="zh-CN" altLang="en-US" dirty="0"/>
              <a:t>          </a:t>
            </a:r>
            <a:r>
              <a:rPr lang="zh-CN" altLang="en-US" sz="2900" dirty="0">
                <a:solidFill>
                  <a:schemeClr val="tx2"/>
                </a:solidFill>
                <a:ea typeface="华文新魏" panose="02010800040101010101" pitchFamily="2" charset="-122"/>
              </a:rPr>
              <a:t>对数据流的定义和描述信息主要包括：</a:t>
            </a:r>
          </a:p>
          <a:p>
            <a:pPr lvl="0">
              <a:lnSpc>
                <a:spcPct val="130000"/>
              </a:lnSpc>
              <a:spcBef>
                <a:spcPct val="10000"/>
              </a:spcBef>
            </a:pPr>
            <a:r>
              <a:rPr lang="zh-CN" altLang="en-US" dirty="0"/>
              <a:t>          数据流名、含义、组成数据流的数据项或数据结构、数据流的来源或去向、数据流的流量等。 </a:t>
            </a:r>
          </a:p>
        </p:txBody>
      </p:sp>
    </p:spTree>
  </p:cSld>
  <p:clrMapOvr>
    <a:masterClrMapping/>
  </p:clrMapOvr>
  <mc:AlternateContent xmlns:mc="http://schemas.openxmlformats.org/markup-compatibility/2006" xmlns:p14="http://schemas.microsoft.com/office/powerpoint/2010/main">
    <mc:Choice Requires="p14">
      <p:transition spd="slow" p14:dur="2000" advTm="37047"/>
    </mc:Choice>
    <mc:Fallback xmlns="">
      <p:transition spd="slow" advTm="3704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2438">
                                            <p:txEl>
                                              <p:pRg st="0" end="0"/>
                                            </p:txEl>
                                          </p:spTgt>
                                        </p:tgtEl>
                                        <p:attrNameLst>
                                          <p:attrName>style.visibility</p:attrName>
                                        </p:attrNameLst>
                                      </p:cBhvr>
                                      <p:to>
                                        <p:strVal val="visible"/>
                                      </p:to>
                                    </p:set>
                                    <p:animEffect transition="in" filter="wipe(up)">
                                      <p:cBhvr>
                                        <p:cTn id="7" dur="500"/>
                                        <p:tgtEl>
                                          <p:spTgt spid="402438">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02438">
                                            <p:txEl>
                                              <p:pRg st="1" end="1"/>
                                            </p:txEl>
                                          </p:spTgt>
                                        </p:tgtEl>
                                        <p:attrNameLst>
                                          <p:attrName>style.visibility</p:attrName>
                                        </p:attrNameLst>
                                      </p:cBhvr>
                                      <p:to>
                                        <p:strVal val="visible"/>
                                      </p:to>
                                    </p:set>
                                    <p:animEffect transition="in" filter="wipe(up)">
                                      <p:cBhvr>
                                        <p:cTn id="11" dur="1000"/>
                                        <p:tgtEl>
                                          <p:spTgt spid="402438">
                                            <p:txEl>
                                              <p:pRg st="1" end="1"/>
                                            </p:txEl>
                                          </p:spTgt>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402438">
                                            <p:txEl>
                                              <p:pRg st="2" end="2"/>
                                            </p:txEl>
                                          </p:spTgt>
                                        </p:tgtEl>
                                        <p:attrNameLst>
                                          <p:attrName>style.visibility</p:attrName>
                                        </p:attrNameLst>
                                      </p:cBhvr>
                                      <p:to>
                                        <p:strVal val="visible"/>
                                      </p:to>
                                    </p:set>
                                    <p:animEffect transition="in" filter="wipe(up)">
                                      <p:cBhvr>
                                        <p:cTn id="15" dur="1000"/>
                                        <p:tgtEl>
                                          <p:spTgt spid="402438">
                                            <p:txEl>
                                              <p:pRg st="2" end="2"/>
                                            </p:txEl>
                                          </p:spTgt>
                                        </p:tgtEl>
                                      </p:cBhvr>
                                    </p:animEffect>
                                  </p:childTnLst>
                                </p:cTn>
                              </p:par>
                            </p:childTnLst>
                          </p:cTn>
                        </p:par>
                        <p:par>
                          <p:cTn id="16" fill="hold">
                            <p:stCondLst>
                              <p:cond delay="2500"/>
                            </p:stCondLst>
                            <p:childTnLst>
                              <p:par>
                                <p:cTn id="17" presetID="22" presetClass="entr" presetSubtype="1" fill="hold" nodeType="afterEffect">
                                  <p:stCondLst>
                                    <p:cond delay="0"/>
                                  </p:stCondLst>
                                  <p:childTnLst>
                                    <p:set>
                                      <p:cBhvr>
                                        <p:cTn id="18" dur="1" fill="hold">
                                          <p:stCondLst>
                                            <p:cond delay="0"/>
                                          </p:stCondLst>
                                        </p:cTn>
                                        <p:tgtEl>
                                          <p:spTgt spid="402438">
                                            <p:txEl>
                                              <p:pRg st="3" end="3"/>
                                            </p:txEl>
                                          </p:spTgt>
                                        </p:tgtEl>
                                        <p:attrNameLst>
                                          <p:attrName>style.visibility</p:attrName>
                                        </p:attrNameLst>
                                      </p:cBhvr>
                                      <p:to>
                                        <p:strVal val="visible"/>
                                      </p:to>
                                    </p:set>
                                    <p:animEffect transition="in" filter="wipe(up)">
                                      <p:cBhvr>
                                        <p:cTn id="19" dur="1000"/>
                                        <p:tgtEl>
                                          <p:spTgt spid="40243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60" name="矩形 403459"/>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二、数据字典</a:t>
            </a:r>
            <a:endParaRPr lang="en-US" altLang="zh-CN"/>
          </a:p>
        </p:txBody>
      </p:sp>
      <p:sp>
        <p:nvSpPr>
          <p:cNvPr id="403462" name="矩形 403461"/>
          <p:cNvSpPr/>
          <p:nvPr/>
        </p:nvSpPr>
        <p:spPr>
          <a:xfrm>
            <a:off x="395288" y="1844675"/>
            <a:ext cx="8280400" cy="4402138"/>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003366"/>
                </a:solidFill>
              </a:rPr>
              <a:t>         （</a:t>
            </a:r>
            <a:r>
              <a:rPr lang="en-US" altLang="zh-CN">
                <a:solidFill>
                  <a:srgbClr val="003366"/>
                </a:solidFill>
              </a:rPr>
              <a:t>3</a:t>
            </a:r>
            <a:r>
              <a:rPr lang="zh-CN" altLang="en-US" dirty="0">
                <a:solidFill>
                  <a:srgbClr val="003366"/>
                </a:solidFill>
              </a:rPr>
              <a:t>）数据表</a:t>
            </a:r>
          </a:p>
          <a:p>
            <a:pPr lvl="0">
              <a:lnSpc>
                <a:spcPct val="130000"/>
              </a:lnSpc>
              <a:spcBef>
                <a:spcPct val="10000"/>
              </a:spcBef>
            </a:pPr>
            <a:r>
              <a:rPr lang="zh-CN" altLang="en-US" dirty="0"/>
              <a:t>          数据表是信息管理中最长见的数据格式，许多数据表与数据库逻辑设计后的关系模式有一定的对应关系。 </a:t>
            </a:r>
          </a:p>
          <a:p>
            <a:pPr lvl="0">
              <a:lnSpc>
                <a:spcPct val="130000"/>
              </a:lnSpc>
              <a:spcBef>
                <a:spcPct val="10000"/>
              </a:spcBef>
            </a:pPr>
            <a:endParaRPr lang="zh-CN" altLang="en-US" dirty="0"/>
          </a:p>
        </p:txBody>
      </p:sp>
      <p:sp>
        <p:nvSpPr>
          <p:cNvPr id="403463" name="矩形 403462"/>
          <p:cNvSpPr/>
          <p:nvPr/>
        </p:nvSpPr>
        <p:spPr>
          <a:xfrm>
            <a:off x="401638" y="1125538"/>
            <a:ext cx="8280400" cy="7302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en-US" altLang="zh-CN" sz="2900">
                <a:solidFill>
                  <a:srgbClr val="660033"/>
                </a:solidFill>
                <a:ea typeface="华文新魏" panose="02010800040101010101" pitchFamily="2" charset="-122"/>
              </a:rPr>
              <a:t>3</a:t>
            </a:r>
            <a:r>
              <a:rPr lang="zh-CN" altLang="en-US" sz="2900" dirty="0">
                <a:solidFill>
                  <a:srgbClr val="660033"/>
                </a:solidFill>
                <a:ea typeface="华文新魏" panose="02010800040101010101" pitchFamily="2" charset="-122"/>
              </a:rPr>
              <a:t>、数据字典定义和描述信息的方法</a:t>
            </a:r>
            <a:endParaRPr lang="zh-CN" altLang="en-US" sz="2900" dirty="0"/>
          </a:p>
        </p:txBody>
      </p:sp>
    </p:spTree>
  </p:cSld>
  <p:clrMapOvr>
    <a:masterClrMapping/>
  </p:clrMapOvr>
  <mc:AlternateContent xmlns:mc="http://schemas.openxmlformats.org/markup-compatibility/2006" xmlns:p14="http://schemas.microsoft.com/office/powerpoint/2010/main">
    <mc:Choice Requires="p14">
      <p:transition spd="slow" p14:dur="2000" advTm="36168"/>
    </mc:Choice>
    <mc:Fallback xmlns="">
      <p:transition spd="slow" advTm="361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3462">
                                            <p:txEl>
                                              <p:pRg st="0" end="0"/>
                                            </p:txEl>
                                          </p:spTgt>
                                        </p:tgtEl>
                                        <p:attrNameLst>
                                          <p:attrName>style.visibility</p:attrName>
                                        </p:attrNameLst>
                                      </p:cBhvr>
                                      <p:to>
                                        <p:strVal val="visible"/>
                                      </p:to>
                                    </p:set>
                                    <p:animEffect transition="in" filter="wipe(up)">
                                      <p:cBhvr>
                                        <p:cTn id="7" dur="500"/>
                                        <p:tgtEl>
                                          <p:spTgt spid="403462">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03462">
                                            <p:txEl>
                                              <p:pRg st="1" end="1"/>
                                            </p:txEl>
                                          </p:spTgt>
                                        </p:tgtEl>
                                        <p:attrNameLst>
                                          <p:attrName>style.visibility</p:attrName>
                                        </p:attrNameLst>
                                      </p:cBhvr>
                                      <p:to>
                                        <p:strVal val="visible"/>
                                      </p:to>
                                    </p:set>
                                    <p:animEffect transition="in" filter="wipe(up)">
                                      <p:cBhvr>
                                        <p:cTn id="11" dur="500"/>
                                        <p:tgtEl>
                                          <p:spTgt spid="40346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8" name="矩形 676867"/>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二、数据字典</a:t>
            </a:r>
            <a:endParaRPr lang="en-US" altLang="zh-CN"/>
          </a:p>
        </p:txBody>
      </p:sp>
      <p:sp>
        <p:nvSpPr>
          <p:cNvPr id="676870" name="矩形 676869"/>
          <p:cNvSpPr/>
          <p:nvPr/>
        </p:nvSpPr>
        <p:spPr>
          <a:xfrm>
            <a:off x="395288" y="1844675"/>
            <a:ext cx="8280400" cy="4402138"/>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003366"/>
                </a:solidFill>
              </a:rPr>
              <a:t>         （</a:t>
            </a:r>
            <a:r>
              <a:rPr lang="en-US" altLang="zh-CN">
                <a:solidFill>
                  <a:srgbClr val="003366"/>
                </a:solidFill>
              </a:rPr>
              <a:t>3</a:t>
            </a:r>
            <a:r>
              <a:rPr lang="zh-CN" altLang="en-US" dirty="0">
                <a:solidFill>
                  <a:srgbClr val="003366"/>
                </a:solidFill>
              </a:rPr>
              <a:t>）数据表</a:t>
            </a:r>
          </a:p>
          <a:p>
            <a:pPr lvl="0">
              <a:lnSpc>
                <a:spcPct val="130000"/>
              </a:lnSpc>
              <a:spcBef>
                <a:spcPct val="10000"/>
              </a:spcBef>
            </a:pPr>
            <a:r>
              <a:rPr lang="zh-CN" altLang="en-US" dirty="0"/>
              <a:t>          </a:t>
            </a:r>
            <a:r>
              <a:rPr lang="zh-CN" altLang="en-US" sz="2900" dirty="0">
                <a:solidFill>
                  <a:schemeClr val="tx2"/>
                </a:solidFill>
                <a:ea typeface="华文新魏" panose="02010800040101010101" pitchFamily="2" charset="-122"/>
              </a:rPr>
              <a:t>对数据表的描述信息主要有：</a:t>
            </a:r>
            <a:r>
              <a:rPr lang="zh-CN" altLang="en-US" dirty="0"/>
              <a:t> </a:t>
            </a:r>
            <a:endParaRPr lang="zh-CN" altLang="en-US" sz="2900" dirty="0">
              <a:solidFill>
                <a:schemeClr val="tx2"/>
              </a:solidFill>
              <a:ea typeface="华文新魏" panose="02010800040101010101" pitchFamily="2" charset="-122"/>
            </a:endParaRPr>
          </a:p>
          <a:p>
            <a:pPr lvl="0">
              <a:lnSpc>
                <a:spcPct val="130000"/>
              </a:lnSpc>
              <a:spcBef>
                <a:spcPct val="10000"/>
              </a:spcBef>
            </a:pPr>
            <a:r>
              <a:rPr lang="zh-CN" altLang="en-US" dirty="0"/>
              <a:t>          数据表名、数据表中各个属性（字段）的编号、名称、数据类型、数据长度、取值范围、数据表的所有者等。 </a:t>
            </a:r>
          </a:p>
        </p:txBody>
      </p:sp>
      <p:sp>
        <p:nvSpPr>
          <p:cNvPr id="676871" name="矩形 676870"/>
          <p:cNvSpPr/>
          <p:nvPr/>
        </p:nvSpPr>
        <p:spPr>
          <a:xfrm>
            <a:off x="401638" y="1125538"/>
            <a:ext cx="8280400" cy="7302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en-US" altLang="zh-CN" sz="2900">
                <a:solidFill>
                  <a:srgbClr val="660033"/>
                </a:solidFill>
                <a:ea typeface="华文新魏" panose="02010800040101010101" pitchFamily="2" charset="-122"/>
              </a:rPr>
              <a:t>3</a:t>
            </a:r>
            <a:r>
              <a:rPr lang="zh-CN" altLang="en-US" sz="2900" dirty="0">
                <a:solidFill>
                  <a:srgbClr val="660033"/>
                </a:solidFill>
                <a:ea typeface="华文新魏" panose="02010800040101010101" pitchFamily="2" charset="-122"/>
              </a:rPr>
              <a:t>、数据字典定义和描述信息的方法</a:t>
            </a:r>
            <a:endParaRPr lang="zh-CN" altLang="en-US" sz="2900" dirty="0"/>
          </a:p>
        </p:txBody>
      </p:sp>
    </p:spTree>
  </p:cSld>
  <p:clrMapOvr>
    <a:masterClrMapping/>
  </p:clrMapOvr>
  <mc:AlternateContent xmlns:mc="http://schemas.openxmlformats.org/markup-compatibility/2006" xmlns:p14="http://schemas.microsoft.com/office/powerpoint/2010/main">
    <mc:Choice Requires="p14">
      <p:transition spd="slow" p14:dur="2000" advTm="16733"/>
    </mc:Choice>
    <mc:Fallback xmlns="">
      <p:transition spd="slow" advTm="167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76870">
                                            <p:txEl>
                                              <p:pRg st="1" end="1"/>
                                            </p:txEl>
                                          </p:spTgt>
                                        </p:tgtEl>
                                        <p:attrNameLst>
                                          <p:attrName>style.visibility</p:attrName>
                                        </p:attrNameLst>
                                      </p:cBhvr>
                                      <p:to>
                                        <p:strVal val="visible"/>
                                      </p:to>
                                    </p:set>
                                    <p:animEffect transition="in" filter="wipe(up)">
                                      <p:cBhvr>
                                        <p:cTn id="7" dur="500"/>
                                        <p:tgtEl>
                                          <p:spTgt spid="676870">
                                            <p:txEl>
                                              <p:pRg st="1" end="1"/>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76870">
                                            <p:txEl>
                                              <p:pRg st="2" end="2"/>
                                            </p:txEl>
                                          </p:spTgt>
                                        </p:tgtEl>
                                        <p:attrNameLst>
                                          <p:attrName>style.visibility</p:attrName>
                                        </p:attrNameLst>
                                      </p:cBhvr>
                                      <p:to>
                                        <p:strVal val="visible"/>
                                      </p:to>
                                    </p:set>
                                    <p:animEffect transition="in" filter="wipe(up)">
                                      <p:cBhvr>
                                        <p:cTn id="11" dur="3000"/>
                                        <p:tgtEl>
                                          <p:spTgt spid="67687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97" name="文本框 406596"/>
          <p:cNvSpPr txBox="1"/>
          <p:nvPr/>
        </p:nvSpPr>
        <p:spPr>
          <a:xfrm>
            <a:off x="1187450" y="1922463"/>
            <a:ext cx="6580188" cy="427037"/>
          </a:xfrm>
          <a:prstGeom prst="rect">
            <a:avLst/>
          </a:prstGeom>
          <a:noFill/>
          <a:ln w="9525">
            <a:noFill/>
          </a:ln>
        </p:spPr>
        <p:txBody>
          <a:bodyPr>
            <a:spAutoFit/>
          </a:bodyPr>
          <a:lstStyle/>
          <a:p>
            <a:pPr algn="r">
              <a:spcBef>
                <a:spcPct val="50000"/>
              </a:spcBef>
            </a:pPr>
            <a:r>
              <a:rPr lang="zh-CN" altLang="en-US" sz="2200" b="1" dirty="0">
                <a:latin typeface="Arial" panose="020B0604020202020204" pitchFamily="34" charset="0"/>
              </a:rPr>
              <a:t>表</a:t>
            </a:r>
            <a:r>
              <a:rPr lang="en-US" altLang="zh-CN" sz="2200" b="1">
                <a:latin typeface="Arial" panose="020B0604020202020204" pitchFamily="34" charset="0"/>
              </a:rPr>
              <a:t>3.1    </a:t>
            </a:r>
            <a:r>
              <a:rPr lang="zh-CN" altLang="en-US" sz="2200" b="1" dirty="0">
                <a:solidFill>
                  <a:srgbClr val="660033"/>
                </a:solidFill>
                <a:latin typeface="Arial" panose="020B0604020202020204" pitchFamily="34" charset="0"/>
              </a:rPr>
              <a:t>课程数据表</a:t>
            </a:r>
            <a:r>
              <a:rPr lang="zh-CN" altLang="en-US" sz="2200" b="1" dirty="0">
                <a:latin typeface="Arial" panose="020B0604020202020204" pitchFamily="34" charset="0"/>
              </a:rPr>
              <a:t>      </a:t>
            </a:r>
            <a:r>
              <a:rPr lang="zh-CN" altLang="en-US" sz="2000" b="1" dirty="0">
                <a:latin typeface="Arial" panose="020B0604020202020204" pitchFamily="34" charset="0"/>
                <a:ea typeface="楷体_GB2312" pitchFamily="49" charset="-122"/>
              </a:rPr>
              <a:t>所有者：</a:t>
            </a:r>
            <a:r>
              <a:rPr lang="zh-CN" altLang="en-US" sz="1600" b="1" dirty="0">
                <a:latin typeface="Arial" panose="020B0604020202020204" pitchFamily="34" charset="0"/>
              </a:rPr>
              <a:t>计划管理子系统</a:t>
            </a:r>
            <a:r>
              <a:rPr lang="zh-CN" altLang="en-US" dirty="0">
                <a:latin typeface="Arial" panose="020B0604020202020204" pitchFamily="34" charset="0"/>
              </a:rPr>
              <a:t> </a:t>
            </a:r>
            <a:endParaRPr lang="en-US" altLang="zh-CN">
              <a:latin typeface="Arial" panose="020B0604020202020204" pitchFamily="34" charset="0"/>
            </a:endParaRPr>
          </a:p>
        </p:txBody>
      </p:sp>
      <p:graphicFrame>
        <p:nvGraphicFramePr>
          <p:cNvPr id="407062" name="表格 407061"/>
          <p:cNvGraphicFramePr/>
          <p:nvPr/>
        </p:nvGraphicFramePr>
        <p:xfrm>
          <a:off x="1246188" y="2393950"/>
          <a:ext cx="6421438" cy="3340100"/>
        </p:xfrm>
        <a:graphic>
          <a:graphicData uri="http://schemas.openxmlformats.org/drawingml/2006/table">
            <a:tbl>
              <a:tblPr/>
              <a:tblGrid>
                <a:gridCol w="116205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11842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1284288">
                  <a:extLst>
                    <a:ext uri="{9D8B030D-6E8A-4147-A177-3AD203B41FA5}">
                      <a16:colId xmlns:a16="http://schemas.microsoft.com/office/drawing/2014/main" val="20004"/>
                    </a:ext>
                  </a:extLst>
                </a:gridCol>
              </a:tblGrid>
              <a:tr h="52863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zh-CN" altLang="en-US" sz="2200" dirty="0">
                          <a:effectLst/>
                          <a:latin typeface="黑体" panose="02010609060101010101" pitchFamily="2" charset="-122"/>
                          <a:ea typeface="黑体" panose="02010609060101010101" pitchFamily="2" charset="-122"/>
                        </a:rPr>
                        <a:t>序号</a:t>
                      </a:r>
                    </a:p>
                  </a:txBody>
                  <a:tcPr anchor="ct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zh-CN" altLang="en-US" sz="2200" dirty="0">
                          <a:effectLst/>
                          <a:latin typeface="黑体" panose="02010609060101010101" pitchFamily="2" charset="-122"/>
                          <a:ea typeface="黑体" panose="02010609060101010101" pitchFamily="2" charset="-122"/>
                        </a:rPr>
                        <a:t>中文名称</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zh-CN" altLang="en-US" sz="2200" dirty="0">
                          <a:effectLst/>
                          <a:latin typeface="黑体" panose="02010609060101010101" pitchFamily="2" charset="-122"/>
                          <a:ea typeface="黑体" panose="02010609060101010101" pitchFamily="2" charset="-122"/>
                        </a:rPr>
                        <a:t>类型</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zh-CN" altLang="en-US" sz="2200" dirty="0">
                          <a:effectLst/>
                          <a:latin typeface="黑体" panose="02010609060101010101" pitchFamily="2" charset="-122"/>
                          <a:ea typeface="黑体" panose="02010609060101010101" pitchFamily="2" charset="-122"/>
                        </a:rPr>
                        <a:t>长度</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zh-CN" altLang="en-US" sz="2200" dirty="0">
                          <a:effectLst/>
                          <a:latin typeface="黑体" panose="02010609060101010101" pitchFamily="2" charset="-122"/>
                          <a:ea typeface="黑体" panose="02010609060101010101" pitchFamily="2" charset="-122"/>
                        </a:rPr>
                        <a:t>字段名</a:t>
                      </a:r>
                    </a:p>
                  </a:txBody>
                  <a:tcPr anchor="ct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47942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1</a:t>
                      </a:r>
                    </a:p>
                  </a:txBody>
                  <a:tcPr anchor="ct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zh-CN" altLang="en-US" sz="2200" dirty="0">
                          <a:effectLst/>
                          <a:latin typeface="黑体" panose="02010609060101010101" pitchFamily="2" charset="-122"/>
                          <a:ea typeface="黑体" panose="02010609060101010101" pitchFamily="2" charset="-122"/>
                        </a:rPr>
                        <a:t>课程代号</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char</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7</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KCDH</a:t>
                      </a:r>
                    </a:p>
                  </a:txBody>
                  <a:tcPr anchor="ct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433387">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2</a:t>
                      </a:r>
                    </a:p>
                  </a:txBody>
                  <a:tcPr anchor="ct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zh-CN" altLang="en-US" sz="2200" dirty="0">
                          <a:effectLst/>
                          <a:latin typeface="黑体" panose="02010609060101010101" pitchFamily="2" charset="-122"/>
                          <a:ea typeface="黑体" panose="02010609060101010101" pitchFamily="2" charset="-122"/>
                        </a:rPr>
                        <a:t>课程名称</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err="1">
                          <a:effectLst/>
                          <a:latin typeface="黑体" panose="02010609060101010101" pitchFamily="2" charset="-122"/>
                          <a:ea typeface="黑体" panose="02010609060101010101" pitchFamily="2" charset="-122"/>
                        </a:rPr>
                        <a:t>vchar</a:t>
                      </a:r>
                      <a:endParaRPr lang="en-US" altLang="zh-CN" sz="2200">
                        <a:effectLst/>
                        <a:latin typeface="黑体" panose="02010609060101010101" pitchFamily="2" charset="-122"/>
                        <a:ea typeface="黑体" panose="0201060906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50</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KCMC</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433388">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3</a:t>
                      </a:r>
                    </a:p>
                  </a:txBody>
                  <a:tcPr anchor="ct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zh-CN" altLang="en-US" sz="2200" dirty="0">
                          <a:effectLst/>
                          <a:latin typeface="黑体" panose="02010609060101010101" pitchFamily="2" charset="-122"/>
                          <a:ea typeface="黑体" panose="02010609060101010101" pitchFamily="2" charset="-122"/>
                        </a:rPr>
                        <a:t>课程类型</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err="1">
                          <a:effectLst/>
                          <a:latin typeface="黑体" panose="02010609060101010101" pitchFamily="2" charset="-122"/>
                          <a:ea typeface="黑体" panose="02010609060101010101" pitchFamily="2" charset="-122"/>
                        </a:rPr>
                        <a:t>vchar</a:t>
                      </a:r>
                      <a:endParaRPr lang="en-US" altLang="zh-CN" sz="2200">
                        <a:effectLst/>
                        <a:latin typeface="黑体" panose="02010609060101010101" pitchFamily="2" charset="-122"/>
                        <a:ea typeface="黑体" panose="0201060906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8</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KCLX</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43497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4</a:t>
                      </a:r>
                    </a:p>
                  </a:txBody>
                  <a:tcPr anchor="ct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zh-CN" altLang="en-US" sz="2200" dirty="0">
                          <a:effectLst/>
                          <a:latin typeface="黑体" panose="02010609060101010101" pitchFamily="2" charset="-122"/>
                          <a:ea typeface="黑体" panose="02010609060101010101" pitchFamily="2" charset="-122"/>
                        </a:rPr>
                        <a:t>学  时</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numeric</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2</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XS</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487362">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5</a:t>
                      </a:r>
                    </a:p>
                  </a:txBody>
                  <a:tcPr anchor="ct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zh-CN" altLang="en-US" sz="2200" dirty="0">
                          <a:effectLst/>
                          <a:latin typeface="黑体" panose="02010609060101010101" pitchFamily="2" charset="-122"/>
                          <a:ea typeface="黑体" panose="02010609060101010101" pitchFamily="2" charset="-122"/>
                        </a:rPr>
                        <a:t>学  分</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numeric</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1</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XF</a:t>
                      </a:r>
                    </a:p>
                  </a:txBody>
                  <a:tcPr anchor="ct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542925">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6</a:t>
                      </a:r>
                    </a:p>
                  </a:txBody>
                  <a:tcPr anchor="ctr">
                    <a:lnL w="254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zh-CN" altLang="en-US" sz="2200" dirty="0">
                          <a:effectLst/>
                          <a:latin typeface="黑体" panose="02010609060101010101" pitchFamily="2" charset="-122"/>
                          <a:ea typeface="黑体" panose="02010609060101010101" pitchFamily="2" charset="-122"/>
                        </a:rPr>
                        <a:t>任课教研室</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err="1">
                          <a:effectLst/>
                          <a:latin typeface="黑体" panose="02010609060101010101" pitchFamily="2" charset="-122"/>
                          <a:ea typeface="黑体" panose="02010609060101010101" pitchFamily="2" charset="-122"/>
                        </a:rPr>
                        <a:t>vchar</a:t>
                      </a:r>
                      <a:endParaRPr lang="en-US" altLang="zh-CN" sz="2200">
                        <a:effectLst/>
                        <a:latin typeface="黑体" panose="02010609060101010101" pitchFamily="2" charset="-122"/>
                        <a:ea typeface="黑体" panose="0201060906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8</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rgbClr val="CCFFCC"/>
                    </a:solidFill>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a:lnSpc>
                          <a:spcPct val="100000"/>
                        </a:lnSpc>
                        <a:spcBef>
                          <a:spcPct val="0"/>
                        </a:spcBef>
                        <a:buClrTx/>
                        <a:buSzTx/>
                        <a:buFontTx/>
                        <a:buNone/>
                      </a:pPr>
                      <a:r>
                        <a:rPr lang="en-US" altLang="zh-CN" sz="2200">
                          <a:effectLst/>
                          <a:latin typeface="黑体" panose="02010609060101010101" pitchFamily="2" charset="-122"/>
                          <a:ea typeface="黑体" panose="02010609060101010101" pitchFamily="2" charset="-122"/>
                        </a:rPr>
                        <a:t>RKJYS</a:t>
                      </a:r>
                    </a:p>
                  </a:txBody>
                  <a:tcPr anchor="ctr">
                    <a:lnL w="12700" cap="flat" cmpd="sng">
                      <a:solidFill>
                        <a:srgbClr val="000000"/>
                      </a:solidFill>
                      <a:prstDash val="solid"/>
                      <a:headEnd type="none" w="med" len="med"/>
                      <a:tailEnd type="none" w="med" len="med"/>
                    </a:lnL>
                    <a:lnR w="254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bl>
          </a:graphicData>
        </a:graphic>
      </p:graphicFrame>
      <p:sp>
        <p:nvSpPr>
          <p:cNvPr id="407063" name="矩形 407062"/>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二、数据字典</a:t>
            </a:r>
            <a:endParaRPr lang="en-US" altLang="zh-CN"/>
          </a:p>
        </p:txBody>
      </p:sp>
      <p:sp>
        <p:nvSpPr>
          <p:cNvPr id="407064" name="矩形 407063"/>
          <p:cNvSpPr/>
          <p:nvPr/>
        </p:nvSpPr>
        <p:spPr>
          <a:xfrm>
            <a:off x="395288" y="1125538"/>
            <a:ext cx="8280400"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003366"/>
                </a:solidFill>
              </a:rPr>
              <a:t>         （</a:t>
            </a:r>
            <a:r>
              <a:rPr lang="en-US" altLang="zh-CN">
                <a:solidFill>
                  <a:srgbClr val="003366"/>
                </a:solidFill>
              </a:rPr>
              <a:t>3</a:t>
            </a:r>
            <a:r>
              <a:rPr lang="zh-CN" altLang="en-US" dirty="0">
                <a:solidFill>
                  <a:srgbClr val="003366"/>
                </a:solidFill>
              </a:rPr>
              <a:t>）数据表</a:t>
            </a:r>
            <a:r>
              <a:rPr lang="en-US" altLang="zh-CN">
                <a:solidFill>
                  <a:srgbClr val="006666"/>
                </a:solidFill>
              </a:rPr>
              <a:t>(</a:t>
            </a:r>
            <a:r>
              <a:rPr lang="zh-CN" altLang="en-US" dirty="0">
                <a:solidFill>
                  <a:srgbClr val="006666"/>
                </a:solidFill>
              </a:rPr>
              <a:t>示例</a:t>
            </a:r>
            <a:r>
              <a:rPr lang="en-US" altLang="zh-CN">
                <a:solidFill>
                  <a:srgbClr val="006666"/>
                </a:solidFill>
              </a:rPr>
              <a:t>)</a:t>
            </a:r>
          </a:p>
        </p:txBody>
      </p:sp>
    </p:spTree>
  </p:cSld>
  <p:clrMapOvr>
    <a:masterClrMapping/>
  </p:clrMapOvr>
  <mc:AlternateContent xmlns:mc="http://schemas.openxmlformats.org/markup-compatibility/2006" xmlns:p14="http://schemas.microsoft.com/office/powerpoint/2010/main">
    <mc:Choice Requires="p14">
      <p:transition spd="slow" p14:dur="2000" advTm="63430"/>
    </mc:Choice>
    <mc:Fallback xmlns="">
      <p:transition spd="slow" advTm="63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7064">
                                            <p:txEl>
                                              <p:pRg st="0" end="0"/>
                                            </p:txEl>
                                          </p:spTgt>
                                        </p:tgtEl>
                                        <p:attrNameLst>
                                          <p:attrName>style.visibility</p:attrName>
                                        </p:attrNameLst>
                                      </p:cBhvr>
                                      <p:to>
                                        <p:strVal val="visible"/>
                                      </p:to>
                                    </p:set>
                                    <p:animEffect transition="in" filter="wipe(up)">
                                      <p:cBhvr>
                                        <p:cTn id="7" dur="500"/>
                                        <p:tgtEl>
                                          <p:spTgt spid="4070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4" name="矩形 404483"/>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二、数据字典</a:t>
            </a:r>
            <a:endParaRPr lang="en-US" altLang="zh-CN"/>
          </a:p>
        </p:txBody>
      </p:sp>
      <p:sp>
        <p:nvSpPr>
          <p:cNvPr id="404485" name="矩形 404484"/>
          <p:cNvSpPr/>
          <p:nvPr/>
        </p:nvSpPr>
        <p:spPr>
          <a:xfrm>
            <a:off x="395288" y="1125538"/>
            <a:ext cx="8280400" cy="7302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sz="2900" dirty="0"/>
              <a:t>          </a:t>
            </a:r>
            <a:r>
              <a:rPr lang="en-US" altLang="zh-CN" sz="2900">
                <a:solidFill>
                  <a:srgbClr val="660033"/>
                </a:solidFill>
                <a:ea typeface="华文新魏" panose="02010800040101010101" pitchFamily="2" charset="-122"/>
              </a:rPr>
              <a:t>3</a:t>
            </a:r>
            <a:r>
              <a:rPr lang="zh-CN" altLang="en-US" sz="2900" dirty="0">
                <a:solidFill>
                  <a:srgbClr val="660033"/>
                </a:solidFill>
                <a:ea typeface="华文新魏" panose="02010800040101010101" pitchFamily="2" charset="-122"/>
              </a:rPr>
              <a:t>、数据字典定义和描述信息的方法</a:t>
            </a:r>
            <a:endParaRPr lang="zh-CN" altLang="en-US" sz="2900" dirty="0"/>
          </a:p>
        </p:txBody>
      </p:sp>
      <p:sp>
        <p:nvSpPr>
          <p:cNvPr id="404486" name="矩形 404485"/>
          <p:cNvSpPr/>
          <p:nvPr/>
        </p:nvSpPr>
        <p:spPr>
          <a:xfrm>
            <a:off x="395288" y="1979613"/>
            <a:ext cx="8280400" cy="44021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003366"/>
                </a:solidFill>
              </a:rPr>
              <a:t>         （</a:t>
            </a:r>
            <a:r>
              <a:rPr lang="en-US" altLang="zh-CN">
                <a:solidFill>
                  <a:srgbClr val="003366"/>
                </a:solidFill>
              </a:rPr>
              <a:t>4</a:t>
            </a:r>
            <a:r>
              <a:rPr lang="zh-CN" altLang="en-US" dirty="0">
                <a:solidFill>
                  <a:srgbClr val="003366"/>
                </a:solidFill>
              </a:rPr>
              <a:t>）处理</a:t>
            </a:r>
          </a:p>
          <a:p>
            <a:pPr lvl="0">
              <a:lnSpc>
                <a:spcPct val="130000"/>
              </a:lnSpc>
              <a:spcBef>
                <a:spcPct val="10000"/>
              </a:spcBef>
            </a:pPr>
            <a:r>
              <a:rPr lang="zh-CN" altLang="en-US" dirty="0"/>
              <a:t>          处理表示一个处理所要完成的工作或功能。</a:t>
            </a:r>
          </a:p>
          <a:p>
            <a:pPr lvl="0">
              <a:lnSpc>
                <a:spcPct val="130000"/>
              </a:lnSpc>
              <a:spcBef>
                <a:spcPct val="10000"/>
              </a:spcBef>
            </a:pPr>
            <a:r>
              <a:rPr lang="zh-CN" altLang="en-US" dirty="0"/>
              <a:t>          </a:t>
            </a:r>
            <a:r>
              <a:rPr lang="zh-CN" altLang="en-US" sz="2900" dirty="0">
                <a:solidFill>
                  <a:schemeClr val="tx2"/>
                </a:solidFill>
                <a:ea typeface="华文新魏" panose="02010800040101010101" pitchFamily="2" charset="-122"/>
              </a:rPr>
              <a:t>对处理的定义和描述信息主要包括：</a:t>
            </a:r>
          </a:p>
          <a:p>
            <a:pPr lvl="0">
              <a:lnSpc>
                <a:spcPct val="130000"/>
              </a:lnSpc>
              <a:spcBef>
                <a:spcPct val="10000"/>
              </a:spcBef>
            </a:pPr>
            <a:r>
              <a:rPr lang="zh-CN" altLang="en-US" dirty="0"/>
              <a:t>          处理的名称、处理的定义或描述、流入和流出处理的数据流、执行频次等。</a:t>
            </a:r>
          </a:p>
          <a:p>
            <a:pPr lvl="0">
              <a:lnSpc>
                <a:spcPct val="130000"/>
              </a:lnSpc>
              <a:spcBef>
                <a:spcPct val="10000"/>
              </a:spcBef>
            </a:pPr>
            <a:r>
              <a:rPr lang="zh-CN" altLang="en-US" dirty="0"/>
              <a:t>                                                       </a:t>
            </a:r>
            <a:r>
              <a:rPr lang="en-US" altLang="zh-CN">
                <a:solidFill>
                  <a:srgbClr val="808080"/>
                </a:solidFill>
              </a:rPr>
              <a:t>#</a:t>
            </a:r>
          </a:p>
        </p:txBody>
      </p:sp>
    </p:spTree>
  </p:cSld>
  <p:clrMapOvr>
    <a:masterClrMapping/>
  </p:clrMapOvr>
  <mc:AlternateContent xmlns:mc="http://schemas.openxmlformats.org/markup-compatibility/2006" xmlns:p14="http://schemas.microsoft.com/office/powerpoint/2010/main">
    <mc:Choice Requires="p14">
      <p:transition spd="slow" p14:dur="2000" advTm="20862"/>
    </mc:Choice>
    <mc:Fallback xmlns="">
      <p:transition spd="slow" advTm="208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4486">
                                            <p:txEl>
                                              <p:pRg st="0" end="0"/>
                                            </p:txEl>
                                          </p:spTgt>
                                        </p:tgtEl>
                                        <p:attrNameLst>
                                          <p:attrName>style.visibility</p:attrName>
                                        </p:attrNameLst>
                                      </p:cBhvr>
                                      <p:to>
                                        <p:strVal val="visible"/>
                                      </p:to>
                                    </p:set>
                                    <p:animEffect transition="in" filter="wipe(up)">
                                      <p:cBhvr>
                                        <p:cTn id="7" dur="500"/>
                                        <p:tgtEl>
                                          <p:spTgt spid="404486">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04486">
                                            <p:txEl>
                                              <p:pRg st="1" end="1"/>
                                            </p:txEl>
                                          </p:spTgt>
                                        </p:tgtEl>
                                        <p:attrNameLst>
                                          <p:attrName>style.visibility</p:attrName>
                                        </p:attrNameLst>
                                      </p:cBhvr>
                                      <p:to>
                                        <p:strVal val="visible"/>
                                      </p:to>
                                    </p:set>
                                    <p:animEffect transition="in" filter="wipe(up)">
                                      <p:cBhvr>
                                        <p:cTn id="11" dur="500"/>
                                        <p:tgtEl>
                                          <p:spTgt spid="404486">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04486">
                                            <p:txEl>
                                              <p:pRg st="2" end="2"/>
                                            </p:txEl>
                                          </p:spTgt>
                                        </p:tgtEl>
                                        <p:attrNameLst>
                                          <p:attrName>style.visibility</p:attrName>
                                        </p:attrNameLst>
                                      </p:cBhvr>
                                      <p:to>
                                        <p:strVal val="visible"/>
                                      </p:to>
                                    </p:set>
                                    <p:animEffect transition="in" filter="wipe(up)">
                                      <p:cBhvr>
                                        <p:cTn id="15" dur="1000"/>
                                        <p:tgtEl>
                                          <p:spTgt spid="404486">
                                            <p:txEl>
                                              <p:pRg st="2" end="2"/>
                                            </p:txEl>
                                          </p:spTgt>
                                        </p:tgtEl>
                                      </p:cBhvr>
                                    </p:animEffect>
                                  </p:childTnLst>
                                </p:cTn>
                              </p:par>
                            </p:childTnLst>
                          </p:cTn>
                        </p:par>
                        <p:par>
                          <p:cTn id="16" fill="hold">
                            <p:stCondLst>
                              <p:cond delay="2000"/>
                            </p:stCondLst>
                            <p:childTnLst>
                              <p:par>
                                <p:cTn id="17" presetID="22" presetClass="entr" presetSubtype="1" fill="hold" nodeType="afterEffect">
                                  <p:stCondLst>
                                    <p:cond delay="0"/>
                                  </p:stCondLst>
                                  <p:childTnLst>
                                    <p:set>
                                      <p:cBhvr>
                                        <p:cTn id="18" dur="1" fill="hold">
                                          <p:stCondLst>
                                            <p:cond delay="0"/>
                                          </p:stCondLst>
                                        </p:cTn>
                                        <p:tgtEl>
                                          <p:spTgt spid="404486">
                                            <p:txEl>
                                              <p:pRg st="3" end="3"/>
                                            </p:txEl>
                                          </p:spTgt>
                                        </p:tgtEl>
                                        <p:attrNameLst>
                                          <p:attrName>style.visibility</p:attrName>
                                        </p:attrNameLst>
                                      </p:cBhvr>
                                      <p:to>
                                        <p:strVal val="visible"/>
                                      </p:to>
                                    </p:set>
                                    <p:animEffect transition="in" filter="wipe(up)">
                                      <p:cBhvr>
                                        <p:cTn id="19" dur="3000"/>
                                        <p:tgtEl>
                                          <p:spTgt spid="404486">
                                            <p:txEl>
                                              <p:pRg st="3" end="3"/>
                                            </p:txEl>
                                          </p:spTgt>
                                        </p:tgtEl>
                                      </p:cBhvr>
                                    </p:animEffect>
                                  </p:childTnLst>
                                </p:cTn>
                              </p:par>
                            </p:childTnLst>
                          </p:cTn>
                        </p:par>
                        <p:par>
                          <p:cTn id="20" fill="hold">
                            <p:stCondLst>
                              <p:cond delay="5000"/>
                            </p:stCondLst>
                            <p:childTnLst>
                              <p:par>
                                <p:cTn id="21" presetID="22" presetClass="entr" presetSubtype="1" fill="hold" nodeType="afterEffect">
                                  <p:stCondLst>
                                    <p:cond delay="0"/>
                                  </p:stCondLst>
                                  <p:childTnLst>
                                    <p:set>
                                      <p:cBhvr>
                                        <p:cTn id="22" dur="1" fill="hold">
                                          <p:stCondLst>
                                            <p:cond delay="0"/>
                                          </p:stCondLst>
                                        </p:cTn>
                                        <p:tgtEl>
                                          <p:spTgt spid="404486">
                                            <p:txEl>
                                              <p:pRg st="4" end="4"/>
                                            </p:txEl>
                                          </p:spTgt>
                                        </p:tgtEl>
                                        <p:attrNameLst>
                                          <p:attrName>style.visibility</p:attrName>
                                        </p:attrNameLst>
                                      </p:cBhvr>
                                      <p:to>
                                        <p:strVal val="visible"/>
                                      </p:to>
                                    </p:set>
                                    <p:animEffect transition="in" filter="wipe(up)">
                                      <p:cBhvr>
                                        <p:cTn id="23" dur="3000"/>
                                        <p:tgtEl>
                                          <p:spTgt spid="40448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27.2|36.1|14.6"/>
</p:tagLst>
</file>

<file path=ppt/tags/tag2.xml><?xml version="1.0" encoding="utf-8"?>
<p:tagLst xmlns:a="http://schemas.openxmlformats.org/drawingml/2006/main" xmlns:r="http://schemas.openxmlformats.org/officeDocument/2006/relationships" xmlns:p="http://schemas.openxmlformats.org/presentationml/2006/main">
  <p:tag name="TIMING" val="|48.6"/>
</p:tagLst>
</file>

<file path=ppt/tags/tag3.xml><?xml version="1.0" encoding="utf-8"?>
<p:tagLst xmlns:a="http://schemas.openxmlformats.org/drawingml/2006/main" xmlns:r="http://schemas.openxmlformats.org/officeDocument/2006/relationships" xmlns:p="http://schemas.openxmlformats.org/presentationml/2006/main">
  <p:tag name="TIMING" val="|6.3"/>
</p:tagLst>
</file>

<file path=ppt/tags/tag4.xml><?xml version="1.0" encoding="utf-8"?>
<p:tagLst xmlns:a="http://schemas.openxmlformats.org/drawingml/2006/main" xmlns:r="http://schemas.openxmlformats.org/officeDocument/2006/relationships" xmlns:p="http://schemas.openxmlformats.org/presentationml/2006/main">
  <p:tag name="TIMING" val="|5.8"/>
</p:tagLst>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幼圆"/>
        <a:cs typeface=""/>
      </a:majorFont>
      <a:minorFont>
        <a:latin typeface="Tahoma"/>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1011</Words>
  <Application>Microsoft Office PowerPoint</Application>
  <PresentationFormat>全屏显示(4:3)</PresentationFormat>
  <Paragraphs>143</Paragraphs>
  <Slides>17</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黑体</vt:lpstr>
      <vt:lpstr>华文新魏</vt:lpstr>
      <vt:lpstr>华文中宋</vt:lpstr>
      <vt:lpstr>隶书</vt:lpstr>
      <vt:lpstr>Arial</vt:lpstr>
      <vt:lpstr>Tahoma</vt:lpstr>
      <vt:lpstr>Times New Roman</vt:lpstr>
      <vt:lpstr>Wingdings</vt:lpstr>
      <vt:lpstr>Blends</vt:lpstr>
      <vt:lpstr>第3章 数据库应用系统设计方法 </vt:lpstr>
      <vt:lpstr>3.2  用户需求分析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663</cp:revision>
  <cp:lastPrinted>2000-08-23T09:10:16Z</cp:lastPrinted>
  <dcterms:created xsi:type="dcterms:W3CDTF">2020-04-04T09:38:21Z</dcterms:created>
  <dcterms:modified xsi:type="dcterms:W3CDTF">2021-04-12T15:00:35Z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