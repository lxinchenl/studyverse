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handoutMasterIdLst>
    <p:handoutMasterId r:id="rId25"/>
  </p:handoutMasterIdLst>
  <p:sldIdLst>
    <p:sldId id="801" r:id="rId2"/>
    <p:sldId id="745" r:id="rId3"/>
    <p:sldId id="746" r:id="rId4"/>
    <p:sldId id="747" r:id="rId5"/>
    <p:sldId id="748" r:id="rId6"/>
    <p:sldId id="749" r:id="rId7"/>
    <p:sldId id="750" r:id="rId8"/>
    <p:sldId id="751" r:id="rId9"/>
    <p:sldId id="556" r:id="rId10"/>
    <p:sldId id="752" r:id="rId11"/>
    <p:sldId id="753" r:id="rId12"/>
    <p:sldId id="754" r:id="rId13"/>
    <p:sldId id="755" r:id="rId14"/>
    <p:sldId id="759" r:id="rId15"/>
    <p:sldId id="760" r:id="rId16"/>
    <p:sldId id="761" r:id="rId17"/>
    <p:sldId id="762" r:id="rId18"/>
    <p:sldId id="756" r:id="rId19"/>
    <p:sldId id="763" r:id="rId20"/>
    <p:sldId id="764" r:id="rId21"/>
    <p:sldId id="802" r:id="rId22"/>
    <p:sldId id="671" r:id="rId23"/>
  </p:sldIdLst>
  <p:sldSz cx="9144000" cy="6858000" type="screen4x3"/>
  <p:notesSz cx="6662738" cy="9832975"/>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5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00"/>
    <a:srgbClr val="003366"/>
    <a:srgbClr val="99FFCC"/>
    <a:srgbClr val="FFFF66"/>
    <a:srgbClr val="006666"/>
    <a:srgbClr val="CC0000"/>
    <a:srgbClr val="969696"/>
    <a:srgbClr val="8080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74"/>
    <p:restoredTop sz="94152"/>
  </p:normalViewPr>
  <p:slideViewPr>
    <p:cSldViewPr showGuides="1">
      <p:cViewPr varScale="1">
        <p:scale>
          <a:sx n="124" d="100"/>
          <a:sy n="124" d="100"/>
        </p:scale>
        <p:origin x="1240" y="80"/>
      </p:cViewPr>
      <p:guideLst>
        <p:guide orient="horz" pos="1584"/>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12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页眉占位符 107521"/>
          <p:cNvSpPr>
            <a:spLocks noGrp="1"/>
          </p:cNvSpPr>
          <p:nvPr>
            <p:ph type="hdr" sz="quarter"/>
          </p:nvPr>
        </p:nvSpPr>
        <p:spPr>
          <a:xfrm>
            <a:off x="0" y="0"/>
            <a:ext cx="2895600" cy="457200"/>
          </a:xfrm>
          <a:prstGeom prst="rect">
            <a:avLst/>
          </a:prstGeom>
          <a:noFill/>
          <a:ln w="12700">
            <a:noFill/>
          </a:ln>
        </p:spPr>
        <p:txBody>
          <a:bodyPr wrap="none" anchor="ctr"/>
          <a:lstStyle/>
          <a:p>
            <a:pPr lvl="0"/>
            <a:endParaRPr lang="zh-CN" altLang="en-US" sz="1200" dirty="0">
              <a:solidFill>
                <a:schemeClr val="tx2"/>
              </a:solidFill>
            </a:endParaRPr>
          </a:p>
        </p:txBody>
      </p:sp>
      <p:sp>
        <p:nvSpPr>
          <p:cNvPr id="107523" name="日期占位符 107522"/>
          <p:cNvSpPr>
            <a:spLocks noGrp="1"/>
          </p:cNvSpPr>
          <p:nvPr>
            <p:ph type="dt" sz="quarter" idx="1"/>
          </p:nvPr>
        </p:nvSpPr>
        <p:spPr>
          <a:xfrm>
            <a:off x="3810000" y="0"/>
            <a:ext cx="2819400" cy="457200"/>
          </a:xfrm>
          <a:prstGeom prst="rect">
            <a:avLst/>
          </a:prstGeom>
          <a:noFill/>
          <a:ln w="12700">
            <a:noFill/>
          </a:ln>
        </p:spPr>
        <p:txBody>
          <a:bodyPr wrap="none" anchor="ctr"/>
          <a:lstStyle/>
          <a:p>
            <a:pPr lvl="0" algn="r"/>
            <a:endParaRPr lang="zh-CN" altLang="en-US" sz="1200" dirty="0">
              <a:solidFill>
                <a:schemeClr val="tx2"/>
              </a:solidFill>
            </a:endParaRPr>
          </a:p>
        </p:txBody>
      </p:sp>
      <p:sp>
        <p:nvSpPr>
          <p:cNvPr id="107524" name="页脚占位符 107523"/>
          <p:cNvSpPr>
            <a:spLocks noGrp="1"/>
          </p:cNvSpPr>
          <p:nvPr>
            <p:ph type="ftr" sz="quarter" idx="2"/>
          </p:nvPr>
        </p:nvSpPr>
        <p:spPr>
          <a:xfrm>
            <a:off x="0" y="9372600"/>
            <a:ext cx="2895600" cy="457200"/>
          </a:xfrm>
          <a:prstGeom prst="rect">
            <a:avLst/>
          </a:prstGeom>
          <a:noFill/>
          <a:ln w="12700">
            <a:noFill/>
          </a:ln>
        </p:spPr>
        <p:txBody>
          <a:bodyPr wrap="none" anchor="b"/>
          <a:lstStyle/>
          <a:p>
            <a:pPr lvl="0"/>
            <a:endParaRPr lang="zh-CN" altLang="en-US" sz="1200" dirty="0">
              <a:solidFill>
                <a:schemeClr val="tx2"/>
              </a:solidFill>
            </a:endParaRPr>
          </a:p>
        </p:txBody>
      </p:sp>
      <p:sp>
        <p:nvSpPr>
          <p:cNvPr id="107525" name="灯片编号占位符 107524"/>
          <p:cNvSpPr>
            <a:spLocks noGrp="1"/>
          </p:cNvSpPr>
          <p:nvPr>
            <p:ph type="sldNum" sz="quarter" idx="3"/>
          </p:nvPr>
        </p:nvSpPr>
        <p:spPr>
          <a:xfrm>
            <a:off x="3810000" y="9372600"/>
            <a:ext cx="2819400" cy="457200"/>
          </a:xfrm>
          <a:prstGeom prst="rect">
            <a:avLst/>
          </a:prstGeom>
          <a:noFill/>
          <a:ln w="12700">
            <a:noFill/>
          </a:ln>
        </p:spPr>
        <p:txBody>
          <a:bodyPr wrap="none" anchor="b"/>
          <a:lstStyle/>
          <a:p>
            <a:pPr lvl="0" algn="r"/>
            <a:fld id="{9A0DB2DC-4C9A-4742-B13C-FB6460FD3503}" type="slidenum">
              <a:rPr lang="zh-CN" altLang="en-US" sz="1200" dirty="0">
                <a:solidFill>
                  <a:schemeClr val="tx2"/>
                </a:solidFill>
              </a:rPr>
              <a:t>‹#›</a:t>
            </a:fld>
            <a:endParaRPr lang="zh-CN" altLang="en-US" sz="1200" dirty="0">
              <a:solidFill>
                <a:schemeClr val="tx2"/>
              </a:solidFill>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2562" name="页眉占位符 322561"/>
          <p:cNvSpPr>
            <a:spLocks noGrp="1"/>
          </p:cNvSpPr>
          <p:nvPr>
            <p:ph type="hdr" sz="quarter"/>
          </p:nvPr>
        </p:nvSpPr>
        <p:spPr>
          <a:xfrm>
            <a:off x="0" y="0"/>
            <a:ext cx="2887663" cy="492125"/>
          </a:xfrm>
          <a:prstGeom prst="rect">
            <a:avLst/>
          </a:prstGeom>
          <a:noFill/>
          <a:ln w="9525">
            <a:noFill/>
          </a:ln>
        </p:spPr>
        <p:txBody>
          <a:bodyPr/>
          <a:lstStyle/>
          <a:p>
            <a:pPr lvl="0"/>
            <a:endParaRPr lang="zh-CN" altLang="en-US" sz="1200" dirty="0"/>
          </a:p>
        </p:txBody>
      </p:sp>
      <p:sp>
        <p:nvSpPr>
          <p:cNvPr id="322563" name="日期占位符 322562"/>
          <p:cNvSpPr>
            <a:spLocks noGrp="1"/>
          </p:cNvSpPr>
          <p:nvPr>
            <p:ph type="dt" idx="1"/>
          </p:nvPr>
        </p:nvSpPr>
        <p:spPr>
          <a:xfrm>
            <a:off x="3773488" y="0"/>
            <a:ext cx="2887662" cy="492125"/>
          </a:xfrm>
          <a:prstGeom prst="rect">
            <a:avLst/>
          </a:prstGeom>
          <a:noFill/>
          <a:ln w="9525">
            <a:noFill/>
          </a:ln>
        </p:spPr>
        <p:txBody>
          <a:bodyPr/>
          <a:lstStyle/>
          <a:p>
            <a:pPr lvl="0" algn="r"/>
            <a:endParaRPr lang="zh-CN" altLang="en-US" sz="1200" dirty="0"/>
          </a:p>
        </p:txBody>
      </p:sp>
      <p:sp>
        <p:nvSpPr>
          <p:cNvPr id="322564" name="幻灯片图像占位符 322563"/>
          <p:cNvSpPr>
            <a:spLocks noGrp="1" noRot="1" noChangeAspect="1" noTextEdit="1"/>
          </p:cNvSpPr>
          <p:nvPr>
            <p:ph type="sldImg" idx="2"/>
          </p:nvPr>
        </p:nvSpPr>
        <p:spPr>
          <a:xfrm>
            <a:off x="874713" y="738188"/>
            <a:ext cx="4914900" cy="3686175"/>
          </a:xfrm>
          <a:prstGeom prst="rect">
            <a:avLst/>
          </a:prstGeom>
          <a:ln w="9525" cap="flat" cmpd="sng">
            <a:solidFill>
              <a:srgbClr val="000000"/>
            </a:solidFill>
            <a:prstDash val="solid"/>
            <a:miter/>
            <a:headEnd type="none" w="med" len="med"/>
            <a:tailEnd type="none" w="med" len="med"/>
          </a:ln>
        </p:spPr>
      </p:sp>
      <p:sp>
        <p:nvSpPr>
          <p:cNvPr id="322565" name="文本占位符 322564"/>
          <p:cNvSpPr>
            <a:spLocks noGrp="1"/>
          </p:cNvSpPr>
          <p:nvPr>
            <p:ph type="body" sz="quarter" idx="3"/>
          </p:nvPr>
        </p:nvSpPr>
        <p:spPr>
          <a:xfrm>
            <a:off x="666750" y="4670425"/>
            <a:ext cx="5329238" cy="4424363"/>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22566" name="页脚占位符 322565"/>
          <p:cNvSpPr>
            <a:spLocks noGrp="1"/>
          </p:cNvSpPr>
          <p:nvPr>
            <p:ph type="ftr" sz="quarter" idx="4"/>
          </p:nvPr>
        </p:nvSpPr>
        <p:spPr>
          <a:xfrm>
            <a:off x="0" y="9339263"/>
            <a:ext cx="2887663" cy="492125"/>
          </a:xfrm>
          <a:prstGeom prst="rect">
            <a:avLst/>
          </a:prstGeom>
          <a:noFill/>
          <a:ln w="9525">
            <a:noFill/>
          </a:ln>
        </p:spPr>
        <p:txBody>
          <a:bodyPr anchor="b"/>
          <a:lstStyle/>
          <a:p>
            <a:pPr lvl="0"/>
            <a:endParaRPr lang="zh-CN" altLang="en-US" sz="1200" dirty="0"/>
          </a:p>
        </p:txBody>
      </p:sp>
      <p:sp>
        <p:nvSpPr>
          <p:cNvPr id="322567" name="灯片编号占位符 322566"/>
          <p:cNvSpPr>
            <a:spLocks noGrp="1"/>
          </p:cNvSpPr>
          <p:nvPr>
            <p:ph type="sldNum" sz="quarter" idx="5"/>
          </p:nvPr>
        </p:nvSpPr>
        <p:spPr>
          <a:xfrm>
            <a:off x="3773488" y="9339263"/>
            <a:ext cx="2887662" cy="492125"/>
          </a:xfrm>
          <a:prstGeom prst="rect">
            <a:avLst/>
          </a:prstGeom>
          <a:noFill/>
          <a:ln w="9525">
            <a:noFill/>
          </a:ln>
        </p:spPr>
        <p:txBody>
          <a:bodyPr anchor="b"/>
          <a:lstStyle/>
          <a:p>
            <a:pPr lvl="0" algn="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Times New Roman" panose="02020603050405020304" pitchFamily="18"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t>13</a:t>
            </a:fld>
            <a:endParaRPr lang="zh-CN" altLang="en-US" sz="1200" dirty="0"/>
          </a:p>
        </p:txBody>
      </p:sp>
    </p:spTree>
    <p:extLst>
      <p:ext uri="{BB962C8B-B14F-4D97-AF65-F5344CB8AC3E}">
        <p14:creationId xmlns:p14="http://schemas.microsoft.com/office/powerpoint/2010/main" val="34168998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lvl="0" algn="r"/>
            <a:fld id="{9A0DB2DC-4C9A-4742-B13C-FB6460FD3503}" type="slidenum">
              <a:rPr lang="zh-CN" altLang="en-US" sz="1200" smtClean="0"/>
              <a:t>18</a:t>
            </a:fld>
            <a:endParaRPr lang="zh-CN" altLang="en-US" sz="1200" dirty="0"/>
          </a:p>
        </p:txBody>
      </p:sp>
    </p:spTree>
    <p:extLst>
      <p:ext uri="{BB962C8B-B14F-4D97-AF65-F5344CB8AC3E}">
        <p14:creationId xmlns:p14="http://schemas.microsoft.com/office/powerpoint/2010/main" val="2970194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11188"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87650" y="1258888"/>
            <a:ext cx="3916600" cy="53387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60778" y="71438"/>
            <a:ext cx="2083197" cy="65262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11188" y="71438"/>
            <a:ext cx="6128825" cy="65262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Times New Roman" panose="02020603050405020304" pitchFamily="18"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67618" name="矩形 367617"/>
          <p:cNvSpPr/>
          <p:nvPr/>
        </p:nvSpPr>
        <p:spPr>
          <a:xfrm>
            <a:off x="417513" y="252413"/>
            <a:ext cx="438150" cy="474662"/>
          </a:xfrm>
          <a:prstGeom prst="rect">
            <a:avLst/>
          </a:prstGeom>
          <a:solidFill>
            <a:schemeClr val="accent2"/>
          </a:solidFill>
          <a:ln w="9525">
            <a:noFill/>
          </a:ln>
        </p:spPr>
        <p:txBody>
          <a:bodyPr wrap="none" anchor="ctr"/>
          <a:lstStyle/>
          <a:p>
            <a:pPr lvl="0" algn="ctr"/>
            <a:endParaRPr lang="zh-CN" altLang="en-US" sz="2400" dirty="0">
              <a:latin typeface="Tahoma" panose="020B0604030504040204" pitchFamily="34" charset="0"/>
            </a:endParaRPr>
          </a:p>
        </p:txBody>
      </p:sp>
      <p:sp>
        <p:nvSpPr>
          <p:cNvPr id="367619" name="矩形 367618"/>
          <p:cNvSpPr/>
          <p:nvPr/>
        </p:nvSpPr>
        <p:spPr>
          <a:xfrm>
            <a:off x="800100" y="252413"/>
            <a:ext cx="328613" cy="474662"/>
          </a:xfrm>
          <a:prstGeom prst="rect">
            <a:avLst/>
          </a:prstGeom>
          <a:gradFill rotWithShape="0">
            <a:gsLst>
              <a:gs pos="0">
                <a:schemeClr val="accent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0" name="矩形 367619"/>
          <p:cNvSpPr/>
          <p:nvPr/>
        </p:nvSpPr>
        <p:spPr>
          <a:xfrm>
            <a:off x="541338" y="674688"/>
            <a:ext cx="422275" cy="474662"/>
          </a:xfrm>
          <a:prstGeom prst="rect">
            <a:avLst/>
          </a:prstGeom>
          <a:solidFill>
            <a:schemeClr val="folHlink"/>
          </a:solidFill>
          <a:ln w="9525">
            <a:noFill/>
          </a:ln>
        </p:spPr>
        <p:txBody>
          <a:bodyPr wrap="none" anchor="ctr"/>
          <a:lstStyle/>
          <a:p>
            <a:pPr lvl="0" algn="ctr"/>
            <a:endParaRPr lang="zh-CN" altLang="en-US" sz="2400" dirty="0">
              <a:latin typeface="Tahoma" panose="020B0604030504040204" pitchFamily="34" charset="0"/>
            </a:endParaRPr>
          </a:p>
        </p:txBody>
      </p:sp>
      <p:sp>
        <p:nvSpPr>
          <p:cNvPr id="367621" name="矩形 367620"/>
          <p:cNvSpPr/>
          <p:nvPr/>
        </p:nvSpPr>
        <p:spPr>
          <a:xfrm>
            <a:off x="911225" y="674688"/>
            <a:ext cx="368300" cy="474662"/>
          </a:xfrm>
          <a:prstGeom prst="rect">
            <a:avLst/>
          </a:prstGeom>
          <a:gradFill rotWithShape="0">
            <a:gsLst>
              <a:gs pos="0">
                <a:schemeClr val="folHlink"/>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2" name="矩形 367621"/>
          <p:cNvSpPr/>
          <p:nvPr/>
        </p:nvSpPr>
        <p:spPr>
          <a:xfrm>
            <a:off x="127000" y="601663"/>
            <a:ext cx="560388" cy="422275"/>
          </a:xfrm>
          <a:prstGeom prst="rect">
            <a:avLst/>
          </a:prstGeom>
          <a:gradFill rotWithShape="0">
            <a:gsLst>
              <a:gs pos="0">
                <a:schemeClr val="bg1"/>
              </a:gs>
              <a:gs pos="100000">
                <a:schemeClr val="hlink"/>
              </a:gs>
            </a:gsLst>
            <a:lin ang="1890000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3" name="矩形 367622"/>
          <p:cNvSpPr/>
          <p:nvPr/>
        </p:nvSpPr>
        <p:spPr>
          <a:xfrm>
            <a:off x="762000" y="144463"/>
            <a:ext cx="31750" cy="1052512"/>
          </a:xfrm>
          <a:prstGeom prst="rect">
            <a:avLst/>
          </a:prstGeom>
          <a:solidFill>
            <a:schemeClr val="bg2"/>
          </a:solidFill>
          <a:ln w="9525">
            <a:noFill/>
          </a:ln>
        </p:spPr>
        <p:txBody>
          <a:bodyPr wrap="none" anchor="ctr"/>
          <a:lstStyle/>
          <a:p>
            <a:pPr lvl="0" algn="ctr"/>
            <a:endParaRPr lang="zh-CN" altLang="en-US" sz="2400" dirty="0">
              <a:latin typeface="Tahoma" panose="020B0604030504040204" pitchFamily="34" charset="0"/>
            </a:endParaRPr>
          </a:p>
        </p:txBody>
      </p:sp>
      <p:sp>
        <p:nvSpPr>
          <p:cNvPr id="367624" name="矩形 367623"/>
          <p:cNvSpPr/>
          <p:nvPr/>
        </p:nvSpPr>
        <p:spPr>
          <a:xfrm>
            <a:off x="442913" y="935038"/>
            <a:ext cx="8226425" cy="31750"/>
          </a:xfrm>
          <a:prstGeom prst="rect">
            <a:avLst/>
          </a:prstGeom>
          <a:gradFill rotWithShape="0">
            <a:gsLst>
              <a:gs pos="0">
                <a:schemeClr val="bg2"/>
              </a:gs>
              <a:gs pos="100000">
                <a:schemeClr val="bg1"/>
              </a:gs>
            </a:gsLst>
            <a:lin ang="0" scaled="1"/>
            <a:tileRect/>
          </a:gradFill>
          <a:ln w="9525">
            <a:noFill/>
          </a:ln>
        </p:spPr>
        <p:txBody>
          <a:bodyPr wrap="none" anchor="ctr"/>
          <a:lstStyle/>
          <a:p>
            <a:pPr lvl="0" algn="ctr"/>
            <a:endParaRPr lang="zh-CN" altLang="en-US" sz="2400" dirty="0">
              <a:latin typeface="Tahoma" panose="020B0604030504040204" pitchFamily="34" charset="0"/>
            </a:endParaRPr>
          </a:p>
        </p:txBody>
      </p:sp>
      <p:sp>
        <p:nvSpPr>
          <p:cNvPr id="367625" name="标题 367624"/>
          <p:cNvSpPr>
            <a:spLocks noGrp="1"/>
          </p:cNvSpPr>
          <p:nvPr>
            <p:ph type="title"/>
          </p:nvPr>
        </p:nvSpPr>
        <p:spPr>
          <a:xfrm>
            <a:off x="1150938" y="71438"/>
            <a:ext cx="7793037" cy="836612"/>
          </a:xfrm>
          <a:prstGeom prst="rect">
            <a:avLst/>
          </a:prstGeom>
          <a:noFill/>
          <a:ln w="9525">
            <a:noFill/>
          </a:ln>
        </p:spPr>
        <p:txBody>
          <a:bodyPr anchor="b"/>
          <a:lstStyle/>
          <a:p>
            <a:pPr lvl="0"/>
            <a:r>
              <a:rPr lang="zh-CN" altLang="en-US" dirty="0"/>
              <a:t>单击此处编辑母版标题样式</a:t>
            </a:r>
          </a:p>
        </p:txBody>
      </p:sp>
      <p:sp>
        <p:nvSpPr>
          <p:cNvPr id="367626" name="文本占位符 367625"/>
          <p:cNvSpPr>
            <a:spLocks noGrp="1"/>
          </p:cNvSpPr>
          <p:nvPr>
            <p:ph type="body" idx="1"/>
          </p:nvPr>
        </p:nvSpPr>
        <p:spPr>
          <a:xfrm>
            <a:off x="611188" y="1258888"/>
            <a:ext cx="7993062" cy="5338762"/>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67627" name="日期占位符 367626"/>
          <p:cNvSpPr>
            <a:spLocks noGrp="1"/>
          </p:cNvSpPr>
          <p:nvPr>
            <p:ph type="dt" sz="half" idx="2"/>
          </p:nvPr>
        </p:nvSpPr>
        <p:spPr>
          <a:xfrm>
            <a:off x="1162050" y="6243638"/>
            <a:ext cx="1905000" cy="457200"/>
          </a:xfrm>
          <a:prstGeom prst="rect">
            <a:avLst/>
          </a:prstGeom>
          <a:noFill/>
          <a:ln w="9525">
            <a:noFill/>
          </a:ln>
        </p:spPr>
        <p:txBody>
          <a:bodyPr anchor="b"/>
          <a:lstStyle>
            <a:lvl1pPr>
              <a:defRPr sz="1400">
                <a:latin typeface="Tahoma" panose="020B0604030504040204" pitchFamily="34" charset="0"/>
              </a:defRPr>
            </a:lvl1pPr>
          </a:lstStyle>
          <a:p>
            <a:pPr lvl="0"/>
            <a:endParaRPr lang="zh-CN" altLang="en-US" dirty="0">
              <a:latin typeface="Times New Roman" panose="02020603050405020304" pitchFamily="18" charset="0"/>
            </a:endParaRPr>
          </a:p>
        </p:txBody>
      </p:sp>
      <p:sp>
        <p:nvSpPr>
          <p:cNvPr id="367628" name="页脚占位符 367627"/>
          <p:cNvSpPr>
            <a:spLocks noGrp="1"/>
          </p:cNvSpPr>
          <p:nvPr>
            <p:ph type="ftr" sz="quarter" idx="3"/>
          </p:nvPr>
        </p:nvSpPr>
        <p:spPr>
          <a:xfrm>
            <a:off x="3657600" y="6243638"/>
            <a:ext cx="2895600" cy="457200"/>
          </a:xfrm>
          <a:prstGeom prst="rect">
            <a:avLst/>
          </a:prstGeom>
          <a:noFill/>
          <a:ln w="9525">
            <a:noFill/>
          </a:ln>
        </p:spPr>
        <p:txBody>
          <a:bodyPr anchor="b"/>
          <a:lstStyle>
            <a:lvl1pPr algn="ctr">
              <a:defRPr sz="1400">
                <a:latin typeface="Tahoma" panose="020B0604030504040204" pitchFamily="34" charset="0"/>
              </a:defRPr>
            </a:lvl1pPr>
          </a:lstStyle>
          <a:p>
            <a:pPr lvl="0"/>
            <a:endParaRPr lang="zh-CN" altLang="en-US" dirty="0"/>
          </a:p>
        </p:txBody>
      </p:sp>
      <p:sp>
        <p:nvSpPr>
          <p:cNvPr id="367629" name="灯片编号占位符 367628"/>
          <p:cNvSpPr>
            <a:spLocks noGrp="1"/>
          </p:cNvSpPr>
          <p:nvPr>
            <p:ph type="sldNum" sz="quarter" idx="4"/>
          </p:nvPr>
        </p:nvSpPr>
        <p:spPr>
          <a:xfrm>
            <a:off x="7042150" y="6243638"/>
            <a:ext cx="1905000" cy="457200"/>
          </a:xfrm>
          <a:prstGeom prst="rect">
            <a:avLst/>
          </a:prstGeom>
          <a:noFill/>
          <a:ln w="9525">
            <a:noFill/>
          </a:ln>
        </p:spPr>
        <p:txBody>
          <a:bodyPr anchor="b"/>
          <a:lstStyle>
            <a:lvl1pPr algn="r">
              <a:defRPr sz="1400">
                <a:latin typeface="Tahoma" panose="020B0604030504040204" pitchFamily="34" charset="0"/>
              </a:defRPr>
            </a:lvl1pPr>
          </a:lstStyle>
          <a:p>
            <a:pPr lvl="0"/>
            <a:fld id="{9A0DB2DC-4C9A-4742-B13C-FB6460FD3503}" type="slidenum">
              <a:rPr lang="zh-CN" altLang="en-US" dirty="0"/>
              <a:t>‹#›</a:t>
            </a:fld>
            <a:endParaRPr lang="zh-CN" altLang="en-US" dirty="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marL="0" lvl="0" indent="0" algn="l" defTabSz="914400" rtl="0" eaLnBrk="1" fontAlgn="base" latinLnBrk="0" hangingPunct="1">
        <a:lnSpc>
          <a:spcPct val="100000"/>
        </a:lnSpc>
        <a:spcBef>
          <a:spcPct val="0"/>
        </a:spcBef>
        <a:spcAft>
          <a:spcPct val="0"/>
        </a:spcAft>
        <a:buNone/>
        <a:defRPr sz="3600" b="1" i="0" u="none" kern="1200" baseline="0">
          <a:solidFill>
            <a:schemeClr val="tx2"/>
          </a:solidFill>
          <a:effectLst>
            <a:outerShdw blurRad="38100" dist="38100" dir="2700000">
              <a:srgbClr val="C0C0C0"/>
            </a:outerShdw>
          </a:effectLst>
          <a:latin typeface="+mj-lt"/>
          <a:ea typeface="+mj-ea"/>
          <a:cs typeface="+mj-cs"/>
        </a:defRPr>
      </a:lvl1pPr>
    </p:titleStyle>
    <p:body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i="0" u="none" kern="1200" baseline="0">
          <a:solidFill>
            <a:schemeClr val="tx1"/>
          </a:solidFill>
          <a:effectLst>
            <a:outerShdw blurRad="38100" dist="38100" dir="2700000">
              <a:srgbClr val="C0C0C0"/>
            </a:outerShdw>
          </a:effectLst>
          <a:latin typeface="+mn-lt"/>
          <a:ea typeface="+mn-ea"/>
          <a:cs typeface="+mn-cs"/>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mn-lt"/>
          <a:ea typeface="+mn-ea"/>
          <a:cs typeface="+mn-cs"/>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mn-lt"/>
          <a:ea typeface="+mn-ea"/>
          <a:cs typeface="+mn-cs"/>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5pPr>
      <a:lvl6pPr marL="2514600" lvl="5"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6pPr>
      <a:lvl7pPr marL="2971800" lvl="6"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7pPr>
      <a:lvl8pPr marL="3429000" lvl="7"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8pPr>
      <a:lvl9pPr marL="3886200" lvl="8"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tags" Target="../tags/tag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892" name="矩形 677891"/>
          <p:cNvSpPr/>
          <p:nvPr/>
        </p:nvSpPr>
        <p:spPr>
          <a:xfrm>
            <a:off x="395288" y="1125538"/>
            <a:ext cx="8280400" cy="11509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15000"/>
              </a:lnSpc>
              <a:spcBef>
                <a:spcPct val="15000"/>
              </a:spcBef>
            </a:pPr>
            <a:r>
              <a:rPr lang="zh-CN" altLang="en-US" sz="2900" dirty="0"/>
              <a:t>          </a:t>
            </a:r>
            <a:r>
              <a:rPr lang="en-US" altLang="zh-CN" sz="2900">
                <a:solidFill>
                  <a:srgbClr val="660033"/>
                </a:solidFill>
                <a:ea typeface="华文新魏" panose="02010800040101010101" pitchFamily="2" charset="-122"/>
              </a:rPr>
              <a:t>1</a:t>
            </a:r>
            <a:r>
              <a:rPr lang="zh-CN" altLang="en-US" sz="2900" dirty="0">
                <a:solidFill>
                  <a:srgbClr val="660033"/>
                </a:solidFill>
                <a:ea typeface="华文新魏" panose="02010800040101010101" pitchFamily="2" charset="-122"/>
              </a:rPr>
              <a:t>、分析用户的业务活动，建立用户业务数据流图</a:t>
            </a:r>
            <a:r>
              <a:rPr lang="zh-CN" altLang="en-US" sz="3000" dirty="0">
                <a:solidFill>
                  <a:srgbClr val="660033"/>
                </a:solidFill>
                <a:ea typeface="华文新魏" panose="02010800040101010101" pitchFamily="2" charset="-122"/>
              </a:rPr>
              <a:t> </a:t>
            </a:r>
          </a:p>
        </p:txBody>
      </p:sp>
      <p:sp>
        <p:nvSpPr>
          <p:cNvPr id="677893" name="矩形 677892"/>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
        <p:nvSpPr>
          <p:cNvPr id="677894" name="矩形 677893"/>
          <p:cNvSpPr/>
          <p:nvPr/>
        </p:nvSpPr>
        <p:spPr>
          <a:xfrm>
            <a:off x="395288" y="2276475"/>
            <a:ext cx="8280400" cy="38179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0"/>
              </a:spcBef>
            </a:pPr>
            <a:r>
              <a:rPr lang="zh-CN" altLang="en-US" sz="2400" dirty="0"/>
              <a:t>           </a:t>
            </a:r>
            <a:r>
              <a:rPr lang="zh-CN" altLang="en-US" sz="2500" dirty="0">
                <a:solidFill>
                  <a:srgbClr val="CC0000"/>
                </a:solidFill>
              </a:rPr>
              <a:t>① </a:t>
            </a:r>
            <a:r>
              <a:rPr lang="zh-CN" altLang="en-US" sz="2500" dirty="0"/>
              <a:t>详细了解各个用户（科员或部门）当前业务活动、业务流程和业务处理中各个环节之间的信息流动顺序、处理顺序、需要的信息存储支持和处理的结果信息存储需求。</a:t>
            </a:r>
            <a:endParaRPr lang="zh-CN" altLang="en-US" sz="2500" dirty="0">
              <a:solidFill>
                <a:srgbClr val="CC0000"/>
              </a:solidFill>
            </a:endParaRPr>
          </a:p>
          <a:p>
            <a:pPr lvl="0">
              <a:spcBef>
                <a:spcPct val="0"/>
              </a:spcBef>
            </a:pPr>
            <a:r>
              <a:rPr lang="zh-CN" altLang="en-US" sz="2500" dirty="0">
                <a:solidFill>
                  <a:srgbClr val="CC0000"/>
                </a:solidFill>
              </a:rPr>
              <a:t>          ② </a:t>
            </a:r>
            <a:r>
              <a:rPr lang="zh-CN" altLang="en-US" sz="2500" dirty="0"/>
              <a:t>梳理各个业务活动和业务流程中的输入信息和输出信息及其与中间信息的关系。 </a:t>
            </a:r>
            <a:endParaRPr lang="zh-CN" altLang="en-US" sz="2500" dirty="0">
              <a:solidFill>
                <a:srgbClr val="CC0000"/>
              </a:solidFill>
            </a:endParaRPr>
          </a:p>
          <a:p>
            <a:pPr lvl="0">
              <a:spcBef>
                <a:spcPct val="0"/>
              </a:spcBef>
            </a:pPr>
            <a:r>
              <a:rPr lang="zh-CN" altLang="en-US" sz="2500" dirty="0"/>
              <a:t>          </a:t>
            </a:r>
            <a:r>
              <a:rPr lang="zh-CN" altLang="en-US" sz="2500" dirty="0">
                <a:solidFill>
                  <a:schemeClr val="hlink"/>
                </a:solidFill>
              </a:rPr>
              <a:t>③</a:t>
            </a:r>
            <a:r>
              <a:rPr lang="zh-CN" altLang="en-US" sz="2500" dirty="0"/>
              <a:t> 建立描述用户业务处理及其信息流动过程的数据流图。</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4789"/>
    </mc:Choice>
    <mc:Fallback xmlns="">
      <p:transition spd="slow" advTm="16478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77892"/>
                                        </p:tgtEl>
                                        <p:attrNameLst>
                                          <p:attrName>style.visibility</p:attrName>
                                        </p:attrNameLst>
                                      </p:cBhvr>
                                      <p:to>
                                        <p:strVal val="visible"/>
                                      </p:to>
                                    </p:set>
                                    <p:animEffect transition="in" filter="wipe(up)">
                                      <p:cBhvr>
                                        <p:cTn id="7" dur="1000"/>
                                        <p:tgtEl>
                                          <p:spTgt spid="67789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77894">
                                            <p:txEl>
                                              <p:pRg st="0" end="0"/>
                                            </p:txEl>
                                          </p:spTgt>
                                        </p:tgtEl>
                                        <p:attrNameLst>
                                          <p:attrName>style.visibility</p:attrName>
                                        </p:attrNameLst>
                                      </p:cBhvr>
                                      <p:to>
                                        <p:strVal val="visible"/>
                                      </p:to>
                                    </p:set>
                                    <p:animEffect transition="in" filter="wipe(up)">
                                      <p:cBhvr>
                                        <p:cTn id="12" dur="1000"/>
                                        <p:tgtEl>
                                          <p:spTgt spid="67789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77894">
                                            <p:txEl>
                                              <p:pRg st="1" end="1"/>
                                            </p:txEl>
                                          </p:spTgt>
                                        </p:tgtEl>
                                        <p:attrNameLst>
                                          <p:attrName>style.visibility</p:attrName>
                                        </p:attrNameLst>
                                      </p:cBhvr>
                                      <p:to>
                                        <p:strVal val="visible"/>
                                      </p:to>
                                    </p:set>
                                    <p:animEffect transition="in" filter="wipe(up)">
                                      <p:cBhvr>
                                        <p:cTn id="17" dur="1000"/>
                                        <p:tgtEl>
                                          <p:spTgt spid="67789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77894">
                                            <p:txEl>
                                              <p:pRg st="2" end="2"/>
                                            </p:txEl>
                                          </p:spTgt>
                                        </p:tgtEl>
                                        <p:attrNameLst>
                                          <p:attrName>style.visibility</p:attrName>
                                        </p:attrNameLst>
                                      </p:cBhvr>
                                      <p:to>
                                        <p:strVal val="visible"/>
                                      </p:to>
                                    </p:set>
                                    <p:animEffect transition="in" filter="wipe(up)">
                                      <p:cBhvr>
                                        <p:cTn id="22" dur="1000"/>
                                        <p:tgtEl>
                                          <p:spTgt spid="67789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789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4" name="矩形 619523"/>
          <p:cNvSpPr/>
          <p:nvPr/>
        </p:nvSpPr>
        <p:spPr>
          <a:xfrm>
            <a:off x="395288" y="2419350"/>
            <a:ext cx="8280400" cy="38179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r>
              <a:rPr lang="zh-CN" altLang="en-US" sz="2400" dirty="0"/>
              <a:t>            </a:t>
            </a:r>
            <a:r>
              <a:rPr lang="zh-CN" altLang="en-US" b="0" dirty="0">
                <a:solidFill>
                  <a:srgbClr val="003366"/>
                </a:solidFill>
                <a:ea typeface="黑体" panose="02010609060101010101" pitchFamily="2" charset="-122"/>
              </a:rPr>
              <a:t>分析方法：</a:t>
            </a:r>
            <a:r>
              <a:rPr lang="zh-CN" altLang="en-US" dirty="0"/>
              <a:t>查阅各部门的业务处理记录和档案资料，和用户进行个别询问和座谈交流，视情进行必要的跟班作业，问卷调查等。</a:t>
            </a:r>
          </a:p>
          <a:p>
            <a:pPr lvl="0"/>
            <a:r>
              <a:rPr lang="zh-CN" altLang="en-US" dirty="0"/>
              <a:t>          </a:t>
            </a:r>
            <a:r>
              <a:rPr lang="zh-CN" altLang="en-US" b="0" dirty="0">
                <a:solidFill>
                  <a:srgbClr val="003366"/>
                </a:solidFill>
                <a:ea typeface="黑体" panose="02010609060101010101" pitchFamily="2" charset="-122"/>
              </a:rPr>
              <a:t>分析结果标志：</a:t>
            </a:r>
            <a:r>
              <a:rPr lang="zh-CN" altLang="en-US" dirty="0"/>
              <a:t>建立描述用户业务信息流动和处理逻辑的数据流图。</a:t>
            </a:r>
          </a:p>
        </p:txBody>
      </p:sp>
      <p:sp>
        <p:nvSpPr>
          <p:cNvPr id="619525" name="矩形 619524"/>
          <p:cNvSpPr/>
          <p:nvPr/>
        </p:nvSpPr>
        <p:spPr>
          <a:xfrm>
            <a:off x="395288" y="1125538"/>
            <a:ext cx="8280400" cy="11509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15000"/>
              </a:lnSpc>
              <a:spcBef>
                <a:spcPct val="15000"/>
              </a:spcBef>
            </a:pPr>
            <a:r>
              <a:rPr lang="zh-CN" altLang="en-US" sz="2900" dirty="0"/>
              <a:t>          </a:t>
            </a:r>
            <a:r>
              <a:rPr lang="en-US" altLang="zh-CN" sz="2900">
                <a:solidFill>
                  <a:srgbClr val="660033"/>
                </a:solidFill>
                <a:ea typeface="华文新魏" panose="02010800040101010101" pitchFamily="2" charset="-122"/>
              </a:rPr>
              <a:t>1</a:t>
            </a:r>
            <a:r>
              <a:rPr lang="zh-CN" altLang="en-US" sz="2900" dirty="0">
                <a:solidFill>
                  <a:srgbClr val="660033"/>
                </a:solidFill>
                <a:ea typeface="华文新魏" panose="02010800040101010101" pitchFamily="2" charset="-122"/>
              </a:rPr>
              <a:t>、分析用户的业务活动，建立用户业务数据流图</a:t>
            </a:r>
            <a:r>
              <a:rPr lang="zh-CN" altLang="en-US" sz="3000" dirty="0">
                <a:solidFill>
                  <a:srgbClr val="660033"/>
                </a:solidFill>
                <a:ea typeface="华文新魏" panose="02010800040101010101" pitchFamily="2" charset="-122"/>
              </a:rPr>
              <a:t> </a:t>
            </a:r>
          </a:p>
        </p:txBody>
      </p:sp>
      <p:sp>
        <p:nvSpPr>
          <p:cNvPr id="619526" name="矩形 619525"/>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168895"/>
    </mc:Choice>
    <mc:Fallback xmlns="">
      <p:transition spd="slow" advTm="1688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19524"/>
                                        </p:tgtEl>
                                        <p:attrNameLst>
                                          <p:attrName>style.visibility</p:attrName>
                                        </p:attrNameLst>
                                      </p:cBhvr>
                                      <p:to>
                                        <p:strVal val="visible"/>
                                      </p:to>
                                    </p:set>
                                    <p:animEffect transition="in" filter="box(in)">
                                      <p:cBhvr>
                                        <p:cTn id="7" dur="1000"/>
                                        <p:tgtEl>
                                          <p:spTgt spid="6195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8" name="矩形 620547"/>
          <p:cNvSpPr/>
          <p:nvPr/>
        </p:nvSpPr>
        <p:spPr>
          <a:xfrm>
            <a:off x="395288" y="2276475"/>
            <a:ext cx="8280400" cy="38179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0"/>
              </a:spcBef>
            </a:pPr>
            <a:r>
              <a:rPr lang="zh-CN" altLang="en-US" sz="2400" dirty="0"/>
              <a:t>           </a:t>
            </a:r>
            <a:r>
              <a:rPr lang="zh-CN" altLang="en-US" sz="2500" dirty="0">
                <a:solidFill>
                  <a:srgbClr val="CC0000"/>
                </a:solidFill>
              </a:rPr>
              <a:t>① </a:t>
            </a:r>
            <a:r>
              <a:rPr lang="zh-CN" altLang="en-US" sz="2500" dirty="0"/>
              <a:t>收集和整理描述用户业务信息流动和业务处理要求所涉及的各种数据信息，包括：帐表、单据、报表、合同和档案中的数据描述要求，从各种规章、制度和业务处理文件中抽取出来的数据描述信息。</a:t>
            </a:r>
          </a:p>
          <a:p>
            <a:pPr lvl="0">
              <a:spcBef>
                <a:spcPct val="0"/>
              </a:spcBef>
            </a:pPr>
            <a:r>
              <a:rPr lang="zh-CN" altLang="en-US" sz="2500" dirty="0">
                <a:solidFill>
                  <a:srgbClr val="CC0000"/>
                </a:solidFill>
              </a:rPr>
              <a:t>          ② </a:t>
            </a:r>
            <a:r>
              <a:rPr lang="zh-CN" altLang="en-US" sz="2500" dirty="0">
                <a:solidFill>
                  <a:srgbClr val="003366"/>
                </a:solidFill>
              </a:rPr>
              <a:t>通过进一步的梳理和分类，标注出各个数据所相关的业务范围或相关部门。</a:t>
            </a:r>
            <a:r>
              <a:rPr lang="zh-CN" altLang="en-US" dirty="0"/>
              <a:t> </a:t>
            </a:r>
            <a:endParaRPr lang="zh-CN" altLang="en-US" sz="2500" dirty="0">
              <a:solidFill>
                <a:srgbClr val="CC0000"/>
              </a:solidFill>
            </a:endParaRPr>
          </a:p>
          <a:p>
            <a:pPr lvl="0">
              <a:spcBef>
                <a:spcPct val="0"/>
              </a:spcBef>
            </a:pPr>
            <a:r>
              <a:rPr lang="zh-CN" altLang="en-US" sz="2500" dirty="0"/>
              <a:t>          </a:t>
            </a:r>
            <a:r>
              <a:rPr lang="zh-CN" altLang="en-US" sz="2500" dirty="0">
                <a:solidFill>
                  <a:schemeClr val="hlink"/>
                </a:solidFill>
              </a:rPr>
              <a:t>③ </a:t>
            </a:r>
            <a:r>
              <a:rPr lang="zh-CN" altLang="en-US" sz="2500" dirty="0"/>
              <a:t>确定每类信息中数据元素的确切的名称、类型、长度、取值范围和应用特征。</a:t>
            </a:r>
          </a:p>
        </p:txBody>
      </p:sp>
      <p:sp>
        <p:nvSpPr>
          <p:cNvPr id="620549" name="矩形 620548"/>
          <p:cNvSpPr/>
          <p:nvPr/>
        </p:nvSpPr>
        <p:spPr>
          <a:xfrm>
            <a:off x="395288" y="1125538"/>
            <a:ext cx="8280400" cy="11509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15000"/>
              </a:lnSpc>
              <a:spcBef>
                <a:spcPct val="15000"/>
              </a:spcBef>
            </a:pPr>
            <a:r>
              <a:rPr lang="zh-CN" altLang="en-US" sz="2900" dirty="0"/>
              <a:t>          </a:t>
            </a:r>
            <a:r>
              <a:rPr lang="en-US" altLang="zh-CN" sz="2900">
                <a:solidFill>
                  <a:srgbClr val="660033"/>
                </a:solidFill>
                <a:ea typeface="华文新魏" panose="02010800040101010101" pitchFamily="2" charset="-122"/>
              </a:rPr>
              <a:t>2</a:t>
            </a:r>
            <a:r>
              <a:rPr lang="zh-CN" altLang="en-US" sz="2900" dirty="0">
                <a:solidFill>
                  <a:srgbClr val="660033"/>
                </a:solidFill>
                <a:ea typeface="华文新魏" panose="02010800040101010101" pitchFamily="2" charset="-122"/>
              </a:rPr>
              <a:t>、整理用户业务信息流动和处理的数据信息，建立描述数据信息的数据字典</a:t>
            </a:r>
            <a:r>
              <a:rPr lang="zh-CN" altLang="en-US" dirty="0"/>
              <a:t> </a:t>
            </a:r>
          </a:p>
        </p:txBody>
      </p:sp>
      <p:sp>
        <p:nvSpPr>
          <p:cNvPr id="620550" name="矩形 62054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2288"/>
    </mc:Choice>
    <mc:Fallback xmlns="">
      <p:transition spd="slow" advTm="22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20549"/>
                                        </p:tgtEl>
                                        <p:attrNameLst>
                                          <p:attrName>style.visibility</p:attrName>
                                        </p:attrNameLst>
                                      </p:cBhvr>
                                      <p:to>
                                        <p:strVal val="visible"/>
                                      </p:to>
                                    </p:set>
                                    <p:animEffect transition="in" filter="wipe(up)">
                                      <p:cBhvr>
                                        <p:cTn id="7" dur="500"/>
                                        <p:tgtEl>
                                          <p:spTgt spid="6205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20548">
                                            <p:txEl>
                                              <p:pRg st="0" end="0"/>
                                            </p:txEl>
                                          </p:spTgt>
                                        </p:tgtEl>
                                        <p:attrNameLst>
                                          <p:attrName>style.visibility</p:attrName>
                                        </p:attrNameLst>
                                      </p:cBhvr>
                                      <p:to>
                                        <p:strVal val="visible"/>
                                      </p:to>
                                    </p:set>
                                    <p:animEffect transition="in" filter="wipe(up)">
                                      <p:cBhvr>
                                        <p:cTn id="12" dur="1000"/>
                                        <p:tgtEl>
                                          <p:spTgt spid="62054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20548">
                                            <p:txEl>
                                              <p:pRg st="1" end="1"/>
                                            </p:txEl>
                                          </p:spTgt>
                                        </p:tgtEl>
                                        <p:attrNameLst>
                                          <p:attrName>style.visibility</p:attrName>
                                        </p:attrNameLst>
                                      </p:cBhvr>
                                      <p:to>
                                        <p:strVal val="visible"/>
                                      </p:to>
                                    </p:set>
                                    <p:animEffect transition="in" filter="wipe(up)">
                                      <p:cBhvr>
                                        <p:cTn id="17" dur="1000"/>
                                        <p:tgtEl>
                                          <p:spTgt spid="62054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20548">
                                            <p:txEl>
                                              <p:pRg st="2" end="2"/>
                                            </p:txEl>
                                          </p:spTgt>
                                        </p:tgtEl>
                                        <p:attrNameLst>
                                          <p:attrName>style.visibility</p:attrName>
                                        </p:attrNameLst>
                                      </p:cBhvr>
                                      <p:to>
                                        <p:strVal val="visible"/>
                                      </p:to>
                                    </p:set>
                                    <p:animEffect transition="in" filter="wipe(up)">
                                      <p:cBhvr>
                                        <p:cTn id="22" dur="1000"/>
                                        <p:tgtEl>
                                          <p:spTgt spid="62054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54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2" name="矩形 621571"/>
          <p:cNvSpPr/>
          <p:nvPr/>
        </p:nvSpPr>
        <p:spPr>
          <a:xfrm>
            <a:off x="395288" y="2276475"/>
            <a:ext cx="8280400" cy="38179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5000"/>
              </a:lnSpc>
              <a:spcBef>
                <a:spcPct val="0"/>
              </a:spcBef>
            </a:pPr>
            <a:r>
              <a:rPr lang="zh-CN" altLang="en-US" sz="2400" dirty="0"/>
              <a:t>            </a:t>
            </a:r>
            <a:r>
              <a:rPr lang="zh-CN" altLang="en-US" sz="2700" b="0" dirty="0">
                <a:solidFill>
                  <a:srgbClr val="003366"/>
                </a:solidFill>
                <a:effectLst/>
                <a:ea typeface="黑体" panose="02010609060101010101" pitchFamily="2" charset="-122"/>
              </a:rPr>
              <a:t>基本方法：</a:t>
            </a:r>
            <a:r>
              <a:rPr lang="zh-CN" altLang="en-US" sz="2700" dirty="0"/>
              <a:t>从涉及的各种文档资料中收集、分析和整理建立数据库所需的数据信息，并通过必要的个别交谈咨询和问卷调研等措施，完善收集和整理的数据信息。</a:t>
            </a:r>
          </a:p>
          <a:p>
            <a:pPr lvl="0">
              <a:lnSpc>
                <a:spcPct val="135000"/>
              </a:lnSpc>
              <a:spcBef>
                <a:spcPct val="0"/>
              </a:spcBef>
            </a:pPr>
            <a:r>
              <a:rPr lang="zh-CN" altLang="en-US" sz="2700" dirty="0"/>
              <a:t>          </a:t>
            </a:r>
            <a:r>
              <a:rPr lang="zh-CN" altLang="en-US" sz="2700" b="0" dirty="0">
                <a:solidFill>
                  <a:srgbClr val="003366"/>
                </a:solidFill>
                <a:effectLst/>
                <a:ea typeface="黑体" panose="02010609060101010101" pitchFamily="2" charset="-122"/>
              </a:rPr>
              <a:t>成果标志：</a:t>
            </a:r>
            <a:r>
              <a:rPr lang="zh-CN" altLang="en-US" sz="2700" dirty="0"/>
              <a:t>完成数据字典的编制。</a:t>
            </a:r>
            <a:r>
              <a:rPr lang="zh-CN" altLang="en-US" dirty="0"/>
              <a:t> </a:t>
            </a:r>
          </a:p>
        </p:txBody>
      </p:sp>
      <p:sp>
        <p:nvSpPr>
          <p:cNvPr id="621573" name="矩形 621572"/>
          <p:cNvSpPr/>
          <p:nvPr/>
        </p:nvSpPr>
        <p:spPr>
          <a:xfrm>
            <a:off x="395288" y="1125538"/>
            <a:ext cx="8280400" cy="11509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15000"/>
              </a:lnSpc>
              <a:spcBef>
                <a:spcPct val="15000"/>
              </a:spcBef>
            </a:pPr>
            <a:r>
              <a:rPr lang="zh-CN" altLang="en-US" sz="2900" dirty="0"/>
              <a:t>          </a:t>
            </a:r>
            <a:r>
              <a:rPr lang="en-US" altLang="zh-CN" sz="2900">
                <a:solidFill>
                  <a:srgbClr val="660033"/>
                </a:solidFill>
                <a:ea typeface="华文新魏" panose="02010800040101010101" pitchFamily="2" charset="-122"/>
              </a:rPr>
              <a:t>2</a:t>
            </a:r>
            <a:r>
              <a:rPr lang="zh-CN" altLang="en-US" sz="2900" dirty="0">
                <a:solidFill>
                  <a:srgbClr val="660033"/>
                </a:solidFill>
                <a:ea typeface="华文新魏" panose="02010800040101010101" pitchFamily="2" charset="-122"/>
              </a:rPr>
              <a:t>、整理用户业务信息流动和处理的数据信息，建立描述数据信息的数据字典</a:t>
            </a:r>
            <a:r>
              <a:rPr lang="zh-CN" altLang="en-US" dirty="0"/>
              <a:t> </a:t>
            </a:r>
          </a:p>
        </p:txBody>
      </p:sp>
      <p:sp>
        <p:nvSpPr>
          <p:cNvPr id="621574" name="矩形 62157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58415"/>
    </mc:Choice>
    <mc:Fallback xmlns="">
      <p:transition spd="slow" advTm="584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21572"/>
                                        </p:tgtEl>
                                        <p:attrNameLst>
                                          <p:attrName>style.visibility</p:attrName>
                                        </p:attrNameLst>
                                      </p:cBhvr>
                                      <p:to>
                                        <p:strVal val="visible"/>
                                      </p:to>
                                    </p:set>
                                    <p:animEffect transition="in" filter="box(in)">
                                      <p:cBhvr>
                                        <p:cTn id="7" dur="1000"/>
                                        <p:tgtEl>
                                          <p:spTgt spid="621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57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6" name="矩形 622595"/>
          <p:cNvSpPr/>
          <p:nvPr/>
        </p:nvSpPr>
        <p:spPr>
          <a:xfrm>
            <a:off x="395288" y="2276475"/>
            <a:ext cx="8280400" cy="38179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spcBef>
                <a:spcPct val="0"/>
              </a:spcBef>
            </a:pPr>
            <a:r>
              <a:rPr lang="zh-CN" altLang="en-US" sz="2400" dirty="0"/>
              <a:t>           </a:t>
            </a:r>
            <a:r>
              <a:rPr lang="zh-CN" altLang="en-US" sz="2500" dirty="0">
                <a:solidFill>
                  <a:srgbClr val="CC0000"/>
                </a:solidFill>
              </a:rPr>
              <a:t>① </a:t>
            </a:r>
            <a:r>
              <a:rPr lang="zh-CN" altLang="en-US" sz="2500" dirty="0"/>
              <a:t>进一步了解和细化用户组织中各个业务部门的信息处理要求，也即他们希望从数据库中获得哪些信息，要获取的信息包括哪些具体内容；希望数据库应用系统完成什么样的处理功能，对数据的处理方式和响应时间有什么样的要求。</a:t>
            </a:r>
            <a:r>
              <a:rPr lang="zh-CN" altLang="en-US" dirty="0"/>
              <a:t> </a:t>
            </a:r>
            <a:endParaRPr lang="zh-CN" altLang="en-US" sz="2500" dirty="0"/>
          </a:p>
          <a:p>
            <a:pPr lvl="0">
              <a:spcBef>
                <a:spcPct val="0"/>
              </a:spcBef>
            </a:pPr>
            <a:r>
              <a:rPr lang="zh-CN" altLang="en-US" sz="2500" dirty="0">
                <a:solidFill>
                  <a:srgbClr val="CC0000"/>
                </a:solidFill>
              </a:rPr>
              <a:t>          ② </a:t>
            </a:r>
            <a:r>
              <a:rPr lang="zh-CN" altLang="en-US" sz="2500" dirty="0">
                <a:solidFill>
                  <a:srgbClr val="003366"/>
                </a:solidFill>
              </a:rPr>
              <a:t>进而根据计算机目前的处理能力来确定系统应实现的功能和所应具有的性能。</a:t>
            </a:r>
            <a:r>
              <a:rPr lang="zh-CN" altLang="en-US" dirty="0"/>
              <a:t> </a:t>
            </a:r>
          </a:p>
        </p:txBody>
      </p:sp>
      <p:sp>
        <p:nvSpPr>
          <p:cNvPr id="622597" name="矩形 622596"/>
          <p:cNvSpPr/>
          <p:nvPr/>
        </p:nvSpPr>
        <p:spPr>
          <a:xfrm>
            <a:off x="395288" y="1125538"/>
            <a:ext cx="8280400" cy="11509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15000"/>
              </a:lnSpc>
              <a:spcBef>
                <a:spcPct val="15000"/>
              </a:spcBef>
            </a:pPr>
            <a:r>
              <a:rPr lang="zh-CN" altLang="en-US" sz="2900" dirty="0"/>
              <a:t>          </a:t>
            </a:r>
            <a:r>
              <a:rPr lang="en-US" altLang="zh-CN" sz="2900">
                <a:solidFill>
                  <a:srgbClr val="660033"/>
                </a:solidFill>
                <a:ea typeface="华文新魏" panose="02010800040101010101" pitchFamily="2" charset="-122"/>
              </a:rPr>
              <a:t>3</a:t>
            </a:r>
            <a:r>
              <a:rPr lang="zh-CN" altLang="en-US" sz="2900" dirty="0">
                <a:solidFill>
                  <a:srgbClr val="660033"/>
                </a:solidFill>
                <a:ea typeface="华文新魏" panose="02010800040101010101" pitchFamily="2" charset="-122"/>
              </a:rPr>
              <a:t>、分析用户的信息处理要求，确定系统的信息管理和系统处理功能</a:t>
            </a:r>
            <a:r>
              <a:rPr lang="zh-CN" altLang="en-US" dirty="0"/>
              <a:t> </a:t>
            </a:r>
          </a:p>
        </p:txBody>
      </p:sp>
      <p:sp>
        <p:nvSpPr>
          <p:cNvPr id="622598" name="矩形 62259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31873"/>
    </mc:Choice>
    <mc:Fallback xmlns="">
      <p:transition spd="slow" advTm="1318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22597"/>
                                        </p:tgtEl>
                                        <p:attrNameLst>
                                          <p:attrName>style.visibility</p:attrName>
                                        </p:attrNameLst>
                                      </p:cBhvr>
                                      <p:to>
                                        <p:strVal val="visible"/>
                                      </p:to>
                                    </p:set>
                                    <p:animEffect transition="in" filter="wipe(up)">
                                      <p:cBhvr>
                                        <p:cTn id="7" dur="1000"/>
                                        <p:tgtEl>
                                          <p:spTgt spid="62259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22596">
                                            <p:txEl>
                                              <p:pRg st="0" end="0"/>
                                            </p:txEl>
                                          </p:spTgt>
                                        </p:tgtEl>
                                        <p:attrNameLst>
                                          <p:attrName>style.visibility</p:attrName>
                                        </p:attrNameLst>
                                      </p:cBhvr>
                                      <p:to>
                                        <p:strVal val="visible"/>
                                      </p:to>
                                    </p:set>
                                    <p:animEffect transition="in" filter="wipe(up)">
                                      <p:cBhvr>
                                        <p:cTn id="12" dur="1000"/>
                                        <p:tgtEl>
                                          <p:spTgt spid="62259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22596">
                                            <p:txEl>
                                              <p:pRg st="1" end="1"/>
                                            </p:txEl>
                                          </p:spTgt>
                                        </p:tgtEl>
                                        <p:attrNameLst>
                                          <p:attrName>style.visibility</p:attrName>
                                        </p:attrNameLst>
                                      </p:cBhvr>
                                      <p:to>
                                        <p:strVal val="visible"/>
                                      </p:to>
                                    </p:set>
                                    <p:animEffect transition="in" filter="wipe(up)">
                                      <p:cBhvr>
                                        <p:cTn id="17" dur="1000"/>
                                        <p:tgtEl>
                                          <p:spTgt spid="62259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259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20" name="矩形 623619"/>
          <p:cNvSpPr/>
          <p:nvPr/>
        </p:nvSpPr>
        <p:spPr>
          <a:xfrm>
            <a:off x="395288" y="2276475"/>
            <a:ext cx="8280400" cy="38179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5000"/>
              </a:lnSpc>
              <a:spcBef>
                <a:spcPct val="0"/>
              </a:spcBef>
            </a:pPr>
            <a:r>
              <a:rPr lang="zh-CN" altLang="en-US" sz="2400" dirty="0"/>
              <a:t>           </a:t>
            </a:r>
            <a:r>
              <a:rPr lang="zh-CN" altLang="en-US" sz="2700" b="0" dirty="0">
                <a:solidFill>
                  <a:srgbClr val="003366"/>
                </a:solidFill>
                <a:effectLst/>
                <a:ea typeface="黑体" panose="02010609060101010101" pitchFamily="2" charset="-122"/>
              </a:rPr>
              <a:t>基本方法：</a:t>
            </a:r>
            <a:r>
              <a:rPr lang="zh-CN" altLang="en-US" sz="2700" dirty="0"/>
              <a:t>查阅业务处理记录和档案资料，个别交谈询问和集体座谈交流，进行必要的跟班作业。</a:t>
            </a:r>
          </a:p>
          <a:p>
            <a:pPr lvl="0">
              <a:lnSpc>
                <a:spcPct val="135000"/>
              </a:lnSpc>
              <a:spcBef>
                <a:spcPct val="0"/>
              </a:spcBef>
            </a:pPr>
            <a:r>
              <a:rPr lang="zh-CN" altLang="en-US" sz="2700" dirty="0"/>
              <a:t>          </a:t>
            </a:r>
            <a:r>
              <a:rPr lang="zh-CN" altLang="en-US" sz="2700" b="0" dirty="0">
                <a:solidFill>
                  <a:srgbClr val="003366"/>
                </a:solidFill>
                <a:effectLst/>
                <a:ea typeface="黑体" panose="02010609060101010101" pitchFamily="2" charset="-122"/>
              </a:rPr>
              <a:t>分析的结果：</a:t>
            </a:r>
            <a:r>
              <a:rPr lang="zh-CN" altLang="en-US" sz="2700" dirty="0"/>
              <a:t>以文档形式描述的系统功能需求列表、系统性能要求列表和必要的辅助说明信息。 </a:t>
            </a:r>
          </a:p>
        </p:txBody>
      </p:sp>
      <p:sp>
        <p:nvSpPr>
          <p:cNvPr id="623621" name="矩形 623620"/>
          <p:cNvSpPr/>
          <p:nvPr/>
        </p:nvSpPr>
        <p:spPr>
          <a:xfrm>
            <a:off x="395288" y="1125538"/>
            <a:ext cx="8280400" cy="11509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15000"/>
              </a:lnSpc>
              <a:spcBef>
                <a:spcPct val="15000"/>
              </a:spcBef>
            </a:pPr>
            <a:r>
              <a:rPr lang="zh-CN" altLang="en-US" sz="2900" dirty="0"/>
              <a:t>          </a:t>
            </a:r>
            <a:r>
              <a:rPr lang="en-US" altLang="zh-CN" sz="2900">
                <a:solidFill>
                  <a:srgbClr val="660033"/>
                </a:solidFill>
                <a:ea typeface="华文新魏" panose="02010800040101010101" pitchFamily="2" charset="-122"/>
              </a:rPr>
              <a:t>3</a:t>
            </a:r>
            <a:r>
              <a:rPr lang="zh-CN" altLang="en-US" sz="2900" dirty="0">
                <a:solidFill>
                  <a:srgbClr val="660033"/>
                </a:solidFill>
                <a:ea typeface="华文新魏" panose="02010800040101010101" pitchFamily="2" charset="-122"/>
              </a:rPr>
              <a:t>、分析用户的信息处理要求，确定系统的信息管理和系统处理功能</a:t>
            </a:r>
            <a:r>
              <a:rPr lang="zh-CN" altLang="en-US" dirty="0"/>
              <a:t> </a:t>
            </a:r>
          </a:p>
        </p:txBody>
      </p:sp>
      <p:sp>
        <p:nvSpPr>
          <p:cNvPr id="623622" name="矩形 623621"/>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45560"/>
    </mc:Choice>
    <mc:Fallback xmlns="">
      <p:transition spd="slow" advTm="455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afterEffect">
                                  <p:stCondLst>
                                    <p:cond delay="0"/>
                                  </p:stCondLst>
                                  <p:childTnLst>
                                    <p:set>
                                      <p:cBhvr>
                                        <p:cTn id="6" dur="1" fill="hold">
                                          <p:stCondLst>
                                            <p:cond delay="0"/>
                                          </p:stCondLst>
                                        </p:cTn>
                                        <p:tgtEl>
                                          <p:spTgt spid="623620"/>
                                        </p:tgtEl>
                                        <p:attrNameLst>
                                          <p:attrName>style.visibility</p:attrName>
                                        </p:attrNameLst>
                                      </p:cBhvr>
                                      <p:to>
                                        <p:strVal val="visible"/>
                                      </p:to>
                                    </p:set>
                                    <p:animEffect transition="in" filter="box(in)">
                                      <p:cBhvr>
                                        <p:cTn id="7" dur="1000"/>
                                        <p:tgtEl>
                                          <p:spTgt spid="6236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36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44" name="矩形 624643"/>
          <p:cNvSpPr/>
          <p:nvPr/>
        </p:nvSpPr>
        <p:spPr>
          <a:xfrm>
            <a:off x="395288" y="2276475"/>
            <a:ext cx="8280400" cy="38179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5000"/>
              </a:lnSpc>
              <a:spcBef>
                <a:spcPct val="0"/>
              </a:spcBef>
            </a:pPr>
            <a:r>
              <a:rPr lang="zh-CN" altLang="en-US" dirty="0"/>
              <a:t>          </a:t>
            </a:r>
            <a:r>
              <a:rPr lang="zh-CN" altLang="en-US" sz="2700" dirty="0"/>
              <a:t>调研了解用户组织的机构组成、各个部门的职责及其相互关系、各个部门的规模和地理分布范围等信息，为系统网络环境及体系结构、系统硬件环境及性能要求、系统的软件环境配置及开发工具需求等的确定提供依据。</a:t>
            </a:r>
            <a:r>
              <a:rPr lang="zh-CN" altLang="en-US" dirty="0"/>
              <a:t> </a:t>
            </a:r>
          </a:p>
        </p:txBody>
      </p:sp>
      <p:sp>
        <p:nvSpPr>
          <p:cNvPr id="624645" name="矩形 624644"/>
          <p:cNvSpPr/>
          <p:nvPr/>
        </p:nvSpPr>
        <p:spPr>
          <a:xfrm>
            <a:off x="395288" y="1125538"/>
            <a:ext cx="8280400" cy="11509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15000"/>
              </a:lnSpc>
              <a:spcBef>
                <a:spcPct val="15000"/>
              </a:spcBef>
            </a:pPr>
            <a:r>
              <a:rPr lang="zh-CN" altLang="en-US" sz="2900" dirty="0"/>
              <a:t>          </a:t>
            </a:r>
            <a:r>
              <a:rPr lang="en-US" altLang="zh-CN" sz="2900">
                <a:solidFill>
                  <a:srgbClr val="660033"/>
                </a:solidFill>
                <a:ea typeface="华文新魏" panose="02010800040101010101" pitchFamily="2" charset="-122"/>
              </a:rPr>
              <a:t>4</a:t>
            </a:r>
            <a:r>
              <a:rPr lang="zh-CN" altLang="en-US" sz="2900" dirty="0">
                <a:solidFill>
                  <a:srgbClr val="660033"/>
                </a:solidFill>
                <a:ea typeface="华文新魏" panose="02010800040101010101" pitchFamily="2" charset="-122"/>
              </a:rPr>
              <a:t>、调研用户组织的机构组成和地理分布，初步确定系统的软硬环境配置方案</a:t>
            </a:r>
            <a:r>
              <a:rPr lang="zh-CN" altLang="en-US" dirty="0"/>
              <a:t> </a:t>
            </a:r>
          </a:p>
        </p:txBody>
      </p:sp>
      <p:sp>
        <p:nvSpPr>
          <p:cNvPr id="624646" name="矩形 624645"/>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0092"/>
    </mc:Choice>
    <mc:Fallback xmlns="">
      <p:transition spd="slow" advTm="500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24645"/>
                                        </p:tgtEl>
                                        <p:attrNameLst>
                                          <p:attrName>style.visibility</p:attrName>
                                        </p:attrNameLst>
                                      </p:cBhvr>
                                      <p:to>
                                        <p:strVal val="visible"/>
                                      </p:to>
                                    </p:set>
                                    <p:animEffect transition="in" filter="wipe(up)">
                                      <p:cBhvr>
                                        <p:cTn id="7" dur="1000"/>
                                        <p:tgtEl>
                                          <p:spTgt spid="62464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24644"/>
                                        </p:tgtEl>
                                        <p:attrNameLst>
                                          <p:attrName>style.visibility</p:attrName>
                                        </p:attrNameLst>
                                      </p:cBhvr>
                                      <p:to>
                                        <p:strVal val="visible"/>
                                      </p:to>
                                    </p:set>
                                    <p:animEffect transition="in" filter="diamond(out)">
                                      <p:cBhvr>
                                        <p:cTn id="12" dur="1000"/>
                                        <p:tgtEl>
                                          <p:spTgt spid="6246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44" grpId="0"/>
      <p:bldP spid="62464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8" name="矩形 625667"/>
          <p:cNvSpPr/>
          <p:nvPr/>
        </p:nvSpPr>
        <p:spPr>
          <a:xfrm>
            <a:off x="395288" y="2276475"/>
            <a:ext cx="8280400" cy="3817938"/>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5000"/>
              </a:lnSpc>
              <a:spcBef>
                <a:spcPct val="0"/>
              </a:spcBef>
            </a:pPr>
            <a:r>
              <a:rPr lang="zh-CN" altLang="en-US" dirty="0"/>
              <a:t>          </a:t>
            </a:r>
            <a:r>
              <a:rPr lang="zh-CN" altLang="en-US" sz="2700" b="0" dirty="0">
                <a:solidFill>
                  <a:srgbClr val="003366"/>
                </a:solidFill>
                <a:effectLst/>
                <a:ea typeface="黑体" panose="02010609060101010101" pitchFamily="2" charset="-122"/>
              </a:rPr>
              <a:t>基本方法：</a:t>
            </a:r>
            <a:r>
              <a:rPr lang="zh-CN" altLang="en-US" sz="2700" dirty="0"/>
              <a:t>与该用户组织中的有关领导和业务主管进行座谈，索取和收集相关的文档资料。在调研了解的基础上，勾画出一张能够比较全面反映该用户组织机构及其相互关系的组织机构层次方框图。 </a:t>
            </a:r>
          </a:p>
        </p:txBody>
      </p:sp>
      <p:sp>
        <p:nvSpPr>
          <p:cNvPr id="625669" name="矩形 625668"/>
          <p:cNvSpPr/>
          <p:nvPr/>
        </p:nvSpPr>
        <p:spPr>
          <a:xfrm>
            <a:off x="395288" y="1125538"/>
            <a:ext cx="8280400" cy="11509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15000"/>
              </a:lnSpc>
              <a:spcBef>
                <a:spcPct val="15000"/>
              </a:spcBef>
            </a:pPr>
            <a:r>
              <a:rPr lang="zh-CN" altLang="en-US" sz="2900" dirty="0"/>
              <a:t>          </a:t>
            </a:r>
            <a:r>
              <a:rPr lang="en-US" altLang="zh-CN" sz="2900">
                <a:solidFill>
                  <a:srgbClr val="660033"/>
                </a:solidFill>
                <a:ea typeface="华文新魏" panose="02010800040101010101" pitchFamily="2" charset="-122"/>
              </a:rPr>
              <a:t>4</a:t>
            </a:r>
            <a:r>
              <a:rPr lang="zh-CN" altLang="en-US" sz="2900" dirty="0">
                <a:solidFill>
                  <a:srgbClr val="660033"/>
                </a:solidFill>
                <a:ea typeface="华文新魏" panose="02010800040101010101" pitchFamily="2" charset="-122"/>
              </a:rPr>
              <a:t>、调研用户组织的机构组成和地理分布，初步确定系统的软硬环境配置方案</a:t>
            </a:r>
            <a:r>
              <a:rPr lang="zh-CN" altLang="en-US" dirty="0"/>
              <a:t> </a:t>
            </a:r>
          </a:p>
        </p:txBody>
      </p:sp>
      <p:sp>
        <p:nvSpPr>
          <p:cNvPr id="625670" name="矩形 62566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62548"/>
    </mc:Choice>
    <mc:Fallback xmlns="">
      <p:transition spd="slow" advTm="625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grpId="0" nodeType="afterEffect">
                                  <p:stCondLst>
                                    <p:cond delay="0"/>
                                  </p:stCondLst>
                                  <p:childTnLst>
                                    <p:set>
                                      <p:cBhvr>
                                        <p:cTn id="6" dur="1" fill="hold">
                                          <p:stCondLst>
                                            <p:cond delay="0"/>
                                          </p:stCondLst>
                                        </p:cTn>
                                        <p:tgtEl>
                                          <p:spTgt spid="625668"/>
                                        </p:tgtEl>
                                        <p:attrNameLst>
                                          <p:attrName>style.visibility</p:attrName>
                                        </p:attrNameLst>
                                      </p:cBhvr>
                                      <p:to>
                                        <p:strVal val="visible"/>
                                      </p:to>
                                    </p:set>
                                    <p:animEffect transition="in" filter="diamond(in)">
                                      <p:cBhvr>
                                        <p:cTn id="7" dur="1000"/>
                                        <p:tgtEl>
                                          <p:spTgt spid="6256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566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4725" name="组合 414724"/>
          <p:cNvGrpSpPr/>
          <p:nvPr/>
        </p:nvGrpSpPr>
        <p:grpSpPr>
          <a:xfrm>
            <a:off x="827088" y="1412875"/>
            <a:ext cx="7391400" cy="3886200"/>
            <a:chOff x="576" y="576"/>
            <a:chExt cx="4656" cy="2448"/>
          </a:xfrm>
        </p:grpSpPr>
        <p:sp>
          <p:nvSpPr>
            <p:cNvPr id="414726" name="文本框 414725"/>
            <p:cNvSpPr txBox="1"/>
            <p:nvPr/>
          </p:nvSpPr>
          <p:spPr>
            <a:xfrm>
              <a:off x="2544" y="576"/>
              <a:ext cx="1143"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en-US" altLang="zh-CN" b="1">
                  <a:latin typeface="Times New Roman" panose="02020603050405020304" pitchFamily="18" charset="0"/>
                </a:rPr>
                <a:t>XX</a:t>
              </a:r>
              <a:r>
                <a:rPr lang="zh-CN" altLang="en-US" b="1" dirty="0">
                  <a:latin typeface="Times New Roman" panose="02020603050405020304" pitchFamily="18" charset="0"/>
                </a:rPr>
                <a:t>大学教务部</a:t>
              </a:r>
              <a:endParaRPr lang="zh-CN" altLang="en-US" b="1" dirty="0">
                <a:latin typeface="Arial" panose="020B0604020202020204" pitchFamily="34" charset="0"/>
              </a:endParaRPr>
            </a:p>
          </p:txBody>
        </p:sp>
        <p:sp>
          <p:nvSpPr>
            <p:cNvPr id="414727" name="文本框 414726"/>
            <p:cNvSpPr txBox="1"/>
            <p:nvPr/>
          </p:nvSpPr>
          <p:spPr>
            <a:xfrm>
              <a:off x="1114" y="2097"/>
              <a:ext cx="615"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教务处</a:t>
              </a:r>
              <a:endParaRPr lang="zh-CN" altLang="en-US" b="1" dirty="0">
                <a:latin typeface="Arial" panose="020B0604020202020204" pitchFamily="34" charset="0"/>
              </a:endParaRPr>
            </a:p>
          </p:txBody>
        </p:sp>
        <p:sp>
          <p:nvSpPr>
            <p:cNvPr id="414728" name="文本框 414727"/>
            <p:cNvSpPr txBox="1"/>
            <p:nvPr/>
          </p:nvSpPr>
          <p:spPr>
            <a:xfrm>
              <a:off x="4310" y="2101"/>
              <a:ext cx="863"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继续教育处</a:t>
              </a:r>
              <a:endParaRPr lang="zh-CN" altLang="en-US" b="1" dirty="0">
                <a:latin typeface="Arial" panose="020B0604020202020204" pitchFamily="34" charset="0"/>
              </a:endParaRPr>
            </a:p>
          </p:txBody>
        </p:sp>
        <p:sp>
          <p:nvSpPr>
            <p:cNvPr id="414729" name="文本框 414728"/>
            <p:cNvSpPr txBox="1"/>
            <p:nvPr/>
          </p:nvSpPr>
          <p:spPr>
            <a:xfrm>
              <a:off x="576" y="2703"/>
              <a:ext cx="615"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计划办</a:t>
              </a:r>
              <a:endParaRPr lang="zh-CN" altLang="en-US" b="1" dirty="0">
                <a:latin typeface="Arial" panose="020B0604020202020204" pitchFamily="34" charset="0"/>
              </a:endParaRPr>
            </a:p>
          </p:txBody>
        </p:sp>
        <p:sp>
          <p:nvSpPr>
            <p:cNvPr id="414730" name="文本框 414729"/>
            <p:cNvSpPr txBox="1"/>
            <p:nvPr/>
          </p:nvSpPr>
          <p:spPr>
            <a:xfrm>
              <a:off x="3018" y="2703"/>
              <a:ext cx="615"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培养办</a:t>
              </a:r>
              <a:endParaRPr lang="zh-CN" altLang="en-US" b="1" dirty="0">
                <a:latin typeface="Arial" panose="020B0604020202020204" pitchFamily="34" charset="0"/>
              </a:endParaRPr>
            </a:p>
          </p:txBody>
        </p:sp>
        <p:sp>
          <p:nvSpPr>
            <p:cNvPr id="414731" name="直接连接符 414730"/>
            <p:cNvSpPr/>
            <p:nvPr/>
          </p:nvSpPr>
          <p:spPr>
            <a:xfrm>
              <a:off x="927" y="2557"/>
              <a:ext cx="861" cy="0"/>
            </a:xfrm>
            <a:prstGeom prst="line">
              <a:avLst/>
            </a:prstGeom>
            <a:ln w="9525" cap="flat" cmpd="sng">
              <a:solidFill>
                <a:srgbClr val="000000"/>
              </a:solidFill>
              <a:prstDash val="solid"/>
              <a:headEnd type="none" w="med" len="med"/>
              <a:tailEnd type="none" w="med" len="med"/>
            </a:ln>
          </p:spPr>
        </p:sp>
        <p:sp>
          <p:nvSpPr>
            <p:cNvPr id="414732" name="文本框 414731"/>
            <p:cNvSpPr txBox="1"/>
            <p:nvPr/>
          </p:nvSpPr>
          <p:spPr>
            <a:xfrm>
              <a:off x="3387" y="2101"/>
              <a:ext cx="738"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研究生处</a:t>
              </a:r>
              <a:endParaRPr lang="zh-CN" altLang="en-US" b="1" dirty="0">
                <a:latin typeface="Arial" panose="020B0604020202020204" pitchFamily="34" charset="0"/>
              </a:endParaRPr>
            </a:p>
          </p:txBody>
        </p:sp>
        <p:sp>
          <p:nvSpPr>
            <p:cNvPr id="414733" name="文本框 414732"/>
            <p:cNvSpPr txBox="1"/>
            <p:nvPr/>
          </p:nvSpPr>
          <p:spPr>
            <a:xfrm>
              <a:off x="2219" y="2101"/>
              <a:ext cx="615"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教保处</a:t>
              </a:r>
              <a:endParaRPr lang="zh-CN" altLang="en-US" b="1" dirty="0">
                <a:latin typeface="Arial" panose="020B0604020202020204" pitchFamily="34" charset="0"/>
              </a:endParaRPr>
            </a:p>
          </p:txBody>
        </p:sp>
        <p:sp>
          <p:nvSpPr>
            <p:cNvPr id="414734" name="文本框 414733"/>
            <p:cNvSpPr txBox="1"/>
            <p:nvPr/>
          </p:nvSpPr>
          <p:spPr>
            <a:xfrm>
              <a:off x="2772" y="1041"/>
              <a:ext cx="738" cy="320"/>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教务长</a:t>
              </a:r>
              <a:endParaRPr lang="zh-CN" altLang="en-US" b="1" dirty="0">
                <a:latin typeface="Arial" panose="020B0604020202020204" pitchFamily="34" charset="0"/>
              </a:endParaRPr>
            </a:p>
          </p:txBody>
        </p:sp>
        <p:sp>
          <p:nvSpPr>
            <p:cNvPr id="414735" name="文本框 414734"/>
            <p:cNvSpPr txBox="1"/>
            <p:nvPr/>
          </p:nvSpPr>
          <p:spPr>
            <a:xfrm>
              <a:off x="1050" y="1616"/>
              <a:ext cx="861" cy="320"/>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主管副部长</a:t>
              </a:r>
            </a:p>
          </p:txBody>
        </p:sp>
        <p:sp>
          <p:nvSpPr>
            <p:cNvPr id="414736" name="文本框 414735"/>
            <p:cNvSpPr txBox="1"/>
            <p:nvPr/>
          </p:nvSpPr>
          <p:spPr>
            <a:xfrm>
              <a:off x="4371" y="1616"/>
              <a:ext cx="861" cy="320"/>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主管副部长</a:t>
              </a:r>
              <a:endParaRPr lang="zh-CN" altLang="en-US" b="1" dirty="0">
                <a:latin typeface="Arial" panose="020B0604020202020204" pitchFamily="34" charset="0"/>
              </a:endParaRPr>
            </a:p>
          </p:txBody>
        </p:sp>
        <p:sp>
          <p:nvSpPr>
            <p:cNvPr id="414737" name="文本框 414736"/>
            <p:cNvSpPr txBox="1"/>
            <p:nvPr/>
          </p:nvSpPr>
          <p:spPr>
            <a:xfrm>
              <a:off x="2157" y="1616"/>
              <a:ext cx="861" cy="320"/>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主管副部长</a:t>
              </a:r>
              <a:endParaRPr lang="zh-CN" altLang="en-US" b="1" dirty="0">
                <a:latin typeface="Arial" panose="020B0604020202020204" pitchFamily="34" charset="0"/>
              </a:endParaRPr>
            </a:p>
          </p:txBody>
        </p:sp>
        <p:sp>
          <p:nvSpPr>
            <p:cNvPr id="414738" name="文本框 414737"/>
            <p:cNvSpPr txBox="1"/>
            <p:nvPr/>
          </p:nvSpPr>
          <p:spPr>
            <a:xfrm>
              <a:off x="1296" y="2703"/>
              <a:ext cx="861"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教学实施办</a:t>
              </a:r>
              <a:endParaRPr lang="zh-CN" altLang="en-US" b="1" dirty="0">
                <a:latin typeface="Arial" panose="020B0604020202020204" pitchFamily="34" charset="0"/>
              </a:endParaRPr>
            </a:p>
          </p:txBody>
        </p:sp>
        <p:sp>
          <p:nvSpPr>
            <p:cNvPr id="414739" name="文本框 414738"/>
            <p:cNvSpPr txBox="1"/>
            <p:nvPr/>
          </p:nvSpPr>
          <p:spPr>
            <a:xfrm>
              <a:off x="3756" y="2703"/>
              <a:ext cx="615"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学位办</a:t>
              </a:r>
              <a:endParaRPr lang="zh-CN" altLang="en-US" b="1" dirty="0">
                <a:latin typeface="Arial" panose="020B0604020202020204" pitchFamily="34" charset="0"/>
              </a:endParaRPr>
            </a:p>
          </p:txBody>
        </p:sp>
        <p:sp>
          <p:nvSpPr>
            <p:cNvPr id="414740" name="直接连接符 414739"/>
            <p:cNvSpPr/>
            <p:nvPr/>
          </p:nvSpPr>
          <p:spPr>
            <a:xfrm>
              <a:off x="3141" y="897"/>
              <a:ext cx="0" cy="144"/>
            </a:xfrm>
            <a:prstGeom prst="line">
              <a:avLst/>
            </a:prstGeom>
            <a:ln w="9525" cap="flat" cmpd="sng">
              <a:solidFill>
                <a:srgbClr val="000000"/>
              </a:solidFill>
              <a:prstDash val="solid"/>
              <a:headEnd type="none" w="med" len="med"/>
              <a:tailEnd type="none" w="med" len="med"/>
            </a:ln>
          </p:spPr>
        </p:sp>
        <p:sp>
          <p:nvSpPr>
            <p:cNvPr id="414741" name="直接连接符 414740"/>
            <p:cNvSpPr/>
            <p:nvPr/>
          </p:nvSpPr>
          <p:spPr>
            <a:xfrm>
              <a:off x="3141" y="1365"/>
              <a:ext cx="0" cy="100"/>
            </a:xfrm>
            <a:prstGeom prst="line">
              <a:avLst/>
            </a:prstGeom>
            <a:ln w="9525" cap="flat" cmpd="sng">
              <a:solidFill>
                <a:srgbClr val="000000"/>
              </a:solidFill>
              <a:prstDash val="solid"/>
              <a:headEnd type="none" w="med" len="med"/>
              <a:tailEnd type="none" w="med" len="med"/>
            </a:ln>
          </p:spPr>
        </p:sp>
        <p:sp>
          <p:nvSpPr>
            <p:cNvPr id="414742" name="文本框 414741"/>
            <p:cNvSpPr txBox="1"/>
            <p:nvPr/>
          </p:nvSpPr>
          <p:spPr>
            <a:xfrm>
              <a:off x="3264" y="1616"/>
              <a:ext cx="861" cy="320"/>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主管副部长</a:t>
              </a:r>
              <a:endParaRPr lang="zh-CN" altLang="en-US" b="1" dirty="0">
                <a:latin typeface="Arial" panose="020B0604020202020204" pitchFamily="34" charset="0"/>
              </a:endParaRPr>
            </a:p>
          </p:txBody>
        </p:sp>
        <p:sp>
          <p:nvSpPr>
            <p:cNvPr id="414743" name="直接连接符 414742"/>
            <p:cNvSpPr/>
            <p:nvPr/>
          </p:nvSpPr>
          <p:spPr>
            <a:xfrm>
              <a:off x="1419" y="1472"/>
              <a:ext cx="3444" cy="0"/>
            </a:xfrm>
            <a:prstGeom prst="line">
              <a:avLst/>
            </a:prstGeom>
            <a:ln w="9525" cap="flat" cmpd="sng">
              <a:solidFill>
                <a:srgbClr val="000000"/>
              </a:solidFill>
              <a:prstDash val="solid"/>
              <a:headEnd type="none" w="med" len="med"/>
              <a:tailEnd type="none" w="med" len="med"/>
            </a:ln>
          </p:spPr>
        </p:sp>
        <p:sp>
          <p:nvSpPr>
            <p:cNvPr id="414744" name="直接连接符 414743"/>
            <p:cNvSpPr/>
            <p:nvPr/>
          </p:nvSpPr>
          <p:spPr>
            <a:xfrm>
              <a:off x="2526" y="1472"/>
              <a:ext cx="0" cy="144"/>
            </a:xfrm>
            <a:prstGeom prst="line">
              <a:avLst/>
            </a:prstGeom>
            <a:ln w="9525" cap="flat" cmpd="sng">
              <a:solidFill>
                <a:srgbClr val="000000"/>
              </a:solidFill>
              <a:prstDash val="solid"/>
              <a:headEnd type="none" w="med" len="med"/>
              <a:tailEnd type="none" w="med" len="med"/>
            </a:ln>
          </p:spPr>
        </p:sp>
        <p:sp>
          <p:nvSpPr>
            <p:cNvPr id="414745" name="直接连接符 414744"/>
            <p:cNvSpPr/>
            <p:nvPr/>
          </p:nvSpPr>
          <p:spPr>
            <a:xfrm>
              <a:off x="3756" y="1472"/>
              <a:ext cx="0" cy="144"/>
            </a:xfrm>
            <a:prstGeom prst="line">
              <a:avLst/>
            </a:prstGeom>
            <a:ln w="9525" cap="flat" cmpd="sng">
              <a:solidFill>
                <a:srgbClr val="000000"/>
              </a:solidFill>
              <a:prstDash val="solid"/>
              <a:headEnd type="none" w="med" len="med"/>
              <a:tailEnd type="none" w="med" len="med"/>
            </a:ln>
          </p:spPr>
        </p:sp>
        <p:sp>
          <p:nvSpPr>
            <p:cNvPr id="414746" name="直接连接符 414745"/>
            <p:cNvSpPr/>
            <p:nvPr/>
          </p:nvSpPr>
          <p:spPr>
            <a:xfrm>
              <a:off x="4740" y="1472"/>
              <a:ext cx="0" cy="144"/>
            </a:xfrm>
            <a:prstGeom prst="line">
              <a:avLst/>
            </a:prstGeom>
            <a:ln w="9525" cap="flat" cmpd="sng">
              <a:solidFill>
                <a:srgbClr val="000000"/>
              </a:solidFill>
              <a:prstDash val="solid"/>
              <a:headEnd type="none" w="med" len="med"/>
              <a:tailEnd type="none" w="med" len="med"/>
            </a:ln>
          </p:spPr>
        </p:sp>
        <p:sp>
          <p:nvSpPr>
            <p:cNvPr id="414747" name="直接连接符 414746"/>
            <p:cNvSpPr/>
            <p:nvPr/>
          </p:nvSpPr>
          <p:spPr>
            <a:xfrm>
              <a:off x="1419" y="1472"/>
              <a:ext cx="0" cy="144"/>
            </a:xfrm>
            <a:prstGeom prst="line">
              <a:avLst/>
            </a:prstGeom>
            <a:ln w="9525" cap="flat" cmpd="sng">
              <a:solidFill>
                <a:srgbClr val="000000"/>
              </a:solidFill>
              <a:prstDash val="solid"/>
              <a:headEnd type="none" w="med" len="med"/>
              <a:tailEnd type="none" w="med" len="med"/>
            </a:ln>
          </p:spPr>
        </p:sp>
        <p:sp>
          <p:nvSpPr>
            <p:cNvPr id="414748" name="直接连接符 414747"/>
            <p:cNvSpPr/>
            <p:nvPr/>
          </p:nvSpPr>
          <p:spPr>
            <a:xfrm>
              <a:off x="4863" y="1472"/>
              <a:ext cx="246" cy="0"/>
            </a:xfrm>
            <a:prstGeom prst="line">
              <a:avLst/>
            </a:prstGeom>
            <a:ln w="9525" cap="flat" cmpd="sng">
              <a:solidFill>
                <a:srgbClr val="000000"/>
              </a:solidFill>
              <a:prstDash val="dash"/>
              <a:headEnd type="none" w="med" len="med"/>
              <a:tailEnd type="none" w="med" len="med"/>
            </a:ln>
          </p:spPr>
        </p:sp>
        <p:sp>
          <p:nvSpPr>
            <p:cNvPr id="414749" name="直接连接符 414748"/>
            <p:cNvSpPr/>
            <p:nvPr/>
          </p:nvSpPr>
          <p:spPr>
            <a:xfrm>
              <a:off x="1419" y="1940"/>
              <a:ext cx="0" cy="144"/>
            </a:xfrm>
            <a:prstGeom prst="line">
              <a:avLst/>
            </a:prstGeom>
            <a:ln w="9525" cap="flat" cmpd="sng">
              <a:solidFill>
                <a:srgbClr val="000000"/>
              </a:solidFill>
              <a:prstDash val="solid"/>
              <a:headEnd type="none" w="med" len="med"/>
              <a:tailEnd type="none" w="med" len="med"/>
            </a:ln>
          </p:spPr>
        </p:sp>
        <p:sp>
          <p:nvSpPr>
            <p:cNvPr id="414750" name="直接连接符 414749"/>
            <p:cNvSpPr/>
            <p:nvPr/>
          </p:nvSpPr>
          <p:spPr>
            <a:xfrm>
              <a:off x="2526" y="1940"/>
              <a:ext cx="0" cy="144"/>
            </a:xfrm>
            <a:prstGeom prst="line">
              <a:avLst/>
            </a:prstGeom>
            <a:ln w="9525" cap="flat" cmpd="sng">
              <a:solidFill>
                <a:srgbClr val="000000"/>
              </a:solidFill>
              <a:prstDash val="solid"/>
              <a:headEnd type="none" w="med" len="med"/>
              <a:tailEnd type="none" w="med" len="med"/>
            </a:ln>
          </p:spPr>
        </p:sp>
        <p:sp>
          <p:nvSpPr>
            <p:cNvPr id="414751" name="直接连接符 414750"/>
            <p:cNvSpPr/>
            <p:nvPr/>
          </p:nvSpPr>
          <p:spPr>
            <a:xfrm>
              <a:off x="3756" y="1940"/>
              <a:ext cx="0" cy="144"/>
            </a:xfrm>
            <a:prstGeom prst="line">
              <a:avLst/>
            </a:prstGeom>
            <a:ln w="9525" cap="flat" cmpd="sng">
              <a:solidFill>
                <a:srgbClr val="000000"/>
              </a:solidFill>
              <a:prstDash val="solid"/>
              <a:headEnd type="none" w="med" len="med"/>
              <a:tailEnd type="none" w="med" len="med"/>
            </a:ln>
          </p:spPr>
        </p:sp>
        <p:sp>
          <p:nvSpPr>
            <p:cNvPr id="414752" name="直接连接符 414751"/>
            <p:cNvSpPr/>
            <p:nvPr/>
          </p:nvSpPr>
          <p:spPr>
            <a:xfrm>
              <a:off x="4740" y="1940"/>
              <a:ext cx="0" cy="144"/>
            </a:xfrm>
            <a:prstGeom prst="line">
              <a:avLst/>
            </a:prstGeom>
            <a:ln w="9525" cap="flat" cmpd="sng">
              <a:solidFill>
                <a:srgbClr val="000000"/>
              </a:solidFill>
              <a:prstDash val="solid"/>
              <a:headEnd type="none" w="med" len="med"/>
              <a:tailEnd type="none" w="med" len="med"/>
            </a:ln>
          </p:spPr>
        </p:sp>
        <p:sp>
          <p:nvSpPr>
            <p:cNvPr id="414753" name="直接连接符 414752"/>
            <p:cNvSpPr/>
            <p:nvPr/>
          </p:nvSpPr>
          <p:spPr>
            <a:xfrm>
              <a:off x="1417" y="2416"/>
              <a:ext cx="0" cy="135"/>
            </a:xfrm>
            <a:prstGeom prst="line">
              <a:avLst/>
            </a:prstGeom>
            <a:ln w="9525" cap="flat" cmpd="sng">
              <a:solidFill>
                <a:srgbClr val="000000"/>
              </a:solidFill>
              <a:prstDash val="solid"/>
              <a:headEnd type="none" w="med" len="med"/>
              <a:tailEnd type="none" w="med" len="med"/>
            </a:ln>
          </p:spPr>
        </p:sp>
        <p:sp>
          <p:nvSpPr>
            <p:cNvPr id="414754" name="直接连接符 414753"/>
            <p:cNvSpPr/>
            <p:nvPr/>
          </p:nvSpPr>
          <p:spPr>
            <a:xfrm>
              <a:off x="2526" y="2425"/>
              <a:ext cx="0" cy="144"/>
            </a:xfrm>
            <a:prstGeom prst="line">
              <a:avLst/>
            </a:prstGeom>
            <a:ln w="9525" cap="flat" cmpd="sng">
              <a:solidFill>
                <a:srgbClr val="000000"/>
              </a:solidFill>
              <a:prstDash val="solid"/>
              <a:headEnd type="none" w="med" len="med"/>
              <a:tailEnd type="none" w="med" len="med"/>
            </a:ln>
          </p:spPr>
        </p:sp>
        <p:sp>
          <p:nvSpPr>
            <p:cNvPr id="414755" name="直接连接符 414754"/>
            <p:cNvSpPr/>
            <p:nvPr/>
          </p:nvSpPr>
          <p:spPr>
            <a:xfrm>
              <a:off x="3756" y="2425"/>
              <a:ext cx="0" cy="125"/>
            </a:xfrm>
            <a:prstGeom prst="line">
              <a:avLst/>
            </a:prstGeom>
            <a:ln w="9525" cap="flat" cmpd="sng">
              <a:solidFill>
                <a:srgbClr val="000000"/>
              </a:solidFill>
              <a:prstDash val="solid"/>
              <a:headEnd type="none" w="med" len="med"/>
              <a:tailEnd type="none" w="med" len="med"/>
            </a:ln>
          </p:spPr>
        </p:sp>
        <p:sp>
          <p:nvSpPr>
            <p:cNvPr id="414756" name="直接连接符 414755"/>
            <p:cNvSpPr/>
            <p:nvPr/>
          </p:nvSpPr>
          <p:spPr>
            <a:xfrm>
              <a:off x="4740" y="2425"/>
              <a:ext cx="0" cy="144"/>
            </a:xfrm>
            <a:prstGeom prst="line">
              <a:avLst/>
            </a:prstGeom>
            <a:ln w="9525" cap="flat" cmpd="sng">
              <a:solidFill>
                <a:srgbClr val="000000"/>
              </a:solidFill>
              <a:prstDash val="solid"/>
              <a:headEnd type="none" w="med" len="med"/>
              <a:tailEnd type="none" w="med" len="med"/>
            </a:ln>
          </p:spPr>
        </p:sp>
        <p:sp>
          <p:nvSpPr>
            <p:cNvPr id="414757" name="直接连接符 414756"/>
            <p:cNvSpPr/>
            <p:nvPr/>
          </p:nvSpPr>
          <p:spPr>
            <a:xfrm>
              <a:off x="927" y="2557"/>
              <a:ext cx="0" cy="143"/>
            </a:xfrm>
            <a:prstGeom prst="line">
              <a:avLst/>
            </a:prstGeom>
            <a:ln w="9525" cap="flat" cmpd="sng">
              <a:solidFill>
                <a:srgbClr val="000000"/>
              </a:solidFill>
              <a:prstDash val="solid"/>
              <a:headEnd type="none" w="med" len="med"/>
              <a:tailEnd type="none" w="med" len="med"/>
            </a:ln>
          </p:spPr>
        </p:sp>
        <p:sp>
          <p:nvSpPr>
            <p:cNvPr id="414758" name="直接连接符 414757"/>
            <p:cNvSpPr/>
            <p:nvPr/>
          </p:nvSpPr>
          <p:spPr>
            <a:xfrm>
              <a:off x="3264" y="2557"/>
              <a:ext cx="861" cy="0"/>
            </a:xfrm>
            <a:prstGeom prst="line">
              <a:avLst/>
            </a:prstGeom>
            <a:ln w="9525" cap="flat" cmpd="sng">
              <a:solidFill>
                <a:srgbClr val="000000"/>
              </a:solidFill>
              <a:prstDash val="solid"/>
              <a:headEnd type="none" w="med" len="med"/>
              <a:tailEnd type="none" w="med" len="med"/>
            </a:ln>
          </p:spPr>
        </p:sp>
        <p:sp>
          <p:nvSpPr>
            <p:cNvPr id="414759" name="直接连接符 414758"/>
            <p:cNvSpPr/>
            <p:nvPr/>
          </p:nvSpPr>
          <p:spPr>
            <a:xfrm>
              <a:off x="2403" y="2557"/>
              <a:ext cx="246" cy="0"/>
            </a:xfrm>
            <a:prstGeom prst="line">
              <a:avLst/>
            </a:prstGeom>
            <a:ln w="9525" cap="flat" cmpd="sng">
              <a:solidFill>
                <a:srgbClr val="000000"/>
              </a:solidFill>
              <a:prstDash val="solid"/>
              <a:headEnd type="none" w="med" len="med"/>
              <a:tailEnd type="none" w="med" len="med"/>
            </a:ln>
          </p:spPr>
        </p:sp>
        <p:sp>
          <p:nvSpPr>
            <p:cNvPr id="414760" name="直接连接符 414759"/>
            <p:cNvSpPr/>
            <p:nvPr/>
          </p:nvSpPr>
          <p:spPr>
            <a:xfrm>
              <a:off x="2280" y="2557"/>
              <a:ext cx="123" cy="0"/>
            </a:xfrm>
            <a:prstGeom prst="line">
              <a:avLst/>
            </a:prstGeom>
            <a:ln w="9525" cap="flat" cmpd="sng">
              <a:solidFill>
                <a:srgbClr val="000000"/>
              </a:solidFill>
              <a:prstDash val="dash"/>
              <a:headEnd type="none" w="med" len="med"/>
              <a:tailEnd type="none" w="med" len="med"/>
            </a:ln>
          </p:spPr>
        </p:sp>
        <p:sp>
          <p:nvSpPr>
            <p:cNvPr id="414761" name="直接连接符 414760"/>
            <p:cNvSpPr/>
            <p:nvPr/>
          </p:nvSpPr>
          <p:spPr>
            <a:xfrm>
              <a:off x="2649" y="2557"/>
              <a:ext cx="123" cy="0"/>
            </a:xfrm>
            <a:prstGeom prst="line">
              <a:avLst/>
            </a:prstGeom>
            <a:ln w="9525" cap="flat" cmpd="sng">
              <a:solidFill>
                <a:srgbClr val="000000"/>
              </a:solidFill>
              <a:prstDash val="dash"/>
              <a:headEnd type="none" w="med" len="med"/>
              <a:tailEnd type="none" w="med" len="med"/>
            </a:ln>
          </p:spPr>
        </p:sp>
        <p:sp>
          <p:nvSpPr>
            <p:cNvPr id="414762" name="直接连接符 414761"/>
            <p:cNvSpPr/>
            <p:nvPr/>
          </p:nvSpPr>
          <p:spPr>
            <a:xfrm>
              <a:off x="1788" y="2557"/>
              <a:ext cx="123" cy="0"/>
            </a:xfrm>
            <a:prstGeom prst="line">
              <a:avLst/>
            </a:prstGeom>
            <a:ln w="9525" cap="flat" cmpd="sng">
              <a:solidFill>
                <a:srgbClr val="000000"/>
              </a:solidFill>
              <a:prstDash val="dash"/>
              <a:headEnd type="none" w="med" len="med"/>
              <a:tailEnd type="none" w="med" len="med"/>
            </a:ln>
          </p:spPr>
        </p:sp>
        <p:sp>
          <p:nvSpPr>
            <p:cNvPr id="414763" name="直接连接符 414762"/>
            <p:cNvSpPr/>
            <p:nvPr/>
          </p:nvSpPr>
          <p:spPr>
            <a:xfrm>
              <a:off x="1788" y="2557"/>
              <a:ext cx="0" cy="143"/>
            </a:xfrm>
            <a:prstGeom prst="line">
              <a:avLst/>
            </a:prstGeom>
            <a:ln w="9525" cap="flat" cmpd="sng">
              <a:solidFill>
                <a:srgbClr val="000000"/>
              </a:solidFill>
              <a:prstDash val="solid"/>
              <a:headEnd type="none" w="med" len="med"/>
              <a:tailEnd type="none" w="med" len="med"/>
            </a:ln>
          </p:spPr>
        </p:sp>
        <p:sp>
          <p:nvSpPr>
            <p:cNvPr id="414764" name="直接连接符 414763"/>
            <p:cNvSpPr/>
            <p:nvPr/>
          </p:nvSpPr>
          <p:spPr>
            <a:xfrm>
              <a:off x="3264" y="2557"/>
              <a:ext cx="0" cy="143"/>
            </a:xfrm>
            <a:prstGeom prst="line">
              <a:avLst/>
            </a:prstGeom>
            <a:ln w="9525" cap="flat" cmpd="sng">
              <a:solidFill>
                <a:srgbClr val="000000"/>
              </a:solidFill>
              <a:prstDash val="solid"/>
              <a:headEnd type="none" w="med" len="med"/>
              <a:tailEnd type="none" w="med" len="med"/>
            </a:ln>
          </p:spPr>
        </p:sp>
        <p:sp>
          <p:nvSpPr>
            <p:cNvPr id="414765" name="直接连接符 414764"/>
            <p:cNvSpPr/>
            <p:nvPr/>
          </p:nvSpPr>
          <p:spPr>
            <a:xfrm>
              <a:off x="4125" y="2557"/>
              <a:ext cx="0" cy="143"/>
            </a:xfrm>
            <a:prstGeom prst="line">
              <a:avLst/>
            </a:prstGeom>
            <a:ln w="9525" cap="flat" cmpd="sng">
              <a:solidFill>
                <a:srgbClr val="000000"/>
              </a:solidFill>
              <a:prstDash val="solid"/>
              <a:headEnd type="none" w="med" len="med"/>
              <a:tailEnd type="none" w="med" len="med"/>
            </a:ln>
          </p:spPr>
        </p:sp>
        <p:sp>
          <p:nvSpPr>
            <p:cNvPr id="414766" name="文本框 414765"/>
            <p:cNvSpPr txBox="1"/>
            <p:nvPr/>
          </p:nvSpPr>
          <p:spPr>
            <a:xfrm>
              <a:off x="2280" y="2703"/>
              <a:ext cx="615"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教材办</a:t>
              </a:r>
              <a:endParaRPr lang="zh-CN" altLang="en-US" b="1" dirty="0">
                <a:latin typeface="Arial" panose="020B0604020202020204" pitchFamily="34" charset="0"/>
              </a:endParaRPr>
            </a:p>
          </p:txBody>
        </p:sp>
        <p:sp>
          <p:nvSpPr>
            <p:cNvPr id="414767" name="直接连接符 414766"/>
            <p:cNvSpPr/>
            <p:nvPr/>
          </p:nvSpPr>
          <p:spPr>
            <a:xfrm>
              <a:off x="2526" y="2557"/>
              <a:ext cx="0" cy="143"/>
            </a:xfrm>
            <a:prstGeom prst="line">
              <a:avLst/>
            </a:prstGeom>
            <a:ln w="9525" cap="flat" cmpd="sng">
              <a:solidFill>
                <a:srgbClr val="000000"/>
              </a:solidFill>
              <a:prstDash val="solid"/>
              <a:headEnd type="none" w="med" len="med"/>
              <a:tailEnd type="none" w="med" len="med"/>
            </a:ln>
          </p:spPr>
        </p:sp>
        <p:sp>
          <p:nvSpPr>
            <p:cNvPr id="414768" name="直接连接符 414767"/>
            <p:cNvSpPr/>
            <p:nvPr/>
          </p:nvSpPr>
          <p:spPr>
            <a:xfrm>
              <a:off x="4617" y="2557"/>
              <a:ext cx="246" cy="0"/>
            </a:xfrm>
            <a:prstGeom prst="line">
              <a:avLst/>
            </a:prstGeom>
            <a:ln w="9525" cap="flat" cmpd="sng">
              <a:solidFill>
                <a:srgbClr val="000000"/>
              </a:solidFill>
              <a:prstDash val="solid"/>
              <a:headEnd type="none" w="med" len="med"/>
              <a:tailEnd type="none" w="med" len="med"/>
            </a:ln>
          </p:spPr>
        </p:sp>
        <p:sp>
          <p:nvSpPr>
            <p:cNvPr id="414769" name="直接连接符 414768"/>
            <p:cNvSpPr/>
            <p:nvPr/>
          </p:nvSpPr>
          <p:spPr>
            <a:xfrm>
              <a:off x="4494" y="2557"/>
              <a:ext cx="123" cy="0"/>
            </a:xfrm>
            <a:prstGeom prst="line">
              <a:avLst/>
            </a:prstGeom>
            <a:ln w="9525" cap="flat" cmpd="sng">
              <a:solidFill>
                <a:srgbClr val="000000"/>
              </a:solidFill>
              <a:prstDash val="dash"/>
              <a:headEnd type="none" w="med" len="med"/>
              <a:tailEnd type="none" w="med" len="med"/>
            </a:ln>
          </p:spPr>
        </p:sp>
        <p:sp>
          <p:nvSpPr>
            <p:cNvPr id="414770" name="直接连接符 414769"/>
            <p:cNvSpPr/>
            <p:nvPr/>
          </p:nvSpPr>
          <p:spPr>
            <a:xfrm>
              <a:off x="4863" y="2557"/>
              <a:ext cx="123" cy="0"/>
            </a:xfrm>
            <a:prstGeom prst="line">
              <a:avLst/>
            </a:prstGeom>
            <a:ln w="9525" cap="flat" cmpd="sng">
              <a:solidFill>
                <a:srgbClr val="000000"/>
              </a:solidFill>
              <a:prstDash val="dash"/>
              <a:headEnd type="none" w="med" len="med"/>
              <a:tailEnd type="none" w="med" len="med"/>
            </a:ln>
          </p:spPr>
        </p:sp>
        <p:sp>
          <p:nvSpPr>
            <p:cNvPr id="414771" name="文本框 414770"/>
            <p:cNvSpPr txBox="1"/>
            <p:nvPr/>
          </p:nvSpPr>
          <p:spPr>
            <a:xfrm>
              <a:off x="4494" y="2703"/>
              <a:ext cx="615" cy="321"/>
            </a:xfrm>
            <a:prstGeom prst="rect">
              <a:avLst/>
            </a:prstGeom>
            <a:solidFill>
              <a:srgbClr val="CCFFCC"/>
            </a:solidFill>
            <a:ln w="9525" cap="flat" cmpd="sng">
              <a:solidFill>
                <a:srgbClr val="000000"/>
              </a:solidFill>
              <a:prstDash val="solid"/>
              <a:miter/>
              <a:headEnd type="none" w="med" len="med"/>
              <a:tailEnd type="none" w="med" len="med"/>
            </a:ln>
          </p:spPr>
          <p:txBody>
            <a:bodyPr/>
            <a:lstStyle/>
            <a:p>
              <a:pPr algn="ctr">
                <a:lnSpc>
                  <a:spcPct val="130000"/>
                </a:lnSpc>
              </a:pPr>
              <a:r>
                <a:rPr lang="zh-CN" altLang="en-US" b="1" dirty="0">
                  <a:latin typeface="Times New Roman" panose="02020603050405020304" pitchFamily="18" charset="0"/>
                </a:rPr>
                <a:t>招生办</a:t>
              </a:r>
              <a:endParaRPr lang="zh-CN" altLang="en-US" b="1" dirty="0">
                <a:latin typeface="Arial" panose="020B0604020202020204" pitchFamily="34" charset="0"/>
              </a:endParaRPr>
            </a:p>
          </p:txBody>
        </p:sp>
        <p:sp>
          <p:nvSpPr>
            <p:cNvPr id="414772" name="直接连接符 414771"/>
            <p:cNvSpPr/>
            <p:nvPr/>
          </p:nvSpPr>
          <p:spPr>
            <a:xfrm>
              <a:off x="4740" y="2557"/>
              <a:ext cx="0" cy="143"/>
            </a:xfrm>
            <a:prstGeom prst="line">
              <a:avLst/>
            </a:prstGeom>
            <a:ln w="9525" cap="flat" cmpd="sng">
              <a:solidFill>
                <a:srgbClr val="000000"/>
              </a:solidFill>
              <a:prstDash val="solid"/>
              <a:headEnd type="none" w="med" len="med"/>
              <a:tailEnd type="none" w="med" len="med"/>
            </a:ln>
          </p:spPr>
        </p:sp>
        <p:sp>
          <p:nvSpPr>
            <p:cNvPr id="414773" name="直接连接符 414772"/>
            <p:cNvSpPr/>
            <p:nvPr/>
          </p:nvSpPr>
          <p:spPr>
            <a:xfrm>
              <a:off x="4125" y="2557"/>
              <a:ext cx="123" cy="0"/>
            </a:xfrm>
            <a:prstGeom prst="line">
              <a:avLst/>
            </a:prstGeom>
            <a:ln w="9525" cap="flat" cmpd="sng">
              <a:solidFill>
                <a:srgbClr val="000000"/>
              </a:solidFill>
              <a:prstDash val="dash"/>
              <a:headEnd type="none" w="med" len="med"/>
              <a:tailEnd type="none" w="med" len="med"/>
            </a:ln>
          </p:spPr>
        </p:sp>
      </p:grpSp>
      <p:sp>
        <p:nvSpPr>
          <p:cNvPr id="414774" name="文本框 414773"/>
          <p:cNvSpPr txBox="1"/>
          <p:nvPr/>
        </p:nvSpPr>
        <p:spPr>
          <a:xfrm>
            <a:off x="2579688" y="5680075"/>
            <a:ext cx="4419600" cy="396875"/>
          </a:xfrm>
          <a:prstGeom prst="rect">
            <a:avLst/>
          </a:prstGeom>
          <a:noFill/>
          <a:ln w="9525">
            <a:noFill/>
          </a:ln>
        </p:spPr>
        <p:txBody>
          <a:bodyPr>
            <a:spAutoFit/>
          </a:bodyPr>
          <a:lstStyle/>
          <a:p>
            <a:pPr algn="ctr">
              <a:spcBef>
                <a:spcPct val="50000"/>
              </a:spcBef>
            </a:pPr>
            <a:r>
              <a:rPr lang="zh-CN" altLang="en-US" sz="2000" dirty="0">
                <a:latin typeface="黑体" panose="02010609060101010101" pitchFamily="2" charset="-122"/>
                <a:ea typeface="黑体" panose="02010609060101010101" pitchFamily="2" charset="-122"/>
              </a:rPr>
              <a:t>图</a:t>
            </a:r>
            <a:r>
              <a:rPr lang="en-US" altLang="zh-CN" sz="2000">
                <a:latin typeface="黑体" panose="02010609060101010101" pitchFamily="2" charset="-122"/>
                <a:ea typeface="黑体" panose="02010609060101010101" pitchFamily="2" charset="-122"/>
              </a:rPr>
              <a:t>3.3   </a:t>
            </a:r>
            <a:r>
              <a:rPr lang="zh-CN" altLang="en-US" sz="2000" dirty="0">
                <a:latin typeface="黑体" panose="02010609060101010101" pitchFamily="2" charset="-122"/>
                <a:ea typeface="黑体" panose="02010609060101010101" pitchFamily="2" charset="-122"/>
              </a:rPr>
              <a:t>组织机构层次方框图示例</a:t>
            </a:r>
          </a:p>
        </p:txBody>
      </p:sp>
      <p:sp>
        <p:nvSpPr>
          <p:cNvPr id="414776" name="矩形 414775"/>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Tree>
  </p:cSld>
  <p:clrMapOvr>
    <a:masterClrMapping/>
  </p:clrMapOvr>
  <mc:AlternateContent xmlns:mc="http://schemas.openxmlformats.org/markup-compatibility/2006" xmlns:p14="http://schemas.microsoft.com/office/powerpoint/2010/main">
    <mc:Choice Requires="p14">
      <p:transition spd="slow" p14:dur="2000" advTm="37470"/>
    </mc:Choice>
    <mc:Fallback xmlns="">
      <p:transition spd="slow" advTm="3747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6692" name="矩形 626691"/>
          <p:cNvSpPr/>
          <p:nvPr/>
        </p:nvSpPr>
        <p:spPr>
          <a:xfrm>
            <a:off x="395288" y="2133600"/>
            <a:ext cx="8280400" cy="395922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25000"/>
              </a:lnSpc>
              <a:spcBef>
                <a:spcPct val="0"/>
              </a:spcBef>
            </a:pPr>
            <a:r>
              <a:rPr lang="zh-CN" altLang="en-US" sz="2500" b="0" dirty="0">
                <a:solidFill>
                  <a:srgbClr val="003366"/>
                </a:solidFill>
                <a:effectLst/>
                <a:ea typeface="黑体" panose="02010609060101010101" pitchFamily="2" charset="-122"/>
              </a:rPr>
              <a:t>接着：</a:t>
            </a:r>
            <a:r>
              <a:rPr lang="zh-CN" altLang="en-US" sz="2500" dirty="0">
                <a:solidFill>
                  <a:srgbClr val="CC0000"/>
                </a:solidFill>
                <a:latin typeface="宋体" panose="02010600030101010101" pitchFamily="2" charset="-122"/>
                <a:ea typeface="宋体" panose="02010600030101010101" pitchFamily="2" charset="-122"/>
              </a:rPr>
              <a:t>①</a:t>
            </a:r>
            <a:r>
              <a:rPr lang="zh-CN" altLang="en-US" sz="2500" dirty="0">
                <a:latin typeface="宋体" panose="02010600030101010101" pitchFamily="2" charset="-122"/>
                <a:ea typeface="宋体" panose="02010600030101010101" pitchFamily="2" charset="-122"/>
              </a:rPr>
              <a:t> </a:t>
            </a:r>
            <a:r>
              <a:rPr lang="zh-CN" altLang="en-US" sz="2500" dirty="0"/>
              <a:t>根据各个部门的地理分布情况和初步的投资意向，初步确定系统的网络拓扑结构和网络软硬件配置。</a:t>
            </a:r>
          </a:p>
          <a:p>
            <a:pPr lvl="0">
              <a:lnSpc>
                <a:spcPct val="125000"/>
              </a:lnSpc>
              <a:spcBef>
                <a:spcPct val="0"/>
              </a:spcBef>
            </a:pPr>
            <a:r>
              <a:rPr lang="zh-CN" altLang="en-US" sz="2500" dirty="0"/>
              <a:t>          </a:t>
            </a:r>
            <a:r>
              <a:rPr lang="zh-CN" altLang="en-US" sz="2500" dirty="0">
                <a:solidFill>
                  <a:srgbClr val="CC0000"/>
                </a:solidFill>
                <a:latin typeface="宋体" panose="02010600030101010101" pitchFamily="2" charset="-122"/>
                <a:ea typeface="宋体" panose="02010600030101010101" pitchFamily="2" charset="-122"/>
              </a:rPr>
              <a:t>② </a:t>
            </a:r>
            <a:r>
              <a:rPr lang="zh-CN" altLang="en-US" sz="2500" dirty="0"/>
              <a:t>根据整个系统的信息处理需求，确定系统相关的硬件、软件配置，给出相应的开发平台与开发工具需求。 </a:t>
            </a:r>
          </a:p>
          <a:p>
            <a:pPr lvl="0">
              <a:lnSpc>
                <a:spcPct val="125000"/>
              </a:lnSpc>
              <a:spcBef>
                <a:spcPct val="0"/>
              </a:spcBef>
            </a:pPr>
            <a:r>
              <a:rPr lang="zh-CN" altLang="en-US" sz="2500" dirty="0"/>
              <a:t>          </a:t>
            </a:r>
            <a:r>
              <a:rPr lang="zh-CN" altLang="en-US" sz="2500" dirty="0">
                <a:solidFill>
                  <a:schemeClr val="hlink"/>
                </a:solidFill>
              </a:rPr>
              <a:t>③ </a:t>
            </a:r>
            <a:r>
              <a:rPr lang="zh-CN" altLang="en-US" sz="2500" dirty="0"/>
              <a:t>根据用户组织的性质和信息安全要求，确定相应的信息安全措施。 </a:t>
            </a:r>
          </a:p>
        </p:txBody>
      </p:sp>
      <p:sp>
        <p:nvSpPr>
          <p:cNvPr id="626693" name="矩形 626692"/>
          <p:cNvSpPr/>
          <p:nvPr/>
        </p:nvSpPr>
        <p:spPr>
          <a:xfrm>
            <a:off x="395288" y="1125538"/>
            <a:ext cx="8280400" cy="1150937"/>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15000"/>
              </a:lnSpc>
              <a:spcBef>
                <a:spcPct val="15000"/>
              </a:spcBef>
            </a:pPr>
            <a:r>
              <a:rPr lang="zh-CN" altLang="en-US" sz="2900" dirty="0"/>
              <a:t>          </a:t>
            </a:r>
            <a:r>
              <a:rPr lang="en-US" altLang="zh-CN" sz="2900">
                <a:solidFill>
                  <a:srgbClr val="660033"/>
                </a:solidFill>
                <a:ea typeface="华文新魏" panose="02010800040101010101" pitchFamily="2" charset="-122"/>
              </a:rPr>
              <a:t>4</a:t>
            </a:r>
            <a:r>
              <a:rPr lang="zh-CN" altLang="en-US" sz="2900" dirty="0">
                <a:solidFill>
                  <a:srgbClr val="660033"/>
                </a:solidFill>
                <a:ea typeface="华文新魏" panose="02010800040101010101" pitchFamily="2" charset="-122"/>
              </a:rPr>
              <a:t>、调研用户组织的机构组成和地理分布，初步确定系统的软硬环境配置方案</a:t>
            </a:r>
            <a:r>
              <a:rPr lang="zh-CN" altLang="en-US" dirty="0"/>
              <a:t> </a:t>
            </a:r>
          </a:p>
        </p:txBody>
      </p:sp>
      <p:sp>
        <p:nvSpPr>
          <p:cNvPr id="626694" name="矩形 62669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160093"/>
    </mc:Choice>
    <mc:Fallback xmlns="">
      <p:transition spd="slow" advTm="1600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26692">
                                            <p:txEl>
                                              <p:pRg st="0" end="0"/>
                                            </p:txEl>
                                          </p:spTgt>
                                        </p:tgtEl>
                                        <p:attrNameLst>
                                          <p:attrName>style.visibility</p:attrName>
                                        </p:attrNameLst>
                                      </p:cBhvr>
                                      <p:to>
                                        <p:strVal val="visible"/>
                                      </p:to>
                                    </p:set>
                                    <p:animEffect transition="in" filter="wipe(up)">
                                      <p:cBhvr>
                                        <p:cTn id="7" dur="1000"/>
                                        <p:tgtEl>
                                          <p:spTgt spid="62669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26692">
                                            <p:txEl>
                                              <p:pRg st="1" end="1"/>
                                            </p:txEl>
                                          </p:spTgt>
                                        </p:tgtEl>
                                        <p:attrNameLst>
                                          <p:attrName>style.visibility</p:attrName>
                                        </p:attrNameLst>
                                      </p:cBhvr>
                                      <p:to>
                                        <p:strVal val="visible"/>
                                      </p:to>
                                    </p:set>
                                    <p:animEffect transition="in" filter="wipe(up)">
                                      <p:cBhvr>
                                        <p:cTn id="12" dur="1000"/>
                                        <p:tgtEl>
                                          <p:spTgt spid="62669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26692">
                                            <p:txEl>
                                              <p:pRg st="2" end="2"/>
                                            </p:txEl>
                                          </p:spTgt>
                                        </p:tgtEl>
                                        <p:attrNameLst>
                                          <p:attrName>style.visibility</p:attrName>
                                        </p:attrNameLst>
                                      </p:cBhvr>
                                      <p:to>
                                        <p:strVal val="visible"/>
                                      </p:to>
                                    </p:set>
                                    <p:animEffect transition="in" filter="wipe(up)">
                                      <p:cBhvr>
                                        <p:cTn id="17" dur="1000"/>
                                        <p:tgtEl>
                                          <p:spTgt spid="62669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6" name="矩形 627715"/>
          <p:cNvSpPr/>
          <p:nvPr/>
        </p:nvSpPr>
        <p:spPr>
          <a:xfrm>
            <a:off x="395288" y="1774825"/>
            <a:ext cx="8280400" cy="395922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35000"/>
              </a:lnSpc>
              <a:spcBef>
                <a:spcPct val="0"/>
              </a:spcBef>
            </a:pPr>
            <a:r>
              <a:rPr lang="zh-CN" altLang="en-US" dirty="0"/>
              <a:t>          </a:t>
            </a:r>
            <a:r>
              <a:rPr lang="zh-CN" altLang="en-US" sz="2700" dirty="0"/>
              <a:t>收集、整理将要管理的实际数据及其组织格式，进一步完善数据字典中有关数据信息的描述，为数据库概念结构和数据库逻辑结构的设计提供参考，为后续的系统实现验证和实际数据的录入奠定基础。    </a:t>
            </a:r>
          </a:p>
        </p:txBody>
      </p:sp>
      <p:sp>
        <p:nvSpPr>
          <p:cNvPr id="627717" name="矩形 627716"/>
          <p:cNvSpPr/>
          <p:nvPr/>
        </p:nvSpPr>
        <p:spPr>
          <a:xfrm>
            <a:off x="395288" y="1125538"/>
            <a:ext cx="8280400" cy="64770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15000"/>
              </a:lnSpc>
              <a:spcBef>
                <a:spcPct val="15000"/>
              </a:spcBef>
            </a:pPr>
            <a:r>
              <a:rPr lang="zh-CN" altLang="en-US" sz="2900" dirty="0"/>
              <a:t>          </a:t>
            </a:r>
            <a:r>
              <a:rPr lang="en-US" altLang="zh-CN" sz="2900">
                <a:solidFill>
                  <a:srgbClr val="660033"/>
                </a:solidFill>
                <a:ea typeface="华文新魏" panose="02010800040101010101" pitchFamily="2" charset="-122"/>
              </a:rPr>
              <a:t>5</a:t>
            </a:r>
            <a:r>
              <a:rPr lang="zh-CN" altLang="en-US" sz="2900" dirty="0">
                <a:solidFill>
                  <a:srgbClr val="660033"/>
                </a:solidFill>
                <a:ea typeface="华文新魏" panose="02010800040101010101" pitchFamily="2" charset="-122"/>
              </a:rPr>
              <a:t>、收集、整理需要进行管理的具体数据 </a:t>
            </a:r>
          </a:p>
        </p:txBody>
      </p:sp>
      <p:sp>
        <p:nvSpPr>
          <p:cNvPr id="627718" name="矩形 62771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1730"/>
    </mc:Choice>
    <mc:Fallback xmlns="">
      <p:transition spd="slow" advTm="61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27717"/>
                                        </p:tgtEl>
                                        <p:attrNameLst>
                                          <p:attrName>style.visibility</p:attrName>
                                        </p:attrNameLst>
                                      </p:cBhvr>
                                      <p:to>
                                        <p:strVal val="visible"/>
                                      </p:to>
                                    </p:set>
                                    <p:animEffect transition="in" filter="wipe(left)">
                                      <p:cBhvr>
                                        <p:cTn id="7" dur="1000"/>
                                        <p:tgtEl>
                                          <p:spTgt spid="627717"/>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32" fill="hold" grpId="0" nodeType="clickEffect">
                                  <p:stCondLst>
                                    <p:cond delay="0"/>
                                  </p:stCondLst>
                                  <p:childTnLst>
                                    <p:set>
                                      <p:cBhvr>
                                        <p:cTn id="11" dur="1" fill="hold">
                                          <p:stCondLst>
                                            <p:cond delay="0"/>
                                          </p:stCondLst>
                                        </p:cTn>
                                        <p:tgtEl>
                                          <p:spTgt spid="627716"/>
                                        </p:tgtEl>
                                        <p:attrNameLst>
                                          <p:attrName>style.visibility</p:attrName>
                                        </p:attrNameLst>
                                      </p:cBhvr>
                                      <p:to>
                                        <p:strVal val="visible"/>
                                      </p:to>
                                    </p:set>
                                    <p:animEffect transition="in" filter="diamond(out)">
                                      <p:cBhvr>
                                        <p:cTn id="12" dur="1000"/>
                                        <p:tgtEl>
                                          <p:spTgt spid="6277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7716" grpId="0"/>
      <p:bldP spid="62771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40" name="矩形 62873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三、用户需求分析过程</a:t>
            </a:r>
            <a:endParaRPr lang="en-US" altLang="zh-CN"/>
          </a:p>
        </p:txBody>
      </p:sp>
      <p:sp>
        <p:nvSpPr>
          <p:cNvPr id="628741" name="矩形 628740"/>
          <p:cNvSpPr/>
          <p:nvPr/>
        </p:nvSpPr>
        <p:spPr>
          <a:xfrm>
            <a:off x="395288" y="1125538"/>
            <a:ext cx="8280400" cy="395922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zh-CN" altLang="en-US" b="0" dirty="0">
                <a:solidFill>
                  <a:srgbClr val="003366"/>
                </a:solidFill>
                <a:effectLst/>
                <a:ea typeface="黑体" panose="02010609060101010101" pitchFamily="2" charset="-122"/>
              </a:rPr>
              <a:t>用户需求分析的结果：</a:t>
            </a:r>
          </a:p>
          <a:p>
            <a:pPr lvl="0">
              <a:lnSpc>
                <a:spcPct val="150000"/>
              </a:lnSpc>
              <a:spcBef>
                <a:spcPct val="0"/>
              </a:spcBef>
            </a:pPr>
            <a:r>
              <a:rPr lang="zh-CN" altLang="en-US" b="0" dirty="0">
                <a:solidFill>
                  <a:srgbClr val="003366"/>
                </a:solidFill>
                <a:effectLst/>
                <a:ea typeface="黑体" panose="02010609060101010101" pitchFamily="2" charset="-122"/>
              </a:rPr>
              <a:t>         </a:t>
            </a:r>
            <a:r>
              <a:rPr lang="zh-CN" altLang="en-US" dirty="0">
                <a:solidFill>
                  <a:srgbClr val="660033"/>
                </a:solidFill>
              </a:rPr>
              <a:t>完整的系统需求分析说明书。</a:t>
            </a:r>
          </a:p>
          <a:p>
            <a:pPr lvl="0">
              <a:lnSpc>
                <a:spcPct val="150000"/>
              </a:lnSpc>
              <a:spcBef>
                <a:spcPct val="0"/>
              </a:spcBef>
            </a:pPr>
            <a:r>
              <a:rPr lang="zh-CN" altLang="en-US" dirty="0">
                <a:solidFill>
                  <a:srgbClr val="660033"/>
                </a:solidFill>
              </a:rPr>
              <a:t>                                                       </a:t>
            </a:r>
            <a:r>
              <a:rPr lang="en-US" altLang="zh-CN">
                <a:solidFill>
                  <a:srgbClr val="808080"/>
                </a:solidFill>
              </a:rPr>
              <a:t>#</a:t>
            </a:r>
            <a:r>
              <a:rPr lang="en-US" altLang="zh-CN"/>
              <a:t> </a:t>
            </a:r>
          </a:p>
        </p:txBody>
      </p:sp>
    </p:spTree>
  </p:cSld>
  <p:clrMapOvr>
    <a:masterClrMapping/>
  </p:clrMapOvr>
  <mc:AlternateContent xmlns:mc="http://schemas.openxmlformats.org/markup-compatibility/2006" xmlns:p14="http://schemas.microsoft.com/office/powerpoint/2010/main">
    <mc:Choice Requires="p14">
      <p:transition spd="slow" p14:dur="2000" advTm="23109"/>
    </mc:Choice>
    <mc:Fallback xmlns="">
      <p:transition spd="slow" advTm="231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28741">
                                            <p:txEl>
                                              <p:pRg st="1" end="1"/>
                                            </p:txEl>
                                          </p:spTgt>
                                        </p:tgtEl>
                                        <p:attrNameLst>
                                          <p:attrName>style.visibility</p:attrName>
                                        </p:attrNameLst>
                                      </p:cBhvr>
                                      <p:to>
                                        <p:strVal val="visible"/>
                                      </p:to>
                                    </p:set>
                                    <p:animEffect transition="in" filter="wipe(left)">
                                      <p:cBhvr>
                                        <p:cTn id="7" dur="2000"/>
                                        <p:tgtEl>
                                          <p:spTgt spid="62874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4" name="矩形 62976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四、数据库应用系统的功能需求</a:t>
            </a:r>
            <a:endParaRPr lang="en-US" altLang="zh-CN"/>
          </a:p>
        </p:txBody>
      </p:sp>
      <p:sp>
        <p:nvSpPr>
          <p:cNvPr id="629765" name="矩形 629764"/>
          <p:cNvSpPr/>
          <p:nvPr/>
        </p:nvSpPr>
        <p:spPr>
          <a:xfrm>
            <a:off x="395288" y="1125538"/>
            <a:ext cx="8280400" cy="3959225"/>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zh-CN" altLang="en-US" b="0" dirty="0">
                <a:solidFill>
                  <a:srgbClr val="003366"/>
                </a:solidFill>
                <a:effectLst/>
                <a:ea typeface="黑体" panose="02010609060101010101" pitchFamily="2" charset="-122"/>
              </a:rPr>
              <a:t>功能包括：</a:t>
            </a:r>
          </a:p>
          <a:p>
            <a:pPr lvl="0">
              <a:lnSpc>
                <a:spcPct val="150000"/>
              </a:lnSpc>
              <a:spcBef>
                <a:spcPct val="0"/>
              </a:spcBef>
            </a:pPr>
            <a:r>
              <a:rPr lang="zh-CN" altLang="en-US" dirty="0"/>
              <a:t>         </a:t>
            </a:r>
            <a:r>
              <a:rPr lang="zh-CN" altLang="en-US" dirty="0">
                <a:solidFill>
                  <a:schemeClr val="hlink"/>
                </a:solidFill>
                <a:effectLst/>
                <a:latin typeface="宋体" panose="02010600030101010101" pitchFamily="2" charset="-122"/>
                <a:ea typeface="宋体" panose="02010600030101010101" pitchFamily="2" charset="-122"/>
              </a:rPr>
              <a:t>①</a:t>
            </a:r>
            <a:r>
              <a:rPr lang="zh-CN" altLang="en-US" dirty="0">
                <a:solidFill>
                  <a:srgbClr val="003366"/>
                </a:solidFill>
                <a:effectLst/>
                <a:latin typeface="宋体" panose="02010600030101010101" pitchFamily="2" charset="-122"/>
                <a:ea typeface="宋体" panose="02010600030101010101" pitchFamily="2" charset="-122"/>
              </a:rPr>
              <a:t> </a:t>
            </a:r>
            <a:r>
              <a:rPr lang="zh-CN" altLang="en-US" dirty="0">
                <a:effectLst/>
              </a:rPr>
              <a:t>建立的数据库应用系统的信息管理功能；</a:t>
            </a:r>
          </a:p>
          <a:p>
            <a:pPr lvl="0">
              <a:lnSpc>
                <a:spcPct val="150000"/>
              </a:lnSpc>
              <a:spcBef>
                <a:spcPct val="0"/>
              </a:spcBef>
            </a:pPr>
            <a:r>
              <a:rPr lang="zh-CN" altLang="en-US" dirty="0"/>
              <a:t>         </a:t>
            </a:r>
            <a:r>
              <a:rPr lang="zh-CN" altLang="en-US" dirty="0">
                <a:solidFill>
                  <a:schemeClr val="hlink"/>
                </a:solidFill>
                <a:effectLst/>
                <a:latin typeface="宋体" panose="02010600030101010101" pitchFamily="2" charset="-122"/>
                <a:ea typeface="宋体" panose="02010600030101010101" pitchFamily="2" charset="-122"/>
              </a:rPr>
              <a:t>②</a:t>
            </a:r>
            <a:r>
              <a:rPr lang="zh-CN" altLang="en-US" dirty="0">
                <a:effectLst/>
                <a:latin typeface="宋体" panose="02010600030101010101" pitchFamily="2" charset="-122"/>
                <a:ea typeface="宋体" panose="02010600030101010101" pitchFamily="2" charset="-122"/>
              </a:rPr>
              <a:t> </a:t>
            </a:r>
            <a:r>
              <a:rPr lang="zh-CN" altLang="en-US" dirty="0">
                <a:effectLst/>
              </a:rPr>
              <a:t>基于该数据库应用系统的信息处理功能和辅助决策功能。</a:t>
            </a:r>
            <a:r>
              <a:rPr lang="zh-CN" altLang="en-US" dirty="0"/>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6680"/>
    </mc:Choice>
    <mc:Fallback xmlns="">
      <p:transition spd="slow" advTm="3668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29765">
                                            <p:txEl>
                                              <p:pRg st="0" end="0"/>
                                            </p:txEl>
                                          </p:spTgt>
                                        </p:tgtEl>
                                        <p:attrNameLst>
                                          <p:attrName>style.visibility</p:attrName>
                                        </p:attrNameLst>
                                      </p:cBhvr>
                                      <p:to>
                                        <p:strVal val="visible"/>
                                      </p:to>
                                    </p:set>
                                    <p:animEffect transition="in" filter="wipe(up)">
                                      <p:cBhvr>
                                        <p:cTn id="7" dur="1000"/>
                                        <p:tgtEl>
                                          <p:spTgt spid="629765">
                                            <p:txEl>
                                              <p:pRg st="0" end="0"/>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629765">
                                            <p:txEl>
                                              <p:pRg st="1" end="1"/>
                                            </p:txEl>
                                          </p:spTgt>
                                        </p:tgtEl>
                                        <p:attrNameLst>
                                          <p:attrName>style.visibility</p:attrName>
                                        </p:attrNameLst>
                                      </p:cBhvr>
                                      <p:to>
                                        <p:strVal val="visible"/>
                                      </p:to>
                                    </p:set>
                                    <p:animEffect transition="in" filter="wipe(up)">
                                      <p:cBhvr>
                                        <p:cTn id="11" dur="500"/>
                                        <p:tgtEl>
                                          <p:spTgt spid="629765">
                                            <p:txEl>
                                              <p:pRg st="1" end="1"/>
                                            </p:txEl>
                                          </p:spTgt>
                                        </p:tgtEl>
                                      </p:cBhvr>
                                    </p:animEffect>
                                  </p:childTnLst>
                                </p:cTn>
                              </p:par>
                            </p:childTnLst>
                          </p:cTn>
                        </p:par>
                        <p:par>
                          <p:cTn id="12" fill="hold">
                            <p:stCondLst>
                              <p:cond delay="1500"/>
                            </p:stCondLst>
                            <p:childTnLst>
                              <p:par>
                                <p:cTn id="13" presetID="22" presetClass="entr" presetSubtype="1" fill="hold" nodeType="afterEffect">
                                  <p:stCondLst>
                                    <p:cond delay="0"/>
                                  </p:stCondLst>
                                  <p:childTnLst>
                                    <p:set>
                                      <p:cBhvr>
                                        <p:cTn id="14" dur="1" fill="hold">
                                          <p:stCondLst>
                                            <p:cond delay="0"/>
                                          </p:stCondLst>
                                        </p:cTn>
                                        <p:tgtEl>
                                          <p:spTgt spid="629765">
                                            <p:txEl>
                                              <p:pRg st="2" end="2"/>
                                            </p:txEl>
                                          </p:spTgt>
                                        </p:tgtEl>
                                        <p:attrNameLst>
                                          <p:attrName>style.visibility</p:attrName>
                                        </p:attrNameLst>
                                      </p:cBhvr>
                                      <p:to>
                                        <p:strVal val="visible"/>
                                      </p:to>
                                    </p:set>
                                    <p:animEffect transition="in" filter="wipe(up)">
                                      <p:cBhvr>
                                        <p:cTn id="15" dur="500"/>
                                        <p:tgtEl>
                                          <p:spTgt spid="62976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860" name="矩形 633859"/>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四、数据库应用系统的功能需求</a:t>
            </a:r>
            <a:endParaRPr lang="en-US" altLang="zh-CN"/>
          </a:p>
        </p:txBody>
      </p:sp>
      <p:sp>
        <p:nvSpPr>
          <p:cNvPr id="633861" name="矩形 633860"/>
          <p:cNvSpPr/>
          <p:nvPr/>
        </p:nvSpPr>
        <p:spPr>
          <a:xfrm>
            <a:off x="395288" y="1125538"/>
            <a:ext cx="8424862" cy="48958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en-US" altLang="zh-CN" sz="2900">
                <a:solidFill>
                  <a:srgbClr val="660033"/>
                </a:solidFill>
                <a:ea typeface="华文新魏" panose="02010800040101010101" pitchFamily="2" charset="-122"/>
              </a:rPr>
              <a:t>1</a:t>
            </a:r>
            <a:r>
              <a:rPr lang="zh-CN" altLang="en-US" sz="2400" dirty="0">
                <a:solidFill>
                  <a:srgbClr val="660033"/>
                </a:solidFill>
                <a:ea typeface="华文新魏" panose="02010800040101010101" pitchFamily="2" charset="-122"/>
              </a:rPr>
              <a:t>、</a:t>
            </a:r>
            <a:r>
              <a:rPr lang="zh-CN" altLang="en-US" sz="2900" dirty="0">
                <a:solidFill>
                  <a:srgbClr val="660033"/>
                </a:solidFill>
                <a:ea typeface="华文新魏" panose="02010800040101010101" pitchFamily="2" charset="-122"/>
              </a:rPr>
              <a:t>教学管理数据库应用系统的功能需求</a:t>
            </a:r>
            <a:r>
              <a:rPr lang="zh-CN" altLang="en-US" sz="2900" dirty="0">
                <a:solidFill>
                  <a:srgbClr val="003366"/>
                </a:solidFill>
                <a:ea typeface="华文新魏" panose="02010800040101010101" pitchFamily="2" charset="-122"/>
              </a:rPr>
              <a:t>示例</a:t>
            </a:r>
            <a:r>
              <a:rPr lang="en-US" altLang="zh-CN"/>
              <a:t> </a:t>
            </a:r>
            <a:endParaRPr lang="en-US" altLang="zh-CN" b="0">
              <a:solidFill>
                <a:srgbClr val="003366"/>
              </a:solidFill>
              <a:effectLst/>
              <a:ea typeface="黑体" panose="02010609060101010101" pitchFamily="2" charset="-122"/>
            </a:endParaRPr>
          </a:p>
          <a:p>
            <a:pPr lvl="0">
              <a:lnSpc>
                <a:spcPct val="135000"/>
              </a:lnSpc>
              <a:spcBef>
                <a:spcPct val="5000"/>
              </a:spcBef>
            </a:pPr>
            <a:r>
              <a:rPr lang="zh-CN" altLang="en-US" b="0" dirty="0">
                <a:solidFill>
                  <a:srgbClr val="003366"/>
                </a:solidFill>
                <a:effectLst/>
                <a:ea typeface="黑体" panose="02010609060101010101" pitchFamily="2" charset="-122"/>
              </a:rPr>
              <a:t>         </a:t>
            </a:r>
            <a:r>
              <a:rPr lang="en-US" altLang="zh-CN" sz="2500" b="0">
                <a:solidFill>
                  <a:srgbClr val="003366"/>
                </a:solidFill>
                <a:effectLst/>
                <a:latin typeface="黑体" panose="02010609060101010101" pitchFamily="2" charset="-122"/>
                <a:ea typeface="黑体" panose="02010609060101010101" pitchFamily="2" charset="-122"/>
              </a:rPr>
              <a:t>1</a:t>
            </a:r>
            <a:r>
              <a:rPr lang="zh-CN" altLang="en-US" sz="2500" b="0" dirty="0">
                <a:solidFill>
                  <a:srgbClr val="003366"/>
                </a:solidFill>
                <a:effectLst/>
                <a:latin typeface="黑体" panose="02010609060101010101" pitchFamily="2" charset="-122"/>
                <a:ea typeface="黑体" panose="02010609060101010101" pitchFamily="2" charset="-122"/>
              </a:rPr>
              <a:t>）学生信息管理</a:t>
            </a:r>
          </a:p>
          <a:p>
            <a:pPr lvl="0">
              <a:lnSpc>
                <a:spcPct val="135000"/>
              </a:lnSpc>
              <a:spcBef>
                <a:spcPct val="5000"/>
              </a:spcBef>
            </a:pPr>
            <a:r>
              <a:rPr lang="zh-CN" altLang="en-US" sz="2500" dirty="0">
                <a:effectLst/>
              </a:rPr>
              <a:t>           </a:t>
            </a:r>
            <a:r>
              <a:rPr lang="zh-CN" altLang="en-US" dirty="0">
                <a:solidFill>
                  <a:schemeClr val="hlink"/>
                </a:solidFill>
                <a:effectLst/>
              </a:rPr>
              <a:t>①</a:t>
            </a:r>
            <a:r>
              <a:rPr lang="zh-CN" altLang="en-US" dirty="0">
                <a:effectLst/>
              </a:rPr>
              <a:t> </a:t>
            </a:r>
            <a:r>
              <a:rPr lang="zh-CN" altLang="en-US" sz="2500" dirty="0">
                <a:effectLst/>
              </a:rPr>
              <a:t>学生信息的录入、修改、删除和灵活多样的查询功能；</a:t>
            </a:r>
          </a:p>
          <a:p>
            <a:pPr lvl="0">
              <a:lnSpc>
                <a:spcPct val="135000"/>
              </a:lnSpc>
              <a:spcBef>
                <a:spcPct val="5000"/>
              </a:spcBef>
            </a:pPr>
            <a:r>
              <a:rPr lang="zh-CN" altLang="en-US" sz="2500" dirty="0">
                <a:effectLst/>
              </a:rPr>
              <a:t>           </a:t>
            </a:r>
            <a:r>
              <a:rPr lang="zh-CN" altLang="en-US" dirty="0">
                <a:solidFill>
                  <a:schemeClr val="hlink"/>
                </a:solidFill>
                <a:effectLst/>
              </a:rPr>
              <a:t>②</a:t>
            </a:r>
            <a:r>
              <a:rPr lang="zh-CN" altLang="en-US" dirty="0">
                <a:effectLst/>
              </a:rPr>
              <a:t> </a:t>
            </a:r>
            <a:r>
              <a:rPr lang="zh-CN" altLang="en-US" sz="2500" dirty="0">
                <a:solidFill>
                  <a:srgbClr val="006666"/>
                </a:solidFill>
              </a:rPr>
              <a:t>学生选课信息的录入、修改、删除和查询功能；</a:t>
            </a:r>
          </a:p>
          <a:p>
            <a:pPr lvl="0">
              <a:lnSpc>
                <a:spcPct val="135000"/>
              </a:lnSpc>
              <a:spcBef>
                <a:spcPct val="5000"/>
              </a:spcBef>
            </a:pPr>
            <a:r>
              <a:rPr lang="zh-CN" altLang="en-US" sz="2500" dirty="0">
                <a:effectLst/>
              </a:rPr>
              <a:t>           </a:t>
            </a:r>
            <a:r>
              <a:rPr lang="zh-CN" altLang="en-US" dirty="0">
                <a:solidFill>
                  <a:schemeClr val="hlink"/>
                </a:solidFill>
                <a:effectLst/>
              </a:rPr>
              <a:t>③</a:t>
            </a:r>
            <a:r>
              <a:rPr lang="zh-CN" altLang="en-US" dirty="0">
                <a:effectLst/>
              </a:rPr>
              <a:t> </a:t>
            </a:r>
            <a:r>
              <a:rPr lang="zh-CN" altLang="en-US" sz="2500" dirty="0">
                <a:effectLst/>
              </a:rPr>
              <a:t>学生课程考试成绩的录入、修改、删除和灵活多样的查询功能（比如，统计、排名等）；</a:t>
            </a:r>
          </a:p>
          <a:p>
            <a:pPr lvl="0">
              <a:lnSpc>
                <a:spcPct val="135000"/>
              </a:lnSpc>
              <a:spcBef>
                <a:spcPct val="5000"/>
              </a:spcBef>
            </a:pPr>
            <a:r>
              <a:rPr lang="zh-CN" altLang="en-US" sz="2500" dirty="0">
                <a:effectLst/>
              </a:rPr>
              <a:t>          </a:t>
            </a:r>
            <a:r>
              <a:rPr lang="zh-CN" altLang="en-US" sz="2500" dirty="0">
                <a:solidFill>
                  <a:schemeClr val="hlink"/>
                </a:solidFill>
                <a:effectLst/>
              </a:rPr>
              <a:t> </a:t>
            </a:r>
            <a:r>
              <a:rPr lang="zh-CN" altLang="en-US" dirty="0">
                <a:solidFill>
                  <a:schemeClr val="hlink"/>
                </a:solidFill>
                <a:effectLst/>
              </a:rPr>
              <a:t>④</a:t>
            </a:r>
            <a:r>
              <a:rPr lang="zh-CN" altLang="en-US" dirty="0">
                <a:effectLst/>
              </a:rPr>
              <a:t> </a:t>
            </a:r>
            <a:r>
              <a:rPr lang="zh-CN" altLang="en-US" sz="2500" dirty="0">
                <a:solidFill>
                  <a:srgbClr val="006666"/>
                </a:solidFill>
              </a:rPr>
              <a:t>学生留级、休学等特殊信息的管理功能。</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1850"/>
    </mc:Choice>
    <mc:Fallback xmlns="">
      <p:transition spd="slow" advTm="318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33861">
                                            <p:txEl>
                                              <p:pRg st="0" end="0"/>
                                            </p:txEl>
                                          </p:spTgt>
                                        </p:tgtEl>
                                        <p:attrNameLst>
                                          <p:attrName>style.visibility</p:attrName>
                                        </p:attrNameLst>
                                      </p:cBhvr>
                                      <p:to>
                                        <p:strVal val="visible"/>
                                      </p:to>
                                    </p:set>
                                    <p:animEffect transition="in" filter="wipe(left)">
                                      <p:cBhvr>
                                        <p:cTn id="7" dur="1000"/>
                                        <p:tgtEl>
                                          <p:spTgt spid="6338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33861">
                                            <p:txEl>
                                              <p:pRg st="1" end="1"/>
                                            </p:txEl>
                                          </p:spTgt>
                                        </p:tgtEl>
                                        <p:attrNameLst>
                                          <p:attrName>style.visibility</p:attrName>
                                        </p:attrNameLst>
                                      </p:cBhvr>
                                      <p:to>
                                        <p:strVal val="visible"/>
                                      </p:to>
                                    </p:set>
                                    <p:animEffect transition="in" filter="wipe(up)">
                                      <p:cBhvr>
                                        <p:cTn id="12" dur="500"/>
                                        <p:tgtEl>
                                          <p:spTgt spid="633861">
                                            <p:txEl>
                                              <p:pRg st="1" end="1"/>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633861">
                                            <p:txEl>
                                              <p:pRg st="2" end="2"/>
                                            </p:txEl>
                                          </p:spTgt>
                                        </p:tgtEl>
                                        <p:attrNameLst>
                                          <p:attrName>style.visibility</p:attrName>
                                        </p:attrNameLst>
                                      </p:cBhvr>
                                      <p:to>
                                        <p:strVal val="visible"/>
                                      </p:to>
                                    </p:set>
                                    <p:animEffect transition="in" filter="wipe(up)">
                                      <p:cBhvr>
                                        <p:cTn id="16" dur="500"/>
                                        <p:tgtEl>
                                          <p:spTgt spid="633861">
                                            <p:txEl>
                                              <p:pRg st="2" end="2"/>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633861">
                                            <p:txEl>
                                              <p:pRg st="3" end="3"/>
                                            </p:txEl>
                                          </p:spTgt>
                                        </p:tgtEl>
                                        <p:attrNameLst>
                                          <p:attrName>style.visibility</p:attrName>
                                        </p:attrNameLst>
                                      </p:cBhvr>
                                      <p:to>
                                        <p:strVal val="visible"/>
                                      </p:to>
                                    </p:set>
                                    <p:animEffect transition="in" filter="wipe(up)">
                                      <p:cBhvr>
                                        <p:cTn id="20" dur="500"/>
                                        <p:tgtEl>
                                          <p:spTgt spid="633861">
                                            <p:txEl>
                                              <p:pRg st="3" end="3"/>
                                            </p:txEl>
                                          </p:spTgt>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633861">
                                            <p:txEl>
                                              <p:pRg st="4" end="4"/>
                                            </p:txEl>
                                          </p:spTgt>
                                        </p:tgtEl>
                                        <p:attrNameLst>
                                          <p:attrName>style.visibility</p:attrName>
                                        </p:attrNameLst>
                                      </p:cBhvr>
                                      <p:to>
                                        <p:strVal val="visible"/>
                                      </p:to>
                                    </p:set>
                                    <p:animEffect transition="in" filter="wipe(up)">
                                      <p:cBhvr>
                                        <p:cTn id="24" dur="500"/>
                                        <p:tgtEl>
                                          <p:spTgt spid="633861">
                                            <p:txEl>
                                              <p:pRg st="4" end="4"/>
                                            </p:txEl>
                                          </p:spTgt>
                                        </p:tgtEl>
                                      </p:cBhvr>
                                    </p:animEffect>
                                  </p:childTnLst>
                                </p:cTn>
                              </p:par>
                            </p:childTnLst>
                          </p:cTn>
                        </p:par>
                        <p:par>
                          <p:cTn id="25" fill="hold">
                            <p:stCondLst>
                              <p:cond delay="2000"/>
                            </p:stCondLst>
                            <p:childTnLst>
                              <p:par>
                                <p:cTn id="26" presetID="22" presetClass="entr" presetSubtype="1" fill="hold" nodeType="afterEffect">
                                  <p:stCondLst>
                                    <p:cond delay="0"/>
                                  </p:stCondLst>
                                  <p:childTnLst>
                                    <p:set>
                                      <p:cBhvr>
                                        <p:cTn id="27" dur="1" fill="hold">
                                          <p:stCondLst>
                                            <p:cond delay="0"/>
                                          </p:stCondLst>
                                        </p:cTn>
                                        <p:tgtEl>
                                          <p:spTgt spid="633861">
                                            <p:txEl>
                                              <p:pRg st="5" end="5"/>
                                            </p:txEl>
                                          </p:spTgt>
                                        </p:tgtEl>
                                        <p:attrNameLst>
                                          <p:attrName>style.visibility</p:attrName>
                                        </p:attrNameLst>
                                      </p:cBhvr>
                                      <p:to>
                                        <p:strVal val="visible"/>
                                      </p:to>
                                    </p:set>
                                    <p:animEffect transition="in" filter="wipe(up)">
                                      <p:cBhvr>
                                        <p:cTn id="28" dur="500"/>
                                        <p:tgtEl>
                                          <p:spTgt spid="63386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84" name="矩形 634883"/>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四、数据库应用系统的功能需求</a:t>
            </a:r>
            <a:endParaRPr lang="en-US" altLang="zh-CN"/>
          </a:p>
        </p:txBody>
      </p:sp>
      <p:sp>
        <p:nvSpPr>
          <p:cNvPr id="634885" name="矩形 634884"/>
          <p:cNvSpPr/>
          <p:nvPr/>
        </p:nvSpPr>
        <p:spPr>
          <a:xfrm>
            <a:off x="395288" y="1125538"/>
            <a:ext cx="8424862" cy="48958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en-US" altLang="zh-CN" sz="2900">
                <a:solidFill>
                  <a:srgbClr val="660033"/>
                </a:solidFill>
                <a:ea typeface="华文新魏" panose="02010800040101010101" pitchFamily="2" charset="-122"/>
              </a:rPr>
              <a:t>1</a:t>
            </a:r>
            <a:r>
              <a:rPr lang="zh-CN" altLang="en-US" sz="2400" dirty="0">
                <a:solidFill>
                  <a:srgbClr val="660033"/>
                </a:solidFill>
                <a:ea typeface="华文新魏" panose="02010800040101010101" pitchFamily="2" charset="-122"/>
              </a:rPr>
              <a:t>、</a:t>
            </a:r>
            <a:r>
              <a:rPr lang="zh-CN" altLang="en-US" sz="2900" dirty="0">
                <a:solidFill>
                  <a:srgbClr val="660033"/>
                </a:solidFill>
                <a:ea typeface="华文新魏" panose="02010800040101010101" pitchFamily="2" charset="-122"/>
              </a:rPr>
              <a:t>教学管理数据库应用系统的功能需求</a:t>
            </a:r>
            <a:r>
              <a:rPr lang="zh-CN" altLang="en-US" sz="2900" dirty="0">
                <a:solidFill>
                  <a:srgbClr val="003366"/>
                </a:solidFill>
                <a:ea typeface="华文新魏" panose="02010800040101010101" pitchFamily="2" charset="-122"/>
              </a:rPr>
              <a:t>示例</a:t>
            </a:r>
            <a:r>
              <a:rPr lang="zh-CN" altLang="en-US" dirty="0"/>
              <a:t> </a:t>
            </a:r>
            <a:endParaRPr lang="zh-CN" altLang="en-US" b="0" dirty="0">
              <a:solidFill>
                <a:srgbClr val="003366"/>
              </a:solidFill>
              <a:effectLst/>
              <a:ea typeface="黑体" panose="02010609060101010101" pitchFamily="2" charset="-122"/>
            </a:endParaRPr>
          </a:p>
          <a:p>
            <a:pPr lvl="0">
              <a:lnSpc>
                <a:spcPct val="135000"/>
              </a:lnSpc>
              <a:spcBef>
                <a:spcPct val="5000"/>
              </a:spcBef>
            </a:pPr>
            <a:r>
              <a:rPr lang="zh-CN" altLang="en-US" b="0" dirty="0">
                <a:solidFill>
                  <a:srgbClr val="003366"/>
                </a:solidFill>
                <a:effectLst/>
                <a:ea typeface="黑体" panose="02010609060101010101" pitchFamily="2" charset="-122"/>
              </a:rPr>
              <a:t>         </a:t>
            </a:r>
            <a:r>
              <a:rPr lang="en-US" altLang="zh-CN" sz="2500" b="0">
                <a:solidFill>
                  <a:srgbClr val="003366"/>
                </a:solidFill>
                <a:effectLst/>
                <a:latin typeface="黑体" panose="02010609060101010101" pitchFamily="2" charset="-122"/>
                <a:ea typeface="黑体" panose="02010609060101010101" pitchFamily="2" charset="-122"/>
              </a:rPr>
              <a:t>2</a:t>
            </a:r>
            <a:r>
              <a:rPr lang="zh-CN" altLang="en-US" sz="2500" b="0" dirty="0">
                <a:solidFill>
                  <a:srgbClr val="003366"/>
                </a:solidFill>
                <a:effectLst/>
                <a:latin typeface="黑体" panose="02010609060101010101" pitchFamily="2" charset="-122"/>
                <a:ea typeface="黑体" panose="02010609060101010101" pitchFamily="2" charset="-122"/>
              </a:rPr>
              <a:t>）课程信息管理</a:t>
            </a:r>
          </a:p>
          <a:p>
            <a:pPr lvl="0">
              <a:lnSpc>
                <a:spcPct val="135000"/>
              </a:lnSpc>
              <a:spcBef>
                <a:spcPct val="5000"/>
              </a:spcBef>
            </a:pPr>
            <a:r>
              <a:rPr lang="zh-CN" altLang="en-US" sz="2500" dirty="0">
                <a:effectLst/>
              </a:rPr>
              <a:t>           </a:t>
            </a:r>
            <a:r>
              <a:rPr lang="zh-CN" altLang="en-US" dirty="0">
                <a:solidFill>
                  <a:schemeClr val="hlink"/>
                </a:solidFill>
                <a:effectLst/>
              </a:rPr>
              <a:t>① </a:t>
            </a:r>
            <a:r>
              <a:rPr lang="zh-CN" altLang="en-US" sz="2500" dirty="0">
                <a:effectLst/>
              </a:rPr>
              <a:t>课程基本信息的录入、修改、删除和查询功能； </a:t>
            </a:r>
          </a:p>
          <a:p>
            <a:pPr lvl="0">
              <a:lnSpc>
                <a:spcPct val="135000"/>
              </a:lnSpc>
              <a:spcBef>
                <a:spcPct val="5000"/>
              </a:spcBef>
            </a:pPr>
            <a:r>
              <a:rPr lang="zh-CN" altLang="en-US" sz="2500" dirty="0">
                <a:effectLst/>
              </a:rPr>
              <a:t>           </a:t>
            </a:r>
            <a:r>
              <a:rPr lang="zh-CN" altLang="en-US" dirty="0">
                <a:solidFill>
                  <a:schemeClr val="hlink"/>
                </a:solidFill>
                <a:effectLst/>
              </a:rPr>
              <a:t>② </a:t>
            </a:r>
            <a:r>
              <a:rPr lang="zh-CN" altLang="en-US" sz="2500" dirty="0">
                <a:solidFill>
                  <a:srgbClr val="006666"/>
                </a:solidFill>
              </a:rPr>
              <a:t>专业选课信息及选课要求信息的查询功能</a:t>
            </a:r>
            <a:r>
              <a:rPr lang="zh-CN" altLang="en-US" dirty="0">
                <a:solidFill>
                  <a:srgbClr val="006666"/>
                </a:solidFill>
              </a:rPr>
              <a:t> </a:t>
            </a:r>
            <a:r>
              <a:rPr lang="zh-CN" altLang="en-US" sz="2500" dirty="0">
                <a:solidFill>
                  <a:srgbClr val="006666"/>
                </a:solidFill>
              </a:rPr>
              <a:t>；</a:t>
            </a:r>
          </a:p>
          <a:p>
            <a:pPr lvl="0">
              <a:lnSpc>
                <a:spcPct val="135000"/>
              </a:lnSpc>
              <a:spcBef>
                <a:spcPct val="5000"/>
              </a:spcBef>
            </a:pPr>
            <a:r>
              <a:rPr lang="zh-CN" altLang="en-US" sz="2500" dirty="0">
                <a:effectLst/>
              </a:rPr>
              <a:t>           </a:t>
            </a:r>
            <a:r>
              <a:rPr lang="zh-CN" altLang="en-US" dirty="0">
                <a:solidFill>
                  <a:schemeClr val="hlink"/>
                </a:solidFill>
                <a:effectLst/>
              </a:rPr>
              <a:t>③ </a:t>
            </a:r>
            <a:r>
              <a:rPr lang="zh-CN" altLang="en-US" sz="2500" dirty="0">
                <a:effectLst/>
              </a:rPr>
              <a:t>课程安排及其主讲教师信息的查询功能等。</a:t>
            </a:r>
          </a:p>
        </p:txBody>
      </p:sp>
    </p:spTree>
  </p:cSld>
  <p:clrMapOvr>
    <a:masterClrMapping/>
  </p:clrMapOvr>
  <mc:AlternateContent xmlns:mc="http://schemas.openxmlformats.org/markup-compatibility/2006" xmlns:p14="http://schemas.microsoft.com/office/powerpoint/2010/main">
    <mc:Choice Requires="p14">
      <p:transition spd="slow" p14:dur="2000" advTm="16145"/>
    </mc:Choice>
    <mc:Fallback xmlns="">
      <p:transition spd="slow" advTm="1614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34885">
                                            <p:txEl>
                                              <p:pRg st="1" end="1"/>
                                            </p:txEl>
                                          </p:spTgt>
                                        </p:tgtEl>
                                        <p:attrNameLst>
                                          <p:attrName>style.visibility</p:attrName>
                                        </p:attrNameLst>
                                      </p:cBhvr>
                                      <p:to>
                                        <p:strVal val="visible"/>
                                      </p:to>
                                    </p:set>
                                    <p:animEffect transition="in" filter="wipe(up)">
                                      <p:cBhvr>
                                        <p:cTn id="7" dur="500"/>
                                        <p:tgtEl>
                                          <p:spTgt spid="634885">
                                            <p:txEl>
                                              <p:pRg st="1" end="1"/>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34885">
                                            <p:txEl>
                                              <p:pRg st="2" end="2"/>
                                            </p:txEl>
                                          </p:spTgt>
                                        </p:tgtEl>
                                        <p:attrNameLst>
                                          <p:attrName>style.visibility</p:attrName>
                                        </p:attrNameLst>
                                      </p:cBhvr>
                                      <p:to>
                                        <p:strVal val="visible"/>
                                      </p:to>
                                    </p:set>
                                    <p:animEffect transition="in" filter="wipe(up)">
                                      <p:cBhvr>
                                        <p:cTn id="11" dur="500"/>
                                        <p:tgtEl>
                                          <p:spTgt spid="634885">
                                            <p:txEl>
                                              <p:pRg st="2" end="2"/>
                                            </p:txEl>
                                          </p:spTgt>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634885">
                                            <p:txEl>
                                              <p:pRg st="3" end="3"/>
                                            </p:txEl>
                                          </p:spTgt>
                                        </p:tgtEl>
                                        <p:attrNameLst>
                                          <p:attrName>style.visibility</p:attrName>
                                        </p:attrNameLst>
                                      </p:cBhvr>
                                      <p:to>
                                        <p:strVal val="visible"/>
                                      </p:to>
                                    </p:set>
                                    <p:animEffect transition="in" filter="wipe(up)">
                                      <p:cBhvr>
                                        <p:cTn id="15" dur="500"/>
                                        <p:tgtEl>
                                          <p:spTgt spid="634885">
                                            <p:txEl>
                                              <p:pRg st="3" end="3"/>
                                            </p:txEl>
                                          </p:spTgt>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634885">
                                            <p:txEl>
                                              <p:pRg st="4" end="4"/>
                                            </p:txEl>
                                          </p:spTgt>
                                        </p:tgtEl>
                                        <p:attrNameLst>
                                          <p:attrName>style.visibility</p:attrName>
                                        </p:attrNameLst>
                                      </p:cBhvr>
                                      <p:to>
                                        <p:strVal val="visible"/>
                                      </p:to>
                                    </p:set>
                                    <p:animEffect transition="in" filter="wipe(up)">
                                      <p:cBhvr>
                                        <p:cTn id="19" dur="500"/>
                                        <p:tgtEl>
                                          <p:spTgt spid="63488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908" name="矩形 635907"/>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四、数据库应用系统的功能需求</a:t>
            </a:r>
            <a:endParaRPr lang="en-US" altLang="zh-CN"/>
          </a:p>
        </p:txBody>
      </p:sp>
      <p:sp>
        <p:nvSpPr>
          <p:cNvPr id="635909" name="矩形 635908"/>
          <p:cNvSpPr/>
          <p:nvPr/>
        </p:nvSpPr>
        <p:spPr>
          <a:xfrm>
            <a:off x="395288" y="1125538"/>
            <a:ext cx="8424862" cy="48958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en-US" altLang="zh-CN" sz="2900">
                <a:solidFill>
                  <a:srgbClr val="660033"/>
                </a:solidFill>
                <a:ea typeface="华文新魏" panose="02010800040101010101" pitchFamily="2" charset="-122"/>
              </a:rPr>
              <a:t>1</a:t>
            </a:r>
            <a:r>
              <a:rPr lang="zh-CN" altLang="en-US" sz="2400" dirty="0">
                <a:solidFill>
                  <a:srgbClr val="660033"/>
                </a:solidFill>
                <a:ea typeface="华文新魏" panose="02010800040101010101" pitchFamily="2" charset="-122"/>
              </a:rPr>
              <a:t>、</a:t>
            </a:r>
            <a:r>
              <a:rPr lang="zh-CN" altLang="en-US" sz="2900" dirty="0">
                <a:solidFill>
                  <a:srgbClr val="660033"/>
                </a:solidFill>
                <a:ea typeface="华文新魏" panose="02010800040101010101" pitchFamily="2" charset="-122"/>
              </a:rPr>
              <a:t>教学管理数据库应用系统的功能需求</a:t>
            </a:r>
            <a:r>
              <a:rPr lang="zh-CN" altLang="en-US" sz="2900" dirty="0">
                <a:solidFill>
                  <a:srgbClr val="003366"/>
                </a:solidFill>
                <a:ea typeface="华文新魏" panose="02010800040101010101" pitchFamily="2" charset="-122"/>
              </a:rPr>
              <a:t>示例</a:t>
            </a:r>
            <a:r>
              <a:rPr lang="zh-CN" altLang="en-US" dirty="0"/>
              <a:t> </a:t>
            </a:r>
            <a:endParaRPr lang="zh-CN" altLang="en-US" b="0" dirty="0">
              <a:solidFill>
                <a:srgbClr val="003366"/>
              </a:solidFill>
              <a:effectLst/>
              <a:ea typeface="黑体" panose="02010609060101010101" pitchFamily="2" charset="-122"/>
            </a:endParaRPr>
          </a:p>
          <a:p>
            <a:pPr lvl="0">
              <a:lnSpc>
                <a:spcPct val="135000"/>
              </a:lnSpc>
              <a:spcBef>
                <a:spcPct val="5000"/>
              </a:spcBef>
            </a:pPr>
            <a:r>
              <a:rPr lang="zh-CN" altLang="en-US" b="0" dirty="0">
                <a:solidFill>
                  <a:srgbClr val="003366"/>
                </a:solidFill>
                <a:effectLst/>
                <a:ea typeface="黑体" panose="02010609060101010101" pitchFamily="2" charset="-122"/>
              </a:rPr>
              <a:t>         </a:t>
            </a:r>
            <a:r>
              <a:rPr lang="en-US" altLang="zh-CN" sz="2500" b="0">
                <a:solidFill>
                  <a:srgbClr val="003366"/>
                </a:solidFill>
                <a:effectLst/>
                <a:latin typeface="黑体" panose="02010609060101010101" pitchFamily="2" charset="-122"/>
                <a:ea typeface="黑体" panose="02010609060101010101" pitchFamily="2" charset="-122"/>
              </a:rPr>
              <a:t>3</a:t>
            </a:r>
            <a:r>
              <a:rPr lang="zh-CN" altLang="en-US" sz="2500" b="0" dirty="0">
                <a:solidFill>
                  <a:srgbClr val="003366"/>
                </a:solidFill>
                <a:effectLst/>
                <a:latin typeface="黑体" panose="02010609060101010101" pitchFamily="2" charset="-122"/>
                <a:ea typeface="黑体" panose="02010609060101010101" pitchFamily="2" charset="-122"/>
              </a:rPr>
              <a:t>）院系及专业信息管理</a:t>
            </a:r>
          </a:p>
          <a:p>
            <a:pPr lvl="0">
              <a:lnSpc>
                <a:spcPct val="150000"/>
              </a:lnSpc>
              <a:spcBef>
                <a:spcPct val="5000"/>
              </a:spcBef>
            </a:pPr>
            <a:r>
              <a:rPr lang="zh-CN" altLang="en-US" sz="2500" dirty="0">
                <a:effectLst/>
              </a:rPr>
              <a:t>           </a:t>
            </a:r>
            <a:r>
              <a:rPr lang="zh-CN" altLang="en-US" sz="2700" dirty="0">
                <a:effectLst/>
              </a:rPr>
              <a:t>院系机构设置和专业设置信息的管理，包括相关的录入、修改、删除和查询功能。</a:t>
            </a:r>
          </a:p>
          <a:p>
            <a:pPr lvl="0">
              <a:lnSpc>
                <a:spcPct val="150000"/>
              </a:lnSpc>
              <a:spcBef>
                <a:spcPct val="5000"/>
              </a:spcBef>
            </a:pPr>
            <a:r>
              <a:rPr lang="zh-CN" altLang="en-US" sz="2700" dirty="0">
                <a:effectLst/>
              </a:rPr>
              <a:t>          </a:t>
            </a:r>
            <a:r>
              <a:rPr lang="en-US" altLang="zh-CN" sz="2500" b="0">
                <a:solidFill>
                  <a:srgbClr val="003366"/>
                </a:solidFill>
                <a:effectLst/>
                <a:latin typeface="黑体" panose="02010609060101010101" pitchFamily="2" charset="-122"/>
                <a:ea typeface="黑体" panose="02010609060101010101" pitchFamily="2" charset="-122"/>
              </a:rPr>
              <a:t>4</a:t>
            </a:r>
            <a:r>
              <a:rPr lang="zh-CN" altLang="en-US" sz="2500" b="0" dirty="0">
                <a:solidFill>
                  <a:srgbClr val="003366"/>
                </a:solidFill>
                <a:effectLst/>
                <a:latin typeface="黑体" panose="02010609060101010101" pitchFamily="2" charset="-122"/>
                <a:ea typeface="黑体" panose="02010609060101010101" pitchFamily="2" charset="-122"/>
              </a:rPr>
              <a:t>）各种管理信息的报表输出和打印功能</a:t>
            </a:r>
            <a:r>
              <a:rPr lang="zh-CN" altLang="en-US" dirty="0"/>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2754"/>
    </mc:Choice>
    <mc:Fallback xmlns="">
      <p:transition spd="slow" advTm="327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35909">
                                            <p:txEl>
                                              <p:pRg st="1" end="1"/>
                                            </p:txEl>
                                          </p:spTgt>
                                        </p:tgtEl>
                                        <p:attrNameLst>
                                          <p:attrName>style.visibility</p:attrName>
                                        </p:attrNameLst>
                                      </p:cBhvr>
                                      <p:to>
                                        <p:strVal val="visible"/>
                                      </p:to>
                                    </p:set>
                                    <p:animEffect transition="in" filter="wipe(up)">
                                      <p:cBhvr>
                                        <p:cTn id="7" dur="500"/>
                                        <p:tgtEl>
                                          <p:spTgt spid="635909">
                                            <p:txEl>
                                              <p:pRg st="1" end="1"/>
                                            </p:txEl>
                                          </p:spTgt>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35909">
                                            <p:txEl>
                                              <p:pRg st="2" end="2"/>
                                            </p:txEl>
                                          </p:spTgt>
                                        </p:tgtEl>
                                        <p:attrNameLst>
                                          <p:attrName>style.visibility</p:attrName>
                                        </p:attrNameLst>
                                      </p:cBhvr>
                                      <p:to>
                                        <p:strVal val="visible"/>
                                      </p:to>
                                    </p:set>
                                    <p:animEffect transition="in" filter="wipe(up)">
                                      <p:cBhvr>
                                        <p:cTn id="11" dur="500"/>
                                        <p:tgtEl>
                                          <p:spTgt spid="635909">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35909">
                                            <p:txEl>
                                              <p:pRg st="3" end="3"/>
                                            </p:txEl>
                                          </p:spTgt>
                                        </p:tgtEl>
                                        <p:attrNameLst>
                                          <p:attrName>style.visibility</p:attrName>
                                        </p:attrNameLst>
                                      </p:cBhvr>
                                      <p:to>
                                        <p:strVal val="visible"/>
                                      </p:to>
                                    </p:set>
                                    <p:animEffect transition="in" filter="wipe(left)">
                                      <p:cBhvr>
                                        <p:cTn id="16" dur="1000"/>
                                        <p:tgtEl>
                                          <p:spTgt spid="63590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2" name="矩形 636931"/>
          <p:cNvSpPr/>
          <p:nvPr/>
        </p:nvSpPr>
        <p:spPr>
          <a:xfrm>
            <a:off x="1150938" y="71438"/>
            <a:ext cx="7793037"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dirty="0"/>
              <a:t>四、数据库应用系统的功能需求</a:t>
            </a:r>
            <a:endParaRPr lang="en-US" altLang="zh-CN"/>
          </a:p>
        </p:txBody>
      </p:sp>
      <p:sp>
        <p:nvSpPr>
          <p:cNvPr id="636933" name="矩形 636932"/>
          <p:cNvSpPr/>
          <p:nvPr/>
        </p:nvSpPr>
        <p:spPr>
          <a:xfrm>
            <a:off x="395288" y="1125538"/>
            <a:ext cx="8424862" cy="48958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en-US" altLang="zh-CN" sz="2900">
                <a:solidFill>
                  <a:srgbClr val="660033"/>
                </a:solidFill>
                <a:ea typeface="华文新魏" panose="02010800040101010101" pitchFamily="2" charset="-122"/>
              </a:rPr>
              <a:t>2</a:t>
            </a:r>
            <a:r>
              <a:rPr lang="zh-CN" altLang="en-US" sz="2900" dirty="0">
                <a:solidFill>
                  <a:srgbClr val="660033"/>
                </a:solidFill>
                <a:ea typeface="华文新魏" panose="02010800040101010101" pitchFamily="2" charset="-122"/>
              </a:rPr>
              <a:t>、企业网站的功能需求</a:t>
            </a:r>
            <a:r>
              <a:rPr lang="zh-CN" altLang="en-US" sz="2900" dirty="0">
                <a:solidFill>
                  <a:srgbClr val="003366"/>
                </a:solidFill>
                <a:ea typeface="华文新魏" panose="02010800040101010101" pitchFamily="2" charset="-122"/>
              </a:rPr>
              <a:t>示例</a:t>
            </a:r>
            <a:r>
              <a:rPr lang="zh-CN" altLang="en-US" dirty="0"/>
              <a:t> </a:t>
            </a:r>
            <a:endParaRPr lang="zh-CN" altLang="en-US" b="0" dirty="0">
              <a:solidFill>
                <a:srgbClr val="003366"/>
              </a:solidFill>
              <a:effectLst/>
              <a:ea typeface="黑体" panose="02010609060101010101" pitchFamily="2" charset="-122"/>
            </a:endParaRPr>
          </a:p>
          <a:p>
            <a:pPr lvl="0"/>
            <a:r>
              <a:rPr lang="zh-CN" altLang="en-US" b="0" dirty="0">
                <a:solidFill>
                  <a:srgbClr val="003366"/>
                </a:solidFill>
                <a:effectLst/>
                <a:ea typeface="黑体" panose="02010609060101010101" pitchFamily="2" charset="-122"/>
              </a:rPr>
              <a:t>         </a:t>
            </a:r>
            <a:r>
              <a:rPr lang="en-US" altLang="zh-CN" sz="2700">
                <a:effectLst/>
              </a:rPr>
              <a:t>1</a:t>
            </a:r>
            <a:r>
              <a:rPr lang="zh-CN" altLang="en-US" sz="2700" dirty="0">
                <a:effectLst/>
              </a:rPr>
              <a:t>）新闻发布</a:t>
            </a:r>
          </a:p>
          <a:p>
            <a:pPr lvl="0"/>
            <a:r>
              <a:rPr lang="en-US" altLang="zh-CN" sz="2700">
                <a:effectLst/>
              </a:rPr>
              <a:t>          2</a:t>
            </a:r>
            <a:r>
              <a:rPr lang="zh-CN" altLang="en-US" sz="2700" dirty="0">
                <a:effectLst/>
              </a:rPr>
              <a:t>）产品展示</a:t>
            </a:r>
          </a:p>
          <a:p>
            <a:pPr lvl="0"/>
            <a:r>
              <a:rPr lang="en-US" altLang="zh-CN" sz="2700">
                <a:effectLst/>
              </a:rPr>
              <a:t>          3</a:t>
            </a:r>
            <a:r>
              <a:rPr lang="zh-CN" altLang="en-US" sz="2700" dirty="0">
                <a:effectLst/>
              </a:rPr>
              <a:t>）用户管理</a:t>
            </a:r>
          </a:p>
          <a:p>
            <a:pPr lvl="0"/>
            <a:r>
              <a:rPr lang="en-US" altLang="zh-CN" sz="2700">
                <a:effectLst/>
              </a:rPr>
              <a:t>          4</a:t>
            </a:r>
            <a:r>
              <a:rPr lang="zh-CN" altLang="en-US" sz="2700" dirty="0">
                <a:effectLst/>
              </a:rPr>
              <a:t>）需求调查与信息反馈</a:t>
            </a:r>
          </a:p>
          <a:p>
            <a:pPr lvl="0"/>
            <a:r>
              <a:rPr lang="en-US" altLang="zh-CN" sz="2700">
                <a:effectLst/>
              </a:rPr>
              <a:t>          5</a:t>
            </a:r>
            <a:r>
              <a:rPr lang="zh-CN" altLang="en-US" sz="2700" dirty="0">
                <a:effectLst/>
              </a:rPr>
              <a:t>）网上购物</a:t>
            </a:r>
          </a:p>
          <a:p>
            <a:pPr lvl="0"/>
            <a:r>
              <a:rPr lang="en-US" altLang="zh-CN" sz="2700">
                <a:effectLst/>
              </a:rPr>
              <a:t>          6</a:t>
            </a:r>
            <a:r>
              <a:rPr lang="zh-CN" altLang="en-US" sz="2700" dirty="0">
                <a:effectLst/>
              </a:rPr>
              <a:t>）人才招聘</a:t>
            </a:r>
          </a:p>
          <a:p>
            <a:pPr lvl="0"/>
            <a:r>
              <a:rPr lang="en-US" altLang="zh-CN" sz="2700">
                <a:effectLst/>
              </a:rPr>
              <a:t>          7</a:t>
            </a:r>
            <a:r>
              <a:rPr lang="zh-CN" altLang="en-US" sz="2700" dirty="0">
                <a:effectLst/>
              </a:rPr>
              <a:t>）企业论坛</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29071"/>
    </mc:Choice>
    <mc:Fallback xmlns="">
      <p:transition spd="slow" advTm="290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36933">
                                            <p:txEl>
                                              <p:pRg st="0" end="0"/>
                                            </p:txEl>
                                          </p:spTgt>
                                        </p:tgtEl>
                                        <p:attrNameLst>
                                          <p:attrName>style.visibility</p:attrName>
                                        </p:attrNameLst>
                                      </p:cBhvr>
                                      <p:to>
                                        <p:strVal val="visible"/>
                                      </p:to>
                                    </p:set>
                                    <p:animEffect transition="in" filter="wipe(left)">
                                      <p:cBhvr>
                                        <p:cTn id="7" dur="1000"/>
                                        <p:tgtEl>
                                          <p:spTgt spid="6369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36933">
                                            <p:txEl>
                                              <p:pRg st="1" end="1"/>
                                            </p:txEl>
                                          </p:spTgt>
                                        </p:tgtEl>
                                        <p:attrNameLst>
                                          <p:attrName>style.visibility</p:attrName>
                                        </p:attrNameLst>
                                      </p:cBhvr>
                                      <p:to>
                                        <p:strVal val="visible"/>
                                      </p:to>
                                    </p:set>
                                    <p:animEffect transition="in" filter="wipe(up)">
                                      <p:cBhvr>
                                        <p:cTn id="12" dur="500"/>
                                        <p:tgtEl>
                                          <p:spTgt spid="636933">
                                            <p:txEl>
                                              <p:pRg st="1" end="1"/>
                                            </p:txEl>
                                          </p:spTgt>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636933">
                                            <p:txEl>
                                              <p:pRg st="2" end="2"/>
                                            </p:txEl>
                                          </p:spTgt>
                                        </p:tgtEl>
                                        <p:attrNameLst>
                                          <p:attrName>style.visibility</p:attrName>
                                        </p:attrNameLst>
                                      </p:cBhvr>
                                      <p:to>
                                        <p:strVal val="visible"/>
                                      </p:to>
                                    </p:set>
                                    <p:animEffect transition="in" filter="wipe(up)">
                                      <p:cBhvr>
                                        <p:cTn id="16" dur="500"/>
                                        <p:tgtEl>
                                          <p:spTgt spid="636933">
                                            <p:txEl>
                                              <p:pRg st="2" end="2"/>
                                            </p:txEl>
                                          </p:spTgt>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636933">
                                            <p:txEl>
                                              <p:pRg st="3" end="3"/>
                                            </p:txEl>
                                          </p:spTgt>
                                        </p:tgtEl>
                                        <p:attrNameLst>
                                          <p:attrName>style.visibility</p:attrName>
                                        </p:attrNameLst>
                                      </p:cBhvr>
                                      <p:to>
                                        <p:strVal val="visible"/>
                                      </p:to>
                                    </p:set>
                                    <p:animEffect transition="in" filter="wipe(up)">
                                      <p:cBhvr>
                                        <p:cTn id="20" dur="500"/>
                                        <p:tgtEl>
                                          <p:spTgt spid="636933">
                                            <p:txEl>
                                              <p:pRg st="3" end="3"/>
                                            </p:txEl>
                                          </p:spTgt>
                                        </p:tgtEl>
                                      </p:cBhvr>
                                    </p:animEffect>
                                  </p:childTnLst>
                                </p:cTn>
                              </p:par>
                            </p:childTnLst>
                          </p:cTn>
                        </p:par>
                        <p:par>
                          <p:cTn id="21" fill="hold">
                            <p:stCondLst>
                              <p:cond delay="1500"/>
                            </p:stCondLst>
                            <p:childTnLst>
                              <p:par>
                                <p:cTn id="22" presetID="22" presetClass="entr" presetSubtype="1" fill="hold" nodeType="afterEffect">
                                  <p:stCondLst>
                                    <p:cond delay="0"/>
                                  </p:stCondLst>
                                  <p:childTnLst>
                                    <p:set>
                                      <p:cBhvr>
                                        <p:cTn id="23" dur="1" fill="hold">
                                          <p:stCondLst>
                                            <p:cond delay="0"/>
                                          </p:stCondLst>
                                        </p:cTn>
                                        <p:tgtEl>
                                          <p:spTgt spid="636933">
                                            <p:txEl>
                                              <p:pRg st="4" end="4"/>
                                            </p:txEl>
                                          </p:spTgt>
                                        </p:tgtEl>
                                        <p:attrNameLst>
                                          <p:attrName>style.visibility</p:attrName>
                                        </p:attrNameLst>
                                      </p:cBhvr>
                                      <p:to>
                                        <p:strVal val="visible"/>
                                      </p:to>
                                    </p:set>
                                    <p:animEffect transition="in" filter="wipe(up)">
                                      <p:cBhvr>
                                        <p:cTn id="24" dur="500"/>
                                        <p:tgtEl>
                                          <p:spTgt spid="636933">
                                            <p:txEl>
                                              <p:pRg st="4" end="4"/>
                                            </p:txEl>
                                          </p:spTgt>
                                        </p:tgtEl>
                                      </p:cBhvr>
                                    </p:animEffect>
                                  </p:childTnLst>
                                </p:cTn>
                              </p:par>
                            </p:childTnLst>
                          </p:cTn>
                        </p:par>
                        <p:par>
                          <p:cTn id="25" fill="hold">
                            <p:stCondLst>
                              <p:cond delay="2000"/>
                            </p:stCondLst>
                            <p:childTnLst>
                              <p:par>
                                <p:cTn id="26" presetID="22" presetClass="entr" presetSubtype="1" fill="hold" nodeType="afterEffect">
                                  <p:stCondLst>
                                    <p:cond delay="0"/>
                                  </p:stCondLst>
                                  <p:childTnLst>
                                    <p:set>
                                      <p:cBhvr>
                                        <p:cTn id="27" dur="1" fill="hold">
                                          <p:stCondLst>
                                            <p:cond delay="0"/>
                                          </p:stCondLst>
                                        </p:cTn>
                                        <p:tgtEl>
                                          <p:spTgt spid="636933">
                                            <p:txEl>
                                              <p:pRg st="5" end="5"/>
                                            </p:txEl>
                                          </p:spTgt>
                                        </p:tgtEl>
                                        <p:attrNameLst>
                                          <p:attrName>style.visibility</p:attrName>
                                        </p:attrNameLst>
                                      </p:cBhvr>
                                      <p:to>
                                        <p:strVal val="visible"/>
                                      </p:to>
                                    </p:set>
                                    <p:animEffect transition="in" filter="wipe(up)">
                                      <p:cBhvr>
                                        <p:cTn id="28" dur="500"/>
                                        <p:tgtEl>
                                          <p:spTgt spid="636933">
                                            <p:txEl>
                                              <p:pRg st="5" end="5"/>
                                            </p:txEl>
                                          </p:spTgt>
                                        </p:tgtEl>
                                      </p:cBhvr>
                                    </p:animEffect>
                                  </p:childTnLst>
                                </p:cTn>
                              </p:par>
                            </p:childTnLst>
                          </p:cTn>
                        </p:par>
                        <p:par>
                          <p:cTn id="29" fill="hold">
                            <p:stCondLst>
                              <p:cond delay="2500"/>
                            </p:stCondLst>
                            <p:childTnLst>
                              <p:par>
                                <p:cTn id="30" presetID="22" presetClass="entr" presetSubtype="1" fill="hold" nodeType="afterEffect">
                                  <p:stCondLst>
                                    <p:cond delay="0"/>
                                  </p:stCondLst>
                                  <p:childTnLst>
                                    <p:set>
                                      <p:cBhvr>
                                        <p:cTn id="31" dur="1" fill="hold">
                                          <p:stCondLst>
                                            <p:cond delay="0"/>
                                          </p:stCondLst>
                                        </p:cTn>
                                        <p:tgtEl>
                                          <p:spTgt spid="636933">
                                            <p:txEl>
                                              <p:pRg st="6" end="6"/>
                                            </p:txEl>
                                          </p:spTgt>
                                        </p:tgtEl>
                                        <p:attrNameLst>
                                          <p:attrName>style.visibility</p:attrName>
                                        </p:attrNameLst>
                                      </p:cBhvr>
                                      <p:to>
                                        <p:strVal val="visible"/>
                                      </p:to>
                                    </p:set>
                                    <p:animEffect transition="in" filter="wipe(up)">
                                      <p:cBhvr>
                                        <p:cTn id="32" dur="500"/>
                                        <p:tgtEl>
                                          <p:spTgt spid="636933">
                                            <p:txEl>
                                              <p:pRg st="6" end="6"/>
                                            </p:txEl>
                                          </p:spTgt>
                                        </p:tgtEl>
                                      </p:cBhvr>
                                    </p:animEffect>
                                  </p:childTnLst>
                                </p:cTn>
                              </p:par>
                            </p:childTnLst>
                          </p:cTn>
                        </p:par>
                        <p:par>
                          <p:cTn id="33" fill="hold">
                            <p:stCondLst>
                              <p:cond delay="3000"/>
                            </p:stCondLst>
                            <p:childTnLst>
                              <p:par>
                                <p:cTn id="34" presetID="22" presetClass="entr" presetSubtype="1" fill="hold" nodeType="afterEffect">
                                  <p:stCondLst>
                                    <p:cond delay="0"/>
                                  </p:stCondLst>
                                  <p:childTnLst>
                                    <p:set>
                                      <p:cBhvr>
                                        <p:cTn id="35" dur="1" fill="hold">
                                          <p:stCondLst>
                                            <p:cond delay="0"/>
                                          </p:stCondLst>
                                        </p:cTn>
                                        <p:tgtEl>
                                          <p:spTgt spid="636933">
                                            <p:txEl>
                                              <p:pRg st="7" end="7"/>
                                            </p:txEl>
                                          </p:spTgt>
                                        </p:tgtEl>
                                        <p:attrNameLst>
                                          <p:attrName>style.visibility</p:attrName>
                                        </p:attrNameLst>
                                      </p:cBhvr>
                                      <p:to>
                                        <p:strVal val="visible"/>
                                      </p:to>
                                    </p:set>
                                    <p:animEffect transition="in" filter="wipe(up)">
                                      <p:cBhvr>
                                        <p:cTn id="36" dur="500"/>
                                        <p:tgtEl>
                                          <p:spTgt spid="63693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8" name="矩形 630787"/>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五、数据库应用系统环境配置与安全性需求</a:t>
            </a:r>
            <a:r>
              <a:rPr lang="zh-CN" altLang="en-US" dirty="0"/>
              <a:t> </a:t>
            </a:r>
            <a:endParaRPr lang="en-US" altLang="zh-CN"/>
          </a:p>
        </p:txBody>
      </p:sp>
      <p:sp>
        <p:nvSpPr>
          <p:cNvPr id="630789" name="矩形 630788"/>
          <p:cNvSpPr/>
          <p:nvPr/>
        </p:nvSpPr>
        <p:spPr>
          <a:xfrm>
            <a:off x="395288" y="1125538"/>
            <a:ext cx="8424862" cy="48958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en-US" altLang="zh-CN" sz="2900">
                <a:solidFill>
                  <a:srgbClr val="660033"/>
                </a:solidFill>
                <a:ea typeface="华文新魏" panose="02010800040101010101" pitchFamily="2" charset="-122"/>
              </a:rPr>
              <a:t>1</a:t>
            </a:r>
            <a:r>
              <a:rPr lang="zh-CN" altLang="en-US" sz="2900" dirty="0">
                <a:solidFill>
                  <a:srgbClr val="660033"/>
                </a:solidFill>
                <a:ea typeface="华文新魏" panose="02010800040101010101" pitchFamily="2" charset="-122"/>
              </a:rPr>
              <a:t>、</a:t>
            </a:r>
            <a:r>
              <a:rPr lang="en-US" altLang="zh-CN"/>
              <a:t> </a:t>
            </a:r>
            <a:r>
              <a:rPr lang="zh-CN" altLang="en-US" sz="2900" dirty="0">
                <a:solidFill>
                  <a:srgbClr val="660033"/>
                </a:solidFill>
                <a:ea typeface="华文新魏" panose="02010800040101010101" pitchFamily="2" charset="-122"/>
              </a:rPr>
              <a:t>数据库应用系统的环境配置</a:t>
            </a:r>
            <a:r>
              <a:rPr lang="zh-CN" altLang="en-US" dirty="0"/>
              <a:t> </a:t>
            </a:r>
            <a:endParaRPr lang="zh-CN" altLang="en-US" b="0" dirty="0">
              <a:solidFill>
                <a:srgbClr val="003366"/>
              </a:solidFill>
              <a:effectLst/>
              <a:ea typeface="黑体" panose="02010609060101010101" pitchFamily="2" charset="-122"/>
            </a:endParaRPr>
          </a:p>
          <a:p>
            <a:pPr lvl="0"/>
            <a:r>
              <a:rPr lang="zh-CN" altLang="en-US" b="0" dirty="0">
                <a:solidFill>
                  <a:srgbClr val="003366"/>
                </a:solidFill>
                <a:effectLst/>
                <a:ea typeface="黑体" panose="02010609060101010101" pitchFamily="2" charset="-122"/>
              </a:rPr>
              <a:t>         依据用户需求分析获知的</a:t>
            </a:r>
            <a:r>
              <a:rPr lang="zh-CN" altLang="en-US" dirty="0">
                <a:effectLst/>
              </a:rPr>
              <a:t>建立系统的复杂程度；用户组织的规模、管理层次及其相互间的业务关系；用户组织各分机构的地理分布</a:t>
            </a:r>
            <a:r>
              <a:rPr lang="zh-CN" altLang="en-US" b="0" dirty="0">
                <a:effectLst/>
              </a:rPr>
              <a:t>（</a:t>
            </a:r>
            <a:r>
              <a:rPr lang="zh-CN" altLang="en-US" dirty="0">
                <a:solidFill>
                  <a:srgbClr val="006666"/>
                </a:solidFill>
                <a:effectLst/>
              </a:rPr>
              <a:t>一个办公室，一个建筑物内，一个大院内，一个城市的不同街区，位于不同的城市等</a:t>
            </a:r>
            <a:r>
              <a:rPr lang="zh-CN" altLang="en-US" b="0" dirty="0">
                <a:effectLst/>
              </a:rPr>
              <a:t>），</a:t>
            </a:r>
            <a:r>
              <a:rPr lang="zh-CN" altLang="en-US" b="0" dirty="0">
                <a:solidFill>
                  <a:srgbClr val="003366"/>
                </a:solidFill>
                <a:effectLst/>
                <a:ea typeface="黑体" panose="02010609060101010101" pitchFamily="2" charset="-122"/>
              </a:rPr>
              <a:t>确定</a:t>
            </a:r>
            <a:r>
              <a:rPr lang="zh-CN" altLang="en-US" dirty="0">
                <a:effectLst/>
              </a:rPr>
              <a:t>要建的数据库应用系统的环境配置。</a:t>
            </a:r>
            <a:r>
              <a:rPr lang="zh-CN" altLang="en-US" dirty="0"/>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167"/>
    </mc:Choice>
    <mc:Fallback xmlns="">
      <p:transition spd="slow" advTm="521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630789"/>
                                        </p:tgtEl>
                                        <p:attrNameLst>
                                          <p:attrName>style.visibility</p:attrName>
                                        </p:attrNameLst>
                                      </p:cBhvr>
                                      <p:to>
                                        <p:strVal val="visible"/>
                                      </p:to>
                                    </p:set>
                                    <p:animEffect transition="in" filter="diamond(out)">
                                      <p:cBhvr>
                                        <p:cTn id="7" dur="1000"/>
                                        <p:tgtEl>
                                          <p:spTgt spid="630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6" name="矩形 637955"/>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五、数据库应用系统环境配置与安全性需求</a:t>
            </a:r>
            <a:r>
              <a:rPr lang="zh-CN" altLang="en-US" dirty="0"/>
              <a:t> </a:t>
            </a:r>
            <a:endParaRPr lang="en-US" altLang="zh-CN"/>
          </a:p>
        </p:txBody>
      </p:sp>
      <p:sp>
        <p:nvSpPr>
          <p:cNvPr id="637957" name="矩形 637956"/>
          <p:cNvSpPr/>
          <p:nvPr/>
        </p:nvSpPr>
        <p:spPr>
          <a:xfrm>
            <a:off x="395288" y="1125538"/>
            <a:ext cx="8424862" cy="48958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en-US" altLang="zh-CN" sz="2900">
                <a:solidFill>
                  <a:srgbClr val="660033"/>
                </a:solidFill>
                <a:ea typeface="华文新魏" panose="02010800040101010101" pitchFamily="2" charset="-122"/>
              </a:rPr>
              <a:t>1</a:t>
            </a:r>
            <a:r>
              <a:rPr lang="zh-CN" altLang="en-US" sz="2900" dirty="0">
                <a:solidFill>
                  <a:srgbClr val="660033"/>
                </a:solidFill>
                <a:ea typeface="华文新魏" panose="02010800040101010101" pitchFamily="2" charset="-122"/>
              </a:rPr>
              <a:t>、</a:t>
            </a:r>
            <a:r>
              <a:rPr lang="en-US" altLang="zh-CN"/>
              <a:t> </a:t>
            </a:r>
            <a:r>
              <a:rPr lang="zh-CN" altLang="en-US" sz="2900" dirty="0">
                <a:solidFill>
                  <a:srgbClr val="660033"/>
                </a:solidFill>
                <a:ea typeface="华文新魏" panose="02010800040101010101" pitchFamily="2" charset="-122"/>
              </a:rPr>
              <a:t>数据库应用系统的环境配置</a:t>
            </a:r>
            <a:r>
              <a:rPr lang="zh-CN" altLang="en-US" dirty="0"/>
              <a:t> </a:t>
            </a:r>
            <a:endParaRPr lang="zh-CN" altLang="en-US" b="0" dirty="0">
              <a:solidFill>
                <a:srgbClr val="003366"/>
              </a:solidFill>
              <a:effectLst/>
              <a:ea typeface="黑体" panose="02010609060101010101" pitchFamily="2" charset="-122"/>
            </a:endParaRPr>
          </a:p>
          <a:p>
            <a:pPr lvl="0"/>
            <a:r>
              <a:rPr lang="zh-CN" altLang="en-US" b="0" dirty="0">
                <a:solidFill>
                  <a:srgbClr val="003366"/>
                </a:solidFill>
                <a:effectLst/>
                <a:ea typeface="黑体" panose="02010609060101010101" pitchFamily="2" charset="-122"/>
              </a:rPr>
              <a:t>         </a:t>
            </a:r>
            <a:r>
              <a:rPr lang="en-US" altLang="zh-CN">
                <a:solidFill>
                  <a:srgbClr val="003366"/>
                </a:solidFill>
                <a:effectLst/>
                <a:ea typeface="黑体" panose="02010609060101010101" pitchFamily="2" charset="-122"/>
              </a:rPr>
              <a:t>1</a:t>
            </a:r>
            <a:r>
              <a:rPr lang="zh-CN" altLang="en-US" dirty="0">
                <a:solidFill>
                  <a:srgbClr val="003366"/>
                </a:solidFill>
                <a:effectLst/>
                <a:ea typeface="黑体" panose="02010609060101010101" pitchFamily="2" charset="-122"/>
              </a:rPr>
              <a:t>）</a:t>
            </a:r>
            <a:r>
              <a:rPr lang="zh-CN" altLang="en-US" dirty="0">
                <a:effectLst/>
              </a:rPr>
              <a:t>单机数据库应用系统还是基于网络的数据库应用系统；</a:t>
            </a:r>
          </a:p>
          <a:p>
            <a:pPr lvl="0"/>
            <a:r>
              <a:rPr lang="zh-CN" altLang="en-US" dirty="0">
                <a:effectLst/>
              </a:rPr>
              <a:t>         </a:t>
            </a:r>
            <a:r>
              <a:rPr lang="en-US" altLang="zh-CN">
                <a:solidFill>
                  <a:srgbClr val="003366"/>
                </a:solidFill>
                <a:effectLst/>
                <a:ea typeface="黑体" panose="02010609060101010101" pitchFamily="2" charset="-122"/>
              </a:rPr>
              <a:t>2</a:t>
            </a:r>
            <a:r>
              <a:rPr lang="zh-CN" altLang="en-US" dirty="0">
                <a:solidFill>
                  <a:srgbClr val="003366"/>
                </a:solidFill>
                <a:effectLst/>
                <a:ea typeface="黑体" panose="02010609060101010101" pitchFamily="2" charset="-122"/>
              </a:rPr>
              <a:t>）</a:t>
            </a:r>
            <a:r>
              <a:rPr lang="zh-CN" altLang="en-US" dirty="0">
                <a:effectLst/>
              </a:rPr>
              <a:t>采用的操作系统和数据库软件是什么。</a:t>
            </a:r>
            <a:r>
              <a:rPr lang="zh-CN" altLang="en-US" dirty="0"/>
              <a:t>  </a:t>
            </a:r>
          </a:p>
        </p:txBody>
      </p:sp>
    </p:spTree>
  </p:cSld>
  <p:clrMapOvr>
    <a:masterClrMapping/>
  </p:clrMapOvr>
  <mc:AlternateContent xmlns:mc="http://schemas.openxmlformats.org/markup-compatibility/2006" xmlns:p14="http://schemas.microsoft.com/office/powerpoint/2010/main">
    <mc:Choice Requires="p14">
      <p:transition spd="slow" p14:dur="2000" advTm="59670"/>
    </mc:Choice>
    <mc:Fallback xmlns="">
      <p:transition spd="slow" advTm="596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37957">
                                            <p:txEl>
                                              <p:pRg st="1" end="1"/>
                                            </p:txEl>
                                          </p:spTgt>
                                        </p:tgtEl>
                                        <p:attrNameLst>
                                          <p:attrName>style.visibility</p:attrName>
                                        </p:attrNameLst>
                                      </p:cBhvr>
                                      <p:to>
                                        <p:strVal val="visible"/>
                                      </p:to>
                                    </p:set>
                                    <p:animEffect transition="in" filter="wipe(up)">
                                      <p:cBhvr>
                                        <p:cTn id="7" dur="1000"/>
                                        <p:tgtEl>
                                          <p:spTgt spid="637957">
                                            <p:txEl>
                                              <p:pRg st="1" end="1"/>
                                            </p:txEl>
                                          </p:spTgt>
                                        </p:tgtEl>
                                      </p:cBhvr>
                                    </p:animEffect>
                                  </p:childTnLst>
                                </p:cTn>
                              </p:par>
                            </p:childTnLst>
                          </p:cTn>
                        </p:par>
                        <p:par>
                          <p:cTn id="8" fill="hold">
                            <p:stCondLst>
                              <p:cond delay="1000"/>
                            </p:stCondLst>
                            <p:childTnLst>
                              <p:par>
                                <p:cTn id="9" presetID="22" presetClass="entr" presetSubtype="1" fill="hold" nodeType="afterEffect">
                                  <p:stCondLst>
                                    <p:cond delay="0"/>
                                  </p:stCondLst>
                                  <p:childTnLst>
                                    <p:set>
                                      <p:cBhvr>
                                        <p:cTn id="10" dur="1" fill="hold">
                                          <p:stCondLst>
                                            <p:cond delay="0"/>
                                          </p:stCondLst>
                                        </p:cTn>
                                        <p:tgtEl>
                                          <p:spTgt spid="637957">
                                            <p:txEl>
                                              <p:pRg st="2" end="2"/>
                                            </p:txEl>
                                          </p:spTgt>
                                        </p:tgtEl>
                                        <p:attrNameLst>
                                          <p:attrName>style.visibility</p:attrName>
                                        </p:attrNameLst>
                                      </p:cBhvr>
                                      <p:to>
                                        <p:strVal val="visible"/>
                                      </p:to>
                                    </p:set>
                                    <p:animEffect transition="in" filter="wipe(up)">
                                      <p:cBhvr>
                                        <p:cTn id="11" dur="1000"/>
                                        <p:tgtEl>
                                          <p:spTgt spid="63795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8980" name="矩形 638979"/>
          <p:cNvSpPr/>
          <p:nvPr/>
        </p:nvSpPr>
        <p:spPr>
          <a:xfrm>
            <a:off x="1150938" y="71438"/>
            <a:ext cx="7935912" cy="836612"/>
          </a:xfrm>
          <a:prstGeom prst="rect">
            <a:avLst/>
          </a:prstGeom>
          <a:noFill/>
          <a:ln w="9525">
            <a:noFill/>
          </a:ln>
        </p:spPr>
        <p:txBody>
          <a:bodyPr anchor="b"/>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r>
              <a:rPr lang="zh-CN" altLang="en-US" sz="3200" dirty="0"/>
              <a:t>五、数据库应用系统环境配置与安全性需求</a:t>
            </a:r>
            <a:r>
              <a:rPr lang="zh-CN" altLang="en-US" dirty="0"/>
              <a:t> </a:t>
            </a:r>
            <a:endParaRPr lang="en-US" altLang="zh-CN"/>
          </a:p>
        </p:txBody>
      </p:sp>
      <p:sp>
        <p:nvSpPr>
          <p:cNvPr id="638981" name="矩形 638980"/>
          <p:cNvSpPr/>
          <p:nvPr/>
        </p:nvSpPr>
        <p:spPr>
          <a:xfrm>
            <a:off x="395288" y="1125538"/>
            <a:ext cx="8424862" cy="4895850"/>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lnSpc>
                <a:spcPct val="150000"/>
              </a:lnSpc>
              <a:spcBef>
                <a:spcPct val="0"/>
              </a:spcBef>
            </a:pPr>
            <a:r>
              <a:rPr lang="zh-CN" altLang="en-US" dirty="0"/>
              <a:t>          </a:t>
            </a:r>
            <a:r>
              <a:rPr lang="en-US" altLang="zh-CN" sz="2900">
                <a:solidFill>
                  <a:srgbClr val="660033"/>
                </a:solidFill>
                <a:ea typeface="华文新魏" panose="02010800040101010101" pitchFamily="2" charset="-122"/>
              </a:rPr>
              <a:t>2</a:t>
            </a:r>
            <a:r>
              <a:rPr lang="zh-CN" altLang="en-US" sz="2900" dirty="0">
                <a:solidFill>
                  <a:srgbClr val="660033"/>
                </a:solidFill>
                <a:ea typeface="华文新魏" panose="02010800040101010101" pitchFamily="2" charset="-122"/>
              </a:rPr>
              <a:t>、系统的安全性需求</a:t>
            </a:r>
            <a:r>
              <a:rPr lang="zh-CN" altLang="en-US" dirty="0"/>
              <a:t> </a:t>
            </a:r>
            <a:endParaRPr lang="zh-CN" altLang="en-US" b="0" dirty="0">
              <a:solidFill>
                <a:srgbClr val="003366"/>
              </a:solidFill>
              <a:effectLst/>
              <a:ea typeface="黑体" panose="02010609060101010101" pitchFamily="2" charset="-122"/>
            </a:endParaRPr>
          </a:p>
          <a:p>
            <a:pPr lvl="0"/>
            <a:r>
              <a:rPr lang="zh-CN" altLang="en-US" b="0" dirty="0">
                <a:solidFill>
                  <a:srgbClr val="003366"/>
                </a:solidFill>
                <a:effectLst/>
                <a:ea typeface="黑体" panose="02010609060101010101" pitchFamily="2" charset="-122"/>
              </a:rPr>
              <a:t>         </a:t>
            </a:r>
            <a:r>
              <a:rPr lang="en-US" altLang="zh-CN">
                <a:solidFill>
                  <a:srgbClr val="003366"/>
                </a:solidFill>
                <a:effectLst/>
                <a:ea typeface="黑体" panose="02010609060101010101" pitchFamily="2" charset="-122"/>
              </a:rPr>
              <a:t>1</a:t>
            </a:r>
            <a:r>
              <a:rPr lang="zh-CN" altLang="en-US" dirty="0">
                <a:solidFill>
                  <a:srgbClr val="003366"/>
                </a:solidFill>
                <a:effectLst/>
                <a:ea typeface="黑体" panose="02010609060101010101" pitchFamily="2" charset="-122"/>
              </a:rPr>
              <a:t>）</a:t>
            </a:r>
            <a:r>
              <a:rPr lang="zh-CN" altLang="en-US" dirty="0">
                <a:effectLst/>
              </a:rPr>
              <a:t>数据库数据的备份策略；</a:t>
            </a:r>
          </a:p>
          <a:p>
            <a:pPr lvl="0"/>
            <a:r>
              <a:rPr lang="zh-CN" altLang="en-US" dirty="0">
                <a:effectLst/>
              </a:rPr>
              <a:t>         </a:t>
            </a:r>
            <a:r>
              <a:rPr lang="en-US" altLang="zh-CN">
                <a:solidFill>
                  <a:srgbClr val="003366"/>
                </a:solidFill>
                <a:effectLst/>
                <a:ea typeface="黑体" panose="02010609060101010101" pitchFamily="2" charset="-122"/>
              </a:rPr>
              <a:t>2</a:t>
            </a:r>
            <a:r>
              <a:rPr lang="zh-CN" altLang="en-US" dirty="0">
                <a:solidFill>
                  <a:srgbClr val="003366"/>
                </a:solidFill>
                <a:effectLst/>
                <a:ea typeface="黑体" panose="02010609060101010101" pitchFamily="2" charset="-122"/>
              </a:rPr>
              <a:t>）</a:t>
            </a:r>
            <a:r>
              <a:rPr lang="zh-CN" altLang="en-US" dirty="0">
                <a:effectLst/>
              </a:rPr>
              <a:t>用户操作权限的授权和控制；</a:t>
            </a:r>
          </a:p>
          <a:p>
            <a:pPr lvl="0"/>
            <a:r>
              <a:rPr lang="zh-CN" altLang="en-US" dirty="0">
                <a:effectLst/>
              </a:rPr>
              <a:t>         </a:t>
            </a:r>
            <a:r>
              <a:rPr lang="en-US" altLang="zh-CN">
                <a:solidFill>
                  <a:srgbClr val="003366"/>
                </a:solidFill>
                <a:effectLst/>
                <a:ea typeface="黑体" panose="02010609060101010101" pitchFamily="2" charset="-122"/>
              </a:rPr>
              <a:t>3</a:t>
            </a:r>
            <a:r>
              <a:rPr lang="zh-CN" altLang="en-US" dirty="0">
                <a:solidFill>
                  <a:srgbClr val="003366"/>
                </a:solidFill>
                <a:effectLst/>
                <a:ea typeface="黑体" panose="02010609060101010101" pitchFamily="2" charset="-122"/>
              </a:rPr>
              <a:t>）</a:t>
            </a:r>
            <a:r>
              <a:rPr lang="zh-CN" altLang="en-US" dirty="0">
                <a:effectLst/>
              </a:rPr>
              <a:t>数据库加密方式，网络防火墙的配置，信息传输中的安全措施等。</a:t>
            </a:r>
          </a:p>
          <a:p>
            <a:pPr lvl="0"/>
            <a:r>
              <a:rPr lang="zh-CN" altLang="en-US" dirty="0">
                <a:effectLst/>
              </a:rPr>
              <a:t>                                          </a:t>
            </a:r>
            <a:r>
              <a:rPr lang="en-US" altLang="zh-CN">
                <a:solidFill>
                  <a:srgbClr val="969696"/>
                </a:solidFill>
                <a:effectLst/>
              </a:rPr>
              <a:t>#</a:t>
            </a:r>
            <a:r>
              <a:rPr lang="en-US" altLang="zh-CN"/>
              <a:t>   </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7038"/>
    </mc:Choice>
    <mc:Fallback xmlns="">
      <p:transition spd="slow" advTm="570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638981">
                                            <p:txEl>
                                              <p:pRg st="0" end="0"/>
                                            </p:txEl>
                                          </p:spTgt>
                                        </p:tgtEl>
                                        <p:attrNameLst>
                                          <p:attrName>style.visibility</p:attrName>
                                        </p:attrNameLst>
                                      </p:cBhvr>
                                      <p:to>
                                        <p:strVal val="visible"/>
                                      </p:to>
                                    </p:set>
                                    <p:animEffect transition="in" filter="wipe(left)">
                                      <p:cBhvr>
                                        <p:cTn id="7" dur="1000"/>
                                        <p:tgtEl>
                                          <p:spTgt spid="63898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638981">
                                            <p:txEl>
                                              <p:pRg st="1" end="1"/>
                                            </p:txEl>
                                          </p:spTgt>
                                        </p:tgtEl>
                                        <p:attrNameLst>
                                          <p:attrName>style.visibility</p:attrName>
                                        </p:attrNameLst>
                                      </p:cBhvr>
                                      <p:to>
                                        <p:strVal val="visible"/>
                                      </p:to>
                                    </p:set>
                                    <p:animEffect transition="in" filter="wipe(up)">
                                      <p:cBhvr>
                                        <p:cTn id="12" dur="1000"/>
                                        <p:tgtEl>
                                          <p:spTgt spid="638981">
                                            <p:txEl>
                                              <p:pRg st="1" end="1"/>
                                            </p:txEl>
                                          </p:spTgt>
                                        </p:tgtEl>
                                      </p:cBhvr>
                                    </p:animEffect>
                                  </p:childTnLst>
                                </p:cTn>
                              </p:par>
                            </p:childTnLst>
                          </p:cTn>
                        </p:par>
                        <p:par>
                          <p:cTn id="13" fill="hold">
                            <p:stCondLst>
                              <p:cond delay="1000"/>
                            </p:stCondLst>
                            <p:childTnLst>
                              <p:par>
                                <p:cTn id="14" presetID="22" presetClass="entr" presetSubtype="1" fill="hold" nodeType="afterEffect">
                                  <p:stCondLst>
                                    <p:cond delay="0"/>
                                  </p:stCondLst>
                                  <p:childTnLst>
                                    <p:set>
                                      <p:cBhvr>
                                        <p:cTn id="15" dur="1" fill="hold">
                                          <p:stCondLst>
                                            <p:cond delay="0"/>
                                          </p:stCondLst>
                                        </p:cTn>
                                        <p:tgtEl>
                                          <p:spTgt spid="638981">
                                            <p:txEl>
                                              <p:pRg st="2" end="2"/>
                                            </p:txEl>
                                          </p:spTgt>
                                        </p:tgtEl>
                                        <p:attrNameLst>
                                          <p:attrName>style.visibility</p:attrName>
                                        </p:attrNameLst>
                                      </p:cBhvr>
                                      <p:to>
                                        <p:strVal val="visible"/>
                                      </p:to>
                                    </p:set>
                                    <p:animEffect transition="in" filter="wipe(up)">
                                      <p:cBhvr>
                                        <p:cTn id="16" dur="1000"/>
                                        <p:tgtEl>
                                          <p:spTgt spid="638981">
                                            <p:txEl>
                                              <p:pRg st="2" end="2"/>
                                            </p:txEl>
                                          </p:spTgt>
                                        </p:tgtEl>
                                      </p:cBhvr>
                                    </p:animEffect>
                                  </p:childTnLst>
                                </p:cTn>
                              </p:par>
                            </p:childTnLst>
                          </p:cTn>
                        </p:par>
                        <p:par>
                          <p:cTn id="17" fill="hold">
                            <p:stCondLst>
                              <p:cond delay="2000"/>
                            </p:stCondLst>
                            <p:childTnLst>
                              <p:par>
                                <p:cTn id="18" presetID="22" presetClass="entr" presetSubtype="1" fill="hold" nodeType="afterEffect">
                                  <p:stCondLst>
                                    <p:cond delay="0"/>
                                  </p:stCondLst>
                                  <p:childTnLst>
                                    <p:set>
                                      <p:cBhvr>
                                        <p:cTn id="19" dur="1" fill="hold">
                                          <p:stCondLst>
                                            <p:cond delay="0"/>
                                          </p:stCondLst>
                                        </p:cTn>
                                        <p:tgtEl>
                                          <p:spTgt spid="638981">
                                            <p:txEl>
                                              <p:pRg st="3" end="3"/>
                                            </p:txEl>
                                          </p:spTgt>
                                        </p:tgtEl>
                                        <p:attrNameLst>
                                          <p:attrName>style.visibility</p:attrName>
                                        </p:attrNameLst>
                                      </p:cBhvr>
                                      <p:to>
                                        <p:strVal val="visible"/>
                                      </p:to>
                                    </p:set>
                                    <p:animEffect transition="in" filter="wipe(up)">
                                      <p:cBhvr>
                                        <p:cTn id="20" dur="1000"/>
                                        <p:tgtEl>
                                          <p:spTgt spid="638981">
                                            <p:txEl>
                                              <p:pRg st="3" end="3"/>
                                            </p:txEl>
                                          </p:spTgt>
                                        </p:tgtEl>
                                      </p:cBhvr>
                                    </p:animEffect>
                                  </p:childTnLst>
                                </p:cTn>
                              </p:par>
                            </p:childTnLst>
                          </p:cTn>
                        </p:par>
                        <p:par>
                          <p:cTn id="21" fill="hold">
                            <p:stCondLst>
                              <p:cond delay="3000"/>
                            </p:stCondLst>
                            <p:childTnLst>
                              <p:par>
                                <p:cTn id="22" presetID="22" presetClass="entr" presetSubtype="1" fill="hold" nodeType="afterEffect">
                                  <p:stCondLst>
                                    <p:cond delay="0"/>
                                  </p:stCondLst>
                                  <p:childTnLst>
                                    <p:set>
                                      <p:cBhvr>
                                        <p:cTn id="23" dur="1" fill="hold">
                                          <p:stCondLst>
                                            <p:cond delay="0"/>
                                          </p:stCondLst>
                                        </p:cTn>
                                        <p:tgtEl>
                                          <p:spTgt spid="638981">
                                            <p:txEl>
                                              <p:pRg st="4" end="4"/>
                                            </p:txEl>
                                          </p:spTgt>
                                        </p:tgtEl>
                                        <p:attrNameLst>
                                          <p:attrName>style.visibility</p:attrName>
                                        </p:attrNameLst>
                                      </p:cBhvr>
                                      <p:to>
                                        <p:strVal val="visible"/>
                                      </p:to>
                                    </p:set>
                                    <p:animEffect transition="in" filter="wipe(up)">
                                      <p:cBhvr>
                                        <p:cTn id="24" dur="1000"/>
                                        <p:tgtEl>
                                          <p:spTgt spid="63898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8916" name="矩形 678915"/>
          <p:cNvSpPr/>
          <p:nvPr/>
        </p:nvSpPr>
        <p:spPr>
          <a:xfrm>
            <a:off x="755650" y="285750"/>
            <a:ext cx="7793038" cy="622300"/>
          </a:xfrm>
          <a:prstGeom prst="rect">
            <a:avLst/>
          </a:prstGeom>
          <a:noFill/>
          <a:ln w="9525">
            <a:noFill/>
          </a:ln>
          <a:effectLst>
            <a:outerShdw dist="17961" dir="2699999" algn="ctr" rotWithShape="0">
              <a:schemeClr val="tx1">
                <a:alpha val="50000"/>
              </a:schemeClr>
            </a:outerShdw>
          </a:effectLst>
        </p:spPr>
        <p:txBody>
          <a:bodyPr anchor="ctr"/>
          <a:lstStyle>
            <a:lvl1pPr marL="0" lvl="0" indent="0" algn="l" defTabSz="914400" rtl="0" eaLnBrk="1" fontAlgn="base" latinLnBrk="0" hangingPunct="1">
              <a:lnSpc>
                <a:spcPct val="100000"/>
              </a:lnSpc>
              <a:spcBef>
                <a:spcPct val="0"/>
              </a:spcBef>
              <a:spcAft>
                <a:spcPct val="0"/>
              </a:spcAft>
              <a:buNone/>
              <a:defRPr sz="3600" b="1" u="none" kern="1200" baseline="0">
                <a:solidFill>
                  <a:schemeClr val="tx2"/>
                </a:solidFill>
                <a:effectLst>
                  <a:outerShdw blurRad="38100" dist="38100" dir="2700000">
                    <a:srgbClr val="C0C0C0"/>
                  </a:outerShdw>
                </a:effectLst>
                <a:latin typeface="Tahoma" panose="020B0604030504040204" pitchFamily="34" charset="0"/>
                <a:ea typeface="幼圆" panose="02010509060101010101" pitchFamily="49" charset="-122"/>
              </a:defRPr>
            </a:lvl1pPr>
          </a:lstStyle>
          <a:p>
            <a:pPr lvl="0" algn="ctr"/>
            <a:r>
              <a:rPr lang="zh-CN" altLang="en-US" sz="4000" dirty="0">
                <a:latin typeface="华文隶书" panose="02010800040101010101" pitchFamily="2" charset="-122"/>
                <a:ea typeface="华文隶书" panose="02010800040101010101" pitchFamily="2" charset="-122"/>
              </a:rPr>
              <a:t>本次课复习要点</a:t>
            </a:r>
          </a:p>
        </p:txBody>
      </p:sp>
      <p:sp>
        <p:nvSpPr>
          <p:cNvPr id="678917" name="矩形 678916"/>
          <p:cNvSpPr/>
          <p:nvPr/>
        </p:nvSpPr>
        <p:spPr>
          <a:xfrm>
            <a:off x="466725" y="1258888"/>
            <a:ext cx="8208963" cy="5338762"/>
          </a:xfrm>
          <a:prstGeom prst="rect">
            <a:avLst/>
          </a:prstGeom>
          <a:noFill/>
          <a:ln w="9525">
            <a:noFill/>
          </a:ln>
        </p:spPr>
        <p:txBody>
          <a:bodyPr/>
          <a:lstStyle>
            <a:lvl1pPr marL="34290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None/>
              <a:defRPr sz="2800" b="1"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1pPr>
            <a:lvl2pPr marL="742950" lvl="1" indent="-285750" algn="l" defTabSz="914400" rtl="0" eaLnBrk="1" fontAlgn="base" latinLnBrk="0" hangingPunct="1">
              <a:lnSpc>
                <a:spcPct val="120000"/>
              </a:lnSpc>
              <a:spcBef>
                <a:spcPct val="20000"/>
              </a:spcBef>
              <a:spcAft>
                <a:spcPct val="0"/>
              </a:spcAft>
              <a:buClr>
                <a:schemeClr val="hlink"/>
              </a:buClr>
              <a:buSzPct val="55000"/>
              <a:buFont typeface="Wingdings" panose="05000000000000000000" pitchFamily="2" charset="2"/>
              <a:buChar char="n"/>
              <a:defRPr sz="28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2pPr>
            <a:lvl3pPr marL="1143000" lvl="2" indent="-228600" algn="l" defTabSz="914400" rtl="0" eaLnBrk="1" fontAlgn="base" latinLnBrk="0" hangingPunct="1">
              <a:lnSpc>
                <a:spcPct val="120000"/>
              </a:lnSpc>
              <a:spcBef>
                <a:spcPct val="20000"/>
              </a:spcBef>
              <a:spcAft>
                <a:spcPct val="0"/>
              </a:spcAft>
              <a:buClr>
                <a:schemeClr val="folHlink"/>
              </a:buClr>
              <a:buSzPct val="50000"/>
              <a:buFont typeface="Wingdings" panose="05000000000000000000" pitchFamily="2" charset="2"/>
              <a:buChar char="n"/>
              <a:defRPr sz="24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3pPr>
            <a:lvl4pPr marL="1600200" lvl="3" indent="-228600" algn="l" defTabSz="914400" rtl="0" eaLnBrk="1" fontAlgn="base" latinLnBrk="0" hangingPunct="1">
              <a:lnSpc>
                <a:spcPct val="120000"/>
              </a:lnSpc>
              <a:spcBef>
                <a:spcPct val="20000"/>
              </a:spcBef>
              <a:spcAft>
                <a:spcPct val="0"/>
              </a:spcAft>
              <a:buClr>
                <a:schemeClr val="accent2"/>
              </a:buClr>
              <a:buSzPct val="55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4pPr>
            <a:lvl5pPr marL="2057400" lvl="4" indent="-228600" algn="l" defTabSz="914400" rtl="0" eaLnBrk="1" fontAlgn="base" latinLnBrk="0" hangingPunct="1">
              <a:lnSpc>
                <a:spcPct val="120000"/>
              </a:lnSpc>
              <a:spcBef>
                <a:spcPct val="20000"/>
              </a:spcBef>
              <a:spcAft>
                <a:spcPct val="0"/>
              </a:spcAft>
              <a:buClr>
                <a:schemeClr val="accent1"/>
              </a:buClr>
              <a:buSzPct val="50000"/>
              <a:buFont typeface="Wingdings" panose="05000000000000000000" pitchFamily="2" charset="2"/>
              <a:buChar char="n"/>
              <a:defRPr sz="2000" b="1" i="0" u="none" kern="1200" baseline="0">
                <a:solidFill>
                  <a:schemeClr val="tx1"/>
                </a:solidFill>
                <a:effectLst>
                  <a:outerShdw blurRad="38100" dist="38100" dir="2700000">
                    <a:srgbClr val="C0C0C0"/>
                  </a:outerShdw>
                </a:effectLst>
                <a:latin typeface="Tahoma" panose="020B0604030504040204" pitchFamily="34" charset="0"/>
                <a:ea typeface="楷体_GB2312" pitchFamily="49" charset="-122"/>
              </a:defRPr>
            </a:lvl5pPr>
          </a:lstStyle>
          <a:p>
            <a:pPr lvl="0"/>
            <a:endParaRPr lang="zh-CN" altLang="en-US" sz="1000" dirty="0">
              <a:solidFill>
                <a:srgbClr val="990033"/>
              </a:solidFill>
              <a:effectLst/>
              <a:ea typeface="黑体" panose="02010609060101010101" pitchFamily="2" charset="-122"/>
            </a:endParaRPr>
          </a:p>
          <a:p>
            <a:pPr lvl="0">
              <a:lnSpc>
                <a:spcPct val="135000"/>
              </a:lnSpc>
              <a:spcBef>
                <a:spcPct val="0"/>
              </a:spcBef>
            </a:pPr>
            <a:r>
              <a:rPr lang="zh-CN" altLang="en-US" dirty="0"/>
              <a:t>       </a:t>
            </a:r>
            <a:r>
              <a:rPr lang="en-US" altLang="zh-CN" sz="3200">
                <a:solidFill>
                  <a:srgbClr val="003366"/>
                </a:solidFill>
                <a:effectLst/>
                <a:latin typeface="华文新魏" panose="02010800040101010101" pitchFamily="2" charset="-122"/>
                <a:ea typeface="华文新魏" panose="02010800040101010101" pitchFamily="2" charset="-122"/>
              </a:rPr>
              <a:t>  </a:t>
            </a:r>
            <a:r>
              <a:rPr lang="en-US" altLang="zh-CN" sz="3200" dirty="0">
                <a:solidFill>
                  <a:srgbClr val="003366"/>
                </a:solidFill>
                <a:effectLst/>
                <a:latin typeface="华文新魏" panose="02010800040101010101" pitchFamily="2" charset="-122"/>
                <a:ea typeface="华文新魏" panose="02010800040101010101" pitchFamily="2" charset="-122"/>
              </a:rPr>
              <a:t> </a:t>
            </a:r>
            <a:r>
              <a:rPr lang="zh-CN" altLang="en-US" sz="3000" dirty="0">
                <a:solidFill>
                  <a:srgbClr val="660033"/>
                </a:solidFill>
                <a:ea typeface="华文新魏" panose="02010800040101010101" pitchFamily="2" charset="-122"/>
              </a:rPr>
              <a:t>数据流图</a:t>
            </a:r>
            <a:r>
              <a:rPr lang="zh-CN" altLang="en-US" sz="3000" dirty="0">
                <a:solidFill>
                  <a:srgbClr val="006666"/>
                </a:solidFill>
                <a:ea typeface="华文新魏" panose="02010800040101010101" pitchFamily="2" charset="-122"/>
              </a:rPr>
              <a:t>（概念</a:t>
            </a:r>
            <a:r>
              <a:rPr lang="zh-CN" altLang="en-US" sz="2400" dirty="0">
                <a:solidFill>
                  <a:srgbClr val="006666"/>
                </a:solidFill>
                <a:ea typeface="华文新魏" panose="02010800040101010101" pitchFamily="2" charset="-122"/>
              </a:rPr>
              <a:t>，</a:t>
            </a:r>
            <a:r>
              <a:rPr lang="zh-CN" altLang="en-US" sz="3000" dirty="0">
                <a:solidFill>
                  <a:srgbClr val="006666"/>
                </a:solidFill>
                <a:ea typeface="华文新魏" panose="02010800040101010101" pitchFamily="2" charset="-122"/>
              </a:rPr>
              <a:t>与程序流程图的区别）</a:t>
            </a:r>
            <a:endParaRPr lang="zh-CN" altLang="en-US" sz="3200" dirty="0">
              <a:solidFill>
                <a:srgbClr val="006666"/>
              </a:solidFill>
              <a:effectLst/>
              <a:latin typeface="华文新魏" panose="02010800040101010101" pitchFamily="2" charset="-122"/>
              <a:ea typeface="华文新魏" panose="02010800040101010101" pitchFamily="2" charset="-122"/>
            </a:endParaRPr>
          </a:p>
          <a:p>
            <a:pPr lvl="0">
              <a:lnSpc>
                <a:spcPct val="135000"/>
              </a:lnSpc>
              <a:spcBef>
                <a:spcPct val="0"/>
              </a:spcBef>
            </a:pPr>
            <a:r>
              <a:rPr lang="zh-CN" altLang="en-US" sz="3200" dirty="0">
                <a:solidFill>
                  <a:srgbClr val="003366"/>
                </a:solidFill>
                <a:effectLst/>
                <a:latin typeface="华文新魏" panose="02010800040101010101" pitchFamily="2" charset="-122"/>
                <a:ea typeface="华文新魏" panose="02010800040101010101" pitchFamily="2" charset="-122"/>
              </a:rPr>
              <a:t>          </a:t>
            </a:r>
            <a:r>
              <a:rPr lang="zh-CN" altLang="en-US" sz="3000" dirty="0">
                <a:solidFill>
                  <a:srgbClr val="660033"/>
                </a:solidFill>
                <a:ea typeface="华文新魏" panose="02010800040101010101" pitchFamily="2" charset="-122"/>
              </a:rPr>
              <a:t>数据库的主要功能需求</a:t>
            </a:r>
          </a:p>
          <a:p>
            <a:pPr lvl="0">
              <a:lnSpc>
                <a:spcPct val="135000"/>
              </a:lnSpc>
              <a:spcBef>
                <a:spcPct val="0"/>
              </a:spcBef>
            </a:pPr>
            <a:r>
              <a:rPr lang="zh-CN" altLang="en-US" sz="3000" dirty="0">
                <a:solidFill>
                  <a:srgbClr val="660033"/>
                </a:solidFill>
                <a:ea typeface="华文新魏" panose="02010800040101010101" pitchFamily="2" charset="-122"/>
              </a:rPr>
              <a:t>         数据库的安全性需求</a:t>
            </a:r>
            <a:endParaRPr lang="en-US" altLang="zh-CN" sz="3000">
              <a:solidFill>
                <a:srgbClr val="660033"/>
              </a:solidFill>
              <a:ea typeface="华文新魏" panose="02010800040101010101" pitchFamily="2" charset="-122"/>
            </a:endParaRPr>
          </a:p>
          <a:p>
            <a:pPr lvl="0">
              <a:lnSpc>
                <a:spcPct val="135000"/>
              </a:lnSpc>
              <a:spcBef>
                <a:spcPct val="0"/>
              </a:spcBef>
            </a:pPr>
            <a:r>
              <a:rPr lang="en-US" altLang="zh-CN" sz="3000">
                <a:solidFill>
                  <a:srgbClr val="660033"/>
                </a:solidFill>
                <a:ea typeface="华文新魏" panose="02010800040101010101" pitchFamily="2" charset="-122"/>
              </a:rPr>
              <a:t>              </a:t>
            </a:r>
            <a:endParaRPr lang="en-US" altLang="zh-CN" sz="3200">
              <a:solidFill>
                <a:srgbClr val="003366"/>
              </a:solidFill>
              <a:effectLst/>
              <a:latin typeface="华文新魏" panose="02010800040101010101" pitchFamily="2" charset="-122"/>
              <a:ea typeface="华文新魏" panose="0201080004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21465"/>
    </mc:Choice>
    <mc:Fallback xmlns="">
      <p:transition spd="slow" advTm="21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678917">
                                            <p:txEl>
                                              <p:pRg st="1" end="1"/>
                                            </p:txEl>
                                          </p:spTgt>
                                        </p:tgtEl>
                                        <p:attrNameLst>
                                          <p:attrName>style.visibility</p:attrName>
                                        </p:attrNameLst>
                                      </p:cBhvr>
                                      <p:to>
                                        <p:strVal val="visible"/>
                                      </p:to>
                                    </p:set>
                                    <p:animEffect transition="in" filter="wipe(left)">
                                      <p:cBhvr>
                                        <p:cTn id="7" dur="500"/>
                                        <p:tgtEl>
                                          <p:spTgt spid="678917">
                                            <p:txEl>
                                              <p:pRg st="1" end="1"/>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78917">
                                            <p:txEl>
                                              <p:pRg st="2" end="2"/>
                                            </p:txEl>
                                          </p:spTgt>
                                        </p:tgtEl>
                                        <p:attrNameLst>
                                          <p:attrName>style.visibility</p:attrName>
                                        </p:attrNameLst>
                                      </p:cBhvr>
                                      <p:to>
                                        <p:strVal val="visible"/>
                                      </p:to>
                                    </p:set>
                                    <p:animEffect transition="in" filter="wipe(left)">
                                      <p:cBhvr>
                                        <p:cTn id="11" dur="500"/>
                                        <p:tgtEl>
                                          <p:spTgt spid="678917">
                                            <p:txEl>
                                              <p:pRg st="2" end="2"/>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678917">
                                            <p:txEl>
                                              <p:pRg st="3" end="3"/>
                                            </p:txEl>
                                          </p:spTgt>
                                        </p:tgtEl>
                                        <p:attrNameLst>
                                          <p:attrName>style.visibility</p:attrName>
                                        </p:attrNameLst>
                                      </p:cBhvr>
                                      <p:to>
                                        <p:strVal val="visible"/>
                                      </p:to>
                                    </p:set>
                                    <p:animEffect transition="in" filter="wipe(left)">
                                      <p:cBhvr>
                                        <p:cTn id="15" dur="500"/>
                                        <p:tgtEl>
                                          <p:spTgt spid="67891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8917"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0676" name="矩形 540675"/>
          <p:cNvSpPr/>
          <p:nvPr/>
        </p:nvSpPr>
        <p:spPr>
          <a:xfrm>
            <a:off x="1458913" y="2590800"/>
            <a:ext cx="6237287" cy="1143000"/>
          </a:xfrm>
          <a:prstGeom prst="rect">
            <a:avLst/>
          </a:prstGeom>
          <a:noFill/>
          <a:ln w="9525">
            <a:noFill/>
          </a:ln>
        </p:spPr>
        <p:txBody>
          <a:bodyPr/>
          <a:lstStyle/>
          <a:p>
            <a:pPr marL="342900" indent="-342900" algn="ctr">
              <a:spcBef>
                <a:spcPct val="20000"/>
              </a:spcBef>
            </a:pPr>
            <a:r>
              <a:rPr lang="zh-CN" altLang="en-US" sz="6000" b="1" dirty="0">
                <a:solidFill>
                  <a:srgbClr val="FF6600"/>
                </a:solidFill>
                <a:effectLst>
                  <a:outerShdw blurRad="38100" dist="38100" dir="2700000">
                    <a:srgbClr val="C0C0C0"/>
                  </a:outerShdw>
                </a:effectLst>
                <a:latin typeface="Arial" panose="020B0604020202020204" pitchFamily="34" charset="0"/>
                <a:ea typeface="华文新魏" panose="02010800040101010101" pitchFamily="2" charset="-122"/>
              </a:rPr>
              <a:t>谢谢大家！</a:t>
            </a:r>
          </a:p>
        </p:txBody>
      </p:sp>
    </p:spTree>
  </p:cSld>
  <p:clrMapOvr>
    <a:masterClrMapping/>
  </p:clrMapOvr>
  <mc:AlternateContent xmlns:mc="http://schemas.openxmlformats.org/markup-compatibility/2006" xmlns:p14="http://schemas.microsoft.com/office/powerpoint/2010/main">
    <mc:Choice Requires="p14">
      <p:transition spd="slow" p14:dur="2000" advTm="1925"/>
    </mc:Choice>
    <mc:Fallback xmlns="">
      <p:transition spd="slow" advTm="1925"/>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12.3|33.7|57.2|48"/>
</p:tagLst>
</file>

<file path=ppt/tags/tag2.xml><?xml version="1.0" encoding="utf-8"?>
<p:tagLst xmlns:a="http://schemas.openxmlformats.org/drawingml/2006/main" xmlns:r="http://schemas.openxmlformats.org/officeDocument/2006/relationships" xmlns:p="http://schemas.openxmlformats.org/presentationml/2006/main">
  <p:tag name="TIMING" val="|1.7|91.2"/>
</p:tagLst>
</file>

<file path=ppt/tags/tag3.xml><?xml version="1.0" encoding="utf-8"?>
<p:tagLst xmlns:a="http://schemas.openxmlformats.org/drawingml/2006/main" xmlns:r="http://schemas.openxmlformats.org/officeDocument/2006/relationships" xmlns:p="http://schemas.openxmlformats.org/presentationml/2006/main">
  <p:tag name="TIMING" val="|2.2"/>
</p:tagLst>
</file>

<file path=ppt/tags/tag4.xml><?xml version="1.0" encoding="utf-8"?>
<p:tagLst xmlns:a="http://schemas.openxmlformats.org/drawingml/2006/main" xmlns:r="http://schemas.openxmlformats.org/officeDocument/2006/relationships" xmlns:p="http://schemas.openxmlformats.org/presentationml/2006/main">
  <p:tag name="TIMING" val="|36.7|95.1"/>
</p:tagLst>
</file>

<file path=ppt/tags/tag5.xml><?xml version="1.0" encoding="utf-8"?>
<p:tagLst xmlns:a="http://schemas.openxmlformats.org/drawingml/2006/main" xmlns:r="http://schemas.openxmlformats.org/officeDocument/2006/relationships" xmlns:p="http://schemas.openxmlformats.org/presentationml/2006/main">
  <p:tag name="TIMING" val="|7"/>
</p:tagLst>
</file>

<file path=ppt/tags/tag6.xml><?xml version="1.0" encoding="utf-8"?>
<p:tagLst xmlns:a="http://schemas.openxmlformats.org/drawingml/2006/main" xmlns:r="http://schemas.openxmlformats.org/officeDocument/2006/relationships" xmlns:p="http://schemas.openxmlformats.org/presentationml/2006/main">
  <p:tag name="TIMING" val="|1.6"/>
</p:tagLst>
</file>

<file path=ppt/tags/tag7.xml><?xml version="1.0" encoding="utf-8"?>
<p:tagLst xmlns:a="http://schemas.openxmlformats.org/drawingml/2006/main" xmlns:r="http://schemas.openxmlformats.org/officeDocument/2006/relationships" xmlns:p="http://schemas.openxmlformats.org/presentationml/2006/main">
  <p:tag name="TIMING" val="|1.1"/>
</p:tagLst>
</file>

<file path=ppt/tags/tag8.xml><?xml version="1.0" encoding="utf-8"?>
<p:tagLst xmlns:a="http://schemas.openxmlformats.org/drawingml/2006/main" xmlns:r="http://schemas.openxmlformats.org/officeDocument/2006/relationships" xmlns:p="http://schemas.openxmlformats.org/presentationml/2006/main">
  <p:tag name="TIMING" val="|13.9"/>
</p:tagLst>
</file>

<file path=ppt/tags/tag9.xml><?xml version="1.0" encoding="utf-8"?>
<p:tagLst xmlns:a="http://schemas.openxmlformats.org/drawingml/2006/main" xmlns:r="http://schemas.openxmlformats.org/officeDocument/2006/relationships" xmlns:p="http://schemas.openxmlformats.org/presentationml/2006/main">
  <p:tag name="TIMING" val="|0.9"/>
</p:tagLst>
</file>

<file path=ppt/tags/tag10.xml><?xml version="1.0" encoding="utf-8"?>
<p:tagLst xmlns:a="http://schemas.openxmlformats.org/drawingml/2006/main" xmlns:r="http://schemas.openxmlformats.org/officeDocument/2006/relationships" xmlns:p="http://schemas.openxmlformats.org/presentationml/2006/main">
  <p:tag name="TIMING" val="|5"/>
</p:tagLst>
</file>

<file path=ppt/tags/tag11.xml><?xml version="1.0" encoding="utf-8"?>
<p:tagLst xmlns:a="http://schemas.openxmlformats.org/drawingml/2006/main" xmlns:r="http://schemas.openxmlformats.org/officeDocument/2006/relationships" xmlns:p="http://schemas.openxmlformats.org/presentationml/2006/main">
  <p:tag name="TIMING" val="|4.3"/>
</p:tagLst>
</file>

<file path=ppt/theme/theme1.xml><?xml version="1.0" encoding="utf-8"?>
<a:theme xmlns:a="http://schemas.openxmlformats.org/drawingml/2006/main" name="Blends">
  <a:themeElements>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fontScheme name="">
      <a:majorFont>
        <a:latin typeface="Tahoma"/>
        <a:ea typeface="幼圆"/>
        <a:cs typeface=""/>
      </a:majorFont>
      <a:minorFont>
        <a:latin typeface="Tahoma"/>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000000"/>
        </a:lt1>
        <a:dk2>
          <a:srgbClr val="DDDDDD"/>
        </a:dk2>
        <a:lt2>
          <a:srgbClr val="969696"/>
        </a:lt2>
        <a:accent1>
          <a:srgbClr val="00E4A8"/>
        </a:accent1>
        <a:accent2>
          <a:srgbClr val="3333CC"/>
        </a:accent2>
        <a:accent3>
          <a:srgbClr val="AAAAAA"/>
        </a:accent3>
        <a:accent4>
          <a:srgbClr val="DCDCDC"/>
        </a:accent4>
        <a:accent5>
          <a:srgbClr val="AAEFD0"/>
        </a:accent5>
        <a:accent6>
          <a:srgbClr val="2D2DB7"/>
        </a:accent6>
        <a:hlink>
          <a:srgbClr val="FF5050"/>
        </a:hlink>
        <a:folHlink>
          <a:srgbClr val="FFCF01"/>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CC"/>
        </a:dk2>
        <a:lt2>
          <a:srgbClr val="000094"/>
        </a:lt2>
        <a:accent1>
          <a:srgbClr val="3193FF"/>
        </a:accent1>
        <a:accent2>
          <a:srgbClr val="9900FF"/>
        </a:accent2>
        <a:accent3>
          <a:srgbClr val="AAAAE2"/>
        </a:accent3>
        <a:accent4>
          <a:srgbClr val="DCDCDC"/>
        </a:accent4>
        <a:accent5>
          <a:srgbClr val="ADC8FF"/>
        </a:accent5>
        <a:accent6>
          <a:srgbClr val="8900E5"/>
        </a:accent6>
        <a:hlink>
          <a:srgbClr val="FF3399"/>
        </a:hlink>
        <a:folHlink>
          <a:srgbClr val="FFCC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0"/>
        </a:accent5>
        <a:accent6>
          <a:srgbClr val="E5B900"/>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5"/>
        </a:accent5>
        <a:accent6>
          <a:srgbClr val="ACACA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CCA"/>
        </a:accent5>
        <a:accent6>
          <a:srgbClr val="4345A2"/>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AAB82"/>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1478</Words>
  <Application>Microsoft Office PowerPoint</Application>
  <PresentationFormat>全屏显示(4:3)</PresentationFormat>
  <Paragraphs>115</Paragraphs>
  <Slides>22</Slides>
  <Notes>2</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22</vt:i4>
      </vt:variant>
    </vt:vector>
  </HeadingPairs>
  <TitlesOfParts>
    <vt:vector size="31" baseType="lpstr">
      <vt:lpstr>黑体</vt:lpstr>
      <vt:lpstr>华文隶书</vt:lpstr>
      <vt:lpstr>华文新魏</vt:lpstr>
      <vt:lpstr>宋体</vt:lpstr>
      <vt:lpstr>Arial</vt:lpstr>
      <vt:lpstr>Tahoma</vt:lpstr>
      <vt:lpstr>Times New Roman</vt:lpstr>
      <vt:lpstr>Wingdings</vt:lpstr>
      <vt:lpstr>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乔淋漓的冷汗</dc:creator>
  <cp:lastModifiedBy>乔 淋漓的冷汗</cp:lastModifiedBy>
  <cp:revision>664</cp:revision>
  <cp:lastPrinted>2000-08-23T09:10:00Z</cp:lastPrinted>
  <dcterms:created xsi:type="dcterms:W3CDTF">2020-04-04T09:38:00Z</dcterms:created>
  <dcterms:modified xsi:type="dcterms:W3CDTF">2021-04-12T14:59:30Z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2052-11.3.0.8775</vt:lpwstr>
  </property>
</Properties>
</file>