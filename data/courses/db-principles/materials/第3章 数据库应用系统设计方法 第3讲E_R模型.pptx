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498" r:id="rId2"/>
    <p:sldId id="559" r:id="rId3"/>
    <p:sldId id="765" r:id="rId4"/>
    <p:sldId id="560" r:id="rId5"/>
    <p:sldId id="766" r:id="rId6"/>
    <p:sldId id="561" r:id="rId7"/>
    <p:sldId id="562" r:id="rId8"/>
    <p:sldId id="563" r:id="rId9"/>
    <p:sldId id="767" r:id="rId10"/>
    <p:sldId id="768" r:id="rId11"/>
    <p:sldId id="769" r:id="rId12"/>
    <p:sldId id="770" r:id="rId13"/>
    <p:sldId id="771" r:id="rId14"/>
    <p:sldId id="772" r:id="rId15"/>
    <p:sldId id="773" r:id="rId16"/>
    <p:sldId id="775" r:id="rId17"/>
    <p:sldId id="565" r:id="rId18"/>
    <p:sldId id="566" r:id="rId19"/>
    <p:sldId id="567" r:id="rId20"/>
    <p:sldId id="568" r:id="rId21"/>
    <p:sldId id="569" r:id="rId22"/>
    <p:sldId id="570" r:id="rId23"/>
    <p:sldId id="774" r:id="rId24"/>
  </p:sldIdLst>
  <p:sldSz cx="9144000" cy="6858000" type="screen4x3"/>
  <p:notesSz cx="6662738" cy="9832975"/>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00FF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4"/>
    <p:restoredTop sz="94152"/>
  </p:normalViewPr>
  <p:slideViewPr>
    <p:cSldViewPr showGuides="1">
      <p:cViewPr varScale="1">
        <p:scale>
          <a:sx n="124" d="100"/>
          <a:sy n="124" d="100"/>
        </p:scale>
        <p:origin x="1240" y="80"/>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页眉占位符 107521"/>
          <p:cNvSpPr>
            <a:spLocks noGrp="1"/>
          </p:cNvSpPr>
          <p:nvPr>
            <p:ph type="hdr" sz="quarter"/>
          </p:nvPr>
        </p:nvSpPr>
        <p:spPr>
          <a:xfrm>
            <a:off x="0" y="0"/>
            <a:ext cx="2895600" cy="457200"/>
          </a:xfrm>
          <a:prstGeom prst="rect">
            <a:avLst/>
          </a:prstGeom>
          <a:noFill/>
          <a:ln w="12700">
            <a:noFill/>
          </a:ln>
        </p:spPr>
        <p:txBody>
          <a:bodyPr wrap="none" anchor="ctr"/>
          <a:lstStyle/>
          <a:p>
            <a:pPr lvl="0"/>
            <a:endParaRPr lang="zh-CN" altLang="en-US" sz="1200" dirty="0">
              <a:solidFill>
                <a:schemeClr val="tx2"/>
              </a:solidFill>
            </a:endParaRPr>
          </a:p>
        </p:txBody>
      </p:sp>
      <p:sp>
        <p:nvSpPr>
          <p:cNvPr id="107523" name="日期占位符 107522"/>
          <p:cNvSpPr>
            <a:spLocks noGrp="1"/>
          </p:cNvSpPr>
          <p:nvPr>
            <p:ph type="dt" sz="quarter" idx="1"/>
          </p:nvPr>
        </p:nvSpPr>
        <p:spPr>
          <a:xfrm>
            <a:off x="3810000" y="0"/>
            <a:ext cx="2819400" cy="457200"/>
          </a:xfrm>
          <a:prstGeom prst="rect">
            <a:avLst/>
          </a:prstGeom>
          <a:noFill/>
          <a:ln w="12700">
            <a:noFill/>
          </a:ln>
        </p:spPr>
        <p:txBody>
          <a:bodyPr wrap="none" anchor="ctr"/>
          <a:lstStyle/>
          <a:p>
            <a:pPr lvl="0" algn="r"/>
            <a:endParaRPr lang="zh-CN" altLang="en-US" sz="1200" dirty="0">
              <a:solidFill>
                <a:schemeClr val="tx2"/>
              </a:solidFill>
            </a:endParaRPr>
          </a:p>
        </p:txBody>
      </p:sp>
      <p:sp>
        <p:nvSpPr>
          <p:cNvPr id="107524" name="页脚占位符 107523"/>
          <p:cNvSpPr>
            <a:spLocks noGrp="1"/>
          </p:cNvSpPr>
          <p:nvPr>
            <p:ph type="ftr" sz="quarter" idx="2"/>
          </p:nvPr>
        </p:nvSpPr>
        <p:spPr>
          <a:xfrm>
            <a:off x="0" y="9372600"/>
            <a:ext cx="2895600" cy="457200"/>
          </a:xfrm>
          <a:prstGeom prst="rect">
            <a:avLst/>
          </a:prstGeom>
          <a:noFill/>
          <a:ln w="12700">
            <a:noFill/>
          </a:ln>
        </p:spPr>
        <p:txBody>
          <a:bodyPr wrap="none" anchor="b"/>
          <a:lstStyle/>
          <a:p>
            <a:pPr lvl="0"/>
            <a:endParaRPr lang="zh-CN" altLang="en-US" sz="1200" dirty="0">
              <a:solidFill>
                <a:schemeClr val="tx2"/>
              </a:solidFill>
            </a:endParaRPr>
          </a:p>
        </p:txBody>
      </p:sp>
      <p:sp>
        <p:nvSpPr>
          <p:cNvPr id="107525" name="灯片编号占位符 107524"/>
          <p:cNvSpPr>
            <a:spLocks noGrp="1"/>
          </p:cNvSpPr>
          <p:nvPr>
            <p:ph type="sldNum" sz="quarter" idx="3"/>
          </p:nvPr>
        </p:nvSpPr>
        <p:spPr>
          <a:xfrm>
            <a:off x="3810000" y="9372600"/>
            <a:ext cx="2819400" cy="457200"/>
          </a:xfrm>
          <a:prstGeom prst="rect">
            <a:avLst/>
          </a:prstGeom>
          <a:noFill/>
          <a:ln w="12700">
            <a:noFill/>
          </a:ln>
        </p:spPr>
        <p:txBody>
          <a:bodyPr wrap="none" anchor="b"/>
          <a:lstStyle/>
          <a:p>
            <a:pPr lvl="0" algn="r"/>
            <a:fld id="{9A0DB2DC-4C9A-4742-B13C-FB6460FD3503}" type="slidenum">
              <a:rPr lang="zh-CN" altLang="en-US" sz="1200" dirty="0">
                <a:solidFill>
                  <a:schemeClr val="tx2"/>
                </a:solidFill>
              </a:rPr>
              <a:t>‹#›</a:t>
            </a:fld>
            <a:endParaRPr lang="zh-CN" altLang="en-US" sz="1200" dirty="0">
              <a:solidFill>
                <a:schemeClr val="tx2"/>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页眉占位符 322561"/>
          <p:cNvSpPr>
            <a:spLocks noGrp="1"/>
          </p:cNvSpPr>
          <p:nvPr>
            <p:ph type="hdr" sz="quarter"/>
          </p:nvPr>
        </p:nvSpPr>
        <p:spPr>
          <a:xfrm>
            <a:off x="0" y="0"/>
            <a:ext cx="2887663" cy="492125"/>
          </a:xfrm>
          <a:prstGeom prst="rect">
            <a:avLst/>
          </a:prstGeom>
          <a:noFill/>
          <a:ln w="9525">
            <a:noFill/>
          </a:ln>
        </p:spPr>
        <p:txBody>
          <a:bodyPr/>
          <a:lstStyle/>
          <a:p>
            <a:pPr lvl="0"/>
            <a:endParaRPr lang="zh-CN" altLang="en-US" sz="1200" dirty="0"/>
          </a:p>
        </p:txBody>
      </p:sp>
      <p:sp>
        <p:nvSpPr>
          <p:cNvPr id="322563" name="日期占位符 322562"/>
          <p:cNvSpPr>
            <a:spLocks noGrp="1"/>
          </p:cNvSpPr>
          <p:nvPr>
            <p:ph type="dt" idx="1"/>
          </p:nvPr>
        </p:nvSpPr>
        <p:spPr>
          <a:xfrm>
            <a:off x="3773488" y="0"/>
            <a:ext cx="2887662" cy="492125"/>
          </a:xfrm>
          <a:prstGeom prst="rect">
            <a:avLst/>
          </a:prstGeom>
          <a:noFill/>
          <a:ln w="9525">
            <a:noFill/>
          </a:ln>
        </p:spPr>
        <p:txBody>
          <a:bodyPr/>
          <a:lstStyle/>
          <a:p>
            <a:pPr lvl="0" algn="r"/>
            <a:endParaRPr lang="zh-CN" altLang="en-US" sz="1200" dirty="0"/>
          </a:p>
        </p:txBody>
      </p:sp>
      <p:sp>
        <p:nvSpPr>
          <p:cNvPr id="322564" name="幻灯片图像占位符 322563"/>
          <p:cNvSpPr>
            <a:spLocks noGrp="1" noRot="1" noChangeAspect="1" noTextEdit="1"/>
          </p:cNvSpPr>
          <p:nvPr>
            <p:ph type="sldImg" idx="2"/>
          </p:nvPr>
        </p:nvSpPr>
        <p:spPr>
          <a:xfrm>
            <a:off x="874713" y="738188"/>
            <a:ext cx="4914900" cy="3686175"/>
          </a:xfrm>
          <a:prstGeom prst="rect">
            <a:avLst/>
          </a:prstGeom>
          <a:ln w="9525" cap="flat" cmpd="sng">
            <a:solidFill>
              <a:srgbClr val="000000"/>
            </a:solidFill>
            <a:prstDash val="solid"/>
            <a:miter/>
            <a:headEnd type="none" w="med" len="med"/>
            <a:tailEnd type="none" w="med" len="med"/>
          </a:ln>
        </p:spPr>
      </p:sp>
      <p:sp>
        <p:nvSpPr>
          <p:cNvPr id="322565" name="文本占位符 322564"/>
          <p:cNvSpPr>
            <a:spLocks noGrp="1"/>
          </p:cNvSpPr>
          <p:nvPr>
            <p:ph type="body" sz="quarter" idx="3"/>
          </p:nvPr>
        </p:nvSpPr>
        <p:spPr>
          <a:xfrm>
            <a:off x="666750" y="4670425"/>
            <a:ext cx="5329238" cy="44243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22566" name="页脚占位符 322565"/>
          <p:cNvSpPr>
            <a:spLocks noGrp="1"/>
          </p:cNvSpPr>
          <p:nvPr>
            <p:ph type="ftr" sz="quarter" idx="4"/>
          </p:nvPr>
        </p:nvSpPr>
        <p:spPr>
          <a:xfrm>
            <a:off x="0" y="9339263"/>
            <a:ext cx="2887663" cy="492125"/>
          </a:xfrm>
          <a:prstGeom prst="rect">
            <a:avLst/>
          </a:prstGeom>
          <a:noFill/>
          <a:ln w="9525">
            <a:noFill/>
          </a:ln>
        </p:spPr>
        <p:txBody>
          <a:bodyPr anchor="b"/>
          <a:lstStyle/>
          <a:p>
            <a:pPr lvl="0"/>
            <a:endParaRPr lang="zh-CN" altLang="en-US" sz="1200" dirty="0"/>
          </a:p>
        </p:txBody>
      </p:sp>
      <p:sp>
        <p:nvSpPr>
          <p:cNvPr id="322567" name="灯片编号占位符 322566"/>
          <p:cNvSpPr>
            <a:spLocks noGrp="1"/>
          </p:cNvSpPr>
          <p:nvPr>
            <p:ph type="sldNum" sz="quarter" idx="5"/>
          </p:nvPr>
        </p:nvSpPr>
        <p:spPr>
          <a:xfrm>
            <a:off x="3773488" y="9339263"/>
            <a:ext cx="2887662" cy="492125"/>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1</a:t>
            </a:fld>
            <a:endParaRPr lang="zh-CN" altLang="en-US" sz="1200" dirty="0"/>
          </a:p>
        </p:txBody>
      </p:sp>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2</a:t>
            </a:fld>
            <a:endParaRPr lang="zh-CN" altLang="en-US" sz="1200" dirty="0"/>
          </a:p>
        </p:txBody>
      </p:sp>
      <p:sp>
        <p:nvSpPr>
          <p:cNvPr id="418818" name="幻灯片图像占位符 418817"/>
          <p:cNvSpPr>
            <a:spLocks noGrp="1" noRot="1" noChangeAspect="1" noTextEdit="1"/>
          </p:cNvSpPr>
          <p:nvPr>
            <p:ph type="sldImg"/>
          </p:nvPr>
        </p:nvSpPr>
        <p:spPr>
          <a:ln/>
        </p:spPr>
      </p:sp>
      <p:sp>
        <p:nvSpPr>
          <p:cNvPr id="418819" name="文本占位符 418818"/>
          <p:cNvSpPr>
            <a:spLocks noGrp="1"/>
          </p:cNvSpPr>
          <p:nvPr>
            <p:ph type="body" idx="1"/>
          </p:nvPr>
        </p:nvSpPr>
        <p:spPr>
          <a:ln/>
        </p:spPr>
        <p:txBody>
          <a:bodyPr/>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368642" name="组合 368641"/>
          <p:cNvGrpSpPr/>
          <p:nvPr/>
        </p:nvGrpSpPr>
        <p:grpSpPr>
          <a:xfrm>
            <a:off x="0" y="1822450"/>
            <a:ext cx="9009063" cy="1052513"/>
            <a:chOff x="0" y="1536"/>
            <a:chExt cx="5675" cy="663"/>
          </a:xfrm>
        </p:grpSpPr>
        <p:grpSp>
          <p:nvGrpSpPr>
            <p:cNvPr id="368643" name="组合 368642"/>
            <p:cNvGrpSpPr/>
            <p:nvPr/>
          </p:nvGrpSpPr>
          <p:grpSpPr>
            <a:xfrm>
              <a:off x="183" y="1604"/>
              <a:ext cx="448" cy="299"/>
              <a:chOff x="720" y="336"/>
              <a:chExt cx="624" cy="432"/>
            </a:xfrm>
          </p:grpSpPr>
          <p:sp>
            <p:nvSpPr>
              <p:cNvPr id="368644" name="矩形 368643"/>
              <p:cNvSpPr/>
              <p:nvPr/>
            </p:nvSpPr>
            <p:spPr>
              <a:xfrm>
                <a:off x="720" y="336"/>
                <a:ext cx="384" cy="432"/>
              </a:xfrm>
              <a:prstGeom prst="rect">
                <a:avLst/>
              </a:prstGeom>
              <a:solidFill>
                <a:schemeClr val="folHlink"/>
              </a:solidFill>
              <a:ln w="9525">
                <a:noFill/>
              </a:ln>
            </p:spPr>
            <p:txBody>
              <a:bodyPr/>
              <a:lstStyle/>
              <a:p>
                <a:endParaRPr lang="zh-CN" altLang="en-US"/>
              </a:p>
            </p:txBody>
          </p:sp>
          <p:sp>
            <p:nvSpPr>
              <p:cNvPr id="368645" name="矩形 368644"/>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368646" name="组合 368645"/>
            <p:cNvGrpSpPr/>
            <p:nvPr/>
          </p:nvGrpSpPr>
          <p:grpSpPr>
            <a:xfrm>
              <a:off x="261" y="1870"/>
              <a:ext cx="465" cy="299"/>
              <a:chOff x="912" y="2640"/>
              <a:chExt cx="672" cy="432"/>
            </a:xfrm>
          </p:grpSpPr>
          <p:sp>
            <p:nvSpPr>
              <p:cNvPr id="368647" name="矩形 368646"/>
              <p:cNvSpPr/>
              <p:nvPr/>
            </p:nvSpPr>
            <p:spPr>
              <a:xfrm>
                <a:off x="912" y="2640"/>
                <a:ext cx="384" cy="432"/>
              </a:xfrm>
              <a:prstGeom prst="rect">
                <a:avLst/>
              </a:prstGeom>
              <a:solidFill>
                <a:schemeClr val="accent2"/>
              </a:solidFill>
              <a:ln w="9525">
                <a:noFill/>
              </a:ln>
            </p:spPr>
            <p:txBody>
              <a:bodyPr/>
              <a:lstStyle/>
              <a:p>
                <a:endParaRPr lang="zh-CN" altLang="en-US"/>
              </a:p>
            </p:txBody>
          </p:sp>
          <p:sp>
            <p:nvSpPr>
              <p:cNvPr id="368648" name="矩形 368647"/>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368649" name="矩形 368648"/>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368650" name="矩形 368649"/>
            <p:cNvSpPr/>
            <p:nvPr/>
          </p:nvSpPr>
          <p:spPr>
            <a:xfrm>
              <a:off x="400" y="1536"/>
              <a:ext cx="20" cy="663"/>
            </a:xfrm>
            <a:prstGeom prst="rect">
              <a:avLst/>
            </a:prstGeom>
            <a:solidFill>
              <a:schemeClr val="bg2"/>
            </a:solidFill>
            <a:ln w="9525">
              <a:noFill/>
            </a:ln>
          </p:spPr>
          <p:txBody>
            <a:bodyPr/>
            <a:lstStyle/>
            <a:p>
              <a:endParaRPr lang="zh-CN" altLang="en-US"/>
            </a:p>
          </p:txBody>
        </p:sp>
        <p:sp>
          <p:nvSpPr>
            <p:cNvPr id="368651" name="矩形 368650"/>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368652" name="标题 368651"/>
          <p:cNvSpPr>
            <a:spLocks noGrp="1"/>
          </p:cNvSpPr>
          <p:nvPr>
            <p:ph type="ctrTitle"/>
          </p:nvPr>
        </p:nvSpPr>
        <p:spPr>
          <a:xfrm>
            <a:off x="827088" y="1676400"/>
            <a:ext cx="8137525" cy="1462088"/>
          </a:xfrm>
          <a:prstGeom prst="rect">
            <a:avLst/>
          </a:prstGeom>
          <a:noFill/>
          <a:ln w="9525">
            <a:noFill/>
          </a:ln>
        </p:spPr>
        <p:txBody>
          <a:bodyPr anchor="b"/>
          <a:lstStyle>
            <a:lvl1pPr lvl="0" algn="ctr">
              <a:buClrTx/>
              <a:buSzTx/>
              <a:buFontTx/>
              <a:defRPr sz="4800">
                <a:ea typeface="隶书" panose="02010509060101010101" pitchFamily="49" charset="-122"/>
              </a:defRPr>
            </a:lvl1pPr>
          </a:lstStyle>
          <a:p>
            <a:pPr lvl="0"/>
            <a:r>
              <a:rPr lang="zh-CN" altLang="en-US" dirty="0"/>
              <a:t>单击此处编辑母版标题样式</a:t>
            </a:r>
          </a:p>
        </p:txBody>
      </p:sp>
      <p:sp>
        <p:nvSpPr>
          <p:cNvPr id="368653" name="副标题 368652"/>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dirty="0"/>
              <a:t>单击此处编辑母版副标题样式</a:t>
            </a:r>
          </a:p>
        </p:txBody>
      </p:sp>
      <p:sp>
        <p:nvSpPr>
          <p:cNvPr id="368654" name="日期占位符 368653"/>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fld id="{BB962C8B-B14F-4D97-AF65-F5344CB8AC3E}" type="datetime1">
              <a:rPr lang="zh-CN" altLang="en-US" dirty="0"/>
              <a:t>2021-4-12</a:t>
            </a:fld>
            <a:endParaRPr lang="zh-CN" altLang="en-US" dirty="0">
              <a:latin typeface="Times New Roman" panose="02020603050405020304" pitchFamily="18" charset="0"/>
            </a:endParaRPr>
          </a:p>
        </p:txBody>
      </p:sp>
      <p:sp>
        <p:nvSpPr>
          <p:cNvPr id="368655" name="页脚占位符 368654"/>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endParaRPr lang="zh-CN" altLang="en-US" dirty="0"/>
          </a:p>
        </p:txBody>
      </p:sp>
      <p:sp>
        <p:nvSpPr>
          <p:cNvPr id="368656" name="灯片编号占位符 368655"/>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71438"/>
            <a:ext cx="2083197" cy="6526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71438"/>
            <a:ext cx="6128825" cy="6526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矩形 367617"/>
          <p:cNvSpPr/>
          <p:nvPr/>
        </p:nvSpPr>
        <p:spPr>
          <a:xfrm>
            <a:off x="417513" y="252413"/>
            <a:ext cx="438150" cy="474662"/>
          </a:xfrm>
          <a:prstGeom prst="rect">
            <a:avLst/>
          </a:prstGeom>
          <a:solidFill>
            <a:schemeClr val="accent2"/>
          </a:solidFill>
          <a:ln w="9525">
            <a:noFill/>
          </a:ln>
        </p:spPr>
        <p:txBody>
          <a:bodyPr wrap="none" anchor="ctr"/>
          <a:lstStyle/>
          <a:p>
            <a:pPr lvl="0" algn="ctr"/>
            <a:endParaRPr lang="zh-CN" altLang="en-US" sz="2400" dirty="0">
              <a:latin typeface="Tahoma" panose="020B0604030504040204" pitchFamily="34" charset="0"/>
            </a:endParaRPr>
          </a:p>
        </p:txBody>
      </p:sp>
      <p:sp>
        <p:nvSpPr>
          <p:cNvPr id="367619" name="矩形 367618"/>
          <p:cNvSpPr/>
          <p:nvPr/>
        </p:nvSpPr>
        <p:spPr>
          <a:xfrm>
            <a:off x="800100" y="252413"/>
            <a:ext cx="328613" cy="474662"/>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0" name="矩形 367619"/>
          <p:cNvSpPr/>
          <p:nvPr/>
        </p:nvSpPr>
        <p:spPr>
          <a:xfrm>
            <a:off x="541338" y="674688"/>
            <a:ext cx="422275" cy="474662"/>
          </a:xfrm>
          <a:prstGeom prst="rect">
            <a:avLst/>
          </a:prstGeom>
          <a:solidFill>
            <a:schemeClr val="folHlink"/>
          </a:solidFill>
          <a:ln w="9525">
            <a:noFill/>
          </a:ln>
        </p:spPr>
        <p:txBody>
          <a:bodyPr wrap="none" anchor="ctr"/>
          <a:lstStyle/>
          <a:p>
            <a:pPr lvl="0" algn="ctr"/>
            <a:endParaRPr lang="zh-CN" altLang="en-US" sz="2400" dirty="0">
              <a:latin typeface="Tahoma" panose="020B0604030504040204" pitchFamily="34" charset="0"/>
            </a:endParaRPr>
          </a:p>
        </p:txBody>
      </p:sp>
      <p:sp>
        <p:nvSpPr>
          <p:cNvPr id="367621" name="矩形 367620"/>
          <p:cNvSpPr/>
          <p:nvPr/>
        </p:nvSpPr>
        <p:spPr>
          <a:xfrm>
            <a:off x="911225" y="6746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2" name="矩形 367621"/>
          <p:cNvSpPr/>
          <p:nvPr/>
        </p:nvSpPr>
        <p:spPr>
          <a:xfrm>
            <a:off x="127000" y="6016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3" name="矩形 367622"/>
          <p:cNvSpPr/>
          <p:nvPr/>
        </p:nvSpPr>
        <p:spPr>
          <a:xfrm>
            <a:off x="762000" y="144463"/>
            <a:ext cx="31750" cy="1052512"/>
          </a:xfrm>
          <a:prstGeom prst="rect">
            <a:avLst/>
          </a:prstGeom>
          <a:solidFill>
            <a:schemeClr val="bg2"/>
          </a:solidFill>
          <a:ln w="9525">
            <a:noFill/>
          </a:ln>
        </p:spPr>
        <p:txBody>
          <a:bodyPr wrap="none" anchor="ctr"/>
          <a:lstStyle/>
          <a:p>
            <a:pPr lvl="0" algn="ctr"/>
            <a:endParaRPr lang="zh-CN" altLang="en-US" sz="2400" dirty="0">
              <a:latin typeface="Tahoma" panose="020B0604030504040204" pitchFamily="34" charset="0"/>
            </a:endParaRPr>
          </a:p>
        </p:txBody>
      </p:sp>
      <p:sp>
        <p:nvSpPr>
          <p:cNvPr id="367624" name="矩形 367623"/>
          <p:cNvSpPr/>
          <p:nvPr/>
        </p:nvSpPr>
        <p:spPr>
          <a:xfrm>
            <a:off x="442913" y="935038"/>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5" name="标题 367624"/>
          <p:cNvSpPr>
            <a:spLocks noGrp="1"/>
          </p:cNvSpPr>
          <p:nvPr>
            <p:ph type="title"/>
          </p:nvPr>
        </p:nvSpPr>
        <p:spPr>
          <a:xfrm>
            <a:off x="1150938" y="71438"/>
            <a:ext cx="7793037" cy="836612"/>
          </a:xfrm>
          <a:prstGeom prst="rect">
            <a:avLst/>
          </a:prstGeom>
          <a:noFill/>
          <a:ln w="9525">
            <a:noFill/>
          </a:ln>
        </p:spPr>
        <p:txBody>
          <a:bodyPr anchor="b"/>
          <a:lstStyle/>
          <a:p>
            <a:pPr lvl="0"/>
            <a:r>
              <a:rPr lang="zh-CN" altLang="en-US" dirty="0"/>
              <a:t>单击此处编辑母版标题样式</a:t>
            </a:r>
          </a:p>
        </p:txBody>
      </p:sp>
      <p:sp>
        <p:nvSpPr>
          <p:cNvPr id="367626" name="文本占位符 367625"/>
          <p:cNvSpPr>
            <a:spLocks noGrp="1"/>
          </p:cNvSpPr>
          <p:nvPr>
            <p:ph type="body" idx="1"/>
          </p:nvPr>
        </p:nvSpPr>
        <p:spPr>
          <a:xfrm>
            <a:off x="611188" y="1258888"/>
            <a:ext cx="7993062" cy="53387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67627" name="日期占位符 367626"/>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endParaRPr lang="zh-CN" altLang="en-US" dirty="0">
              <a:latin typeface="Times New Roman" panose="02020603050405020304" pitchFamily="18" charset="0"/>
            </a:endParaRPr>
          </a:p>
        </p:txBody>
      </p:sp>
      <p:sp>
        <p:nvSpPr>
          <p:cNvPr id="367628" name="页脚占位符 367627"/>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367629" name="灯片编号占位符 367628"/>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3600" b="1" i="0" u="none" kern="1200" baseline="0">
          <a:solidFill>
            <a:schemeClr val="tx2"/>
          </a:solidFill>
          <a:effectLst>
            <a:outerShdw blurRad="38100" dist="38100" dir="2700000">
              <a:srgbClr val="C0C0C0"/>
            </a:outerShdw>
          </a:effectLst>
          <a:latin typeface="+mj-lt"/>
          <a:ea typeface="+mj-ea"/>
          <a:cs typeface="+mj-cs"/>
        </a:defRPr>
      </a:lvl1pPr>
    </p:titleStyle>
    <p:body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i="0" u="none" kern="1200" baseline="0">
          <a:solidFill>
            <a:schemeClr val="tx1"/>
          </a:solidFill>
          <a:effectLst>
            <a:outerShdw blurRad="38100" dist="38100" dir="2700000">
              <a:srgbClr val="C0C0C0"/>
            </a:outerShdw>
          </a:effectLst>
          <a:latin typeface="+mn-lt"/>
          <a:ea typeface="+mn-ea"/>
          <a:cs typeface="+mn-cs"/>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mn-lt"/>
          <a:ea typeface="+mn-ea"/>
          <a:cs typeface="+mn-cs"/>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mn-lt"/>
          <a:ea typeface="+mn-ea"/>
          <a:cs typeface="+mn-cs"/>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矩形 328708"/>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数据库系统原理及应用</a:t>
            </a:r>
            <a:endParaRPr lang="zh-CN" altLang="en-US" sz="3000" b="1">
              <a:solidFill>
                <a:srgbClr val="000000"/>
              </a:solidFill>
              <a:effectLst>
                <a:outerShdw blurRad="38100" dist="38100" dir="2700000">
                  <a:srgbClr val="FFFFFF"/>
                </a:outerShdw>
              </a:effectLst>
              <a:latin typeface="Times New Roman" panose="02020603050405020304" pitchFamily="18" charset="0"/>
              <a:ea typeface="楷体_GB2312" pitchFamily="49" charset="-122"/>
            </a:endParaRPr>
          </a:p>
        </p:txBody>
      </p:sp>
      <p:sp>
        <p:nvSpPr>
          <p:cNvPr id="328711" name="标题 328710"/>
          <p:cNvSpPr>
            <a:spLocks noGrp="1"/>
          </p:cNvSpPr>
          <p:nvPr>
            <p:ph type="ctrTitle"/>
          </p:nvPr>
        </p:nvSpPr>
        <p:spPr>
          <a:xfrm>
            <a:off x="684213" y="1230313"/>
            <a:ext cx="8137525" cy="1462087"/>
          </a:xfrm>
          <a:ln/>
        </p:spPr>
        <p:txBody>
          <a:bodyPr anchor="b"/>
          <a:lstStyle/>
          <a:p>
            <a:pPr defTabSz="914400">
              <a:buSzTx/>
            </a:pPr>
            <a:r>
              <a:rPr lang="zh-CN" altLang="en-US" sz="4200" kern="1200" baseline="0" dirty="0">
                <a:latin typeface="Tahoma" panose="020B0604030504040204" pitchFamily="34" charset="0"/>
                <a:ea typeface="隶书" panose="02010509060101010101" pitchFamily="49" charset="-122"/>
              </a:rPr>
              <a:t>第</a:t>
            </a:r>
            <a:r>
              <a:rPr lang="en-US" altLang="zh-CN" sz="4200" kern="1200" baseline="0">
                <a:latin typeface="Tahoma" panose="020B0604030504040204" pitchFamily="34" charset="0"/>
                <a:ea typeface="隶书" panose="02010509060101010101" pitchFamily="49" charset="-122"/>
              </a:rPr>
              <a:t>3</a:t>
            </a:r>
            <a:r>
              <a:rPr lang="zh-CN" altLang="en-US" sz="4200" kern="1200" baseline="0" dirty="0">
                <a:latin typeface="Tahoma" panose="020B0604030504040204" pitchFamily="34" charset="0"/>
                <a:ea typeface="隶书" panose="02010509060101010101" pitchFamily="49" charset="-122"/>
              </a:rPr>
              <a:t>章 数据库应用系统设计方法</a:t>
            </a:r>
            <a:r>
              <a:rPr lang="zh-CN" altLang="en-US" kern="1200" baseline="0" dirty="0">
                <a:latin typeface="Tahoma" panose="020B0604030504040204" pitchFamily="34" charset="0"/>
                <a:ea typeface="隶书" panose="02010509060101010101" pitchFamily="49" charset="-122"/>
              </a:rPr>
              <a:t> </a:t>
            </a:r>
          </a:p>
        </p:txBody>
      </p:sp>
      <p:sp>
        <p:nvSpPr>
          <p:cNvPr id="328715" name="文本框 328714"/>
          <p:cNvSpPr txBox="1"/>
          <p:nvPr/>
        </p:nvSpPr>
        <p:spPr>
          <a:xfrm>
            <a:off x="2516188" y="3957638"/>
            <a:ext cx="4681537" cy="706755"/>
          </a:xfrm>
          <a:prstGeom prst="rect">
            <a:avLst/>
          </a:prstGeom>
          <a:noFill/>
          <a:ln w="12700">
            <a:noFill/>
          </a:ln>
        </p:spPr>
        <p:txBody>
          <a:bodyPr>
            <a:spAutoFit/>
          </a:bodyPr>
          <a:lstStyle/>
          <a:p>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dirty="0">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pic>
        <p:nvPicPr>
          <p:cNvPr id="328716" name="图片 328715" descr="BS02064_"/>
          <p:cNvPicPr>
            <a:picLocks noChangeAspect="1"/>
          </p:cNvPicPr>
          <p:nvPr/>
        </p:nvPicPr>
        <p:blipFill>
          <a:blip r:embed="rId3"/>
          <a:stretch>
            <a:fillRect/>
          </a:stretch>
        </p:blipFill>
        <p:spPr>
          <a:xfrm>
            <a:off x="0" y="4170363"/>
            <a:ext cx="2700338" cy="2687637"/>
          </a:xfrm>
          <a:prstGeom prst="rect">
            <a:avLst/>
          </a:prstGeom>
          <a:noFill/>
          <a:ln w="9525">
            <a:noFill/>
          </a:ln>
        </p:spPr>
      </p:pic>
      <p:sp>
        <p:nvSpPr>
          <p:cNvPr id="328717" name="文本框 328716"/>
          <p:cNvSpPr txBox="1"/>
          <p:nvPr/>
        </p:nvSpPr>
        <p:spPr>
          <a:xfrm>
            <a:off x="2338388" y="2708275"/>
            <a:ext cx="4681537" cy="701675"/>
          </a:xfrm>
          <a:prstGeom prst="rect">
            <a:avLst/>
          </a:prstGeom>
          <a:noFill/>
          <a:ln w="12700">
            <a:noFill/>
          </a:ln>
        </p:spPr>
        <p:txBody>
          <a:bodyPr>
            <a:spAutoFit/>
          </a:bodyPr>
          <a:lstStyle/>
          <a:p>
            <a:pPr algn="ctr"/>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（第三讲）</a:t>
            </a:r>
            <a:endParaRPr lang="zh-CN" altLang="en-US" sz="4400" b="1" dirty="0">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spd="slow" advTm="450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wipe(left)">
                                      <p:cBhvr>
                                        <p:cTn id="7" dur="10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5" name="标题 417794"/>
          <p:cNvSpPr>
            <a:spLocks noGrp="1"/>
          </p:cNvSpPr>
          <p:nvPr>
            <p:ph type="ctrTitle"/>
          </p:nvPr>
        </p:nvSpPr>
        <p:spPr>
          <a:xfrm>
            <a:off x="827088" y="1219200"/>
            <a:ext cx="8137525" cy="1462088"/>
          </a:xfrm>
          <a:ln/>
        </p:spPr>
        <p:txBody>
          <a:bodyPr vert="horz" wrap="square" lIns="91440" tIns="45720" rIns="91440" bIns="45720" anchor="b"/>
          <a:lstStyle/>
          <a:p>
            <a:pPr defTabSz="914400">
              <a:buSzTx/>
            </a:pPr>
            <a:r>
              <a:rPr lang="en-US" altLang="zh-CN" sz="4600" kern="1200" baseline="0">
                <a:latin typeface="Tahoma" panose="020B0604030504040204" pitchFamily="34" charset="0"/>
                <a:ea typeface="隶书" panose="02010509060101010101" pitchFamily="49" charset="-122"/>
              </a:rPr>
              <a:t>3.3</a:t>
            </a:r>
            <a:r>
              <a:rPr lang="zh-CN" altLang="en-US" sz="4600" kern="1200" baseline="0" dirty="0">
                <a:latin typeface="Tahoma" panose="020B0604030504040204" pitchFamily="34" charset="0"/>
                <a:ea typeface="隶书" panose="02010509060101010101" pitchFamily="49" charset="-122"/>
              </a:rPr>
              <a:t>   数据库概念结构设计</a:t>
            </a:r>
          </a:p>
        </p:txBody>
      </p:sp>
      <p:sp>
        <p:nvSpPr>
          <p:cNvPr id="417796" name="矩形 417795"/>
          <p:cNvSpPr/>
          <p:nvPr/>
        </p:nvSpPr>
        <p:spPr>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第</a:t>
            </a:r>
            <a:r>
              <a:rPr lang="en-US" altLang="zh-CN"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3</a:t>
            </a:r>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章  数据库应用系统设计方法</a:t>
            </a:r>
            <a:endParaRPr lang="zh-CN" altLang="en-US"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endParaRPr>
          </a:p>
        </p:txBody>
      </p:sp>
    </p:spTree>
  </p:cSld>
  <p:clrMapOvr>
    <a:masterClrMapping/>
  </p:clrMapOvr>
  <p:transition spd="slow" advTm="5694"/>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4" name="矩形 640003"/>
          <p:cNvSpPr/>
          <p:nvPr/>
        </p:nvSpPr>
        <p:spPr>
          <a:xfrm>
            <a:off x="57150" y="117475"/>
            <a:ext cx="8893175" cy="1439863"/>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640005" name="矩形 640004"/>
          <p:cNvSpPr/>
          <p:nvPr/>
        </p:nvSpPr>
        <p:spPr>
          <a:xfrm>
            <a:off x="496888" y="1065213"/>
            <a:ext cx="8208962" cy="4105275"/>
          </a:xfrm>
          <a:prstGeom prst="rect">
            <a:avLst/>
          </a:prstGeom>
          <a:noFill/>
          <a:ln w="9525" cap="flat" cmpd="sng">
            <a:solidFill>
              <a:srgbClr val="00CC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spcBef>
                <a:spcPct val="0"/>
              </a:spcBef>
            </a:pPr>
            <a:endParaRPr lang="zh-CN" altLang="en-US" sz="800" b="0" dirty="0">
              <a:effectLst/>
              <a:ea typeface="黑体" panose="02010609060101010101" pitchFamily="2" charset="-122"/>
            </a:endParaRPr>
          </a:p>
          <a:p>
            <a:pPr lvl="0">
              <a:lnSpc>
                <a:spcPct val="130000"/>
              </a:lnSpc>
              <a:spcBef>
                <a:spcPct val="15000"/>
              </a:spcBef>
            </a:pPr>
            <a:r>
              <a:rPr lang="zh-CN" altLang="en-US" b="0" dirty="0">
                <a:effectLst/>
                <a:ea typeface="黑体" panose="02010609060101010101" pitchFamily="2" charset="-122"/>
              </a:rPr>
              <a:t>          </a:t>
            </a:r>
            <a:r>
              <a:rPr lang="zh-CN" altLang="en-US" sz="3200" dirty="0">
                <a:solidFill>
                  <a:srgbClr val="660033"/>
                </a:solidFill>
                <a:effectLst/>
                <a:ea typeface="华文新魏" panose="02010800040101010101" pitchFamily="2" charset="-122"/>
              </a:rPr>
              <a:t>概念结构</a:t>
            </a:r>
            <a:r>
              <a:rPr lang="zh-CN" altLang="en-US" b="0" dirty="0">
                <a:effectLst/>
                <a:ea typeface="黑体" panose="02010609060101010101" pitchFamily="2" charset="-122"/>
              </a:rPr>
              <a:t>是一种能反映用户观点，并更接近于现实世界的数据模型。</a:t>
            </a:r>
          </a:p>
          <a:p>
            <a:pPr lvl="0">
              <a:lnSpc>
                <a:spcPct val="130000"/>
              </a:lnSpc>
              <a:spcBef>
                <a:spcPct val="0"/>
              </a:spcBef>
            </a:pPr>
            <a:r>
              <a:rPr lang="zh-CN" altLang="en-US" b="0" dirty="0">
                <a:effectLst/>
              </a:rPr>
              <a:t>         </a:t>
            </a:r>
            <a:r>
              <a:rPr lang="zh-CN" altLang="en-US" sz="3200" dirty="0">
                <a:solidFill>
                  <a:srgbClr val="660033"/>
                </a:solidFill>
                <a:effectLst/>
                <a:ea typeface="华文新魏" panose="02010800040101010101" pitchFamily="2" charset="-122"/>
              </a:rPr>
              <a:t>概念结构设计阶段的主要任务</a:t>
            </a:r>
            <a:r>
              <a:rPr lang="zh-CN" altLang="en-US" b="0" dirty="0">
                <a:effectLst/>
                <a:ea typeface="黑体" panose="02010609060101010101" pitchFamily="2" charset="-122"/>
              </a:rPr>
              <a:t>是根据用户需求分析阶段形成的系统需求说明书，把用户的信息需求抽象为独立于具体机器、独立于具体</a:t>
            </a:r>
            <a:r>
              <a:rPr lang="en-US" altLang="zh-CN" b="0">
                <a:effectLst/>
                <a:ea typeface="黑体" panose="02010609060101010101" pitchFamily="2" charset="-122"/>
              </a:rPr>
              <a:t>DBMS</a:t>
            </a:r>
            <a:r>
              <a:rPr lang="zh-CN" altLang="en-US" b="0" dirty="0">
                <a:effectLst/>
                <a:ea typeface="黑体" panose="02010609060101010101" pitchFamily="2" charset="-122"/>
              </a:rPr>
              <a:t>的信息结构。 </a:t>
            </a:r>
          </a:p>
        </p:txBody>
      </p:sp>
    </p:spTree>
  </p:cSld>
  <p:clrMapOvr>
    <a:masterClrMapping/>
  </p:clrMapOvr>
  <mc:AlternateContent xmlns:mc="http://schemas.openxmlformats.org/markup-compatibility/2006" xmlns:p14="http://schemas.microsoft.com/office/powerpoint/2010/main">
    <mc:Choice Requires="p14">
      <p:transition spd="slow" p14:dur="2000" advTm="29722"/>
    </mc:Choice>
    <mc:Fallback xmlns="">
      <p:transition spd="slow" advTm="2972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6" name="矩形 419845"/>
          <p:cNvSpPr/>
          <p:nvPr/>
        </p:nvSpPr>
        <p:spPr>
          <a:xfrm>
            <a:off x="466725" y="1196975"/>
            <a:ext cx="8208963"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pPr>
            <a:r>
              <a:rPr lang="zh-CN" altLang="en-US" dirty="0"/>
              <a:t>          </a:t>
            </a:r>
            <a:r>
              <a:rPr lang="zh-CN" altLang="en-US" sz="2600" b="0" dirty="0">
                <a:solidFill>
                  <a:srgbClr val="003366"/>
                </a:solidFill>
                <a:effectLst/>
                <a:ea typeface="黑体" panose="02010609060101010101" pitchFamily="2" charset="-122"/>
              </a:rPr>
              <a:t>属性表概念结构设计方法的基本思路是：</a:t>
            </a:r>
            <a:r>
              <a:rPr lang="zh-CN" altLang="en-US" sz="2600" dirty="0"/>
              <a:t>期望建成的数据库应用系统中的关系表，尽可能地与用户组织进行日常信息管理时用到的各种表格相一致。</a:t>
            </a:r>
          </a:p>
          <a:p>
            <a:pPr lvl="0">
              <a:lnSpc>
                <a:spcPct val="135000"/>
              </a:lnSpc>
              <a:spcBef>
                <a:spcPct val="0"/>
              </a:spcBef>
            </a:pPr>
            <a:r>
              <a:rPr lang="zh-CN" altLang="en-US" sz="2600" dirty="0"/>
              <a:t>           </a:t>
            </a:r>
            <a:r>
              <a:rPr lang="zh-CN" altLang="en-US" sz="2600" b="0" dirty="0">
                <a:solidFill>
                  <a:srgbClr val="003366"/>
                </a:solidFill>
                <a:ea typeface="黑体" panose="02010609060101010101" pitchFamily="2" charset="-122"/>
              </a:rPr>
              <a:t>采用的所谓设计方法是：</a:t>
            </a:r>
            <a:r>
              <a:rPr lang="zh-CN" altLang="en-US" sz="2600" dirty="0"/>
              <a:t>直接把用户组织所用的各种表格进行收集、整理和归纳，把每一个表格看作成是描述其相应数据与信息特性的一个子概念结构（模型），用户组织实施信息管理涉及到的所有表格（包括，现有的表格和经过梳理新构建的表格），就构成了该用户组织的概念结构（模型）。 </a:t>
            </a:r>
          </a:p>
        </p:txBody>
      </p:sp>
      <p:sp>
        <p:nvSpPr>
          <p:cNvPr id="419847" name="矩形 41984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一、属性表概念结构设计方法</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9931"/>
    </mc:Choice>
    <mc:Fallback xmlns="">
      <p:transition spd="slow" advTm="499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19846">
                                            <p:txEl>
                                              <p:pRg st="0" end="0"/>
                                            </p:txEl>
                                          </p:spTgt>
                                        </p:tgtEl>
                                        <p:attrNameLst>
                                          <p:attrName>style.visibility</p:attrName>
                                        </p:attrNameLst>
                                      </p:cBhvr>
                                      <p:to>
                                        <p:strVal val="visible"/>
                                      </p:to>
                                    </p:set>
                                    <p:animEffect transition="in" filter="wipe(up)">
                                      <p:cBhvr>
                                        <p:cTn id="7" dur="5000"/>
                                        <p:tgtEl>
                                          <p:spTgt spid="419846">
                                            <p:txEl>
                                              <p:pRg st="0" end="0"/>
                                            </p:txEl>
                                          </p:spTgt>
                                        </p:tgtEl>
                                      </p:cBhvr>
                                    </p:animEffect>
                                  </p:childTnLst>
                                </p:cTn>
                              </p:par>
                            </p:childTnLst>
                          </p:cTn>
                        </p:par>
                        <p:par>
                          <p:cTn id="8" fill="hold">
                            <p:stCondLst>
                              <p:cond delay="5000"/>
                            </p:stCondLst>
                            <p:childTnLst>
                              <p:par>
                                <p:cTn id="9" presetID="22" presetClass="entr" presetSubtype="1" fill="hold" nodeType="afterEffect">
                                  <p:stCondLst>
                                    <p:cond delay="0"/>
                                  </p:stCondLst>
                                  <p:childTnLst>
                                    <p:set>
                                      <p:cBhvr>
                                        <p:cTn id="10" dur="1" fill="hold">
                                          <p:stCondLst>
                                            <p:cond delay="0"/>
                                          </p:stCondLst>
                                        </p:cTn>
                                        <p:tgtEl>
                                          <p:spTgt spid="419846">
                                            <p:txEl>
                                              <p:pRg st="1" end="1"/>
                                            </p:txEl>
                                          </p:spTgt>
                                        </p:tgtEl>
                                        <p:attrNameLst>
                                          <p:attrName>style.visibility</p:attrName>
                                        </p:attrNameLst>
                                      </p:cBhvr>
                                      <p:to>
                                        <p:strVal val="visible"/>
                                      </p:to>
                                    </p:set>
                                    <p:animEffect transition="in" filter="wipe(up)">
                                      <p:cBhvr>
                                        <p:cTn id="11" dur="5000"/>
                                        <p:tgtEl>
                                          <p:spTgt spid="4198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8" name="矩形 641027"/>
          <p:cNvSpPr/>
          <p:nvPr/>
        </p:nvSpPr>
        <p:spPr>
          <a:xfrm>
            <a:off x="107950" y="71438"/>
            <a:ext cx="7793038" cy="1341437"/>
          </a:xfrm>
          <a:prstGeom prst="rect">
            <a:avLst/>
          </a:prstGeom>
          <a:solidFill>
            <a:schemeClr val="bg1"/>
          </a:solid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endParaRPr lang="en-US" altLang="zh-CN"/>
          </a:p>
        </p:txBody>
      </p:sp>
      <p:sp>
        <p:nvSpPr>
          <p:cNvPr id="641539" name="直接连接符 641538"/>
          <p:cNvSpPr/>
          <p:nvPr/>
        </p:nvSpPr>
        <p:spPr>
          <a:xfrm>
            <a:off x="3686175" y="922338"/>
            <a:ext cx="0" cy="0"/>
          </a:xfrm>
          <a:prstGeom prst="line">
            <a:avLst/>
          </a:prstGeom>
          <a:ln w="12700" cap="rnd" cmpd="sng">
            <a:solidFill>
              <a:srgbClr val="000000"/>
            </a:solidFill>
            <a:prstDash val="solid"/>
            <a:headEnd type="none" w="med" len="med"/>
            <a:tailEnd type="none" w="med" len="med"/>
          </a:ln>
        </p:spPr>
      </p:sp>
      <p:sp>
        <p:nvSpPr>
          <p:cNvPr id="641540" name="直接连接符 641539"/>
          <p:cNvSpPr/>
          <p:nvPr/>
        </p:nvSpPr>
        <p:spPr>
          <a:xfrm>
            <a:off x="3686175" y="1046163"/>
            <a:ext cx="0" cy="0"/>
          </a:xfrm>
          <a:prstGeom prst="line">
            <a:avLst/>
          </a:prstGeom>
          <a:ln w="12700" cap="rnd" cmpd="sng">
            <a:solidFill>
              <a:srgbClr val="000000"/>
            </a:solidFill>
            <a:prstDash val="solid"/>
            <a:headEnd type="none" w="med" len="med"/>
            <a:tailEnd type="none" w="med" len="med"/>
          </a:ln>
        </p:spPr>
      </p:sp>
      <p:sp>
        <p:nvSpPr>
          <p:cNvPr id="641543" name="直接连接符 641542"/>
          <p:cNvSpPr/>
          <p:nvPr/>
        </p:nvSpPr>
        <p:spPr>
          <a:xfrm>
            <a:off x="3717925" y="1169988"/>
            <a:ext cx="0" cy="0"/>
          </a:xfrm>
          <a:prstGeom prst="line">
            <a:avLst/>
          </a:prstGeom>
          <a:ln w="12700" cap="rnd" cmpd="sng">
            <a:solidFill>
              <a:srgbClr val="000000"/>
            </a:solidFill>
            <a:prstDash val="solid"/>
            <a:headEnd type="none" w="med" len="med"/>
            <a:tailEnd type="none" w="med" len="med"/>
          </a:ln>
        </p:spPr>
      </p:sp>
      <p:sp>
        <p:nvSpPr>
          <p:cNvPr id="641544" name="直接连接符 641543"/>
          <p:cNvSpPr/>
          <p:nvPr/>
        </p:nvSpPr>
        <p:spPr>
          <a:xfrm>
            <a:off x="3717925" y="1293813"/>
            <a:ext cx="0" cy="0"/>
          </a:xfrm>
          <a:prstGeom prst="line">
            <a:avLst/>
          </a:prstGeom>
          <a:ln w="12700" cap="rnd" cmpd="sng">
            <a:solidFill>
              <a:srgbClr val="000000"/>
            </a:solidFill>
            <a:prstDash val="solid"/>
            <a:headEnd type="none" w="med" len="med"/>
            <a:tailEnd type="none" w="med" len="med"/>
          </a:ln>
        </p:spPr>
      </p:sp>
      <p:sp>
        <p:nvSpPr>
          <p:cNvPr id="641545" name="直接连接符 641544"/>
          <p:cNvSpPr/>
          <p:nvPr/>
        </p:nvSpPr>
        <p:spPr>
          <a:xfrm>
            <a:off x="3733800" y="1293813"/>
            <a:ext cx="0" cy="0"/>
          </a:xfrm>
          <a:prstGeom prst="line">
            <a:avLst/>
          </a:prstGeom>
          <a:ln w="12700" cap="rnd" cmpd="sng">
            <a:solidFill>
              <a:srgbClr val="000000"/>
            </a:solidFill>
            <a:prstDash val="solid"/>
            <a:headEnd type="none" w="med" len="med"/>
            <a:tailEnd type="none" w="med" len="med"/>
          </a:ln>
        </p:spPr>
      </p:sp>
      <p:sp>
        <p:nvSpPr>
          <p:cNvPr id="641546" name="直接连接符 641545"/>
          <p:cNvSpPr/>
          <p:nvPr/>
        </p:nvSpPr>
        <p:spPr>
          <a:xfrm>
            <a:off x="3733800" y="1417638"/>
            <a:ext cx="0" cy="0"/>
          </a:xfrm>
          <a:prstGeom prst="line">
            <a:avLst/>
          </a:prstGeom>
          <a:ln w="12700" cap="rnd" cmpd="sng">
            <a:solidFill>
              <a:srgbClr val="000000"/>
            </a:solidFill>
            <a:prstDash val="solid"/>
            <a:headEnd type="none" w="med" len="med"/>
            <a:tailEnd type="none" w="med" len="med"/>
          </a:ln>
        </p:spPr>
      </p:sp>
      <p:sp>
        <p:nvSpPr>
          <p:cNvPr id="641547" name="直接连接符 641546"/>
          <p:cNvSpPr/>
          <p:nvPr/>
        </p:nvSpPr>
        <p:spPr>
          <a:xfrm>
            <a:off x="3749675" y="1417638"/>
            <a:ext cx="0" cy="0"/>
          </a:xfrm>
          <a:prstGeom prst="line">
            <a:avLst/>
          </a:prstGeom>
          <a:ln w="12700" cap="rnd" cmpd="sng">
            <a:solidFill>
              <a:srgbClr val="000000"/>
            </a:solidFill>
            <a:prstDash val="solid"/>
            <a:headEnd type="none" w="med" len="med"/>
            <a:tailEnd type="none" w="med" len="med"/>
          </a:ln>
        </p:spPr>
      </p:sp>
      <p:sp>
        <p:nvSpPr>
          <p:cNvPr id="641548" name="直接连接符 641547"/>
          <p:cNvSpPr/>
          <p:nvPr/>
        </p:nvSpPr>
        <p:spPr>
          <a:xfrm>
            <a:off x="3749675" y="1541463"/>
            <a:ext cx="0" cy="0"/>
          </a:xfrm>
          <a:prstGeom prst="line">
            <a:avLst/>
          </a:prstGeom>
          <a:ln w="12700" cap="rnd" cmpd="sng">
            <a:solidFill>
              <a:srgbClr val="000000"/>
            </a:solidFill>
            <a:prstDash val="solid"/>
            <a:headEnd type="none" w="med" len="med"/>
            <a:tailEnd type="none" w="med" len="med"/>
          </a:ln>
        </p:spPr>
      </p:sp>
      <p:sp>
        <p:nvSpPr>
          <p:cNvPr id="641894" name="直接连接符 641893"/>
          <p:cNvSpPr/>
          <p:nvPr/>
        </p:nvSpPr>
        <p:spPr>
          <a:xfrm>
            <a:off x="3686175" y="1957388"/>
            <a:ext cx="0" cy="0"/>
          </a:xfrm>
          <a:prstGeom prst="line">
            <a:avLst/>
          </a:prstGeom>
          <a:ln w="12700" cap="rnd" cmpd="sng">
            <a:solidFill>
              <a:srgbClr val="000000"/>
            </a:solidFill>
            <a:prstDash val="solid"/>
            <a:headEnd type="none" w="med" len="med"/>
            <a:tailEnd type="none" w="med" len="med"/>
          </a:ln>
        </p:spPr>
      </p:sp>
      <p:graphicFrame>
        <p:nvGraphicFramePr>
          <p:cNvPr id="642039" name="表格 642038"/>
          <p:cNvGraphicFramePr/>
          <p:nvPr/>
        </p:nvGraphicFramePr>
        <p:xfrm>
          <a:off x="323850" y="869950"/>
          <a:ext cx="8640763" cy="5151374"/>
        </p:xfrm>
        <a:graphic>
          <a:graphicData uri="http://schemas.openxmlformats.org/drawingml/2006/table">
            <a:tbl>
              <a:tblPr/>
              <a:tblGrid>
                <a:gridCol w="719138">
                  <a:extLst>
                    <a:ext uri="{9D8B030D-6E8A-4147-A177-3AD203B41FA5}">
                      <a16:colId xmlns:a16="http://schemas.microsoft.com/office/drawing/2014/main" val="20000"/>
                    </a:ext>
                  </a:extLst>
                </a:gridCol>
                <a:gridCol w="4333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1008063">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gridCol w="1012825">
                  <a:extLst>
                    <a:ext uri="{9D8B030D-6E8A-4147-A177-3AD203B41FA5}">
                      <a16:colId xmlns:a16="http://schemas.microsoft.com/office/drawing/2014/main" val="20006"/>
                    </a:ext>
                  </a:extLst>
                </a:gridCol>
                <a:gridCol w="211137">
                  <a:extLst>
                    <a:ext uri="{9D8B030D-6E8A-4147-A177-3AD203B41FA5}">
                      <a16:colId xmlns:a16="http://schemas.microsoft.com/office/drawing/2014/main" val="20007"/>
                    </a:ext>
                  </a:extLst>
                </a:gridCol>
                <a:gridCol w="1179513">
                  <a:extLst>
                    <a:ext uri="{9D8B030D-6E8A-4147-A177-3AD203B41FA5}">
                      <a16:colId xmlns:a16="http://schemas.microsoft.com/office/drawing/2014/main" val="20008"/>
                    </a:ext>
                  </a:extLst>
                </a:gridCol>
                <a:gridCol w="182562">
                  <a:extLst>
                    <a:ext uri="{9D8B030D-6E8A-4147-A177-3AD203B41FA5}">
                      <a16:colId xmlns:a16="http://schemas.microsoft.com/office/drawing/2014/main" val="20009"/>
                    </a:ext>
                  </a:extLst>
                </a:gridCol>
                <a:gridCol w="1158875">
                  <a:extLst>
                    <a:ext uri="{9D8B030D-6E8A-4147-A177-3AD203B41FA5}">
                      <a16:colId xmlns:a16="http://schemas.microsoft.com/office/drawing/2014/main" val="20010"/>
                    </a:ext>
                  </a:extLst>
                </a:gridCol>
                <a:gridCol w="360363">
                  <a:extLst>
                    <a:ext uri="{9D8B030D-6E8A-4147-A177-3AD203B41FA5}">
                      <a16:colId xmlns:a16="http://schemas.microsoft.com/office/drawing/2014/main" val="20011"/>
                    </a:ext>
                  </a:extLst>
                </a:gridCol>
                <a:gridCol w="1079500">
                  <a:extLst>
                    <a:ext uri="{9D8B030D-6E8A-4147-A177-3AD203B41FA5}">
                      <a16:colId xmlns:a16="http://schemas.microsoft.com/office/drawing/2014/main" val="20012"/>
                    </a:ext>
                  </a:extLst>
                </a:gridCol>
              </a:tblGrid>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    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姓    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性    别</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照片</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extLst>
                  <a:ext uri="{0D108BD9-81ED-4DB2-BD59-A6C34878D82A}">
                    <a16:rowId xmlns:a16="http://schemas.microsoft.com/office/drawing/2014/main" val="10000"/>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出生日期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籍    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1"/>
                  </a:ext>
                </a:extLst>
              </a:tr>
              <a:tr h="557213">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父亲姓名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母亲姓名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家庭联系</a:t>
                      </a:r>
                    </a:p>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方      式</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家庭住址</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邮政编码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所学专业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专业代码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lnB w="12700" cap="flat" cmpd="sng">
                      <a:solidFill>
                        <a:srgbClr val="000000"/>
                      </a:solidFill>
                      <a:prstDash val="solid"/>
                      <a:headEnd type="none" w="med" len="med"/>
                      <a:tailEnd type="none" w="med" len="med"/>
                    </a:lnB>
                  </a:tcPr>
                </a:tc>
                <a:tc hMerge="1" vMerge="1">
                  <a:txBody>
                    <a:bodyPr/>
                    <a:lstStyle/>
                    <a:p>
                      <a:endParaRPr lang="zh-CN"/>
                    </a:p>
                  </a:txBody>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4"/>
                  </a:ext>
                </a:extLst>
              </a:tr>
              <a:tr h="447675">
                <a:tc rowSpan="7">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主</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要</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经</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历</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起始年月</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学习</a:t>
                      </a:r>
                      <a:r>
                        <a:rPr lang="en-US" altLang="zh-CN" sz="1800" b="0">
                          <a:effectLst/>
                          <a:latin typeface="华文中宋" panose="02010600040101010101" pitchFamily="2" charset="-122"/>
                          <a:ea typeface="华文中宋" panose="02010600040101010101" pitchFamily="2" charset="-122"/>
                        </a:rPr>
                        <a:t>/</a:t>
                      </a:r>
                      <a:r>
                        <a:rPr lang="zh-CN" altLang="en-US" sz="1800" b="0" dirty="0">
                          <a:effectLst/>
                          <a:latin typeface="华文中宋" panose="02010600040101010101" pitchFamily="2" charset="-122"/>
                          <a:ea typeface="华文中宋" panose="02010600040101010101" pitchFamily="2" charset="-122"/>
                        </a:rPr>
                        <a:t>工作单位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 职  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担任职务</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备  注</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8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125">
                <a:tc row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入学信息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准考证号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语文成绩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数学成绩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12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总 成 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英语成绩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综合成绩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642040" name="矩形 642039"/>
          <p:cNvSpPr/>
          <p:nvPr/>
        </p:nvSpPr>
        <p:spPr>
          <a:xfrm>
            <a:off x="3132138" y="374650"/>
            <a:ext cx="3181350" cy="427038"/>
          </a:xfrm>
          <a:prstGeom prst="rect">
            <a:avLst/>
          </a:prstGeom>
          <a:noFill/>
          <a:ln w="9525">
            <a:noFill/>
          </a:ln>
        </p:spPr>
        <p:txBody>
          <a:bodyPr wrap="none" anchor="ctr">
            <a:spAutoFit/>
          </a:bodyPr>
          <a:lstStyle/>
          <a:p>
            <a:r>
              <a:rPr lang="zh-CN" altLang="en-US" sz="2200" dirty="0">
                <a:solidFill>
                  <a:srgbClr val="660033"/>
                </a:solidFill>
                <a:latin typeface="黑体" panose="02010609060101010101" pitchFamily="2" charset="-122"/>
                <a:ea typeface="黑体" panose="02010609060101010101" pitchFamily="2" charset="-122"/>
              </a:rPr>
              <a:t>表</a:t>
            </a:r>
            <a:r>
              <a:rPr lang="en-US" altLang="zh-CN" sz="2200">
                <a:solidFill>
                  <a:srgbClr val="660033"/>
                </a:solidFill>
                <a:latin typeface="黑体" panose="02010609060101010101" pitchFamily="2" charset="-122"/>
                <a:ea typeface="黑体" panose="02010609060101010101" pitchFamily="2" charset="-122"/>
              </a:rPr>
              <a:t>3.2</a:t>
            </a:r>
            <a:r>
              <a:rPr lang="en-US" altLang="zh-CN" sz="2200">
                <a:latin typeface="黑体" panose="02010609060101010101" pitchFamily="2" charset="-122"/>
                <a:ea typeface="黑体" panose="02010609060101010101" pitchFamily="2" charset="-122"/>
              </a:rPr>
              <a:t>  </a:t>
            </a:r>
            <a:r>
              <a:rPr lang="zh-CN" altLang="en-US" sz="2200" dirty="0">
                <a:solidFill>
                  <a:srgbClr val="003366"/>
                </a:solidFill>
                <a:latin typeface="黑体" panose="02010609060101010101" pitchFamily="2" charset="-122"/>
                <a:ea typeface="黑体" panose="02010609060101010101" pitchFamily="2" charset="-122"/>
              </a:rPr>
              <a:t>大学学生学籍表</a:t>
            </a:r>
            <a:r>
              <a:rPr lang="zh-CN" altLang="en-US"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11770"/>
    </mc:Choice>
    <mc:Fallback xmlns="">
      <p:transition spd="slow" advTm="1177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8" name="矩形 42086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、实体与实体集</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1</a:t>
            </a:r>
            <a:r>
              <a:rPr lang="zh-CN" altLang="en-US" dirty="0">
                <a:solidFill>
                  <a:srgbClr val="003366"/>
                </a:solidFill>
              </a:rPr>
              <a:t>）实体</a:t>
            </a:r>
          </a:p>
          <a:p>
            <a:pPr lvl="0">
              <a:lnSpc>
                <a:spcPct val="135000"/>
              </a:lnSpc>
              <a:spcBef>
                <a:spcPct val="10000"/>
              </a:spcBef>
            </a:pPr>
            <a:r>
              <a:rPr lang="zh-CN" altLang="en-US" dirty="0"/>
              <a:t>          是存在于用户组织中的抽象的但</a:t>
            </a:r>
            <a:r>
              <a:rPr lang="zh-CN" altLang="en-US" dirty="0">
                <a:solidFill>
                  <a:srgbClr val="008000"/>
                </a:solidFill>
              </a:rPr>
              <a:t>有意义</a:t>
            </a:r>
            <a:r>
              <a:rPr lang="zh-CN" altLang="en-US" dirty="0"/>
              <a:t>的“事物”。</a:t>
            </a:r>
          </a:p>
          <a:p>
            <a:pPr lvl="0">
              <a:lnSpc>
                <a:spcPct val="135000"/>
              </a:lnSpc>
              <a:spcBef>
                <a:spcPct val="10000"/>
              </a:spcBef>
            </a:pPr>
            <a:r>
              <a:rPr lang="zh-CN" altLang="en-US" dirty="0"/>
              <a:t>          也即是用户组织中</a:t>
            </a:r>
            <a:r>
              <a:rPr lang="zh-CN" altLang="en-US" dirty="0">
                <a:solidFill>
                  <a:srgbClr val="FF0000"/>
                </a:solidFill>
              </a:rPr>
              <a:t>独立</a:t>
            </a:r>
            <a:r>
              <a:rPr lang="zh-CN" altLang="en-US" dirty="0"/>
              <a:t>的客体。</a:t>
            </a:r>
          </a:p>
        </p:txBody>
      </p:sp>
      <p:sp>
        <p:nvSpPr>
          <p:cNvPr id="420869" name="矩形 42086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758"/>
    </mc:Choice>
    <mc:Fallback xmlns="">
      <p:transition spd="slow" advTm="537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0868">
                                            <p:txEl>
                                              <p:pRg st="0" end="0"/>
                                            </p:txEl>
                                          </p:spTgt>
                                        </p:tgtEl>
                                        <p:attrNameLst>
                                          <p:attrName>style.visibility</p:attrName>
                                        </p:attrNameLst>
                                      </p:cBhvr>
                                      <p:to>
                                        <p:strVal val="visible"/>
                                      </p:to>
                                    </p:set>
                                    <p:animEffect transition="in" filter="wipe(left)">
                                      <p:cBhvr>
                                        <p:cTn id="7" dur="1000"/>
                                        <p:tgtEl>
                                          <p:spTgt spid="420868">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20868">
                                            <p:txEl>
                                              <p:pRg st="1" end="1"/>
                                            </p:txEl>
                                          </p:spTgt>
                                        </p:tgtEl>
                                        <p:attrNameLst>
                                          <p:attrName>style.visibility</p:attrName>
                                        </p:attrNameLst>
                                      </p:cBhvr>
                                      <p:to>
                                        <p:strVal val="visible"/>
                                      </p:to>
                                    </p:set>
                                    <p:animEffect transition="in" filter="wipe(left)">
                                      <p:cBhvr>
                                        <p:cTn id="11" dur="1000"/>
                                        <p:tgtEl>
                                          <p:spTgt spid="420868">
                                            <p:txEl>
                                              <p:pRg st="1" end="1"/>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20868">
                                            <p:txEl>
                                              <p:pRg st="2" end="2"/>
                                            </p:txEl>
                                          </p:spTgt>
                                        </p:tgtEl>
                                        <p:attrNameLst>
                                          <p:attrName>style.visibility</p:attrName>
                                        </p:attrNameLst>
                                      </p:cBhvr>
                                      <p:to>
                                        <p:strVal val="visible"/>
                                      </p:to>
                                    </p:set>
                                    <p:animEffect transition="in" filter="wipe(left)">
                                      <p:cBhvr>
                                        <p:cTn id="15" dur="2000"/>
                                        <p:tgtEl>
                                          <p:spTgt spid="420868">
                                            <p:txEl>
                                              <p:pRg st="2" end="2"/>
                                            </p:txEl>
                                          </p:spTgt>
                                        </p:tgtEl>
                                      </p:cBhvr>
                                    </p:animEffect>
                                  </p:childTnLst>
                                </p:cTn>
                              </p:par>
                            </p:childTnLst>
                          </p:cTn>
                        </p:par>
                        <p:par>
                          <p:cTn id="16" fill="hold">
                            <p:stCondLst>
                              <p:cond delay="4000"/>
                            </p:stCondLst>
                            <p:childTnLst>
                              <p:par>
                                <p:cTn id="17" presetID="22" presetClass="entr" presetSubtype="8" fill="hold" nodeType="afterEffect">
                                  <p:stCondLst>
                                    <p:cond delay="0"/>
                                  </p:stCondLst>
                                  <p:childTnLst>
                                    <p:set>
                                      <p:cBhvr>
                                        <p:cTn id="18" dur="1" fill="hold">
                                          <p:stCondLst>
                                            <p:cond delay="0"/>
                                          </p:stCondLst>
                                        </p:cTn>
                                        <p:tgtEl>
                                          <p:spTgt spid="420868">
                                            <p:txEl>
                                              <p:pRg st="3" end="3"/>
                                            </p:txEl>
                                          </p:spTgt>
                                        </p:tgtEl>
                                        <p:attrNameLst>
                                          <p:attrName>style.visibility</p:attrName>
                                        </p:attrNameLst>
                                      </p:cBhvr>
                                      <p:to>
                                        <p:strVal val="visible"/>
                                      </p:to>
                                    </p:set>
                                    <p:animEffect transition="in" filter="wipe(left)">
                                      <p:cBhvr>
                                        <p:cTn id="19" dur="3000"/>
                                        <p:tgtEl>
                                          <p:spTgt spid="4208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2" name="矩形 421891"/>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25000"/>
              </a:lnSpc>
              <a:spcBef>
                <a:spcPct val="5000"/>
              </a:spcBef>
            </a:pPr>
            <a:r>
              <a:rPr lang="en-US" altLang="zh-CN"/>
              <a:t>          </a:t>
            </a:r>
            <a:r>
              <a:rPr lang="en-US" altLang="zh-CN">
                <a:solidFill>
                  <a:srgbClr val="A50021"/>
                </a:solidFill>
              </a:rPr>
              <a:t>1</a:t>
            </a:r>
            <a:r>
              <a:rPr lang="zh-CN" altLang="en-US" dirty="0">
                <a:solidFill>
                  <a:srgbClr val="A50021"/>
                </a:solidFill>
              </a:rPr>
              <a:t>）</a:t>
            </a:r>
            <a:r>
              <a:rPr lang="zh-CN" altLang="en-US" dirty="0"/>
              <a:t>实体可以是具体的对象。</a:t>
            </a:r>
          </a:p>
          <a:p>
            <a:pPr lvl="0">
              <a:lnSpc>
                <a:spcPct val="125000"/>
              </a:lnSpc>
              <a:spcBef>
                <a:spcPct val="5000"/>
              </a:spcBef>
            </a:pPr>
            <a:r>
              <a:rPr lang="zh-CN" altLang="en-US" dirty="0"/>
              <a:t>         </a:t>
            </a:r>
            <a:r>
              <a:rPr lang="zh-CN" altLang="en-US" dirty="0">
                <a:solidFill>
                  <a:srgbClr val="003366"/>
                </a:solidFill>
                <a:effectLst/>
                <a:ea typeface="黑体" panose="02010609060101010101" pitchFamily="2" charset="-122"/>
              </a:rPr>
              <a:t>例如，</a:t>
            </a:r>
            <a:r>
              <a:rPr lang="zh-CN" altLang="en-US" dirty="0">
                <a:solidFill>
                  <a:srgbClr val="006666"/>
                </a:solidFill>
              </a:rPr>
              <a:t>一个班级是一个实体。</a:t>
            </a:r>
          </a:p>
          <a:p>
            <a:pPr lvl="0">
              <a:lnSpc>
                <a:spcPct val="125000"/>
              </a:lnSpc>
              <a:spcBef>
                <a:spcPct val="5000"/>
              </a:spcBef>
            </a:pPr>
            <a:r>
              <a:rPr lang="zh-CN" altLang="en-US" dirty="0"/>
              <a:t>         </a:t>
            </a:r>
            <a:r>
              <a:rPr lang="en-US" altLang="zh-CN">
                <a:solidFill>
                  <a:srgbClr val="A50021"/>
                </a:solidFill>
              </a:rPr>
              <a:t>2</a:t>
            </a:r>
            <a:r>
              <a:rPr lang="zh-CN" altLang="en-US" dirty="0">
                <a:solidFill>
                  <a:srgbClr val="A50021"/>
                </a:solidFill>
              </a:rPr>
              <a:t>）</a:t>
            </a:r>
            <a:r>
              <a:rPr lang="zh-CN" altLang="en-US" dirty="0"/>
              <a:t> 实体可以是抽象的事件、抽象的概念这样的对象。</a:t>
            </a:r>
          </a:p>
          <a:p>
            <a:pPr lvl="0">
              <a:lnSpc>
                <a:spcPct val="125000"/>
              </a:lnSpc>
              <a:spcBef>
                <a:spcPct val="5000"/>
              </a:spcBef>
            </a:pPr>
            <a:r>
              <a:rPr lang="zh-CN" altLang="en-US" dirty="0">
                <a:solidFill>
                  <a:srgbClr val="003366"/>
                </a:solidFill>
              </a:rPr>
              <a:t>         </a:t>
            </a:r>
            <a:r>
              <a:rPr lang="zh-CN" altLang="en-US" dirty="0">
                <a:solidFill>
                  <a:srgbClr val="003366"/>
                </a:solidFill>
                <a:effectLst/>
                <a:ea typeface="黑体" panose="02010609060101010101" pitchFamily="2" charset="-122"/>
              </a:rPr>
              <a:t>例如，</a:t>
            </a:r>
            <a:r>
              <a:rPr lang="zh-CN" altLang="en-US" dirty="0">
                <a:solidFill>
                  <a:srgbClr val="006666"/>
                </a:solidFill>
              </a:rPr>
              <a:t>一次考试是这样的一个实体。</a:t>
            </a:r>
          </a:p>
          <a:p>
            <a:pPr lvl="0">
              <a:lnSpc>
                <a:spcPct val="125000"/>
              </a:lnSpc>
              <a:spcBef>
                <a:spcPct val="5000"/>
              </a:spcBef>
            </a:pPr>
            <a:r>
              <a:rPr lang="zh-CN" altLang="en-US" dirty="0"/>
              <a:t>         </a:t>
            </a:r>
            <a:r>
              <a:rPr lang="en-US" altLang="zh-CN">
                <a:solidFill>
                  <a:srgbClr val="A50021"/>
                </a:solidFill>
              </a:rPr>
              <a:t>3</a:t>
            </a:r>
            <a:r>
              <a:rPr lang="zh-CN" altLang="en-US" dirty="0">
                <a:solidFill>
                  <a:srgbClr val="A50021"/>
                </a:solidFill>
              </a:rPr>
              <a:t>）</a:t>
            </a:r>
            <a:r>
              <a:rPr lang="zh-CN" altLang="en-US" dirty="0"/>
              <a:t>实体可以是有形的对象。</a:t>
            </a:r>
          </a:p>
          <a:p>
            <a:pPr lvl="0">
              <a:lnSpc>
                <a:spcPct val="125000"/>
              </a:lnSpc>
              <a:spcBef>
                <a:spcPct val="5000"/>
              </a:spcBef>
            </a:pPr>
            <a:r>
              <a:rPr lang="zh-CN" altLang="en-US" dirty="0">
                <a:solidFill>
                  <a:srgbClr val="006666"/>
                </a:solidFill>
              </a:rPr>
              <a:t>        </a:t>
            </a:r>
            <a:r>
              <a:rPr lang="zh-CN" altLang="en-US" dirty="0">
                <a:solidFill>
                  <a:srgbClr val="003366"/>
                </a:solidFill>
                <a:effectLst/>
                <a:ea typeface="黑体" panose="02010609060101010101" pitchFamily="2" charset="-122"/>
              </a:rPr>
              <a:t>例如，</a:t>
            </a:r>
            <a:r>
              <a:rPr lang="zh-CN" altLang="en-US" dirty="0">
                <a:solidFill>
                  <a:srgbClr val="006666"/>
                </a:solidFill>
              </a:rPr>
              <a:t>一个学生是一个实体。</a:t>
            </a:r>
          </a:p>
          <a:p>
            <a:pPr lvl="0">
              <a:lnSpc>
                <a:spcPct val="125000"/>
              </a:lnSpc>
              <a:spcBef>
                <a:spcPct val="5000"/>
              </a:spcBef>
            </a:pPr>
            <a:r>
              <a:rPr lang="zh-CN" altLang="en-US" dirty="0"/>
              <a:t>        </a:t>
            </a:r>
            <a:r>
              <a:rPr lang="en-US" altLang="zh-CN">
                <a:solidFill>
                  <a:srgbClr val="A50021"/>
                </a:solidFill>
              </a:rPr>
              <a:t>4</a:t>
            </a:r>
            <a:r>
              <a:rPr lang="zh-CN" altLang="en-US" dirty="0">
                <a:solidFill>
                  <a:srgbClr val="A50021"/>
                </a:solidFill>
              </a:rPr>
              <a:t>）</a:t>
            </a:r>
            <a:r>
              <a:rPr lang="zh-CN" altLang="en-US" dirty="0"/>
              <a:t>实体可以是无形的对象。</a:t>
            </a:r>
          </a:p>
          <a:p>
            <a:pPr lvl="0">
              <a:lnSpc>
                <a:spcPct val="125000"/>
              </a:lnSpc>
              <a:spcBef>
                <a:spcPct val="5000"/>
              </a:spcBef>
            </a:pPr>
            <a:r>
              <a:rPr lang="zh-CN" altLang="en-US" dirty="0">
                <a:solidFill>
                  <a:srgbClr val="006699"/>
                </a:solidFill>
              </a:rPr>
              <a:t>        </a:t>
            </a:r>
            <a:r>
              <a:rPr lang="zh-CN" altLang="en-US" dirty="0">
                <a:solidFill>
                  <a:srgbClr val="003366"/>
                </a:solidFill>
                <a:effectLst/>
                <a:ea typeface="黑体" panose="02010609060101010101" pitchFamily="2" charset="-122"/>
              </a:rPr>
              <a:t>例如，</a:t>
            </a:r>
            <a:r>
              <a:rPr lang="zh-CN" altLang="en-US" dirty="0">
                <a:solidFill>
                  <a:srgbClr val="006666"/>
                </a:solidFill>
              </a:rPr>
              <a:t>像爱和恨这样的概念就是无形实体</a:t>
            </a:r>
            <a:r>
              <a:rPr lang="zh-CN" altLang="en-US" dirty="0"/>
              <a:t> </a:t>
            </a:r>
          </a:p>
        </p:txBody>
      </p:sp>
      <p:sp>
        <p:nvSpPr>
          <p:cNvPr id="421894" name="矩形 42189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5820"/>
    </mc:Choice>
    <mc:Fallback xmlns="">
      <p:transition spd="slow" advTm="45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1892">
                                            <p:txEl>
                                              <p:pRg st="0" end="0"/>
                                            </p:txEl>
                                          </p:spTgt>
                                        </p:tgtEl>
                                        <p:attrNameLst>
                                          <p:attrName>style.visibility</p:attrName>
                                        </p:attrNameLst>
                                      </p:cBhvr>
                                      <p:to>
                                        <p:strVal val="visible"/>
                                      </p:to>
                                    </p:set>
                                    <p:animEffect transition="in" filter="wipe(up)">
                                      <p:cBhvr>
                                        <p:cTn id="7" dur="1000"/>
                                        <p:tgtEl>
                                          <p:spTgt spid="421892">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21892">
                                            <p:txEl>
                                              <p:pRg st="1" end="1"/>
                                            </p:txEl>
                                          </p:spTgt>
                                        </p:tgtEl>
                                        <p:attrNameLst>
                                          <p:attrName>style.visibility</p:attrName>
                                        </p:attrNameLst>
                                      </p:cBhvr>
                                      <p:to>
                                        <p:strVal val="visible"/>
                                      </p:to>
                                    </p:set>
                                    <p:animEffect transition="in" filter="wipe(up)">
                                      <p:cBhvr>
                                        <p:cTn id="11" dur="3000"/>
                                        <p:tgtEl>
                                          <p:spTgt spid="421892">
                                            <p:txEl>
                                              <p:pRg st="1" end="1"/>
                                            </p:txEl>
                                          </p:spTgt>
                                        </p:tgtEl>
                                      </p:cBhvr>
                                    </p:animEffect>
                                  </p:childTnLst>
                                </p:cTn>
                              </p:par>
                            </p:childTnLst>
                          </p:cTn>
                        </p:par>
                        <p:par>
                          <p:cTn id="12" fill="hold">
                            <p:stCondLst>
                              <p:cond delay="4000"/>
                            </p:stCondLst>
                            <p:childTnLst>
                              <p:par>
                                <p:cTn id="13" presetID="22" presetClass="entr" presetSubtype="1" fill="hold" nodeType="afterEffect">
                                  <p:stCondLst>
                                    <p:cond delay="0"/>
                                  </p:stCondLst>
                                  <p:childTnLst>
                                    <p:set>
                                      <p:cBhvr>
                                        <p:cTn id="14" dur="1" fill="hold">
                                          <p:stCondLst>
                                            <p:cond delay="0"/>
                                          </p:stCondLst>
                                        </p:cTn>
                                        <p:tgtEl>
                                          <p:spTgt spid="421892">
                                            <p:txEl>
                                              <p:pRg st="2" end="2"/>
                                            </p:txEl>
                                          </p:spTgt>
                                        </p:tgtEl>
                                        <p:attrNameLst>
                                          <p:attrName>style.visibility</p:attrName>
                                        </p:attrNameLst>
                                      </p:cBhvr>
                                      <p:to>
                                        <p:strVal val="visible"/>
                                      </p:to>
                                    </p:set>
                                    <p:animEffect transition="in" filter="wipe(up)">
                                      <p:cBhvr>
                                        <p:cTn id="15" dur="3000"/>
                                        <p:tgtEl>
                                          <p:spTgt spid="421892">
                                            <p:txEl>
                                              <p:pRg st="2" end="2"/>
                                            </p:txEl>
                                          </p:spTgt>
                                        </p:tgtEl>
                                      </p:cBhvr>
                                    </p:animEffect>
                                  </p:childTnLst>
                                </p:cTn>
                              </p:par>
                            </p:childTnLst>
                          </p:cTn>
                        </p:par>
                        <p:par>
                          <p:cTn id="16" fill="hold">
                            <p:stCondLst>
                              <p:cond delay="7000"/>
                            </p:stCondLst>
                            <p:childTnLst>
                              <p:par>
                                <p:cTn id="17" presetID="22" presetClass="entr" presetSubtype="1" fill="hold" nodeType="afterEffect">
                                  <p:stCondLst>
                                    <p:cond delay="0"/>
                                  </p:stCondLst>
                                  <p:childTnLst>
                                    <p:set>
                                      <p:cBhvr>
                                        <p:cTn id="18" dur="1" fill="hold">
                                          <p:stCondLst>
                                            <p:cond delay="0"/>
                                          </p:stCondLst>
                                        </p:cTn>
                                        <p:tgtEl>
                                          <p:spTgt spid="421892">
                                            <p:txEl>
                                              <p:pRg st="3" end="3"/>
                                            </p:txEl>
                                          </p:spTgt>
                                        </p:tgtEl>
                                        <p:attrNameLst>
                                          <p:attrName>style.visibility</p:attrName>
                                        </p:attrNameLst>
                                      </p:cBhvr>
                                      <p:to>
                                        <p:strVal val="visible"/>
                                      </p:to>
                                    </p:set>
                                    <p:animEffect transition="in" filter="wipe(up)">
                                      <p:cBhvr>
                                        <p:cTn id="19" dur="3000"/>
                                        <p:tgtEl>
                                          <p:spTgt spid="421892">
                                            <p:txEl>
                                              <p:pRg st="3" end="3"/>
                                            </p:txEl>
                                          </p:spTgt>
                                        </p:tgtEl>
                                      </p:cBhvr>
                                    </p:animEffect>
                                  </p:childTnLst>
                                </p:cTn>
                              </p:par>
                            </p:childTnLst>
                          </p:cTn>
                        </p:par>
                        <p:par>
                          <p:cTn id="20" fill="hold">
                            <p:stCondLst>
                              <p:cond delay="10000"/>
                            </p:stCondLst>
                            <p:childTnLst>
                              <p:par>
                                <p:cTn id="21" presetID="22" presetClass="entr" presetSubtype="1" fill="hold" nodeType="afterEffect">
                                  <p:stCondLst>
                                    <p:cond delay="0"/>
                                  </p:stCondLst>
                                  <p:childTnLst>
                                    <p:set>
                                      <p:cBhvr>
                                        <p:cTn id="22" dur="1" fill="hold">
                                          <p:stCondLst>
                                            <p:cond delay="0"/>
                                          </p:stCondLst>
                                        </p:cTn>
                                        <p:tgtEl>
                                          <p:spTgt spid="421892">
                                            <p:txEl>
                                              <p:pRg st="4" end="4"/>
                                            </p:txEl>
                                          </p:spTgt>
                                        </p:tgtEl>
                                        <p:attrNameLst>
                                          <p:attrName>style.visibility</p:attrName>
                                        </p:attrNameLst>
                                      </p:cBhvr>
                                      <p:to>
                                        <p:strVal val="visible"/>
                                      </p:to>
                                    </p:set>
                                    <p:animEffect transition="in" filter="wipe(up)">
                                      <p:cBhvr>
                                        <p:cTn id="23" dur="3000"/>
                                        <p:tgtEl>
                                          <p:spTgt spid="421892">
                                            <p:txEl>
                                              <p:pRg st="4" end="4"/>
                                            </p:txEl>
                                          </p:spTgt>
                                        </p:tgtEl>
                                      </p:cBhvr>
                                    </p:animEffect>
                                  </p:childTnLst>
                                </p:cTn>
                              </p:par>
                            </p:childTnLst>
                          </p:cTn>
                        </p:par>
                        <p:par>
                          <p:cTn id="24" fill="hold">
                            <p:stCondLst>
                              <p:cond delay="13000"/>
                            </p:stCondLst>
                            <p:childTnLst>
                              <p:par>
                                <p:cTn id="25" presetID="22" presetClass="entr" presetSubtype="1" fill="hold" nodeType="afterEffect">
                                  <p:stCondLst>
                                    <p:cond delay="0"/>
                                  </p:stCondLst>
                                  <p:childTnLst>
                                    <p:set>
                                      <p:cBhvr>
                                        <p:cTn id="26" dur="1" fill="hold">
                                          <p:stCondLst>
                                            <p:cond delay="0"/>
                                          </p:stCondLst>
                                        </p:cTn>
                                        <p:tgtEl>
                                          <p:spTgt spid="421892">
                                            <p:txEl>
                                              <p:pRg st="5" end="5"/>
                                            </p:txEl>
                                          </p:spTgt>
                                        </p:tgtEl>
                                        <p:attrNameLst>
                                          <p:attrName>style.visibility</p:attrName>
                                        </p:attrNameLst>
                                      </p:cBhvr>
                                      <p:to>
                                        <p:strVal val="visible"/>
                                      </p:to>
                                    </p:set>
                                    <p:animEffect transition="in" filter="wipe(up)">
                                      <p:cBhvr>
                                        <p:cTn id="27" dur="3000"/>
                                        <p:tgtEl>
                                          <p:spTgt spid="421892">
                                            <p:txEl>
                                              <p:pRg st="5" end="5"/>
                                            </p:txEl>
                                          </p:spTgt>
                                        </p:tgtEl>
                                      </p:cBhvr>
                                    </p:animEffect>
                                  </p:childTnLst>
                                </p:cTn>
                              </p:par>
                            </p:childTnLst>
                          </p:cTn>
                        </p:par>
                        <p:par>
                          <p:cTn id="28" fill="hold">
                            <p:stCondLst>
                              <p:cond delay="16000"/>
                            </p:stCondLst>
                            <p:childTnLst>
                              <p:par>
                                <p:cTn id="29" presetID="22" presetClass="entr" presetSubtype="1" fill="hold" nodeType="afterEffect">
                                  <p:stCondLst>
                                    <p:cond delay="0"/>
                                  </p:stCondLst>
                                  <p:childTnLst>
                                    <p:set>
                                      <p:cBhvr>
                                        <p:cTn id="30" dur="1" fill="hold">
                                          <p:stCondLst>
                                            <p:cond delay="0"/>
                                          </p:stCondLst>
                                        </p:cTn>
                                        <p:tgtEl>
                                          <p:spTgt spid="421892">
                                            <p:txEl>
                                              <p:pRg st="6" end="6"/>
                                            </p:txEl>
                                          </p:spTgt>
                                        </p:tgtEl>
                                        <p:attrNameLst>
                                          <p:attrName>style.visibility</p:attrName>
                                        </p:attrNameLst>
                                      </p:cBhvr>
                                      <p:to>
                                        <p:strVal val="visible"/>
                                      </p:to>
                                    </p:set>
                                    <p:animEffect transition="in" filter="wipe(up)">
                                      <p:cBhvr>
                                        <p:cTn id="31" dur="3000"/>
                                        <p:tgtEl>
                                          <p:spTgt spid="421892">
                                            <p:txEl>
                                              <p:pRg st="6" end="6"/>
                                            </p:txEl>
                                          </p:spTgt>
                                        </p:tgtEl>
                                      </p:cBhvr>
                                    </p:animEffect>
                                  </p:childTnLst>
                                </p:cTn>
                              </p:par>
                            </p:childTnLst>
                          </p:cTn>
                        </p:par>
                        <p:par>
                          <p:cTn id="32" fill="hold">
                            <p:stCondLst>
                              <p:cond delay="19000"/>
                            </p:stCondLst>
                            <p:childTnLst>
                              <p:par>
                                <p:cTn id="33" presetID="22" presetClass="entr" presetSubtype="1" fill="hold" nodeType="afterEffect">
                                  <p:stCondLst>
                                    <p:cond delay="0"/>
                                  </p:stCondLst>
                                  <p:childTnLst>
                                    <p:set>
                                      <p:cBhvr>
                                        <p:cTn id="34" dur="1" fill="hold">
                                          <p:stCondLst>
                                            <p:cond delay="0"/>
                                          </p:stCondLst>
                                        </p:cTn>
                                        <p:tgtEl>
                                          <p:spTgt spid="421892">
                                            <p:txEl>
                                              <p:pRg st="7" end="7"/>
                                            </p:txEl>
                                          </p:spTgt>
                                        </p:tgtEl>
                                        <p:attrNameLst>
                                          <p:attrName>style.visibility</p:attrName>
                                        </p:attrNameLst>
                                      </p:cBhvr>
                                      <p:to>
                                        <p:strVal val="visible"/>
                                      </p:to>
                                    </p:set>
                                    <p:animEffect transition="in" filter="wipe(up)">
                                      <p:cBhvr>
                                        <p:cTn id="35" dur="3000"/>
                                        <p:tgtEl>
                                          <p:spTgt spid="42189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8" name="矩形 42291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spcBef>
                <a:spcPct val="10000"/>
              </a:spcBef>
            </a:pPr>
            <a:r>
              <a:rPr lang="zh-CN" altLang="en-US" dirty="0"/>
              <a:t>         </a:t>
            </a:r>
            <a:r>
              <a:rPr lang="zh-CN" altLang="en-US" dirty="0">
                <a:solidFill>
                  <a:srgbClr val="003366"/>
                </a:solidFill>
              </a:rPr>
              <a:t>（</a:t>
            </a:r>
            <a:r>
              <a:rPr lang="en-US" altLang="zh-CN">
                <a:solidFill>
                  <a:srgbClr val="003366"/>
                </a:solidFill>
              </a:rPr>
              <a:t>2</a:t>
            </a:r>
            <a:r>
              <a:rPr lang="zh-CN" altLang="en-US" dirty="0">
                <a:solidFill>
                  <a:srgbClr val="003366"/>
                </a:solidFill>
              </a:rPr>
              <a:t>）实体集</a:t>
            </a:r>
          </a:p>
          <a:p>
            <a:pPr lvl="0">
              <a:lnSpc>
                <a:spcPct val="130000"/>
              </a:lnSpc>
              <a:spcBef>
                <a:spcPct val="10000"/>
              </a:spcBef>
            </a:pPr>
            <a:r>
              <a:rPr lang="zh-CN" altLang="en-US" dirty="0"/>
              <a:t>          性质（属性）相同的同类实体的组成的集合。</a:t>
            </a:r>
          </a:p>
          <a:p>
            <a:pPr lvl="0">
              <a:lnSpc>
                <a:spcPct val="130000"/>
              </a:lnSpc>
              <a:spcBef>
                <a:spcPct val="10000"/>
              </a:spcBef>
            </a:pPr>
            <a:r>
              <a:rPr lang="zh-CN" altLang="en-US" dirty="0"/>
              <a:t>   </a:t>
            </a:r>
            <a:r>
              <a:rPr lang="zh-CN" altLang="en-US" dirty="0">
                <a:solidFill>
                  <a:srgbClr val="800080"/>
                </a:solidFill>
                <a:ea typeface="黑体" panose="02010609060101010101" pitchFamily="2" charset="-122"/>
              </a:rPr>
              <a:t>例如：</a:t>
            </a:r>
          </a:p>
          <a:p>
            <a:pPr lvl="0">
              <a:lnSpc>
                <a:spcPct val="130000"/>
              </a:lnSpc>
              <a:spcBef>
                <a:spcPct val="10000"/>
              </a:spcBef>
            </a:pPr>
            <a:r>
              <a:rPr lang="zh-CN" altLang="en-US" dirty="0"/>
              <a:t>          所有的大学生构成了一个大学生实体集；</a:t>
            </a:r>
          </a:p>
          <a:p>
            <a:pPr lvl="0">
              <a:lnSpc>
                <a:spcPct val="130000"/>
              </a:lnSpc>
              <a:spcBef>
                <a:spcPct val="10000"/>
              </a:spcBef>
            </a:pPr>
            <a:r>
              <a:rPr lang="zh-CN" altLang="en-US" dirty="0"/>
              <a:t>          一个大学的所有的课程，构成一个课程实体集；</a:t>
            </a:r>
          </a:p>
          <a:p>
            <a:pPr lvl="0">
              <a:lnSpc>
                <a:spcPct val="130000"/>
              </a:lnSpc>
              <a:spcBef>
                <a:spcPct val="10000"/>
              </a:spcBef>
            </a:pPr>
            <a:r>
              <a:rPr lang="zh-CN" altLang="en-US" dirty="0"/>
              <a:t>          所有的汽车构成一个汽车实体集。 </a:t>
            </a:r>
          </a:p>
        </p:txBody>
      </p:sp>
      <p:sp>
        <p:nvSpPr>
          <p:cNvPr id="422919" name="矩形 42291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5496"/>
    </mc:Choice>
    <mc:Fallback xmlns="">
      <p:transition spd="slow" advTm="254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22918">
                                            <p:txEl>
                                              <p:pRg st="0" end="0"/>
                                            </p:txEl>
                                          </p:spTgt>
                                        </p:tgtEl>
                                        <p:attrNameLst>
                                          <p:attrName>style.visibility</p:attrName>
                                        </p:attrNameLst>
                                      </p:cBhvr>
                                      <p:to>
                                        <p:strVal val="visible"/>
                                      </p:to>
                                    </p:set>
                                    <p:animEffect transition="in" filter="wipe(left)">
                                      <p:cBhvr>
                                        <p:cTn id="7" dur="1000"/>
                                        <p:tgtEl>
                                          <p:spTgt spid="422918">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22918">
                                            <p:txEl>
                                              <p:pRg st="1" end="1"/>
                                            </p:txEl>
                                          </p:spTgt>
                                        </p:tgtEl>
                                        <p:attrNameLst>
                                          <p:attrName>style.visibility</p:attrName>
                                        </p:attrNameLst>
                                      </p:cBhvr>
                                      <p:to>
                                        <p:strVal val="visible"/>
                                      </p:to>
                                    </p:set>
                                    <p:animEffect transition="in" filter="wipe(left)">
                                      <p:cBhvr>
                                        <p:cTn id="11" dur="3000"/>
                                        <p:tgtEl>
                                          <p:spTgt spid="422918">
                                            <p:txEl>
                                              <p:pRg st="1" end="1"/>
                                            </p:txEl>
                                          </p:spTgt>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422918">
                                            <p:txEl>
                                              <p:pRg st="2" end="2"/>
                                            </p:txEl>
                                          </p:spTgt>
                                        </p:tgtEl>
                                        <p:attrNameLst>
                                          <p:attrName>style.visibility</p:attrName>
                                        </p:attrNameLst>
                                      </p:cBhvr>
                                      <p:to>
                                        <p:strVal val="visible"/>
                                      </p:to>
                                    </p:set>
                                    <p:animEffect transition="in" filter="wipe(left)">
                                      <p:cBhvr>
                                        <p:cTn id="15" dur="3000"/>
                                        <p:tgtEl>
                                          <p:spTgt spid="422918">
                                            <p:txEl>
                                              <p:pRg st="2" end="2"/>
                                            </p:txEl>
                                          </p:spTgt>
                                        </p:tgtEl>
                                      </p:cBhvr>
                                    </p:animEffect>
                                  </p:childTnLst>
                                </p:cTn>
                              </p:par>
                            </p:childTnLst>
                          </p:cTn>
                        </p:par>
                        <p:par>
                          <p:cTn id="16" fill="hold">
                            <p:stCondLst>
                              <p:cond delay="7000"/>
                            </p:stCondLst>
                            <p:childTnLst>
                              <p:par>
                                <p:cTn id="17" presetID="22" presetClass="entr" presetSubtype="8" fill="hold" nodeType="afterEffect">
                                  <p:stCondLst>
                                    <p:cond delay="0"/>
                                  </p:stCondLst>
                                  <p:childTnLst>
                                    <p:set>
                                      <p:cBhvr>
                                        <p:cTn id="18" dur="1" fill="hold">
                                          <p:stCondLst>
                                            <p:cond delay="0"/>
                                          </p:stCondLst>
                                        </p:cTn>
                                        <p:tgtEl>
                                          <p:spTgt spid="422918">
                                            <p:txEl>
                                              <p:pRg st="3" end="3"/>
                                            </p:txEl>
                                          </p:spTgt>
                                        </p:tgtEl>
                                        <p:attrNameLst>
                                          <p:attrName>style.visibility</p:attrName>
                                        </p:attrNameLst>
                                      </p:cBhvr>
                                      <p:to>
                                        <p:strVal val="visible"/>
                                      </p:to>
                                    </p:set>
                                    <p:animEffect transition="in" filter="wipe(left)">
                                      <p:cBhvr>
                                        <p:cTn id="19" dur="3000"/>
                                        <p:tgtEl>
                                          <p:spTgt spid="422918">
                                            <p:txEl>
                                              <p:pRg st="3" end="3"/>
                                            </p:txEl>
                                          </p:spTgt>
                                        </p:tgtEl>
                                      </p:cBhvr>
                                    </p:animEffect>
                                  </p:childTnLst>
                                </p:cTn>
                              </p:par>
                            </p:childTnLst>
                          </p:cTn>
                        </p:par>
                        <p:par>
                          <p:cTn id="20" fill="hold">
                            <p:stCondLst>
                              <p:cond delay="10000"/>
                            </p:stCondLst>
                            <p:childTnLst>
                              <p:par>
                                <p:cTn id="21" presetID="22" presetClass="entr" presetSubtype="8" fill="hold" nodeType="afterEffect">
                                  <p:stCondLst>
                                    <p:cond delay="0"/>
                                  </p:stCondLst>
                                  <p:childTnLst>
                                    <p:set>
                                      <p:cBhvr>
                                        <p:cTn id="22" dur="1" fill="hold">
                                          <p:stCondLst>
                                            <p:cond delay="0"/>
                                          </p:stCondLst>
                                        </p:cTn>
                                        <p:tgtEl>
                                          <p:spTgt spid="422918">
                                            <p:txEl>
                                              <p:pRg st="4" end="4"/>
                                            </p:txEl>
                                          </p:spTgt>
                                        </p:tgtEl>
                                        <p:attrNameLst>
                                          <p:attrName>style.visibility</p:attrName>
                                        </p:attrNameLst>
                                      </p:cBhvr>
                                      <p:to>
                                        <p:strVal val="visible"/>
                                      </p:to>
                                    </p:set>
                                    <p:animEffect transition="in" filter="wipe(left)">
                                      <p:cBhvr>
                                        <p:cTn id="23" dur="3000"/>
                                        <p:tgtEl>
                                          <p:spTgt spid="422918">
                                            <p:txEl>
                                              <p:pRg st="4" end="4"/>
                                            </p:txEl>
                                          </p:spTgt>
                                        </p:tgtEl>
                                      </p:cBhvr>
                                    </p:animEffect>
                                  </p:childTnLst>
                                </p:cTn>
                              </p:par>
                            </p:childTnLst>
                          </p:cTn>
                        </p:par>
                        <p:par>
                          <p:cTn id="24" fill="hold">
                            <p:stCondLst>
                              <p:cond delay="13000"/>
                            </p:stCondLst>
                            <p:childTnLst>
                              <p:par>
                                <p:cTn id="25" presetID="22" presetClass="entr" presetSubtype="8" fill="hold" nodeType="afterEffect">
                                  <p:stCondLst>
                                    <p:cond delay="0"/>
                                  </p:stCondLst>
                                  <p:childTnLst>
                                    <p:set>
                                      <p:cBhvr>
                                        <p:cTn id="26" dur="1" fill="hold">
                                          <p:stCondLst>
                                            <p:cond delay="0"/>
                                          </p:stCondLst>
                                        </p:cTn>
                                        <p:tgtEl>
                                          <p:spTgt spid="422918">
                                            <p:txEl>
                                              <p:pRg st="5" end="5"/>
                                            </p:txEl>
                                          </p:spTgt>
                                        </p:tgtEl>
                                        <p:attrNameLst>
                                          <p:attrName>style.visibility</p:attrName>
                                        </p:attrNameLst>
                                      </p:cBhvr>
                                      <p:to>
                                        <p:strVal val="visible"/>
                                      </p:to>
                                    </p:set>
                                    <p:animEffect transition="in" filter="wipe(left)">
                                      <p:cBhvr>
                                        <p:cTn id="27" dur="3000"/>
                                        <p:tgtEl>
                                          <p:spTgt spid="4229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2" name="矩形 642051"/>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1</a:t>
            </a:r>
            <a:r>
              <a:rPr lang="zh-CN" altLang="en-US" dirty="0">
                <a:solidFill>
                  <a:srgbClr val="003366"/>
                </a:solidFill>
              </a:rPr>
              <a:t>）属性</a:t>
            </a:r>
          </a:p>
          <a:p>
            <a:pPr lvl="0">
              <a:lnSpc>
                <a:spcPct val="135000"/>
              </a:lnSpc>
              <a:spcBef>
                <a:spcPct val="10000"/>
              </a:spcBef>
            </a:pPr>
            <a:r>
              <a:rPr lang="zh-CN" altLang="en-US" dirty="0"/>
              <a:t>          属性（</a:t>
            </a:r>
            <a:r>
              <a:rPr lang="en-US" altLang="zh-CN"/>
              <a:t>Attribute</a:t>
            </a:r>
            <a:r>
              <a:rPr lang="zh-CN" altLang="en-US" dirty="0"/>
              <a:t>）是指实体集中所有实体所具有的共同特征。</a:t>
            </a:r>
          </a:p>
          <a:p>
            <a:pPr lvl="0">
              <a:lnSpc>
                <a:spcPct val="135000"/>
              </a:lnSpc>
              <a:spcBef>
                <a:spcPct val="10000"/>
              </a:spcBef>
            </a:pPr>
            <a:r>
              <a:rPr lang="zh-CN" altLang="en-US" dirty="0"/>
              <a:t>          </a:t>
            </a:r>
            <a:r>
              <a:rPr lang="zh-CN" altLang="en-US" b="0" dirty="0">
                <a:solidFill>
                  <a:schemeClr val="hlink"/>
                </a:solidFill>
                <a:ea typeface="黑体" panose="02010609060101010101" pitchFamily="2" charset="-122"/>
              </a:rPr>
              <a:t>例如，</a:t>
            </a:r>
            <a:r>
              <a:rPr lang="zh-CN" altLang="en-US" dirty="0"/>
              <a:t>不同专业的学生实体集的属性都包括：“学号”、“姓名”、“性别”、“出生年月”等 </a:t>
            </a:r>
          </a:p>
        </p:txBody>
      </p:sp>
      <p:sp>
        <p:nvSpPr>
          <p:cNvPr id="642053" name="矩形 642052"/>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36875"/>
    </mc:Choice>
    <mc:Fallback xmlns="">
      <p:transition spd="slow" advTm="368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2052">
                                            <p:txEl>
                                              <p:pRg st="0" end="0"/>
                                            </p:txEl>
                                          </p:spTgt>
                                        </p:tgtEl>
                                        <p:attrNameLst>
                                          <p:attrName>style.visibility</p:attrName>
                                        </p:attrNameLst>
                                      </p:cBhvr>
                                      <p:to>
                                        <p:strVal val="visible"/>
                                      </p:to>
                                    </p:set>
                                    <p:animEffect transition="in" filter="wipe(left)">
                                      <p:cBhvr>
                                        <p:cTn id="7" dur="1000"/>
                                        <p:tgtEl>
                                          <p:spTgt spid="642052">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2052">
                                            <p:txEl>
                                              <p:pRg st="1" end="1"/>
                                            </p:txEl>
                                          </p:spTgt>
                                        </p:tgtEl>
                                        <p:attrNameLst>
                                          <p:attrName>style.visibility</p:attrName>
                                        </p:attrNameLst>
                                      </p:cBhvr>
                                      <p:to>
                                        <p:strVal val="visible"/>
                                      </p:to>
                                    </p:set>
                                    <p:animEffect transition="in" filter="wipe(left)">
                                      <p:cBhvr>
                                        <p:cTn id="11" dur="1000"/>
                                        <p:tgtEl>
                                          <p:spTgt spid="642052">
                                            <p:txEl>
                                              <p:pRg st="1" end="1"/>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642052">
                                            <p:txEl>
                                              <p:pRg st="2" end="2"/>
                                            </p:txEl>
                                          </p:spTgt>
                                        </p:tgtEl>
                                        <p:attrNameLst>
                                          <p:attrName>style.visibility</p:attrName>
                                        </p:attrNameLst>
                                      </p:cBhvr>
                                      <p:to>
                                        <p:strVal val="visible"/>
                                      </p:to>
                                    </p:set>
                                    <p:animEffect transition="in" filter="wipe(left)">
                                      <p:cBhvr>
                                        <p:cTn id="15" dur="2000"/>
                                        <p:tgtEl>
                                          <p:spTgt spid="642052">
                                            <p:txEl>
                                              <p:pRg st="2" end="2"/>
                                            </p:txEl>
                                          </p:spTgt>
                                        </p:tgtEl>
                                      </p:cBhvr>
                                    </p:animEffect>
                                  </p:childTnLst>
                                </p:cTn>
                              </p:par>
                            </p:childTnLst>
                          </p:cTn>
                        </p:par>
                        <p:par>
                          <p:cTn id="16" fill="hold">
                            <p:stCondLst>
                              <p:cond delay="4000"/>
                            </p:stCondLst>
                            <p:childTnLst>
                              <p:par>
                                <p:cTn id="17" presetID="22" presetClass="entr" presetSubtype="8" fill="hold" nodeType="afterEffect">
                                  <p:stCondLst>
                                    <p:cond delay="0"/>
                                  </p:stCondLst>
                                  <p:childTnLst>
                                    <p:set>
                                      <p:cBhvr>
                                        <p:cTn id="18" dur="1" fill="hold">
                                          <p:stCondLst>
                                            <p:cond delay="0"/>
                                          </p:stCondLst>
                                        </p:cTn>
                                        <p:tgtEl>
                                          <p:spTgt spid="642052">
                                            <p:txEl>
                                              <p:pRg st="3" end="3"/>
                                            </p:txEl>
                                          </p:spTgt>
                                        </p:tgtEl>
                                        <p:attrNameLst>
                                          <p:attrName>style.visibility</p:attrName>
                                        </p:attrNameLst>
                                      </p:cBhvr>
                                      <p:to>
                                        <p:strVal val="visible"/>
                                      </p:to>
                                    </p:set>
                                    <p:animEffect transition="in" filter="wipe(left)">
                                      <p:cBhvr>
                                        <p:cTn id="19" dur="2000"/>
                                        <p:tgtEl>
                                          <p:spTgt spid="6420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6" name="矩形 643075"/>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2</a:t>
            </a:r>
            <a:r>
              <a:rPr lang="zh-CN" altLang="en-US" dirty="0">
                <a:solidFill>
                  <a:srgbClr val="003366"/>
                </a:solidFill>
              </a:rPr>
              <a:t>）属性的值</a:t>
            </a:r>
          </a:p>
          <a:p>
            <a:pPr lvl="0">
              <a:lnSpc>
                <a:spcPct val="135000"/>
              </a:lnSpc>
              <a:spcBef>
                <a:spcPct val="10000"/>
              </a:spcBef>
            </a:pPr>
            <a:r>
              <a:rPr lang="zh-CN" altLang="en-US" dirty="0"/>
              <a:t>          属性的值指属性的具体取值。</a:t>
            </a:r>
          </a:p>
          <a:p>
            <a:pPr lvl="0">
              <a:lnSpc>
                <a:spcPct val="135000"/>
              </a:lnSpc>
              <a:spcBef>
                <a:spcPct val="10000"/>
              </a:spcBef>
            </a:pPr>
            <a:r>
              <a:rPr lang="zh-CN" altLang="en-US" dirty="0"/>
              <a:t>          </a:t>
            </a:r>
            <a:r>
              <a:rPr lang="zh-CN" altLang="en-US" b="0" dirty="0">
                <a:solidFill>
                  <a:schemeClr val="hlink"/>
                </a:solidFill>
                <a:ea typeface="黑体" panose="02010609060101010101" pitchFamily="2" charset="-122"/>
              </a:rPr>
              <a:t>例如，</a:t>
            </a:r>
            <a:r>
              <a:rPr lang="zh-CN" altLang="en-US" dirty="0"/>
              <a:t>学生张中华，其“姓名”取值为张中华，“学号”取值为</a:t>
            </a:r>
            <a:r>
              <a:rPr lang="en-US" altLang="zh-CN"/>
              <a:t>200901001</a:t>
            </a:r>
            <a:r>
              <a:rPr lang="zh-CN" altLang="en-US" dirty="0"/>
              <a:t>，“性别”取值为男，“出生年月”取值为</a:t>
            </a:r>
            <a:r>
              <a:rPr lang="en-US" altLang="zh-CN"/>
              <a:t>14-dec-1992</a:t>
            </a:r>
            <a:r>
              <a:rPr lang="zh-CN" altLang="en-US" dirty="0"/>
              <a:t>。 </a:t>
            </a:r>
          </a:p>
        </p:txBody>
      </p:sp>
      <p:sp>
        <p:nvSpPr>
          <p:cNvPr id="643077" name="矩形 64307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17630"/>
    </mc:Choice>
    <mc:Fallback xmlns="">
      <p:transition spd="slow" advTm="17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3076">
                                            <p:txEl>
                                              <p:pRg st="1" end="1"/>
                                            </p:txEl>
                                          </p:spTgt>
                                        </p:tgtEl>
                                        <p:attrNameLst>
                                          <p:attrName>style.visibility</p:attrName>
                                        </p:attrNameLst>
                                      </p:cBhvr>
                                      <p:to>
                                        <p:strVal val="visible"/>
                                      </p:to>
                                    </p:set>
                                    <p:animEffect transition="in" filter="wipe(left)">
                                      <p:cBhvr>
                                        <p:cTn id="7" dur="1000"/>
                                        <p:tgtEl>
                                          <p:spTgt spid="643076">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3076">
                                            <p:txEl>
                                              <p:pRg st="2" end="2"/>
                                            </p:txEl>
                                          </p:spTgt>
                                        </p:tgtEl>
                                        <p:attrNameLst>
                                          <p:attrName>style.visibility</p:attrName>
                                        </p:attrNameLst>
                                      </p:cBhvr>
                                      <p:to>
                                        <p:strVal val="visible"/>
                                      </p:to>
                                    </p:set>
                                    <p:animEffect transition="in" filter="wipe(left)">
                                      <p:cBhvr>
                                        <p:cTn id="11" dur="2000"/>
                                        <p:tgtEl>
                                          <p:spTgt spid="643076">
                                            <p:txEl>
                                              <p:pRg st="2" end="2"/>
                                            </p:txEl>
                                          </p:spTgt>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3076">
                                            <p:txEl>
                                              <p:pRg st="3" end="3"/>
                                            </p:txEl>
                                          </p:spTgt>
                                        </p:tgtEl>
                                        <p:attrNameLst>
                                          <p:attrName>style.visibility</p:attrName>
                                        </p:attrNameLst>
                                      </p:cBhvr>
                                      <p:to>
                                        <p:strVal val="visible"/>
                                      </p:to>
                                    </p:set>
                                    <p:animEffect transition="in" filter="wipe(left)">
                                      <p:cBhvr>
                                        <p:cTn id="15" dur="2000"/>
                                        <p:tgtEl>
                                          <p:spTgt spid="6430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100" name="矩形 644099"/>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3</a:t>
            </a:r>
            <a:r>
              <a:rPr lang="zh-CN" altLang="en-US" dirty="0">
                <a:solidFill>
                  <a:srgbClr val="003366"/>
                </a:solidFill>
              </a:rPr>
              <a:t>）属性的值域</a:t>
            </a:r>
          </a:p>
          <a:p>
            <a:pPr lvl="0">
              <a:lnSpc>
                <a:spcPct val="135000"/>
              </a:lnSpc>
              <a:spcBef>
                <a:spcPct val="10000"/>
              </a:spcBef>
            </a:pPr>
            <a:r>
              <a:rPr lang="zh-CN" altLang="en-US" dirty="0"/>
              <a:t>          属性的值域（</a:t>
            </a:r>
            <a:r>
              <a:rPr lang="en-US" altLang="zh-CN"/>
              <a:t>Domain</a:t>
            </a:r>
            <a:r>
              <a:rPr lang="zh-CN" altLang="en-US" dirty="0"/>
              <a:t>）是指属性的取值范围。</a:t>
            </a:r>
          </a:p>
          <a:p>
            <a:pPr lvl="0">
              <a:lnSpc>
                <a:spcPct val="135000"/>
              </a:lnSpc>
              <a:spcBef>
                <a:spcPct val="10000"/>
              </a:spcBef>
            </a:pPr>
            <a:r>
              <a:rPr lang="zh-CN" altLang="en-US" dirty="0"/>
              <a:t>          </a:t>
            </a:r>
            <a:r>
              <a:rPr lang="zh-CN" altLang="en-US" b="0" dirty="0">
                <a:solidFill>
                  <a:schemeClr val="hlink"/>
                </a:solidFill>
                <a:effectLst/>
                <a:ea typeface="黑体" panose="02010609060101010101" pitchFamily="2" charset="-122"/>
              </a:rPr>
              <a:t>例如，</a:t>
            </a:r>
            <a:r>
              <a:rPr lang="zh-CN" altLang="en-US" dirty="0"/>
              <a:t>大学生的“性别”的值域为</a:t>
            </a:r>
            <a:r>
              <a:rPr lang="en-US" altLang="zh-CN"/>
              <a:t>{</a:t>
            </a:r>
            <a:r>
              <a:rPr lang="zh-CN" altLang="en-US" dirty="0"/>
              <a:t>男，女</a:t>
            </a:r>
            <a:r>
              <a:rPr lang="en-US" altLang="zh-CN"/>
              <a:t>}</a:t>
            </a:r>
            <a:r>
              <a:rPr lang="zh-CN" altLang="en-US" dirty="0"/>
              <a:t>。属性的值域可以是整数的集合，实数的集合，字符串的集合，或其它类型的值的集合。 </a:t>
            </a:r>
          </a:p>
        </p:txBody>
      </p:sp>
      <p:sp>
        <p:nvSpPr>
          <p:cNvPr id="644101" name="矩形 644100"/>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8022"/>
    </mc:Choice>
    <mc:Fallback xmlns="">
      <p:transition spd="slow" advTm="280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4100">
                                            <p:txEl>
                                              <p:pRg st="1" end="1"/>
                                            </p:txEl>
                                          </p:spTgt>
                                        </p:tgtEl>
                                        <p:attrNameLst>
                                          <p:attrName>style.visibility</p:attrName>
                                        </p:attrNameLst>
                                      </p:cBhvr>
                                      <p:to>
                                        <p:strVal val="visible"/>
                                      </p:to>
                                    </p:set>
                                    <p:animEffect transition="in" filter="wipe(left)">
                                      <p:cBhvr>
                                        <p:cTn id="7" dur="1000"/>
                                        <p:tgtEl>
                                          <p:spTgt spid="644100">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4100">
                                            <p:txEl>
                                              <p:pRg st="2" end="2"/>
                                            </p:txEl>
                                          </p:spTgt>
                                        </p:tgtEl>
                                        <p:attrNameLst>
                                          <p:attrName>style.visibility</p:attrName>
                                        </p:attrNameLst>
                                      </p:cBhvr>
                                      <p:to>
                                        <p:strVal val="visible"/>
                                      </p:to>
                                    </p:set>
                                    <p:animEffect transition="in" filter="wipe(left)">
                                      <p:cBhvr>
                                        <p:cTn id="11" dur="2000"/>
                                        <p:tgtEl>
                                          <p:spTgt spid="644100">
                                            <p:txEl>
                                              <p:pRg st="2" end="2"/>
                                            </p:txEl>
                                          </p:spTgt>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4100">
                                            <p:txEl>
                                              <p:pRg st="3" end="3"/>
                                            </p:txEl>
                                          </p:spTgt>
                                        </p:tgtEl>
                                        <p:attrNameLst>
                                          <p:attrName>style.visibility</p:attrName>
                                        </p:attrNameLst>
                                      </p:cBhvr>
                                      <p:to>
                                        <p:strVal val="visible"/>
                                      </p:to>
                                    </p:set>
                                    <p:animEffect transition="in" filter="wipe(left)">
                                      <p:cBhvr>
                                        <p:cTn id="15" dur="2000"/>
                                        <p:tgtEl>
                                          <p:spTgt spid="644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4" name="矩形 645123"/>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dirty="0"/>
              <a:t>          </a:t>
            </a:r>
            <a:r>
              <a:rPr lang="en-US" altLang="zh-CN" sz="3000" dirty="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dirty="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dirty="0">
                <a:solidFill>
                  <a:srgbClr val="003366"/>
                </a:solidFill>
              </a:rPr>
              <a:t>4</a:t>
            </a:r>
            <a:r>
              <a:rPr lang="zh-CN" altLang="en-US" dirty="0">
                <a:solidFill>
                  <a:srgbClr val="003366"/>
                </a:solidFill>
              </a:rPr>
              <a:t>）特定的实体</a:t>
            </a:r>
          </a:p>
          <a:p>
            <a:pPr lvl="0"/>
            <a:r>
              <a:rPr lang="zh-CN" altLang="en-US" dirty="0"/>
              <a:t>          当某实体集的每个属性，使它的值域中的一个值，同该实体集中的一个实体相联系时，就具体地描述了该实体集中的某个特定的实体。</a:t>
            </a:r>
          </a:p>
        </p:txBody>
      </p:sp>
      <p:sp>
        <p:nvSpPr>
          <p:cNvPr id="645125" name="矩形 64512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2456"/>
    </mc:Choice>
    <mc:Fallback xmlns="">
      <p:transition spd="slow" advTm="224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5124">
                                            <p:txEl>
                                              <p:pRg st="1" end="1"/>
                                            </p:txEl>
                                          </p:spTgt>
                                        </p:tgtEl>
                                        <p:attrNameLst>
                                          <p:attrName>style.visibility</p:attrName>
                                        </p:attrNameLst>
                                      </p:cBhvr>
                                      <p:to>
                                        <p:strVal val="visible"/>
                                      </p:to>
                                    </p:set>
                                    <p:animEffect transition="in" filter="wipe(left)">
                                      <p:cBhvr>
                                        <p:cTn id="7" dur="1000"/>
                                        <p:tgtEl>
                                          <p:spTgt spid="645124">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5124">
                                            <p:txEl>
                                              <p:pRg st="2" end="2"/>
                                            </p:txEl>
                                          </p:spTgt>
                                        </p:tgtEl>
                                        <p:attrNameLst>
                                          <p:attrName>style.visibility</p:attrName>
                                        </p:attrNameLst>
                                      </p:cBhvr>
                                      <p:to>
                                        <p:strVal val="visible"/>
                                      </p:to>
                                    </p:set>
                                    <p:animEffect transition="in" filter="wipe(left)">
                                      <p:cBhvr>
                                        <p:cTn id="11" dur="2000"/>
                                        <p:tgtEl>
                                          <p:spTgt spid="6451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8" name="矩形 64614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zh-CN" altLang="en-US" dirty="0">
                <a:solidFill>
                  <a:srgbClr val="003366"/>
                </a:solidFill>
              </a:rPr>
              <a:t>（</a:t>
            </a:r>
            <a:r>
              <a:rPr lang="en-US" altLang="zh-CN">
                <a:solidFill>
                  <a:srgbClr val="003366"/>
                </a:solidFill>
              </a:rPr>
              <a:t>4</a:t>
            </a:r>
            <a:r>
              <a:rPr lang="zh-CN" altLang="en-US" dirty="0">
                <a:solidFill>
                  <a:srgbClr val="003366"/>
                </a:solidFill>
              </a:rPr>
              <a:t>）特定的实体</a:t>
            </a:r>
          </a:p>
          <a:p>
            <a:pPr lvl="0">
              <a:spcBef>
                <a:spcPct val="0"/>
              </a:spcBef>
            </a:pPr>
            <a:r>
              <a:rPr lang="zh-CN" altLang="en-US" dirty="0"/>
              <a:t>          </a:t>
            </a:r>
            <a:r>
              <a:rPr lang="zh-CN" altLang="en-US" sz="2500" dirty="0"/>
              <a:t>例如，设学生实体集有属性值域：</a:t>
            </a:r>
          </a:p>
          <a:p>
            <a:pPr lvl="0">
              <a:spcBef>
                <a:spcPct val="0"/>
              </a:spcBef>
            </a:pPr>
            <a:r>
              <a:rPr lang="en-US" altLang="zh-CN" sz="2500"/>
              <a:t>           {</a:t>
            </a:r>
            <a:r>
              <a:rPr lang="zh-CN" altLang="en-US" sz="2500" dirty="0"/>
              <a:t>张中华，王丽丽，李建军，</a:t>
            </a:r>
            <a:r>
              <a:rPr lang="en-US" altLang="zh-CN" sz="2500">
                <a:latin typeface="Arial" panose="020B0604020202020204" pitchFamily="34" charset="0"/>
              </a:rPr>
              <a:t>…</a:t>
            </a:r>
            <a:r>
              <a:rPr lang="en-US" altLang="zh-CN" sz="2500"/>
              <a:t> </a:t>
            </a:r>
            <a:r>
              <a:rPr lang="en-US" altLang="zh-CN" sz="2500">
                <a:latin typeface="Arial" panose="020B0604020202020204" pitchFamily="34" charset="0"/>
              </a:rPr>
              <a:t>…</a:t>
            </a:r>
            <a:r>
              <a:rPr lang="en-US" altLang="zh-CN" sz="2500"/>
              <a:t> } </a:t>
            </a:r>
          </a:p>
          <a:p>
            <a:pPr lvl="0">
              <a:spcBef>
                <a:spcPct val="0"/>
              </a:spcBef>
            </a:pPr>
            <a:r>
              <a:rPr lang="en-US" altLang="zh-CN" sz="2500"/>
              <a:t>           {200901001</a:t>
            </a:r>
            <a:r>
              <a:rPr lang="zh-CN" altLang="en-US" sz="2500" dirty="0"/>
              <a:t>，</a:t>
            </a:r>
            <a:r>
              <a:rPr lang="en-US" altLang="zh-CN" sz="2500"/>
              <a:t>200901002</a:t>
            </a:r>
            <a:r>
              <a:rPr lang="zh-CN" altLang="en-US" sz="2500" dirty="0"/>
              <a:t>，</a:t>
            </a:r>
            <a:r>
              <a:rPr lang="en-US" altLang="zh-CN" sz="2500">
                <a:latin typeface="Arial" panose="020B0604020202020204" pitchFamily="34" charset="0"/>
              </a:rPr>
              <a:t>…</a:t>
            </a:r>
            <a:r>
              <a:rPr lang="en-US" altLang="zh-CN" sz="2500"/>
              <a:t> </a:t>
            </a:r>
            <a:r>
              <a:rPr lang="en-US" altLang="zh-CN" sz="2500">
                <a:latin typeface="Arial" panose="020B0604020202020204" pitchFamily="34" charset="0"/>
              </a:rPr>
              <a:t>…</a:t>
            </a:r>
            <a:r>
              <a:rPr lang="en-US" altLang="zh-CN" sz="2500"/>
              <a:t> }</a:t>
            </a:r>
          </a:p>
          <a:p>
            <a:pPr lvl="0">
              <a:spcBef>
                <a:spcPct val="0"/>
              </a:spcBef>
            </a:pPr>
            <a:r>
              <a:rPr lang="en-US" altLang="zh-CN" sz="2500"/>
              <a:t>           {</a:t>
            </a:r>
            <a:r>
              <a:rPr lang="zh-CN" altLang="en-US" sz="2500" dirty="0"/>
              <a:t>男，女</a:t>
            </a:r>
            <a:r>
              <a:rPr lang="en-US" altLang="zh-CN" sz="2500"/>
              <a:t>}</a:t>
            </a:r>
          </a:p>
          <a:p>
            <a:pPr lvl="0">
              <a:spcBef>
                <a:spcPct val="0"/>
              </a:spcBef>
            </a:pPr>
            <a:r>
              <a:rPr lang="en-US" altLang="zh-CN" sz="2500"/>
              <a:t>           {14-dec-1992</a:t>
            </a:r>
            <a:r>
              <a:rPr lang="zh-CN" altLang="en-US" sz="2500" dirty="0"/>
              <a:t>，</a:t>
            </a:r>
            <a:r>
              <a:rPr lang="en-US" altLang="zh-CN" sz="2500"/>
              <a:t>02-feb-1993</a:t>
            </a:r>
            <a:r>
              <a:rPr lang="zh-CN" altLang="en-US" sz="2500" dirty="0"/>
              <a:t>，</a:t>
            </a:r>
            <a:r>
              <a:rPr lang="en-US" altLang="zh-CN" sz="2500">
                <a:latin typeface="Arial" panose="020B0604020202020204" pitchFamily="34" charset="0"/>
              </a:rPr>
              <a:t>…</a:t>
            </a:r>
            <a:r>
              <a:rPr lang="en-US" altLang="zh-CN" sz="2500"/>
              <a:t> </a:t>
            </a:r>
            <a:r>
              <a:rPr lang="en-US" altLang="zh-CN" sz="2500">
                <a:latin typeface="Arial" panose="020B0604020202020204" pitchFamily="34" charset="0"/>
              </a:rPr>
              <a:t>…</a:t>
            </a:r>
            <a:r>
              <a:rPr lang="en-US" altLang="zh-CN" sz="2500"/>
              <a:t> }</a:t>
            </a:r>
          </a:p>
          <a:p>
            <a:pPr lvl="0">
              <a:spcBef>
                <a:spcPct val="0"/>
              </a:spcBef>
            </a:pPr>
            <a:r>
              <a:rPr lang="zh-CN" altLang="en-US" sz="2500" dirty="0"/>
              <a:t>           </a:t>
            </a:r>
            <a:r>
              <a:rPr lang="zh-CN" altLang="en-US" sz="2500" b="0" dirty="0">
                <a:solidFill>
                  <a:srgbClr val="003366"/>
                </a:solidFill>
                <a:ea typeface="黑体" panose="02010609060101010101" pitchFamily="2" charset="-122"/>
              </a:rPr>
              <a:t>则当该学生实体集的每个属性使它的值域中的一个值同该实体集中的“</a:t>
            </a:r>
            <a:r>
              <a:rPr lang="zh-CN" altLang="en-US" sz="2500" b="0" dirty="0">
                <a:solidFill>
                  <a:srgbClr val="660033"/>
                </a:solidFill>
                <a:ea typeface="黑体" panose="02010609060101010101" pitchFamily="2" charset="-122"/>
              </a:rPr>
              <a:t>张中华</a:t>
            </a:r>
            <a:r>
              <a:rPr lang="zh-CN" altLang="en-US" sz="2500" b="0" dirty="0">
                <a:solidFill>
                  <a:srgbClr val="003366"/>
                </a:solidFill>
                <a:ea typeface="黑体" panose="02010609060101010101" pitchFamily="2" charset="-122"/>
              </a:rPr>
              <a:t>”这个特定实体相联系时，</a:t>
            </a:r>
            <a:r>
              <a:rPr lang="zh-CN" altLang="en-US" sz="2500" dirty="0"/>
              <a:t>学生</a:t>
            </a:r>
            <a:r>
              <a:rPr lang="zh-CN" altLang="en-US" sz="2500" dirty="0">
                <a:solidFill>
                  <a:srgbClr val="660033"/>
                </a:solidFill>
                <a:ea typeface="黑体" panose="02010609060101010101" pitchFamily="2" charset="-122"/>
              </a:rPr>
              <a:t>张中华</a:t>
            </a:r>
            <a:r>
              <a:rPr lang="zh-CN" altLang="en-US" sz="2500" dirty="0"/>
              <a:t>的属性值集合</a:t>
            </a:r>
            <a:r>
              <a:rPr lang="en-US" altLang="zh-CN" sz="2500">
                <a:solidFill>
                  <a:schemeClr val="hlink"/>
                </a:solidFill>
              </a:rPr>
              <a:t>{</a:t>
            </a:r>
            <a:r>
              <a:rPr lang="zh-CN" altLang="en-US" sz="2500" dirty="0">
                <a:solidFill>
                  <a:schemeClr val="hlink"/>
                </a:solidFill>
              </a:rPr>
              <a:t>张中华，</a:t>
            </a:r>
            <a:r>
              <a:rPr lang="en-US" altLang="zh-CN" sz="2500">
                <a:solidFill>
                  <a:schemeClr val="hlink"/>
                </a:solidFill>
              </a:rPr>
              <a:t>200901001</a:t>
            </a:r>
            <a:r>
              <a:rPr lang="zh-CN" altLang="en-US" sz="2500" dirty="0">
                <a:solidFill>
                  <a:schemeClr val="hlink"/>
                </a:solidFill>
              </a:rPr>
              <a:t>，男，</a:t>
            </a:r>
            <a:r>
              <a:rPr lang="en-US" altLang="zh-CN" sz="2500">
                <a:solidFill>
                  <a:schemeClr val="hlink"/>
                </a:solidFill>
              </a:rPr>
              <a:t>14-dec-1992</a:t>
            </a:r>
            <a:r>
              <a:rPr lang="zh-CN" altLang="en-US" sz="2500" dirty="0">
                <a:solidFill>
                  <a:schemeClr val="hlink"/>
                </a:solidFill>
              </a:rPr>
              <a:t>，</a:t>
            </a:r>
            <a:r>
              <a:rPr lang="en-US" altLang="zh-CN" sz="2500">
                <a:solidFill>
                  <a:schemeClr val="hlink"/>
                </a:solidFill>
                <a:latin typeface="Arial" panose="020B0604020202020204" pitchFamily="34" charset="0"/>
              </a:rPr>
              <a:t>…</a:t>
            </a:r>
            <a:r>
              <a:rPr lang="en-US" altLang="zh-CN" sz="2500">
                <a:solidFill>
                  <a:schemeClr val="hlink"/>
                </a:solidFill>
              </a:rPr>
              <a:t> </a:t>
            </a:r>
            <a:r>
              <a:rPr lang="en-US" altLang="zh-CN" sz="2500">
                <a:solidFill>
                  <a:schemeClr val="hlink"/>
                </a:solidFill>
                <a:latin typeface="Arial" panose="020B0604020202020204" pitchFamily="34" charset="0"/>
              </a:rPr>
              <a:t>…</a:t>
            </a:r>
            <a:r>
              <a:rPr lang="zh-CN" altLang="en-US" sz="2500" dirty="0">
                <a:solidFill>
                  <a:schemeClr val="hlink"/>
                </a:solidFill>
              </a:rPr>
              <a:t>　</a:t>
            </a:r>
            <a:r>
              <a:rPr lang="en-US" altLang="zh-CN" sz="2500">
                <a:solidFill>
                  <a:schemeClr val="hlink"/>
                </a:solidFill>
              </a:rPr>
              <a:t>}</a:t>
            </a:r>
            <a:r>
              <a:rPr lang="zh-CN" altLang="en-US" sz="2500" dirty="0"/>
              <a:t>就具体地描述了该学生实体集中的一个特定实体</a:t>
            </a:r>
            <a:r>
              <a:rPr lang="en-US" altLang="zh-CN" sz="2500">
                <a:latin typeface="Arial" panose="020B0604020202020204" pitchFamily="34" charset="0"/>
              </a:rPr>
              <a:t>——</a:t>
            </a:r>
            <a:r>
              <a:rPr lang="zh-CN" altLang="en-US" sz="2500" dirty="0">
                <a:solidFill>
                  <a:srgbClr val="006666"/>
                </a:solidFill>
              </a:rPr>
              <a:t>张中华的特征</a:t>
            </a:r>
            <a:r>
              <a:rPr lang="zh-CN" altLang="en-US" sz="2500" dirty="0"/>
              <a:t>。 </a:t>
            </a:r>
          </a:p>
        </p:txBody>
      </p:sp>
      <p:sp>
        <p:nvSpPr>
          <p:cNvPr id="646149" name="矩形 64614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4840"/>
    </mc:Choice>
    <mc:Fallback xmlns="">
      <p:transition spd="slow" advTm="44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6148">
                                            <p:txEl>
                                              <p:pRg st="1" end="1"/>
                                            </p:txEl>
                                          </p:spTgt>
                                        </p:tgtEl>
                                        <p:attrNameLst>
                                          <p:attrName>style.visibility</p:attrName>
                                        </p:attrNameLst>
                                      </p:cBhvr>
                                      <p:to>
                                        <p:strVal val="visible"/>
                                      </p:to>
                                    </p:set>
                                    <p:animEffect transition="in" filter="wipe(left)">
                                      <p:cBhvr>
                                        <p:cTn id="7" dur="2000"/>
                                        <p:tgtEl>
                                          <p:spTgt spid="646148">
                                            <p:txEl>
                                              <p:pRg st="1" end="1"/>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646148">
                                            <p:txEl>
                                              <p:pRg st="2" end="2"/>
                                            </p:txEl>
                                          </p:spTgt>
                                        </p:tgtEl>
                                        <p:attrNameLst>
                                          <p:attrName>style.visibility</p:attrName>
                                        </p:attrNameLst>
                                      </p:cBhvr>
                                      <p:to>
                                        <p:strVal val="visible"/>
                                      </p:to>
                                    </p:set>
                                    <p:animEffect transition="in" filter="wipe(left)">
                                      <p:cBhvr>
                                        <p:cTn id="11" dur="2000"/>
                                        <p:tgtEl>
                                          <p:spTgt spid="646148">
                                            <p:txEl>
                                              <p:pRg st="2" end="2"/>
                                            </p:txEl>
                                          </p:spTgt>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646148">
                                            <p:txEl>
                                              <p:pRg st="3" end="3"/>
                                            </p:txEl>
                                          </p:spTgt>
                                        </p:tgtEl>
                                        <p:attrNameLst>
                                          <p:attrName>style.visibility</p:attrName>
                                        </p:attrNameLst>
                                      </p:cBhvr>
                                      <p:to>
                                        <p:strVal val="visible"/>
                                      </p:to>
                                    </p:set>
                                    <p:animEffect transition="in" filter="wipe(left)">
                                      <p:cBhvr>
                                        <p:cTn id="15" dur="2000"/>
                                        <p:tgtEl>
                                          <p:spTgt spid="646148">
                                            <p:txEl>
                                              <p:pRg st="3" end="3"/>
                                            </p:txEl>
                                          </p:spTgt>
                                        </p:tgtEl>
                                      </p:cBhvr>
                                    </p:animEffect>
                                  </p:childTnLst>
                                </p:cTn>
                              </p:par>
                            </p:childTnLst>
                          </p:cTn>
                        </p:par>
                        <p:par>
                          <p:cTn id="16" fill="hold">
                            <p:stCondLst>
                              <p:cond delay="6000"/>
                            </p:stCondLst>
                            <p:childTnLst>
                              <p:par>
                                <p:cTn id="17" presetID="22" presetClass="entr" presetSubtype="8" fill="hold" nodeType="afterEffect">
                                  <p:stCondLst>
                                    <p:cond delay="0"/>
                                  </p:stCondLst>
                                  <p:childTnLst>
                                    <p:set>
                                      <p:cBhvr>
                                        <p:cTn id="18" dur="1" fill="hold">
                                          <p:stCondLst>
                                            <p:cond delay="0"/>
                                          </p:stCondLst>
                                        </p:cTn>
                                        <p:tgtEl>
                                          <p:spTgt spid="646148">
                                            <p:txEl>
                                              <p:pRg st="4" end="4"/>
                                            </p:txEl>
                                          </p:spTgt>
                                        </p:tgtEl>
                                        <p:attrNameLst>
                                          <p:attrName>style.visibility</p:attrName>
                                        </p:attrNameLst>
                                      </p:cBhvr>
                                      <p:to>
                                        <p:strVal val="visible"/>
                                      </p:to>
                                    </p:set>
                                    <p:animEffect transition="in" filter="wipe(left)">
                                      <p:cBhvr>
                                        <p:cTn id="19" dur="2000"/>
                                        <p:tgtEl>
                                          <p:spTgt spid="646148">
                                            <p:txEl>
                                              <p:pRg st="4" end="4"/>
                                            </p:txEl>
                                          </p:spTgt>
                                        </p:tgtEl>
                                      </p:cBhvr>
                                    </p:animEffect>
                                  </p:childTnLst>
                                </p:cTn>
                              </p:par>
                            </p:childTnLst>
                          </p:cTn>
                        </p:par>
                        <p:par>
                          <p:cTn id="20" fill="hold">
                            <p:stCondLst>
                              <p:cond delay="8000"/>
                            </p:stCondLst>
                            <p:childTnLst>
                              <p:par>
                                <p:cTn id="21" presetID="22" presetClass="entr" presetSubtype="8" fill="hold" nodeType="afterEffect">
                                  <p:stCondLst>
                                    <p:cond delay="0"/>
                                  </p:stCondLst>
                                  <p:childTnLst>
                                    <p:set>
                                      <p:cBhvr>
                                        <p:cTn id="22" dur="1" fill="hold">
                                          <p:stCondLst>
                                            <p:cond delay="0"/>
                                          </p:stCondLst>
                                        </p:cTn>
                                        <p:tgtEl>
                                          <p:spTgt spid="646148">
                                            <p:txEl>
                                              <p:pRg st="5" end="5"/>
                                            </p:txEl>
                                          </p:spTgt>
                                        </p:tgtEl>
                                        <p:attrNameLst>
                                          <p:attrName>style.visibility</p:attrName>
                                        </p:attrNameLst>
                                      </p:cBhvr>
                                      <p:to>
                                        <p:strVal val="visible"/>
                                      </p:to>
                                    </p:set>
                                    <p:animEffect transition="in" filter="wipe(left)">
                                      <p:cBhvr>
                                        <p:cTn id="23" dur="2000"/>
                                        <p:tgtEl>
                                          <p:spTgt spid="646148">
                                            <p:txEl>
                                              <p:pRg st="5" end="5"/>
                                            </p:txEl>
                                          </p:spTgt>
                                        </p:tgtEl>
                                      </p:cBhvr>
                                    </p:animEffect>
                                  </p:childTnLst>
                                </p:cTn>
                              </p:par>
                            </p:childTnLst>
                          </p:cTn>
                        </p:par>
                        <p:par>
                          <p:cTn id="24" fill="hold">
                            <p:stCondLst>
                              <p:cond delay="10000"/>
                            </p:stCondLst>
                            <p:childTnLst>
                              <p:par>
                                <p:cTn id="25" presetID="22" presetClass="entr" presetSubtype="8" fill="hold" nodeType="afterEffect">
                                  <p:stCondLst>
                                    <p:cond delay="0"/>
                                  </p:stCondLst>
                                  <p:childTnLst>
                                    <p:set>
                                      <p:cBhvr>
                                        <p:cTn id="26" dur="1" fill="hold">
                                          <p:stCondLst>
                                            <p:cond delay="0"/>
                                          </p:stCondLst>
                                        </p:cTn>
                                        <p:tgtEl>
                                          <p:spTgt spid="646148">
                                            <p:txEl>
                                              <p:pRg st="6" end="6"/>
                                            </p:txEl>
                                          </p:spTgt>
                                        </p:tgtEl>
                                        <p:attrNameLst>
                                          <p:attrName>style.visibility</p:attrName>
                                        </p:attrNameLst>
                                      </p:cBhvr>
                                      <p:to>
                                        <p:strVal val="visible"/>
                                      </p:to>
                                    </p:set>
                                    <p:animEffect transition="in" filter="wipe(left)">
                                      <p:cBhvr>
                                        <p:cTn id="27" dur="2000"/>
                                        <p:tgtEl>
                                          <p:spTgt spid="64614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2" name="矩形 647171"/>
          <p:cNvSpPr/>
          <p:nvPr/>
        </p:nvSpPr>
        <p:spPr>
          <a:xfrm>
            <a:off x="455613" y="1196975"/>
            <a:ext cx="8208962"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sz="3000">
                <a:solidFill>
                  <a:srgbClr val="660033"/>
                </a:solidFill>
                <a:ea typeface="华文新魏" panose="02010800040101010101" pitchFamily="2" charset="-122"/>
              </a:rPr>
              <a:t>        </a:t>
            </a:r>
            <a:r>
              <a:rPr lang="en-US" altLang="zh-CN" sz="1800">
                <a:solidFill>
                  <a:srgbClr val="660033"/>
                </a:solidFill>
                <a:ea typeface="华文新魏" panose="02010800040101010101" pitchFamily="2" charset="-122"/>
              </a:rPr>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endParaRPr lang="en-US" altLang="zh-CN"/>
          </a:p>
          <a:p>
            <a:pPr lvl="0">
              <a:spcBef>
                <a:spcPct val="10000"/>
              </a:spcBef>
            </a:pPr>
            <a:r>
              <a:rPr lang="en-US" altLang="zh-CN"/>
              <a:t>          </a:t>
            </a:r>
            <a:r>
              <a:rPr lang="zh-CN" altLang="en-US" dirty="0">
                <a:solidFill>
                  <a:srgbClr val="003366"/>
                </a:solidFill>
              </a:rPr>
              <a:t>（</a:t>
            </a:r>
            <a:r>
              <a:rPr lang="en-US" altLang="zh-CN">
                <a:solidFill>
                  <a:srgbClr val="003366"/>
                </a:solidFill>
              </a:rPr>
              <a:t>5</a:t>
            </a:r>
            <a:r>
              <a:rPr lang="zh-CN" altLang="en-US" dirty="0">
                <a:solidFill>
                  <a:srgbClr val="003366"/>
                </a:solidFill>
              </a:rPr>
              <a:t>）实体记录</a:t>
            </a:r>
          </a:p>
          <a:p>
            <a:pPr lvl="0">
              <a:lnSpc>
                <a:spcPct val="140000"/>
              </a:lnSpc>
              <a:spcBef>
                <a:spcPct val="0"/>
              </a:spcBef>
            </a:pPr>
            <a:r>
              <a:rPr lang="zh-CN" altLang="en-US" dirty="0"/>
              <a:t>          用来表示一个特定实体的属性值集合称为实体记录。</a:t>
            </a:r>
          </a:p>
          <a:p>
            <a:pPr lvl="0">
              <a:lnSpc>
                <a:spcPct val="140000"/>
              </a:lnSpc>
              <a:spcBef>
                <a:spcPct val="0"/>
              </a:spcBef>
            </a:pPr>
            <a:r>
              <a:rPr lang="zh-CN" altLang="en-US" dirty="0"/>
              <a:t>          </a:t>
            </a:r>
            <a:r>
              <a:rPr lang="zh-CN" altLang="en-US" b="0" dirty="0">
                <a:solidFill>
                  <a:srgbClr val="003366"/>
                </a:solidFill>
                <a:effectLst/>
                <a:ea typeface="黑体" panose="02010609060101010101" pitchFamily="2" charset="-122"/>
              </a:rPr>
              <a:t>例如：</a:t>
            </a:r>
            <a:r>
              <a:rPr lang="en-US" altLang="zh-CN"/>
              <a:t>{</a:t>
            </a:r>
            <a:r>
              <a:rPr lang="zh-CN" altLang="en-US" dirty="0"/>
              <a:t>张中华，</a:t>
            </a:r>
            <a:r>
              <a:rPr lang="en-US" altLang="zh-CN"/>
              <a:t>200901001</a:t>
            </a:r>
            <a:r>
              <a:rPr lang="zh-CN" altLang="en-US" dirty="0"/>
              <a:t>，男，</a:t>
            </a:r>
            <a:r>
              <a:rPr lang="en-US" altLang="zh-CN"/>
              <a:t>14-dec-1992</a:t>
            </a:r>
            <a:r>
              <a:rPr lang="zh-CN" altLang="en-US" dirty="0"/>
              <a:t>，</a:t>
            </a:r>
            <a:r>
              <a:rPr lang="en-US" altLang="zh-CN">
                <a:latin typeface="Arial" panose="020B0604020202020204" pitchFamily="34" charset="0"/>
              </a:rPr>
              <a:t>…</a:t>
            </a:r>
            <a:r>
              <a:rPr lang="en-US" altLang="zh-CN"/>
              <a:t> </a:t>
            </a:r>
            <a:r>
              <a:rPr lang="en-US" altLang="zh-CN">
                <a:latin typeface="Arial" panose="020B0604020202020204" pitchFamily="34" charset="0"/>
              </a:rPr>
              <a:t>…</a:t>
            </a:r>
            <a:r>
              <a:rPr lang="zh-CN" altLang="en-US" dirty="0"/>
              <a:t>　</a:t>
            </a:r>
            <a:r>
              <a:rPr lang="en-US" altLang="zh-CN"/>
              <a:t>}</a:t>
            </a:r>
            <a:r>
              <a:rPr lang="zh-CN" altLang="en-US" dirty="0">
                <a:solidFill>
                  <a:srgbClr val="660033"/>
                </a:solidFill>
              </a:rPr>
              <a:t>是一个实体记录</a:t>
            </a:r>
            <a:r>
              <a:rPr lang="zh-CN" altLang="en-US" dirty="0"/>
              <a:t>。</a:t>
            </a:r>
          </a:p>
          <a:p>
            <a:pPr lvl="0">
              <a:lnSpc>
                <a:spcPct val="140000"/>
              </a:lnSpc>
              <a:spcBef>
                <a:spcPct val="0"/>
              </a:spcBef>
            </a:pPr>
            <a:r>
              <a:rPr lang="zh-CN" altLang="en-US" dirty="0"/>
              <a:t>           </a:t>
            </a:r>
            <a:r>
              <a:rPr lang="zh-CN" altLang="en-US" b="0" dirty="0">
                <a:solidFill>
                  <a:srgbClr val="003366"/>
                </a:solidFill>
                <a:effectLst/>
                <a:latin typeface="黑体" panose="02010609060101010101" pitchFamily="2" charset="-122"/>
                <a:ea typeface="黑体" panose="02010609060101010101" pitchFamily="2" charset="-122"/>
              </a:rPr>
              <a:t>实体记录</a:t>
            </a:r>
            <a:r>
              <a:rPr lang="zh-CN" altLang="en-US" b="0" dirty="0">
                <a:solidFill>
                  <a:srgbClr val="006666"/>
                </a:solidFill>
                <a:effectLst/>
                <a:latin typeface="黑体" panose="02010609060101010101" pitchFamily="2" charset="-122"/>
                <a:ea typeface="黑体" panose="02010609060101010101" pitchFamily="2" charset="-122"/>
              </a:rPr>
              <a:t>集即为同类实体的实体记录的集合。 </a:t>
            </a:r>
          </a:p>
        </p:txBody>
      </p:sp>
      <p:sp>
        <p:nvSpPr>
          <p:cNvPr id="647173" name="矩形 647172"/>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6492"/>
    </mc:Choice>
    <mc:Fallback xmlns="">
      <p:transition spd="slow" advTm="264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7172">
                                            <p:txEl>
                                              <p:pRg st="1" end="1"/>
                                            </p:txEl>
                                          </p:spTgt>
                                        </p:tgtEl>
                                        <p:attrNameLst>
                                          <p:attrName>style.visibility</p:attrName>
                                        </p:attrNameLst>
                                      </p:cBhvr>
                                      <p:to>
                                        <p:strVal val="visible"/>
                                      </p:to>
                                    </p:set>
                                    <p:animEffect transition="in" filter="wipe(left)">
                                      <p:cBhvr>
                                        <p:cTn id="7" dur="1000"/>
                                        <p:tgtEl>
                                          <p:spTgt spid="647172">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7172">
                                            <p:txEl>
                                              <p:pRg st="2" end="2"/>
                                            </p:txEl>
                                          </p:spTgt>
                                        </p:tgtEl>
                                        <p:attrNameLst>
                                          <p:attrName>style.visibility</p:attrName>
                                        </p:attrNameLst>
                                      </p:cBhvr>
                                      <p:to>
                                        <p:strVal val="visible"/>
                                      </p:to>
                                    </p:set>
                                    <p:animEffect transition="in" filter="wipe(left)">
                                      <p:cBhvr>
                                        <p:cTn id="11" dur="2000"/>
                                        <p:tgtEl>
                                          <p:spTgt spid="647172">
                                            <p:txEl>
                                              <p:pRg st="2" end="2"/>
                                            </p:txEl>
                                          </p:spTgt>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7172">
                                            <p:txEl>
                                              <p:pRg st="3" end="3"/>
                                            </p:txEl>
                                          </p:spTgt>
                                        </p:tgtEl>
                                        <p:attrNameLst>
                                          <p:attrName>style.visibility</p:attrName>
                                        </p:attrNameLst>
                                      </p:cBhvr>
                                      <p:to>
                                        <p:strVal val="visible"/>
                                      </p:to>
                                    </p:set>
                                    <p:animEffect transition="in" filter="wipe(left)">
                                      <p:cBhvr>
                                        <p:cTn id="15" dur="2000"/>
                                        <p:tgtEl>
                                          <p:spTgt spid="647172">
                                            <p:txEl>
                                              <p:pRg st="3" end="3"/>
                                            </p:txEl>
                                          </p:spTgt>
                                        </p:tgtEl>
                                      </p:cBhvr>
                                    </p:animEffect>
                                  </p:childTnLst>
                                </p:cTn>
                              </p:par>
                            </p:childTnLst>
                          </p:cTn>
                        </p:par>
                        <p:par>
                          <p:cTn id="16" fill="hold">
                            <p:stCondLst>
                              <p:cond delay="5000"/>
                            </p:stCondLst>
                            <p:childTnLst>
                              <p:par>
                                <p:cTn id="17" presetID="22" presetClass="entr" presetSubtype="8" fill="hold" nodeType="afterEffect">
                                  <p:stCondLst>
                                    <p:cond delay="0"/>
                                  </p:stCondLst>
                                  <p:childTnLst>
                                    <p:set>
                                      <p:cBhvr>
                                        <p:cTn id="18" dur="1" fill="hold">
                                          <p:stCondLst>
                                            <p:cond delay="0"/>
                                          </p:stCondLst>
                                        </p:cTn>
                                        <p:tgtEl>
                                          <p:spTgt spid="647172">
                                            <p:txEl>
                                              <p:pRg st="4" end="4"/>
                                            </p:txEl>
                                          </p:spTgt>
                                        </p:tgtEl>
                                        <p:attrNameLst>
                                          <p:attrName>style.visibility</p:attrName>
                                        </p:attrNameLst>
                                      </p:cBhvr>
                                      <p:to>
                                        <p:strVal val="visible"/>
                                      </p:to>
                                    </p:set>
                                    <p:animEffect transition="in" filter="wipe(left)">
                                      <p:cBhvr>
                                        <p:cTn id="19" dur="2000"/>
                                        <p:tgtEl>
                                          <p:spTgt spid="6471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6" name="矩形 648195"/>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endParaRPr lang="en-US" altLang="zh-CN"/>
          </a:p>
          <a:p>
            <a:pPr lvl="0">
              <a:spcBef>
                <a:spcPct val="10000"/>
              </a:spcBef>
            </a:pPr>
            <a:r>
              <a:rPr lang="zh-CN" altLang="en-US" dirty="0"/>
              <a:t>         </a:t>
            </a:r>
            <a:r>
              <a:rPr lang="zh-CN" altLang="en-US" dirty="0">
                <a:solidFill>
                  <a:srgbClr val="003366"/>
                </a:solidFill>
              </a:rPr>
              <a:t>（</a:t>
            </a:r>
            <a:r>
              <a:rPr lang="en-US" altLang="zh-CN">
                <a:solidFill>
                  <a:srgbClr val="003366"/>
                </a:solidFill>
              </a:rPr>
              <a:t>6</a:t>
            </a:r>
            <a:r>
              <a:rPr lang="zh-CN" altLang="en-US" dirty="0">
                <a:solidFill>
                  <a:srgbClr val="003366"/>
                </a:solidFill>
              </a:rPr>
              <a:t>）实体集的标识码</a:t>
            </a:r>
          </a:p>
          <a:p>
            <a:pPr lvl="0">
              <a:lnSpc>
                <a:spcPct val="140000"/>
              </a:lnSpc>
              <a:spcBef>
                <a:spcPct val="0"/>
              </a:spcBef>
            </a:pPr>
            <a:r>
              <a:rPr lang="zh-CN" altLang="en-US" dirty="0"/>
              <a:t>          </a:t>
            </a:r>
            <a:r>
              <a:rPr lang="zh-CN" altLang="en-US" b="0" dirty="0">
                <a:solidFill>
                  <a:srgbClr val="003366"/>
                </a:solidFill>
                <a:effectLst/>
                <a:ea typeface="黑体" panose="02010609060101010101" pitchFamily="2" charset="-122"/>
              </a:rPr>
              <a:t>一般，</a:t>
            </a:r>
            <a:r>
              <a:rPr lang="zh-CN" altLang="en-US" dirty="0"/>
              <a:t>把能够唯一地标识实体集中的每个实体的一个或一组属性称为</a:t>
            </a:r>
            <a:r>
              <a:rPr lang="zh-CN" altLang="en-US" b="0" dirty="0">
                <a:solidFill>
                  <a:srgbClr val="660033"/>
                </a:solidFill>
                <a:effectLst/>
                <a:ea typeface="黑体" panose="02010609060101010101" pitchFamily="2" charset="-122"/>
              </a:rPr>
              <a:t>实体集的标识码</a:t>
            </a:r>
            <a:r>
              <a:rPr lang="zh-CN" altLang="en-US" dirty="0"/>
              <a:t>，并用实体集的标识码标识实体集中的不同实体。 </a:t>
            </a:r>
          </a:p>
        </p:txBody>
      </p:sp>
      <p:sp>
        <p:nvSpPr>
          <p:cNvPr id="648197" name="矩形 64819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7419"/>
    </mc:Choice>
    <mc:Fallback xmlns="">
      <p:transition spd="slow" advTm="274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8196">
                                            <p:txEl>
                                              <p:pRg st="1" end="1"/>
                                            </p:txEl>
                                          </p:spTgt>
                                        </p:tgtEl>
                                        <p:attrNameLst>
                                          <p:attrName>style.visibility</p:attrName>
                                        </p:attrNameLst>
                                      </p:cBhvr>
                                      <p:to>
                                        <p:strVal val="visible"/>
                                      </p:to>
                                    </p:set>
                                    <p:animEffect transition="in" filter="wipe(left)">
                                      <p:cBhvr>
                                        <p:cTn id="7" dur="1000"/>
                                        <p:tgtEl>
                                          <p:spTgt spid="648196">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8196">
                                            <p:txEl>
                                              <p:pRg st="2" end="2"/>
                                            </p:txEl>
                                          </p:spTgt>
                                        </p:tgtEl>
                                        <p:attrNameLst>
                                          <p:attrName>style.visibility</p:attrName>
                                        </p:attrNameLst>
                                      </p:cBhvr>
                                      <p:to>
                                        <p:strVal val="visible"/>
                                      </p:to>
                                    </p:set>
                                    <p:animEffect transition="in" filter="wipe(left)">
                                      <p:cBhvr>
                                        <p:cTn id="11" dur="2000"/>
                                        <p:tgtEl>
                                          <p:spTgt spid="64819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4" name="矩形 650243"/>
          <p:cNvSpPr/>
          <p:nvPr/>
        </p:nvSpPr>
        <p:spPr>
          <a:xfrm>
            <a:off x="466725" y="1125538"/>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zh-CN" altLang="en-US" sz="3000" dirty="0">
                <a:solidFill>
                  <a:srgbClr val="660033"/>
                </a:solidFill>
                <a:ea typeface="华文新魏" panose="02010800040101010101" pitchFamily="2" charset="-122"/>
              </a:rPr>
              <a:t>实体之间的联系：</a:t>
            </a:r>
            <a:endParaRPr lang="zh-CN" altLang="en-US" dirty="0">
              <a:solidFill>
                <a:srgbClr val="003366"/>
              </a:solidFill>
            </a:endParaRPr>
          </a:p>
          <a:p>
            <a:pPr lvl="0">
              <a:lnSpc>
                <a:spcPct val="150000"/>
              </a:lnSpc>
              <a:spcBef>
                <a:spcPct val="0"/>
              </a:spcBef>
            </a:pPr>
            <a:r>
              <a:rPr lang="zh-CN" altLang="en-US" dirty="0"/>
              <a:t>          </a:t>
            </a:r>
            <a:r>
              <a:rPr lang="zh-CN" altLang="en-US" b="0" dirty="0">
                <a:solidFill>
                  <a:srgbClr val="003366"/>
                </a:solidFill>
                <a:effectLst/>
                <a:ea typeface="黑体" panose="02010609060101010101" pitchFamily="2" charset="-122"/>
              </a:rPr>
              <a:t>实体之间有意义的相互作用称为实体之间的联系。</a:t>
            </a:r>
          </a:p>
          <a:p>
            <a:pPr lvl="0">
              <a:lnSpc>
                <a:spcPct val="130000"/>
              </a:lnSpc>
              <a:spcBef>
                <a:spcPct val="10000"/>
              </a:spcBef>
            </a:pPr>
            <a:r>
              <a:rPr lang="zh-CN" altLang="en-US" dirty="0"/>
              <a:t>          </a:t>
            </a:r>
          </a:p>
        </p:txBody>
      </p:sp>
      <p:sp>
        <p:nvSpPr>
          <p:cNvPr id="650245" name="矩形 65024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290"/>
    </mc:Choice>
    <mc:Fallback xmlns="">
      <p:transition spd="slow" advTm="252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50244">
                                            <p:txEl>
                                              <p:pRg st="0" end="0"/>
                                            </p:txEl>
                                          </p:spTgt>
                                        </p:tgtEl>
                                        <p:attrNameLst>
                                          <p:attrName>style.visibility</p:attrName>
                                        </p:attrNameLst>
                                      </p:cBhvr>
                                      <p:to>
                                        <p:strVal val="visible"/>
                                      </p:to>
                                    </p:set>
                                    <p:animEffect transition="in" filter="wipe(left)">
                                      <p:cBhvr>
                                        <p:cTn id="7" dur="1000"/>
                                        <p:tgtEl>
                                          <p:spTgt spid="650244">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50244">
                                            <p:txEl>
                                              <p:pRg st="1" end="1"/>
                                            </p:txEl>
                                          </p:spTgt>
                                        </p:tgtEl>
                                        <p:attrNameLst>
                                          <p:attrName>style.visibility</p:attrName>
                                        </p:attrNameLst>
                                      </p:cBhvr>
                                      <p:to>
                                        <p:strVal val="visible"/>
                                      </p:to>
                                    </p:set>
                                    <p:animEffect transition="in" filter="wipe(up)">
                                      <p:cBhvr>
                                        <p:cTn id="11" dur="1000"/>
                                        <p:tgtEl>
                                          <p:spTgt spid="65024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4" name="矩形 424963"/>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、一对一联系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4996" name="组合 424995"/>
          <p:cNvGrpSpPr/>
          <p:nvPr/>
        </p:nvGrpSpPr>
        <p:grpSpPr>
          <a:xfrm>
            <a:off x="1217613" y="2354263"/>
            <a:ext cx="3267075" cy="2592387"/>
            <a:chOff x="2817" y="5624"/>
            <a:chExt cx="4140" cy="2776"/>
          </a:xfrm>
        </p:grpSpPr>
        <p:grpSp>
          <p:nvGrpSpPr>
            <p:cNvPr id="424997" name="组合 424996"/>
            <p:cNvGrpSpPr/>
            <p:nvPr/>
          </p:nvGrpSpPr>
          <p:grpSpPr>
            <a:xfrm>
              <a:off x="2817" y="5640"/>
              <a:ext cx="1920" cy="2760"/>
              <a:chOff x="2817" y="5640"/>
              <a:chExt cx="1920" cy="2760"/>
            </a:xfrm>
          </p:grpSpPr>
          <p:sp>
            <p:nvSpPr>
              <p:cNvPr id="424998" name="文本框 424997"/>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4999" name="组合 424998"/>
              <p:cNvGrpSpPr/>
              <p:nvPr/>
            </p:nvGrpSpPr>
            <p:grpSpPr>
              <a:xfrm>
                <a:off x="2997" y="6240"/>
                <a:ext cx="1440" cy="2160"/>
                <a:chOff x="2997" y="6240"/>
                <a:chExt cx="1440" cy="2160"/>
              </a:xfrm>
            </p:grpSpPr>
            <p:sp>
              <p:nvSpPr>
                <p:cNvPr id="425000" name="椭圆 424999"/>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5001" name="矩形 425000"/>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2" name="矩形 425001"/>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3" name="矩形 425002"/>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4" name="矩形 425003"/>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5005" name="组合 425004"/>
            <p:cNvGrpSpPr/>
            <p:nvPr/>
          </p:nvGrpSpPr>
          <p:grpSpPr>
            <a:xfrm>
              <a:off x="5037" y="5624"/>
              <a:ext cx="1920" cy="2776"/>
              <a:chOff x="5037" y="5624"/>
              <a:chExt cx="1920" cy="2776"/>
            </a:xfrm>
          </p:grpSpPr>
          <p:grpSp>
            <p:nvGrpSpPr>
              <p:cNvPr id="425006" name="组合 425005"/>
              <p:cNvGrpSpPr/>
              <p:nvPr/>
            </p:nvGrpSpPr>
            <p:grpSpPr>
              <a:xfrm>
                <a:off x="5277" y="6240"/>
                <a:ext cx="1440" cy="2160"/>
                <a:chOff x="5277" y="6240"/>
                <a:chExt cx="1440" cy="2160"/>
              </a:xfrm>
            </p:grpSpPr>
            <p:sp>
              <p:nvSpPr>
                <p:cNvPr id="425007" name="椭圆 425006"/>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5008" name="矩形 425007"/>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9" name="矩形 425008"/>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0" name="矩形 425009"/>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1" name="矩形 425010"/>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2" name="矩形 425011"/>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3" name="矩形 425012"/>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4" name="矩形 425013"/>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5015" name="文本框 425014"/>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5016" name="直接连接符 425015"/>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5017" name="直接连接符 425016"/>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5018" name="直接连接符 425017"/>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5026" name="圆角矩形标注 425025"/>
          <p:cNvSpPr/>
          <p:nvPr/>
        </p:nvSpPr>
        <p:spPr>
          <a:xfrm>
            <a:off x="5508625" y="1628775"/>
            <a:ext cx="3455988" cy="2663825"/>
          </a:xfrm>
          <a:prstGeom prst="wedgeRoundRectCallout">
            <a:avLst>
              <a:gd name="adj1" fmla="val -80731"/>
              <a:gd name="adj2" fmla="val 35042"/>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solidFill>
                  <a:srgbClr val="000000"/>
                </a:solidFill>
                <a:effectLst>
                  <a:outerShdw blurRad="38100" dist="38100" dir="2700000">
                    <a:srgbClr val="FFFFFF"/>
                  </a:outerShdw>
                </a:effectLst>
                <a:latin typeface="Arial" panose="020B0604020202020204" pitchFamily="34" charset="0"/>
              </a:rPr>
              <a:t>       </a:t>
            </a:r>
            <a:r>
              <a:rPr lang="zh-CN" altLang="en-US" sz="1900" b="1" dirty="0">
                <a:solidFill>
                  <a:srgbClr val="000000"/>
                </a:solidFill>
                <a:effectLst>
                  <a:outerShdw blurRad="38100" dist="38100" dir="2700000">
                    <a:srgbClr val="FFFFFF"/>
                  </a:outerShdw>
                </a:effectLst>
                <a:latin typeface="Arial" panose="020B0604020202020204" pitchFamily="34" charset="0"/>
              </a:rPr>
              <a:t>如果实体集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中的每一个实体，至多与实体集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反之，实体集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中的每一个实体至多与实体集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则称</a:t>
            </a:r>
            <a:r>
              <a:rPr lang="en-US" altLang="zh-CN" sz="1900" b="1">
                <a:solidFill>
                  <a:srgbClr val="000000"/>
                </a:solidFill>
                <a:effectLst>
                  <a:outerShdw blurRad="38100" dist="38100" dir="2700000">
                    <a:srgbClr val="FFFFFF"/>
                  </a:outerShdw>
                </a:effectLst>
                <a:latin typeface="Arial" panose="020B0604020202020204" pitchFamily="34" charset="0"/>
              </a:rPr>
              <a:t>E1 </a:t>
            </a:r>
            <a:r>
              <a:rPr lang="zh-CN" altLang="en-US" sz="1900" b="1" dirty="0">
                <a:solidFill>
                  <a:srgbClr val="000000"/>
                </a:solidFill>
                <a:effectLst>
                  <a:outerShdw blurRad="38100" dist="38100" dir="2700000">
                    <a:srgbClr val="FFFFFF"/>
                  </a:outerShdw>
                </a:effectLst>
                <a:latin typeface="Arial" panose="020B0604020202020204" pitchFamily="34" charset="0"/>
              </a:rPr>
              <a:t>和</a:t>
            </a:r>
            <a:r>
              <a:rPr lang="en-US" altLang="zh-CN" sz="1900" b="1">
                <a:solidFill>
                  <a:srgbClr val="000000"/>
                </a:solidFill>
                <a:effectLst>
                  <a:outerShdw blurRad="38100" dist="38100" dir="2700000">
                    <a:srgbClr val="FFFFFF"/>
                  </a:outerShdw>
                </a:effectLst>
                <a:latin typeface="Arial" panose="020B0604020202020204" pitchFamily="34" charset="0"/>
              </a:rPr>
              <a:t>E2 </a:t>
            </a:r>
            <a:r>
              <a:rPr lang="zh-CN" altLang="en-US" sz="1900" b="1" dirty="0">
                <a:solidFill>
                  <a:srgbClr val="000000"/>
                </a:solidFill>
                <a:effectLst>
                  <a:outerShdw blurRad="38100" dist="38100" dir="2700000">
                    <a:srgbClr val="FFFFFF"/>
                  </a:outerShdw>
                </a:effectLst>
                <a:latin typeface="Arial" panose="020B0604020202020204" pitchFamily="34" charset="0"/>
              </a:rPr>
              <a:t>是一对一联系记为“</a:t>
            </a:r>
            <a:r>
              <a:rPr lang="en-US" altLang="zh-CN" sz="1900" b="1">
                <a:solidFill>
                  <a:srgbClr val="000000"/>
                </a:solidFill>
                <a:effectLst>
                  <a:outerShdw blurRad="38100" dist="38100" dir="2700000">
                    <a:srgbClr val="FFFFFF"/>
                  </a:outerShdw>
                </a:effectLst>
                <a:latin typeface="Arial" panose="020B0604020202020204" pitchFamily="34" charset="0"/>
              </a:rPr>
              <a:t>1∶1”</a:t>
            </a:r>
            <a:r>
              <a:rPr lang="zh-CN" altLang="en-US" sz="1900" b="1" dirty="0">
                <a:solidFill>
                  <a:srgbClr val="000000"/>
                </a:solidFill>
                <a:effectLst>
                  <a:outerShdw blurRad="38100" dist="38100" dir="2700000">
                    <a:srgbClr val="FFFFFF"/>
                  </a:outerShdw>
                </a:effectLst>
                <a:latin typeface="Arial" panose="020B0604020202020204" pitchFamily="34" charset="0"/>
              </a:rPr>
              <a:t>。</a:t>
            </a:r>
          </a:p>
        </p:txBody>
      </p:sp>
      <p:sp>
        <p:nvSpPr>
          <p:cNvPr id="425027" name="矩形 42502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9297"/>
    </mc:Choice>
    <mc:Fallback xmlns="">
      <p:transition spd="slow" advTm="292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4964">
                                            <p:txEl>
                                              <p:pRg st="1" end="1"/>
                                            </p:txEl>
                                          </p:spTgt>
                                        </p:tgtEl>
                                        <p:attrNameLst>
                                          <p:attrName>style.visibility</p:attrName>
                                        </p:attrNameLst>
                                      </p:cBhvr>
                                      <p:to>
                                        <p:strVal val="visible"/>
                                      </p:to>
                                    </p:set>
                                    <p:animEffect transition="in" filter="wipe(left)">
                                      <p:cBhvr>
                                        <p:cTn id="7" dur="1000"/>
                                        <p:tgtEl>
                                          <p:spTgt spid="424964">
                                            <p:txEl>
                                              <p:pRg st="1" end="1"/>
                                            </p:txEl>
                                          </p:spTgt>
                                        </p:tgtEl>
                                      </p:cBhvr>
                                    </p:animEffect>
                                  </p:childTnLst>
                                </p:cTn>
                              </p:par>
                            </p:childTnLst>
                          </p:cTn>
                        </p:par>
                        <p:par>
                          <p:cTn id="8" fill="hold">
                            <p:stCondLst>
                              <p:cond delay="1000"/>
                            </p:stCondLst>
                            <p:childTnLst>
                              <p:par>
                                <p:cTn id="9" presetID="4" presetClass="entr" presetSubtype="16" fill="hold" nodeType="afterEffect">
                                  <p:stCondLst>
                                    <p:cond delay="0"/>
                                  </p:stCondLst>
                                  <p:childTnLst>
                                    <p:set>
                                      <p:cBhvr>
                                        <p:cTn id="10" dur="1" fill="hold">
                                          <p:stCondLst>
                                            <p:cond delay="0"/>
                                          </p:stCondLst>
                                        </p:cTn>
                                        <p:tgtEl>
                                          <p:spTgt spid="424996"/>
                                        </p:tgtEl>
                                        <p:attrNameLst>
                                          <p:attrName>style.visibility</p:attrName>
                                        </p:attrNameLst>
                                      </p:cBhvr>
                                      <p:to>
                                        <p:strVal val="visible"/>
                                      </p:to>
                                    </p:set>
                                    <p:animEffect transition="in" filter="box(in)">
                                      <p:cBhvr>
                                        <p:cTn id="11" dur="500"/>
                                        <p:tgtEl>
                                          <p:spTgt spid="424996"/>
                                        </p:tgtEl>
                                      </p:cBhvr>
                                    </p:animEffect>
                                  </p:childTnLst>
                                </p:cTn>
                              </p:par>
                            </p:childTnLst>
                          </p:cTn>
                        </p:par>
                        <p:par>
                          <p:cTn id="12" fill="hold">
                            <p:stCondLst>
                              <p:cond delay="1500"/>
                            </p:stCondLst>
                            <p:childTnLst>
                              <p:par>
                                <p:cTn id="13" presetID="4" presetClass="entr" presetSubtype="16" fill="hold" grpId="0" nodeType="afterEffect">
                                  <p:stCondLst>
                                    <p:cond delay="0"/>
                                  </p:stCondLst>
                                  <p:childTnLst>
                                    <p:set>
                                      <p:cBhvr>
                                        <p:cTn id="14" dur="1" fill="hold">
                                          <p:stCondLst>
                                            <p:cond delay="0"/>
                                          </p:stCondLst>
                                        </p:cTn>
                                        <p:tgtEl>
                                          <p:spTgt spid="425026"/>
                                        </p:tgtEl>
                                        <p:attrNameLst>
                                          <p:attrName>style.visibility</p:attrName>
                                        </p:attrNameLst>
                                      </p:cBhvr>
                                      <p:to>
                                        <p:strVal val="visible"/>
                                      </p:to>
                                    </p:set>
                                    <p:animEffect transition="in" filter="box(in)">
                                      <p:cBhvr>
                                        <p:cTn id="15" dur="500"/>
                                        <p:tgtEl>
                                          <p:spTgt spid="425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0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8" name="矩形 42598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、一对一</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5990" name="组合 425989"/>
          <p:cNvGrpSpPr/>
          <p:nvPr/>
        </p:nvGrpSpPr>
        <p:grpSpPr>
          <a:xfrm>
            <a:off x="1217613" y="2349500"/>
            <a:ext cx="3267075" cy="2592388"/>
            <a:chOff x="2817" y="5624"/>
            <a:chExt cx="4140" cy="2776"/>
          </a:xfrm>
        </p:grpSpPr>
        <p:grpSp>
          <p:nvGrpSpPr>
            <p:cNvPr id="425991" name="组合 425990"/>
            <p:cNvGrpSpPr/>
            <p:nvPr/>
          </p:nvGrpSpPr>
          <p:grpSpPr>
            <a:xfrm>
              <a:off x="2817" y="5640"/>
              <a:ext cx="1920" cy="2760"/>
              <a:chOff x="2817" y="5640"/>
              <a:chExt cx="1920" cy="2760"/>
            </a:xfrm>
          </p:grpSpPr>
          <p:sp>
            <p:nvSpPr>
              <p:cNvPr id="425992" name="文本框 425991"/>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5993" name="组合 425992"/>
              <p:cNvGrpSpPr/>
              <p:nvPr/>
            </p:nvGrpSpPr>
            <p:grpSpPr>
              <a:xfrm>
                <a:off x="2997" y="6240"/>
                <a:ext cx="1440" cy="2160"/>
                <a:chOff x="2997" y="6240"/>
                <a:chExt cx="1440" cy="2160"/>
              </a:xfrm>
            </p:grpSpPr>
            <p:sp>
              <p:nvSpPr>
                <p:cNvPr id="425994" name="椭圆 425993"/>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5995" name="矩形 425994"/>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996" name="矩形 425995"/>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997" name="矩形 425996"/>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998" name="矩形 425997"/>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5999" name="组合 425998"/>
            <p:cNvGrpSpPr/>
            <p:nvPr/>
          </p:nvGrpSpPr>
          <p:grpSpPr>
            <a:xfrm>
              <a:off x="5037" y="5624"/>
              <a:ext cx="1920" cy="2776"/>
              <a:chOff x="5037" y="5624"/>
              <a:chExt cx="1920" cy="2776"/>
            </a:xfrm>
          </p:grpSpPr>
          <p:grpSp>
            <p:nvGrpSpPr>
              <p:cNvPr id="426000" name="组合 425999"/>
              <p:cNvGrpSpPr/>
              <p:nvPr/>
            </p:nvGrpSpPr>
            <p:grpSpPr>
              <a:xfrm>
                <a:off x="5277" y="6240"/>
                <a:ext cx="1440" cy="2160"/>
                <a:chOff x="5277" y="6240"/>
                <a:chExt cx="1440" cy="2160"/>
              </a:xfrm>
            </p:grpSpPr>
            <p:sp>
              <p:nvSpPr>
                <p:cNvPr id="426001" name="椭圆 426000"/>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6002" name="矩形 426001"/>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3" name="矩形 426002"/>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4" name="矩形 426003"/>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5" name="矩形 426004"/>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6" name="矩形 426005"/>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7" name="矩形 426006"/>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8" name="矩形 426007"/>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6009" name="文本框 426008"/>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6010" name="直接连接符 426009"/>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6011" name="直接连接符 426010"/>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6012" name="直接连接符 426011"/>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grpSp>
        <p:nvGrpSpPr>
          <p:cNvPr id="426024" name="组合 426023"/>
          <p:cNvGrpSpPr/>
          <p:nvPr/>
        </p:nvGrpSpPr>
        <p:grpSpPr>
          <a:xfrm>
            <a:off x="4957763" y="3155950"/>
            <a:ext cx="2509837" cy="1354138"/>
            <a:chOff x="3123" y="2169"/>
            <a:chExt cx="1581" cy="853"/>
          </a:xfrm>
        </p:grpSpPr>
        <p:grpSp>
          <p:nvGrpSpPr>
            <p:cNvPr id="426013" name="组合 426012"/>
            <p:cNvGrpSpPr/>
            <p:nvPr/>
          </p:nvGrpSpPr>
          <p:grpSpPr>
            <a:xfrm>
              <a:off x="3123" y="2220"/>
              <a:ext cx="1581" cy="802"/>
              <a:chOff x="3123" y="2374"/>
              <a:chExt cx="1581" cy="802"/>
            </a:xfrm>
          </p:grpSpPr>
          <p:sp>
            <p:nvSpPr>
              <p:cNvPr id="426014" name="文本框 426013"/>
              <p:cNvSpPr txBox="1"/>
              <p:nvPr/>
            </p:nvSpPr>
            <p:spPr>
              <a:xfrm>
                <a:off x="3123" y="2868"/>
                <a:ext cx="477" cy="308"/>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座位</a:t>
                </a:r>
              </a:p>
            </p:txBody>
          </p:sp>
          <p:sp>
            <p:nvSpPr>
              <p:cNvPr id="426015" name="文本框 426014"/>
              <p:cNvSpPr txBox="1"/>
              <p:nvPr/>
            </p:nvSpPr>
            <p:spPr>
              <a:xfrm>
                <a:off x="4227" y="2868"/>
                <a:ext cx="477" cy="308"/>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乘客</a:t>
                </a:r>
              </a:p>
            </p:txBody>
          </p:sp>
          <p:sp>
            <p:nvSpPr>
              <p:cNvPr id="426016" name="直接连接符 426015"/>
              <p:cNvSpPr/>
              <p:nvPr/>
            </p:nvSpPr>
            <p:spPr>
              <a:xfrm>
                <a:off x="3600" y="3032"/>
                <a:ext cx="627" cy="0"/>
              </a:xfrm>
              <a:prstGeom prst="line">
                <a:avLst/>
              </a:prstGeom>
              <a:ln w="28575" cap="flat" cmpd="sng">
                <a:solidFill>
                  <a:srgbClr val="000000"/>
                </a:solidFill>
                <a:prstDash val="solid"/>
                <a:headEnd type="triangle" w="med" len="med"/>
                <a:tailEnd type="triangle" w="med" len="med"/>
              </a:ln>
            </p:spPr>
          </p:sp>
          <p:sp>
            <p:nvSpPr>
              <p:cNvPr id="426017" name="文本框 426016"/>
              <p:cNvSpPr txBox="1"/>
              <p:nvPr/>
            </p:nvSpPr>
            <p:spPr>
              <a:xfrm>
                <a:off x="3123" y="2374"/>
                <a:ext cx="477" cy="309"/>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E1</a:t>
                </a:r>
              </a:p>
            </p:txBody>
          </p:sp>
          <p:sp>
            <p:nvSpPr>
              <p:cNvPr id="426018" name="文本框 426017"/>
              <p:cNvSpPr txBox="1"/>
              <p:nvPr/>
            </p:nvSpPr>
            <p:spPr>
              <a:xfrm>
                <a:off x="4227" y="2374"/>
                <a:ext cx="477" cy="309"/>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E2</a:t>
                </a:r>
              </a:p>
            </p:txBody>
          </p:sp>
          <p:sp>
            <p:nvSpPr>
              <p:cNvPr id="426019" name="直接连接符 426018"/>
              <p:cNvSpPr/>
              <p:nvPr/>
            </p:nvSpPr>
            <p:spPr>
              <a:xfrm>
                <a:off x="3600" y="2539"/>
                <a:ext cx="627" cy="0"/>
              </a:xfrm>
              <a:prstGeom prst="line">
                <a:avLst/>
              </a:prstGeom>
              <a:ln w="28575" cap="flat" cmpd="sng">
                <a:solidFill>
                  <a:srgbClr val="000000"/>
                </a:solidFill>
                <a:prstDash val="solid"/>
                <a:headEnd type="triangle" w="med" len="med"/>
                <a:tailEnd type="triangle" w="med" len="med"/>
              </a:ln>
            </p:spPr>
          </p:sp>
        </p:grpSp>
        <p:sp>
          <p:nvSpPr>
            <p:cNvPr id="426020" name="文本框 426019"/>
            <p:cNvSpPr txBox="1"/>
            <p:nvPr/>
          </p:nvSpPr>
          <p:spPr>
            <a:xfrm>
              <a:off x="3605" y="2659"/>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6021" name="文本框 426020"/>
            <p:cNvSpPr txBox="1"/>
            <p:nvPr/>
          </p:nvSpPr>
          <p:spPr>
            <a:xfrm>
              <a:off x="4014" y="2659"/>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6022" name="文本框 426021"/>
            <p:cNvSpPr txBox="1"/>
            <p:nvPr/>
          </p:nvSpPr>
          <p:spPr>
            <a:xfrm>
              <a:off x="3578" y="2178"/>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6023" name="文本框 426022"/>
            <p:cNvSpPr txBox="1"/>
            <p:nvPr/>
          </p:nvSpPr>
          <p:spPr>
            <a:xfrm>
              <a:off x="4014" y="2169"/>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grpSp>
      <p:sp>
        <p:nvSpPr>
          <p:cNvPr id="426025" name="矩形 42602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4288"/>
    </mc:Choice>
    <mc:Fallback xmlns="">
      <p:transition spd="slow" advTm="1428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2" name="矩形 427011"/>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、一对多联系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7038" name="组合 427037"/>
          <p:cNvGrpSpPr/>
          <p:nvPr/>
        </p:nvGrpSpPr>
        <p:grpSpPr>
          <a:xfrm>
            <a:off x="1403350" y="2349500"/>
            <a:ext cx="3146425" cy="2808288"/>
            <a:chOff x="930" y="1803"/>
            <a:chExt cx="1982" cy="1769"/>
          </a:xfrm>
        </p:grpSpPr>
        <p:grpSp>
          <p:nvGrpSpPr>
            <p:cNvPr id="427039" name="组合 427038"/>
            <p:cNvGrpSpPr/>
            <p:nvPr/>
          </p:nvGrpSpPr>
          <p:grpSpPr>
            <a:xfrm>
              <a:off x="930" y="1803"/>
              <a:ext cx="1982" cy="1769"/>
              <a:chOff x="2817" y="5624"/>
              <a:chExt cx="4140" cy="2776"/>
            </a:xfrm>
          </p:grpSpPr>
          <p:grpSp>
            <p:nvGrpSpPr>
              <p:cNvPr id="427040" name="组合 427039"/>
              <p:cNvGrpSpPr/>
              <p:nvPr/>
            </p:nvGrpSpPr>
            <p:grpSpPr>
              <a:xfrm>
                <a:off x="2817" y="5640"/>
                <a:ext cx="1920" cy="2760"/>
                <a:chOff x="2817" y="5640"/>
                <a:chExt cx="1920" cy="2760"/>
              </a:xfrm>
            </p:grpSpPr>
            <p:sp>
              <p:nvSpPr>
                <p:cNvPr id="427041" name="文本框 427040"/>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7042" name="组合 427041"/>
                <p:cNvGrpSpPr/>
                <p:nvPr/>
              </p:nvGrpSpPr>
              <p:grpSpPr>
                <a:xfrm>
                  <a:off x="2997" y="6240"/>
                  <a:ext cx="1440" cy="2160"/>
                  <a:chOff x="2997" y="6240"/>
                  <a:chExt cx="1440" cy="2160"/>
                </a:xfrm>
              </p:grpSpPr>
              <p:sp>
                <p:nvSpPr>
                  <p:cNvPr id="427043" name="椭圆 427042"/>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7044" name="矩形 427043"/>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45" name="矩形 427044"/>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46" name="矩形 427045"/>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47" name="矩形 427046"/>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7048" name="组合 427047"/>
              <p:cNvGrpSpPr/>
              <p:nvPr/>
            </p:nvGrpSpPr>
            <p:grpSpPr>
              <a:xfrm>
                <a:off x="5037" y="5624"/>
                <a:ext cx="1920" cy="2776"/>
                <a:chOff x="5037" y="5624"/>
                <a:chExt cx="1920" cy="2776"/>
              </a:xfrm>
            </p:grpSpPr>
            <p:grpSp>
              <p:nvGrpSpPr>
                <p:cNvPr id="427049" name="组合 427048"/>
                <p:cNvGrpSpPr/>
                <p:nvPr/>
              </p:nvGrpSpPr>
              <p:grpSpPr>
                <a:xfrm>
                  <a:off x="5277" y="6240"/>
                  <a:ext cx="1440" cy="2160"/>
                  <a:chOff x="5277" y="6240"/>
                  <a:chExt cx="1440" cy="2160"/>
                </a:xfrm>
              </p:grpSpPr>
              <p:sp>
                <p:nvSpPr>
                  <p:cNvPr id="427050" name="椭圆 427049"/>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7051" name="矩形 427050"/>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2" name="矩形 427051"/>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3" name="矩形 427052"/>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4" name="矩形 427053"/>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5" name="矩形 427054"/>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6" name="矩形 427055"/>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7" name="矩形 427056"/>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7058" name="文本框 427057"/>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7059" name="直接连接符 427058"/>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7060" name="直接连接符 427059"/>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7061" name="直接连接符 427060"/>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7062" name="直接连接符 427061"/>
            <p:cNvSpPr/>
            <p:nvPr/>
          </p:nvSpPr>
          <p:spPr>
            <a:xfrm>
              <a:off x="1275" y="2644"/>
              <a:ext cx="1034" cy="0"/>
            </a:xfrm>
            <a:prstGeom prst="line">
              <a:avLst/>
            </a:prstGeom>
            <a:ln w="28575" cap="flat" cmpd="sng">
              <a:solidFill>
                <a:srgbClr val="000000"/>
              </a:solidFill>
              <a:prstDash val="solid"/>
              <a:headEnd type="none" w="med" len="med"/>
              <a:tailEnd type="none" w="med" len="med"/>
            </a:ln>
          </p:spPr>
        </p:sp>
        <p:sp>
          <p:nvSpPr>
            <p:cNvPr id="427063" name="直接连接符 427062"/>
            <p:cNvSpPr/>
            <p:nvPr/>
          </p:nvSpPr>
          <p:spPr>
            <a:xfrm>
              <a:off x="1447" y="2795"/>
              <a:ext cx="862" cy="306"/>
            </a:xfrm>
            <a:prstGeom prst="line">
              <a:avLst/>
            </a:prstGeom>
            <a:ln w="28575" cap="flat" cmpd="sng">
              <a:solidFill>
                <a:srgbClr val="000000"/>
              </a:solidFill>
              <a:prstDash val="solid"/>
              <a:headEnd type="none" w="med" len="med"/>
              <a:tailEnd type="none" w="med" len="med"/>
            </a:ln>
          </p:spPr>
        </p:sp>
        <p:sp>
          <p:nvSpPr>
            <p:cNvPr id="427064" name="直接连接符 427063"/>
            <p:cNvSpPr/>
            <p:nvPr/>
          </p:nvSpPr>
          <p:spPr>
            <a:xfrm>
              <a:off x="1447" y="2795"/>
              <a:ext cx="1149" cy="77"/>
            </a:xfrm>
            <a:prstGeom prst="line">
              <a:avLst/>
            </a:prstGeom>
            <a:ln w="28575" cap="flat" cmpd="sng">
              <a:solidFill>
                <a:srgbClr val="000000"/>
              </a:solidFill>
              <a:prstDash val="solid"/>
              <a:headEnd type="none" w="med" len="med"/>
              <a:tailEnd type="none" w="med" len="med"/>
            </a:ln>
          </p:spPr>
        </p:sp>
      </p:grpSp>
      <p:sp>
        <p:nvSpPr>
          <p:cNvPr id="427074" name="圆角矩形标注 427073"/>
          <p:cNvSpPr/>
          <p:nvPr/>
        </p:nvSpPr>
        <p:spPr>
          <a:xfrm>
            <a:off x="5508625" y="1557338"/>
            <a:ext cx="3455988" cy="2663825"/>
          </a:xfrm>
          <a:prstGeom prst="wedgeRoundRectCallout">
            <a:avLst>
              <a:gd name="adj1" fmla="val -80731"/>
              <a:gd name="adj2" fmla="val 35042"/>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solidFill>
                  <a:srgbClr val="000000"/>
                </a:solidFill>
                <a:effectLst>
                  <a:outerShdw blurRad="38100" dist="38100" dir="2700000">
                    <a:srgbClr val="FFFFFF"/>
                  </a:outerShdw>
                </a:effectLst>
                <a:latin typeface="Arial" panose="020B0604020202020204" pitchFamily="34" charset="0"/>
              </a:rPr>
              <a:t>       </a:t>
            </a:r>
            <a:r>
              <a:rPr lang="zh-CN" altLang="en-US" sz="1900" b="1" dirty="0">
                <a:solidFill>
                  <a:srgbClr val="000000"/>
                </a:solidFill>
                <a:effectLst>
                  <a:outerShdw blurRad="38100" dist="38100" dir="2700000">
                    <a:srgbClr val="FFFFFF"/>
                  </a:outerShdw>
                </a:effectLst>
                <a:latin typeface="Arial" panose="020B0604020202020204" pitchFamily="34" charset="0"/>
              </a:rPr>
              <a:t>如果实体集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中至少有一个实体与实体集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中的一个以上的实体有联系；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反之，实体集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中的每一个实体至多与实体集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则称</a:t>
            </a:r>
            <a:r>
              <a:rPr lang="en-US" altLang="zh-CN" sz="1900" b="1">
                <a:solidFill>
                  <a:srgbClr val="000000"/>
                </a:solidFill>
                <a:effectLst>
                  <a:outerShdw blurRad="38100" dist="38100" dir="2700000">
                    <a:srgbClr val="FFFFFF"/>
                  </a:outerShdw>
                </a:effectLst>
                <a:latin typeface="Arial" panose="020B0604020202020204" pitchFamily="34" charset="0"/>
              </a:rPr>
              <a:t>E1 </a:t>
            </a:r>
            <a:r>
              <a:rPr lang="zh-CN" altLang="en-US" sz="1900" b="1" dirty="0">
                <a:solidFill>
                  <a:srgbClr val="000000"/>
                </a:solidFill>
                <a:effectLst>
                  <a:outerShdw blurRad="38100" dist="38100" dir="2700000">
                    <a:srgbClr val="FFFFFF"/>
                  </a:outerShdw>
                </a:effectLst>
                <a:latin typeface="Arial" panose="020B0604020202020204" pitchFamily="34" charset="0"/>
              </a:rPr>
              <a:t>和 </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是一对多联系，记为“</a:t>
            </a:r>
            <a:r>
              <a:rPr lang="en-US" altLang="zh-CN" sz="1900" b="1">
                <a:solidFill>
                  <a:srgbClr val="000000"/>
                </a:solidFill>
                <a:effectLst>
                  <a:outerShdw blurRad="38100" dist="38100" dir="2700000">
                    <a:srgbClr val="FFFFFF"/>
                  </a:outerShdw>
                </a:effectLst>
                <a:latin typeface="Arial" panose="020B0604020202020204" pitchFamily="34" charset="0"/>
              </a:rPr>
              <a:t>1∶N” </a:t>
            </a:r>
            <a:r>
              <a:rPr lang="zh-CN" altLang="en-US" sz="1900" b="1" dirty="0">
                <a:solidFill>
                  <a:srgbClr val="000000"/>
                </a:solidFill>
                <a:effectLst>
                  <a:outerShdw blurRad="38100" dist="38100" dir="2700000">
                    <a:srgbClr val="FFFFFF"/>
                  </a:outerShdw>
                </a:effectLst>
                <a:latin typeface="Arial" panose="020B0604020202020204" pitchFamily="34" charset="0"/>
              </a:rPr>
              <a:t>。</a:t>
            </a:r>
          </a:p>
        </p:txBody>
      </p:sp>
      <p:sp>
        <p:nvSpPr>
          <p:cNvPr id="427075" name="矩形 42707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24862"/>
    </mc:Choice>
    <mc:Fallback xmlns="">
      <p:transition spd="slow" advTm="248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27038"/>
                                        </p:tgtEl>
                                        <p:attrNameLst>
                                          <p:attrName>style.visibility</p:attrName>
                                        </p:attrNameLst>
                                      </p:cBhvr>
                                      <p:to>
                                        <p:strVal val="visible"/>
                                      </p:to>
                                    </p:set>
                                    <p:animEffect transition="in" filter="diamond(in)">
                                      <p:cBhvr>
                                        <p:cTn id="7" dur="1000"/>
                                        <p:tgtEl>
                                          <p:spTgt spid="427038"/>
                                        </p:tgtEl>
                                      </p:cBhvr>
                                    </p:animEffect>
                                  </p:childTnLst>
                                </p:cTn>
                              </p:par>
                            </p:childTnLst>
                          </p:cTn>
                        </p:par>
                        <p:par>
                          <p:cTn id="8" fill="hold">
                            <p:stCondLst>
                              <p:cond delay="1000"/>
                            </p:stCondLst>
                            <p:childTnLst>
                              <p:par>
                                <p:cTn id="9" presetID="4" presetClass="entr" presetSubtype="16" fill="hold" grpId="0" nodeType="afterEffect">
                                  <p:stCondLst>
                                    <p:cond delay="0"/>
                                  </p:stCondLst>
                                  <p:childTnLst>
                                    <p:set>
                                      <p:cBhvr>
                                        <p:cTn id="10" dur="1" fill="hold">
                                          <p:stCondLst>
                                            <p:cond delay="0"/>
                                          </p:stCondLst>
                                        </p:cTn>
                                        <p:tgtEl>
                                          <p:spTgt spid="427074"/>
                                        </p:tgtEl>
                                        <p:attrNameLst>
                                          <p:attrName>style.visibility</p:attrName>
                                        </p:attrNameLst>
                                      </p:cBhvr>
                                      <p:to>
                                        <p:strVal val="visible"/>
                                      </p:to>
                                    </p:set>
                                    <p:animEffect transition="in" filter="box(in)">
                                      <p:cBhvr>
                                        <p:cTn id="11" dur="500"/>
                                        <p:tgtEl>
                                          <p:spTgt spid="427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7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6" name="矩形 428035"/>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、一对多联系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8038" name="组合 428037"/>
          <p:cNvGrpSpPr/>
          <p:nvPr/>
        </p:nvGrpSpPr>
        <p:grpSpPr>
          <a:xfrm>
            <a:off x="1403350" y="2349500"/>
            <a:ext cx="3146425" cy="2808288"/>
            <a:chOff x="930" y="1803"/>
            <a:chExt cx="1982" cy="1769"/>
          </a:xfrm>
        </p:grpSpPr>
        <p:grpSp>
          <p:nvGrpSpPr>
            <p:cNvPr id="428039" name="组合 428038"/>
            <p:cNvGrpSpPr/>
            <p:nvPr/>
          </p:nvGrpSpPr>
          <p:grpSpPr>
            <a:xfrm>
              <a:off x="930" y="1803"/>
              <a:ext cx="1982" cy="1769"/>
              <a:chOff x="2817" y="5624"/>
              <a:chExt cx="4140" cy="2776"/>
            </a:xfrm>
          </p:grpSpPr>
          <p:grpSp>
            <p:nvGrpSpPr>
              <p:cNvPr id="428040" name="组合 428039"/>
              <p:cNvGrpSpPr/>
              <p:nvPr/>
            </p:nvGrpSpPr>
            <p:grpSpPr>
              <a:xfrm>
                <a:off x="2817" y="5640"/>
                <a:ext cx="1920" cy="2760"/>
                <a:chOff x="2817" y="5640"/>
                <a:chExt cx="1920" cy="2760"/>
              </a:xfrm>
            </p:grpSpPr>
            <p:sp>
              <p:nvSpPr>
                <p:cNvPr id="428041" name="文本框 428040"/>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8042" name="组合 428041"/>
                <p:cNvGrpSpPr/>
                <p:nvPr/>
              </p:nvGrpSpPr>
              <p:grpSpPr>
                <a:xfrm>
                  <a:off x="2997" y="6240"/>
                  <a:ext cx="1440" cy="2160"/>
                  <a:chOff x="2997" y="6240"/>
                  <a:chExt cx="1440" cy="2160"/>
                </a:xfrm>
              </p:grpSpPr>
              <p:sp>
                <p:nvSpPr>
                  <p:cNvPr id="428043" name="椭圆 428042"/>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8044" name="矩形 428043"/>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45" name="矩形 428044"/>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46" name="矩形 428045"/>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47" name="矩形 428046"/>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8048" name="组合 428047"/>
              <p:cNvGrpSpPr/>
              <p:nvPr/>
            </p:nvGrpSpPr>
            <p:grpSpPr>
              <a:xfrm>
                <a:off x="5037" y="5624"/>
                <a:ext cx="1920" cy="2776"/>
                <a:chOff x="5037" y="5624"/>
                <a:chExt cx="1920" cy="2776"/>
              </a:xfrm>
            </p:grpSpPr>
            <p:grpSp>
              <p:nvGrpSpPr>
                <p:cNvPr id="428049" name="组合 428048"/>
                <p:cNvGrpSpPr/>
                <p:nvPr/>
              </p:nvGrpSpPr>
              <p:grpSpPr>
                <a:xfrm>
                  <a:off x="5277" y="6240"/>
                  <a:ext cx="1440" cy="2160"/>
                  <a:chOff x="5277" y="6240"/>
                  <a:chExt cx="1440" cy="2160"/>
                </a:xfrm>
              </p:grpSpPr>
              <p:sp>
                <p:nvSpPr>
                  <p:cNvPr id="428050" name="椭圆 428049"/>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8051" name="矩形 428050"/>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2" name="矩形 428051"/>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3" name="矩形 428052"/>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4" name="矩形 428053"/>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5" name="矩形 428054"/>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6" name="矩形 428055"/>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7" name="矩形 428056"/>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8058" name="文本框 428057"/>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8059" name="直接连接符 428058"/>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8060" name="直接连接符 428059"/>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8061" name="直接连接符 428060"/>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8062" name="直接连接符 428061"/>
            <p:cNvSpPr/>
            <p:nvPr/>
          </p:nvSpPr>
          <p:spPr>
            <a:xfrm>
              <a:off x="1275" y="2644"/>
              <a:ext cx="1034" cy="0"/>
            </a:xfrm>
            <a:prstGeom prst="line">
              <a:avLst/>
            </a:prstGeom>
            <a:ln w="28575" cap="flat" cmpd="sng">
              <a:solidFill>
                <a:srgbClr val="000000"/>
              </a:solidFill>
              <a:prstDash val="solid"/>
              <a:headEnd type="none" w="med" len="med"/>
              <a:tailEnd type="none" w="med" len="med"/>
            </a:ln>
          </p:spPr>
        </p:sp>
        <p:sp>
          <p:nvSpPr>
            <p:cNvPr id="428063" name="直接连接符 428062"/>
            <p:cNvSpPr/>
            <p:nvPr/>
          </p:nvSpPr>
          <p:spPr>
            <a:xfrm>
              <a:off x="1447" y="2795"/>
              <a:ext cx="862" cy="306"/>
            </a:xfrm>
            <a:prstGeom prst="line">
              <a:avLst/>
            </a:prstGeom>
            <a:ln w="28575" cap="flat" cmpd="sng">
              <a:solidFill>
                <a:srgbClr val="000000"/>
              </a:solidFill>
              <a:prstDash val="solid"/>
              <a:headEnd type="none" w="med" len="med"/>
              <a:tailEnd type="none" w="med" len="med"/>
            </a:ln>
          </p:spPr>
        </p:sp>
        <p:sp>
          <p:nvSpPr>
            <p:cNvPr id="428064" name="直接连接符 428063"/>
            <p:cNvSpPr/>
            <p:nvPr/>
          </p:nvSpPr>
          <p:spPr>
            <a:xfrm>
              <a:off x="1447" y="2795"/>
              <a:ext cx="1149" cy="77"/>
            </a:xfrm>
            <a:prstGeom prst="line">
              <a:avLst/>
            </a:prstGeom>
            <a:ln w="28575" cap="flat" cmpd="sng">
              <a:solidFill>
                <a:srgbClr val="000000"/>
              </a:solidFill>
              <a:prstDash val="solid"/>
              <a:headEnd type="none" w="med" len="med"/>
              <a:tailEnd type="none" w="med" len="med"/>
            </a:ln>
          </p:spPr>
        </p:sp>
      </p:grpSp>
      <p:grpSp>
        <p:nvGrpSpPr>
          <p:cNvPr id="428078" name="组合 428077"/>
          <p:cNvGrpSpPr/>
          <p:nvPr/>
        </p:nvGrpSpPr>
        <p:grpSpPr>
          <a:xfrm>
            <a:off x="5078413" y="3322638"/>
            <a:ext cx="2417762" cy="1593850"/>
            <a:chOff x="3199" y="2365"/>
            <a:chExt cx="1523" cy="1004"/>
          </a:xfrm>
        </p:grpSpPr>
        <p:sp>
          <p:nvSpPr>
            <p:cNvPr id="428066" name="文本框 428065"/>
            <p:cNvSpPr txBox="1"/>
            <p:nvPr/>
          </p:nvSpPr>
          <p:spPr>
            <a:xfrm>
              <a:off x="3199" y="2986"/>
              <a:ext cx="460" cy="383"/>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车间</a:t>
              </a:r>
            </a:p>
          </p:txBody>
        </p:sp>
        <p:sp>
          <p:nvSpPr>
            <p:cNvPr id="428067" name="文本框 428066"/>
            <p:cNvSpPr txBox="1"/>
            <p:nvPr/>
          </p:nvSpPr>
          <p:spPr>
            <a:xfrm>
              <a:off x="4262" y="2986"/>
              <a:ext cx="460" cy="383"/>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工人</a:t>
              </a:r>
            </a:p>
          </p:txBody>
        </p:sp>
        <p:sp>
          <p:nvSpPr>
            <p:cNvPr id="428068" name="直接连接符 428067"/>
            <p:cNvSpPr/>
            <p:nvPr/>
          </p:nvSpPr>
          <p:spPr>
            <a:xfrm>
              <a:off x="3659" y="3191"/>
              <a:ext cx="603" cy="0"/>
            </a:xfrm>
            <a:prstGeom prst="line">
              <a:avLst/>
            </a:prstGeom>
            <a:ln w="28575" cap="flat" cmpd="sng">
              <a:solidFill>
                <a:srgbClr val="000000"/>
              </a:solidFill>
              <a:prstDash val="solid"/>
              <a:headEnd type="triangle" w="med" len="med"/>
              <a:tailEnd type="triangle" w="med" len="med"/>
            </a:ln>
          </p:spPr>
        </p:sp>
        <p:sp>
          <p:nvSpPr>
            <p:cNvPr id="428069" name="文本框 428068"/>
            <p:cNvSpPr txBox="1"/>
            <p:nvPr/>
          </p:nvSpPr>
          <p:spPr>
            <a:xfrm>
              <a:off x="3199" y="2374"/>
              <a:ext cx="460" cy="382"/>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E1</a:t>
              </a:r>
            </a:p>
          </p:txBody>
        </p:sp>
        <p:sp>
          <p:nvSpPr>
            <p:cNvPr id="428070" name="文本框 428069"/>
            <p:cNvSpPr txBox="1"/>
            <p:nvPr/>
          </p:nvSpPr>
          <p:spPr>
            <a:xfrm>
              <a:off x="4262" y="2374"/>
              <a:ext cx="460" cy="382"/>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E2</a:t>
              </a:r>
            </a:p>
          </p:txBody>
        </p:sp>
        <p:sp>
          <p:nvSpPr>
            <p:cNvPr id="428071" name="直接连接符 428070"/>
            <p:cNvSpPr/>
            <p:nvPr/>
          </p:nvSpPr>
          <p:spPr>
            <a:xfrm>
              <a:off x="3659" y="2578"/>
              <a:ext cx="603" cy="0"/>
            </a:xfrm>
            <a:prstGeom prst="line">
              <a:avLst/>
            </a:prstGeom>
            <a:ln w="28575" cap="flat" cmpd="sng">
              <a:solidFill>
                <a:srgbClr val="000000"/>
              </a:solidFill>
              <a:prstDash val="solid"/>
              <a:headEnd type="triangle" w="med" len="med"/>
              <a:tailEnd type="triangle" w="med" len="med"/>
            </a:ln>
          </p:spPr>
        </p:sp>
        <p:sp>
          <p:nvSpPr>
            <p:cNvPr id="428074" name="文本框 428073"/>
            <p:cNvSpPr txBox="1"/>
            <p:nvPr/>
          </p:nvSpPr>
          <p:spPr>
            <a:xfrm>
              <a:off x="3651" y="2365"/>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8075" name="文本框 428074"/>
            <p:cNvSpPr txBox="1"/>
            <p:nvPr/>
          </p:nvSpPr>
          <p:spPr>
            <a:xfrm>
              <a:off x="4039" y="2365"/>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sp>
          <p:nvSpPr>
            <p:cNvPr id="428076" name="文本框 428075"/>
            <p:cNvSpPr txBox="1"/>
            <p:nvPr/>
          </p:nvSpPr>
          <p:spPr>
            <a:xfrm>
              <a:off x="3660" y="2967"/>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8077" name="文本框 428076"/>
            <p:cNvSpPr txBox="1"/>
            <p:nvPr/>
          </p:nvSpPr>
          <p:spPr>
            <a:xfrm>
              <a:off x="4050" y="2976"/>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grpSp>
      <p:sp>
        <p:nvSpPr>
          <p:cNvPr id="428079" name="矩形 42807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4801"/>
    </mc:Choice>
    <mc:Fallback xmlns="">
      <p:transition spd="slow" advTm="1480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60" name="矩形 429059"/>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、多对多联系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9099" name="组合 429098"/>
          <p:cNvGrpSpPr/>
          <p:nvPr/>
        </p:nvGrpSpPr>
        <p:grpSpPr>
          <a:xfrm>
            <a:off x="1331913" y="2492375"/>
            <a:ext cx="3265487" cy="2719388"/>
            <a:chOff x="864" y="1808"/>
            <a:chExt cx="2057" cy="1713"/>
          </a:xfrm>
        </p:grpSpPr>
        <p:grpSp>
          <p:nvGrpSpPr>
            <p:cNvPr id="429100" name="组合 429099"/>
            <p:cNvGrpSpPr/>
            <p:nvPr/>
          </p:nvGrpSpPr>
          <p:grpSpPr>
            <a:xfrm>
              <a:off x="864" y="1808"/>
              <a:ext cx="2057" cy="1713"/>
              <a:chOff x="2817" y="5624"/>
              <a:chExt cx="4140" cy="2776"/>
            </a:xfrm>
          </p:grpSpPr>
          <p:grpSp>
            <p:nvGrpSpPr>
              <p:cNvPr id="429101" name="组合 429100"/>
              <p:cNvGrpSpPr/>
              <p:nvPr/>
            </p:nvGrpSpPr>
            <p:grpSpPr>
              <a:xfrm>
                <a:off x="2817" y="5640"/>
                <a:ext cx="1920" cy="2760"/>
                <a:chOff x="2817" y="5640"/>
                <a:chExt cx="1920" cy="2760"/>
              </a:xfrm>
            </p:grpSpPr>
            <p:sp>
              <p:nvSpPr>
                <p:cNvPr id="429102" name="文本框 429101"/>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9103" name="组合 429102"/>
                <p:cNvGrpSpPr/>
                <p:nvPr/>
              </p:nvGrpSpPr>
              <p:grpSpPr>
                <a:xfrm>
                  <a:off x="2997" y="6240"/>
                  <a:ext cx="1440" cy="2160"/>
                  <a:chOff x="2997" y="6240"/>
                  <a:chExt cx="1440" cy="2160"/>
                </a:xfrm>
              </p:grpSpPr>
              <p:sp>
                <p:nvSpPr>
                  <p:cNvPr id="429104" name="椭圆 429103"/>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9105" name="矩形 429104"/>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06" name="矩形 429105"/>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07" name="矩形 429106"/>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08" name="矩形 429107"/>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9109" name="组合 429108"/>
              <p:cNvGrpSpPr/>
              <p:nvPr/>
            </p:nvGrpSpPr>
            <p:grpSpPr>
              <a:xfrm>
                <a:off x="5037" y="5624"/>
                <a:ext cx="1920" cy="2776"/>
                <a:chOff x="5037" y="5624"/>
                <a:chExt cx="1920" cy="2776"/>
              </a:xfrm>
            </p:grpSpPr>
            <p:grpSp>
              <p:nvGrpSpPr>
                <p:cNvPr id="429110" name="组合 429109"/>
                <p:cNvGrpSpPr/>
                <p:nvPr/>
              </p:nvGrpSpPr>
              <p:grpSpPr>
                <a:xfrm>
                  <a:off x="5277" y="6240"/>
                  <a:ext cx="1440" cy="2160"/>
                  <a:chOff x="5277" y="6240"/>
                  <a:chExt cx="1440" cy="2160"/>
                </a:xfrm>
              </p:grpSpPr>
              <p:sp>
                <p:nvSpPr>
                  <p:cNvPr id="429111" name="椭圆 429110"/>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9112" name="矩形 429111"/>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3" name="矩形 429112"/>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4" name="矩形 429113"/>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5" name="矩形 429114"/>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6" name="矩形 429115"/>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7" name="矩形 429116"/>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8" name="矩形 429117"/>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9119" name="文本框 429118"/>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9120" name="直接连接符 429119"/>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9121" name="直接连接符 429120"/>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9122" name="直接连接符 429121"/>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9123" name="直接连接符 429122"/>
            <p:cNvSpPr/>
            <p:nvPr/>
          </p:nvSpPr>
          <p:spPr>
            <a:xfrm>
              <a:off x="1222" y="2623"/>
              <a:ext cx="1073" cy="0"/>
            </a:xfrm>
            <a:prstGeom prst="line">
              <a:avLst/>
            </a:prstGeom>
            <a:ln w="28575" cap="flat" cmpd="sng">
              <a:solidFill>
                <a:srgbClr val="000000"/>
              </a:solidFill>
              <a:prstDash val="solid"/>
              <a:headEnd type="none" w="med" len="med"/>
              <a:tailEnd type="none" w="med" len="med"/>
            </a:ln>
          </p:spPr>
        </p:sp>
        <p:sp>
          <p:nvSpPr>
            <p:cNvPr id="429124" name="直接连接符 429123"/>
            <p:cNvSpPr/>
            <p:nvPr/>
          </p:nvSpPr>
          <p:spPr>
            <a:xfrm>
              <a:off x="1401" y="2769"/>
              <a:ext cx="894" cy="296"/>
            </a:xfrm>
            <a:prstGeom prst="line">
              <a:avLst/>
            </a:prstGeom>
            <a:ln w="28575" cap="flat" cmpd="sng">
              <a:solidFill>
                <a:srgbClr val="000000"/>
              </a:solidFill>
              <a:prstDash val="solid"/>
              <a:headEnd type="none" w="med" len="med"/>
              <a:tailEnd type="none" w="med" len="med"/>
            </a:ln>
          </p:spPr>
        </p:sp>
        <p:sp>
          <p:nvSpPr>
            <p:cNvPr id="429125" name="直接连接符 429124"/>
            <p:cNvSpPr/>
            <p:nvPr/>
          </p:nvSpPr>
          <p:spPr>
            <a:xfrm flipH="1">
              <a:off x="1371" y="2621"/>
              <a:ext cx="924" cy="148"/>
            </a:xfrm>
            <a:prstGeom prst="line">
              <a:avLst/>
            </a:prstGeom>
            <a:ln w="28575" cap="flat" cmpd="sng">
              <a:solidFill>
                <a:srgbClr val="000000"/>
              </a:solidFill>
              <a:prstDash val="solid"/>
              <a:headEnd type="none" w="med" len="med"/>
              <a:tailEnd type="none" w="med" len="med"/>
            </a:ln>
          </p:spPr>
        </p:sp>
        <p:sp>
          <p:nvSpPr>
            <p:cNvPr id="429126" name="直接连接符 429125"/>
            <p:cNvSpPr/>
            <p:nvPr/>
          </p:nvSpPr>
          <p:spPr>
            <a:xfrm flipH="1">
              <a:off x="1222" y="2621"/>
              <a:ext cx="1073" cy="444"/>
            </a:xfrm>
            <a:prstGeom prst="line">
              <a:avLst/>
            </a:prstGeom>
            <a:ln w="28575" cap="flat" cmpd="sng">
              <a:solidFill>
                <a:srgbClr val="000000"/>
              </a:solidFill>
              <a:prstDash val="solid"/>
              <a:headEnd type="none" w="med" len="med"/>
              <a:tailEnd type="none" w="med" len="med"/>
            </a:ln>
          </p:spPr>
        </p:sp>
        <p:sp>
          <p:nvSpPr>
            <p:cNvPr id="429127" name="矩形 429126"/>
            <p:cNvSpPr/>
            <p:nvPr/>
          </p:nvSpPr>
          <p:spPr>
            <a:xfrm>
              <a:off x="1073" y="2771"/>
              <a:ext cx="59"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28" name="矩形 429127"/>
            <p:cNvSpPr/>
            <p:nvPr/>
          </p:nvSpPr>
          <p:spPr>
            <a:xfrm>
              <a:off x="1281" y="3289"/>
              <a:ext cx="60"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29" name="直接连接符 429128"/>
            <p:cNvSpPr/>
            <p:nvPr/>
          </p:nvSpPr>
          <p:spPr>
            <a:xfrm flipH="1">
              <a:off x="1341" y="2771"/>
              <a:ext cx="1133" cy="592"/>
            </a:xfrm>
            <a:prstGeom prst="line">
              <a:avLst/>
            </a:prstGeom>
            <a:ln w="28575" cap="flat" cmpd="sng">
              <a:solidFill>
                <a:srgbClr val="000000"/>
              </a:solidFill>
              <a:prstDash val="solid"/>
              <a:headEnd type="none" w="med" len="med"/>
              <a:tailEnd type="none" w="med" len="med"/>
            </a:ln>
          </p:spPr>
        </p:sp>
      </p:grpSp>
      <p:sp>
        <p:nvSpPr>
          <p:cNvPr id="429130" name="圆角矩形标注 429129"/>
          <p:cNvSpPr/>
          <p:nvPr/>
        </p:nvSpPr>
        <p:spPr>
          <a:xfrm>
            <a:off x="5508625" y="1628775"/>
            <a:ext cx="3455988" cy="2663825"/>
          </a:xfrm>
          <a:prstGeom prst="wedgeRoundRectCallout">
            <a:avLst>
              <a:gd name="adj1" fmla="val -80731"/>
              <a:gd name="adj2" fmla="val 35042"/>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solidFill>
                  <a:srgbClr val="000000"/>
                </a:solidFill>
                <a:effectLst>
                  <a:outerShdw blurRad="38100" dist="38100" dir="2700000">
                    <a:srgbClr val="FFFFFF"/>
                  </a:outerShdw>
                </a:effectLst>
                <a:latin typeface="Arial" panose="020B0604020202020204" pitchFamily="34" charset="0"/>
              </a:rPr>
              <a:t>       </a:t>
            </a:r>
            <a:r>
              <a:rPr lang="zh-CN" altLang="en-US" sz="1900" b="1" dirty="0">
                <a:solidFill>
                  <a:srgbClr val="000000"/>
                </a:solidFill>
                <a:effectLst>
                  <a:outerShdw blurRad="38100" dist="38100" dir="2700000">
                    <a:srgbClr val="FFFFFF"/>
                  </a:outerShdw>
                </a:effectLst>
                <a:latin typeface="Arial" panose="020B0604020202020204" pitchFamily="34" charset="0"/>
              </a:rPr>
              <a:t>如果实体集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中至少有一个实体与实体集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中的一个以上的实体有联系；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反之，实体集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中至少有一个实体与实体集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中的一个以上的实体有联系；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则称</a:t>
            </a:r>
            <a:r>
              <a:rPr lang="en-US" altLang="zh-CN" sz="1900" b="1">
                <a:solidFill>
                  <a:srgbClr val="000000"/>
                </a:solidFill>
                <a:effectLst>
                  <a:outerShdw blurRad="38100" dist="38100" dir="2700000">
                    <a:srgbClr val="FFFFFF"/>
                  </a:outerShdw>
                </a:effectLst>
                <a:latin typeface="Arial" panose="020B0604020202020204" pitchFamily="34" charset="0"/>
              </a:rPr>
              <a:t>E1 </a:t>
            </a:r>
            <a:r>
              <a:rPr lang="zh-CN" altLang="en-US" sz="1900" b="1" dirty="0">
                <a:solidFill>
                  <a:srgbClr val="000000"/>
                </a:solidFill>
                <a:effectLst>
                  <a:outerShdw blurRad="38100" dist="38100" dir="2700000">
                    <a:srgbClr val="FFFFFF"/>
                  </a:outerShdw>
                </a:effectLst>
                <a:latin typeface="Arial" panose="020B0604020202020204" pitchFamily="34" charset="0"/>
              </a:rPr>
              <a:t>和</a:t>
            </a:r>
            <a:r>
              <a:rPr lang="en-US" altLang="zh-CN" sz="1900" b="1">
                <a:solidFill>
                  <a:srgbClr val="000000"/>
                </a:solidFill>
                <a:effectLst>
                  <a:outerShdw blurRad="38100" dist="38100" dir="2700000">
                    <a:srgbClr val="FFFFFF"/>
                  </a:outerShdw>
                </a:effectLst>
                <a:latin typeface="Arial" panose="020B0604020202020204" pitchFamily="34" charset="0"/>
              </a:rPr>
              <a:t>E2 </a:t>
            </a:r>
            <a:r>
              <a:rPr lang="zh-CN" altLang="en-US" sz="1900" b="1" dirty="0">
                <a:solidFill>
                  <a:srgbClr val="000000"/>
                </a:solidFill>
                <a:effectLst>
                  <a:outerShdw blurRad="38100" dist="38100" dir="2700000">
                    <a:srgbClr val="FFFFFF"/>
                  </a:outerShdw>
                </a:effectLst>
                <a:latin typeface="Arial" panose="020B0604020202020204" pitchFamily="34" charset="0"/>
              </a:rPr>
              <a:t>是一对多联系，记为“</a:t>
            </a:r>
            <a:r>
              <a:rPr lang="en-US" altLang="zh-CN" sz="1900" b="1">
                <a:solidFill>
                  <a:srgbClr val="000000"/>
                </a:solidFill>
                <a:effectLst>
                  <a:outerShdw blurRad="38100" dist="38100" dir="2700000">
                    <a:srgbClr val="FFFFFF"/>
                  </a:outerShdw>
                </a:effectLst>
                <a:latin typeface="Arial" panose="020B0604020202020204" pitchFamily="34" charset="0"/>
              </a:rPr>
              <a:t>M∶N” </a:t>
            </a:r>
            <a:r>
              <a:rPr lang="zh-CN" altLang="en-US" sz="1900" b="1" dirty="0">
                <a:solidFill>
                  <a:srgbClr val="000000"/>
                </a:solidFill>
                <a:effectLst>
                  <a:outerShdw blurRad="38100" dist="38100" dir="2700000">
                    <a:srgbClr val="FFFFFF"/>
                  </a:outerShdw>
                </a:effectLst>
                <a:latin typeface="Arial" panose="020B0604020202020204" pitchFamily="34" charset="0"/>
              </a:rPr>
              <a:t>。</a:t>
            </a:r>
          </a:p>
        </p:txBody>
      </p:sp>
      <p:sp>
        <p:nvSpPr>
          <p:cNvPr id="429131" name="矩形 429130"/>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9915"/>
    </mc:Choice>
    <mc:Fallback xmlns="">
      <p:transition spd="slow" advTm="199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29099"/>
                                        </p:tgtEl>
                                        <p:attrNameLst>
                                          <p:attrName>style.visibility</p:attrName>
                                        </p:attrNameLst>
                                      </p:cBhvr>
                                      <p:to>
                                        <p:strVal val="visible"/>
                                      </p:to>
                                    </p:set>
                                    <p:animEffect transition="in" filter="diamond(in)">
                                      <p:cBhvr>
                                        <p:cTn id="7" dur="1000"/>
                                        <p:tgtEl>
                                          <p:spTgt spid="429099"/>
                                        </p:tgtEl>
                                      </p:cBhvr>
                                    </p:animEffect>
                                  </p:childTnLst>
                                </p:cTn>
                              </p:par>
                            </p:childTnLst>
                          </p:cTn>
                        </p:par>
                        <p:par>
                          <p:cTn id="8" fill="hold">
                            <p:stCondLst>
                              <p:cond delay="1000"/>
                            </p:stCondLst>
                            <p:childTnLst>
                              <p:par>
                                <p:cTn id="9" presetID="4" presetClass="entr" presetSubtype="16" fill="hold" grpId="0" nodeType="afterEffect">
                                  <p:stCondLst>
                                    <p:cond delay="0"/>
                                  </p:stCondLst>
                                  <p:childTnLst>
                                    <p:set>
                                      <p:cBhvr>
                                        <p:cTn id="10" dur="1" fill="hold">
                                          <p:stCondLst>
                                            <p:cond delay="0"/>
                                          </p:stCondLst>
                                        </p:cTn>
                                        <p:tgtEl>
                                          <p:spTgt spid="429130"/>
                                        </p:tgtEl>
                                        <p:attrNameLst>
                                          <p:attrName>style.visibility</p:attrName>
                                        </p:attrNameLst>
                                      </p:cBhvr>
                                      <p:to>
                                        <p:strVal val="visible"/>
                                      </p:to>
                                    </p:set>
                                    <p:animEffect transition="in" filter="box(in)">
                                      <p:cBhvr>
                                        <p:cTn id="11" dur="500"/>
                                        <p:tgtEl>
                                          <p:spTgt spid="429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1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4" name="矩形 430123"/>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、多对多联系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30135" name="组合 430134"/>
          <p:cNvGrpSpPr/>
          <p:nvPr/>
        </p:nvGrpSpPr>
        <p:grpSpPr>
          <a:xfrm>
            <a:off x="1331913" y="2492375"/>
            <a:ext cx="3265487" cy="2719388"/>
            <a:chOff x="864" y="1808"/>
            <a:chExt cx="2057" cy="1713"/>
          </a:xfrm>
        </p:grpSpPr>
        <p:grpSp>
          <p:nvGrpSpPr>
            <p:cNvPr id="430136" name="组合 430135"/>
            <p:cNvGrpSpPr/>
            <p:nvPr/>
          </p:nvGrpSpPr>
          <p:grpSpPr>
            <a:xfrm>
              <a:off x="864" y="1808"/>
              <a:ext cx="2057" cy="1713"/>
              <a:chOff x="2817" y="5624"/>
              <a:chExt cx="4140" cy="2776"/>
            </a:xfrm>
          </p:grpSpPr>
          <p:grpSp>
            <p:nvGrpSpPr>
              <p:cNvPr id="430137" name="组合 430136"/>
              <p:cNvGrpSpPr/>
              <p:nvPr/>
            </p:nvGrpSpPr>
            <p:grpSpPr>
              <a:xfrm>
                <a:off x="2817" y="5640"/>
                <a:ext cx="1920" cy="2760"/>
                <a:chOff x="2817" y="5640"/>
                <a:chExt cx="1920" cy="2760"/>
              </a:xfrm>
            </p:grpSpPr>
            <p:sp>
              <p:nvSpPr>
                <p:cNvPr id="430138" name="文本框 430137"/>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30139" name="组合 430138"/>
                <p:cNvGrpSpPr/>
                <p:nvPr/>
              </p:nvGrpSpPr>
              <p:grpSpPr>
                <a:xfrm>
                  <a:off x="2997" y="6240"/>
                  <a:ext cx="1440" cy="2160"/>
                  <a:chOff x="2997" y="6240"/>
                  <a:chExt cx="1440" cy="2160"/>
                </a:xfrm>
              </p:grpSpPr>
              <p:sp>
                <p:nvSpPr>
                  <p:cNvPr id="430140" name="椭圆 430139"/>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30141" name="矩形 430140"/>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2" name="矩形 430141"/>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3" name="矩形 430142"/>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4" name="矩形 430143"/>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30145" name="组合 430144"/>
              <p:cNvGrpSpPr/>
              <p:nvPr/>
            </p:nvGrpSpPr>
            <p:grpSpPr>
              <a:xfrm>
                <a:off x="5037" y="5624"/>
                <a:ext cx="1920" cy="2776"/>
                <a:chOff x="5037" y="5624"/>
                <a:chExt cx="1920" cy="2776"/>
              </a:xfrm>
            </p:grpSpPr>
            <p:grpSp>
              <p:nvGrpSpPr>
                <p:cNvPr id="430146" name="组合 430145"/>
                <p:cNvGrpSpPr/>
                <p:nvPr/>
              </p:nvGrpSpPr>
              <p:grpSpPr>
                <a:xfrm>
                  <a:off x="5277" y="6240"/>
                  <a:ext cx="1440" cy="2160"/>
                  <a:chOff x="5277" y="6240"/>
                  <a:chExt cx="1440" cy="2160"/>
                </a:xfrm>
              </p:grpSpPr>
              <p:sp>
                <p:nvSpPr>
                  <p:cNvPr id="430147" name="椭圆 430146"/>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30148" name="矩形 430147"/>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9" name="矩形 430148"/>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0" name="矩形 430149"/>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1" name="矩形 430150"/>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2" name="矩形 430151"/>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3" name="矩形 430152"/>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4" name="矩形 430153"/>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30155" name="文本框 430154"/>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30156" name="直接连接符 430155"/>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30157" name="直接连接符 430156"/>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30158" name="直接连接符 430157"/>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30159" name="直接连接符 430158"/>
            <p:cNvSpPr/>
            <p:nvPr/>
          </p:nvSpPr>
          <p:spPr>
            <a:xfrm>
              <a:off x="1222" y="2623"/>
              <a:ext cx="1073" cy="0"/>
            </a:xfrm>
            <a:prstGeom prst="line">
              <a:avLst/>
            </a:prstGeom>
            <a:ln w="28575" cap="flat" cmpd="sng">
              <a:solidFill>
                <a:srgbClr val="000000"/>
              </a:solidFill>
              <a:prstDash val="solid"/>
              <a:headEnd type="none" w="med" len="med"/>
              <a:tailEnd type="none" w="med" len="med"/>
            </a:ln>
          </p:spPr>
        </p:sp>
        <p:sp>
          <p:nvSpPr>
            <p:cNvPr id="430160" name="直接连接符 430159"/>
            <p:cNvSpPr/>
            <p:nvPr/>
          </p:nvSpPr>
          <p:spPr>
            <a:xfrm>
              <a:off x="1401" y="2769"/>
              <a:ext cx="894" cy="296"/>
            </a:xfrm>
            <a:prstGeom prst="line">
              <a:avLst/>
            </a:prstGeom>
            <a:ln w="28575" cap="flat" cmpd="sng">
              <a:solidFill>
                <a:srgbClr val="000000"/>
              </a:solidFill>
              <a:prstDash val="solid"/>
              <a:headEnd type="none" w="med" len="med"/>
              <a:tailEnd type="none" w="med" len="med"/>
            </a:ln>
          </p:spPr>
        </p:sp>
        <p:sp>
          <p:nvSpPr>
            <p:cNvPr id="430161" name="直接连接符 430160"/>
            <p:cNvSpPr/>
            <p:nvPr/>
          </p:nvSpPr>
          <p:spPr>
            <a:xfrm flipH="1">
              <a:off x="1371" y="2621"/>
              <a:ext cx="924" cy="148"/>
            </a:xfrm>
            <a:prstGeom prst="line">
              <a:avLst/>
            </a:prstGeom>
            <a:ln w="28575" cap="flat" cmpd="sng">
              <a:solidFill>
                <a:srgbClr val="000000"/>
              </a:solidFill>
              <a:prstDash val="solid"/>
              <a:headEnd type="none" w="med" len="med"/>
              <a:tailEnd type="none" w="med" len="med"/>
            </a:ln>
          </p:spPr>
        </p:sp>
        <p:sp>
          <p:nvSpPr>
            <p:cNvPr id="430162" name="直接连接符 430161"/>
            <p:cNvSpPr/>
            <p:nvPr/>
          </p:nvSpPr>
          <p:spPr>
            <a:xfrm flipH="1">
              <a:off x="1222" y="2621"/>
              <a:ext cx="1073" cy="444"/>
            </a:xfrm>
            <a:prstGeom prst="line">
              <a:avLst/>
            </a:prstGeom>
            <a:ln w="28575" cap="flat" cmpd="sng">
              <a:solidFill>
                <a:srgbClr val="000000"/>
              </a:solidFill>
              <a:prstDash val="solid"/>
              <a:headEnd type="none" w="med" len="med"/>
              <a:tailEnd type="none" w="med" len="med"/>
            </a:ln>
          </p:spPr>
        </p:sp>
        <p:sp>
          <p:nvSpPr>
            <p:cNvPr id="430163" name="矩形 430162"/>
            <p:cNvSpPr/>
            <p:nvPr/>
          </p:nvSpPr>
          <p:spPr>
            <a:xfrm>
              <a:off x="1073" y="2771"/>
              <a:ext cx="59"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64" name="矩形 430163"/>
            <p:cNvSpPr/>
            <p:nvPr/>
          </p:nvSpPr>
          <p:spPr>
            <a:xfrm>
              <a:off x="1281" y="3289"/>
              <a:ext cx="60"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65" name="直接连接符 430164"/>
            <p:cNvSpPr/>
            <p:nvPr/>
          </p:nvSpPr>
          <p:spPr>
            <a:xfrm flipH="1">
              <a:off x="1341" y="2771"/>
              <a:ext cx="1133" cy="592"/>
            </a:xfrm>
            <a:prstGeom prst="line">
              <a:avLst/>
            </a:prstGeom>
            <a:ln w="28575" cap="flat" cmpd="sng">
              <a:solidFill>
                <a:srgbClr val="000000"/>
              </a:solidFill>
              <a:prstDash val="solid"/>
              <a:headEnd type="none" w="med" len="med"/>
              <a:tailEnd type="none" w="med" len="med"/>
            </a:ln>
          </p:spPr>
        </p:sp>
      </p:grpSp>
      <p:grpSp>
        <p:nvGrpSpPr>
          <p:cNvPr id="430170" name="组合 430169"/>
          <p:cNvGrpSpPr/>
          <p:nvPr/>
        </p:nvGrpSpPr>
        <p:grpSpPr>
          <a:xfrm>
            <a:off x="5111750" y="3494088"/>
            <a:ext cx="2508250" cy="1571625"/>
            <a:chOff x="3220" y="2383"/>
            <a:chExt cx="1580" cy="990"/>
          </a:xfrm>
        </p:grpSpPr>
        <p:sp>
          <p:nvSpPr>
            <p:cNvPr id="430127" name="文本框 430126"/>
            <p:cNvSpPr txBox="1"/>
            <p:nvPr/>
          </p:nvSpPr>
          <p:spPr>
            <a:xfrm>
              <a:off x="3220" y="3003"/>
              <a:ext cx="477" cy="370"/>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学生</a:t>
              </a:r>
            </a:p>
          </p:txBody>
        </p:sp>
        <p:sp>
          <p:nvSpPr>
            <p:cNvPr id="430128" name="文本框 430127"/>
            <p:cNvSpPr txBox="1"/>
            <p:nvPr/>
          </p:nvSpPr>
          <p:spPr>
            <a:xfrm>
              <a:off x="4323" y="3003"/>
              <a:ext cx="477" cy="370"/>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课程</a:t>
              </a:r>
            </a:p>
          </p:txBody>
        </p:sp>
        <p:sp>
          <p:nvSpPr>
            <p:cNvPr id="430129" name="直接连接符 430128"/>
            <p:cNvSpPr/>
            <p:nvPr/>
          </p:nvSpPr>
          <p:spPr>
            <a:xfrm>
              <a:off x="3697" y="3200"/>
              <a:ext cx="626" cy="0"/>
            </a:xfrm>
            <a:prstGeom prst="line">
              <a:avLst/>
            </a:prstGeom>
            <a:ln w="28575" cap="flat" cmpd="sng">
              <a:solidFill>
                <a:srgbClr val="000000"/>
              </a:solidFill>
              <a:prstDash val="solid"/>
              <a:headEnd type="triangle" w="med" len="med"/>
              <a:tailEnd type="triangle" w="med" len="med"/>
            </a:ln>
          </p:spPr>
        </p:sp>
        <p:sp>
          <p:nvSpPr>
            <p:cNvPr id="430130" name="文本框 430129"/>
            <p:cNvSpPr txBox="1"/>
            <p:nvPr/>
          </p:nvSpPr>
          <p:spPr>
            <a:xfrm>
              <a:off x="3220" y="2410"/>
              <a:ext cx="477" cy="371"/>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E1</a:t>
              </a:r>
            </a:p>
          </p:txBody>
        </p:sp>
        <p:sp>
          <p:nvSpPr>
            <p:cNvPr id="430131" name="文本框 430130"/>
            <p:cNvSpPr txBox="1"/>
            <p:nvPr/>
          </p:nvSpPr>
          <p:spPr>
            <a:xfrm>
              <a:off x="4323" y="2410"/>
              <a:ext cx="477" cy="371"/>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E2</a:t>
              </a:r>
            </a:p>
          </p:txBody>
        </p:sp>
        <p:sp>
          <p:nvSpPr>
            <p:cNvPr id="430132" name="直接连接符 430131"/>
            <p:cNvSpPr/>
            <p:nvPr/>
          </p:nvSpPr>
          <p:spPr>
            <a:xfrm>
              <a:off x="3697" y="2608"/>
              <a:ext cx="626" cy="0"/>
            </a:xfrm>
            <a:prstGeom prst="line">
              <a:avLst/>
            </a:prstGeom>
            <a:ln w="28575" cap="flat" cmpd="sng">
              <a:solidFill>
                <a:srgbClr val="000000"/>
              </a:solidFill>
              <a:prstDash val="solid"/>
              <a:headEnd type="triangle" w="med" len="med"/>
              <a:tailEnd type="triangle" w="med" len="med"/>
            </a:ln>
          </p:spPr>
        </p:sp>
        <p:sp>
          <p:nvSpPr>
            <p:cNvPr id="430166" name="文本框 430165"/>
            <p:cNvSpPr txBox="1"/>
            <p:nvPr/>
          </p:nvSpPr>
          <p:spPr>
            <a:xfrm>
              <a:off x="3696" y="2967"/>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sp>
          <p:nvSpPr>
            <p:cNvPr id="430167" name="文本框 430166"/>
            <p:cNvSpPr txBox="1"/>
            <p:nvPr/>
          </p:nvSpPr>
          <p:spPr>
            <a:xfrm>
              <a:off x="3696" y="2383"/>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sp>
          <p:nvSpPr>
            <p:cNvPr id="430168" name="文本框 430167"/>
            <p:cNvSpPr txBox="1"/>
            <p:nvPr/>
          </p:nvSpPr>
          <p:spPr>
            <a:xfrm>
              <a:off x="4095" y="2387"/>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N</a:t>
              </a:r>
            </a:p>
          </p:txBody>
        </p:sp>
        <p:sp>
          <p:nvSpPr>
            <p:cNvPr id="430169" name="文本框 430168"/>
            <p:cNvSpPr txBox="1"/>
            <p:nvPr/>
          </p:nvSpPr>
          <p:spPr>
            <a:xfrm>
              <a:off x="4095" y="2976"/>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N</a:t>
              </a:r>
            </a:p>
          </p:txBody>
        </p:sp>
      </p:grpSp>
      <p:sp>
        <p:nvSpPr>
          <p:cNvPr id="430171" name="矩形 430170"/>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2526"/>
    </mc:Choice>
    <mc:Fallback xmlns="">
      <p:transition spd="slow" advTm="1252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20" name="矩形 64921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
        <p:nvSpPr>
          <p:cNvPr id="649221" name="矩形 649220"/>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spcBef>
                <a:spcPct val="10000"/>
              </a:spcBef>
            </a:pPr>
            <a:r>
              <a:rPr lang="zh-CN" altLang="en-US" dirty="0"/>
              <a:t>         </a:t>
            </a:r>
            <a:r>
              <a:rPr lang="en-US" altLang="zh-CN" sz="3000" dirty="0">
                <a:solidFill>
                  <a:srgbClr val="660033"/>
                </a:solidFill>
                <a:ea typeface="华文新魏" panose="02010800040101010101" pitchFamily="2" charset="-122"/>
              </a:rPr>
              <a:t>4</a:t>
            </a:r>
            <a:r>
              <a:rPr lang="zh-CN" altLang="en-US" sz="3000" dirty="0">
                <a:solidFill>
                  <a:srgbClr val="660033"/>
                </a:solidFill>
                <a:ea typeface="华文新魏" panose="02010800040101010101" pitchFamily="2" charset="-122"/>
              </a:rPr>
              <a:t>、联系集及其标识码</a:t>
            </a:r>
            <a:endParaRPr lang="zh-CN" altLang="en-US" dirty="0">
              <a:solidFill>
                <a:srgbClr val="003366"/>
              </a:solidFill>
            </a:endParaRPr>
          </a:p>
          <a:p>
            <a:pPr lvl="0">
              <a:lnSpc>
                <a:spcPct val="130000"/>
              </a:lnSpc>
              <a:spcBef>
                <a:spcPct val="10000"/>
              </a:spcBef>
            </a:pPr>
            <a:r>
              <a:rPr lang="zh-CN" altLang="en-US" dirty="0"/>
              <a:t>          </a:t>
            </a:r>
            <a:r>
              <a:rPr lang="zh-CN" altLang="en-US" b="0" dirty="0">
                <a:solidFill>
                  <a:srgbClr val="003366"/>
                </a:solidFill>
                <a:effectLst/>
                <a:ea typeface="黑体" panose="02010609060101010101" pitchFamily="2" charset="-122"/>
              </a:rPr>
              <a:t>两个实体集之间的具有相同属性的联系组成的集合称为</a:t>
            </a:r>
            <a:r>
              <a:rPr lang="zh-CN" altLang="en-US" b="0" dirty="0">
                <a:solidFill>
                  <a:srgbClr val="CC0000"/>
                </a:solidFill>
                <a:effectLst/>
                <a:ea typeface="黑体" panose="02010609060101010101" pitchFamily="2" charset="-122"/>
              </a:rPr>
              <a:t>联系集</a:t>
            </a:r>
            <a:r>
              <a:rPr lang="zh-CN" altLang="en-US" b="0" dirty="0">
                <a:solidFill>
                  <a:srgbClr val="003366"/>
                </a:solidFill>
                <a:effectLst/>
                <a:ea typeface="黑体" panose="02010609060101010101" pitchFamily="2" charset="-122"/>
              </a:rPr>
              <a:t>。</a:t>
            </a:r>
          </a:p>
          <a:p>
            <a:pPr lvl="0">
              <a:lnSpc>
                <a:spcPct val="130000"/>
              </a:lnSpc>
              <a:spcBef>
                <a:spcPct val="10000"/>
              </a:spcBef>
            </a:pPr>
            <a:r>
              <a:rPr lang="zh-CN" altLang="en-US" b="0" dirty="0">
                <a:effectLst/>
              </a:rPr>
              <a:t>         </a:t>
            </a:r>
            <a:r>
              <a:rPr lang="zh-CN" altLang="en-US" dirty="0">
                <a:effectLst/>
              </a:rPr>
              <a:t>把能够唯一地标识联系集中的每个联系的一个或一组属性称为</a:t>
            </a:r>
            <a:r>
              <a:rPr lang="zh-CN" altLang="en-US" dirty="0">
                <a:solidFill>
                  <a:srgbClr val="CC0000"/>
                </a:solidFill>
                <a:effectLst/>
              </a:rPr>
              <a:t>联系集的标识码。</a:t>
            </a:r>
          </a:p>
          <a:p>
            <a:pPr lvl="0">
              <a:lnSpc>
                <a:spcPct val="130000"/>
              </a:lnSpc>
              <a:spcBef>
                <a:spcPct val="10000"/>
              </a:spcBef>
            </a:pPr>
            <a:r>
              <a:rPr lang="zh-CN" altLang="en-US" b="0" dirty="0">
                <a:effectLst/>
              </a:rPr>
              <a:t>         </a:t>
            </a:r>
            <a:r>
              <a:rPr lang="zh-CN" altLang="en-US" b="0" dirty="0">
                <a:solidFill>
                  <a:schemeClr val="tx2"/>
                </a:solidFill>
                <a:effectLst/>
                <a:ea typeface="黑体" panose="02010609060101010101" pitchFamily="2" charset="-122"/>
              </a:rPr>
              <a:t>一般情况下，联系集的标识码由被它联系的两个实体集的标识码组成。</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77150"/>
    </mc:Choice>
    <mc:Fallback xmlns="">
      <p:transition spd="slow" advTm="77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9221">
                                            <p:txEl>
                                              <p:pRg st="0" end="0"/>
                                            </p:txEl>
                                          </p:spTgt>
                                        </p:tgtEl>
                                        <p:attrNameLst>
                                          <p:attrName>style.visibility</p:attrName>
                                        </p:attrNameLst>
                                      </p:cBhvr>
                                      <p:to>
                                        <p:strVal val="visible"/>
                                      </p:to>
                                    </p:set>
                                    <p:animEffect transition="in" filter="wipe(left)">
                                      <p:cBhvr>
                                        <p:cTn id="7" dur="1000"/>
                                        <p:tgtEl>
                                          <p:spTgt spid="649221">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9221">
                                            <p:txEl>
                                              <p:pRg st="1" end="1"/>
                                            </p:txEl>
                                          </p:spTgt>
                                        </p:tgtEl>
                                        <p:attrNameLst>
                                          <p:attrName>style.visibility</p:attrName>
                                        </p:attrNameLst>
                                      </p:cBhvr>
                                      <p:to>
                                        <p:strVal val="visible"/>
                                      </p:to>
                                    </p:set>
                                    <p:animEffect transition="in" filter="wipe(left)">
                                      <p:cBhvr>
                                        <p:cTn id="11" dur="3000"/>
                                        <p:tgtEl>
                                          <p:spTgt spid="649221">
                                            <p:txEl>
                                              <p:pRg st="1" end="1"/>
                                            </p:txEl>
                                          </p:spTgt>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649221">
                                            <p:txEl>
                                              <p:pRg st="2" end="2"/>
                                            </p:txEl>
                                          </p:spTgt>
                                        </p:tgtEl>
                                        <p:attrNameLst>
                                          <p:attrName>style.visibility</p:attrName>
                                        </p:attrNameLst>
                                      </p:cBhvr>
                                      <p:to>
                                        <p:strVal val="visible"/>
                                      </p:to>
                                    </p:set>
                                    <p:animEffect transition="in" filter="wipe(left)">
                                      <p:cBhvr>
                                        <p:cTn id="15" dur="3000"/>
                                        <p:tgtEl>
                                          <p:spTgt spid="649221">
                                            <p:txEl>
                                              <p:pRg st="2" end="2"/>
                                            </p:txEl>
                                          </p:spTgt>
                                        </p:tgtEl>
                                      </p:cBhvr>
                                    </p:animEffect>
                                  </p:childTnLst>
                                </p:cTn>
                              </p:par>
                            </p:childTnLst>
                          </p:cTn>
                        </p:par>
                        <p:par>
                          <p:cTn id="16" fill="hold">
                            <p:stCondLst>
                              <p:cond delay="7000"/>
                            </p:stCondLst>
                            <p:childTnLst>
                              <p:par>
                                <p:cTn id="17" presetID="22" presetClass="entr" presetSubtype="8" fill="hold" nodeType="afterEffect">
                                  <p:stCondLst>
                                    <p:cond delay="0"/>
                                  </p:stCondLst>
                                  <p:childTnLst>
                                    <p:set>
                                      <p:cBhvr>
                                        <p:cTn id="18" dur="1" fill="hold">
                                          <p:stCondLst>
                                            <p:cond delay="0"/>
                                          </p:stCondLst>
                                        </p:cTn>
                                        <p:tgtEl>
                                          <p:spTgt spid="649221">
                                            <p:txEl>
                                              <p:pRg st="3" end="3"/>
                                            </p:txEl>
                                          </p:spTgt>
                                        </p:tgtEl>
                                        <p:attrNameLst>
                                          <p:attrName>style.visibility</p:attrName>
                                        </p:attrNameLst>
                                      </p:cBhvr>
                                      <p:to>
                                        <p:strVal val="visible"/>
                                      </p:to>
                                    </p:set>
                                    <p:animEffect transition="in" filter="wipe(left)">
                                      <p:cBhvr>
                                        <p:cTn id="19" dur="3000"/>
                                        <p:tgtEl>
                                          <p:spTgt spid="6492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8.2"/>
</p:tagLst>
</file>

<file path=ppt/tags/tag2.xml><?xml version="1.0" encoding="utf-8"?>
<p:tagLst xmlns:a="http://schemas.openxmlformats.org/drawingml/2006/main" xmlns:r="http://schemas.openxmlformats.org/officeDocument/2006/relationships" xmlns:p="http://schemas.openxmlformats.org/presentationml/2006/main">
  <p:tag name="TIMING" val="|10.6"/>
</p:tagLst>
</file>

<file path=ppt/tags/tag3.xml><?xml version="1.0" encoding="utf-8"?>
<p:tagLst xmlns:a="http://schemas.openxmlformats.org/drawingml/2006/main" xmlns:r="http://schemas.openxmlformats.org/officeDocument/2006/relationships" xmlns:p="http://schemas.openxmlformats.org/presentationml/2006/main">
  <p:tag name="TIMING" val="|4.9"/>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1490</Words>
  <Application>Microsoft Office PowerPoint</Application>
  <PresentationFormat>全屏显示(4:3)</PresentationFormat>
  <Paragraphs>176</Paragraphs>
  <Slides>23</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黑体</vt:lpstr>
      <vt:lpstr>华文新魏</vt:lpstr>
      <vt:lpstr>华文中宋</vt:lpstr>
      <vt:lpstr>隶书</vt:lpstr>
      <vt:lpstr>宋体</vt:lpstr>
      <vt:lpstr>Arial</vt:lpstr>
      <vt:lpstr>Tahoma</vt:lpstr>
      <vt:lpstr>Times New Roman</vt:lpstr>
      <vt:lpstr>Wingdings</vt:lpstr>
      <vt:lpstr>Blends</vt:lpstr>
      <vt:lpstr>第3章 数据库应用系统设计方法 </vt:lpstr>
      <vt:lpstr>3.3   数据库概念结构设计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656</cp:revision>
  <cp:lastPrinted>2000-08-23T09:10:16Z</cp:lastPrinted>
  <dcterms:created xsi:type="dcterms:W3CDTF">2020-04-04T09:37:51Z</dcterms:created>
  <dcterms:modified xsi:type="dcterms:W3CDTF">2021-04-12T15:02:51Z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