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776" r:id="rId2"/>
    <p:sldId id="571" r:id="rId3"/>
    <p:sldId id="730" r:id="rId4"/>
    <p:sldId id="575" r:id="rId5"/>
    <p:sldId id="576" r:id="rId6"/>
    <p:sldId id="698" r:id="rId7"/>
    <p:sldId id="697" r:id="rId8"/>
    <p:sldId id="700" r:id="rId9"/>
    <p:sldId id="577" r:id="rId10"/>
    <p:sldId id="578" r:id="rId11"/>
    <p:sldId id="579" r:id="rId12"/>
    <p:sldId id="726" r:id="rId13"/>
    <p:sldId id="580" r:id="rId14"/>
    <p:sldId id="581" r:id="rId15"/>
    <p:sldId id="582" r:id="rId16"/>
    <p:sldId id="583" r:id="rId17"/>
    <p:sldId id="584" r:id="rId18"/>
    <p:sldId id="585" r:id="rId19"/>
    <p:sldId id="588" r:id="rId20"/>
    <p:sldId id="589" r:id="rId21"/>
    <p:sldId id="701" r:id="rId22"/>
    <p:sldId id="702" r:id="rId23"/>
    <p:sldId id="703" r:id="rId24"/>
    <p:sldId id="704" r:id="rId25"/>
    <p:sldId id="705" r:id="rId26"/>
    <p:sldId id="706" r:id="rId27"/>
    <p:sldId id="590" r:id="rId28"/>
    <p:sldId id="591" r:id="rId29"/>
    <p:sldId id="777" r:id="rId30"/>
    <p:sldId id="671" r:id="rId31"/>
  </p:sldIdLst>
  <p:sldSz cx="9144000" cy="6858000" type="screen4x3"/>
  <p:notesSz cx="6662738" cy="9832975"/>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003366"/>
    <a:srgbClr val="99FFCC"/>
    <a:srgbClr val="FFFF66"/>
    <a:srgbClr val="006666"/>
    <a:srgbClr val="CC0000"/>
    <a:srgbClr val="00FF0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4"/>
    <p:restoredTop sz="94152"/>
  </p:normalViewPr>
  <p:slideViewPr>
    <p:cSldViewPr showGuides="1">
      <p:cViewPr varScale="1">
        <p:scale>
          <a:sx n="124" d="100"/>
          <a:sy n="124" d="100"/>
        </p:scale>
        <p:origin x="1240" y="80"/>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12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页眉占位符 107521"/>
          <p:cNvSpPr>
            <a:spLocks noGrp="1"/>
          </p:cNvSpPr>
          <p:nvPr>
            <p:ph type="hdr" sz="quarter"/>
          </p:nvPr>
        </p:nvSpPr>
        <p:spPr>
          <a:xfrm>
            <a:off x="0" y="0"/>
            <a:ext cx="2895600" cy="457200"/>
          </a:xfrm>
          <a:prstGeom prst="rect">
            <a:avLst/>
          </a:prstGeom>
          <a:noFill/>
          <a:ln w="12700">
            <a:noFill/>
          </a:ln>
        </p:spPr>
        <p:txBody>
          <a:bodyPr wrap="none" anchor="ctr"/>
          <a:lstStyle/>
          <a:p>
            <a:pPr lvl="0"/>
            <a:endParaRPr lang="zh-CN" altLang="en-US" sz="1200" dirty="0">
              <a:solidFill>
                <a:schemeClr val="tx2"/>
              </a:solidFill>
            </a:endParaRPr>
          </a:p>
        </p:txBody>
      </p:sp>
      <p:sp>
        <p:nvSpPr>
          <p:cNvPr id="107523" name="日期占位符 107522"/>
          <p:cNvSpPr>
            <a:spLocks noGrp="1"/>
          </p:cNvSpPr>
          <p:nvPr>
            <p:ph type="dt" sz="quarter" idx="1"/>
          </p:nvPr>
        </p:nvSpPr>
        <p:spPr>
          <a:xfrm>
            <a:off x="3810000" y="0"/>
            <a:ext cx="2819400" cy="457200"/>
          </a:xfrm>
          <a:prstGeom prst="rect">
            <a:avLst/>
          </a:prstGeom>
          <a:noFill/>
          <a:ln w="12700">
            <a:noFill/>
          </a:ln>
        </p:spPr>
        <p:txBody>
          <a:bodyPr wrap="none" anchor="ctr"/>
          <a:lstStyle/>
          <a:p>
            <a:pPr lvl="0" algn="r"/>
            <a:endParaRPr lang="zh-CN" altLang="en-US" sz="1200" dirty="0">
              <a:solidFill>
                <a:schemeClr val="tx2"/>
              </a:solidFill>
            </a:endParaRPr>
          </a:p>
        </p:txBody>
      </p:sp>
      <p:sp>
        <p:nvSpPr>
          <p:cNvPr id="107524" name="页脚占位符 107523"/>
          <p:cNvSpPr>
            <a:spLocks noGrp="1"/>
          </p:cNvSpPr>
          <p:nvPr>
            <p:ph type="ftr" sz="quarter" idx="2"/>
          </p:nvPr>
        </p:nvSpPr>
        <p:spPr>
          <a:xfrm>
            <a:off x="0" y="9372600"/>
            <a:ext cx="2895600" cy="457200"/>
          </a:xfrm>
          <a:prstGeom prst="rect">
            <a:avLst/>
          </a:prstGeom>
          <a:noFill/>
          <a:ln w="12700">
            <a:noFill/>
          </a:ln>
        </p:spPr>
        <p:txBody>
          <a:bodyPr wrap="none" anchor="b"/>
          <a:lstStyle/>
          <a:p>
            <a:pPr lvl="0"/>
            <a:endParaRPr lang="zh-CN" altLang="en-US" sz="1200" dirty="0">
              <a:solidFill>
                <a:schemeClr val="tx2"/>
              </a:solidFill>
            </a:endParaRPr>
          </a:p>
        </p:txBody>
      </p:sp>
      <p:sp>
        <p:nvSpPr>
          <p:cNvPr id="107525" name="灯片编号占位符 107524"/>
          <p:cNvSpPr>
            <a:spLocks noGrp="1"/>
          </p:cNvSpPr>
          <p:nvPr>
            <p:ph type="sldNum" sz="quarter" idx="3"/>
          </p:nvPr>
        </p:nvSpPr>
        <p:spPr>
          <a:xfrm>
            <a:off x="3810000" y="9372600"/>
            <a:ext cx="2819400" cy="457200"/>
          </a:xfrm>
          <a:prstGeom prst="rect">
            <a:avLst/>
          </a:prstGeom>
          <a:noFill/>
          <a:ln w="12700">
            <a:noFill/>
          </a:ln>
        </p:spPr>
        <p:txBody>
          <a:bodyPr wrap="none" anchor="b"/>
          <a:lstStyle/>
          <a:p>
            <a:pPr lvl="0" algn="r"/>
            <a:fld id="{9A0DB2DC-4C9A-4742-B13C-FB6460FD3503}" type="slidenum">
              <a:rPr lang="zh-CN" altLang="en-US" sz="1200" dirty="0">
                <a:solidFill>
                  <a:schemeClr val="tx2"/>
                </a:solidFill>
              </a:rPr>
              <a:t>‹#›</a:t>
            </a:fld>
            <a:endParaRPr lang="zh-CN" altLang="en-US" sz="1200" dirty="0">
              <a:solidFill>
                <a:schemeClr val="tx2"/>
              </a:solidFill>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2562" name="页眉占位符 322561"/>
          <p:cNvSpPr>
            <a:spLocks noGrp="1"/>
          </p:cNvSpPr>
          <p:nvPr>
            <p:ph type="hdr" sz="quarter"/>
          </p:nvPr>
        </p:nvSpPr>
        <p:spPr>
          <a:xfrm>
            <a:off x="0" y="0"/>
            <a:ext cx="2887663" cy="492125"/>
          </a:xfrm>
          <a:prstGeom prst="rect">
            <a:avLst/>
          </a:prstGeom>
          <a:noFill/>
          <a:ln w="9525">
            <a:noFill/>
          </a:ln>
        </p:spPr>
        <p:txBody>
          <a:bodyPr/>
          <a:lstStyle/>
          <a:p>
            <a:pPr lvl="0"/>
            <a:endParaRPr lang="zh-CN" altLang="en-US" sz="1200" dirty="0"/>
          </a:p>
        </p:txBody>
      </p:sp>
      <p:sp>
        <p:nvSpPr>
          <p:cNvPr id="322563" name="日期占位符 322562"/>
          <p:cNvSpPr>
            <a:spLocks noGrp="1"/>
          </p:cNvSpPr>
          <p:nvPr>
            <p:ph type="dt" idx="1"/>
          </p:nvPr>
        </p:nvSpPr>
        <p:spPr>
          <a:xfrm>
            <a:off x="3773488" y="0"/>
            <a:ext cx="2887662" cy="492125"/>
          </a:xfrm>
          <a:prstGeom prst="rect">
            <a:avLst/>
          </a:prstGeom>
          <a:noFill/>
          <a:ln w="9525">
            <a:noFill/>
          </a:ln>
        </p:spPr>
        <p:txBody>
          <a:bodyPr/>
          <a:lstStyle/>
          <a:p>
            <a:pPr lvl="0" algn="r"/>
            <a:endParaRPr lang="zh-CN" altLang="en-US" sz="1200" dirty="0"/>
          </a:p>
        </p:txBody>
      </p:sp>
      <p:sp>
        <p:nvSpPr>
          <p:cNvPr id="322564" name="幻灯片图像占位符 322563"/>
          <p:cNvSpPr>
            <a:spLocks noGrp="1" noRot="1" noChangeAspect="1" noTextEdit="1"/>
          </p:cNvSpPr>
          <p:nvPr>
            <p:ph type="sldImg" idx="2"/>
          </p:nvPr>
        </p:nvSpPr>
        <p:spPr>
          <a:xfrm>
            <a:off x="874713" y="738188"/>
            <a:ext cx="4914900" cy="3686175"/>
          </a:xfrm>
          <a:prstGeom prst="rect">
            <a:avLst/>
          </a:prstGeom>
          <a:ln w="9525" cap="flat" cmpd="sng">
            <a:solidFill>
              <a:srgbClr val="000000"/>
            </a:solidFill>
            <a:prstDash val="solid"/>
            <a:miter/>
            <a:headEnd type="none" w="med" len="med"/>
            <a:tailEnd type="none" w="med" len="med"/>
          </a:ln>
        </p:spPr>
      </p:sp>
      <p:sp>
        <p:nvSpPr>
          <p:cNvPr id="322565" name="文本占位符 322564"/>
          <p:cNvSpPr>
            <a:spLocks noGrp="1"/>
          </p:cNvSpPr>
          <p:nvPr>
            <p:ph type="body" sz="quarter" idx="3"/>
          </p:nvPr>
        </p:nvSpPr>
        <p:spPr>
          <a:xfrm>
            <a:off x="666750" y="4670425"/>
            <a:ext cx="5329238" cy="44243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22566" name="页脚占位符 322565"/>
          <p:cNvSpPr>
            <a:spLocks noGrp="1"/>
          </p:cNvSpPr>
          <p:nvPr>
            <p:ph type="ftr" sz="quarter" idx="4"/>
          </p:nvPr>
        </p:nvSpPr>
        <p:spPr>
          <a:xfrm>
            <a:off x="0" y="9339263"/>
            <a:ext cx="2887663" cy="492125"/>
          </a:xfrm>
          <a:prstGeom prst="rect">
            <a:avLst/>
          </a:prstGeom>
          <a:noFill/>
          <a:ln w="9525">
            <a:noFill/>
          </a:ln>
        </p:spPr>
        <p:txBody>
          <a:bodyPr anchor="b"/>
          <a:lstStyle/>
          <a:p>
            <a:pPr lvl="0"/>
            <a:endParaRPr lang="zh-CN" altLang="en-US" sz="1200" dirty="0"/>
          </a:p>
        </p:txBody>
      </p:sp>
      <p:sp>
        <p:nvSpPr>
          <p:cNvPr id="322567" name="灯片编号占位符 322566"/>
          <p:cNvSpPr>
            <a:spLocks noGrp="1"/>
          </p:cNvSpPr>
          <p:nvPr>
            <p:ph type="sldNum" sz="quarter" idx="5"/>
          </p:nvPr>
        </p:nvSpPr>
        <p:spPr>
          <a:xfrm>
            <a:off x="3773488" y="9339263"/>
            <a:ext cx="2887662" cy="492125"/>
          </a:xfrm>
          <a:prstGeom prst="rect">
            <a:avLst/>
          </a:prstGeom>
          <a:noFill/>
          <a:ln w="9525">
            <a:noFill/>
          </a:ln>
        </p:spPr>
        <p:txBody>
          <a:bodyPr anchor="b"/>
          <a:lstStyle/>
          <a:p>
            <a:pPr lvl="0" algn="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7650"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0778" y="71438"/>
            <a:ext cx="2083197" cy="65262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71438"/>
            <a:ext cx="6128825" cy="65262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67618" name="矩形 367617"/>
          <p:cNvSpPr/>
          <p:nvPr/>
        </p:nvSpPr>
        <p:spPr>
          <a:xfrm>
            <a:off x="417513" y="252413"/>
            <a:ext cx="438150" cy="474662"/>
          </a:xfrm>
          <a:prstGeom prst="rect">
            <a:avLst/>
          </a:prstGeom>
          <a:solidFill>
            <a:schemeClr val="accent2"/>
          </a:solidFill>
          <a:ln w="9525">
            <a:noFill/>
          </a:ln>
        </p:spPr>
        <p:txBody>
          <a:bodyPr wrap="none" anchor="ctr"/>
          <a:lstStyle/>
          <a:p>
            <a:pPr lvl="0" algn="ctr"/>
            <a:endParaRPr lang="zh-CN" altLang="en-US" sz="2400" dirty="0">
              <a:latin typeface="Tahoma" panose="020B0604030504040204" pitchFamily="34" charset="0"/>
            </a:endParaRPr>
          </a:p>
        </p:txBody>
      </p:sp>
      <p:sp>
        <p:nvSpPr>
          <p:cNvPr id="367619" name="矩形 367618"/>
          <p:cNvSpPr/>
          <p:nvPr/>
        </p:nvSpPr>
        <p:spPr>
          <a:xfrm>
            <a:off x="800100" y="252413"/>
            <a:ext cx="328613" cy="474662"/>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0" name="矩形 367619"/>
          <p:cNvSpPr/>
          <p:nvPr/>
        </p:nvSpPr>
        <p:spPr>
          <a:xfrm>
            <a:off x="541338" y="674688"/>
            <a:ext cx="422275" cy="474662"/>
          </a:xfrm>
          <a:prstGeom prst="rect">
            <a:avLst/>
          </a:prstGeom>
          <a:solidFill>
            <a:schemeClr val="folHlink"/>
          </a:solidFill>
          <a:ln w="9525">
            <a:noFill/>
          </a:ln>
        </p:spPr>
        <p:txBody>
          <a:bodyPr wrap="none" anchor="ctr"/>
          <a:lstStyle/>
          <a:p>
            <a:pPr lvl="0" algn="ctr"/>
            <a:endParaRPr lang="zh-CN" altLang="en-US" sz="2400" dirty="0">
              <a:latin typeface="Tahoma" panose="020B0604030504040204" pitchFamily="34" charset="0"/>
            </a:endParaRPr>
          </a:p>
        </p:txBody>
      </p:sp>
      <p:sp>
        <p:nvSpPr>
          <p:cNvPr id="367621" name="矩形 367620"/>
          <p:cNvSpPr/>
          <p:nvPr/>
        </p:nvSpPr>
        <p:spPr>
          <a:xfrm>
            <a:off x="911225" y="674688"/>
            <a:ext cx="368300" cy="474662"/>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2" name="矩形 367621"/>
          <p:cNvSpPr/>
          <p:nvPr/>
        </p:nvSpPr>
        <p:spPr>
          <a:xfrm>
            <a:off x="127000" y="601663"/>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3" name="矩形 367622"/>
          <p:cNvSpPr/>
          <p:nvPr/>
        </p:nvSpPr>
        <p:spPr>
          <a:xfrm>
            <a:off x="762000" y="144463"/>
            <a:ext cx="31750" cy="1052512"/>
          </a:xfrm>
          <a:prstGeom prst="rect">
            <a:avLst/>
          </a:prstGeom>
          <a:solidFill>
            <a:schemeClr val="bg2"/>
          </a:solidFill>
          <a:ln w="9525">
            <a:noFill/>
          </a:ln>
        </p:spPr>
        <p:txBody>
          <a:bodyPr wrap="none" anchor="ctr"/>
          <a:lstStyle/>
          <a:p>
            <a:pPr lvl="0" algn="ctr"/>
            <a:endParaRPr lang="zh-CN" altLang="en-US" sz="2400" dirty="0">
              <a:latin typeface="Tahoma" panose="020B0604030504040204" pitchFamily="34" charset="0"/>
            </a:endParaRPr>
          </a:p>
        </p:txBody>
      </p:sp>
      <p:sp>
        <p:nvSpPr>
          <p:cNvPr id="367624" name="矩形 367623"/>
          <p:cNvSpPr/>
          <p:nvPr/>
        </p:nvSpPr>
        <p:spPr>
          <a:xfrm>
            <a:off x="442913" y="935038"/>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5" name="标题 367624"/>
          <p:cNvSpPr>
            <a:spLocks noGrp="1"/>
          </p:cNvSpPr>
          <p:nvPr>
            <p:ph type="title"/>
          </p:nvPr>
        </p:nvSpPr>
        <p:spPr>
          <a:xfrm>
            <a:off x="1150938" y="71438"/>
            <a:ext cx="7793037" cy="836612"/>
          </a:xfrm>
          <a:prstGeom prst="rect">
            <a:avLst/>
          </a:prstGeom>
          <a:noFill/>
          <a:ln w="9525">
            <a:noFill/>
          </a:ln>
        </p:spPr>
        <p:txBody>
          <a:bodyPr anchor="b"/>
          <a:lstStyle/>
          <a:p>
            <a:pPr lvl="0"/>
            <a:r>
              <a:rPr lang="zh-CN" altLang="en-US" dirty="0"/>
              <a:t>单击此处编辑母版标题样式</a:t>
            </a:r>
          </a:p>
        </p:txBody>
      </p:sp>
      <p:sp>
        <p:nvSpPr>
          <p:cNvPr id="367626" name="文本占位符 367625"/>
          <p:cNvSpPr>
            <a:spLocks noGrp="1"/>
          </p:cNvSpPr>
          <p:nvPr>
            <p:ph type="body" idx="1"/>
          </p:nvPr>
        </p:nvSpPr>
        <p:spPr>
          <a:xfrm>
            <a:off x="611188" y="1258888"/>
            <a:ext cx="7993062" cy="53387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67627" name="日期占位符 367626"/>
          <p:cNvSpPr>
            <a:spLocks noGrp="1"/>
          </p:cNvSpPr>
          <p:nvPr>
            <p:ph type="dt" sz="half" idx="2"/>
          </p:nvPr>
        </p:nvSpPr>
        <p:spPr>
          <a:xfrm>
            <a:off x="1162050" y="6243638"/>
            <a:ext cx="1905000" cy="457200"/>
          </a:xfrm>
          <a:prstGeom prst="rect">
            <a:avLst/>
          </a:prstGeom>
          <a:noFill/>
          <a:ln w="9525">
            <a:noFill/>
          </a:ln>
        </p:spPr>
        <p:txBody>
          <a:bodyPr anchor="b"/>
          <a:lstStyle>
            <a:lvl1pPr>
              <a:defRPr sz="1400">
                <a:latin typeface="Tahoma" panose="020B0604030504040204" pitchFamily="34" charset="0"/>
              </a:defRPr>
            </a:lvl1pPr>
          </a:lstStyle>
          <a:p>
            <a:pPr lvl="0"/>
            <a:endParaRPr lang="zh-CN" altLang="en-US" dirty="0">
              <a:latin typeface="Times New Roman" panose="02020603050405020304" pitchFamily="18" charset="0"/>
            </a:endParaRPr>
          </a:p>
        </p:txBody>
      </p:sp>
      <p:sp>
        <p:nvSpPr>
          <p:cNvPr id="367628" name="页脚占位符 367627"/>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a:latin typeface="Tahoma" panose="020B0604030504040204" pitchFamily="34" charset="0"/>
              </a:defRPr>
            </a:lvl1pPr>
          </a:lstStyle>
          <a:p>
            <a:pPr lvl="0"/>
            <a:endParaRPr lang="zh-CN" altLang="en-US" dirty="0"/>
          </a:p>
        </p:txBody>
      </p:sp>
      <p:sp>
        <p:nvSpPr>
          <p:cNvPr id="367629" name="灯片编号占位符 367628"/>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a:latin typeface="Tahoma" panose="020B0604030504040204" pitchFamily="34" charset="0"/>
              </a:defRPr>
            </a:lvl1p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lvl1pPr marL="0" lvl="0" indent="0" algn="l" defTabSz="914400" rtl="0" eaLnBrk="1" fontAlgn="base" latinLnBrk="0" hangingPunct="1">
        <a:lnSpc>
          <a:spcPct val="100000"/>
        </a:lnSpc>
        <a:spcBef>
          <a:spcPct val="0"/>
        </a:spcBef>
        <a:spcAft>
          <a:spcPct val="0"/>
        </a:spcAft>
        <a:buNone/>
        <a:defRPr sz="3600" b="1" i="0" u="none" kern="1200" baseline="0">
          <a:solidFill>
            <a:schemeClr val="tx2"/>
          </a:solidFill>
          <a:effectLst>
            <a:outerShdw blurRad="38100" dist="38100" dir="2700000">
              <a:srgbClr val="C0C0C0"/>
            </a:outerShdw>
          </a:effectLst>
          <a:latin typeface="+mj-lt"/>
          <a:ea typeface="+mj-ea"/>
          <a:cs typeface="+mj-cs"/>
        </a:defRPr>
      </a:lvl1pPr>
    </p:titleStyle>
    <p:body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i="0" u="none" kern="1200" baseline="0">
          <a:solidFill>
            <a:schemeClr val="tx1"/>
          </a:solidFill>
          <a:effectLst>
            <a:outerShdw blurRad="38100" dist="38100" dir="2700000">
              <a:srgbClr val="C0C0C0"/>
            </a:outerShdw>
          </a:effectLst>
          <a:latin typeface="+mn-lt"/>
          <a:ea typeface="+mn-ea"/>
          <a:cs typeface="+mn-cs"/>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mn-lt"/>
          <a:ea typeface="+mn-ea"/>
          <a:cs typeface="+mn-cs"/>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mn-lt"/>
          <a:ea typeface="+mn-ea"/>
          <a:cs typeface="+mn-cs"/>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5pPr>
      <a:lvl6pPr marL="2514600" lvl="5"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6pPr>
      <a:lvl7pPr marL="2971800" lvl="6"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7pPr>
      <a:lvl8pPr marL="3429000" lvl="7"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8pPr>
      <a:lvl9pPr marL="3886200" lvl="8"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8" name="矩形 65126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a:t>
            </a:r>
            <a:r>
              <a:rPr lang="en-US" altLang="zh-CN"/>
              <a:t>E-R</a:t>
            </a:r>
            <a:r>
              <a:rPr lang="zh-CN" altLang="en-US" dirty="0"/>
              <a:t>图的设计方法</a:t>
            </a:r>
          </a:p>
        </p:txBody>
      </p:sp>
      <p:sp>
        <p:nvSpPr>
          <p:cNvPr id="651269" name="矩形 651268"/>
          <p:cNvSpPr/>
          <p:nvPr/>
        </p:nvSpPr>
        <p:spPr>
          <a:xfrm>
            <a:off x="466725" y="1125538"/>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10000"/>
              </a:spcBef>
            </a:pPr>
            <a:r>
              <a:rPr lang="zh-CN" altLang="en-US" dirty="0"/>
              <a:t>         </a:t>
            </a:r>
            <a:r>
              <a:rPr lang="en-US" altLang="zh-CN" dirty="0"/>
              <a:t>Entity-Relationship Diagram</a:t>
            </a:r>
            <a:r>
              <a:rPr lang="zh-CN" altLang="en-US" dirty="0"/>
              <a:t>，简称为</a:t>
            </a:r>
            <a:r>
              <a:rPr lang="en-US" altLang="zh-CN" dirty="0"/>
              <a:t>E-R</a:t>
            </a:r>
            <a:r>
              <a:rPr lang="zh-CN" altLang="en-US" dirty="0"/>
              <a:t>图；也称为</a:t>
            </a:r>
            <a:r>
              <a:rPr lang="en-US" altLang="zh-CN" dirty="0"/>
              <a:t>E-R</a:t>
            </a:r>
            <a:r>
              <a:rPr lang="zh-CN" altLang="en-US" dirty="0"/>
              <a:t>模型（</a:t>
            </a:r>
            <a:r>
              <a:rPr lang="en-US" altLang="zh-CN" dirty="0"/>
              <a:t>E-R Model</a:t>
            </a:r>
            <a:r>
              <a:rPr lang="zh-CN" altLang="en-US" dirty="0"/>
              <a:t>）。</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26066"/>
    </mc:Choice>
    <mc:Fallback xmlns="">
      <p:transition spd="slow" advTm="260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51269">
                                            <p:txEl>
                                              <p:pRg st="0" end="0"/>
                                            </p:txEl>
                                          </p:spTgt>
                                        </p:tgtEl>
                                        <p:attrNameLst>
                                          <p:attrName>style.visibility</p:attrName>
                                        </p:attrNameLst>
                                      </p:cBhvr>
                                      <p:to>
                                        <p:strVal val="visible"/>
                                      </p:to>
                                    </p:set>
                                    <p:animEffect transition="in" filter="wipe(left)">
                                      <p:cBhvr>
                                        <p:cTn id="7" dur="1000"/>
                                        <p:tgtEl>
                                          <p:spTgt spid="65126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9" name="矩形 431108"/>
          <p:cNvSpPr/>
          <p:nvPr/>
        </p:nvSpPr>
        <p:spPr>
          <a:xfrm>
            <a:off x="466725" y="1125538"/>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dirty="0"/>
              <a:t>          </a:t>
            </a:r>
            <a:r>
              <a:rPr lang="en-US" altLang="zh-CN" sz="3000" dirty="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、Ｅ－Ｒ图的基本要素 </a:t>
            </a:r>
          </a:p>
          <a:p>
            <a:pPr lvl="0">
              <a:spcBef>
                <a:spcPct val="10000"/>
              </a:spcBef>
            </a:pPr>
            <a:r>
              <a:rPr lang="zh-CN" altLang="en-US" dirty="0">
                <a:solidFill>
                  <a:srgbClr val="660033"/>
                </a:solidFill>
                <a:latin typeface="黑体" panose="02010609060101010101" pitchFamily="2" charset="-122"/>
                <a:ea typeface="黑体" panose="02010609060101010101" pitchFamily="2" charset="-122"/>
              </a:rPr>
              <a:t>　　</a:t>
            </a:r>
            <a:r>
              <a:rPr lang="zh-CN" altLang="en-US" b="0" dirty="0">
                <a:solidFill>
                  <a:srgbClr val="003366"/>
                </a:solidFill>
                <a:effectLst/>
                <a:latin typeface="黑体" panose="02010609060101010101" pitchFamily="2" charset="-122"/>
                <a:ea typeface="黑体" panose="02010609060101010101" pitchFamily="2" charset="-122"/>
              </a:rPr>
              <a:t>（</a:t>
            </a:r>
            <a:r>
              <a:rPr lang="en-US" altLang="zh-CN" b="0" dirty="0">
                <a:solidFill>
                  <a:srgbClr val="003366"/>
                </a:solidFill>
                <a:effectLst/>
                <a:latin typeface="黑体" panose="02010609060101010101" pitchFamily="2" charset="-122"/>
                <a:ea typeface="黑体" panose="02010609060101010101" pitchFamily="2" charset="-122"/>
              </a:rPr>
              <a:t>1</a:t>
            </a:r>
            <a:r>
              <a:rPr lang="zh-CN" altLang="en-US" b="0" dirty="0">
                <a:solidFill>
                  <a:srgbClr val="003366"/>
                </a:solidFill>
                <a:effectLst/>
                <a:latin typeface="黑体" panose="02010609060101010101" pitchFamily="2" charset="-122"/>
                <a:ea typeface="黑体" panose="02010609060101010101" pitchFamily="2" charset="-122"/>
              </a:rPr>
              <a:t>）实体集</a:t>
            </a:r>
          </a:p>
          <a:p>
            <a:pPr lvl="0">
              <a:spcBef>
                <a:spcPct val="10000"/>
              </a:spcBef>
            </a:pPr>
            <a:r>
              <a:rPr lang="zh-CN" altLang="en-US" b="0" dirty="0">
                <a:solidFill>
                  <a:srgbClr val="003366"/>
                </a:solidFill>
                <a:effectLst/>
                <a:latin typeface="黑体" panose="02010609060101010101" pitchFamily="2" charset="-122"/>
                <a:ea typeface="黑体" panose="02010609060101010101" pitchFamily="2" charset="-122"/>
              </a:rPr>
              <a:t>    （</a:t>
            </a:r>
            <a:r>
              <a:rPr lang="en-US" altLang="zh-CN" b="0" dirty="0">
                <a:solidFill>
                  <a:srgbClr val="003366"/>
                </a:solidFill>
                <a:effectLst/>
                <a:latin typeface="黑体" panose="02010609060101010101" pitchFamily="2" charset="-122"/>
                <a:ea typeface="黑体" panose="02010609060101010101" pitchFamily="2" charset="-122"/>
              </a:rPr>
              <a:t>2</a:t>
            </a:r>
            <a:r>
              <a:rPr lang="zh-CN" altLang="en-US" b="0" dirty="0">
                <a:solidFill>
                  <a:srgbClr val="003366"/>
                </a:solidFill>
                <a:effectLst/>
                <a:latin typeface="黑体" panose="02010609060101010101" pitchFamily="2" charset="-122"/>
                <a:ea typeface="黑体" panose="02010609060101010101" pitchFamily="2" charset="-122"/>
              </a:rPr>
              <a:t>）联系集</a:t>
            </a:r>
          </a:p>
          <a:p>
            <a:pPr lvl="0">
              <a:spcBef>
                <a:spcPct val="10000"/>
              </a:spcBef>
            </a:pPr>
            <a:r>
              <a:rPr lang="zh-CN" altLang="en-US" b="0" dirty="0">
                <a:solidFill>
                  <a:srgbClr val="003366"/>
                </a:solidFill>
                <a:effectLst/>
                <a:latin typeface="黑体" panose="02010609060101010101" pitchFamily="2" charset="-122"/>
                <a:ea typeface="黑体" panose="02010609060101010101" pitchFamily="2" charset="-122"/>
              </a:rPr>
              <a:t>　　（</a:t>
            </a:r>
            <a:r>
              <a:rPr lang="en-US" altLang="zh-CN" b="0" dirty="0">
                <a:solidFill>
                  <a:srgbClr val="003366"/>
                </a:solidFill>
                <a:effectLst/>
                <a:latin typeface="黑体" panose="02010609060101010101" pitchFamily="2" charset="-122"/>
                <a:ea typeface="黑体" panose="02010609060101010101" pitchFamily="2" charset="-122"/>
              </a:rPr>
              <a:t>3</a:t>
            </a:r>
            <a:r>
              <a:rPr lang="zh-CN" altLang="en-US" b="0" dirty="0">
                <a:solidFill>
                  <a:srgbClr val="003366"/>
                </a:solidFill>
                <a:effectLst/>
                <a:latin typeface="黑体" panose="02010609060101010101" pitchFamily="2" charset="-122"/>
                <a:ea typeface="黑体" panose="02010609060101010101" pitchFamily="2" charset="-122"/>
              </a:rPr>
              <a:t>）属性集</a:t>
            </a:r>
          </a:p>
        </p:txBody>
      </p:sp>
      <p:sp>
        <p:nvSpPr>
          <p:cNvPr id="431119" name="矩形 43111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a:t>
            </a:r>
            <a:r>
              <a:rPr lang="en-US" altLang="zh-CN"/>
              <a:t>E-R</a:t>
            </a:r>
            <a:r>
              <a:rPr lang="zh-CN" altLang="en-US" dirty="0"/>
              <a:t>图的设计方法</a:t>
            </a:r>
          </a:p>
        </p:txBody>
      </p:sp>
    </p:spTree>
  </p:cSld>
  <p:clrMapOvr>
    <a:masterClrMapping/>
  </p:clrMapOvr>
  <mc:AlternateContent xmlns:mc="http://schemas.openxmlformats.org/markup-compatibility/2006" xmlns:p14="http://schemas.microsoft.com/office/powerpoint/2010/main">
    <mc:Choice Requires="p14">
      <p:transition spd="slow" p14:dur="2000" advTm="35518"/>
    </mc:Choice>
    <mc:Fallback xmlns="">
      <p:transition spd="slow" advTm="355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31109">
                                            <p:txEl>
                                              <p:pRg st="1" end="1"/>
                                            </p:txEl>
                                          </p:spTgt>
                                        </p:tgtEl>
                                        <p:attrNameLst>
                                          <p:attrName>style.visibility</p:attrName>
                                        </p:attrNameLst>
                                      </p:cBhvr>
                                      <p:to>
                                        <p:strVal val="visible"/>
                                      </p:to>
                                    </p:set>
                                    <p:animEffect transition="in" filter="wipe(up)">
                                      <p:cBhvr>
                                        <p:cTn id="7" dur="500"/>
                                        <p:tgtEl>
                                          <p:spTgt spid="431109">
                                            <p:txEl>
                                              <p:pRg st="1" end="1"/>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31109">
                                            <p:txEl>
                                              <p:pRg st="2" end="2"/>
                                            </p:txEl>
                                          </p:spTgt>
                                        </p:tgtEl>
                                        <p:attrNameLst>
                                          <p:attrName>style.visibility</p:attrName>
                                        </p:attrNameLst>
                                      </p:cBhvr>
                                      <p:to>
                                        <p:strVal val="visible"/>
                                      </p:to>
                                    </p:set>
                                    <p:animEffect transition="in" filter="wipe(up)">
                                      <p:cBhvr>
                                        <p:cTn id="11" dur="500"/>
                                        <p:tgtEl>
                                          <p:spTgt spid="431109">
                                            <p:txEl>
                                              <p:pRg st="2" end="2"/>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31109">
                                            <p:txEl>
                                              <p:pRg st="3" end="3"/>
                                            </p:txEl>
                                          </p:spTgt>
                                        </p:tgtEl>
                                        <p:attrNameLst>
                                          <p:attrName>style.visibility</p:attrName>
                                        </p:attrNameLst>
                                      </p:cBhvr>
                                      <p:to>
                                        <p:strVal val="visible"/>
                                      </p:to>
                                    </p:set>
                                    <p:animEffect transition="in" filter="wipe(up)">
                                      <p:cBhvr>
                                        <p:cTn id="15" dur="500"/>
                                        <p:tgtEl>
                                          <p:spTgt spid="4311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5" name="矩形 604164"/>
          <p:cNvSpPr/>
          <p:nvPr/>
        </p:nvSpPr>
        <p:spPr>
          <a:xfrm>
            <a:off x="466725" y="1196975"/>
            <a:ext cx="8426450" cy="17272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a:t>
            </a:r>
            <a:r>
              <a:rPr lang="en-US" altLang="zh-CN" sz="3000">
                <a:solidFill>
                  <a:srgbClr val="660033"/>
                </a:solidFill>
                <a:ea typeface="华文新魏" panose="02010800040101010101" pitchFamily="2" charset="-122"/>
              </a:rPr>
              <a:t>E-R</a:t>
            </a:r>
            <a:r>
              <a:rPr lang="zh-CN" altLang="en-US" sz="3000" dirty="0">
                <a:solidFill>
                  <a:srgbClr val="660033"/>
                </a:solidFill>
                <a:ea typeface="华文新魏" panose="02010800040101010101" pitchFamily="2" charset="-122"/>
              </a:rPr>
              <a:t>图的描述约定</a:t>
            </a:r>
            <a:endParaRPr lang="en-US" altLang="zh-CN"/>
          </a:p>
        </p:txBody>
      </p:sp>
      <p:sp>
        <p:nvSpPr>
          <p:cNvPr id="604174" name="文本框 604173"/>
          <p:cNvSpPr txBox="1"/>
          <p:nvPr/>
        </p:nvSpPr>
        <p:spPr>
          <a:xfrm>
            <a:off x="1239838" y="2349500"/>
            <a:ext cx="1512887" cy="519113"/>
          </a:xfrm>
          <a:prstGeom prst="rect">
            <a:avLst/>
          </a:prstGeom>
          <a:noFill/>
          <a:ln w="12700">
            <a:noFill/>
          </a:ln>
          <a:effectLst>
            <a:outerShdw dist="17961" dir="2699999" algn="ctr" rotWithShape="0">
              <a:schemeClr val="tx1"/>
            </a:outerShdw>
          </a:effectLst>
        </p:spPr>
        <p:txBody>
          <a:bodyPr wrap="none" anchor="t">
            <a:spAutoFit/>
          </a:bodyPr>
          <a:lstStyle/>
          <a:p>
            <a:r>
              <a:rPr lang="zh-CN" altLang="en-US" sz="2800" b="1" dirty="0">
                <a:latin typeface="Arial" panose="020B0604020202020204" pitchFamily="34" charset="0"/>
                <a:ea typeface="楷体_GB2312" pitchFamily="49" charset="-122"/>
              </a:rPr>
              <a:t>实体集</a:t>
            </a:r>
            <a:r>
              <a:rPr lang="en-US" altLang="zh-CN" sz="2800" b="1">
                <a:latin typeface="Arial" panose="020B0604020202020204" pitchFamily="34" charset="0"/>
                <a:ea typeface="楷体_GB2312" pitchFamily="49" charset="-122"/>
              </a:rPr>
              <a:t>A</a:t>
            </a:r>
          </a:p>
        </p:txBody>
      </p:sp>
      <p:grpSp>
        <p:nvGrpSpPr>
          <p:cNvPr id="604175" name="组合 604174"/>
          <p:cNvGrpSpPr/>
          <p:nvPr/>
        </p:nvGrpSpPr>
        <p:grpSpPr>
          <a:xfrm>
            <a:off x="3203575" y="2352675"/>
            <a:ext cx="3168650" cy="547688"/>
            <a:chOff x="2018" y="1497"/>
            <a:chExt cx="1996" cy="345"/>
          </a:xfrm>
        </p:grpSpPr>
        <p:sp>
          <p:nvSpPr>
            <p:cNvPr id="604176" name="右箭头 604175"/>
            <p:cNvSpPr/>
            <p:nvPr/>
          </p:nvSpPr>
          <p:spPr>
            <a:xfrm>
              <a:off x="2018" y="1606"/>
              <a:ext cx="998" cy="136"/>
            </a:xfrm>
            <a:prstGeom prst="rightArrow">
              <a:avLst>
                <a:gd name="adj1" fmla="val 50000"/>
                <a:gd name="adj2" fmla="val 183455"/>
              </a:avLst>
            </a:prstGeom>
            <a:solidFill>
              <a:schemeClr val="accent1"/>
            </a:solid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a:lstStyle/>
            <a:p>
              <a:endParaRPr lang="zh-CN" altLang="en-US"/>
            </a:p>
          </p:txBody>
        </p:sp>
        <p:sp>
          <p:nvSpPr>
            <p:cNvPr id="604177" name="文本框 604176"/>
            <p:cNvSpPr txBox="1"/>
            <p:nvPr/>
          </p:nvSpPr>
          <p:spPr>
            <a:xfrm>
              <a:off x="3289" y="1497"/>
              <a:ext cx="725" cy="345"/>
            </a:xfrm>
            <a:prstGeom prst="rect">
              <a:avLst/>
            </a:prstGeom>
            <a:noFill/>
            <a:ln w="28575" cap="sq" cmpd="sng">
              <a:solidFill>
                <a:schemeClr val="tx1"/>
              </a:solidFill>
              <a:prstDash val="solid"/>
              <a:miter/>
              <a:headEnd type="none" w="sm" len="sm"/>
              <a:tailEnd type="none" w="sm" len="sm"/>
            </a:ln>
            <a:effectLst>
              <a:outerShdw dist="17961" dir="2699999" algn="ctr" rotWithShape="0">
                <a:schemeClr val="tx1"/>
              </a:outerShdw>
            </a:effectLst>
          </p:spPr>
          <p:txBody>
            <a:bodyPr>
              <a:spAutoFit/>
            </a:bodyPr>
            <a:lstStyle/>
            <a:p>
              <a:pPr algn="ctr"/>
              <a:r>
                <a:rPr lang="en-US" altLang="zh-CN" sz="2800" b="1">
                  <a:effectLst>
                    <a:outerShdw blurRad="38100" dist="38100" dir="2700000">
                      <a:srgbClr val="C0C0C0"/>
                    </a:outerShdw>
                  </a:effectLst>
                  <a:latin typeface="Arial" panose="020B0604020202020204" pitchFamily="34" charset="0"/>
                  <a:ea typeface="楷体_GB2312" pitchFamily="49" charset="-122"/>
                </a:rPr>
                <a:t>A</a:t>
              </a:r>
            </a:p>
          </p:txBody>
        </p:sp>
      </p:grpSp>
      <p:sp>
        <p:nvSpPr>
          <p:cNvPr id="604178" name="文本框 604177"/>
          <p:cNvSpPr txBox="1"/>
          <p:nvPr/>
        </p:nvSpPr>
        <p:spPr>
          <a:xfrm>
            <a:off x="1258888" y="3517900"/>
            <a:ext cx="1512887" cy="519113"/>
          </a:xfrm>
          <a:prstGeom prst="rect">
            <a:avLst/>
          </a:prstGeom>
          <a:noFill/>
          <a:ln w="12700">
            <a:noFill/>
          </a:ln>
          <a:effectLst>
            <a:outerShdw dist="17961" dir="2699999" algn="ctr" rotWithShape="0">
              <a:schemeClr val="tx1"/>
            </a:outerShdw>
          </a:effectLst>
        </p:spPr>
        <p:txBody>
          <a:bodyPr wrap="none" anchor="t">
            <a:spAutoFit/>
          </a:bodyPr>
          <a:lstStyle/>
          <a:p>
            <a:r>
              <a:rPr lang="zh-CN" altLang="zh-CN" sz="2800" b="1" dirty="0">
                <a:latin typeface="Arial" panose="020B0604020202020204" pitchFamily="34" charset="0"/>
                <a:ea typeface="楷体_GB2312" pitchFamily="49" charset="-122"/>
              </a:rPr>
              <a:t>联系</a:t>
            </a:r>
            <a:r>
              <a:rPr lang="zh-CN" altLang="en-US" sz="2800" b="1" dirty="0">
                <a:latin typeface="Arial" panose="020B0604020202020204" pitchFamily="34" charset="0"/>
                <a:ea typeface="楷体_GB2312" pitchFamily="49" charset="-122"/>
              </a:rPr>
              <a:t>集</a:t>
            </a:r>
            <a:r>
              <a:rPr lang="en-US" altLang="zh-CN" sz="2800" b="1">
                <a:latin typeface="Arial" panose="020B0604020202020204" pitchFamily="34" charset="0"/>
                <a:ea typeface="楷体_GB2312" pitchFamily="49" charset="-122"/>
              </a:rPr>
              <a:t>R</a:t>
            </a:r>
          </a:p>
        </p:txBody>
      </p:sp>
      <p:grpSp>
        <p:nvGrpSpPr>
          <p:cNvPr id="604179" name="组合 604178"/>
          <p:cNvGrpSpPr/>
          <p:nvPr/>
        </p:nvGrpSpPr>
        <p:grpSpPr>
          <a:xfrm>
            <a:off x="3203575" y="3460750"/>
            <a:ext cx="3240088" cy="792163"/>
            <a:chOff x="2018" y="2195"/>
            <a:chExt cx="2041" cy="499"/>
          </a:xfrm>
        </p:grpSpPr>
        <p:sp>
          <p:nvSpPr>
            <p:cNvPr id="604180" name="右箭头 604179"/>
            <p:cNvSpPr/>
            <p:nvPr/>
          </p:nvSpPr>
          <p:spPr>
            <a:xfrm>
              <a:off x="2018" y="2377"/>
              <a:ext cx="998" cy="136"/>
            </a:xfrm>
            <a:prstGeom prst="rightArrow">
              <a:avLst>
                <a:gd name="adj1" fmla="val 50000"/>
                <a:gd name="adj2" fmla="val 183455"/>
              </a:avLst>
            </a:prstGeom>
            <a:solidFill>
              <a:schemeClr val="accent1"/>
            </a:solid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a:lstStyle/>
            <a:p>
              <a:endParaRPr lang="zh-CN" altLang="en-US"/>
            </a:p>
          </p:txBody>
        </p:sp>
        <p:sp>
          <p:nvSpPr>
            <p:cNvPr id="604181" name="流程图: 决策 604180"/>
            <p:cNvSpPr/>
            <p:nvPr/>
          </p:nvSpPr>
          <p:spPr>
            <a:xfrm>
              <a:off x="3198" y="2195"/>
              <a:ext cx="861" cy="499"/>
            </a:xfrm>
            <a:prstGeom prst="flowChartDecision">
              <a:avLst/>
            </a:prstGeom>
            <a:noFill/>
            <a:ln w="28575" cap="sq" cmpd="sng">
              <a:solidFill>
                <a:schemeClr val="tx1"/>
              </a:solidFill>
              <a:prstDash val="solid"/>
              <a:miter/>
              <a:headEnd type="none" w="sm" len="sm"/>
              <a:tailEnd type="none" w="sm" len="sm"/>
            </a:ln>
            <a:effectLst>
              <a:outerShdw dist="17961" dir="2699999" algn="ctr" rotWithShape="0">
                <a:schemeClr val="tx1"/>
              </a:outerShdw>
            </a:effectLst>
          </p:spPr>
          <p:txBody>
            <a:bodyPr wrap="none" anchor="ctr"/>
            <a:lstStyle/>
            <a:p>
              <a:pPr algn="ctr"/>
              <a:r>
                <a:rPr lang="en-US" altLang="zh-CN" sz="2800" b="1">
                  <a:effectLst>
                    <a:outerShdw blurRad="38100" dist="38100" dir="2700000">
                      <a:srgbClr val="C0C0C0"/>
                    </a:outerShdw>
                  </a:effectLst>
                  <a:latin typeface="Arial" panose="020B0604020202020204" pitchFamily="34" charset="0"/>
                  <a:ea typeface="楷体_GB2312" pitchFamily="49" charset="-122"/>
                </a:rPr>
                <a:t>R</a:t>
              </a:r>
            </a:p>
          </p:txBody>
        </p:sp>
      </p:grpSp>
      <p:sp>
        <p:nvSpPr>
          <p:cNvPr id="604182" name="文本框 604181"/>
          <p:cNvSpPr txBox="1"/>
          <p:nvPr/>
        </p:nvSpPr>
        <p:spPr>
          <a:xfrm>
            <a:off x="1258888" y="4886325"/>
            <a:ext cx="1135062" cy="519113"/>
          </a:xfrm>
          <a:prstGeom prst="rect">
            <a:avLst/>
          </a:prstGeom>
          <a:noFill/>
          <a:ln w="12700">
            <a:noFill/>
          </a:ln>
          <a:effectLst>
            <a:outerShdw dist="17961" dir="2699999" algn="ctr" rotWithShape="0">
              <a:schemeClr val="tx1"/>
            </a:outerShdw>
          </a:effectLst>
        </p:spPr>
        <p:txBody>
          <a:bodyPr wrap="none" anchor="t">
            <a:spAutoFit/>
          </a:bodyPr>
          <a:lstStyle/>
          <a:p>
            <a:r>
              <a:rPr lang="zh-CN" altLang="zh-CN" sz="2800" b="1" dirty="0">
                <a:latin typeface="Arial" panose="020B0604020202020204" pitchFamily="34" charset="0"/>
                <a:ea typeface="楷体_GB2312" pitchFamily="49" charset="-122"/>
              </a:rPr>
              <a:t>属性</a:t>
            </a:r>
            <a:r>
              <a:rPr lang="en-US" altLang="zh-CN" sz="2800" b="1">
                <a:latin typeface="Arial" panose="020B0604020202020204" pitchFamily="34" charset="0"/>
                <a:ea typeface="楷体_GB2312" pitchFamily="49" charset="-122"/>
              </a:rPr>
              <a:t>X</a:t>
            </a:r>
          </a:p>
        </p:txBody>
      </p:sp>
      <p:grpSp>
        <p:nvGrpSpPr>
          <p:cNvPr id="604183" name="组合 604182"/>
          <p:cNvGrpSpPr/>
          <p:nvPr/>
        </p:nvGrpSpPr>
        <p:grpSpPr>
          <a:xfrm>
            <a:off x="3203575" y="4843463"/>
            <a:ext cx="3313113" cy="649287"/>
            <a:chOff x="2018" y="3066"/>
            <a:chExt cx="2087" cy="409"/>
          </a:xfrm>
        </p:grpSpPr>
        <p:sp>
          <p:nvSpPr>
            <p:cNvPr id="604184" name="右箭头 604183"/>
            <p:cNvSpPr/>
            <p:nvPr/>
          </p:nvSpPr>
          <p:spPr>
            <a:xfrm>
              <a:off x="2018" y="3194"/>
              <a:ext cx="998" cy="136"/>
            </a:xfrm>
            <a:prstGeom prst="rightArrow">
              <a:avLst>
                <a:gd name="adj1" fmla="val 50000"/>
                <a:gd name="adj2" fmla="val 183455"/>
              </a:avLst>
            </a:prstGeom>
            <a:solidFill>
              <a:schemeClr val="accent1"/>
            </a:solid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a:lstStyle/>
            <a:p>
              <a:endParaRPr lang="zh-CN" altLang="en-US"/>
            </a:p>
          </p:txBody>
        </p:sp>
        <p:sp>
          <p:nvSpPr>
            <p:cNvPr id="604185" name="椭圆 604184"/>
            <p:cNvSpPr/>
            <p:nvPr/>
          </p:nvSpPr>
          <p:spPr>
            <a:xfrm>
              <a:off x="3243" y="3066"/>
              <a:ext cx="862" cy="409"/>
            </a:xfrm>
            <a:prstGeom prst="ellipse">
              <a:avLst/>
            </a:prstGeom>
            <a:noFill/>
            <a:ln w="28575" cap="sq" cmpd="sng">
              <a:solidFill>
                <a:schemeClr val="tx1"/>
              </a:solidFill>
              <a:prstDash val="solid"/>
              <a:headEnd type="none" w="sm" len="sm"/>
              <a:tailEnd type="none" w="sm" len="sm"/>
            </a:ln>
            <a:effectLst>
              <a:outerShdw dist="17961" dir="2699999" algn="ctr" rotWithShape="0">
                <a:schemeClr val="tx1"/>
              </a:outerShdw>
            </a:effectLst>
          </p:spPr>
          <p:txBody>
            <a:bodyPr wrap="none" anchor="ctr"/>
            <a:lstStyle/>
            <a:p>
              <a:pPr algn="ctr"/>
              <a:r>
                <a:rPr lang="en-US" altLang="zh-CN" sz="2800" b="1">
                  <a:effectLst>
                    <a:outerShdw blurRad="38100" dist="38100" dir="2700000">
                      <a:srgbClr val="C0C0C0"/>
                    </a:outerShdw>
                  </a:effectLst>
                  <a:latin typeface="Arial" panose="020B0604020202020204" pitchFamily="34" charset="0"/>
                  <a:ea typeface="楷体_GB2312" pitchFamily="49" charset="-122"/>
                </a:rPr>
                <a:t>X</a:t>
              </a:r>
            </a:p>
          </p:txBody>
        </p:sp>
      </p:grpSp>
      <p:grpSp>
        <p:nvGrpSpPr>
          <p:cNvPr id="604186" name="组合 604185"/>
          <p:cNvGrpSpPr/>
          <p:nvPr/>
        </p:nvGrpSpPr>
        <p:grpSpPr>
          <a:xfrm>
            <a:off x="5753100" y="2898775"/>
            <a:ext cx="2619375" cy="1211263"/>
            <a:chOff x="3624" y="1841"/>
            <a:chExt cx="1650" cy="763"/>
          </a:xfrm>
        </p:grpSpPr>
        <p:sp>
          <p:nvSpPr>
            <p:cNvPr id="604187" name="文本框 604186"/>
            <p:cNvSpPr txBox="1"/>
            <p:nvPr/>
          </p:nvSpPr>
          <p:spPr>
            <a:xfrm>
              <a:off x="4549" y="2259"/>
              <a:ext cx="725" cy="345"/>
            </a:xfrm>
            <a:prstGeom prst="rect">
              <a:avLst/>
            </a:prstGeom>
            <a:noFill/>
            <a:ln w="28575" cap="sq" cmpd="sng">
              <a:solidFill>
                <a:schemeClr val="tx1"/>
              </a:solidFill>
              <a:prstDash val="solid"/>
              <a:miter/>
              <a:headEnd type="none" w="sm" len="sm"/>
              <a:tailEnd type="none" w="sm" len="sm"/>
            </a:ln>
            <a:effectLst>
              <a:outerShdw dist="17961" dir="2699999" algn="ctr" rotWithShape="0">
                <a:schemeClr val="tx1"/>
              </a:outerShdw>
            </a:effectLst>
          </p:spPr>
          <p:txBody>
            <a:bodyPr>
              <a:spAutoFit/>
            </a:bodyPr>
            <a:lstStyle/>
            <a:p>
              <a:pPr algn="ctr"/>
              <a:r>
                <a:rPr lang="en-US" altLang="zh-CN" sz="2800" b="1">
                  <a:effectLst>
                    <a:outerShdw blurRad="38100" dist="38100" dir="2700000">
                      <a:srgbClr val="C0C0C0"/>
                    </a:outerShdw>
                  </a:effectLst>
                  <a:latin typeface="Arial" panose="020B0604020202020204" pitchFamily="34" charset="0"/>
                  <a:ea typeface="楷体_GB2312" pitchFamily="49" charset="-122"/>
                </a:rPr>
                <a:t>B</a:t>
              </a:r>
            </a:p>
          </p:txBody>
        </p:sp>
        <p:sp>
          <p:nvSpPr>
            <p:cNvPr id="604188" name="直接连接符 604187"/>
            <p:cNvSpPr/>
            <p:nvPr/>
          </p:nvSpPr>
          <p:spPr>
            <a:xfrm>
              <a:off x="3624" y="1841"/>
              <a:ext cx="0" cy="340"/>
            </a:xfrm>
            <a:prstGeom prst="line">
              <a:avLst/>
            </a:prstGeom>
            <a:ln w="28575" cap="sq" cmpd="sng">
              <a:solidFill>
                <a:schemeClr val="tx1"/>
              </a:solidFill>
              <a:prstDash val="solid"/>
              <a:headEnd type="none" w="sm" len="sm"/>
              <a:tailEnd type="none" w="sm" len="sm"/>
            </a:ln>
            <a:effectLst>
              <a:outerShdw dist="17961" dir="2699999" algn="ctr" rotWithShape="0">
                <a:schemeClr val="tx1"/>
              </a:outerShdw>
            </a:effectLst>
          </p:spPr>
        </p:sp>
        <p:sp>
          <p:nvSpPr>
            <p:cNvPr id="604189" name="直接连接符 604188"/>
            <p:cNvSpPr/>
            <p:nvPr/>
          </p:nvSpPr>
          <p:spPr>
            <a:xfrm>
              <a:off x="4077" y="2449"/>
              <a:ext cx="454" cy="0"/>
            </a:xfrm>
            <a:prstGeom prst="line">
              <a:avLst/>
            </a:prstGeom>
            <a:ln w="28575" cap="sq" cmpd="sng">
              <a:solidFill>
                <a:schemeClr val="tx1"/>
              </a:solidFill>
              <a:prstDash val="solid"/>
              <a:headEnd type="none" w="sm" len="sm"/>
              <a:tailEnd type="none" w="sm" len="sm"/>
            </a:ln>
            <a:effectLst>
              <a:outerShdw dist="17961" dir="2699999" algn="ctr" rotWithShape="0">
                <a:schemeClr val="tx1"/>
              </a:outerShdw>
            </a:effectLst>
          </p:spPr>
        </p:sp>
      </p:grpSp>
      <p:grpSp>
        <p:nvGrpSpPr>
          <p:cNvPr id="604190" name="组合 604189"/>
          <p:cNvGrpSpPr/>
          <p:nvPr/>
        </p:nvGrpSpPr>
        <p:grpSpPr>
          <a:xfrm>
            <a:off x="5918200" y="2941638"/>
            <a:ext cx="1089025" cy="879475"/>
            <a:chOff x="3728" y="1868"/>
            <a:chExt cx="686" cy="554"/>
          </a:xfrm>
        </p:grpSpPr>
        <p:sp>
          <p:nvSpPr>
            <p:cNvPr id="604191" name="文本框 604190"/>
            <p:cNvSpPr txBox="1"/>
            <p:nvPr/>
          </p:nvSpPr>
          <p:spPr>
            <a:xfrm>
              <a:off x="3728" y="1868"/>
              <a:ext cx="241" cy="327"/>
            </a:xfrm>
            <a:prstGeom prst="rect">
              <a:avLst/>
            </a:prstGeom>
            <a:noFill/>
            <a:ln w="12700">
              <a:noFill/>
            </a:ln>
            <a:effectLst>
              <a:outerShdw dist="17961" dir="2699999" algn="ctr" rotWithShape="0">
                <a:schemeClr val="tx1"/>
              </a:outerShdw>
            </a:effectLst>
          </p:spPr>
          <p:txBody>
            <a:bodyPr wrap="none" anchor="t">
              <a:spAutoFit/>
            </a:bodyPr>
            <a:lstStyle/>
            <a:p>
              <a:r>
                <a:rPr lang="en-US" altLang="zh-CN" sz="2800" b="1">
                  <a:effectLst>
                    <a:outerShdw blurRad="38100" dist="38100" dir="2700000">
                      <a:srgbClr val="C0C0C0"/>
                    </a:outerShdw>
                  </a:effectLst>
                  <a:latin typeface="Arial" panose="020B0604020202020204" pitchFamily="34" charset="0"/>
                  <a:ea typeface="楷体_GB2312" pitchFamily="49" charset="-122"/>
                </a:rPr>
                <a:t>1</a:t>
              </a:r>
            </a:p>
          </p:txBody>
        </p:sp>
        <p:sp>
          <p:nvSpPr>
            <p:cNvPr id="604192" name="文本框 604191"/>
            <p:cNvSpPr txBox="1"/>
            <p:nvPr/>
          </p:nvSpPr>
          <p:spPr>
            <a:xfrm>
              <a:off x="4136" y="2095"/>
              <a:ext cx="278" cy="327"/>
            </a:xfrm>
            <a:prstGeom prst="rect">
              <a:avLst/>
            </a:prstGeom>
            <a:noFill/>
            <a:ln w="12700">
              <a:noFill/>
            </a:ln>
            <a:effectLst>
              <a:outerShdw dist="17961" dir="2699999" algn="ctr" rotWithShape="0">
                <a:schemeClr val="tx1"/>
              </a:outerShdw>
            </a:effectLst>
          </p:spPr>
          <p:txBody>
            <a:bodyPr wrap="none" anchor="t">
              <a:spAutoFit/>
            </a:bodyPr>
            <a:lstStyle/>
            <a:p>
              <a:r>
                <a:rPr lang="en-US" altLang="zh-CN" sz="2800" b="1">
                  <a:effectLst>
                    <a:outerShdw blurRad="38100" dist="38100" dir="2700000">
                      <a:srgbClr val="C0C0C0"/>
                    </a:outerShdw>
                  </a:effectLst>
                  <a:latin typeface="Arial" panose="020B0604020202020204" pitchFamily="34" charset="0"/>
                  <a:ea typeface="楷体_GB2312" pitchFamily="49" charset="-122"/>
                </a:rPr>
                <a:t>N</a:t>
              </a:r>
            </a:p>
          </p:txBody>
        </p:sp>
      </p:grpSp>
      <p:sp>
        <p:nvSpPr>
          <p:cNvPr id="604193" name="直接连接符 604192"/>
          <p:cNvSpPr/>
          <p:nvPr/>
        </p:nvSpPr>
        <p:spPr>
          <a:xfrm flipH="1">
            <a:off x="6011863" y="4110038"/>
            <a:ext cx="1368425" cy="719137"/>
          </a:xfrm>
          <a:prstGeom prst="line">
            <a:avLst/>
          </a:prstGeom>
          <a:ln w="28575" cap="sq" cmpd="sng">
            <a:solidFill>
              <a:schemeClr val="tx1"/>
            </a:solidFill>
            <a:prstDash val="solid"/>
            <a:headEnd type="none" w="sm" len="sm"/>
            <a:tailEnd type="none" w="sm" len="sm"/>
          </a:ln>
          <a:effectLst>
            <a:outerShdw dist="17961" dir="2699999" algn="ctr" rotWithShape="0">
              <a:schemeClr val="tx1"/>
            </a:outerShdw>
          </a:effectLst>
        </p:spPr>
      </p:sp>
      <p:grpSp>
        <p:nvGrpSpPr>
          <p:cNvPr id="604194" name="组合 604193"/>
          <p:cNvGrpSpPr/>
          <p:nvPr/>
        </p:nvGrpSpPr>
        <p:grpSpPr>
          <a:xfrm>
            <a:off x="6804025" y="4110038"/>
            <a:ext cx="1368425" cy="1368425"/>
            <a:chOff x="4286" y="2604"/>
            <a:chExt cx="862" cy="862"/>
          </a:xfrm>
        </p:grpSpPr>
        <p:sp>
          <p:nvSpPr>
            <p:cNvPr id="604195" name="椭圆 604194"/>
            <p:cNvSpPr/>
            <p:nvPr/>
          </p:nvSpPr>
          <p:spPr>
            <a:xfrm>
              <a:off x="4286" y="3057"/>
              <a:ext cx="862" cy="409"/>
            </a:xfrm>
            <a:prstGeom prst="ellipse">
              <a:avLst/>
            </a:prstGeom>
            <a:noFill/>
            <a:ln w="28575" cap="sq" cmpd="sng">
              <a:solidFill>
                <a:schemeClr val="tx1"/>
              </a:solidFill>
              <a:prstDash val="solid"/>
              <a:headEnd type="none" w="sm" len="sm"/>
              <a:tailEnd type="none" w="sm" len="sm"/>
            </a:ln>
            <a:effectLst>
              <a:outerShdw dist="17961" dir="2699999" algn="ctr" rotWithShape="0">
                <a:schemeClr val="tx1"/>
              </a:outerShdw>
            </a:effectLst>
          </p:spPr>
          <p:txBody>
            <a:bodyPr wrap="none" anchor="ctr"/>
            <a:lstStyle/>
            <a:p>
              <a:pPr algn="ctr"/>
              <a:r>
                <a:rPr lang="en-US" altLang="zh-CN" sz="2800" b="1" u="sng">
                  <a:effectLst>
                    <a:outerShdw blurRad="38100" dist="38100" dir="2700000">
                      <a:srgbClr val="C0C0C0"/>
                    </a:outerShdw>
                  </a:effectLst>
                  <a:latin typeface="Arial" panose="020B0604020202020204" pitchFamily="34" charset="0"/>
                  <a:ea typeface="楷体_GB2312" pitchFamily="49" charset="-122"/>
                </a:rPr>
                <a:t>Y</a:t>
              </a:r>
            </a:p>
          </p:txBody>
        </p:sp>
        <p:sp>
          <p:nvSpPr>
            <p:cNvPr id="604196" name="直接连接符 604195"/>
            <p:cNvSpPr/>
            <p:nvPr/>
          </p:nvSpPr>
          <p:spPr>
            <a:xfrm flipH="1">
              <a:off x="4785" y="2604"/>
              <a:ext cx="0" cy="453"/>
            </a:xfrm>
            <a:prstGeom prst="line">
              <a:avLst/>
            </a:prstGeom>
            <a:ln w="28575" cap="sq" cmpd="sng">
              <a:solidFill>
                <a:schemeClr val="tx1"/>
              </a:solidFill>
              <a:prstDash val="solid"/>
              <a:headEnd type="none" w="sm" len="sm"/>
              <a:tailEnd type="none" w="sm" len="sm"/>
            </a:ln>
            <a:effectLst>
              <a:outerShdw dist="17961" dir="2699999" algn="ctr" rotWithShape="0">
                <a:schemeClr val="tx1"/>
              </a:outerShdw>
            </a:effectLst>
          </p:spPr>
        </p:sp>
      </p:grpSp>
      <p:sp>
        <p:nvSpPr>
          <p:cNvPr id="604197" name="矩形 604196"/>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a:t>
            </a:r>
            <a:r>
              <a:rPr lang="en-US" altLang="zh-CN"/>
              <a:t>E-R</a:t>
            </a:r>
            <a:r>
              <a:rPr lang="zh-CN" altLang="en-US" dirty="0"/>
              <a:t>图的设计方法</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5462"/>
    </mc:Choice>
    <mc:Fallback xmlns="">
      <p:transition spd="slow" advTm="1054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174"/>
                                        </p:tgtEl>
                                        <p:attrNameLst>
                                          <p:attrName>style.visibility</p:attrName>
                                        </p:attrNameLst>
                                      </p:cBhvr>
                                      <p:to>
                                        <p:strVal val="visible"/>
                                      </p:to>
                                    </p:set>
                                    <p:animEffect transition="in" filter="wipe(left)">
                                      <p:cBhvr>
                                        <p:cTn id="7" dur="1000"/>
                                        <p:tgtEl>
                                          <p:spTgt spid="604174"/>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04175"/>
                                        </p:tgtEl>
                                        <p:attrNameLst>
                                          <p:attrName>style.visibility</p:attrName>
                                        </p:attrNameLst>
                                      </p:cBhvr>
                                      <p:to>
                                        <p:strVal val="visible"/>
                                      </p:to>
                                    </p:set>
                                    <p:animEffect transition="in" filter="wipe(left)">
                                      <p:cBhvr>
                                        <p:cTn id="11" dur="1000"/>
                                        <p:tgtEl>
                                          <p:spTgt spid="60417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04178"/>
                                        </p:tgtEl>
                                        <p:attrNameLst>
                                          <p:attrName>style.visibility</p:attrName>
                                        </p:attrNameLst>
                                      </p:cBhvr>
                                      <p:to>
                                        <p:strVal val="visible"/>
                                      </p:to>
                                    </p:set>
                                    <p:animEffect transition="in" filter="wipe(left)">
                                      <p:cBhvr>
                                        <p:cTn id="16" dur="1000"/>
                                        <p:tgtEl>
                                          <p:spTgt spid="604178"/>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604179"/>
                                        </p:tgtEl>
                                        <p:attrNameLst>
                                          <p:attrName>style.visibility</p:attrName>
                                        </p:attrNameLst>
                                      </p:cBhvr>
                                      <p:to>
                                        <p:strVal val="visible"/>
                                      </p:to>
                                    </p:set>
                                    <p:animEffect transition="in" filter="wipe(left)">
                                      <p:cBhvr>
                                        <p:cTn id="20" dur="1000"/>
                                        <p:tgtEl>
                                          <p:spTgt spid="604179"/>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604186"/>
                                        </p:tgtEl>
                                        <p:attrNameLst>
                                          <p:attrName>style.visibility</p:attrName>
                                        </p:attrNameLst>
                                      </p:cBhvr>
                                      <p:to>
                                        <p:strVal val="visible"/>
                                      </p:to>
                                    </p:set>
                                    <p:animEffect transition="in" filter="wipe(left)">
                                      <p:cBhvr>
                                        <p:cTn id="24" dur="2000"/>
                                        <p:tgtEl>
                                          <p:spTgt spid="604186"/>
                                        </p:tgtEl>
                                      </p:cBhvr>
                                    </p:animEffect>
                                  </p:childTnLst>
                                </p:cTn>
                              </p:par>
                              <p:par>
                                <p:cTn id="25" presetID="22" presetClass="entr" presetSubtype="8" fill="hold" nodeType="withEffect">
                                  <p:stCondLst>
                                    <p:cond delay="0"/>
                                  </p:stCondLst>
                                  <p:childTnLst>
                                    <p:set>
                                      <p:cBhvr>
                                        <p:cTn id="26" dur="1" fill="hold">
                                          <p:stCondLst>
                                            <p:cond delay="0"/>
                                          </p:stCondLst>
                                        </p:cTn>
                                        <p:tgtEl>
                                          <p:spTgt spid="604190"/>
                                        </p:tgtEl>
                                        <p:attrNameLst>
                                          <p:attrName>style.visibility</p:attrName>
                                        </p:attrNameLst>
                                      </p:cBhvr>
                                      <p:to>
                                        <p:strVal val="visible"/>
                                      </p:to>
                                    </p:set>
                                    <p:animEffect transition="in" filter="wipe(left)">
                                      <p:cBhvr>
                                        <p:cTn id="27" dur="1000"/>
                                        <p:tgtEl>
                                          <p:spTgt spid="60419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04182"/>
                                        </p:tgtEl>
                                        <p:attrNameLst>
                                          <p:attrName>style.visibility</p:attrName>
                                        </p:attrNameLst>
                                      </p:cBhvr>
                                      <p:to>
                                        <p:strVal val="visible"/>
                                      </p:to>
                                    </p:set>
                                    <p:animEffect transition="in" filter="wipe(left)">
                                      <p:cBhvr>
                                        <p:cTn id="32" dur="1000"/>
                                        <p:tgtEl>
                                          <p:spTgt spid="604182"/>
                                        </p:tgtEl>
                                      </p:cBhvr>
                                    </p:animEffect>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604183"/>
                                        </p:tgtEl>
                                        <p:attrNameLst>
                                          <p:attrName>style.visibility</p:attrName>
                                        </p:attrNameLst>
                                      </p:cBhvr>
                                      <p:to>
                                        <p:strVal val="visible"/>
                                      </p:to>
                                    </p:set>
                                    <p:animEffect transition="in" filter="wipe(left)">
                                      <p:cBhvr>
                                        <p:cTn id="36" dur="1000"/>
                                        <p:tgtEl>
                                          <p:spTgt spid="604183"/>
                                        </p:tgtEl>
                                      </p:cBhvr>
                                    </p:animEffect>
                                  </p:childTnLst>
                                </p:cTn>
                              </p:par>
                            </p:childTnLst>
                          </p:cTn>
                        </p:par>
                        <p:par>
                          <p:cTn id="37" fill="hold">
                            <p:stCondLst>
                              <p:cond delay="2000"/>
                            </p:stCondLst>
                            <p:childTnLst>
                              <p:par>
                                <p:cTn id="38" presetID="22" presetClass="entr" presetSubtype="8" fill="hold" nodeType="afterEffect">
                                  <p:stCondLst>
                                    <p:cond delay="0"/>
                                  </p:stCondLst>
                                  <p:childTnLst>
                                    <p:set>
                                      <p:cBhvr>
                                        <p:cTn id="39" dur="1" fill="hold">
                                          <p:stCondLst>
                                            <p:cond delay="0"/>
                                          </p:stCondLst>
                                        </p:cTn>
                                        <p:tgtEl>
                                          <p:spTgt spid="604193"/>
                                        </p:tgtEl>
                                        <p:attrNameLst>
                                          <p:attrName>style.visibility</p:attrName>
                                        </p:attrNameLst>
                                      </p:cBhvr>
                                      <p:to>
                                        <p:strVal val="visible"/>
                                      </p:to>
                                    </p:set>
                                    <p:animEffect transition="in" filter="wipe(left)">
                                      <p:cBhvr>
                                        <p:cTn id="40" dur="1000"/>
                                        <p:tgtEl>
                                          <p:spTgt spid="604193"/>
                                        </p:tgtEl>
                                      </p:cBhvr>
                                    </p:animEffect>
                                  </p:childTnLst>
                                </p:cTn>
                              </p:par>
                            </p:childTnLst>
                          </p:cTn>
                        </p:par>
                        <p:par>
                          <p:cTn id="41" fill="hold">
                            <p:stCondLst>
                              <p:cond delay="3000"/>
                            </p:stCondLst>
                            <p:childTnLst>
                              <p:par>
                                <p:cTn id="42" presetID="22" presetClass="entr" presetSubtype="8" fill="hold" nodeType="afterEffect">
                                  <p:stCondLst>
                                    <p:cond delay="1000"/>
                                  </p:stCondLst>
                                  <p:childTnLst>
                                    <p:set>
                                      <p:cBhvr>
                                        <p:cTn id="43" dur="1" fill="hold">
                                          <p:stCondLst>
                                            <p:cond delay="0"/>
                                          </p:stCondLst>
                                        </p:cTn>
                                        <p:tgtEl>
                                          <p:spTgt spid="604194"/>
                                        </p:tgtEl>
                                        <p:attrNameLst>
                                          <p:attrName>style.visibility</p:attrName>
                                        </p:attrNameLst>
                                      </p:cBhvr>
                                      <p:to>
                                        <p:strVal val="visible"/>
                                      </p:to>
                                    </p:set>
                                    <p:animEffect transition="in" filter="wipe(left)">
                                      <p:cBhvr>
                                        <p:cTn id="44" dur="1000"/>
                                        <p:tgtEl>
                                          <p:spTgt spid="604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74" grpId="0"/>
      <p:bldP spid="604178" grpId="0"/>
      <p:bldP spid="60418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5" name="矩形 435204"/>
          <p:cNvSpPr/>
          <p:nvPr/>
        </p:nvSpPr>
        <p:spPr>
          <a:xfrm>
            <a:off x="466725" y="1196975"/>
            <a:ext cx="8426450" cy="42481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、建立</a:t>
            </a:r>
            <a:r>
              <a:rPr lang="en-US" altLang="zh-CN" sz="3000">
                <a:solidFill>
                  <a:srgbClr val="660033"/>
                </a:solidFill>
                <a:ea typeface="华文新魏" panose="02010800040101010101" pitchFamily="2" charset="-122"/>
              </a:rPr>
              <a:t>E</a:t>
            </a:r>
            <a:r>
              <a:rPr lang="en-US" altLang="zh-CN" sz="3000">
                <a:solidFill>
                  <a:srgbClr val="660033"/>
                </a:solidFill>
                <a:latin typeface="Arial" panose="020B0604020202020204" pitchFamily="34" charset="0"/>
                <a:ea typeface="华文新魏" panose="02010800040101010101" pitchFamily="2" charset="-122"/>
              </a:rPr>
              <a:t>—</a:t>
            </a:r>
            <a:r>
              <a:rPr lang="en-US" altLang="zh-CN" sz="3000">
                <a:solidFill>
                  <a:srgbClr val="660033"/>
                </a:solidFill>
                <a:ea typeface="华文新魏" panose="02010800040101010101" pitchFamily="2" charset="-122"/>
              </a:rPr>
              <a:t>R</a:t>
            </a:r>
            <a:r>
              <a:rPr lang="zh-CN" altLang="en-US" sz="3000" dirty="0">
                <a:solidFill>
                  <a:srgbClr val="660033"/>
                </a:solidFill>
                <a:ea typeface="华文新魏" panose="02010800040101010101" pitchFamily="2" charset="-122"/>
              </a:rPr>
              <a:t>模型的步骤</a:t>
            </a:r>
          </a:p>
          <a:p>
            <a:pPr lvl="0">
              <a:spcBef>
                <a:spcPct val="40000"/>
              </a:spcBef>
              <a:buClr>
                <a:schemeClr val="folHlink"/>
              </a:buClr>
              <a:buSzPct val="60000"/>
              <a:buChar char="n"/>
            </a:pPr>
            <a:r>
              <a:rPr lang="zh-CN" altLang="en-US" dirty="0"/>
              <a:t>定义实体集； </a:t>
            </a:r>
          </a:p>
          <a:p>
            <a:pPr lvl="0">
              <a:buClr>
                <a:schemeClr val="folHlink"/>
              </a:buClr>
              <a:buSzPct val="60000"/>
              <a:buChar char="n"/>
            </a:pPr>
            <a:r>
              <a:rPr lang="zh-CN" altLang="en-US" dirty="0"/>
              <a:t>定义联系集； </a:t>
            </a:r>
          </a:p>
          <a:p>
            <a:pPr lvl="0">
              <a:buClr>
                <a:schemeClr val="folHlink"/>
              </a:buClr>
              <a:buSzPct val="60000"/>
              <a:buChar char="n"/>
            </a:pPr>
            <a:r>
              <a:rPr lang="zh-CN" altLang="en-US" dirty="0"/>
              <a:t> 根据各实体集和各联系集之间的联系，将它们组合起来，形成</a:t>
            </a:r>
            <a:r>
              <a:rPr lang="en-US" altLang="zh-CN"/>
              <a:t>E-R</a:t>
            </a:r>
            <a:r>
              <a:rPr lang="zh-CN" altLang="en-US" dirty="0"/>
              <a:t>图的雏形；</a:t>
            </a:r>
          </a:p>
          <a:p>
            <a:pPr lvl="0"/>
            <a:r>
              <a:rPr lang="zh-CN" altLang="en-US" sz="1300" dirty="0">
                <a:solidFill>
                  <a:schemeClr val="tx2"/>
                </a:solidFill>
                <a:latin typeface="宋体" panose="02010600030101010101" pitchFamily="2" charset="-122"/>
                <a:ea typeface="宋体" panose="02010600030101010101" pitchFamily="2" charset="-122"/>
              </a:rPr>
              <a:t>■   </a:t>
            </a:r>
            <a:r>
              <a:rPr lang="zh-CN" altLang="en-US" dirty="0"/>
              <a:t>确定实体集与联系集的属性，标识出实体集与联系集的主码，形成完整的</a:t>
            </a:r>
            <a:r>
              <a:rPr lang="en-US" altLang="zh-CN"/>
              <a:t>E-R</a:t>
            </a:r>
            <a:r>
              <a:rPr lang="zh-CN" altLang="en-US" dirty="0"/>
              <a:t>图。</a:t>
            </a:r>
          </a:p>
          <a:p>
            <a:pPr lvl="0">
              <a:buClr>
                <a:schemeClr val="folHlink"/>
              </a:buClr>
              <a:buSzPct val="60000"/>
              <a:buChar char="n"/>
            </a:pPr>
            <a:endParaRPr lang="en-US" altLang="zh-CN"/>
          </a:p>
        </p:txBody>
      </p:sp>
      <p:sp>
        <p:nvSpPr>
          <p:cNvPr id="435208" name="矩形 43520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a:t>
            </a:r>
            <a:r>
              <a:rPr lang="en-US" altLang="zh-CN"/>
              <a:t>E-R</a:t>
            </a:r>
            <a:r>
              <a:rPr lang="zh-CN" altLang="en-US" dirty="0"/>
              <a:t>图的设计方法</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6679"/>
    </mc:Choice>
    <mc:Fallback xmlns="">
      <p:transition spd="slow" advTm="866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35205">
                                            <p:txEl>
                                              <p:pRg st="0" end="0"/>
                                            </p:txEl>
                                          </p:spTgt>
                                        </p:tgtEl>
                                        <p:attrNameLst>
                                          <p:attrName>style.visibility</p:attrName>
                                        </p:attrNameLst>
                                      </p:cBhvr>
                                      <p:to>
                                        <p:strVal val="visible"/>
                                      </p:to>
                                    </p:set>
                                    <p:animEffect transition="in" filter="wipe(left)">
                                      <p:cBhvr>
                                        <p:cTn id="7" dur="2000"/>
                                        <p:tgtEl>
                                          <p:spTgt spid="4352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5205">
                                            <p:txEl>
                                              <p:pRg st="1" end="1"/>
                                            </p:txEl>
                                          </p:spTgt>
                                        </p:tgtEl>
                                        <p:attrNameLst>
                                          <p:attrName>style.visibility</p:attrName>
                                        </p:attrNameLst>
                                      </p:cBhvr>
                                      <p:to>
                                        <p:strVal val="visible"/>
                                      </p:to>
                                    </p:set>
                                    <p:animEffect transition="in" filter="wipe(left)">
                                      <p:cBhvr>
                                        <p:cTn id="12" dur="2000"/>
                                        <p:tgtEl>
                                          <p:spTgt spid="435205">
                                            <p:txEl>
                                              <p:pRg st="1" end="1"/>
                                            </p:txEl>
                                          </p:spTgt>
                                        </p:tgtEl>
                                      </p:cBhvr>
                                    </p:animEffect>
                                  </p:childTnLst>
                                </p:cTn>
                              </p:par>
                            </p:childTnLst>
                          </p:cTn>
                        </p:par>
                        <p:par>
                          <p:cTn id="13" fill="hold">
                            <p:stCondLst>
                              <p:cond delay="2000"/>
                            </p:stCondLst>
                            <p:childTnLst>
                              <p:par>
                                <p:cTn id="14" presetID="22" presetClass="entr" presetSubtype="8" fill="hold" nodeType="afterEffect">
                                  <p:stCondLst>
                                    <p:cond delay="0"/>
                                  </p:stCondLst>
                                  <p:childTnLst>
                                    <p:set>
                                      <p:cBhvr>
                                        <p:cTn id="15" dur="1" fill="hold">
                                          <p:stCondLst>
                                            <p:cond delay="0"/>
                                          </p:stCondLst>
                                        </p:cTn>
                                        <p:tgtEl>
                                          <p:spTgt spid="435205">
                                            <p:txEl>
                                              <p:pRg st="2" end="2"/>
                                            </p:txEl>
                                          </p:spTgt>
                                        </p:tgtEl>
                                        <p:attrNameLst>
                                          <p:attrName>style.visibility</p:attrName>
                                        </p:attrNameLst>
                                      </p:cBhvr>
                                      <p:to>
                                        <p:strVal val="visible"/>
                                      </p:to>
                                    </p:set>
                                    <p:animEffect transition="in" filter="wipe(left)">
                                      <p:cBhvr>
                                        <p:cTn id="16" dur="2000"/>
                                        <p:tgtEl>
                                          <p:spTgt spid="435205">
                                            <p:txEl>
                                              <p:pRg st="2" end="2"/>
                                            </p:txEl>
                                          </p:spTgt>
                                        </p:tgtEl>
                                      </p:cBhvr>
                                    </p:animEffect>
                                  </p:childTnLst>
                                </p:cTn>
                              </p:par>
                            </p:childTnLst>
                          </p:cTn>
                        </p:par>
                        <p:par>
                          <p:cTn id="17" fill="hold">
                            <p:stCondLst>
                              <p:cond delay="4000"/>
                            </p:stCondLst>
                            <p:childTnLst>
                              <p:par>
                                <p:cTn id="18" presetID="22" presetClass="entr" presetSubtype="8" fill="hold" nodeType="afterEffect">
                                  <p:stCondLst>
                                    <p:cond delay="0"/>
                                  </p:stCondLst>
                                  <p:childTnLst>
                                    <p:set>
                                      <p:cBhvr>
                                        <p:cTn id="19" dur="1" fill="hold">
                                          <p:stCondLst>
                                            <p:cond delay="0"/>
                                          </p:stCondLst>
                                        </p:cTn>
                                        <p:tgtEl>
                                          <p:spTgt spid="435205">
                                            <p:txEl>
                                              <p:pRg st="3" end="3"/>
                                            </p:txEl>
                                          </p:spTgt>
                                        </p:tgtEl>
                                        <p:attrNameLst>
                                          <p:attrName>style.visibility</p:attrName>
                                        </p:attrNameLst>
                                      </p:cBhvr>
                                      <p:to>
                                        <p:strVal val="visible"/>
                                      </p:to>
                                    </p:set>
                                    <p:animEffect transition="in" filter="wipe(left)">
                                      <p:cBhvr>
                                        <p:cTn id="20" dur="2000"/>
                                        <p:tgtEl>
                                          <p:spTgt spid="435205">
                                            <p:txEl>
                                              <p:pRg st="3" end="3"/>
                                            </p:txEl>
                                          </p:spTgt>
                                        </p:tgtEl>
                                      </p:cBhvr>
                                    </p:animEffect>
                                  </p:childTnLst>
                                </p:cTn>
                              </p:par>
                            </p:childTnLst>
                          </p:cTn>
                        </p:par>
                        <p:par>
                          <p:cTn id="21" fill="hold">
                            <p:stCondLst>
                              <p:cond delay="6000"/>
                            </p:stCondLst>
                            <p:childTnLst>
                              <p:par>
                                <p:cTn id="22" presetID="22" presetClass="entr" presetSubtype="1" fill="hold" nodeType="afterEffect">
                                  <p:stCondLst>
                                    <p:cond delay="0"/>
                                  </p:stCondLst>
                                  <p:childTnLst>
                                    <p:set>
                                      <p:cBhvr>
                                        <p:cTn id="23" dur="1" fill="hold">
                                          <p:stCondLst>
                                            <p:cond delay="0"/>
                                          </p:stCondLst>
                                        </p:cTn>
                                        <p:tgtEl>
                                          <p:spTgt spid="435205">
                                            <p:txEl>
                                              <p:pRg st="4" end="4"/>
                                            </p:txEl>
                                          </p:spTgt>
                                        </p:tgtEl>
                                        <p:attrNameLst>
                                          <p:attrName>style.visibility</p:attrName>
                                        </p:attrNameLst>
                                      </p:cBhvr>
                                      <p:to>
                                        <p:strVal val="visible"/>
                                      </p:to>
                                    </p:set>
                                    <p:animEffect transition="in" filter="wipe(up)">
                                      <p:cBhvr>
                                        <p:cTn id="24" dur="2000"/>
                                        <p:tgtEl>
                                          <p:spTgt spid="4352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8" name="矩形 436227"/>
          <p:cNvSpPr/>
          <p:nvPr/>
        </p:nvSpPr>
        <p:spPr>
          <a:xfrm>
            <a:off x="107950" y="115888"/>
            <a:ext cx="8640763" cy="18002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36229" name="矩形 436228"/>
          <p:cNvSpPr/>
          <p:nvPr/>
        </p:nvSpPr>
        <p:spPr>
          <a:xfrm>
            <a:off x="147638" y="1576388"/>
            <a:ext cx="8672512" cy="2173287"/>
          </a:xfrm>
          <a:prstGeom prst="rect">
            <a:avLst/>
          </a:prstGeom>
          <a:noFill/>
          <a:ln w="9525">
            <a:noFill/>
          </a:ln>
          <a:effectLst>
            <a:outerShdw dist="17961" dir="2699999" algn="ctr" rotWithShape="0">
              <a:schemeClr val="tx1"/>
            </a:outerShdw>
          </a:effectLst>
        </p:spPr>
        <p:txBody>
          <a:bodyPr/>
          <a:lstStyle/>
          <a:p>
            <a:pPr marL="342900" indent="-342900">
              <a:lnSpc>
                <a:spcPct val="120000"/>
              </a:lnSpc>
              <a:buClr>
                <a:schemeClr val="bg2"/>
              </a:buClr>
              <a:buFont typeface="Monotype Sorts" pitchFamily="2" charset="2"/>
            </a:pPr>
            <a:r>
              <a:rPr lang="zh-CN" altLang="en-US" sz="2600" dirty="0">
                <a:solidFill>
                  <a:srgbClr val="003366"/>
                </a:solidFill>
                <a:latin typeface="黑体" panose="02010609060101010101" pitchFamily="2" charset="-122"/>
                <a:ea typeface="黑体" panose="02010609060101010101" pitchFamily="2" charset="-122"/>
              </a:rPr>
              <a:t>分析： </a:t>
            </a:r>
            <a:r>
              <a:rPr lang="zh-CN" altLang="en-US" sz="2600" dirty="0">
                <a:solidFill>
                  <a:srgbClr val="800080"/>
                </a:solidFill>
                <a:latin typeface="华文中宋" panose="02010600040101010101" pitchFamily="2" charset="-122"/>
                <a:ea typeface="华文中宋" panose="02010600040101010101" pitchFamily="2" charset="-122"/>
              </a:rPr>
              <a:t>通过分析，可将大学的专业、课程、学生和教师间</a:t>
            </a:r>
          </a:p>
          <a:p>
            <a:pPr marL="342900" indent="-342900">
              <a:lnSpc>
                <a:spcPct val="120000"/>
              </a:lnSpc>
              <a:buClr>
                <a:schemeClr val="bg2"/>
              </a:buClr>
              <a:buFont typeface="Monotype Sorts" pitchFamily="2" charset="2"/>
            </a:pPr>
            <a:r>
              <a:rPr lang="zh-CN" altLang="en-US" sz="2600" dirty="0">
                <a:solidFill>
                  <a:srgbClr val="800080"/>
                </a:solidFill>
                <a:latin typeface="华文中宋" panose="02010600040101010101" pitchFamily="2" charset="-122"/>
                <a:ea typeface="华文中宋" panose="02010600040101010101" pitchFamily="2" charset="-122"/>
              </a:rPr>
              <a:t>    的关系归纳如下：</a:t>
            </a:r>
          </a:p>
          <a:p>
            <a:pPr marL="342900" indent="-342900">
              <a:lnSpc>
                <a:spcPct val="120000"/>
              </a:lnSpc>
              <a:spcBef>
                <a:spcPct val="5000"/>
              </a:spcBef>
              <a:buClr>
                <a:schemeClr val="bg2"/>
              </a:buClr>
              <a:buFont typeface="Monotype Sorts" pitchFamily="2" charset="2"/>
            </a:pPr>
            <a:r>
              <a:rPr lang="zh-CN" altLang="en-US" sz="2600" b="1" dirty="0">
                <a:latin typeface="华文中宋" panose="02010600040101010101" pitchFamily="2" charset="-122"/>
                <a:ea typeface="华文中宋" panose="02010600040101010101" pitchFamily="2" charset="-122"/>
              </a:rPr>
              <a:t>         </a:t>
            </a:r>
            <a:r>
              <a:rPr lang="zh-CN" altLang="en-US" sz="2600" b="1" dirty="0">
                <a:latin typeface="楷体_GB2312" pitchFamily="49" charset="-122"/>
                <a:ea typeface="楷体_GB2312" pitchFamily="49" charset="-122"/>
              </a:rPr>
              <a:t>（1）大学有多个专业，每个专业</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设置</a:t>
            </a:r>
            <a:r>
              <a:rPr lang="zh-CN" altLang="en-US" sz="2600" b="1" dirty="0">
                <a:latin typeface="楷体_GB2312" pitchFamily="49" charset="-122"/>
                <a:ea typeface="楷体_GB2312" pitchFamily="49" charset="-122"/>
              </a:rPr>
              <a:t>有多门课程，某些课程可被多个专业</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设置</a:t>
            </a:r>
            <a:r>
              <a:rPr lang="zh-CN" altLang="en-US" sz="2600" b="1" dirty="0">
                <a:latin typeface="楷体_GB2312" pitchFamily="49" charset="-122"/>
                <a:ea typeface="楷体_GB2312" pitchFamily="49" charset="-122"/>
              </a:rPr>
              <a:t>。</a:t>
            </a:r>
            <a:endParaRPr lang="zh-CN" altLang="en-US" sz="2600" b="1" dirty="0">
              <a:latin typeface="华文中宋" panose="02010600040101010101" pitchFamily="2" charset="-122"/>
              <a:ea typeface="华文中宋" panose="02010600040101010101" pitchFamily="2" charset="-122"/>
            </a:endParaRPr>
          </a:p>
        </p:txBody>
      </p:sp>
      <p:sp>
        <p:nvSpPr>
          <p:cNvPr id="436239" name="文本框 436238"/>
          <p:cNvSpPr txBox="1"/>
          <p:nvPr/>
        </p:nvSpPr>
        <p:spPr>
          <a:xfrm>
            <a:off x="201613" y="130175"/>
            <a:ext cx="8748712" cy="1066800"/>
          </a:xfrm>
          <a:prstGeom prst="rect">
            <a:avLst/>
          </a:prstGeom>
          <a:noFill/>
          <a:ln w="12700" cap="sq" cmpd="sng">
            <a:solidFill>
              <a:srgbClr val="00CC00"/>
            </a:solidFill>
            <a:prstDash val="solid"/>
            <a:miter/>
            <a:headEnd type="none" w="sm" len="sm"/>
            <a:tailEnd type="none" w="sm" len="sm"/>
          </a:ln>
          <a:effectLst>
            <a:outerShdw dist="17961" dir="2699999" algn="ctr" rotWithShape="0">
              <a:schemeClr val="tx1"/>
            </a:outerShdw>
          </a:effectLst>
        </p:spPr>
        <p:txBody>
          <a:bodyPr/>
          <a:lstStyle/>
          <a:p>
            <a:pPr>
              <a:lnSpc>
                <a:spcPct val="110000"/>
              </a:lnSpc>
            </a:pPr>
            <a:r>
              <a:rPr lang="zh-CN" altLang="en-US" sz="2800" dirty="0">
                <a:solidFill>
                  <a:srgbClr val="A50021"/>
                </a:solidFill>
                <a:latin typeface="黑体" panose="02010609060101010101" pitchFamily="2" charset="-122"/>
                <a:ea typeface="黑体" panose="02010609060101010101" pitchFamily="2" charset="-122"/>
              </a:rPr>
              <a:t>例</a:t>
            </a:r>
            <a:r>
              <a:rPr lang="en-US" altLang="zh-CN" sz="2800">
                <a:solidFill>
                  <a:srgbClr val="A50021"/>
                </a:solidFill>
                <a:latin typeface="黑体" panose="02010609060101010101" pitchFamily="2" charset="-122"/>
                <a:ea typeface="黑体" panose="02010609060101010101" pitchFamily="2" charset="-122"/>
              </a:rPr>
              <a:t>3.</a:t>
            </a:r>
            <a:r>
              <a:rPr lang="zh-CN" altLang="en-US" sz="2800" dirty="0">
                <a:solidFill>
                  <a:srgbClr val="A50021"/>
                </a:solidFill>
                <a:latin typeface="黑体" panose="02010609060101010101" pitchFamily="2" charset="-122"/>
                <a:ea typeface="黑体" panose="02010609060101010101" pitchFamily="2" charset="-122"/>
              </a:rPr>
              <a:t>２</a:t>
            </a:r>
            <a:r>
              <a:rPr lang="zh-CN" altLang="en-US" sz="2800" b="1" dirty="0">
                <a:latin typeface="楷体_GB2312" pitchFamily="49" charset="-122"/>
                <a:ea typeface="楷体_GB2312" pitchFamily="49" charset="-122"/>
              </a:rPr>
              <a:t>：用实体-联系模型描述一个大学的专业、课程、学生和老师之间的教学情况，并设计相应的</a:t>
            </a:r>
            <a:r>
              <a:rPr lang="en-US" altLang="zh-CN" sz="2800" b="1">
                <a:latin typeface="楷体_GB2312" pitchFamily="49" charset="-122"/>
                <a:ea typeface="楷体_GB2312" pitchFamily="49" charset="-122"/>
              </a:rPr>
              <a:t>ER</a:t>
            </a:r>
            <a:r>
              <a:rPr lang="zh-CN" altLang="en-US" sz="2800" b="1" dirty="0">
                <a:latin typeface="楷体_GB2312" pitchFamily="49" charset="-122"/>
                <a:ea typeface="楷体_GB2312" pitchFamily="49" charset="-122"/>
              </a:rPr>
              <a:t>图。</a:t>
            </a:r>
          </a:p>
        </p:txBody>
      </p:sp>
      <p:sp>
        <p:nvSpPr>
          <p:cNvPr id="436241" name="直接连接符 436240"/>
          <p:cNvSpPr/>
          <p:nvPr/>
        </p:nvSpPr>
        <p:spPr>
          <a:xfrm>
            <a:off x="6734175" y="677863"/>
            <a:ext cx="1943100"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6242" name="直接连接符 436241"/>
          <p:cNvSpPr/>
          <p:nvPr/>
        </p:nvSpPr>
        <p:spPr>
          <a:xfrm>
            <a:off x="325438" y="1125538"/>
            <a:ext cx="1763712"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grpSp>
        <p:nvGrpSpPr>
          <p:cNvPr id="436279" name="组合 436278"/>
          <p:cNvGrpSpPr/>
          <p:nvPr/>
        </p:nvGrpSpPr>
        <p:grpSpPr>
          <a:xfrm>
            <a:off x="2700338" y="3789363"/>
            <a:ext cx="4051300" cy="2339975"/>
            <a:chOff x="521" y="2500"/>
            <a:chExt cx="2552" cy="1474"/>
          </a:xfrm>
        </p:grpSpPr>
        <p:sp>
          <p:nvSpPr>
            <p:cNvPr id="436254" name="文本框 436253"/>
            <p:cNvSpPr txBox="1"/>
            <p:nvPr/>
          </p:nvSpPr>
          <p:spPr>
            <a:xfrm>
              <a:off x="521" y="2500"/>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专业</a:t>
              </a:r>
            </a:p>
          </p:txBody>
        </p:sp>
        <p:sp>
          <p:nvSpPr>
            <p:cNvPr id="436256" name="文本框 436255"/>
            <p:cNvSpPr txBox="1"/>
            <p:nvPr/>
          </p:nvSpPr>
          <p:spPr>
            <a:xfrm>
              <a:off x="2506" y="3706"/>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课程</a:t>
              </a:r>
            </a:p>
          </p:txBody>
        </p:sp>
        <p:sp>
          <p:nvSpPr>
            <p:cNvPr id="436258" name="直接连接符 436257"/>
            <p:cNvSpPr/>
            <p:nvPr/>
          </p:nvSpPr>
          <p:spPr>
            <a:xfrm>
              <a:off x="805" y="2768"/>
              <a:ext cx="567"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6259" name="直接连接符 436258"/>
            <p:cNvSpPr/>
            <p:nvPr/>
          </p:nvSpPr>
          <p:spPr>
            <a:xfrm>
              <a:off x="1939" y="3438"/>
              <a:ext cx="567"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6266" name="流程图: 决策 436265" descr="信纸"/>
            <p:cNvSpPr/>
            <p:nvPr/>
          </p:nvSpPr>
          <p:spPr>
            <a:xfrm>
              <a:off x="1050" y="3068"/>
              <a:ext cx="1172" cy="480"/>
            </a:xfrm>
            <a:prstGeom prst="flowChartDecision">
              <a:avLst/>
            </a:prstGeom>
            <a:blipFill rotWithShape="1">
              <a:blip r:embed="rId3"/>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设置</a:t>
              </a:r>
            </a:p>
          </p:txBody>
        </p:sp>
        <p:sp>
          <p:nvSpPr>
            <p:cNvPr id="436272" name="文本框 436271"/>
            <p:cNvSpPr txBox="1"/>
            <p:nvPr/>
          </p:nvSpPr>
          <p:spPr>
            <a:xfrm>
              <a:off x="738" y="2894"/>
              <a:ext cx="96"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436275" name="文本框 436274"/>
            <p:cNvSpPr txBox="1"/>
            <p:nvPr/>
          </p:nvSpPr>
          <p:spPr>
            <a:xfrm>
              <a:off x="1961" y="3662"/>
              <a:ext cx="97"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effectLst>
                    <a:outerShdw blurRad="38100" dist="38100" dir="2700000">
                      <a:srgbClr val="C0C0C0"/>
                    </a:outerShdw>
                  </a:effectLst>
                  <a:latin typeface="宋体" panose="02010600030101010101" pitchFamily="2" charset="-122"/>
                </a:rPr>
                <a:t>N</a:t>
              </a:r>
            </a:p>
          </p:txBody>
        </p:sp>
        <p:sp>
          <p:nvSpPr>
            <p:cNvPr id="436278" name="文本框 436277"/>
            <p:cNvSpPr txBox="1"/>
            <p:nvPr/>
          </p:nvSpPr>
          <p:spPr>
            <a:xfrm>
              <a:off x="1961" y="3662"/>
              <a:ext cx="97"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
        <p:nvSpPr>
          <p:cNvPr id="436280" name="直接连接符 436279"/>
          <p:cNvSpPr/>
          <p:nvPr/>
        </p:nvSpPr>
        <p:spPr>
          <a:xfrm>
            <a:off x="5984875" y="3052763"/>
            <a:ext cx="719138"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9103"/>
    </mc:Choice>
    <mc:Fallback xmlns="">
      <p:transition spd="slow" advTm="391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36241"/>
                                        </p:tgtEl>
                                        <p:attrNameLst>
                                          <p:attrName>style.visibility</p:attrName>
                                        </p:attrNameLst>
                                      </p:cBhvr>
                                      <p:to>
                                        <p:strVal val="visible"/>
                                      </p:to>
                                    </p:set>
                                    <p:animEffect transition="in" filter="wipe(left)">
                                      <p:cBhvr>
                                        <p:cTn id="7" dur="3000"/>
                                        <p:tgtEl>
                                          <p:spTgt spid="436241"/>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436242"/>
                                        </p:tgtEl>
                                        <p:attrNameLst>
                                          <p:attrName>style.visibility</p:attrName>
                                        </p:attrNameLst>
                                      </p:cBhvr>
                                      <p:to>
                                        <p:strVal val="visible"/>
                                      </p:to>
                                    </p:set>
                                    <p:animEffect transition="in" filter="wipe(left)">
                                      <p:cBhvr>
                                        <p:cTn id="11" dur="3000"/>
                                        <p:tgtEl>
                                          <p:spTgt spid="43624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436229">
                                            <p:txEl>
                                              <p:pRg st="0" end="0"/>
                                            </p:txEl>
                                          </p:spTgt>
                                        </p:tgtEl>
                                        <p:attrNameLst>
                                          <p:attrName>style.visibility</p:attrName>
                                        </p:attrNameLst>
                                      </p:cBhvr>
                                      <p:to>
                                        <p:strVal val="visible"/>
                                      </p:to>
                                    </p:set>
                                    <p:animEffect transition="in" filter="wipe(up)">
                                      <p:cBhvr>
                                        <p:cTn id="16" dur="1000"/>
                                        <p:tgtEl>
                                          <p:spTgt spid="436229">
                                            <p:txEl>
                                              <p:pRg st="0" end="0"/>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436229">
                                            <p:txEl>
                                              <p:pRg st="1" end="1"/>
                                            </p:txEl>
                                          </p:spTgt>
                                        </p:tgtEl>
                                        <p:attrNameLst>
                                          <p:attrName>style.visibility</p:attrName>
                                        </p:attrNameLst>
                                      </p:cBhvr>
                                      <p:to>
                                        <p:strVal val="visible"/>
                                      </p:to>
                                    </p:set>
                                    <p:animEffect transition="in" filter="wipe(up)">
                                      <p:cBhvr>
                                        <p:cTn id="20" dur="2000"/>
                                        <p:tgtEl>
                                          <p:spTgt spid="436229">
                                            <p:txEl>
                                              <p:pRg st="1" end="1"/>
                                            </p:txEl>
                                          </p:spTgt>
                                        </p:tgtEl>
                                      </p:cBhvr>
                                    </p:animEffect>
                                  </p:childTnLst>
                                </p:cTn>
                              </p:par>
                            </p:childTnLst>
                          </p:cTn>
                        </p:par>
                        <p:par>
                          <p:cTn id="21" fill="hold">
                            <p:stCondLst>
                              <p:cond delay="3000"/>
                            </p:stCondLst>
                            <p:childTnLst>
                              <p:par>
                                <p:cTn id="22" presetID="22" presetClass="entr" presetSubtype="8" fill="hold" nodeType="afterEffect">
                                  <p:stCondLst>
                                    <p:cond delay="0"/>
                                  </p:stCondLst>
                                  <p:childTnLst>
                                    <p:set>
                                      <p:cBhvr>
                                        <p:cTn id="23" dur="1" fill="hold">
                                          <p:stCondLst>
                                            <p:cond delay="0"/>
                                          </p:stCondLst>
                                        </p:cTn>
                                        <p:tgtEl>
                                          <p:spTgt spid="436229">
                                            <p:txEl>
                                              <p:pRg st="2" end="2"/>
                                            </p:txEl>
                                          </p:spTgt>
                                        </p:tgtEl>
                                        <p:attrNameLst>
                                          <p:attrName>style.visibility</p:attrName>
                                        </p:attrNameLst>
                                      </p:cBhvr>
                                      <p:to>
                                        <p:strVal val="visible"/>
                                      </p:to>
                                    </p:set>
                                    <p:animEffect transition="in" filter="wipe(left)">
                                      <p:cBhvr>
                                        <p:cTn id="24" dur="2000"/>
                                        <p:tgtEl>
                                          <p:spTgt spid="436229">
                                            <p:txEl>
                                              <p:pRg st="2" end="2"/>
                                            </p:txEl>
                                          </p:spTgt>
                                        </p:tgtEl>
                                      </p:cBhvr>
                                    </p:animEffect>
                                  </p:childTnLst>
                                </p:cTn>
                              </p:par>
                            </p:childTnLst>
                          </p:cTn>
                        </p:par>
                        <p:par>
                          <p:cTn id="25" fill="hold">
                            <p:stCondLst>
                              <p:cond delay="5000"/>
                            </p:stCondLst>
                            <p:childTnLst>
                              <p:par>
                                <p:cTn id="26" presetID="22" presetClass="entr" presetSubtype="8" fill="hold" nodeType="afterEffect">
                                  <p:stCondLst>
                                    <p:cond delay="0"/>
                                  </p:stCondLst>
                                  <p:childTnLst>
                                    <p:set>
                                      <p:cBhvr>
                                        <p:cTn id="27" dur="1" fill="hold">
                                          <p:stCondLst>
                                            <p:cond delay="0"/>
                                          </p:stCondLst>
                                        </p:cTn>
                                        <p:tgtEl>
                                          <p:spTgt spid="436280"/>
                                        </p:tgtEl>
                                        <p:attrNameLst>
                                          <p:attrName>style.visibility</p:attrName>
                                        </p:attrNameLst>
                                      </p:cBhvr>
                                      <p:to>
                                        <p:strVal val="visible"/>
                                      </p:to>
                                    </p:set>
                                    <p:animEffect transition="in" filter="wipe(left)">
                                      <p:cBhvr>
                                        <p:cTn id="28" dur="1000"/>
                                        <p:tgtEl>
                                          <p:spTgt spid="436280"/>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nodeType="clickEffect">
                                  <p:stCondLst>
                                    <p:cond delay="0"/>
                                  </p:stCondLst>
                                  <p:childTnLst>
                                    <p:set>
                                      <p:cBhvr>
                                        <p:cTn id="32" dur="1" fill="hold">
                                          <p:stCondLst>
                                            <p:cond delay="0"/>
                                          </p:stCondLst>
                                        </p:cTn>
                                        <p:tgtEl>
                                          <p:spTgt spid="436279"/>
                                        </p:tgtEl>
                                        <p:attrNameLst>
                                          <p:attrName>style.visibility</p:attrName>
                                        </p:attrNameLst>
                                      </p:cBhvr>
                                      <p:to>
                                        <p:strVal val="visible"/>
                                      </p:to>
                                    </p:set>
                                    <p:animEffect transition="in" filter="diamond(in)">
                                      <p:cBhvr>
                                        <p:cTn id="33" dur="500"/>
                                        <p:tgtEl>
                                          <p:spTgt spid="436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6" name="矩形 571395"/>
          <p:cNvSpPr/>
          <p:nvPr/>
        </p:nvSpPr>
        <p:spPr>
          <a:xfrm>
            <a:off x="107950" y="115888"/>
            <a:ext cx="8640763" cy="18002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571397" name="矩形 571396"/>
          <p:cNvSpPr/>
          <p:nvPr/>
        </p:nvSpPr>
        <p:spPr>
          <a:xfrm>
            <a:off x="147638" y="1471613"/>
            <a:ext cx="8672512" cy="2028825"/>
          </a:xfrm>
          <a:prstGeom prst="rect">
            <a:avLst/>
          </a:prstGeom>
          <a:noFill/>
          <a:ln w="9525">
            <a:noFill/>
          </a:ln>
          <a:effectLst>
            <a:outerShdw dist="17961" dir="2699999" algn="ctr" rotWithShape="0">
              <a:schemeClr val="tx1"/>
            </a:outerShdw>
          </a:effectLst>
        </p:spPr>
        <p:txBody>
          <a:bodyPr/>
          <a:lstStyle/>
          <a:p>
            <a:pPr marL="342900" indent="-342900">
              <a:lnSpc>
                <a:spcPct val="120000"/>
              </a:lnSpc>
              <a:buClr>
                <a:schemeClr val="bg2"/>
              </a:buClr>
              <a:buFont typeface="Monotype Sorts" pitchFamily="2" charset="2"/>
            </a:pPr>
            <a:r>
              <a:rPr lang="zh-CN" altLang="en-US" sz="2600" dirty="0">
                <a:solidFill>
                  <a:srgbClr val="003366"/>
                </a:solidFill>
                <a:latin typeface="黑体" panose="02010609060101010101" pitchFamily="2" charset="-122"/>
                <a:ea typeface="黑体" panose="02010609060101010101" pitchFamily="2" charset="-122"/>
              </a:rPr>
              <a:t>分析： </a:t>
            </a:r>
            <a:r>
              <a:rPr lang="zh-CN" altLang="en-US" sz="2600" dirty="0">
                <a:solidFill>
                  <a:srgbClr val="800080"/>
                </a:solidFill>
                <a:latin typeface="华文中宋" panose="02010600040101010101" pitchFamily="2" charset="-122"/>
                <a:ea typeface="华文中宋" panose="02010600040101010101" pitchFamily="2" charset="-122"/>
              </a:rPr>
              <a:t>通过分析，可将大学的专业、课程、学生和教师间</a:t>
            </a:r>
          </a:p>
          <a:p>
            <a:pPr marL="342900" indent="-342900">
              <a:lnSpc>
                <a:spcPct val="120000"/>
              </a:lnSpc>
              <a:buClr>
                <a:schemeClr val="bg2"/>
              </a:buClr>
              <a:buFont typeface="Monotype Sorts" pitchFamily="2" charset="2"/>
            </a:pPr>
            <a:r>
              <a:rPr lang="zh-CN" altLang="en-US" sz="2600" dirty="0">
                <a:solidFill>
                  <a:srgbClr val="800080"/>
                </a:solidFill>
                <a:latin typeface="华文中宋" panose="02010600040101010101" pitchFamily="2" charset="-122"/>
                <a:ea typeface="华文中宋" panose="02010600040101010101" pitchFamily="2" charset="-122"/>
              </a:rPr>
              <a:t>    的关系归纳如下：</a:t>
            </a:r>
          </a:p>
          <a:p>
            <a:pPr marL="342900" indent="-342900">
              <a:lnSpc>
                <a:spcPct val="120000"/>
              </a:lnSpc>
              <a:spcBef>
                <a:spcPct val="5000"/>
              </a:spcBef>
              <a:buClr>
                <a:schemeClr val="bg2"/>
              </a:buClr>
              <a:buFont typeface="Monotype Sorts" pitchFamily="2" charset="2"/>
            </a:pPr>
            <a:r>
              <a:rPr lang="zh-CN" altLang="en-US" sz="2600" b="1" dirty="0">
                <a:latin typeface="华文中宋" panose="02010600040101010101" pitchFamily="2" charset="-122"/>
                <a:ea typeface="华文中宋" panose="02010600040101010101" pitchFamily="2" charset="-122"/>
              </a:rPr>
              <a:t>         </a:t>
            </a:r>
            <a:r>
              <a:rPr lang="zh-CN" altLang="en-US" sz="2600" b="1" dirty="0">
                <a:latin typeface="楷体_GB2312" pitchFamily="49" charset="-122"/>
                <a:ea typeface="楷体_GB2312" pitchFamily="49" charset="-122"/>
              </a:rPr>
              <a:t>（</a:t>
            </a:r>
            <a:r>
              <a:rPr lang="en-US" altLang="zh-CN" sz="2600" b="1">
                <a:latin typeface="楷体_GB2312" pitchFamily="49" charset="-122"/>
                <a:ea typeface="楷体_GB2312" pitchFamily="49" charset="-122"/>
              </a:rPr>
              <a:t>2</a:t>
            </a:r>
            <a:r>
              <a:rPr lang="zh-CN" altLang="en-US" sz="2600" b="1" dirty="0">
                <a:latin typeface="楷体_GB2312" pitchFamily="49" charset="-122"/>
                <a:ea typeface="楷体_GB2312" pitchFamily="49" charset="-122"/>
              </a:rPr>
              <a:t>）每位教师可以</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主讲</a:t>
            </a:r>
            <a:r>
              <a:rPr lang="zh-CN" altLang="en-US" sz="2600" b="1" dirty="0">
                <a:latin typeface="楷体_GB2312" pitchFamily="49" charset="-122"/>
                <a:ea typeface="楷体_GB2312" pitchFamily="49" charset="-122"/>
              </a:rPr>
              <a:t>多门课程，某些课程可由多位教师</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主讲</a:t>
            </a:r>
            <a:r>
              <a:rPr lang="zh-CN" altLang="en-US" sz="2600" b="1" dirty="0">
                <a:latin typeface="楷体_GB2312" pitchFamily="49" charset="-122"/>
                <a:ea typeface="楷体_GB2312" pitchFamily="49" charset="-122"/>
              </a:rPr>
              <a:t>。    </a:t>
            </a:r>
            <a:endParaRPr lang="zh-CN" altLang="en-US" sz="2600" b="1" dirty="0">
              <a:latin typeface="华文中宋" panose="02010600040101010101" pitchFamily="2" charset="-122"/>
              <a:ea typeface="华文中宋" panose="02010600040101010101" pitchFamily="2" charset="-122"/>
            </a:endParaRPr>
          </a:p>
        </p:txBody>
      </p:sp>
      <p:sp>
        <p:nvSpPr>
          <p:cNvPr id="571398" name="文本框 571397"/>
          <p:cNvSpPr txBox="1"/>
          <p:nvPr/>
        </p:nvSpPr>
        <p:spPr>
          <a:xfrm>
            <a:off x="201613" y="130175"/>
            <a:ext cx="8748712" cy="1066800"/>
          </a:xfrm>
          <a:prstGeom prst="rect">
            <a:avLst/>
          </a:prstGeom>
          <a:noFill/>
          <a:ln w="12700" cap="sq" cmpd="sng">
            <a:solidFill>
              <a:srgbClr val="00CC00"/>
            </a:solidFill>
            <a:prstDash val="solid"/>
            <a:miter/>
            <a:headEnd type="none" w="sm" len="sm"/>
            <a:tailEnd type="none" w="sm" len="sm"/>
          </a:ln>
          <a:effectLst>
            <a:outerShdw dist="17961" dir="2699999" algn="ctr" rotWithShape="0">
              <a:schemeClr val="tx1"/>
            </a:outerShdw>
          </a:effectLst>
        </p:spPr>
        <p:txBody>
          <a:bodyPr/>
          <a:lstStyle/>
          <a:p>
            <a:pPr>
              <a:lnSpc>
                <a:spcPct val="110000"/>
              </a:lnSpc>
            </a:pPr>
            <a:r>
              <a:rPr lang="zh-CN" altLang="en-US" sz="2800" dirty="0">
                <a:solidFill>
                  <a:srgbClr val="A50021"/>
                </a:solidFill>
                <a:latin typeface="黑体" panose="02010609060101010101" pitchFamily="2" charset="-122"/>
                <a:ea typeface="黑体" panose="02010609060101010101" pitchFamily="2" charset="-122"/>
              </a:rPr>
              <a:t>例</a:t>
            </a:r>
            <a:r>
              <a:rPr lang="en-US" altLang="zh-CN" sz="2800">
                <a:solidFill>
                  <a:srgbClr val="A50021"/>
                </a:solidFill>
                <a:latin typeface="黑体" panose="02010609060101010101" pitchFamily="2" charset="-122"/>
                <a:ea typeface="黑体" panose="02010609060101010101" pitchFamily="2" charset="-122"/>
              </a:rPr>
              <a:t>3.1</a:t>
            </a:r>
            <a:r>
              <a:rPr lang="zh-CN" altLang="en-US" sz="2800" b="1" dirty="0">
                <a:latin typeface="楷体_GB2312" pitchFamily="49" charset="-122"/>
                <a:ea typeface="楷体_GB2312" pitchFamily="49" charset="-122"/>
              </a:rPr>
              <a:t>：用实体-联系模型描述一个大学的专业、课程、学生和老师之间的教学情况，并设计相应的</a:t>
            </a:r>
            <a:r>
              <a:rPr lang="en-US" altLang="zh-CN" sz="2800" b="1">
                <a:latin typeface="楷体_GB2312" pitchFamily="49" charset="-122"/>
                <a:ea typeface="楷体_GB2312" pitchFamily="49" charset="-122"/>
              </a:rPr>
              <a:t>ER</a:t>
            </a:r>
            <a:r>
              <a:rPr lang="zh-CN" altLang="en-US" sz="2800" b="1" dirty="0">
                <a:latin typeface="楷体_GB2312" pitchFamily="49" charset="-122"/>
                <a:ea typeface="楷体_GB2312" pitchFamily="49" charset="-122"/>
              </a:rPr>
              <a:t>图。</a:t>
            </a:r>
          </a:p>
        </p:txBody>
      </p:sp>
      <p:sp>
        <p:nvSpPr>
          <p:cNvPr id="571399" name="直接连接符 571398"/>
          <p:cNvSpPr/>
          <p:nvPr/>
        </p:nvSpPr>
        <p:spPr>
          <a:xfrm>
            <a:off x="6734175" y="677863"/>
            <a:ext cx="1943100"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1400" name="直接连接符 571399"/>
          <p:cNvSpPr/>
          <p:nvPr/>
        </p:nvSpPr>
        <p:spPr>
          <a:xfrm>
            <a:off x="325438" y="1125538"/>
            <a:ext cx="1763712"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1402" name="直接连接符 571401"/>
          <p:cNvSpPr/>
          <p:nvPr/>
        </p:nvSpPr>
        <p:spPr>
          <a:xfrm>
            <a:off x="3995738" y="2924175"/>
            <a:ext cx="719137"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grpSp>
        <p:nvGrpSpPr>
          <p:cNvPr id="571405" name="组合 571404"/>
          <p:cNvGrpSpPr/>
          <p:nvPr/>
        </p:nvGrpSpPr>
        <p:grpSpPr>
          <a:xfrm>
            <a:off x="3497263" y="3475038"/>
            <a:ext cx="1860550" cy="2978150"/>
            <a:chOff x="2203" y="2144"/>
            <a:chExt cx="1172" cy="1876"/>
          </a:xfrm>
        </p:grpSpPr>
        <p:sp>
          <p:nvSpPr>
            <p:cNvPr id="571406" name="文本框 571405"/>
            <p:cNvSpPr txBox="1"/>
            <p:nvPr/>
          </p:nvSpPr>
          <p:spPr>
            <a:xfrm>
              <a:off x="2506" y="2144"/>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课程</a:t>
              </a:r>
            </a:p>
          </p:txBody>
        </p:sp>
        <p:sp>
          <p:nvSpPr>
            <p:cNvPr id="571407" name="文本框 571406"/>
            <p:cNvSpPr txBox="1"/>
            <p:nvPr/>
          </p:nvSpPr>
          <p:spPr>
            <a:xfrm>
              <a:off x="2503" y="3752"/>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教师</a:t>
              </a:r>
            </a:p>
          </p:txBody>
        </p:sp>
        <p:sp>
          <p:nvSpPr>
            <p:cNvPr id="571408" name="直接连接符 571407"/>
            <p:cNvSpPr/>
            <p:nvPr/>
          </p:nvSpPr>
          <p:spPr>
            <a:xfrm>
              <a:off x="2789" y="2412"/>
              <a:ext cx="0"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1409" name="直接连接符 571408"/>
            <p:cNvSpPr/>
            <p:nvPr/>
          </p:nvSpPr>
          <p:spPr>
            <a:xfrm>
              <a:off x="2789" y="3350"/>
              <a:ext cx="0"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1410" name="流程图: 决策 571409" descr="信纸"/>
            <p:cNvSpPr/>
            <p:nvPr/>
          </p:nvSpPr>
          <p:spPr>
            <a:xfrm>
              <a:off x="2203" y="2820"/>
              <a:ext cx="1172" cy="519"/>
            </a:xfrm>
            <a:prstGeom prst="flowChartDecision">
              <a:avLst/>
            </a:prstGeom>
            <a:blipFill rotWithShape="1">
              <a:blip r:embed="rId3"/>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讲授</a:t>
              </a:r>
            </a:p>
          </p:txBody>
        </p:sp>
        <p:sp>
          <p:nvSpPr>
            <p:cNvPr id="571411" name="文本框 571410"/>
            <p:cNvSpPr txBox="1"/>
            <p:nvPr/>
          </p:nvSpPr>
          <p:spPr>
            <a:xfrm>
              <a:off x="2980" y="3348"/>
              <a:ext cx="97"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571412" name="文本框 571411"/>
            <p:cNvSpPr txBox="1"/>
            <p:nvPr/>
          </p:nvSpPr>
          <p:spPr>
            <a:xfrm>
              <a:off x="2951" y="2484"/>
              <a:ext cx="97"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9861"/>
    </mc:Choice>
    <mc:Fallback xmlns="">
      <p:transition spd="slow" advTm="398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1397">
                                            <p:txEl>
                                              <p:pRg st="2" end="2"/>
                                            </p:txEl>
                                          </p:spTgt>
                                        </p:tgtEl>
                                        <p:attrNameLst>
                                          <p:attrName>style.visibility</p:attrName>
                                        </p:attrNameLst>
                                      </p:cBhvr>
                                      <p:to>
                                        <p:strVal val="visible"/>
                                      </p:to>
                                    </p:set>
                                    <p:animEffect transition="in" filter="wipe(left)">
                                      <p:cBhvr>
                                        <p:cTn id="7" dur="2000"/>
                                        <p:tgtEl>
                                          <p:spTgt spid="571397">
                                            <p:txEl>
                                              <p:pRg st="2" end="2"/>
                                            </p:txEl>
                                          </p:spTgt>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571402"/>
                                        </p:tgtEl>
                                        <p:attrNameLst>
                                          <p:attrName>style.visibility</p:attrName>
                                        </p:attrNameLst>
                                      </p:cBhvr>
                                      <p:to>
                                        <p:strVal val="visible"/>
                                      </p:to>
                                    </p:set>
                                    <p:animEffect transition="in" filter="wipe(left)">
                                      <p:cBhvr>
                                        <p:cTn id="11" dur="1000"/>
                                        <p:tgtEl>
                                          <p:spTgt spid="571402"/>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nodeType="clickEffect">
                                  <p:stCondLst>
                                    <p:cond delay="0"/>
                                  </p:stCondLst>
                                  <p:childTnLst>
                                    <p:set>
                                      <p:cBhvr>
                                        <p:cTn id="15" dur="1" fill="hold">
                                          <p:stCondLst>
                                            <p:cond delay="0"/>
                                          </p:stCondLst>
                                        </p:cTn>
                                        <p:tgtEl>
                                          <p:spTgt spid="571405"/>
                                        </p:tgtEl>
                                        <p:attrNameLst>
                                          <p:attrName>style.visibility</p:attrName>
                                        </p:attrNameLst>
                                      </p:cBhvr>
                                      <p:to>
                                        <p:strVal val="visible"/>
                                      </p:to>
                                    </p:set>
                                    <p:animEffect transition="in" filter="diamond(in)">
                                      <p:cBhvr>
                                        <p:cTn id="16" dur="500"/>
                                        <p:tgtEl>
                                          <p:spTgt spid="571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2" name="矩形 570371"/>
          <p:cNvSpPr/>
          <p:nvPr/>
        </p:nvSpPr>
        <p:spPr>
          <a:xfrm>
            <a:off x="107950" y="115888"/>
            <a:ext cx="8640763" cy="18002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570373" name="矩形 570372"/>
          <p:cNvSpPr/>
          <p:nvPr/>
        </p:nvSpPr>
        <p:spPr>
          <a:xfrm>
            <a:off x="147638" y="1471613"/>
            <a:ext cx="8672512" cy="4981575"/>
          </a:xfrm>
          <a:prstGeom prst="rect">
            <a:avLst/>
          </a:prstGeom>
          <a:noFill/>
          <a:ln w="9525">
            <a:noFill/>
          </a:ln>
          <a:effectLst>
            <a:outerShdw dist="17961" dir="2699999" algn="ctr" rotWithShape="0">
              <a:schemeClr val="tx1"/>
            </a:outerShdw>
          </a:effectLst>
        </p:spPr>
        <p:txBody>
          <a:bodyPr/>
          <a:lstStyle/>
          <a:p>
            <a:pPr marL="342900" indent="-342900">
              <a:lnSpc>
                <a:spcPct val="120000"/>
              </a:lnSpc>
              <a:buClr>
                <a:schemeClr val="bg2"/>
              </a:buClr>
              <a:buFont typeface="Monotype Sorts" pitchFamily="2" charset="2"/>
            </a:pPr>
            <a:r>
              <a:rPr lang="zh-CN" altLang="en-US" sz="2600" dirty="0">
                <a:solidFill>
                  <a:srgbClr val="003366"/>
                </a:solidFill>
                <a:latin typeface="黑体" panose="02010609060101010101" pitchFamily="2" charset="-122"/>
                <a:ea typeface="黑体" panose="02010609060101010101" pitchFamily="2" charset="-122"/>
              </a:rPr>
              <a:t>分析： </a:t>
            </a:r>
            <a:r>
              <a:rPr lang="zh-CN" altLang="en-US" sz="2600" dirty="0">
                <a:solidFill>
                  <a:srgbClr val="800080"/>
                </a:solidFill>
                <a:latin typeface="华文中宋" panose="02010600040101010101" pitchFamily="2" charset="-122"/>
                <a:ea typeface="华文中宋" panose="02010600040101010101" pitchFamily="2" charset="-122"/>
              </a:rPr>
              <a:t>通过分析，可将大学的专业、课程、学生和教师间</a:t>
            </a:r>
          </a:p>
          <a:p>
            <a:pPr marL="342900" indent="-342900">
              <a:lnSpc>
                <a:spcPct val="120000"/>
              </a:lnSpc>
              <a:buClr>
                <a:schemeClr val="bg2"/>
              </a:buClr>
              <a:buFont typeface="Monotype Sorts" pitchFamily="2" charset="2"/>
            </a:pPr>
            <a:r>
              <a:rPr lang="zh-CN" altLang="en-US" sz="2600" dirty="0">
                <a:solidFill>
                  <a:srgbClr val="800080"/>
                </a:solidFill>
                <a:latin typeface="华文中宋" panose="02010600040101010101" pitchFamily="2" charset="-122"/>
                <a:ea typeface="华文中宋" panose="02010600040101010101" pitchFamily="2" charset="-122"/>
              </a:rPr>
              <a:t>    的关系归纳如下：</a:t>
            </a:r>
          </a:p>
          <a:p>
            <a:pPr marL="342900" indent="-342900">
              <a:lnSpc>
                <a:spcPct val="120000"/>
              </a:lnSpc>
              <a:spcBef>
                <a:spcPct val="5000"/>
              </a:spcBef>
              <a:buClr>
                <a:schemeClr val="bg2"/>
              </a:buClr>
              <a:buFont typeface="Monotype Sorts" pitchFamily="2" charset="2"/>
            </a:pPr>
            <a:r>
              <a:rPr lang="zh-CN" altLang="en-US" sz="2600" b="1" dirty="0">
                <a:latin typeface="华文中宋" panose="02010600040101010101" pitchFamily="2" charset="-122"/>
                <a:ea typeface="华文中宋" panose="02010600040101010101" pitchFamily="2" charset="-122"/>
              </a:rPr>
              <a:t>         </a:t>
            </a:r>
            <a:r>
              <a:rPr lang="zh-CN" altLang="en-US" sz="2600" b="1" dirty="0">
                <a:latin typeface="楷体_GB2312" pitchFamily="49" charset="-122"/>
                <a:ea typeface="楷体_GB2312" pitchFamily="49" charset="-122"/>
              </a:rPr>
              <a:t>（</a:t>
            </a:r>
            <a:r>
              <a:rPr lang="en-US" altLang="zh-CN" sz="2600" b="1">
                <a:latin typeface="楷体_GB2312" pitchFamily="49" charset="-122"/>
                <a:ea typeface="楷体_GB2312" pitchFamily="49" charset="-122"/>
              </a:rPr>
              <a:t>3</a:t>
            </a:r>
            <a:r>
              <a:rPr lang="zh-CN" altLang="en-US" sz="2600" b="1" dirty="0">
                <a:latin typeface="楷体_GB2312" pitchFamily="49" charset="-122"/>
                <a:ea typeface="楷体_GB2312" pitchFamily="49" charset="-122"/>
              </a:rPr>
              <a:t>）一个学生必须</a:t>
            </a:r>
            <a:r>
              <a:rPr lang="zh-CN" altLang="en-US" sz="2600" b="1" dirty="0">
                <a:solidFill>
                  <a:srgbClr val="660066"/>
                </a:solidFill>
                <a:latin typeface="楷体_GB2312" pitchFamily="49" charset="-122"/>
                <a:ea typeface="楷体_GB2312" pitchFamily="49" charset="-122"/>
              </a:rPr>
              <a:t>学习</a:t>
            </a:r>
            <a:r>
              <a:rPr lang="zh-CN" altLang="en-US" sz="2600" b="1" dirty="0">
                <a:latin typeface="楷体_GB2312" pitchFamily="49" charset="-122"/>
                <a:ea typeface="楷体_GB2312" pitchFamily="49" charset="-122"/>
              </a:rPr>
              <a:t>多门课程，</a:t>
            </a:r>
            <a:r>
              <a:rPr lang="zh-CN" altLang="en-US" sz="2600" b="1" dirty="0">
                <a:latin typeface="Arial" panose="020B0604020202020204" pitchFamily="34" charset="0"/>
              </a:rPr>
              <a:t>多个学生可以同时</a:t>
            </a:r>
            <a:r>
              <a:rPr lang="zh-CN" altLang="en-US" sz="2600" b="1" dirty="0">
                <a:solidFill>
                  <a:srgbClr val="660066"/>
                </a:solidFill>
                <a:effectLst>
                  <a:outerShdw blurRad="38100" dist="38100" dir="2700000">
                    <a:srgbClr val="C0C0C0"/>
                  </a:outerShdw>
                </a:effectLst>
                <a:latin typeface="Arial" panose="020B0604020202020204" pitchFamily="34" charset="0"/>
              </a:rPr>
              <a:t>学习</a:t>
            </a:r>
            <a:r>
              <a:rPr lang="zh-CN" altLang="en-US" sz="2600" b="1" dirty="0">
                <a:latin typeface="Arial" panose="020B0604020202020204" pitchFamily="34" charset="0"/>
              </a:rPr>
              <a:t>同一门课程（一门课程可以被多名同学同时学习）</a:t>
            </a:r>
            <a:endParaRPr lang="zh-CN" altLang="en-US" sz="2600" b="1" dirty="0">
              <a:latin typeface="楷体_GB2312" pitchFamily="49" charset="-122"/>
              <a:ea typeface="楷体_GB2312" pitchFamily="49" charset="-122"/>
            </a:endParaRPr>
          </a:p>
          <a:p>
            <a:pPr marL="342900" indent="-342900">
              <a:lnSpc>
                <a:spcPct val="120000"/>
              </a:lnSpc>
              <a:spcBef>
                <a:spcPct val="5000"/>
              </a:spcBef>
              <a:buClr>
                <a:schemeClr val="bg2"/>
              </a:buClr>
              <a:buFont typeface="Monotype Sorts" pitchFamily="2" charset="2"/>
            </a:pPr>
            <a:r>
              <a:rPr lang="zh-CN" altLang="en-US" sz="2600" b="1" dirty="0">
                <a:latin typeface="楷体_GB2312" pitchFamily="49" charset="-122"/>
                <a:ea typeface="楷体_GB2312" pitchFamily="49" charset="-122"/>
              </a:rPr>
              <a:t>      </a:t>
            </a:r>
          </a:p>
        </p:txBody>
      </p:sp>
      <p:sp>
        <p:nvSpPr>
          <p:cNvPr id="570374" name="文本框 570373"/>
          <p:cNvSpPr txBox="1"/>
          <p:nvPr/>
        </p:nvSpPr>
        <p:spPr>
          <a:xfrm>
            <a:off x="201613" y="130175"/>
            <a:ext cx="8748712" cy="1066800"/>
          </a:xfrm>
          <a:prstGeom prst="rect">
            <a:avLst/>
          </a:prstGeom>
          <a:noFill/>
          <a:ln w="12700" cap="sq" cmpd="sng">
            <a:solidFill>
              <a:srgbClr val="00CC00"/>
            </a:solidFill>
            <a:prstDash val="solid"/>
            <a:miter/>
            <a:headEnd type="none" w="sm" len="sm"/>
            <a:tailEnd type="none" w="sm" len="sm"/>
          </a:ln>
          <a:effectLst>
            <a:outerShdw dist="17961" dir="2699999" algn="ctr" rotWithShape="0">
              <a:schemeClr val="tx1"/>
            </a:outerShdw>
          </a:effectLst>
        </p:spPr>
        <p:txBody>
          <a:bodyPr/>
          <a:lstStyle/>
          <a:p>
            <a:pPr>
              <a:lnSpc>
                <a:spcPct val="110000"/>
              </a:lnSpc>
            </a:pPr>
            <a:r>
              <a:rPr lang="zh-CN" altLang="en-US" sz="2800" dirty="0">
                <a:solidFill>
                  <a:srgbClr val="A50021"/>
                </a:solidFill>
                <a:latin typeface="黑体" panose="02010609060101010101" pitchFamily="2" charset="-122"/>
                <a:ea typeface="黑体" panose="02010609060101010101" pitchFamily="2" charset="-122"/>
              </a:rPr>
              <a:t>例</a:t>
            </a:r>
            <a:r>
              <a:rPr lang="en-US" altLang="zh-CN" sz="2800">
                <a:solidFill>
                  <a:srgbClr val="A50021"/>
                </a:solidFill>
                <a:latin typeface="黑体" panose="02010609060101010101" pitchFamily="2" charset="-122"/>
                <a:ea typeface="黑体" panose="02010609060101010101" pitchFamily="2" charset="-122"/>
              </a:rPr>
              <a:t>3.1</a:t>
            </a:r>
            <a:r>
              <a:rPr lang="zh-CN" altLang="en-US" sz="2800" b="1" dirty="0">
                <a:latin typeface="楷体_GB2312" pitchFamily="49" charset="-122"/>
                <a:ea typeface="楷体_GB2312" pitchFamily="49" charset="-122"/>
              </a:rPr>
              <a:t>：用实体-联系模型描述一个大学的专业、课程、学生和老师之间的教学情况，并设计相应的</a:t>
            </a:r>
            <a:r>
              <a:rPr lang="en-US" altLang="zh-CN" sz="2800" b="1">
                <a:latin typeface="楷体_GB2312" pitchFamily="49" charset="-122"/>
                <a:ea typeface="楷体_GB2312" pitchFamily="49" charset="-122"/>
              </a:rPr>
              <a:t>ER</a:t>
            </a:r>
            <a:r>
              <a:rPr lang="zh-CN" altLang="en-US" sz="2800" b="1" dirty="0">
                <a:latin typeface="楷体_GB2312" pitchFamily="49" charset="-122"/>
                <a:ea typeface="楷体_GB2312" pitchFamily="49" charset="-122"/>
              </a:rPr>
              <a:t>图。</a:t>
            </a:r>
          </a:p>
        </p:txBody>
      </p:sp>
      <p:sp>
        <p:nvSpPr>
          <p:cNvPr id="570375" name="直接连接符 570374"/>
          <p:cNvSpPr/>
          <p:nvPr/>
        </p:nvSpPr>
        <p:spPr>
          <a:xfrm>
            <a:off x="6734175" y="677863"/>
            <a:ext cx="1943100"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0376" name="直接连接符 570375"/>
          <p:cNvSpPr/>
          <p:nvPr/>
        </p:nvSpPr>
        <p:spPr>
          <a:xfrm>
            <a:off x="325438" y="1125538"/>
            <a:ext cx="1763712"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0377" name="直接连接符 570376"/>
          <p:cNvSpPr/>
          <p:nvPr/>
        </p:nvSpPr>
        <p:spPr>
          <a:xfrm>
            <a:off x="3924300" y="2938463"/>
            <a:ext cx="719138"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grpSp>
        <p:nvGrpSpPr>
          <p:cNvPr id="570381" name="组合 570380"/>
          <p:cNvGrpSpPr/>
          <p:nvPr/>
        </p:nvGrpSpPr>
        <p:grpSpPr>
          <a:xfrm>
            <a:off x="2700338" y="3789363"/>
            <a:ext cx="4049712" cy="2339975"/>
            <a:chOff x="2506" y="938"/>
            <a:chExt cx="2551" cy="1474"/>
          </a:xfrm>
        </p:grpSpPr>
        <p:sp>
          <p:nvSpPr>
            <p:cNvPr id="570382" name="文本框 570381"/>
            <p:cNvSpPr txBox="1"/>
            <p:nvPr/>
          </p:nvSpPr>
          <p:spPr>
            <a:xfrm>
              <a:off x="4490" y="938"/>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学生</a:t>
              </a:r>
            </a:p>
          </p:txBody>
        </p:sp>
        <p:sp>
          <p:nvSpPr>
            <p:cNvPr id="570383" name="文本框 570382"/>
            <p:cNvSpPr txBox="1"/>
            <p:nvPr/>
          </p:nvSpPr>
          <p:spPr>
            <a:xfrm>
              <a:off x="2506" y="2144"/>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课程</a:t>
              </a:r>
            </a:p>
          </p:txBody>
        </p:sp>
        <p:sp>
          <p:nvSpPr>
            <p:cNvPr id="570384" name="直接连接符 570383"/>
            <p:cNvSpPr/>
            <p:nvPr/>
          </p:nvSpPr>
          <p:spPr>
            <a:xfrm flipH="1">
              <a:off x="4207" y="1206"/>
              <a:ext cx="567"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0385" name="直接连接符 570384"/>
            <p:cNvSpPr/>
            <p:nvPr/>
          </p:nvSpPr>
          <p:spPr>
            <a:xfrm flipH="1">
              <a:off x="3073" y="1876"/>
              <a:ext cx="567"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0386" name="流程图: 决策 570385" descr="信纸"/>
            <p:cNvSpPr/>
            <p:nvPr/>
          </p:nvSpPr>
          <p:spPr>
            <a:xfrm>
              <a:off x="3324" y="1506"/>
              <a:ext cx="1172" cy="480"/>
            </a:xfrm>
            <a:prstGeom prst="flowChartDecision">
              <a:avLst/>
            </a:prstGeom>
            <a:blipFill rotWithShape="1">
              <a:blip r:embed="rId3"/>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学习</a:t>
              </a:r>
            </a:p>
          </p:txBody>
        </p:sp>
        <p:sp>
          <p:nvSpPr>
            <p:cNvPr id="570387" name="文本框 570386"/>
            <p:cNvSpPr txBox="1"/>
            <p:nvPr/>
          </p:nvSpPr>
          <p:spPr>
            <a:xfrm>
              <a:off x="4712" y="1380"/>
              <a:ext cx="95"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570388" name="文本框 570387"/>
            <p:cNvSpPr txBox="1"/>
            <p:nvPr/>
          </p:nvSpPr>
          <p:spPr>
            <a:xfrm>
              <a:off x="3490" y="2100"/>
              <a:ext cx="97"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759"/>
    </mc:Choice>
    <mc:Fallback xmlns="">
      <p:transition spd="slow" advTm="207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0373">
                                            <p:txEl>
                                              <p:pRg st="2" end="2"/>
                                            </p:txEl>
                                          </p:spTgt>
                                        </p:tgtEl>
                                        <p:attrNameLst>
                                          <p:attrName>style.visibility</p:attrName>
                                        </p:attrNameLst>
                                      </p:cBhvr>
                                      <p:to>
                                        <p:strVal val="visible"/>
                                      </p:to>
                                    </p:set>
                                    <p:animEffect transition="in" filter="wipe(left)">
                                      <p:cBhvr>
                                        <p:cTn id="7" dur="2000"/>
                                        <p:tgtEl>
                                          <p:spTgt spid="570373">
                                            <p:txEl>
                                              <p:pRg st="2" end="2"/>
                                            </p:txEl>
                                          </p:spTgt>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570377"/>
                                        </p:tgtEl>
                                        <p:attrNameLst>
                                          <p:attrName>style.visibility</p:attrName>
                                        </p:attrNameLst>
                                      </p:cBhvr>
                                      <p:to>
                                        <p:strVal val="visible"/>
                                      </p:to>
                                    </p:set>
                                    <p:animEffect transition="in" filter="wipe(left)">
                                      <p:cBhvr>
                                        <p:cTn id="11" dur="1000"/>
                                        <p:tgtEl>
                                          <p:spTgt spid="570377"/>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nodeType="clickEffect">
                                  <p:stCondLst>
                                    <p:cond delay="0"/>
                                  </p:stCondLst>
                                  <p:childTnLst>
                                    <p:set>
                                      <p:cBhvr>
                                        <p:cTn id="15" dur="1" fill="hold">
                                          <p:stCondLst>
                                            <p:cond delay="0"/>
                                          </p:stCondLst>
                                        </p:cTn>
                                        <p:tgtEl>
                                          <p:spTgt spid="570381"/>
                                        </p:tgtEl>
                                        <p:attrNameLst>
                                          <p:attrName>style.visibility</p:attrName>
                                        </p:attrNameLst>
                                      </p:cBhvr>
                                      <p:to>
                                        <p:strVal val="visible"/>
                                      </p:to>
                                    </p:set>
                                    <p:animEffect transition="in" filter="diamond(in)">
                                      <p:cBhvr>
                                        <p:cTn id="16" dur="500"/>
                                        <p:tgtEl>
                                          <p:spTgt spid="570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4" name="矩形 573443"/>
          <p:cNvSpPr/>
          <p:nvPr/>
        </p:nvSpPr>
        <p:spPr>
          <a:xfrm>
            <a:off x="107950" y="115888"/>
            <a:ext cx="8640763" cy="18002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573445" name="矩形 573444"/>
          <p:cNvSpPr/>
          <p:nvPr/>
        </p:nvSpPr>
        <p:spPr>
          <a:xfrm>
            <a:off x="147638" y="1471613"/>
            <a:ext cx="8672512" cy="2101850"/>
          </a:xfrm>
          <a:prstGeom prst="rect">
            <a:avLst/>
          </a:prstGeom>
          <a:noFill/>
          <a:ln w="9525">
            <a:noFill/>
          </a:ln>
          <a:effectLst>
            <a:outerShdw dist="17961" dir="2699999" algn="ctr" rotWithShape="0">
              <a:schemeClr val="tx1"/>
            </a:outerShdw>
          </a:effectLst>
        </p:spPr>
        <p:txBody>
          <a:bodyPr/>
          <a:lstStyle/>
          <a:p>
            <a:pPr marL="342900" indent="-342900">
              <a:lnSpc>
                <a:spcPct val="120000"/>
              </a:lnSpc>
              <a:buClr>
                <a:schemeClr val="bg2"/>
              </a:buClr>
              <a:buFont typeface="Monotype Sorts" pitchFamily="2" charset="2"/>
            </a:pPr>
            <a:r>
              <a:rPr lang="zh-CN" altLang="en-US" sz="2600" dirty="0">
                <a:solidFill>
                  <a:srgbClr val="003366"/>
                </a:solidFill>
                <a:latin typeface="黑体" panose="02010609060101010101" pitchFamily="2" charset="-122"/>
                <a:ea typeface="黑体" panose="02010609060101010101" pitchFamily="2" charset="-122"/>
              </a:rPr>
              <a:t>分析： </a:t>
            </a:r>
            <a:r>
              <a:rPr lang="zh-CN" altLang="en-US" sz="2600" dirty="0">
                <a:solidFill>
                  <a:srgbClr val="800080"/>
                </a:solidFill>
                <a:latin typeface="华文中宋" panose="02010600040101010101" pitchFamily="2" charset="-122"/>
                <a:ea typeface="华文中宋" panose="02010600040101010101" pitchFamily="2" charset="-122"/>
              </a:rPr>
              <a:t>通过分析，可将大学的专业、课程、学生和教师间</a:t>
            </a:r>
          </a:p>
          <a:p>
            <a:pPr marL="342900" indent="-342900">
              <a:lnSpc>
                <a:spcPct val="120000"/>
              </a:lnSpc>
              <a:buClr>
                <a:schemeClr val="bg2"/>
              </a:buClr>
              <a:buFont typeface="Monotype Sorts" pitchFamily="2" charset="2"/>
            </a:pPr>
            <a:r>
              <a:rPr lang="zh-CN" altLang="en-US" sz="2600" dirty="0">
                <a:solidFill>
                  <a:srgbClr val="800080"/>
                </a:solidFill>
                <a:latin typeface="华文中宋" panose="02010600040101010101" pitchFamily="2" charset="-122"/>
                <a:ea typeface="华文中宋" panose="02010600040101010101" pitchFamily="2" charset="-122"/>
              </a:rPr>
              <a:t>    的关系归纳如下：</a:t>
            </a:r>
          </a:p>
          <a:p>
            <a:pPr marL="342900" indent="-342900">
              <a:lnSpc>
                <a:spcPct val="120000"/>
              </a:lnSpc>
              <a:spcBef>
                <a:spcPct val="5000"/>
              </a:spcBef>
              <a:buClr>
                <a:schemeClr val="bg2"/>
              </a:buClr>
              <a:buFont typeface="Monotype Sorts" pitchFamily="2" charset="2"/>
            </a:pPr>
            <a:r>
              <a:rPr lang="zh-CN" altLang="en-US" sz="2600" b="1" dirty="0">
                <a:latin typeface="华文中宋" panose="02010600040101010101" pitchFamily="2" charset="-122"/>
                <a:ea typeface="华文中宋" panose="02010600040101010101" pitchFamily="2" charset="-122"/>
              </a:rPr>
              <a:t>         </a:t>
            </a:r>
            <a:r>
              <a:rPr lang="zh-CN" altLang="en-US" sz="2600" b="1" dirty="0">
                <a:latin typeface="楷体_GB2312" pitchFamily="49" charset="-122"/>
                <a:ea typeface="楷体_GB2312" pitchFamily="49" charset="-122"/>
              </a:rPr>
              <a:t>（</a:t>
            </a:r>
            <a:r>
              <a:rPr lang="en-US" altLang="zh-CN" sz="2600" b="1">
                <a:latin typeface="楷体_GB2312" pitchFamily="49" charset="-122"/>
                <a:ea typeface="楷体_GB2312" pitchFamily="49" charset="-122"/>
              </a:rPr>
              <a:t>4</a:t>
            </a:r>
            <a:r>
              <a:rPr lang="zh-CN" altLang="en-US" sz="2600" b="1" dirty="0">
                <a:latin typeface="楷体_GB2312" pitchFamily="49" charset="-122"/>
                <a:ea typeface="楷体_GB2312" pitchFamily="49" charset="-122"/>
              </a:rPr>
              <a:t>）一个专业有多个学生；一个学生只能</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属于</a:t>
            </a:r>
            <a:r>
              <a:rPr lang="zh-CN" altLang="en-US" sz="2600" b="1" dirty="0">
                <a:latin typeface="楷体_GB2312" pitchFamily="49" charset="-122"/>
                <a:ea typeface="楷体_GB2312" pitchFamily="49" charset="-122"/>
              </a:rPr>
              <a:t>某一专业，一个学生并</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属于</a:t>
            </a:r>
            <a:r>
              <a:rPr lang="zh-CN" altLang="en-US" sz="2600" b="1" dirty="0">
                <a:latin typeface="楷体_GB2312" pitchFamily="49" charset="-122"/>
                <a:ea typeface="楷体_GB2312" pitchFamily="49" charset="-122"/>
              </a:rPr>
              <a:t>某个班级。</a:t>
            </a:r>
            <a:r>
              <a:rPr lang="zh-CN" altLang="en-US" sz="2600" b="1" dirty="0">
                <a:latin typeface="华文中宋" panose="02010600040101010101" pitchFamily="2" charset="-122"/>
                <a:ea typeface="华文中宋" panose="02010600040101010101" pitchFamily="2" charset="-122"/>
              </a:rPr>
              <a:t> </a:t>
            </a:r>
          </a:p>
        </p:txBody>
      </p:sp>
      <p:sp>
        <p:nvSpPr>
          <p:cNvPr id="573446" name="文本框 573445"/>
          <p:cNvSpPr txBox="1"/>
          <p:nvPr/>
        </p:nvSpPr>
        <p:spPr>
          <a:xfrm>
            <a:off x="201613" y="130175"/>
            <a:ext cx="8748712" cy="1066800"/>
          </a:xfrm>
          <a:prstGeom prst="rect">
            <a:avLst/>
          </a:prstGeom>
          <a:noFill/>
          <a:ln w="12700" cap="sq" cmpd="sng">
            <a:solidFill>
              <a:srgbClr val="00CC00"/>
            </a:solidFill>
            <a:prstDash val="solid"/>
            <a:miter/>
            <a:headEnd type="none" w="sm" len="sm"/>
            <a:tailEnd type="none" w="sm" len="sm"/>
          </a:ln>
          <a:effectLst>
            <a:outerShdw dist="17961" dir="2699999" algn="ctr" rotWithShape="0">
              <a:schemeClr val="tx1"/>
            </a:outerShdw>
          </a:effectLst>
        </p:spPr>
        <p:txBody>
          <a:bodyPr/>
          <a:lstStyle/>
          <a:p>
            <a:pPr>
              <a:lnSpc>
                <a:spcPct val="110000"/>
              </a:lnSpc>
            </a:pPr>
            <a:r>
              <a:rPr lang="zh-CN" altLang="en-US" sz="2800" dirty="0">
                <a:solidFill>
                  <a:srgbClr val="A50021"/>
                </a:solidFill>
                <a:latin typeface="黑体" panose="02010609060101010101" pitchFamily="2" charset="-122"/>
                <a:ea typeface="黑体" panose="02010609060101010101" pitchFamily="2" charset="-122"/>
              </a:rPr>
              <a:t>例</a:t>
            </a:r>
            <a:r>
              <a:rPr lang="en-US" altLang="zh-CN" sz="2800">
                <a:solidFill>
                  <a:srgbClr val="A50021"/>
                </a:solidFill>
                <a:latin typeface="黑体" panose="02010609060101010101" pitchFamily="2" charset="-122"/>
                <a:ea typeface="黑体" panose="02010609060101010101" pitchFamily="2" charset="-122"/>
              </a:rPr>
              <a:t>3.1</a:t>
            </a:r>
            <a:r>
              <a:rPr lang="zh-CN" altLang="en-US" sz="2800" b="1" dirty="0">
                <a:latin typeface="楷体_GB2312" pitchFamily="49" charset="-122"/>
                <a:ea typeface="楷体_GB2312" pitchFamily="49" charset="-122"/>
              </a:rPr>
              <a:t>：用实体-联系模型描述一个大学的专业、课程、学生和老师之间的教学情况，并设计相应的</a:t>
            </a:r>
            <a:r>
              <a:rPr lang="en-US" altLang="zh-CN" sz="2800" b="1">
                <a:latin typeface="楷体_GB2312" pitchFamily="49" charset="-122"/>
                <a:ea typeface="楷体_GB2312" pitchFamily="49" charset="-122"/>
              </a:rPr>
              <a:t>ER</a:t>
            </a:r>
            <a:r>
              <a:rPr lang="zh-CN" altLang="en-US" sz="2800" b="1" dirty="0">
                <a:latin typeface="楷体_GB2312" pitchFamily="49" charset="-122"/>
                <a:ea typeface="楷体_GB2312" pitchFamily="49" charset="-122"/>
              </a:rPr>
              <a:t>图。</a:t>
            </a:r>
          </a:p>
        </p:txBody>
      </p:sp>
      <p:sp>
        <p:nvSpPr>
          <p:cNvPr id="573447" name="直接连接符 573446"/>
          <p:cNvSpPr/>
          <p:nvPr/>
        </p:nvSpPr>
        <p:spPr>
          <a:xfrm>
            <a:off x="6734175" y="677863"/>
            <a:ext cx="1943100"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3448" name="直接连接符 573447"/>
          <p:cNvSpPr/>
          <p:nvPr/>
        </p:nvSpPr>
        <p:spPr>
          <a:xfrm>
            <a:off x="325438" y="1125538"/>
            <a:ext cx="1763712"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3449" name="直接连接符 573448"/>
          <p:cNvSpPr/>
          <p:nvPr/>
        </p:nvSpPr>
        <p:spPr>
          <a:xfrm>
            <a:off x="7280275" y="2952750"/>
            <a:ext cx="719138"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grpSp>
        <p:nvGrpSpPr>
          <p:cNvPr id="573453" name="组合 573452"/>
          <p:cNvGrpSpPr/>
          <p:nvPr/>
        </p:nvGrpSpPr>
        <p:grpSpPr>
          <a:xfrm>
            <a:off x="827088" y="4206875"/>
            <a:ext cx="7200900" cy="950913"/>
            <a:chOff x="521" y="712"/>
            <a:chExt cx="4536" cy="599"/>
          </a:xfrm>
        </p:grpSpPr>
        <p:sp>
          <p:nvSpPr>
            <p:cNvPr id="573454" name="文本框 573453"/>
            <p:cNvSpPr txBox="1"/>
            <p:nvPr/>
          </p:nvSpPr>
          <p:spPr>
            <a:xfrm>
              <a:off x="521" y="938"/>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专业</a:t>
              </a:r>
            </a:p>
          </p:txBody>
        </p:sp>
        <p:sp>
          <p:nvSpPr>
            <p:cNvPr id="573455" name="文本框 573454"/>
            <p:cNvSpPr txBox="1"/>
            <p:nvPr/>
          </p:nvSpPr>
          <p:spPr>
            <a:xfrm>
              <a:off x="4490" y="938"/>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学生</a:t>
              </a:r>
            </a:p>
          </p:txBody>
        </p:sp>
        <p:sp>
          <p:nvSpPr>
            <p:cNvPr id="573456" name="直接连接符 573455"/>
            <p:cNvSpPr/>
            <p:nvPr/>
          </p:nvSpPr>
          <p:spPr>
            <a:xfrm>
              <a:off x="1088" y="1072"/>
              <a:ext cx="1134" cy="0"/>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3457" name="直接连接符 573456"/>
            <p:cNvSpPr/>
            <p:nvPr/>
          </p:nvSpPr>
          <p:spPr>
            <a:xfrm>
              <a:off x="3356" y="1072"/>
              <a:ext cx="1134" cy="0"/>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3458" name="流程图: 决策 573457" descr="信纸"/>
            <p:cNvSpPr/>
            <p:nvPr/>
          </p:nvSpPr>
          <p:spPr>
            <a:xfrm>
              <a:off x="2225" y="831"/>
              <a:ext cx="1172" cy="480"/>
            </a:xfrm>
            <a:prstGeom prst="flowChartDecision">
              <a:avLst/>
            </a:prstGeom>
            <a:blipFill rotWithShape="1">
              <a:blip r:embed="rId3"/>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归属</a:t>
              </a:r>
            </a:p>
          </p:txBody>
        </p:sp>
        <p:sp>
          <p:nvSpPr>
            <p:cNvPr id="573459" name="文本框 573458"/>
            <p:cNvSpPr txBox="1"/>
            <p:nvPr/>
          </p:nvSpPr>
          <p:spPr>
            <a:xfrm>
              <a:off x="1594" y="712"/>
              <a:ext cx="98"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zh-CN" altLang="en-US" sz="2400" b="1" dirty="0">
                  <a:solidFill>
                    <a:schemeClr val="tx2"/>
                  </a:solidFill>
                  <a:latin typeface="宋体" panose="02010600030101010101" pitchFamily="2" charset="-122"/>
                </a:rPr>
                <a:t>1</a:t>
              </a:r>
            </a:p>
          </p:txBody>
        </p:sp>
        <p:sp>
          <p:nvSpPr>
            <p:cNvPr id="573460" name="文本框 573459"/>
            <p:cNvSpPr txBox="1"/>
            <p:nvPr/>
          </p:nvSpPr>
          <p:spPr>
            <a:xfrm>
              <a:off x="3898" y="756"/>
              <a:ext cx="95"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3543"/>
    </mc:Choice>
    <mc:Fallback xmlns="">
      <p:transition spd="slow" advTm="435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3445">
                                            <p:txEl>
                                              <p:pRg st="2" end="2"/>
                                            </p:txEl>
                                          </p:spTgt>
                                        </p:tgtEl>
                                        <p:attrNameLst>
                                          <p:attrName>style.visibility</p:attrName>
                                        </p:attrNameLst>
                                      </p:cBhvr>
                                      <p:to>
                                        <p:strVal val="visible"/>
                                      </p:to>
                                    </p:set>
                                    <p:animEffect transition="in" filter="wipe(left)">
                                      <p:cBhvr>
                                        <p:cTn id="7" dur="2000"/>
                                        <p:tgtEl>
                                          <p:spTgt spid="573445">
                                            <p:txEl>
                                              <p:pRg st="2" end="2"/>
                                            </p:txEl>
                                          </p:spTgt>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573449"/>
                                        </p:tgtEl>
                                        <p:attrNameLst>
                                          <p:attrName>style.visibility</p:attrName>
                                        </p:attrNameLst>
                                      </p:cBhvr>
                                      <p:to>
                                        <p:strVal val="visible"/>
                                      </p:to>
                                    </p:set>
                                    <p:animEffect transition="in" filter="wipe(left)">
                                      <p:cBhvr>
                                        <p:cTn id="11" dur="1000"/>
                                        <p:tgtEl>
                                          <p:spTgt spid="573449"/>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nodeType="clickEffect">
                                  <p:stCondLst>
                                    <p:cond delay="0"/>
                                  </p:stCondLst>
                                  <p:childTnLst>
                                    <p:set>
                                      <p:cBhvr>
                                        <p:cTn id="15" dur="1" fill="hold">
                                          <p:stCondLst>
                                            <p:cond delay="0"/>
                                          </p:stCondLst>
                                        </p:cTn>
                                        <p:tgtEl>
                                          <p:spTgt spid="573453"/>
                                        </p:tgtEl>
                                        <p:attrNameLst>
                                          <p:attrName>style.visibility</p:attrName>
                                        </p:attrNameLst>
                                      </p:cBhvr>
                                      <p:to>
                                        <p:strVal val="visible"/>
                                      </p:to>
                                    </p:set>
                                    <p:animEffect transition="in" filter="diamond(in)">
                                      <p:cBhvr>
                                        <p:cTn id="16" dur="500"/>
                                        <p:tgtEl>
                                          <p:spTgt spid="573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79" name="文本框 437278"/>
          <p:cNvSpPr txBox="1"/>
          <p:nvPr/>
        </p:nvSpPr>
        <p:spPr>
          <a:xfrm>
            <a:off x="1447800" y="446088"/>
            <a:ext cx="7227888" cy="396875"/>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zh-CN" altLang="en-US" sz="2600" b="1" dirty="0">
                <a:solidFill>
                  <a:srgbClr val="006666"/>
                </a:solidFill>
                <a:effectLst>
                  <a:outerShdw blurRad="38100" dist="38100" dir="2700000">
                    <a:srgbClr val="C0C0C0"/>
                  </a:outerShdw>
                </a:effectLst>
                <a:latin typeface="楷体_GB2312" pitchFamily="49" charset="-122"/>
                <a:ea typeface="楷体_GB2312" pitchFamily="49" charset="-122"/>
              </a:rPr>
              <a:t>大学教学情况实体</a:t>
            </a:r>
            <a:r>
              <a:rPr lang="en-US" altLang="zh-CN" sz="2600" b="1">
                <a:solidFill>
                  <a:srgbClr val="006666"/>
                </a:solidFill>
                <a:effectLst>
                  <a:outerShdw blurRad="38100" dist="38100" dir="2700000">
                    <a:srgbClr val="C0C0C0"/>
                  </a:outerShdw>
                </a:effectLst>
                <a:latin typeface="楷体_GB2312" pitchFamily="49" charset="-122"/>
                <a:ea typeface="楷体_GB2312" pitchFamily="49" charset="-122"/>
              </a:rPr>
              <a:t>-</a:t>
            </a:r>
            <a:r>
              <a:rPr lang="zh-CN" altLang="en-US" sz="2600" b="1" dirty="0">
                <a:solidFill>
                  <a:srgbClr val="006666"/>
                </a:solidFill>
                <a:effectLst>
                  <a:outerShdw blurRad="38100" dist="38100" dir="2700000">
                    <a:srgbClr val="C0C0C0"/>
                  </a:outerShdw>
                </a:effectLst>
                <a:latin typeface="楷体_GB2312" pitchFamily="49" charset="-122"/>
                <a:ea typeface="楷体_GB2312" pitchFamily="49" charset="-122"/>
              </a:rPr>
              <a:t>联系模型</a:t>
            </a:r>
            <a:r>
              <a:rPr lang="zh-CN" altLang="en-US" sz="2400" b="1" dirty="0">
                <a:latin typeface="楷体_GB2312" pitchFamily="49" charset="-122"/>
                <a:ea typeface="楷体_GB2312" pitchFamily="49" charset="-122"/>
              </a:rPr>
              <a:t> </a:t>
            </a:r>
            <a:r>
              <a:rPr lang="en-US" altLang="zh-CN" sz="2400" b="1">
                <a:latin typeface="楷体_GB2312" pitchFamily="49" charset="-122"/>
                <a:ea typeface="楷体_GB2312" pitchFamily="49" charset="-122"/>
              </a:rPr>
              <a:t>(E-R</a:t>
            </a:r>
            <a:r>
              <a:rPr lang="zh-CN" altLang="en-US" sz="2400" b="1" dirty="0">
                <a:latin typeface="楷体_GB2312" pitchFamily="49" charset="-122"/>
                <a:ea typeface="楷体_GB2312" pitchFamily="49" charset="-122"/>
              </a:rPr>
              <a:t>图</a:t>
            </a:r>
            <a:r>
              <a:rPr lang="en-US" altLang="zh-CN" sz="2400" b="1">
                <a:latin typeface="楷体_GB2312" pitchFamily="49" charset="-122"/>
                <a:ea typeface="楷体_GB2312" pitchFamily="49" charset="-122"/>
              </a:rPr>
              <a:t>)</a:t>
            </a:r>
            <a:r>
              <a:rPr lang="zh-CN" altLang="en-US" sz="2400" b="1" dirty="0">
                <a:latin typeface="楷体_GB2312" pitchFamily="49" charset="-122"/>
                <a:ea typeface="楷体_GB2312" pitchFamily="49" charset="-122"/>
              </a:rPr>
              <a:t>的雏形</a:t>
            </a:r>
            <a:r>
              <a:rPr lang="en-US" altLang="zh-CN" sz="2400" b="1">
                <a:latin typeface="楷体_GB2312" pitchFamily="49" charset="-122"/>
                <a:ea typeface="楷体_GB2312" pitchFamily="49" charset="-122"/>
              </a:rPr>
              <a:t>/</a:t>
            </a:r>
            <a:r>
              <a:rPr lang="zh-CN" altLang="en-US" sz="2400" b="1" dirty="0">
                <a:latin typeface="楷体_GB2312" pitchFamily="49" charset="-122"/>
                <a:ea typeface="楷体_GB2312" pitchFamily="49" charset="-122"/>
              </a:rPr>
              <a:t>主体</a:t>
            </a:r>
            <a:endParaRPr lang="en-US" altLang="zh-CN" sz="2400" b="1">
              <a:latin typeface="楷体_GB2312" pitchFamily="49" charset="-122"/>
              <a:ea typeface="楷体_GB2312" pitchFamily="49" charset="-122"/>
            </a:endParaRPr>
          </a:p>
        </p:txBody>
      </p:sp>
      <p:grpSp>
        <p:nvGrpSpPr>
          <p:cNvPr id="437309" name="组合 437308"/>
          <p:cNvGrpSpPr/>
          <p:nvPr/>
        </p:nvGrpSpPr>
        <p:grpSpPr>
          <a:xfrm>
            <a:off x="827088" y="1130300"/>
            <a:ext cx="7200900" cy="5251450"/>
            <a:chOff x="816" y="436"/>
            <a:chExt cx="4272" cy="3308"/>
          </a:xfrm>
        </p:grpSpPr>
        <p:grpSp>
          <p:nvGrpSpPr>
            <p:cNvPr id="437310" name="组合 437309"/>
            <p:cNvGrpSpPr/>
            <p:nvPr/>
          </p:nvGrpSpPr>
          <p:grpSpPr>
            <a:xfrm>
              <a:off x="816" y="436"/>
              <a:ext cx="4272" cy="3308"/>
              <a:chOff x="816" y="436"/>
              <a:chExt cx="4272" cy="3308"/>
            </a:xfrm>
          </p:grpSpPr>
          <p:sp>
            <p:nvSpPr>
              <p:cNvPr id="437311" name="文本框 437310"/>
              <p:cNvSpPr txBox="1"/>
              <p:nvPr/>
            </p:nvSpPr>
            <p:spPr>
              <a:xfrm>
                <a:off x="816" y="662"/>
                <a:ext cx="534"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专业</a:t>
                </a:r>
              </a:p>
            </p:txBody>
          </p:sp>
          <p:sp>
            <p:nvSpPr>
              <p:cNvPr id="437312" name="文本框 437311"/>
              <p:cNvSpPr txBox="1"/>
              <p:nvPr/>
            </p:nvSpPr>
            <p:spPr>
              <a:xfrm>
                <a:off x="4554" y="662"/>
                <a:ext cx="534"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学生</a:t>
                </a:r>
              </a:p>
            </p:txBody>
          </p:sp>
          <p:sp>
            <p:nvSpPr>
              <p:cNvPr id="437313" name="文本框 437312"/>
              <p:cNvSpPr txBox="1"/>
              <p:nvPr/>
            </p:nvSpPr>
            <p:spPr>
              <a:xfrm>
                <a:off x="2685" y="1868"/>
                <a:ext cx="534"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课程</a:t>
                </a:r>
              </a:p>
            </p:txBody>
          </p:sp>
          <p:sp>
            <p:nvSpPr>
              <p:cNvPr id="437314" name="文本框 437313"/>
              <p:cNvSpPr txBox="1"/>
              <p:nvPr/>
            </p:nvSpPr>
            <p:spPr>
              <a:xfrm>
                <a:off x="2683" y="3476"/>
                <a:ext cx="534"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教师</a:t>
                </a:r>
              </a:p>
            </p:txBody>
          </p:sp>
          <p:sp>
            <p:nvSpPr>
              <p:cNvPr id="437315" name="直接连接符 437314"/>
              <p:cNvSpPr/>
              <p:nvPr/>
            </p:nvSpPr>
            <p:spPr>
              <a:xfrm>
                <a:off x="1083" y="930"/>
                <a:ext cx="534"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16" name="直接连接符 437315"/>
              <p:cNvSpPr/>
              <p:nvPr/>
            </p:nvSpPr>
            <p:spPr>
              <a:xfrm>
                <a:off x="2151" y="1600"/>
                <a:ext cx="534"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17" name="直接连接符 437316"/>
              <p:cNvSpPr/>
              <p:nvPr/>
            </p:nvSpPr>
            <p:spPr>
              <a:xfrm>
                <a:off x="1350" y="796"/>
                <a:ext cx="1068" cy="0"/>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18" name="直接连接符 437317"/>
              <p:cNvSpPr/>
              <p:nvPr/>
            </p:nvSpPr>
            <p:spPr>
              <a:xfrm>
                <a:off x="3486" y="796"/>
                <a:ext cx="1068" cy="0"/>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19" name="直接连接符 437318"/>
              <p:cNvSpPr/>
              <p:nvPr/>
            </p:nvSpPr>
            <p:spPr>
              <a:xfrm flipH="1">
                <a:off x="4287" y="930"/>
                <a:ext cx="534"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20" name="直接连接符 437319"/>
              <p:cNvSpPr/>
              <p:nvPr/>
            </p:nvSpPr>
            <p:spPr>
              <a:xfrm flipH="1">
                <a:off x="3219" y="1600"/>
                <a:ext cx="534"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21" name="直接连接符 437320"/>
              <p:cNvSpPr/>
              <p:nvPr/>
            </p:nvSpPr>
            <p:spPr>
              <a:xfrm>
                <a:off x="2952" y="2136"/>
                <a:ext cx="0"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22" name="直接连接符 437321"/>
              <p:cNvSpPr/>
              <p:nvPr/>
            </p:nvSpPr>
            <p:spPr>
              <a:xfrm>
                <a:off x="2952" y="3074"/>
                <a:ext cx="0"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23" name="流程图: 决策 437322" descr="信纸"/>
              <p:cNvSpPr/>
              <p:nvPr/>
            </p:nvSpPr>
            <p:spPr>
              <a:xfrm>
                <a:off x="1314" y="1230"/>
                <a:ext cx="1104" cy="480"/>
              </a:xfrm>
              <a:prstGeom prst="flowChartDecision">
                <a:avLst/>
              </a:prstGeom>
              <a:blipFill rotWithShape="1">
                <a:blip r:embed="rId2"/>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设置</a:t>
                </a:r>
              </a:p>
            </p:txBody>
          </p:sp>
          <p:sp>
            <p:nvSpPr>
              <p:cNvPr id="437324" name="流程图: 决策 437323" descr="信纸"/>
              <p:cNvSpPr/>
              <p:nvPr/>
            </p:nvSpPr>
            <p:spPr>
              <a:xfrm>
                <a:off x="2400" y="2544"/>
                <a:ext cx="1104" cy="519"/>
              </a:xfrm>
              <a:prstGeom prst="flowChartDecision">
                <a:avLst/>
              </a:prstGeom>
              <a:blipFill rotWithShape="1">
                <a:blip r:embed="rId2"/>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讲授</a:t>
                </a:r>
              </a:p>
            </p:txBody>
          </p:sp>
          <p:sp>
            <p:nvSpPr>
              <p:cNvPr id="437325" name="流程图: 决策 437324" descr="信纸"/>
              <p:cNvSpPr/>
              <p:nvPr/>
            </p:nvSpPr>
            <p:spPr>
              <a:xfrm>
                <a:off x="3456" y="1230"/>
                <a:ext cx="1104" cy="480"/>
              </a:xfrm>
              <a:prstGeom prst="flowChartDecision">
                <a:avLst/>
              </a:prstGeom>
              <a:blipFill rotWithShape="1">
                <a:blip r:embed="rId2"/>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学习</a:t>
                </a:r>
              </a:p>
            </p:txBody>
          </p:sp>
          <p:sp>
            <p:nvSpPr>
              <p:cNvPr id="437326" name="流程图: 决策 437325" descr="信纸"/>
              <p:cNvSpPr/>
              <p:nvPr/>
            </p:nvSpPr>
            <p:spPr>
              <a:xfrm>
                <a:off x="2421" y="555"/>
                <a:ext cx="1104" cy="480"/>
              </a:xfrm>
              <a:prstGeom prst="flowChartDecision">
                <a:avLst/>
              </a:prstGeom>
              <a:blipFill rotWithShape="1">
                <a:blip r:embed="rId2"/>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归属</a:t>
                </a:r>
              </a:p>
            </p:txBody>
          </p:sp>
          <p:sp>
            <p:nvSpPr>
              <p:cNvPr id="437327" name="文本框 437326"/>
              <p:cNvSpPr txBox="1"/>
              <p:nvPr/>
            </p:nvSpPr>
            <p:spPr>
              <a:xfrm>
                <a:off x="1827" y="436"/>
                <a:ext cx="92"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zh-CN" altLang="en-US" sz="2400" b="1" dirty="0">
                    <a:solidFill>
                      <a:schemeClr val="tx2"/>
                    </a:solidFill>
                    <a:latin typeface="宋体" panose="02010600030101010101" pitchFamily="2" charset="-122"/>
                  </a:rPr>
                  <a:t>1</a:t>
                </a:r>
              </a:p>
            </p:txBody>
          </p:sp>
          <p:sp>
            <p:nvSpPr>
              <p:cNvPr id="437328" name="文本框 437327"/>
              <p:cNvSpPr txBox="1"/>
              <p:nvPr/>
            </p:nvSpPr>
            <p:spPr>
              <a:xfrm>
                <a:off x="3995" y="480"/>
                <a:ext cx="93"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sp>
            <p:nvSpPr>
              <p:cNvPr id="437329" name="文本框 437328"/>
              <p:cNvSpPr txBox="1"/>
              <p:nvPr/>
            </p:nvSpPr>
            <p:spPr>
              <a:xfrm>
                <a:off x="1019" y="1056"/>
                <a:ext cx="94"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437330" name="文本框 437329"/>
              <p:cNvSpPr txBox="1"/>
              <p:nvPr/>
            </p:nvSpPr>
            <p:spPr>
              <a:xfrm>
                <a:off x="4762" y="1104"/>
                <a:ext cx="93"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437331" name="文本框 437330"/>
              <p:cNvSpPr txBox="1"/>
              <p:nvPr/>
            </p:nvSpPr>
            <p:spPr>
              <a:xfrm>
                <a:off x="3132" y="3072"/>
                <a:ext cx="91"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437332" name="文本框 437331"/>
              <p:cNvSpPr txBox="1"/>
              <p:nvPr/>
            </p:nvSpPr>
            <p:spPr>
              <a:xfrm>
                <a:off x="2172" y="1824"/>
                <a:ext cx="92"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effectLst>
                      <a:outerShdw blurRad="38100" dist="38100" dir="2700000">
                        <a:srgbClr val="C0C0C0"/>
                      </a:outerShdw>
                    </a:effectLst>
                    <a:latin typeface="宋体" panose="02010600030101010101" pitchFamily="2" charset="-122"/>
                  </a:rPr>
                  <a:t>N</a:t>
                </a:r>
              </a:p>
            </p:txBody>
          </p:sp>
          <p:sp>
            <p:nvSpPr>
              <p:cNvPr id="437333" name="文本框 437332"/>
              <p:cNvSpPr txBox="1"/>
              <p:nvPr/>
            </p:nvSpPr>
            <p:spPr>
              <a:xfrm>
                <a:off x="3612" y="1824"/>
                <a:ext cx="92"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sp>
            <p:nvSpPr>
              <p:cNvPr id="437334" name="文本框 437333"/>
              <p:cNvSpPr txBox="1"/>
              <p:nvPr/>
            </p:nvSpPr>
            <p:spPr>
              <a:xfrm>
                <a:off x="3105" y="2208"/>
                <a:ext cx="91"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
          <p:nvSpPr>
            <p:cNvPr id="437335" name="文本框 437334"/>
            <p:cNvSpPr txBox="1"/>
            <p:nvPr/>
          </p:nvSpPr>
          <p:spPr>
            <a:xfrm>
              <a:off x="2172" y="1824"/>
              <a:ext cx="92"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Tree>
  </p:cSld>
  <p:clrMapOvr>
    <a:masterClrMapping/>
  </p:clrMapOvr>
  <mc:AlternateContent xmlns:mc="http://schemas.openxmlformats.org/markup-compatibility/2006" xmlns:p14="http://schemas.microsoft.com/office/powerpoint/2010/main">
    <mc:Choice Requires="p14">
      <p:transition spd="slow" p14:dur="2000" advTm="29492"/>
    </mc:Choice>
    <mc:Fallback xmlns="">
      <p:transition spd="slow" advTm="294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afterEffect">
                                  <p:stCondLst>
                                    <p:cond delay="0"/>
                                  </p:stCondLst>
                                  <p:childTnLst>
                                    <p:set>
                                      <p:cBhvr>
                                        <p:cTn id="6" dur="1" fill="hold">
                                          <p:stCondLst>
                                            <p:cond delay="0"/>
                                          </p:stCondLst>
                                        </p:cTn>
                                        <p:tgtEl>
                                          <p:spTgt spid="437309"/>
                                        </p:tgtEl>
                                        <p:attrNameLst>
                                          <p:attrName>style.visibility</p:attrName>
                                        </p:attrNameLst>
                                      </p:cBhvr>
                                      <p:to>
                                        <p:strVal val="visible"/>
                                      </p:to>
                                    </p:set>
                                    <p:animEffect transition="in" filter="diamond(out)">
                                      <p:cBhvr>
                                        <p:cTn id="7" dur="2000"/>
                                        <p:tgtEl>
                                          <p:spTgt spid="437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6" name="矩形 438275"/>
          <p:cNvSpPr/>
          <p:nvPr/>
        </p:nvSpPr>
        <p:spPr>
          <a:xfrm>
            <a:off x="107950" y="115888"/>
            <a:ext cx="8640763" cy="18002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38277" name="文本框 438276"/>
          <p:cNvSpPr txBox="1"/>
          <p:nvPr/>
        </p:nvSpPr>
        <p:spPr>
          <a:xfrm>
            <a:off x="201613" y="130175"/>
            <a:ext cx="8748712" cy="1066800"/>
          </a:xfrm>
          <a:prstGeom prst="rect">
            <a:avLst/>
          </a:prstGeom>
          <a:noFill/>
          <a:ln w="12700" cap="sq" cmpd="sng">
            <a:solidFill>
              <a:srgbClr val="00CC00"/>
            </a:solidFill>
            <a:prstDash val="solid"/>
            <a:miter/>
            <a:headEnd type="none" w="sm" len="sm"/>
            <a:tailEnd type="none" w="sm" len="sm"/>
          </a:ln>
          <a:effectLst>
            <a:outerShdw dist="17961" dir="2699999" algn="ctr" rotWithShape="0">
              <a:schemeClr val="tx1"/>
            </a:outerShdw>
          </a:effectLst>
        </p:spPr>
        <p:txBody>
          <a:bodyPr/>
          <a:lstStyle/>
          <a:p>
            <a:pPr>
              <a:lnSpc>
                <a:spcPct val="110000"/>
              </a:lnSpc>
            </a:pPr>
            <a:r>
              <a:rPr lang="zh-CN" altLang="en-US" sz="2800" dirty="0">
                <a:solidFill>
                  <a:srgbClr val="A50021"/>
                </a:solidFill>
                <a:latin typeface="黑体" panose="02010609060101010101" pitchFamily="2" charset="-122"/>
                <a:ea typeface="黑体" panose="02010609060101010101" pitchFamily="2" charset="-122"/>
              </a:rPr>
              <a:t>例</a:t>
            </a:r>
            <a:r>
              <a:rPr lang="en-US" altLang="zh-CN" sz="2800">
                <a:solidFill>
                  <a:srgbClr val="A50021"/>
                </a:solidFill>
                <a:latin typeface="黑体" panose="02010609060101010101" pitchFamily="2" charset="-122"/>
                <a:ea typeface="黑体" panose="02010609060101010101" pitchFamily="2" charset="-122"/>
              </a:rPr>
              <a:t>3.1</a:t>
            </a:r>
            <a:r>
              <a:rPr lang="zh-CN" altLang="en-US" sz="2800" b="1" dirty="0">
                <a:latin typeface="楷体_GB2312" pitchFamily="49" charset="-122"/>
                <a:ea typeface="楷体_GB2312" pitchFamily="49" charset="-122"/>
              </a:rPr>
              <a:t>：用实体-联系模型描述一个大学的专业、课程、学生和老师之间的教学情况，并设计相应的</a:t>
            </a:r>
            <a:r>
              <a:rPr lang="en-US" altLang="zh-CN" sz="2800" b="1">
                <a:latin typeface="楷体_GB2312" pitchFamily="49" charset="-122"/>
                <a:ea typeface="楷体_GB2312" pitchFamily="49" charset="-122"/>
              </a:rPr>
              <a:t>ER</a:t>
            </a:r>
            <a:r>
              <a:rPr lang="zh-CN" altLang="en-US" sz="2800" b="1" dirty="0">
                <a:latin typeface="楷体_GB2312" pitchFamily="49" charset="-122"/>
                <a:ea typeface="楷体_GB2312" pitchFamily="49" charset="-122"/>
              </a:rPr>
              <a:t>图。</a:t>
            </a:r>
          </a:p>
        </p:txBody>
      </p:sp>
      <p:sp>
        <p:nvSpPr>
          <p:cNvPr id="438280" name="矩形 438279"/>
          <p:cNvSpPr/>
          <p:nvPr/>
        </p:nvSpPr>
        <p:spPr>
          <a:xfrm>
            <a:off x="147638" y="1412875"/>
            <a:ext cx="8672512" cy="5040313"/>
          </a:xfrm>
          <a:prstGeom prst="rect">
            <a:avLst/>
          </a:prstGeom>
          <a:noFill/>
          <a:ln w="9525">
            <a:noFill/>
          </a:ln>
          <a:effectLst>
            <a:outerShdw dist="17961" dir="2699999" algn="ctr" rotWithShape="0">
              <a:schemeClr val="tx1"/>
            </a:outerShdw>
          </a:effectLst>
        </p:spPr>
        <p:txBody>
          <a:bodyPr/>
          <a:lstStyle/>
          <a:p>
            <a:pPr marL="342900" indent="-342900">
              <a:lnSpc>
                <a:spcPct val="115000"/>
              </a:lnSpc>
              <a:spcBef>
                <a:spcPct val="5000"/>
              </a:spcBef>
              <a:buClr>
                <a:schemeClr val="bg2"/>
              </a:buClr>
              <a:buFont typeface="Monotype Sorts" pitchFamily="2" charset="2"/>
            </a:pPr>
            <a:r>
              <a:rPr lang="zh-CN" altLang="en-US" sz="2600" dirty="0">
                <a:solidFill>
                  <a:srgbClr val="003366"/>
                </a:solidFill>
                <a:latin typeface="黑体" panose="02010609060101010101" pitchFamily="2" charset="-122"/>
                <a:ea typeface="黑体" panose="02010609060101010101" pitchFamily="2" charset="-122"/>
              </a:rPr>
              <a:t>分析：</a:t>
            </a:r>
            <a:r>
              <a:rPr lang="zh-CN" altLang="en-US" sz="2600" dirty="0">
                <a:solidFill>
                  <a:srgbClr val="800080"/>
                </a:solidFill>
                <a:latin typeface="华文中宋" panose="02010600040101010101" pitchFamily="2" charset="-122"/>
                <a:ea typeface="华文中宋" panose="02010600040101010101" pitchFamily="2" charset="-122"/>
              </a:rPr>
              <a:t>专业、课程、学生和教师的属性和标识码：</a:t>
            </a:r>
          </a:p>
          <a:p>
            <a:pPr marL="342900" indent="-342900">
              <a:lnSpc>
                <a:spcPct val="125000"/>
              </a:lnSpc>
              <a:spcBef>
                <a:spcPct val="25000"/>
              </a:spcBef>
              <a:buClr>
                <a:schemeClr val="bg2"/>
              </a:buClr>
              <a:buFont typeface="Monotype Sorts" pitchFamily="2" charset="2"/>
            </a:pPr>
            <a:r>
              <a:rPr lang="zh-CN" altLang="en-US" sz="2200" b="1" dirty="0">
                <a:latin typeface="楷体_GB2312" pitchFamily="49" charset="-122"/>
                <a:ea typeface="楷体_GB2312" pitchFamily="49" charset="-122"/>
              </a:rPr>
              <a:t>      </a:t>
            </a:r>
            <a:r>
              <a:rPr lang="zh-CN" altLang="en-US" sz="2600" b="1" dirty="0">
                <a:latin typeface="楷体_GB2312" pitchFamily="49" charset="-122"/>
                <a:ea typeface="楷体_GB2312" pitchFamily="49" charset="-122"/>
              </a:rPr>
              <a:t>（1）大学有多个专业，每个专业用唯一的专业代码和专业名称标识；</a:t>
            </a:r>
          </a:p>
          <a:p>
            <a:pPr marL="342900" indent="-342900">
              <a:lnSpc>
                <a:spcPct val="125000"/>
              </a:lnSpc>
              <a:spcBef>
                <a:spcPct val="25000"/>
              </a:spcBef>
              <a:buClr>
                <a:schemeClr val="bg2"/>
              </a:buClr>
              <a:buFont typeface="Monotype Sorts" pitchFamily="2" charset="2"/>
            </a:pPr>
            <a:r>
              <a:rPr lang="zh-CN" altLang="en-US" sz="2600" b="1" dirty="0">
                <a:latin typeface="楷体_GB2312" pitchFamily="49" charset="-122"/>
                <a:ea typeface="楷体_GB2312" pitchFamily="49" charset="-122"/>
              </a:rPr>
              <a:t>     （</a:t>
            </a:r>
            <a:r>
              <a:rPr lang="en-US" altLang="zh-CN" sz="2600" b="1">
                <a:latin typeface="楷体_GB2312" pitchFamily="49" charset="-122"/>
                <a:ea typeface="楷体_GB2312" pitchFamily="49" charset="-122"/>
              </a:rPr>
              <a:t>2</a:t>
            </a:r>
            <a:r>
              <a:rPr lang="zh-CN" altLang="en-US" sz="2600" b="1" dirty="0">
                <a:latin typeface="楷体_GB2312" pitchFamily="49" charset="-122"/>
                <a:ea typeface="楷体_GB2312" pitchFamily="49" charset="-122"/>
              </a:rPr>
              <a:t>）每门课程由课程号和课程名唯一标识；</a:t>
            </a:r>
          </a:p>
          <a:p>
            <a:pPr marL="342900" indent="-342900">
              <a:lnSpc>
                <a:spcPct val="125000"/>
              </a:lnSpc>
              <a:spcBef>
                <a:spcPct val="25000"/>
              </a:spcBef>
              <a:buClr>
                <a:schemeClr val="bg2"/>
              </a:buClr>
              <a:buFont typeface="Monotype Sorts" pitchFamily="2" charset="2"/>
            </a:pPr>
            <a:r>
              <a:rPr lang="zh-CN" altLang="en-US" sz="2600" b="1" dirty="0">
                <a:latin typeface="楷体_GB2312" pitchFamily="49" charset="-122"/>
                <a:ea typeface="楷体_GB2312" pitchFamily="49" charset="-122"/>
              </a:rPr>
              <a:t>     （</a:t>
            </a:r>
            <a:r>
              <a:rPr lang="en-US" altLang="zh-CN" sz="2600" b="1">
                <a:latin typeface="楷体_GB2312" pitchFamily="49" charset="-122"/>
                <a:ea typeface="楷体_GB2312" pitchFamily="49" charset="-122"/>
              </a:rPr>
              <a:t>3</a:t>
            </a:r>
            <a:r>
              <a:rPr lang="zh-CN" altLang="en-US" sz="2600" b="1" dirty="0">
                <a:latin typeface="楷体_GB2312" pitchFamily="49" charset="-122"/>
                <a:ea typeface="楷体_GB2312" pitchFamily="49" charset="-122"/>
              </a:rPr>
              <a:t>）每位教师由教职工号、姓名、性别、出生年月、职称、(所属)教研室和电话标识；</a:t>
            </a:r>
          </a:p>
          <a:p>
            <a:pPr marL="342900" indent="-342900">
              <a:lnSpc>
                <a:spcPct val="125000"/>
              </a:lnSpc>
              <a:spcBef>
                <a:spcPct val="25000"/>
              </a:spcBef>
              <a:buClr>
                <a:schemeClr val="bg2"/>
              </a:buClr>
              <a:buFont typeface="Monotype Sorts" pitchFamily="2" charset="2"/>
            </a:pPr>
            <a:r>
              <a:rPr lang="zh-CN" altLang="en-US" sz="2600" b="1" dirty="0">
                <a:latin typeface="楷体_GB2312" pitchFamily="49" charset="-122"/>
                <a:ea typeface="楷体_GB2312" pitchFamily="49" charset="-122"/>
              </a:rPr>
              <a:t>     （</a:t>
            </a:r>
            <a:r>
              <a:rPr lang="en-US" altLang="zh-CN" sz="2600" b="1">
                <a:latin typeface="楷体_GB2312" pitchFamily="49" charset="-122"/>
                <a:ea typeface="楷体_GB2312" pitchFamily="49" charset="-122"/>
              </a:rPr>
              <a:t>4</a:t>
            </a:r>
            <a:r>
              <a:rPr lang="zh-CN" altLang="en-US" sz="2600" b="1" dirty="0">
                <a:latin typeface="楷体_GB2312" pitchFamily="49" charset="-122"/>
                <a:ea typeface="楷体_GB2312" pitchFamily="49" charset="-122"/>
              </a:rPr>
              <a:t>）每个学生由学号、姓名、性别、出生年月和籍贯标识。</a:t>
            </a:r>
          </a:p>
        </p:txBody>
      </p:sp>
      <p:sp>
        <p:nvSpPr>
          <p:cNvPr id="438281" name="直接连接符 438280"/>
          <p:cNvSpPr/>
          <p:nvPr/>
        </p:nvSpPr>
        <p:spPr>
          <a:xfrm rot="60000" flipV="1">
            <a:off x="7262813" y="2498725"/>
            <a:ext cx="1366837"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285" name="椭圆 438284"/>
          <p:cNvSpPr/>
          <p:nvPr/>
        </p:nvSpPr>
        <p:spPr>
          <a:xfrm>
            <a:off x="7178675" y="2060575"/>
            <a:ext cx="1512888" cy="504825"/>
          </a:xfrm>
          <a:prstGeom prst="ellipse">
            <a:avLst/>
          </a:prstGeom>
          <a:noFill/>
          <a:ln w="38100" cap="sq" cmpd="sng">
            <a:solidFill>
              <a:srgbClr val="D60093"/>
            </a:solidFill>
            <a:prstDash val="solid"/>
            <a:headEnd type="none" w="sm" len="sm"/>
            <a:tailEnd type="none" w="sm" len="sm"/>
          </a:ln>
          <a:effectLst>
            <a:outerShdw dist="35921" dir="2699999" algn="ctr" rotWithShape="0">
              <a:schemeClr val="tx1"/>
            </a:outerShdw>
          </a:effectLst>
        </p:spPr>
        <p:txBody>
          <a:bodyPr/>
          <a:lstStyle/>
          <a:p>
            <a:endParaRPr lang="zh-CN" altLang="en-US"/>
          </a:p>
        </p:txBody>
      </p:sp>
      <p:sp>
        <p:nvSpPr>
          <p:cNvPr id="438312" name="直接连接符 438311"/>
          <p:cNvSpPr/>
          <p:nvPr/>
        </p:nvSpPr>
        <p:spPr>
          <a:xfrm rot="60000" flipV="1">
            <a:off x="914400" y="3001963"/>
            <a:ext cx="1366838"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13" name="直接连接符 438312"/>
          <p:cNvSpPr/>
          <p:nvPr/>
        </p:nvSpPr>
        <p:spPr>
          <a:xfrm flipV="1">
            <a:off x="3560763" y="3606800"/>
            <a:ext cx="2303462"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14" name="椭圆 438313"/>
          <p:cNvSpPr/>
          <p:nvPr/>
        </p:nvSpPr>
        <p:spPr>
          <a:xfrm>
            <a:off x="3476625" y="3184525"/>
            <a:ext cx="1166813" cy="447675"/>
          </a:xfrm>
          <a:prstGeom prst="ellipse">
            <a:avLst/>
          </a:prstGeom>
          <a:noFill/>
          <a:ln w="38100" cap="sq" cmpd="sng">
            <a:solidFill>
              <a:srgbClr val="FFCC99"/>
            </a:solidFill>
            <a:prstDash val="solid"/>
            <a:headEnd type="none" w="sm" len="sm"/>
            <a:tailEnd type="none" w="sm" len="sm"/>
          </a:ln>
          <a:effectLst>
            <a:outerShdw dist="35921" dir="2699999" algn="ctr" rotWithShape="0">
              <a:schemeClr val="tx1"/>
            </a:outerShdw>
          </a:effectLst>
        </p:spPr>
        <p:txBody>
          <a:bodyPr/>
          <a:lstStyle/>
          <a:p>
            <a:endParaRPr lang="zh-CN" altLang="en-US"/>
          </a:p>
        </p:txBody>
      </p:sp>
      <p:sp>
        <p:nvSpPr>
          <p:cNvPr id="438315" name="直接连接符 438314"/>
          <p:cNvSpPr/>
          <p:nvPr/>
        </p:nvSpPr>
        <p:spPr>
          <a:xfrm flipV="1">
            <a:off x="3571875" y="4194175"/>
            <a:ext cx="5110163"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16" name="直接连接符 438315"/>
          <p:cNvSpPr/>
          <p:nvPr/>
        </p:nvSpPr>
        <p:spPr>
          <a:xfrm flipV="1">
            <a:off x="539750" y="4686300"/>
            <a:ext cx="4894263"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17" name="椭圆 438316"/>
          <p:cNvSpPr/>
          <p:nvPr/>
        </p:nvSpPr>
        <p:spPr>
          <a:xfrm>
            <a:off x="3490913" y="3760788"/>
            <a:ext cx="1512887" cy="504825"/>
          </a:xfrm>
          <a:prstGeom prst="ellipse">
            <a:avLst/>
          </a:prstGeom>
          <a:noFill/>
          <a:ln w="38100" cap="sq" cmpd="sng">
            <a:solidFill>
              <a:srgbClr val="FFFF99"/>
            </a:solidFill>
            <a:prstDash val="solid"/>
            <a:headEnd type="none" w="sm" len="sm"/>
            <a:tailEnd type="none" w="sm" len="sm"/>
          </a:ln>
          <a:effectLst>
            <a:outerShdw dist="35921" dir="2699999" algn="ctr" rotWithShape="0">
              <a:schemeClr val="tx1"/>
            </a:outerShdw>
          </a:effectLst>
        </p:spPr>
        <p:txBody>
          <a:bodyPr/>
          <a:lstStyle/>
          <a:p>
            <a:endParaRPr lang="zh-CN" altLang="en-US"/>
          </a:p>
        </p:txBody>
      </p:sp>
      <p:sp>
        <p:nvSpPr>
          <p:cNvPr id="438318" name="直接连接符 438317"/>
          <p:cNvSpPr/>
          <p:nvPr/>
        </p:nvSpPr>
        <p:spPr>
          <a:xfrm flipV="1">
            <a:off x="3578225" y="5292725"/>
            <a:ext cx="4965700"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19" name="直接连接符 438318"/>
          <p:cNvSpPr/>
          <p:nvPr/>
        </p:nvSpPr>
        <p:spPr>
          <a:xfrm rot="240000" flipV="1">
            <a:off x="568325" y="5797550"/>
            <a:ext cx="395288"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20" name="椭圆 438319"/>
          <p:cNvSpPr/>
          <p:nvPr/>
        </p:nvSpPr>
        <p:spPr>
          <a:xfrm>
            <a:off x="3492500" y="4868863"/>
            <a:ext cx="877888" cy="447675"/>
          </a:xfrm>
          <a:prstGeom prst="ellipse">
            <a:avLst/>
          </a:prstGeom>
          <a:noFill/>
          <a:ln w="38100" cap="sq" cmpd="sng">
            <a:solidFill>
              <a:srgbClr val="CCFF33"/>
            </a:solidFill>
            <a:prstDash val="solid"/>
            <a:headEnd type="none" w="sm" len="sm"/>
            <a:tailEnd type="none" w="sm" len="sm"/>
          </a:ln>
          <a:effectLst>
            <a:outerShdw dist="35921" dir="2699999" algn="ctr" rotWithShape="0">
              <a:schemeClr val="tx1"/>
            </a:outerShdw>
          </a:effectLst>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0305"/>
    </mc:Choice>
    <mc:Fallback xmlns="">
      <p:transition spd="slow" advTm="603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38280">
                                            <p:txEl>
                                              <p:pRg st="0" end="0"/>
                                            </p:txEl>
                                          </p:spTgt>
                                        </p:tgtEl>
                                        <p:attrNameLst>
                                          <p:attrName>style.visibility</p:attrName>
                                        </p:attrNameLst>
                                      </p:cBhvr>
                                      <p:to>
                                        <p:strVal val="visible"/>
                                      </p:to>
                                    </p:set>
                                    <p:animEffect transition="in" filter="wipe(left)">
                                      <p:cBhvr>
                                        <p:cTn id="7" dur="1000"/>
                                        <p:tgtEl>
                                          <p:spTgt spid="438280">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38280">
                                            <p:txEl>
                                              <p:pRg st="1" end="1"/>
                                            </p:txEl>
                                          </p:spTgt>
                                        </p:tgtEl>
                                        <p:attrNameLst>
                                          <p:attrName>style.visibility</p:attrName>
                                        </p:attrNameLst>
                                      </p:cBhvr>
                                      <p:to>
                                        <p:strVal val="visible"/>
                                      </p:to>
                                    </p:set>
                                    <p:animEffect transition="in" filter="wipe(up)">
                                      <p:cBhvr>
                                        <p:cTn id="11" dur="1000"/>
                                        <p:tgtEl>
                                          <p:spTgt spid="438280">
                                            <p:txEl>
                                              <p:pRg st="1" end="1"/>
                                            </p:txEl>
                                          </p:spTgt>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438281"/>
                                        </p:tgtEl>
                                        <p:attrNameLst>
                                          <p:attrName>style.visibility</p:attrName>
                                        </p:attrNameLst>
                                      </p:cBhvr>
                                      <p:to>
                                        <p:strVal val="visible"/>
                                      </p:to>
                                    </p:set>
                                    <p:animEffect transition="in" filter="wipe(left)">
                                      <p:cBhvr>
                                        <p:cTn id="15" dur="2000"/>
                                        <p:tgtEl>
                                          <p:spTgt spid="438281"/>
                                        </p:tgtEl>
                                      </p:cBhvr>
                                    </p:animEffect>
                                  </p:childTnLst>
                                </p:cTn>
                              </p:par>
                            </p:childTnLst>
                          </p:cTn>
                        </p:par>
                        <p:par>
                          <p:cTn id="16" fill="hold">
                            <p:stCondLst>
                              <p:cond delay="4000"/>
                            </p:stCondLst>
                            <p:childTnLst>
                              <p:par>
                                <p:cTn id="17" presetID="22" presetClass="entr" presetSubtype="8" fill="hold" nodeType="afterEffect">
                                  <p:stCondLst>
                                    <p:cond delay="0"/>
                                  </p:stCondLst>
                                  <p:childTnLst>
                                    <p:set>
                                      <p:cBhvr>
                                        <p:cTn id="18" dur="1" fill="hold">
                                          <p:stCondLst>
                                            <p:cond delay="0"/>
                                          </p:stCondLst>
                                        </p:cTn>
                                        <p:tgtEl>
                                          <p:spTgt spid="438312"/>
                                        </p:tgtEl>
                                        <p:attrNameLst>
                                          <p:attrName>style.visibility</p:attrName>
                                        </p:attrNameLst>
                                      </p:cBhvr>
                                      <p:to>
                                        <p:strVal val="visible"/>
                                      </p:to>
                                    </p:set>
                                    <p:animEffect transition="in" filter="wipe(left)">
                                      <p:cBhvr>
                                        <p:cTn id="19" dur="2000"/>
                                        <p:tgtEl>
                                          <p:spTgt spid="438312"/>
                                        </p:tgtEl>
                                      </p:cBhvr>
                                    </p:animEffect>
                                  </p:childTnLst>
                                </p:cTn>
                              </p:par>
                            </p:childTnLst>
                          </p:cTn>
                        </p:par>
                        <p:par>
                          <p:cTn id="20" fill="hold">
                            <p:stCondLst>
                              <p:cond delay="6000"/>
                            </p:stCondLst>
                            <p:childTnLst>
                              <p:par>
                                <p:cTn id="21" presetID="8" presetClass="entr" presetSubtype="16" fill="hold" nodeType="afterEffect">
                                  <p:stCondLst>
                                    <p:cond delay="0"/>
                                  </p:stCondLst>
                                  <p:childTnLst>
                                    <p:set>
                                      <p:cBhvr>
                                        <p:cTn id="22" dur="1" fill="hold">
                                          <p:stCondLst>
                                            <p:cond delay="0"/>
                                          </p:stCondLst>
                                        </p:cTn>
                                        <p:tgtEl>
                                          <p:spTgt spid="438285"/>
                                        </p:tgtEl>
                                        <p:attrNameLst>
                                          <p:attrName>style.visibility</p:attrName>
                                        </p:attrNameLst>
                                      </p:cBhvr>
                                      <p:to>
                                        <p:strVal val="visible"/>
                                      </p:to>
                                    </p:set>
                                    <p:animEffect transition="in" filter="diamond(in)">
                                      <p:cBhvr>
                                        <p:cTn id="23" dur="2000"/>
                                        <p:tgtEl>
                                          <p:spTgt spid="43828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38280">
                                            <p:txEl>
                                              <p:pRg st="2" end="2"/>
                                            </p:txEl>
                                          </p:spTgt>
                                        </p:tgtEl>
                                        <p:attrNameLst>
                                          <p:attrName>style.visibility</p:attrName>
                                        </p:attrNameLst>
                                      </p:cBhvr>
                                      <p:to>
                                        <p:strVal val="visible"/>
                                      </p:to>
                                    </p:set>
                                    <p:animEffect transition="in" filter="wipe(left)">
                                      <p:cBhvr>
                                        <p:cTn id="28" dur="1000"/>
                                        <p:tgtEl>
                                          <p:spTgt spid="438280">
                                            <p:txEl>
                                              <p:pRg st="2" end="2"/>
                                            </p:txEl>
                                          </p:spTgt>
                                        </p:tgtEl>
                                      </p:cBhvr>
                                    </p:animEffect>
                                  </p:childTnLst>
                                </p:cTn>
                              </p:par>
                            </p:childTnLst>
                          </p:cTn>
                        </p:par>
                        <p:par>
                          <p:cTn id="29" fill="hold">
                            <p:stCondLst>
                              <p:cond delay="1000"/>
                            </p:stCondLst>
                            <p:childTnLst>
                              <p:par>
                                <p:cTn id="30" presetID="22" presetClass="entr" presetSubtype="8" fill="hold" nodeType="afterEffect">
                                  <p:stCondLst>
                                    <p:cond delay="0"/>
                                  </p:stCondLst>
                                  <p:childTnLst>
                                    <p:set>
                                      <p:cBhvr>
                                        <p:cTn id="31" dur="1" fill="hold">
                                          <p:stCondLst>
                                            <p:cond delay="0"/>
                                          </p:stCondLst>
                                        </p:cTn>
                                        <p:tgtEl>
                                          <p:spTgt spid="438313"/>
                                        </p:tgtEl>
                                        <p:attrNameLst>
                                          <p:attrName>style.visibility</p:attrName>
                                        </p:attrNameLst>
                                      </p:cBhvr>
                                      <p:to>
                                        <p:strVal val="visible"/>
                                      </p:to>
                                    </p:set>
                                    <p:animEffect transition="in" filter="wipe(left)">
                                      <p:cBhvr>
                                        <p:cTn id="32" dur="2000"/>
                                        <p:tgtEl>
                                          <p:spTgt spid="438313"/>
                                        </p:tgtEl>
                                      </p:cBhvr>
                                    </p:animEffect>
                                  </p:childTnLst>
                                </p:cTn>
                              </p:par>
                            </p:childTnLst>
                          </p:cTn>
                        </p:par>
                        <p:par>
                          <p:cTn id="33" fill="hold">
                            <p:stCondLst>
                              <p:cond delay="3000"/>
                            </p:stCondLst>
                            <p:childTnLst>
                              <p:par>
                                <p:cTn id="34" presetID="4" presetClass="entr" presetSubtype="16" fill="hold" nodeType="afterEffect">
                                  <p:stCondLst>
                                    <p:cond delay="0"/>
                                  </p:stCondLst>
                                  <p:childTnLst>
                                    <p:set>
                                      <p:cBhvr>
                                        <p:cTn id="35" dur="1" fill="hold">
                                          <p:stCondLst>
                                            <p:cond delay="0"/>
                                          </p:stCondLst>
                                        </p:cTn>
                                        <p:tgtEl>
                                          <p:spTgt spid="438314"/>
                                        </p:tgtEl>
                                        <p:attrNameLst>
                                          <p:attrName>style.visibility</p:attrName>
                                        </p:attrNameLst>
                                      </p:cBhvr>
                                      <p:to>
                                        <p:strVal val="visible"/>
                                      </p:to>
                                    </p:set>
                                    <p:animEffect transition="in" filter="box(in)">
                                      <p:cBhvr>
                                        <p:cTn id="36" dur="2000"/>
                                        <p:tgtEl>
                                          <p:spTgt spid="4383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438280">
                                            <p:txEl>
                                              <p:pRg st="3" end="3"/>
                                            </p:txEl>
                                          </p:spTgt>
                                        </p:tgtEl>
                                        <p:attrNameLst>
                                          <p:attrName>style.visibility</p:attrName>
                                        </p:attrNameLst>
                                      </p:cBhvr>
                                      <p:to>
                                        <p:strVal val="visible"/>
                                      </p:to>
                                    </p:set>
                                    <p:animEffect transition="in" filter="wipe(up)">
                                      <p:cBhvr>
                                        <p:cTn id="41" dur="1000"/>
                                        <p:tgtEl>
                                          <p:spTgt spid="438280">
                                            <p:txEl>
                                              <p:pRg st="3" end="3"/>
                                            </p:txEl>
                                          </p:spTgt>
                                        </p:tgtEl>
                                      </p:cBhvr>
                                    </p:animEffect>
                                  </p:childTnLst>
                                </p:cTn>
                              </p:par>
                            </p:childTnLst>
                          </p:cTn>
                        </p:par>
                        <p:par>
                          <p:cTn id="42" fill="hold">
                            <p:stCondLst>
                              <p:cond delay="1000"/>
                            </p:stCondLst>
                            <p:childTnLst>
                              <p:par>
                                <p:cTn id="43" presetID="22" presetClass="entr" presetSubtype="8" fill="hold" nodeType="afterEffect">
                                  <p:stCondLst>
                                    <p:cond delay="0"/>
                                  </p:stCondLst>
                                  <p:childTnLst>
                                    <p:set>
                                      <p:cBhvr>
                                        <p:cTn id="44" dur="1" fill="hold">
                                          <p:stCondLst>
                                            <p:cond delay="0"/>
                                          </p:stCondLst>
                                        </p:cTn>
                                        <p:tgtEl>
                                          <p:spTgt spid="438315"/>
                                        </p:tgtEl>
                                        <p:attrNameLst>
                                          <p:attrName>style.visibility</p:attrName>
                                        </p:attrNameLst>
                                      </p:cBhvr>
                                      <p:to>
                                        <p:strVal val="visible"/>
                                      </p:to>
                                    </p:set>
                                    <p:animEffect transition="in" filter="wipe(left)">
                                      <p:cBhvr>
                                        <p:cTn id="45" dur="2000"/>
                                        <p:tgtEl>
                                          <p:spTgt spid="438315"/>
                                        </p:tgtEl>
                                      </p:cBhvr>
                                    </p:animEffect>
                                  </p:childTnLst>
                                </p:cTn>
                              </p:par>
                            </p:childTnLst>
                          </p:cTn>
                        </p:par>
                        <p:par>
                          <p:cTn id="46" fill="hold">
                            <p:stCondLst>
                              <p:cond delay="3000"/>
                            </p:stCondLst>
                            <p:childTnLst>
                              <p:par>
                                <p:cTn id="47" presetID="22" presetClass="entr" presetSubtype="8" fill="hold" nodeType="afterEffect">
                                  <p:stCondLst>
                                    <p:cond delay="0"/>
                                  </p:stCondLst>
                                  <p:childTnLst>
                                    <p:set>
                                      <p:cBhvr>
                                        <p:cTn id="48" dur="1" fill="hold">
                                          <p:stCondLst>
                                            <p:cond delay="0"/>
                                          </p:stCondLst>
                                        </p:cTn>
                                        <p:tgtEl>
                                          <p:spTgt spid="438316"/>
                                        </p:tgtEl>
                                        <p:attrNameLst>
                                          <p:attrName>style.visibility</p:attrName>
                                        </p:attrNameLst>
                                      </p:cBhvr>
                                      <p:to>
                                        <p:strVal val="visible"/>
                                      </p:to>
                                    </p:set>
                                    <p:animEffect transition="in" filter="wipe(left)">
                                      <p:cBhvr>
                                        <p:cTn id="49" dur="1000"/>
                                        <p:tgtEl>
                                          <p:spTgt spid="438316"/>
                                        </p:tgtEl>
                                      </p:cBhvr>
                                    </p:animEffect>
                                  </p:childTnLst>
                                </p:cTn>
                              </p:par>
                            </p:childTnLst>
                          </p:cTn>
                        </p:par>
                        <p:par>
                          <p:cTn id="50" fill="hold">
                            <p:stCondLst>
                              <p:cond delay="4000"/>
                            </p:stCondLst>
                            <p:childTnLst>
                              <p:par>
                                <p:cTn id="51" presetID="4" presetClass="entr" presetSubtype="16" fill="hold" nodeType="afterEffect">
                                  <p:stCondLst>
                                    <p:cond delay="0"/>
                                  </p:stCondLst>
                                  <p:childTnLst>
                                    <p:set>
                                      <p:cBhvr>
                                        <p:cTn id="52" dur="1" fill="hold">
                                          <p:stCondLst>
                                            <p:cond delay="0"/>
                                          </p:stCondLst>
                                        </p:cTn>
                                        <p:tgtEl>
                                          <p:spTgt spid="438317"/>
                                        </p:tgtEl>
                                        <p:attrNameLst>
                                          <p:attrName>style.visibility</p:attrName>
                                        </p:attrNameLst>
                                      </p:cBhvr>
                                      <p:to>
                                        <p:strVal val="visible"/>
                                      </p:to>
                                    </p:set>
                                    <p:animEffect transition="in" filter="box(in)">
                                      <p:cBhvr>
                                        <p:cTn id="53" dur="2000"/>
                                        <p:tgtEl>
                                          <p:spTgt spid="4383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438280">
                                            <p:txEl>
                                              <p:pRg st="4" end="4"/>
                                            </p:txEl>
                                          </p:spTgt>
                                        </p:tgtEl>
                                        <p:attrNameLst>
                                          <p:attrName>style.visibility</p:attrName>
                                        </p:attrNameLst>
                                      </p:cBhvr>
                                      <p:to>
                                        <p:strVal val="visible"/>
                                      </p:to>
                                    </p:set>
                                    <p:animEffect transition="in" filter="wipe(left)">
                                      <p:cBhvr>
                                        <p:cTn id="58" dur="1000"/>
                                        <p:tgtEl>
                                          <p:spTgt spid="438280">
                                            <p:txEl>
                                              <p:pRg st="4" end="4"/>
                                            </p:txEl>
                                          </p:spTgt>
                                        </p:tgtEl>
                                      </p:cBhvr>
                                    </p:animEffect>
                                  </p:childTnLst>
                                </p:cTn>
                              </p:par>
                            </p:childTnLst>
                          </p:cTn>
                        </p:par>
                        <p:par>
                          <p:cTn id="59" fill="hold">
                            <p:stCondLst>
                              <p:cond delay="1000"/>
                            </p:stCondLst>
                            <p:childTnLst>
                              <p:par>
                                <p:cTn id="60" presetID="22" presetClass="entr" presetSubtype="8" fill="hold" nodeType="afterEffect">
                                  <p:stCondLst>
                                    <p:cond delay="0"/>
                                  </p:stCondLst>
                                  <p:childTnLst>
                                    <p:set>
                                      <p:cBhvr>
                                        <p:cTn id="61" dur="1" fill="hold">
                                          <p:stCondLst>
                                            <p:cond delay="0"/>
                                          </p:stCondLst>
                                        </p:cTn>
                                        <p:tgtEl>
                                          <p:spTgt spid="438318"/>
                                        </p:tgtEl>
                                        <p:attrNameLst>
                                          <p:attrName>style.visibility</p:attrName>
                                        </p:attrNameLst>
                                      </p:cBhvr>
                                      <p:to>
                                        <p:strVal val="visible"/>
                                      </p:to>
                                    </p:set>
                                    <p:animEffect transition="in" filter="wipe(left)">
                                      <p:cBhvr>
                                        <p:cTn id="62" dur="2000"/>
                                        <p:tgtEl>
                                          <p:spTgt spid="438318"/>
                                        </p:tgtEl>
                                      </p:cBhvr>
                                    </p:animEffect>
                                  </p:childTnLst>
                                </p:cTn>
                              </p:par>
                            </p:childTnLst>
                          </p:cTn>
                        </p:par>
                        <p:par>
                          <p:cTn id="63" fill="hold">
                            <p:stCondLst>
                              <p:cond delay="3000"/>
                            </p:stCondLst>
                            <p:childTnLst>
                              <p:par>
                                <p:cTn id="64" presetID="22" presetClass="entr" presetSubtype="8" fill="hold" nodeType="afterEffect">
                                  <p:stCondLst>
                                    <p:cond delay="0"/>
                                  </p:stCondLst>
                                  <p:childTnLst>
                                    <p:set>
                                      <p:cBhvr>
                                        <p:cTn id="65" dur="1" fill="hold">
                                          <p:stCondLst>
                                            <p:cond delay="0"/>
                                          </p:stCondLst>
                                        </p:cTn>
                                        <p:tgtEl>
                                          <p:spTgt spid="438319"/>
                                        </p:tgtEl>
                                        <p:attrNameLst>
                                          <p:attrName>style.visibility</p:attrName>
                                        </p:attrNameLst>
                                      </p:cBhvr>
                                      <p:to>
                                        <p:strVal val="visible"/>
                                      </p:to>
                                    </p:set>
                                    <p:animEffect transition="in" filter="wipe(left)">
                                      <p:cBhvr>
                                        <p:cTn id="66" dur="1000"/>
                                        <p:tgtEl>
                                          <p:spTgt spid="438319"/>
                                        </p:tgtEl>
                                      </p:cBhvr>
                                    </p:animEffect>
                                  </p:childTnLst>
                                </p:cTn>
                              </p:par>
                            </p:childTnLst>
                          </p:cTn>
                        </p:par>
                        <p:par>
                          <p:cTn id="67" fill="hold">
                            <p:stCondLst>
                              <p:cond delay="4000"/>
                            </p:stCondLst>
                            <p:childTnLst>
                              <p:par>
                                <p:cTn id="68" presetID="8" presetClass="entr" presetSubtype="16" fill="hold" nodeType="afterEffect">
                                  <p:stCondLst>
                                    <p:cond delay="0"/>
                                  </p:stCondLst>
                                  <p:childTnLst>
                                    <p:set>
                                      <p:cBhvr>
                                        <p:cTn id="69" dur="1" fill="hold">
                                          <p:stCondLst>
                                            <p:cond delay="0"/>
                                          </p:stCondLst>
                                        </p:cTn>
                                        <p:tgtEl>
                                          <p:spTgt spid="438320"/>
                                        </p:tgtEl>
                                        <p:attrNameLst>
                                          <p:attrName>style.visibility</p:attrName>
                                        </p:attrNameLst>
                                      </p:cBhvr>
                                      <p:to>
                                        <p:strVal val="visible"/>
                                      </p:to>
                                    </p:set>
                                    <p:animEffect transition="in" filter="diamond(in)">
                                      <p:cBhvr>
                                        <p:cTn id="70" dur="2000"/>
                                        <p:tgtEl>
                                          <p:spTgt spid="438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9382" name="组合 439381"/>
          <p:cNvGrpSpPr/>
          <p:nvPr/>
        </p:nvGrpSpPr>
        <p:grpSpPr>
          <a:xfrm>
            <a:off x="42863" y="131763"/>
            <a:ext cx="9037637" cy="6321425"/>
            <a:chOff x="27" y="83"/>
            <a:chExt cx="5693" cy="3982"/>
          </a:xfrm>
        </p:grpSpPr>
        <p:grpSp>
          <p:nvGrpSpPr>
            <p:cNvPr id="439381" name="组合 439380"/>
            <p:cNvGrpSpPr/>
            <p:nvPr/>
          </p:nvGrpSpPr>
          <p:grpSpPr>
            <a:xfrm>
              <a:off x="27" y="83"/>
              <a:ext cx="5693" cy="3529"/>
              <a:chOff x="27" y="83"/>
              <a:chExt cx="5693" cy="3529"/>
            </a:xfrm>
          </p:grpSpPr>
          <p:sp>
            <p:nvSpPr>
              <p:cNvPr id="439380" name="矩形 439379"/>
              <p:cNvSpPr/>
              <p:nvPr/>
            </p:nvSpPr>
            <p:spPr>
              <a:xfrm>
                <a:off x="27" y="83"/>
                <a:ext cx="5556" cy="816"/>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39301" name="椭圆 439300"/>
              <p:cNvSpPr/>
              <p:nvPr/>
            </p:nvSpPr>
            <p:spPr>
              <a:xfrm>
                <a:off x="799" y="355"/>
                <a:ext cx="709" cy="338"/>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专业名称</a:t>
                </a:r>
              </a:p>
            </p:txBody>
          </p:sp>
          <p:sp>
            <p:nvSpPr>
              <p:cNvPr id="439302" name="椭圆 439301"/>
              <p:cNvSpPr/>
              <p:nvPr/>
            </p:nvSpPr>
            <p:spPr>
              <a:xfrm>
                <a:off x="1603" y="355"/>
                <a:ext cx="697" cy="335"/>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439303" name="椭圆 439302"/>
              <p:cNvSpPr/>
              <p:nvPr/>
            </p:nvSpPr>
            <p:spPr>
              <a:xfrm>
                <a:off x="2356" y="355"/>
                <a:ext cx="449"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439304" name="椭圆 439303"/>
              <p:cNvSpPr/>
              <p:nvPr/>
            </p:nvSpPr>
            <p:spPr>
              <a:xfrm>
                <a:off x="2859" y="355"/>
                <a:ext cx="452"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班级</a:t>
                </a:r>
              </a:p>
            </p:txBody>
          </p:sp>
          <p:sp>
            <p:nvSpPr>
              <p:cNvPr id="439305" name="椭圆 439304"/>
              <p:cNvSpPr/>
              <p:nvPr/>
            </p:nvSpPr>
            <p:spPr>
              <a:xfrm>
                <a:off x="3361" y="355"/>
                <a:ext cx="446"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439306" name="椭圆 439305"/>
              <p:cNvSpPr/>
              <p:nvPr/>
            </p:nvSpPr>
            <p:spPr>
              <a:xfrm>
                <a:off x="3864" y="355"/>
                <a:ext cx="448"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439307" name="椭圆 439306"/>
              <p:cNvSpPr/>
              <p:nvPr/>
            </p:nvSpPr>
            <p:spPr>
              <a:xfrm>
                <a:off x="4366" y="355"/>
                <a:ext cx="453"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439308" name="椭圆 439307"/>
              <p:cNvSpPr/>
              <p:nvPr/>
            </p:nvSpPr>
            <p:spPr>
              <a:xfrm>
                <a:off x="45" y="355"/>
                <a:ext cx="703" cy="335"/>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439309" name="椭圆 439308"/>
              <p:cNvSpPr/>
              <p:nvPr/>
            </p:nvSpPr>
            <p:spPr>
              <a:xfrm>
                <a:off x="4919" y="355"/>
                <a:ext cx="714" cy="33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439310" name="矩形 439309"/>
              <p:cNvSpPr/>
              <p:nvPr/>
            </p:nvSpPr>
            <p:spPr>
              <a:xfrm>
                <a:off x="497" y="892"/>
                <a:ext cx="603" cy="246"/>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a:t>
                </a:r>
              </a:p>
            </p:txBody>
          </p:sp>
          <p:sp>
            <p:nvSpPr>
              <p:cNvPr id="439311" name="流程图: 决策 439310"/>
              <p:cNvSpPr/>
              <p:nvPr/>
            </p:nvSpPr>
            <p:spPr>
              <a:xfrm>
                <a:off x="2160" y="840"/>
                <a:ext cx="954" cy="35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归属</a:t>
                </a:r>
              </a:p>
            </p:txBody>
          </p:sp>
          <p:sp>
            <p:nvSpPr>
              <p:cNvPr id="439312" name="矩形 439311"/>
              <p:cNvSpPr/>
              <p:nvPr/>
            </p:nvSpPr>
            <p:spPr>
              <a:xfrm>
                <a:off x="4057" y="840"/>
                <a:ext cx="607" cy="249"/>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学生</a:t>
                </a:r>
              </a:p>
            </p:txBody>
          </p:sp>
          <p:sp>
            <p:nvSpPr>
              <p:cNvPr id="439313" name="椭圆 439312"/>
              <p:cNvSpPr/>
              <p:nvPr/>
            </p:nvSpPr>
            <p:spPr>
              <a:xfrm>
                <a:off x="5274" y="794"/>
                <a:ext cx="446" cy="259"/>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籍贯</a:t>
                </a:r>
              </a:p>
            </p:txBody>
          </p:sp>
          <p:sp>
            <p:nvSpPr>
              <p:cNvPr id="439314" name="流程图: 决策 439313"/>
              <p:cNvSpPr/>
              <p:nvPr/>
            </p:nvSpPr>
            <p:spPr>
              <a:xfrm>
                <a:off x="1100" y="1193"/>
                <a:ext cx="963" cy="339"/>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设置</a:t>
                </a:r>
              </a:p>
            </p:txBody>
          </p:sp>
          <p:sp>
            <p:nvSpPr>
              <p:cNvPr id="439315" name="流程图: 决策 439314"/>
              <p:cNvSpPr/>
              <p:nvPr/>
            </p:nvSpPr>
            <p:spPr>
              <a:xfrm>
                <a:off x="3211" y="1193"/>
                <a:ext cx="953" cy="325"/>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学习</a:t>
                </a:r>
              </a:p>
            </p:txBody>
          </p:sp>
          <p:sp>
            <p:nvSpPr>
              <p:cNvPr id="439316" name="椭圆 439315"/>
              <p:cNvSpPr/>
              <p:nvPr/>
            </p:nvSpPr>
            <p:spPr>
              <a:xfrm>
                <a:off x="4567" y="1100"/>
                <a:ext cx="448" cy="278"/>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439317" name="椭圆 439316"/>
              <p:cNvSpPr/>
              <p:nvPr/>
            </p:nvSpPr>
            <p:spPr>
              <a:xfrm>
                <a:off x="4989" y="1272"/>
                <a:ext cx="603" cy="29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39318" name="椭圆 439317"/>
              <p:cNvSpPr/>
              <p:nvPr/>
            </p:nvSpPr>
            <p:spPr>
              <a:xfrm>
                <a:off x="4718" y="1518"/>
                <a:ext cx="452" cy="279"/>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分数</a:t>
                </a:r>
              </a:p>
            </p:txBody>
          </p:sp>
          <p:sp>
            <p:nvSpPr>
              <p:cNvPr id="439319" name="流程图: 过程 439318"/>
              <p:cNvSpPr/>
              <p:nvPr/>
            </p:nvSpPr>
            <p:spPr>
              <a:xfrm>
                <a:off x="2306" y="1582"/>
                <a:ext cx="617"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a:t>
                </a:r>
              </a:p>
            </p:txBody>
          </p:sp>
          <p:sp>
            <p:nvSpPr>
              <p:cNvPr id="439320" name="流程图: 决策 439319"/>
              <p:cNvSpPr/>
              <p:nvPr/>
            </p:nvSpPr>
            <p:spPr>
              <a:xfrm>
                <a:off x="2155" y="2077"/>
                <a:ext cx="957" cy="34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讲授</a:t>
                </a:r>
              </a:p>
            </p:txBody>
          </p:sp>
          <p:sp>
            <p:nvSpPr>
              <p:cNvPr id="439321" name="流程图: 过程 439320"/>
              <p:cNvSpPr/>
              <p:nvPr/>
            </p:nvSpPr>
            <p:spPr>
              <a:xfrm>
                <a:off x="2306" y="2714"/>
                <a:ext cx="612"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教师</a:t>
                </a:r>
              </a:p>
            </p:txBody>
          </p:sp>
          <p:sp>
            <p:nvSpPr>
              <p:cNvPr id="439322" name="椭圆 439321"/>
              <p:cNvSpPr/>
              <p:nvPr/>
            </p:nvSpPr>
            <p:spPr>
              <a:xfrm>
                <a:off x="95" y="1239"/>
                <a:ext cx="698"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439323" name="椭圆 439322"/>
              <p:cNvSpPr/>
              <p:nvPr/>
            </p:nvSpPr>
            <p:spPr>
              <a:xfrm>
                <a:off x="296" y="1657"/>
                <a:ext cx="603" cy="32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39324" name="椭圆 439323"/>
              <p:cNvSpPr/>
              <p:nvPr/>
            </p:nvSpPr>
            <p:spPr>
              <a:xfrm>
                <a:off x="1502" y="1877"/>
                <a:ext cx="603"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39325" name="椭圆 439324"/>
              <p:cNvSpPr/>
              <p:nvPr/>
            </p:nvSpPr>
            <p:spPr>
              <a:xfrm>
                <a:off x="3462" y="1565"/>
                <a:ext cx="448" cy="263"/>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学时</a:t>
                </a:r>
              </a:p>
            </p:txBody>
          </p:sp>
          <p:sp>
            <p:nvSpPr>
              <p:cNvPr id="439326" name="椭圆 439325"/>
              <p:cNvSpPr/>
              <p:nvPr/>
            </p:nvSpPr>
            <p:spPr>
              <a:xfrm>
                <a:off x="3311" y="1877"/>
                <a:ext cx="605"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课程名</a:t>
                </a:r>
              </a:p>
            </p:txBody>
          </p:sp>
          <p:sp>
            <p:nvSpPr>
              <p:cNvPr id="439327" name="椭圆 439326"/>
              <p:cNvSpPr/>
              <p:nvPr/>
            </p:nvSpPr>
            <p:spPr>
              <a:xfrm>
                <a:off x="289" y="2169"/>
                <a:ext cx="817"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439328" name="椭圆 439327"/>
              <p:cNvSpPr/>
              <p:nvPr/>
            </p:nvSpPr>
            <p:spPr>
              <a:xfrm>
                <a:off x="4216" y="2221"/>
                <a:ext cx="653" cy="24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39329" name="椭圆 439328"/>
              <p:cNvSpPr/>
              <p:nvPr/>
            </p:nvSpPr>
            <p:spPr>
              <a:xfrm>
                <a:off x="1251" y="2541"/>
                <a:ext cx="708" cy="328"/>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439330" name="椭圆 439329"/>
              <p:cNvSpPr/>
              <p:nvPr/>
            </p:nvSpPr>
            <p:spPr>
              <a:xfrm>
                <a:off x="3462" y="2589"/>
                <a:ext cx="710" cy="320"/>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电话号码</a:t>
                </a:r>
              </a:p>
            </p:txBody>
          </p:sp>
          <p:sp>
            <p:nvSpPr>
              <p:cNvPr id="439331" name="椭圆 439330"/>
              <p:cNvSpPr/>
              <p:nvPr/>
            </p:nvSpPr>
            <p:spPr>
              <a:xfrm>
                <a:off x="3663" y="3009"/>
                <a:ext cx="607" cy="32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教研室</a:t>
                </a:r>
              </a:p>
            </p:txBody>
          </p:sp>
          <p:sp>
            <p:nvSpPr>
              <p:cNvPr id="439332" name="椭圆 439331"/>
              <p:cNvSpPr/>
              <p:nvPr/>
            </p:nvSpPr>
            <p:spPr>
              <a:xfrm>
                <a:off x="1402" y="2914"/>
                <a:ext cx="435" cy="292"/>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439333" name="椭圆 439332"/>
              <p:cNvSpPr/>
              <p:nvPr/>
            </p:nvSpPr>
            <p:spPr>
              <a:xfrm>
                <a:off x="1703" y="3206"/>
                <a:ext cx="437" cy="31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439334" name="椭圆 439333"/>
              <p:cNvSpPr/>
              <p:nvPr/>
            </p:nvSpPr>
            <p:spPr>
              <a:xfrm>
                <a:off x="2284" y="3206"/>
                <a:ext cx="703" cy="40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439335" name="椭圆 439334"/>
              <p:cNvSpPr/>
              <p:nvPr/>
            </p:nvSpPr>
            <p:spPr>
              <a:xfrm>
                <a:off x="3138" y="3193"/>
                <a:ext cx="489" cy="32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职称</a:t>
                </a:r>
              </a:p>
            </p:txBody>
          </p:sp>
          <p:sp>
            <p:nvSpPr>
              <p:cNvPr id="439336" name="直接连接符 439335"/>
              <p:cNvSpPr/>
              <p:nvPr/>
            </p:nvSpPr>
            <p:spPr>
              <a:xfrm>
                <a:off x="497" y="695"/>
                <a:ext cx="2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37" name="直接连接符 439336"/>
              <p:cNvSpPr/>
              <p:nvPr/>
            </p:nvSpPr>
            <p:spPr>
              <a:xfrm flipH="1">
                <a:off x="949" y="695"/>
                <a:ext cx="3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38" name="直接连接符 439337"/>
              <p:cNvSpPr/>
              <p:nvPr/>
            </p:nvSpPr>
            <p:spPr>
              <a:xfrm>
                <a:off x="1100" y="991"/>
                <a:ext cx="10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39" name="直接连接符 439338"/>
              <p:cNvSpPr/>
              <p:nvPr/>
            </p:nvSpPr>
            <p:spPr>
              <a:xfrm>
                <a:off x="3110" y="991"/>
                <a:ext cx="9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0" name="直接连接符 439339"/>
              <p:cNvSpPr/>
              <p:nvPr/>
            </p:nvSpPr>
            <p:spPr>
              <a:xfrm>
                <a:off x="2055" y="695"/>
                <a:ext cx="4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1" name="直接连接符 439340"/>
              <p:cNvSpPr/>
              <p:nvPr/>
            </p:nvSpPr>
            <p:spPr>
              <a:xfrm>
                <a:off x="2608" y="646"/>
                <a:ext cx="50"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2" name="直接连接符 439341"/>
              <p:cNvSpPr/>
              <p:nvPr/>
            </p:nvSpPr>
            <p:spPr>
              <a:xfrm flipH="1">
                <a:off x="2859" y="646"/>
                <a:ext cx="20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3" name="直接连接符 439342"/>
              <p:cNvSpPr/>
              <p:nvPr/>
            </p:nvSpPr>
            <p:spPr>
              <a:xfrm>
                <a:off x="3670" y="639"/>
                <a:ext cx="43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4" name="直接连接符 439343"/>
              <p:cNvSpPr/>
              <p:nvPr/>
            </p:nvSpPr>
            <p:spPr>
              <a:xfrm>
                <a:off x="4115" y="639"/>
                <a:ext cx="10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5" name="直接连接符 439344"/>
              <p:cNvSpPr/>
              <p:nvPr/>
            </p:nvSpPr>
            <p:spPr>
              <a:xfrm flipH="1">
                <a:off x="4373" y="639"/>
                <a:ext cx="1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6" name="直接连接符 439345"/>
              <p:cNvSpPr/>
              <p:nvPr/>
            </p:nvSpPr>
            <p:spPr>
              <a:xfrm flipH="1">
                <a:off x="4567" y="663"/>
                <a:ext cx="530" cy="173"/>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7" name="直接连接符 439346"/>
              <p:cNvSpPr/>
              <p:nvPr/>
            </p:nvSpPr>
            <p:spPr>
              <a:xfrm flipV="1">
                <a:off x="4676" y="960"/>
                <a:ext cx="594"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8" name="直接连接符 439347"/>
              <p:cNvSpPr/>
              <p:nvPr/>
            </p:nvSpPr>
            <p:spPr>
              <a:xfrm flipH="1">
                <a:off x="3814" y="1089"/>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9" name="直接连接符 439348"/>
              <p:cNvSpPr/>
              <p:nvPr/>
            </p:nvSpPr>
            <p:spPr>
              <a:xfrm flipV="1">
                <a:off x="4165" y="1286"/>
                <a:ext cx="453"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0" name="直接连接符 439349"/>
              <p:cNvSpPr/>
              <p:nvPr/>
            </p:nvSpPr>
            <p:spPr>
              <a:xfrm>
                <a:off x="4086" y="1378"/>
                <a:ext cx="903" cy="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1" name="直接连接符 439350"/>
              <p:cNvSpPr/>
              <p:nvPr/>
            </p:nvSpPr>
            <p:spPr>
              <a:xfrm flipH="1" flipV="1">
                <a:off x="3945" y="1426"/>
                <a:ext cx="773" cy="2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2" name="直接连接符 439351"/>
              <p:cNvSpPr/>
              <p:nvPr/>
            </p:nvSpPr>
            <p:spPr>
              <a:xfrm>
                <a:off x="1904" y="1434"/>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3" name="直接连接符 439352"/>
              <p:cNvSpPr/>
              <p:nvPr/>
            </p:nvSpPr>
            <p:spPr>
              <a:xfrm flipV="1">
                <a:off x="2923" y="1434"/>
                <a:ext cx="496" cy="1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4" name="直接连接符 439353"/>
              <p:cNvSpPr/>
              <p:nvPr/>
            </p:nvSpPr>
            <p:spPr>
              <a:xfrm flipV="1">
                <a:off x="1811" y="1722"/>
                <a:ext cx="5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5" name="直接连接符 439354"/>
              <p:cNvSpPr/>
              <p:nvPr/>
            </p:nvSpPr>
            <p:spPr>
              <a:xfrm flipV="1">
                <a:off x="2923" y="1706"/>
                <a:ext cx="535" cy="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6" name="直接连接符 439355"/>
              <p:cNvSpPr/>
              <p:nvPr/>
            </p:nvSpPr>
            <p:spPr>
              <a:xfrm>
                <a:off x="2909" y="1828"/>
                <a:ext cx="402" cy="14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7" name="直接连接符 439356"/>
              <p:cNvSpPr/>
              <p:nvPr/>
            </p:nvSpPr>
            <p:spPr>
              <a:xfrm flipV="1">
                <a:off x="1100" y="2271"/>
                <a:ext cx="1055" cy="9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8" name="直接连接符 439357"/>
              <p:cNvSpPr/>
              <p:nvPr/>
            </p:nvSpPr>
            <p:spPr>
              <a:xfrm>
                <a:off x="3110" y="2250"/>
                <a:ext cx="1095" cy="91"/>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9" name="直接连接符 439358"/>
              <p:cNvSpPr/>
              <p:nvPr/>
            </p:nvSpPr>
            <p:spPr>
              <a:xfrm>
                <a:off x="2658" y="2418"/>
                <a:ext cx="1" cy="29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0" name="直接连接符 439359"/>
              <p:cNvSpPr/>
              <p:nvPr/>
            </p:nvSpPr>
            <p:spPr>
              <a:xfrm>
                <a:off x="1954" y="2763"/>
                <a:ext cx="352"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1" name="直接连接符 439360"/>
              <p:cNvSpPr/>
              <p:nvPr/>
            </p:nvSpPr>
            <p:spPr>
              <a:xfrm flipV="1">
                <a:off x="1832" y="2861"/>
                <a:ext cx="476"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2" name="直接连接符 439361"/>
              <p:cNvSpPr/>
              <p:nvPr/>
            </p:nvSpPr>
            <p:spPr>
              <a:xfrm flipV="1">
                <a:off x="2105" y="2960"/>
                <a:ext cx="251" cy="29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3" name="直接连接符 439362"/>
              <p:cNvSpPr/>
              <p:nvPr/>
            </p:nvSpPr>
            <p:spPr>
              <a:xfrm flipV="1">
                <a:off x="2658" y="2960"/>
                <a:ext cx="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4" name="直接连接符 439363"/>
              <p:cNvSpPr/>
              <p:nvPr/>
            </p:nvSpPr>
            <p:spPr>
              <a:xfrm flipH="1" flipV="1">
                <a:off x="2909" y="2960"/>
                <a:ext cx="402"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5" name="直接连接符 439364"/>
              <p:cNvSpPr/>
              <p:nvPr/>
            </p:nvSpPr>
            <p:spPr>
              <a:xfrm>
                <a:off x="2923" y="2861"/>
                <a:ext cx="754"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6" name="直接连接符 439365"/>
              <p:cNvSpPr/>
              <p:nvPr/>
            </p:nvSpPr>
            <p:spPr>
              <a:xfrm>
                <a:off x="2916" y="2763"/>
                <a:ext cx="546"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7" name="直接连接符 439366"/>
              <p:cNvSpPr/>
              <p:nvPr/>
            </p:nvSpPr>
            <p:spPr>
              <a:xfrm flipV="1">
                <a:off x="899" y="1483"/>
                <a:ext cx="503" cy="34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8" name="直接连接符 439367"/>
              <p:cNvSpPr/>
              <p:nvPr/>
            </p:nvSpPr>
            <p:spPr>
              <a:xfrm flipV="1">
                <a:off x="799" y="1371"/>
                <a:ext cx="301"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9" name="直接连接符 439368"/>
              <p:cNvSpPr/>
              <p:nvPr/>
            </p:nvSpPr>
            <p:spPr>
              <a:xfrm>
                <a:off x="892" y="1131"/>
                <a:ext cx="295" cy="19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70" name="文本框 439369"/>
              <p:cNvSpPr txBox="1"/>
              <p:nvPr/>
            </p:nvSpPr>
            <p:spPr>
              <a:xfrm>
                <a:off x="1453" y="782"/>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1</a:t>
                </a:r>
              </a:p>
            </p:txBody>
          </p:sp>
          <p:sp>
            <p:nvSpPr>
              <p:cNvPr id="439371" name="文本框 439370"/>
              <p:cNvSpPr txBox="1"/>
              <p:nvPr/>
            </p:nvSpPr>
            <p:spPr>
              <a:xfrm>
                <a:off x="3412" y="801"/>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439372" name="文本框 439371"/>
              <p:cNvSpPr txBox="1"/>
              <p:nvPr/>
            </p:nvSpPr>
            <p:spPr>
              <a:xfrm>
                <a:off x="3763" y="1023"/>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439373" name="文本框 439372"/>
              <p:cNvSpPr txBox="1"/>
              <p:nvPr/>
            </p:nvSpPr>
            <p:spPr>
              <a:xfrm>
                <a:off x="1100" y="1121"/>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439374" name="文本框 439373"/>
              <p:cNvSpPr txBox="1"/>
              <p:nvPr/>
            </p:nvSpPr>
            <p:spPr>
              <a:xfrm>
                <a:off x="2105" y="1367"/>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439375" name="文本框 439374"/>
              <p:cNvSpPr txBox="1"/>
              <p:nvPr/>
            </p:nvSpPr>
            <p:spPr>
              <a:xfrm>
                <a:off x="2853" y="1360"/>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r">
                  <a:spcBef>
                    <a:spcPct val="50000"/>
                  </a:spcBef>
                </a:pPr>
                <a:r>
                  <a:rPr lang="en-US" altLang="zh-CN" b="1">
                    <a:latin typeface="Arial" panose="020B0604020202020204" pitchFamily="34" charset="0"/>
                  </a:rPr>
                  <a:t>N</a:t>
                </a:r>
              </a:p>
            </p:txBody>
          </p:sp>
          <p:sp>
            <p:nvSpPr>
              <p:cNvPr id="439376" name="文本框 439375"/>
              <p:cNvSpPr txBox="1"/>
              <p:nvPr/>
            </p:nvSpPr>
            <p:spPr>
              <a:xfrm>
                <a:off x="2658" y="1909"/>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N</a:t>
                </a:r>
              </a:p>
            </p:txBody>
          </p:sp>
          <p:sp>
            <p:nvSpPr>
              <p:cNvPr id="439377" name="文本框 439376"/>
              <p:cNvSpPr txBox="1"/>
              <p:nvPr/>
            </p:nvSpPr>
            <p:spPr>
              <a:xfrm>
                <a:off x="2658" y="2499"/>
                <a:ext cx="251"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M</a:t>
                </a:r>
              </a:p>
            </p:txBody>
          </p:sp>
          <p:sp>
            <p:nvSpPr>
              <p:cNvPr id="439378" name="直接连接符 439377"/>
              <p:cNvSpPr/>
              <p:nvPr/>
            </p:nvSpPr>
            <p:spPr>
              <a:xfrm flipV="1">
                <a:off x="2637" y="1828"/>
                <a:ext cx="1" cy="23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grpSp>
        <p:sp>
          <p:nvSpPr>
            <p:cNvPr id="439379" name="文本框 439378"/>
            <p:cNvSpPr txBox="1"/>
            <p:nvPr/>
          </p:nvSpPr>
          <p:spPr>
            <a:xfrm>
              <a:off x="739" y="3835"/>
              <a:ext cx="4137" cy="230"/>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zh-CN" altLang="en-US" sz="2400" b="1" dirty="0">
                  <a:latin typeface="楷体_GB2312" pitchFamily="49" charset="-122"/>
                  <a:ea typeface="楷体_GB2312" pitchFamily="49" charset="-122"/>
                </a:rPr>
                <a:t>图</a:t>
              </a:r>
              <a:r>
                <a:rPr lang="en-US" altLang="zh-CN" sz="2400" b="1">
                  <a:latin typeface="楷体_GB2312" pitchFamily="49" charset="-122"/>
                  <a:ea typeface="楷体_GB2312" pitchFamily="49" charset="-122"/>
                </a:rPr>
                <a:t>3.8 </a:t>
              </a:r>
              <a:r>
                <a:rPr lang="zh-CN" altLang="en-US" sz="2400" b="1" dirty="0">
                  <a:latin typeface="楷体_GB2312" pitchFamily="49" charset="-122"/>
                  <a:ea typeface="楷体_GB2312" pitchFamily="49" charset="-122"/>
                </a:rPr>
                <a:t>大学教学情况的实体</a:t>
              </a:r>
              <a:r>
                <a:rPr lang="en-US" altLang="zh-CN" sz="2400" b="1">
                  <a:latin typeface="楷体_GB2312" pitchFamily="49" charset="-122"/>
                  <a:ea typeface="楷体_GB2312" pitchFamily="49" charset="-122"/>
                </a:rPr>
                <a:t>-</a:t>
              </a:r>
              <a:r>
                <a:rPr lang="zh-CN" altLang="en-US" sz="2400" b="1" dirty="0">
                  <a:latin typeface="楷体_GB2312" pitchFamily="49" charset="-122"/>
                  <a:ea typeface="楷体_GB2312" pitchFamily="49" charset="-122"/>
                </a:rPr>
                <a:t>联系模型</a:t>
              </a:r>
              <a:r>
                <a:rPr lang="en-US" altLang="zh-CN" sz="2400" b="1">
                  <a:latin typeface="楷体_GB2312" pitchFamily="49" charset="-122"/>
                  <a:ea typeface="楷体_GB2312" pitchFamily="49" charset="-122"/>
                </a:rPr>
                <a:t>(E-R</a:t>
              </a:r>
              <a:r>
                <a:rPr lang="zh-CN" altLang="en-US" sz="2400" b="1">
                  <a:latin typeface="楷体_GB2312" pitchFamily="49" charset="-122"/>
                  <a:ea typeface="楷体_GB2312" pitchFamily="49" charset="-122"/>
                </a:rPr>
                <a:t>图</a:t>
              </a:r>
              <a:r>
                <a:rPr lang="en-US" altLang="zh-CN" sz="2400" b="1">
                  <a:latin typeface="楷体_GB2312" pitchFamily="49" charset="-122"/>
                  <a:ea typeface="楷体_GB2312" pitchFamily="49" charset="-122"/>
                </a:rPr>
                <a:t>)</a:t>
              </a:r>
            </a:p>
          </p:txBody>
        </p:sp>
      </p:grpSp>
    </p:spTree>
  </p:cSld>
  <p:clrMapOvr>
    <a:masterClrMapping/>
  </p:clrMapOvr>
  <mc:AlternateContent xmlns:mc="http://schemas.openxmlformats.org/markup-compatibility/2006" xmlns:p14="http://schemas.microsoft.com/office/powerpoint/2010/main">
    <mc:Choice Requires="p14">
      <p:transition spd="slow" p14:dur="2000" advTm="40803"/>
    </mc:Choice>
    <mc:Fallback xmlns="">
      <p:transition spd="slow" advTm="4080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8" name="矩形 600067"/>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Tree>
  </p:cSld>
  <p:clrMapOvr>
    <a:masterClrMapping/>
  </p:clrMapOvr>
  <mc:AlternateContent xmlns:mc="http://schemas.openxmlformats.org/markup-compatibility/2006" xmlns:p14="http://schemas.microsoft.com/office/powerpoint/2010/main">
    <mc:Choice Requires="p14">
      <p:transition spd="slow" p14:dur="2000" advTm="3394"/>
    </mc:Choice>
    <mc:Fallback xmlns="">
      <p:transition spd="slow" advTm="339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4" name="矩形 440323"/>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
        <p:nvSpPr>
          <p:cNvPr id="440326" name="矩形 440325"/>
          <p:cNvSpPr/>
          <p:nvPr/>
        </p:nvSpPr>
        <p:spPr>
          <a:xfrm>
            <a:off x="466725" y="1125538"/>
            <a:ext cx="8208963"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、递归联系</a:t>
            </a:r>
            <a:r>
              <a:rPr lang="zh-CN" altLang="en-US" dirty="0"/>
              <a:t>         </a:t>
            </a:r>
            <a:endParaRPr lang="en-US" altLang="zh-CN"/>
          </a:p>
        </p:txBody>
      </p:sp>
      <p:sp>
        <p:nvSpPr>
          <p:cNvPr id="440336" name="文本框 440335"/>
          <p:cNvSpPr txBox="1"/>
          <p:nvPr/>
        </p:nvSpPr>
        <p:spPr>
          <a:xfrm>
            <a:off x="950913" y="5573713"/>
            <a:ext cx="914400" cy="519112"/>
          </a:xfrm>
          <a:prstGeom prst="rect">
            <a:avLst/>
          </a:prstGeom>
          <a:noFill/>
          <a:ln w="19050">
            <a:noFill/>
          </a:ln>
        </p:spPr>
        <p:txBody>
          <a:bodyPr>
            <a:spAutoFit/>
          </a:bodyPr>
          <a:lstStyle/>
          <a:p>
            <a:pPr>
              <a:spcBef>
                <a:spcPct val="50000"/>
              </a:spcBef>
            </a:pPr>
            <a:r>
              <a:rPr lang="zh-CN" altLang="en-US" sz="2800">
                <a:latin typeface="Arial" panose="020B0604020202020204" pitchFamily="34" charset="0"/>
              </a:rPr>
              <a:t>    </a:t>
            </a:r>
            <a:r>
              <a:rPr lang="en-US" altLang="zh-CN" sz="2800">
                <a:latin typeface="Arial" panose="020B0604020202020204" pitchFamily="34" charset="0"/>
              </a:rPr>
              <a:t>(a)</a:t>
            </a:r>
          </a:p>
        </p:txBody>
      </p:sp>
      <p:sp>
        <p:nvSpPr>
          <p:cNvPr id="440346" name="文本框 440345"/>
          <p:cNvSpPr txBox="1"/>
          <p:nvPr/>
        </p:nvSpPr>
        <p:spPr>
          <a:xfrm>
            <a:off x="4303713" y="5576888"/>
            <a:ext cx="990600" cy="519112"/>
          </a:xfrm>
          <a:prstGeom prst="rect">
            <a:avLst/>
          </a:prstGeom>
          <a:noFill/>
          <a:ln w="19050">
            <a:noFill/>
          </a:ln>
        </p:spPr>
        <p:txBody>
          <a:bodyPr>
            <a:spAutoFit/>
          </a:bodyPr>
          <a:lstStyle/>
          <a:p>
            <a:pPr>
              <a:spcBef>
                <a:spcPct val="50000"/>
              </a:spcBef>
            </a:pPr>
            <a:r>
              <a:rPr lang="en-US" altLang="zh-CN" sz="2800">
                <a:solidFill>
                  <a:srgbClr val="990000"/>
                </a:solidFill>
                <a:latin typeface="Arial" panose="020B0604020202020204" pitchFamily="34" charset="0"/>
              </a:rPr>
              <a:t>(b)</a:t>
            </a:r>
          </a:p>
        </p:txBody>
      </p:sp>
      <p:grpSp>
        <p:nvGrpSpPr>
          <p:cNvPr id="440359" name="组合 440358"/>
          <p:cNvGrpSpPr/>
          <p:nvPr/>
        </p:nvGrpSpPr>
        <p:grpSpPr>
          <a:xfrm>
            <a:off x="36513" y="1916113"/>
            <a:ext cx="9067800" cy="3438525"/>
            <a:chOff x="23" y="1207"/>
            <a:chExt cx="5712" cy="2166"/>
          </a:xfrm>
        </p:grpSpPr>
        <p:sp>
          <p:nvSpPr>
            <p:cNvPr id="440328" name="矩形 440327"/>
            <p:cNvSpPr/>
            <p:nvPr/>
          </p:nvSpPr>
          <p:spPr>
            <a:xfrm>
              <a:off x="503" y="1207"/>
              <a:ext cx="1152" cy="336"/>
            </a:xfrm>
            <a:prstGeom prst="rect">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latin typeface="Arial" panose="020B0604020202020204" pitchFamily="34" charset="0"/>
                </a:rPr>
                <a:t>EMPLOYEES</a:t>
              </a:r>
            </a:p>
          </p:txBody>
        </p:sp>
        <p:sp>
          <p:nvSpPr>
            <p:cNvPr id="440329" name="流程图: 决策 440328"/>
            <p:cNvSpPr/>
            <p:nvPr/>
          </p:nvSpPr>
          <p:spPr>
            <a:xfrm>
              <a:off x="407" y="2839"/>
              <a:ext cx="1344" cy="528"/>
            </a:xfrm>
            <a:prstGeom prst="flowChartDecision">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latin typeface="Arial" panose="020B0604020202020204" pitchFamily="34" charset="0"/>
                </a:rPr>
                <a:t>MANAGE</a:t>
              </a:r>
            </a:p>
          </p:txBody>
        </p:sp>
        <p:sp>
          <p:nvSpPr>
            <p:cNvPr id="440330" name="文本框 440329"/>
            <p:cNvSpPr txBox="1"/>
            <p:nvPr/>
          </p:nvSpPr>
          <p:spPr>
            <a:xfrm>
              <a:off x="1271" y="2493"/>
              <a:ext cx="960" cy="250"/>
            </a:xfrm>
            <a:prstGeom prst="rect">
              <a:avLst/>
            </a:prstGeom>
            <a:noFill/>
            <a:ln w="19050">
              <a:noFill/>
            </a:ln>
          </p:spPr>
          <p:txBody>
            <a:bodyPr>
              <a:spAutoFit/>
            </a:bodyPr>
            <a:lstStyle/>
            <a:p>
              <a:pPr>
                <a:spcBef>
                  <a:spcPct val="50000"/>
                </a:spcBef>
              </a:pPr>
              <a:r>
                <a:rPr lang="en-US" altLang="zh-CN" sz="2000" b="1">
                  <a:latin typeface="Arial" panose="020B0604020202020204" pitchFamily="34" charset="0"/>
                </a:rPr>
                <a:t>MANAGED</a:t>
              </a:r>
            </a:p>
          </p:txBody>
        </p:sp>
        <p:sp>
          <p:nvSpPr>
            <p:cNvPr id="440331" name="直接连接符 440330"/>
            <p:cNvSpPr/>
            <p:nvPr/>
          </p:nvSpPr>
          <p:spPr>
            <a:xfrm>
              <a:off x="935" y="1543"/>
              <a:ext cx="0" cy="1342"/>
            </a:xfrm>
            <a:prstGeom prst="line">
              <a:avLst/>
            </a:prstGeom>
            <a:ln w="19050" cap="flat" cmpd="sng">
              <a:solidFill>
                <a:schemeClr val="tx1"/>
              </a:solidFill>
              <a:prstDash val="solid"/>
              <a:headEnd type="none" w="med" len="med"/>
              <a:tailEnd type="none" w="med" len="med"/>
            </a:ln>
          </p:spPr>
        </p:sp>
        <p:sp>
          <p:nvSpPr>
            <p:cNvPr id="440332" name="直接连接符 440331"/>
            <p:cNvSpPr/>
            <p:nvPr/>
          </p:nvSpPr>
          <p:spPr>
            <a:xfrm>
              <a:off x="1223" y="1543"/>
              <a:ext cx="0" cy="1342"/>
            </a:xfrm>
            <a:prstGeom prst="line">
              <a:avLst/>
            </a:prstGeom>
            <a:ln w="19050" cap="flat" cmpd="sng">
              <a:solidFill>
                <a:schemeClr val="tx1"/>
              </a:solidFill>
              <a:prstDash val="solid"/>
              <a:headEnd type="none" w="med" len="med"/>
              <a:tailEnd type="none" w="med" len="med"/>
            </a:ln>
          </p:spPr>
        </p:sp>
        <p:sp>
          <p:nvSpPr>
            <p:cNvPr id="440333" name="文本框 440332"/>
            <p:cNvSpPr txBox="1"/>
            <p:nvPr/>
          </p:nvSpPr>
          <p:spPr>
            <a:xfrm>
              <a:off x="23" y="2493"/>
              <a:ext cx="1008" cy="250"/>
            </a:xfrm>
            <a:prstGeom prst="rect">
              <a:avLst/>
            </a:prstGeom>
            <a:noFill/>
            <a:ln w="19050">
              <a:noFill/>
            </a:ln>
          </p:spPr>
          <p:txBody>
            <a:bodyPr>
              <a:spAutoFit/>
            </a:bodyPr>
            <a:lstStyle/>
            <a:p>
              <a:pPr>
                <a:spcBef>
                  <a:spcPct val="50000"/>
                </a:spcBef>
              </a:pPr>
              <a:r>
                <a:rPr lang="en-US" altLang="zh-CN" sz="2000" b="1">
                  <a:latin typeface="Arial" panose="020B0604020202020204" pitchFamily="34" charset="0"/>
                </a:rPr>
                <a:t>MANAGER</a:t>
              </a:r>
            </a:p>
          </p:txBody>
        </p:sp>
        <p:sp>
          <p:nvSpPr>
            <p:cNvPr id="440334" name="文本框 440333"/>
            <p:cNvSpPr txBox="1"/>
            <p:nvPr/>
          </p:nvSpPr>
          <p:spPr>
            <a:xfrm>
              <a:off x="647" y="1591"/>
              <a:ext cx="288"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sp>
          <p:nvSpPr>
            <p:cNvPr id="440335" name="文本框 440334"/>
            <p:cNvSpPr txBox="1"/>
            <p:nvPr/>
          </p:nvSpPr>
          <p:spPr>
            <a:xfrm>
              <a:off x="1271" y="1591"/>
              <a:ext cx="336"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N</a:t>
              </a:r>
            </a:p>
          </p:txBody>
        </p:sp>
        <p:sp>
          <p:nvSpPr>
            <p:cNvPr id="440338" name="矩形 440337"/>
            <p:cNvSpPr/>
            <p:nvPr/>
          </p:nvSpPr>
          <p:spPr>
            <a:xfrm>
              <a:off x="2330" y="1207"/>
              <a:ext cx="1149" cy="338"/>
            </a:xfrm>
            <a:prstGeom prst="rect">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solidFill>
                    <a:srgbClr val="990000"/>
                  </a:solidFill>
                  <a:latin typeface="Arial" panose="020B0604020202020204" pitchFamily="34" charset="0"/>
                </a:rPr>
                <a:t>PERSONS</a:t>
              </a:r>
            </a:p>
          </p:txBody>
        </p:sp>
        <p:sp>
          <p:nvSpPr>
            <p:cNvPr id="440339" name="流程图: 决策 440338"/>
            <p:cNvSpPr/>
            <p:nvPr/>
          </p:nvSpPr>
          <p:spPr>
            <a:xfrm>
              <a:off x="2240" y="2841"/>
              <a:ext cx="1335" cy="528"/>
            </a:xfrm>
            <a:prstGeom prst="flowChartDecision">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solidFill>
                    <a:srgbClr val="990000"/>
                  </a:solidFill>
                  <a:latin typeface="Arial" panose="020B0604020202020204" pitchFamily="34" charset="0"/>
                </a:rPr>
                <a:t>MOTHER-OF</a:t>
              </a:r>
            </a:p>
          </p:txBody>
        </p:sp>
        <p:sp>
          <p:nvSpPr>
            <p:cNvPr id="440340" name="直接连接符 440339"/>
            <p:cNvSpPr/>
            <p:nvPr/>
          </p:nvSpPr>
          <p:spPr>
            <a:xfrm flipV="1">
              <a:off x="2759" y="1545"/>
              <a:ext cx="0" cy="1342"/>
            </a:xfrm>
            <a:prstGeom prst="line">
              <a:avLst/>
            </a:prstGeom>
            <a:ln w="19050" cap="flat" cmpd="sng">
              <a:solidFill>
                <a:schemeClr val="tx1"/>
              </a:solidFill>
              <a:prstDash val="solid"/>
              <a:headEnd type="none" w="med" len="med"/>
              <a:tailEnd type="none" w="med" len="med"/>
            </a:ln>
          </p:spPr>
        </p:sp>
        <p:sp>
          <p:nvSpPr>
            <p:cNvPr id="440341" name="直接连接符 440340"/>
            <p:cNvSpPr/>
            <p:nvPr/>
          </p:nvSpPr>
          <p:spPr>
            <a:xfrm flipV="1">
              <a:off x="3047" y="1545"/>
              <a:ext cx="0" cy="1342"/>
            </a:xfrm>
            <a:prstGeom prst="line">
              <a:avLst/>
            </a:prstGeom>
            <a:ln w="19050" cap="flat" cmpd="sng">
              <a:solidFill>
                <a:schemeClr val="tx1"/>
              </a:solidFill>
              <a:prstDash val="solid"/>
              <a:headEnd type="none" w="med" len="med"/>
              <a:tailEnd type="none" w="med" len="med"/>
            </a:ln>
          </p:spPr>
        </p:sp>
        <p:sp>
          <p:nvSpPr>
            <p:cNvPr id="440342" name="文本框 440341"/>
            <p:cNvSpPr txBox="1"/>
            <p:nvPr/>
          </p:nvSpPr>
          <p:spPr>
            <a:xfrm>
              <a:off x="1943" y="2063"/>
              <a:ext cx="912" cy="250"/>
            </a:xfrm>
            <a:prstGeom prst="rect">
              <a:avLst/>
            </a:prstGeom>
            <a:noFill/>
            <a:ln w="19050">
              <a:noFill/>
            </a:ln>
          </p:spPr>
          <p:txBody>
            <a:bodyPr>
              <a:spAutoFit/>
            </a:bodyPr>
            <a:lstStyle/>
            <a:p>
              <a:pPr>
                <a:spcBef>
                  <a:spcPct val="50000"/>
                </a:spcBef>
              </a:pPr>
              <a:r>
                <a:rPr lang="en-US" altLang="zh-CN" sz="2000" b="1">
                  <a:solidFill>
                    <a:srgbClr val="990000"/>
                  </a:solidFill>
                  <a:latin typeface="Arial" panose="020B0604020202020204" pitchFamily="34" charset="0"/>
                </a:rPr>
                <a:t>MOTHER</a:t>
              </a:r>
            </a:p>
          </p:txBody>
        </p:sp>
        <p:sp>
          <p:nvSpPr>
            <p:cNvPr id="440343" name="文本框 440342"/>
            <p:cNvSpPr txBox="1"/>
            <p:nvPr/>
          </p:nvSpPr>
          <p:spPr>
            <a:xfrm>
              <a:off x="3095" y="2063"/>
              <a:ext cx="1008" cy="250"/>
            </a:xfrm>
            <a:prstGeom prst="rect">
              <a:avLst/>
            </a:prstGeom>
            <a:noFill/>
            <a:ln w="19050">
              <a:noFill/>
            </a:ln>
          </p:spPr>
          <p:txBody>
            <a:bodyPr>
              <a:spAutoFit/>
            </a:bodyPr>
            <a:lstStyle/>
            <a:p>
              <a:pPr>
                <a:spcBef>
                  <a:spcPct val="50000"/>
                </a:spcBef>
              </a:pPr>
              <a:r>
                <a:rPr lang="en-US" altLang="zh-CN" sz="2000" b="1">
                  <a:solidFill>
                    <a:srgbClr val="990000"/>
                  </a:solidFill>
                  <a:latin typeface="Arial" panose="020B0604020202020204" pitchFamily="34" charset="0"/>
                </a:rPr>
                <a:t>CHILDREN</a:t>
              </a:r>
            </a:p>
          </p:txBody>
        </p:sp>
        <p:sp>
          <p:nvSpPr>
            <p:cNvPr id="440344" name="文本框 440343"/>
            <p:cNvSpPr txBox="1"/>
            <p:nvPr/>
          </p:nvSpPr>
          <p:spPr>
            <a:xfrm>
              <a:off x="2519" y="1593"/>
              <a:ext cx="432" cy="288"/>
            </a:xfrm>
            <a:prstGeom prst="rect">
              <a:avLst/>
            </a:prstGeom>
            <a:noFill/>
            <a:ln w="19050">
              <a:noFill/>
            </a:ln>
          </p:spPr>
          <p:txBody>
            <a:bodyPr>
              <a:spAutoFit/>
            </a:bodyPr>
            <a:lstStyle/>
            <a:p>
              <a:pPr>
                <a:spcBef>
                  <a:spcPct val="50000"/>
                </a:spcBef>
              </a:pPr>
              <a:r>
                <a:rPr lang="en-US" altLang="zh-CN" sz="2400" b="1">
                  <a:solidFill>
                    <a:srgbClr val="990000"/>
                  </a:solidFill>
                  <a:latin typeface="Arial" panose="020B0604020202020204" pitchFamily="34" charset="0"/>
                </a:rPr>
                <a:t>1</a:t>
              </a:r>
            </a:p>
          </p:txBody>
        </p:sp>
        <p:sp>
          <p:nvSpPr>
            <p:cNvPr id="440345" name="文本框 440344"/>
            <p:cNvSpPr txBox="1"/>
            <p:nvPr/>
          </p:nvSpPr>
          <p:spPr>
            <a:xfrm>
              <a:off x="3095" y="1593"/>
              <a:ext cx="336" cy="288"/>
            </a:xfrm>
            <a:prstGeom prst="rect">
              <a:avLst/>
            </a:prstGeom>
            <a:noFill/>
            <a:ln w="19050">
              <a:noFill/>
            </a:ln>
          </p:spPr>
          <p:txBody>
            <a:bodyPr>
              <a:spAutoFit/>
            </a:bodyPr>
            <a:lstStyle/>
            <a:p>
              <a:pPr>
                <a:spcBef>
                  <a:spcPct val="50000"/>
                </a:spcBef>
              </a:pPr>
              <a:r>
                <a:rPr lang="en-US" altLang="zh-CN" sz="2400" b="1">
                  <a:solidFill>
                    <a:srgbClr val="990000"/>
                  </a:solidFill>
                  <a:latin typeface="Arial" panose="020B0604020202020204" pitchFamily="34" charset="0"/>
                </a:rPr>
                <a:t>N</a:t>
              </a:r>
            </a:p>
          </p:txBody>
        </p:sp>
        <p:sp>
          <p:nvSpPr>
            <p:cNvPr id="440348" name="矩形 440347"/>
            <p:cNvSpPr/>
            <p:nvPr/>
          </p:nvSpPr>
          <p:spPr>
            <a:xfrm>
              <a:off x="4055" y="1207"/>
              <a:ext cx="1152" cy="342"/>
            </a:xfrm>
            <a:prstGeom prst="rect">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latin typeface="Arial" panose="020B0604020202020204" pitchFamily="34" charset="0"/>
                </a:rPr>
                <a:t>PERSONS</a:t>
              </a:r>
            </a:p>
          </p:txBody>
        </p:sp>
        <p:sp>
          <p:nvSpPr>
            <p:cNvPr id="440349" name="流程图: 决策 440348"/>
            <p:cNvSpPr/>
            <p:nvPr/>
          </p:nvSpPr>
          <p:spPr>
            <a:xfrm>
              <a:off x="3959" y="2856"/>
              <a:ext cx="1344" cy="517"/>
            </a:xfrm>
            <a:prstGeom prst="flowChartDecision">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latin typeface="Arial" panose="020B0604020202020204" pitchFamily="34" charset="0"/>
                </a:rPr>
                <a:t>FAMILY</a:t>
              </a:r>
            </a:p>
          </p:txBody>
        </p:sp>
        <p:sp>
          <p:nvSpPr>
            <p:cNvPr id="440350" name="直接连接符 440349"/>
            <p:cNvSpPr/>
            <p:nvPr/>
          </p:nvSpPr>
          <p:spPr>
            <a:xfrm flipV="1">
              <a:off x="4487" y="1549"/>
              <a:ext cx="0" cy="1344"/>
            </a:xfrm>
            <a:prstGeom prst="line">
              <a:avLst/>
            </a:prstGeom>
            <a:ln w="19050" cap="flat" cmpd="sng">
              <a:solidFill>
                <a:schemeClr val="tx1"/>
              </a:solidFill>
              <a:prstDash val="solid"/>
              <a:headEnd type="none" w="med" len="med"/>
              <a:tailEnd type="none" w="med" len="med"/>
            </a:ln>
          </p:spPr>
        </p:sp>
        <p:sp>
          <p:nvSpPr>
            <p:cNvPr id="440351" name="直接连接符 440350"/>
            <p:cNvSpPr/>
            <p:nvPr/>
          </p:nvSpPr>
          <p:spPr>
            <a:xfrm flipV="1">
              <a:off x="4775" y="1549"/>
              <a:ext cx="0" cy="1344"/>
            </a:xfrm>
            <a:prstGeom prst="line">
              <a:avLst/>
            </a:prstGeom>
            <a:ln w="19050" cap="flat" cmpd="sng">
              <a:solidFill>
                <a:schemeClr val="tx1"/>
              </a:solidFill>
              <a:prstDash val="solid"/>
              <a:headEnd type="none" w="med" len="med"/>
              <a:tailEnd type="none" w="med" len="med"/>
            </a:ln>
          </p:spPr>
        </p:sp>
        <p:sp>
          <p:nvSpPr>
            <p:cNvPr id="440352" name="文本框 440351"/>
            <p:cNvSpPr txBox="1"/>
            <p:nvPr/>
          </p:nvSpPr>
          <p:spPr>
            <a:xfrm>
              <a:off x="3606" y="2557"/>
              <a:ext cx="907" cy="250"/>
            </a:xfrm>
            <a:prstGeom prst="rect">
              <a:avLst/>
            </a:prstGeom>
            <a:noFill/>
            <a:ln w="19050">
              <a:noFill/>
            </a:ln>
          </p:spPr>
          <p:txBody>
            <a:bodyPr>
              <a:spAutoFit/>
            </a:bodyPr>
            <a:lstStyle/>
            <a:p>
              <a:pPr>
                <a:spcBef>
                  <a:spcPct val="50000"/>
                </a:spcBef>
              </a:pPr>
              <a:r>
                <a:rPr lang="en-US" altLang="zh-CN" sz="2000" b="1" err="1">
                  <a:latin typeface="Arial" panose="020B0604020202020204" pitchFamily="34" charset="0"/>
                </a:rPr>
                <a:t>PARENTs</a:t>
              </a:r>
              <a:endParaRPr lang="en-US" altLang="zh-CN" sz="2000" b="1">
                <a:latin typeface="Arial" panose="020B0604020202020204" pitchFamily="34" charset="0"/>
              </a:endParaRPr>
            </a:p>
          </p:txBody>
        </p:sp>
        <p:sp>
          <p:nvSpPr>
            <p:cNvPr id="440353" name="文本框 440352"/>
            <p:cNvSpPr txBox="1"/>
            <p:nvPr/>
          </p:nvSpPr>
          <p:spPr>
            <a:xfrm>
              <a:off x="4775" y="2557"/>
              <a:ext cx="960" cy="250"/>
            </a:xfrm>
            <a:prstGeom prst="rect">
              <a:avLst/>
            </a:prstGeom>
            <a:noFill/>
            <a:ln w="19050">
              <a:noFill/>
            </a:ln>
          </p:spPr>
          <p:txBody>
            <a:bodyPr>
              <a:spAutoFit/>
            </a:bodyPr>
            <a:lstStyle/>
            <a:p>
              <a:pPr>
                <a:spcBef>
                  <a:spcPct val="50000"/>
                </a:spcBef>
              </a:pPr>
              <a:r>
                <a:rPr lang="en-US" altLang="zh-CN" sz="2000" b="1">
                  <a:latin typeface="Arial" panose="020B0604020202020204" pitchFamily="34" charset="0"/>
                </a:rPr>
                <a:t>CHILDREN</a:t>
              </a:r>
            </a:p>
          </p:txBody>
        </p:sp>
        <p:sp>
          <p:nvSpPr>
            <p:cNvPr id="440354" name="文本框 440353"/>
            <p:cNvSpPr txBox="1"/>
            <p:nvPr/>
          </p:nvSpPr>
          <p:spPr>
            <a:xfrm>
              <a:off x="4247" y="1597"/>
              <a:ext cx="336"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2</a:t>
              </a:r>
            </a:p>
          </p:txBody>
        </p:sp>
        <p:sp>
          <p:nvSpPr>
            <p:cNvPr id="440355" name="文本框 440354"/>
            <p:cNvSpPr txBox="1"/>
            <p:nvPr/>
          </p:nvSpPr>
          <p:spPr>
            <a:xfrm>
              <a:off x="4823" y="1597"/>
              <a:ext cx="384"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N</a:t>
              </a:r>
            </a:p>
          </p:txBody>
        </p:sp>
      </p:grpSp>
      <p:sp>
        <p:nvSpPr>
          <p:cNvPr id="440356" name="文本框 440355"/>
          <p:cNvSpPr txBox="1"/>
          <p:nvPr/>
        </p:nvSpPr>
        <p:spPr>
          <a:xfrm>
            <a:off x="7046913" y="5597525"/>
            <a:ext cx="838200" cy="519113"/>
          </a:xfrm>
          <a:prstGeom prst="rect">
            <a:avLst/>
          </a:prstGeom>
          <a:noFill/>
          <a:ln w="19050">
            <a:noFill/>
          </a:ln>
        </p:spPr>
        <p:txBody>
          <a:bodyPr>
            <a:spAutoFit/>
          </a:bodyPr>
          <a:lstStyle/>
          <a:p>
            <a:pPr>
              <a:spcBef>
                <a:spcPct val="50000"/>
              </a:spcBef>
            </a:pPr>
            <a:r>
              <a:rPr lang="en-US" altLang="zh-CN" sz="2800">
                <a:latin typeface="Arial" panose="020B0604020202020204" pitchFamily="34" charset="0"/>
              </a:rPr>
              <a:t>(c)</a:t>
            </a:r>
          </a:p>
        </p:txBody>
      </p:sp>
      <p:sp>
        <p:nvSpPr>
          <p:cNvPr id="440357" name="文本框 440356"/>
          <p:cNvSpPr txBox="1"/>
          <p:nvPr/>
        </p:nvSpPr>
        <p:spPr>
          <a:xfrm>
            <a:off x="2246313" y="6216650"/>
            <a:ext cx="4846637" cy="457200"/>
          </a:xfrm>
          <a:prstGeom prst="rect">
            <a:avLst/>
          </a:prstGeom>
          <a:noFill/>
          <a:ln w="19050">
            <a:noFill/>
          </a:ln>
        </p:spPr>
        <p:txBody>
          <a:bodyPr>
            <a:spAutoFit/>
          </a:bodyPr>
          <a:lstStyle/>
          <a:p>
            <a:pPr>
              <a:spcBef>
                <a:spcPct val="50000"/>
              </a:spcBef>
            </a:pPr>
            <a:r>
              <a:rPr lang="zh-CN" altLang="en-US" sz="2400" b="1" dirty="0">
                <a:latin typeface="Arial" panose="020B0604020202020204" pitchFamily="34" charset="0"/>
              </a:rPr>
              <a:t>图</a:t>
            </a:r>
            <a:r>
              <a:rPr lang="en-US" altLang="zh-CN" sz="2400" b="1">
                <a:latin typeface="Arial" panose="020B0604020202020204" pitchFamily="34" charset="0"/>
              </a:rPr>
              <a:t>3.10    </a:t>
            </a:r>
            <a:r>
              <a:rPr lang="zh-CN" altLang="en-US" sz="2400" b="1" dirty="0">
                <a:latin typeface="Arial" panose="020B0604020202020204" pitchFamily="34" charset="0"/>
              </a:rPr>
              <a:t>递归联系的</a:t>
            </a:r>
            <a:r>
              <a:rPr lang="en-US" altLang="zh-CN" sz="2400" b="1">
                <a:latin typeface="Arial" panose="020B0604020202020204" pitchFamily="34" charset="0"/>
              </a:rPr>
              <a:t>E-R</a:t>
            </a:r>
            <a:r>
              <a:rPr lang="zh-CN" altLang="en-US" sz="2400" b="1" dirty="0">
                <a:latin typeface="Arial" panose="020B0604020202020204" pitchFamily="34" charset="0"/>
              </a:rPr>
              <a:t>图表示</a:t>
            </a:r>
          </a:p>
        </p:txBody>
      </p:sp>
    </p:spTree>
  </p:cSld>
  <p:clrMapOvr>
    <a:masterClrMapping/>
  </p:clrMapOvr>
  <mc:AlternateContent xmlns:mc="http://schemas.openxmlformats.org/markup-compatibility/2006" xmlns:p14="http://schemas.microsoft.com/office/powerpoint/2010/main">
    <mc:Choice Requires="p14">
      <p:transition spd="slow" p14:dur="2000" advTm="112582"/>
    </mc:Choice>
    <mc:Fallback xmlns="">
      <p:transition spd="slow" advTm="11258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8" name="矩形 441347"/>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
        <p:nvSpPr>
          <p:cNvPr id="441349" name="矩形 441348"/>
          <p:cNvSpPr/>
          <p:nvPr/>
        </p:nvSpPr>
        <p:spPr>
          <a:xfrm>
            <a:off x="466725" y="1125538"/>
            <a:ext cx="8208963"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、冗余联系</a:t>
            </a:r>
            <a:r>
              <a:rPr lang="zh-CN" altLang="en-US" dirty="0"/>
              <a:t>         </a:t>
            </a:r>
            <a:endParaRPr lang="en-US" altLang="zh-CN"/>
          </a:p>
        </p:txBody>
      </p:sp>
      <p:grpSp>
        <p:nvGrpSpPr>
          <p:cNvPr id="441350" name="组合 441349"/>
          <p:cNvGrpSpPr/>
          <p:nvPr/>
        </p:nvGrpSpPr>
        <p:grpSpPr>
          <a:xfrm>
            <a:off x="827088" y="1989138"/>
            <a:ext cx="7391400" cy="3657600"/>
            <a:chOff x="624" y="624"/>
            <a:chExt cx="4656" cy="2304"/>
          </a:xfrm>
        </p:grpSpPr>
        <p:sp>
          <p:nvSpPr>
            <p:cNvPr id="441351" name="矩形 441350"/>
            <p:cNvSpPr/>
            <p:nvPr/>
          </p:nvSpPr>
          <p:spPr>
            <a:xfrm>
              <a:off x="2208" y="624"/>
              <a:ext cx="1296" cy="432"/>
            </a:xfrm>
            <a:prstGeom prst="rect">
              <a:avLst/>
            </a:prstGeom>
            <a:solidFill>
              <a:srgbClr val="CCECFF"/>
            </a:solidFill>
            <a:ln w="19050" cap="flat" cmpd="sng">
              <a:solidFill>
                <a:schemeClr val="tx1"/>
              </a:solidFill>
              <a:prstDash val="solid"/>
              <a:miter/>
              <a:headEnd type="none" w="med" len="med"/>
              <a:tailEnd type="none" w="med" len="med"/>
            </a:ln>
          </p:spPr>
          <p:txBody>
            <a:bodyPr wrap="none" anchor="ctr"/>
            <a:lstStyle/>
            <a:p>
              <a:pPr algn="ctr"/>
              <a:r>
                <a:rPr lang="zh-CN" altLang="en-US" sz="2400" b="1" dirty="0">
                  <a:effectLst>
                    <a:outerShdw blurRad="38100" dist="38100" dir="2700000">
                      <a:srgbClr val="FFFFFF"/>
                    </a:outerShdw>
                  </a:effectLst>
                  <a:latin typeface="Arial" panose="020B0604020202020204" pitchFamily="34" charset="0"/>
                  <a:ea typeface="黑体" panose="02010609060101010101" pitchFamily="2" charset="-122"/>
                </a:rPr>
                <a:t>用户</a:t>
              </a:r>
            </a:p>
          </p:txBody>
        </p:sp>
        <p:sp>
          <p:nvSpPr>
            <p:cNvPr id="441352" name="矩形 441351"/>
            <p:cNvSpPr/>
            <p:nvPr/>
          </p:nvSpPr>
          <p:spPr>
            <a:xfrm>
              <a:off x="624" y="2495"/>
              <a:ext cx="1252" cy="433"/>
            </a:xfrm>
            <a:prstGeom prst="rect">
              <a:avLst/>
            </a:prstGeom>
            <a:solidFill>
              <a:srgbClr val="CCECFF"/>
            </a:solidFill>
            <a:ln w="19050" cap="flat" cmpd="sng">
              <a:solidFill>
                <a:schemeClr val="tx1"/>
              </a:solidFill>
              <a:prstDash val="solid"/>
              <a:miter/>
              <a:headEnd type="none" w="med" len="med"/>
              <a:tailEnd type="none" w="med" len="med"/>
            </a:ln>
          </p:spPr>
          <p:txBody>
            <a:bodyPr wrap="none" anchor="ctr"/>
            <a:lstStyle/>
            <a:p>
              <a:pPr algn="ctr"/>
              <a:r>
                <a:rPr lang="zh-CN" altLang="en-US" sz="2400" b="1" dirty="0">
                  <a:effectLst>
                    <a:outerShdw blurRad="38100" dist="38100" dir="2700000">
                      <a:srgbClr val="FFFFFF"/>
                    </a:outerShdw>
                  </a:effectLst>
                  <a:latin typeface="Arial" panose="020B0604020202020204" pitchFamily="34" charset="0"/>
                  <a:ea typeface="黑体" panose="02010609060101010101" pitchFamily="2" charset="-122"/>
                </a:rPr>
                <a:t>合同</a:t>
              </a:r>
            </a:p>
          </p:txBody>
        </p:sp>
        <p:sp>
          <p:nvSpPr>
            <p:cNvPr id="441353" name="矩形 441352"/>
            <p:cNvSpPr/>
            <p:nvPr/>
          </p:nvSpPr>
          <p:spPr>
            <a:xfrm>
              <a:off x="4080" y="2496"/>
              <a:ext cx="1200" cy="432"/>
            </a:xfrm>
            <a:prstGeom prst="rect">
              <a:avLst/>
            </a:prstGeom>
            <a:solidFill>
              <a:srgbClr val="CCECFF"/>
            </a:solidFill>
            <a:ln w="19050" cap="flat" cmpd="sng">
              <a:solidFill>
                <a:schemeClr val="tx1"/>
              </a:solidFill>
              <a:prstDash val="solid"/>
              <a:miter/>
              <a:headEnd type="none" w="med" len="med"/>
              <a:tailEnd type="none" w="med" len="med"/>
            </a:ln>
          </p:spPr>
          <p:txBody>
            <a:bodyPr wrap="none" anchor="ctr"/>
            <a:lstStyle/>
            <a:p>
              <a:pPr algn="ctr"/>
              <a:r>
                <a:rPr lang="zh-CN" altLang="en-US" sz="2400" b="1" dirty="0">
                  <a:effectLst>
                    <a:outerShdw blurRad="38100" dist="38100" dir="2700000">
                      <a:srgbClr val="FFFFFF"/>
                    </a:outerShdw>
                  </a:effectLst>
                  <a:latin typeface="Arial" panose="020B0604020202020204" pitchFamily="34" charset="0"/>
                  <a:ea typeface="黑体" panose="02010609060101010101" pitchFamily="2" charset="-122"/>
                </a:rPr>
                <a:t>产品</a:t>
              </a:r>
            </a:p>
          </p:txBody>
        </p:sp>
        <p:sp>
          <p:nvSpPr>
            <p:cNvPr id="441354" name="流程图: 决策 441353"/>
            <p:cNvSpPr/>
            <p:nvPr/>
          </p:nvSpPr>
          <p:spPr>
            <a:xfrm>
              <a:off x="2304" y="2496"/>
              <a:ext cx="1344" cy="432"/>
            </a:xfrm>
            <a:prstGeom prst="flowChartDecision">
              <a:avLst/>
            </a:prstGeom>
            <a:solidFill>
              <a:srgbClr val="FFFFCC"/>
            </a:solidFill>
            <a:ln w="19050" cap="flat" cmpd="sng">
              <a:solidFill>
                <a:schemeClr val="tx1"/>
              </a:solidFill>
              <a:prstDash val="solid"/>
              <a:miter/>
              <a:headEnd type="none" w="med" len="med"/>
              <a:tailEnd type="none" w="med" len="med"/>
            </a:ln>
          </p:spPr>
          <p:txBody>
            <a:bodyPr wrap="none" anchor="ctr"/>
            <a:lstStyle/>
            <a:p>
              <a:pPr algn="ctr"/>
              <a:r>
                <a:rPr lang="zh-CN" altLang="en-US" sz="2400" b="1" dirty="0">
                  <a:effectLst>
                    <a:outerShdw blurRad="38100" dist="38100" dir="2700000">
                      <a:srgbClr val="FFFFFF"/>
                    </a:outerShdw>
                  </a:effectLst>
                  <a:latin typeface="Arial" panose="020B0604020202020204" pitchFamily="34" charset="0"/>
                  <a:ea typeface="黑体" panose="02010609060101010101" pitchFamily="2" charset="-122"/>
                </a:rPr>
                <a:t>订货</a:t>
              </a:r>
            </a:p>
          </p:txBody>
        </p:sp>
        <p:sp>
          <p:nvSpPr>
            <p:cNvPr id="441355" name="流程图: 决策 441354"/>
            <p:cNvSpPr/>
            <p:nvPr/>
          </p:nvSpPr>
          <p:spPr>
            <a:xfrm>
              <a:off x="1104" y="1440"/>
              <a:ext cx="1445" cy="432"/>
            </a:xfrm>
            <a:prstGeom prst="flowChartDecision">
              <a:avLst/>
            </a:prstGeom>
            <a:solidFill>
              <a:srgbClr val="FFFFCC"/>
            </a:solidFill>
            <a:ln w="19050" cap="flat" cmpd="sng">
              <a:solidFill>
                <a:schemeClr val="tx1"/>
              </a:solidFill>
              <a:prstDash val="solid"/>
              <a:miter/>
              <a:headEnd type="none" w="med" len="med"/>
              <a:tailEnd type="none" w="med" len="med"/>
            </a:ln>
          </p:spPr>
          <p:txBody>
            <a:bodyPr wrap="none" anchor="ctr"/>
            <a:lstStyle/>
            <a:p>
              <a:pPr algn="ctr"/>
              <a:r>
                <a:rPr lang="zh-CN" altLang="en-US" sz="2400" b="1" dirty="0">
                  <a:effectLst>
                    <a:outerShdw blurRad="38100" dist="38100" dir="2700000">
                      <a:srgbClr val="FFFFFF"/>
                    </a:outerShdw>
                  </a:effectLst>
                  <a:latin typeface="Arial" panose="020B0604020202020204" pitchFamily="34" charset="0"/>
                  <a:ea typeface="黑体" panose="02010609060101010101" pitchFamily="2" charset="-122"/>
                </a:rPr>
                <a:t>签定</a:t>
              </a:r>
            </a:p>
          </p:txBody>
        </p:sp>
        <p:sp>
          <p:nvSpPr>
            <p:cNvPr id="441356" name="流程图: 决策 441355"/>
            <p:cNvSpPr/>
            <p:nvPr/>
          </p:nvSpPr>
          <p:spPr>
            <a:xfrm>
              <a:off x="3216" y="1440"/>
              <a:ext cx="1440" cy="432"/>
            </a:xfrm>
            <a:prstGeom prst="flowChartDecision">
              <a:avLst/>
            </a:prstGeom>
            <a:solidFill>
              <a:srgbClr val="FFFFCC"/>
            </a:solidFill>
            <a:ln w="19050" cap="flat" cmpd="sng">
              <a:solidFill>
                <a:srgbClr val="006699"/>
              </a:solidFill>
              <a:prstDash val="solid"/>
              <a:miter/>
              <a:headEnd type="none" w="med" len="med"/>
              <a:tailEnd type="none" w="med" len="med"/>
            </a:ln>
          </p:spPr>
          <p:txBody>
            <a:bodyPr wrap="none" anchor="ctr"/>
            <a:lstStyle/>
            <a:p>
              <a:pPr algn="ctr"/>
              <a:r>
                <a:rPr lang="zh-CN" altLang="en-US" sz="2400" b="1" dirty="0">
                  <a:solidFill>
                    <a:srgbClr val="660033"/>
                  </a:solidFill>
                  <a:effectLst>
                    <a:outerShdw blurRad="38100" dist="38100" dir="2700000">
                      <a:srgbClr val="000000"/>
                    </a:outerShdw>
                  </a:effectLst>
                  <a:latin typeface="Arial" panose="020B0604020202020204" pitchFamily="34" charset="0"/>
                </a:rPr>
                <a:t>供应</a:t>
              </a:r>
            </a:p>
          </p:txBody>
        </p:sp>
        <p:sp>
          <p:nvSpPr>
            <p:cNvPr id="441357" name="直接连接符 441356"/>
            <p:cNvSpPr/>
            <p:nvPr/>
          </p:nvSpPr>
          <p:spPr>
            <a:xfrm flipH="1">
              <a:off x="2016" y="1056"/>
              <a:ext cx="528" cy="432"/>
            </a:xfrm>
            <a:prstGeom prst="line">
              <a:avLst/>
            </a:prstGeom>
            <a:ln w="19050" cap="flat" cmpd="sng">
              <a:solidFill>
                <a:schemeClr val="tx1"/>
              </a:solidFill>
              <a:prstDash val="solid"/>
              <a:headEnd type="none" w="med" len="med"/>
              <a:tailEnd type="none" w="med" len="med"/>
            </a:ln>
          </p:spPr>
        </p:sp>
        <p:sp>
          <p:nvSpPr>
            <p:cNvPr id="441358" name="直接连接符 441357"/>
            <p:cNvSpPr/>
            <p:nvPr/>
          </p:nvSpPr>
          <p:spPr>
            <a:xfrm flipH="1">
              <a:off x="864" y="1824"/>
              <a:ext cx="768" cy="672"/>
            </a:xfrm>
            <a:prstGeom prst="line">
              <a:avLst/>
            </a:prstGeom>
            <a:ln w="19050" cap="flat" cmpd="sng">
              <a:solidFill>
                <a:schemeClr val="tx1"/>
              </a:solidFill>
              <a:prstDash val="solid"/>
              <a:headEnd type="none" w="med" len="med"/>
              <a:tailEnd type="none" w="med" len="med"/>
            </a:ln>
          </p:spPr>
        </p:sp>
        <p:sp>
          <p:nvSpPr>
            <p:cNvPr id="441359" name="直接连接符 441358"/>
            <p:cNvSpPr/>
            <p:nvPr/>
          </p:nvSpPr>
          <p:spPr>
            <a:xfrm>
              <a:off x="3168" y="1056"/>
              <a:ext cx="576" cy="432"/>
            </a:xfrm>
            <a:prstGeom prst="line">
              <a:avLst/>
            </a:prstGeom>
            <a:ln w="19050" cap="flat" cmpd="sng">
              <a:solidFill>
                <a:schemeClr val="tx1"/>
              </a:solidFill>
              <a:prstDash val="solid"/>
              <a:headEnd type="none" w="med" len="med"/>
              <a:tailEnd type="none" w="med" len="med"/>
            </a:ln>
          </p:spPr>
        </p:sp>
        <p:sp>
          <p:nvSpPr>
            <p:cNvPr id="441360" name="直接连接符 441359"/>
            <p:cNvSpPr/>
            <p:nvPr/>
          </p:nvSpPr>
          <p:spPr>
            <a:xfrm>
              <a:off x="4128" y="1824"/>
              <a:ext cx="864" cy="672"/>
            </a:xfrm>
            <a:prstGeom prst="line">
              <a:avLst/>
            </a:prstGeom>
            <a:ln w="19050" cap="flat" cmpd="sng">
              <a:solidFill>
                <a:schemeClr val="tx1"/>
              </a:solidFill>
              <a:prstDash val="solid"/>
              <a:headEnd type="none" w="med" len="med"/>
              <a:tailEnd type="none" w="med" len="med"/>
            </a:ln>
          </p:spPr>
        </p:sp>
        <p:sp>
          <p:nvSpPr>
            <p:cNvPr id="441361" name="直接连接符 441360"/>
            <p:cNvSpPr/>
            <p:nvPr/>
          </p:nvSpPr>
          <p:spPr>
            <a:xfrm flipH="1">
              <a:off x="1872" y="2713"/>
              <a:ext cx="432" cy="0"/>
            </a:xfrm>
            <a:prstGeom prst="line">
              <a:avLst/>
            </a:prstGeom>
            <a:ln w="19050" cap="flat" cmpd="sng">
              <a:solidFill>
                <a:schemeClr val="tx1"/>
              </a:solidFill>
              <a:prstDash val="solid"/>
              <a:headEnd type="none" w="med" len="med"/>
              <a:tailEnd type="none" w="med" len="med"/>
            </a:ln>
          </p:spPr>
        </p:sp>
        <p:sp>
          <p:nvSpPr>
            <p:cNvPr id="441362" name="直接连接符 441361"/>
            <p:cNvSpPr/>
            <p:nvPr/>
          </p:nvSpPr>
          <p:spPr>
            <a:xfrm>
              <a:off x="3648" y="2713"/>
              <a:ext cx="432" cy="0"/>
            </a:xfrm>
            <a:prstGeom prst="line">
              <a:avLst/>
            </a:prstGeom>
            <a:ln w="19050" cap="flat" cmpd="sng">
              <a:solidFill>
                <a:schemeClr val="tx1"/>
              </a:solidFill>
              <a:prstDash val="solid"/>
              <a:headEnd type="none" w="med" len="med"/>
              <a:tailEnd type="none" w="med" len="med"/>
            </a:ln>
          </p:spPr>
        </p:sp>
        <p:sp>
          <p:nvSpPr>
            <p:cNvPr id="441363" name="文本框 441362"/>
            <p:cNvSpPr txBox="1"/>
            <p:nvPr/>
          </p:nvSpPr>
          <p:spPr>
            <a:xfrm>
              <a:off x="2352" y="1200"/>
              <a:ext cx="480"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sp>
          <p:nvSpPr>
            <p:cNvPr id="441364" name="文本框 441363"/>
            <p:cNvSpPr txBox="1"/>
            <p:nvPr/>
          </p:nvSpPr>
          <p:spPr>
            <a:xfrm>
              <a:off x="864" y="1968"/>
              <a:ext cx="432"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M</a:t>
              </a:r>
            </a:p>
          </p:txBody>
        </p:sp>
        <p:sp>
          <p:nvSpPr>
            <p:cNvPr id="441365" name="文本框 441364"/>
            <p:cNvSpPr txBox="1"/>
            <p:nvPr/>
          </p:nvSpPr>
          <p:spPr>
            <a:xfrm>
              <a:off x="1968" y="2448"/>
              <a:ext cx="384"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M</a:t>
              </a:r>
            </a:p>
          </p:txBody>
        </p:sp>
        <p:sp>
          <p:nvSpPr>
            <p:cNvPr id="441366" name="文本框 441365"/>
            <p:cNvSpPr txBox="1"/>
            <p:nvPr/>
          </p:nvSpPr>
          <p:spPr>
            <a:xfrm>
              <a:off x="3696" y="2448"/>
              <a:ext cx="384"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N</a:t>
              </a:r>
            </a:p>
          </p:txBody>
        </p:sp>
        <p:sp>
          <p:nvSpPr>
            <p:cNvPr id="441367" name="文本框 441366"/>
            <p:cNvSpPr txBox="1"/>
            <p:nvPr/>
          </p:nvSpPr>
          <p:spPr>
            <a:xfrm>
              <a:off x="3072" y="1200"/>
              <a:ext cx="384"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M</a:t>
              </a:r>
            </a:p>
          </p:txBody>
        </p:sp>
        <p:sp>
          <p:nvSpPr>
            <p:cNvPr id="441368" name="文本框 441367"/>
            <p:cNvSpPr txBox="1"/>
            <p:nvPr/>
          </p:nvSpPr>
          <p:spPr>
            <a:xfrm>
              <a:off x="4704" y="1968"/>
              <a:ext cx="528"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N</a:t>
              </a:r>
            </a:p>
          </p:txBody>
        </p:sp>
      </p:grpSp>
      <p:sp>
        <p:nvSpPr>
          <p:cNvPr id="441369" name="文本框 441368"/>
          <p:cNvSpPr txBox="1"/>
          <p:nvPr/>
        </p:nvSpPr>
        <p:spPr>
          <a:xfrm>
            <a:off x="2503488" y="6021388"/>
            <a:ext cx="3810000" cy="457200"/>
          </a:xfrm>
          <a:prstGeom prst="rect">
            <a:avLst/>
          </a:prstGeom>
          <a:noFill/>
          <a:ln w="19050">
            <a:noFill/>
          </a:ln>
        </p:spPr>
        <p:txBody>
          <a:bodyPr>
            <a:spAutoFit/>
          </a:bodyPr>
          <a:lstStyle/>
          <a:p>
            <a:pPr>
              <a:spcBef>
                <a:spcPct val="50000"/>
              </a:spcBef>
            </a:pPr>
            <a:r>
              <a:rPr lang="zh-CN" altLang="en-US" sz="2400" b="1" dirty="0">
                <a:latin typeface="Arial" panose="020B0604020202020204" pitchFamily="34" charset="0"/>
              </a:rPr>
              <a:t>图３</a:t>
            </a:r>
            <a:r>
              <a:rPr lang="en-US" altLang="zh-CN" sz="2400" b="1">
                <a:latin typeface="Arial" panose="020B0604020202020204" pitchFamily="34" charset="0"/>
              </a:rPr>
              <a:t>.11     </a:t>
            </a:r>
            <a:r>
              <a:rPr lang="zh-CN" altLang="en-US" sz="2400" b="1" dirty="0">
                <a:latin typeface="Arial" panose="020B0604020202020204" pitchFamily="34" charset="0"/>
              </a:rPr>
              <a:t>冗余联系示例</a:t>
            </a:r>
          </a:p>
        </p:txBody>
      </p:sp>
      <p:grpSp>
        <p:nvGrpSpPr>
          <p:cNvPr id="441373" name="组合 441372"/>
          <p:cNvGrpSpPr/>
          <p:nvPr/>
        </p:nvGrpSpPr>
        <p:grpSpPr>
          <a:xfrm>
            <a:off x="5651500" y="3141663"/>
            <a:ext cx="958850" cy="936625"/>
            <a:chOff x="4363" y="1406"/>
            <a:chExt cx="604" cy="590"/>
          </a:xfrm>
        </p:grpSpPr>
        <p:sp>
          <p:nvSpPr>
            <p:cNvPr id="441370" name="直接连接符 441369"/>
            <p:cNvSpPr/>
            <p:nvPr/>
          </p:nvSpPr>
          <p:spPr>
            <a:xfrm flipH="1">
              <a:off x="4391" y="1406"/>
              <a:ext cx="530" cy="590"/>
            </a:xfrm>
            <a:prstGeom prst="line">
              <a:avLst/>
            </a:prstGeom>
            <a:ln w="38100" cap="flat" cmpd="sng">
              <a:solidFill>
                <a:srgbClr val="CC0000"/>
              </a:solidFill>
              <a:prstDash val="solid"/>
              <a:headEnd type="none" w="med" len="med"/>
              <a:tailEnd type="none" w="med" len="med"/>
            </a:ln>
          </p:spPr>
        </p:sp>
        <p:sp>
          <p:nvSpPr>
            <p:cNvPr id="441371" name="直接连接符 441370"/>
            <p:cNvSpPr/>
            <p:nvPr/>
          </p:nvSpPr>
          <p:spPr>
            <a:xfrm>
              <a:off x="4363" y="1424"/>
              <a:ext cx="604" cy="572"/>
            </a:xfrm>
            <a:prstGeom prst="line">
              <a:avLst/>
            </a:prstGeom>
            <a:ln w="38100" cap="flat" cmpd="sng">
              <a:solidFill>
                <a:srgbClr val="CC0000"/>
              </a:solidFill>
              <a:prstDash val="solid"/>
              <a:headEnd type="none" w="med" len="med"/>
              <a:tailEnd type="none" w="med" len="med"/>
            </a:ln>
          </p:spPr>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8571"/>
    </mc:Choice>
    <mc:Fallback xmlns="">
      <p:transition spd="slow" advTm="11857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41350"/>
                                        </p:tgtEl>
                                        <p:attrNameLst>
                                          <p:attrName>style.visibility</p:attrName>
                                        </p:attrNameLst>
                                      </p:cBhvr>
                                      <p:to>
                                        <p:strVal val="visible"/>
                                      </p:to>
                                    </p:set>
                                    <p:animEffect transition="in" filter="checkerboard(across)">
                                      <p:cBhvr>
                                        <p:cTn id="7" dur="500"/>
                                        <p:tgtEl>
                                          <p:spTgt spid="44135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41369"/>
                                        </p:tgtEl>
                                        <p:attrNameLst>
                                          <p:attrName>style.visibility</p:attrName>
                                        </p:attrNameLst>
                                      </p:cBhvr>
                                      <p:to>
                                        <p:strVal val="visible"/>
                                      </p:to>
                                    </p:set>
                                    <p:animEffect transition="in" filter="checkerboard(across)">
                                      <p:cBhvr>
                                        <p:cTn id="10" dur="500"/>
                                        <p:tgtEl>
                                          <p:spTgt spid="441369"/>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nodeType="clickEffect">
                                  <p:stCondLst>
                                    <p:cond delay="0"/>
                                  </p:stCondLst>
                                  <p:childTnLst>
                                    <p:set>
                                      <p:cBhvr>
                                        <p:cTn id="14" dur="1" fill="hold">
                                          <p:stCondLst>
                                            <p:cond delay="0"/>
                                          </p:stCondLst>
                                        </p:cTn>
                                        <p:tgtEl>
                                          <p:spTgt spid="441373"/>
                                        </p:tgtEl>
                                        <p:attrNameLst>
                                          <p:attrName>style.visibility</p:attrName>
                                        </p:attrNameLst>
                                      </p:cBhvr>
                                      <p:to>
                                        <p:strVal val="visible"/>
                                      </p:to>
                                    </p:set>
                                    <p:animEffect transition="in" filter="box(out)">
                                      <p:cBhvr>
                                        <p:cTn id="15" dur="500"/>
                                        <p:tgtEl>
                                          <p:spTgt spid="441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6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2" name="矩形 442371"/>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
        <p:nvSpPr>
          <p:cNvPr id="442373" name="矩形 442372"/>
          <p:cNvSpPr/>
          <p:nvPr/>
        </p:nvSpPr>
        <p:spPr>
          <a:xfrm>
            <a:off x="466725" y="1125538"/>
            <a:ext cx="8208963" cy="20875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 </a:t>
            </a:r>
            <a:r>
              <a:rPr lang="en-US" altLang="zh-CN" sz="3000" err="1">
                <a:solidFill>
                  <a:srgbClr val="660033"/>
                </a:solidFill>
                <a:ea typeface="华文新魏" panose="02010800040101010101" pitchFamily="2" charset="-122"/>
              </a:rPr>
              <a:t>isa</a:t>
            </a:r>
            <a:r>
              <a:rPr lang="zh-CN" altLang="en-US" sz="3000" dirty="0">
                <a:solidFill>
                  <a:srgbClr val="660033"/>
                </a:solidFill>
                <a:ea typeface="华文新魏" panose="02010800040101010101" pitchFamily="2" charset="-122"/>
              </a:rPr>
              <a:t>联系</a:t>
            </a:r>
          </a:p>
          <a:p>
            <a:pPr lvl="0">
              <a:lnSpc>
                <a:spcPct val="145000"/>
              </a:lnSpc>
              <a:spcBef>
                <a:spcPct val="40000"/>
              </a:spcBef>
            </a:pPr>
            <a:r>
              <a:rPr lang="en-US" altLang="zh-CN"/>
              <a:t>          </a:t>
            </a:r>
            <a:r>
              <a:rPr lang="en-US" altLang="zh-CN" b="0">
                <a:effectLst/>
                <a:latin typeface="黑体" panose="02010609060101010101" pitchFamily="2" charset="-122"/>
                <a:ea typeface="黑体" panose="02010609060101010101" pitchFamily="2" charset="-122"/>
              </a:rPr>
              <a:t>A </a:t>
            </a:r>
            <a:r>
              <a:rPr lang="en-US" altLang="zh-CN" b="0" err="1">
                <a:solidFill>
                  <a:srgbClr val="FF0000"/>
                </a:solidFill>
                <a:effectLst/>
                <a:latin typeface="黑体" panose="02010609060101010101" pitchFamily="2" charset="-122"/>
                <a:ea typeface="黑体" panose="02010609060101010101" pitchFamily="2" charset="-122"/>
              </a:rPr>
              <a:t>isa</a:t>
            </a:r>
            <a:r>
              <a:rPr lang="en-US" altLang="zh-CN" b="0">
                <a:effectLst/>
                <a:latin typeface="黑体" panose="02010609060101010101" pitchFamily="2" charset="-122"/>
                <a:ea typeface="黑体" panose="02010609060101010101" pitchFamily="2" charset="-122"/>
              </a:rPr>
              <a:t> B </a:t>
            </a:r>
            <a:r>
              <a:rPr lang="zh-CN" altLang="en-US" b="0" dirty="0">
                <a:effectLst/>
                <a:latin typeface="黑体" panose="02010609060101010101" pitchFamily="2" charset="-122"/>
                <a:ea typeface="黑体" panose="02010609060101010101" pitchFamily="2" charset="-122"/>
              </a:rPr>
              <a:t>表示实体集</a:t>
            </a:r>
            <a:r>
              <a:rPr lang="en-US" altLang="zh-CN" b="0">
                <a:effectLst/>
                <a:latin typeface="黑体" panose="02010609060101010101" pitchFamily="2" charset="-122"/>
                <a:ea typeface="黑体" panose="02010609060101010101" pitchFamily="2" charset="-122"/>
              </a:rPr>
              <a:t>A</a:t>
            </a:r>
            <a:r>
              <a:rPr lang="zh-CN" altLang="en-US" b="0" dirty="0">
                <a:effectLst/>
                <a:latin typeface="黑体" panose="02010609060101010101" pitchFamily="2" charset="-122"/>
                <a:ea typeface="黑体" panose="02010609060101010101" pitchFamily="2" charset="-122"/>
              </a:rPr>
              <a:t>包含在实体集</a:t>
            </a:r>
            <a:r>
              <a:rPr lang="en-US" altLang="zh-CN" b="0">
                <a:effectLst/>
                <a:latin typeface="黑体" panose="02010609060101010101" pitchFamily="2" charset="-122"/>
                <a:ea typeface="黑体" panose="02010609060101010101" pitchFamily="2" charset="-122"/>
              </a:rPr>
              <a:t>B</a:t>
            </a:r>
            <a:r>
              <a:rPr lang="zh-CN" altLang="en-US" b="0" dirty="0">
                <a:effectLst/>
                <a:latin typeface="黑体" panose="02010609060101010101" pitchFamily="2" charset="-122"/>
                <a:ea typeface="黑体" panose="02010609060101010101" pitchFamily="2" charset="-122"/>
              </a:rPr>
              <a:t>中，</a:t>
            </a:r>
            <a:r>
              <a:rPr lang="en-US" altLang="zh-CN" b="0">
                <a:effectLst/>
                <a:latin typeface="黑体" panose="02010609060101010101" pitchFamily="2" charset="-122"/>
                <a:ea typeface="黑体" panose="02010609060101010101" pitchFamily="2" charset="-122"/>
              </a:rPr>
              <a:t>A</a:t>
            </a:r>
            <a:r>
              <a:rPr lang="zh-CN" altLang="en-US" b="0" dirty="0">
                <a:effectLst/>
                <a:latin typeface="黑体" panose="02010609060101010101" pitchFamily="2" charset="-122"/>
                <a:ea typeface="黑体" panose="02010609060101010101" pitchFamily="2" charset="-122"/>
              </a:rPr>
              <a:t>是</a:t>
            </a:r>
            <a:r>
              <a:rPr lang="en-US" altLang="zh-CN" b="0">
                <a:effectLst/>
                <a:latin typeface="黑体" panose="02010609060101010101" pitchFamily="2" charset="-122"/>
                <a:ea typeface="黑体" panose="02010609060101010101" pitchFamily="2" charset="-122"/>
              </a:rPr>
              <a:t>B</a:t>
            </a:r>
            <a:r>
              <a:rPr lang="zh-CN" altLang="en-US" b="0" dirty="0">
                <a:effectLst/>
                <a:latin typeface="黑体" panose="02010609060101010101" pitchFamily="2" charset="-122"/>
                <a:ea typeface="黑体" panose="02010609060101010101" pitchFamily="2" charset="-122"/>
              </a:rPr>
              <a:t>中的一种特殊的群体。</a:t>
            </a:r>
            <a:endParaRPr lang="en-US" altLang="zh-CN" b="0">
              <a:effectLst/>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3489"/>
    </mc:Choice>
    <mc:Fallback xmlns="">
      <p:transition spd="slow" advTm="2348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7" name="文本框 443396"/>
          <p:cNvSpPr txBox="1"/>
          <p:nvPr/>
        </p:nvSpPr>
        <p:spPr>
          <a:xfrm>
            <a:off x="755650" y="6237288"/>
            <a:ext cx="8064500" cy="427037"/>
          </a:xfrm>
          <a:prstGeom prst="rect">
            <a:avLst/>
          </a:prstGeom>
          <a:noFill/>
          <a:ln w="9525">
            <a:noFill/>
          </a:ln>
        </p:spPr>
        <p:txBody>
          <a:bodyPr>
            <a:spAutoFit/>
          </a:bodyPr>
          <a:lstStyle/>
          <a:p>
            <a:pPr>
              <a:spcBef>
                <a:spcPct val="50000"/>
              </a:spcBef>
            </a:pPr>
            <a:r>
              <a:rPr lang="zh-CN" altLang="en-US" sz="2200" b="1" dirty="0">
                <a:latin typeface="Arial" panose="020B0604020202020204" pitchFamily="34" charset="0"/>
              </a:rPr>
              <a:t>图</a:t>
            </a:r>
            <a:r>
              <a:rPr lang="en-US" altLang="zh-CN" sz="2200" b="1">
                <a:latin typeface="Arial" panose="020B0604020202020204" pitchFamily="34" charset="0"/>
              </a:rPr>
              <a:t>3.12   </a:t>
            </a:r>
            <a:r>
              <a:rPr lang="zh-CN" altLang="en-US" sz="2200" b="1" dirty="0">
                <a:latin typeface="Arial" panose="020B0604020202020204" pitchFamily="34" charset="0"/>
              </a:rPr>
              <a:t>航空公司飞行员和班组人员的</a:t>
            </a:r>
            <a:r>
              <a:rPr lang="en-US" altLang="zh-CN" sz="2200" b="1" err="1">
                <a:latin typeface="Arial" panose="020B0604020202020204" pitchFamily="34" charset="0"/>
              </a:rPr>
              <a:t>isa</a:t>
            </a:r>
            <a:r>
              <a:rPr lang="zh-CN" altLang="en-US" sz="2200" b="1" dirty="0">
                <a:latin typeface="Arial" panose="020B0604020202020204" pitchFamily="34" charset="0"/>
              </a:rPr>
              <a:t>联系的</a:t>
            </a:r>
            <a:r>
              <a:rPr lang="en-US" altLang="zh-CN" sz="2200" b="1">
                <a:latin typeface="Arial" panose="020B0604020202020204" pitchFamily="34" charset="0"/>
              </a:rPr>
              <a:t>E-R</a:t>
            </a:r>
            <a:r>
              <a:rPr lang="zh-CN" altLang="en-US" sz="2200" b="1" dirty="0">
                <a:latin typeface="Arial" panose="020B0604020202020204" pitchFamily="34" charset="0"/>
              </a:rPr>
              <a:t>模型表示</a:t>
            </a:r>
          </a:p>
        </p:txBody>
      </p:sp>
      <p:grpSp>
        <p:nvGrpSpPr>
          <p:cNvPr id="443434" name="组合 443433"/>
          <p:cNvGrpSpPr/>
          <p:nvPr/>
        </p:nvGrpSpPr>
        <p:grpSpPr>
          <a:xfrm>
            <a:off x="107950" y="79375"/>
            <a:ext cx="8713788" cy="5951538"/>
            <a:chOff x="68" y="50"/>
            <a:chExt cx="5489" cy="3749"/>
          </a:xfrm>
        </p:grpSpPr>
        <p:sp>
          <p:nvSpPr>
            <p:cNvPr id="443396" name="矩形 443395"/>
            <p:cNvSpPr/>
            <p:nvPr/>
          </p:nvSpPr>
          <p:spPr>
            <a:xfrm>
              <a:off x="68" y="83"/>
              <a:ext cx="5489" cy="998"/>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43399" name="矩形 443398"/>
            <p:cNvSpPr/>
            <p:nvPr/>
          </p:nvSpPr>
          <p:spPr>
            <a:xfrm>
              <a:off x="2473" y="871"/>
              <a:ext cx="912"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PERSONNEL</a:t>
              </a:r>
            </a:p>
            <a:p>
              <a:pPr algn="ctr"/>
              <a:r>
                <a:rPr lang="zh-CN" altLang="en-US" sz="1600" b="1" dirty="0">
                  <a:latin typeface="Arial" panose="020B0604020202020204" pitchFamily="34" charset="0"/>
                </a:rPr>
                <a:t>机组人员</a:t>
              </a:r>
            </a:p>
          </p:txBody>
        </p:sp>
        <p:sp>
          <p:nvSpPr>
            <p:cNvPr id="443400" name="椭圆 443399"/>
            <p:cNvSpPr/>
            <p:nvPr/>
          </p:nvSpPr>
          <p:spPr>
            <a:xfrm>
              <a:off x="841" y="583"/>
              <a:ext cx="912" cy="384"/>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NAME</a:t>
              </a:r>
            </a:p>
            <a:p>
              <a:pPr algn="ctr"/>
              <a:r>
                <a:rPr lang="zh-CN" altLang="en-US" sz="1600" b="1" dirty="0">
                  <a:latin typeface="Arial" panose="020B0604020202020204" pitchFamily="34" charset="0"/>
                </a:rPr>
                <a:t>姓名</a:t>
              </a:r>
            </a:p>
          </p:txBody>
        </p:sp>
        <p:sp>
          <p:nvSpPr>
            <p:cNvPr id="443401" name="椭圆 443400"/>
            <p:cNvSpPr/>
            <p:nvPr/>
          </p:nvSpPr>
          <p:spPr>
            <a:xfrm>
              <a:off x="1945" y="391"/>
              <a:ext cx="907" cy="390"/>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ADDRESS</a:t>
              </a:r>
            </a:p>
            <a:p>
              <a:pPr algn="ctr"/>
              <a:r>
                <a:rPr lang="zh-CN" altLang="en-US" sz="1600" b="1" dirty="0">
                  <a:latin typeface="Arial" panose="020B0604020202020204" pitchFamily="34" charset="0"/>
                </a:rPr>
                <a:t>地址</a:t>
              </a:r>
            </a:p>
          </p:txBody>
        </p:sp>
        <p:sp>
          <p:nvSpPr>
            <p:cNvPr id="443402" name="椭圆 443401"/>
            <p:cNvSpPr/>
            <p:nvPr/>
          </p:nvSpPr>
          <p:spPr>
            <a:xfrm>
              <a:off x="3001" y="391"/>
              <a:ext cx="916" cy="388"/>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SALARY</a:t>
              </a:r>
            </a:p>
            <a:p>
              <a:pPr algn="ctr"/>
              <a:r>
                <a:rPr lang="zh-CN" altLang="en-US" sz="1600" b="1" dirty="0">
                  <a:latin typeface="Arial" panose="020B0604020202020204" pitchFamily="34" charset="0"/>
                </a:rPr>
                <a:t>工资</a:t>
              </a:r>
            </a:p>
          </p:txBody>
        </p:sp>
        <p:sp>
          <p:nvSpPr>
            <p:cNvPr id="443403" name="椭圆 443402"/>
            <p:cNvSpPr/>
            <p:nvPr/>
          </p:nvSpPr>
          <p:spPr>
            <a:xfrm>
              <a:off x="4105" y="535"/>
              <a:ext cx="918" cy="370"/>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EMP-NO</a:t>
              </a:r>
            </a:p>
            <a:p>
              <a:pPr algn="ctr"/>
              <a:r>
                <a:rPr lang="zh-CN" altLang="en-US" sz="1600" b="1" dirty="0">
                  <a:latin typeface="Arial" panose="020B0604020202020204" pitchFamily="34" charset="0"/>
                </a:rPr>
                <a:t>职工号</a:t>
              </a:r>
            </a:p>
          </p:txBody>
        </p:sp>
        <p:sp>
          <p:nvSpPr>
            <p:cNvPr id="443404" name="矩形 443403"/>
            <p:cNvSpPr/>
            <p:nvPr/>
          </p:nvSpPr>
          <p:spPr>
            <a:xfrm>
              <a:off x="2377" y="1639"/>
              <a:ext cx="1147" cy="33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PILOTS</a:t>
              </a:r>
              <a:r>
                <a:rPr lang="zh-CN" altLang="en-US" sz="1600" b="1" dirty="0">
                  <a:latin typeface="Arial" panose="020B0604020202020204" pitchFamily="34" charset="0"/>
                </a:rPr>
                <a:t>飞行员</a:t>
              </a:r>
            </a:p>
          </p:txBody>
        </p:sp>
        <p:sp>
          <p:nvSpPr>
            <p:cNvPr id="443405" name="流程图: 决策 443404"/>
            <p:cNvSpPr/>
            <p:nvPr/>
          </p:nvSpPr>
          <p:spPr>
            <a:xfrm>
              <a:off x="2496" y="1303"/>
              <a:ext cx="912" cy="288"/>
            </a:xfrm>
            <a:prstGeom prst="flowChartDecision">
              <a:avLst/>
            </a:prstGeom>
            <a:solidFill>
              <a:srgbClr val="FFFFCC"/>
            </a:solidFill>
            <a:ln w="9525" cap="flat" cmpd="sng">
              <a:solidFill>
                <a:schemeClr val="tx1"/>
              </a:solidFill>
              <a:prstDash val="solid"/>
              <a:miter/>
              <a:headEnd type="none" w="med" len="med"/>
              <a:tailEnd type="none" w="med" len="med"/>
            </a:ln>
          </p:spPr>
          <p:txBody>
            <a:bodyPr wrap="none" anchor="ctr"/>
            <a:lstStyle/>
            <a:p>
              <a:pPr algn="ctr"/>
              <a:r>
                <a:rPr lang="en-US" altLang="zh-CN" sz="2400" b="1" err="1">
                  <a:latin typeface="Arial" panose="020B0604020202020204" pitchFamily="34" charset="0"/>
                </a:rPr>
                <a:t>isa</a:t>
              </a:r>
              <a:endParaRPr lang="en-US" altLang="zh-CN" sz="2400" b="1">
                <a:latin typeface="Arial" panose="020B0604020202020204" pitchFamily="34" charset="0"/>
              </a:endParaRPr>
            </a:p>
          </p:txBody>
        </p:sp>
        <p:sp>
          <p:nvSpPr>
            <p:cNvPr id="443406" name="流程图: 决策 443405"/>
            <p:cNvSpPr/>
            <p:nvPr/>
          </p:nvSpPr>
          <p:spPr>
            <a:xfrm>
              <a:off x="2377" y="2023"/>
              <a:ext cx="1152" cy="432"/>
            </a:xfrm>
            <a:prstGeom prst="flowChartDecision">
              <a:avLst/>
            </a:prstGeom>
            <a:solidFill>
              <a:srgbClr val="FF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CAN-FLY</a:t>
              </a:r>
            </a:p>
            <a:p>
              <a:pPr algn="ctr"/>
              <a:r>
                <a:rPr lang="zh-CN" altLang="en-US" sz="1600" b="1" dirty="0">
                  <a:latin typeface="Arial" panose="020B0604020202020204" pitchFamily="34" charset="0"/>
                </a:rPr>
                <a:t>能驾驶</a:t>
              </a:r>
            </a:p>
          </p:txBody>
        </p:sp>
        <p:sp>
          <p:nvSpPr>
            <p:cNvPr id="443407" name="矩形 443406"/>
            <p:cNvSpPr/>
            <p:nvPr/>
          </p:nvSpPr>
          <p:spPr>
            <a:xfrm>
              <a:off x="2377" y="2551"/>
              <a:ext cx="1140" cy="33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PLANES</a:t>
              </a:r>
              <a:r>
                <a:rPr lang="zh-CN" altLang="en-US" sz="1600" b="1" dirty="0">
                  <a:latin typeface="Arial" panose="020B0604020202020204" pitchFamily="34" charset="0"/>
                </a:rPr>
                <a:t>飞机</a:t>
              </a:r>
            </a:p>
          </p:txBody>
        </p:sp>
        <p:sp>
          <p:nvSpPr>
            <p:cNvPr id="443408" name="流程图: 决策 443407"/>
            <p:cNvSpPr/>
            <p:nvPr/>
          </p:nvSpPr>
          <p:spPr>
            <a:xfrm>
              <a:off x="2377" y="2935"/>
              <a:ext cx="1145" cy="428"/>
            </a:xfrm>
            <a:prstGeom prst="flowChartDecision">
              <a:avLst/>
            </a:prstGeom>
            <a:solidFill>
              <a:srgbClr val="FF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TYPE</a:t>
              </a:r>
            </a:p>
            <a:p>
              <a:pPr algn="ctr"/>
              <a:r>
                <a:rPr lang="zh-CN" altLang="en-US" sz="1600" b="1" dirty="0">
                  <a:latin typeface="Arial" panose="020B0604020202020204" pitchFamily="34" charset="0"/>
                </a:rPr>
                <a:t>类型是</a:t>
              </a:r>
            </a:p>
          </p:txBody>
        </p:sp>
        <p:sp>
          <p:nvSpPr>
            <p:cNvPr id="443409" name="矩形 443408"/>
            <p:cNvSpPr/>
            <p:nvPr/>
          </p:nvSpPr>
          <p:spPr>
            <a:xfrm>
              <a:off x="2377" y="3463"/>
              <a:ext cx="1152"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AICRAFT</a:t>
              </a:r>
              <a:r>
                <a:rPr lang="zh-CN" altLang="en-US" sz="1600" b="1" dirty="0">
                  <a:latin typeface="Arial" panose="020B0604020202020204" pitchFamily="34" charset="0"/>
                </a:rPr>
                <a:t>具体飞机</a:t>
              </a:r>
            </a:p>
          </p:txBody>
        </p:sp>
        <p:sp>
          <p:nvSpPr>
            <p:cNvPr id="443410" name="椭圆 443409"/>
            <p:cNvSpPr/>
            <p:nvPr/>
          </p:nvSpPr>
          <p:spPr>
            <a:xfrm>
              <a:off x="4105" y="3319"/>
              <a:ext cx="925" cy="365"/>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SERIAL-NO</a:t>
              </a:r>
            </a:p>
            <a:p>
              <a:pPr algn="ctr"/>
              <a:r>
                <a:rPr lang="zh-CN" altLang="en-US" sz="1600" b="1" dirty="0">
                  <a:latin typeface="Arial" panose="020B0604020202020204" pitchFamily="34" charset="0"/>
                </a:rPr>
                <a:t>序列号</a:t>
              </a:r>
            </a:p>
          </p:txBody>
        </p:sp>
        <p:sp>
          <p:nvSpPr>
            <p:cNvPr id="443411" name="椭圆 443410"/>
            <p:cNvSpPr/>
            <p:nvPr/>
          </p:nvSpPr>
          <p:spPr>
            <a:xfrm>
              <a:off x="457" y="2407"/>
              <a:ext cx="1344" cy="480"/>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MANUFACTURER</a:t>
              </a:r>
            </a:p>
            <a:p>
              <a:pPr algn="ctr"/>
              <a:r>
                <a:rPr lang="zh-CN" altLang="en-US" sz="1600" b="1" dirty="0">
                  <a:latin typeface="Arial" panose="020B0604020202020204" pitchFamily="34" charset="0"/>
                </a:rPr>
                <a:t>制造厂</a:t>
              </a:r>
            </a:p>
          </p:txBody>
        </p:sp>
        <p:sp>
          <p:nvSpPr>
            <p:cNvPr id="443412" name="椭圆 443411"/>
            <p:cNvSpPr/>
            <p:nvPr/>
          </p:nvSpPr>
          <p:spPr>
            <a:xfrm>
              <a:off x="3865" y="2359"/>
              <a:ext cx="1328" cy="467"/>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MODEL-NO</a:t>
              </a:r>
            </a:p>
            <a:p>
              <a:pPr algn="ctr"/>
              <a:r>
                <a:rPr lang="zh-CN" altLang="en-US" sz="1600" b="1" dirty="0">
                  <a:latin typeface="Arial" panose="020B0604020202020204" pitchFamily="34" charset="0"/>
                </a:rPr>
                <a:t>型号</a:t>
              </a:r>
            </a:p>
          </p:txBody>
        </p:sp>
        <p:sp>
          <p:nvSpPr>
            <p:cNvPr id="443413" name="直接连接符 443412"/>
            <p:cNvSpPr/>
            <p:nvPr/>
          </p:nvSpPr>
          <p:spPr>
            <a:xfrm>
              <a:off x="1609" y="919"/>
              <a:ext cx="864" cy="144"/>
            </a:xfrm>
            <a:prstGeom prst="line">
              <a:avLst/>
            </a:prstGeom>
            <a:ln w="9525" cap="flat" cmpd="sng">
              <a:solidFill>
                <a:schemeClr val="tx1"/>
              </a:solidFill>
              <a:prstDash val="solid"/>
              <a:headEnd type="none" w="med" len="med"/>
              <a:tailEnd type="none" w="med" len="med"/>
            </a:ln>
          </p:spPr>
        </p:sp>
        <p:sp>
          <p:nvSpPr>
            <p:cNvPr id="443414" name="直接连接符 443413"/>
            <p:cNvSpPr/>
            <p:nvPr/>
          </p:nvSpPr>
          <p:spPr>
            <a:xfrm>
              <a:off x="2617" y="775"/>
              <a:ext cx="96" cy="96"/>
            </a:xfrm>
            <a:prstGeom prst="line">
              <a:avLst/>
            </a:prstGeom>
            <a:ln w="9525" cap="flat" cmpd="sng">
              <a:solidFill>
                <a:schemeClr val="tx1"/>
              </a:solidFill>
              <a:prstDash val="solid"/>
              <a:headEnd type="none" w="med" len="med"/>
              <a:tailEnd type="none" w="med" len="med"/>
            </a:ln>
          </p:spPr>
        </p:sp>
        <p:sp>
          <p:nvSpPr>
            <p:cNvPr id="443415" name="直接连接符 443414"/>
            <p:cNvSpPr/>
            <p:nvPr/>
          </p:nvSpPr>
          <p:spPr>
            <a:xfrm flipH="1">
              <a:off x="3049" y="727"/>
              <a:ext cx="96" cy="144"/>
            </a:xfrm>
            <a:prstGeom prst="line">
              <a:avLst/>
            </a:prstGeom>
            <a:ln w="9525" cap="flat" cmpd="sng">
              <a:solidFill>
                <a:schemeClr val="tx1"/>
              </a:solidFill>
              <a:prstDash val="solid"/>
              <a:headEnd type="none" w="med" len="med"/>
              <a:tailEnd type="none" w="med" len="med"/>
            </a:ln>
          </p:spPr>
        </p:sp>
        <p:sp>
          <p:nvSpPr>
            <p:cNvPr id="443416" name="直接连接符 443415"/>
            <p:cNvSpPr/>
            <p:nvPr/>
          </p:nvSpPr>
          <p:spPr>
            <a:xfrm flipH="1">
              <a:off x="3385" y="823"/>
              <a:ext cx="816" cy="192"/>
            </a:xfrm>
            <a:prstGeom prst="line">
              <a:avLst/>
            </a:prstGeom>
            <a:ln w="9525" cap="flat" cmpd="sng">
              <a:solidFill>
                <a:schemeClr val="tx1"/>
              </a:solidFill>
              <a:prstDash val="solid"/>
              <a:headEnd type="none" w="med" len="med"/>
              <a:tailEnd type="none" w="med" len="med"/>
            </a:ln>
          </p:spPr>
        </p:sp>
        <p:sp>
          <p:nvSpPr>
            <p:cNvPr id="443417" name="直接连接符 443416"/>
            <p:cNvSpPr/>
            <p:nvPr/>
          </p:nvSpPr>
          <p:spPr>
            <a:xfrm flipV="1">
              <a:off x="2953" y="1207"/>
              <a:ext cx="0" cy="96"/>
            </a:xfrm>
            <a:prstGeom prst="line">
              <a:avLst/>
            </a:prstGeom>
            <a:ln w="9525" cap="flat" cmpd="sng">
              <a:solidFill>
                <a:schemeClr val="tx1"/>
              </a:solidFill>
              <a:prstDash val="solid"/>
              <a:headEnd type="none" w="med" len="med"/>
              <a:tailEnd type="triangle" w="med" len="med"/>
            </a:ln>
          </p:spPr>
        </p:sp>
        <p:sp>
          <p:nvSpPr>
            <p:cNvPr id="443418" name="直接连接符 443417"/>
            <p:cNvSpPr/>
            <p:nvPr/>
          </p:nvSpPr>
          <p:spPr>
            <a:xfrm>
              <a:off x="2953" y="1591"/>
              <a:ext cx="0" cy="48"/>
            </a:xfrm>
            <a:prstGeom prst="line">
              <a:avLst/>
            </a:prstGeom>
            <a:ln w="9525" cap="flat" cmpd="sng">
              <a:solidFill>
                <a:schemeClr val="tx1"/>
              </a:solidFill>
              <a:prstDash val="solid"/>
              <a:headEnd type="none" w="med" len="med"/>
              <a:tailEnd type="none" w="med" len="med"/>
            </a:ln>
          </p:spPr>
        </p:sp>
        <p:sp>
          <p:nvSpPr>
            <p:cNvPr id="443419" name="直接连接符 443418"/>
            <p:cNvSpPr/>
            <p:nvPr/>
          </p:nvSpPr>
          <p:spPr>
            <a:xfrm flipV="1">
              <a:off x="2953" y="1975"/>
              <a:ext cx="0" cy="48"/>
            </a:xfrm>
            <a:prstGeom prst="line">
              <a:avLst/>
            </a:prstGeom>
            <a:ln w="9525" cap="flat" cmpd="sng">
              <a:solidFill>
                <a:schemeClr val="tx1"/>
              </a:solidFill>
              <a:prstDash val="solid"/>
              <a:headEnd type="none" w="med" len="med"/>
              <a:tailEnd type="none" w="med" len="med"/>
            </a:ln>
          </p:spPr>
        </p:sp>
        <p:sp>
          <p:nvSpPr>
            <p:cNvPr id="443420" name="直接连接符 443419"/>
            <p:cNvSpPr/>
            <p:nvPr/>
          </p:nvSpPr>
          <p:spPr>
            <a:xfrm>
              <a:off x="2953" y="2455"/>
              <a:ext cx="0" cy="96"/>
            </a:xfrm>
            <a:prstGeom prst="line">
              <a:avLst/>
            </a:prstGeom>
            <a:ln w="9525" cap="flat" cmpd="sng">
              <a:solidFill>
                <a:schemeClr val="tx1"/>
              </a:solidFill>
              <a:prstDash val="solid"/>
              <a:headEnd type="none" w="med" len="med"/>
              <a:tailEnd type="none" w="med" len="med"/>
            </a:ln>
          </p:spPr>
        </p:sp>
        <p:sp>
          <p:nvSpPr>
            <p:cNvPr id="443421" name="直接连接符 443420"/>
            <p:cNvSpPr/>
            <p:nvPr/>
          </p:nvSpPr>
          <p:spPr>
            <a:xfrm flipV="1">
              <a:off x="2953" y="2887"/>
              <a:ext cx="0" cy="48"/>
            </a:xfrm>
            <a:prstGeom prst="line">
              <a:avLst/>
            </a:prstGeom>
            <a:ln w="9525" cap="flat" cmpd="sng">
              <a:solidFill>
                <a:schemeClr val="tx1"/>
              </a:solidFill>
              <a:prstDash val="solid"/>
              <a:headEnd type="none" w="med" len="med"/>
              <a:tailEnd type="none" w="med" len="med"/>
            </a:ln>
          </p:spPr>
        </p:sp>
        <p:sp>
          <p:nvSpPr>
            <p:cNvPr id="443422" name="直接连接符 443421"/>
            <p:cNvSpPr/>
            <p:nvPr/>
          </p:nvSpPr>
          <p:spPr>
            <a:xfrm>
              <a:off x="2953" y="3367"/>
              <a:ext cx="0" cy="96"/>
            </a:xfrm>
            <a:prstGeom prst="line">
              <a:avLst/>
            </a:prstGeom>
            <a:ln w="9525" cap="flat" cmpd="sng">
              <a:solidFill>
                <a:schemeClr val="tx1"/>
              </a:solidFill>
              <a:prstDash val="solid"/>
              <a:headEnd type="none" w="med" len="med"/>
              <a:tailEnd type="none" w="med" len="med"/>
            </a:ln>
          </p:spPr>
        </p:sp>
        <p:sp>
          <p:nvSpPr>
            <p:cNvPr id="443423" name="直接连接符 443422"/>
            <p:cNvSpPr/>
            <p:nvPr/>
          </p:nvSpPr>
          <p:spPr>
            <a:xfrm>
              <a:off x="1801" y="2647"/>
              <a:ext cx="576" cy="96"/>
            </a:xfrm>
            <a:prstGeom prst="line">
              <a:avLst/>
            </a:prstGeom>
            <a:ln w="9525" cap="flat" cmpd="sng">
              <a:solidFill>
                <a:schemeClr val="tx1"/>
              </a:solidFill>
              <a:prstDash val="solid"/>
              <a:headEnd type="none" w="med" len="med"/>
              <a:tailEnd type="none" w="med" len="med"/>
            </a:ln>
          </p:spPr>
        </p:sp>
        <p:sp>
          <p:nvSpPr>
            <p:cNvPr id="443424" name="直接连接符 443423"/>
            <p:cNvSpPr/>
            <p:nvPr/>
          </p:nvSpPr>
          <p:spPr>
            <a:xfrm flipH="1">
              <a:off x="3529" y="2647"/>
              <a:ext cx="336" cy="96"/>
            </a:xfrm>
            <a:prstGeom prst="line">
              <a:avLst/>
            </a:prstGeom>
            <a:ln w="9525" cap="flat" cmpd="sng">
              <a:solidFill>
                <a:schemeClr val="tx1"/>
              </a:solidFill>
              <a:prstDash val="solid"/>
              <a:headEnd type="none" w="med" len="med"/>
              <a:tailEnd type="none" w="med" len="med"/>
            </a:ln>
          </p:spPr>
        </p:sp>
        <p:sp>
          <p:nvSpPr>
            <p:cNvPr id="443425" name="直接连接符 443424"/>
            <p:cNvSpPr/>
            <p:nvPr/>
          </p:nvSpPr>
          <p:spPr>
            <a:xfrm flipH="1">
              <a:off x="3529" y="3511"/>
              <a:ext cx="576" cy="96"/>
            </a:xfrm>
            <a:prstGeom prst="line">
              <a:avLst/>
            </a:prstGeom>
            <a:ln w="9525" cap="flat" cmpd="sng">
              <a:solidFill>
                <a:schemeClr val="tx1"/>
              </a:solidFill>
              <a:prstDash val="solid"/>
              <a:headEnd type="none" w="med" len="med"/>
              <a:tailEnd type="none" w="med" len="med"/>
            </a:ln>
          </p:spPr>
        </p:sp>
        <p:sp>
          <p:nvSpPr>
            <p:cNvPr id="443426" name="文本框 443425"/>
            <p:cNvSpPr txBox="1"/>
            <p:nvPr/>
          </p:nvSpPr>
          <p:spPr>
            <a:xfrm>
              <a:off x="3145" y="1949"/>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M</a:t>
              </a:r>
            </a:p>
          </p:txBody>
        </p:sp>
        <p:sp>
          <p:nvSpPr>
            <p:cNvPr id="443427" name="文本框 443426"/>
            <p:cNvSpPr txBox="1"/>
            <p:nvPr/>
          </p:nvSpPr>
          <p:spPr>
            <a:xfrm>
              <a:off x="3097" y="2359"/>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N</a:t>
              </a:r>
            </a:p>
          </p:txBody>
        </p:sp>
        <p:sp>
          <p:nvSpPr>
            <p:cNvPr id="443428" name="文本框 443427"/>
            <p:cNvSpPr txBox="1"/>
            <p:nvPr/>
          </p:nvSpPr>
          <p:spPr>
            <a:xfrm>
              <a:off x="3097" y="2862"/>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1</a:t>
              </a:r>
            </a:p>
          </p:txBody>
        </p:sp>
        <p:sp>
          <p:nvSpPr>
            <p:cNvPr id="443429" name="文本框 443428"/>
            <p:cNvSpPr txBox="1"/>
            <p:nvPr/>
          </p:nvSpPr>
          <p:spPr>
            <a:xfrm>
              <a:off x="3097" y="3271"/>
              <a:ext cx="288"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M</a:t>
              </a:r>
            </a:p>
          </p:txBody>
        </p:sp>
        <p:sp>
          <p:nvSpPr>
            <p:cNvPr id="443432" name="矩形 443431"/>
            <p:cNvSpPr/>
            <p:nvPr/>
          </p:nvSpPr>
          <p:spPr>
            <a:xfrm>
              <a:off x="295" y="50"/>
              <a:ext cx="1950" cy="308"/>
            </a:xfrm>
            <a:prstGeom prst="rect">
              <a:avLst/>
            </a:prstGeom>
            <a:noFill/>
            <a:ln w="9525">
              <a:noFill/>
            </a:ln>
          </p:spPr>
          <p:txBody>
            <a:bodyPr anchor="b">
              <a:spAutoFit/>
            </a:bodyPr>
            <a:lstStyle/>
            <a:p>
              <a:r>
                <a:rPr lang="en-US" altLang="zh-CN" sz="2600" b="1" err="1">
                  <a:solidFill>
                    <a:srgbClr val="660033"/>
                  </a:solidFill>
                  <a:latin typeface="黑体" panose="02010609060101010101" pitchFamily="2" charset="-122"/>
                  <a:ea typeface="黑体" panose="02010609060101010101" pitchFamily="2" charset="-122"/>
                </a:rPr>
                <a:t>isa</a:t>
              </a:r>
              <a:r>
                <a:rPr lang="en-US" altLang="zh-CN" sz="2400" b="1">
                  <a:solidFill>
                    <a:srgbClr val="660033"/>
                  </a:solidFill>
                  <a:latin typeface="黑体" panose="02010609060101010101" pitchFamily="2" charset="-122"/>
                  <a:ea typeface="黑体" panose="02010609060101010101" pitchFamily="2" charset="-122"/>
                </a:rPr>
                <a:t> </a:t>
              </a:r>
              <a:r>
                <a:rPr lang="zh-CN" altLang="en-US" sz="2400" b="1" dirty="0">
                  <a:solidFill>
                    <a:srgbClr val="660033"/>
                  </a:solidFill>
                  <a:latin typeface="黑体" panose="02010609060101010101" pitchFamily="2" charset="-122"/>
                  <a:ea typeface="黑体" panose="02010609060101010101" pitchFamily="2" charset="-122"/>
                </a:rPr>
                <a:t>联系示例：</a:t>
              </a:r>
            </a:p>
          </p:txBody>
        </p:sp>
      </p:grpSp>
    </p:spTree>
  </p:cSld>
  <p:clrMapOvr>
    <a:masterClrMapping/>
  </p:clrMapOvr>
  <mc:AlternateContent xmlns:mc="http://schemas.openxmlformats.org/markup-compatibility/2006" xmlns:p14="http://schemas.microsoft.com/office/powerpoint/2010/main">
    <mc:Choice Requires="p14">
      <p:transition spd="slow" p14:dur="2000" advTm="60332"/>
    </mc:Choice>
    <mc:Fallback xmlns="">
      <p:transition spd="slow" advTm="6033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20" name="矩形 444419"/>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
        <p:nvSpPr>
          <p:cNvPr id="444421" name="矩形 444420"/>
          <p:cNvSpPr/>
          <p:nvPr/>
        </p:nvSpPr>
        <p:spPr>
          <a:xfrm>
            <a:off x="466725" y="1125538"/>
            <a:ext cx="8208963" cy="302418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4</a:t>
            </a:r>
            <a:r>
              <a:rPr lang="zh-CN" altLang="en-US" sz="3000" dirty="0">
                <a:solidFill>
                  <a:srgbClr val="660033"/>
                </a:solidFill>
                <a:ea typeface="华文新魏" panose="02010800040101010101" pitchFamily="2" charset="-122"/>
              </a:rPr>
              <a:t>、 弱实体与弱联系</a:t>
            </a:r>
          </a:p>
          <a:p>
            <a:pPr lvl="0">
              <a:lnSpc>
                <a:spcPct val="145000"/>
              </a:lnSpc>
              <a:spcBef>
                <a:spcPct val="40000"/>
              </a:spcBef>
            </a:pPr>
            <a:r>
              <a:rPr lang="en-US" altLang="zh-CN"/>
              <a:t>          </a:t>
            </a:r>
            <a:r>
              <a:rPr lang="zh-CN" altLang="en-US" b="0" dirty="0">
                <a:effectLst/>
                <a:latin typeface="黑体" panose="02010609060101010101" pitchFamily="2" charset="-122"/>
                <a:ea typeface="黑体" panose="02010609060101010101" pitchFamily="2" charset="-122"/>
              </a:rPr>
              <a:t>如果某实体集</a:t>
            </a:r>
            <a:r>
              <a:rPr lang="en-US" altLang="zh-CN">
                <a:solidFill>
                  <a:srgbClr val="660066"/>
                </a:solidFill>
                <a:latin typeface="黑体" panose="02010609060101010101" pitchFamily="2" charset="-122"/>
                <a:ea typeface="黑体" panose="02010609060101010101" pitchFamily="2" charset="-122"/>
              </a:rPr>
              <a:t>E1</a:t>
            </a:r>
            <a:r>
              <a:rPr lang="zh-CN" altLang="en-US" b="0" dirty="0">
                <a:effectLst/>
                <a:latin typeface="黑体" panose="02010609060101010101" pitchFamily="2" charset="-122"/>
                <a:ea typeface="黑体" panose="02010609060101010101" pitchFamily="2" charset="-122"/>
              </a:rPr>
              <a:t>的存在依赖于另一个实体集</a:t>
            </a:r>
            <a:r>
              <a:rPr lang="en-US" altLang="zh-CN">
                <a:solidFill>
                  <a:srgbClr val="660066"/>
                </a:solidFill>
                <a:latin typeface="黑体" panose="02010609060101010101" pitchFamily="2" charset="-122"/>
                <a:ea typeface="黑体" panose="02010609060101010101" pitchFamily="2" charset="-122"/>
              </a:rPr>
              <a:t>E2</a:t>
            </a:r>
            <a:r>
              <a:rPr lang="zh-CN" altLang="en-US" b="0" dirty="0">
                <a:effectLst/>
                <a:latin typeface="黑体" panose="02010609060101010101" pitchFamily="2" charset="-122"/>
                <a:ea typeface="黑体" panose="02010609060101010101" pitchFamily="2" charset="-122"/>
              </a:rPr>
              <a:t>的存在，并且这两个实体集之间的联系是用来标识</a:t>
            </a:r>
            <a:r>
              <a:rPr lang="en-US" altLang="zh-CN">
                <a:latin typeface="黑体" panose="02010609060101010101" pitchFamily="2" charset="-122"/>
                <a:ea typeface="黑体" panose="02010609060101010101" pitchFamily="2" charset="-122"/>
              </a:rPr>
              <a:t>E1</a:t>
            </a:r>
            <a:r>
              <a:rPr lang="zh-CN" altLang="en-US" b="0" dirty="0">
                <a:effectLst/>
                <a:latin typeface="黑体" panose="02010609060101010101" pitchFamily="2" charset="-122"/>
                <a:ea typeface="黑体" panose="02010609060101010101" pitchFamily="2" charset="-122"/>
              </a:rPr>
              <a:t>的，那么就把实体集</a:t>
            </a:r>
            <a:r>
              <a:rPr lang="en-US" altLang="zh-CN" b="0">
                <a:effectLst/>
                <a:latin typeface="黑体" panose="02010609060101010101" pitchFamily="2" charset="-122"/>
                <a:ea typeface="黑体" panose="02010609060101010101" pitchFamily="2" charset="-122"/>
              </a:rPr>
              <a:t>E1</a:t>
            </a:r>
            <a:r>
              <a:rPr lang="zh-CN" altLang="en-US" b="0" dirty="0">
                <a:effectLst/>
                <a:latin typeface="黑体" panose="02010609060101010101" pitchFamily="2" charset="-122"/>
                <a:ea typeface="黑体" panose="02010609060101010101" pitchFamily="2" charset="-122"/>
              </a:rPr>
              <a:t>称为弱实体。</a:t>
            </a:r>
            <a:endParaRPr lang="en-US" altLang="zh-CN" b="0">
              <a:effectLst/>
              <a:latin typeface="黑体" panose="02010609060101010101" pitchFamily="2" charset="-122"/>
              <a:ea typeface="黑体" panose="02010609060101010101" pitchFamily="2" charset="-122"/>
            </a:endParaRPr>
          </a:p>
        </p:txBody>
      </p:sp>
      <p:sp>
        <p:nvSpPr>
          <p:cNvPr id="444422" name="直接连接符 444421"/>
          <p:cNvSpPr/>
          <p:nvPr/>
        </p:nvSpPr>
        <p:spPr>
          <a:xfrm rot="360000" flipV="1">
            <a:off x="3708400" y="2463800"/>
            <a:ext cx="395288" cy="38100"/>
          </a:xfrm>
          <a:prstGeom prst="line">
            <a:avLst/>
          </a:prstGeom>
          <a:ln w="38100" cap="sq" cmpd="sng">
            <a:solidFill>
              <a:srgbClr val="FF0066"/>
            </a:solidFill>
            <a:prstDash val="solid"/>
            <a:headEnd type="none" w="sm" len="sm"/>
            <a:tailEnd type="none" w="sm" len="sm"/>
          </a:ln>
          <a:effectLst>
            <a:outerShdw dist="35921" dir="2699999" algn="ctr" rotWithShape="0">
              <a:schemeClr val="tx1"/>
            </a:outerShdw>
          </a:effectLst>
        </p:spPr>
      </p:sp>
      <p:sp>
        <p:nvSpPr>
          <p:cNvPr id="444423" name="直接连接符 444422"/>
          <p:cNvSpPr/>
          <p:nvPr/>
        </p:nvSpPr>
        <p:spPr>
          <a:xfrm rot="360000" flipV="1">
            <a:off x="900113" y="3097213"/>
            <a:ext cx="395287" cy="38100"/>
          </a:xfrm>
          <a:prstGeom prst="line">
            <a:avLst/>
          </a:prstGeom>
          <a:ln w="38100" cap="sq" cmpd="sng">
            <a:solidFill>
              <a:srgbClr val="FF0066"/>
            </a:solidFill>
            <a:prstDash val="solid"/>
            <a:headEnd type="none" w="sm" len="sm"/>
            <a:tailEnd type="none" w="sm" len="sm"/>
          </a:ln>
          <a:effectLst>
            <a:outerShdw dist="35921" dir="2699999" algn="ctr" rotWithShape="0">
              <a:schemeClr val="tx1"/>
            </a:outerShdw>
          </a:effectLst>
        </p:spPr>
      </p:sp>
      <p:sp>
        <p:nvSpPr>
          <p:cNvPr id="444424" name="直接连接符 444423"/>
          <p:cNvSpPr/>
          <p:nvPr/>
        </p:nvSpPr>
        <p:spPr>
          <a:xfrm rot="360000" flipV="1">
            <a:off x="1584325" y="3722688"/>
            <a:ext cx="395288" cy="38100"/>
          </a:xfrm>
          <a:prstGeom prst="line">
            <a:avLst/>
          </a:prstGeom>
          <a:ln w="38100" cap="sq" cmpd="sng">
            <a:solidFill>
              <a:srgbClr val="FF0066"/>
            </a:solidFill>
            <a:prstDash val="solid"/>
            <a:headEnd type="none" w="sm" len="sm"/>
            <a:tailEnd type="none" w="sm" len="sm"/>
          </a:ln>
          <a:effectLst>
            <a:outerShdw dist="35921" dir="2699999" algn="ctr" rotWithShape="0">
              <a:schemeClr val="tx1"/>
            </a:outerShdw>
          </a:effectLst>
        </p:spPr>
      </p:sp>
    </p:spTree>
  </p:cSld>
  <p:clrMapOvr>
    <a:masterClrMapping/>
  </p:clrMapOvr>
  <mc:AlternateContent xmlns:mc="http://schemas.openxmlformats.org/markup-compatibility/2006" xmlns:p14="http://schemas.microsoft.com/office/powerpoint/2010/main">
    <mc:Choice Requires="p14">
      <p:transition spd="slow" p14:dur="2000" advTm="25756"/>
    </mc:Choice>
    <mc:Fallback xmlns="">
      <p:transition spd="slow" advTm="257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44422"/>
                                        </p:tgtEl>
                                        <p:attrNameLst>
                                          <p:attrName>style.visibility</p:attrName>
                                        </p:attrNameLst>
                                      </p:cBhvr>
                                      <p:to>
                                        <p:strVal val="visible"/>
                                      </p:to>
                                    </p:set>
                                    <p:animEffect transition="in" filter="wipe(left)">
                                      <p:cBhvr>
                                        <p:cTn id="7" dur="2000"/>
                                        <p:tgtEl>
                                          <p:spTgt spid="44442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444423"/>
                                        </p:tgtEl>
                                        <p:attrNameLst>
                                          <p:attrName>style.visibility</p:attrName>
                                        </p:attrNameLst>
                                      </p:cBhvr>
                                      <p:to>
                                        <p:strVal val="visible"/>
                                      </p:to>
                                    </p:set>
                                    <p:animEffect transition="in" filter="wipe(left)">
                                      <p:cBhvr>
                                        <p:cTn id="11" dur="2000"/>
                                        <p:tgtEl>
                                          <p:spTgt spid="444423"/>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 fill="hold">
                                          <p:stCondLst>
                                            <p:cond delay="0"/>
                                          </p:stCondLst>
                                        </p:cTn>
                                        <p:tgtEl>
                                          <p:spTgt spid="444424"/>
                                        </p:tgtEl>
                                        <p:attrNameLst>
                                          <p:attrName>style.visibility</p:attrName>
                                        </p:attrNameLst>
                                      </p:cBhvr>
                                      <p:to>
                                        <p:strVal val="visible"/>
                                      </p:to>
                                    </p:set>
                                    <p:animEffect transition="in" filter="wipe(left)">
                                      <p:cBhvr>
                                        <p:cTn id="15" dur="5000"/>
                                        <p:tgtEl>
                                          <p:spTgt spid="444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4" name="矩形 445443"/>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
        <p:nvSpPr>
          <p:cNvPr id="445445" name="矩形 445444"/>
          <p:cNvSpPr/>
          <p:nvPr/>
        </p:nvSpPr>
        <p:spPr>
          <a:xfrm>
            <a:off x="466725" y="1125538"/>
            <a:ext cx="8208963" cy="7191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4</a:t>
            </a:r>
            <a:r>
              <a:rPr lang="zh-CN" altLang="en-US" sz="3000" dirty="0">
                <a:solidFill>
                  <a:srgbClr val="660033"/>
                </a:solidFill>
                <a:ea typeface="华文新魏" panose="02010800040101010101" pitchFamily="2" charset="-122"/>
              </a:rPr>
              <a:t>、 弱实体与弱联系</a:t>
            </a:r>
            <a:endParaRPr lang="zh-CN" altLang="en-US" b="0" dirty="0">
              <a:effectLst/>
              <a:latin typeface="黑体" panose="02010609060101010101" pitchFamily="2" charset="-122"/>
              <a:ea typeface="黑体" panose="02010609060101010101" pitchFamily="2" charset="-122"/>
            </a:endParaRPr>
          </a:p>
        </p:txBody>
      </p:sp>
      <p:sp>
        <p:nvSpPr>
          <p:cNvPr id="445449" name="文本框 445448"/>
          <p:cNvSpPr txBox="1"/>
          <p:nvPr/>
        </p:nvSpPr>
        <p:spPr>
          <a:xfrm>
            <a:off x="2916238" y="6021388"/>
            <a:ext cx="3429000" cy="457200"/>
          </a:xfrm>
          <a:prstGeom prst="rect">
            <a:avLst/>
          </a:prstGeom>
          <a:noFill/>
          <a:ln w="9525">
            <a:noFill/>
          </a:ln>
        </p:spPr>
        <p:txBody>
          <a:bodyPr>
            <a:spAutoFit/>
          </a:bodyPr>
          <a:lstStyle/>
          <a:p>
            <a:pPr>
              <a:spcBef>
                <a:spcPct val="50000"/>
              </a:spcBef>
            </a:pPr>
            <a:r>
              <a:rPr lang="zh-CN" altLang="en-US" sz="2400" b="1" dirty="0">
                <a:latin typeface="Arial" panose="020B0604020202020204" pitchFamily="34" charset="0"/>
              </a:rPr>
              <a:t>图</a:t>
            </a:r>
            <a:r>
              <a:rPr lang="en-US" altLang="zh-CN" sz="2400" b="1">
                <a:latin typeface="Arial" panose="020B0604020202020204" pitchFamily="34" charset="0"/>
              </a:rPr>
              <a:t>3.13   </a:t>
            </a:r>
            <a:r>
              <a:rPr lang="zh-CN" altLang="en-US" sz="2400" b="1" dirty="0">
                <a:latin typeface="Arial" panose="020B0604020202020204" pitchFamily="34" charset="0"/>
              </a:rPr>
              <a:t>弱实体示例</a:t>
            </a:r>
          </a:p>
        </p:txBody>
      </p:sp>
      <p:grpSp>
        <p:nvGrpSpPr>
          <p:cNvPr id="445475" name="组合 445474"/>
          <p:cNvGrpSpPr/>
          <p:nvPr/>
        </p:nvGrpSpPr>
        <p:grpSpPr>
          <a:xfrm>
            <a:off x="1219200" y="1916113"/>
            <a:ext cx="6592888" cy="4090987"/>
            <a:chOff x="768" y="480"/>
            <a:chExt cx="4182" cy="2886"/>
          </a:xfrm>
        </p:grpSpPr>
        <p:sp>
          <p:nvSpPr>
            <p:cNvPr id="445476" name="矩形 445475"/>
            <p:cNvSpPr/>
            <p:nvPr/>
          </p:nvSpPr>
          <p:spPr>
            <a:xfrm>
              <a:off x="2400" y="960"/>
              <a:ext cx="934" cy="358"/>
            </a:xfrm>
            <a:prstGeom prst="rect">
              <a:avLst/>
            </a:prstGeom>
            <a:solidFill>
              <a:srgbClr val="CCECFF"/>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教职工</a:t>
              </a:r>
            </a:p>
          </p:txBody>
        </p:sp>
        <p:sp>
          <p:nvSpPr>
            <p:cNvPr id="445477" name="椭圆 445476"/>
            <p:cNvSpPr/>
            <p:nvPr/>
          </p:nvSpPr>
          <p:spPr>
            <a:xfrm>
              <a:off x="768" y="672"/>
              <a:ext cx="912" cy="384"/>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effectLst>
                    <a:outerShdw blurRad="38100" dist="38100" dir="2700000">
                      <a:srgbClr val="FFFFFF"/>
                    </a:outerShdw>
                  </a:effectLst>
                  <a:latin typeface="Arial" panose="020B0604020202020204" pitchFamily="34" charset="0"/>
                  <a:ea typeface="黑体" panose="02010609060101010101" pitchFamily="2" charset="-122"/>
                </a:rPr>
                <a:t>教职工</a:t>
              </a:r>
              <a:r>
                <a:rPr lang="zh-CN" altLang="en-US" sz="2000" b="1" dirty="0">
                  <a:latin typeface="Arial" panose="020B0604020202020204" pitchFamily="34" charset="0"/>
                  <a:ea typeface="黑体" panose="02010609060101010101" pitchFamily="2" charset="-122"/>
                </a:rPr>
                <a:t>号</a:t>
              </a:r>
            </a:p>
          </p:txBody>
        </p:sp>
        <p:sp>
          <p:nvSpPr>
            <p:cNvPr id="445478" name="椭圆 445477"/>
            <p:cNvSpPr/>
            <p:nvPr/>
          </p:nvSpPr>
          <p:spPr>
            <a:xfrm>
              <a:off x="1872" y="480"/>
              <a:ext cx="907" cy="390"/>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姓 名</a:t>
              </a:r>
            </a:p>
          </p:txBody>
        </p:sp>
        <p:sp>
          <p:nvSpPr>
            <p:cNvPr id="445479" name="椭圆 445478"/>
            <p:cNvSpPr/>
            <p:nvPr/>
          </p:nvSpPr>
          <p:spPr>
            <a:xfrm>
              <a:off x="2928" y="480"/>
              <a:ext cx="916" cy="388"/>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性 别</a:t>
              </a:r>
            </a:p>
          </p:txBody>
        </p:sp>
        <p:sp>
          <p:nvSpPr>
            <p:cNvPr id="445480" name="椭圆 445479"/>
            <p:cNvSpPr/>
            <p:nvPr/>
          </p:nvSpPr>
          <p:spPr>
            <a:xfrm>
              <a:off x="4032" y="624"/>
              <a:ext cx="918" cy="370"/>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出生年月</a:t>
              </a:r>
            </a:p>
          </p:txBody>
        </p:sp>
        <p:sp>
          <p:nvSpPr>
            <p:cNvPr id="445481" name="流程图: 决策 445480"/>
            <p:cNvSpPr/>
            <p:nvPr/>
          </p:nvSpPr>
          <p:spPr>
            <a:xfrm>
              <a:off x="2207" y="1632"/>
              <a:ext cx="1333" cy="569"/>
            </a:xfrm>
            <a:prstGeom prst="flowChartDecision">
              <a:avLst/>
            </a:prstGeom>
            <a:solidFill>
              <a:srgbClr val="CC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抚 养</a:t>
              </a:r>
            </a:p>
          </p:txBody>
        </p:sp>
        <p:sp>
          <p:nvSpPr>
            <p:cNvPr id="445482" name="矩形 445481"/>
            <p:cNvSpPr/>
            <p:nvPr/>
          </p:nvSpPr>
          <p:spPr>
            <a:xfrm>
              <a:off x="2398" y="2496"/>
              <a:ext cx="960" cy="525"/>
            </a:xfrm>
            <a:prstGeom prst="rect">
              <a:avLst/>
            </a:prstGeom>
            <a:solidFill>
              <a:srgbClr val="CCECFF"/>
            </a:solidFill>
            <a:ln w="19050" cap="flat" cmpd="sng">
              <a:solidFill>
                <a:schemeClr val="tx1"/>
              </a:solidFill>
              <a:prstDash val="solid"/>
              <a:miter/>
              <a:headEnd type="none" w="med" len="med"/>
              <a:tailEnd type="none" w="med" len="med"/>
            </a:ln>
          </p:spPr>
          <p:txBody>
            <a:bodyPr wrap="none" anchor="ctr"/>
            <a:lstStyle/>
            <a:p>
              <a:pPr algn="ctr"/>
              <a:endParaRPr lang="zh-CN" altLang="en-US" sz="1600" b="1" dirty="0">
                <a:latin typeface="Arial" panose="020B0604020202020204" pitchFamily="34" charset="0"/>
              </a:endParaRPr>
            </a:p>
          </p:txBody>
        </p:sp>
        <p:sp>
          <p:nvSpPr>
            <p:cNvPr id="445483" name="椭圆 445482"/>
            <p:cNvSpPr/>
            <p:nvPr/>
          </p:nvSpPr>
          <p:spPr>
            <a:xfrm>
              <a:off x="3888" y="2976"/>
              <a:ext cx="925" cy="365"/>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出生年月</a:t>
              </a:r>
            </a:p>
          </p:txBody>
        </p:sp>
        <p:sp>
          <p:nvSpPr>
            <p:cNvPr id="445484" name="椭圆 445483"/>
            <p:cNvSpPr/>
            <p:nvPr/>
          </p:nvSpPr>
          <p:spPr>
            <a:xfrm>
              <a:off x="862" y="2352"/>
              <a:ext cx="914" cy="367"/>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教职工号</a:t>
              </a:r>
            </a:p>
          </p:txBody>
        </p:sp>
        <p:sp>
          <p:nvSpPr>
            <p:cNvPr id="445485" name="椭圆 445484"/>
            <p:cNvSpPr/>
            <p:nvPr/>
          </p:nvSpPr>
          <p:spPr>
            <a:xfrm>
              <a:off x="3936" y="2304"/>
              <a:ext cx="960" cy="371"/>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子女姓名</a:t>
              </a:r>
              <a:endParaRPr lang="zh-CN" altLang="en-US" sz="2000" b="1">
                <a:latin typeface="Arial" panose="020B0604020202020204" pitchFamily="34" charset="0"/>
                <a:ea typeface="黑体" panose="02010609060101010101" pitchFamily="2" charset="-122"/>
              </a:endParaRPr>
            </a:p>
          </p:txBody>
        </p:sp>
        <p:sp>
          <p:nvSpPr>
            <p:cNvPr id="445486" name="矩形 445485"/>
            <p:cNvSpPr/>
            <p:nvPr/>
          </p:nvSpPr>
          <p:spPr>
            <a:xfrm>
              <a:off x="2496" y="2592"/>
              <a:ext cx="768" cy="336"/>
            </a:xfrm>
            <a:prstGeom prst="rect">
              <a:avLst/>
            </a:prstGeom>
            <a:solidFill>
              <a:srgbClr val="FF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子 女</a:t>
              </a:r>
            </a:p>
          </p:txBody>
        </p:sp>
        <p:sp>
          <p:nvSpPr>
            <p:cNvPr id="445487" name="椭圆 445486"/>
            <p:cNvSpPr/>
            <p:nvPr/>
          </p:nvSpPr>
          <p:spPr>
            <a:xfrm>
              <a:off x="958" y="2976"/>
              <a:ext cx="914" cy="390"/>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子女号</a:t>
              </a:r>
            </a:p>
          </p:txBody>
        </p:sp>
        <p:sp>
          <p:nvSpPr>
            <p:cNvPr id="445488" name="文本框 445487"/>
            <p:cNvSpPr txBox="1"/>
            <p:nvPr/>
          </p:nvSpPr>
          <p:spPr>
            <a:xfrm>
              <a:off x="2928" y="1392"/>
              <a:ext cx="432" cy="322"/>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sp>
          <p:nvSpPr>
            <p:cNvPr id="445489" name="文本框 445488"/>
            <p:cNvSpPr txBox="1"/>
            <p:nvPr/>
          </p:nvSpPr>
          <p:spPr>
            <a:xfrm>
              <a:off x="2928" y="2208"/>
              <a:ext cx="432" cy="323"/>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N</a:t>
              </a:r>
            </a:p>
          </p:txBody>
        </p:sp>
        <p:cxnSp>
          <p:nvCxnSpPr>
            <p:cNvPr id="445490" name="直接箭头连接符 445489"/>
            <p:cNvCxnSpPr>
              <a:stCxn id="445481" idx="2"/>
              <a:endCxn id="445482" idx="0"/>
            </p:cNvCxnSpPr>
            <p:nvPr/>
          </p:nvCxnSpPr>
          <p:spPr>
            <a:xfrm>
              <a:off x="2874" y="2207"/>
              <a:ext cx="4" cy="283"/>
            </a:xfrm>
            <a:prstGeom prst="straightConnector1">
              <a:avLst/>
            </a:prstGeom>
            <a:ln w="19050" cap="flat" cmpd="sng">
              <a:solidFill>
                <a:schemeClr val="tx1"/>
              </a:solidFill>
              <a:prstDash val="solid"/>
              <a:headEnd type="none" w="med" len="med"/>
              <a:tailEnd type="none" w="med" len="med"/>
            </a:ln>
          </p:spPr>
        </p:cxnSp>
        <p:cxnSp>
          <p:nvCxnSpPr>
            <p:cNvPr id="445491" name="直接箭头连接符 445490"/>
            <p:cNvCxnSpPr>
              <a:stCxn id="445484" idx="6"/>
              <a:endCxn id="445482" idx="1"/>
            </p:cNvCxnSpPr>
            <p:nvPr/>
          </p:nvCxnSpPr>
          <p:spPr>
            <a:xfrm>
              <a:off x="1782" y="2536"/>
              <a:ext cx="610" cy="223"/>
            </a:xfrm>
            <a:prstGeom prst="straightConnector1">
              <a:avLst/>
            </a:prstGeom>
            <a:ln w="19050" cap="flat" cmpd="sng">
              <a:solidFill>
                <a:schemeClr val="tx1"/>
              </a:solidFill>
              <a:prstDash val="solid"/>
              <a:headEnd type="none" w="med" len="med"/>
              <a:tailEnd type="none" w="med" len="med"/>
            </a:ln>
          </p:spPr>
        </p:cxnSp>
        <p:cxnSp>
          <p:nvCxnSpPr>
            <p:cNvPr id="445492" name="直接箭头连接符 445491"/>
            <p:cNvCxnSpPr>
              <a:stCxn id="445477" idx="6"/>
              <a:endCxn id="445476" idx="1"/>
            </p:cNvCxnSpPr>
            <p:nvPr/>
          </p:nvCxnSpPr>
          <p:spPr>
            <a:xfrm>
              <a:off x="1686" y="864"/>
              <a:ext cx="708" cy="275"/>
            </a:xfrm>
            <a:prstGeom prst="straightConnector1">
              <a:avLst/>
            </a:prstGeom>
            <a:ln w="19050" cap="flat" cmpd="sng">
              <a:solidFill>
                <a:schemeClr val="tx1"/>
              </a:solidFill>
              <a:prstDash val="solid"/>
              <a:headEnd type="none" w="med" len="med"/>
              <a:tailEnd type="none" w="med" len="med"/>
            </a:ln>
          </p:spPr>
        </p:cxnSp>
        <p:cxnSp>
          <p:nvCxnSpPr>
            <p:cNvPr id="445493" name="直接箭头连接符 445492"/>
            <p:cNvCxnSpPr>
              <a:stCxn id="445478" idx="5"/>
              <a:endCxn id="445476" idx="0"/>
            </p:cNvCxnSpPr>
            <p:nvPr/>
          </p:nvCxnSpPr>
          <p:spPr>
            <a:xfrm>
              <a:off x="2646" y="819"/>
              <a:ext cx="221" cy="135"/>
            </a:xfrm>
            <a:prstGeom prst="straightConnector1">
              <a:avLst/>
            </a:prstGeom>
            <a:ln w="19050" cap="flat" cmpd="sng">
              <a:solidFill>
                <a:schemeClr val="tx1"/>
              </a:solidFill>
              <a:prstDash val="solid"/>
              <a:headEnd type="none" w="med" len="med"/>
              <a:tailEnd type="none" w="med" len="med"/>
            </a:ln>
          </p:spPr>
        </p:cxnSp>
        <p:cxnSp>
          <p:nvCxnSpPr>
            <p:cNvPr id="445494" name="直接箭头连接符 445493"/>
            <p:cNvCxnSpPr>
              <a:stCxn id="445479" idx="4"/>
              <a:endCxn id="445476" idx="0"/>
            </p:cNvCxnSpPr>
            <p:nvPr/>
          </p:nvCxnSpPr>
          <p:spPr>
            <a:xfrm flipH="1">
              <a:off x="2867" y="874"/>
              <a:ext cx="519" cy="80"/>
            </a:xfrm>
            <a:prstGeom prst="straightConnector1">
              <a:avLst/>
            </a:prstGeom>
            <a:ln w="19050" cap="flat" cmpd="sng">
              <a:solidFill>
                <a:schemeClr val="tx1"/>
              </a:solidFill>
              <a:prstDash val="solid"/>
              <a:headEnd type="none" w="med" len="med"/>
              <a:tailEnd type="none" w="med" len="med"/>
            </a:ln>
          </p:spPr>
        </p:cxnSp>
        <p:cxnSp>
          <p:nvCxnSpPr>
            <p:cNvPr id="445495" name="直接箭头连接符 445494"/>
            <p:cNvCxnSpPr>
              <a:stCxn id="445480" idx="3"/>
              <a:endCxn id="445480" idx="3"/>
            </p:cNvCxnSpPr>
            <p:nvPr/>
          </p:nvCxnSpPr>
          <p:spPr>
            <a:xfrm>
              <a:off x="4166" y="946"/>
              <a:ext cx="0" cy="0"/>
            </a:xfrm>
            <a:prstGeom prst="straightConnector1">
              <a:avLst/>
            </a:prstGeom>
            <a:ln w="19050" cap="flat" cmpd="sng">
              <a:solidFill>
                <a:schemeClr val="tx1"/>
              </a:solidFill>
              <a:prstDash val="solid"/>
              <a:headEnd type="none" w="med" len="med"/>
              <a:tailEnd type="none" w="med" len="med"/>
            </a:ln>
          </p:spPr>
        </p:cxnSp>
        <p:cxnSp>
          <p:nvCxnSpPr>
            <p:cNvPr id="445496" name="直接箭头连接符 445495"/>
            <p:cNvCxnSpPr>
              <a:stCxn id="445480" idx="3"/>
              <a:endCxn id="445476" idx="3"/>
            </p:cNvCxnSpPr>
            <p:nvPr/>
          </p:nvCxnSpPr>
          <p:spPr>
            <a:xfrm flipH="1">
              <a:off x="3340" y="946"/>
              <a:ext cx="826" cy="193"/>
            </a:xfrm>
            <a:prstGeom prst="straightConnector1">
              <a:avLst/>
            </a:prstGeom>
            <a:ln w="19050" cap="flat" cmpd="sng">
              <a:solidFill>
                <a:schemeClr val="tx1"/>
              </a:solidFill>
              <a:prstDash val="solid"/>
              <a:headEnd type="none" w="med" len="med"/>
              <a:tailEnd type="none" w="med" len="med"/>
            </a:ln>
          </p:spPr>
        </p:cxnSp>
        <p:cxnSp>
          <p:nvCxnSpPr>
            <p:cNvPr id="445497" name="直接箭头连接符 445496"/>
            <p:cNvCxnSpPr>
              <a:stCxn id="445476" idx="2"/>
              <a:endCxn id="445481" idx="0"/>
            </p:cNvCxnSpPr>
            <p:nvPr/>
          </p:nvCxnSpPr>
          <p:spPr>
            <a:xfrm>
              <a:off x="2867" y="1324"/>
              <a:ext cx="7" cy="302"/>
            </a:xfrm>
            <a:prstGeom prst="straightConnector1">
              <a:avLst/>
            </a:prstGeom>
            <a:ln w="19050" cap="flat" cmpd="sng">
              <a:solidFill>
                <a:schemeClr val="tx1"/>
              </a:solidFill>
              <a:prstDash val="solid"/>
              <a:headEnd type="none" w="med" len="med"/>
              <a:tailEnd type="none" w="med" len="med"/>
            </a:ln>
          </p:spPr>
        </p:cxnSp>
        <p:cxnSp>
          <p:nvCxnSpPr>
            <p:cNvPr id="445498" name="直接箭头连接符 445497"/>
            <p:cNvCxnSpPr>
              <a:stCxn id="445482" idx="3"/>
              <a:endCxn id="445485" idx="2"/>
            </p:cNvCxnSpPr>
            <p:nvPr/>
          </p:nvCxnSpPr>
          <p:spPr>
            <a:xfrm flipV="1">
              <a:off x="3364" y="2490"/>
              <a:ext cx="566" cy="269"/>
            </a:xfrm>
            <a:prstGeom prst="straightConnector1">
              <a:avLst/>
            </a:prstGeom>
            <a:ln w="19050" cap="flat" cmpd="sng">
              <a:solidFill>
                <a:schemeClr val="tx1"/>
              </a:solidFill>
              <a:prstDash val="solid"/>
              <a:headEnd type="none" w="med" len="med"/>
              <a:tailEnd type="none" w="med" len="med"/>
            </a:ln>
          </p:spPr>
        </p:cxnSp>
        <p:cxnSp>
          <p:nvCxnSpPr>
            <p:cNvPr id="445499" name="直接箭头连接符 445498"/>
            <p:cNvCxnSpPr>
              <a:stCxn id="445482" idx="3"/>
              <a:endCxn id="445483" idx="2"/>
            </p:cNvCxnSpPr>
            <p:nvPr/>
          </p:nvCxnSpPr>
          <p:spPr>
            <a:xfrm>
              <a:off x="3364" y="2759"/>
              <a:ext cx="518" cy="400"/>
            </a:xfrm>
            <a:prstGeom prst="straightConnector1">
              <a:avLst/>
            </a:prstGeom>
            <a:ln w="19050" cap="flat" cmpd="sng">
              <a:solidFill>
                <a:schemeClr val="tx1"/>
              </a:solidFill>
              <a:prstDash val="solid"/>
              <a:headEnd type="none" w="med" len="med"/>
              <a:tailEnd type="none" w="med" len="med"/>
            </a:ln>
          </p:spPr>
        </p:cxnSp>
        <p:cxnSp>
          <p:nvCxnSpPr>
            <p:cNvPr id="445500" name="直接箭头连接符 445499"/>
            <p:cNvCxnSpPr>
              <a:stCxn id="445487" idx="6"/>
              <a:endCxn id="445482" idx="1"/>
            </p:cNvCxnSpPr>
            <p:nvPr/>
          </p:nvCxnSpPr>
          <p:spPr>
            <a:xfrm flipV="1">
              <a:off x="1878" y="2759"/>
              <a:ext cx="514" cy="412"/>
            </a:xfrm>
            <a:prstGeom prst="straightConnector1">
              <a:avLst/>
            </a:prstGeom>
            <a:ln w="19050" cap="flat" cmpd="sng">
              <a:solidFill>
                <a:schemeClr val="tx1"/>
              </a:solidFill>
              <a:prstDash val="solid"/>
              <a:headEnd type="none" w="med" len="med"/>
              <a:tailEnd type="none" w="med" len="med"/>
            </a:ln>
          </p:spPr>
        </p:cxnSp>
      </p:grpSp>
      <p:sp>
        <p:nvSpPr>
          <p:cNvPr id="445501" name="文本框 445500"/>
          <p:cNvSpPr txBox="1"/>
          <p:nvPr/>
        </p:nvSpPr>
        <p:spPr>
          <a:xfrm>
            <a:off x="7885113" y="6056313"/>
            <a:ext cx="863600" cy="396875"/>
          </a:xfrm>
          <a:prstGeom prst="rect">
            <a:avLst/>
          </a:prstGeom>
          <a:noFill/>
          <a:ln w="9525">
            <a:noFill/>
          </a:ln>
        </p:spPr>
        <p:txBody>
          <a:bodyPr anchor="b">
            <a:spAutoFit/>
          </a:bodyPr>
          <a:lstStyle/>
          <a:p>
            <a:pPr>
              <a:spcBef>
                <a:spcPct val="50000"/>
              </a:spcBef>
            </a:pPr>
            <a:r>
              <a:rPr lang="en-US" altLang="zh-CN" sz="2000" b="1">
                <a:solidFill>
                  <a:srgbClr val="CCECFF"/>
                </a:solidFill>
                <a:latin typeface="Arial" panose="020B0604020202020204" pitchFamily="34" charset="0"/>
                <a:cs typeface="Arial" panose="020B0604020202020204" pitchFamily="34" charset="0"/>
              </a:rPr>
              <a:t>#</a:t>
            </a:r>
            <a:endParaRPr lang="en-US" altLang="zh-CN" sz="2000" b="1">
              <a:solidFill>
                <a:srgbClr val="CCECFF"/>
              </a:solidFill>
              <a:latin typeface="Arial" panose="020B0604020202020204" pitchFamily="34" charset="0"/>
              <a:ea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76558"/>
    </mc:Choice>
    <mc:Fallback xmlns="">
      <p:transition spd="slow" advTm="76558"/>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40" name="矩形 449539"/>
          <p:cNvSpPr/>
          <p:nvPr/>
        </p:nvSpPr>
        <p:spPr>
          <a:xfrm>
            <a:off x="468313" y="1258888"/>
            <a:ext cx="7993062"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en-US" altLang="zh-CN"/>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、分</a:t>
            </a:r>
            <a:r>
              <a:rPr lang="en-US" altLang="zh-CN" sz="3000">
                <a:solidFill>
                  <a:srgbClr val="660033"/>
                </a:solidFill>
                <a:ea typeface="华文新魏" panose="02010800040101010101" pitchFamily="2" charset="-122"/>
              </a:rPr>
              <a:t>E</a:t>
            </a:r>
            <a:r>
              <a:rPr lang="en-US" altLang="zh-CN" sz="3000">
                <a:solidFill>
                  <a:srgbClr val="660033"/>
                </a:solidFill>
                <a:latin typeface="Arial" panose="020B0604020202020204" pitchFamily="34" charset="0"/>
                <a:ea typeface="华文新魏" panose="02010800040101010101" pitchFamily="2" charset="-122"/>
              </a:rPr>
              <a:t>—</a:t>
            </a:r>
            <a:r>
              <a:rPr lang="en-US" altLang="zh-CN" sz="3000">
                <a:solidFill>
                  <a:srgbClr val="660033"/>
                </a:solidFill>
                <a:ea typeface="华文新魏" panose="02010800040101010101" pitchFamily="2" charset="-122"/>
              </a:rPr>
              <a:t>R</a:t>
            </a:r>
            <a:r>
              <a:rPr lang="zh-CN" altLang="en-US" sz="3000" dirty="0">
                <a:solidFill>
                  <a:srgbClr val="660033"/>
                </a:solidFill>
                <a:ea typeface="华文新魏" panose="02010800040101010101" pitchFamily="2" charset="-122"/>
              </a:rPr>
              <a:t>图的设计</a:t>
            </a:r>
          </a:p>
          <a:p>
            <a:pPr lvl="0">
              <a:spcBef>
                <a:spcPct val="50000"/>
              </a:spcBef>
            </a:pPr>
            <a:r>
              <a:rPr lang="zh-CN" altLang="en-US" dirty="0"/>
              <a:t>          分</a:t>
            </a:r>
            <a:r>
              <a:rPr lang="en-US" altLang="zh-CN"/>
              <a:t>E</a:t>
            </a:r>
            <a:r>
              <a:rPr lang="zh-CN" altLang="en-US" dirty="0"/>
              <a:t>－</a:t>
            </a:r>
            <a:r>
              <a:rPr lang="en-US" altLang="zh-CN"/>
              <a:t>R</a:t>
            </a:r>
            <a:r>
              <a:rPr lang="zh-CN" altLang="en-US" dirty="0"/>
              <a:t>图的设计是从用户或用户组的不同数据观点出发，将数据库应用系统划分成多个不同的局部应用。 </a:t>
            </a:r>
            <a:endParaRPr lang="zh-CN" altLang="en-US" sz="3000" dirty="0">
              <a:solidFill>
                <a:srgbClr val="660033"/>
              </a:solidFill>
              <a:ea typeface="华文新魏" panose="02010800040101010101" pitchFamily="2" charset="-122"/>
            </a:endParaRPr>
          </a:p>
          <a:p>
            <a:pPr lvl="0"/>
            <a:r>
              <a:rPr lang="zh-CN" altLang="en-US" dirty="0"/>
              <a:t>          </a:t>
            </a:r>
          </a:p>
        </p:txBody>
      </p:sp>
      <p:sp>
        <p:nvSpPr>
          <p:cNvPr id="449541" name="矩形 449540"/>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794"/>
    </mc:Choice>
    <mc:Fallback xmlns="">
      <p:transition spd="slow" advTm="287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9540">
                                            <p:txEl>
                                              <p:pRg st="0" end="0"/>
                                            </p:txEl>
                                          </p:spTgt>
                                        </p:tgtEl>
                                        <p:attrNameLst>
                                          <p:attrName>style.visibility</p:attrName>
                                        </p:attrNameLst>
                                      </p:cBhvr>
                                      <p:to>
                                        <p:strVal val="visible"/>
                                      </p:to>
                                    </p:set>
                                    <p:animEffect transition="in" filter="wipe(left)">
                                      <p:cBhvr>
                                        <p:cTn id="7" dur="1000"/>
                                        <p:tgtEl>
                                          <p:spTgt spid="449540">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49540">
                                            <p:txEl>
                                              <p:pRg st="1" end="1"/>
                                            </p:txEl>
                                          </p:spTgt>
                                        </p:tgtEl>
                                        <p:attrNameLst>
                                          <p:attrName>style.visibility</p:attrName>
                                        </p:attrNameLst>
                                      </p:cBhvr>
                                      <p:to>
                                        <p:strVal val="visible"/>
                                      </p:to>
                                    </p:set>
                                    <p:animEffect transition="in" filter="wipe(up)">
                                      <p:cBhvr>
                                        <p:cTn id="11" dur="3000"/>
                                        <p:tgtEl>
                                          <p:spTgt spid="44954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4" name="矩形 450563"/>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、总体</a:t>
            </a:r>
            <a:r>
              <a:rPr lang="en-US" altLang="zh-CN" sz="3000">
                <a:solidFill>
                  <a:srgbClr val="660033"/>
                </a:solidFill>
                <a:ea typeface="华文新魏" panose="02010800040101010101" pitchFamily="2" charset="-122"/>
              </a:rPr>
              <a:t>E</a:t>
            </a:r>
            <a:r>
              <a:rPr lang="en-US" altLang="zh-CN" sz="3000">
                <a:solidFill>
                  <a:srgbClr val="660033"/>
                </a:solidFill>
                <a:latin typeface="Arial" panose="020B0604020202020204" pitchFamily="34" charset="0"/>
                <a:ea typeface="华文新魏" panose="02010800040101010101" pitchFamily="2" charset="-122"/>
              </a:rPr>
              <a:t>—</a:t>
            </a:r>
            <a:r>
              <a:rPr lang="en-US" altLang="zh-CN" sz="3000">
                <a:solidFill>
                  <a:srgbClr val="660033"/>
                </a:solidFill>
                <a:ea typeface="华文新魏" panose="02010800040101010101" pitchFamily="2" charset="-122"/>
              </a:rPr>
              <a:t>R</a:t>
            </a:r>
            <a:r>
              <a:rPr lang="zh-CN" altLang="en-US" sz="3000" dirty="0">
                <a:solidFill>
                  <a:srgbClr val="660033"/>
                </a:solidFill>
                <a:ea typeface="华文新魏" panose="02010800040101010101" pitchFamily="2" charset="-122"/>
              </a:rPr>
              <a:t>图的设计</a:t>
            </a:r>
          </a:p>
          <a:p>
            <a:pPr lvl="0"/>
            <a:r>
              <a:rPr lang="zh-CN" altLang="en-US" dirty="0"/>
              <a:t>          将设计好的各分</a:t>
            </a:r>
            <a:r>
              <a:rPr lang="en-US" altLang="zh-CN"/>
              <a:t>E</a:t>
            </a:r>
            <a:r>
              <a:rPr lang="en-US" altLang="zh-CN">
                <a:latin typeface="Arial" panose="020B0604020202020204" pitchFamily="34" charset="0"/>
              </a:rPr>
              <a:t>—</a:t>
            </a:r>
            <a:r>
              <a:rPr lang="en-US" altLang="zh-CN"/>
              <a:t>R</a:t>
            </a:r>
            <a:r>
              <a:rPr lang="zh-CN" altLang="en-US" dirty="0"/>
              <a:t>图进行集成</a:t>
            </a:r>
            <a:r>
              <a:rPr lang="zh-CN" altLang="en-US" sz="2400" dirty="0"/>
              <a:t>，</a:t>
            </a:r>
            <a:r>
              <a:rPr lang="zh-CN" altLang="en-US" dirty="0"/>
              <a:t>形成一个完整的，能支持各个局部概念结构的数据库整体概念结构。</a:t>
            </a:r>
          </a:p>
          <a:p>
            <a:pPr lvl="0"/>
            <a:r>
              <a:rPr lang="zh-CN" altLang="en-US" dirty="0"/>
              <a:t>   </a:t>
            </a:r>
            <a:r>
              <a:rPr lang="zh-CN" altLang="en-US" dirty="0">
                <a:solidFill>
                  <a:srgbClr val="660066"/>
                </a:solidFill>
                <a:ea typeface="黑体" panose="02010609060101010101" pitchFamily="2" charset="-122"/>
              </a:rPr>
              <a:t>关键：</a:t>
            </a:r>
          </a:p>
          <a:p>
            <a:pPr lvl="0"/>
            <a:r>
              <a:rPr lang="zh-CN" altLang="en-US" dirty="0"/>
              <a:t>           </a:t>
            </a:r>
            <a:r>
              <a:rPr lang="zh-CN" altLang="en-US" dirty="0">
                <a:solidFill>
                  <a:srgbClr val="006699"/>
                </a:solidFill>
              </a:rPr>
              <a:t>消除命名冲突、消除属性特征冲突、消除结构冲突，</a:t>
            </a:r>
            <a:r>
              <a:rPr lang="zh-CN" altLang="en-US" dirty="0">
                <a:solidFill>
                  <a:srgbClr val="CC0000"/>
                </a:solidFill>
              </a:rPr>
              <a:t>也即：</a:t>
            </a:r>
            <a:r>
              <a:rPr lang="zh-CN" altLang="en-US" dirty="0">
                <a:solidFill>
                  <a:srgbClr val="006666"/>
                </a:solidFill>
              </a:rPr>
              <a:t>消除各分</a:t>
            </a:r>
            <a:r>
              <a:rPr lang="en-US" altLang="zh-CN">
                <a:solidFill>
                  <a:srgbClr val="006666"/>
                </a:solidFill>
              </a:rPr>
              <a:t>E-R</a:t>
            </a:r>
            <a:r>
              <a:rPr lang="zh-CN" altLang="en-US" dirty="0">
                <a:solidFill>
                  <a:srgbClr val="006666"/>
                </a:solidFill>
              </a:rPr>
              <a:t>图间存在的命名、属性特征和结构的不一致和矛盾。</a:t>
            </a:r>
          </a:p>
        </p:txBody>
      </p:sp>
      <p:sp>
        <p:nvSpPr>
          <p:cNvPr id="450566" name="矩形 450565"/>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86290"/>
    </mc:Choice>
    <mc:Fallback xmlns="">
      <p:transition spd="slow" advTm="86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50564">
                                            <p:txEl>
                                              <p:pRg st="1" end="1"/>
                                            </p:txEl>
                                          </p:spTgt>
                                        </p:tgtEl>
                                        <p:attrNameLst>
                                          <p:attrName>style.visibility</p:attrName>
                                        </p:attrNameLst>
                                      </p:cBhvr>
                                      <p:to>
                                        <p:strVal val="visible"/>
                                      </p:to>
                                    </p:set>
                                    <p:animEffect transition="in" filter="wipe(up)">
                                      <p:cBhvr>
                                        <p:cTn id="7" dur="5000"/>
                                        <p:tgtEl>
                                          <p:spTgt spid="450564">
                                            <p:txEl>
                                              <p:pRg st="1" end="1"/>
                                            </p:txEl>
                                          </p:spTgt>
                                        </p:tgtEl>
                                      </p:cBhvr>
                                    </p:animEffect>
                                  </p:childTnLst>
                                </p:cTn>
                              </p:par>
                            </p:childTnLst>
                          </p:cTn>
                        </p:par>
                        <p:par>
                          <p:cTn id="8" fill="hold">
                            <p:stCondLst>
                              <p:cond delay="5000"/>
                            </p:stCondLst>
                            <p:childTnLst>
                              <p:par>
                                <p:cTn id="9" presetID="22" presetClass="entr" presetSubtype="1" fill="hold" nodeType="afterEffect">
                                  <p:stCondLst>
                                    <p:cond delay="0"/>
                                  </p:stCondLst>
                                  <p:childTnLst>
                                    <p:set>
                                      <p:cBhvr>
                                        <p:cTn id="10" dur="1" fill="hold">
                                          <p:stCondLst>
                                            <p:cond delay="0"/>
                                          </p:stCondLst>
                                        </p:cTn>
                                        <p:tgtEl>
                                          <p:spTgt spid="450564">
                                            <p:txEl>
                                              <p:pRg st="2" end="2"/>
                                            </p:txEl>
                                          </p:spTgt>
                                        </p:tgtEl>
                                        <p:attrNameLst>
                                          <p:attrName>style.visibility</p:attrName>
                                        </p:attrNameLst>
                                      </p:cBhvr>
                                      <p:to>
                                        <p:strVal val="visible"/>
                                      </p:to>
                                    </p:set>
                                    <p:animEffect transition="in" filter="wipe(up)">
                                      <p:cBhvr>
                                        <p:cTn id="11" dur="5000"/>
                                        <p:tgtEl>
                                          <p:spTgt spid="450564">
                                            <p:txEl>
                                              <p:pRg st="2" end="2"/>
                                            </p:txEl>
                                          </p:spTgt>
                                        </p:tgtEl>
                                      </p:cBhvr>
                                    </p:animEffect>
                                  </p:childTnLst>
                                </p:cTn>
                              </p:par>
                            </p:childTnLst>
                          </p:cTn>
                        </p:par>
                        <p:par>
                          <p:cTn id="12" fill="hold">
                            <p:stCondLst>
                              <p:cond delay="10000"/>
                            </p:stCondLst>
                            <p:childTnLst>
                              <p:par>
                                <p:cTn id="13" presetID="22" presetClass="entr" presetSubtype="1" fill="hold" nodeType="afterEffect">
                                  <p:stCondLst>
                                    <p:cond delay="0"/>
                                  </p:stCondLst>
                                  <p:childTnLst>
                                    <p:set>
                                      <p:cBhvr>
                                        <p:cTn id="14" dur="1" fill="hold">
                                          <p:stCondLst>
                                            <p:cond delay="0"/>
                                          </p:stCondLst>
                                        </p:cTn>
                                        <p:tgtEl>
                                          <p:spTgt spid="450564">
                                            <p:txEl>
                                              <p:pRg st="3" end="3"/>
                                            </p:txEl>
                                          </p:spTgt>
                                        </p:tgtEl>
                                        <p:attrNameLst>
                                          <p:attrName>style.visibility</p:attrName>
                                        </p:attrNameLst>
                                      </p:cBhvr>
                                      <p:to>
                                        <p:strVal val="visible"/>
                                      </p:to>
                                    </p:set>
                                    <p:animEffect transition="in" filter="wipe(up)">
                                      <p:cBhvr>
                                        <p:cTn id="15" dur="5000"/>
                                        <p:tgtEl>
                                          <p:spTgt spid="45056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8" name="矩形 574467"/>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660066"/>
                </a:solidFill>
                <a:ea typeface="黑体" panose="02010609060101010101" pitchFamily="2" charset="-122"/>
              </a:rPr>
              <a:t>消除命名冲突：</a:t>
            </a:r>
          </a:p>
          <a:p>
            <a:pPr lvl="0"/>
            <a:r>
              <a:rPr lang="zh-CN" altLang="en-US" dirty="0">
                <a:solidFill>
                  <a:srgbClr val="006699"/>
                </a:solidFill>
              </a:rPr>
              <a:t>          </a:t>
            </a:r>
            <a:r>
              <a:rPr lang="zh-CN" altLang="en-US" dirty="0">
                <a:ea typeface="华文中宋" panose="02010600040101010101" pitchFamily="2" charset="-122"/>
              </a:rPr>
              <a:t>命名冲突包括</a:t>
            </a:r>
            <a:r>
              <a:rPr lang="zh-CN" altLang="en-US" dirty="0">
                <a:solidFill>
                  <a:srgbClr val="006666"/>
                </a:solidFill>
                <a:ea typeface="华文中宋" panose="02010600040101010101" pitchFamily="2" charset="-122"/>
              </a:rPr>
              <a:t>同名异义</a:t>
            </a:r>
            <a:r>
              <a:rPr lang="zh-CN" altLang="en-US" dirty="0">
                <a:ea typeface="华文中宋" panose="02010600040101010101" pitchFamily="2" charset="-122"/>
              </a:rPr>
              <a:t>和</a:t>
            </a:r>
            <a:r>
              <a:rPr lang="zh-CN" altLang="en-US" dirty="0">
                <a:solidFill>
                  <a:srgbClr val="006666"/>
                </a:solidFill>
                <a:ea typeface="华文中宋" panose="02010600040101010101" pitchFamily="2" charset="-122"/>
              </a:rPr>
              <a:t>异名同义</a:t>
            </a:r>
            <a:r>
              <a:rPr lang="zh-CN" altLang="en-US" dirty="0">
                <a:ea typeface="华文中宋" panose="02010600040101010101" pitchFamily="2" charset="-122"/>
              </a:rPr>
              <a:t>两种情况。</a:t>
            </a:r>
          </a:p>
          <a:p>
            <a:pPr lvl="0"/>
            <a:r>
              <a:rPr lang="zh-CN" altLang="en-US" dirty="0"/>
              <a:t>          </a:t>
            </a:r>
            <a:r>
              <a:rPr lang="zh-CN" altLang="en-US" dirty="0">
                <a:solidFill>
                  <a:schemeClr val="hlink"/>
                </a:solidFill>
              </a:rPr>
              <a:t>◆</a:t>
            </a:r>
            <a:r>
              <a:rPr lang="zh-CN" altLang="en-US" dirty="0"/>
              <a:t> 同名异义是指在不同的局部应用中的意义不同的对象（实体集、联系集或属性）采用了相同的名称。</a:t>
            </a:r>
          </a:p>
          <a:p>
            <a:pPr lvl="0"/>
            <a:r>
              <a:rPr lang="zh-CN" altLang="en-US" dirty="0"/>
              <a:t>           </a:t>
            </a:r>
            <a:r>
              <a:rPr lang="zh-CN" altLang="en-US" dirty="0">
                <a:solidFill>
                  <a:schemeClr val="hlink"/>
                </a:solidFill>
              </a:rPr>
              <a:t>◆</a:t>
            </a:r>
            <a:r>
              <a:rPr lang="zh-CN" altLang="en-US" dirty="0"/>
              <a:t>异名同义是指同一意义的对象在不同的局部应用中采用了不同的名称。  </a:t>
            </a:r>
            <a:endParaRPr lang="en-US" altLang="zh-CN"/>
          </a:p>
        </p:txBody>
      </p:sp>
      <p:sp>
        <p:nvSpPr>
          <p:cNvPr id="574470" name="矩形 574469"/>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56887"/>
    </mc:Choice>
    <mc:Fallback xmlns="">
      <p:transition spd="slow" advTm="568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4468">
                                            <p:txEl>
                                              <p:pRg st="0" end="0"/>
                                            </p:txEl>
                                          </p:spTgt>
                                        </p:tgtEl>
                                        <p:attrNameLst>
                                          <p:attrName>style.visibility</p:attrName>
                                        </p:attrNameLst>
                                      </p:cBhvr>
                                      <p:to>
                                        <p:strVal val="visible"/>
                                      </p:to>
                                    </p:set>
                                    <p:animEffect transition="in" filter="wipe(up)">
                                      <p:cBhvr>
                                        <p:cTn id="7" dur="500"/>
                                        <p:tgtEl>
                                          <p:spTgt spid="574468">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74468">
                                            <p:txEl>
                                              <p:pRg st="1" end="1"/>
                                            </p:txEl>
                                          </p:spTgt>
                                        </p:tgtEl>
                                        <p:attrNameLst>
                                          <p:attrName>style.visibility</p:attrName>
                                        </p:attrNameLst>
                                      </p:cBhvr>
                                      <p:to>
                                        <p:strVal val="visible"/>
                                      </p:to>
                                    </p:set>
                                    <p:animEffect transition="in" filter="wipe(up)">
                                      <p:cBhvr>
                                        <p:cTn id="11" dur="1000"/>
                                        <p:tgtEl>
                                          <p:spTgt spid="574468">
                                            <p:txEl>
                                              <p:pRg st="1" end="1"/>
                                            </p:txEl>
                                          </p:spTgt>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574468">
                                            <p:txEl>
                                              <p:pRg st="2" end="2"/>
                                            </p:txEl>
                                          </p:spTgt>
                                        </p:tgtEl>
                                        <p:attrNameLst>
                                          <p:attrName>style.visibility</p:attrName>
                                        </p:attrNameLst>
                                      </p:cBhvr>
                                      <p:to>
                                        <p:strVal val="visible"/>
                                      </p:to>
                                    </p:set>
                                    <p:animEffect transition="in" filter="wipe(up)">
                                      <p:cBhvr>
                                        <p:cTn id="15" dur="1000"/>
                                        <p:tgtEl>
                                          <p:spTgt spid="574468">
                                            <p:txEl>
                                              <p:pRg st="2" end="2"/>
                                            </p:txEl>
                                          </p:spTgt>
                                        </p:tgtEl>
                                      </p:cBhvr>
                                    </p:animEffect>
                                  </p:childTnLst>
                                </p:cTn>
                              </p:par>
                            </p:childTnLst>
                          </p:cTn>
                        </p:par>
                        <p:par>
                          <p:cTn id="16" fill="hold">
                            <p:stCondLst>
                              <p:cond delay="2500"/>
                            </p:stCondLst>
                            <p:childTnLst>
                              <p:par>
                                <p:cTn id="17" presetID="22" presetClass="entr" presetSubtype="1" fill="hold" nodeType="afterEffect">
                                  <p:stCondLst>
                                    <p:cond delay="0"/>
                                  </p:stCondLst>
                                  <p:childTnLst>
                                    <p:set>
                                      <p:cBhvr>
                                        <p:cTn id="18" dur="1" fill="hold">
                                          <p:stCondLst>
                                            <p:cond delay="0"/>
                                          </p:stCondLst>
                                        </p:cTn>
                                        <p:tgtEl>
                                          <p:spTgt spid="574468">
                                            <p:txEl>
                                              <p:pRg st="3" end="3"/>
                                            </p:txEl>
                                          </p:spTgt>
                                        </p:tgtEl>
                                        <p:attrNameLst>
                                          <p:attrName>style.visibility</p:attrName>
                                        </p:attrNameLst>
                                      </p:cBhvr>
                                      <p:to>
                                        <p:strVal val="visible"/>
                                      </p:to>
                                    </p:set>
                                    <p:animEffect transition="in" filter="wipe(up)">
                                      <p:cBhvr>
                                        <p:cTn id="19" dur="1000"/>
                                        <p:tgtEl>
                                          <p:spTgt spid="5744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2" name="矩形 575491"/>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660066"/>
                </a:solidFill>
                <a:ea typeface="黑体" panose="02010609060101010101" pitchFamily="2" charset="-122"/>
              </a:rPr>
              <a:t>消除属性特征冲突：</a:t>
            </a:r>
          </a:p>
          <a:p>
            <a:pPr lvl="0">
              <a:lnSpc>
                <a:spcPct val="140000"/>
              </a:lnSpc>
            </a:pPr>
            <a:r>
              <a:rPr lang="zh-CN" altLang="en-US" dirty="0">
                <a:solidFill>
                  <a:srgbClr val="006699"/>
                </a:solidFill>
              </a:rPr>
              <a:t>           </a:t>
            </a:r>
            <a:r>
              <a:rPr lang="zh-CN" altLang="en-US" dirty="0">
                <a:ea typeface="华文中宋" panose="02010600040101010101" pitchFamily="2" charset="-122"/>
              </a:rPr>
              <a:t>属性特征冲突是指同一意义的属性在不同局部应用的分</a:t>
            </a:r>
            <a:r>
              <a:rPr lang="en-US" altLang="zh-CN">
                <a:ea typeface="华文中宋" panose="02010600040101010101" pitchFamily="2" charset="-122"/>
              </a:rPr>
              <a:t>E</a:t>
            </a:r>
            <a:r>
              <a:rPr lang="zh-CN" altLang="en-US" dirty="0">
                <a:ea typeface="华文中宋" panose="02010600040101010101" pitchFamily="2" charset="-122"/>
              </a:rPr>
              <a:t>－</a:t>
            </a:r>
            <a:r>
              <a:rPr lang="en-US" altLang="zh-CN">
                <a:ea typeface="华文中宋" panose="02010600040101010101" pitchFamily="2" charset="-122"/>
              </a:rPr>
              <a:t>R</a:t>
            </a:r>
            <a:r>
              <a:rPr lang="zh-CN" altLang="en-US" dirty="0">
                <a:ea typeface="华文中宋" panose="02010600040101010101" pitchFamily="2" charset="-122"/>
              </a:rPr>
              <a:t>图中采用了不同的数据类型、不同的数据长度、不同的数据取值范围、不同的度量单位等而产生的冲突。 </a:t>
            </a:r>
            <a:endParaRPr lang="en-US" altLang="zh-CN">
              <a:ea typeface="华文中宋" panose="02010600040101010101" pitchFamily="2" charset="-122"/>
            </a:endParaRPr>
          </a:p>
        </p:txBody>
      </p:sp>
      <p:sp>
        <p:nvSpPr>
          <p:cNvPr id="575494" name="矩形 575493"/>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36883"/>
    </mc:Choice>
    <mc:Fallback xmlns="">
      <p:transition spd="slow" advTm="368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5492">
                                            <p:txEl>
                                              <p:pRg st="0" end="0"/>
                                            </p:txEl>
                                          </p:spTgt>
                                        </p:tgtEl>
                                        <p:attrNameLst>
                                          <p:attrName>style.visibility</p:attrName>
                                        </p:attrNameLst>
                                      </p:cBhvr>
                                      <p:to>
                                        <p:strVal val="visible"/>
                                      </p:to>
                                    </p:set>
                                    <p:animEffect transition="in" filter="wipe(up)">
                                      <p:cBhvr>
                                        <p:cTn id="7" dur="500"/>
                                        <p:tgtEl>
                                          <p:spTgt spid="575492">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75492">
                                            <p:txEl>
                                              <p:pRg st="1" end="1"/>
                                            </p:txEl>
                                          </p:spTgt>
                                        </p:tgtEl>
                                        <p:attrNameLst>
                                          <p:attrName>style.visibility</p:attrName>
                                        </p:attrNameLst>
                                      </p:cBhvr>
                                      <p:to>
                                        <p:strVal val="visible"/>
                                      </p:to>
                                    </p:set>
                                    <p:animEffect transition="in" filter="wipe(up)">
                                      <p:cBhvr>
                                        <p:cTn id="11" dur="1000"/>
                                        <p:tgtEl>
                                          <p:spTgt spid="57549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6" name="矩形 576515"/>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660066"/>
                </a:solidFill>
                <a:ea typeface="黑体" panose="02010609060101010101" pitchFamily="2" charset="-122"/>
              </a:rPr>
              <a:t>消除结构冲突</a:t>
            </a:r>
            <a:r>
              <a:rPr lang="zh-CN" altLang="en-US" dirty="0"/>
              <a:t> </a:t>
            </a:r>
            <a:r>
              <a:rPr lang="zh-CN" altLang="en-US" dirty="0">
                <a:solidFill>
                  <a:srgbClr val="660066"/>
                </a:solidFill>
                <a:ea typeface="黑体" panose="02010609060101010101" pitchFamily="2" charset="-122"/>
              </a:rPr>
              <a:t>：</a:t>
            </a:r>
          </a:p>
          <a:p>
            <a:pPr lvl="0">
              <a:lnSpc>
                <a:spcPct val="140000"/>
              </a:lnSpc>
            </a:pPr>
            <a:r>
              <a:rPr lang="zh-CN" altLang="en-US" dirty="0">
                <a:solidFill>
                  <a:srgbClr val="006699"/>
                </a:solidFill>
              </a:rPr>
              <a:t>           </a:t>
            </a:r>
            <a:r>
              <a:rPr lang="zh-CN" altLang="en-US" dirty="0">
                <a:solidFill>
                  <a:srgbClr val="006666"/>
                </a:solidFill>
                <a:ea typeface="华文中宋" panose="02010600040101010101" pitchFamily="2" charset="-122"/>
              </a:rPr>
              <a:t>结构冲突是指同一意义的对象（实体集、联系集或属性）在不同局部应用的分</a:t>
            </a:r>
            <a:r>
              <a:rPr lang="en-US" altLang="zh-CN">
                <a:solidFill>
                  <a:srgbClr val="006666"/>
                </a:solidFill>
                <a:ea typeface="华文中宋" panose="02010600040101010101" pitchFamily="2" charset="-122"/>
              </a:rPr>
              <a:t>E</a:t>
            </a:r>
            <a:r>
              <a:rPr lang="zh-CN" altLang="en-US" dirty="0">
                <a:solidFill>
                  <a:srgbClr val="006666"/>
                </a:solidFill>
                <a:ea typeface="华文中宋" panose="02010600040101010101" pitchFamily="2" charset="-122"/>
              </a:rPr>
              <a:t>－</a:t>
            </a:r>
            <a:r>
              <a:rPr lang="en-US" altLang="zh-CN">
                <a:solidFill>
                  <a:srgbClr val="006666"/>
                </a:solidFill>
                <a:ea typeface="华文中宋" panose="02010600040101010101" pitchFamily="2" charset="-122"/>
              </a:rPr>
              <a:t>R</a:t>
            </a:r>
            <a:r>
              <a:rPr lang="zh-CN" altLang="en-US" dirty="0">
                <a:solidFill>
                  <a:srgbClr val="006666"/>
                </a:solidFill>
                <a:ea typeface="华文中宋" panose="02010600040101010101" pitchFamily="2" charset="-122"/>
              </a:rPr>
              <a:t>图中采用了不同的结构特征，有三种情况：</a:t>
            </a:r>
          </a:p>
          <a:p>
            <a:pPr lvl="0">
              <a:lnSpc>
                <a:spcPct val="140000"/>
              </a:lnSpc>
            </a:pPr>
            <a:r>
              <a:rPr lang="zh-CN" altLang="en-US" dirty="0"/>
              <a:t>          （</a:t>
            </a:r>
            <a:r>
              <a:rPr lang="en-US" altLang="zh-CN"/>
              <a:t>1</a:t>
            </a:r>
            <a:r>
              <a:rPr lang="zh-CN" altLang="en-US" dirty="0"/>
              <a:t>）同一实体集在不同局部应用的分</a:t>
            </a:r>
            <a:r>
              <a:rPr lang="en-US" altLang="zh-CN"/>
              <a:t>E</a:t>
            </a:r>
            <a:r>
              <a:rPr lang="zh-CN" altLang="en-US" dirty="0"/>
              <a:t>－</a:t>
            </a:r>
            <a:r>
              <a:rPr lang="en-US" altLang="zh-CN"/>
              <a:t>R</a:t>
            </a:r>
            <a:r>
              <a:rPr lang="zh-CN" altLang="en-US" dirty="0"/>
              <a:t>图中所包含的属性不一致，主要指属性个数不同，当然有时也要考虑各属性排列顺序上的不一致。 </a:t>
            </a:r>
            <a:r>
              <a:rPr lang="zh-CN" altLang="en-US" dirty="0">
                <a:ea typeface="华文中宋" panose="02010600040101010101" pitchFamily="2" charset="-122"/>
              </a:rPr>
              <a:t> </a:t>
            </a:r>
            <a:endParaRPr lang="en-US" altLang="zh-CN">
              <a:ea typeface="华文中宋" panose="02010600040101010101" pitchFamily="2" charset="-122"/>
            </a:endParaRPr>
          </a:p>
        </p:txBody>
      </p:sp>
      <p:sp>
        <p:nvSpPr>
          <p:cNvPr id="576518" name="矩形 576517"/>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0470"/>
    </mc:Choice>
    <mc:Fallback xmlns="">
      <p:transition spd="slow" advTm="404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6516">
                                            <p:txEl>
                                              <p:pRg st="0" end="0"/>
                                            </p:txEl>
                                          </p:spTgt>
                                        </p:tgtEl>
                                        <p:attrNameLst>
                                          <p:attrName>style.visibility</p:attrName>
                                        </p:attrNameLst>
                                      </p:cBhvr>
                                      <p:to>
                                        <p:strVal val="visible"/>
                                      </p:to>
                                    </p:set>
                                    <p:animEffect transition="in" filter="wipe(up)">
                                      <p:cBhvr>
                                        <p:cTn id="7" dur="500"/>
                                        <p:tgtEl>
                                          <p:spTgt spid="576516">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76516">
                                            <p:txEl>
                                              <p:pRg st="1" end="1"/>
                                            </p:txEl>
                                          </p:spTgt>
                                        </p:tgtEl>
                                        <p:attrNameLst>
                                          <p:attrName>style.visibility</p:attrName>
                                        </p:attrNameLst>
                                      </p:cBhvr>
                                      <p:to>
                                        <p:strVal val="visible"/>
                                      </p:to>
                                    </p:set>
                                    <p:animEffect transition="in" filter="wipe(up)">
                                      <p:cBhvr>
                                        <p:cTn id="11" dur="1000"/>
                                        <p:tgtEl>
                                          <p:spTgt spid="57651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576516">
                                            <p:txEl>
                                              <p:pRg st="2" end="2"/>
                                            </p:txEl>
                                          </p:spTgt>
                                        </p:tgtEl>
                                        <p:attrNameLst>
                                          <p:attrName>style.visibility</p:attrName>
                                        </p:attrNameLst>
                                      </p:cBhvr>
                                      <p:to>
                                        <p:strVal val="visible"/>
                                      </p:to>
                                    </p:set>
                                    <p:animEffect transition="in" filter="wipe(up)">
                                      <p:cBhvr>
                                        <p:cTn id="16" dur="1000"/>
                                        <p:tgtEl>
                                          <p:spTgt spid="5765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40" name="矩形 577539"/>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660066"/>
                </a:solidFill>
                <a:ea typeface="黑体" panose="02010609060101010101" pitchFamily="2" charset="-122"/>
              </a:rPr>
              <a:t>消除结构冲突</a:t>
            </a:r>
            <a:r>
              <a:rPr lang="zh-CN" altLang="en-US" dirty="0"/>
              <a:t> </a:t>
            </a:r>
            <a:r>
              <a:rPr lang="zh-CN" altLang="en-US" dirty="0">
                <a:solidFill>
                  <a:srgbClr val="660066"/>
                </a:solidFill>
                <a:ea typeface="黑体" panose="02010609060101010101" pitchFamily="2" charset="-122"/>
              </a:rPr>
              <a:t>：</a:t>
            </a:r>
          </a:p>
          <a:p>
            <a:pPr lvl="0">
              <a:lnSpc>
                <a:spcPct val="140000"/>
              </a:lnSpc>
            </a:pPr>
            <a:r>
              <a:rPr lang="zh-CN" altLang="en-US" dirty="0">
                <a:solidFill>
                  <a:srgbClr val="006699"/>
                </a:solidFill>
              </a:rPr>
              <a:t>           </a:t>
            </a:r>
            <a:r>
              <a:rPr lang="zh-CN" altLang="en-US" dirty="0">
                <a:solidFill>
                  <a:srgbClr val="006666"/>
                </a:solidFill>
                <a:ea typeface="华文中宋" panose="02010600040101010101" pitchFamily="2" charset="-122"/>
              </a:rPr>
              <a:t>结构冲突是指同一意义的对象</a:t>
            </a:r>
            <a:r>
              <a:rPr lang="en-US" altLang="zh-CN">
                <a:solidFill>
                  <a:srgbClr val="006666"/>
                </a:solidFill>
                <a:ea typeface="华文中宋" panose="02010600040101010101" pitchFamily="2" charset="-122"/>
              </a:rPr>
              <a:t>(</a:t>
            </a:r>
            <a:r>
              <a:rPr lang="zh-CN" altLang="en-US" dirty="0">
                <a:solidFill>
                  <a:srgbClr val="006666"/>
                </a:solidFill>
                <a:ea typeface="华文中宋" panose="02010600040101010101" pitchFamily="2" charset="-122"/>
              </a:rPr>
              <a:t>实体集、联系集或属性</a:t>
            </a:r>
            <a:r>
              <a:rPr lang="en-US" altLang="zh-CN">
                <a:solidFill>
                  <a:srgbClr val="006666"/>
                </a:solidFill>
                <a:ea typeface="华文中宋" panose="02010600040101010101" pitchFamily="2" charset="-122"/>
              </a:rPr>
              <a:t>)</a:t>
            </a:r>
            <a:r>
              <a:rPr lang="zh-CN" altLang="en-US" dirty="0">
                <a:solidFill>
                  <a:srgbClr val="006666"/>
                </a:solidFill>
                <a:ea typeface="华文中宋" panose="02010600040101010101" pitchFamily="2" charset="-122"/>
              </a:rPr>
              <a:t>在不同局部应用的分</a:t>
            </a:r>
            <a:r>
              <a:rPr lang="en-US" altLang="zh-CN">
                <a:solidFill>
                  <a:srgbClr val="006666"/>
                </a:solidFill>
                <a:ea typeface="华文中宋" panose="02010600040101010101" pitchFamily="2" charset="-122"/>
              </a:rPr>
              <a:t>E</a:t>
            </a:r>
            <a:r>
              <a:rPr lang="zh-CN" altLang="en-US" dirty="0">
                <a:solidFill>
                  <a:srgbClr val="006666"/>
                </a:solidFill>
                <a:ea typeface="华文中宋" panose="02010600040101010101" pitchFamily="2" charset="-122"/>
              </a:rPr>
              <a:t>－</a:t>
            </a:r>
            <a:r>
              <a:rPr lang="en-US" altLang="zh-CN">
                <a:solidFill>
                  <a:srgbClr val="006666"/>
                </a:solidFill>
                <a:ea typeface="华文中宋" panose="02010600040101010101" pitchFamily="2" charset="-122"/>
              </a:rPr>
              <a:t>R</a:t>
            </a:r>
            <a:r>
              <a:rPr lang="zh-CN" altLang="en-US" dirty="0">
                <a:solidFill>
                  <a:srgbClr val="006666"/>
                </a:solidFill>
                <a:ea typeface="华文中宋" panose="02010600040101010101" pitchFamily="2" charset="-122"/>
              </a:rPr>
              <a:t>图中采用了不同的结构特征，有三种情况：</a:t>
            </a:r>
          </a:p>
          <a:p>
            <a:pPr lvl="0">
              <a:lnSpc>
                <a:spcPct val="140000"/>
              </a:lnSpc>
            </a:pPr>
            <a:r>
              <a:rPr lang="zh-CN" altLang="en-US" dirty="0"/>
              <a:t>          （</a:t>
            </a:r>
            <a:r>
              <a:rPr lang="en-US" altLang="zh-CN"/>
              <a:t>2</a:t>
            </a:r>
            <a:r>
              <a:rPr lang="zh-CN" altLang="en-US" dirty="0"/>
              <a:t>）表示同一意义的实体集间的联系在不同局部应用的分</a:t>
            </a:r>
            <a:r>
              <a:rPr lang="en-US" altLang="zh-CN"/>
              <a:t>E</a:t>
            </a:r>
            <a:r>
              <a:rPr lang="zh-CN" altLang="en-US" dirty="0"/>
              <a:t>－</a:t>
            </a:r>
            <a:r>
              <a:rPr lang="en-US" altLang="zh-CN"/>
              <a:t>R</a:t>
            </a:r>
            <a:r>
              <a:rPr lang="zh-CN" altLang="en-US" dirty="0"/>
              <a:t>图中采用了不同的联系类型。 </a:t>
            </a:r>
            <a:endParaRPr lang="en-US" altLang="zh-CN"/>
          </a:p>
        </p:txBody>
      </p:sp>
      <p:sp>
        <p:nvSpPr>
          <p:cNvPr id="577542" name="矩形 577541"/>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26929"/>
    </mc:Choice>
    <mc:Fallback xmlns="">
      <p:transition spd="slow" advTm="269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7540">
                                            <p:txEl>
                                              <p:pRg st="2" end="2"/>
                                            </p:txEl>
                                          </p:spTgt>
                                        </p:tgtEl>
                                        <p:attrNameLst>
                                          <p:attrName>style.visibility</p:attrName>
                                        </p:attrNameLst>
                                      </p:cBhvr>
                                      <p:to>
                                        <p:strVal val="visible"/>
                                      </p:to>
                                    </p:set>
                                    <p:animEffect transition="in" filter="wipe(up)">
                                      <p:cBhvr>
                                        <p:cTn id="7" dur="1000"/>
                                        <p:tgtEl>
                                          <p:spTgt spid="57754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4" name="矩形 578563"/>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660066"/>
                </a:solidFill>
                <a:ea typeface="黑体" panose="02010609060101010101" pitchFamily="2" charset="-122"/>
              </a:rPr>
              <a:t>消除结构冲突</a:t>
            </a:r>
            <a:r>
              <a:rPr lang="zh-CN" altLang="en-US" dirty="0"/>
              <a:t> </a:t>
            </a:r>
            <a:r>
              <a:rPr lang="zh-CN" altLang="en-US" dirty="0">
                <a:solidFill>
                  <a:srgbClr val="660066"/>
                </a:solidFill>
                <a:ea typeface="黑体" panose="02010609060101010101" pitchFamily="2" charset="-122"/>
              </a:rPr>
              <a:t>：</a:t>
            </a:r>
          </a:p>
          <a:p>
            <a:pPr lvl="0">
              <a:lnSpc>
                <a:spcPct val="140000"/>
              </a:lnSpc>
            </a:pPr>
            <a:r>
              <a:rPr lang="zh-CN" altLang="en-US" dirty="0">
                <a:solidFill>
                  <a:srgbClr val="006699"/>
                </a:solidFill>
              </a:rPr>
              <a:t>           </a:t>
            </a:r>
            <a:r>
              <a:rPr lang="zh-CN" altLang="en-US" dirty="0">
                <a:solidFill>
                  <a:srgbClr val="006666"/>
                </a:solidFill>
                <a:ea typeface="华文中宋" panose="02010600040101010101" pitchFamily="2" charset="-122"/>
              </a:rPr>
              <a:t>结构冲突是指同一意义的对象</a:t>
            </a:r>
            <a:r>
              <a:rPr lang="en-US" altLang="zh-CN">
                <a:solidFill>
                  <a:srgbClr val="006666"/>
                </a:solidFill>
                <a:ea typeface="华文中宋" panose="02010600040101010101" pitchFamily="2" charset="-122"/>
              </a:rPr>
              <a:t>(</a:t>
            </a:r>
            <a:r>
              <a:rPr lang="zh-CN" altLang="en-US" dirty="0">
                <a:solidFill>
                  <a:srgbClr val="006666"/>
                </a:solidFill>
                <a:ea typeface="华文中宋" panose="02010600040101010101" pitchFamily="2" charset="-122"/>
              </a:rPr>
              <a:t>实体集、联系集或属性</a:t>
            </a:r>
            <a:r>
              <a:rPr lang="en-US" altLang="zh-CN">
                <a:solidFill>
                  <a:srgbClr val="006666"/>
                </a:solidFill>
                <a:ea typeface="华文中宋" panose="02010600040101010101" pitchFamily="2" charset="-122"/>
              </a:rPr>
              <a:t>)</a:t>
            </a:r>
            <a:r>
              <a:rPr lang="zh-CN" altLang="en-US" dirty="0">
                <a:solidFill>
                  <a:srgbClr val="006666"/>
                </a:solidFill>
                <a:ea typeface="华文中宋" panose="02010600040101010101" pitchFamily="2" charset="-122"/>
              </a:rPr>
              <a:t>在不同局部应用的分</a:t>
            </a:r>
            <a:r>
              <a:rPr lang="en-US" altLang="zh-CN">
                <a:solidFill>
                  <a:srgbClr val="006666"/>
                </a:solidFill>
                <a:ea typeface="华文中宋" panose="02010600040101010101" pitchFamily="2" charset="-122"/>
              </a:rPr>
              <a:t>E</a:t>
            </a:r>
            <a:r>
              <a:rPr lang="zh-CN" altLang="en-US" dirty="0">
                <a:solidFill>
                  <a:srgbClr val="006666"/>
                </a:solidFill>
                <a:ea typeface="华文中宋" panose="02010600040101010101" pitchFamily="2" charset="-122"/>
              </a:rPr>
              <a:t>－</a:t>
            </a:r>
            <a:r>
              <a:rPr lang="en-US" altLang="zh-CN">
                <a:solidFill>
                  <a:srgbClr val="006666"/>
                </a:solidFill>
                <a:ea typeface="华文中宋" panose="02010600040101010101" pitchFamily="2" charset="-122"/>
              </a:rPr>
              <a:t>R</a:t>
            </a:r>
            <a:r>
              <a:rPr lang="zh-CN" altLang="en-US" dirty="0">
                <a:solidFill>
                  <a:srgbClr val="006666"/>
                </a:solidFill>
                <a:ea typeface="华文中宋" panose="02010600040101010101" pitchFamily="2" charset="-122"/>
              </a:rPr>
              <a:t>图中采用了不同的结构特征，有三种情况：</a:t>
            </a:r>
          </a:p>
          <a:p>
            <a:pPr lvl="0">
              <a:lnSpc>
                <a:spcPct val="140000"/>
              </a:lnSpc>
            </a:pPr>
            <a:r>
              <a:rPr lang="zh-CN" altLang="en-US" dirty="0"/>
              <a:t>          （</a:t>
            </a:r>
            <a:r>
              <a:rPr lang="en-US" altLang="zh-CN"/>
              <a:t>3</a:t>
            </a:r>
            <a:r>
              <a:rPr lang="zh-CN" altLang="en-US" dirty="0"/>
              <a:t>）表示同一意义的对象</a:t>
            </a:r>
            <a:r>
              <a:rPr lang="en-US" altLang="zh-CN"/>
              <a:t>(</a:t>
            </a:r>
            <a:r>
              <a:rPr lang="zh-CN" altLang="en-US" dirty="0"/>
              <a:t>实体集、属性</a:t>
            </a:r>
            <a:r>
              <a:rPr lang="en-US" altLang="zh-CN"/>
              <a:t>)</a:t>
            </a:r>
            <a:r>
              <a:rPr lang="zh-CN" altLang="en-US" dirty="0"/>
              <a:t>在不同局部应用的分</a:t>
            </a:r>
            <a:r>
              <a:rPr lang="en-US" altLang="zh-CN"/>
              <a:t>E</a:t>
            </a:r>
            <a:r>
              <a:rPr lang="zh-CN" altLang="en-US" dirty="0"/>
              <a:t>－</a:t>
            </a:r>
            <a:r>
              <a:rPr lang="en-US" altLang="zh-CN"/>
              <a:t>R</a:t>
            </a:r>
            <a:r>
              <a:rPr lang="zh-CN" altLang="en-US" dirty="0"/>
              <a:t>图中具有不同的抽象。 </a:t>
            </a:r>
            <a:endParaRPr lang="en-US" altLang="zh-CN"/>
          </a:p>
        </p:txBody>
      </p:sp>
      <p:sp>
        <p:nvSpPr>
          <p:cNvPr id="578566" name="矩形 578565"/>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45789"/>
    </mc:Choice>
    <mc:Fallback xmlns="">
      <p:transition spd="slow" advTm="457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8564">
                                            <p:txEl>
                                              <p:pRg st="2" end="2"/>
                                            </p:txEl>
                                          </p:spTgt>
                                        </p:tgtEl>
                                        <p:attrNameLst>
                                          <p:attrName>style.visibility</p:attrName>
                                        </p:attrNameLst>
                                      </p:cBhvr>
                                      <p:to>
                                        <p:strVal val="visible"/>
                                      </p:to>
                                    </p:set>
                                    <p:animEffect transition="in" filter="wipe(up)">
                                      <p:cBhvr>
                                        <p:cTn id="7" dur="1000"/>
                                        <p:tgtEl>
                                          <p:spTgt spid="57856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8" name="矩形 579587"/>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en-US" altLang="zh-CN"/>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、总体</a:t>
            </a:r>
            <a:r>
              <a:rPr lang="en-US" altLang="zh-CN" sz="3000">
                <a:solidFill>
                  <a:srgbClr val="660033"/>
                </a:solidFill>
                <a:ea typeface="华文新魏" panose="02010800040101010101" pitchFamily="2" charset="-122"/>
              </a:rPr>
              <a:t>E</a:t>
            </a:r>
            <a:r>
              <a:rPr lang="en-US" altLang="zh-CN" sz="3000">
                <a:solidFill>
                  <a:srgbClr val="660033"/>
                </a:solidFill>
                <a:latin typeface="Arial" panose="020B0604020202020204" pitchFamily="34" charset="0"/>
                <a:ea typeface="华文新魏" panose="02010800040101010101" pitchFamily="2" charset="-122"/>
              </a:rPr>
              <a:t>—</a:t>
            </a:r>
            <a:r>
              <a:rPr lang="en-US" altLang="zh-CN" sz="3000">
                <a:solidFill>
                  <a:srgbClr val="660033"/>
                </a:solidFill>
                <a:ea typeface="华文新魏" panose="02010800040101010101" pitchFamily="2" charset="-122"/>
              </a:rPr>
              <a:t>R</a:t>
            </a:r>
            <a:r>
              <a:rPr lang="zh-CN" altLang="en-US" sz="3000" dirty="0">
                <a:solidFill>
                  <a:srgbClr val="660033"/>
                </a:solidFill>
                <a:ea typeface="华文新魏" panose="02010800040101010101" pitchFamily="2" charset="-122"/>
              </a:rPr>
              <a:t>图优化</a:t>
            </a:r>
          </a:p>
          <a:p>
            <a:pPr lvl="0"/>
            <a:r>
              <a:rPr lang="zh-CN" altLang="en-US" dirty="0"/>
              <a:t>          由于在面向各个局部应用时对全局应用考虑不周，因而会使得到的总体</a:t>
            </a:r>
            <a:r>
              <a:rPr lang="en-US" altLang="zh-CN"/>
              <a:t>E</a:t>
            </a:r>
            <a:r>
              <a:rPr lang="zh-CN" altLang="en-US" dirty="0"/>
              <a:t>－</a:t>
            </a:r>
            <a:r>
              <a:rPr lang="en-US" altLang="zh-CN"/>
              <a:t>R</a:t>
            </a:r>
            <a:r>
              <a:rPr lang="zh-CN" altLang="en-US" dirty="0"/>
              <a:t>图存在</a:t>
            </a:r>
            <a:r>
              <a:rPr lang="zh-CN" altLang="en-US" dirty="0">
                <a:solidFill>
                  <a:srgbClr val="006699"/>
                </a:solidFill>
              </a:rPr>
              <a:t>冗余数据</a:t>
            </a:r>
            <a:r>
              <a:rPr lang="zh-CN" altLang="en-US" dirty="0"/>
              <a:t>和</a:t>
            </a:r>
            <a:r>
              <a:rPr lang="zh-CN" altLang="en-US" dirty="0">
                <a:solidFill>
                  <a:srgbClr val="006666"/>
                </a:solidFill>
              </a:rPr>
              <a:t>冗余联系</a:t>
            </a:r>
            <a:r>
              <a:rPr lang="zh-CN" altLang="en-US" dirty="0"/>
              <a:t>。</a:t>
            </a:r>
          </a:p>
          <a:p>
            <a:pPr lvl="0"/>
            <a:r>
              <a:rPr lang="zh-CN" altLang="en-US" dirty="0"/>
              <a:t>          </a:t>
            </a:r>
            <a:endParaRPr lang="zh-CN" altLang="en-US" dirty="0">
              <a:solidFill>
                <a:srgbClr val="006666"/>
              </a:solidFill>
            </a:endParaRPr>
          </a:p>
        </p:txBody>
      </p:sp>
      <p:sp>
        <p:nvSpPr>
          <p:cNvPr id="579590" name="矩形 579589"/>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65223"/>
    </mc:Choice>
    <mc:Fallback xmlns="">
      <p:transition spd="slow" advTm="652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9588">
                                            <p:txEl>
                                              <p:pRg st="1" end="1"/>
                                            </p:txEl>
                                          </p:spTgt>
                                        </p:tgtEl>
                                        <p:attrNameLst>
                                          <p:attrName>style.visibility</p:attrName>
                                        </p:attrNameLst>
                                      </p:cBhvr>
                                      <p:to>
                                        <p:strVal val="visible"/>
                                      </p:to>
                                    </p:set>
                                    <p:animEffect transition="in" filter="wipe(up)">
                                      <p:cBhvr>
                                        <p:cTn id="7" dur="5000"/>
                                        <p:tgtEl>
                                          <p:spTgt spid="57958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1588" name="组合 451587"/>
          <p:cNvGrpSpPr/>
          <p:nvPr/>
        </p:nvGrpSpPr>
        <p:grpSpPr>
          <a:xfrm>
            <a:off x="611188" y="3336925"/>
            <a:ext cx="7993062" cy="2971800"/>
            <a:chOff x="624" y="460"/>
            <a:chExt cx="4512" cy="1872"/>
          </a:xfrm>
        </p:grpSpPr>
        <p:sp>
          <p:nvSpPr>
            <p:cNvPr id="451589" name="流程图: 决策 451588"/>
            <p:cNvSpPr/>
            <p:nvPr/>
          </p:nvSpPr>
          <p:spPr>
            <a:xfrm>
              <a:off x="2448" y="1036"/>
              <a:ext cx="1056" cy="528"/>
            </a:xfrm>
            <a:prstGeom prst="flowChartDecision">
              <a:avLst/>
            </a:prstGeom>
            <a:solidFill>
              <a:srgbClr val="CCFFCC"/>
            </a:solidFill>
            <a:ln w="9525"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学习</a:t>
              </a:r>
            </a:p>
          </p:txBody>
        </p:sp>
        <p:sp>
          <p:nvSpPr>
            <p:cNvPr id="451590" name="矩形 451589"/>
            <p:cNvSpPr/>
            <p:nvPr/>
          </p:nvSpPr>
          <p:spPr>
            <a:xfrm>
              <a:off x="1440" y="1132"/>
              <a:ext cx="624" cy="336"/>
            </a:xfrm>
            <a:prstGeom prst="rect">
              <a:avLst/>
            </a:prstGeom>
            <a:solidFill>
              <a:srgbClr val="CCFFCC"/>
            </a:solidFill>
            <a:ln w="9525" cap="flat" cmpd="sng">
              <a:solidFill>
                <a:srgbClr val="000000"/>
              </a:solidFill>
              <a:prstDash val="solid"/>
              <a:miter/>
              <a:headEnd type="none" w="med" len="med"/>
              <a:tailEnd type="none" w="med" len="med"/>
            </a:ln>
          </p:spPr>
          <p:txBody>
            <a:bodyPr wrap="none" anchor="ctr"/>
            <a:lstStyle/>
            <a:p>
              <a:pPr>
                <a:spcBef>
                  <a:spcPct val="50000"/>
                </a:spcBef>
              </a:pPr>
              <a:r>
                <a:rPr lang="zh-CN" altLang="en-US" sz="2000" b="1" dirty="0">
                  <a:latin typeface="Arial" panose="020B0604020202020204" pitchFamily="34" charset="0"/>
                </a:rPr>
                <a:t> 学生</a:t>
              </a:r>
            </a:p>
          </p:txBody>
        </p:sp>
        <p:sp>
          <p:nvSpPr>
            <p:cNvPr id="451591" name="矩形 451590"/>
            <p:cNvSpPr/>
            <p:nvPr/>
          </p:nvSpPr>
          <p:spPr>
            <a:xfrm>
              <a:off x="3744" y="1132"/>
              <a:ext cx="624" cy="336"/>
            </a:xfrm>
            <a:prstGeom prst="rect">
              <a:avLst/>
            </a:prstGeom>
            <a:solidFill>
              <a:srgbClr val="CCFFCC"/>
            </a:solidFill>
            <a:ln w="9525" cap="flat" cmpd="sng">
              <a:solidFill>
                <a:srgbClr val="000000"/>
              </a:solidFill>
              <a:prstDash val="solid"/>
              <a:miter/>
              <a:headEnd type="none" w="med" len="med"/>
              <a:tailEnd type="none" w="med" len="med"/>
            </a:ln>
          </p:spPr>
          <p:txBody>
            <a:bodyPr wrap="none" anchor="ctr"/>
            <a:lstStyle/>
            <a:p>
              <a:pPr>
                <a:spcBef>
                  <a:spcPct val="50000"/>
                </a:spcBef>
              </a:pPr>
              <a:r>
                <a:rPr lang="zh-CN" altLang="en-US" sz="2000" b="1" dirty="0">
                  <a:latin typeface="Arial" panose="020B0604020202020204" pitchFamily="34" charset="0"/>
                </a:rPr>
                <a:t> 课程</a:t>
              </a:r>
            </a:p>
          </p:txBody>
        </p:sp>
        <p:sp>
          <p:nvSpPr>
            <p:cNvPr id="451592" name="椭圆 451591"/>
            <p:cNvSpPr/>
            <p:nvPr/>
          </p:nvSpPr>
          <p:spPr>
            <a:xfrm>
              <a:off x="624" y="118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姓名</a:t>
              </a:r>
            </a:p>
          </p:txBody>
        </p:sp>
        <p:sp>
          <p:nvSpPr>
            <p:cNvPr id="451593" name="椭圆 451592"/>
            <p:cNvSpPr/>
            <p:nvPr/>
          </p:nvSpPr>
          <p:spPr>
            <a:xfrm>
              <a:off x="864" y="170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性别</a:t>
              </a:r>
            </a:p>
          </p:txBody>
        </p:sp>
        <p:sp>
          <p:nvSpPr>
            <p:cNvPr id="451594" name="椭圆 451593"/>
            <p:cNvSpPr/>
            <p:nvPr/>
          </p:nvSpPr>
          <p:spPr>
            <a:xfrm>
              <a:off x="1536" y="190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籍贯</a:t>
              </a:r>
            </a:p>
          </p:txBody>
        </p:sp>
        <p:sp>
          <p:nvSpPr>
            <p:cNvPr id="451595" name="椭圆 451594"/>
            <p:cNvSpPr/>
            <p:nvPr/>
          </p:nvSpPr>
          <p:spPr>
            <a:xfrm>
              <a:off x="864" y="604"/>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学号</a:t>
              </a:r>
            </a:p>
          </p:txBody>
        </p:sp>
        <p:sp>
          <p:nvSpPr>
            <p:cNvPr id="451596" name="椭圆 451595"/>
            <p:cNvSpPr/>
            <p:nvPr/>
          </p:nvSpPr>
          <p:spPr>
            <a:xfrm>
              <a:off x="1584" y="460"/>
              <a:ext cx="864"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出生年月</a:t>
              </a:r>
            </a:p>
          </p:txBody>
        </p:sp>
        <p:sp>
          <p:nvSpPr>
            <p:cNvPr id="451597" name="椭圆 451596"/>
            <p:cNvSpPr/>
            <p:nvPr/>
          </p:nvSpPr>
          <p:spPr>
            <a:xfrm>
              <a:off x="2544"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学号</a:t>
              </a:r>
            </a:p>
          </p:txBody>
        </p:sp>
        <p:sp>
          <p:nvSpPr>
            <p:cNvPr id="451598" name="椭圆 451597"/>
            <p:cNvSpPr/>
            <p:nvPr/>
          </p:nvSpPr>
          <p:spPr>
            <a:xfrm>
              <a:off x="3264"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课程号</a:t>
              </a:r>
            </a:p>
          </p:txBody>
        </p:sp>
        <p:sp>
          <p:nvSpPr>
            <p:cNvPr id="451599" name="椭圆 451598"/>
            <p:cNvSpPr/>
            <p:nvPr/>
          </p:nvSpPr>
          <p:spPr>
            <a:xfrm>
              <a:off x="3888"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课程号</a:t>
              </a:r>
            </a:p>
          </p:txBody>
        </p:sp>
        <p:sp>
          <p:nvSpPr>
            <p:cNvPr id="451600" name="椭圆 451599"/>
            <p:cNvSpPr/>
            <p:nvPr/>
          </p:nvSpPr>
          <p:spPr>
            <a:xfrm>
              <a:off x="4560" y="796"/>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课程名</a:t>
              </a:r>
            </a:p>
          </p:txBody>
        </p:sp>
        <p:sp>
          <p:nvSpPr>
            <p:cNvPr id="451601" name="椭圆 451600"/>
            <p:cNvSpPr/>
            <p:nvPr/>
          </p:nvSpPr>
          <p:spPr>
            <a:xfrm>
              <a:off x="4512" y="1564"/>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学时</a:t>
              </a:r>
            </a:p>
          </p:txBody>
        </p:sp>
        <p:sp>
          <p:nvSpPr>
            <p:cNvPr id="451602" name="椭圆 451601"/>
            <p:cNvSpPr/>
            <p:nvPr/>
          </p:nvSpPr>
          <p:spPr>
            <a:xfrm>
              <a:off x="3792" y="190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学分</a:t>
              </a:r>
            </a:p>
          </p:txBody>
        </p:sp>
        <p:sp>
          <p:nvSpPr>
            <p:cNvPr id="451603" name="椭圆 451602"/>
            <p:cNvSpPr/>
            <p:nvPr/>
          </p:nvSpPr>
          <p:spPr>
            <a:xfrm>
              <a:off x="3024" y="194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学分</a:t>
              </a:r>
            </a:p>
          </p:txBody>
        </p:sp>
        <p:sp>
          <p:nvSpPr>
            <p:cNvPr id="451604" name="椭圆 451603"/>
            <p:cNvSpPr/>
            <p:nvPr/>
          </p:nvSpPr>
          <p:spPr>
            <a:xfrm>
              <a:off x="2256" y="194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分数</a:t>
              </a:r>
            </a:p>
          </p:txBody>
        </p:sp>
        <p:sp>
          <p:nvSpPr>
            <p:cNvPr id="451605" name="直接连接符 451604"/>
            <p:cNvSpPr/>
            <p:nvPr/>
          </p:nvSpPr>
          <p:spPr>
            <a:xfrm>
              <a:off x="1248" y="940"/>
              <a:ext cx="192" cy="192"/>
            </a:xfrm>
            <a:prstGeom prst="line">
              <a:avLst/>
            </a:prstGeom>
            <a:ln w="9525" cap="flat" cmpd="sng">
              <a:solidFill>
                <a:srgbClr val="000000"/>
              </a:solidFill>
              <a:prstDash val="solid"/>
              <a:headEnd type="none" w="med" len="med"/>
              <a:tailEnd type="none" w="med" len="med"/>
            </a:ln>
          </p:spPr>
        </p:sp>
        <p:sp>
          <p:nvSpPr>
            <p:cNvPr id="451606" name="直接连接符 451605"/>
            <p:cNvSpPr/>
            <p:nvPr/>
          </p:nvSpPr>
          <p:spPr>
            <a:xfrm>
              <a:off x="1200" y="1324"/>
              <a:ext cx="240" cy="0"/>
            </a:xfrm>
            <a:prstGeom prst="line">
              <a:avLst/>
            </a:prstGeom>
            <a:ln w="9525" cap="flat" cmpd="sng">
              <a:solidFill>
                <a:srgbClr val="000000"/>
              </a:solidFill>
              <a:prstDash val="solid"/>
              <a:headEnd type="none" w="med" len="med"/>
              <a:tailEnd type="none" w="med" len="med"/>
            </a:ln>
          </p:spPr>
        </p:sp>
        <p:sp>
          <p:nvSpPr>
            <p:cNvPr id="451607" name="直接连接符 451606"/>
            <p:cNvSpPr/>
            <p:nvPr/>
          </p:nvSpPr>
          <p:spPr>
            <a:xfrm flipV="1">
              <a:off x="1200" y="1468"/>
              <a:ext cx="240" cy="240"/>
            </a:xfrm>
            <a:prstGeom prst="line">
              <a:avLst/>
            </a:prstGeom>
            <a:ln w="9525" cap="flat" cmpd="sng">
              <a:solidFill>
                <a:srgbClr val="000000"/>
              </a:solidFill>
              <a:prstDash val="solid"/>
              <a:headEnd type="none" w="med" len="med"/>
              <a:tailEnd type="none" w="med" len="med"/>
            </a:ln>
          </p:spPr>
        </p:sp>
        <p:sp>
          <p:nvSpPr>
            <p:cNvPr id="451608" name="直接连接符 451607"/>
            <p:cNvSpPr/>
            <p:nvPr/>
          </p:nvSpPr>
          <p:spPr>
            <a:xfrm>
              <a:off x="1872" y="1468"/>
              <a:ext cx="0" cy="432"/>
            </a:xfrm>
            <a:prstGeom prst="line">
              <a:avLst/>
            </a:prstGeom>
            <a:ln w="9525" cap="flat" cmpd="sng">
              <a:solidFill>
                <a:srgbClr val="000000"/>
              </a:solidFill>
              <a:prstDash val="solid"/>
              <a:headEnd type="none" w="med" len="med"/>
              <a:tailEnd type="none" w="med" len="med"/>
            </a:ln>
          </p:spPr>
        </p:sp>
        <p:sp>
          <p:nvSpPr>
            <p:cNvPr id="451609" name="直接连接符 451608"/>
            <p:cNvSpPr/>
            <p:nvPr/>
          </p:nvSpPr>
          <p:spPr>
            <a:xfrm>
              <a:off x="2064" y="1324"/>
              <a:ext cx="384" cy="0"/>
            </a:xfrm>
            <a:prstGeom prst="line">
              <a:avLst/>
            </a:prstGeom>
            <a:ln w="9525" cap="flat" cmpd="sng">
              <a:solidFill>
                <a:srgbClr val="000000"/>
              </a:solidFill>
              <a:prstDash val="solid"/>
              <a:headEnd type="none" w="med" len="med"/>
              <a:tailEnd type="none" w="med" len="med"/>
            </a:ln>
          </p:spPr>
        </p:sp>
        <p:sp>
          <p:nvSpPr>
            <p:cNvPr id="451610" name="直接连接符 451609"/>
            <p:cNvSpPr/>
            <p:nvPr/>
          </p:nvSpPr>
          <p:spPr>
            <a:xfrm flipH="1">
              <a:off x="2544" y="1516"/>
              <a:ext cx="288" cy="432"/>
            </a:xfrm>
            <a:prstGeom prst="line">
              <a:avLst/>
            </a:prstGeom>
            <a:ln w="9525" cap="flat" cmpd="sng">
              <a:solidFill>
                <a:srgbClr val="000000"/>
              </a:solidFill>
              <a:prstDash val="solid"/>
              <a:headEnd type="none" w="med" len="med"/>
              <a:tailEnd type="none" w="med" len="med"/>
            </a:ln>
          </p:spPr>
        </p:sp>
        <p:sp>
          <p:nvSpPr>
            <p:cNvPr id="451611" name="直接连接符 451610"/>
            <p:cNvSpPr/>
            <p:nvPr/>
          </p:nvSpPr>
          <p:spPr>
            <a:xfrm>
              <a:off x="3120" y="1468"/>
              <a:ext cx="240" cy="480"/>
            </a:xfrm>
            <a:prstGeom prst="line">
              <a:avLst/>
            </a:prstGeom>
            <a:ln w="9525" cap="flat" cmpd="sng">
              <a:solidFill>
                <a:srgbClr val="000000"/>
              </a:solidFill>
              <a:prstDash val="solid"/>
              <a:headEnd type="none" w="med" len="med"/>
              <a:tailEnd type="none" w="med" len="med"/>
            </a:ln>
          </p:spPr>
        </p:sp>
        <p:sp>
          <p:nvSpPr>
            <p:cNvPr id="451612" name="直接连接符 451611"/>
            <p:cNvSpPr/>
            <p:nvPr/>
          </p:nvSpPr>
          <p:spPr>
            <a:xfrm>
              <a:off x="4080" y="1468"/>
              <a:ext cx="0" cy="432"/>
            </a:xfrm>
            <a:prstGeom prst="line">
              <a:avLst/>
            </a:prstGeom>
            <a:ln w="9525" cap="flat" cmpd="sng">
              <a:solidFill>
                <a:srgbClr val="000000"/>
              </a:solidFill>
              <a:prstDash val="solid"/>
              <a:headEnd type="none" w="med" len="med"/>
              <a:tailEnd type="none" w="med" len="med"/>
            </a:ln>
          </p:spPr>
        </p:sp>
        <p:sp>
          <p:nvSpPr>
            <p:cNvPr id="451613" name="直接连接符 451612"/>
            <p:cNvSpPr/>
            <p:nvPr/>
          </p:nvSpPr>
          <p:spPr>
            <a:xfrm>
              <a:off x="4368" y="1468"/>
              <a:ext cx="240" cy="144"/>
            </a:xfrm>
            <a:prstGeom prst="line">
              <a:avLst/>
            </a:prstGeom>
            <a:ln w="9525" cap="flat" cmpd="sng">
              <a:solidFill>
                <a:srgbClr val="000000"/>
              </a:solidFill>
              <a:prstDash val="solid"/>
              <a:headEnd type="none" w="med" len="med"/>
              <a:tailEnd type="none" w="med" len="med"/>
            </a:ln>
          </p:spPr>
        </p:sp>
        <p:sp>
          <p:nvSpPr>
            <p:cNvPr id="451614" name="直接连接符 451613"/>
            <p:cNvSpPr/>
            <p:nvPr/>
          </p:nvSpPr>
          <p:spPr>
            <a:xfrm flipH="1">
              <a:off x="4368" y="1084"/>
              <a:ext cx="240" cy="144"/>
            </a:xfrm>
            <a:prstGeom prst="line">
              <a:avLst/>
            </a:prstGeom>
            <a:ln w="9525" cap="flat" cmpd="sng">
              <a:solidFill>
                <a:srgbClr val="000000"/>
              </a:solidFill>
              <a:prstDash val="solid"/>
              <a:headEnd type="none" w="med" len="med"/>
              <a:tailEnd type="none" w="med" len="med"/>
            </a:ln>
          </p:spPr>
        </p:sp>
        <p:sp>
          <p:nvSpPr>
            <p:cNvPr id="451615" name="直接连接符 451614"/>
            <p:cNvSpPr/>
            <p:nvPr/>
          </p:nvSpPr>
          <p:spPr>
            <a:xfrm>
              <a:off x="4176" y="796"/>
              <a:ext cx="0" cy="336"/>
            </a:xfrm>
            <a:prstGeom prst="line">
              <a:avLst/>
            </a:prstGeom>
            <a:ln w="9525" cap="flat" cmpd="sng">
              <a:solidFill>
                <a:srgbClr val="000000"/>
              </a:solidFill>
              <a:prstDash val="solid"/>
              <a:headEnd type="none" w="med" len="med"/>
              <a:tailEnd type="none" w="med" len="med"/>
            </a:ln>
          </p:spPr>
        </p:sp>
        <p:sp>
          <p:nvSpPr>
            <p:cNvPr id="451616" name="直接连接符 451615"/>
            <p:cNvSpPr/>
            <p:nvPr/>
          </p:nvSpPr>
          <p:spPr>
            <a:xfrm flipH="1">
              <a:off x="3216" y="796"/>
              <a:ext cx="336" cy="384"/>
            </a:xfrm>
            <a:prstGeom prst="line">
              <a:avLst/>
            </a:prstGeom>
            <a:ln w="9525" cap="flat" cmpd="sng">
              <a:solidFill>
                <a:srgbClr val="000000"/>
              </a:solidFill>
              <a:prstDash val="solid"/>
              <a:headEnd type="none" w="med" len="med"/>
              <a:tailEnd type="none" w="med" len="med"/>
            </a:ln>
          </p:spPr>
        </p:sp>
        <p:sp>
          <p:nvSpPr>
            <p:cNvPr id="451617" name="直接连接符 451616"/>
            <p:cNvSpPr/>
            <p:nvPr/>
          </p:nvSpPr>
          <p:spPr>
            <a:xfrm>
              <a:off x="2880" y="796"/>
              <a:ext cx="96" cy="240"/>
            </a:xfrm>
            <a:prstGeom prst="line">
              <a:avLst/>
            </a:prstGeom>
            <a:ln w="9525" cap="flat" cmpd="sng">
              <a:solidFill>
                <a:srgbClr val="000000"/>
              </a:solidFill>
              <a:prstDash val="solid"/>
              <a:headEnd type="none" w="med" len="med"/>
              <a:tailEnd type="none" w="med" len="med"/>
            </a:ln>
          </p:spPr>
        </p:sp>
        <p:sp>
          <p:nvSpPr>
            <p:cNvPr id="451618" name="直接连接符 451617"/>
            <p:cNvSpPr/>
            <p:nvPr/>
          </p:nvSpPr>
          <p:spPr>
            <a:xfrm flipH="1">
              <a:off x="1872" y="796"/>
              <a:ext cx="96" cy="336"/>
            </a:xfrm>
            <a:prstGeom prst="line">
              <a:avLst/>
            </a:prstGeom>
            <a:ln w="9525" cap="flat" cmpd="sng">
              <a:solidFill>
                <a:srgbClr val="000000"/>
              </a:solidFill>
              <a:prstDash val="solid"/>
              <a:headEnd type="none" w="med" len="med"/>
              <a:tailEnd type="none" w="med" len="med"/>
            </a:ln>
          </p:spPr>
        </p:sp>
        <p:sp>
          <p:nvSpPr>
            <p:cNvPr id="451619" name="直接连接符 451618"/>
            <p:cNvSpPr/>
            <p:nvPr/>
          </p:nvSpPr>
          <p:spPr>
            <a:xfrm>
              <a:off x="3456" y="1276"/>
              <a:ext cx="288" cy="0"/>
            </a:xfrm>
            <a:prstGeom prst="line">
              <a:avLst/>
            </a:prstGeom>
            <a:ln w="9525" cap="flat" cmpd="sng">
              <a:solidFill>
                <a:srgbClr val="000000"/>
              </a:solidFill>
              <a:prstDash val="solid"/>
              <a:headEnd type="none" w="med" len="med"/>
              <a:tailEnd type="none" w="med" len="med"/>
            </a:ln>
          </p:spPr>
        </p:sp>
        <p:sp>
          <p:nvSpPr>
            <p:cNvPr id="451620" name="矩形 451619"/>
            <p:cNvSpPr/>
            <p:nvPr/>
          </p:nvSpPr>
          <p:spPr>
            <a:xfrm>
              <a:off x="2928" y="1900"/>
              <a:ext cx="720" cy="432"/>
            </a:xfrm>
            <a:prstGeom prst="rect">
              <a:avLst/>
            </a:prstGeom>
            <a:noFill/>
            <a:ln w="9525" cap="flat" cmpd="sng">
              <a:solidFill>
                <a:srgbClr val="000000"/>
              </a:solidFill>
              <a:prstDash val="dash"/>
              <a:miter/>
              <a:headEnd type="none" w="med" len="med"/>
              <a:tailEnd type="none" w="med" len="med"/>
            </a:ln>
          </p:spPr>
          <p:txBody>
            <a:bodyPr/>
            <a:lstStyle/>
            <a:p>
              <a:endParaRPr lang="zh-CN" altLang="en-US"/>
            </a:p>
          </p:txBody>
        </p:sp>
      </p:grpSp>
      <p:sp>
        <p:nvSpPr>
          <p:cNvPr id="451621" name="文本框 451620"/>
          <p:cNvSpPr txBox="1"/>
          <p:nvPr/>
        </p:nvSpPr>
        <p:spPr>
          <a:xfrm>
            <a:off x="250825" y="1114425"/>
            <a:ext cx="8640763" cy="1954213"/>
          </a:xfrm>
          <a:prstGeom prst="rect">
            <a:avLst/>
          </a:prstGeom>
          <a:noFill/>
          <a:ln w="9525" cap="flat" cmpd="sng">
            <a:solidFill>
              <a:schemeClr val="folHlink"/>
            </a:solidFill>
            <a:prstDash val="solid"/>
            <a:miter/>
            <a:headEnd type="none" w="med" len="med"/>
            <a:tailEnd type="none" w="med" len="med"/>
          </a:ln>
        </p:spPr>
        <p:txBody>
          <a:bodyPr>
            <a:spAutoFit/>
          </a:bodyPr>
          <a:lstStyle/>
          <a:p>
            <a:pPr>
              <a:lnSpc>
                <a:spcPct val="135000"/>
              </a:lnSpc>
            </a:pPr>
            <a:r>
              <a:rPr lang="en-US" altLang="zh-CN" sz="2400" b="1">
                <a:solidFill>
                  <a:srgbClr val="006699"/>
                </a:solidFill>
                <a:effectLst>
                  <a:outerShdw blurRad="38100" dist="38100" dir="2700000">
                    <a:srgbClr val="C0C0C0"/>
                  </a:outerShdw>
                </a:effectLst>
                <a:latin typeface="楷体_GB2312" pitchFamily="49" charset="-122"/>
                <a:ea typeface="楷体_GB2312" pitchFamily="49" charset="-122"/>
              </a:rPr>
              <a:t>(</a:t>
            </a:r>
            <a:r>
              <a:rPr lang="zh-CN" altLang="en-US" sz="2400" b="1" dirty="0">
                <a:solidFill>
                  <a:srgbClr val="006699"/>
                </a:solidFill>
                <a:effectLst>
                  <a:outerShdw blurRad="38100" dist="38100" dir="2700000">
                    <a:srgbClr val="C0C0C0"/>
                  </a:outerShdw>
                </a:effectLst>
                <a:latin typeface="楷体_GB2312" pitchFamily="49" charset="-122"/>
                <a:ea typeface="楷体_GB2312" pitchFamily="49" charset="-122"/>
              </a:rPr>
              <a:t>有冗余属性的</a:t>
            </a:r>
            <a:r>
              <a:rPr lang="en-US" altLang="zh-CN" sz="2400" b="1">
                <a:solidFill>
                  <a:srgbClr val="006699"/>
                </a:solidFill>
                <a:effectLst>
                  <a:outerShdw blurRad="38100" dist="38100" dir="2700000">
                    <a:srgbClr val="C0C0C0"/>
                  </a:outerShdw>
                </a:effectLst>
                <a:latin typeface="楷体_GB2312" pitchFamily="49" charset="-122"/>
                <a:ea typeface="楷体_GB2312" pitchFamily="49" charset="-122"/>
              </a:rPr>
              <a:t>)</a:t>
            </a:r>
            <a:r>
              <a:rPr lang="zh-CN" altLang="en-US" sz="3000" b="1" dirty="0">
                <a:solidFill>
                  <a:srgbClr val="006699"/>
                </a:solidFill>
                <a:effectLst>
                  <a:outerShdw blurRad="38100" dist="38100" dir="2700000">
                    <a:srgbClr val="C0C0C0"/>
                  </a:outerShdw>
                </a:effectLst>
                <a:latin typeface="黑体" panose="02010609060101010101" pitchFamily="2" charset="-122"/>
                <a:ea typeface="黑体" panose="02010609060101010101" pitchFamily="2" charset="-122"/>
              </a:rPr>
              <a:t>关系模式：</a:t>
            </a:r>
          </a:p>
          <a:p>
            <a:pPr>
              <a:lnSpc>
                <a:spcPct val="135000"/>
              </a:lnSpc>
            </a:pP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课程关系模式：</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C#,CNAME,CLASSH,C_NUMBER</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p>
          <a:p>
            <a:pPr>
              <a:lnSpc>
                <a:spcPct val="135000"/>
              </a:lnSpc>
            </a:pP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学习关系模式：</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SC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S#</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GRADE,C_NUMBER</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p>
        </p:txBody>
      </p:sp>
      <p:sp>
        <p:nvSpPr>
          <p:cNvPr id="451622" name="矩形 451621"/>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en-US" altLang="zh-CN" sz="3200">
                <a:solidFill>
                  <a:srgbClr val="660066"/>
                </a:solidFill>
                <a:latin typeface="华文新魏" panose="02010800040101010101" pitchFamily="2" charset="-122"/>
                <a:ea typeface="华文新魏" panose="02010800040101010101" pitchFamily="2" charset="-122"/>
              </a:rPr>
              <a:t>E</a:t>
            </a:r>
            <a:r>
              <a:rPr lang="en-US" altLang="zh-CN" sz="3200">
                <a:solidFill>
                  <a:srgbClr val="660066"/>
                </a:solidFill>
                <a:latin typeface="Arial" panose="020B0604020202020204" pitchFamily="34" charset="0"/>
                <a:ea typeface="华文新魏" panose="02010800040101010101" pitchFamily="2" charset="-122"/>
              </a:rPr>
              <a:t>—</a:t>
            </a:r>
            <a:r>
              <a:rPr lang="en-US" altLang="zh-CN" sz="3200">
                <a:solidFill>
                  <a:srgbClr val="660066"/>
                </a:solidFill>
                <a:latin typeface="华文新魏" panose="02010800040101010101" pitchFamily="2" charset="-122"/>
                <a:ea typeface="华文新魏" panose="02010800040101010101" pitchFamily="2" charset="-122"/>
              </a:rPr>
              <a:t>R</a:t>
            </a:r>
            <a:r>
              <a:rPr lang="zh-CN" altLang="en-US" sz="3200" dirty="0">
                <a:solidFill>
                  <a:srgbClr val="660066"/>
                </a:solidFill>
                <a:latin typeface="华文新魏" panose="02010800040101010101" pitchFamily="2" charset="-122"/>
                <a:ea typeface="华文新魏" panose="02010800040101010101" pitchFamily="2" charset="-122"/>
              </a:rPr>
              <a:t>图中存在冗余数据的例子：</a:t>
            </a:r>
            <a:endParaRPr lang="en-US" altLang="zh-CN" sz="3200">
              <a:solidFill>
                <a:srgbClr val="660066"/>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45256"/>
    </mc:Choice>
    <mc:Fallback xmlns="">
      <p:transition spd="slow" advTm="452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51621"/>
                                        </p:tgtEl>
                                        <p:attrNameLst>
                                          <p:attrName>style.visibility</p:attrName>
                                        </p:attrNameLst>
                                      </p:cBhvr>
                                      <p:to>
                                        <p:strVal val="visible"/>
                                      </p:to>
                                    </p:set>
                                    <p:animEffect transition="in" filter="checkerboard(across)">
                                      <p:cBhvr>
                                        <p:cTn id="7" dur="2000"/>
                                        <p:tgtEl>
                                          <p:spTgt spid="451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62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2" name="矩形 452611"/>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solidFill>
                  <a:srgbClr val="660066"/>
                </a:solidFill>
                <a:latin typeface="华文新魏" panose="02010800040101010101" pitchFamily="2" charset="-122"/>
                <a:ea typeface="华文新魏" panose="02010800040101010101" pitchFamily="2" charset="-122"/>
              </a:rPr>
              <a:t>总体</a:t>
            </a:r>
            <a:r>
              <a:rPr lang="en-US" altLang="zh-CN" sz="3200">
                <a:solidFill>
                  <a:srgbClr val="660066"/>
                </a:solidFill>
                <a:latin typeface="华文新魏" panose="02010800040101010101" pitchFamily="2" charset="-122"/>
                <a:ea typeface="华文新魏" panose="02010800040101010101" pitchFamily="2" charset="-122"/>
              </a:rPr>
              <a:t>E</a:t>
            </a:r>
            <a:r>
              <a:rPr lang="en-US" altLang="zh-CN" sz="3200">
                <a:solidFill>
                  <a:srgbClr val="660066"/>
                </a:solidFill>
                <a:latin typeface="Arial" panose="020B0604020202020204" pitchFamily="34" charset="0"/>
                <a:ea typeface="华文新魏" panose="02010800040101010101" pitchFamily="2" charset="-122"/>
              </a:rPr>
              <a:t>—</a:t>
            </a:r>
            <a:r>
              <a:rPr lang="en-US" altLang="zh-CN" sz="3200">
                <a:solidFill>
                  <a:srgbClr val="660066"/>
                </a:solidFill>
                <a:latin typeface="华文新魏" panose="02010800040101010101" pitchFamily="2" charset="-122"/>
                <a:ea typeface="华文新魏" panose="02010800040101010101" pitchFamily="2" charset="-122"/>
              </a:rPr>
              <a:t>R</a:t>
            </a:r>
            <a:r>
              <a:rPr lang="zh-CN" altLang="en-US" sz="3200" dirty="0">
                <a:solidFill>
                  <a:srgbClr val="660066"/>
                </a:solidFill>
                <a:latin typeface="华文新魏" panose="02010800040101010101" pitchFamily="2" charset="-122"/>
                <a:ea typeface="华文新魏" panose="02010800040101010101" pitchFamily="2" charset="-122"/>
              </a:rPr>
              <a:t>图设计示例</a:t>
            </a:r>
            <a:endParaRPr lang="en-US" altLang="zh-CN" sz="3200">
              <a:solidFill>
                <a:srgbClr val="660066"/>
              </a:solidFill>
              <a:latin typeface="华文新魏" panose="02010800040101010101" pitchFamily="2" charset="-122"/>
              <a:ea typeface="华文新魏" panose="02010800040101010101" pitchFamily="2" charset="-122"/>
            </a:endParaRPr>
          </a:p>
        </p:txBody>
      </p:sp>
      <p:grpSp>
        <p:nvGrpSpPr>
          <p:cNvPr id="452613" name="组合 452612"/>
          <p:cNvGrpSpPr/>
          <p:nvPr/>
        </p:nvGrpSpPr>
        <p:grpSpPr>
          <a:xfrm>
            <a:off x="468313" y="1195388"/>
            <a:ext cx="8207375" cy="2971800"/>
            <a:chOff x="624" y="460"/>
            <a:chExt cx="4512" cy="1872"/>
          </a:xfrm>
        </p:grpSpPr>
        <p:sp>
          <p:nvSpPr>
            <p:cNvPr id="452614" name="流程图: 决策 452613"/>
            <p:cNvSpPr/>
            <p:nvPr/>
          </p:nvSpPr>
          <p:spPr>
            <a:xfrm>
              <a:off x="2448" y="1036"/>
              <a:ext cx="1056" cy="528"/>
            </a:xfrm>
            <a:prstGeom prst="flowChartDecision">
              <a:avLst/>
            </a:prstGeom>
            <a:solidFill>
              <a:srgbClr val="CCFFCC"/>
            </a:solidFill>
            <a:ln w="9525"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学习</a:t>
              </a:r>
            </a:p>
          </p:txBody>
        </p:sp>
        <p:sp>
          <p:nvSpPr>
            <p:cNvPr id="452615" name="矩形 452614"/>
            <p:cNvSpPr/>
            <p:nvPr/>
          </p:nvSpPr>
          <p:spPr>
            <a:xfrm>
              <a:off x="1440" y="1132"/>
              <a:ext cx="624" cy="336"/>
            </a:xfrm>
            <a:prstGeom prst="rect">
              <a:avLst/>
            </a:prstGeom>
            <a:solidFill>
              <a:srgbClr val="CCFFCC"/>
            </a:solidFill>
            <a:ln w="9525"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学生</a:t>
              </a:r>
            </a:p>
          </p:txBody>
        </p:sp>
        <p:sp>
          <p:nvSpPr>
            <p:cNvPr id="452616" name="矩形 452615"/>
            <p:cNvSpPr/>
            <p:nvPr/>
          </p:nvSpPr>
          <p:spPr>
            <a:xfrm>
              <a:off x="3744" y="1132"/>
              <a:ext cx="624" cy="336"/>
            </a:xfrm>
            <a:prstGeom prst="rect">
              <a:avLst/>
            </a:prstGeom>
            <a:solidFill>
              <a:srgbClr val="CCFFCC"/>
            </a:solidFill>
            <a:ln w="9525"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a:t>
              </a:r>
            </a:p>
          </p:txBody>
        </p:sp>
        <p:sp>
          <p:nvSpPr>
            <p:cNvPr id="452617" name="椭圆 452616"/>
            <p:cNvSpPr/>
            <p:nvPr/>
          </p:nvSpPr>
          <p:spPr>
            <a:xfrm>
              <a:off x="624" y="118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姓名</a:t>
              </a:r>
            </a:p>
          </p:txBody>
        </p:sp>
        <p:sp>
          <p:nvSpPr>
            <p:cNvPr id="452618" name="椭圆 452617"/>
            <p:cNvSpPr/>
            <p:nvPr/>
          </p:nvSpPr>
          <p:spPr>
            <a:xfrm>
              <a:off x="864" y="170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性别</a:t>
              </a:r>
            </a:p>
          </p:txBody>
        </p:sp>
        <p:sp>
          <p:nvSpPr>
            <p:cNvPr id="452619" name="椭圆 452618"/>
            <p:cNvSpPr/>
            <p:nvPr/>
          </p:nvSpPr>
          <p:spPr>
            <a:xfrm>
              <a:off x="1536" y="190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籍贯</a:t>
              </a:r>
            </a:p>
          </p:txBody>
        </p:sp>
        <p:sp>
          <p:nvSpPr>
            <p:cNvPr id="452620" name="椭圆 452619"/>
            <p:cNvSpPr/>
            <p:nvPr/>
          </p:nvSpPr>
          <p:spPr>
            <a:xfrm>
              <a:off x="864" y="604"/>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学号</a:t>
              </a:r>
            </a:p>
          </p:txBody>
        </p:sp>
        <p:sp>
          <p:nvSpPr>
            <p:cNvPr id="452621" name="椭圆 452620"/>
            <p:cNvSpPr/>
            <p:nvPr/>
          </p:nvSpPr>
          <p:spPr>
            <a:xfrm>
              <a:off x="1584" y="460"/>
              <a:ext cx="864"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出生年月</a:t>
              </a:r>
            </a:p>
          </p:txBody>
        </p:sp>
        <p:sp>
          <p:nvSpPr>
            <p:cNvPr id="452622" name="椭圆 452621"/>
            <p:cNvSpPr/>
            <p:nvPr/>
          </p:nvSpPr>
          <p:spPr>
            <a:xfrm>
              <a:off x="2544"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学号</a:t>
              </a:r>
            </a:p>
          </p:txBody>
        </p:sp>
        <p:sp>
          <p:nvSpPr>
            <p:cNvPr id="452623" name="椭圆 452622"/>
            <p:cNvSpPr/>
            <p:nvPr/>
          </p:nvSpPr>
          <p:spPr>
            <a:xfrm>
              <a:off x="3264"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课程号</a:t>
              </a:r>
            </a:p>
          </p:txBody>
        </p:sp>
        <p:sp>
          <p:nvSpPr>
            <p:cNvPr id="452624" name="椭圆 452623"/>
            <p:cNvSpPr/>
            <p:nvPr/>
          </p:nvSpPr>
          <p:spPr>
            <a:xfrm>
              <a:off x="3888"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课程号</a:t>
              </a:r>
            </a:p>
          </p:txBody>
        </p:sp>
        <p:sp>
          <p:nvSpPr>
            <p:cNvPr id="452625" name="椭圆 452624"/>
            <p:cNvSpPr/>
            <p:nvPr/>
          </p:nvSpPr>
          <p:spPr>
            <a:xfrm>
              <a:off x="4560" y="796"/>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课程名</a:t>
              </a:r>
            </a:p>
          </p:txBody>
        </p:sp>
        <p:sp>
          <p:nvSpPr>
            <p:cNvPr id="452626" name="椭圆 452625"/>
            <p:cNvSpPr/>
            <p:nvPr/>
          </p:nvSpPr>
          <p:spPr>
            <a:xfrm>
              <a:off x="4512" y="1564"/>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学时</a:t>
              </a:r>
            </a:p>
          </p:txBody>
        </p:sp>
        <p:sp>
          <p:nvSpPr>
            <p:cNvPr id="452627" name="椭圆 452626"/>
            <p:cNvSpPr/>
            <p:nvPr/>
          </p:nvSpPr>
          <p:spPr>
            <a:xfrm>
              <a:off x="3792" y="190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学分</a:t>
              </a:r>
            </a:p>
          </p:txBody>
        </p:sp>
        <p:sp>
          <p:nvSpPr>
            <p:cNvPr id="452628" name="椭圆 452627"/>
            <p:cNvSpPr/>
            <p:nvPr/>
          </p:nvSpPr>
          <p:spPr>
            <a:xfrm>
              <a:off x="3024" y="194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学分</a:t>
              </a:r>
            </a:p>
          </p:txBody>
        </p:sp>
        <p:sp>
          <p:nvSpPr>
            <p:cNvPr id="452629" name="椭圆 452628"/>
            <p:cNvSpPr/>
            <p:nvPr/>
          </p:nvSpPr>
          <p:spPr>
            <a:xfrm>
              <a:off x="2256" y="194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分数</a:t>
              </a:r>
            </a:p>
          </p:txBody>
        </p:sp>
        <p:sp>
          <p:nvSpPr>
            <p:cNvPr id="452630" name="直接连接符 452629"/>
            <p:cNvSpPr/>
            <p:nvPr/>
          </p:nvSpPr>
          <p:spPr>
            <a:xfrm>
              <a:off x="1248" y="940"/>
              <a:ext cx="192" cy="192"/>
            </a:xfrm>
            <a:prstGeom prst="line">
              <a:avLst/>
            </a:prstGeom>
            <a:ln w="9525" cap="flat" cmpd="sng">
              <a:solidFill>
                <a:srgbClr val="000000"/>
              </a:solidFill>
              <a:prstDash val="solid"/>
              <a:headEnd type="none" w="med" len="med"/>
              <a:tailEnd type="none" w="med" len="med"/>
            </a:ln>
          </p:spPr>
        </p:sp>
        <p:sp>
          <p:nvSpPr>
            <p:cNvPr id="452631" name="直接连接符 452630"/>
            <p:cNvSpPr/>
            <p:nvPr/>
          </p:nvSpPr>
          <p:spPr>
            <a:xfrm>
              <a:off x="1200" y="1324"/>
              <a:ext cx="240" cy="0"/>
            </a:xfrm>
            <a:prstGeom prst="line">
              <a:avLst/>
            </a:prstGeom>
            <a:ln w="9525" cap="flat" cmpd="sng">
              <a:solidFill>
                <a:srgbClr val="000000"/>
              </a:solidFill>
              <a:prstDash val="solid"/>
              <a:headEnd type="none" w="med" len="med"/>
              <a:tailEnd type="none" w="med" len="med"/>
            </a:ln>
          </p:spPr>
        </p:sp>
        <p:sp>
          <p:nvSpPr>
            <p:cNvPr id="452632" name="直接连接符 452631"/>
            <p:cNvSpPr/>
            <p:nvPr/>
          </p:nvSpPr>
          <p:spPr>
            <a:xfrm flipV="1">
              <a:off x="1200" y="1468"/>
              <a:ext cx="240" cy="240"/>
            </a:xfrm>
            <a:prstGeom prst="line">
              <a:avLst/>
            </a:prstGeom>
            <a:ln w="9525" cap="flat" cmpd="sng">
              <a:solidFill>
                <a:srgbClr val="000000"/>
              </a:solidFill>
              <a:prstDash val="solid"/>
              <a:headEnd type="none" w="med" len="med"/>
              <a:tailEnd type="none" w="med" len="med"/>
            </a:ln>
          </p:spPr>
        </p:sp>
        <p:sp>
          <p:nvSpPr>
            <p:cNvPr id="452633" name="直接连接符 452632"/>
            <p:cNvSpPr/>
            <p:nvPr/>
          </p:nvSpPr>
          <p:spPr>
            <a:xfrm>
              <a:off x="1872" y="1468"/>
              <a:ext cx="0" cy="432"/>
            </a:xfrm>
            <a:prstGeom prst="line">
              <a:avLst/>
            </a:prstGeom>
            <a:ln w="9525" cap="flat" cmpd="sng">
              <a:solidFill>
                <a:srgbClr val="000000"/>
              </a:solidFill>
              <a:prstDash val="solid"/>
              <a:headEnd type="none" w="med" len="med"/>
              <a:tailEnd type="none" w="med" len="med"/>
            </a:ln>
          </p:spPr>
        </p:sp>
        <p:sp>
          <p:nvSpPr>
            <p:cNvPr id="452634" name="直接连接符 452633"/>
            <p:cNvSpPr/>
            <p:nvPr/>
          </p:nvSpPr>
          <p:spPr>
            <a:xfrm>
              <a:off x="2064" y="1324"/>
              <a:ext cx="384" cy="0"/>
            </a:xfrm>
            <a:prstGeom prst="line">
              <a:avLst/>
            </a:prstGeom>
            <a:ln w="9525" cap="flat" cmpd="sng">
              <a:solidFill>
                <a:srgbClr val="000000"/>
              </a:solidFill>
              <a:prstDash val="solid"/>
              <a:headEnd type="none" w="med" len="med"/>
              <a:tailEnd type="none" w="med" len="med"/>
            </a:ln>
          </p:spPr>
        </p:sp>
        <p:sp>
          <p:nvSpPr>
            <p:cNvPr id="452635" name="直接连接符 452634"/>
            <p:cNvSpPr/>
            <p:nvPr/>
          </p:nvSpPr>
          <p:spPr>
            <a:xfrm flipH="1">
              <a:off x="2544" y="1516"/>
              <a:ext cx="288" cy="432"/>
            </a:xfrm>
            <a:prstGeom prst="line">
              <a:avLst/>
            </a:prstGeom>
            <a:ln w="9525" cap="flat" cmpd="sng">
              <a:solidFill>
                <a:srgbClr val="000000"/>
              </a:solidFill>
              <a:prstDash val="solid"/>
              <a:headEnd type="none" w="med" len="med"/>
              <a:tailEnd type="none" w="med" len="med"/>
            </a:ln>
          </p:spPr>
        </p:sp>
        <p:sp>
          <p:nvSpPr>
            <p:cNvPr id="452636" name="直接连接符 452635"/>
            <p:cNvSpPr/>
            <p:nvPr/>
          </p:nvSpPr>
          <p:spPr>
            <a:xfrm>
              <a:off x="3120" y="1468"/>
              <a:ext cx="240" cy="480"/>
            </a:xfrm>
            <a:prstGeom prst="line">
              <a:avLst/>
            </a:prstGeom>
            <a:ln w="9525" cap="flat" cmpd="sng">
              <a:solidFill>
                <a:srgbClr val="000000"/>
              </a:solidFill>
              <a:prstDash val="solid"/>
              <a:headEnd type="none" w="med" len="med"/>
              <a:tailEnd type="none" w="med" len="med"/>
            </a:ln>
          </p:spPr>
        </p:sp>
        <p:sp>
          <p:nvSpPr>
            <p:cNvPr id="452637" name="直接连接符 452636"/>
            <p:cNvSpPr/>
            <p:nvPr/>
          </p:nvSpPr>
          <p:spPr>
            <a:xfrm>
              <a:off x="4080" y="1468"/>
              <a:ext cx="0" cy="432"/>
            </a:xfrm>
            <a:prstGeom prst="line">
              <a:avLst/>
            </a:prstGeom>
            <a:ln w="9525" cap="flat" cmpd="sng">
              <a:solidFill>
                <a:srgbClr val="000000"/>
              </a:solidFill>
              <a:prstDash val="solid"/>
              <a:headEnd type="none" w="med" len="med"/>
              <a:tailEnd type="none" w="med" len="med"/>
            </a:ln>
          </p:spPr>
        </p:sp>
        <p:sp>
          <p:nvSpPr>
            <p:cNvPr id="452638" name="直接连接符 452637"/>
            <p:cNvSpPr/>
            <p:nvPr/>
          </p:nvSpPr>
          <p:spPr>
            <a:xfrm>
              <a:off x="4368" y="1468"/>
              <a:ext cx="240" cy="144"/>
            </a:xfrm>
            <a:prstGeom prst="line">
              <a:avLst/>
            </a:prstGeom>
            <a:ln w="9525" cap="flat" cmpd="sng">
              <a:solidFill>
                <a:srgbClr val="000000"/>
              </a:solidFill>
              <a:prstDash val="solid"/>
              <a:headEnd type="none" w="med" len="med"/>
              <a:tailEnd type="none" w="med" len="med"/>
            </a:ln>
          </p:spPr>
        </p:sp>
        <p:sp>
          <p:nvSpPr>
            <p:cNvPr id="452639" name="直接连接符 452638"/>
            <p:cNvSpPr/>
            <p:nvPr/>
          </p:nvSpPr>
          <p:spPr>
            <a:xfrm flipH="1">
              <a:off x="4368" y="1084"/>
              <a:ext cx="240" cy="144"/>
            </a:xfrm>
            <a:prstGeom prst="line">
              <a:avLst/>
            </a:prstGeom>
            <a:ln w="9525" cap="flat" cmpd="sng">
              <a:solidFill>
                <a:srgbClr val="000000"/>
              </a:solidFill>
              <a:prstDash val="solid"/>
              <a:headEnd type="none" w="med" len="med"/>
              <a:tailEnd type="none" w="med" len="med"/>
            </a:ln>
          </p:spPr>
        </p:sp>
        <p:sp>
          <p:nvSpPr>
            <p:cNvPr id="452640" name="直接连接符 452639"/>
            <p:cNvSpPr/>
            <p:nvPr/>
          </p:nvSpPr>
          <p:spPr>
            <a:xfrm>
              <a:off x="4176" y="796"/>
              <a:ext cx="0" cy="336"/>
            </a:xfrm>
            <a:prstGeom prst="line">
              <a:avLst/>
            </a:prstGeom>
            <a:ln w="9525" cap="flat" cmpd="sng">
              <a:solidFill>
                <a:srgbClr val="000000"/>
              </a:solidFill>
              <a:prstDash val="solid"/>
              <a:headEnd type="none" w="med" len="med"/>
              <a:tailEnd type="none" w="med" len="med"/>
            </a:ln>
          </p:spPr>
        </p:sp>
        <p:sp>
          <p:nvSpPr>
            <p:cNvPr id="452641" name="直接连接符 452640"/>
            <p:cNvSpPr/>
            <p:nvPr/>
          </p:nvSpPr>
          <p:spPr>
            <a:xfrm flipH="1">
              <a:off x="3216" y="796"/>
              <a:ext cx="336" cy="384"/>
            </a:xfrm>
            <a:prstGeom prst="line">
              <a:avLst/>
            </a:prstGeom>
            <a:ln w="9525" cap="flat" cmpd="sng">
              <a:solidFill>
                <a:srgbClr val="000000"/>
              </a:solidFill>
              <a:prstDash val="solid"/>
              <a:headEnd type="none" w="med" len="med"/>
              <a:tailEnd type="none" w="med" len="med"/>
            </a:ln>
          </p:spPr>
        </p:sp>
        <p:sp>
          <p:nvSpPr>
            <p:cNvPr id="452642" name="直接连接符 452641"/>
            <p:cNvSpPr/>
            <p:nvPr/>
          </p:nvSpPr>
          <p:spPr>
            <a:xfrm>
              <a:off x="2880" y="796"/>
              <a:ext cx="96" cy="240"/>
            </a:xfrm>
            <a:prstGeom prst="line">
              <a:avLst/>
            </a:prstGeom>
            <a:ln w="9525" cap="flat" cmpd="sng">
              <a:solidFill>
                <a:srgbClr val="000000"/>
              </a:solidFill>
              <a:prstDash val="solid"/>
              <a:headEnd type="none" w="med" len="med"/>
              <a:tailEnd type="none" w="med" len="med"/>
            </a:ln>
          </p:spPr>
        </p:sp>
        <p:sp>
          <p:nvSpPr>
            <p:cNvPr id="452643" name="直接连接符 452642"/>
            <p:cNvSpPr/>
            <p:nvPr/>
          </p:nvSpPr>
          <p:spPr>
            <a:xfrm flipH="1">
              <a:off x="1872" y="796"/>
              <a:ext cx="96" cy="336"/>
            </a:xfrm>
            <a:prstGeom prst="line">
              <a:avLst/>
            </a:prstGeom>
            <a:ln w="9525" cap="flat" cmpd="sng">
              <a:solidFill>
                <a:srgbClr val="000000"/>
              </a:solidFill>
              <a:prstDash val="solid"/>
              <a:headEnd type="none" w="med" len="med"/>
              <a:tailEnd type="none" w="med" len="med"/>
            </a:ln>
          </p:spPr>
        </p:sp>
        <p:sp>
          <p:nvSpPr>
            <p:cNvPr id="452644" name="直接连接符 452643"/>
            <p:cNvSpPr/>
            <p:nvPr/>
          </p:nvSpPr>
          <p:spPr>
            <a:xfrm>
              <a:off x="3456" y="1276"/>
              <a:ext cx="288" cy="0"/>
            </a:xfrm>
            <a:prstGeom prst="line">
              <a:avLst/>
            </a:prstGeom>
            <a:ln w="9525" cap="flat" cmpd="sng">
              <a:solidFill>
                <a:srgbClr val="000000"/>
              </a:solidFill>
              <a:prstDash val="solid"/>
              <a:headEnd type="none" w="med" len="med"/>
              <a:tailEnd type="none" w="med" len="med"/>
            </a:ln>
          </p:spPr>
        </p:sp>
        <p:sp>
          <p:nvSpPr>
            <p:cNvPr id="452645" name="矩形 452644"/>
            <p:cNvSpPr/>
            <p:nvPr/>
          </p:nvSpPr>
          <p:spPr>
            <a:xfrm>
              <a:off x="2928" y="1900"/>
              <a:ext cx="720" cy="432"/>
            </a:xfrm>
            <a:prstGeom prst="rect">
              <a:avLst/>
            </a:prstGeom>
            <a:noFill/>
            <a:ln w="9525" cap="flat" cmpd="sng">
              <a:solidFill>
                <a:srgbClr val="000000"/>
              </a:solidFill>
              <a:prstDash val="dash"/>
              <a:miter/>
              <a:headEnd type="none" w="med" len="med"/>
              <a:tailEnd type="none" w="med" len="med"/>
            </a:ln>
          </p:spPr>
          <p:txBody>
            <a:bodyPr/>
            <a:lstStyle/>
            <a:p>
              <a:endParaRPr lang="zh-CN" altLang="en-US"/>
            </a:p>
          </p:txBody>
        </p:sp>
      </p:grpSp>
      <p:sp>
        <p:nvSpPr>
          <p:cNvPr id="452646" name="文本框 452645"/>
          <p:cNvSpPr txBox="1"/>
          <p:nvPr/>
        </p:nvSpPr>
        <p:spPr>
          <a:xfrm>
            <a:off x="250825" y="4437063"/>
            <a:ext cx="8713788" cy="1954212"/>
          </a:xfrm>
          <a:prstGeom prst="rect">
            <a:avLst/>
          </a:prstGeom>
          <a:noFill/>
          <a:ln w="9525" cap="flat" cmpd="sng">
            <a:solidFill>
              <a:schemeClr val="hlink"/>
            </a:solidFill>
            <a:prstDash val="solid"/>
            <a:miter/>
            <a:headEnd type="none" w="med" len="med"/>
            <a:tailEnd type="none" w="med" len="med"/>
          </a:ln>
        </p:spPr>
        <p:txBody>
          <a:bodyPr>
            <a:spAutoFit/>
          </a:bodyPr>
          <a:lstStyle/>
          <a:p>
            <a:pPr>
              <a:lnSpc>
                <a:spcPct val="135000"/>
              </a:lnSpc>
            </a:pPr>
            <a:r>
              <a:rPr lang="zh-CN" altLang="en-US" sz="3000" b="1" dirty="0">
                <a:solidFill>
                  <a:srgbClr val="006699"/>
                </a:solidFill>
                <a:effectLst>
                  <a:outerShdw blurRad="38100" dist="38100" dir="2700000">
                    <a:srgbClr val="C0C0C0"/>
                  </a:outerShdw>
                </a:effectLst>
                <a:latin typeface="黑体" panose="02010609060101010101" pitchFamily="2" charset="-122"/>
                <a:ea typeface="黑体" panose="02010609060101010101" pitchFamily="2" charset="-122"/>
              </a:rPr>
              <a:t>两个没有冗余属性的关系模式：</a:t>
            </a:r>
          </a:p>
          <a:p>
            <a:pPr>
              <a:lnSpc>
                <a:spcPct val="135000"/>
              </a:lnSpc>
            </a:pP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课程关系模式：</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C#,CNAME,CLASSH,C_NUMBER</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p>
          <a:p>
            <a:pPr>
              <a:lnSpc>
                <a:spcPct val="135000"/>
              </a:lnSpc>
            </a:pP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学习关系模式：</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SC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S#</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GRADE</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          </a:t>
            </a:r>
            <a:r>
              <a:rPr lang="en-US" altLang="zh-CN" sz="3000" b="1">
                <a:solidFill>
                  <a:srgbClr val="B2B2B2"/>
                </a:solidFill>
                <a:effectLst>
                  <a:outerShdw blurRad="38100" dist="38100" dir="2700000">
                    <a:srgbClr val="C0C0C0"/>
                  </a:outerShdw>
                </a:effectLst>
                <a:latin typeface="黑体" panose="02010609060101010101" pitchFamily="2" charset="-122"/>
                <a:ea typeface="黑体" panose="0201060906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79657"/>
    </mc:Choice>
    <mc:Fallback xmlns="">
      <p:transition spd="slow" advTm="79657"/>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2" name="矩形 677891"/>
          <p:cNvSpPr/>
          <p:nvPr/>
        </p:nvSpPr>
        <p:spPr>
          <a:xfrm>
            <a:off x="755650" y="285750"/>
            <a:ext cx="7793038"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lgn="ctr"/>
            <a:r>
              <a:rPr lang="zh-CN" altLang="en-US" sz="4000" dirty="0">
                <a:latin typeface="华文隶书" panose="02010800040101010101" pitchFamily="2" charset="-122"/>
                <a:ea typeface="华文隶书" panose="02010800040101010101" pitchFamily="2" charset="-122"/>
              </a:rPr>
              <a:t>本次课复习要点</a:t>
            </a:r>
          </a:p>
        </p:txBody>
      </p:sp>
      <p:sp>
        <p:nvSpPr>
          <p:cNvPr id="677893" name="矩形 677892"/>
          <p:cNvSpPr/>
          <p:nvPr/>
        </p:nvSpPr>
        <p:spPr>
          <a:xfrm>
            <a:off x="466725" y="125888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endParaRPr lang="zh-CN" altLang="en-US" sz="1000" dirty="0">
              <a:solidFill>
                <a:srgbClr val="990033"/>
              </a:solidFill>
              <a:effectLst/>
              <a:ea typeface="黑体" panose="02010609060101010101" pitchFamily="2" charset="-122"/>
            </a:endParaRPr>
          </a:p>
          <a:p>
            <a:pPr lvl="0">
              <a:lnSpc>
                <a:spcPct val="135000"/>
              </a:lnSpc>
              <a:spcBef>
                <a:spcPct val="0"/>
              </a:spcBef>
            </a:pPr>
            <a:r>
              <a:rPr lang="zh-CN" altLang="en-US" dirty="0"/>
              <a:t>       </a:t>
            </a:r>
            <a:r>
              <a:rPr lang="en-US" altLang="zh-CN" sz="3200">
                <a:solidFill>
                  <a:srgbClr val="003366"/>
                </a:solidFill>
                <a:effectLst/>
                <a:latin typeface="华文新魏" panose="02010800040101010101" pitchFamily="2" charset="-122"/>
                <a:ea typeface="华文新魏" panose="02010800040101010101" pitchFamily="2" charset="-122"/>
              </a:rPr>
              <a:t>   </a:t>
            </a:r>
            <a:r>
              <a:rPr lang="zh-CN" altLang="en-US" sz="3000" dirty="0">
                <a:solidFill>
                  <a:srgbClr val="660033"/>
                </a:solidFill>
                <a:ea typeface="华文新魏" panose="02010800040101010101" pitchFamily="2" charset="-122"/>
              </a:rPr>
              <a:t>实体集与联系集</a:t>
            </a:r>
            <a:r>
              <a:rPr lang="zh-CN" altLang="en-US" sz="3000" dirty="0">
                <a:solidFill>
                  <a:srgbClr val="006666"/>
                </a:solidFill>
                <a:ea typeface="华文新魏" panose="02010800040101010101" pitchFamily="2" charset="-122"/>
              </a:rPr>
              <a:t>（基本概念，区别）</a:t>
            </a:r>
            <a:endParaRPr lang="zh-CN" altLang="en-US" sz="3200" dirty="0">
              <a:solidFill>
                <a:srgbClr val="006666"/>
              </a:solidFill>
              <a:effectLst/>
              <a:latin typeface="华文新魏" panose="02010800040101010101" pitchFamily="2" charset="-122"/>
              <a:ea typeface="华文新魏" panose="02010800040101010101" pitchFamily="2" charset="-122"/>
            </a:endParaRPr>
          </a:p>
          <a:p>
            <a:pPr lvl="0">
              <a:lnSpc>
                <a:spcPct val="135000"/>
              </a:lnSpc>
              <a:spcBef>
                <a:spcPct val="0"/>
              </a:spcBef>
            </a:pPr>
            <a:r>
              <a:rPr lang="zh-CN" altLang="en-US" sz="3000" dirty="0">
                <a:solidFill>
                  <a:srgbClr val="660033"/>
                </a:solidFill>
                <a:ea typeface="华文新魏" panose="02010800040101010101" pitchFamily="2" charset="-122"/>
              </a:rPr>
              <a:t>         实体集之间的联系</a:t>
            </a:r>
          </a:p>
          <a:p>
            <a:pPr lvl="0">
              <a:lnSpc>
                <a:spcPct val="135000"/>
              </a:lnSpc>
              <a:spcBef>
                <a:spcPct val="0"/>
              </a:spcBef>
            </a:pPr>
            <a:r>
              <a:rPr lang="zh-CN" altLang="en-US" sz="3000" dirty="0">
                <a:solidFill>
                  <a:srgbClr val="660033"/>
                </a:solidFill>
                <a:ea typeface="华文新魏" panose="02010800040101010101" pitchFamily="2" charset="-122"/>
              </a:rPr>
              <a:t>         </a:t>
            </a:r>
            <a:r>
              <a:rPr lang="en-US" altLang="zh-CN" sz="3000">
                <a:solidFill>
                  <a:srgbClr val="660033"/>
                </a:solidFill>
                <a:ea typeface="华文新魏" panose="02010800040101010101" pitchFamily="2" charset="-122"/>
              </a:rPr>
              <a:t>E-R</a:t>
            </a:r>
            <a:r>
              <a:rPr lang="zh-CN" altLang="en-US" sz="3000" dirty="0">
                <a:solidFill>
                  <a:srgbClr val="660033"/>
                </a:solidFill>
                <a:ea typeface="华文新魏" panose="02010800040101010101" pitchFamily="2" charset="-122"/>
              </a:rPr>
              <a:t>图设计步骤和分析设计方法</a:t>
            </a:r>
            <a:endParaRPr lang="en-US" altLang="zh-CN" sz="3000">
              <a:solidFill>
                <a:srgbClr val="660033"/>
              </a:solidFill>
              <a:ea typeface="华文新魏" panose="02010800040101010101" pitchFamily="2" charset="-122"/>
            </a:endParaRPr>
          </a:p>
          <a:p>
            <a:pPr lvl="0">
              <a:lnSpc>
                <a:spcPct val="135000"/>
              </a:lnSpc>
              <a:spcBef>
                <a:spcPct val="0"/>
              </a:spcBef>
            </a:pPr>
            <a:r>
              <a:rPr lang="en-US" altLang="zh-CN" sz="3000">
                <a:solidFill>
                  <a:srgbClr val="660033"/>
                </a:solidFill>
                <a:ea typeface="华文新魏" panose="0201080004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spd="slow" p14:dur="2000" advTm="16425"/>
    </mc:Choice>
    <mc:Fallback xmlns="">
      <p:transition spd="slow" advTm="164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7893">
                                            <p:txEl>
                                              <p:pRg st="1" end="1"/>
                                            </p:txEl>
                                          </p:spTgt>
                                        </p:tgtEl>
                                        <p:attrNameLst>
                                          <p:attrName>style.visibility</p:attrName>
                                        </p:attrNameLst>
                                      </p:cBhvr>
                                      <p:to>
                                        <p:strVal val="visible"/>
                                      </p:to>
                                    </p:set>
                                    <p:animEffect transition="in" filter="wipe(left)">
                                      <p:cBhvr>
                                        <p:cTn id="7" dur="500"/>
                                        <p:tgtEl>
                                          <p:spTgt spid="677893">
                                            <p:txEl>
                                              <p:pRg st="1" end="1"/>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77893">
                                            <p:txEl>
                                              <p:pRg st="2" end="2"/>
                                            </p:txEl>
                                          </p:spTgt>
                                        </p:tgtEl>
                                        <p:attrNameLst>
                                          <p:attrName>style.visibility</p:attrName>
                                        </p:attrNameLst>
                                      </p:cBhvr>
                                      <p:to>
                                        <p:strVal val="visible"/>
                                      </p:to>
                                    </p:set>
                                    <p:animEffect transition="in" filter="wipe(left)">
                                      <p:cBhvr>
                                        <p:cTn id="11" dur="500"/>
                                        <p:tgtEl>
                                          <p:spTgt spid="677893">
                                            <p:txEl>
                                              <p:pRg st="2" end="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77893">
                                            <p:txEl>
                                              <p:pRg st="3" end="3"/>
                                            </p:txEl>
                                          </p:spTgt>
                                        </p:tgtEl>
                                        <p:attrNameLst>
                                          <p:attrName>style.visibility</p:attrName>
                                        </p:attrNameLst>
                                      </p:cBhvr>
                                      <p:to>
                                        <p:strVal val="visible"/>
                                      </p:to>
                                    </p:set>
                                    <p:animEffect transition="in" filter="wipe(left)">
                                      <p:cBhvr>
                                        <p:cTn id="15" dur="500"/>
                                        <p:tgtEl>
                                          <p:spTgt spid="67789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6" name="矩形 540675"/>
          <p:cNvSpPr/>
          <p:nvPr/>
        </p:nvSpPr>
        <p:spPr>
          <a:xfrm>
            <a:off x="1458913" y="2590800"/>
            <a:ext cx="6237287" cy="1143000"/>
          </a:xfrm>
          <a:prstGeom prst="rect">
            <a:avLst/>
          </a:prstGeom>
          <a:noFill/>
          <a:ln w="9525">
            <a:noFill/>
          </a:ln>
        </p:spPr>
        <p:txBody>
          <a:bodyPr/>
          <a:lstStyle/>
          <a:p>
            <a:pPr marL="342900" indent="-342900" algn="ctr">
              <a:spcBef>
                <a:spcPct val="20000"/>
              </a:spcBef>
            </a:pPr>
            <a:r>
              <a:rPr lang="zh-CN" altLang="en-US" sz="6000" b="1" dirty="0">
                <a:solidFill>
                  <a:srgbClr val="FF6600"/>
                </a:solidFill>
                <a:effectLst>
                  <a:outerShdw blurRad="38100" dist="38100" dir="2700000">
                    <a:srgbClr val="C0C0C0"/>
                  </a:outerShdw>
                </a:effectLst>
                <a:latin typeface="Arial" panose="020B0604020202020204" pitchFamily="34" charset="0"/>
                <a:ea typeface="华文新魏" panose="02010800040101010101" pitchFamily="2" charset="-122"/>
              </a:rPr>
              <a:t>谢谢大家！</a:t>
            </a:r>
          </a:p>
        </p:txBody>
      </p:sp>
    </p:spTree>
  </p:cSld>
  <p:clrMapOvr>
    <a:masterClrMapping/>
  </p:clrMapOvr>
  <mc:AlternateContent xmlns:mc="http://schemas.openxmlformats.org/markup-compatibility/2006" xmlns:p14="http://schemas.microsoft.com/office/powerpoint/2010/main">
    <mc:Choice Requires="p14">
      <p:transition spd="slow" p14:dur="2000" advTm="2950"/>
    </mc:Choice>
    <mc:Fallback xmlns="">
      <p:transition spd="slow" advTm="295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9|15.2|49.2"/>
</p:tagLst>
</file>

<file path=ppt/tags/tag2.xml><?xml version="1.0" encoding="utf-8"?>
<p:tagLst xmlns:a="http://schemas.openxmlformats.org/drawingml/2006/main" xmlns:r="http://schemas.openxmlformats.org/officeDocument/2006/relationships" xmlns:p="http://schemas.openxmlformats.org/presentationml/2006/main">
  <p:tag name="TIMING" val="|1.6"/>
</p:tagLst>
</file>

<file path=ppt/tags/tag3.xml><?xml version="1.0" encoding="utf-8"?>
<p:tagLst xmlns:a="http://schemas.openxmlformats.org/drawingml/2006/main" xmlns:r="http://schemas.openxmlformats.org/officeDocument/2006/relationships" xmlns:p="http://schemas.openxmlformats.org/presentationml/2006/main">
  <p:tag name="TIMING" val="|26.5|1.2"/>
</p:tagLst>
</file>

<file path=ppt/tags/tag4.xml><?xml version="1.0" encoding="utf-8"?>
<p:tagLst xmlns:a="http://schemas.openxmlformats.org/drawingml/2006/main" xmlns:r="http://schemas.openxmlformats.org/officeDocument/2006/relationships" xmlns:p="http://schemas.openxmlformats.org/presentationml/2006/main">
  <p:tag name="TIMING" val="|16.5"/>
</p:tagLst>
</file>

<file path=ppt/tags/tag5.xml><?xml version="1.0" encoding="utf-8"?>
<p:tagLst xmlns:a="http://schemas.openxmlformats.org/drawingml/2006/main" xmlns:r="http://schemas.openxmlformats.org/officeDocument/2006/relationships" xmlns:p="http://schemas.openxmlformats.org/presentationml/2006/main">
  <p:tag name="TIMING" val="|10.7"/>
</p:tagLst>
</file>

<file path=ppt/tags/tag6.xml><?xml version="1.0" encoding="utf-8"?>
<p:tagLst xmlns:a="http://schemas.openxmlformats.org/drawingml/2006/main" xmlns:r="http://schemas.openxmlformats.org/officeDocument/2006/relationships" xmlns:p="http://schemas.openxmlformats.org/presentationml/2006/main">
  <p:tag name="TIMING" val="|10.6"/>
</p:tagLst>
</file>

<file path=ppt/tags/tag7.xml><?xml version="1.0" encoding="utf-8"?>
<p:tagLst xmlns:a="http://schemas.openxmlformats.org/drawingml/2006/main" xmlns:r="http://schemas.openxmlformats.org/officeDocument/2006/relationships" xmlns:p="http://schemas.openxmlformats.org/presentationml/2006/main">
  <p:tag name="TIMING" val="|17.2|24.5|4.4"/>
</p:tagLst>
</file>

<file path=ppt/tags/tag8.xml><?xml version="1.0" encoding="utf-8"?>
<p:tagLst xmlns:a="http://schemas.openxmlformats.org/drawingml/2006/main" xmlns:r="http://schemas.openxmlformats.org/officeDocument/2006/relationships" xmlns:p="http://schemas.openxmlformats.org/presentationml/2006/main">
  <p:tag name="TIMING" val="|2.3|44.4"/>
</p:tagLst>
</file>

<file path=ppt/tags/tag9.xml><?xml version="1.0" encoding="utf-8"?>
<p:tagLst xmlns:a="http://schemas.openxmlformats.org/drawingml/2006/main" xmlns:r="http://schemas.openxmlformats.org/officeDocument/2006/relationships" xmlns:p="http://schemas.openxmlformats.org/presentationml/2006/main">
  <p:tag name="TIMING" val="|8.6"/>
</p:tagLst>
</file>

<file path=ppt/tags/tag10.xml><?xml version="1.0" encoding="utf-8"?>
<p:tagLst xmlns:a="http://schemas.openxmlformats.org/drawingml/2006/main" xmlns:r="http://schemas.openxmlformats.org/officeDocument/2006/relationships" xmlns:p="http://schemas.openxmlformats.org/presentationml/2006/main">
  <p:tag name="TIMING" val="|13.1"/>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TotalTime>
  <Words>1867</Words>
  <Application>Microsoft Office PowerPoint</Application>
  <PresentationFormat>全屏显示(4:3)</PresentationFormat>
  <Paragraphs>304</Paragraphs>
  <Slides>30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30</vt:i4>
      </vt:variant>
    </vt:vector>
  </HeadingPairs>
  <TitlesOfParts>
    <vt:vector size="42" baseType="lpstr">
      <vt:lpstr>Monotype Sorts</vt:lpstr>
      <vt:lpstr>黑体</vt:lpstr>
      <vt:lpstr>华文隶书</vt:lpstr>
      <vt:lpstr>华文新魏</vt:lpstr>
      <vt:lpstr>华文中宋</vt:lpstr>
      <vt:lpstr>楷体_GB2312</vt:lpstr>
      <vt:lpstr>宋体</vt:lpstr>
      <vt:lpstr>Arial</vt:lpstr>
      <vt:lpstr>Tahoma</vt:lpstr>
      <vt:lpstr>Times New Roman</vt:lpstr>
      <vt:lpstr>Wingdings</vt:lpstr>
      <vt:lpstr>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656</cp:revision>
  <cp:lastPrinted>2000-08-23T09:10:16Z</cp:lastPrinted>
  <dcterms:created xsi:type="dcterms:W3CDTF">2020-04-04T09:37:51Z</dcterms:created>
  <dcterms:modified xsi:type="dcterms:W3CDTF">2021-04-12T15:03:46Z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