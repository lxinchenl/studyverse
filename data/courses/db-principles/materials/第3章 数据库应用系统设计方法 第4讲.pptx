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handoutMasterIdLst>
    <p:handoutMasterId r:id="rId37"/>
  </p:handoutMasterIdLst>
  <p:sldIdLst>
    <p:sldId id="498" r:id="rId2"/>
    <p:sldId id="607" r:id="rId3"/>
    <p:sldId id="608" r:id="rId4"/>
    <p:sldId id="609" r:id="rId5"/>
    <p:sldId id="672" r:id="rId6"/>
    <p:sldId id="777" r:id="rId7"/>
    <p:sldId id="782" r:id="rId8"/>
    <p:sldId id="781" r:id="rId9"/>
    <p:sldId id="778" r:id="rId10"/>
    <p:sldId id="779" r:id="rId11"/>
    <p:sldId id="780" r:id="rId12"/>
    <p:sldId id="592" r:id="rId13"/>
    <p:sldId id="729" r:id="rId14"/>
    <p:sldId id="673" r:id="rId15"/>
    <p:sldId id="674" r:id="rId16"/>
    <p:sldId id="594" r:id="rId17"/>
    <p:sldId id="595" r:id="rId18"/>
    <p:sldId id="596" r:id="rId19"/>
    <p:sldId id="597" r:id="rId20"/>
    <p:sldId id="598" r:id="rId21"/>
    <p:sldId id="599" r:id="rId22"/>
    <p:sldId id="675" r:id="rId23"/>
    <p:sldId id="600" r:id="rId24"/>
    <p:sldId id="601" r:id="rId25"/>
    <p:sldId id="602" r:id="rId26"/>
    <p:sldId id="676" r:id="rId27"/>
    <p:sldId id="677" r:id="rId28"/>
    <p:sldId id="603" r:id="rId29"/>
    <p:sldId id="678" r:id="rId30"/>
    <p:sldId id="728" r:id="rId31"/>
    <p:sldId id="689" r:id="rId32"/>
    <p:sldId id="610" r:id="rId33"/>
    <p:sldId id="783" r:id="rId34"/>
    <p:sldId id="671" r:id="rId35"/>
  </p:sldIdLst>
  <p:sldSz cx="9144000" cy="6858000" type="screen4x3"/>
  <p:notesSz cx="6662738" cy="9832975"/>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3366"/>
    <a:srgbClr val="99FFCC"/>
    <a:srgbClr val="FFFF66"/>
    <a:srgbClr val="006666"/>
    <a:srgbClr val="CC0000"/>
    <a:srgbClr val="00FF0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4"/>
    <p:restoredTop sz="94152"/>
  </p:normalViewPr>
  <p:slideViewPr>
    <p:cSldViewPr showGuides="1">
      <p:cViewPr varScale="1">
        <p:scale>
          <a:sx n="124" d="100"/>
          <a:sy n="124" d="100"/>
        </p:scale>
        <p:origin x="1240" y="80"/>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12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页眉占位符 107521"/>
          <p:cNvSpPr>
            <a:spLocks noGrp="1"/>
          </p:cNvSpPr>
          <p:nvPr>
            <p:ph type="hdr" sz="quarter"/>
          </p:nvPr>
        </p:nvSpPr>
        <p:spPr>
          <a:xfrm>
            <a:off x="0" y="0"/>
            <a:ext cx="2895600" cy="457200"/>
          </a:xfrm>
          <a:prstGeom prst="rect">
            <a:avLst/>
          </a:prstGeom>
          <a:noFill/>
          <a:ln w="12700">
            <a:noFill/>
          </a:ln>
        </p:spPr>
        <p:txBody>
          <a:bodyPr wrap="none" anchor="ctr"/>
          <a:lstStyle/>
          <a:p>
            <a:pPr lvl="0"/>
            <a:endParaRPr lang="zh-CN" altLang="en-US" sz="1200" dirty="0">
              <a:solidFill>
                <a:schemeClr val="tx2"/>
              </a:solidFill>
            </a:endParaRPr>
          </a:p>
        </p:txBody>
      </p:sp>
      <p:sp>
        <p:nvSpPr>
          <p:cNvPr id="107523" name="日期占位符 107522"/>
          <p:cNvSpPr>
            <a:spLocks noGrp="1"/>
          </p:cNvSpPr>
          <p:nvPr>
            <p:ph type="dt" sz="quarter" idx="1"/>
          </p:nvPr>
        </p:nvSpPr>
        <p:spPr>
          <a:xfrm>
            <a:off x="3810000" y="0"/>
            <a:ext cx="2819400" cy="457200"/>
          </a:xfrm>
          <a:prstGeom prst="rect">
            <a:avLst/>
          </a:prstGeom>
          <a:noFill/>
          <a:ln w="12700">
            <a:noFill/>
          </a:ln>
        </p:spPr>
        <p:txBody>
          <a:bodyPr wrap="none" anchor="ctr"/>
          <a:lstStyle/>
          <a:p>
            <a:pPr lvl="0" algn="r"/>
            <a:endParaRPr lang="zh-CN" altLang="en-US" sz="1200" dirty="0">
              <a:solidFill>
                <a:schemeClr val="tx2"/>
              </a:solidFill>
            </a:endParaRPr>
          </a:p>
        </p:txBody>
      </p:sp>
      <p:sp>
        <p:nvSpPr>
          <p:cNvPr id="107524" name="页脚占位符 107523"/>
          <p:cNvSpPr>
            <a:spLocks noGrp="1"/>
          </p:cNvSpPr>
          <p:nvPr>
            <p:ph type="ftr" sz="quarter" idx="2"/>
          </p:nvPr>
        </p:nvSpPr>
        <p:spPr>
          <a:xfrm>
            <a:off x="0" y="9372600"/>
            <a:ext cx="2895600" cy="457200"/>
          </a:xfrm>
          <a:prstGeom prst="rect">
            <a:avLst/>
          </a:prstGeom>
          <a:noFill/>
          <a:ln w="12700">
            <a:noFill/>
          </a:ln>
        </p:spPr>
        <p:txBody>
          <a:bodyPr wrap="none" anchor="b"/>
          <a:lstStyle/>
          <a:p>
            <a:pPr lvl="0"/>
            <a:endParaRPr lang="zh-CN" altLang="en-US" sz="1200" dirty="0">
              <a:solidFill>
                <a:schemeClr val="tx2"/>
              </a:solidFill>
            </a:endParaRPr>
          </a:p>
        </p:txBody>
      </p:sp>
      <p:sp>
        <p:nvSpPr>
          <p:cNvPr id="107525" name="灯片编号占位符 107524"/>
          <p:cNvSpPr>
            <a:spLocks noGrp="1"/>
          </p:cNvSpPr>
          <p:nvPr>
            <p:ph type="sldNum" sz="quarter" idx="3"/>
          </p:nvPr>
        </p:nvSpPr>
        <p:spPr>
          <a:xfrm>
            <a:off x="3810000" y="9372600"/>
            <a:ext cx="2819400" cy="457200"/>
          </a:xfrm>
          <a:prstGeom prst="rect">
            <a:avLst/>
          </a:prstGeom>
          <a:noFill/>
          <a:ln w="12700">
            <a:noFill/>
          </a:ln>
        </p:spPr>
        <p:txBody>
          <a:bodyPr wrap="none" anchor="b"/>
          <a:lstStyle/>
          <a:p>
            <a:pPr lvl="0" algn="r"/>
            <a:fld id="{9A0DB2DC-4C9A-4742-B13C-FB6460FD3503}" type="slidenum">
              <a:rPr lang="zh-CN" altLang="en-US" sz="1200" dirty="0">
                <a:solidFill>
                  <a:schemeClr val="tx2"/>
                </a:solidFill>
              </a:rPr>
              <a:t>‹#›</a:t>
            </a:fld>
            <a:endParaRPr lang="zh-CN" altLang="en-US" sz="1200" dirty="0">
              <a:solidFill>
                <a:schemeClr val="tx2"/>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2562" name="页眉占位符 322561"/>
          <p:cNvSpPr>
            <a:spLocks noGrp="1"/>
          </p:cNvSpPr>
          <p:nvPr>
            <p:ph type="hdr" sz="quarter"/>
          </p:nvPr>
        </p:nvSpPr>
        <p:spPr>
          <a:xfrm>
            <a:off x="0" y="0"/>
            <a:ext cx="2887663" cy="492125"/>
          </a:xfrm>
          <a:prstGeom prst="rect">
            <a:avLst/>
          </a:prstGeom>
          <a:noFill/>
          <a:ln w="9525">
            <a:noFill/>
          </a:ln>
        </p:spPr>
        <p:txBody>
          <a:bodyPr/>
          <a:lstStyle/>
          <a:p>
            <a:pPr lvl="0"/>
            <a:endParaRPr lang="zh-CN" altLang="en-US" sz="1200" dirty="0"/>
          </a:p>
        </p:txBody>
      </p:sp>
      <p:sp>
        <p:nvSpPr>
          <p:cNvPr id="322563" name="日期占位符 322562"/>
          <p:cNvSpPr>
            <a:spLocks noGrp="1"/>
          </p:cNvSpPr>
          <p:nvPr>
            <p:ph type="dt" idx="1"/>
          </p:nvPr>
        </p:nvSpPr>
        <p:spPr>
          <a:xfrm>
            <a:off x="3773488" y="0"/>
            <a:ext cx="2887662" cy="492125"/>
          </a:xfrm>
          <a:prstGeom prst="rect">
            <a:avLst/>
          </a:prstGeom>
          <a:noFill/>
          <a:ln w="9525">
            <a:noFill/>
          </a:ln>
        </p:spPr>
        <p:txBody>
          <a:bodyPr/>
          <a:lstStyle/>
          <a:p>
            <a:pPr lvl="0" algn="r"/>
            <a:endParaRPr lang="zh-CN" altLang="en-US" sz="1200" dirty="0"/>
          </a:p>
        </p:txBody>
      </p:sp>
      <p:sp>
        <p:nvSpPr>
          <p:cNvPr id="322564" name="幻灯片图像占位符 322563"/>
          <p:cNvSpPr>
            <a:spLocks noGrp="1" noRot="1" noChangeAspect="1" noTextEdit="1"/>
          </p:cNvSpPr>
          <p:nvPr>
            <p:ph type="sldImg" idx="2"/>
          </p:nvPr>
        </p:nvSpPr>
        <p:spPr>
          <a:xfrm>
            <a:off x="874713" y="738188"/>
            <a:ext cx="4914900" cy="3686175"/>
          </a:xfrm>
          <a:prstGeom prst="rect">
            <a:avLst/>
          </a:prstGeom>
          <a:ln w="9525" cap="flat" cmpd="sng">
            <a:solidFill>
              <a:srgbClr val="000000"/>
            </a:solidFill>
            <a:prstDash val="solid"/>
            <a:miter/>
            <a:headEnd type="none" w="med" len="med"/>
            <a:tailEnd type="none" w="med" len="med"/>
          </a:ln>
        </p:spPr>
      </p:sp>
      <p:sp>
        <p:nvSpPr>
          <p:cNvPr id="322565" name="文本占位符 322564"/>
          <p:cNvSpPr>
            <a:spLocks noGrp="1"/>
          </p:cNvSpPr>
          <p:nvPr>
            <p:ph type="body" sz="quarter" idx="3"/>
          </p:nvPr>
        </p:nvSpPr>
        <p:spPr>
          <a:xfrm>
            <a:off x="666750" y="4670425"/>
            <a:ext cx="5329238" cy="44243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22566" name="页脚占位符 322565"/>
          <p:cNvSpPr>
            <a:spLocks noGrp="1"/>
          </p:cNvSpPr>
          <p:nvPr>
            <p:ph type="ftr" sz="quarter" idx="4"/>
          </p:nvPr>
        </p:nvSpPr>
        <p:spPr>
          <a:xfrm>
            <a:off x="0" y="9339263"/>
            <a:ext cx="2887663" cy="492125"/>
          </a:xfrm>
          <a:prstGeom prst="rect">
            <a:avLst/>
          </a:prstGeom>
          <a:noFill/>
          <a:ln w="9525">
            <a:noFill/>
          </a:ln>
        </p:spPr>
        <p:txBody>
          <a:bodyPr anchor="b"/>
          <a:lstStyle/>
          <a:p>
            <a:pPr lvl="0"/>
            <a:endParaRPr lang="zh-CN" altLang="en-US" sz="1200" dirty="0"/>
          </a:p>
        </p:txBody>
      </p:sp>
      <p:sp>
        <p:nvSpPr>
          <p:cNvPr id="322567" name="灯片编号占位符 322566"/>
          <p:cNvSpPr>
            <a:spLocks noGrp="1"/>
          </p:cNvSpPr>
          <p:nvPr>
            <p:ph type="sldNum" sz="quarter" idx="5"/>
          </p:nvPr>
        </p:nvSpPr>
        <p:spPr>
          <a:xfrm>
            <a:off x="3773488" y="9339263"/>
            <a:ext cx="2887662" cy="492125"/>
          </a:xfrm>
          <a:prstGeom prst="rect">
            <a:avLst/>
          </a:prstGeom>
          <a:noFill/>
          <a:ln w="9525">
            <a:noFill/>
          </a:ln>
        </p:spPr>
        <p:txBody>
          <a:bodyPr anchor="b"/>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1</a:t>
            </a:fld>
            <a:endParaRPr lang="zh-CN" altLang="en-US" sz="1200" dirty="0"/>
          </a:p>
        </p:txBody>
      </p:sp>
      <p:sp>
        <p:nvSpPr>
          <p:cNvPr id="329730" name="幻灯片图像占位符 329729"/>
          <p:cNvSpPr>
            <a:spLocks noGrp="1" noRot="1" noChangeAspect="1" noTextEdit="1"/>
          </p:cNvSpPr>
          <p:nvPr>
            <p:ph type="sldImg"/>
          </p:nvPr>
        </p:nvSpPr>
        <p:spPr>
          <a:ln/>
        </p:spPr>
      </p:sp>
      <p:sp>
        <p:nvSpPr>
          <p:cNvPr id="329731" name="文本占位符 329730"/>
          <p:cNvSpPr>
            <a:spLocks noGrp="1"/>
          </p:cNvSpPr>
          <p:nvPr>
            <p:ph type="body" idx="1"/>
          </p:nvPr>
        </p:nvSpPr>
        <p:spPr>
          <a:ln/>
        </p:spPr>
        <p:txBody>
          <a:bodyPr/>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2</a:t>
            </a:fld>
            <a:endParaRPr lang="zh-CN" altLang="en-US" sz="1200" dirty="0"/>
          </a:p>
        </p:txBody>
      </p:sp>
      <p:sp>
        <p:nvSpPr>
          <p:cNvPr id="470018" name="幻灯片图像占位符 470017"/>
          <p:cNvSpPr>
            <a:spLocks noGrp="1" noRot="1" noChangeAspect="1" noTextEdit="1"/>
          </p:cNvSpPr>
          <p:nvPr>
            <p:ph type="sldImg"/>
          </p:nvPr>
        </p:nvSpPr>
        <p:spPr>
          <a:ln/>
        </p:spPr>
      </p:sp>
      <p:sp>
        <p:nvSpPr>
          <p:cNvPr id="470019" name="文本占位符 470018"/>
          <p:cNvSpPr>
            <a:spLocks noGrp="1"/>
          </p:cNvSpPr>
          <p:nvPr>
            <p:ph type="body" idx="1"/>
          </p:nvPr>
        </p:nvSpPr>
        <p:spPr>
          <a:ln/>
        </p:spPr>
        <p:txBody>
          <a:bodyPr/>
          <a:lstStyle/>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368642" name="组合 368641"/>
          <p:cNvGrpSpPr/>
          <p:nvPr/>
        </p:nvGrpSpPr>
        <p:grpSpPr>
          <a:xfrm>
            <a:off x="0" y="1822450"/>
            <a:ext cx="9009063" cy="1052513"/>
            <a:chOff x="0" y="1536"/>
            <a:chExt cx="5675" cy="663"/>
          </a:xfrm>
        </p:grpSpPr>
        <p:grpSp>
          <p:nvGrpSpPr>
            <p:cNvPr id="368643" name="组合 368642"/>
            <p:cNvGrpSpPr/>
            <p:nvPr/>
          </p:nvGrpSpPr>
          <p:grpSpPr>
            <a:xfrm>
              <a:off x="183" y="1604"/>
              <a:ext cx="448" cy="299"/>
              <a:chOff x="720" y="336"/>
              <a:chExt cx="624" cy="432"/>
            </a:xfrm>
          </p:grpSpPr>
          <p:sp>
            <p:nvSpPr>
              <p:cNvPr id="368644" name="矩形 368643"/>
              <p:cNvSpPr/>
              <p:nvPr/>
            </p:nvSpPr>
            <p:spPr>
              <a:xfrm>
                <a:off x="720" y="336"/>
                <a:ext cx="384" cy="432"/>
              </a:xfrm>
              <a:prstGeom prst="rect">
                <a:avLst/>
              </a:prstGeom>
              <a:solidFill>
                <a:schemeClr val="folHlink"/>
              </a:solidFill>
              <a:ln w="9525">
                <a:noFill/>
              </a:ln>
            </p:spPr>
            <p:txBody>
              <a:bodyPr/>
              <a:lstStyle/>
              <a:p>
                <a:endParaRPr lang="zh-CN" altLang="en-US"/>
              </a:p>
            </p:txBody>
          </p:sp>
          <p:sp>
            <p:nvSpPr>
              <p:cNvPr id="368645" name="矩形 368644"/>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zh-CN" altLang="en-US"/>
              </a:p>
            </p:txBody>
          </p:sp>
        </p:grpSp>
        <p:grpSp>
          <p:nvGrpSpPr>
            <p:cNvPr id="368646" name="组合 368645"/>
            <p:cNvGrpSpPr/>
            <p:nvPr/>
          </p:nvGrpSpPr>
          <p:grpSpPr>
            <a:xfrm>
              <a:off x="261" y="1870"/>
              <a:ext cx="465" cy="299"/>
              <a:chOff x="912" y="2640"/>
              <a:chExt cx="672" cy="432"/>
            </a:xfrm>
          </p:grpSpPr>
          <p:sp>
            <p:nvSpPr>
              <p:cNvPr id="368647" name="矩形 368646"/>
              <p:cNvSpPr/>
              <p:nvPr/>
            </p:nvSpPr>
            <p:spPr>
              <a:xfrm>
                <a:off x="912" y="2640"/>
                <a:ext cx="384" cy="432"/>
              </a:xfrm>
              <a:prstGeom prst="rect">
                <a:avLst/>
              </a:prstGeom>
              <a:solidFill>
                <a:schemeClr val="accent2"/>
              </a:solidFill>
              <a:ln w="9525">
                <a:noFill/>
              </a:ln>
            </p:spPr>
            <p:txBody>
              <a:bodyPr/>
              <a:lstStyle/>
              <a:p>
                <a:endParaRPr lang="zh-CN" altLang="en-US"/>
              </a:p>
            </p:txBody>
          </p:sp>
          <p:sp>
            <p:nvSpPr>
              <p:cNvPr id="368648" name="矩形 368647"/>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zh-CN" altLang="en-US"/>
              </a:p>
            </p:txBody>
          </p:sp>
        </p:grpSp>
        <p:sp>
          <p:nvSpPr>
            <p:cNvPr id="368649" name="矩形 368648"/>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zh-CN" altLang="en-US"/>
            </a:p>
          </p:txBody>
        </p:sp>
        <p:sp>
          <p:nvSpPr>
            <p:cNvPr id="368650" name="矩形 368649"/>
            <p:cNvSpPr/>
            <p:nvPr/>
          </p:nvSpPr>
          <p:spPr>
            <a:xfrm>
              <a:off x="400" y="1536"/>
              <a:ext cx="20" cy="663"/>
            </a:xfrm>
            <a:prstGeom prst="rect">
              <a:avLst/>
            </a:prstGeom>
            <a:solidFill>
              <a:schemeClr val="bg2"/>
            </a:solidFill>
            <a:ln w="9525">
              <a:noFill/>
            </a:ln>
          </p:spPr>
          <p:txBody>
            <a:bodyPr/>
            <a:lstStyle/>
            <a:p>
              <a:endParaRPr lang="zh-CN" altLang="en-US"/>
            </a:p>
          </p:txBody>
        </p:sp>
        <p:sp>
          <p:nvSpPr>
            <p:cNvPr id="368651" name="矩形 368650"/>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zh-CN" altLang="en-US"/>
            </a:p>
          </p:txBody>
        </p:sp>
      </p:grpSp>
      <p:sp>
        <p:nvSpPr>
          <p:cNvPr id="368652" name="标题 368651"/>
          <p:cNvSpPr>
            <a:spLocks noGrp="1"/>
          </p:cNvSpPr>
          <p:nvPr>
            <p:ph type="ctrTitle"/>
          </p:nvPr>
        </p:nvSpPr>
        <p:spPr>
          <a:xfrm>
            <a:off x="827088" y="1676400"/>
            <a:ext cx="8137525" cy="1462088"/>
          </a:xfrm>
          <a:prstGeom prst="rect">
            <a:avLst/>
          </a:prstGeom>
          <a:noFill/>
          <a:ln w="9525">
            <a:noFill/>
          </a:ln>
        </p:spPr>
        <p:txBody>
          <a:bodyPr anchor="b"/>
          <a:lstStyle>
            <a:lvl1pPr lvl="0" algn="ctr">
              <a:buClrTx/>
              <a:buSzTx/>
              <a:buFontTx/>
              <a:defRPr sz="4800">
                <a:ea typeface="隶书" panose="02010509060101010101" pitchFamily="49" charset="-122"/>
              </a:defRPr>
            </a:lvl1pPr>
          </a:lstStyle>
          <a:p>
            <a:pPr lvl="0"/>
            <a:r>
              <a:rPr lang="zh-CN" altLang="en-US" dirty="0"/>
              <a:t>单击此处编辑母版标题样式</a:t>
            </a:r>
          </a:p>
        </p:txBody>
      </p:sp>
      <p:sp>
        <p:nvSpPr>
          <p:cNvPr id="368653" name="副标题 368652"/>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lang="zh-CN" altLang="en-US" dirty="0"/>
              <a:t>单击此处编辑母版副标题样式</a:t>
            </a:r>
          </a:p>
        </p:txBody>
      </p:sp>
      <p:sp>
        <p:nvSpPr>
          <p:cNvPr id="368654" name="日期占位符 368653"/>
          <p:cNvSpPr>
            <a:spLocks noGrp="1"/>
          </p:cNvSpPr>
          <p:nvPr>
            <p:ph type="dt" sz="half" idx="2"/>
          </p:nvPr>
        </p:nvSpPr>
        <p:spPr>
          <a:xfrm>
            <a:off x="990600" y="6248400"/>
            <a:ext cx="1905000" cy="457200"/>
          </a:xfrm>
          <a:prstGeom prst="rect">
            <a:avLst/>
          </a:prstGeom>
          <a:noFill/>
          <a:ln w="9525">
            <a:noFill/>
          </a:ln>
        </p:spPr>
        <p:txBody>
          <a:bodyPr anchor="b"/>
          <a:lstStyle>
            <a:lvl1pPr>
              <a:defRPr sz="1400">
                <a:solidFill>
                  <a:schemeClr val="bg2"/>
                </a:solidFill>
                <a:latin typeface="Tahoma" panose="020B0604030504040204" pitchFamily="34" charset="0"/>
              </a:defRPr>
            </a:lvl1pPr>
          </a:lstStyle>
          <a:p>
            <a:fld id="{BB962C8B-B14F-4D97-AF65-F5344CB8AC3E}" type="datetime1">
              <a:rPr lang="zh-CN" altLang="en-US" dirty="0"/>
              <a:t>2021-4-12</a:t>
            </a:fld>
            <a:endParaRPr lang="zh-CN" altLang="en-US" dirty="0">
              <a:latin typeface="Times New Roman" panose="02020603050405020304" pitchFamily="18" charset="0"/>
            </a:endParaRPr>
          </a:p>
        </p:txBody>
      </p:sp>
      <p:sp>
        <p:nvSpPr>
          <p:cNvPr id="368655" name="页脚占位符 368654"/>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a:solidFill>
                  <a:schemeClr val="bg2"/>
                </a:solidFill>
                <a:latin typeface="Tahoma" panose="020B0604030504040204" pitchFamily="34" charset="0"/>
              </a:defRPr>
            </a:lvl1pPr>
          </a:lstStyle>
          <a:p>
            <a:endParaRPr lang="zh-CN" altLang="en-US" dirty="0"/>
          </a:p>
        </p:txBody>
      </p:sp>
      <p:sp>
        <p:nvSpPr>
          <p:cNvPr id="368656" name="灯片编号占位符 368655"/>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a:solidFill>
                  <a:schemeClr val="bg2"/>
                </a:solidFill>
                <a:latin typeface="Tahoma" panose="020B0604030504040204" pitchFamily="34" charset="0"/>
              </a:defRPr>
            </a:lvl1pPr>
          </a:lstStyle>
          <a:p>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7650"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0778" y="71438"/>
            <a:ext cx="2083197" cy="65262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71438"/>
            <a:ext cx="6128825" cy="65262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67618" name="矩形 367617"/>
          <p:cNvSpPr/>
          <p:nvPr/>
        </p:nvSpPr>
        <p:spPr>
          <a:xfrm>
            <a:off x="417513" y="252413"/>
            <a:ext cx="438150" cy="474662"/>
          </a:xfrm>
          <a:prstGeom prst="rect">
            <a:avLst/>
          </a:prstGeom>
          <a:solidFill>
            <a:schemeClr val="accent2"/>
          </a:solidFill>
          <a:ln w="9525">
            <a:noFill/>
          </a:ln>
        </p:spPr>
        <p:txBody>
          <a:bodyPr wrap="none" anchor="ctr"/>
          <a:lstStyle/>
          <a:p>
            <a:pPr lvl="0" algn="ctr"/>
            <a:endParaRPr lang="zh-CN" altLang="en-US" sz="2400" dirty="0">
              <a:latin typeface="Tahoma" panose="020B0604030504040204" pitchFamily="34" charset="0"/>
            </a:endParaRPr>
          </a:p>
        </p:txBody>
      </p:sp>
      <p:sp>
        <p:nvSpPr>
          <p:cNvPr id="367619" name="矩形 367618"/>
          <p:cNvSpPr/>
          <p:nvPr/>
        </p:nvSpPr>
        <p:spPr>
          <a:xfrm>
            <a:off x="800100" y="252413"/>
            <a:ext cx="328613" cy="474662"/>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0" name="矩形 367619"/>
          <p:cNvSpPr/>
          <p:nvPr/>
        </p:nvSpPr>
        <p:spPr>
          <a:xfrm>
            <a:off x="541338" y="674688"/>
            <a:ext cx="422275" cy="474662"/>
          </a:xfrm>
          <a:prstGeom prst="rect">
            <a:avLst/>
          </a:prstGeom>
          <a:solidFill>
            <a:schemeClr val="folHlink"/>
          </a:solidFill>
          <a:ln w="9525">
            <a:noFill/>
          </a:ln>
        </p:spPr>
        <p:txBody>
          <a:bodyPr wrap="none" anchor="ctr"/>
          <a:lstStyle/>
          <a:p>
            <a:pPr lvl="0" algn="ctr"/>
            <a:endParaRPr lang="zh-CN" altLang="en-US" sz="2400" dirty="0">
              <a:latin typeface="Tahoma" panose="020B0604030504040204" pitchFamily="34" charset="0"/>
            </a:endParaRPr>
          </a:p>
        </p:txBody>
      </p:sp>
      <p:sp>
        <p:nvSpPr>
          <p:cNvPr id="367621" name="矩形 367620"/>
          <p:cNvSpPr/>
          <p:nvPr/>
        </p:nvSpPr>
        <p:spPr>
          <a:xfrm>
            <a:off x="911225" y="674688"/>
            <a:ext cx="368300" cy="474662"/>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2" name="矩形 367621"/>
          <p:cNvSpPr/>
          <p:nvPr/>
        </p:nvSpPr>
        <p:spPr>
          <a:xfrm>
            <a:off x="127000" y="601663"/>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3" name="矩形 367622"/>
          <p:cNvSpPr/>
          <p:nvPr/>
        </p:nvSpPr>
        <p:spPr>
          <a:xfrm>
            <a:off x="762000" y="144463"/>
            <a:ext cx="31750" cy="1052512"/>
          </a:xfrm>
          <a:prstGeom prst="rect">
            <a:avLst/>
          </a:prstGeom>
          <a:solidFill>
            <a:schemeClr val="bg2"/>
          </a:solidFill>
          <a:ln w="9525">
            <a:noFill/>
          </a:ln>
        </p:spPr>
        <p:txBody>
          <a:bodyPr wrap="none" anchor="ctr"/>
          <a:lstStyle/>
          <a:p>
            <a:pPr lvl="0" algn="ctr"/>
            <a:endParaRPr lang="zh-CN" altLang="en-US" sz="2400" dirty="0">
              <a:latin typeface="Tahoma" panose="020B0604030504040204" pitchFamily="34" charset="0"/>
            </a:endParaRPr>
          </a:p>
        </p:txBody>
      </p:sp>
      <p:sp>
        <p:nvSpPr>
          <p:cNvPr id="367624" name="矩形 367623"/>
          <p:cNvSpPr/>
          <p:nvPr/>
        </p:nvSpPr>
        <p:spPr>
          <a:xfrm>
            <a:off x="442913" y="935038"/>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5" name="标题 367624"/>
          <p:cNvSpPr>
            <a:spLocks noGrp="1"/>
          </p:cNvSpPr>
          <p:nvPr>
            <p:ph type="title"/>
          </p:nvPr>
        </p:nvSpPr>
        <p:spPr>
          <a:xfrm>
            <a:off x="1150938" y="71438"/>
            <a:ext cx="7793037" cy="836612"/>
          </a:xfrm>
          <a:prstGeom prst="rect">
            <a:avLst/>
          </a:prstGeom>
          <a:noFill/>
          <a:ln w="9525">
            <a:noFill/>
          </a:ln>
        </p:spPr>
        <p:txBody>
          <a:bodyPr anchor="b"/>
          <a:lstStyle/>
          <a:p>
            <a:pPr lvl="0"/>
            <a:r>
              <a:rPr lang="zh-CN" altLang="en-US" dirty="0"/>
              <a:t>单击此处编辑母版标题样式</a:t>
            </a:r>
          </a:p>
        </p:txBody>
      </p:sp>
      <p:sp>
        <p:nvSpPr>
          <p:cNvPr id="367626" name="文本占位符 367625"/>
          <p:cNvSpPr>
            <a:spLocks noGrp="1"/>
          </p:cNvSpPr>
          <p:nvPr>
            <p:ph type="body" idx="1"/>
          </p:nvPr>
        </p:nvSpPr>
        <p:spPr>
          <a:xfrm>
            <a:off x="611188" y="1258888"/>
            <a:ext cx="7993062" cy="53387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67627" name="日期占位符 367626"/>
          <p:cNvSpPr>
            <a:spLocks noGrp="1"/>
          </p:cNvSpPr>
          <p:nvPr>
            <p:ph type="dt" sz="half" idx="2"/>
          </p:nvPr>
        </p:nvSpPr>
        <p:spPr>
          <a:xfrm>
            <a:off x="1162050" y="6243638"/>
            <a:ext cx="1905000" cy="457200"/>
          </a:xfrm>
          <a:prstGeom prst="rect">
            <a:avLst/>
          </a:prstGeom>
          <a:noFill/>
          <a:ln w="9525">
            <a:noFill/>
          </a:ln>
        </p:spPr>
        <p:txBody>
          <a:bodyPr anchor="b"/>
          <a:lstStyle>
            <a:lvl1pPr>
              <a:defRPr sz="1400">
                <a:latin typeface="Tahoma" panose="020B0604030504040204" pitchFamily="34" charset="0"/>
              </a:defRPr>
            </a:lvl1pPr>
          </a:lstStyle>
          <a:p>
            <a:pPr lvl="0"/>
            <a:endParaRPr lang="zh-CN" altLang="en-US" dirty="0">
              <a:latin typeface="Times New Roman" panose="02020603050405020304" pitchFamily="18" charset="0"/>
            </a:endParaRPr>
          </a:p>
        </p:txBody>
      </p:sp>
      <p:sp>
        <p:nvSpPr>
          <p:cNvPr id="367628" name="页脚占位符 367627"/>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endParaRPr lang="zh-CN" altLang="en-US" dirty="0"/>
          </a:p>
        </p:txBody>
      </p:sp>
      <p:sp>
        <p:nvSpPr>
          <p:cNvPr id="367629" name="灯片编号占位符 367628"/>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3600" b="1" i="0" u="none" kern="1200" baseline="0">
          <a:solidFill>
            <a:schemeClr val="tx2"/>
          </a:solidFill>
          <a:effectLst>
            <a:outerShdw blurRad="38100" dist="38100" dir="2700000">
              <a:srgbClr val="C0C0C0"/>
            </a:outerShdw>
          </a:effectLst>
          <a:latin typeface="+mj-lt"/>
          <a:ea typeface="+mj-ea"/>
          <a:cs typeface="+mj-cs"/>
        </a:defRPr>
      </a:lvl1pPr>
    </p:titleStyle>
    <p:body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i="0" u="none" kern="1200" baseline="0">
          <a:solidFill>
            <a:schemeClr val="tx1"/>
          </a:solidFill>
          <a:effectLst>
            <a:outerShdw blurRad="38100" dist="38100" dir="2700000">
              <a:srgbClr val="C0C0C0"/>
            </a:outerShdw>
          </a:effectLst>
          <a:latin typeface="+mn-lt"/>
          <a:ea typeface="+mn-ea"/>
          <a:cs typeface="+mn-cs"/>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mn-lt"/>
          <a:ea typeface="+mn-ea"/>
          <a:cs typeface="+mn-cs"/>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mn-lt"/>
          <a:ea typeface="+mn-ea"/>
          <a:cs typeface="+mn-cs"/>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5pPr>
      <a:lvl6pPr marL="2514600" lvl="5"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6pPr>
      <a:lvl7pPr marL="2971800" lvl="6"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7pPr>
      <a:lvl8pPr marL="3429000" lvl="7"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8pPr>
      <a:lvl9pPr marL="3886200" lvl="8"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9" name="矩形 328708"/>
          <p:cNvSpPr/>
          <p:nvPr/>
        </p:nvSpPr>
        <p:spPr>
          <a:xfrm>
            <a:off x="107950" y="80963"/>
            <a:ext cx="4608513" cy="574675"/>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pPr algn="ctr"/>
            <a:r>
              <a:rPr lang="zh-CN" altLang="en-US" sz="28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数据库系统原理及应用</a:t>
            </a:r>
            <a:endParaRPr lang="zh-CN" altLang="en-US" sz="3000" b="1">
              <a:solidFill>
                <a:srgbClr val="000000"/>
              </a:solidFill>
              <a:effectLst>
                <a:outerShdw blurRad="38100" dist="38100" dir="2700000">
                  <a:srgbClr val="FFFFFF"/>
                </a:outerShdw>
              </a:effectLst>
              <a:latin typeface="Times New Roman" panose="02020603050405020304" pitchFamily="18" charset="0"/>
              <a:ea typeface="楷体_GB2312" pitchFamily="49" charset="-122"/>
            </a:endParaRPr>
          </a:p>
        </p:txBody>
      </p:sp>
      <p:sp>
        <p:nvSpPr>
          <p:cNvPr id="328711" name="标题 328710"/>
          <p:cNvSpPr>
            <a:spLocks noGrp="1"/>
          </p:cNvSpPr>
          <p:nvPr>
            <p:ph type="ctrTitle"/>
          </p:nvPr>
        </p:nvSpPr>
        <p:spPr>
          <a:xfrm>
            <a:off x="684213" y="1230313"/>
            <a:ext cx="8137525" cy="1462087"/>
          </a:xfrm>
          <a:ln/>
        </p:spPr>
        <p:txBody>
          <a:bodyPr anchor="b"/>
          <a:lstStyle/>
          <a:p>
            <a:pPr defTabSz="914400">
              <a:buSzTx/>
            </a:pPr>
            <a:r>
              <a:rPr lang="zh-CN" altLang="en-US" sz="4200" kern="1200" baseline="0" dirty="0">
                <a:latin typeface="Tahoma" panose="020B0604030504040204" pitchFamily="34" charset="0"/>
                <a:ea typeface="隶书" panose="02010509060101010101" pitchFamily="49" charset="-122"/>
              </a:rPr>
              <a:t>第</a:t>
            </a:r>
            <a:r>
              <a:rPr lang="en-US" altLang="zh-CN" sz="4200" kern="1200" baseline="0">
                <a:latin typeface="Tahoma" panose="020B0604030504040204" pitchFamily="34" charset="0"/>
                <a:ea typeface="隶书" panose="02010509060101010101" pitchFamily="49" charset="-122"/>
              </a:rPr>
              <a:t>3</a:t>
            </a:r>
            <a:r>
              <a:rPr lang="zh-CN" altLang="en-US" sz="4200" kern="1200" baseline="0" dirty="0">
                <a:latin typeface="Tahoma" panose="020B0604030504040204" pitchFamily="34" charset="0"/>
                <a:ea typeface="隶书" panose="02010509060101010101" pitchFamily="49" charset="-122"/>
              </a:rPr>
              <a:t>章 数据库应用系统设计方法</a:t>
            </a:r>
            <a:r>
              <a:rPr lang="zh-CN" altLang="en-US" kern="1200" baseline="0" dirty="0">
                <a:latin typeface="Tahoma" panose="020B0604030504040204" pitchFamily="34" charset="0"/>
                <a:ea typeface="隶书" panose="02010509060101010101" pitchFamily="49" charset="-122"/>
              </a:rPr>
              <a:t> </a:t>
            </a:r>
          </a:p>
        </p:txBody>
      </p:sp>
      <p:sp>
        <p:nvSpPr>
          <p:cNvPr id="328715" name="文本框 328714"/>
          <p:cNvSpPr txBox="1"/>
          <p:nvPr/>
        </p:nvSpPr>
        <p:spPr>
          <a:xfrm>
            <a:off x="2516188" y="3957638"/>
            <a:ext cx="4681537" cy="706755"/>
          </a:xfrm>
          <a:prstGeom prst="rect">
            <a:avLst/>
          </a:prstGeom>
          <a:noFill/>
          <a:ln w="12700">
            <a:noFill/>
          </a:ln>
        </p:spPr>
        <p:txBody>
          <a:bodyPr>
            <a:spAutoFit/>
          </a:bodyPr>
          <a:lstStyle/>
          <a:p>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4400" b="1" dirty="0">
              <a:solidFill>
                <a:srgbClr val="660033"/>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pic>
        <p:nvPicPr>
          <p:cNvPr id="328716" name="图片 328715" descr="BS02064_"/>
          <p:cNvPicPr>
            <a:picLocks noChangeAspect="1"/>
          </p:cNvPicPr>
          <p:nvPr/>
        </p:nvPicPr>
        <p:blipFill>
          <a:blip r:embed="rId3"/>
          <a:stretch>
            <a:fillRect/>
          </a:stretch>
        </p:blipFill>
        <p:spPr>
          <a:xfrm>
            <a:off x="0" y="4170363"/>
            <a:ext cx="2700338" cy="2687637"/>
          </a:xfrm>
          <a:prstGeom prst="rect">
            <a:avLst/>
          </a:prstGeom>
          <a:noFill/>
          <a:ln w="9525">
            <a:noFill/>
          </a:ln>
        </p:spPr>
      </p:pic>
      <p:sp>
        <p:nvSpPr>
          <p:cNvPr id="328717" name="文本框 328716"/>
          <p:cNvSpPr txBox="1"/>
          <p:nvPr/>
        </p:nvSpPr>
        <p:spPr>
          <a:xfrm>
            <a:off x="2338388" y="2708275"/>
            <a:ext cx="4681537" cy="701675"/>
          </a:xfrm>
          <a:prstGeom prst="rect">
            <a:avLst/>
          </a:prstGeom>
          <a:noFill/>
          <a:ln w="12700">
            <a:noFill/>
          </a:ln>
        </p:spPr>
        <p:txBody>
          <a:bodyPr>
            <a:spAutoFit/>
          </a:bodyPr>
          <a:lstStyle/>
          <a:p>
            <a:pPr algn="ctr"/>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（第四讲）</a:t>
            </a:r>
            <a:endParaRPr lang="zh-CN" altLang="en-US" sz="4400" b="1" dirty="0">
              <a:solidFill>
                <a:srgbClr val="006699"/>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spd="slow" advTm="41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28709"/>
                                        </p:tgtEl>
                                        <p:attrNameLst>
                                          <p:attrName>style.visibility</p:attrName>
                                        </p:attrNameLst>
                                      </p:cBhvr>
                                      <p:to>
                                        <p:strVal val="visible"/>
                                      </p:to>
                                    </p:set>
                                    <p:animEffect transition="in" filter="wipe(left)">
                                      <p:cBhvr>
                                        <p:cTn id="7" dur="1000"/>
                                        <p:tgtEl>
                                          <p:spTgt spid="3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5" name="标题 468994"/>
          <p:cNvSpPr>
            <a:spLocks noGrp="1"/>
          </p:cNvSpPr>
          <p:nvPr>
            <p:ph type="ctrTitle"/>
          </p:nvPr>
        </p:nvSpPr>
        <p:spPr>
          <a:xfrm>
            <a:off x="827088" y="1230313"/>
            <a:ext cx="8137525" cy="1462087"/>
          </a:xfrm>
          <a:ln/>
        </p:spPr>
        <p:txBody>
          <a:bodyPr vert="horz" wrap="square" lIns="91440" tIns="45720" rIns="91440" bIns="45720" anchor="b"/>
          <a:lstStyle/>
          <a:p>
            <a:pPr defTabSz="914400">
              <a:buSzTx/>
            </a:pPr>
            <a:r>
              <a:rPr lang="en-US" altLang="zh-CN" sz="4600" kern="1200" baseline="0">
                <a:latin typeface="Tahoma" panose="020B0604030504040204" pitchFamily="34" charset="0"/>
                <a:ea typeface="隶书" panose="02010509060101010101" pitchFamily="49" charset="-122"/>
              </a:rPr>
              <a:t>3.</a:t>
            </a:r>
            <a:r>
              <a:rPr lang="zh-CN" altLang="en-US" sz="4600" kern="1200" baseline="0" dirty="0">
                <a:latin typeface="Tahoma" panose="020B0604030504040204" pitchFamily="34" charset="0"/>
                <a:ea typeface="隶书" panose="02010509060101010101" pitchFamily="49" charset="-122"/>
              </a:rPr>
              <a:t>４  数据库逻辑结构设计</a:t>
            </a:r>
          </a:p>
        </p:txBody>
      </p:sp>
      <p:sp>
        <p:nvSpPr>
          <p:cNvPr id="468996" name="矩形 468995"/>
          <p:cNvSpPr/>
          <p:nvPr/>
        </p:nvSpPr>
        <p:spPr>
          <a:xfrm>
            <a:off x="71438" y="95250"/>
            <a:ext cx="49323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第</a:t>
            </a:r>
            <a:r>
              <a:rPr lang="en-US" altLang="zh-CN"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3</a:t>
            </a:r>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章  数据库应用系统设计方法</a:t>
            </a:r>
            <a:endParaRPr lang="zh-CN" altLang="en-US"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endParaRPr>
          </a:p>
        </p:txBody>
      </p:sp>
    </p:spTree>
  </p:cSld>
  <p:clrMapOvr>
    <a:masterClrMapping/>
  </p:clrMapOvr>
  <p:transition spd="slow" advTm="2836"/>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4" name="矩形 471043"/>
          <p:cNvSpPr/>
          <p:nvPr/>
        </p:nvSpPr>
        <p:spPr>
          <a:xfrm>
            <a:off x="57150" y="117475"/>
            <a:ext cx="8893175" cy="1439863"/>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71045" name="矩形 471044"/>
          <p:cNvSpPr/>
          <p:nvPr/>
        </p:nvSpPr>
        <p:spPr>
          <a:xfrm>
            <a:off x="496888" y="1065213"/>
            <a:ext cx="8208962" cy="4105275"/>
          </a:xfrm>
          <a:prstGeom prst="rect">
            <a:avLst/>
          </a:prstGeom>
          <a:noFill/>
          <a:ln w="9525" cap="flat" cmpd="sng">
            <a:solidFill>
              <a:srgbClr val="00CC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b="0" dirty="0">
                <a:effectLst/>
                <a:ea typeface="黑体" panose="02010609060101010101" pitchFamily="2" charset="-122"/>
              </a:rPr>
              <a:t>          </a:t>
            </a:r>
          </a:p>
          <a:p>
            <a:pPr lvl="0">
              <a:lnSpc>
                <a:spcPct val="170000"/>
              </a:lnSpc>
              <a:spcBef>
                <a:spcPct val="90000"/>
              </a:spcBef>
            </a:pPr>
            <a:r>
              <a:rPr lang="zh-CN" altLang="en-US" b="0" dirty="0">
                <a:effectLst/>
                <a:ea typeface="黑体" panose="02010609060101010101" pitchFamily="2" charset="-122"/>
              </a:rPr>
              <a:t>          数据库的</a:t>
            </a:r>
            <a:r>
              <a:rPr lang="zh-CN" altLang="en-US" sz="3200" dirty="0">
                <a:solidFill>
                  <a:srgbClr val="660033"/>
                </a:solidFill>
                <a:effectLst/>
                <a:ea typeface="华文新魏" panose="02010800040101010101" pitchFamily="2" charset="-122"/>
              </a:rPr>
              <a:t>逻辑结构</a:t>
            </a:r>
            <a:r>
              <a:rPr lang="zh-CN" altLang="en-US" b="0" dirty="0">
                <a:effectLst/>
                <a:ea typeface="黑体" panose="02010609060101010101" pitchFamily="2" charset="-122"/>
              </a:rPr>
              <a:t>是一种由具体的</a:t>
            </a:r>
            <a:r>
              <a:rPr lang="en-US" altLang="zh-CN" b="0">
                <a:effectLst/>
                <a:ea typeface="黑体" panose="02010609060101010101" pitchFamily="2" charset="-122"/>
              </a:rPr>
              <a:t>DBMS</a:t>
            </a:r>
            <a:r>
              <a:rPr lang="zh-CN" altLang="en-US" b="0" dirty="0">
                <a:effectLst/>
                <a:ea typeface="黑体" panose="02010609060101010101" pitchFamily="2" charset="-122"/>
              </a:rPr>
              <a:t>支持的数据模型。</a:t>
            </a:r>
          </a:p>
        </p:txBody>
      </p:sp>
    </p:spTree>
  </p:cSld>
  <p:clrMapOvr>
    <a:masterClrMapping/>
  </p:clrMapOvr>
  <mc:AlternateContent xmlns:mc="http://schemas.openxmlformats.org/markup-compatibility/2006" xmlns:p14="http://schemas.microsoft.com/office/powerpoint/2010/main">
    <mc:Choice Requires="p14">
      <p:transition spd="slow" p14:dur="2000" advTm="11299"/>
    </mc:Choice>
    <mc:Fallback xmlns="">
      <p:transition spd="slow" advTm="1129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8" name="矩形 472067"/>
          <p:cNvSpPr/>
          <p:nvPr/>
        </p:nvSpPr>
        <p:spPr>
          <a:xfrm>
            <a:off x="466725" y="112553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5000"/>
              </a:lnSpc>
            </a:pPr>
            <a:r>
              <a:rPr lang="zh-CN" altLang="en-US" dirty="0"/>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、主要任务</a:t>
            </a:r>
          </a:p>
          <a:p>
            <a:pPr lvl="0">
              <a:lnSpc>
                <a:spcPct val="135000"/>
              </a:lnSpc>
            </a:pPr>
            <a:r>
              <a:rPr lang="zh-CN" altLang="en-US" dirty="0"/>
              <a:t>          就是按照一定的规则，将概念结构设计阶段设计好的，独立于任何</a:t>
            </a:r>
            <a:r>
              <a:rPr lang="en-US" altLang="zh-CN"/>
              <a:t>DBMS</a:t>
            </a:r>
            <a:r>
              <a:rPr lang="zh-CN" altLang="en-US" dirty="0"/>
              <a:t>数据模型的信息结构，转换为一组关系模式；并利用关系数据库的规范化理论对这组关系模式进行规范化设计和优化处理，从而得出满足所有数据要求的关系数据库模型，也即</a:t>
            </a:r>
            <a:r>
              <a:rPr lang="zh-CN" altLang="en-US" dirty="0">
                <a:solidFill>
                  <a:srgbClr val="003366"/>
                </a:solidFill>
                <a:effectLst/>
                <a:ea typeface="黑体" panose="02010609060101010101" pitchFamily="2" charset="-122"/>
              </a:rPr>
              <a:t>数据库的逻辑结构</a:t>
            </a:r>
            <a:r>
              <a:rPr lang="zh-CN" altLang="en-US" dirty="0"/>
              <a:t>。</a:t>
            </a:r>
            <a:endParaRPr lang="zh-CN" altLang="en-US" b="0" dirty="0">
              <a:solidFill>
                <a:srgbClr val="660066"/>
              </a:solidFill>
              <a:effectLst/>
              <a:latin typeface="黑体" panose="02010609060101010101" pitchFamily="2" charset="-122"/>
              <a:ea typeface="黑体" panose="02010609060101010101" pitchFamily="2" charset="-122"/>
            </a:endParaRPr>
          </a:p>
        </p:txBody>
      </p:sp>
      <p:sp>
        <p:nvSpPr>
          <p:cNvPr id="472069" name="矩形 47206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en-US" altLang="zh-CN"/>
              <a:t>0</a:t>
            </a:r>
            <a:r>
              <a:rPr lang="zh-CN" altLang="en-US" dirty="0"/>
              <a:t>、逻辑结构设计的任务和步骤</a:t>
            </a:r>
            <a:endParaRPr lang="en-US" altLang="zh-CN"/>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5235"/>
    </mc:Choice>
    <mc:Fallback xmlns="">
      <p:transition spd="slow" advTm="5523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72068">
                                            <p:txEl>
                                              <p:pRg st="0" end="0"/>
                                            </p:txEl>
                                          </p:spTgt>
                                        </p:tgtEl>
                                        <p:attrNameLst>
                                          <p:attrName>style.visibility</p:attrName>
                                        </p:attrNameLst>
                                      </p:cBhvr>
                                      <p:to>
                                        <p:strVal val="visible"/>
                                      </p:to>
                                    </p:set>
                                    <p:animEffect transition="in" filter="wipe(up)">
                                      <p:cBhvr>
                                        <p:cTn id="7" dur="1000"/>
                                        <p:tgtEl>
                                          <p:spTgt spid="472068">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72068">
                                            <p:txEl>
                                              <p:pRg st="1" end="1"/>
                                            </p:txEl>
                                          </p:spTgt>
                                        </p:tgtEl>
                                        <p:attrNameLst>
                                          <p:attrName>style.visibility</p:attrName>
                                        </p:attrNameLst>
                                      </p:cBhvr>
                                      <p:to>
                                        <p:strVal val="visible"/>
                                      </p:to>
                                    </p:set>
                                    <p:animEffect transition="in" filter="wipe(up)">
                                      <p:cBhvr>
                                        <p:cTn id="11" dur="5000"/>
                                        <p:tgtEl>
                                          <p:spTgt spid="47206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4" name="矩形 542723"/>
          <p:cNvSpPr/>
          <p:nvPr/>
        </p:nvSpPr>
        <p:spPr>
          <a:xfrm>
            <a:off x="466725" y="112553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5000"/>
              </a:lnSpc>
            </a:pPr>
            <a:r>
              <a:rPr lang="zh-CN" altLang="en-US" dirty="0"/>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、步骤</a:t>
            </a:r>
          </a:p>
          <a:p>
            <a:pPr lvl="0">
              <a:lnSpc>
                <a:spcPct val="135000"/>
              </a:lnSpc>
            </a:pPr>
            <a:r>
              <a:rPr lang="zh-CN" altLang="en-US" dirty="0"/>
              <a:t>         （</a:t>
            </a:r>
            <a:r>
              <a:rPr lang="en-US" altLang="zh-CN"/>
              <a:t>1</a:t>
            </a:r>
            <a:r>
              <a:rPr lang="zh-CN" altLang="en-US" dirty="0"/>
              <a:t>）将设计好的概念结构转换成关系模型；</a:t>
            </a:r>
          </a:p>
          <a:p>
            <a:pPr lvl="0"/>
            <a:r>
              <a:rPr lang="zh-CN" altLang="en-US" dirty="0"/>
              <a:t>          （</a:t>
            </a:r>
            <a:r>
              <a:rPr lang="en-US" altLang="zh-CN"/>
              <a:t>2</a:t>
            </a:r>
            <a:r>
              <a:rPr lang="zh-CN" altLang="en-US" dirty="0"/>
              <a:t>）利用规范化理论对转换好的关系模型进行规范化设计和处理；</a:t>
            </a:r>
          </a:p>
          <a:p>
            <a:pPr lvl="0"/>
            <a:r>
              <a:rPr lang="zh-CN" altLang="en-US" dirty="0"/>
              <a:t>          （</a:t>
            </a:r>
            <a:r>
              <a:rPr lang="en-US" altLang="zh-CN"/>
              <a:t>3</a:t>
            </a:r>
            <a:r>
              <a:rPr lang="zh-CN" altLang="en-US" dirty="0"/>
              <a:t>）对关系模型进行优化处理。</a:t>
            </a:r>
          </a:p>
        </p:txBody>
      </p:sp>
      <p:sp>
        <p:nvSpPr>
          <p:cNvPr id="542725" name="矩形 542724"/>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en-US" altLang="zh-CN"/>
              <a:t>0</a:t>
            </a:r>
            <a:r>
              <a:rPr lang="zh-CN" altLang="en-US" dirty="0"/>
              <a:t>、逻辑结构设计的任务和步骤</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43347"/>
    </mc:Choice>
    <mc:Fallback xmlns="">
      <p:transition spd="slow" advTm="433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42724">
                                            <p:txEl>
                                              <p:pRg st="0" end="0"/>
                                            </p:txEl>
                                          </p:spTgt>
                                        </p:tgtEl>
                                        <p:attrNameLst>
                                          <p:attrName>style.visibility</p:attrName>
                                        </p:attrNameLst>
                                      </p:cBhvr>
                                      <p:to>
                                        <p:strVal val="visible"/>
                                      </p:to>
                                    </p:set>
                                    <p:animEffect transition="in" filter="wipe(up)">
                                      <p:cBhvr>
                                        <p:cTn id="7" dur="1000"/>
                                        <p:tgtEl>
                                          <p:spTgt spid="542724">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542724">
                                            <p:txEl>
                                              <p:pRg st="1" end="1"/>
                                            </p:txEl>
                                          </p:spTgt>
                                        </p:tgtEl>
                                        <p:attrNameLst>
                                          <p:attrName>style.visibility</p:attrName>
                                        </p:attrNameLst>
                                      </p:cBhvr>
                                      <p:to>
                                        <p:strVal val="visible"/>
                                      </p:to>
                                    </p:set>
                                    <p:animEffect transition="in" filter="wipe(up)">
                                      <p:cBhvr>
                                        <p:cTn id="11" dur="1000"/>
                                        <p:tgtEl>
                                          <p:spTgt spid="542724">
                                            <p:txEl>
                                              <p:pRg st="1" end="1"/>
                                            </p:txEl>
                                          </p:spTgt>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542724">
                                            <p:txEl>
                                              <p:pRg st="2" end="2"/>
                                            </p:txEl>
                                          </p:spTgt>
                                        </p:tgtEl>
                                        <p:attrNameLst>
                                          <p:attrName>style.visibility</p:attrName>
                                        </p:attrNameLst>
                                      </p:cBhvr>
                                      <p:to>
                                        <p:strVal val="visible"/>
                                      </p:to>
                                    </p:set>
                                    <p:animEffect transition="in" filter="wipe(up)">
                                      <p:cBhvr>
                                        <p:cTn id="15" dur="2000"/>
                                        <p:tgtEl>
                                          <p:spTgt spid="542724">
                                            <p:txEl>
                                              <p:pRg st="2" end="2"/>
                                            </p:txEl>
                                          </p:spTgt>
                                        </p:tgtEl>
                                      </p:cBhvr>
                                    </p:animEffect>
                                  </p:childTnLst>
                                </p:cTn>
                              </p:par>
                            </p:childTnLst>
                          </p:cTn>
                        </p:par>
                        <p:par>
                          <p:cTn id="16" fill="hold">
                            <p:stCondLst>
                              <p:cond delay="4000"/>
                            </p:stCondLst>
                            <p:childTnLst>
                              <p:par>
                                <p:cTn id="17" presetID="22" presetClass="entr" presetSubtype="1" fill="hold" nodeType="afterEffect">
                                  <p:stCondLst>
                                    <p:cond delay="0"/>
                                  </p:stCondLst>
                                  <p:childTnLst>
                                    <p:set>
                                      <p:cBhvr>
                                        <p:cTn id="18" dur="1" fill="hold">
                                          <p:stCondLst>
                                            <p:cond delay="0"/>
                                          </p:stCondLst>
                                        </p:cTn>
                                        <p:tgtEl>
                                          <p:spTgt spid="542724">
                                            <p:txEl>
                                              <p:pRg st="3" end="3"/>
                                            </p:txEl>
                                          </p:spTgt>
                                        </p:tgtEl>
                                        <p:attrNameLst>
                                          <p:attrName>style.visibility</p:attrName>
                                        </p:attrNameLst>
                                      </p:cBhvr>
                                      <p:to>
                                        <p:strVal val="visible"/>
                                      </p:to>
                                    </p:set>
                                    <p:animEffect transition="in" filter="wipe(up)">
                                      <p:cBhvr>
                                        <p:cTn id="19" dur="2000"/>
                                        <p:tgtEl>
                                          <p:spTgt spid="5427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2" name="矩形 652291"/>
          <p:cNvSpPr/>
          <p:nvPr/>
        </p:nvSpPr>
        <p:spPr>
          <a:xfrm>
            <a:off x="900113" y="188913"/>
            <a:ext cx="8186737" cy="6477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一、属性表表示的概念结构向关系模型的转换</a:t>
            </a:r>
            <a:endParaRPr lang="en-US" altLang="zh-CN" sz="3100"/>
          </a:p>
        </p:txBody>
      </p:sp>
    </p:spTree>
  </p:cSld>
  <p:clrMapOvr>
    <a:masterClrMapping/>
  </p:clrMapOvr>
  <mc:AlternateContent xmlns:mc="http://schemas.openxmlformats.org/markup-compatibility/2006" xmlns:p14="http://schemas.microsoft.com/office/powerpoint/2010/main">
    <mc:Choice Requires="p14">
      <p:transition spd="slow" p14:dur="2000" advTm="515"/>
    </mc:Choice>
    <mc:Fallback xmlns="">
      <p:transition spd="slow" advTm="51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40" name="矩形 679939"/>
          <p:cNvSpPr/>
          <p:nvPr/>
        </p:nvSpPr>
        <p:spPr>
          <a:xfrm>
            <a:off x="107950" y="71438"/>
            <a:ext cx="7793038" cy="1341437"/>
          </a:xfrm>
          <a:prstGeom prst="rect">
            <a:avLst/>
          </a:prstGeom>
          <a:solidFill>
            <a:schemeClr val="bg1"/>
          </a:solid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endParaRPr lang="en-US" altLang="zh-CN"/>
          </a:p>
        </p:txBody>
      </p:sp>
      <p:sp>
        <p:nvSpPr>
          <p:cNvPr id="679941" name="直接连接符 679940"/>
          <p:cNvSpPr/>
          <p:nvPr/>
        </p:nvSpPr>
        <p:spPr>
          <a:xfrm>
            <a:off x="3686175" y="922338"/>
            <a:ext cx="0" cy="0"/>
          </a:xfrm>
          <a:prstGeom prst="line">
            <a:avLst/>
          </a:prstGeom>
          <a:ln w="12700" cap="rnd" cmpd="sng">
            <a:solidFill>
              <a:srgbClr val="000000"/>
            </a:solidFill>
            <a:prstDash val="solid"/>
            <a:headEnd type="none" w="med" len="med"/>
            <a:tailEnd type="none" w="med" len="med"/>
          </a:ln>
        </p:spPr>
      </p:sp>
      <p:sp>
        <p:nvSpPr>
          <p:cNvPr id="679942" name="直接连接符 679941"/>
          <p:cNvSpPr/>
          <p:nvPr/>
        </p:nvSpPr>
        <p:spPr>
          <a:xfrm>
            <a:off x="3686175" y="1046163"/>
            <a:ext cx="0" cy="0"/>
          </a:xfrm>
          <a:prstGeom prst="line">
            <a:avLst/>
          </a:prstGeom>
          <a:ln w="12700" cap="rnd" cmpd="sng">
            <a:solidFill>
              <a:srgbClr val="000000"/>
            </a:solidFill>
            <a:prstDash val="solid"/>
            <a:headEnd type="none" w="med" len="med"/>
            <a:tailEnd type="none" w="med" len="med"/>
          </a:ln>
        </p:spPr>
      </p:sp>
      <p:sp>
        <p:nvSpPr>
          <p:cNvPr id="679943" name="直接连接符 679942"/>
          <p:cNvSpPr/>
          <p:nvPr/>
        </p:nvSpPr>
        <p:spPr>
          <a:xfrm>
            <a:off x="3717925" y="1169988"/>
            <a:ext cx="0" cy="0"/>
          </a:xfrm>
          <a:prstGeom prst="line">
            <a:avLst/>
          </a:prstGeom>
          <a:ln w="12700" cap="rnd" cmpd="sng">
            <a:solidFill>
              <a:srgbClr val="000000"/>
            </a:solidFill>
            <a:prstDash val="solid"/>
            <a:headEnd type="none" w="med" len="med"/>
            <a:tailEnd type="none" w="med" len="med"/>
          </a:ln>
        </p:spPr>
      </p:sp>
      <p:sp>
        <p:nvSpPr>
          <p:cNvPr id="679944" name="直接连接符 679943"/>
          <p:cNvSpPr/>
          <p:nvPr/>
        </p:nvSpPr>
        <p:spPr>
          <a:xfrm>
            <a:off x="3717925" y="1293813"/>
            <a:ext cx="0" cy="0"/>
          </a:xfrm>
          <a:prstGeom prst="line">
            <a:avLst/>
          </a:prstGeom>
          <a:ln w="12700" cap="rnd" cmpd="sng">
            <a:solidFill>
              <a:srgbClr val="000000"/>
            </a:solidFill>
            <a:prstDash val="solid"/>
            <a:headEnd type="none" w="med" len="med"/>
            <a:tailEnd type="none" w="med" len="med"/>
          </a:ln>
        </p:spPr>
      </p:sp>
      <p:sp>
        <p:nvSpPr>
          <p:cNvPr id="679945" name="直接连接符 679944"/>
          <p:cNvSpPr/>
          <p:nvPr/>
        </p:nvSpPr>
        <p:spPr>
          <a:xfrm>
            <a:off x="3733800" y="1293813"/>
            <a:ext cx="0" cy="0"/>
          </a:xfrm>
          <a:prstGeom prst="line">
            <a:avLst/>
          </a:prstGeom>
          <a:ln w="12700" cap="rnd" cmpd="sng">
            <a:solidFill>
              <a:srgbClr val="000000"/>
            </a:solidFill>
            <a:prstDash val="solid"/>
            <a:headEnd type="none" w="med" len="med"/>
            <a:tailEnd type="none" w="med" len="med"/>
          </a:ln>
        </p:spPr>
      </p:sp>
      <p:sp>
        <p:nvSpPr>
          <p:cNvPr id="679946" name="直接连接符 679945"/>
          <p:cNvSpPr/>
          <p:nvPr/>
        </p:nvSpPr>
        <p:spPr>
          <a:xfrm>
            <a:off x="3733800" y="1417638"/>
            <a:ext cx="0" cy="0"/>
          </a:xfrm>
          <a:prstGeom prst="line">
            <a:avLst/>
          </a:prstGeom>
          <a:ln w="12700" cap="rnd" cmpd="sng">
            <a:solidFill>
              <a:srgbClr val="000000"/>
            </a:solidFill>
            <a:prstDash val="solid"/>
            <a:headEnd type="none" w="med" len="med"/>
            <a:tailEnd type="none" w="med" len="med"/>
          </a:ln>
        </p:spPr>
      </p:sp>
      <p:sp>
        <p:nvSpPr>
          <p:cNvPr id="679947" name="直接连接符 679946"/>
          <p:cNvSpPr/>
          <p:nvPr/>
        </p:nvSpPr>
        <p:spPr>
          <a:xfrm>
            <a:off x="3749675" y="1417638"/>
            <a:ext cx="0" cy="0"/>
          </a:xfrm>
          <a:prstGeom prst="line">
            <a:avLst/>
          </a:prstGeom>
          <a:ln w="12700" cap="rnd" cmpd="sng">
            <a:solidFill>
              <a:srgbClr val="000000"/>
            </a:solidFill>
            <a:prstDash val="solid"/>
            <a:headEnd type="none" w="med" len="med"/>
            <a:tailEnd type="none" w="med" len="med"/>
          </a:ln>
        </p:spPr>
      </p:sp>
      <p:sp>
        <p:nvSpPr>
          <p:cNvPr id="679948" name="直接连接符 679947"/>
          <p:cNvSpPr/>
          <p:nvPr/>
        </p:nvSpPr>
        <p:spPr>
          <a:xfrm>
            <a:off x="3749675" y="1541463"/>
            <a:ext cx="0" cy="0"/>
          </a:xfrm>
          <a:prstGeom prst="line">
            <a:avLst/>
          </a:prstGeom>
          <a:ln w="12700" cap="rnd" cmpd="sng">
            <a:solidFill>
              <a:srgbClr val="000000"/>
            </a:solidFill>
            <a:prstDash val="solid"/>
            <a:headEnd type="none" w="med" len="med"/>
            <a:tailEnd type="none" w="med" len="med"/>
          </a:ln>
        </p:spPr>
      </p:sp>
      <p:sp>
        <p:nvSpPr>
          <p:cNvPr id="679949" name="直接连接符 679948"/>
          <p:cNvSpPr/>
          <p:nvPr/>
        </p:nvSpPr>
        <p:spPr>
          <a:xfrm>
            <a:off x="3686175" y="1957388"/>
            <a:ext cx="0" cy="0"/>
          </a:xfrm>
          <a:prstGeom prst="line">
            <a:avLst/>
          </a:prstGeom>
          <a:ln w="12700" cap="rnd" cmpd="sng">
            <a:solidFill>
              <a:srgbClr val="000000"/>
            </a:solidFill>
            <a:prstDash val="solid"/>
            <a:headEnd type="none" w="med" len="med"/>
            <a:tailEnd type="none" w="med" len="med"/>
          </a:ln>
        </p:spPr>
      </p:sp>
      <p:graphicFrame>
        <p:nvGraphicFramePr>
          <p:cNvPr id="679950" name="表格 679949"/>
          <p:cNvGraphicFramePr/>
          <p:nvPr/>
        </p:nvGraphicFramePr>
        <p:xfrm>
          <a:off x="323850" y="869950"/>
          <a:ext cx="8640763" cy="5151374"/>
        </p:xfrm>
        <a:graphic>
          <a:graphicData uri="http://schemas.openxmlformats.org/drawingml/2006/table">
            <a:tbl>
              <a:tblPr/>
              <a:tblGrid>
                <a:gridCol w="719138">
                  <a:extLst>
                    <a:ext uri="{9D8B030D-6E8A-4147-A177-3AD203B41FA5}">
                      <a16:colId xmlns:a16="http://schemas.microsoft.com/office/drawing/2014/main" val="20000"/>
                    </a:ext>
                  </a:extLst>
                </a:gridCol>
                <a:gridCol w="43338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215900">
                  <a:extLst>
                    <a:ext uri="{9D8B030D-6E8A-4147-A177-3AD203B41FA5}">
                      <a16:colId xmlns:a16="http://schemas.microsoft.com/office/drawing/2014/main" val="20003"/>
                    </a:ext>
                  </a:extLst>
                </a:gridCol>
                <a:gridCol w="1008063">
                  <a:extLst>
                    <a:ext uri="{9D8B030D-6E8A-4147-A177-3AD203B41FA5}">
                      <a16:colId xmlns:a16="http://schemas.microsoft.com/office/drawing/2014/main" val="20004"/>
                    </a:ext>
                  </a:extLst>
                </a:gridCol>
                <a:gridCol w="215900">
                  <a:extLst>
                    <a:ext uri="{9D8B030D-6E8A-4147-A177-3AD203B41FA5}">
                      <a16:colId xmlns:a16="http://schemas.microsoft.com/office/drawing/2014/main" val="20005"/>
                    </a:ext>
                  </a:extLst>
                </a:gridCol>
                <a:gridCol w="1012825">
                  <a:extLst>
                    <a:ext uri="{9D8B030D-6E8A-4147-A177-3AD203B41FA5}">
                      <a16:colId xmlns:a16="http://schemas.microsoft.com/office/drawing/2014/main" val="20006"/>
                    </a:ext>
                  </a:extLst>
                </a:gridCol>
                <a:gridCol w="211137">
                  <a:extLst>
                    <a:ext uri="{9D8B030D-6E8A-4147-A177-3AD203B41FA5}">
                      <a16:colId xmlns:a16="http://schemas.microsoft.com/office/drawing/2014/main" val="20007"/>
                    </a:ext>
                  </a:extLst>
                </a:gridCol>
                <a:gridCol w="1179513">
                  <a:extLst>
                    <a:ext uri="{9D8B030D-6E8A-4147-A177-3AD203B41FA5}">
                      <a16:colId xmlns:a16="http://schemas.microsoft.com/office/drawing/2014/main" val="20008"/>
                    </a:ext>
                  </a:extLst>
                </a:gridCol>
                <a:gridCol w="182562">
                  <a:extLst>
                    <a:ext uri="{9D8B030D-6E8A-4147-A177-3AD203B41FA5}">
                      <a16:colId xmlns:a16="http://schemas.microsoft.com/office/drawing/2014/main" val="20009"/>
                    </a:ext>
                  </a:extLst>
                </a:gridCol>
                <a:gridCol w="1158875">
                  <a:extLst>
                    <a:ext uri="{9D8B030D-6E8A-4147-A177-3AD203B41FA5}">
                      <a16:colId xmlns:a16="http://schemas.microsoft.com/office/drawing/2014/main" val="20010"/>
                    </a:ext>
                  </a:extLst>
                </a:gridCol>
                <a:gridCol w="360363">
                  <a:extLst>
                    <a:ext uri="{9D8B030D-6E8A-4147-A177-3AD203B41FA5}">
                      <a16:colId xmlns:a16="http://schemas.microsoft.com/office/drawing/2014/main" val="20011"/>
                    </a:ext>
                  </a:extLst>
                </a:gridCol>
                <a:gridCol w="1079500">
                  <a:extLst>
                    <a:ext uri="{9D8B030D-6E8A-4147-A177-3AD203B41FA5}">
                      <a16:colId xmlns:a16="http://schemas.microsoft.com/office/drawing/2014/main" val="20012"/>
                    </a:ext>
                  </a:extLst>
                </a:gridCol>
              </a:tblGrid>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学    号</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姓    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性    别</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照片</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extLst>
                  <a:ext uri="{0D108BD9-81ED-4DB2-BD59-A6C34878D82A}">
                    <a16:rowId xmlns:a16="http://schemas.microsoft.com/office/drawing/2014/main" val="10000"/>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出生日期</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籍    贯</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入学日期</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1"/>
                  </a:ext>
                </a:extLst>
              </a:tr>
              <a:tr h="557213">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父亲姓名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母亲姓名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85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家庭联系</a:t>
                      </a:r>
                    </a:p>
                    <a:p>
                      <a:pPr marL="0" lvl="0" indent="0" algn="ctr" defTabSz="914400">
                        <a:lnSpc>
                          <a:spcPct val="85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方      式</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2"/>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家庭住址</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邮政编码</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3"/>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所学专业</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专业代码</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vMerge="1">
                  <a:txBody>
                    <a:bodyPr/>
                    <a:lstStyle/>
                    <a:p>
                      <a:endParaRPr lang="zh-CN"/>
                    </a:p>
                  </a:txBody>
                  <a:tcPr>
                    <a:lnL w="12700" cap="flat" cmpd="sng">
                      <a:solidFill>
                        <a:srgbClr val="000000"/>
                      </a:solidFill>
                      <a:prstDash val="solid"/>
                      <a:headEnd type="none" w="med" len="med"/>
                      <a:tailEnd type="none" w="med" len="med"/>
                    </a:lnL>
                    <a:lnB w="12700" cap="flat" cmpd="sng">
                      <a:solidFill>
                        <a:srgbClr val="000000"/>
                      </a:solidFill>
                      <a:prstDash val="solid"/>
                      <a:headEnd type="none" w="med" len="med"/>
                      <a:tailEnd type="none" w="med" len="med"/>
                    </a:lnB>
                  </a:tcPr>
                </a:tc>
                <a:tc hMerge="1" vMerge="1">
                  <a:txBody>
                    <a:bodyPr/>
                    <a:lstStyle/>
                    <a:p>
                      <a:endParaRPr lang="zh-CN"/>
                    </a:p>
                  </a:txBody>
                  <a:tcPr>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4"/>
                  </a:ext>
                </a:extLst>
              </a:tr>
              <a:tr h="447675">
                <a:tc rowSpan="7">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主</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要</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经</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历</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起始年月</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学习</a:t>
                      </a:r>
                      <a:r>
                        <a:rPr lang="en-US" altLang="zh-CN" sz="1800" b="0">
                          <a:effectLst/>
                          <a:latin typeface="华文中宋" panose="02010600040101010101" pitchFamily="2" charset="-122"/>
                          <a:ea typeface="华文中宋" panose="02010600040101010101" pitchFamily="2" charset="-122"/>
                        </a:rPr>
                        <a:t>/</a:t>
                      </a:r>
                      <a:r>
                        <a:rPr lang="zh-CN" altLang="en-US" sz="1800" b="0" dirty="0">
                          <a:effectLst/>
                          <a:latin typeface="华文中宋" panose="02010600040101010101" pitchFamily="2" charset="-122"/>
                          <a:ea typeface="华文中宋" panose="02010600040101010101" pitchFamily="2" charset="-122"/>
                        </a:rPr>
                        <a:t>工作单位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 职  业</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担任职务</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备  注</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8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9563">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9563">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125">
                <a:tc row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入学信息</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准考证号</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语文成绩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数学成绩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512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总 成 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英语成绩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综合成绩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680058" name="矩形 680057"/>
          <p:cNvSpPr/>
          <p:nvPr/>
        </p:nvSpPr>
        <p:spPr>
          <a:xfrm>
            <a:off x="3132138" y="374650"/>
            <a:ext cx="3181350" cy="427038"/>
          </a:xfrm>
          <a:prstGeom prst="rect">
            <a:avLst/>
          </a:prstGeom>
          <a:noFill/>
          <a:ln w="9525">
            <a:noFill/>
          </a:ln>
        </p:spPr>
        <p:txBody>
          <a:bodyPr wrap="none" anchor="ctr">
            <a:spAutoFit/>
          </a:bodyPr>
          <a:lstStyle/>
          <a:p>
            <a:r>
              <a:rPr lang="zh-CN" altLang="en-US" sz="2200" dirty="0">
                <a:solidFill>
                  <a:srgbClr val="660033"/>
                </a:solidFill>
                <a:latin typeface="黑体" panose="02010609060101010101" pitchFamily="2" charset="-122"/>
                <a:ea typeface="黑体" panose="02010609060101010101" pitchFamily="2" charset="-122"/>
              </a:rPr>
              <a:t>表</a:t>
            </a:r>
            <a:r>
              <a:rPr lang="en-US" altLang="zh-CN" sz="2200">
                <a:solidFill>
                  <a:srgbClr val="660033"/>
                </a:solidFill>
                <a:latin typeface="黑体" panose="02010609060101010101" pitchFamily="2" charset="-122"/>
                <a:ea typeface="黑体" panose="02010609060101010101" pitchFamily="2" charset="-122"/>
              </a:rPr>
              <a:t>3.2</a:t>
            </a:r>
            <a:r>
              <a:rPr lang="en-US" altLang="zh-CN" sz="2200">
                <a:latin typeface="黑体" panose="02010609060101010101" pitchFamily="2" charset="-122"/>
                <a:ea typeface="黑体" panose="02010609060101010101" pitchFamily="2" charset="-122"/>
              </a:rPr>
              <a:t>  </a:t>
            </a:r>
            <a:r>
              <a:rPr lang="zh-CN" altLang="en-US" sz="2200" dirty="0">
                <a:solidFill>
                  <a:srgbClr val="003366"/>
                </a:solidFill>
                <a:latin typeface="黑体" panose="02010609060101010101" pitchFamily="2" charset="-122"/>
                <a:ea typeface="黑体" panose="02010609060101010101" pitchFamily="2" charset="-122"/>
              </a:rPr>
              <a:t>大学学生学籍表</a:t>
            </a:r>
            <a:r>
              <a:rPr lang="zh-CN" altLang="en-US" dirty="0">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8680"/>
    </mc:Choice>
    <mc:Fallback xmlns="">
      <p:transition spd="slow" advTm="868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6" name="矩形 678915"/>
          <p:cNvSpPr/>
          <p:nvPr/>
        </p:nvSpPr>
        <p:spPr>
          <a:xfrm>
            <a:off x="900113" y="188913"/>
            <a:ext cx="8186737" cy="6477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一、属性表表示的概念结构向关系模型的转换</a:t>
            </a:r>
            <a:endParaRPr lang="en-US" altLang="zh-CN" sz="3100"/>
          </a:p>
        </p:txBody>
      </p:sp>
      <p:sp>
        <p:nvSpPr>
          <p:cNvPr id="678917" name="矩形 678916"/>
          <p:cNvSpPr/>
          <p:nvPr/>
        </p:nvSpPr>
        <p:spPr>
          <a:xfrm>
            <a:off x="466725" y="112553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zh-CN" altLang="en-US" sz="2600" b="0" dirty="0">
                <a:solidFill>
                  <a:srgbClr val="003366"/>
                </a:solidFill>
                <a:effectLst/>
                <a:ea typeface="黑体" panose="02010609060101010101" pitchFamily="2" charset="-122"/>
              </a:rPr>
              <a:t>基本思路：</a:t>
            </a:r>
            <a:r>
              <a:rPr lang="zh-CN" altLang="en-US" sz="2600" b="0" dirty="0">
                <a:effectLst/>
                <a:ea typeface="黑体" panose="02010609060101010101" pitchFamily="2" charset="-122"/>
              </a:rPr>
              <a:t>把用属性表表示的每一个子概念结构转换成一个或多个关系模式。转换规则是：</a:t>
            </a:r>
          </a:p>
          <a:p>
            <a:pPr lvl="0"/>
            <a:r>
              <a:rPr lang="zh-CN" altLang="en-US" sz="2600" dirty="0"/>
              <a:t>          </a:t>
            </a:r>
            <a:r>
              <a:rPr lang="zh-CN" altLang="en-US" sz="2600" dirty="0">
                <a:solidFill>
                  <a:srgbClr val="660033"/>
                </a:solidFill>
                <a:effectLst/>
              </a:rPr>
              <a:t>（</a:t>
            </a:r>
            <a:r>
              <a:rPr lang="en-US" altLang="zh-CN" sz="2600">
                <a:solidFill>
                  <a:srgbClr val="660033"/>
                </a:solidFill>
                <a:effectLst/>
              </a:rPr>
              <a:t>1</a:t>
            </a:r>
            <a:r>
              <a:rPr lang="zh-CN" altLang="en-US" sz="2600" dirty="0">
                <a:solidFill>
                  <a:srgbClr val="660033"/>
                </a:solidFill>
                <a:effectLst/>
              </a:rPr>
              <a:t>）</a:t>
            </a:r>
            <a:r>
              <a:rPr lang="zh-CN" altLang="en-US" sz="2600" dirty="0">
                <a:effectLst/>
              </a:rPr>
              <a:t>把属性表中所有具有单值的属性转换成一个关系模式（简称其为</a:t>
            </a:r>
            <a:r>
              <a:rPr lang="zh-CN" altLang="en-US" sz="2600" dirty="0">
                <a:solidFill>
                  <a:srgbClr val="006666"/>
                </a:solidFill>
                <a:effectLst/>
              </a:rPr>
              <a:t>主关系模式</a:t>
            </a:r>
            <a:r>
              <a:rPr lang="zh-CN" altLang="en-US" sz="2600" dirty="0">
                <a:effectLst/>
              </a:rPr>
              <a:t>），并确定该关系模式的主键。</a:t>
            </a:r>
          </a:p>
          <a:p>
            <a:pPr lvl="0"/>
            <a:r>
              <a:rPr lang="zh-CN" altLang="en-US" sz="2600" dirty="0">
                <a:effectLst/>
              </a:rPr>
              <a:t>          </a:t>
            </a:r>
            <a:r>
              <a:rPr lang="zh-CN" altLang="en-US" sz="2600" dirty="0">
                <a:solidFill>
                  <a:srgbClr val="660033"/>
                </a:solidFill>
                <a:effectLst/>
              </a:rPr>
              <a:t>（</a:t>
            </a:r>
            <a:r>
              <a:rPr lang="en-US" altLang="zh-CN" sz="2600">
                <a:solidFill>
                  <a:srgbClr val="660033"/>
                </a:solidFill>
                <a:effectLst/>
              </a:rPr>
              <a:t>2</a:t>
            </a:r>
            <a:r>
              <a:rPr lang="zh-CN" altLang="en-US" sz="2600" dirty="0">
                <a:solidFill>
                  <a:srgbClr val="660033"/>
                </a:solidFill>
                <a:effectLst/>
              </a:rPr>
              <a:t>）</a:t>
            </a:r>
            <a:r>
              <a:rPr lang="zh-CN" altLang="en-US" sz="2600" dirty="0">
                <a:effectLst/>
              </a:rPr>
              <a:t>把属性表中的那些由多值属性组成的子表分别转换成一个关系模式（简称为</a:t>
            </a:r>
            <a:r>
              <a:rPr lang="zh-CN" altLang="en-US" sz="2600" dirty="0">
                <a:solidFill>
                  <a:srgbClr val="006666"/>
                </a:solidFill>
                <a:effectLst/>
              </a:rPr>
              <a:t>子关系模式</a:t>
            </a:r>
            <a:r>
              <a:rPr lang="zh-CN" altLang="en-US" sz="2600" dirty="0">
                <a:effectLst/>
              </a:rPr>
              <a:t>），并在各子关系模式中加入主关系模式的主键属性，同时进一步确定各子关系模式的主键。</a:t>
            </a:r>
            <a:r>
              <a:rPr lang="zh-CN" altLang="en-US" dirty="0">
                <a:effectLst/>
              </a:rPr>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4642"/>
    </mc:Choice>
    <mc:Fallback xmlns="">
      <p:transition spd="slow" advTm="746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78917">
                                            <p:txEl>
                                              <p:pRg st="0" end="0"/>
                                            </p:txEl>
                                          </p:spTgt>
                                        </p:tgtEl>
                                        <p:attrNameLst>
                                          <p:attrName>style.visibility</p:attrName>
                                        </p:attrNameLst>
                                      </p:cBhvr>
                                      <p:to>
                                        <p:strVal val="visible"/>
                                      </p:to>
                                    </p:set>
                                    <p:animEffect transition="in" filter="wipe(up)">
                                      <p:cBhvr>
                                        <p:cTn id="7" dur="1000"/>
                                        <p:tgtEl>
                                          <p:spTgt spid="6789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78917">
                                            <p:txEl>
                                              <p:pRg st="1" end="1"/>
                                            </p:txEl>
                                          </p:spTgt>
                                        </p:tgtEl>
                                        <p:attrNameLst>
                                          <p:attrName>style.visibility</p:attrName>
                                        </p:attrNameLst>
                                      </p:cBhvr>
                                      <p:to>
                                        <p:strVal val="visible"/>
                                      </p:to>
                                    </p:set>
                                    <p:animEffect transition="in" filter="wipe(up)">
                                      <p:cBhvr>
                                        <p:cTn id="12" dur="1000"/>
                                        <p:tgtEl>
                                          <p:spTgt spid="6789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78917">
                                            <p:txEl>
                                              <p:pRg st="2" end="2"/>
                                            </p:txEl>
                                          </p:spTgt>
                                        </p:tgtEl>
                                        <p:attrNameLst>
                                          <p:attrName>style.visibility</p:attrName>
                                        </p:attrNameLst>
                                      </p:cBhvr>
                                      <p:to>
                                        <p:strVal val="visible"/>
                                      </p:to>
                                    </p:set>
                                    <p:animEffect transition="in" filter="wipe(up)">
                                      <p:cBhvr>
                                        <p:cTn id="17" dur="1000"/>
                                        <p:tgtEl>
                                          <p:spTgt spid="6789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6" name="矩形 653315"/>
          <p:cNvSpPr/>
          <p:nvPr/>
        </p:nvSpPr>
        <p:spPr>
          <a:xfrm>
            <a:off x="900113" y="188913"/>
            <a:ext cx="8186737" cy="6477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一、属性表表示的概念结构向关系模型的转换</a:t>
            </a:r>
            <a:endParaRPr lang="en-US" altLang="zh-CN" sz="3100"/>
          </a:p>
        </p:txBody>
      </p:sp>
      <p:sp>
        <p:nvSpPr>
          <p:cNvPr id="653317" name="矩形 653316"/>
          <p:cNvSpPr/>
          <p:nvPr/>
        </p:nvSpPr>
        <p:spPr>
          <a:xfrm>
            <a:off x="466725" y="112553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zh-CN" altLang="en-US" b="0" dirty="0">
                <a:solidFill>
                  <a:srgbClr val="660033"/>
                </a:solidFill>
                <a:effectLst/>
                <a:latin typeface="黑体" panose="02010609060101010101" pitchFamily="2" charset="-122"/>
                <a:ea typeface="黑体" panose="02010609060101010101" pitchFamily="2" charset="-122"/>
              </a:rPr>
              <a:t>例</a:t>
            </a:r>
            <a:r>
              <a:rPr lang="en-US" altLang="zh-CN" b="0">
                <a:solidFill>
                  <a:srgbClr val="660033"/>
                </a:solidFill>
                <a:effectLst/>
                <a:latin typeface="黑体" panose="02010609060101010101" pitchFamily="2" charset="-122"/>
                <a:ea typeface="黑体" panose="02010609060101010101" pitchFamily="2" charset="-122"/>
              </a:rPr>
              <a:t>3.7</a:t>
            </a:r>
            <a:r>
              <a:rPr lang="en-US" altLang="zh-CN"/>
              <a:t>  </a:t>
            </a:r>
            <a:r>
              <a:rPr lang="zh-CN" altLang="en-US" b="0" dirty="0">
                <a:effectLst/>
              </a:rPr>
              <a:t>将用表</a:t>
            </a:r>
            <a:r>
              <a:rPr lang="en-US" altLang="zh-CN" b="0">
                <a:effectLst/>
              </a:rPr>
              <a:t>3.2</a:t>
            </a:r>
            <a:r>
              <a:rPr lang="zh-CN" altLang="en-US" b="0" dirty="0">
                <a:effectLst/>
              </a:rPr>
              <a:t>表示的大学学生学籍子概念结构转换成关系模式。</a:t>
            </a:r>
            <a:r>
              <a:rPr lang="zh-CN" altLang="en-US" dirty="0"/>
              <a:t> </a:t>
            </a:r>
            <a:endParaRPr lang="zh-CN" altLang="en-US" sz="2600" b="0" dirty="0">
              <a:effectLst/>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800"/>
    </mc:Choice>
    <mc:Fallback xmlns="">
      <p:transition spd="slow" advTm="1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53317">
                                            <p:txEl>
                                              <p:pRg st="0" end="0"/>
                                            </p:txEl>
                                          </p:spTgt>
                                        </p:tgtEl>
                                        <p:attrNameLst>
                                          <p:attrName>style.visibility</p:attrName>
                                        </p:attrNameLst>
                                      </p:cBhvr>
                                      <p:to>
                                        <p:strVal val="visible"/>
                                      </p:to>
                                    </p:set>
                                    <p:animEffect transition="in" filter="wipe(up)">
                                      <p:cBhvr>
                                        <p:cTn id="7" dur="1000"/>
                                        <p:tgtEl>
                                          <p:spTgt spid="6533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40" name="矩形 654339"/>
          <p:cNvSpPr/>
          <p:nvPr/>
        </p:nvSpPr>
        <p:spPr>
          <a:xfrm>
            <a:off x="107950" y="71438"/>
            <a:ext cx="7793038" cy="1341437"/>
          </a:xfrm>
          <a:prstGeom prst="rect">
            <a:avLst/>
          </a:prstGeom>
          <a:solidFill>
            <a:schemeClr val="bg1"/>
          </a:solid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endParaRPr lang="en-US" altLang="zh-CN"/>
          </a:p>
        </p:txBody>
      </p:sp>
      <p:sp>
        <p:nvSpPr>
          <p:cNvPr id="654341" name="直接连接符 654340"/>
          <p:cNvSpPr/>
          <p:nvPr/>
        </p:nvSpPr>
        <p:spPr>
          <a:xfrm>
            <a:off x="3686175" y="922338"/>
            <a:ext cx="0" cy="0"/>
          </a:xfrm>
          <a:prstGeom prst="line">
            <a:avLst/>
          </a:prstGeom>
          <a:ln w="12700" cap="rnd" cmpd="sng">
            <a:solidFill>
              <a:srgbClr val="000000"/>
            </a:solidFill>
            <a:prstDash val="solid"/>
            <a:headEnd type="none" w="med" len="med"/>
            <a:tailEnd type="none" w="med" len="med"/>
          </a:ln>
        </p:spPr>
      </p:sp>
      <p:sp>
        <p:nvSpPr>
          <p:cNvPr id="654342" name="直接连接符 654341"/>
          <p:cNvSpPr/>
          <p:nvPr/>
        </p:nvSpPr>
        <p:spPr>
          <a:xfrm>
            <a:off x="3686175" y="1046163"/>
            <a:ext cx="0" cy="0"/>
          </a:xfrm>
          <a:prstGeom prst="line">
            <a:avLst/>
          </a:prstGeom>
          <a:ln w="12700" cap="rnd" cmpd="sng">
            <a:solidFill>
              <a:srgbClr val="000000"/>
            </a:solidFill>
            <a:prstDash val="solid"/>
            <a:headEnd type="none" w="med" len="med"/>
            <a:tailEnd type="none" w="med" len="med"/>
          </a:ln>
        </p:spPr>
      </p:sp>
      <p:sp>
        <p:nvSpPr>
          <p:cNvPr id="654343" name="直接连接符 654342"/>
          <p:cNvSpPr/>
          <p:nvPr/>
        </p:nvSpPr>
        <p:spPr>
          <a:xfrm>
            <a:off x="3717925" y="1169988"/>
            <a:ext cx="0" cy="0"/>
          </a:xfrm>
          <a:prstGeom prst="line">
            <a:avLst/>
          </a:prstGeom>
          <a:ln w="12700" cap="rnd" cmpd="sng">
            <a:solidFill>
              <a:srgbClr val="000000"/>
            </a:solidFill>
            <a:prstDash val="solid"/>
            <a:headEnd type="none" w="med" len="med"/>
            <a:tailEnd type="none" w="med" len="med"/>
          </a:ln>
        </p:spPr>
      </p:sp>
      <p:sp>
        <p:nvSpPr>
          <p:cNvPr id="654344" name="直接连接符 654343"/>
          <p:cNvSpPr/>
          <p:nvPr/>
        </p:nvSpPr>
        <p:spPr>
          <a:xfrm>
            <a:off x="3717925" y="1293813"/>
            <a:ext cx="0" cy="0"/>
          </a:xfrm>
          <a:prstGeom prst="line">
            <a:avLst/>
          </a:prstGeom>
          <a:ln w="12700" cap="rnd" cmpd="sng">
            <a:solidFill>
              <a:srgbClr val="000000"/>
            </a:solidFill>
            <a:prstDash val="solid"/>
            <a:headEnd type="none" w="med" len="med"/>
            <a:tailEnd type="none" w="med" len="med"/>
          </a:ln>
        </p:spPr>
      </p:sp>
      <p:sp>
        <p:nvSpPr>
          <p:cNvPr id="654345" name="直接连接符 654344"/>
          <p:cNvSpPr/>
          <p:nvPr/>
        </p:nvSpPr>
        <p:spPr>
          <a:xfrm>
            <a:off x="3733800" y="1293813"/>
            <a:ext cx="0" cy="0"/>
          </a:xfrm>
          <a:prstGeom prst="line">
            <a:avLst/>
          </a:prstGeom>
          <a:ln w="12700" cap="rnd" cmpd="sng">
            <a:solidFill>
              <a:srgbClr val="000000"/>
            </a:solidFill>
            <a:prstDash val="solid"/>
            <a:headEnd type="none" w="med" len="med"/>
            <a:tailEnd type="none" w="med" len="med"/>
          </a:ln>
        </p:spPr>
      </p:sp>
      <p:sp>
        <p:nvSpPr>
          <p:cNvPr id="654346" name="直接连接符 654345"/>
          <p:cNvSpPr/>
          <p:nvPr/>
        </p:nvSpPr>
        <p:spPr>
          <a:xfrm>
            <a:off x="3733800" y="1417638"/>
            <a:ext cx="0" cy="0"/>
          </a:xfrm>
          <a:prstGeom prst="line">
            <a:avLst/>
          </a:prstGeom>
          <a:ln w="12700" cap="rnd" cmpd="sng">
            <a:solidFill>
              <a:srgbClr val="000000"/>
            </a:solidFill>
            <a:prstDash val="solid"/>
            <a:headEnd type="none" w="med" len="med"/>
            <a:tailEnd type="none" w="med" len="med"/>
          </a:ln>
        </p:spPr>
      </p:sp>
      <p:sp>
        <p:nvSpPr>
          <p:cNvPr id="654347" name="直接连接符 654346"/>
          <p:cNvSpPr/>
          <p:nvPr/>
        </p:nvSpPr>
        <p:spPr>
          <a:xfrm>
            <a:off x="3749675" y="1417638"/>
            <a:ext cx="0" cy="0"/>
          </a:xfrm>
          <a:prstGeom prst="line">
            <a:avLst/>
          </a:prstGeom>
          <a:ln w="12700" cap="rnd" cmpd="sng">
            <a:solidFill>
              <a:srgbClr val="000000"/>
            </a:solidFill>
            <a:prstDash val="solid"/>
            <a:headEnd type="none" w="med" len="med"/>
            <a:tailEnd type="none" w="med" len="med"/>
          </a:ln>
        </p:spPr>
      </p:sp>
      <p:sp>
        <p:nvSpPr>
          <p:cNvPr id="654348" name="直接连接符 654347"/>
          <p:cNvSpPr/>
          <p:nvPr/>
        </p:nvSpPr>
        <p:spPr>
          <a:xfrm>
            <a:off x="3749675" y="1541463"/>
            <a:ext cx="0" cy="0"/>
          </a:xfrm>
          <a:prstGeom prst="line">
            <a:avLst/>
          </a:prstGeom>
          <a:ln w="12700" cap="rnd" cmpd="sng">
            <a:solidFill>
              <a:srgbClr val="000000"/>
            </a:solidFill>
            <a:prstDash val="solid"/>
            <a:headEnd type="none" w="med" len="med"/>
            <a:tailEnd type="none" w="med" len="med"/>
          </a:ln>
        </p:spPr>
      </p:sp>
      <p:sp>
        <p:nvSpPr>
          <p:cNvPr id="654349" name="直接连接符 654348"/>
          <p:cNvSpPr/>
          <p:nvPr/>
        </p:nvSpPr>
        <p:spPr>
          <a:xfrm>
            <a:off x="3686175" y="1957388"/>
            <a:ext cx="0" cy="0"/>
          </a:xfrm>
          <a:prstGeom prst="line">
            <a:avLst/>
          </a:prstGeom>
          <a:ln w="12700" cap="rnd" cmpd="sng">
            <a:solidFill>
              <a:srgbClr val="000000"/>
            </a:solidFill>
            <a:prstDash val="solid"/>
            <a:headEnd type="none" w="med" len="med"/>
            <a:tailEnd type="none" w="med" len="med"/>
          </a:ln>
        </p:spPr>
      </p:sp>
      <p:graphicFrame>
        <p:nvGraphicFramePr>
          <p:cNvPr id="654350" name="表格 654349"/>
          <p:cNvGraphicFramePr/>
          <p:nvPr/>
        </p:nvGraphicFramePr>
        <p:xfrm>
          <a:off x="323850" y="869950"/>
          <a:ext cx="8640763" cy="5151374"/>
        </p:xfrm>
        <a:graphic>
          <a:graphicData uri="http://schemas.openxmlformats.org/drawingml/2006/table">
            <a:tbl>
              <a:tblPr/>
              <a:tblGrid>
                <a:gridCol w="719138">
                  <a:extLst>
                    <a:ext uri="{9D8B030D-6E8A-4147-A177-3AD203B41FA5}">
                      <a16:colId xmlns:a16="http://schemas.microsoft.com/office/drawing/2014/main" val="20000"/>
                    </a:ext>
                  </a:extLst>
                </a:gridCol>
                <a:gridCol w="43338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215900">
                  <a:extLst>
                    <a:ext uri="{9D8B030D-6E8A-4147-A177-3AD203B41FA5}">
                      <a16:colId xmlns:a16="http://schemas.microsoft.com/office/drawing/2014/main" val="20003"/>
                    </a:ext>
                  </a:extLst>
                </a:gridCol>
                <a:gridCol w="1008063">
                  <a:extLst>
                    <a:ext uri="{9D8B030D-6E8A-4147-A177-3AD203B41FA5}">
                      <a16:colId xmlns:a16="http://schemas.microsoft.com/office/drawing/2014/main" val="20004"/>
                    </a:ext>
                  </a:extLst>
                </a:gridCol>
                <a:gridCol w="215900">
                  <a:extLst>
                    <a:ext uri="{9D8B030D-6E8A-4147-A177-3AD203B41FA5}">
                      <a16:colId xmlns:a16="http://schemas.microsoft.com/office/drawing/2014/main" val="20005"/>
                    </a:ext>
                  </a:extLst>
                </a:gridCol>
                <a:gridCol w="1012825">
                  <a:extLst>
                    <a:ext uri="{9D8B030D-6E8A-4147-A177-3AD203B41FA5}">
                      <a16:colId xmlns:a16="http://schemas.microsoft.com/office/drawing/2014/main" val="20006"/>
                    </a:ext>
                  </a:extLst>
                </a:gridCol>
                <a:gridCol w="211137">
                  <a:extLst>
                    <a:ext uri="{9D8B030D-6E8A-4147-A177-3AD203B41FA5}">
                      <a16:colId xmlns:a16="http://schemas.microsoft.com/office/drawing/2014/main" val="20007"/>
                    </a:ext>
                  </a:extLst>
                </a:gridCol>
                <a:gridCol w="1179513">
                  <a:extLst>
                    <a:ext uri="{9D8B030D-6E8A-4147-A177-3AD203B41FA5}">
                      <a16:colId xmlns:a16="http://schemas.microsoft.com/office/drawing/2014/main" val="20008"/>
                    </a:ext>
                  </a:extLst>
                </a:gridCol>
                <a:gridCol w="182562">
                  <a:extLst>
                    <a:ext uri="{9D8B030D-6E8A-4147-A177-3AD203B41FA5}">
                      <a16:colId xmlns:a16="http://schemas.microsoft.com/office/drawing/2014/main" val="20009"/>
                    </a:ext>
                  </a:extLst>
                </a:gridCol>
                <a:gridCol w="1158875">
                  <a:extLst>
                    <a:ext uri="{9D8B030D-6E8A-4147-A177-3AD203B41FA5}">
                      <a16:colId xmlns:a16="http://schemas.microsoft.com/office/drawing/2014/main" val="20010"/>
                    </a:ext>
                  </a:extLst>
                </a:gridCol>
                <a:gridCol w="360363">
                  <a:extLst>
                    <a:ext uri="{9D8B030D-6E8A-4147-A177-3AD203B41FA5}">
                      <a16:colId xmlns:a16="http://schemas.microsoft.com/office/drawing/2014/main" val="20011"/>
                    </a:ext>
                  </a:extLst>
                </a:gridCol>
                <a:gridCol w="1079500">
                  <a:extLst>
                    <a:ext uri="{9D8B030D-6E8A-4147-A177-3AD203B41FA5}">
                      <a16:colId xmlns:a16="http://schemas.microsoft.com/office/drawing/2014/main" val="20012"/>
                    </a:ext>
                  </a:extLst>
                </a:gridCol>
              </a:tblGrid>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学    号</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姓    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性    别</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照片</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extLst>
                  <a:ext uri="{0D108BD9-81ED-4DB2-BD59-A6C34878D82A}">
                    <a16:rowId xmlns:a16="http://schemas.microsoft.com/office/drawing/2014/main" val="10000"/>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出生日期</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籍    贯</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入学日期</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1"/>
                  </a:ext>
                </a:extLst>
              </a:tr>
              <a:tr h="557213">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父亲姓名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母亲姓名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85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家庭联系</a:t>
                      </a:r>
                    </a:p>
                    <a:p>
                      <a:pPr marL="0" lvl="0" indent="0" algn="ctr" defTabSz="914400">
                        <a:lnSpc>
                          <a:spcPct val="85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方      式</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2"/>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家庭住址</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邮政编码</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3"/>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所学专业</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专业代码</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vMerge="1">
                  <a:txBody>
                    <a:bodyPr/>
                    <a:lstStyle/>
                    <a:p>
                      <a:endParaRPr lang="zh-CN"/>
                    </a:p>
                  </a:txBody>
                  <a:tcPr>
                    <a:lnL w="12700" cap="flat" cmpd="sng">
                      <a:solidFill>
                        <a:srgbClr val="000000"/>
                      </a:solidFill>
                      <a:prstDash val="solid"/>
                      <a:headEnd type="none" w="med" len="med"/>
                      <a:tailEnd type="none" w="med" len="med"/>
                    </a:lnL>
                    <a:lnB w="12700" cap="flat" cmpd="sng">
                      <a:solidFill>
                        <a:srgbClr val="000000"/>
                      </a:solidFill>
                      <a:prstDash val="solid"/>
                      <a:headEnd type="none" w="med" len="med"/>
                      <a:tailEnd type="none" w="med" len="med"/>
                    </a:lnB>
                  </a:tcPr>
                </a:tc>
                <a:tc hMerge="1" vMerge="1">
                  <a:txBody>
                    <a:bodyPr/>
                    <a:lstStyle/>
                    <a:p>
                      <a:endParaRPr lang="zh-CN"/>
                    </a:p>
                  </a:txBody>
                  <a:tcPr>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4"/>
                  </a:ext>
                </a:extLst>
              </a:tr>
              <a:tr h="447675">
                <a:tc rowSpan="7">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主</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要</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经</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历</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起始年月</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学习</a:t>
                      </a:r>
                      <a:r>
                        <a:rPr lang="en-US" altLang="zh-CN" sz="1800" b="0">
                          <a:effectLst/>
                          <a:latin typeface="华文中宋" panose="02010600040101010101" pitchFamily="2" charset="-122"/>
                          <a:ea typeface="华文中宋" panose="02010600040101010101" pitchFamily="2" charset="-122"/>
                        </a:rPr>
                        <a:t>/</a:t>
                      </a:r>
                      <a:r>
                        <a:rPr lang="zh-CN" altLang="en-US" sz="1800" b="0" dirty="0">
                          <a:effectLst/>
                          <a:latin typeface="华文中宋" panose="02010600040101010101" pitchFamily="2" charset="-122"/>
                          <a:ea typeface="华文中宋" panose="02010600040101010101" pitchFamily="2" charset="-122"/>
                        </a:rPr>
                        <a:t>工作单位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 职  业</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担任职务</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备  注</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8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9563">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9563">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125">
                <a:tc row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入学信息</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准考证号</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语文成绩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数学成绩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512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总 成 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英语成绩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综合成绩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654458" name="矩形 654457"/>
          <p:cNvSpPr/>
          <p:nvPr/>
        </p:nvSpPr>
        <p:spPr>
          <a:xfrm>
            <a:off x="3132138" y="374650"/>
            <a:ext cx="3181350" cy="427038"/>
          </a:xfrm>
          <a:prstGeom prst="rect">
            <a:avLst/>
          </a:prstGeom>
          <a:noFill/>
          <a:ln w="9525">
            <a:noFill/>
          </a:ln>
        </p:spPr>
        <p:txBody>
          <a:bodyPr wrap="none" anchor="ctr">
            <a:spAutoFit/>
          </a:bodyPr>
          <a:lstStyle/>
          <a:p>
            <a:r>
              <a:rPr lang="zh-CN" altLang="en-US" sz="2200" dirty="0">
                <a:solidFill>
                  <a:srgbClr val="660033"/>
                </a:solidFill>
                <a:latin typeface="黑体" panose="02010609060101010101" pitchFamily="2" charset="-122"/>
                <a:ea typeface="黑体" panose="02010609060101010101" pitchFamily="2" charset="-122"/>
              </a:rPr>
              <a:t>表</a:t>
            </a:r>
            <a:r>
              <a:rPr lang="en-US" altLang="zh-CN" sz="2200">
                <a:solidFill>
                  <a:srgbClr val="660033"/>
                </a:solidFill>
                <a:latin typeface="黑体" panose="02010609060101010101" pitchFamily="2" charset="-122"/>
                <a:ea typeface="黑体" panose="02010609060101010101" pitchFamily="2" charset="-122"/>
              </a:rPr>
              <a:t>3.2</a:t>
            </a:r>
            <a:r>
              <a:rPr lang="en-US" altLang="zh-CN" sz="2200">
                <a:latin typeface="黑体" panose="02010609060101010101" pitchFamily="2" charset="-122"/>
                <a:ea typeface="黑体" panose="02010609060101010101" pitchFamily="2" charset="-122"/>
              </a:rPr>
              <a:t>  </a:t>
            </a:r>
            <a:r>
              <a:rPr lang="zh-CN" altLang="en-US" sz="2200" dirty="0">
                <a:solidFill>
                  <a:srgbClr val="003366"/>
                </a:solidFill>
                <a:latin typeface="黑体" panose="02010609060101010101" pitchFamily="2" charset="-122"/>
                <a:ea typeface="黑体" panose="02010609060101010101" pitchFamily="2" charset="-122"/>
              </a:rPr>
              <a:t>大学学生学籍表</a:t>
            </a:r>
            <a:r>
              <a:rPr lang="zh-CN" altLang="en-US" dirty="0">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27658"/>
    </mc:Choice>
    <mc:Fallback xmlns="">
      <p:transition spd="slow" advTm="2765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2" name="矩形 677891"/>
          <p:cNvSpPr/>
          <p:nvPr/>
        </p:nvSpPr>
        <p:spPr>
          <a:xfrm>
            <a:off x="900113" y="188913"/>
            <a:ext cx="8186737" cy="6477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一、属性表表示的概念结构向关系模型的转换</a:t>
            </a:r>
            <a:endParaRPr lang="en-US" altLang="zh-CN" sz="3100"/>
          </a:p>
        </p:txBody>
      </p:sp>
      <p:sp>
        <p:nvSpPr>
          <p:cNvPr id="677893" name="矩形 677892"/>
          <p:cNvSpPr/>
          <p:nvPr/>
        </p:nvSpPr>
        <p:spPr>
          <a:xfrm>
            <a:off x="466725" y="112553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zh-CN" altLang="en-US" b="0" dirty="0">
                <a:solidFill>
                  <a:srgbClr val="660033"/>
                </a:solidFill>
                <a:effectLst/>
                <a:latin typeface="黑体" panose="02010609060101010101" pitchFamily="2" charset="-122"/>
                <a:ea typeface="黑体" panose="02010609060101010101" pitchFamily="2" charset="-122"/>
              </a:rPr>
              <a:t>例</a:t>
            </a:r>
            <a:r>
              <a:rPr lang="en-US" altLang="zh-CN" b="0">
                <a:solidFill>
                  <a:srgbClr val="660033"/>
                </a:solidFill>
                <a:effectLst/>
                <a:latin typeface="黑体" panose="02010609060101010101" pitchFamily="2" charset="-122"/>
                <a:ea typeface="黑体" panose="02010609060101010101" pitchFamily="2" charset="-122"/>
              </a:rPr>
              <a:t>3.7</a:t>
            </a:r>
            <a:r>
              <a:rPr lang="en-US" altLang="zh-CN"/>
              <a:t>  </a:t>
            </a:r>
            <a:r>
              <a:rPr lang="zh-CN" altLang="en-US" b="0" dirty="0">
                <a:effectLst/>
              </a:rPr>
              <a:t>将用表</a:t>
            </a:r>
            <a:r>
              <a:rPr lang="en-US" altLang="zh-CN" b="0">
                <a:effectLst/>
              </a:rPr>
              <a:t>3.2</a:t>
            </a:r>
            <a:r>
              <a:rPr lang="zh-CN" altLang="en-US" b="0" dirty="0">
                <a:effectLst/>
              </a:rPr>
              <a:t>表示的大学学生学籍子概念结构转换成关系模式。</a:t>
            </a:r>
            <a:r>
              <a:rPr lang="zh-CN" altLang="en-US" dirty="0"/>
              <a:t> </a:t>
            </a:r>
          </a:p>
          <a:p>
            <a:pPr lvl="0"/>
            <a:r>
              <a:rPr lang="zh-CN" altLang="en-US" dirty="0"/>
              <a:t>          </a:t>
            </a:r>
            <a:r>
              <a:rPr lang="zh-CN" altLang="en-US" sz="2600" dirty="0">
                <a:solidFill>
                  <a:srgbClr val="CC0000"/>
                </a:solidFill>
              </a:rPr>
              <a:t>主关系模式：</a:t>
            </a:r>
            <a:r>
              <a:rPr lang="zh-CN" altLang="en-US" sz="2600" dirty="0">
                <a:solidFill>
                  <a:srgbClr val="003366"/>
                </a:solidFill>
                <a:effectLst/>
                <a:ea typeface="黑体" panose="02010609060101010101" pitchFamily="2" charset="-122"/>
              </a:rPr>
              <a:t>学生学籍关系</a:t>
            </a:r>
            <a:r>
              <a:rPr lang="zh-CN" altLang="en-US" sz="2600" b="0" dirty="0">
                <a:effectLst/>
                <a:ea typeface="黑体" panose="02010609060101010101" pitchFamily="2" charset="-122"/>
              </a:rPr>
              <a:t>（</a:t>
            </a:r>
            <a:r>
              <a:rPr lang="zh-CN" altLang="en-US" sz="2600" dirty="0">
                <a:solidFill>
                  <a:srgbClr val="006666"/>
                </a:solidFill>
                <a:effectLst/>
                <a:ea typeface="黑体" panose="02010609060101010101" pitchFamily="2" charset="-122"/>
              </a:rPr>
              <a:t>学号</a:t>
            </a:r>
            <a:r>
              <a:rPr lang="zh-CN" altLang="en-US" sz="2600" b="0" dirty="0">
                <a:effectLst/>
                <a:ea typeface="黑体" panose="02010609060101010101" pitchFamily="2" charset="-122"/>
              </a:rPr>
              <a:t>，姓名，性别，出生日期，籍贯，入学日期，父亲姓名，母亲姓名，家庭联系电话，家庭住址，邮政编码，所学专业，专业代码，照片，准考证号，总成绩，语文成绩，数学成绩，英语成绩，综合成绩）；</a:t>
            </a:r>
          </a:p>
          <a:p>
            <a:pPr lvl="0"/>
            <a:r>
              <a:rPr lang="zh-CN" altLang="en-US" sz="2600" dirty="0">
                <a:solidFill>
                  <a:srgbClr val="CC0000"/>
                </a:solidFill>
              </a:rPr>
              <a:t>          子关系模式：</a:t>
            </a:r>
            <a:r>
              <a:rPr lang="zh-CN" altLang="en-US" sz="2600" dirty="0">
                <a:solidFill>
                  <a:srgbClr val="003366"/>
                </a:solidFill>
                <a:effectLst/>
                <a:latin typeface="黑体" panose="02010609060101010101" pitchFamily="2" charset="-122"/>
                <a:ea typeface="黑体" panose="02010609060101010101" pitchFamily="2" charset="-122"/>
              </a:rPr>
              <a:t>学生主要经历关系</a:t>
            </a:r>
            <a:r>
              <a:rPr lang="zh-CN" altLang="en-US" sz="2600" b="0" dirty="0">
                <a:effectLst/>
                <a:latin typeface="黑体" panose="02010609060101010101" pitchFamily="2" charset="-122"/>
                <a:ea typeface="黑体" panose="02010609060101010101" pitchFamily="2" charset="-122"/>
              </a:rPr>
              <a:t>（</a:t>
            </a:r>
            <a:r>
              <a:rPr lang="zh-CN" altLang="en-US" sz="2600" dirty="0">
                <a:solidFill>
                  <a:srgbClr val="006666"/>
                </a:solidFill>
                <a:effectLst/>
                <a:latin typeface="黑体" panose="02010609060101010101" pitchFamily="2" charset="-122"/>
                <a:ea typeface="黑体" panose="02010609060101010101" pitchFamily="2" charset="-122"/>
              </a:rPr>
              <a:t>学号</a:t>
            </a:r>
            <a:r>
              <a:rPr lang="zh-CN" altLang="en-US" sz="2600" b="0" dirty="0">
                <a:effectLst/>
                <a:latin typeface="黑体" panose="02010609060101010101" pitchFamily="2" charset="-122"/>
                <a:ea typeface="黑体" panose="02010609060101010101" pitchFamily="2" charset="-122"/>
              </a:rPr>
              <a:t>，</a:t>
            </a:r>
            <a:r>
              <a:rPr lang="zh-CN" altLang="en-US" sz="2600" dirty="0">
                <a:solidFill>
                  <a:srgbClr val="006666"/>
                </a:solidFill>
                <a:effectLst/>
                <a:latin typeface="黑体" panose="02010609060101010101" pitchFamily="2" charset="-122"/>
                <a:ea typeface="黑体" panose="02010609060101010101" pitchFamily="2" charset="-122"/>
              </a:rPr>
              <a:t>起始年月</a:t>
            </a:r>
            <a:r>
              <a:rPr lang="zh-CN" altLang="en-US" sz="2600" b="0" dirty="0">
                <a:effectLst/>
                <a:latin typeface="黑体" panose="02010609060101010101" pitchFamily="2" charset="-122"/>
                <a:ea typeface="黑体" panose="02010609060101010101" pitchFamily="2" charset="-122"/>
              </a:rPr>
              <a:t>，学习或工作单位，职业，担任职务，备注）。  </a:t>
            </a:r>
          </a:p>
        </p:txBody>
      </p:sp>
    </p:spTree>
  </p:cSld>
  <p:clrMapOvr>
    <a:masterClrMapping/>
  </p:clrMapOvr>
  <mc:AlternateContent xmlns:mc="http://schemas.openxmlformats.org/markup-compatibility/2006" xmlns:p14="http://schemas.microsoft.com/office/powerpoint/2010/main">
    <mc:Choice Requires="p14">
      <p:transition spd="slow" p14:dur="2000" advTm="40233"/>
    </mc:Choice>
    <mc:Fallback xmlns="">
      <p:transition spd="slow" advTm="402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77893">
                                            <p:txEl>
                                              <p:pRg st="1" end="1"/>
                                            </p:txEl>
                                          </p:spTgt>
                                        </p:tgtEl>
                                        <p:attrNameLst>
                                          <p:attrName>style.visibility</p:attrName>
                                        </p:attrNameLst>
                                      </p:cBhvr>
                                      <p:to>
                                        <p:strVal val="visible"/>
                                      </p:to>
                                    </p:set>
                                    <p:animEffect transition="in" filter="wipe(up)">
                                      <p:cBhvr>
                                        <p:cTn id="7" dur="1000"/>
                                        <p:tgtEl>
                                          <p:spTgt spid="677893">
                                            <p:txEl>
                                              <p:pRg st="1" end="1"/>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677893">
                                            <p:txEl>
                                              <p:pRg st="2" end="2"/>
                                            </p:txEl>
                                          </p:spTgt>
                                        </p:tgtEl>
                                        <p:attrNameLst>
                                          <p:attrName>style.visibility</p:attrName>
                                        </p:attrNameLst>
                                      </p:cBhvr>
                                      <p:to>
                                        <p:strVal val="visible"/>
                                      </p:to>
                                    </p:set>
                                    <p:animEffect transition="in" filter="wipe(up)">
                                      <p:cBhvr>
                                        <p:cTn id="11" dur="1000"/>
                                        <p:tgtEl>
                                          <p:spTgt spid="67789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7" name="矩形 453636"/>
          <p:cNvSpPr/>
          <p:nvPr/>
        </p:nvSpPr>
        <p:spPr>
          <a:xfrm>
            <a:off x="468313" y="1196975"/>
            <a:ext cx="8207375"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sz="3000">
                <a:solidFill>
                  <a:srgbClr val="660033"/>
                </a:solidFill>
                <a:ea typeface="华文新魏" panose="02010800040101010101" pitchFamily="2" charset="-122"/>
              </a:rPr>
              <a:t>         1</a:t>
            </a:r>
            <a:r>
              <a:rPr lang="zh-CN" altLang="en-US" sz="3000" dirty="0">
                <a:solidFill>
                  <a:srgbClr val="660033"/>
                </a:solidFill>
                <a:ea typeface="华文新魏" panose="02010800040101010101" pitchFamily="2" charset="-122"/>
              </a:rPr>
              <a:t>、多对多联系向关系模型的转换</a:t>
            </a:r>
          </a:p>
          <a:p>
            <a:pPr lvl="0">
              <a:lnSpc>
                <a:spcPct val="130000"/>
              </a:lnSpc>
            </a:pPr>
            <a:r>
              <a:rPr lang="zh-CN" altLang="en-US" dirty="0"/>
              <a:t>          </a:t>
            </a:r>
            <a:r>
              <a:rPr lang="zh-CN" altLang="en-US" b="0" dirty="0">
                <a:latin typeface="黑体" panose="02010609060101010101" pitchFamily="2" charset="-122"/>
                <a:ea typeface="黑体" panose="02010609060101010101" pitchFamily="2" charset="-122"/>
              </a:rPr>
              <a:t>当两个实体集间的联系为</a:t>
            </a:r>
            <a:r>
              <a:rPr lang="en-US" altLang="zh-CN" b="0">
                <a:latin typeface="黑体" panose="02010609060101010101" pitchFamily="2" charset="-122"/>
                <a:ea typeface="黑体" panose="02010609060101010101" pitchFamily="2" charset="-122"/>
              </a:rPr>
              <a:t>M∶N</a:t>
            </a:r>
            <a:r>
              <a:rPr lang="zh-CN" altLang="en-US" b="0" dirty="0">
                <a:latin typeface="黑体" panose="02010609060101010101" pitchFamily="2" charset="-122"/>
                <a:ea typeface="黑体" panose="02010609060101010101" pitchFamily="2" charset="-122"/>
              </a:rPr>
              <a:t>联系时，每一个实体集用一个单独的关系模式表示，该关系模式的属性用相应实体集的属性表示，关系的键用相应实体集的主码表示。</a:t>
            </a:r>
            <a:r>
              <a:rPr lang="zh-CN" altLang="en-US" dirty="0">
                <a:solidFill>
                  <a:srgbClr val="003366"/>
                </a:solidFill>
                <a:latin typeface="黑体" panose="02010609060101010101" pitchFamily="2" charset="-122"/>
                <a:ea typeface="黑体" panose="02010609060101010101" pitchFamily="2" charset="-122"/>
              </a:rPr>
              <a:t>联系集也用一个单独的关系模式表示，该关系模式的属性用该联系集的属性表示，关系的键用该联系集的主码表示。</a:t>
            </a:r>
          </a:p>
        </p:txBody>
      </p:sp>
      <p:sp>
        <p:nvSpPr>
          <p:cNvPr id="453638" name="矩形 453637"/>
          <p:cNvSpPr/>
          <p:nvPr/>
        </p:nvSpPr>
        <p:spPr>
          <a:xfrm>
            <a:off x="900113" y="188913"/>
            <a:ext cx="8186737" cy="6477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二</a:t>
            </a:r>
            <a:r>
              <a:rPr lang="zh-CN" altLang="en-US" sz="3000" dirty="0"/>
              <a:t>、</a:t>
            </a:r>
            <a:r>
              <a:rPr lang="en-US" altLang="zh-CN" sz="3000"/>
              <a:t>E</a:t>
            </a:r>
            <a:r>
              <a:rPr lang="en-US" altLang="zh-CN" sz="3000">
                <a:latin typeface="Arial" panose="020B0604020202020204" pitchFamily="34" charset="0"/>
              </a:rPr>
              <a:t>—</a:t>
            </a:r>
            <a:r>
              <a:rPr lang="en-US" altLang="zh-CN" sz="3000"/>
              <a:t>R</a:t>
            </a:r>
            <a:r>
              <a:rPr lang="zh-CN" altLang="en-US" sz="3000" dirty="0"/>
              <a:t>图表示的概念结构向关系模型的转换</a:t>
            </a:r>
            <a:endParaRPr lang="en-US" altLang="zh-CN" sz="300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996"/>
    </mc:Choice>
    <mc:Fallback xmlns="">
      <p:transition spd="slow" advTm="449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53637">
                                            <p:txEl>
                                              <p:pRg st="0" end="0"/>
                                            </p:txEl>
                                          </p:spTgt>
                                        </p:tgtEl>
                                        <p:attrNameLst>
                                          <p:attrName>style.visibility</p:attrName>
                                        </p:attrNameLst>
                                      </p:cBhvr>
                                      <p:to>
                                        <p:strVal val="visible"/>
                                      </p:to>
                                    </p:set>
                                    <p:animEffect transition="in" filter="wipe(up)">
                                      <p:cBhvr>
                                        <p:cTn id="7" dur="500"/>
                                        <p:tgtEl>
                                          <p:spTgt spid="453637">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53637">
                                            <p:txEl>
                                              <p:pRg st="1" end="1"/>
                                            </p:txEl>
                                          </p:spTgt>
                                        </p:tgtEl>
                                        <p:attrNameLst>
                                          <p:attrName>style.visibility</p:attrName>
                                        </p:attrNameLst>
                                      </p:cBhvr>
                                      <p:to>
                                        <p:strVal val="visible"/>
                                      </p:to>
                                    </p:set>
                                    <p:animEffect transition="in" filter="wipe(up)">
                                      <p:cBhvr>
                                        <p:cTn id="11" dur="1000"/>
                                        <p:tgtEl>
                                          <p:spTgt spid="4536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40" name="矩形 603139"/>
          <p:cNvSpPr/>
          <p:nvPr/>
        </p:nvSpPr>
        <p:spPr>
          <a:xfrm>
            <a:off x="42863" y="131763"/>
            <a:ext cx="8820150" cy="1295400"/>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grpSp>
        <p:nvGrpSpPr>
          <p:cNvPr id="603221" name="组合 603220"/>
          <p:cNvGrpSpPr/>
          <p:nvPr/>
        </p:nvGrpSpPr>
        <p:grpSpPr>
          <a:xfrm>
            <a:off x="42863" y="131763"/>
            <a:ext cx="9037637" cy="6321425"/>
            <a:chOff x="27" y="83"/>
            <a:chExt cx="5693" cy="3982"/>
          </a:xfrm>
        </p:grpSpPr>
        <p:grpSp>
          <p:nvGrpSpPr>
            <p:cNvPr id="603222" name="组合 603221"/>
            <p:cNvGrpSpPr/>
            <p:nvPr/>
          </p:nvGrpSpPr>
          <p:grpSpPr>
            <a:xfrm>
              <a:off x="27" y="83"/>
              <a:ext cx="5693" cy="3529"/>
              <a:chOff x="27" y="83"/>
              <a:chExt cx="5693" cy="3529"/>
            </a:xfrm>
          </p:grpSpPr>
          <p:sp>
            <p:nvSpPr>
              <p:cNvPr id="603223" name="矩形 603222"/>
              <p:cNvSpPr/>
              <p:nvPr/>
            </p:nvSpPr>
            <p:spPr>
              <a:xfrm>
                <a:off x="27" y="83"/>
                <a:ext cx="5556" cy="816"/>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603224" name="椭圆 603223"/>
              <p:cNvSpPr/>
              <p:nvPr/>
            </p:nvSpPr>
            <p:spPr>
              <a:xfrm>
                <a:off x="799" y="355"/>
                <a:ext cx="709" cy="338"/>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专业名称</a:t>
                </a:r>
              </a:p>
            </p:txBody>
          </p:sp>
          <p:sp>
            <p:nvSpPr>
              <p:cNvPr id="603225" name="椭圆 603224"/>
              <p:cNvSpPr/>
              <p:nvPr/>
            </p:nvSpPr>
            <p:spPr>
              <a:xfrm>
                <a:off x="1603" y="355"/>
                <a:ext cx="697" cy="335"/>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603226" name="椭圆 603225"/>
              <p:cNvSpPr/>
              <p:nvPr/>
            </p:nvSpPr>
            <p:spPr>
              <a:xfrm>
                <a:off x="2356" y="355"/>
                <a:ext cx="449"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603227" name="椭圆 603226"/>
              <p:cNvSpPr/>
              <p:nvPr/>
            </p:nvSpPr>
            <p:spPr>
              <a:xfrm>
                <a:off x="2859" y="355"/>
                <a:ext cx="452"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班级</a:t>
                </a:r>
              </a:p>
            </p:txBody>
          </p:sp>
          <p:sp>
            <p:nvSpPr>
              <p:cNvPr id="603228" name="椭圆 603227"/>
              <p:cNvSpPr/>
              <p:nvPr/>
            </p:nvSpPr>
            <p:spPr>
              <a:xfrm>
                <a:off x="3361" y="355"/>
                <a:ext cx="446"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603229" name="椭圆 603228"/>
              <p:cNvSpPr/>
              <p:nvPr/>
            </p:nvSpPr>
            <p:spPr>
              <a:xfrm>
                <a:off x="3864" y="355"/>
                <a:ext cx="448"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603230" name="椭圆 603229"/>
              <p:cNvSpPr/>
              <p:nvPr/>
            </p:nvSpPr>
            <p:spPr>
              <a:xfrm>
                <a:off x="4366" y="355"/>
                <a:ext cx="453"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603231" name="椭圆 603230"/>
              <p:cNvSpPr/>
              <p:nvPr/>
            </p:nvSpPr>
            <p:spPr>
              <a:xfrm>
                <a:off x="45" y="355"/>
                <a:ext cx="703" cy="335"/>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603232" name="椭圆 603231"/>
              <p:cNvSpPr/>
              <p:nvPr/>
            </p:nvSpPr>
            <p:spPr>
              <a:xfrm>
                <a:off x="4919" y="355"/>
                <a:ext cx="714" cy="33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603233" name="矩形 603232"/>
              <p:cNvSpPr/>
              <p:nvPr/>
            </p:nvSpPr>
            <p:spPr>
              <a:xfrm>
                <a:off x="497" y="892"/>
                <a:ext cx="603" cy="246"/>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a:t>
                </a:r>
              </a:p>
            </p:txBody>
          </p:sp>
          <p:sp>
            <p:nvSpPr>
              <p:cNvPr id="603234" name="流程图: 决策 603233"/>
              <p:cNvSpPr/>
              <p:nvPr/>
            </p:nvSpPr>
            <p:spPr>
              <a:xfrm>
                <a:off x="2160" y="840"/>
                <a:ext cx="954" cy="35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归属</a:t>
                </a:r>
              </a:p>
            </p:txBody>
          </p:sp>
          <p:sp>
            <p:nvSpPr>
              <p:cNvPr id="603235" name="矩形 603234"/>
              <p:cNvSpPr/>
              <p:nvPr/>
            </p:nvSpPr>
            <p:spPr>
              <a:xfrm>
                <a:off x="4057" y="840"/>
                <a:ext cx="607" cy="249"/>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学生</a:t>
                </a:r>
              </a:p>
            </p:txBody>
          </p:sp>
          <p:sp>
            <p:nvSpPr>
              <p:cNvPr id="603236" name="椭圆 603235"/>
              <p:cNvSpPr/>
              <p:nvPr/>
            </p:nvSpPr>
            <p:spPr>
              <a:xfrm>
                <a:off x="5274" y="794"/>
                <a:ext cx="446" cy="259"/>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籍贯</a:t>
                </a:r>
              </a:p>
            </p:txBody>
          </p:sp>
          <p:sp>
            <p:nvSpPr>
              <p:cNvPr id="603237" name="流程图: 决策 603236"/>
              <p:cNvSpPr/>
              <p:nvPr/>
            </p:nvSpPr>
            <p:spPr>
              <a:xfrm>
                <a:off x="1100" y="1193"/>
                <a:ext cx="963" cy="339"/>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设置</a:t>
                </a:r>
              </a:p>
            </p:txBody>
          </p:sp>
          <p:sp>
            <p:nvSpPr>
              <p:cNvPr id="603238" name="流程图: 决策 603237"/>
              <p:cNvSpPr/>
              <p:nvPr/>
            </p:nvSpPr>
            <p:spPr>
              <a:xfrm>
                <a:off x="3211" y="1193"/>
                <a:ext cx="953" cy="325"/>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学习</a:t>
                </a:r>
              </a:p>
            </p:txBody>
          </p:sp>
          <p:sp>
            <p:nvSpPr>
              <p:cNvPr id="603239" name="椭圆 603238"/>
              <p:cNvSpPr/>
              <p:nvPr/>
            </p:nvSpPr>
            <p:spPr>
              <a:xfrm>
                <a:off x="4567" y="1100"/>
                <a:ext cx="448" cy="278"/>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603240" name="椭圆 603239"/>
              <p:cNvSpPr/>
              <p:nvPr/>
            </p:nvSpPr>
            <p:spPr>
              <a:xfrm>
                <a:off x="4989" y="1272"/>
                <a:ext cx="603" cy="29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603241" name="椭圆 603240"/>
              <p:cNvSpPr/>
              <p:nvPr/>
            </p:nvSpPr>
            <p:spPr>
              <a:xfrm>
                <a:off x="4718" y="1518"/>
                <a:ext cx="452" cy="279"/>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分数</a:t>
                </a:r>
              </a:p>
            </p:txBody>
          </p:sp>
          <p:sp>
            <p:nvSpPr>
              <p:cNvPr id="603242" name="流程图: 过程 603241"/>
              <p:cNvSpPr/>
              <p:nvPr/>
            </p:nvSpPr>
            <p:spPr>
              <a:xfrm>
                <a:off x="2306" y="1582"/>
                <a:ext cx="617"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a:t>
                </a:r>
              </a:p>
            </p:txBody>
          </p:sp>
          <p:sp>
            <p:nvSpPr>
              <p:cNvPr id="603243" name="流程图: 决策 603242"/>
              <p:cNvSpPr/>
              <p:nvPr/>
            </p:nvSpPr>
            <p:spPr>
              <a:xfrm>
                <a:off x="2155" y="2077"/>
                <a:ext cx="957" cy="34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讲授</a:t>
                </a:r>
              </a:p>
            </p:txBody>
          </p:sp>
          <p:sp>
            <p:nvSpPr>
              <p:cNvPr id="603244" name="流程图: 过程 603243"/>
              <p:cNvSpPr/>
              <p:nvPr/>
            </p:nvSpPr>
            <p:spPr>
              <a:xfrm>
                <a:off x="2306" y="2714"/>
                <a:ext cx="612"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教师</a:t>
                </a:r>
              </a:p>
            </p:txBody>
          </p:sp>
          <p:sp>
            <p:nvSpPr>
              <p:cNvPr id="603245" name="椭圆 603244"/>
              <p:cNvSpPr/>
              <p:nvPr/>
            </p:nvSpPr>
            <p:spPr>
              <a:xfrm>
                <a:off x="95" y="1239"/>
                <a:ext cx="698"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603246" name="椭圆 603245"/>
              <p:cNvSpPr/>
              <p:nvPr/>
            </p:nvSpPr>
            <p:spPr>
              <a:xfrm>
                <a:off x="296" y="1657"/>
                <a:ext cx="603" cy="32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603247" name="椭圆 603246"/>
              <p:cNvSpPr/>
              <p:nvPr/>
            </p:nvSpPr>
            <p:spPr>
              <a:xfrm>
                <a:off x="1502" y="1877"/>
                <a:ext cx="603"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603248" name="椭圆 603247"/>
              <p:cNvSpPr/>
              <p:nvPr/>
            </p:nvSpPr>
            <p:spPr>
              <a:xfrm>
                <a:off x="3462" y="1565"/>
                <a:ext cx="448" cy="263"/>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学时</a:t>
                </a:r>
              </a:p>
            </p:txBody>
          </p:sp>
          <p:sp>
            <p:nvSpPr>
              <p:cNvPr id="603249" name="椭圆 603248"/>
              <p:cNvSpPr/>
              <p:nvPr/>
            </p:nvSpPr>
            <p:spPr>
              <a:xfrm>
                <a:off x="3311" y="1877"/>
                <a:ext cx="605"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课程名</a:t>
                </a:r>
              </a:p>
            </p:txBody>
          </p:sp>
          <p:sp>
            <p:nvSpPr>
              <p:cNvPr id="603250" name="椭圆 603249"/>
              <p:cNvSpPr/>
              <p:nvPr/>
            </p:nvSpPr>
            <p:spPr>
              <a:xfrm>
                <a:off x="289" y="2169"/>
                <a:ext cx="817"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603251" name="椭圆 603250"/>
              <p:cNvSpPr/>
              <p:nvPr/>
            </p:nvSpPr>
            <p:spPr>
              <a:xfrm>
                <a:off x="4216" y="2221"/>
                <a:ext cx="653" cy="24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603252" name="椭圆 603251"/>
              <p:cNvSpPr/>
              <p:nvPr/>
            </p:nvSpPr>
            <p:spPr>
              <a:xfrm>
                <a:off x="1251" y="2541"/>
                <a:ext cx="708" cy="328"/>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603253" name="椭圆 603252"/>
              <p:cNvSpPr/>
              <p:nvPr/>
            </p:nvSpPr>
            <p:spPr>
              <a:xfrm>
                <a:off x="3462" y="2589"/>
                <a:ext cx="710" cy="320"/>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电话号码</a:t>
                </a:r>
              </a:p>
            </p:txBody>
          </p:sp>
          <p:sp>
            <p:nvSpPr>
              <p:cNvPr id="603254" name="椭圆 603253"/>
              <p:cNvSpPr/>
              <p:nvPr/>
            </p:nvSpPr>
            <p:spPr>
              <a:xfrm>
                <a:off x="3663" y="3009"/>
                <a:ext cx="607" cy="32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教研室</a:t>
                </a:r>
              </a:p>
            </p:txBody>
          </p:sp>
          <p:sp>
            <p:nvSpPr>
              <p:cNvPr id="603255" name="椭圆 603254"/>
              <p:cNvSpPr/>
              <p:nvPr/>
            </p:nvSpPr>
            <p:spPr>
              <a:xfrm>
                <a:off x="1402" y="2914"/>
                <a:ext cx="435" cy="292"/>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603256" name="椭圆 603255"/>
              <p:cNvSpPr/>
              <p:nvPr/>
            </p:nvSpPr>
            <p:spPr>
              <a:xfrm>
                <a:off x="1703" y="3206"/>
                <a:ext cx="437" cy="31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603257" name="椭圆 603256"/>
              <p:cNvSpPr/>
              <p:nvPr/>
            </p:nvSpPr>
            <p:spPr>
              <a:xfrm>
                <a:off x="2284" y="3206"/>
                <a:ext cx="703" cy="40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603258" name="椭圆 603257"/>
              <p:cNvSpPr/>
              <p:nvPr/>
            </p:nvSpPr>
            <p:spPr>
              <a:xfrm>
                <a:off x="3138" y="3193"/>
                <a:ext cx="489" cy="32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职称</a:t>
                </a:r>
              </a:p>
            </p:txBody>
          </p:sp>
          <p:sp>
            <p:nvSpPr>
              <p:cNvPr id="603259" name="直接连接符 603258"/>
              <p:cNvSpPr/>
              <p:nvPr/>
            </p:nvSpPr>
            <p:spPr>
              <a:xfrm>
                <a:off x="497" y="695"/>
                <a:ext cx="2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0" name="直接连接符 603259"/>
              <p:cNvSpPr/>
              <p:nvPr/>
            </p:nvSpPr>
            <p:spPr>
              <a:xfrm flipH="1">
                <a:off x="949" y="695"/>
                <a:ext cx="3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1" name="直接连接符 603260"/>
              <p:cNvSpPr/>
              <p:nvPr/>
            </p:nvSpPr>
            <p:spPr>
              <a:xfrm>
                <a:off x="1100" y="991"/>
                <a:ext cx="10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2" name="直接连接符 603261"/>
              <p:cNvSpPr/>
              <p:nvPr/>
            </p:nvSpPr>
            <p:spPr>
              <a:xfrm>
                <a:off x="3110" y="991"/>
                <a:ext cx="9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3" name="直接连接符 603262"/>
              <p:cNvSpPr/>
              <p:nvPr/>
            </p:nvSpPr>
            <p:spPr>
              <a:xfrm>
                <a:off x="2055" y="695"/>
                <a:ext cx="4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4" name="直接连接符 603263"/>
              <p:cNvSpPr/>
              <p:nvPr/>
            </p:nvSpPr>
            <p:spPr>
              <a:xfrm>
                <a:off x="2608" y="646"/>
                <a:ext cx="50"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5" name="直接连接符 603264"/>
              <p:cNvSpPr/>
              <p:nvPr/>
            </p:nvSpPr>
            <p:spPr>
              <a:xfrm flipH="1">
                <a:off x="2859" y="646"/>
                <a:ext cx="20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6" name="直接连接符 603265"/>
              <p:cNvSpPr/>
              <p:nvPr/>
            </p:nvSpPr>
            <p:spPr>
              <a:xfrm>
                <a:off x="3670" y="639"/>
                <a:ext cx="43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7" name="直接连接符 603266"/>
              <p:cNvSpPr/>
              <p:nvPr/>
            </p:nvSpPr>
            <p:spPr>
              <a:xfrm>
                <a:off x="4115" y="639"/>
                <a:ext cx="10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8" name="直接连接符 603267"/>
              <p:cNvSpPr/>
              <p:nvPr/>
            </p:nvSpPr>
            <p:spPr>
              <a:xfrm flipH="1">
                <a:off x="4373" y="639"/>
                <a:ext cx="1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69" name="直接连接符 603268"/>
              <p:cNvSpPr/>
              <p:nvPr/>
            </p:nvSpPr>
            <p:spPr>
              <a:xfrm flipH="1">
                <a:off x="4567" y="663"/>
                <a:ext cx="530" cy="173"/>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0" name="直接连接符 603269"/>
              <p:cNvSpPr/>
              <p:nvPr/>
            </p:nvSpPr>
            <p:spPr>
              <a:xfrm flipV="1">
                <a:off x="4676" y="960"/>
                <a:ext cx="594"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1" name="直接连接符 603270"/>
              <p:cNvSpPr/>
              <p:nvPr/>
            </p:nvSpPr>
            <p:spPr>
              <a:xfrm flipH="1">
                <a:off x="3814" y="1089"/>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2" name="直接连接符 603271"/>
              <p:cNvSpPr/>
              <p:nvPr/>
            </p:nvSpPr>
            <p:spPr>
              <a:xfrm flipV="1">
                <a:off x="4165" y="1286"/>
                <a:ext cx="453"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3" name="直接连接符 603272"/>
              <p:cNvSpPr/>
              <p:nvPr/>
            </p:nvSpPr>
            <p:spPr>
              <a:xfrm>
                <a:off x="4086" y="1378"/>
                <a:ext cx="903" cy="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4" name="直接连接符 603273"/>
              <p:cNvSpPr/>
              <p:nvPr/>
            </p:nvSpPr>
            <p:spPr>
              <a:xfrm flipH="1" flipV="1">
                <a:off x="3945" y="1426"/>
                <a:ext cx="773" cy="2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5" name="直接连接符 603274"/>
              <p:cNvSpPr/>
              <p:nvPr/>
            </p:nvSpPr>
            <p:spPr>
              <a:xfrm>
                <a:off x="1904" y="1434"/>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6" name="直接连接符 603275"/>
              <p:cNvSpPr/>
              <p:nvPr/>
            </p:nvSpPr>
            <p:spPr>
              <a:xfrm flipV="1">
                <a:off x="2923" y="1434"/>
                <a:ext cx="496" cy="1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7" name="直接连接符 603276"/>
              <p:cNvSpPr/>
              <p:nvPr/>
            </p:nvSpPr>
            <p:spPr>
              <a:xfrm flipV="1">
                <a:off x="1811" y="1722"/>
                <a:ext cx="5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8" name="直接连接符 603277"/>
              <p:cNvSpPr/>
              <p:nvPr/>
            </p:nvSpPr>
            <p:spPr>
              <a:xfrm flipV="1">
                <a:off x="2923" y="1706"/>
                <a:ext cx="535" cy="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79" name="直接连接符 603278"/>
              <p:cNvSpPr/>
              <p:nvPr/>
            </p:nvSpPr>
            <p:spPr>
              <a:xfrm>
                <a:off x="2909" y="1828"/>
                <a:ext cx="402" cy="14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0" name="直接连接符 603279"/>
              <p:cNvSpPr/>
              <p:nvPr/>
            </p:nvSpPr>
            <p:spPr>
              <a:xfrm flipV="1">
                <a:off x="1100" y="2271"/>
                <a:ext cx="1055" cy="9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1" name="直接连接符 603280"/>
              <p:cNvSpPr/>
              <p:nvPr/>
            </p:nvSpPr>
            <p:spPr>
              <a:xfrm>
                <a:off x="3110" y="2250"/>
                <a:ext cx="1095" cy="91"/>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2" name="直接连接符 603281"/>
              <p:cNvSpPr/>
              <p:nvPr/>
            </p:nvSpPr>
            <p:spPr>
              <a:xfrm>
                <a:off x="2658" y="2418"/>
                <a:ext cx="1" cy="29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3" name="直接连接符 603282"/>
              <p:cNvSpPr/>
              <p:nvPr/>
            </p:nvSpPr>
            <p:spPr>
              <a:xfrm>
                <a:off x="1954" y="2763"/>
                <a:ext cx="352"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4" name="直接连接符 603283"/>
              <p:cNvSpPr/>
              <p:nvPr/>
            </p:nvSpPr>
            <p:spPr>
              <a:xfrm flipV="1">
                <a:off x="1832" y="2861"/>
                <a:ext cx="476"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5" name="直接连接符 603284"/>
              <p:cNvSpPr/>
              <p:nvPr/>
            </p:nvSpPr>
            <p:spPr>
              <a:xfrm flipV="1">
                <a:off x="2105" y="2960"/>
                <a:ext cx="251" cy="29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6" name="直接连接符 603285"/>
              <p:cNvSpPr/>
              <p:nvPr/>
            </p:nvSpPr>
            <p:spPr>
              <a:xfrm flipV="1">
                <a:off x="2658" y="2960"/>
                <a:ext cx="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7" name="直接连接符 603286"/>
              <p:cNvSpPr/>
              <p:nvPr/>
            </p:nvSpPr>
            <p:spPr>
              <a:xfrm flipH="1" flipV="1">
                <a:off x="2909" y="2960"/>
                <a:ext cx="402"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8" name="直接连接符 603287"/>
              <p:cNvSpPr/>
              <p:nvPr/>
            </p:nvSpPr>
            <p:spPr>
              <a:xfrm>
                <a:off x="2923" y="2861"/>
                <a:ext cx="754"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89" name="直接连接符 603288"/>
              <p:cNvSpPr/>
              <p:nvPr/>
            </p:nvSpPr>
            <p:spPr>
              <a:xfrm>
                <a:off x="2916" y="2763"/>
                <a:ext cx="546"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90" name="直接连接符 603289"/>
              <p:cNvSpPr/>
              <p:nvPr/>
            </p:nvSpPr>
            <p:spPr>
              <a:xfrm flipV="1">
                <a:off x="899" y="1483"/>
                <a:ext cx="503" cy="34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91" name="直接连接符 603290"/>
              <p:cNvSpPr/>
              <p:nvPr/>
            </p:nvSpPr>
            <p:spPr>
              <a:xfrm flipV="1">
                <a:off x="799" y="1371"/>
                <a:ext cx="301"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92" name="直接连接符 603291"/>
              <p:cNvSpPr/>
              <p:nvPr/>
            </p:nvSpPr>
            <p:spPr>
              <a:xfrm>
                <a:off x="892" y="1131"/>
                <a:ext cx="295" cy="19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603293" name="文本框 603292"/>
              <p:cNvSpPr txBox="1"/>
              <p:nvPr/>
            </p:nvSpPr>
            <p:spPr>
              <a:xfrm>
                <a:off x="1453" y="782"/>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1</a:t>
                </a:r>
              </a:p>
            </p:txBody>
          </p:sp>
          <p:sp>
            <p:nvSpPr>
              <p:cNvPr id="603294" name="文本框 603293"/>
              <p:cNvSpPr txBox="1"/>
              <p:nvPr/>
            </p:nvSpPr>
            <p:spPr>
              <a:xfrm>
                <a:off x="3412" y="801"/>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603295" name="文本框 603294"/>
              <p:cNvSpPr txBox="1"/>
              <p:nvPr/>
            </p:nvSpPr>
            <p:spPr>
              <a:xfrm>
                <a:off x="3763" y="1023"/>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603296" name="文本框 603295"/>
              <p:cNvSpPr txBox="1"/>
              <p:nvPr/>
            </p:nvSpPr>
            <p:spPr>
              <a:xfrm>
                <a:off x="1100" y="1121"/>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603297" name="文本框 603296"/>
              <p:cNvSpPr txBox="1"/>
              <p:nvPr/>
            </p:nvSpPr>
            <p:spPr>
              <a:xfrm>
                <a:off x="2105" y="1367"/>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603298" name="文本框 603297"/>
              <p:cNvSpPr txBox="1"/>
              <p:nvPr/>
            </p:nvSpPr>
            <p:spPr>
              <a:xfrm>
                <a:off x="2853" y="1360"/>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r">
                  <a:spcBef>
                    <a:spcPct val="50000"/>
                  </a:spcBef>
                </a:pPr>
                <a:r>
                  <a:rPr lang="en-US" altLang="zh-CN" b="1">
                    <a:latin typeface="Arial" panose="020B0604020202020204" pitchFamily="34" charset="0"/>
                  </a:rPr>
                  <a:t>N</a:t>
                </a:r>
              </a:p>
            </p:txBody>
          </p:sp>
          <p:sp>
            <p:nvSpPr>
              <p:cNvPr id="603299" name="文本框 603298"/>
              <p:cNvSpPr txBox="1"/>
              <p:nvPr/>
            </p:nvSpPr>
            <p:spPr>
              <a:xfrm>
                <a:off x="2658" y="1909"/>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N</a:t>
                </a:r>
              </a:p>
            </p:txBody>
          </p:sp>
          <p:sp>
            <p:nvSpPr>
              <p:cNvPr id="603300" name="文本框 603299"/>
              <p:cNvSpPr txBox="1"/>
              <p:nvPr/>
            </p:nvSpPr>
            <p:spPr>
              <a:xfrm>
                <a:off x="2658" y="2499"/>
                <a:ext cx="251"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M</a:t>
                </a:r>
              </a:p>
            </p:txBody>
          </p:sp>
          <p:sp>
            <p:nvSpPr>
              <p:cNvPr id="603301" name="直接连接符 603300"/>
              <p:cNvSpPr/>
              <p:nvPr/>
            </p:nvSpPr>
            <p:spPr>
              <a:xfrm flipV="1">
                <a:off x="2637" y="1828"/>
                <a:ext cx="1" cy="23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grpSp>
        <p:sp>
          <p:nvSpPr>
            <p:cNvPr id="603302" name="文本框 603301"/>
            <p:cNvSpPr txBox="1"/>
            <p:nvPr/>
          </p:nvSpPr>
          <p:spPr>
            <a:xfrm>
              <a:off x="739" y="3835"/>
              <a:ext cx="4137" cy="230"/>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zh-CN" altLang="en-US" sz="2400" b="1" dirty="0">
                  <a:latin typeface="楷体_GB2312" pitchFamily="49" charset="-122"/>
                  <a:ea typeface="楷体_GB2312" pitchFamily="49" charset="-122"/>
                </a:rPr>
                <a:t>图</a:t>
              </a:r>
              <a:r>
                <a:rPr lang="en-US" altLang="zh-CN" sz="2400" b="1">
                  <a:latin typeface="楷体_GB2312" pitchFamily="49" charset="-122"/>
                  <a:ea typeface="楷体_GB2312" pitchFamily="49" charset="-122"/>
                </a:rPr>
                <a:t>3.9 </a:t>
              </a:r>
              <a:r>
                <a:rPr lang="zh-CN" altLang="en-US" sz="2400" b="1" dirty="0">
                  <a:latin typeface="楷体_GB2312" pitchFamily="49" charset="-122"/>
                  <a:ea typeface="楷体_GB2312" pitchFamily="49" charset="-122"/>
                </a:rPr>
                <a:t>大学教学情况的实体</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联系模型</a:t>
              </a:r>
              <a:r>
                <a:rPr lang="en-US" altLang="zh-CN" sz="2400" b="1">
                  <a:latin typeface="楷体_GB2312" pitchFamily="49" charset="-122"/>
                  <a:ea typeface="楷体_GB2312" pitchFamily="49" charset="-122"/>
                </a:rPr>
                <a:t>(E-R</a:t>
              </a:r>
              <a:r>
                <a:rPr lang="zh-CN" altLang="en-US" sz="2400" b="1">
                  <a:latin typeface="楷体_GB2312" pitchFamily="49" charset="-122"/>
                  <a:ea typeface="楷体_GB2312" pitchFamily="49" charset="-122"/>
                </a:rPr>
                <a:t>图</a:t>
              </a:r>
              <a:r>
                <a:rPr lang="en-US" altLang="zh-CN" sz="2400" b="1">
                  <a:latin typeface="楷体_GB2312" pitchFamily="49" charset="-122"/>
                  <a:ea typeface="楷体_GB2312" pitchFamily="49" charset="-122"/>
                </a:rPr>
                <a:t>)</a:t>
              </a:r>
            </a:p>
          </p:txBody>
        </p:sp>
      </p:grpSp>
    </p:spTree>
  </p:cSld>
  <p:clrMapOvr>
    <a:masterClrMapping/>
  </p:clrMapOvr>
  <mc:AlternateContent xmlns:mc="http://schemas.openxmlformats.org/markup-compatibility/2006" xmlns:p14="http://schemas.microsoft.com/office/powerpoint/2010/main">
    <mc:Choice Requires="p14">
      <p:transition spd="slow" p14:dur="2000" advTm="14983"/>
    </mc:Choice>
    <mc:Fallback xmlns="">
      <p:transition spd="slow" advTm="1498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8" name="矩形 543747"/>
          <p:cNvSpPr/>
          <p:nvPr/>
        </p:nvSpPr>
        <p:spPr>
          <a:xfrm>
            <a:off x="71438" y="115888"/>
            <a:ext cx="8893175" cy="15843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grpSp>
        <p:nvGrpSpPr>
          <p:cNvPr id="543910" name="组合 543909"/>
          <p:cNvGrpSpPr/>
          <p:nvPr/>
        </p:nvGrpSpPr>
        <p:grpSpPr>
          <a:xfrm>
            <a:off x="42863" y="131763"/>
            <a:ext cx="9037637" cy="6321425"/>
            <a:chOff x="27" y="83"/>
            <a:chExt cx="5693" cy="3982"/>
          </a:xfrm>
        </p:grpSpPr>
        <p:grpSp>
          <p:nvGrpSpPr>
            <p:cNvPr id="543911" name="组合 543910"/>
            <p:cNvGrpSpPr/>
            <p:nvPr/>
          </p:nvGrpSpPr>
          <p:grpSpPr>
            <a:xfrm>
              <a:off x="27" y="83"/>
              <a:ext cx="5693" cy="3529"/>
              <a:chOff x="27" y="83"/>
              <a:chExt cx="5693" cy="3529"/>
            </a:xfrm>
          </p:grpSpPr>
          <p:sp>
            <p:nvSpPr>
              <p:cNvPr id="543912" name="矩形 543911"/>
              <p:cNvSpPr/>
              <p:nvPr/>
            </p:nvSpPr>
            <p:spPr>
              <a:xfrm>
                <a:off x="27" y="83"/>
                <a:ext cx="5556" cy="816"/>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543913" name="椭圆 543912"/>
              <p:cNvSpPr/>
              <p:nvPr/>
            </p:nvSpPr>
            <p:spPr>
              <a:xfrm>
                <a:off x="799" y="355"/>
                <a:ext cx="709" cy="338"/>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专业名称</a:t>
                </a:r>
              </a:p>
            </p:txBody>
          </p:sp>
          <p:sp>
            <p:nvSpPr>
              <p:cNvPr id="543914" name="椭圆 543913"/>
              <p:cNvSpPr/>
              <p:nvPr/>
            </p:nvSpPr>
            <p:spPr>
              <a:xfrm>
                <a:off x="1603" y="355"/>
                <a:ext cx="697" cy="335"/>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543915" name="椭圆 543914"/>
              <p:cNvSpPr/>
              <p:nvPr/>
            </p:nvSpPr>
            <p:spPr>
              <a:xfrm>
                <a:off x="2356" y="355"/>
                <a:ext cx="449"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543916" name="椭圆 543915"/>
              <p:cNvSpPr/>
              <p:nvPr/>
            </p:nvSpPr>
            <p:spPr>
              <a:xfrm>
                <a:off x="2859" y="355"/>
                <a:ext cx="452"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班级</a:t>
                </a:r>
              </a:p>
            </p:txBody>
          </p:sp>
          <p:sp>
            <p:nvSpPr>
              <p:cNvPr id="543917" name="椭圆 543916"/>
              <p:cNvSpPr/>
              <p:nvPr/>
            </p:nvSpPr>
            <p:spPr>
              <a:xfrm>
                <a:off x="3361" y="355"/>
                <a:ext cx="446"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543918" name="椭圆 543917"/>
              <p:cNvSpPr/>
              <p:nvPr/>
            </p:nvSpPr>
            <p:spPr>
              <a:xfrm>
                <a:off x="3864" y="355"/>
                <a:ext cx="448"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543919" name="椭圆 543918"/>
              <p:cNvSpPr/>
              <p:nvPr/>
            </p:nvSpPr>
            <p:spPr>
              <a:xfrm>
                <a:off x="4366" y="355"/>
                <a:ext cx="453"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543920" name="椭圆 543919"/>
              <p:cNvSpPr/>
              <p:nvPr/>
            </p:nvSpPr>
            <p:spPr>
              <a:xfrm>
                <a:off x="45" y="355"/>
                <a:ext cx="703" cy="335"/>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543921" name="椭圆 543920"/>
              <p:cNvSpPr/>
              <p:nvPr/>
            </p:nvSpPr>
            <p:spPr>
              <a:xfrm>
                <a:off x="4919" y="355"/>
                <a:ext cx="714" cy="33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543922" name="矩形 543921"/>
              <p:cNvSpPr/>
              <p:nvPr/>
            </p:nvSpPr>
            <p:spPr>
              <a:xfrm>
                <a:off x="497" y="892"/>
                <a:ext cx="603" cy="246"/>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a:t>
                </a:r>
              </a:p>
            </p:txBody>
          </p:sp>
          <p:sp>
            <p:nvSpPr>
              <p:cNvPr id="543923" name="流程图: 决策 543922"/>
              <p:cNvSpPr/>
              <p:nvPr/>
            </p:nvSpPr>
            <p:spPr>
              <a:xfrm>
                <a:off x="2160" y="840"/>
                <a:ext cx="954" cy="35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归属</a:t>
                </a:r>
              </a:p>
            </p:txBody>
          </p:sp>
          <p:sp>
            <p:nvSpPr>
              <p:cNvPr id="543924" name="矩形 543923"/>
              <p:cNvSpPr/>
              <p:nvPr/>
            </p:nvSpPr>
            <p:spPr>
              <a:xfrm>
                <a:off x="4057" y="840"/>
                <a:ext cx="607" cy="249"/>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学生</a:t>
                </a:r>
              </a:p>
            </p:txBody>
          </p:sp>
          <p:sp>
            <p:nvSpPr>
              <p:cNvPr id="543925" name="椭圆 543924"/>
              <p:cNvSpPr/>
              <p:nvPr/>
            </p:nvSpPr>
            <p:spPr>
              <a:xfrm>
                <a:off x="5274" y="794"/>
                <a:ext cx="446" cy="259"/>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籍贯</a:t>
                </a:r>
              </a:p>
            </p:txBody>
          </p:sp>
          <p:sp>
            <p:nvSpPr>
              <p:cNvPr id="543926" name="流程图: 决策 543925"/>
              <p:cNvSpPr/>
              <p:nvPr/>
            </p:nvSpPr>
            <p:spPr>
              <a:xfrm>
                <a:off x="1100" y="1193"/>
                <a:ext cx="963" cy="339"/>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设置</a:t>
                </a:r>
              </a:p>
            </p:txBody>
          </p:sp>
          <p:sp>
            <p:nvSpPr>
              <p:cNvPr id="543927" name="流程图: 决策 543926"/>
              <p:cNvSpPr/>
              <p:nvPr/>
            </p:nvSpPr>
            <p:spPr>
              <a:xfrm>
                <a:off x="3211" y="1193"/>
                <a:ext cx="953" cy="325"/>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学习</a:t>
                </a:r>
              </a:p>
            </p:txBody>
          </p:sp>
          <p:sp>
            <p:nvSpPr>
              <p:cNvPr id="543928" name="椭圆 543927"/>
              <p:cNvSpPr/>
              <p:nvPr/>
            </p:nvSpPr>
            <p:spPr>
              <a:xfrm>
                <a:off x="4567" y="1100"/>
                <a:ext cx="448" cy="278"/>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543929" name="椭圆 543928"/>
              <p:cNvSpPr/>
              <p:nvPr/>
            </p:nvSpPr>
            <p:spPr>
              <a:xfrm>
                <a:off x="4989" y="1272"/>
                <a:ext cx="603" cy="29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543930" name="椭圆 543929"/>
              <p:cNvSpPr/>
              <p:nvPr/>
            </p:nvSpPr>
            <p:spPr>
              <a:xfrm>
                <a:off x="4718" y="1518"/>
                <a:ext cx="452" cy="279"/>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分数</a:t>
                </a:r>
              </a:p>
            </p:txBody>
          </p:sp>
          <p:sp>
            <p:nvSpPr>
              <p:cNvPr id="543931" name="流程图: 过程 543930"/>
              <p:cNvSpPr/>
              <p:nvPr/>
            </p:nvSpPr>
            <p:spPr>
              <a:xfrm>
                <a:off x="2306" y="1582"/>
                <a:ext cx="617"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a:t>
                </a:r>
              </a:p>
            </p:txBody>
          </p:sp>
          <p:sp>
            <p:nvSpPr>
              <p:cNvPr id="543932" name="流程图: 决策 543931"/>
              <p:cNvSpPr/>
              <p:nvPr/>
            </p:nvSpPr>
            <p:spPr>
              <a:xfrm>
                <a:off x="2155" y="2077"/>
                <a:ext cx="957" cy="34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讲授</a:t>
                </a:r>
              </a:p>
            </p:txBody>
          </p:sp>
          <p:sp>
            <p:nvSpPr>
              <p:cNvPr id="543933" name="流程图: 过程 543932"/>
              <p:cNvSpPr/>
              <p:nvPr/>
            </p:nvSpPr>
            <p:spPr>
              <a:xfrm>
                <a:off x="2306" y="2714"/>
                <a:ext cx="612"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教师</a:t>
                </a:r>
              </a:p>
            </p:txBody>
          </p:sp>
          <p:sp>
            <p:nvSpPr>
              <p:cNvPr id="543934" name="椭圆 543933"/>
              <p:cNvSpPr/>
              <p:nvPr/>
            </p:nvSpPr>
            <p:spPr>
              <a:xfrm>
                <a:off x="95" y="1239"/>
                <a:ext cx="698"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543935" name="椭圆 543934"/>
              <p:cNvSpPr/>
              <p:nvPr/>
            </p:nvSpPr>
            <p:spPr>
              <a:xfrm>
                <a:off x="296" y="1657"/>
                <a:ext cx="603" cy="32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543936" name="椭圆 543935"/>
              <p:cNvSpPr/>
              <p:nvPr/>
            </p:nvSpPr>
            <p:spPr>
              <a:xfrm>
                <a:off x="1502" y="1877"/>
                <a:ext cx="603"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543937" name="椭圆 543936"/>
              <p:cNvSpPr/>
              <p:nvPr/>
            </p:nvSpPr>
            <p:spPr>
              <a:xfrm>
                <a:off x="3462" y="1565"/>
                <a:ext cx="448" cy="263"/>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学时</a:t>
                </a:r>
              </a:p>
            </p:txBody>
          </p:sp>
          <p:sp>
            <p:nvSpPr>
              <p:cNvPr id="543938" name="椭圆 543937"/>
              <p:cNvSpPr/>
              <p:nvPr/>
            </p:nvSpPr>
            <p:spPr>
              <a:xfrm>
                <a:off x="3311" y="1877"/>
                <a:ext cx="605"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课程名</a:t>
                </a:r>
              </a:p>
            </p:txBody>
          </p:sp>
          <p:sp>
            <p:nvSpPr>
              <p:cNvPr id="543939" name="椭圆 543938"/>
              <p:cNvSpPr/>
              <p:nvPr/>
            </p:nvSpPr>
            <p:spPr>
              <a:xfrm>
                <a:off x="289" y="2169"/>
                <a:ext cx="817"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543940" name="椭圆 543939"/>
              <p:cNvSpPr/>
              <p:nvPr/>
            </p:nvSpPr>
            <p:spPr>
              <a:xfrm>
                <a:off x="4216" y="2221"/>
                <a:ext cx="653" cy="24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543941" name="椭圆 543940"/>
              <p:cNvSpPr/>
              <p:nvPr/>
            </p:nvSpPr>
            <p:spPr>
              <a:xfrm>
                <a:off x="1251" y="2541"/>
                <a:ext cx="708" cy="328"/>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543942" name="椭圆 543941"/>
              <p:cNvSpPr/>
              <p:nvPr/>
            </p:nvSpPr>
            <p:spPr>
              <a:xfrm>
                <a:off x="3462" y="2589"/>
                <a:ext cx="710" cy="320"/>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电话号码</a:t>
                </a:r>
              </a:p>
            </p:txBody>
          </p:sp>
          <p:sp>
            <p:nvSpPr>
              <p:cNvPr id="543943" name="椭圆 543942"/>
              <p:cNvSpPr/>
              <p:nvPr/>
            </p:nvSpPr>
            <p:spPr>
              <a:xfrm>
                <a:off x="3663" y="3009"/>
                <a:ext cx="607" cy="32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教研室</a:t>
                </a:r>
              </a:p>
            </p:txBody>
          </p:sp>
          <p:sp>
            <p:nvSpPr>
              <p:cNvPr id="543944" name="椭圆 543943"/>
              <p:cNvSpPr/>
              <p:nvPr/>
            </p:nvSpPr>
            <p:spPr>
              <a:xfrm>
                <a:off x="1402" y="2914"/>
                <a:ext cx="435" cy="292"/>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543945" name="椭圆 543944"/>
              <p:cNvSpPr/>
              <p:nvPr/>
            </p:nvSpPr>
            <p:spPr>
              <a:xfrm>
                <a:off x="1703" y="3206"/>
                <a:ext cx="437" cy="31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543946" name="椭圆 543945"/>
              <p:cNvSpPr/>
              <p:nvPr/>
            </p:nvSpPr>
            <p:spPr>
              <a:xfrm>
                <a:off x="2284" y="3206"/>
                <a:ext cx="703" cy="40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543947" name="椭圆 543946"/>
              <p:cNvSpPr/>
              <p:nvPr/>
            </p:nvSpPr>
            <p:spPr>
              <a:xfrm>
                <a:off x="3138" y="3193"/>
                <a:ext cx="489" cy="32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职称</a:t>
                </a:r>
              </a:p>
            </p:txBody>
          </p:sp>
          <p:sp>
            <p:nvSpPr>
              <p:cNvPr id="543948" name="直接连接符 543947"/>
              <p:cNvSpPr/>
              <p:nvPr/>
            </p:nvSpPr>
            <p:spPr>
              <a:xfrm>
                <a:off x="497" y="695"/>
                <a:ext cx="2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49" name="直接连接符 543948"/>
              <p:cNvSpPr/>
              <p:nvPr/>
            </p:nvSpPr>
            <p:spPr>
              <a:xfrm flipH="1">
                <a:off x="949" y="695"/>
                <a:ext cx="3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0" name="直接连接符 543949"/>
              <p:cNvSpPr/>
              <p:nvPr/>
            </p:nvSpPr>
            <p:spPr>
              <a:xfrm>
                <a:off x="1100" y="991"/>
                <a:ext cx="10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1" name="直接连接符 543950"/>
              <p:cNvSpPr/>
              <p:nvPr/>
            </p:nvSpPr>
            <p:spPr>
              <a:xfrm>
                <a:off x="3110" y="991"/>
                <a:ext cx="9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2" name="直接连接符 543951"/>
              <p:cNvSpPr/>
              <p:nvPr/>
            </p:nvSpPr>
            <p:spPr>
              <a:xfrm>
                <a:off x="2055" y="695"/>
                <a:ext cx="4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3" name="直接连接符 543952"/>
              <p:cNvSpPr/>
              <p:nvPr/>
            </p:nvSpPr>
            <p:spPr>
              <a:xfrm>
                <a:off x="2608" y="646"/>
                <a:ext cx="50"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4" name="直接连接符 543953"/>
              <p:cNvSpPr/>
              <p:nvPr/>
            </p:nvSpPr>
            <p:spPr>
              <a:xfrm flipH="1">
                <a:off x="2859" y="646"/>
                <a:ext cx="20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5" name="直接连接符 543954"/>
              <p:cNvSpPr/>
              <p:nvPr/>
            </p:nvSpPr>
            <p:spPr>
              <a:xfrm>
                <a:off x="3670" y="639"/>
                <a:ext cx="43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6" name="直接连接符 543955"/>
              <p:cNvSpPr/>
              <p:nvPr/>
            </p:nvSpPr>
            <p:spPr>
              <a:xfrm>
                <a:off x="4115" y="639"/>
                <a:ext cx="10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7" name="直接连接符 543956"/>
              <p:cNvSpPr/>
              <p:nvPr/>
            </p:nvSpPr>
            <p:spPr>
              <a:xfrm flipH="1">
                <a:off x="4373" y="639"/>
                <a:ext cx="1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8" name="直接连接符 543957"/>
              <p:cNvSpPr/>
              <p:nvPr/>
            </p:nvSpPr>
            <p:spPr>
              <a:xfrm flipH="1">
                <a:off x="4567" y="663"/>
                <a:ext cx="530" cy="173"/>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59" name="直接连接符 543958"/>
              <p:cNvSpPr/>
              <p:nvPr/>
            </p:nvSpPr>
            <p:spPr>
              <a:xfrm flipV="1">
                <a:off x="4676" y="960"/>
                <a:ext cx="594"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0" name="直接连接符 543959"/>
              <p:cNvSpPr/>
              <p:nvPr/>
            </p:nvSpPr>
            <p:spPr>
              <a:xfrm flipH="1">
                <a:off x="3814" y="1089"/>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1" name="直接连接符 543960"/>
              <p:cNvSpPr/>
              <p:nvPr/>
            </p:nvSpPr>
            <p:spPr>
              <a:xfrm flipV="1">
                <a:off x="4165" y="1286"/>
                <a:ext cx="453"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2" name="直接连接符 543961"/>
              <p:cNvSpPr/>
              <p:nvPr/>
            </p:nvSpPr>
            <p:spPr>
              <a:xfrm>
                <a:off x="4086" y="1378"/>
                <a:ext cx="903" cy="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3" name="直接连接符 543962"/>
              <p:cNvSpPr/>
              <p:nvPr/>
            </p:nvSpPr>
            <p:spPr>
              <a:xfrm flipH="1" flipV="1">
                <a:off x="3945" y="1426"/>
                <a:ext cx="773" cy="2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4" name="直接连接符 543963"/>
              <p:cNvSpPr/>
              <p:nvPr/>
            </p:nvSpPr>
            <p:spPr>
              <a:xfrm>
                <a:off x="1904" y="1434"/>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5" name="直接连接符 543964"/>
              <p:cNvSpPr/>
              <p:nvPr/>
            </p:nvSpPr>
            <p:spPr>
              <a:xfrm flipV="1">
                <a:off x="2923" y="1434"/>
                <a:ext cx="496" cy="1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6" name="直接连接符 543965"/>
              <p:cNvSpPr/>
              <p:nvPr/>
            </p:nvSpPr>
            <p:spPr>
              <a:xfrm flipV="1">
                <a:off x="1811" y="1722"/>
                <a:ext cx="5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7" name="直接连接符 543966"/>
              <p:cNvSpPr/>
              <p:nvPr/>
            </p:nvSpPr>
            <p:spPr>
              <a:xfrm flipV="1">
                <a:off x="2923" y="1706"/>
                <a:ext cx="535" cy="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8" name="直接连接符 543967"/>
              <p:cNvSpPr/>
              <p:nvPr/>
            </p:nvSpPr>
            <p:spPr>
              <a:xfrm>
                <a:off x="2909" y="1828"/>
                <a:ext cx="402" cy="14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69" name="直接连接符 543968"/>
              <p:cNvSpPr/>
              <p:nvPr/>
            </p:nvSpPr>
            <p:spPr>
              <a:xfrm flipV="1">
                <a:off x="1100" y="2271"/>
                <a:ext cx="1055" cy="9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0" name="直接连接符 543969"/>
              <p:cNvSpPr/>
              <p:nvPr/>
            </p:nvSpPr>
            <p:spPr>
              <a:xfrm>
                <a:off x="3110" y="2250"/>
                <a:ext cx="1095" cy="91"/>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1" name="直接连接符 543970"/>
              <p:cNvSpPr/>
              <p:nvPr/>
            </p:nvSpPr>
            <p:spPr>
              <a:xfrm>
                <a:off x="2658" y="2418"/>
                <a:ext cx="1" cy="29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2" name="直接连接符 543971"/>
              <p:cNvSpPr/>
              <p:nvPr/>
            </p:nvSpPr>
            <p:spPr>
              <a:xfrm>
                <a:off x="1954" y="2763"/>
                <a:ext cx="352"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3" name="直接连接符 543972"/>
              <p:cNvSpPr/>
              <p:nvPr/>
            </p:nvSpPr>
            <p:spPr>
              <a:xfrm flipV="1">
                <a:off x="1832" y="2861"/>
                <a:ext cx="476"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4" name="直接连接符 543973"/>
              <p:cNvSpPr/>
              <p:nvPr/>
            </p:nvSpPr>
            <p:spPr>
              <a:xfrm flipV="1">
                <a:off x="2105" y="2960"/>
                <a:ext cx="251" cy="29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5" name="直接连接符 543974"/>
              <p:cNvSpPr/>
              <p:nvPr/>
            </p:nvSpPr>
            <p:spPr>
              <a:xfrm flipV="1">
                <a:off x="2658" y="2960"/>
                <a:ext cx="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6" name="直接连接符 543975"/>
              <p:cNvSpPr/>
              <p:nvPr/>
            </p:nvSpPr>
            <p:spPr>
              <a:xfrm flipH="1" flipV="1">
                <a:off x="2909" y="2960"/>
                <a:ext cx="402"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7" name="直接连接符 543976"/>
              <p:cNvSpPr/>
              <p:nvPr/>
            </p:nvSpPr>
            <p:spPr>
              <a:xfrm>
                <a:off x="2923" y="2861"/>
                <a:ext cx="754"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8" name="直接连接符 543977"/>
              <p:cNvSpPr/>
              <p:nvPr/>
            </p:nvSpPr>
            <p:spPr>
              <a:xfrm>
                <a:off x="2916" y="2763"/>
                <a:ext cx="546"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79" name="直接连接符 543978"/>
              <p:cNvSpPr/>
              <p:nvPr/>
            </p:nvSpPr>
            <p:spPr>
              <a:xfrm flipV="1">
                <a:off x="899" y="1483"/>
                <a:ext cx="503" cy="34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80" name="直接连接符 543979"/>
              <p:cNvSpPr/>
              <p:nvPr/>
            </p:nvSpPr>
            <p:spPr>
              <a:xfrm flipV="1">
                <a:off x="799" y="1371"/>
                <a:ext cx="301"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81" name="直接连接符 543980"/>
              <p:cNvSpPr/>
              <p:nvPr/>
            </p:nvSpPr>
            <p:spPr>
              <a:xfrm>
                <a:off x="892" y="1131"/>
                <a:ext cx="295" cy="19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3982" name="文本框 543981"/>
              <p:cNvSpPr txBox="1"/>
              <p:nvPr/>
            </p:nvSpPr>
            <p:spPr>
              <a:xfrm>
                <a:off x="1453" y="782"/>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1</a:t>
                </a:r>
              </a:p>
            </p:txBody>
          </p:sp>
          <p:sp>
            <p:nvSpPr>
              <p:cNvPr id="543983" name="文本框 543982"/>
              <p:cNvSpPr txBox="1"/>
              <p:nvPr/>
            </p:nvSpPr>
            <p:spPr>
              <a:xfrm>
                <a:off x="3412" y="801"/>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543984" name="文本框 543983"/>
              <p:cNvSpPr txBox="1"/>
              <p:nvPr/>
            </p:nvSpPr>
            <p:spPr>
              <a:xfrm>
                <a:off x="3763" y="1023"/>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543985" name="文本框 543984"/>
              <p:cNvSpPr txBox="1"/>
              <p:nvPr/>
            </p:nvSpPr>
            <p:spPr>
              <a:xfrm>
                <a:off x="1100" y="1121"/>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543986" name="文本框 543985"/>
              <p:cNvSpPr txBox="1"/>
              <p:nvPr/>
            </p:nvSpPr>
            <p:spPr>
              <a:xfrm>
                <a:off x="2105" y="1367"/>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543987" name="文本框 543986"/>
              <p:cNvSpPr txBox="1"/>
              <p:nvPr/>
            </p:nvSpPr>
            <p:spPr>
              <a:xfrm>
                <a:off x="2853" y="1360"/>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r">
                  <a:spcBef>
                    <a:spcPct val="50000"/>
                  </a:spcBef>
                </a:pPr>
                <a:r>
                  <a:rPr lang="en-US" altLang="zh-CN" b="1">
                    <a:latin typeface="Arial" panose="020B0604020202020204" pitchFamily="34" charset="0"/>
                  </a:rPr>
                  <a:t>N</a:t>
                </a:r>
              </a:p>
            </p:txBody>
          </p:sp>
          <p:sp>
            <p:nvSpPr>
              <p:cNvPr id="543988" name="文本框 543987"/>
              <p:cNvSpPr txBox="1"/>
              <p:nvPr/>
            </p:nvSpPr>
            <p:spPr>
              <a:xfrm>
                <a:off x="2658" y="1909"/>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N</a:t>
                </a:r>
              </a:p>
            </p:txBody>
          </p:sp>
          <p:sp>
            <p:nvSpPr>
              <p:cNvPr id="543989" name="文本框 543988"/>
              <p:cNvSpPr txBox="1"/>
              <p:nvPr/>
            </p:nvSpPr>
            <p:spPr>
              <a:xfrm>
                <a:off x="2658" y="2499"/>
                <a:ext cx="251"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M</a:t>
                </a:r>
              </a:p>
            </p:txBody>
          </p:sp>
          <p:sp>
            <p:nvSpPr>
              <p:cNvPr id="543990" name="直接连接符 543989"/>
              <p:cNvSpPr/>
              <p:nvPr/>
            </p:nvSpPr>
            <p:spPr>
              <a:xfrm flipV="1">
                <a:off x="2637" y="1828"/>
                <a:ext cx="1" cy="23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grpSp>
        <p:sp>
          <p:nvSpPr>
            <p:cNvPr id="543991" name="文本框 543990"/>
            <p:cNvSpPr txBox="1"/>
            <p:nvPr/>
          </p:nvSpPr>
          <p:spPr>
            <a:xfrm>
              <a:off x="739" y="3835"/>
              <a:ext cx="4137" cy="230"/>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zh-CN" altLang="en-US" sz="2400" b="1" dirty="0">
                  <a:latin typeface="楷体_GB2312" pitchFamily="49" charset="-122"/>
                  <a:ea typeface="楷体_GB2312" pitchFamily="49" charset="-122"/>
                </a:rPr>
                <a:t>图</a:t>
              </a:r>
              <a:r>
                <a:rPr lang="en-US" altLang="zh-CN" sz="2400" b="1">
                  <a:latin typeface="楷体_GB2312" pitchFamily="49" charset="-122"/>
                  <a:ea typeface="楷体_GB2312" pitchFamily="49" charset="-122"/>
                </a:rPr>
                <a:t>6.8 </a:t>
              </a:r>
              <a:r>
                <a:rPr lang="zh-CN" altLang="en-US" sz="2400" b="1" dirty="0">
                  <a:latin typeface="楷体_GB2312" pitchFamily="49" charset="-122"/>
                  <a:ea typeface="楷体_GB2312" pitchFamily="49" charset="-122"/>
                </a:rPr>
                <a:t>大学教学情况的实体</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联系模型</a:t>
              </a:r>
              <a:r>
                <a:rPr lang="en-US" altLang="zh-CN" sz="2400" b="1">
                  <a:latin typeface="楷体_GB2312" pitchFamily="49" charset="-122"/>
                  <a:ea typeface="楷体_GB2312" pitchFamily="49" charset="-122"/>
                </a:rPr>
                <a:t>(E-R</a:t>
              </a:r>
              <a:r>
                <a:rPr lang="zh-CN" altLang="en-US" sz="2400" b="1">
                  <a:latin typeface="楷体_GB2312" pitchFamily="49" charset="-122"/>
                  <a:ea typeface="楷体_GB2312" pitchFamily="49" charset="-122"/>
                </a:rPr>
                <a:t>图</a:t>
              </a:r>
              <a:r>
                <a:rPr lang="en-US" altLang="zh-CN" sz="2400" b="1">
                  <a:latin typeface="楷体_GB2312" pitchFamily="49" charset="-122"/>
                  <a:ea typeface="楷体_GB2312" pitchFamily="49" charset="-122"/>
                </a:rPr>
                <a:t>)</a:t>
              </a:r>
            </a:p>
          </p:txBody>
        </p:sp>
      </p:grpSp>
      <p:sp>
        <p:nvSpPr>
          <p:cNvPr id="543830" name="文本框 543829"/>
          <p:cNvSpPr txBox="1"/>
          <p:nvPr/>
        </p:nvSpPr>
        <p:spPr>
          <a:xfrm>
            <a:off x="423863" y="3429000"/>
            <a:ext cx="8382000" cy="3081338"/>
          </a:xfrm>
          <a:prstGeom prst="rect">
            <a:avLst/>
          </a:prstGeom>
          <a:solidFill>
            <a:srgbClr val="CCECFF"/>
          </a:solidFill>
          <a:ln w="19050" cap="flat" cmpd="sng">
            <a:solidFill>
              <a:srgbClr val="993300"/>
            </a:solidFill>
            <a:prstDash val="solid"/>
            <a:miter/>
            <a:headEnd type="none" w="sm" len="lg"/>
            <a:tailEnd type="none" w="sm" len="lg"/>
          </a:ln>
        </p:spPr>
        <p:txBody>
          <a:bodyPr>
            <a:spAutoFit/>
          </a:bodyPr>
          <a:lstStyle/>
          <a:p>
            <a:pPr>
              <a:lnSpc>
                <a:spcPct val="120000"/>
              </a:lnSpc>
            </a:pPr>
            <a:endParaRPr lang="zh-CN" altLang="en-US" sz="800" b="1" dirty="0">
              <a:latin typeface="Arial" panose="020B0604020202020204" pitchFamily="34" charset="0"/>
              <a:ea typeface="黑体" panose="02010609060101010101" pitchFamily="2" charset="-122"/>
            </a:endParaRPr>
          </a:p>
          <a:p>
            <a:pPr>
              <a:lnSpc>
                <a:spcPct val="130000"/>
              </a:lnSpc>
            </a:pPr>
            <a:r>
              <a:rPr lang="zh-CN" altLang="en-US" sz="2400" b="1" dirty="0">
                <a:latin typeface="Arial" panose="020B0604020202020204" pitchFamily="34" charset="0"/>
                <a:ea typeface="黑体" panose="02010609060101010101" pitchFamily="2" charset="-122"/>
              </a:rPr>
              <a:t>学生关系模式</a:t>
            </a:r>
            <a:r>
              <a:rPr lang="en-US" altLang="zh-CN" sz="2400" b="1">
                <a:latin typeface="Arial" panose="020B0604020202020204" pitchFamily="34" charset="0"/>
              </a:rPr>
              <a:t>: S(S#,</a:t>
            </a:r>
            <a:r>
              <a:rPr lang="en-US" altLang="zh-CN" sz="2400" b="1">
                <a:latin typeface="Arial" panose="020B0604020202020204" pitchFamily="34" charset="0"/>
                <a:ea typeface="黑体" panose="02010609060101010101" pitchFamily="2" charset="-122"/>
              </a:rPr>
              <a:t>SNAME,SSEX,SBIRTHIN,PLACEOFB)</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学习关系模式</a:t>
            </a:r>
            <a:r>
              <a:rPr lang="en-US" altLang="zh-CN" sz="2400" b="1">
                <a:latin typeface="Arial" panose="020B0604020202020204" pitchFamily="34" charset="0"/>
                <a:ea typeface="黑体" panose="02010609060101010101" pitchFamily="2" charset="-122"/>
              </a:rPr>
              <a:t>: SC(S#,C#,GRADE)</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课程关系模式</a:t>
            </a:r>
            <a:r>
              <a:rPr lang="en-US" altLang="zh-CN" sz="2400" b="1">
                <a:latin typeface="Arial" panose="020B0604020202020204" pitchFamily="34" charset="0"/>
                <a:ea typeface="黑体" panose="02010609060101010101" pitchFamily="2" charset="-122"/>
              </a:rPr>
              <a:t>: C(C#,CNAME,CLASSH)</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专业关系模式</a:t>
            </a:r>
            <a:r>
              <a:rPr lang="en-US" altLang="zh-CN" sz="2400" b="1">
                <a:latin typeface="Arial" panose="020B0604020202020204" pitchFamily="34" charset="0"/>
                <a:ea typeface="黑体" panose="02010609060101010101" pitchFamily="2" charset="-122"/>
              </a:rPr>
              <a:t>: SS(SCODE#,SSNAME)</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设置关系模式</a:t>
            </a:r>
            <a:r>
              <a:rPr lang="en-US" altLang="zh-CN" sz="2400" b="1">
                <a:latin typeface="Arial" panose="020B0604020202020204" pitchFamily="34" charset="0"/>
                <a:ea typeface="黑体" panose="02010609060101010101" pitchFamily="2" charset="-122"/>
              </a:rPr>
              <a:t>: CS(SCODE#,C</a:t>
            </a:r>
            <a:r>
              <a:rPr lang="en-US" altLang="zh-CN" sz="2400" b="1">
                <a:latin typeface="Arial" panose="020B0604020202020204" pitchFamily="34" charset="0"/>
              </a:rPr>
              <a:t>#)</a:t>
            </a:r>
          </a:p>
          <a:p>
            <a:pPr>
              <a:lnSpc>
                <a:spcPct val="120000"/>
              </a:lnSpc>
              <a:spcBef>
                <a:spcPct val="10000"/>
              </a:spcBef>
            </a:pPr>
            <a:endParaRPr lang="en-US" altLang="zh-CN" sz="800" b="1">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1207"/>
    </mc:Choice>
    <mc:Fallback xmlns="">
      <p:transition spd="slow" advTm="1120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853" name="矩形 544852"/>
          <p:cNvSpPr/>
          <p:nvPr/>
        </p:nvSpPr>
        <p:spPr>
          <a:xfrm>
            <a:off x="71438" y="115888"/>
            <a:ext cx="8893175" cy="15843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grpSp>
        <p:nvGrpSpPr>
          <p:cNvPr id="544855" name="组合 544854"/>
          <p:cNvGrpSpPr/>
          <p:nvPr/>
        </p:nvGrpSpPr>
        <p:grpSpPr>
          <a:xfrm>
            <a:off x="42863" y="131763"/>
            <a:ext cx="9037637" cy="6321425"/>
            <a:chOff x="27" y="83"/>
            <a:chExt cx="5693" cy="3982"/>
          </a:xfrm>
        </p:grpSpPr>
        <p:grpSp>
          <p:nvGrpSpPr>
            <p:cNvPr id="544856" name="组合 544855"/>
            <p:cNvGrpSpPr/>
            <p:nvPr/>
          </p:nvGrpSpPr>
          <p:grpSpPr>
            <a:xfrm>
              <a:off x="27" y="83"/>
              <a:ext cx="5693" cy="3529"/>
              <a:chOff x="27" y="83"/>
              <a:chExt cx="5693" cy="3529"/>
            </a:xfrm>
          </p:grpSpPr>
          <p:sp>
            <p:nvSpPr>
              <p:cNvPr id="544857" name="矩形 544856"/>
              <p:cNvSpPr/>
              <p:nvPr/>
            </p:nvSpPr>
            <p:spPr>
              <a:xfrm>
                <a:off x="27" y="83"/>
                <a:ext cx="5556" cy="816"/>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544858" name="椭圆 544857"/>
              <p:cNvSpPr/>
              <p:nvPr/>
            </p:nvSpPr>
            <p:spPr>
              <a:xfrm>
                <a:off x="799" y="355"/>
                <a:ext cx="709" cy="338"/>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专业名称</a:t>
                </a:r>
              </a:p>
            </p:txBody>
          </p:sp>
          <p:sp>
            <p:nvSpPr>
              <p:cNvPr id="544859" name="椭圆 544858"/>
              <p:cNvSpPr/>
              <p:nvPr/>
            </p:nvSpPr>
            <p:spPr>
              <a:xfrm>
                <a:off x="1603" y="355"/>
                <a:ext cx="697" cy="335"/>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544860" name="椭圆 544859"/>
              <p:cNvSpPr/>
              <p:nvPr/>
            </p:nvSpPr>
            <p:spPr>
              <a:xfrm>
                <a:off x="2356" y="355"/>
                <a:ext cx="449"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544861" name="椭圆 544860"/>
              <p:cNvSpPr/>
              <p:nvPr/>
            </p:nvSpPr>
            <p:spPr>
              <a:xfrm>
                <a:off x="2859" y="355"/>
                <a:ext cx="452"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班级</a:t>
                </a:r>
              </a:p>
            </p:txBody>
          </p:sp>
          <p:sp>
            <p:nvSpPr>
              <p:cNvPr id="544862" name="椭圆 544861"/>
              <p:cNvSpPr/>
              <p:nvPr/>
            </p:nvSpPr>
            <p:spPr>
              <a:xfrm>
                <a:off x="3361" y="355"/>
                <a:ext cx="446"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544863" name="椭圆 544862"/>
              <p:cNvSpPr/>
              <p:nvPr/>
            </p:nvSpPr>
            <p:spPr>
              <a:xfrm>
                <a:off x="3864" y="355"/>
                <a:ext cx="448"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544864" name="椭圆 544863"/>
              <p:cNvSpPr/>
              <p:nvPr/>
            </p:nvSpPr>
            <p:spPr>
              <a:xfrm>
                <a:off x="4366" y="355"/>
                <a:ext cx="453"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544865" name="椭圆 544864"/>
              <p:cNvSpPr/>
              <p:nvPr/>
            </p:nvSpPr>
            <p:spPr>
              <a:xfrm>
                <a:off x="45" y="355"/>
                <a:ext cx="703" cy="335"/>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544866" name="椭圆 544865"/>
              <p:cNvSpPr/>
              <p:nvPr/>
            </p:nvSpPr>
            <p:spPr>
              <a:xfrm>
                <a:off x="4919" y="355"/>
                <a:ext cx="714" cy="33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544867" name="矩形 544866"/>
              <p:cNvSpPr/>
              <p:nvPr/>
            </p:nvSpPr>
            <p:spPr>
              <a:xfrm>
                <a:off x="497" y="892"/>
                <a:ext cx="603" cy="246"/>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a:t>
                </a:r>
              </a:p>
            </p:txBody>
          </p:sp>
          <p:sp>
            <p:nvSpPr>
              <p:cNvPr id="544868" name="流程图: 决策 544867"/>
              <p:cNvSpPr/>
              <p:nvPr/>
            </p:nvSpPr>
            <p:spPr>
              <a:xfrm>
                <a:off x="2160" y="840"/>
                <a:ext cx="954" cy="35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归属</a:t>
                </a:r>
              </a:p>
            </p:txBody>
          </p:sp>
          <p:sp>
            <p:nvSpPr>
              <p:cNvPr id="544869" name="矩形 544868"/>
              <p:cNvSpPr/>
              <p:nvPr/>
            </p:nvSpPr>
            <p:spPr>
              <a:xfrm>
                <a:off x="4057" y="840"/>
                <a:ext cx="607" cy="249"/>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学生</a:t>
                </a:r>
              </a:p>
            </p:txBody>
          </p:sp>
          <p:sp>
            <p:nvSpPr>
              <p:cNvPr id="544870" name="椭圆 544869"/>
              <p:cNvSpPr/>
              <p:nvPr/>
            </p:nvSpPr>
            <p:spPr>
              <a:xfrm>
                <a:off x="5274" y="794"/>
                <a:ext cx="446" cy="259"/>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籍贯</a:t>
                </a:r>
              </a:p>
            </p:txBody>
          </p:sp>
          <p:sp>
            <p:nvSpPr>
              <p:cNvPr id="544871" name="流程图: 决策 544870"/>
              <p:cNvSpPr/>
              <p:nvPr/>
            </p:nvSpPr>
            <p:spPr>
              <a:xfrm>
                <a:off x="1100" y="1193"/>
                <a:ext cx="963" cy="339"/>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设置</a:t>
                </a:r>
              </a:p>
            </p:txBody>
          </p:sp>
          <p:sp>
            <p:nvSpPr>
              <p:cNvPr id="544872" name="流程图: 决策 544871"/>
              <p:cNvSpPr/>
              <p:nvPr/>
            </p:nvSpPr>
            <p:spPr>
              <a:xfrm>
                <a:off x="3211" y="1193"/>
                <a:ext cx="953" cy="325"/>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学习</a:t>
                </a:r>
              </a:p>
            </p:txBody>
          </p:sp>
          <p:sp>
            <p:nvSpPr>
              <p:cNvPr id="544873" name="椭圆 544872"/>
              <p:cNvSpPr/>
              <p:nvPr/>
            </p:nvSpPr>
            <p:spPr>
              <a:xfrm>
                <a:off x="4567" y="1100"/>
                <a:ext cx="448" cy="278"/>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544874" name="椭圆 544873"/>
              <p:cNvSpPr/>
              <p:nvPr/>
            </p:nvSpPr>
            <p:spPr>
              <a:xfrm>
                <a:off x="4989" y="1272"/>
                <a:ext cx="603" cy="29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544875" name="椭圆 544874"/>
              <p:cNvSpPr/>
              <p:nvPr/>
            </p:nvSpPr>
            <p:spPr>
              <a:xfrm>
                <a:off x="4718" y="1518"/>
                <a:ext cx="452" cy="279"/>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分数</a:t>
                </a:r>
              </a:p>
            </p:txBody>
          </p:sp>
          <p:sp>
            <p:nvSpPr>
              <p:cNvPr id="544876" name="流程图: 过程 544875"/>
              <p:cNvSpPr/>
              <p:nvPr/>
            </p:nvSpPr>
            <p:spPr>
              <a:xfrm>
                <a:off x="2306" y="1582"/>
                <a:ext cx="617"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a:t>
                </a:r>
              </a:p>
            </p:txBody>
          </p:sp>
          <p:sp>
            <p:nvSpPr>
              <p:cNvPr id="544877" name="流程图: 决策 544876"/>
              <p:cNvSpPr/>
              <p:nvPr/>
            </p:nvSpPr>
            <p:spPr>
              <a:xfrm>
                <a:off x="2155" y="2077"/>
                <a:ext cx="957" cy="34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讲授</a:t>
                </a:r>
              </a:p>
            </p:txBody>
          </p:sp>
          <p:sp>
            <p:nvSpPr>
              <p:cNvPr id="544878" name="流程图: 过程 544877"/>
              <p:cNvSpPr/>
              <p:nvPr/>
            </p:nvSpPr>
            <p:spPr>
              <a:xfrm>
                <a:off x="2306" y="2714"/>
                <a:ext cx="612"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教师</a:t>
                </a:r>
              </a:p>
            </p:txBody>
          </p:sp>
          <p:sp>
            <p:nvSpPr>
              <p:cNvPr id="544879" name="椭圆 544878"/>
              <p:cNvSpPr/>
              <p:nvPr/>
            </p:nvSpPr>
            <p:spPr>
              <a:xfrm>
                <a:off x="95" y="1239"/>
                <a:ext cx="698"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544880" name="椭圆 544879"/>
              <p:cNvSpPr/>
              <p:nvPr/>
            </p:nvSpPr>
            <p:spPr>
              <a:xfrm>
                <a:off x="296" y="1657"/>
                <a:ext cx="603" cy="32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544881" name="椭圆 544880"/>
              <p:cNvSpPr/>
              <p:nvPr/>
            </p:nvSpPr>
            <p:spPr>
              <a:xfrm>
                <a:off x="1502" y="1877"/>
                <a:ext cx="603"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544882" name="椭圆 544881"/>
              <p:cNvSpPr/>
              <p:nvPr/>
            </p:nvSpPr>
            <p:spPr>
              <a:xfrm>
                <a:off x="3462" y="1565"/>
                <a:ext cx="448" cy="263"/>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学时</a:t>
                </a:r>
              </a:p>
            </p:txBody>
          </p:sp>
          <p:sp>
            <p:nvSpPr>
              <p:cNvPr id="544883" name="椭圆 544882"/>
              <p:cNvSpPr/>
              <p:nvPr/>
            </p:nvSpPr>
            <p:spPr>
              <a:xfrm>
                <a:off x="3311" y="1877"/>
                <a:ext cx="605"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课程名</a:t>
                </a:r>
              </a:p>
            </p:txBody>
          </p:sp>
          <p:sp>
            <p:nvSpPr>
              <p:cNvPr id="544884" name="椭圆 544883"/>
              <p:cNvSpPr/>
              <p:nvPr/>
            </p:nvSpPr>
            <p:spPr>
              <a:xfrm>
                <a:off x="289" y="2169"/>
                <a:ext cx="817"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544885" name="椭圆 544884"/>
              <p:cNvSpPr/>
              <p:nvPr/>
            </p:nvSpPr>
            <p:spPr>
              <a:xfrm>
                <a:off x="4216" y="2221"/>
                <a:ext cx="653" cy="24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544886" name="椭圆 544885"/>
              <p:cNvSpPr/>
              <p:nvPr/>
            </p:nvSpPr>
            <p:spPr>
              <a:xfrm>
                <a:off x="1251" y="2541"/>
                <a:ext cx="708" cy="328"/>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544887" name="椭圆 544886"/>
              <p:cNvSpPr/>
              <p:nvPr/>
            </p:nvSpPr>
            <p:spPr>
              <a:xfrm>
                <a:off x="3462" y="2589"/>
                <a:ext cx="710" cy="320"/>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电话号码</a:t>
                </a:r>
              </a:p>
            </p:txBody>
          </p:sp>
          <p:sp>
            <p:nvSpPr>
              <p:cNvPr id="544888" name="椭圆 544887"/>
              <p:cNvSpPr/>
              <p:nvPr/>
            </p:nvSpPr>
            <p:spPr>
              <a:xfrm>
                <a:off x="3663" y="3009"/>
                <a:ext cx="607" cy="32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教研室</a:t>
                </a:r>
              </a:p>
            </p:txBody>
          </p:sp>
          <p:sp>
            <p:nvSpPr>
              <p:cNvPr id="544889" name="椭圆 544888"/>
              <p:cNvSpPr/>
              <p:nvPr/>
            </p:nvSpPr>
            <p:spPr>
              <a:xfrm>
                <a:off x="1402" y="2914"/>
                <a:ext cx="435" cy="292"/>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544890" name="椭圆 544889"/>
              <p:cNvSpPr/>
              <p:nvPr/>
            </p:nvSpPr>
            <p:spPr>
              <a:xfrm>
                <a:off x="1703" y="3206"/>
                <a:ext cx="437" cy="31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544891" name="椭圆 544890"/>
              <p:cNvSpPr/>
              <p:nvPr/>
            </p:nvSpPr>
            <p:spPr>
              <a:xfrm>
                <a:off x="2284" y="3206"/>
                <a:ext cx="703" cy="40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544892" name="椭圆 544891"/>
              <p:cNvSpPr/>
              <p:nvPr/>
            </p:nvSpPr>
            <p:spPr>
              <a:xfrm>
                <a:off x="3138" y="3193"/>
                <a:ext cx="489" cy="32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职称</a:t>
                </a:r>
              </a:p>
            </p:txBody>
          </p:sp>
          <p:sp>
            <p:nvSpPr>
              <p:cNvPr id="544893" name="直接连接符 544892"/>
              <p:cNvSpPr/>
              <p:nvPr/>
            </p:nvSpPr>
            <p:spPr>
              <a:xfrm>
                <a:off x="497" y="695"/>
                <a:ext cx="2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894" name="直接连接符 544893"/>
              <p:cNvSpPr/>
              <p:nvPr/>
            </p:nvSpPr>
            <p:spPr>
              <a:xfrm flipH="1">
                <a:off x="949" y="695"/>
                <a:ext cx="3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895" name="直接连接符 544894"/>
              <p:cNvSpPr/>
              <p:nvPr/>
            </p:nvSpPr>
            <p:spPr>
              <a:xfrm>
                <a:off x="1100" y="991"/>
                <a:ext cx="10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896" name="直接连接符 544895"/>
              <p:cNvSpPr/>
              <p:nvPr/>
            </p:nvSpPr>
            <p:spPr>
              <a:xfrm>
                <a:off x="3110" y="991"/>
                <a:ext cx="9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897" name="直接连接符 544896"/>
              <p:cNvSpPr/>
              <p:nvPr/>
            </p:nvSpPr>
            <p:spPr>
              <a:xfrm>
                <a:off x="2055" y="695"/>
                <a:ext cx="4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898" name="直接连接符 544897"/>
              <p:cNvSpPr/>
              <p:nvPr/>
            </p:nvSpPr>
            <p:spPr>
              <a:xfrm>
                <a:off x="2608" y="646"/>
                <a:ext cx="50"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899" name="直接连接符 544898"/>
              <p:cNvSpPr/>
              <p:nvPr/>
            </p:nvSpPr>
            <p:spPr>
              <a:xfrm flipH="1">
                <a:off x="2859" y="646"/>
                <a:ext cx="20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0" name="直接连接符 544899"/>
              <p:cNvSpPr/>
              <p:nvPr/>
            </p:nvSpPr>
            <p:spPr>
              <a:xfrm>
                <a:off x="3670" y="639"/>
                <a:ext cx="43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1" name="直接连接符 544900"/>
              <p:cNvSpPr/>
              <p:nvPr/>
            </p:nvSpPr>
            <p:spPr>
              <a:xfrm>
                <a:off x="4115" y="639"/>
                <a:ext cx="10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2" name="直接连接符 544901"/>
              <p:cNvSpPr/>
              <p:nvPr/>
            </p:nvSpPr>
            <p:spPr>
              <a:xfrm flipH="1">
                <a:off x="4373" y="639"/>
                <a:ext cx="1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3" name="直接连接符 544902"/>
              <p:cNvSpPr/>
              <p:nvPr/>
            </p:nvSpPr>
            <p:spPr>
              <a:xfrm flipH="1">
                <a:off x="4567" y="663"/>
                <a:ext cx="530" cy="173"/>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4" name="直接连接符 544903"/>
              <p:cNvSpPr/>
              <p:nvPr/>
            </p:nvSpPr>
            <p:spPr>
              <a:xfrm flipV="1">
                <a:off x="4676" y="960"/>
                <a:ext cx="594"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5" name="直接连接符 544904"/>
              <p:cNvSpPr/>
              <p:nvPr/>
            </p:nvSpPr>
            <p:spPr>
              <a:xfrm flipH="1">
                <a:off x="3814" y="1089"/>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6" name="直接连接符 544905"/>
              <p:cNvSpPr/>
              <p:nvPr/>
            </p:nvSpPr>
            <p:spPr>
              <a:xfrm flipV="1">
                <a:off x="4165" y="1286"/>
                <a:ext cx="453"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7" name="直接连接符 544906"/>
              <p:cNvSpPr/>
              <p:nvPr/>
            </p:nvSpPr>
            <p:spPr>
              <a:xfrm>
                <a:off x="4086" y="1378"/>
                <a:ext cx="903" cy="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8" name="直接连接符 544907"/>
              <p:cNvSpPr/>
              <p:nvPr/>
            </p:nvSpPr>
            <p:spPr>
              <a:xfrm flipH="1" flipV="1">
                <a:off x="3945" y="1426"/>
                <a:ext cx="773" cy="2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09" name="直接连接符 544908"/>
              <p:cNvSpPr/>
              <p:nvPr/>
            </p:nvSpPr>
            <p:spPr>
              <a:xfrm>
                <a:off x="1904" y="1434"/>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0" name="直接连接符 544909"/>
              <p:cNvSpPr/>
              <p:nvPr/>
            </p:nvSpPr>
            <p:spPr>
              <a:xfrm flipV="1">
                <a:off x="2923" y="1434"/>
                <a:ext cx="496" cy="1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1" name="直接连接符 544910"/>
              <p:cNvSpPr/>
              <p:nvPr/>
            </p:nvSpPr>
            <p:spPr>
              <a:xfrm flipV="1">
                <a:off x="1811" y="1722"/>
                <a:ext cx="5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2" name="直接连接符 544911"/>
              <p:cNvSpPr/>
              <p:nvPr/>
            </p:nvSpPr>
            <p:spPr>
              <a:xfrm flipV="1">
                <a:off x="2923" y="1706"/>
                <a:ext cx="535" cy="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3" name="直接连接符 544912"/>
              <p:cNvSpPr/>
              <p:nvPr/>
            </p:nvSpPr>
            <p:spPr>
              <a:xfrm>
                <a:off x="2909" y="1828"/>
                <a:ext cx="402" cy="14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4" name="直接连接符 544913"/>
              <p:cNvSpPr/>
              <p:nvPr/>
            </p:nvSpPr>
            <p:spPr>
              <a:xfrm flipV="1">
                <a:off x="1100" y="2271"/>
                <a:ext cx="1055" cy="9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5" name="直接连接符 544914"/>
              <p:cNvSpPr/>
              <p:nvPr/>
            </p:nvSpPr>
            <p:spPr>
              <a:xfrm>
                <a:off x="3110" y="2250"/>
                <a:ext cx="1095" cy="91"/>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6" name="直接连接符 544915"/>
              <p:cNvSpPr/>
              <p:nvPr/>
            </p:nvSpPr>
            <p:spPr>
              <a:xfrm>
                <a:off x="2658" y="2418"/>
                <a:ext cx="1" cy="29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7" name="直接连接符 544916"/>
              <p:cNvSpPr/>
              <p:nvPr/>
            </p:nvSpPr>
            <p:spPr>
              <a:xfrm>
                <a:off x="1954" y="2763"/>
                <a:ext cx="352"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8" name="直接连接符 544917"/>
              <p:cNvSpPr/>
              <p:nvPr/>
            </p:nvSpPr>
            <p:spPr>
              <a:xfrm flipV="1">
                <a:off x="1832" y="2861"/>
                <a:ext cx="476"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19" name="直接连接符 544918"/>
              <p:cNvSpPr/>
              <p:nvPr/>
            </p:nvSpPr>
            <p:spPr>
              <a:xfrm flipV="1">
                <a:off x="2105" y="2960"/>
                <a:ext cx="251" cy="29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20" name="直接连接符 544919"/>
              <p:cNvSpPr/>
              <p:nvPr/>
            </p:nvSpPr>
            <p:spPr>
              <a:xfrm flipV="1">
                <a:off x="2658" y="2960"/>
                <a:ext cx="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21" name="直接连接符 544920"/>
              <p:cNvSpPr/>
              <p:nvPr/>
            </p:nvSpPr>
            <p:spPr>
              <a:xfrm flipH="1" flipV="1">
                <a:off x="2909" y="2960"/>
                <a:ext cx="402"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22" name="直接连接符 544921"/>
              <p:cNvSpPr/>
              <p:nvPr/>
            </p:nvSpPr>
            <p:spPr>
              <a:xfrm>
                <a:off x="2923" y="2861"/>
                <a:ext cx="754"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23" name="直接连接符 544922"/>
              <p:cNvSpPr/>
              <p:nvPr/>
            </p:nvSpPr>
            <p:spPr>
              <a:xfrm>
                <a:off x="2916" y="2763"/>
                <a:ext cx="546"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24" name="直接连接符 544923"/>
              <p:cNvSpPr/>
              <p:nvPr/>
            </p:nvSpPr>
            <p:spPr>
              <a:xfrm flipV="1">
                <a:off x="899" y="1483"/>
                <a:ext cx="503" cy="34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25" name="直接连接符 544924"/>
              <p:cNvSpPr/>
              <p:nvPr/>
            </p:nvSpPr>
            <p:spPr>
              <a:xfrm flipV="1">
                <a:off x="799" y="1371"/>
                <a:ext cx="301"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26" name="直接连接符 544925"/>
              <p:cNvSpPr/>
              <p:nvPr/>
            </p:nvSpPr>
            <p:spPr>
              <a:xfrm>
                <a:off x="892" y="1131"/>
                <a:ext cx="295" cy="19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544927" name="文本框 544926"/>
              <p:cNvSpPr txBox="1"/>
              <p:nvPr/>
            </p:nvSpPr>
            <p:spPr>
              <a:xfrm>
                <a:off x="1453" y="782"/>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1</a:t>
                </a:r>
              </a:p>
            </p:txBody>
          </p:sp>
          <p:sp>
            <p:nvSpPr>
              <p:cNvPr id="544928" name="文本框 544927"/>
              <p:cNvSpPr txBox="1"/>
              <p:nvPr/>
            </p:nvSpPr>
            <p:spPr>
              <a:xfrm>
                <a:off x="3412" y="801"/>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544929" name="文本框 544928"/>
              <p:cNvSpPr txBox="1"/>
              <p:nvPr/>
            </p:nvSpPr>
            <p:spPr>
              <a:xfrm>
                <a:off x="3763" y="1023"/>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544930" name="文本框 544929"/>
              <p:cNvSpPr txBox="1"/>
              <p:nvPr/>
            </p:nvSpPr>
            <p:spPr>
              <a:xfrm>
                <a:off x="1100" y="1121"/>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544931" name="文本框 544930"/>
              <p:cNvSpPr txBox="1"/>
              <p:nvPr/>
            </p:nvSpPr>
            <p:spPr>
              <a:xfrm>
                <a:off x="2105" y="1367"/>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544932" name="文本框 544931"/>
              <p:cNvSpPr txBox="1"/>
              <p:nvPr/>
            </p:nvSpPr>
            <p:spPr>
              <a:xfrm>
                <a:off x="2853" y="1360"/>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r">
                  <a:spcBef>
                    <a:spcPct val="50000"/>
                  </a:spcBef>
                </a:pPr>
                <a:r>
                  <a:rPr lang="en-US" altLang="zh-CN" b="1">
                    <a:latin typeface="Arial" panose="020B0604020202020204" pitchFamily="34" charset="0"/>
                  </a:rPr>
                  <a:t>N</a:t>
                </a:r>
              </a:p>
            </p:txBody>
          </p:sp>
          <p:sp>
            <p:nvSpPr>
              <p:cNvPr id="544933" name="文本框 544932"/>
              <p:cNvSpPr txBox="1"/>
              <p:nvPr/>
            </p:nvSpPr>
            <p:spPr>
              <a:xfrm>
                <a:off x="2658" y="1909"/>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N</a:t>
                </a:r>
              </a:p>
            </p:txBody>
          </p:sp>
          <p:sp>
            <p:nvSpPr>
              <p:cNvPr id="544934" name="文本框 544933"/>
              <p:cNvSpPr txBox="1"/>
              <p:nvPr/>
            </p:nvSpPr>
            <p:spPr>
              <a:xfrm>
                <a:off x="2658" y="2499"/>
                <a:ext cx="251"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M</a:t>
                </a:r>
              </a:p>
            </p:txBody>
          </p:sp>
          <p:sp>
            <p:nvSpPr>
              <p:cNvPr id="544935" name="直接连接符 544934"/>
              <p:cNvSpPr/>
              <p:nvPr/>
            </p:nvSpPr>
            <p:spPr>
              <a:xfrm flipV="1">
                <a:off x="2637" y="1828"/>
                <a:ext cx="1" cy="23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grpSp>
        <p:sp>
          <p:nvSpPr>
            <p:cNvPr id="544936" name="文本框 544935"/>
            <p:cNvSpPr txBox="1"/>
            <p:nvPr/>
          </p:nvSpPr>
          <p:spPr>
            <a:xfrm>
              <a:off x="739" y="3835"/>
              <a:ext cx="4137" cy="230"/>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zh-CN" altLang="en-US" sz="2400" b="1" dirty="0">
                  <a:latin typeface="楷体_GB2312" pitchFamily="49" charset="-122"/>
                  <a:ea typeface="楷体_GB2312" pitchFamily="49" charset="-122"/>
                </a:rPr>
                <a:t>图</a:t>
              </a:r>
              <a:r>
                <a:rPr lang="en-US" altLang="zh-CN" sz="2400" b="1">
                  <a:latin typeface="楷体_GB2312" pitchFamily="49" charset="-122"/>
                  <a:ea typeface="楷体_GB2312" pitchFamily="49" charset="-122"/>
                </a:rPr>
                <a:t>3.9 </a:t>
              </a:r>
              <a:r>
                <a:rPr lang="zh-CN" altLang="en-US" sz="2400" b="1" dirty="0">
                  <a:latin typeface="楷体_GB2312" pitchFamily="49" charset="-122"/>
                  <a:ea typeface="楷体_GB2312" pitchFamily="49" charset="-122"/>
                </a:rPr>
                <a:t>大学教学情况的实体</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联系模型</a:t>
              </a:r>
              <a:r>
                <a:rPr lang="en-US" altLang="zh-CN" sz="2400" b="1">
                  <a:latin typeface="楷体_GB2312" pitchFamily="49" charset="-122"/>
                  <a:ea typeface="楷体_GB2312" pitchFamily="49" charset="-122"/>
                </a:rPr>
                <a:t>(E-R</a:t>
              </a:r>
              <a:r>
                <a:rPr lang="zh-CN" altLang="en-US" sz="2400" b="1">
                  <a:latin typeface="楷体_GB2312" pitchFamily="49" charset="-122"/>
                  <a:ea typeface="楷体_GB2312" pitchFamily="49" charset="-122"/>
                </a:rPr>
                <a:t>图</a:t>
              </a:r>
              <a:r>
                <a:rPr lang="en-US" altLang="zh-CN" sz="2400" b="1">
                  <a:latin typeface="楷体_GB2312" pitchFamily="49" charset="-122"/>
                  <a:ea typeface="楷体_GB2312" pitchFamily="49" charset="-122"/>
                </a:rPr>
                <a:t>)</a:t>
              </a:r>
            </a:p>
          </p:txBody>
        </p:sp>
      </p:grpSp>
      <p:sp>
        <p:nvSpPr>
          <p:cNvPr id="544854" name="文本框 544853"/>
          <p:cNvSpPr txBox="1"/>
          <p:nvPr/>
        </p:nvSpPr>
        <p:spPr>
          <a:xfrm>
            <a:off x="423863" y="188913"/>
            <a:ext cx="8382000" cy="2400300"/>
          </a:xfrm>
          <a:prstGeom prst="rect">
            <a:avLst/>
          </a:prstGeom>
          <a:solidFill>
            <a:srgbClr val="CCECFF"/>
          </a:solidFill>
          <a:ln w="19050" cap="flat" cmpd="sng">
            <a:solidFill>
              <a:srgbClr val="993300"/>
            </a:solidFill>
            <a:prstDash val="solid"/>
            <a:miter/>
            <a:headEnd type="none" w="sm" len="lg"/>
            <a:tailEnd type="none" w="sm" len="lg"/>
          </a:ln>
        </p:spPr>
        <p:txBody>
          <a:bodyPr>
            <a:spAutoFit/>
          </a:bodyPr>
          <a:lstStyle/>
          <a:p>
            <a:pPr>
              <a:lnSpc>
                <a:spcPct val="120000"/>
              </a:lnSpc>
            </a:pPr>
            <a:endParaRPr lang="zh-CN" altLang="en-US" sz="800" b="1" dirty="0">
              <a:latin typeface="Arial" panose="020B0604020202020204" pitchFamily="34" charset="0"/>
              <a:ea typeface="黑体" panose="02010609060101010101" pitchFamily="2" charset="-122"/>
            </a:endParaRPr>
          </a:p>
          <a:p>
            <a:pPr>
              <a:lnSpc>
                <a:spcPct val="130000"/>
              </a:lnSpc>
            </a:pPr>
            <a:r>
              <a:rPr lang="zh-CN" altLang="en-US" sz="2400" b="1" dirty="0">
                <a:latin typeface="Arial" panose="020B0604020202020204" pitchFamily="34" charset="0"/>
                <a:ea typeface="黑体" panose="02010609060101010101" pitchFamily="2" charset="-122"/>
              </a:rPr>
              <a:t>教师关系模式</a:t>
            </a:r>
            <a:r>
              <a:rPr lang="en-US" altLang="zh-CN" sz="2400" b="1">
                <a:latin typeface="Arial" panose="020B0604020202020204" pitchFamily="34" charset="0"/>
              </a:rPr>
              <a:t>: T(T#,TNAME,TSEX,TBIRTHIN,TITLEOF,</a:t>
            </a:r>
          </a:p>
          <a:p>
            <a:pPr>
              <a:lnSpc>
                <a:spcPct val="130000"/>
              </a:lnSpc>
            </a:pPr>
            <a:r>
              <a:rPr lang="en-US" altLang="zh-CN" sz="2400" b="1">
                <a:latin typeface="Arial" panose="020B0604020202020204" pitchFamily="34" charset="0"/>
              </a:rPr>
              <a:t>                                                                TRSECTION,TEL)</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讲授关系模式</a:t>
            </a:r>
            <a:r>
              <a:rPr lang="en-US" altLang="zh-CN" sz="2400" b="1">
                <a:latin typeface="Arial" panose="020B0604020202020204" pitchFamily="34" charset="0"/>
              </a:rPr>
              <a:t>: TEACH(T#,C#)</a:t>
            </a:r>
            <a:endParaRPr lang="en-US" altLang="zh-CN" sz="2400" b="1">
              <a:latin typeface="Arial" panose="020B0604020202020204" pitchFamily="34" charset="0"/>
              <a:ea typeface="黑体" panose="02010609060101010101" pitchFamily="2" charset="-122"/>
            </a:endParaRPr>
          </a:p>
          <a:p>
            <a:pPr>
              <a:lnSpc>
                <a:spcPct val="130000"/>
              </a:lnSpc>
              <a:spcBef>
                <a:spcPct val="15000"/>
              </a:spcBef>
              <a:spcAft>
                <a:spcPct val="10000"/>
              </a:spcAft>
            </a:pPr>
            <a:r>
              <a:rPr lang="zh-CN" altLang="en-US" sz="2400" b="1" dirty="0">
                <a:latin typeface="Arial" panose="020B0604020202020204" pitchFamily="34" charset="0"/>
                <a:ea typeface="黑体" panose="02010609060101010101" pitchFamily="2" charset="-122"/>
              </a:rPr>
              <a:t>课程关系模式</a:t>
            </a:r>
            <a:r>
              <a:rPr lang="en-US" altLang="zh-CN" sz="2400" b="1">
                <a:latin typeface="Arial" panose="020B0604020202020204" pitchFamily="34" charset="0"/>
                <a:ea typeface="黑体" panose="02010609060101010101" pitchFamily="2" charset="-122"/>
              </a:rPr>
              <a:t>: C(C#,CNAME,CLASSH)</a:t>
            </a:r>
          </a:p>
          <a:p>
            <a:pPr>
              <a:lnSpc>
                <a:spcPct val="65000"/>
              </a:lnSpc>
            </a:pPr>
            <a:endParaRPr lang="en-US" altLang="zh-CN" sz="800" b="1">
              <a:latin typeface="Arial" panose="020B0604020202020204" pitchFamily="34" charset="0"/>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4481"/>
    </mc:Choice>
    <mc:Fallback xmlns="">
      <p:transition spd="slow" advTm="1448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4" name="矩形 455683"/>
          <p:cNvSpPr/>
          <p:nvPr/>
        </p:nvSpPr>
        <p:spPr>
          <a:xfrm>
            <a:off x="73025" y="71438"/>
            <a:ext cx="8820150" cy="184467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55685" name="文本框 455684"/>
          <p:cNvSpPr txBox="1"/>
          <p:nvPr/>
        </p:nvSpPr>
        <p:spPr>
          <a:xfrm>
            <a:off x="423863" y="649288"/>
            <a:ext cx="8382000" cy="4724400"/>
          </a:xfrm>
          <a:prstGeom prst="rect">
            <a:avLst/>
          </a:prstGeom>
          <a:noFill/>
          <a:ln w="19050" cap="flat" cmpd="sng">
            <a:solidFill>
              <a:srgbClr val="993300"/>
            </a:solidFill>
            <a:prstDash val="solid"/>
            <a:miter/>
            <a:headEnd type="none" w="sm" len="lg"/>
            <a:tailEnd type="none" w="sm" len="lg"/>
          </a:ln>
        </p:spPr>
        <p:txBody>
          <a:bodyPr>
            <a:spAutoFit/>
          </a:bodyPr>
          <a:lstStyle/>
          <a:p>
            <a:pPr>
              <a:lnSpc>
                <a:spcPct val="120000"/>
              </a:lnSpc>
            </a:pPr>
            <a:endParaRPr lang="zh-CN" altLang="en-US" sz="800" b="1" dirty="0">
              <a:latin typeface="Arial" panose="020B0604020202020204" pitchFamily="34" charset="0"/>
              <a:ea typeface="黑体" panose="02010609060101010101" pitchFamily="2" charset="-122"/>
            </a:endParaRPr>
          </a:p>
          <a:p>
            <a:pPr>
              <a:lnSpc>
                <a:spcPct val="130000"/>
              </a:lnSpc>
              <a:spcBef>
                <a:spcPct val="20000"/>
              </a:spcBef>
            </a:pPr>
            <a:r>
              <a:rPr lang="zh-CN" altLang="en-US" sz="2400" b="1" dirty="0">
                <a:latin typeface="Arial" panose="020B0604020202020204" pitchFamily="34" charset="0"/>
                <a:ea typeface="黑体" panose="02010609060101010101" pitchFamily="2" charset="-122"/>
              </a:rPr>
              <a:t>学生关系模式</a:t>
            </a:r>
            <a:r>
              <a:rPr lang="en-US" altLang="zh-CN" sz="2400" b="1">
                <a:latin typeface="Arial" panose="020B0604020202020204" pitchFamily="34" charset="0"/>
              </a:rPr>
              <a:t>: S(S#,SNAME,SSEX,SBIRTHIN,PLACEOFB)</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专业关系模式</a:t>
            </a:r>
            <a:r>
              <a:rPr lang="en-US" altLang="zh-CN" sz="2400" b="1">
                <a:latin typeface="Arial" panose="020B0604020202020204" pitchFamily="34" charset="0"/>
              </a:rPr>
              <a:t>: SS(SCODE#,SSNAME)</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课程关系模式</a:t>
            </a:r>
            <a:r>
              <a:rPr lang="en-US" altLang="zh-CN" sz="2400" b="1">
                <a:latin typeface="Arial" panose="020B0604020202020204" pitchFamily="34" charset="0"/>
              </a:rPr>
              <a:t>: C(C#,CNAME,CLASSH)</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设置关系模式</a:t>
            </a:r>
            <a:r>
              <a:rPr lang="en-US" altLang="zh-CN" sz="2400" b="1">
                <a:latin typeface="Arial" panose="020B0604020202020204" pitchFamily="34" charset="0"/>
              </a:rPr>
              <a:t>: CS(SCODE#,C#)</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学习关系模式</a:t>
            </a:r>
            <a:r>
              <a:rPr lang="en-US" altLang="zh-CN" sz="2400" b="1">
                <a:latin typeface="Arial" panose="020B0604020202020204" pitchFamily="34" charset="0"/>
              </a:rPr>
              <a:t>: SC(S#,C#,GRADE)</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教师关系模式</a:t>
            </a:r>
            <a:r>
              <a:rPr lang="en-US" altLang="zh-CN" sz="2400" b="1">
                <a:latin typeface="Arial" panose="020B0604020202020204" pitchFamily="34" charset="0"/>
              </a:rPr>
              <a:t>: T(T#,TNAME,TSEX,TBIRTHIN,TITLEOF,</a:t>
            </a:r>
          </a:p>
          <a:p>
            <a:pPr>
              <a:lnSpc>
                <a:spcPct val="130000"/>
              </a:lnSpc>
            </a:pPr>
            <a:r>
              <a:rPr lang="en-US" altLang="zh-CN" sz="2400" b="1">
                <a:latin typeface="Arial" panose="020B0604020202020204" pitchFamily="34" charset="0"/>
              </a:rPr>
              <a:t>                                                                TRSECTION,TEL)</a:t>
            </a:r>
          </a:p>
          <a:p>
            <a:pPr>
              <a:lnSpc>
                <a:spcPct val="130000"/>
              </a:lnSpc>
              <a:spcBef>
                <a:spcPct val="20000"/>
              </a:spcBef>
            </a:pPr>
            <a:r>
              <a:rPr lang="zh-CN" altLang="en-US" sz="2400" b="1" dirty="0">
                <a:latin typeface="Arial" panose="020B0604020202020204" pitchFamily="34" charset="0"/>
                <a:ea typeface="黑体" panose="02010609060101010101" pitchFamily="2" charset="-122"/>
              </a:rPr>
              <a:t>讲授关系模式</a:t>
            </a:r>
            <a:r>
              <a:rPr lang="en-US" altLang="zh-CN" sz="2400" b="1">
                <a:latin typeface="Arial" panose="020B0604020202020204" pitchFamily="34" charset="0"/>
              </a:rPr>
              <a:t>: TEACH(T#,C#)</a:t>
            </a:r>
          </a:p>
          <a:p>
            <a:pPr>
              <a:lnSpc>
                <a:spcPct val="120000"/>
              </a:lnSpc>
              <a:spcBef>
                <a:spcPct val="10000"/>
              </a:spcBef>
            </a:pPr>
            <a:endParaRPr lang="en-US" altLang="zh-CN" sz="800" b="1">
              <a:latin typeface="Arial" panose="020B0604020202020204" pitchFamily="34" charset="0"/>
            </a:endParaRPr>
          </a:p>
        </p:txBody>
      </p:sp>
      <p:sp>
        <p:nvSpPr>
          <p:cNvPr id="455686" name="文本框 455685"/>
          <p:cNvSpPr txBox="1"/>
          <p:nvPr/>
        </p:nvSpPr>
        <p:spPr>
          <a:xfrm>
            <a:off x="755650" y="5780088"/>
            <a:ext cx="8001000" cy="457200"/>
          </a:xfrm>
          <a:prstGeom prst="rect">
            <a:avLst/>
          </a:prstGeom>
          <a:noFill/>
          <a:ln w="19050">
            <a:noFill/>
          </a:ln>
        </p:spPr>
        <p:txBody>
          <a:bodyPr>
            <a:spAutoFit/>
          </a:bodyPr>
          <a:lstStyle/>
          <a:p>
            <a:pPr>
              <a:spcBef>
                <a:spcPct val="50000"/>
              </a:spcBef>
            </a:pPr>
            <a:r>
              <a:rPr lang="zh-CN" altLang="en-US" sz="2400" b="1" dirty="0">
                <a:solidFill>
                  <a:srgbClr val="660033"/>
                </a:solidFill>
                <a:effectLst>
                  <a:outerShdw blurRad="38100" dist="38100" dir="2700000">
                    <a:srgbClr val="C0C0C0"/>
                  </a:outerShdw>
                </a:effectLst>
                <a:latin typeface="黑体" panose="02010609060101010101" pitchFamily="2" charset="-122"/>
                <a:ea typeface="黑体" panose="02010609060101010101" pitchFamily="2" charset="-122"/>
              </a:rPr>
              <a:t>图</a:t>
            </a:r>
            <a:r>
              <a:rPr lang="en-US" altLang="zh-CN" sz="2400" b="1">
                <a:solidFill>
                  <a:srgbClr val="660033"/>
                </a:solidFill>
                <a:effectLst>
                  <a:outerShdw blurRad="38100" dist="38100" dir="2700000">
                    <a:srgbClr val="C0C0C0"/>
                  </a:outerShdw>
                </a:effectLst>
                <a:latin typeface="黑体" panose="02010609060101010101" pitchFamily="2" charset="-122"/>
                <a:ea typeface="黑体" panose="02010609060101010101" pitchFamily="2" charset="-122"/>
              </a:rPr>
              <a:t>3.16   </a:t>
            </a:r>
            <a:r>
              <a:rPr lang="zh-CN" altLang="en-US" sz="2400" b="1" dirty="0">
                <a:solidFill>
                  <a:srgbClr val="660033"/>
                </a:solidFill>
                <a:effectLst>
                  <a:outerShdw blurRad="38100" dist="38100" dir="2700000">
                    <a:srgbClr val="C0C0C0"/>
                  </a:outerShdw>
                </a:effectLst>
                <a:latin typeface="黑体" panose="02010609060101010101" pitchFamily="2" charset="-122"/>
                <a:ea typeface="黑体" panose="02010609060101010101" pitchFamily="2" charset="-122"/>
              </a:rPr>
              <a:t>图</a:t>
            </a:r>
            <a:r>
              <a:rPr lang="en-US" altLang="zh-CN" sz="2400" b="1">
                <a:solidFill>
                  <a:srgbClr val="660033"/>
                </a:solidFill>
                <a:effectLst>
                  <a:outerShdw blurRad="38100" dist="38100" dir="2700000">
                    <a:srgbClr val="C0C0C0"/>
                  </a:outerShdw>
                </a:effectLst>
                <a:latin typeface="黑体" panose="02010609060101010101" pitchFamily="2" charset="-122"/>
                <a:ea typeface="黑体" panose="02010609060101010101" pitchFamily="2" charset="-122"/>
              </a:rPr>
              <a:t>3.9</a:t>
            </a:r>
            <a:r>
              <a:rPr lang="zh-CN" altLang="en-US" sz="2400" b="1" dirty="0">
                <a:solidFill>
                  <a:srgbClr val="660033"/>
                </a:solidFill>
                <a:effectLst>
                  <a:outerShdw blurRad="38100" dist="38100" dir="2700000">
                    <a:srgbClr val="C0C0C0"/>
                  </a:outerShdw>
                </a:effectLst>
                <a:latin typeface="黑体" panose="02010609060101010101" pitchFamily="2" charset="-122"/>
                <a:ea typeface="黑体" panose="02010609060101010101" pitchFamily="2" charset="-122"/>
              </a:rPr>
              <a:t>的实体</a:t>
            </a:r>
            <a:r>
              <a:rPr lang="en-US" altLang="zh-CN" sz="2400" b="1">
                <a:solidFill>
                  <a:srgbClr val="660033"/>
                </a:solidFill>
                <a:effectLst>
                  <a:outerShdw blurRad="38100" dist="38100" dir="2700000">
                    <a:srgbClr val="C0C0C0"/>
                  </a:outerShdw>
                </a:effectLst>
                <a:latin typeface="黑体" panose="02010609060101010101" pitchFamily="2" charset="-122"/>
                <a:ea typeface="黑体" panose="02010609060101010101" pitchFamily="2" charset="-122"/>
              </a:rPr>
              <a:t>-</a:t>
            </a:r>
            <a:r>
              <a:rPr lang="zh-CN" altLang="en-US" sz="2400" b="1" dirty="0">
                <a:solidFill>
                  <a:srgbClr val="660033"/>
                </a:solidFill>
                <a:effectLst>
                  <a:outerShdw blurRad="38100" dist="38100" dir="2700000">
                    <a:srgbClr val="C0C0C0"/>
                  </a:outerShdw>
                </a:effectLst>
                <a:latin typeface="黑体" panose="02010609060101010101" pitchFamily="2" charset="-122"/>
                <a:ea typeface="黑体" panose="02010609060101010101" pitchFamily="2" charset="-122"/>
              </a:rPr>
              <a:t>联系模型中的</a:t>
            </a:r>
            <a:r>
              <a:rPr lang="en-US" altLang="zh-CN" sz="2400" b="1">
                <a:solidFill>
                  <a:srgbClr val="660033"/>
                </a:solidFill>
                <a:effectLst>
                  <a:outerShdw blurRad="38100" dist="38100" dir="2700000">
                    <a:srgbClr val="C0C0C0"/>
                  </a:outerShdw>
                </a:effectLst>
                <a:latin typeface="黑体" panose="02010609060101010101" pitchFamily="2" charset="-122"/>
                <a:ea typeface="黑体" panose="02010609060101010101" pitchFamily="2" charset="-122"/>
              </a:rPr>
              <a:t>M:N</a:t>
            </a:r>
            <a:r>
              <a:rPr lang="zh-CN" altLang="en-US" sz="2400" b="1" dirty="0">
                <a:solidFill>
                  <a:srgbClr val="660033"/>
                </a:solidFill>
                <a:effectLst>
                  <a:outerShdw blurRad="38100" dist="38100" dir="2700000">
                    <a:srgbClr val="C0C0C0"/>
                  </a:outerShdw>
                </a:effectLst>
                <a:latin typeface="黑体" panose="02010609060101010101" pitchFamily="2" charset="-122"/>
                <a:ea typeface="黑体" panose="02010609060101010101" pitchFamily="2" charset="-122"/>
              </a:rPr>
              <a:t>联系的关系模式</a:t>
            </a:r>
          </a:p>
        </p:txBody>
      </p:sp>
    </p:spTree>
  </p:cSld>
  <p:clrMapOvr>
    <a:masterClrMapping/>
  </p:clrMapOvr>
  <mc:AlternateContent xmlns:mc="http://schemas.openxmlformats.org/markup-compatibility/2006" xmlns:p14="http://schemas.microsoft.com/office/powerpoint/2010/main">
    <mc:Choice Requires="p14">
      <p:transition spd="slow" p14:dur="2000" advTm="10446"/>
    </mc:Choice>
    <mc:Fallback xmlns="">
      <p:transition spd="slow" advTm="1044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9" name="矩形 456708"/>
          <p:cNvSpPr/>
          <p:nvPr/>
        </p:nvSpPr>
        <p:spPr>
          <a:xfrm>
            <a:off x="468313" y="1185863"/>
            <a:ext cx="8207375"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sz="3000">
                <a:solidFill>
                  <a:srgbClr val="660033"/>
                </a:solidFill>
                <a:ea typeface="华文新魏" panose="02010800040101010101" pitchFamily="2" charset="-122"/>
              </a:rPr>
              <a:t>         2</a:t>
            </a:r>
            <a:r>
              <a:rPr lang="zh-CN" altLang="en-US" sz="3000" dirty="0">
                <a:solidFill>
                  <a:srgbClr val="660033"/>
                </a:solidFill>
                <a:ea typeface="华文新魏" panose="02010800040101010101" pitchFamily="2" charset="-122"/>
              </a:rPr>
              <a:t>、一对多联系向关系模型的转换</a:t>
            </a:r>
          </a:p>
          <a:p>
            <a:pPr lvl="0">
              <a:lnSpc>
                <a:spcPct val="130000"/>
              </a:lnSpc>
            </a:pPr>
            <a:r>
              <a:rPr lang="zh-CN" altLang="en-US" dirty="0"/>
              <a:t>          </a:t>
            </a:r>
            <a:r>
              <a:rPr lang="zh-CN" altLang="en-US" b="0" dirty="0">
                <a:latin typeface="黑体" panose="02010609060101010101" pitchFamily="2" charset="-122"/>
                <a:ea typeface="黑体" panose="02010609060101010101" pitchFamily="2" charset="-122"/>
              </a:rPr>
              <a:t>当两个实体集间的联系为</a:t>
            </a:r>
            <a:r>
              <a:rPr lang="en-US" altLang="zh-CN" b="0">
                <a:latin typeface="黑体" panose="02010609060101010101" pitchFamily="2" charset="-122"/>
                <a:ea typeface="黑体" panose="02010609060101010101" pitchFamily="2" charset="-122"/>
              </a:rPr>
              <a:t>1∶N</a:t>
            </a:r>
            <a:r>
              <a:rPr lang="zh-CN" altLang="en-US" b="0" dirty="0">
                <a:latin typeface="黑体" panose="02010609060101010101" pitchFamily="2" charset="-122"/>
                <a:ea typeface="黑体" panose="02010609060101010101" pitchFamily="2" charset="-122"/>
              </a:rPr>
              <a:t>联系时，联系两个实体集的联系集没有必要单独设（转换）成一个关系，两个实体集的转换采用如下策略：   </a:t>
            </a:r>
          </a:p>
          <a:p>
            <a:pPr lvl="0">
              <a:lnSpc>
                <a:spcPct val="130000"/>
              </a:lnSpc>
            </a:pPr>
            <a:r>
              <a:rPr lang="zh-CN" altLang="en-US" b="0" dirty="0">
                <a:latin typeface="黑体" panose="02010609060101010101" pitchFamily="2" charset="-122"/>
                <a:ea typeface="黑体" panose="02010609060101010101" pitchFamily="2" charset="-122"/>
              </a:rPr>
              <a:t>      （</a:t>
            </a:r>
            <a:r>
              <a:rPr lang="en-US" altLang="zh-CN" b="0">
                <a:latin typeface="黑体" panose="02010609060101010101" pitchFamily="2" charset="-122"/>
                <a:ea typeface="黑体" panose="02010609060101010101" pitchFamily="2" charset="-122"/>
              </a:rPr>
              <a:t>1</a:t>
            </a:r>
            <a:r>
              <a:rPr lang="zh-CN" altLang="en-US" b="0" dirty="0">
                <a:latin typeface="黑体" panose="02010609060101010101" pitchFamily="2" charset="-122"/>
                <a:ea typeface="黑体" panose="02010609060101010101" pitchFamily="2" charset="-122"/>
              </a:rPr>
              <a:t>）将位于联系集</a:t>
            </a:r>
            <a:r>
              <a:rPr lang="en-US" altLang="zh-CN" b="0">
                <a:latin typeface="黑体" panose="02010609060101010101" pitchFamily="2" charset="-122"/>
                <a:ea typeface="黑体" panose="02010609060101010101" pitchFamily="2" charset="-122"/>
              </a:rPr>
              <a:t>1</a:t>
            </a:r>
            <a:r>
              <a:rPr lang="zh-CN" altLang="en-US" b="0" dirty="0">
                <a:latin typeface="黑体" panose="02010609060101010101" pitchFamily="2" charset="-122"/>
                <a:ea typeface="黑体" panose="02010609060101010101" pitchFamily="2" charset="-122"/>
              </a:rPr>
              <a:t>端和</a:t>
            </a:r>
            <a:r>
              <a:rPr lang="en-US" altLang="zh-CN" b="0">
                <a:latin typeface="黑体" panose="02010609060101010101" pitchFamily="2" charset="-122"/>
                <a:ea typeface="黑体" panose="02010609060101010101" pitchFamily="2" charset="-122"/>
              </a:rPr>
              <a:t>N</a:t>
            </a:r>
            <a:r>
              <a:rPr lang="zh-CN" altLang="en-US" b="0" dirty="0">
                <a:latin typeface="黑体" panose="02010609060101010101" pitchFamily="2" charset="-122"/>
                <a:ea typeface="黑体" panose="02010609060101010101" pitchFamily="2" charset="-122"/>
              </a:rPr>
              <a:t>端的实体集按 “</a:t>
            </a:r>
            <a:r>
              <a:rPr lang="zh-CN" altLang="en-US" dirty="0">
                <a:solidFill>
                  <a:srgbClr val="003366"/>
                </a:solidFill>
                <a:latin typeface="华文新魏" panose="02010800040101010101" pitchFamily="2" charset="-122"/>
                <a:ea typeface="华文新魏" panose="02010800040101010101" pitchFamily="2" charset="-122"/>
              </a:rPr>
              <a:t>多对多联系向关系模型的转换</a:t>
            </a:r>
            <a:r>
              <a:rPr lang="zh-CN" altLang="en-US" b="0" dirty="0">
                <a:latin typeface="黑体" panose="02010609060101010101" pitchFamily="2" charset="-122"/>
                <a:ea typeface="黑体" panose="02010609060101010101" pitchFamily="2" charset="-122"/>
              </a:rPr>
              <a:t>”中所述的转换方式分别转换成一个关系模式，并将</a:t>
            </a:r>
            <a:r>
              <a:rPr lang="en-US" altLang="zh-CN" b="0">
                <a:latin typeface="黑体" panose="02010609060101010101" pitchFamily="2" charset="-122"/>
                <a:ea typeface="黑体" panose="02010609060101010101" pitchFamily="2" charset="-122"/>
              </a:rPr>
              <a:t>1</a:t>
            </a:r>
            <a:r>
              <a:rPr lang="zh-CN" altLang="en-US" b="0" dirty="0">
                <a:latin typeface="黑体" panose="02010609060101010101" pitchFamily="2" charset="-122"/>
                <a:ea typeface="黑体" panose="02010609060101010101" pitchFamily="2" charset="-122"/>
              </a:rPr>
              <a:t>端实体集的主码和联系集的非主码属性加入到</a:t>
            </a:r>
            <a:r>
              <a:rPr lang="en-US" altLang="zh-CN" b="0">
                <a:latin typeface="黑体" panose="02010609060101010101" pitchFamily="2" charset="-122"/>
                <a:ea typeface="黑体" panose="02010609060101010101" pitchFamily="2" charset="-122"/>
              </a:rPr>
              <a:t>N</a:t>
            </a:r>
            <a:r>
              <a:rPr lang="zh-CN" altLang="en-US" b="0" dirty="0">
                <a:latin typeface="黑体" panose="02010609060101010101" pitchFamily="2" charset="-122"/>
                <a:ea typeface="黑体" panose="02010609060101010101" pitchFamily="2" charset="-122"/>
              </a:rPr>
              <a:t>端实体集所转换成的关系模式中。</a:t>
            </a:r>
          </a:p>
        </p:txBody>
      </p:sp>
      <p:sp>
        <p:nvSpPr>
          <p:cNvPr id="456712" name="矩形 456711"/>
          <p:cNvSpPr/>
          <p:nvPr/>
        </p:nvSpPr>
        <p:spPr>
          <a:xfrm>
            <a:off x="827088" y="115888"/>
            <a:ext cx="8259762" cy="719137"/>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二、</a:t>
            </a:r>
            <a:r>
              <a:rPr lang="en-US" altLang="zh-CN" sz="3100"/>
              <a:t>E</a:t>
            </a:r>
            <a:r>
              <a:rPr lang="en-US" altLang="zh-CN" sz="3100">
                <a:latin typeface="Arial" panose="020B0604020202020204" pitchFamily="34" charset="0"/>
              </a:rPr>
              <a:t>—</a:t>
            </a:r>
            <a:r>
              <a:rPr lang="en-US" altLang="zh-CN" sz="3100"/>
              <a:t>R</a:t>
            </a:r>
            <a:r>
              <a:rPr lang="zh-CN" altLang="en-US" sz="3100" dirty="0"/>
              <a:t>图表示的概念结构向关系模型的转换</a:t>
            </a:r>
          </a:p>
        </p:txBody>
      </p:sp>
    </p:spTree>
  </p:cSld>
  <p:clrMapOvr>
    <a:masterClrMapping/>
  </p:clrMapOvr>
  <mc:AlternateContent xmlns:mc="http://schemas.openxmlformats.org/markup-compatibility/2006" xmlns:p14="http://schemas.microsoft.com/office/powerpoint/2010/main">
    <mc:Choice Requires="p14">
      <p:transition spd="slow" p14:dur="2000" advTm="51883"/>
    </mc:Choice>
    <mc:Fallback xmlns="">
      <p:transition spd="slow" advTm="518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56709">
                                            <p:txEl>
                                              <p:pRg st="1" end="1"/>
                                            </p:txEl>
                                          </p:spTgt>
                                        </p:tgtEl>
                                        <p:attrNameLst>
                                          <p:attrName>style.visibility</p:attrName>
                                        </p:attrNameLst>
                                      </p:cBhvr>
                                      <p:to>
                                        <p:strVal val="visible"/>
                                      </p:to>
                                    </p:set>
                                    <p:animEffect transition="in" filter="wipe(up)">
                                      <p:cBhvr>
                                        <p:cTn id="7" dur="2000"/>
                                        <p:tgtEl>
                                          <p:spTgt spid="456709">
                                            <p:txEl>
                                              <p:pRg st="1" end="1"/>
                                            </p:txEl>
                                          </p:spTgt>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456709">
                                            <p:txEl>
                                              <p:pRg st="2" end="2"/>
                                            </p:txEl>
                                          </p:spTgt>
                                        </p:tgtEl>
                                        <p:attrNameLst>
                                          <p:attrName>style.visibility</p:attrName>
                                        </p:attrNameLst>
                                      </p:cBhvr>
                                      <p:to>
                                        <p:strVal val="visible"/>
                                      </p:to>
                                    </p:set>
                                    <p:animEffect transition="in" filter="wipe(up)">
                                      <p:cBhvr>
                                        <p:cTn id="11" dur="2000"/>
                                        <p:tgtEl>
                                          <p:spTgt spid="45670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2" name="矩形 457731"/>
          <p:cNvSpPr/>
          <p:nvPr/>
        </p:nvSpPr>
        <p:spPr>
          <a:xfrm>
            <a:off x="71438" y="115888"/>
            <a:ext cx="8893175" cy="15843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grpSp>
        <p:nvGrpSpPr>
          <p:cNvPr id="457814" name="组合 457813"/>
          <p:cNvGrpSpPr/>
          <p:nvPr/>
        </p:nvGrpSpPr>
        <p:grpSpPr>
          <a:xfrm>
            <a:off x="42863" y="131763"/>
            <a:ext cx="9037637" cy="6321425"/>
            <a:chOff x="27" y="83"/>
            <a:chExt cx="5693" cy="3982"/>
          </a:xfrm>
        </p:grpSpPr>
        <p:grpSp>
          <p:nvGrpSpPr>
            <p:cNvPr id="457815" name="组合 457814"/>
            <p:cNvGrpSpPr/>
            <p:nvPr/>
          </p:nvGrpSpPr>
          <p:grpSpPr>
            <a:xfrm>
              <a:off x="27" y="83"/>
              <a:ext cx="5693" cy="3529"/>
              <a:chOff x="27" y="83"/>
              <a:chExt cx="5693" cy="3529"/>
            </a:xfrm>
          </p:grpSpPr>
          <p:sp>
            <p:nvSpPr>
              <p:cNvPr id="457816" name="矩形 457815"/>
              <p:cNvSpPr/>
              <p:nvPr/>
            </p:nvSpPr>
            <p:spPr>
              <a:xfrm>
                <a:off x="27" y="83"/>
                <a:ext cx="5556" cy="816"/>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57817" name="椭圆 457816"/>
              <p:cNvSpPr/>
              <p:nvPr/>
            </p:nvSpPr>
            <p:spPr>
              <a:xfrm>
                <a:off x="799" y="355"/>
                <a:ext cx="709" cy="338"/>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专业名称</a:t>
                </a:r>
              </a:p>
            </p:txBody>
          </p:sp>
          <p:sp>
            <p:nvSpPr>
              <p:cNvPr id="457818" name="椭圆 457817"/>
              <p:cNvSpPr/>
              <p:nvPr/>
            </p:nvSpPr>
            <p:spPr>
              <a:xfrm>
                <a:off x="1603" y="355"/>
                <a:ext cx="697" cy="335"/>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457819" name="椭圆 457818"/>
              <p:cNvSpPr/>
              <p:nvPr/>
            </p:nvSpPr>
            <p:spPr>
              <a:xfrm>
                <a:off x="2356" y="355"/>
                <a:ext cx="449"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457820" name="椭圆 457819"/>
              <p:cNvSpPr/>
              <p:nvPr/>
            </p:nvSpPr>
            <p:spPr>
              <a:xfrm>
                <a:off x="2859" y="355"/>
                <a:ext cx="452"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班级</a:t>
                </a:r>
              </a:p>
            </p:txBody>
          </p:sp>
          <p:sp>
            <p:nvSpPr>
              <p:cNvPr id="457821" name="椭圆 457820"/>
              <p:cNvSpPr/>
              <p:nvPr/>
            </p:nvSpPr>
            <p:spPr>
              <a:xfrm>
                <a:off x="3361" y="355"/>
                <a:ext cx="446"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457822" name="椭圆 457821"/>
              <p:cNvSpPr/>
              <p:nvPr/>
            </p:nvSpPr>
            <p:spPr>
              <a:xfrm>
                <a:off x="3864" y="355"/>
                <a:ext cx="448"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457823" name="椭圆 457822"/>
              <p:cNvSpPr/>
              <p:nvPr/>
            </p:nvSpPr>
            <p:spPr>
              <a:xfrm>
                <a:off x="4366" y="355"/>
                <a:ext cx="453"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457824" name="椭圆 457823"/>
              <p:cNvSpPr/>
              <p:nvPr/>
            </p:nvSpPr>
            <p:spPr>
              <a:xfrm>
                <a:off x="45" y="355"/>
                <a:ext cx="703" cy="335"/>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457825" name="椭圆 457824"/>
              <p:cNvSpPr/>
              <p:nvPr/>
            </p:nvSpPr>
            <p:spPr>
              <a:xfrm>
                <a:off x="4919" y="355"/>
                <a:ext cx="714" cy="33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457826" name="矩形 457825"/>
              <p:cNvSpPr/>
              <p:nvPr/>
            </p:nvSpPr>
            <p:spPr>
              <a:xfrm>
                <a:off x="497" y="892"/>
                <a:ext cx="603" cy="246"/>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a:t>
                </a:r>
              </a:p>
            </p:txBody>
          </p:sp>
          <p:sp>
            <p:nvSpPr>
              <p:cNvPr id="457827" name="流程图: 决策 457826"/>
              <p:cNvSpPr/>
              <p:nvPr/>
            </p:nvSpPr>
            <p:spPr>
              <a:xfrm>
                <a:off x="2160" y="840"/>
                <a:ext cx="954" cy="35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归属</a:t>
                </a:r>
              </a:p>
            </p:txBody>
          </p:sp>
          <p:sp>
            <p:nvSpPr>
              <p:cNvPr id="457828" name="矩形 457827"/>
              <p:cNvSpPr/>
              <p:nvPr/>
            </p:nvSpPr>
            <p:spPr>
              <a:xfrm>
                <a:off x="4057" y="840"/>
                <a:ext cx="607" cy="249"/>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学生</a:t>
                </a:r>
              </a:p>
            </p:txBody>
          </p:sp>
          <p:sp>
            <p:nvSpPr>
              <p:cNvPr id="457829" name="椭圆 457828"/>
              <p:cNvSpPr/>
              <p:nvPr/>
            </p:nvSpPr>
            <p:spPr>
              <a:xfrm>
                <a:off x="5274" y="794"/>
                <a:ext cx="446" cy="259"/>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籍贯</a:t>
                </a:r>
              </a:p>
            </p:txBody>
          </p:sp>
          <p:sp>
            <p:nvSpPr>
              <p:cNvPr id="457830" name="流程图: 决策 457829"/>
              <p:cNvSpPr/>
              <p:nvPr/>
            </p:nvSpPr>
            <p:spPr>
              <a:xfrm>
                <a:off x="1100" y="1193"/>
                <a:ext cx="963" cy="339"/>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设置</a:t>
                </a:r>
              </a:p>
            </p:txBody>
          </p:sp>
          <p:sp>
            <p:nvSpPr>
              <p:cNvPr id="457831" name="流程图: 决策 457830"/>
              <p:cNvSpPr/>
              <p:nvPr/>
            </p:nvSpPr>
            <p:spPr>
              <a:xfrm>
                <a:off x="3211" y="1193"/>
                <a:ext cx="953" cy="325"/>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学习</a:t>
                </a:r>
              </a:p>
            </p:txBody>
          </p:sp>
          <p:sp>
            <p:nvSpPr>
              <p:cNvPr id="457832" name="椭圆 457831"/>
              <p:cNvSpPr/>
              <p:nvPr/>
            </p:nvSpPr>
            <p:spPr>
              <a:xfrm>
                <a:off x="4567" y="1100"/>
                <a:ext cx="448" cy="278"/>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457833" name="椭圆 457832"/>
              <p:cNvSpPr/>
              <p:nvPr/>
            </p:nvSpPr>
            <p:spPr>
              <a:xfrm>
                <a:off x="4989" y="1272"/>
                <a:ext cx="603" cy="29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57834" name="椭圆 457833"/>
              <p:cNvSpPr/>
              <p:nvPr/>
            </p:nvSpPr>
            <p:spPr>
              <a:xfrm>
                <a:off x="4718" y="1518"/>
                <a:ext cx="452" cy="279"/>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分数</a:t>
                </a:r>
              </a:p>
            </p:txBody>
          </p:sp>
          <p:sp>
            <p:nvSpPr>
              <p:cNvPr id="457835" name="流程图: 过程 457834"/>
              <p:cNvSpPr/>
              <p:nvPr/>
            </p:nvSpPr>
            <p:spPr>
              <a:xfrm>
                <a:off x="2306" y="1582"/>
                <a:ext cx="617"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a:t>
                </a:r>
              </a:p>
            </p:txBody>
          </p:sp>
          <p:sp>
            <p:nvSpPr>
              <p:cNvPr id="457836" name="流程图: 决策 457835"/>
              <p:cNvSpPr/>
              <p:nvPr/>
            </p:nvSpPr>
            <p:spPr>
              <a:xfrm>
                <a:off x="2155" y="2077"/>
                <a:ext cx="957" cy="34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讲授</a:t>
                </a:r>
              </a:p>
            </p:txBody>
          </p:sp>
          <p:sp>
            <p:nvSpPr>
              <p:cNvPr id="457837" name="流程图: 过程 457836"/>
              <p:cNvSpPr/>
              <p:nvPr/>
            </p:nvSpPr>
            <p:spPr>
              <a:xfrm>
                <a:off x="2306" y="2714"/>
                <a:ext cx="612"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教师</a:t>
                </a:r>
              </a:p>
            </p:txBody>
          </p:sp>
          <p:sp>
            <p:nvSpPr>
              <p:cNvPr id="457838" name="椭圆 457837"/>
              <p:cNvSpPr/>
              <p:nvPr/>
            </p:nvSpPr>
            <p:spPr>
              <a:xfrm>
                <a:off x="95" y="1239"/>
                <a:ext cx="698"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457839" name="椭圆 457838"/>
              <p:cNvSpPr/>
              <p:nvPr/>
            </p:nvSpPr>
            <p:spPr>
              <a:xfrm>
                <a:off x="296" y="1657"/>
                <a:ext cx="603" cy="32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57840" name="椭圆 457839"/>
              <p:cNvSpPr/>
              <p:nvPr/>
            </p:nvSpPr>
            <p:spPr>
              <a:xfrm>
                <a:off x="1502" y="1877"/>
                <a:ext cx="603"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57841" name="椭圆 457840"/>
              <p:cNvSpPr/>
              <p:nvPr/>
            </p:nvSpPr>
            <p:spPr>
              <a:xfrm>
                <a:off x="3462" y="1565"/>
                <a:ext cx="448" cy="263"/>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学时</a:t>
                </a:r>
              </a:p>
            </p:txBody>
          </p:sp>
          <p:sp>
            <p:nvSpPr>
              <p:cNvPr id="457842" name="椭圆 457841"/>
              <p:cNvSpPr/>
              <p:nvPr/>
            </p:nvSpPr>
            <p:spPr>
              <a:xfrm>
                <a:off x="3311" y="1877"/>
                <a:ext cx="605"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课程名</a:t>
                </a:r>
              </a:p>
            </p:txBody>
          </p:sp>
          <p:sp>
            <p:nvSpPr>
              <p:cNvPr id="457843" name="椭圆 457842"/>
              <p:cNvSpPr/>
              <p:nvPr/>
            </p:nvSpPr>
            <p:spPr>
              <a:xfrm>
                <a:off x="289" y="2169"/>
                <a:ext cx="817"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457844" name="椭圆 457843"/>
              <p:cNvSpPr/>
              <p:nvPr/>
            </p:nvSpPr>
            <p:spPr>
              <a:xfrm>
                <a:off x="4216" y="2221"/>
                <a:ext cx="653" cy="24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57845" name="椭圆 457844"/>
              <p:cNvSpPr/>
              <p:nvPr/>
            </p:nvSpPr>
            <p:spPr>
              <a:xfrm>
                <a:off x="1251" y="2541"/>
                <a:ext cx="708" cy="328"/>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457846" name="椭圆 457845"/>
              <p:cNvSpPr/>
              <p:nvPr/>
            </p:nvSpPr>
            <p:spPr>
              <a:xfrm>
                <a:off x="3462" y="2589"/>
                <a:ext cx="710" cy="320"/>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电话号码</a:t>
                </a:r>
              </a:p>
            </p:txBody>
          </p:sp>
          <p:sp>
            <p:nvSpPr>
              <p:cNvPr id="457847" name="椭圆 457846"/>
              <p:cNvSpPr/>
              <p:nvPr/>
            </p:nvSpPr>
            <p:spPr>
              <a:xfrm>
                <a:off x="3663" y="3009"/>
                <a:ext cx="607" cy="32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教研室</a:t>
                </a:r>
              </a:p>
            </p:txBody>
          </p:sp>
          <p:sp>
            <p:nvSpPr>
              <p:cNvPr id="457848" name="椭圆 457847"/>
              <p:cNvSpPr/>
              <p:nvPr/>
            </p:nvSpPr>
            <p:spPr>
              <a:xfrm>
                <a:off x="1402" y="2914"/>
                <a:ext cx="435" cy="292"/>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457849" name="椭圆 457848"/>
              <p:cNvSpPr/>
              <p:nvPr/>
            </p:nvSpPr>
            <p:spPr>
              <a:xfrm>
                <a:off x="1703" y="3206"/>
                <a:ext cx="437" cy="31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457850" name="椭圆 457849"/>
              <p:cNvSpPr/>
              <p:nvPr/>
            </p:nvSpPr>
            <p:spPr>
              <a:xfrm>
                <a:off x="2284" y="3206"/>
                <a:ext cx="703" cy="40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457851" name="椭圆 457850"/>
              <p:cNvSpPr/>
              <p:nvPr/>
            </p:nvSpPr>
            <p:spPr>
              <a:xfrm>
                <a:off x="3138" y="3193"/>
                <a:ext cx="489" cy="32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职称</a:t>
                </a:r>
              </a:p>
            </p:txBody>
          </p:sp>
          <p:sp>
            <p:nvSpPr>
              <p:cNvPr id="457852" name="直接连接符 457851"/>
              <p:cNvSpPr/>
              <p:nvPr/>
            </p:nvSpPr>
            <p:spPr>
              <a:xfrm>
                <a:off x="497" y="695"/>
                <a:ext cx="2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53" name="直接连接符 457852"/>
              <p:cNvSpPr/>
              <p:nvPr/>
            </p:nvSpPr>
            <p:spPr>
              <a:xfrm flipH="1">
                <a:off x="949" y="695"/>
                <a:ext cx="3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54" name="直接连接符 457853"/>
              <p:cNvSpPr/>
              <p:nvPr/>
            </p:nvSpPr>
            <p:spPr>
              <a:xfrm>
                <a:off x="1100" y="991"/>
                <a:ext cx="10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55" name="直接连接符 457854"/>
              <p:cNvSpPr/>
              <p:nvPr/>
            </p:nvSpPr>
            <p:spPr>
              <a:xfrm>
                <a:off x="3110" y="991"/>
                <a:ext cx="9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56" name="直接连接符 457855"/>
              <p:cNvSpPr/>
              <p:nvPr/>
            </p:nvSpPr>
            <p:spPr>
              <a:xfrm>
                <a:off x="2055" y="695"/>
                <a:ext cx="4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57" name="直接连接符 457856"/>
              <p:cNvSpPr/>
              <p:nvPr/>
            </p:nvSpPr>
            <p:spPr>
              <a:xfrm>
                <a:off x="2608" y="646"/>
                <a:ext cx="50"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58" name="直接连接符 457857"/>
              <p:cNvSpPr/>
              <p:nvPr/>
            </p:nvSpPr>
            <p:spPr>
              <a:xfrm flipH="1">
                <a:off x="2859" y="646"/>
                <a:ext cx="20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59" name="直接连接符 457858"/>
              <p:cNvSpPr/>
              <p:nvPr/>
            </p:nvSpPr>
            <p:spPr>
              <a:xfrm>
                <a:off x="3670" y="639"/>
                <a:ext cx="43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0" name="直接连接符 457859"/>
              <p:cNvSpPr/>
              <p:nvPr/>
            </p:nvSpPr>
            <p:spPr>
              <a:xfrm>
                <a:off x="4115" y="639"/>
                <a:ext cx="10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1" name="直接连接符 457860"/>
              <p:cNvSpPr/>
              <p:nvPr/>
            </p:nvSpPr>
            <p:spPr>
              <a:xfrm flipH="1">
                <a:off x="4373" y="639"/>
                <a:ext cx="1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2" name="直接连接符 457861"/>
              <p:cNvSpPr/>
              <p:nvPr/>
            </p:nvSpPr>
            <p:spPr>
              <a:xfrm flipH="1">
                <a:off x="4567" y="663"/>
                <a:ext cx="530" cy="173"/>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3" name="直接连接符 457862"/>
              <p:cNvSpPr/>
              <p:nvPr/>
            </p:nvSpPr>
            <p:spPr>
              <a:xfrm flipV="1">
                <a:off x="4676" y="960"/>
                <a:ext cx="594"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4" name="直接连接符 457863"/>
              <p:cNvSpPr/>
              <p:nvPr/>
            </p:nvSpPr>
            <p:spPr>
              <a:xfrm flipH="1">
                <a:off x="3814" y="1089"/>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5" name="直接连接符 457864"/>
              <p:cNvSpPr/>
              <p:nvPr/>
            </p:nvSpPr>
            <p:spPr>
              <a:xfrm flipV="1">
                <a:off x="4165" y="1286"/>
                <a:ext cx="453"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6" name="直接连接符 457865"/>
              <p:cNvSpPr/>
              <p:nvPr/>
            </p:nvSpPr>
            <p:spPr>
              <a:xfrm>
                <a:off x="4086" y="1378"/>
                <a:ext cx="903" cy="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7" name="直接连接符 457866"/>
              <p:cNvSpPr/>
              <p:nvPr/>
            </p:nvSpPr>
            <p:spPr>
              <a:xfrm flipH="1" flipV="1">
                <a:off x="3945" y="1426"/>
                <a:ext cx="773" cy="2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8" name="直接连接符 457867"/>
              <p:cNvSpPr/>
              <p:nvPr/>
            </p:nvSpPr>
            <p:spPr>
              <a:xfrm>
                <a:off x="1904" y="1434"/>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69" name="直接连接符 457868"/>
              <p:cNvSpPr/>
              <p:nvPr/>
            </p:nvSpPr>
            <p:spPr>
              <a:xfrm flipV="1">
                <a:off x="2923" y="1434"/>
                <a:ext cx="496" cy="1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0" name="直接连接符 457869"/>
              <p:cNvSpPr/>
              <p:nvPr/>
            </p:nvSpPr>
            <p:spPr>
              <a:xfrm flipV="1">
                <a:off x="1811" y="1722"/>
                <a:ext cx="5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1" name="直接连接符 457870"/>
              <p:cNvSpPr/>
              <p:nvPr/>
            </p:nvSpPr>
            <p:spPr>
              <a:xfrm flipV="1">
                <a:off x="2923" y="1706"/>
                <a:ext cx="535" cy="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2" name="直接连接符 457871"/>
              <p:cNvSpPr/>
              <p:nvPr/>
            </p:nvSpPr>
            <p:spPr>
              <a:xfrm>
                <a:off x="2909" y="1828"/>
                <a:ext cx="402" cy="14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3" name="直接连接符 457872"/>
              <p:cNvSpPr/>
              <p:nvPr/>
            </p:nvSpPr>
            <p:spPr>
              <a:xfrm flipV="1">
                <a:off x="1100" y="2271"/>
                <a:ext cx="1055" cy="9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4" name="直接连接符 457873"/>
              <p:cNvSpPr/>
              <p:nvPr/>
            </p:nvSpPr>
            <p:spPr>
              <a:xfrm>
                <a:off x="3110" y="2250"/>
                <a:ext cx="1095" cy="91"/>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5" name="直接连接符 457874"/>
              <p:cNvSpPr/>
              <p:nvPr/>
            </p:nvSpPr>
            <p:spPr>
              <a:xfrm>
                <a:off x="2658" y="2418"/>
                <a:ext cx="1" cy="29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6" name="直接连接符 457875"/>
              <p:cNvSpPr/>
              <p:nvPr/>
            </p:nvSpPr>
            <p:spPr>
              <a:xfrm>
                <a:off x="1954" y="2763"/>
                <a:ext cx="352"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7" name="直接连接符 457876"/>
              <p:cNvSpPr/>
              <p:nvPr/>
            </p:nvSpPr>
            <p:spPr>
              <a:xfrm flipV="1">
                <a:off x="1832" y="2861"/>
                <a:ext cx="476"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8" name="直接连接符 457877"/>
              <p:cNvSpPr/>
              <p:nvPr/>
            </p:nvSpPr>
            <p:spPr>
              <a:xfrm flipV="1">
                <a:off x="2105" y="2960"/>
                <a:ext cx="251" cy="29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79" name="直接连接符 457878"/>
              <p:cNvSpPr/>
              <p:nvPr/>
            </p:nvSpPr>
            <p:spPr>
              <a:xfrm flipV="1">
                <a:off x="2658" y="2960"/>
                <a:ext cx="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80" name="直接连接符 457879"/>
              <p:cNvSpPr/>
              <p:nvPr/>
            </p:nvSpPr>
            <p:spPr>
              <a:xfrm flipH="1" flipV="1">
                <a:off x="2909" y="2960"/>
                <a:ext cx="402"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81" name="直接连接符 457880"/>
              <p:cNvSpPr/>
              <p:nvPr/>
            </p:nvSpPr>
            <p:spPr>
              <a:xfrm>
                <a:off x="2923" y="2861"/>
                <a:ext cx="754"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82" name="直接连接符 457881"/>
              <p:cNvSpPr/>
              <p:nvPr/>
            </p:nvSpPr>
            <p:spPr>
              <a:xfrm>
                <a:off x="2916" y="2763"/>
                <a:ext cx="546"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83" name="直接连接符 457882"/>
              <p:cNvSpPr/>
              <p:nvPr/>
            </p:nvSpPr>
            <p:spPr>
              <a:xfrm flipV="1">
                <a:off x="899" y="1483"/>
                <a:ext cx="503" cy="34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84" name="直接连接符 457883"/>
              <p:cNvSpPr/>
              <p:nvPr/>
            </p:nvSpPr>
            <p:spPr>
              <a:xfrm flipV="1">
                <a:off x="799" y="1371"/>
                <a:ext cx="301"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85" name="直接连接符 457884"/>
              <p:cNvSpPr/>
              <p:nvPr/>
            </p:nvSpPr>
            <p:spPr>
              <a:xfrm>
                <a:off x="892" y="1131"/>
                <a:ext cx="295" cy="19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57886" name="文本框 457885"/>
              <p:cNvSpPr txBox="1"/>
              <p:nvPr/>
            </p:nvSpPr>
            <p:spPr>
              <a:xfrm>
                <a:off x="1453" y="782"/>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1</a:t>
                </a:r>
              </a:p>
            </p:txBody>
          </p:sp>
          <p:sp>
            <p:nvSpPr>
              <p:cNvPr id="457887" name="文本框 457886"/>
              <p:cNvSpPr txBox="1"/>
              <p:nvPr/>
            </p:nvSpPr>
            <p:spPr>
              <a:xfrm>
                <a:off x="3412" y="801"/>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457888" name="文本框 457887"/>
              <p:cNvSpPr txBox="1"/>
              <p:nvPr/>
            </p:nvSpPr>
            <p:spPr>
              <a:xfrm>
                <a:off x="3763" y="1023"/>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457889" name="文本框 457888"/>
              <p:cNvSpPr txBox="1"/>
              <p:nvPr/>
            </p:nvSpPr>
            <p:spPr>
              <a:xfrm>
                <a:off x="1100" y="1121"/>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457890" name="文本框 457889"/>
              <p:cNvSpPr txBox="1"/>
              <p:nvPr/>
            </p:nvSpPr>
            <p:spPr>
              <a:xfrm>
                <a:off x="2105" y="1367"/>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457891" name="文本框 457890"/>
              <p:cNvSpPr txBox="1"/>
              <p:nvPr/>
            </p:nvSpPr>
            <p:spPr>
              <a:xfrm>
                <a:off x="2853" y="1360"/>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r">
                  <a:spcBef>
                    <a:spcPct val="50000"/>
                  </a:spcBef>
                </a:pPr>
                <a:r>
                  <a:rPr lang="en-US" altLang="zh-CN" b="1">
                    <a:latin typeface="Arial" panose="020B0604020202020204" pitchFamily="34" charset="0"/>
                  </a:rPr>
                  <a:t>N</a:t>
                </a:r>
              </a:p>
            </p:txBody>
          </p:sp>
          <p:sp>
            <p:nvSpPr>
              <p:cNvPr id="457892" name="文本框 457891"/>
              <p:cNvSpPr txBox="1"/>
              <p:nvPr/>
            </p:nvSpPr>
            <p:spPr>
              <a:xfrm>
                <a:off x="2658" y="1909"/>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N</a:t>
                </a:r>
              </a:p>
            </p:txBody>
          </p:sp>
          <p:sp>
            <p:nvSpPr>
              <p:cNvPr id="457893" name="文本框 457892"/>
              <p:cNvSpPr txBox="1"/>
              <p:nvPr/>
            </p:nvSpPr>
            <p:spPr>
              <a:xfrm>
                <a:off x="2658" y="2499"/>
                <a:ext cx="251"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M</a:t>
                </a:r>
              </a:p>
            </p:txBody>
          </p:sp>
          <p:sp>
            <p:nvSpPr>
              <p:cNvPr id="457894" name="直接连接符 457893"/>
              <p:cNvSpPr/>
              <p:nvPr/>
            </p:nvSpPr>
            <p:spPr>
              <a:xfrm flipV="1">
                <a:off x="2637" y="1828"/>
                <a:ext cx="1" cy="23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grpSp>
        <p:sp>
          <p:nvSpPr>
            <p:cNvPr id="457895" name="文本框 457894"/>
            <p:cNvSpPr txBox="1"/>
            <p:nvPr/>
          </p:nvSpPr>
          <p:spPr>
            <a:xfrm>
              <a:off x="739" y="3835"/>
              <a:ext cx="4137" cy="230"/>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zh-CN" altLang="en-US" sz="2400" b="1" dirty="0">
                  <a:latin typeface="楷体_GB2312" pitchFamily="49" charset="-122"/>
                  <a:ea typeface="楷体_GB2312" pitchFamily="49" charset="-122"/>
                </a:rPr>
                <a:t>图</a:t>
              </a:r>
              <a:r>
                <a:rPr lang="en-US" altLang="zh-CN" sz="2400" b="1">
                  <a:latin typeface="楷体_GB2312" pitchFamily="49" charset="-122"/>
                  <a:ea typeface="楷体_GB2312" pitchFamily="49" charset="-122"/>
                </a:rPr>
                <a:t>3.9 </a:t>
              </a:r>
              <a:r>
                <a:rPr lang="zh-CN" altLang="en-US" sz="2400" b="1" dirty="0">
                  <a:latin typeface="楷体_GB2312" pitchFamily="49" charset="-122"/>
                  <a:ea typeface="楷体_GB2312" pitchFamily="49" charset="-122"/>
                </a:rPr>
                <a:t>大学教学情况的实体</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联系模型</a:t>
              </a:r>
              <a:r>
                <a:rPr lang="en-US" altLang="zh-CN" sz="2400" b="1">
                  <a:latin typeface="楷体_GB2312" pitchFamily="49" charset="-122"/>
                  <a:ea typeface="楷体_GB2312" pitchFamily="49" charset="-122"/>
                </a:rPr>
                <a:t>(E-R</a:t>
              </a:r>
              <a:r>
                <a:rPr lang="zh-CN" altLang="en-US" sz="2400" b="1">
                  <a:latin typeface="楷体_GB2312" pitchFamily="49" charset="-122"/>
                  <a:ea typeface="楷体_GB2312" pitchFamily="49" charset="-122"/>
                </a:rPr>
                <a:t>图</a:t>
              </a:r>
              <a:r>
                <a:rPr lang="en-US" altLang="zh-CN" sz="2400" b="1">
                  <a:latin typeface="楷体_GB2312" pitchFamily="49" charset="-122"/>
                  <a:ea typeface="楷体_GB2312" pitchFamily="49" charset="-122"/>
                </a:rPr>
                <a:t>)</a:t>
              </a:r>
            </a:p>
          </p:txBody>
        </p:sp>
      </p:grpSp>
      <p:sp>
        <p:nvSpPr>
          <p:cNvPr id="457813" name="文本框 457812"/>
          <p:cNvSpPr txBox="1"/>
          <p:nvPr/>
        </p:nvSpPr>
        <p:spPr>
          <a:xfrm>
            <a:off x="381000" y="1938338"/>
            <a:ext cx="8382000" cy="2397125"/>
          </a:xfrm>
          <a:prstGeom prst="rect">
            <a:avLst/>
          </a:prstGeom>
          <a:solidFill>
            <a:srgbClr val="CCECFF"/>
          </a:solidFill>
          <a:ln w="19050" cap="flat" cmpd="sng">
            <a:solidFill>
              <a:srgbClr val="993300"/>
            </a:solidFill>
            <a:prstDash val="solid"/>
            <a:miter/>
            <a:headEnd type="none" w="sm" len="lg"/>
            <a:tailEnd type="none" w="sm" len="lg"/>
          </a:ln>
        </p:spPr>
        <p:txBody>
          <a:bodyPr>
            <a:spAutoFit/>
          </a:bodyPr>
          <a:lstStyle/>
          <a:p>
            <a:pPr>
              <a:lnSpc>
                <a:spcPct val="125000"/>
              </a:lnSpc>
              <a:spcBef>
                <a:spcPct val="20000"/>
              </a:spcBef>
            </a:pPr>
            <a:r>
              <a:rPr lang="zh-CN" altLang="en-US" sz="2800" b="1" dirty="0">
                <a:latin typeface="黑体" panose="02010609060101010101" pitchFamily="2" charset="-122"/>
                <a:ea typeface="黑体" panose="02010609060101010101" pitchFamily="2" charset="-122"/>
              </a:rPr>
              <a:t>专业关系模式</a:t>
            </a:r>
            <a:r>
              <a:rPr lang="en-US" altLang="zh-CN" sz="2800" b="1">
                <a:latin typeface="黑体" panose="02010609060101010101" pitchFamily="2" charset="-122"/>
                <a:ea typeface="黑体" panose="02010609060101010101" pitchFamily="2" charset="-122"/>
              </a:rPr>
              <a:t>:</a:t>
            </a:r>
            <a:r>
              <a:rPr lang="en-US" altLang="zh-CN" sz="2400" b="1">
                <a:latin typeface="Arial" panose="020B0604020202020204" pitchFamily="34" charset="0"/>
              </a:rPr>
              <a:t>  SS</a:t>
            </a:r>
            <a:r>
              <a:rPr lang="zh-CN" altLang="en-US" sz="2400" b="1" dirty="0">
                <a:latin typeface="Arial" panose="020B0604020202020204" pitchFamily="34" charset="0"/>
              </a:rPr>
              <a:t>（</a:t>
            </a:r>
            <a:r>
              <a:rPr lang="en-US" altLang="zh-CN" sz="2400" b="1">
                <a:latin typeface="Arial" panose="020B0604020202020204" pitchFamily="34" charset="0"/>
              </a:rPr>
              <a:t>SCODE#</a:t>
            </a:r>
            <a:r>
              <a:rPr lang="zh-CN" altLang="en-US" sz="2400" b="1" dirty="0">
                <a:latin typeface="Arial" panose="020B0604020202020204" pitchFamily="34" charset="0"/>
              </a:rPr>
              <a:t>，</a:t>
            </a:r>
            <a:r>
              <a:rPr lang="en-US" altLang="zh-CN" sz="2400" b="1">
                <a:latin typeface="Arial" panose="020B0604020202020204" pitchFamily="34" charset="0"/>
              </a:rPr>
              <a:t>SSNAME</a:t>
            </a:r>
            <a:r>
              <a:rPr lang="zh-CN" altLang="en-US" sz="2400" b="1" dirty="0">
                <a:latin typeface="Arial" panose="020B0604020202020204" pitchFamily="34" charset="0"/>
              </a:rPr>
              <a:t>）</a:t>
            </a:r>
          </a:p>
          <a:p>
            <a:pPr>
              <a:lnSpc>
                <a:spcPct val="125000"/>
              </a:lnSpc>
              <a:spcBef>
                <a:spcPct val="20000"/>
              </a:spcBef>
            </a:pPr>
            <a:r>
              <a:rPr lang="zh-CN" altLang="en-US" sz="2800" b="1" dirty="0">
                <a:effectLst>
                  <a:outerShdw blurRad="38100" dist="38100" dir="2700000">
                    <a:srgbClr val="FFFFFF"/>
                  </a:outerShdw>
                </a:effectLst>
                <a:latin typeface="黑体" panose="02010609060101010101" pitchFamily="2" charset="-122"/>
                <a:ea typeface="黑体" panose="02010609060101010101" pitchFamily="2" charset="-122"/>
              </a:rPr>
              <a:t>学生关系模式</a:t>
            </a:r>
            <a:r>
              <a:rPr lang="en-US" altLang="zh-CN" sz="2800" b="1">
                <a:effectLst>
                  <a:outerShdw blurRad="38100" dist="38100" dir="2700000">
                    <a:srgbClr val="FFFFFF"/>
                  </a:outerShdw>
                </a:effectLst>
                <a:latin typeface="黑体" panose="02010609060101010101" pitchFamily="2" charset="-122"/>
                <a:ea typeface="黑体" panose="02010609060101010101" pitchFamily="2" charset="-122"/>
              </a:rPr>
              <a:t>:</a:t>
            </a:r>
          </a:p>
          <a:p>
            <a:pPr>
              <a:lnSpc>
                <a:spcPct val="125000"/>
              </a:lnSpc>
              <a:spcBef>
                <a:spcPct val="60000"/>
              </a:spcBef>
            </a:pPr>
            <a:r>
              <a:rPr lang="en-US" altLang="zh-CN" sz="2400" b="1">
                <a:latin typeface="Arial" panose="020B0604020202020204" pitchFamily="34" charset="0"/>
              </a:rPr>
              <a:t>        S</a:t>
            </a:r>
            <a:r>
              <a:rPr lang="zh-CN" altLang="en-US" sz="2400" b="1" dirty="0">
                <a:latin typeface="Arial" panose="020B0604020202020204" pitchFamily="34" charset="0"/>
              </a:rPr>
              <a:t>（</a:t>
            </a:r>
            <a:r>
              <a:rPr lang="en-US" altLang="zh-CN" sz="2400" b="1">
                <a:latin typeface="Arial" panose="020B0604020202020204" pitchFamily="34" charset="0"/>
              </a:rPr>
              <a:t>S#</a:t>
            </a:r>
            <a:r>
              <a:rPr lang="zh-CN" altLang="en-US" sz="2400" b="1">
                <a:latin typeface="Arial" panose="020B0604020202020204" pitchFamily="34" charset="0"/>
              </a:rPr>
              <a:t>，</a:t>
            </a:r>
            <a:r>
              <a:rPr lang="en-US" altLang="zh-CN" sz="2400" b="1">
                <a:latin typeface="Arial" panose="020B0604020202020204" pitchFamily="34" charset="0"/>
              </a:rPr>
              <a:t>SNAME</a:t>
            </a:r>
            <a:r>
              <a:rPr lang="zh-CN" altLang="en-US" sz="2400" b="1">
                <a:latin typeface="Arial" panose="020B0604020202020204" pitchFamily="34" charset="0"/>
              </a:rPr>
              <a:t>，</a:t>
            </a:r>
            <a:r>
              <a:rPr lang="en-US" altLang="zh-CN" sz="2400" b="1">
                <a:latin typeface="Arial" panose="020B0604020202020204" pitchFamily="34" charset="0"/>
              </a:rPr>
              <a:t>SSEX</a:t>
            </a:r>
            <a:r>
              <a:rPr lang="zh-CN" altLang="en-US" sz="2400" b="1">
                <a:latin typeface="Arial" panose="020B0604020202020204" pitchFamily="34" charset="0"/>
              </a:rPr>
              <a:t>，</a:t>
            </a:r>
            <a:r>
              <a:rPr lang="en-US" altLang="zh-CN" sz="2400" b="1">
                <a:latin typeface="Arial" panose="020B0604020202020204" pitchFamily="34" charset="0"/>
              </a:rPr>
              <a:t>SBIRTHIN</a:t>
            </a:r>
            <a:r>
              <a:rPr lang="zh-CN" altLang="en-US" sz="2400" b="1" dirty="0">
                <a:latin typeface="Arial" panose="020B0604020202020204" pitchFamily="34" charset="0"/>
              </a:rPr>
              <a:t>，</a:t>
            </a:r>
          </a:p>
          <a:p>
            <a:pPr>
              <a:lnSpc>
                <a:spcPct val="125000"/>
              </a:lnSpc>
              <a:spcAft>
                <a:spcPct val="20000"/>
              </a:spcAft>
            </a:pPr>
            <a:r>
              <a:rPr lang="en-US" altLang="zh-CN" sz="2400" b="1">
                <a:latin typeface="Arial" panose="020B0604020202020204" pitchFamily="34" charset="0"/>
              </a:rPr>
              <a:t>                                    PLACEOFB</a:t>
            </a:r>
            <a:r>
              <a:rPr lang="zh-CN" altLang="en-US" sz="2400" b="1" dirty="0">
                <a:latin typeface="Arial" panose="020B0604020202020204" pitchFamily="34" charset="0"/>
              </a:rPr>
              <a:t>，</a:t>
            </a:r>
            <a:r>
              <a:rPr lang="en-US" altLang="zh-CN" sz="2400" b="1">
                <a:latin typeface="Arial" panose="020B0604020202020204" pitchFamily="34" charset="0"/>
              </a:rPr>
              <a:t>SCODE# </a:t>
            </a:r>
            <a:r>
              <a:rPr lang="zh-CN" altLang="en-US" sz="2400" b="1" dirty="0">
                <a:latin typeface="Arial" panose="020B0604020202020204" pitchFamily="34" charset="0"/>
              </a:rPr>
              <a:t>，</a:t>
            </a:r>
            <a:r>
              <a:rPr lang="en-US" altLang="zh-CN" sz="2400" b="1">
                <a:latin typeface="Arial" panose="020B0604020202020204" pitchFamily="34" charset="0"/>
              </a:rPr>
              <a:t>CLASS</a:t>
            </a:r>
            <a:r>
              <a:rPr lang="zh-CN" altLang="en-US" sz="2400" b="1" dirty="0">
                <a:latin typeface="Arial" panose="020B0604020202020204" pitchFamily="34" charset="0"/>
              </a:rPr>
              <a:t>）</a:t>
            </a:r>
          </a:p>
        </p:txBody>
      </p:sp>
    </p:spTree>
  </p:cSld>
  <p:clrMapOvr>
    <a:masterClrMapping/>
  </p:clrMapOvr>
  <mc:AlternateContent xmlns:mc="http://schemas.openxmlformats.org/markup-compatibility/2006" xmlns:p14="http://schemas.microsoft.com/office/powerpoint/2010/main">
    <mc:Choice Requires="p14">
      <p:transition spd="slow" p14:dur="2000" advTm="39159"/>
    </mc:Choice>
    <mc:Fallback xmlns="">
      <p:transition spd="slow" advTm="3915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7" name="文本框 458756"/>
          <p:cNvSpPr txBox="1"/>
          <p:nvPr/>
        </p:nvSpPr>
        <p:spPr>
          <a:xfrm>
            <a:off x="663575" y="4916488"/>
            <a:ext cx="8229600" cy="457200"/>
          </a:xfrm>
          <a:prstGeom prst="rect">
            <a:avLst/>
          </a:prstGeom>
          <a:noFill/>
          <a:ln w="19050">
            <a:noFill/>
          </a:ln>
        </p:spPr>
        <p:txBody>
          <a:bodyPr>
            <a:spAutoFit/>
          </a:bodyPr>
          <a:lstStyle/>
          <a:p>
            <a:pPr>
              <a:spcBef>
                <a:spcPct val="50000"/>
              </a:spcBef>
            </a:pPr>
            <a:r>
              <a:rPr lang="zh-CN" altLang="en-US" sz="2400" b="1" dirty="0">
                <a:solidFill>
                  <a:srgbClr val="660033"/>
                </a:solidFill>
                <a:latin typeface="黑体" panose="02010609060101010101" pitchFamily="2" charset="-122"/>
                <a:ea typeface="黑体" panose="02010609060101010101" pitchFamily="2" charset="-122"/>
              </a:rPr>
              <a:t>图</a:t>
            </a:r>
            <a:r>
              <a:rPr lang="en-US" altLang="zh-CN" sz="2400" b="1">
                <a:solidFill>
                  <a:srgbClr val="660033"/>
                </a:solidFill>
                <a:latin typeface="黑体" panose="02010609060101010101" pitchFamily="2" charset="-122"/>
                <a:ea typeface="黑体" panose="02010609060101010101" pitchFamily="2" charset="-122"/>
              </a:rPr>
              <a:t>3.17  </a:t>
            </a:r>
            <a:r>
              <a:rPr lang="zh-CN" altLang="en-US" sz="2400" b="1" dirty="0">
                <a:solidFill>
                  <a:srgbClr val="660033"/>
                </a:solidFill>
                <a:latin typeface="黑体" panose="02010609060101010101" pitchFamily="2" charset="-122"/>
                <a:ea typeface="黑体" panose="02010609060101010101" pitchFamily="2" charset="-122"/>
              </a:rPr>
              <a:t>图</a:t>
            </a:r>
            <a:r>
              <a:rPr lang="en-US" altLang="zh-CN" sz="2400" b="1">
                <a:solidFill>
                  <a:srgbClr val="660033"/>
                </a:solidFill>
                <a:latin typeface="黑体" panose="02010609060101010101" pitchFamily="2" charset="-122"/>
                <a:ea typeface="黑体" panose="02010609060101010101" pitchFamily="2" charset="-122"/>
              </a:rPr>
              <a:t>3.9</a:t>
            </a:r>
            <a:r>
              <a:rPr lang="zh-CN" altLang="en-US" sz="2400" b="1" dirty="0">
                <a:solidFill>
                  <a:srgbClr val="660033"/>
                </a:solidFill>
                <a:latin typeface="黑体" panose="02010609060101010101" pitchFamily="2" charset="-122"/>
                <a:ea typeface="黑体" panose="02010609060101010101" pitchFamily="2" charset="-122"/>
              </a:rPr>
              <a:t>的实体</a:t>
            </a:r>
            <a:r>
              <a:rPr lang="en-US" altLang="zh-CN" sz="2400" b="1">
                <a:solidFill>
                  <a:srgbClr val="660033"/>
                </a:solidFill>
                <a:latin typeface="黑体" panose="02010609060101010101" pitchFamily="2" charset="-122"/>
                <a:ea typeface="黑体" panose="02010609060101010101" pitchFamily="2" charset="-122"/>
              </a:rPr>
              <a:t>-</a:t>
            </a:r>
            <a:r>
              <a:rPr lang="zh-CN" altLang="en-US" sz="2400" b="1" dirty="0">
                <a:solidFill>
                  <a:srgbClr val="660033"/>
                </a:solidFill>
                <a:latin typeface="黑体" panose="02010609060101010101" pitchFamily="2" charset="-122"/>
                <a:ea typeface="黑体" panose="02010609060101010101" pitchFamily="2" charset="-122"/>
              </a:rPr>
              <a:t>联系模型中的</a:t>
            </a:r>
            <a:r>
              <a:rPr lang="en-US" altLang="zh-CN" sz="2400" b="1">
                <a:solidFill>
                  <a:srgbClr val="660033"/>
                </a:solidFill>
                <a:latin typeface="黑体" panose="02010609060101010101" pitchFamily="2" charset="-122"/>
                <a:ea typeface="黑体" panose="02010609060101010101" pitchFamily="2" charset="-122"/>
              </a:rPr>
              <a:t>1:N</a:t>
            </a:r>
            <a:r>
              <a:rPr lang="zh-CN" altLang="en-US" sz="2400" b="1" dirty="0">
                <a:solidFill>
                  <a:srgbClr val="660033"/>
                </a:solidFill>
                <a:latin typeface="黑体" panose="02010609060101010101" pitchFamily="2" charset="-122"/>
                <a:ea typeface="黑体" panose="02010609060101010101" pitchFamily="2" charset="-122"/>
              </a:rPr>
              <a:t>联系的关系模型</a:t>
            </a:r>
          </a:p>
        </p:txBody>
      </p:sp>
      <p:sp>
        <p:nvSpPr>
          <p:cNvPr id="458758" name="文本框 458757"/>
          <p:cNvSpPr txBox="1"/>
          <p:nvPr/>
        </p:nvSpPr>
        <p:spPr>
          <a:xfrm>
            <a:off x="381000" y="1350963"/>
            <a:ext cx="8382000" cy="3219450"/>
          </a:xfrm>
          <a:prstGeom prst="rect">
            <a:avLst/>
          </a:prstGeom>
          <a:noFill/>
          <a:ln w="19050" cap="flat" cmpd="sng">
            <a:solidFill>
              <a:srgbClr val="993300"/>
            </a:solidFill>
            <a:prstDash val="solid"/>
            <a:miter/>
            <a:headEnd type="none" w="sm" len="lg"/>
            <a:tailEnd type="none" w="sm" len="lg"/>
          </a:ln>
        </p:spPr>
        <p:txBody>
          <a:bodyPr>
            <a:spAutoFit/>
          </a:bodyPr>
          <a:lstStyle/>
          <a:p>
            <a:pPr>
              <a:lnSpc>
                <a:spcPct val="125000"/>
              </a:lnSpc>
              <a:spcBef>
                <a:spcPct val="20000"/>
              </a:spcBef>
            </a:pPr>
            <a:r>
              <a:rPr lang="zh-CN" altLang="en-US" sz="2400" b="1" dirty="0">
                <a:latin typeface="Arial" panose="020B0604020202020204" pitchFamily="34" charset="0"/>
              </a:rPr>
              <a:t>  </a:t>
            </a:r>
            <a:r>
              <a:rPr lang="zh-CN" altLang="en-US" sz="2800" b="1" dirty="0">
                <a:effectLst>
                  <a:outerShdw blurRad="38100" dist="38100" dir="2700000">
                    <a:srgbClr val="C0C0C0"/>
                  </a:outerShdw>
                </a:effectLst>
                <a:latin typeface="黑体" panose="02010609060101010101" pitchFamily="2" charset="-122"/>
                <a:ea typeface="黑体" panose="02010609060101010101" pitchFamily="2" charset="-122"/>
              </a:rPr>
              <a:t>学生关系模式</a:t>
            </a:r>
            <a:r>
              <a:rPr lang="en-US" altLang="zh-CN" sz="2800" b="1">
                <a:effectLst>
                  <a:outerShdw blurRad="38100" dist="38100" dir="2700000">
                    <a:srgbClr val="C0C0C0"/>
                  </a:outerShdw>
                </a:effectLst>
                <a:latin typeface="黑体" panose="02010609060101010101" pitchFamily="2" charset="-122"/>
                <a:ea typeface="黑体" panose="02010609060101010101" pitchFamily="2" charset="-122"/>
              </a:rPr>
              <a:t>:</a:t>
            </a:r>
          </a:p>
          <a:p>
            <a:pPr>
              <a:lnSpc>
                <a:spcPct val="125000"/>
              </a:lnSpc>
              <a:spcBef>
                <a:spcPct val="20000"/>
              </a:spcBef>
            </a:pPr>
            <a:r>
              <a:rPr lang="en-US" altLang="zh-CN" sz="2400" b="1">
                <a:latin typeface="Arial" panose="020B0604020202020204" pitchFamily="34" charset="0"/>
              </a:rPr>
              <a:t>        S</a:t>
            </a:r>
            <a:r>
              <a:rPr lang="zh-CN" altLang="en-US" sz="2400" b="1" dirty="0">
                <a:latin typeface="Arial" panose="020B0604020202020204" pitchFamily="34" charset="0"/>
              </a:rPr>
              <a:t>（</a:t>
            </a:r>
            <a:r>
              <a:rPr lang="en-US" altLang="zh-CN" sz="2400" b="1">
                <a:latin typeface="Arial" panose="020B0604020202020204" pitchFamily="34" charset="0"/>
              </a:rPr>
              <a:t>S#</a:t>
            </a:r>
            <a:r>
              <a:rPr lang="zh-CN" altLang="en-US" sz="2400" b="1">
                <a:latin typeface="Arial" panose="020B0604020202020204" pitchFamily="34" charset="0"/>
              </a:rPr>
              <a:t>，</a:t>
            </a:r>
            <a:r>
              <a:rPr lang="en-US" altLang="zh-CN" sz="2400" b="1">
                <a:latin typeface="Arial" panose="020B0604020202020204" pitchFamily="34" charset="0"/>
              </a:rPr>
              <a:t>SNAME</a:t>
            </a:r>
            <a:r>
              <a:rPr lang="zh-CN" altLang="en-US" sz="2400" b="1">
                <a:latin typeface="Arial" panose="020B0604020202020204" pitchFamily="34" charset="0"/>
              </a:rPr>
              <a:t>，</a:t>
            </a:r>
            <a:r>
              <a:rPr lang="en-US" altLang="zh-CN" sz="2400" b="1">
                <a:latin typeface="Arial" panose="020B0604020202020204" pitchFamily="34" charset="0"/>
              </a:rPr>
              <a:t>SSEX</a:t>
            </a:r>
            <a:r>
              <a:rPr lang="zh-CN" altLang="en-US" sz="2400" b="1">
                <a:latin typeface="Arial" panose="020B0604020202020204" pitchFamily="34" charset="0"/>
              </a:rPr>
              <a:t>，</a:t>
            </a:r>
            <a:r>
              <a:rPr lang="en-US" altLang="zh-CN" sz="2400" b="1">
                <a:latin typeface="Arial" panose="020B0604020202020204" pitchFamily="34" charset="0"/>
              </a:rPr>
              <a:t>SBIRTHIN</a:t>
            </a:r>
            <a:r>
              <a:rPr lang="zh-CN" altLang="en-US" sz="2400" b="1" dirty="0">
                <a:latin typeface="Arial" panose="020B0604020202020204" pitchFamily="34" charset="0"/>
              </a:rPr>
              <a:t>，</a:t>
            </a:r>
          </a:p>
          <a:p>
            <a:pPr>
              <a:lnSpc>
                <a:spcPct val="125000"/>
              </a:lnSpc>
              <a:spcBef>
                <a:spcPct val="20000"/>
              </a:spcBef>
            </a:pPr>
            <a:r>
              <a:rPr lang="en-US" altLang="zh-CN" sz="2400" b="1">
                <a:latin typeface="Arial" panose="020B0604020202020204" pitchFamily="34" charset="0"/>
              </a:rPr>
              <a:t>                                    PLACEOFB</a:t>
            </a:r>
            <a:r>
              <a:rPr lang="zh-CN" altLang="en-US" sz="2400" b="1" dirty="0">
                <a:latin typeface="Arial" panose="020B0604020202020204" pitchFamily="34" charset="0"/>
              </a:rPr>
              <a:t>，</a:t>
            </a:r>
            <a:r>
              <a:rPr lang="en-US" altLang="zh-CN" sz="2400" b="1">
                <a:latin typeface="Arial" panose="020B0604020202020204" pitchFamily="34" charset="0"/>
              </a:rPr>
              <a:t>SCODE# </a:t>
            </a:r>
            <a:r>
              <a:rPr lang="zh-CN" altLang="en-US" sz="2400" b="1" dirty="0">
                <a:latin typeface="Arial" panose="020B0604020202020204" pitchFamily="34" charset="0"/>
              </a:rPr>
              <a:t>，</a:t>
            </a:r>
            <a:r>
              <a:rPr lang="en-US" altLang="zh-CN" sz="2400" b="1">
                <a:latin typeface="Arial" panose="020B0604020202020204" pitchFamily="34" charset="0"/>
              </a:rPr>
              <a:t>CLASS</a:t>
            </a:r>
            <a:r>
              <a:rPr lang="zh-CN" altLang="en-US" sz="2400" b="1" dirty="0">
                <a:latin typeface="Arial" panose="020B0604020202020204" pitchFamily="34" charset="0"/>
              </a:rPr>
              <a:t>）</a:t>
            </a:r>
          </a:p>
          <a:p>
            <a:r>
              <a:rPr lang="zh-CN" altLang="en-US" sz="2400" b="1">
                <a:latin typeface="Arial" panose="020B0604020202020204" pitchFamily="34" charset="0"/>
              </a:rPr>
              <a:t>    </a:t>
            </a:r>
            <a:r>
              <a:rPr lang="zh-CN" altLang="en-US" sz="2400" b="1" dirty="0">
                <a:latin typeface="Arial" panose="020B0604020202020204" pitchFamily="34" charset="0"/>
              </a:rPr>
              <a:t> </a:t>
            </a:r>
          </a:p>
          <a:p>
            <a:pPr>
              <a:lnSpc>
                <a:spcPct val="125000"/>
              </a:lnSpc>
              <a:spcBef>
                <a:spcPct val="20000"/>
              </a:spcBef>
            </a:pPr>
            <a:r>
              <a:rPr lang="zh-CN" altLang="en-US" sz="2400" b="1" dirty="0">
                <a:latin typeface="Arial" panose="020B0604020202020204" pitchFamily="34" charset="0"/>
              </a:rPr>
              <a:t>  </a:t>
            </a:r>
            <a:r>
              <a:rPr lang="zh-CN" altLang="en-US" sz="2800" b="1" dirty="0">
                <a:latin typeface="黑体" panose="02010609060101010101" pitchFamily="2" charset="-122"/>
                <a:ea typeface="黑体" panose="02010609060101010101" pitchFamily="2" charset="-122"/>
              </a:rPr>
              <a:t>专业关系模式</a:t>
            </a:r>
            <a:r>
              <a:rPr lang="en-US" altLang="zh-CN" sz="2800" b="1">
                <a:latin typeface="黑体" panose="02010609060101010101" pitchFamily="2" charset="-122"/>
                <a:ea typeface="黑体" panose="02010609060101010101" pitchFamily="2" charset="-122"/>
              </a:rPr>
              <a:t>:</a:t>
            </a:r>
          </a:p>
          <a:p>
            <a:pPr>
              <a:lnSpc>
                <a:spcPct val="125000"/>
              </a:lnSpc>
              <a:spcBef>
                <a:spcPct val="20000"/>
              </a:spcBef>
            </a:pPr>
            <a:r>
              <a:rPr lang="en-US" altLang="zh-CN" sz="2400" b="1">
                <a:latin typeface="Arial" panose="020B0604020202020204" pitchFamily="34" charset="0"/>
              </a:rPr>
              <a:t>        SS</a:t>
            </a:r>
            <a:r>
              <a:rPr lang="zh-CN" altLang="en-US" sz="2400" b="1" dirty="0">
                <a:latin typeface="Arial" panose="020B0604020202020204" pitchFamily="34" charset="0"/>
              </a:rPr>
              <a:t>（</a:t>
            </a:r>
            <a:r>
              <a:rPr lang="en-US" altLang="zh-CN" sz="2400" b="1">
                <a:latin typeface="Arial" panose="020B0604020202020204" pitchFamily="34" charset="0"/>
              </a:rPr>
              <a:t>SCODE#</a:t>
            </a:r>
            <a:r>
              <a:rPr lang="zh-CN" altLang="en-US" sz="2400" b="1" dirty="0">
                <a:latin typeface="Arial" panose="020B0604020202020204" pitchFamily="34" charset="0"/>
              </a:rPr>
              <a:t>，</a:t>
            </a:r>
            <a:r>
              <a:rPr lang="en-US" altLang="zh-CN" sz="2400" b="1">
                <a:latin typeface="Arial" panose="020B0604020202020204" pitchFamily="34" charset="0"/>
              </a:rPr>
              <a:t>SSNAME</a:t>
            </a:r>
            <a:r>
              <a:rPr lang="zh-CN" altLang="en-US" sz="2400" b="1" dirty="0">
                <a:latin typeface="Arial" panose="020B0604020202020204" pitchFamily="34" charset="0"/>
              </a:rPr>
              <a:t>）</a:t>
            </a:r>
          </a:p>
        </p:txBody>
      </p:sp>
      <p:sp>
        <p:nvSpPr>
          <p:cNvPr id="458760" name="矩形 458759"/>
          <p:cNvSpPr/>
          <p:nvPr/>
        </p:nvSpPr>
        <p:spPr>
          <a:xfrm>
            <a:off x="827088" y="115888"/>
            <a:ext cx="8259762" cy="719137"/>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二、</a:t>
            </a:r>
            <a:r>
              <a:rPr lang="en-US" altLang="zh-CN" sz="3100"/>
              <a:t>E</a:t>
            </a:r>
            <a:r>
              <a:rPr lang="en-US" altLang="zh-CN" sz="3100">
                <a:latin typeface="Arial" panose="020B0604020202020204" pitchFamily="34" charset="0"/>
              </a:rPr>
              <a:t>—</a:t>
            </a:r>
            <a:r>
              <a:rPr lang="en-US" altLang="zh-CN" sz="3100"/>
              <a:t>R</a:t>
            </a:r>
            <a:r>
              <a:rPr lang="zh-CN" altLang="en-US" sz="3100" dirty="0"/>
              <a:t>图表示的概念结构向关系模型的转换</a:t>
            </a:r>
          </a:p>
        </p:txBody>
      </p:sp>
    </p:spTree>
  </p:cSld>
  <p:clrMapOvr>
    <a:masterClrMapping/>
  </p:clrMapOvr>
  <mc:AlternateContent xmlns:mc="http://schemas.openxmlformats.org/markup-compatibility/2006" xmlns:p14="http://schemas.microsoft.com/office/powerpoint/2010/main">
    <mc:Choice Requires="p14">
      <p:transition spd="slow" p14:dur="2000" advTm="18006"/>
    </mc:Choice>
    <mc:Fallback xmlns="">
      <p:transition spd="slow" advTm="18006"/>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80" name="矩形 459779"/>
          <p:cNvSpPr/>
          <p:nvPr/>
        </p:nvSpPr>
        <p:spPr>
          <a:xfrm>
            <a:off x="468313" y="1185863"/>
            <a:ext cx="8207375"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sz="3000">
                <a:solidFill>
                  <a:srgbClr val="660033"/>
                </a:solidFill>
                <a:ea typeface="华文新魏" panose="02010800040101010101" pitchFamily="2" charset="-122"/>
              </a:rPr>
              <a:t>          2</a:t>
            </a:r>
            <a:r>
              <a:rPr lang="zh-CN" altLang="en-US" sz="3000" dirty="0">
                <a:solidFill>
                  <a:srgbClr val="660033"/>
                </a:solidFill>
                <a:ea typeface="华文新魏" panose="02010800040101010101" pitchFamily="2" charset="-122"/>
              </a:rPr>
              <a:t>、一对多联系向关系模型的转换</a:t>
            </a:r>
          </a:p>
          <a:p>
            <a:pPr lvl="0">
              <a:lnSpc>
                <a:spcPct val="130000"/>
              </a:lnSpc>
            </a:pPr>
            <a:r>
              <a:rPr lang="zh-CN" altLang="en-US" dirty="0"/>
              <a:t>          </a:t>
            </a:r>
            <a:r>
              <a:rPr lang="zh-CN" altLang="en-US" b="0" dirty="0">
                <a:latin typeface="黑体" panose="02010609060101010101" pitchFamily="2" charset="-122"/>
                <a:ea typeface="黑体" panose="02010609060101010101" pitchFamily="2" charset="-122"/>
              </a:rPr>
              <a:t>（</a:t>
            </a:r>
            <a:r>
              <a:rPr lang="en-US" altLang="zh-CN" b="0">
                <a:latin typeface="黑体" panose="02010609060101010101" pitchFamily="2" charset="-122"/>
                <a:ea typeface="黑体" panose="02010609060101010101" pitchFamily="2" charset="-122"/>
              </a:rPr>
              <a:t>2</a:t>
            </a:r>
            <a:r>
              <a:rPr lang="zh-CN" altLang="en-US" b="0" dirty="0">
                <a:latin typeface="黑体" panose="02010609060101010101" pitchFamily="2" charset="-122"/>
                <a:ea typeface="黑体" panose="02010609060101010101" pitchFamily="2" charset="-122"/>
              </a:rPr>
              <a:t>）对于象 “一般” 意义上的实体集和</a:t>
            </a:r>
            <a:r>
              <a:rPr lang="zh-CN" altLang="en-US" sz="1000" b="0" dirty="0">
                <a:latin typeface="黑体" panose="02010609060101010101" pitchFamily="2" charset="-122"/>
                <a:ea typeface="黑体" panose="02010609060101010101" pitchFamily="2" charset="-122"/>
              </a:rPr>
              <a:t> </a:t>
            </a:r>
            <a:r>
              <a:rPr lang="zh-CN" altLang="en-US" b="0" dirty="0">
                <a:latin typeface="黑体" panose="02010609060101010101" pitchFamily="2" charset="-122"/>
                <a:ea typeface="黑体" panose="02010609060101010101" pitchFamily="2" charset="-122"/>
              </a:rPr>
              <a:t>“具体” 意义上的实体集这样的两个实体集之间的</a:t>
            </a:r>
            <a:r>
              <a:rPr lang="en-US" altLang="zh-CN" b="0">
                <a:latin typeface="黑体" panose="02010609060101010101" pitchFamily="2" charset="-122"/>
                <a:ea typeface="黑体" panose="02010609060101010101" pitchFamily="2" charset="-122"/>
              </a:rPr>
              <a:t>1∶N</a:t>
            </a:r>
            <a:r>
              <a:rPr lang="zh-CN" altLang="en-US" b="0" dirty="0">
                <a:latin typeface="黑体" panose="02010609060101010101" pitchFamily="2" charset="-122"/>
                <a:ea typeface="黑体" panose="02010609060101010101" pitchFamily="2" charset="-122"/>
              </a:rPr>
              <a:t>联系，将位于</a:t>
            </a:r>
            <a:r>
              <a:rPr lang="en-US" altLang="zh-CN" b="0">
                <a:latin typeface="黑体" panose="02010609060101010101" pitchFamily="2" charset="-122"/>
                <a:ea typeface="黑体" panose="02010609060101010101" pitchFamily="2" charset="-122"/>
              </a:rPr>
              <a:t>1</a:t>
            </a:r>
            <a:r>
              <a:rPr lang="zh-CN" altLang="en-US" b="0" dirty="0">
                <a:latin typeface="黑体" panose="02010609060101010101" pitchFamily="2" charset="-122"/>
                <a:ea typeface="黑体" panose="02010609060101010101" pitchFamily="2" charset="-122"/>
              </a:rPr>
              <a:t>端的“一般”意义上的实体集和位于</a:t>
            </a:r>
            <a:r>
              <a:rPr lang="en-US" altLang="zh-CN" b="0">
                <a:latin typeface="黑体" panose="02010609060101010101" pitchFamily="2" charset="-122"/>
                <a:ea typeface="黑体" panose="02010609060101010101" pitchFamily="2" charset="-122"/>
              </a:rPr>
              <a:t>N</a:t>
            </a:r>
            <a:r>
              <a:rPr lang="zh-CN" altLang="en-US" b="0" dirty="0">
                <a:latin typeface="黑体" panose="02010609060101010101" pitchFamily="2" charset="-122"/>
                <a:ea typeface="黑体" panose="02010609060101010101" pitchFamily="2" charset="-122"/>
              </a:rPr>
              <a:t>端的“具体”意义上的实体集按“</a:t>
            </a:r>
            <a:r>
              <a:rPr lang="zh-CN" altLang="en-US" dirty="0">
                <a:solidFill>
                  <a:srgbClr val="003366"/>
                </a:solidFill>
                <a:latin typeface="华文新魏" panose="02010800040101010101" pitchFamily="2" charset="-122"/>
                <a:ea typeface="华文新魏" panose="02010800040101010101" pitchFamily="2" charset="-122"/>
              </a:rPr>
              <a:t>多对多联系向关系模型的转换</a:t>
            </a:r>
            <a:r>
              <a:rPr lang="zh-CN" altLang="en-US" b="0" dirty="0">
                <a:latin typeface="黑体" panose="02010609060101010101" pitchFamily="2" charset="-122"/>
                <a:ea typeface="黑体" panose="02010609060101010101" pitchFamily="2" charset="-122"/>
              </a:rPr>
              <a:t>”中所述的转换方式分别转换成一个关系模式，并将联系它们的联系集看作一个属性加入到位于</a:t>
            </a:r>
            <a:r>
              <a:rPr lang="en-US" altLang="zh-CN" b="0">
                <a:latin typeface="黑体" panose="02010609060101010101" pitchFamily="2" charset="-122"/>
                <a:ea typeface="黑体" panose="02010609060101010101" pitchFamily="2" charset="-122"/>
              </a:rPr>
              <a:t>N</a:t>
            </a:r>
            <a:r>
              <a:rPr lang="zh-CN" altLang="en-US" b="0" dirty="0">
                <a:latin typeface="黑体" panose="02010609060101010101" pitchFamily="2" charset="-122"/>
                <a:ea typeface="黑体" panose="02010609060101010101" pitchFamily="2" charset="-122"/>
              </a:rPr>
              <a:t>端的实体集对应的关系模式中。</a:t>
            </a:r>
          </a:p>
        </p:txBody>
      </p:sp>
      <p:sp>
        <p:nvSpPr>
          <p:cNvPr id="459783" name="矩形 459782"/>
          <p:cNvSpPr/>
          <p:nvPr/>
        </p:nvSpPr>
        <p:spPr>
          <a:xfrm>
            <a:off x="827088" y="115888"/>
            <a:ext cx="8259762" cy="719137"/>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二、</a:t>
            </a:r>
            <a:r>
              <a:rPr lang="en-US" altLang="zh-CN" sz="3100"/>
              <a:t>E</a:t>
            </a:r>
            <a:r>
              <a:rPr lang="en-US" altLang="zh-CN" sz="3100">
                <a:latin typeface="Arial" panose="020B0604020202020204" pitchFamily="34" charset="0"/>
              </a:rPr>
              <a:t>—</a:t>
            </a:r>
            <a:r>
              <a:rPr lang="en-US" altLang="zh-CN" sz="3100"/>
              <a:t>R</a:t>
            </a:r>
            <a:r>
              <a:rPr lang="zh-CN" altLang="en-US" sz="3100" dirty="0"/>
              <a:t>图表示的概念结构向关系模型的转换</a:t>
            </a:r>
          </a:p>
        </p:txBody>
      </p:sp>
    </p:spTree>
  </p:cSld>
  <p:clrMapOvr>
    <a:masterClrMapping/>
  </p:clrMapOvr>
  <mc:AlternateContent xmlns:mc="http://schemas.openxmlformats.org/markup-compatibility/2006" xmlns:p14="http://schemas.microsoft.com/office/powerpoint/2010/main">
    <mc:Choice Requires="p14">
      <p:transition spd="slow" p14:dur="2000" advTm="32588"/>
    </mc:Choice>
    <mc:Fallback xmlns="">
      <p:transition spd="slow" advTm="325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59780">
                                            <p:txEl>
                                              <p:pRg st="1" end="1"/>
                                            </p:txEl>
                                          </p:spTgt>
                                        </p:tgtEl>
                                        <p:attrNameLst>
                                          <p:attrName>style.visibility</p:attrName>
                                        </p:attrNameLst>
                                      </p:cBhvr>
                                      <p:to>
                                        <p:strVal val="visible"/>
                                      </p:to>
                                    </p:set>
                                    <p:animEffect transition="in" filter="wipe(up)">
                                      <p:cBhvr>
                                        <p:cTn id="7" dur="2000"/>
                                        <p:tgtEl>
                                          <p:spTgt spid="45978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4" name="矩形 460803"/>
          <p:cNvSpPr/>
          <p:nvPr/>
        </p:nvSpPr>
        <p:spPr>
          <a:xfrm>
            <a:off x="107950" y="115888"/>
            <a:ext cx="8713788" cy="1944687"/>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60805" name="文本框 460804"/>
          <p:cNvSpPr txBox="1"/>
          <p:nvPr/>
        </p:nvSpPr>
        <p:spPr>
          <a:xfrm>
            <a:off x="395288" y="6096000"/>
            <a:ext cx="8610600" cy="457200"/>
          </a:xfrm>
          <a:prstGeom prst="rect">
            <a:avLst/>
          </a:prstGeom>
          <a:noFill/>
          <a:ln w="9525">
            <a:noFill/>
          </a:ln>
        </p:spPr>
        <p:txBody>
          <a:bodyPr>
            <a:spAutoFit/>
          </a:bodyPr>
          <a:lstStyle/>
          <a:p>
            <a:pPr>
              <a:spcBef>
                <a:spcPct val="50000"/>
              </a:spcBef>
            </a:pPr>
            <a:r>
              <a:rPr lang="zh-CN" altLang="en-US" sz="2400" b="1" dirty="0">
                <a:latin typeface="Arial" panose="020B0604020202020204" pitchFamily="34" charset="0"/>
              </a:rPr>
              <a:t>图</a:t>
            </a:r>
            <a:r>
              <a:rPr lang="en-US" altLang="zh-CN" sz="2400" b="1">
                <a:latin typeface="Arial" panose="020B0604020202020204" pitchFamily="34" charset="0"/>
              </a:rPr>
              <a:t>3.12   </a:t>
            </a:r>
            <a:r>
              <a:rPr lang="zh-CN" altLang="en-US" sz="2400" b="1" dirty="0">
                <a:latin typeface="Arial" panose="020B0604020202020204" pitchFamily="34" charset="0"/>
              </a:rPr>
              <a:t>航空公司飞行员和班组人员的</a:t>
            </a:r>
            <a:r>
              <a:rPr lang="en-US" altLang="zh-CN" sz="2400" b="1" err="1">
                <a:latin typeface="Arial" panose="020B0604020202020204" pitchFamily="34" charset="0"/>
              </a:rPr>
              <a:t>isa</a:t>
            </a:r>
            <a:r>
              <a:rPr lang="zh-CN" altLang="en-US" sz="2400" b="1" dirty="0">
                <a:latin typeface="Arial" panose="020B0604020202020204" pitchFamily="34" charset="0"/>
              </a:rPr>
              <a:t>联系的</a:t>
            </a:r>
            <a:r>
              <a:rPr lang="en-US" altLang="zh-CN" sz="2400" b="1">
                <a:latin typeface="Arial" panose="020B0604020202020204" pitchFamily="34" charset="0"/>
              </a:rPr>
              <a:t>E-R</a:t>
            </a:r>
            <a:r>
              <a:rPr lang="zh-CN" altLang="en-US" sz="2400" b="1" dirty="0">
                <a:latin typeface="Arial" panose="020B0604020202020204" pitchFamily="34" charset="0"/>
              </a:rPr>
              <a:t>模型表示</a:t>
            </a:r>
          </a:p>
        </p:txBody>
      </p:sp>
      <p:grpSp>
        <p:nvGrpSpPr>
          <p:cNvPr id="460806" name="组合 460805"/>
          <p:cNvGrpSpPr/>
          <p:nvPr/>
        </p:nvGrpSpPr>
        <p:grpSpPr>
          <a:xfrm>
            <a:off x="654050" y="404813"/>
            <a:ext cx="7518400" cy="5410200"/>
            <a:chOff x="432" y="480"/>
            <a:chExt cx="4736" cy="3408"/>
          </a:xfrm>
        </p:grpSpPr>
        <p:sp>
          <p:nvSpPr>
            <p:cNvPr id="460807" name="矩形 460806"/>
            <p:cNvSpPr/>
            <p:nvPr/>
          </p:nvSpPr>
          <p:spPr>
            <a:xfrm>
              <a:off x="2448" y="960"/>
              <a:ext cx="912" cy="336"/>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PERSONNEL</a:t>
              </a:r>
            </a:p>
            <a:p>
              <a:pPr algn="ctr"/>
              <a:r>
                <a:rPr lang="zh-CN" altLang="en-US" sz="1600" b="1" dirty="0">
                  <a:latin typeface="Arial" panose="020B0604020202020204" pitchFamily="34" charset="0"/>
                </a:rPr>
                <a:t>班组人员</a:t>
              </a:r>
            </a:p>
          </p:txBody>
        </p:sp>
        <p:sp>
          <p:nvSpPr>
            <p:cNvPr id="460808" name="椭圆 460807"/>
            <p:cNvSpPr/>
            <p:nvPr/>
          </p:nvSpPr>
          <p:spPr>
            <a:xfrm>
              <a:off x="816" y="672"/>
              <a:ext cx="912" cy="384"/>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NAME</a:t>
              </a:r>
            </a:p>
            <a:p>
              <a:pPr algn="ctr"/>
              <a:r>
                <a:rPr lang="zh-CN" altLang="en-US" sz="1600" b="1" dirty="0">
                  <a:latin typeface="Arial" panose="020B0604020202020204" pitchFamily="34" charset="0"/>
                </a:rPr>
                <a:t>姓名</a:t>
              </a:r>
            </a:p>
          </p:txBody>
        </p:sp>
        <p:sp>
          <p:nvSpPr>
            <p:cNvPr id="460809" name="椭圆 460808"/>
            <p:cNvSpPr/>
            <p:nvPr/>
          </p:nvSpPr>
          <p:spPr>
            <a:xfrm>
              <a:off x="1920" y="480"/>
              <a:ext cx="907" cy="390"/>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ADDRESS</a:t>
              </a:r>
            </a:p>
            <a:p>
              <a:pPr algn="ctr"/>
              <a:r>
                <a:rPr lang="zh-CN" altLang="en-US" sz="1600" b="1" dirty="0">
                  <a:latin typeface="Arial" panose="020B0604020202020204" pitchFamily="34" charset="0"/>
                </a:rPr>
                <a:t>地址</a:t>
              </a:r>
            </a:p>
          </p:txBody>
        </p:sp>
        <p:sp>
          <p:nvSpPr>
            <p:cNvPr id="460810" name="椭圆 460809"/>
            <p:cNvSpPr/>
            <p:nvPr/>
          </p:nvSpPr>
          <p:spPr>
            <a:xfrm>
              <a:off x="2976" y="480"/>
              <a:ext cx="916" cy="388"/>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SALARY</a:t>
              </a:r>
            </a:p>
            <a:p>
              <a:pPr algn="ctr"/>
              <a:r>
                <a:rPr lang="zh-CN" altLang="en-US" sz="1600" b="1" dirty="0">
                  <a:latin typeface="Arial" panose="020B0604020202020204" pitchFamily="34" charset="0"/>
                </a:rPr>
                <a:t>工资</a:t>
              </a:r>
            </a:p>
          </p:txBody>
        </p:sp>
        <p:sp>
          <p:nvSpPr>
            <p:cNvPr id="460811" name="椭圆 460810"/>
            <p:cNvSpPr/>
            <p:nvPr/>
          </p:nvSpPr>
          <p:spPr>
            <a:xfrm>
              <a:off x="4080" y="624"/>
              <a:ext cx="918" cy="370"/>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EMP-NO</a:t>
              </a:r>
            </a:p>
            <a:p>
              <a:pPr algn="ctr"/>
              <a:r>
                <a:rPr lang="zh-CN" altLang="en-US" sz="1600" b="1" dirty="0">
                  <a:latin typeface="Arial" panose="020B0604020202020204" pitchFamily="34" charset="0"/>
                </a:rPr>
                <a:t>职工号</a:t>
              </a:r>
            </a:p>
          </p:txBody>
        </p:sp>
        <p:sp>
          <p:nvSpPr>
            <p:cNvPr id="460812" name="矩形 460811"/>
            <p:cNvSpPr/>
            <p:nvPr/>
          </p:nvSpPr>
          <p:spPr>
            <a:xfrm>
              <a:off x="2352" y="1728"/>
              <a:ext cx="1147" cy="333"/>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PILOTS</a:t>
              </a:r>
              <a:r>
                <a:rPr lang="zh-CN" altLang="en-US" sz="1600" b="1" dirty="0">
                  <a:latin typeface="Arial" panose="020B0604020202020204" pitchFamily="34" charset="0"/>
                </a:rPr>
                <a:t>飞行员</a:t>
              </a:r>
            </a:p>
          </p:txBody>
        </p:sp>
        <p:sp>
          <p:nvSpPr>
            <p:cNvPr id="460813" name="流程图: 决策 460812"/>
            <p:cNvSpPr/>
            <p:nvPr/>
          </p:nvSpPr>
          <p:spPr>
            <a:xfrm>
              <a:off x="2471" y="1392"/>
              <a:ext cx="912" cy="288"/>
            </a:xfrm>
            <a:prstGeom prst="flowChartDecision">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2400" b="1" err="1">
                  <a:latin typeface="Arial" panose="020B0604020202020204" pitchFamily="34" charset="0"/>
                </a:rPr>
                <a:t>isa</a:t>
              </a:r>
              <a:endParaRPr lang="en-US" altLang="zh-CN" sz="2400" b="1">
                <a:latin typeface="Arial" panose="020B0604020202020204" pitchFamily="34" charset="0"/>
              </a:endParaRPr>
            </a:p>
          </p:txBody>
        </p:sp>
        <p:sp>
          <p:nvSpPr>
            <p:cNvPr id="460814" name="流程图: 决策 460813"/>
            <p:cNvSpPr/>
            <p:nvPr/>
          </p:nvSpPr>
          <p:spPr>
            <a:xfrm>
              <a:off x="2352" y="2112"/>
              <a:ext cx="1152" cy="432"/>
            </a:xfrm>
            <a:prstGeom prst="flowChartDecision">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CAN-FLY</a:t>
              </a:r>
            </a:p>
            <a:p>
              <a:pPr algn="ctr"/>
              <a:r>
                <a:rPr lang="zh-CN" altLang="en-US" sz="1600" b="1" dirty="0">
                  <a:latin typeface="Arial" panose="020B0604020202020204" pitchFamily="34" charset="0"/>
                </a:rPr>
                <a:t>能驾驶</a:t>
              </a:r>
            </a:p>
          </p:txBody>
        </p:sp>
        <p:sp>
          <p:nvSpPr>
            <p:cNvPr id="460815" name="矩形 460814"/>
            <p:cNvSpPr/>
            <p:nvPr/>
          </p:nvSpPr>
          <p:spPr>
            <a:xfrm>
              <a:off x="2352" y="2640"/>
              <a:ext cx="1140" cy="333"/>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PLANES</a:t>
              </a:r>
              <a:r>
                <a:rPr lang="zh-CN" altLang="en-US" sz="1600" b="1" dirty="0">
                  <a:latin typeface="Arial" panose="020B0604020202020204" pitchFamily="34" charset="0"/>
                </a:rPr>
                <a:t>飞机</a:t>
              </a:r>
            </a:p>
          </p:txBody>
        </p:sp>
        <p:sp>
          <p:nvSpPr>
            <p:cNvPr id="460816" name="流程图: 决策 460815"/>
            <p:cNvSpPr/>
            <p:nvPr/>
          </p:nvSpPr>
          <p:spPr>
            <a:xfrm>
              <a:off x="2352" y="3024"/>
              <a:ext cx="1145" cy="428"/>
            </a:xfrm>
            <a:prstGeom prst="flowChartDecision">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TYPE</a:t>
              </a:r>
            </a:p>
            <a:p>
              <a:pPr algn="ctr"/>
              <a:r>
                <a:rPr lang="zh-CN" altLang="en-US" sz="1600" b="1" dirty="0">
                  <a:latin typeface="Arial" panose="020B0604020202020204" pitchFamily="34" charset="0"/>
                </a:rPr>
                <a:t>类型是</a:t>
              </a:r>
            </a:p>
          </p:txBody>
        </p:sp>
        <p:sp>
          <p:nvSpPr>
            <p:cNvPr id="460817" name="矩形 460816"/>
            <p:cNvSpPr/>
            <p:nvPr/>
          </p:nvSpPr>
          <p:spPr>
            <a:xfrm>
              <a:off x="2352" y="3552"/>
              <a:ext cx="1152" cy="336"/>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AICRAFT</a:t>
              </a:r>
              <a:r>
                <a:rPr lang="zh-CN" altLang="en-US" sz="1600" b="1" dirty="0">
                  <a:latin typeface="Arial" panose="020B0604020202020204" pitchFamily="34" charset="0"/>
                </a:rPr>
                <a:t>具体飞机</a:t>
              </a:r>
            </a:p>
          </p:txBody>
        </p:sp>
        <p:sp>
          <p:nvSpPr>
            <p:cNvPr id="460818" name="椭圆 460817"/>
            <p:cNvSpPr/>
            <p:nvPr/>
          </p:nvSpPr>
          <p:spPr>
            <a:xfrm>
              <a:off x="4080" y="3408"/>
              <a:ext cx="925" cy="365"/>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SERIAL-NO</a:t>
              </a:r>
            </a:p>
            <a:p>
              <a:pPr algn="ctr"/>
              <a:r>
                <a:rPr lang="zh-CN" altLang="en-US" sz="1600" b="1" dirty="0">
                  <a:latin typeface="Arial" panose="020B0604020202020204" pitchFamily="34" charset="0"/>
                </a:rPr>
                <a:t>序列号</a:t>
              </a:r>
            </a:p>
          </p:txBody>
        </p:sp>
        <p:sp>
          <p:nvSpPr>
            <p:cNvPr id="460819" name="椭圆 460818"/>
            <p:cNvSpPr/>
            <p:nvPr/>
          </p:nvSpPr>
          <p:spPr>
            <a:xfrm>
              <a:off x="432" y="2496"/>
              <a:ext cx="1344" cy="480"/>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MANUFACTURER</a:t>
              </a:r>
            </a:p>
            <a:p>
              <a:pPr algn="ctr"/>
              <a:r>
                <a:rPr lang="zh-CN" altLang="en-US" sz="1600" b="1" dirty="0">
                  <a:latin typeface="Arial" panose="020B0604020202020204" pitchFamily="34" charset="0"/>
                </a:rPr>
                <a:t>制造厂</a:t>
              </a:r>
            </a:p>
          </p:txBody>
        </p:sp>
        <p:sp>
          <p:nvSpPr>
            <p:cNvPr id="460820" name="椭圆 460819"/>
            <p:cNvSpPr/>
            <p:nvPr/>
          </p:nvSpPr>
          <p:spPr>
            <a:xfrm>
              <a:off x="3840" y="2448"/>
              <a:ext cx="1328" cy="467"/>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MODEL-NO</a:t>
              </a:r>
            </a:p>
            <a:p>
              <a:pPr algn="ctr"/>
              <a:r>
                <a:rPr lang="zh-CN" altLang="en-US" sz="1600" b="1" dirty="0">
                  <a:latin typeface="Arial" panose="020B0604020202020204" pitchFamily="34" charset="0"/>
                </a:rPr>
                <a:t>型号</a:t>
              </a:r>
            </a:p>
          </p:txBody>
        </p:sp>
        <p:sp>
          <p:nvSpPr>
            <p:cNvPr id="460821" name="直接连接符 460820"/>
            <p:cNvSpPr/>
            <p:nvPr/>
          </p:nvSpPr>
          <p:spPr>
            <a:xfrm>
              <a:off x="1584" y="1008"/>
              <a:ext cx="864" cy="144"/>
            </a:xfrm>
            <a:prstGeom prst="line">
              <a:avLst/>
            </a:prstGeom>
            <a:ln w="9525" cap="flat" cmpd="sng">
              <a:solidFill>
                <a:schemeClr val="tx1"/>
              </a:solidFill>
              <a:prstDash val="solid"/>
              <a:headEnd type="none" w="med" len="med"/>
              <a:tailEnd type="none" w="med" len="med"/>
            </a:ln>
          </p:spPr>
        </p:sp>
        <p:sp>
          <p:nvSpPr>
            <p:cNvPr id="460822" name="直接连接符 460821"/>
            <p:cNvSpPr/>
            <p:nvPr/>
          </p:nvSpPr>
          <p:spPr>
            <a:xfrm>
              <a:off x="2592" y="864"/>
              <a:ext cx="96" cy="96"/>
            </a:xfrm>
            <a:prstGeom prst="line">
              <a:avLst/>
            </a:prstGeom>
            <a:ln w="9525" cap="flat" cmpd="sng">
              <a:solidFill>
                <a:schemeClr val="tx1"/>
              </a:solidFill>
              <a:prstDash val="solid"/>
              <a:headEnd type="none" w="med" len="med"/>
              <a:tailEnd type="none" w="med" len="med"/>
            </a:ln>
          </p:spPr>
        </p:sp>
        <p:sp>
          <p:nvSpPr>
            <p:cNvPr id="460823" name="直接连接符 460822"/>
            <p:cNvSpPr/>
            <p:nvPr/>
          </p:nvSpPr>
          <p:spPr>
            <a:xfrm flipH="1">
              <a:off x="3024" y="816"/>
              <a:ext cx="96" cy="144"/>
            </a:xfrm>
            <a:prstGeom prst="line">
              <a:avLst/>
            </a:prstGeom>
            <a:ln w="9525" cap="flat" cmpd="sng">
              <a:solidFill>
                <a:schemeClr val="tx1"/>
              </a:solidFill>
              <a:prstDash val="solid"/>
              <a:headEnd type="none" w="med" len="med"/>
              <a:tailEnd type="none" w="med" len="med"/>
            </a:ln>
          </p:spPr>
        </p:sp>
        <p:sp>
          <p:nvSpPr>
            <p:cNvPr id="460824" name="直接连接符 460823"/>
            <p:cNvSpPr/>
            <p:nvPr/>
          </p:nvSpPr>
          <p:spPr>
            <a:xfrm flipH="1">
              <a:off x="3360" y="912"/>
              <a:ext cx="816" cy="192"/>
            </a:xfrm>
            <a:prstGeom prst="line">
              <a:avLst/>
            </a:prstGeom>
            <a:ln w="9525" cap="flat" cmpd="sng">
              <a:solidFill>
                <a:schemeClr val="tx1"/>
              </a:solidFill>
              <a:prstDash val="solid"/>
              <a:headEnd type="none" w="med" len="med"/>
              <a:tailEnd type="none" w="med" len="med"/>
            </a:ln>
          </p:spPr>
        </p:sp>
        <p:sp>
          <p:nvSpPr>
            <p:cNvPr id="460825" name="直接连接符 460824"/>
            <p:cNvSpPr/>
            <p:nvPr/>
          </p:nvSpPr>
          <p:spPr>
            <a:xfrm flipV="1">
              <a:off x="2928" y="1296"/>
              <a:ext cx="0" cy="96"/>
            </a:xfrm>
            <a:prstGeom prst="line">
              <a:avLst/>
            </a:prstGeom>
            <a:ln w="9525" cap="flat" cmpd="sng">
              <a:solidFill>
                <a:schemeClr val="tx1"/>
              </a:solidFill>
              <a:prstDash val="solid"/>
              <a:headEnd type="none" w="med" len="med"/>
              <a:tailEnd type="triangle" w="med" len="med"/>
            </a:ln>
          </p:spPr>
        </p:sp>
        <p:sp>
          <p:nvSpPr>
            <p:cNvPr id="460826" name="直接连接符 460825"/>
            <p:cNvSpPr/>
            <p:nvPr/>
          </p:nvSpPr>
          <p:spPr>
            <a:xfrm>
              <a:off x="2928" y="1680"/>
              <a:ext cx="0" cy="48"/>
            </a:xfrm>
            <a:prstGeom prst="line">
              <a:avLst/>
            </a:prstGeom>
            <a:ln w="9525" cap="flat" cmpd="sng">
              <a:solidFill>
                <a:schemeClr val="tx1"/>
              </a:solidFill>
              <a:prstDash val="solid"/>
              <a:headEnd type="none" w="med" len="med"/>
              <a:tailEnd type="none" w="med" len="med"/>
            </a:ln>
          </p:spPr>
        </p:sp>
        <p:sp>
          <p:nvSpPr>
            <p:cNvPr id="460827" name="直接连接符 460826"/>
            <p:cNvSpPr/>
            <p:nvPr/>
          </p:nvSpPr>
          <p:spPr>
            <a:xfrm flipV="1">
              <a:off x="2928" y="2064"/>
              <a:ext cx="0" cy="48"/>
            </a:xfrm>
            <a:prstGeom prst="line">
              <a:avLst/>
            </a:prstGeom>
            <a:ln w="9525" cap="flat" cmpd="sng">
              <a:solidFill>
                <a:schemeClr val="tx1"/>
              </a:solidFill>
              <a:prstDash val="solid"/>
              <a:headEnd type="none" w="med" len="med"/>
              <a:tailEnd type="none" w="med" len="med"/>
            </a:ln>
          </p:spPr>
        </p:sp>
        <p:sp>
          <p:nvSpPr>
            <p:cNvPr id="460828" name="直接连接符 460827"/>
            <p:cNvSpPr/>
            <p:nvPr/>
          </p:nvSpPr>
          <p:spPr>
            <a:xfrm>
              <a:off x="2928" y="2544"/>
              <a:ext cx="0" cy="96"/>
            </a:xfrm>
            <a:prstGeom prst="line">
              <a:avLst/>
            </a:prstGeom>
            <a:ln w="9525" cap="flat" cmpd="sng">
              <a:solidFill>
                <a:schemeClr val="tx1"/>
              </a:solidFill>
              <a:prstDash val="solid"/>
              <a:headEnd type="none" w="med" len="med"/>
              <a:tailEnd type="none" w="med" len="med"/>
            </a:ln>
          </p:spPr>
        </p:sp>
        <p:sp>
          <p:nvSpPr>
            <p:cNvPr id="460829" name="直接连接符 460828"/>
            <p:cNvSpPr/>
            <p:nvPr/>
          </p:nvSpPr>
          <p:spPr>
            <a:xfrm flipV="1">
              <a:off x="2928" y="2976"/>
              <a:ext cx="0" cy="48"/>
            </a:xfrm>
            <a:prstGeom prst="line">
              <a:avLst/>
            </a:prstGeom>
            <a:ln w="9525" cap="flat" cmpd="sng">
              <a:solidFill>
                <a:schemeClr val="tx1"/>
              </a:solidFill>
              <a:prstDash val="solid"/>
              <a:headEnd type="none" w="med" len="med"/>
              <a:tailEnd type="none" w="med" len="med"/>
            </a:ln>
          </p:spPr>
        </p:sp>
        <p:sp>
          <p:nvSpPr>
            <p:cNvPr id="460830" name="直接连接符 460829"/>
            <p:cNvSpPr/>
            <p:nvPr/>
          </p:nvSpPr>
          <p:spPr>
            <a:xfrm>
              <a:off x="2928" y="3456"/>
              <a:ext cx="0" cy="96"/>
            </a:xfrm>
            <a:prstGeom prst="line">
              <a:avLst/>
            </a:prstGeom>
            <a:ln w="9525" cap="flat" cmpd="sng">
              <a:solidFill>
                <a:schemeClr val="tx1"/>
              </a:solidFill>
              <a:prstDash val="solid"/>
              <a:headEnd type="none" w="med" len="med"/>
              <a:tailEnd type="none" w="med" len="med"/>
            </a:ln>
          </p:spPr>
        </p:sp>
        <p:sp>
          <p:nvSpPr>
            <p:cNvPr id="460831" name="直接连接符 460830"/>
            <p:cNvSpPr/>
            <p:nvPr/>
          </p:nvSpPr>
          <p:spPr>
            <a:xfrm>
              <a:off x="1776" y="2736"/>
              <a:ext cx="576" cy="96"/>
            </a:xfrm>
            <a:prstGeom prst="line">
              <a:avLst/>
            </a:prstGeom>
            <a:ln w="9525" cap="flat" cmpd="sng">
              <a:solidFill>
                <a:schemeClr val="tx1"/>
              </a:solidFill>
              <a:prstDash val="solid"/>
              <a:headEnd type="none" w="med" len="med"/>
              <a:tailEnd type="none" w="med" len="med"/>
            </a:ln>
          </p:spPr>
        </p:sp>
        <p:sp>
          <p:nvSpPr>
            <p:cNvPr id="460832" name="直接连接符 460831"/>
            <p:cNvSpPr/>
            <p:nvPr/>
          </p:nvSpPr>
          <p:spPr>
            <a:xfrm flipH="1">
              <a:off x="3504" y="2736"/>
              <a:ext cx="336" cy="96"/>
            </a:xfrm>
            <a:prstGeom prst="line">
              <a:avLst/>
            </a:prstGeom>
            <a:ln w="9525" cap="flat" cmpd="sng">
              <a:solidFill>
                <a:schemeClr val="tx1"/>
              </a:solidFill>
              <a:prstDash val="solid"/>
              <a:headEnd type="none" w="med" len="med"/>
              <a:tailEnd type="none" w="med" len="med"/>
            </a:ln>
          </p:spPr>
        </p:sp>
        <p:sp>
          <p:nvSpPr>
            <p:cNvPr id="460833" name="直接连接符 460832"/>
            <p:cNvSpPr/>
            <p:nvPr/>
          </p:nvSpPr>
          <p:spPr>
            <a:xfrm flipH="1">
              <a:off x="3504" y="3600"/>
              <a:ext cx="576" cy="96"/>
            </a:xfrm>
            <a:prstGeom prst="line">
              <a:avLst/>
            </a:prstGeom>
            <a:ln w="9525" cap="flat" cmpd="sng">
              <a:solidFill>
                <a:schemeClr val="tx1"/>
              </a:solidFill>
              <a:prstDash val="solid"/>
              <a:headEnd type="none" w="med" len="med"/>
              <a:tailEnd type="none" w="med" len="med"/>
            </a:ln>
          </p:spPr>
        </p:sp>
        <p:sp>
          <p:nvSpPr>
            <p:cNvPr id="460834" name="文本框 460833"/>
            <p:cNvSpPr txBox="1"/>
            <p:nvPr/>
          </p:nvSpPr>
          <p:spPr>
            <a:xfrm>
              <a:off x="3120" y="2038"/>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460835" name="文本框 460834"/>
            <p:cNvSpPr txBox="1"/>
            <p:nvPr/>
          </p:nvSpPr>
          <p:spPr>
            <a:xfrm>
              <a:off x="3072" y="2448"/>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N</a:t>
              </a:r>
            </a:p>
          </p:txBody>
        </p:sp>
        <p:sp>
          <p:nvSpPr>
            <p:cNvPr id="460836" name="文本框 460835"/>
            <p:cNvSpPr txBox="1"/>
            <p:nvPr/>
          </p:nvSpPr>
          <p:spPr>
            <a:xfrm>
              <a:off x="3072" y="2951"/>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1</a:t>
              </a:r>
            </a:p>
          </p:txBody>
        </p:sp>
        <p:sp>
          <p:nvSpPr>
            <p:cNvPr id="460837" name="文本框 460836"/>
            <p:cNvSpPr txBox="1"/>
            <p:nvPr/>
          </p:nvSpPr>
          <p:spPr>
            <a:xfrm>
              <a:off x="3072" y="3360"/>
              <a:ext cx="288"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460838" name="文本框 460837"/>
            <p:cNvSpPr txBox="1"/>
            <p:nvPr/>
          </p:nvSpPr>
          <p:spPr>
            <a:xfrm>
              <a:off x="3072" y="1276"/>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460839" name="文本框 460838"/>
            <p:cNvSpPr txBox="1"/>
            <p:nvPr/>
          </p:nvSpPr>
          <p:spPr>
            <a:xfrm>
              <a:off x="3120" y="1564"/>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1</a:t>
              </a:r>
            </a:p>
          </p:txBody>
        </p:sp>
      </p:grpSp>
    </p:spTree>
  </p:cSld>
  <p:clrMapOvr>
    <a:masterClrMapping/>
  </p:clrMapOvr>
  <mc:AlternateContent xmlns:mc="http://schemas.openxmlformats.org/markup-compatibility/2006" xmlns:p14="http://schemas.microsoft.com/office/powerpoint/2010/main">
    <mc:Choice Requires="p14">
      <p:transition spd="slow" p14:dur="2000" advTm="17025"/>
    </mc:Choice>
    <mc:Fallback xmlns="">
      <p:transition spd="slow" advTm="1702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20" name="矩形 546819"/>
          <p:cNvSpPr/>
          <p:nvPr/>
        </p:nvSpPr>
        <p:spPr>
          <a:xfrm>
            <a:off x="107950" y="115888"/>
            <a:ext cx="8713788" cy="1944687"/>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546821" name="文本框 546820"/>
          <p:cNvSpPr txBox="1"/>
          <p:nvPr/>
        </p:nvSpPr>
        <p:spPr>
          <a:xfrm>
            <a:off x="395288" y="6096000"/>
            <a:ext cx="8610600" cy="457200"/>
          </a:xfrm>
          <a:prstGeom prst="rect">
            <a:avLst/>
          </a:prstGeom>
          <a:noFill/>
          <a:ln w="9525">
            <a:noFill/>
          </a:ln>
        </p:spPr>
        <p:txBody>
          <a:bodyPr>
            <a:spAutoFit/>
          </a:bodyPr>
          <a:lstStyle/>
          <a:p>
            <a:pPr>
              <a:spcBef>
                <a:spcPct val="50000"/>
              </a:spcBef>
            </a:pPr>
            <a:r>
              <a:rPr lang="zh-CN" altLang="en-US" sz="2400" b="1" dirty="0">
                <a:latin typeface="Arial" panose="020B0604020202020204" pitchFamily="34" charset="0"/>
              </a:rPr>
              <a:t>图</a:t>
            </a:r>
            <a:r>
              <a:rPr lang="en-US" altLang="zh-CN" sz="2400" b="1">
                <a:latin typeface="Arial" panose="020B0604020202020204" pitchFamily="34" charset="0"/>
              </a:rPr>
              <a:t>3.12   </a:t>
            </a:r>
            <a:r>
              <a:rPr lang="zh-CN" altLang="en-US" sz="2400" b="1" dirty="0">
                <a:latin typeface="Arial" panose="020B0604020202020204" pitchFamily="34" charset="0"/>
              </a:rPr>
              <a:t>航空公司飞行员和班组人员的</a:t>
            </a:r>
            <a:r>
              <a:rPr lang="en-US" altLang="zh-CN" sz="2400" b="1" err="1">
                <a:latin typeface="Arial" panose="020B0604020202020204" pitchFamily="34" charset="0"/>
              </a:rPr>
              <a:t>isa</a:t>
            </a:r>
            <a:r>
              <a:rPr lang="zh-CN" altLang="en-US" sz="2400" b="1" dirty="0">
                <a:latin typeface="Arial" panose="020B0604020202020204" pitchFamily="34" charset="0"/>
              </a:rPr>
              <a:t>联系的</a:t>
            </a:r>
            <a:r>
              <a:rPr lang="en-US" altLang="zh-CN" sz="2400" b="1">
                <a:latin typeface="Arial" panose="020B0604020202020204" pitchFamily="34" charset="0"/>
              </a:rPr>
              <a:t>E-R</a:t>
            </a:r>
            <a:r>
              <a:rPr lang="zh-CN" altLang="en-US" sz="2400" b="1" dirty="0">
                <a:latin typeface="Arial" panose="020B0604020202020204" pitchFamily="34" charset="0"/>
              </a:rPr>
              <a:t>模型表示</a:t>
            </a:r>
          </a:p>
        </p:txBody>
      </p:sp>
      <p:grpSp>
        <p:nvGrpSpPr>
          <p:cNvPr id="546822" name="组合 546821"/>
          <p:cNvGrpSpPr/>
          <p:nvPr/>
        </p:nvGrpSpPr>
        <p:grpSpPr>
          <a:xfrm>
            <a:off x="654050" y="404813"/>
            <a:ext cx="7518400" cy="5410200"/>
            <a:chOff x="432" y="480"/>
            <a:chExt cx="4736" cy="3408"/>
          </a:xfrm>
        </p:grpSpPr>
        <p:sp>
          <p:nvSpPr>
            <p:cNvPr id="546823" name="矩形 546822"/>
            <p:cNvSpPr/>
            <p:nvPr/>
          </p:nvSpPr>
          <p:spPr>
            <a:xfrm>
              <a:off x="2448" y="960"/>
              <a:ext cx="912" cy="336"/>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PERSONNEL</a:t>
              </a:r>
            </a:p>
            <a:p>
              <a:pPr algn="ctr"/>
              <a:r>
                <a:rPr lang="zh-CN" altLang="en-US" sz="1600" b="1" dirty="0">
                  <a:latin typeface="Arial" panose="020B0604020202020204" pitchFamily="34" charset="0"/>
                </a:rPr>
                <a:t>班组人员</a:t>
              </a:r>
            </a:p>
          </p:txBody>
        </p:sp>
        <p:sp>
          <p:nvSpPr>
            <p:cNvPr id="546824" name="椭圆 546823"/>
            <p:cNvSpPr/>
            <p:nvPr/>
          </p:nvSpPr>
          <p:spPr>
            <a:xfrm>
              <a:off x="816" y="672"/>
              <a:ext cx="912" cy="384"/>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NAME</a:t>
              </a:r>
            </a:p>
            <a:p>
              <a:pPr algn="ctr"/>
              <a:r>
                <a:rPr lang="zh-CN" altLang="en-US" sz="1600" b="1" dirty="0">
                  <a:latin typeface="Arial" panose="020B0604020202020204" pitchFamily="34" charset="0"/>
                </a:rPr>
                <a:t>姓名</a:t>
              </a:r>
            </a:p>
          </p:txBody>
        </p:sp>
        <p:sp>
          <p:nvSpPr>
            <p:cNvPr id="546825" name="椭圆 546824"/>
            <p:cNvSpPr/>
            <p:nvPr/>
          </p:nvSpPr>
          <p:spPr>
            <a:xfrm>
              <a:off x="1920" y="480"/>
              <a:ext cx="907" cy="390"/>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ADDRESS</a:t>
              </a:r>
            </a:p>
            <a:p>
              <a:pPr algn="ctr"/>
              <a:r>
                <a:rPr lang="zh-CN" altLang="en-US" sz="1600" b="1" dirty="0">
                  <a:latin typeface="Arial" panose="020B0604020202020204" pitchFamily="34" charset="0"/>
                </a:rPr>
                <a:t>地址</a:t>
              </a:r>
            </a:p>
          </p:txBody>
        </p:sp>
        <p:sp>
          <p:nvSpPr>
            <p:cNvPr id="546826" name="椭圆 546825"/>
            <p:cNvSpPr/>
            <p:nvPr/>
          </p:nvSpPr>
          <p:spPr>
            <a:xfrm>
              <a:off x="2976" y="480"/>
              <a:ext cx="916" cy="388"/>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SALARY</a:t>
              </a:r>
            </a:p>
            <a:p>
              <a:pPr algn="ctr"/>
              <a:r>
                <a:rPr lang="zh-CN" altLang="en-US" sz="1600" b="1" dirty="0">
                  <a:latin typeface="Arial" panose="020B0604020202020204" pitchFamily="34" charset="0"/>
                </a:rPr>
                <a:t>工资</a:t>
              </a:r>
            </a:p>
          </p:txBody>
        </p:sp>
        <p:sp>
          <p:nvSpPr>
            <p:cNvPr id="546827" name="椭圆 546826"/>
            <p:cNvSpPr/>
            <p:nvPr/>
          </p:nvSpPr>
          <p:spPr>
            <a:xfrm>
              <a:off x="4080" y="624"/>
              <a:ext cx="918" cy="370"/>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EMP-NO</a:t>
              </a:r>
            </a:p>
            <a:p>
              <a:pPr algn="ctr"/>
              <a:r>
                <a:rPr lang="zh-CN" altLang="en-US" sz="1600" b="1" dirty="0">
                  <a:latin typeface="Arial" panose="020B0604020202020204" pitchFamily="34" charset="0"/>
                </a:rPr>
                <a:t>职工号</a:t>
              </a:r>
            </a:p>
          </p:txBody>
        </p:sp>
        <p:sp>
          <p:nvSpPr>
            <p:cNvPr id="546828" name="矩形 546827"/>
            <p:cNvSpPr/>
            <p:nvPr/>
          </p:nvSpPr>
          <p:spPr>
            <a:xfrm>
              <a:off x="2352" y="1728"/>
              <a:ext cx="1147" cy="333"/>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PILOTS</a:t>
              </a:r>
              <a:r>
                <a:rPr lang="zh-CN" altLang="en-US" sz="1600" b="1" dirty="0">
                  <a:latin typeface="Arial" panose="020B0604020202020204" pitchFamily="34" charset="0"/>
                </a:rPr>
                <a:t>飞行员</a:t>
              </a:r>
            </a:p>
          </p:txBody>
        </p:sp>
        <p:sp>
          <p:nvSpPr>
            <p:cNvPr id="546829" name="流程图: 决策 546828"/>
            <p:cNvSpPr/>
            <p:nvPr/>
          </p:nvSpPr>
          <p:spPr>
            <a:xfrm>
              <a:off x="2471" y="1392"/>
              <a:ext cx="912" cy="288"/>
            </a:xfrm>
            <a:prstGeom prst="flowChartDecision">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2400" b="1" err="1">
                  <a:latin typeface="Arial" panose="020B0604020202020204" pitchFamily="34" charset="0"/>
                </a:rPr>
                <a:t>isa</a:t>
              </a:r>
              <a:endParaRPr lang="en-US" altLang="zh-CN" sz="2400" b="1">
                <a:latin typeface="Arial" panose="020B0604020202020204" pitchFamily="34" charset="0"/>
              </a:endParaRPr>
            </a:p>
          </p:txBody>
        </p:sp>
        <p:sp>
          <p:nvSpPr>
            <p:cNvPr id="546830" name="流程图: 决策 546829"/>
            <p:cNvSpPr/>
            <p:nvPr/>
          </p:nvSpPr>
          <p:spPr>
            <a:xfrm>
              <a:off x="2352" y="2112"/>
              <a:ext cx="1152" cy="432"/>
            </a:xfrm>
            <a:prstGeom prst="flowChartDecision">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CAN-FLY</a:t>
              </a:r>
            </a:p>
            <a:p>
              <a:pPr algn="ctr"/>
              <a:r>
                <a:rPr lang="zh-CN" altLang="en-US" sz="1600" b="1" dirty="0">
                  <a:latin typeface="Arial" panose="020B0604020202020204" pitchFamily="34" charset="0"/>
                </a:rPr>
                <a:t>能驾驶</a:t>
              </a:r>
            </a:p>
          </p:txBody>
        </p:sp>
        <p:sp>
          <p:nvSpPr>
            <p:cNvPr id="546831" name="矩形 546830"/>
            <p:cNvSpPr/>
            <p:nvPr/>
          </p:nvSpPr>
          <p:spPr>
            <a:xfrm>
              <a:off x="2352" y="2640"/>
              <a:ext cx="1140" cy="333"/>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solidFill>
                    <a:srgbClr val="660066"/>
                  </a:solidFill>
                  <a:latin typeface="Arial" panose="020B0604020202020204" pitchFamily="34" charset="0"/>
                </a:rPr>
                <a:t>PLANES</a:t>
              </a:r>
              <a:r>
                <a:rPr lang="zh-CN" altLang="en-US" sz="1600" b="1" dirty="0">
                  <a:latin typeface="Arial" panose="020B0604020202020204" pitchFamily="34" charset="0"/>
                </a:rPr>
                <a:t>飞机</a:t>
              </a:r>
            </a:p>
          </p:txBody>
        </p:sp>
        <p:sp>
          <p:nvSpPr>
            <p:cNvPr id="546832" name="流程图: 决策 546831"/>
            <p:cNvSpPr/>
            <p:nvPr/>
          </p:nvSpPr>
          <p:spPr>
            <a:xfrm>
              <a:off x="2352" y="3024"/>
              <a:ext cx="1145" cy="428"/>
            </a:xfrm>
            <a:prstGeom prst="flowChartDecision">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TYPE</a:t>
              </a:r>
            </a:p>
            <a:p>
              <a:pPr algn="ctr"/>
              <a:r>
                <a:rPr lang="zh-CN" altLang="en-US" sz="1600" b="1" dirty="0">
                  <a:latin typeface="Arial" panose="020B0604020202020204" pitchFamily="34" charset="0"/>
                </a:rPr>
                <a:t>类型是</a:t>
              </a:r>
            </a:p>
          </p:txBody>
        </p:sp>
        <p:sp>
          <p:nvSpPr>
            <p:cNvPr id="546833" name="矩形 546832"/>
            <p:cNvSpPr/>
            <p:nvPr/>
          </p:nvSpPr>
          <p:spPr>
            <a:xfrm>
              <a:off x="2352" y="3552"/>
              <a:ext cx="1152" cy="336"/>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lstStyle/>
            <a:p>
              <a:pPr algn="ctr"/>
              <a:r>
                <a:rPr lang="en-US" altLang="zh-CN" sz="1600" b="1">
                  <a:solidFill>
                    <a:srgbClr val="660066"/>
                  </a:solidFill>
                  <a:latin typeface="Arial" panose="020B0604020202020204" pitchFamily="34" charset="0"/>
                </a:rPr>
                <a:t>AICRAFT</a:t>
              </a:r>
              <a:r>
                <a:rPr lang="zh-CN" altLang="en-US" sz="1600" b="1" dirty="0">
                  <a:latin typeface="Arial" panose="020B0604020202020204" pitchFamily="34" charset="0"/>
                </a:rPr>
                <a:t>具体飞机</a:t>
              </a:r>
            </a:p>
          </p:txBody>
        </p:sp>
        <p:sp>
          <p:nvSpPr>
            <p:cNvPr id="546834" name="椭圆 546833"/>
            <p:cNvSpPr/>
            <p:nvPr/>
          </p:nvSpPr>
          <p:spPr>
            <a:xfrm>
              <a:off x="4080" y="3408"/>
              <a:ext cx="925" cy="365"/>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SERIAL-NO</a:t>
              </a:r>
            </a:p>
            <a:p>
              <a:pPr algn="ctr"/>
              <a:r>
                <a:rPr lang="zh-CN" altLang="en-US" sz="1600" b="1" dirty="0">
                  <a:latin typeface="Arial" panose="020B0604020202020204" pitchFamily="34" charset="0"/>
                </a:rPr>
                <a:t>序列号</a:t>
              </a:r>
            </a:p>
          </p:txBody>
        </p:sp>
        <p:sp>
          <p:nvSpPr>
            <p:cNvPr id="546835" name="椭圆 546834"/>
            <p:cNvSpPr/>
            <p:nvPr/>
          </p:nvSpPr>
          <p:spPr>
            <a:xfrm>
              <a:off x="432" y="2496"/>
              <a:ext cx="1344" cy="480"/>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MANUFACTURER</a:t>
              </a:r>
            </a:p>
            <a:p>
              <a:pPr algn="ctr"/>
              <a:r>
                <a:rPr lang="zh-CN" altLang="en-US" sz="1600" b="1" dirty="0">
                  <a:latin typeface="Arial" panose="020B0604020202020204" pitchFamily="34" charset="0"/>
                </a:rPr>
                <a:t>制造厂</a:t>
              </a:r>
            </a:p>
          </p:txBody>
        </p:sp>
        <p:sp>
          <p:nvSpPr>
            <p:cNvPr id="546836" name="椭圆 546835"/>
            <p:cNvSpPr/>
            <p:nvPr/>
          </p:nvSpPr>
          <p:spPr>
            <a:xfrm>
              <a:off x="3840" y="2448"/>
              <a:ext cx="1328" cy="467"/>
            </a:xfrm>
            <a:prstGeom prst="ellipse">
              <a:avLst/>
            </a:prstGeom>
            <a:solidFill>
              <a:srgbClr val="CCFFCC"/>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MODEL-NO</a:t>
              </a:r>
            </a:p>
            <a:p>
              <a:pPr algn="ctr"/>
              <a:r>
                <a:rPr lang="zh-CN" altLang="en-US" sz="1600" b="1" dirty="0">
                  <a:latin typeface="Arial" panose="020B0604020202020204" pitchFamily="34" charset="0"/>
                </a:rPr>
                <a:t>型号</a:t>
              </a:r>
            </a:p>
          </p:txBody>
        </p:sp>
        <p:sp>
          <p:nvSpPr>
            <p:cNvPr id="546837" name="直接连接符 546836"/>
            <p:cNvSpPr/>
            <p:nvPr/>
          </p:nvSpPr>
          <p:spPr>
            <a:xfrm>
              <a:off x="1584" y="1008"/>
              <a:ext cx="864" cy="144"/>
            </a:xfrm>
            <a:prstGeom prst="line">
              <a:avLst/>
            </a:prstGeom>
            <a:ln w="9525" cap="flat" cmpd="sng">
              <a:solidFill>
                <a:schemeClr val="tx1"/>
              </a:solidFill>
              <a:prstDash val="solid"/>
              <a:headEnd type="none" w="med" len="med"/>
              <a:tailEnd type="none" w="med" len="med"/>
            </a:ln>
          </p:spPr>
        </p:sp>
        <p:sp>
          <p:nvSpPr>
            <p:cNvPr id="546838" name="直接连接符 546837"/>
            <p:cNvSpPr/>
            <p:nvPr/>
          </p:nvSpPr>
          <p:spPr>
            <a:xfrm>
              <a:off x="2592" y="864"/>
              <a:ext cx="96" cy="96"/>
            </a:xfrm>
            <a:prstGeom prst="line">
              <a:avLst/>
            </a:prstGeom>
            <a:ln w="9525" cap="flat" cmpd="sng">
              <a:solidFill>
                <a:schemeClr val="tx1"/>
              </a:solidFill>
              <a:prstDash val="solid"/>
              <a:headEnd type="none" w="med" len="med"/>
              <a:tailEnd type="none" w="med" len="med"/>
            </a:ln>
          </p:spPr>
        </p:sp>
        <p:sp>
          <p:nvSpPr>
            <p:cNvPr id="546839" name="直接连接符 546838"/>
            <p:cNvSpPr/>
            <p:nvPr/>
          </p:nvSpPr>
          <p:spPr>
            <a:xfrm flipH="1">
              <a:off x="3024" y="816"/>
              <a:ext cx="96" cy="144"/>
            </a:xfrm>
            <a:prstGeom prst="line">
              <a:avLst/>
            </a:prstGeom>
            <a:ln w="9525" cap="flat" cmpd="sng">
              <a:solidFill>
                <a:schemeClr val="tx1"/>
              </a:solidFill>
              <a:prstDash val="solid"/>
              <a:headEnd type="none" w="med" len="med"/>
              <a:tailEnd type="none" w="med" len="med"/>
            </a:ln>
          </p:spPr>
        </p:sp>
        <p:sp>
          <p:nvSpPr>
            <p:cNvPr id="546840" name="直接连接符 546839"/>
            <p:cNvSpPr/>
            <p:nvPr/>
          </p:nvSpPr>
          <p:spPr>
            <a:xfrm flipH="1">
              <a:off x="3360" y="912"/>
              <a:ext cx="816" cy="192"/>
            </a:xfrm>
            <a:prstGeom prst="line">
              <a:avLst/>
            </a:prstGeom>
            <a:ln w="9525" cap="flat" cmpd="sng">
              <a:solidFill>
                <a:schemeClr val="tx1"/>
              </a:solidFill>
              <a:prstDash val="solid"/>
              <a:headEnd type="none" w="med" len="med"/>
              <a:tailEnd type="none" w="med" len="med"/>
            </a:ln>
          </p:spPr>
        </p:sp>
        <p:sp>
          <p:nvSpPr>
            <p:cNvPr id="546841" name="直接连接符 546840"/>
            <p:cNvSpPr/>
            <p:nvPr/>
          </p:nvSpPr>
          <p:spPr>
            <a:xfrm flipV="1">
              <a:off x="2928" y="1296"/>
              <a:ext cx="0" cy="96"/>
            </a:xfrm>
            <a:prstGeom prst="line">
              <a:avLst/>
            </a:prstGeom>
            <a:ln w="9525" cap="flat" cmpd="sng">
              <a:solidFill>
                <a:schemeClr val="tx1"/>
              </a:solidFill>
              <a:prstDash val="solid"/>
              <a:headEnd type="none" w="med" len="med"/>
              <a:tailEnd type="triangle" w="med" len="med"/>
            </a:ln>
          </p:spPr>
        </p:sp>
        <p:sp>
          <p:nvSpPr>
            <p:cNvPr id="546842" name="直接连接符 546841"/>
            <p:cNvSpPr/>
            <p:nvPr/>
          </p:nvSpPr>
          <p:spPr>
            <a:xfrm>
              <a:off x="2928" y="1680"/>
              <a:ext cx="0" cy="48"/>
            </a:xfrm>
            <a:prstGeom prst="line">
              <a:avLst/>
            </a:prstGeom>
            <a:ln w="9525" cap="flat" cmpd="sng">
              <a:solidFill>
                <a:schemeClr val="tx1"/>
              </a:solidFill>
              <a:prstDash val="solid"/>
              <a:headEnd type="none" w="med" len="med"/>
              <a:tailEnd type="none" w="med" len="med"/>
            </a:ln>
          </p:spPr>
        </p:sp>
        <p:sp>
          <p:nvSpPr>
            <p:cNvPr id="546843" name="直接连接符 546842"/>
            <p:cNvSpPr/>
            <p:nvPr/>
          </p:nvSpPr>
          <p:spPr>
            <a:xfrm flipV="1">
              <a:off x="2928" y="2064"/>
              <a:ext cx="0" cy="48"/>
            </a:xfrm>
            <a:prstGeom prst="line">
              <a:avLst/>
            </a:prstGeom>
            <a:ln w="9525" cap="flat" cmpd="sng">
              <a:solidFill>
                <a:schemeClr val="tx1"/>
              </a:solidFill>
              <a:prstDash val="solid"/>
              <a:headEnd type="none" w="med" len="med"/>
              <a:tailEnd type="none" w="med" len="med"/>
            </a:ln>
          </p:spPr>
        </p:sp>
        <p:sp>
          <p:nvSpPr>
            <p:cNvPr id="546844" name="直接连接符 546843"/>
            <p:cNvSpPr/>
            <p:nvPr/>
          </p:nvSpPr>
          <p:spPr>
            <a:xfrm>
              <a:off x="2928" y="2544"/>
              <a:ext cx="0" cy="96"/>
            </a:xfrm>
            <a:prstGeom prst="line">
              <a:avLst/>
            </a:prstGeom>
            <a:ln w="9525" cap="flat" cmpd="sng">
              <a:solidFill>
                <a:schemeClr val="tx1"/>
              </a:solidFill>
              <a:prstDash val="solid"/>
              <a:headEnd type="none" w="med" len="med"/>
              <a:tailEnd type="none" w="med" len="med"/>
            </a:ln>
          </p:spPr>
        </p:sp>
        <p:sp>
          <p:nvSpPr>
            <p:cNvPr id="546845" name="直接连接符 546844"/>
            <p:cNvSpPr/>
            <p:nvPr/>
          </p:nvSpPr>
          <p:spPr>
            <a:xfrm flipV="1">
              <a:off x="2928" y="2976"/>
              <a:ext cx="0" cy="48"/>
            </a:xfrm>
            <a:prstGeom prst="line">
              <a:avLst/>
            </a:prstGeom>
            <a:ln w="9525" cap="flat" cmpd="sng">
              <a:solidFill>
                <a:schemeClr val="tx1"/>
              </a:solidFill>
              <a:prstDash val="solid"/>
              <a:headEnd type="none" w="med" len="med"/>
              <a:tailEnd type="none" w="med" len="med"/>
            </a:ln>
          </p:spPr>
        </p:sp>
        <p:sp>
          <p:nvSpPr>
            <p:cNvPr id="546846" name="直接连接符 546845"/>
            <p:cNvSpPr/>
            <p:nvPr/>
          </p:nvSpPr>
          <p:spPr>
            <a:xfrm>
              <a:off x="2928" y="3456"/>
              <a:ext cx="0" cy="96"/>
            </a:xfrm>
            <a:prstGeom prst="line">
              <a:avLst/>
            </a:prstGeom>
            <a:ln w="9525" cap="flat" cmpd="sng">
              <a:solidFill>
                <a:schemeClr val="tx1"/>
              </a:solidFill>
              <a:prstDash val="solid"/>
              <a:headEnd type="none" w="med" len="med"/>
              <a:tailEnd type="none" w="med" len="med"/>
            </a:ln>
          </p:spPr>
        </p:sp>
        <p:sp>
          <p:nvSpPr>
            <p:cNvPr id="546847" name="直接连接符 546846"/>
            <p:cNvSpPr/>
            <p:nvPr/>
          </p:nvSpPr>
          <p:spPr>
            <a:xfrm>
              <a:off x="1776" y="2736"/>
              <a:ext cx="576" cy="96"/>
            </a:xfrm>
            <a:prstGeom prst="line">
              <a:avLst/>
            </a:prstGeom>
            <a:ln w="9525" cap="flat" cmpd="sng">
              <a:solidFill>
                <a:schemeClr val="tx1"/>
              </a:solidFill>
              <a:prstDash val="solid"/>
              <a:headEnd type="none" w="med" len="med"/>
              <a:tailEnd type="none" w="med" len="med"/>
            </a:ln>
          </p:spPr>
        </p:sp>
        <p:sp>
          <p:nvSpPr>
            <p:cNvPr id="546848" name="直接连接符 546847"/>
            <p:cNvSpPr/>
            <p:nvPr/>
          </p:nvSpPr>
          <p:spPr>
            <a:xfrm flipH="1">
              <a:off x="3504" y="2736"/>
              <a:ext cx="336" cy="96"/>
            </a:xfrm>
            <a:prstGeom prst="line">
              <a:avLst/>
            </a:prstGeom>
            <a:ln w="9525" cap="flat" cmpd="sng">
              <a:solidFill>
                <a:schemeClr val="tx1"/>
              </a:solidFill>
              <a:prstDash val="solid"/>
              <a:headEnd type="none" w="med" len="med"/>
              <a:tailEnd type="none" w="med" len="med"/>
            </a:ln>
          </p:spPr>
        </p:sp>
        <p:sp>
          <p:nvSpPr>
            <p:cNvPr id="546849" name="直接连接符 546848"/>
            <p:cNvSpPr/>
            <p:nvPr/>
          </p:nvSpPr>
          <p:spPr>
            <a:xfrm flipH="1">
              <a:off x="3504" y="3600"/>
              <a:ext cx="576" cy="96"/>
            </a:xfrm>
            <a:prstGeom prst="line">
              <a:avLst/>
            </a:prstGeom>
            <a:ln w="9525" cap="flat" cmpd="sng">
              <a:solidFill>
                <a:schemeClr val="tx1"/>
              </a:solidFill>
              <a:prstDash val="solid"/>
              <a:headEnd type="none" w="med" len="med"/>
              <a:tailEnd type="none" w="med" len="med"/>
            </a:ln>
          </p:spPr>
        </p:sp>
        <p:sp>
          <p:nvSpPr>
            <p:cNvPr id="546850" name="文本框 546849"/>
            <p:cNvSpPr txBox="1"/>
            <p:nvPr/>
          </p:nvSpPr>
          <p:spPr>
            <a:xfrm>
              <a:off x="3120" y="2038"/>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546851" name="文本框 546850"/>
            <p:cNvSpPr txBox="1"/>
            <p:nvPr/>
          </p:nvSpPr>
          <p:spPr>
            <a:xfrm>
              <a:off x="3072" y="2448"/>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N</a:t>
              </a:r>
            </a:p>
          </p:txBody>
        </p:sp>
        <p:sp>
          <p:nvSpPr>
            <p:cNvPr id="546852" name="文本框 546851"/>
            <p:cNvSpPr txBox="1"/>
            <p:nvPr/>
          </p:nvSpPr>
          <p:spPr>
            <a:xfrm>
              <a:off x="3072" y="2951"/>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1</a:t>
              </a:r>
            </a:p>
          </p:txBody>
        </p:sp>
        <p:sp>
          <p:nvSpPr>
            <p:cNvPr id="546853" name="文本框 546852"/>
            <p:cNvSpPr txBox="1"/>
            <p:nvPr/>
          </p:nvSpPr>
          <p:spPr>
            <a:xfrm>
              <a:off x="3072" y="3360"/>
              <a:ext cx="288"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546854" name="文本框 546853"/>
            <p:cNvSpPr txBox="1"/>
            <p:nvPr/>
          </p:nvSpPr>
          <p:spPr>
            <a:xfrm>
              <a:off x="3072" y="1276"/>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546855" name="文本框 546854"/>
            <p:cNvSpPr txBox="1"/>
            <p:nvPr/>
          </p:nvSpPr>
          <p:spPr>
            <a:xfrm>
              <a:off x="3120" y="1564"/>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1</a:t>
              </a:r>
            </a:p>
          </p:txBody>
        </p:sp>
      </p:grpSp>
      <p:sp>
        <p:nvSpPr>
          <p:cNvPr id="546856" name="文本框 546855"/>
          <p:cNvSpPr txBox="1"/>
          <p:nvPr/>
        </p:nvSpPr>
        <p:spPr>
          <a:xfrm>
            <a:off x="423863" y="836613"/>
            <a:ext cx="8382000" cy="2544762"/>
          </a:xfrm>
          <a:prstGeom prst="rect">
            <a:avLst/>
          </a:prstGeom>
          <a:solidFill>
            <a:srgbClr val="CCECFF"/>
          </a:solidFill>
          <a:ln w="19050" cap="flat" cmpd="sng">
            <a:solidFill>
              <a:srgbClr val="993300"/>
            </a:solidFill>
            <a:prstDash val="solid"/>
            <a:miter/>
            <a:headEnd type="none" w="sm" len="lg"/>
            <a:tailEnd type="none" w="sm" len="lg"/>
          </a:ln>
        </p:spPr>
        <p:txBody>
          <a:bodyPr>
            <a:spAutoFit/>
          </a:bodyPr>
          <a:lstStyle/>
          <a:p>
            <a:pPr>
              <a:lnSpc>
                <a:spcPct val="125000"/>
              </a:lnSpc>
              <a:spcBef>
                <a:spcPct val="20000"/>
              </a:spcBef>
            </a:pPr>
            <a:r>
              <a:rPr lang="zh-CN" altLang="en-US" sz="2400" b="1" dirty="0">
                <a:latin typeface="Arial" panose="020B0604020202020204" pitchFamily="34" charset="0"/>
              </a:rPr>
              <a:t>  </a:t>
            </a:r>
            <a:r>
              <a:rPr lang="zh-CN" altLang="en-US" sz="2800" b="1" dirty="0">
                <a:latin typeface="黑体" panose="02010609060101010101" pitchFamily="2" charset="-122"/>
                <a:ea typeface="黑体" panose="02010609060101010101" pitchFamily="2" charset="-122"/>
              </a:rPr>
              <a:t>飞机关系模式</a:t>
            </a:r>
            <a:r>
              <a:rPr lang="en-US" altLang="zh-CN" sz="2800" b="1">
                <a:latin typeface="黑体" panose="02010609060101010101" pitchFamily="2" charset="-122"/>
                <a:ea typeface="黑体" panose="02010609060101010101" pitchFamily="2" charset="-122"/>
              </a:rPr>
              <a:t>:</a:t>
            </a:r>
          </a:p>
          <a:p>
            <a:pPr>
              <a:lnSpc>
                <a:spcPct val="125000"/>
              </a:lnSpc>
              <a:spcBef>
                <a:spcPct val="20000"/>
              </a:spcBef>
            </a:pPr>
            <a:r>
              <a:rPr lang="en-US" altLang="zh-CN" sz="2600" b="1">
                <a:latin typeface="Arial" panose="020B0604020202020204" pitchFamily="34" charset="0"/>
              </a:rPr>
              <a:t>        PLANES(MODEL-NO </a:t>
            </a:r>
            <a:r>
              <a:rPr lang="zh-CN" altLang="en-US" sz="2600" b="1">
                <a:latin typeface="Arial" panose="020B0604020202020204" pitchFamily="34" charset="0"/>
              </a:rPr>
              <a:t>， </a:t>
            </a:r>
            <a:r>
              <a:rPr lang="en-US" altLang="zh-CN" sz="2600" b="1">
                <a:latin typeface="Arial" panose="020B0604020202020204" pitchFamily="34" charset="0"/>
              </a:rPr>
              <a:t>MANUFACTURER)</a:t>
            </a:r>
          </a:p>
          <a:p>
            <a:pPr>
              <a:lnSpc>
                <a:spcPct val="125000"/>
              </a:lnSpc>
              <a:spcBef>
                <a:spcPct val="50000"/>
              </a:spcBef>
            </a:pPr>
            <a:r>
              <a:rPr lang="en-US" altLang="zh-CN" sz="2800" b="1">
                <a:latin typeface="黑体" panose="02010609060101010101" pitchFamily="2" charset="-122"/>
                <a:ea typeface="黑体" panose="02010609060101010101" pitchFamily="2" charset="-122"/>
              </a:rPr>
              <a:t> </a:t>
            </a:r>
            <a:r>
              <a:rPr lang="zh-CN" altLang="en-US" sz="2800" b="1" dirty="0">
                <a:latin typeface="黑体" panose="02010609060101010101" pitchFamily="2" charset="-122"/>
                <a:ea typeface="黑体" panose="02010609060101010101" pitchFamily="2" charset="-122"/>
              </a:rPr>
              <a:t>具体飞机关系模式</a:t>
            </a:r>
            <a:r>
              <a:rPr lang="en-US" altLang="zh-CN" sz="2800" b="1">
                <a:latin typeface="黑体" panose="02010609060101010101" pitchFamily="2" charset="-122"/>
                <a:ea typeface="黑体" panose="02010609060101010101" pitchFamily="2" charset="-122"/>
              </a:rPr>
              <a:t>:</a:t>
            </a:r>
          </a:p>
          <a:p>
            <a:pPr>
              <a:lnSpc>
                <a:spcPct val="125000"/>
              </a:lnSpc>
              <a:spcBef>
                <a:spcPct val="20000"/>
              </a:spcBef>
            </a:pPr>
            <a:r>
              <a:rPr lang="en-US" altLang="zh-CN" sz="2600" b="1">
                <a:latin typeface="Arial" panose="020B0604020202020204" pitchFamily="34" charset="0"/>
              </a:rPr>
              <a:t>        AICRAFT(SERIAL-NO</a:t>
            </a:r>
            <a:r>
              <a:rPr lang="zh-CN" altLang="en-US" sz="2600" b="1">
                <a:latin typeface="Arial" panose="020B0604020202020204" pitchFamily="34" charset="0"/>
              </a:rPr>
              <a:t>， </a:t>
            </a:r>
            <a:r>
              <a:rPr lang="en-US" altLang="zh-CN" sz="2600" b="1">
                <a:latin typeface="Arial" panose="020B0604020202020204" pitchFamily="34" charset="0"/>
              </a:rPr>
              <a:t>TYPE)</a:t>
            </a:r>
          </a:p>
        </p:txBody>
      </p:sp>
    </p:spTree>
  </p:cSld>
  <p:clrMapOvr>
    <a:masterClrMapping/>
  </p:clrMapOvr>
  <mc:AlternateContent xmlns:mc="http://schemas.openxmlformats.org/markup-compatibility/2006" xmlns:p14="http://schemas.microsoft.com/office/powerpoint/2010/main">
    <mc:Choice Requires="p14">
      <p:transition spd="slow" p14:dur="2000" advTm="2112"/>
    </mc:Choice>
    <mc:Fallback xmlns="">
      <p:transition spd="slow" advTm="2112"/>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9" name="文本框 461828"/>
          <p:cNvSpPr txBox="1"/>
          <p:nvPr/>
        </p:nvSpPr>
        <p:spPr>
          <a:xfrm>
            <a:off x="423863" y="1531938"/>
            <a:ext cx="8382000" cy="2544762"/>
          </a:xfrm>
          <a:prstGeom prst="rect">
            <a:avLst/>
          </a:prstGeom>
          <a:noFill/>
          <a:ln w="19050" cap="flat" cmpd="sng">
            <a:solidFill>
              <a:srgbClr val="993300"/>
            </a:solidFill>
            <a:prstDash val="solid"/>
            <a:miter/>
            <a:headEnd type="none" w="sm" len="lg"/>
            <a:tailEnd type="none" w="sm" len="lg"/>
          </a:ln>
        </p:spPr>
        <p:txBody>
          <a:bodyPr>
            <a:spAutoFit/>
          </a:bodyPr>
          <a:lstStyle/>
          <a:p>
            <a:pPr>
              <a:lnSpc>
                <a:spcPct val="125000"/>
              </a:lnSpc>
              <a:spcBef>
                <a:spcPct val="20000"/>
              </a:spcBef>
            </a:pPr>
            <a:r>
              <a:rPr lang="zh-CN" altLang="en-US" sz="2400" b="1" dirty="0">
                <a:latin typeface="Arial" panose="020B0604020202020204" pitchFamily="34" charset="0"/>
              </a:rPr>
              <a:t>  </a:t>
            </a:r>
            <a:r>
              <a:rPr lang="zh-CN" altLang="en-US" sz="2800" b="1" dirty="0">
                <a:latin typeface="黑体" panose="02010609060101010101" pitchFamily="2" charset="-122"/>
                <a:ea typeface="黑体" panose="02010609060101010101" pitchFamily="2" charset="-122"/>
              </a:rPr>
              <a:t>飞机关系模式</a:t>
            </a:r>
            <a:r>
              <a:rPr lang="en-US" altLang="zh-CN" sz="2800" b="1">
                <a:latin typeface="黑体" panose="02010609060101010101" pitchFamily="2" charset="-122"/>
                <a:ea typeface="黑体" panose="02010609060101010101" pitchFamily="2" charset="-122"/>
              </a:rPr>
              <a:t>:</a:t>
            </a:r>
          </a:p>
          <a:p>
            <a:pPr>
              <a:lnSpc>
                <a:spcPct val="125000"/>
              </a:lnSpc>
              <a:spcBef>
                <a:spcPct val="20000"/>
              </a:spcBef>
            </a:pPr>
            <a:r>
              <a:rPr lang="en-US" altLang="zh-CN" sz="2600" b="1">
                <a:latin typeface="Arial" panose="020B0604020202020204" pitchFamily="34" charset="0"/>
              </a:rPr>
              <a:t>        PLANES(MODEL-NO </a:t>
            </a:r>
            <a:r>
              <a:rPr lang="zh-CN" altLang="en-US" sz="2600" b="1">
                <a:latin typeface="Arial" panose="020B0604020202020204" pitchFamily="34" charset="0"/>
              </a:rPr>
              <a:t>， </a:t>
            </a:r>
            <a:r>
              <a:rPr lang="en-US" altLang="zh-CN" sz="2600" b="1">
                <a:latin typeface="Arial" panose="020B0604020202020204" pitchFamily="34" charset="0"/>
              </a:rPr>
              <a:t>MANUFACTURER)</a:t>
            </a:r>
          </a:p>
          <a:p>
            <a:pPr>
              <a:lnSpc>
                <a:spcPct val="125000"/>
              </a:lnSpc>
              <a:spcBef>
                <a:spcPct val="50000"/>
              </a:spcBef>
            </a:pPr>
            <a:r>
              <a:rPr lang="en-US" altLang="zh-CN" sz="2800" b="1">
                <a:latin typeface="黑体" panose="02010609060101010101" pitchFamily="2" charset="-122"/>
                <a:ea typeface="黑体" panose="02010609060101010101" pitchFamily="2" charset="-122"/>
              </a:rPr>
              <a:t> </a:t>
            </a:r>
            <a:r>
              <a:rPr lang="zh-CN" altLang="en-US" sz="2800" b="1" dirty="0">
                <a:latin typeface="黑体" panose="02010609060101010101" pitchFamily="2" charset="-122"/>
                <a:ea typeface="黑体" panose="02010609060101010101" pitchFamily="2" charset="-122"/>
              </a:rPr>
              <a:t>具体飞机关系模式</a:t>
            </a:r>
            <a:r>
              <a:rPr lang="en-US" altLang="zh-CN" sz="2800" b="1">
                <a:latin typeface="黑体" panose="02010609060101010101" pitchFamily="2" charset="-122"/>
                <a:ea typeface="黑体" panose="02010609060101010101" pitchFamily="2" charset="-122"/>
              </a:rPr>
              <a:t>:</a:t>
            </a:r>
          </a:p>
          <a:p>
            <a:pPr>
              <a:lnSpc>
                <a:spcPct val="125000"/>
              </a:lnSpc>
              <a:spcBef>
                <a:spcPct val="20000"/>
              </a:spcBef>
            </a:pPr>
            <a:r>
              <a:rPr lang="en-US" altLang="zh-CN" sz="2600" b="1">
                <a:latin typeface="Arial" panose="020B0604020202020204" pitchFamily="34" charset="0"/>
              </a:rPr>
              <a:t>        AICRAFT(SERIAL-NO</a:t>
            </a:r>
            <a:r>
              <a:rPr lang="zh-CN" altLang="en-US" sz="2600" b="1">
                <a:latin typeface="Arial" panose="020B0604020202020204" pitchFamily="34" charset="0"/>
              </a:rPr>
              <a:t>， </a:t>
            </a:r>
            <a:r>
              <a:rPr lang="en-US" altLang="zh-CN" sz="2600" b="1">
                <a:latin typeface="Arial" panose="020B0604020202020204" pitchFamily="34" charset="0"/>
              </a:rPr>
              <a:t>TYPE)</a:t>
            </a:r>
          </a:p>
        </p:txBody>
      </p:sp>
      <p:sp>
        <p:nvSpPr>
          <p:cNvPr id="461831" name="矩形 461830"/>
          <p:cNvSpPr/>
          <p:nvPr/>
        </p:nvSpPr>
        <p:spPr>
          <a:xfrm>
            <a:off x="827088" y="115888"/>
            <a:ext cx="8259762" cy="719137"/>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二、</a:t>
            </a:r>
            <a:r>
              <a:rPr lang="en-US" altLang="zh-CN" sz="3100"/>
              <a:t>E</a:t>
            </a:r>
            <a:r>
              <a:rPr lang="en-US" altLang="zh-CN" sz="3100">
                <a:latin typeface="Arial" panose="020B0604020202020204" pitchFamily="34" charset="0"/>
              </a:rPr>
              <a:t>—</a:t>
            </a:r>
            <a:r>
              <a:rPr lang="en-US" altLang="zh-CN" sz="3100"/>
              <a:t>R</a:t>
            </a:r>
            <a:r>
              <a:rPr lang="zh-CN" altLang="en-US" sz="3100" dirty="0"/>
              <a:t>图表示的概念结构向关系模型的转换</a:t>
            </a:r>
          </a:p>
        </p:txBody>
      </p:sp>
    </p:spTree>
  </p:cSld>
  <p:clrMapOvr>
    <a:masterClrMapping/>
  </p:clrMapOvr>
  <mc:AlternateContent xmlns:mc="http://schemas.openxmlformats.org/markup-compatibility/2006" xmlns:p14="http://schemas.microsoft.com/office/powerpoint/2010/main">
    <mc:Choice Requires="p14">
      <p:transition spd="slow" p14:dur="2000" advTm="7298"/>
    </mc:Choice>
    <mc:Fallback xmlns="">
      <p:transition spd="slow" advTm="729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2" name="矩形 462851"/>
          <p:cNvSpPr/>
          <p:nvPr/>
        </p:nvSpPr>
        <p:spPr>
          <a:xfrm>
            <a:off x="468313" y="1185863"/>
            <a:ext cx="8207375"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sz="3000">
                <a:solidFill>
                  <a:srgbClr val="660033"/>
                </a:solidFill>
                <a:ea typeface="华文新魏" panose="02010800040101010101" pitchFamily="2" charset="-122"/>
              </a:rPr>
              <a:t>            3</a:t>
            </a:r>
            <a:r>
              <a:rPr lang="zh-CN" altLang="en-US" sz="3000" dirty="0">
                <a:solidFill>
                  <a:srgbClr val="660033"/>
                </a:solidFill>
                <a:ea typeface="华文新魏" panose="02010800040101010101" pitchFamily="2" charset="-122"/>
              </a:rPr>
              <a:t>、一对一联系向关系模型的转换</a:t>
            </a:r>
          </a:p>
          <a:p>
            <a:pPr lvl="0">
              <a:lnSpc>
                <a:spcPct val="140000"/>
              </a:lnSpc>
            </a:pPr>
            <a:r>
              <a:rPr lang="zh-CN" altLang="en-US" dirty="0"/>
              <a:t>          </a:t>
            </a:r>
            <a:r>
              <a:rPr lang="zh-CN" altLang="en-US" b="0" dirty="0">
                <a:latin typeface="黑体" panose="02010609060101010101" pitchFamily="2" charset="-122"/>
                <a:ea typeface="黑体" panose="02010609060101010101" pitchFamily="2" charset="-122"/>
              </a:rPr>
              <a:t>当两个实体集间的联系为 </a:t>
            </a:r>
            <a:r>
              <a:rPr lang="en-US" altLang="zh-CN" b="0">
                <a:latin typeface="黑体" panose="02010609060101010101" pitchFamily="2" charset="-122"/>
                <a:ea typeface="黑体" panose="02010609060101010101" pitchFamily="2" charset="-122"/>
              </a:rPr>
              <a:t>1∶1 </a:t>
            </a:r>
            <a:r>
              <a:rPr lang="zh-CN" altLang="en-US" b="0" dirty="0">
                <a:latin typeface="黑体" panose="02010609060101010101" pitchFamily="2" charset="-122"/>
                <a:ea typeface="黑体" panose="02010609060101010101" pitchFamily="2" charset="-122"/>
              </a:rPr>
              <a:t>联系时，联系两个实体集的联系集没有必要单独设一个关系，将位于联系集两端的实体集按“</a:t>
            </a:r>
            <a:r>
              <a:rPr lang="zh-CN" altLang="en-US" dirty="0">
                <a:solidFill>
                  <a:srgbClr val="003366"/>
                </a:solidFill>
                <a:latin typeface="华文新魏" panose="02010800040101010101" pitchFamily="2" charset="-122"/>
                <a:ea typeface="华文新魏" panose="02010800040101010101" pitchFamily="2" charset="-122"/>
              </a:rPr>
              <a:t>多对多联系向关系模型的转换</a:t>
            </a:r>
            <a:r>
              <a:rPr lang="zh-CN" altLang="en-US" b="0" dirty="0">
                <a:latin typeface="黑体" panose="02010609060101010101" pitchFamily="2" charset="-122"/>
                <a:ea typeface="黑体" panose="02010609060101010101" pitchFamily="2" charset="-122"/>
              </a:rPr>
              <a:t>”中所述的转换方式分别转换成一个关系模式，并在转换成的两个关系模式中的任意一个关系模式的属性中加入另一个关系模式的键和联系集的非主码属性。</a:t>
            </a:r>
          </a:p>
        </p:txBody>
      </p:sp>
      <p:sp>
        <p:nvSpPr>
          <p:cNvPr id="462855" name="矩形 462854"/>
          <p:cNvSpPr/>
          <p:nvPr/>
        </p:nvSpPr>
        <p:spPr>
          <a:xfrm>
            <a:off x="827088" y="115888"/>
            <a:ext cx="8259762" cy="719137"/>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二、</a:t>
            </a:r>
            <a:r>
              <a:rPr lang="en-US" altLang="zh-CN" sz="3100"/>
              <a:t>E</a:t>
            </a:r>
            <a:r>
              <a:rPr lang="en-US" altLang="zh-CN" sz="3100">
                <a:latin typeface="Arial" panose="020B0604020202020204" pitchFamily="34" charset="0"/>
              </a:rPr>
              <a:t>—</a:t>
            </a:r>
            <a:r>
              <a:rPr lang="en-US" altLang="zh-CN" sz="3100"/>
              <a:t>R</a:t>
            </a:r>
            <a:r>
              <a:rPr lang="zh-CN" altLang="en-US" sz="3100" dirty="0"/>
              <a:t>图表示的概念结构向关系模型的转换</a:t>
            </a:r>
          </a:p>
        </p:txBody>
      </p:sp>
    </p:spTree>
  </p:cSld>
  <p:clrMapOvr>
    <a:masterClrMapping/>
  </p:clrMapOvr>
  <mc:AlternateContent xmlns:mc="http://schemas.openxmlformats.org/markup-compatibility/2006" xmlns:p14="http://schemas.microsoft.com/office/powerpoint/2010/main">
    <mc:Choice Requires="p14">
      <p:transition spd="slow" p14:dur="2000" advTm="28333"/>
    </mc:Choice>
    <mc:Fallback xmlns="">
      <p:transition spd="slow" advTm="283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62852">
                                            <p:txEl>
                                              <p:pRg st="1" end="1"/>
                                            </p:txEl>
                                          </p:spTgt>
                                        </p:tgtEl>
                                        <p:attrNameLst>
                                          <p:attrName>style.visibility</p:attrName>
                                        </p:attrNameLst>
                                      </p:cBhvr>
                                      <p:to>
                                        <p:strVal val="visible"/>
                                      </p:to>
                                    </p:set>
                                    <p:animEffect transition="in" filter="wipe(up)">
                                      <p:cBhvr>
                                        <p:cTn id="7" dur="2000"/>
                                        <p:tgtEl>
                                          <p:spTgt spid="46285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904" name="矩形 463903"/>
          <p:cNvSpPr/>
          <p:nvPr/>
        </p:nvSpPr>
        <p:spPr>
          <a:xfrm>
            <a:off x="107950" y="115888"/>
            <a:ext cx="8713788" cy="1511300"/>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63887" name="文本框 463886"/>
          <p:cNvSpPr txBox="1"/>
          <p:nvPr/>
        </p:nvSpPr>
        <p:spPr>
          <a:xfrm>
            <a:off x="1908175" y="5780088"/>
            <a:ext cx="5715000" cy="457200"/>
          </a:xfrm>
          <a:prstGeom prst="rect">
            <a:avLst/>
          </a:prstGeom>
          <a:noFill/>
          <a:ln w="9525">
            <a:noFill/>
          </a:ln>
        </p:spPr>
        <p:txBody>
          <a:bodyPr>
            <a:spAutoFit/>
          </a:bodyPr>
          <a:lstStyle/>
          <a:p>
            <a:pPr>
              <a:spcBef>
                <a:spcPct val="50000"/>
              </a:spcBef>
            </a:pPr>
            <a:r>
              <a:rPr lang="zh-CN" altLang="en-US" sz="2400" b="1" dirty="0">
                <a:latin typeface="Arial" panose="020B0604020202020204" pitchFamily="34" charset="0"/>
              </a:rPr>
              <a:t>图</a:t>
            </a:r>
            <a:r>
              <a:rPr lang="en-US" altLang="zh-CN" sz="2400" b="1">
                <a:latin typeface="Arial" panose="020B0604020202020204" pitchFamily="34" charset="0"/>
              </a:rPr>
              <a:t>3.18     </a:t>
            </a:r>
            <a:r>
              <a:rPr lang="zh-CN" altLang="en-US" sz="2400" b="1" dirty="0">
                <a:latin typeface="Arial" panose="020B0604020202020204" pitchFamily="34" charset="0"/>
              </a:rPr>
              <a:t>公司总裁与公司的一对一联系</a:t>
            </a:r>
          </a:p>
        </p:txBody>
      </p:sp>
      <p:grpSp>
        <p:nvGrpSpPr>
          <p:cNvPr id="463906" name="组合 463905"/>
          <p:cNvGrpSpPr/>
          <p:nvPr/>
        </p:nvGrpSpPr>
        <p:grpSpPr>
          <a:xfrm>
            <a:off x="1331913" y="692150"/>
            <a:ext cx="6638925" cy="4581525"/>
            <a:chOff x="930" y="436"/>
            <a:chExt cx="4182" cy="2886"/>
          </a:xfrm>
        </p:grpSpPr>
        <p:sp>
          <p:nvSpPr>
            <p:cNvPr id="463877" name="矩形 463876"/>
            <p:cNvSpPr/>
            <p:nvPr/>
          </p:nvSpPr>
          <p:spPr>
            <a:xfrm>
              <a:off x="2562" y="916"/>
              <a:ext cx="934" cy="358"/>
            </a:xfrm>
            <a:prstGeom prst="rect">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rPr>
                <a:t>公司</a:t>
              </a:r>
            </a:p>
          </p:txBody>
        </p:sp>
        <p:sp>
          <p:nvSpPr>
            <p:cNvPr id="463878" name="椭圆 463877"/>
            <p:cNvSpPr/>
            <p:nvPr/>
          </p:nvSpPr>
          <p:spPr>
            <a:xfrm>
              <a:off x="930" y="628"/>
              <a:ext cx="912" cy="384"/>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公司名</a:t>
              </a:r>
            </a:p>
          </p:txBody>
        </p:sp>
        <p:sp>
          <p:nvSpPr>
            <p:cNvPr id="463879" name="椭圆 463878"/>
            <p:cNvSpPr/>
            <p:nvPr/>
          </p:nvSpPr>
          <p:spPr>
            <a:xfrm>
              <a:off x="2034" y="436"/>
              <a:ext cx="907" cy="390"/>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地址</a:t>
              </a:r>
            </a:p>
          </p:txBody>
        </p:sp>
        <p:sp>
          <p:nvSpPr>
            <p:cNvPr id="463880" name="椭圆 463879"/>
            <p:cNvSpPr/>
            <p:nvPr/>
          </p:nvSpPr>
          <p:spPr>
            <a:xfrm>
              <a:off x="3090" y="436"/>
              <a:ext cx="916" cy="388"/>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电话</a:t>
              </a:r>
            </a:p>
          </p:txBody>
        </p:sp>
        <p:sp>
          <p:nvSpPr>
            <p:cNvPr id="463881" name="椭圆 463880"/>
            <p:cNvSpPr/>
            <p:nvPr/>
          </p:nvSpPr>
          <p:spPr>
            <a:xfrm>
              <a:off x="4194" y="580"/>
              <a:ext cx="918" cy="370"/>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邮政编码</a:t>
              </a:r>
            </a:p>
          </p:txBody>
        </p:sp>
        <p:sp>
          <p:nvSpPr>
            <p:cNvPr id="463882" name="流程图: 决策 463881"/>
            <p:cNvSpPr/>
            <p:nvPr/>
          </p:nvSpPr>
          <p:spPr>
            <a:xfrm>
              <a:off x="2369" y="1588"/>
              <a:ext cx="1333" cy="569"/>
            </a:xfrm>
            <a:prstGeom prst="flowChartDecision">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rPr>
                <a:t>任职</a:t>
              </a:r>
            </a:p>
          </p:txBody>
        </p:sp>
        <p:sp>
          <p:nvSpPr>
            <p:cNvPr id="463883" name="矩形 463882"/>
            <p:cNvSpPr/>
            <p:nvPr/>
          </p:nvSpPr>
          <p:spPr>
            <a:xfrm>
              <a:off x="2560" y="2452"/>
              <a:ext cx="936" cy="367"/>
            </a:xfrm>
            <a:prstGeom prst="rect">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rPr>
                <a:t>公司总裁</a:t>
              </a:r>
              <a:endParaRPr lang="zh-CN" altLang="en-US" sz="2000" b="1">
                <a:latin typeface="Arial" panose="020B0604020202020204" pitchFamily="34" charset="0"/>
              </a:endParaRPr>
            </a:p>
          </p:txBody>
        </p:sp>
        <p:sp>
          <p:nvSpPr>
            <p:cNvPr id="463884" name="椭圆 463883"/>
            <p:cNvSpPr/>
            <p:nvPr/>
          </p:nvSpPr>
          <p:spPr>
            <a:xfrm>
              <a:off x="4050" y="2932"/>
              <a:ext cx="925" cy="365"/>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出生年月</a:t>
              </a:r>
            </a:p>
          </p:txBody>
        </p:sp>
        <p:sp>
          <p:nvSpPr>
            <p:cNvPr id="463885" name="椭圆 463884"/>
            <p:cNvSpPr/>
            <p:nvPr/>
          </p:nvSpPr>
          <p:spPr>
            <a:xfrm>
              <a:off x="1024" y="2308"/>
              <a:ext cx="914" cy="367"/>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总裁姓名</a:t>
              </a:r>
            </a:p>
          </p:txBody>
        </p:sp>
        <p:sp>
          <p:nvSpPr>
            <p:cNvPr id="463886" name="椭圆 463885"/>
            <p:cNvSpPr/>
            <p:nvPr/>
          </p:nvSpPr>
          <p:spPr>
            <a:xfrm>
              <a:off x="4098" y="2260"/>
              <a:ext cx="960" cy="371"/>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职称</a:t>
              </a:r>
            </a:p>
          </p:txBody>
        </p:sp>
        <p:sp>
          <p:nvSpPr>
            <p:cNvPr id="463888" name="椭圆 463887"/>
            <p:cNvSpPr/>
            <p:nvPr/>
          </p:nvSpPr>
          <p:spPr>
            <a:xfrm>
              <a:off x="1120" y="2932"/>
              <a:ext cx="914" cy="390"/>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性别</a:t>
              </a:r>
            </a:p>
          </p:txBody>
        </p:sp>
        <p:cxnSp>
          <p:nvCxnSpPr>
            <p:cNvPr id="463889" name="直接箭头连接符 463888"/>
            <p:cNvCxnSpPr>
              <a:stCxn id="463882" idx="2"/>
              <a:endCxn id="463883" idx="0"/>
            </p:cNvCxnSpPr>
            <p:nvPr/>
          </p:nvCxnSpPr>
          <p:spPr>
            <a:xfrm flipH="1">
              <a:off x="3028" y="2163"/>
              <a:ext cx="8" cy="283"/>
            </a:xfrm>
            <a:prstGeom prst="straightConnector1">
              <a:avLst/>
            </a:prstGeom>
            <a:ln w="19050" cap="flat" cmpd="sng">
              <a:solidFill>
                <a:schemeClr val="tx1"/>
              </a:solidFill>
              <a:prstDash val="solid"/>
              <a:headEnd type="none" w="med" len="med"/>
              <a:tailEnd type="none" w="med" len="med"/>
            </a:ln>
          </p:spPr>
        </p:cxnSp>
        <p:cxnSp>
          <p:nvCxnSpPr>
            <p:cNvPr id="463890" name="直接箭头连接符 463889"/>
            <p:cNvCxnSpPr>
              <a:stCxn id="463885" idx="6"/>
              <a:endCxn id="463883" idx="1"/>
            </p:cNvCxnSpPr>
            <p:nvPr/>
          </p:nvCxnSpPr>
          <p:spPr>
            <a:xfrm>
              <a:off x="1944" y="2492"/>
              <a:ext cx="610" cy="144"/>
            </a:xfrm>
            <a:prstGeom prst="straightConnector1">
              <a:avLst/>
            </a:prstGeom>
            <a:ln w="19050" cap="flat" cmpd="sng">
              <a:solidFill>
                <a:schemeClr val="tx1"/>
              </a:solidFill>
              <a:prstDash val="solid"/>
              <a:headEnd type="none" w="med" len="med"/>
              <a:tailEnd type="none" w="med" len="med"/>
            </a:ln>
          </p:spPr>
        </p:cxnSp>
        <p:cxnSp>
          <p:nvCxnSpPr>
            <p:cNvPr id="463891" name="直接箭头连接符 463890"/>
            <p:cNvCxnSpPr>
              <a:stCxn id="463878" idx="6"/>
              <a:endCxn id="463877" idx="1"/>
            </p:cNvCxnSpPr>
            <p:nvPr/>
          </p:nvCxnSpPr>
          <p:spPr>
            <a:xfrm>
              <a:off x="1848" y="820"/>
              <a:ext cx="708" cy="275"/>
            </a:xfrm>
            <a:prstGeom prst="straightConnector1">
              <a:avLst/>
            </a:prstGeom>
            <a:ln w="19050" cap="flat" cmpd="sng">
              <a:solidFill>
                <a:schemeClr val="tx1"/>
              </a:solidFill>
              <a:prstDash val="solid"/>
              <a:headEnd type="none" w="med" len="med"/>
              <a:tailEnd type="none" w="med" len="med"/>
            </a:ln>
          </p:spPr>
        </p:cxnSp>
        <p:cxnSp>
          <p:nvCxnSpPr>
            <p:cNvPr id="463892" name="直接箭头连接符 463891"/>
            <p:cNvCxnSpPr>
              <a:stCxn id="463879" idx="5"/>
              <a:endCxn id="463877" idx="0"/>
            </p:cNvCxnSpPr>
            <p:nvPr/>
          </p:nvCxnSpPr>
          <p:spPr>
            <a:xfrm>
              <a:off x="2808" y="775"/>
              <a:ext cx="221" cy="135"/>
            </a:xfrm>
            <a:prstGeom prst="straightConnector1">
              <a:avLst/>
            </a:prstGeom>
            <a:ln w="19050" cap="flat" cmpd="sng">
              <a:solidFill>
                <a:schemeClr val="tx1"/>
              </a:solidFill>
              <a:prstDash val="solid"/>
              <a:headEnd type="none" w="med" len="med"/>
              <a:tailEnd type="none" w="med" len="med"/>
            </a:ln>
          </p:spPr>
        </p:cxnSp>
        <p:cxnSp>
          <p:nvCxnSpPr>
            <p:cNvPr id="463893" name="直接箭头连接符 463892"/>
            <p:cNvCxnSpPr>
              <a:stCxn id="463880" idx="4"/>
              <a:endCxn id="463877" idx="0"/>
            </p:cNvCxnSpPr>
            <p:nvPr/>
          </p:nvCxnSpPr>
          <p:spPr>
            <a:xfrm flipH="1">
              <a:off x="3029" y="830"/>
              <a:ext cx="519" cy="80"/>
            </a:xfrm>
            <a:prstGeom prst="straightConnector1">
              <a:avLst/>
            </a:prstGeom>
            <a:ln w="19050" cap="flat" cmpd="sng">
              <a:solidFill>
                <a:schemeClr val="tx1"/>
              </a:solidFill>
              <a:prstDash val="solid"/>
              <a:headEnd type="none" w="med" len="med"/>
              <a:tailEnd type="none" w="med" len="med"/>
            </a:ln>
          </p:spPr>
        </p:cxnSp>
        <p:cxnSp>
          <p:nvCxnSpPr>
            <p:cNvPr id="463894" name="直接箭头连接符 463893"/>
            <p:cNvCxnSpPr>
              <a:stCxn id="463881" idx="3"/>
              <a:endCxn id="463881" idx="3"/>
            </p:cNvCxnSpPr>
            <p:nvPr/>
          </p:nvCxnSpPr>
          <p:spPr>
            <a:xfrm>
              <a:off x="4328" y="902"/>
              <a:ext cx="0" cy="0"/>
            </a:xfrm>
            <a:prstGeom prst="straightConnector1">
              <a:avLst/>
            </a:prstGeom>
            <a:ln w="19050" cap="flat" cmpd="sng">
              <a:solidFill>
                <a:schemeClr val="tx1"/>
              </a:solidFill>
              <a:prstDash val="solid"/>
              <a:headEnd type="none" w="med" len="med"/>
              <a:tailEnd type="none" w="med" len="med"/>
            </a:ln>
          </p:spPr>
        </p:cxnSp>
        <p:cxnSp>
          <p:nvCxnSpPr>
            <p:cNvPr id="463895" name="直接箭头连接符 463894"/>
            <p:cNvCxnSpPr>
              <a:stCxn id="463881" idx="3"/>
              <a:endCxn id="463877" idx="3"/>
            </p:cNvCxnSpPr>
            <p:nvPr/>
          </p:nvCxnSpPr>
          <p:spPr>
            <a:xfrm flipH="1">
              <a:off x="3502" y="902"/>
              <a:ext cx="826" cy="193"/>
            </a:xfrm>
            <a:prstGeom prst="straightConnector1">
              <a:avLst/>
            </a:prstGeom>
            <a:ln w="19050" cap="flat" cmpd="sng">
              <a:solidFill>
                <a:schemeClr val="tx1"/>
              </a:solidFill>
              <a:prstDash val="solid"/>
              <a:headEnd type="none" w="med" len="med"/>
              <a:tailEnd type="none" w="med" len="med"/>
            </a:ln>
          </p:spPr>
        </p:cxnSp>
        <p:cxnSp>
          <p:nvCxnSpPr>
            <p:cNvPr id="463896" name="直接箭头连接符 463895"/>
            <p:cNvCxnSpPr>
              <a:stCxn id="463877" idx="2"/>
              <a:endCxn id="463882" idx="0"/>
            </p:cNvCxnSpPr>
            <p:nvPr/>
          </p:nvCxnSpPr>
          <p:spPr>
            <a:xfrm>
              <a:off x="3029" y="1280"/>
              <a:ext cx="7" cy="302"/>
            </a:xfrm>
            <a:prstGeom prst="straightConnector1">
              <a:avLst/>
            </a:prstGeom>
            <a:ln w="19050" cap="flat" cmpd="sng">
              <a:solidFill>
                <a:schemeClr val="tx1"/>
              </a:solidFill>
              <a:prstDash val="solid"/>
              <a:headEnd type="none" w="med" len="med"/>
              <a:tailEnd type="none" w="med" len="med"/>
            </a:ln>
          </p:spPr>
        </p:cxnSp>
        <p:cxnSp>
          <p:nvCxnSpPr>
            <p:cNvPr id="463897" name="直接箭头连接符 463896"/>
            <p:cNvCxnSpPr>
              <a:stCxn id="463883" idx="3"/>
              <a:endCxn id="463886" idx="2"/>
            </p:cNvCxnSpPr>
            <p:nvPr/>
          </p:nvCxnSpPr>
          <p:spPr>
            <a:xfrm flipV="1">
              <a:off x="3502" y="2446"/>
              <a:ext cx="590" cy="190"/>
            </a:xfrm>
            <a:prstGeom prst="straightConnector1">
              <a:avLst/>
            </a:prstGeom>
            <a:ln w="19050" cap="flat" cmpd="sng">
              <a:solidFill>
                <a:schemeClr val="tx1"/>
              </a:solidFill>
              <a:prstDash val="solid"/>
              <a:headEnd type="none" w="med" len="med"/>
              <a:tailEnd type="none" w="med" len="med"/>
            </a:ln>
          </p:spPr>
        </p:cxnSp>
        <p:cxnSp>
          <p:nvCxnSpPr>
            <p:cNvPr id="463898" name="直接箭头连接符 463897"/>
            <p:cNvCxnSpPr>
              <a:stCxn id="463883" idx="3"/>
              <a:endCxn id="463884" idx="2"/>
            </p:cNvCxnSpPr>
            <p:nvPr/>
          </p:nvCxnSpPr>
          <p:spPr>
            <a:xfrm>
              <a:off x="3502" y="2636"/>
              <a:ext cx="542" cy="479"/>
            </a:xfrm>
            <a:prstGeom prst="straightConnector1">
              <a:avLst/>
            </a:prstGeom>
            <a:ln w="19050" cap="flat" cmpd="sng">
              <a:solidFill>
                <a:schemeClr val="tx1"/>
              </a:solidFill>
              <a:prstDash val="solid"/>
              <a:headEnd type="none" w="med" len="med"/>
              <a:tailEnd type="none" w="med" len="med"/>
            </a:ln>
          </p:spPr>
        </p:cxnSp>
        <p:cxnSp>
          <p:nvCxnSpPr>
            <p:cNvPr id="463899" name="直接箭头连接符 463898"/>
            <p:cNvCxnSpPr>
              <a:stCxn id="463888" idx="6"/>
              <a:endCxn id="463883" idx="1"/>
            </p:cNvCxnSpPr>
            <p:nvPr/>
          </p:nvCxnSpPr>
          <p:spPr>
            <a:xfrm flipV="1">
              <a:off x="2040" y="2636"/>
              <a:ext cx="514" cy="491"/>
            </a:xfrm>
            <a:prstGeom prst="straightConnector1">
              <a:avLst/>
            </a:prstGeom>
            <a:ln w="19050" cap="flat" cmpd="sng">
              <a:solidFill>
                <a:schemeClr val="tx1"/>
              </a:solidFill>
              <a:prstDash val="solid"/>
              <a:headEnd type="none" w="med" len="med"/>
              <a:tailEnd type="none" w="med" len="med"/>
            </a:ln>
          </p:spPr>
        </p:cxnSp>
        <p:sp>
          <p:nvSpPr>
            <p:cNvPr id="463900" name="椭圆 463899"/>
            <p:cNvSpPr/>
            <p:nvPr/>
          </p:nvSpPr>
          <p:spPr>
            <a:xfrm>
              <a:off x="4098" y="1348"/>
              <a:ext cx="923" cy="360"/>
            </a:xfrm>
            <a:prstGeom prst="ellipse">
              <a:avLst/>
            </a:prstGeom>
            <a:solidFill>
              <a:srgbClr val="CCFFCC"/>
            </a:solidFill>
            <a:ln w="19050" cap="flat" cmpd="sng">
              <a:solidFill>
                <a:schemeClr val="tx1"/>
              </a:solidFill>
              <a:prstDash val="solid"/>
              <a:headEnd type="none" w="sm" len="lg"/>
              <a:tailEnd type="none" w="sm" len="lg"/>
            </a:ln>
          </p:spPr>
          <p:txBody>
            <a:bodyPr wrap="none" anchor="ctr"/>
            <a:lstStyle/>
            <a:p>
              <a:pPr algn="ctr"/>
              <a:r>
                <a:rPr lang="zh-CN" altLang="en-US" sz="2000" b="1" dirty="0">
                  <a:latin typeface="Arial" panose="020B0604020202020204" pitchFamily="34" charset="0"/>
                </a:rPr>
                <a:t>任职年月</a:t>
              </a:r>
            </a:p>
          </p:txBody>
        </p:sp>
        <p:cxnSp>
          <p:nvCxnSpPr>
            <p:cNvPr id="463901" name="直接箭头连接符 463900"/>
            <p:cNvCxnSpPr>
              <a:stCxn id="463882" idx="3"/>
              <a:endCxn id="463900" idx="3"/>
            </p:cNvCxnSpPr>
            <p:nvPr/>
          </p:nvCxnSpPr>
          <p:spPr>
            <a:xfrm flipV="1">
              <a:off x="3708" y="1661"/>
              <a:ext cx="525" cy="212"/>
            </a:xfrm>
            <a:prstGeom prst="straightConnector1">
              <a:avLst/>
            </a:prstGeom>
            <a:ln w="19050" cap="flat" cmpd="sng">
              <a:solidFill>
                <a:schemeClr val="tx1"/>
              </a:solidFill>
              <a:prstDash val="solid"/>
              <a:headEnd type="none" w="sm" len="lg"/>
              <a:tailEnd type="none" w="sm" len="lg"/>
            </a:ln>
          </p:spPr>
        </p:cxnSp>
        <p:sp>
          <p:nvSpPr>
            <p:cNvPr id="463902" name="文本框 463901"/>
            <p:cNvSpPr txBox="1"/>
            <p:nvPr/>
          </p:nvSpPr>
          <p:spPr>
            <a:xfrm>
              <a:off x="3198" y="1316"/>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sp>
          <p:nvSpPr>
            <p:cNvPr id="463903" name="文本框 463902"/>
            <p:cNvSpPr txBox="1"/>
            <p:nvPr/>
          </p:nvSpPr>
          <p:spPr>
            <a:xfrm>
              <a:off x="3198" y="2115"/>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grpSp>
    </p:spTree>
  </p:cSld>
  <p:clrMapOvr>
    <a:masterClrMapping/>
  </p:clrMapOvr>
  <mc:AlternateContent xmlns:mc="http://schemas.openxmlformats.org/markup-compatibility/2006" xmlns:p14="http://schemas.microsoft.com/office/powerpoint/2010/main">
    <mc:Choice Requires="p14">
      <p:transition spd="slow" p14:dur="2000" advTm="18784"/>
    </mc:Choice>
    <mc:Fallback xmlns="">
      <p:transition spd="slow" advTm="18784"/>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4" name="矩形 547843"/>
          <p:cNvSpPr/>
          <p:nvPr/>
        </p:nvSpPr>
        <p:spPr>
          <a:xfrm>
            <a:off x="107950" y="115888"/>
            <a:ext cx="8713788" cy="1511300"/>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grpSp>
        <p:nvGrpSpPr>
          <p:cNvPr id="547846" name="组合 547845"/>
          <p:cNvGrpSpPr/>
          <p:nvPr/>
        </p:nvGrpSpPr>
        <p:grpSpPr>
          <a:xfrm>
            <a:off x="1246188" y="115888"/>
            <a:ext cx="6638925" cy="4581525"/>
            <a:chOff x="930" y="436"/>
            <a:chExt cx="4182" cy="2886"/>
          </a:xfrm>
        </p:grpSpPr>
        <p:sp>
          <p:nvSpPr>
            <p:cNvPr id="547847" name="矩形 547846"/>
            <p:cNvSpPr/>
            <p:nvPr/>
          </p:nvSpPr>
          <p:spPr>
            <a:xfrm>
              <a:off x="2562" y="916"/>
              <a:ext cx="934" cy="358"/>
            </a:xfrm>
            <a:prstGeom prst="rect">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solidFill>
                    <a:srgbClr val="660066"/>
                  </a:solidFill>
                  <a:latin typeface="Arial" panose="020B0604020202020204" pitchFamily="34" charset="0"/>
                </a:rPr>
                <a:t>公司</a:t>
              </a:r>
            </a:p>
          </p:txBody>
        </p:sp>
        <p:sp>
          <p:nvSpPr>
            <p:cNvPr id="547848" name="椭圆 547847"/>
            <p:cNvSpPr/>
            <p:nvPr/>
          </p:nvSpPr>
          <p:spPr>
            <a:xfrm>
              <a:off x="930" y="628"/>
              <a:ext cx="912" cy="384"/>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公司名</a:t>
              </a:r>
            </a:p>
          </p:txBody>
        </p:sp>
        <p:sp>
          <p:nvSpPr>
            <p:cNvPr id="547849" name="椭圆 547848"/>
            <p:cNvSpPr/>
            <p:nvPr/>
          </p:nvSpPr>
          <p:spPr>
            <a:xfrm>
              <a:off x="2034" y="436"/>
              <a:ext cx="907" cy="390"/>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地址</a:t>
              </a:r>
            </a:p>
          </p:txBody>
        </p:sp>
        <p:sp>
          <p:nvSpPr>
            <p:cNvPr id="547850" name="椭圆 547849"/>
            <p:cNvSpPr/>
            <p:nvPr/>
          </p:nvSpPr>
          <p:spPr>
            <a:xfrm>
              <a:off x="3090" y="436"/>
              <a:ext cx="916" cy="388"/>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电话</a:t>
              </a:r>
            </a:p>
          </p:txBody>
        </p:sp>
        <p:sp>
          <p:nvSpPr>
            <p:cNvPr id="547851" name="椭圆 547850"/>
            <p:cNvSpPr/>
            <p:nvPr/>
          </p:nvSpPr>
          <p:spPr>
            <a:xfrm>
              <a:off x="4194" y="580"/>
              <a:ext cx="918" cy="370"/>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邮政编码</a:t>
              </a:r>
            </a:p>
          </p:txBody>
        </p:sp>
        <p:sp>
          <p:nvSpPr>
            <p:cNvPr id="547852" name="流程图: 决策 547851"/>
            <p:cNvSpPr/>
            <p:nvPr/>
          </p:nvSpPr>
          <p:spPr>
            <a:xfrm>
              <a:off x="2369" y="1588"/>
              <a:ext cx="1333" cy="569"/>
            </a:xfrm>
            <a:prstGeom prst="flowChartDecision">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rPr>
                <a:t>任职</a:t>
              </a:r>
            </a:p>
          </p:txBody>
        </p:sp>
        <p:sp>
          <p:nvSpPr>
            <p:cNvPr id="547853" name="矩形 547852"/>
            <p:cNvSpPr/>
            <p:nvPr/>
          </p:nvSpPr>
          <p:spPr>
            <a:xfrm>
              <a:off x="2560" y="2452"/>
              <a:ext cx="936" cy="367"/>
            </a:xfrm>
            <a:prstGeom prst="rect">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solidFill>
                    <a:srgbClr val="660066"/>
                  </a:solidFill>
                  <a:latin typeface="Arial" panose="020B0604020202020204" pitchFamily="34" charset="0"/>
                </a:rPr>
                <a:t>公司总裁</a:t>
              </a:r>
              <a:endParaRPr lang="zh-CN" altLang="en-US" sz="2000" b="1">
                <a:solidFill>
                  <a:srgbClr val="660066"/>
                </a:solidFill>
                <a:latin typeface="Arial" panose="020B0604020202020204" pitchFamily="34" charset="0"/>
              </a:endParaRPr>
            </a:p>
          </p:txBody>
        </p:sp>
        <p:sp>
          <p:nvSpPr>
            <p:cNvPr id="547854" name="椭圆 547853"/>
            <p:cNvSpPr/>
            <p:nvPr/>
          </p:nvSpPr>
          <p:spPr>
            <a:xfrm>
              <a:off x="4050" y="2932"/>
              <a:ext cx="925" cy="365"/>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出生年月</a:t>
              </a:r>
            </a:p>
          </p:txBody>
        </p:sp>
        <p:sp>
          <p:nvSpPr>
            <p:cNvPr id="547855" name="椭圆 547854"/>
            <p:cNvSpPr/>
            <p:nvPr/>
          </p:nvSpPr>
          <p:spPr>
            <a:xfrm>
              <a:off x="1024" y="2308"/>
              <a:ext cx="914" cy="367"/>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总裁姓名</a:t>
              </a:r>
            </a:p>
          </p:txBody>
        </p:sp>
        <p:sp>
          <p:nvSpPr>
            <p:cNvPr id="547856" name="椭圆 547855"/>
            <p:cNvSpPr/>
            <p:nvPr/>
          </p:nvSpPr>
          <p:spPr>
            <a:xfrm>
              <a:off x="4098" y="2260"/>
              <a:ext cx="960" cy="371"/>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职称</a:t>
              </a:r>
            </a:p>
          </p:txBody>
        </p:sp>
        <p:sp>
          <p:nvSpPr>
            <p:cNvPr id="547857" name="椭圆 547856"/>
            <p:cNvSpPr/>
            <p:nvPr/>
          </p:nvSpPr>
          <p:spPr>
            <a:xfrm>
              <a:off x="1120" y="2932"/>
              <a:ext cx="914" cy="390"/>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性别</a:t>
              </a:r>
            </a:p>
          </p:txBody>
        </p:sp>
        <p:cxnSp>
          <p:nvCxnSpPr>
            <p:cNvPr id="547858" name="直接箭头连接符 547857"/>
            <p:cNvCxnSpPr>
              <a:stCxn id="547852" idx="2"/>
              <a:endCxn id="547853" idx="0"/>
            </p:cNvCxnSpPr>
            <p:nvPr/>
          </p:nvCxnSpPr>
          <p:spPr>
            <a:xfrm flipH="1">
              <a:off x="3028" y="2163"/>
              <a:ext cx="8" cy="283"/>
            </a:xfrm>
            <a:prstGeom prst="straightConnector1">
              <a:avLst/>
            </a:prstGeom>
            <a:ln w="19050" cap="flat" cmpd="sng">
              <a:solidFill>
                <a:schemeClr val="tx1"/>
              </a:solidFill>
              <a:prstDash val="solid"/>
              <a:headEnd type="none" w="med" len="med"/>
              <a:tailEnd type="none" w="med" len="med"/>
            </a:ln>
          </p:spPr>
        </p:cxnSp>
        <p:cxnSp>
          <p:nvCxnSpPr>
            <p:cNvPr id="547859" name="直接箭头连接符 547858"/>
            <p:cNvCxnSpPr>
              <a:stCxn id="547855" idx="6"/>
              <a:endCxn id="547853" idx="1"/>
            </p:cNvCxnSpPr>
            <p:nvPr/>
          </p:nvCxnSpPr>
          <p:spPr>
            <a:xfrm>
              <a:off x="1944" y="2492"/>
              <a:ext cx="610" cy="144"/>
            </a:xfrm>
            <a:prstGeom prst="straightConnector1">
              <a:avLst/>
            </a:prstGeom>
            <a:ln w="19050" cap="flat" cmpd="sng">
              <a:solidFill>
                <a:schemeClr val="tx1"/>
              </a:solidFill>
              <a:prstDash val="solid"/>
              <a:headEnd type="none" w="med" len="med"/>
              <a:tailEnd type="none" w="med" len="med"/>
            </a:ln>
          </p:spPr>
        </p:cxnSp>
        <p:cxnSp>
          <p:nvCxnSpPr>
            <p:cNvPr id="547860" name="直接箭头连接符 547859"/>
            <p:cNvCxnSpPr>
              <a:stCxn id="547848" idx="6"/>
              <a:endCxn id="547847" idx="1"/>
            </p:cNvCxnSpPr>
            <p:nvPr/>
          </p:nvCxnSpPr>
          <p:spPr>
            <a:xfrm>
              <a:off x="1848" y="820"/>
              <a:ext cx="708" cy="275"/>
            </a:xfrm>
            <a:prstGeom prst="straightConnector1">
              <a:avLst/>
            </a:prstGeom>
            <a:ln w="19050" cap="flat" cmpd="sng">
              <a:solidFill>
                <a:schemeClr val="tx1"/>
              </a:solidFill>
              <a:prstDash val="solid"/>
              <a:headEnd type="none" w="med" len="med"/>
              <a:tailEnd type="none" w="med" len="med"/>
            </a:ln>
          </p:spPr>
        </p:cxnSp>
        <p:cxnSp>
          <p:nvCxnSpPr>
            <p:cNvPr id="547861" name="直接箭头连接符 547860"/>
            <p:cNvCxnSpPr>
              <a:stCxn id="547849" idx="5"/>
              <a:endCxn id="547847" idx="0"/>
            </p:cNvCxnSpPr>
            <p:nvPr/>
          </p:nvCxnSpPr>
          <p:spPr>
            <a:xfrm>
              <a:off x="2808" y="775"/>
              <a:ext cx="221" cy="135"/>
            </a:xfrm>
            <a:prstGeom prst="straightConnector1">
              <a:avLst/>
            </a:prstGeom>
            <a:ln w="19050" cap="flat" cmpd="sng">
              <a:solidFill>
                <a:schemeClr val="tx1"/>
              </a:solidFill>
              <a:prstDash val="solid"/>
              <a:headEnd type="none" w="med" len="med"/>
              <a:tailEnd type="none" w="med" len="med"/>
            </a:ln>
          </p:spPr>
        </p:cxnSp>
        <p:cxnSp>
          <p:nvCxnSpPr>
            <p:cNvPr id="547862" name="直接箭头连接符 547861"/>
            <p:cNvCxnSpPr>
              <a:stCxn id="547850" idx="4"/>
              <a:endCxn id="547847" idx="0"/>
            </p:cNvCxnSpPr>
            <p:nvPr/>
          </p:nvCxnSpPr>
          <p:spPr>
            <a:xfrm flipH="1">
              <a:off x="3029" y="830"/>
              <a:ext cx="519" cy="80"/>
            </a:xfrm>
            <a:prstGeom prst="straightConnector1">
              <a:avLst/>
            </a:prstGeom>
            <a:ln w="19050" cap="flat" cmpd="sng">
              <a:solidFill>
                <a:schemeClr val="tx1"/>
              </a:solidFill>
              <a:prstDash val="solid"/>
              <a:headEnd type="none" w="med" len="med"/>
              <a:tailEnd type="none" w="med" len="med"/>
            </a:ln>
          </p:spPr>
        </p:cxnSp>
        <p:cxnSp>
          <p:nvCxnSpPr>
            <p:cNvPr id="547863" name="直接箭头连接符 547862"/>
            <p:cNvCxnSpPr>
              <a:stCxn id="547851" idx="3"/>
              <a:endCxn id="547851" idx="3"/>
            </p:cNvCxnSpPr>
            <p:nvPr/>
          </p:nvCxnSpPr>
          <p:spPr>
            <a:xfrm>
              <a:off x="4328" y="902"/>
              <a:ext cx="0" cy="0"/>
            </a:xfrm>
            <a:prstGeom prst="straightConnector1">
              <a:avLst/>
            </a:prstGeom>
            <a:ln w="19050" cap="flat" cmpd="sng">
              <a:solidFill>
                <a:schemeClr val="tx1"/>
              </a:solidFill>
              <a:prstDash val="solid"/>
              <a:headEnd type="none" w="med" len="med"/>
              <a:tailEnd type="none" w="med" len="med"/>
            </a:ln>
          </p:spPr>
        </p:cxnSp>
        <p:cxnSp>
          <p:nvCxnSpPr>
            <p:cNvPr id="547864" name="直接箭头连接符 547863"/>
            <p:cNvCxnSpPr>
              <a:stCxn id="547851" idx="3"/>
              <a:endCxn id="547847" idx="3"/>
            </p:cNvCxnSpPr>
            <p:nvPr/>
          </p:nvCxnSpPr>
          <p:spPr>
            <a:xfrm flipH="1">
              <a:off x="3502" y="902"/>
              <a:ext cx="826" cy="193"/>
            </a:xfrm>
            <a:prstGeom prst="straightConnector1">
              <a:avLst/>
            </a:prstGeom>
            <a:ln w="19050" cap="flat" cmpd="sng">
              <a:solidFill>
                <a:schemeClr val="tx1"/>
              </a:solidFill>
              <a:prstDash val="solid"/>
              <a:headEnd type="none" w="med" len="med"/>
              <a:tailEnd type="none" w="med" len="med"/>
            </a:ln>
          </p:spPr>
        </p:cxnSp>
        <p:cxnSp>
          <p:nvCxnSpPr>
            <p:cNvPr id="547865" name="直接箭头连接符 547864"/>
            <p:cNvCxnSpPr>
              <a:stCxn id="547847" idx="2"/>
              <a:endCxn id="547852" idx="0"/>
            </p:cNvCxnSpPr>
            <p:nvPr/>
          </p:nvCxnSpPr>
          <p:spPr>
            <a:xfrm>
              <a:off x="3029" y="1280"/>
              <a:ext cx="7" cy="302"/>
            </a:xfrm>
            <a:prstGeom prst="straightConnector1">
              <a:avLst/>
            </a:prstGeom>
            <a:ln w="19050" cap="flat" cmpd="sng">
              <a:solidFill>
                <a:schemeClr val="tx1"/>
              </a:solidFill>
              <a:prstDash val="solid"/>
              <a:headEnd type="none" w="med" len="med"/>
              <a:tailEnd type="none" w="med" len="med"/>
            </a:ln>
          </p:spPr>
        </p:cxnSp>
        <p:cxnSp>
          <p:nvCxnSpPr>
            <p:cNvPr id="547866" name="直接箭头连接符 547865"/>
            <p:cNvCxnSpPr>
              <a:stCxn id="547853" idx="3"/>
              <a:endCxn id="547856" idx="2"/>
            </p:cNvCxnSpPr>
            <p:nvPr/>
          </p:nvCxnSpPr>
          <p:spPr>
            <a:xfrm flipV="1">
              <a:off x="3502" y="2446"/>
              <a:ext cx="590" cy="190"/>
            </a:xfrm>
            <a:prstGeom prst="straightConnector1">
              <a:avLst/>
            </a:prstGeom>
            <a:ln w="19050" cap="flat" cmpd="sng">
              <a:solidFill>
                <a:schemeClr val="tx1"/>
              </a:solidFill>
              <a:prstDash val="solid"/>
              <a:headEnd type="none" w="med" len="med"/>
              <a:tailEnd type="none" w="med" len="med"/>
            </a:ln>
          </p:spPr>
        </p:cxnSp>
        <p:cxnSp>
          <p:nvCxnSpPr>
            <p:cNvPr id="547867" name="直接箭头连接符 547866"/>
            <p:cNvCxnSpPr>
              <a:stCxn id="547853" idx="3"/>
              <a:endCxn id="547854" idx="2"/>
            </p:cNvCxnSpPr>
            <p:nvPr/>
          </p:nvCxnSpPr>
          <p:spPr>
            <a:xfrm>
              <a:off x="3502" y="2636"/>
              <a:ext cx="542" cy="479"/>
            </a:xfrm>
            <a:prstGeom prst="straightConnector1">
              <a:avLst/>
            </a:prstGeom>
            <a:ln w="19050" cap="flat" cmpd="sng">
              <a:solidFill>
                <a:schemeClr val="tx1"/>
              </a:solidFill>
              <a:prstDash val="solid"/>
              <a:headEnd type="none" w="med" len="med"/>
              <a:tailEnd type="none" w="med" len="med"/>
            </a:ln>
          </p:spPr>
        </p:cxnSp>
        <p:cxnSp>
          <p:nvCxnSpPr>
            <p:cNvPr id="547868" name="直接箭头连接符 547867"/>
            <p:cNvCxnSpPr>
              <a:stCxn id="547857" idx="6"/>
              <a:endCxn id="547853" idx="1"/>
            </p:cNvCxnSpPr>
            <p:nvPr/>
          </p:nvCxnSpPr>
          <p:spPr>
            <a:xfrm flipV="1">
              <a:off x="2040" y="2636"/>
              <a:ext cx="514" cy="491"/>
            </a:xfrm>
            <a:prstGeom prst="straightConnector1">
              <a:avLst/>
            </a:prstGeom>
            <a:ln w="19050" cap="flat" cmpd="sng">
              <a:solidFill>
                <a:schemeClr val="tx1"/>
              </a:solidFill>
              <a:prstDash val="solid"/>
              <a:headEnd type="none" w="med" len="med"/>
              <a:tailEnd type="none" w="med" len="med"/>
            </a:ln>
          </p:spPr>
        </p:cxnSp>
        <p:sp>
          <p:nvSpPr>
            <p:cNvPr id="547869" name="椭圆 547868"/>
            <p:cNvSpPr/>
            <p:nvPr/>
          </p:nvSpPr>
          <p:spPr>
            <a:xfrm>
              <a:off x="4098" y="1348"/>
              <a:ext cx="923" cy="360"/>
            </a:xfrm>
            <a:prstGeom prst="ellipse">
              <a:avLst/>
            </a:prstGeom>
            <a:solidFill>
              <a:srgbClr val="CCFFCC"/>
            </a:solidFill>
            <a:ln w="19050" cap="flat" cmpd="sng">
              <a:solidFill>
                <a:schemeClr val="tx1"/>
              </a:solidFill>
              <a:prstDash val="solid"/>
              <a:headEnd type="none" w="sm" len="lg"/>
              <a:tailEnd type="none" w="sm" len="lg"/>
            </a:ln>
          </p:spPr>
          <p:txBody>
            <a:bodyPr wrap="none" anchor="ctr"/>
            <a:lstStyle/>
            <a:p>
              <a:pPr algn="ctr"/>
              <a:r>
                <a:rPr lang="zh-CN" altLang="en-US" sz="2000" b="1" dirty="0">
                  <a:latin typeface="Arial" panose="020B0604020202020204" pitchFamily="34" charset="0"/>
                </a:rPr>
                <a:t>任职年月</a:t>
              </a:r>
            </a:p>
          </p:txBody>
        </p:sp>
        <p:cxnSp>
          <p:nvCxnSpPr>
            <p:cNvPr id="547870" name="直接箭头连接符 547869"/>
            <p:cNvCxnSpPr>
              <a:stCxn id="547852" idx="3"/>
              <a:endCxn id="547869" idx="3"/>
            </p:cNvCxnSpPr>
            <p:nvPr/>
          </p:nvCxnSpPr>
          <p:spPr>
            <a:xfrm flipV="1">
              <a:off x="3708" y="1661"/>
              <a:ext cx="525" cy="212"/>
            </a:xfrm>
            <a:prstGeom prst="straightConnector1">
              <a:avLst/>
            </a:prstGeom>
            <a:ln w="19050" cap="flat" cmpd="sng">
              <a:solidFill>
                <a:schemeClr val="tx1"/>
              </a:solidFill>
              <a:prstDash val="solid"/>
              <a:headEnd type="none" w="sm" len="lg"/>
              <a:tailEnd type="none" w="sm" len="lg"/>
            </a:ln>
          </p:spPr>
        </p:cxnSp>
        <p:sp>
          <p:nvSpPr>
            <p:cNvPr id="547871" name="文本框 547870"/>
            <p:cNvSpPr txBox="1"/>
            <p:nvPr/>
          </p:nvSpPr>
          <p:spPr>
            <a:xfrm>
              <a:off x="3198" y="1316"/>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sp>
          <p:nvSpPr>
            <p:cNvPr id="547872" name="文本框 547871"/>
            <p:cNvSpPr txBox="1"/>
            <p:nvPr/>
          </p:nvSpPr>
          <p:spPr>
            <a:xfrm>
              <a:off x="3198" y="2115"/>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grpSp>
      <p:sp>
        <p:nvSpPr>
          <p:cNvPr id="547873" name="矩形 547872"/>
          <p:cNvSpPr/>
          <p:nvPr/>
        </p:nvSpPr>
        <p:spPr>
          <a:xfrm>
            <a:off x="381000" y="4827588"/>
            <a:ext cx="8382000" cy="1697037"/>
          </a:xfrm>
          <a:prstGeom prst="rect">
            <a:avLst/>
          </a:prstGeom>
          <a:noFill/>
          <a:ln w="9525" cap="flat" cmpd="sng">
            <a:solidFill>
              <a:srgbClr val="9933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sz="2200" b="0" dirty="0">
                <a:latin typeface="黑体" panose="02010609060101010101" pitchFamily="2" charset="-122"/>
                <a:ea typeface="黑体" panose="02010609060101010101" pitchFamily="2" charset="-122"/>
              </a:rPr>
              <a:t>公司关系模式（</a:t>
            </a:r>
            <a:r>
              <a:rPr lang="zh-CN" altLang="en-US" sz="2200" b="0" u="sng" dirty="0">
                <a:latin typeface="黑体" panose="02010609060101010101" pitchFamily="2" charset="-122"/>
                <a:ea typeface="黑体" panose="02010609060101010101" pitchFamily="2" charset="-122"/>
              </a:rPr>
              <a:t>公司名</a:t>
            </a:r>
            <a:r>
              <a:rPr lang="zh-CN" altLang="en-US" sz="2200" b="0" dirty="0">
                <a:latin typeface="黑体" panose="02010609060101010101" pitchFamily="2" charset="-122"/>
                <a:ea typeface="黑体" panose="02010609060101010101" pitchFamily="2" charset="-122"/>
              </a:rPr>
              <a:t>，地址，电话，邮政编码，</a:t>
            </a:r>
          </a:p>
          <a:p>
            <a:pPr lvl="0">
              <a:spcBef>
                <a:spcPct val="5000"/>
              </a:spcBef>
            </a:pPr>
            <a:r>
              <a:rPr lang="zh-CN" altLang="en-US" sz="2200" b="0" dirty="0">
                <a:latin typeface="黑体" panose="02010609060101010101" pitchFamily="2" charset="-122"/>
                <a:ea typeface="黑体" panose="02010609060101010101" pitchFamily="2" charset="-122"/>
              </a:rPr>
              <a:t>                             总裁姓名，任职年月）</a:t>
            </a:r>
          </a:p>
          <a:p>
            <a:pPr lvl="0">
              <a:spcBef>
                <a:spcPct val="70000"/>
              </a:spcBef>
            </a:pPr>
            <a:r>
              <a:rPr lang="zh-CN" altLang="en-US" sz="2200" b="0" dirty="0">
                <a:latin typeface="黑体" panose="02010609060101010101" pitchFamily="2" charset="-122"/>
                <a:ea typeface="黑体" panose="02010609060101010101" pitchFamily="2" charset="-122"/>
              </a:rPr>
              <a:t>公司总裁关系模式</a:t>
            </a:r>
            <a:r>
              <a:rPr lang="en-US" altLang="zh-CN" sz="2200" b="0">
                <a:latin typeface="黑体" panose="02010609060101010101" pitchFamily="2" charset="-122"/>
                <a:ea typeface="黑体" panose="02010609060101010101" pitchFamily="2" charset="-122"/>
              </a:rPr>
              <a:t>(</a:t>
            </a:r>
            <a:r>
              <a:rPr lang="zh-CN" altLang="en-US" sz="2200" b="0" u="sng" dirty="0">
                <a:latin typeface="黑体" panose="02010609060101010101" pitchFamily="2" charset="-122"/>
                <a:ea typeface="黑体" panose="02010609060101010101" pitchFamily="2" charset="-122"/>
              </a:rPr>
              <a:t>总裁姓名</a:t>
            </a:r>
            <a:r>
              <a:rPr lang="zh-CN" altLang="en-US" sz="2200" b="0" dirty="0">
                <a:latin typeface="黑体" panose="02010609060101010101" pitchFamily="2" charset="-122"/>
                <a:ea typeface="黑体" panose="02010609060101010101" pitchFamily="2" charset="-122"/>
              </a:rPr>
              <a:t>，性别，出生年月，职称</a:t>
            </a:r>
            <a:r>
              <a:rPr lang="en-US" altLang="zh-CN" sz="2200" b="0">
                <a:latin typeface="黑体" panose="02010609060101010101" pitchFamily="2" charset="-122"/>
                <a:ea typeface="黑体" panose="0201060906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19557"/>
    </mc:Choice>
    <mc:Fallback xmlns="">
      <p:transition spd="slow" advTm="1955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8" name="矩形 548867"/>
          <p:cNvSpPr/>
          <p:nvPr/>
        </p:nvSpPr>
        <p:spPr>
          <a:xfrm>
            <a:off x="107950" y="115888"/>
            <a:ext cx="8713788" cy="1511300"/>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grpSp>
        <p:nvGrpSpPr>
          <p:cNvPr id="548869" name="组合 548868"/>
          <p:cNvGrpSpPr/>
          <p:nvPr/>
        </p:nvGrpSpPr>
        <p:grpSpPr>
          <a:xfrm>
            <a:off x="1246188" y="287338"/>
            <a:ext cx="6638925" cy="4581525"/>
            <a:chOff x="930" y="436"/>
            <a:chExt cx="4182" cy="2886"/>
          </a:xfrm>
        </p:grpSpPr>
        <p:sp>
          <p:nvSpPr>
            <p:cNvPr id="548870" name="矩形 548869"/>
            <p:cNvSpPr/>
            <p:nvPr/>
          </p:nvSpPr>
          <p:spPr>
            <a:xfrm>
              <a:off x="2562" y="916"/>
              <a:ext cx="934" cy="358"/>
            </a:xfrm>
            <a:prstGeom prst="rect">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solidFill>
                    <a:srgbClr val="660066"/>
                  </a:solidFill>
                  <a:latin typeface="Arial" panose="020B0604020202020204" pitchFamily="34" charset="0"/>
                </a:rPr>
                <a:t>公司</a:t>
              </a:r>
            </a:p>
          </p:txBody>
        </p:sp>
        <p:sp>
          <p:nvSpPr>
            <p:cNvPr id="548871" name="椭圆 548870"/>
            <p:cNvSpPr/>
            <p:nvPr/>
          </p:nvSpPr>
          <p:spPr>
            <a:xfrm>
              <a:off x="930" y="628"/>
              <a:ext cx="912" cy="384"/>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公司名</a:t>
              </a:r>
            </a:p>
          </p:txBody>
        </p:sp>
        <p:sp>
          <p:nvSpPr>
            <p:cNvPr id="548872" name="椭圆 548871"/>
            <p:cNvSpPr/>
            <p:nvPr/>
          </p:nvSpPr>
          <p:spPr>
            <a:xfrm>
              <a:off x="2034" y="436"/>
              <a:ext cx="907" cy="390"/>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地址</a:t>
              </a:r>
            </a:p>
          </p:txBody>
        </p:sp>
        <p:sp>
          <p:nvSpPr>
            <p:cNvPr id="548873" name="椭圆 548872"/>
            <p:cNvSpPr/>
            <p:nvPr/>
          </p:nvSpPr>
          <p:spPr>
            <a:xfrm>
              <a:off x="3090" y="436"/>
              <a:ext cx="916" cy="388"/>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电话</a:t>
              </a:r>
            </a:p>
          </p:txBody>
        </p:sp>
        <p:sp>
          <p:nvSpPr>
            <p:cNvPr id="548874" name="椭圆 548873"/>
            <p:cNvSpPr/>
            <p:nvPr/>
          </p:nvSpPr>
          <p:spPr>
            <a:xfrm>
              <a:off x="4194" y="580"/>
              <a:ext cx="918" cy="370"/>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邮政编码</a:t>
              </a:r>
            </a:p>
          </p:txBody>
        </p:sp>
        <p:sp>
          <p:nvSpPr>
            <p:cNvPr id="548875" name="流程图: 决策 548874"/>
            <p:cNvSpPr/>
            <p:nvPr/>
          </p:nvSpPr>
          <p:spPr>
            <a:xfrm>
              <a:off x="2369" y="1588"/>
              <a:ext cx="1333" cy="569"/>
            </a:xfrm>
            <a:prstGeom prst="flowChartDecision">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rPr>
                <a:t>任职</a:t>
              </a:r>
            </a:p>
          </p:txBody>
        </p:sp>
        <p:sp>
          <p:nvSpPr>
            <p:cNvPr id="548876" name="矩形 548875"/>
            <p:cNvSpPr/>
            <p:nvPr/>
          </p:nvSpPr>
          <p:spPr>
            <a:xfrm>
              <a:off x="2560" y="2452"/>
              <a:ext cx="936" cy="367"/>
            </a:xfrm>
            <a:prstGeom prst="rect">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solidFill>
                    <a:srgbClr val="660066"/>
                  </a:solidFill>
                  <a:latin typeface="Arial" panose="020B0604020202020204" pitchFamily="34" charset="0"/>
                </a:rPr>
                <a:t>公司总裁</a:t>
              </a:r>
              <a:endParaRPr lang="zh-CN" altLang="en-US" sz="2000" b="1">
                <a:solidFill>
                  <a:srgbClr val="660066"/>
                </a:solidFill>
                <a:latin typeface="Arial" panose="020B0604020202020204" pitchFamily="34" charset="0"/>
              </a:endParaRPr>
            </a:p>
          </p:txBody>
        </p:sp>
        <p:sp>
          <p:nvSpPr>
            <p:cNvPr id="548877" name="椭圆 548876"/>
            <p:cNvSpPr/>
            <p:nvPr/>
          </p:nvSpPr>
          <p:spPr>
            <a:xfrm>
              <a:off x="4050" y="2932"/>
              <a:ext cx="925" cy="365"/>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出生年月</a:t>
              </a:r>
            </a:p>
          </p:txBody>
        </p:sp>
        <p:sp>
          <p:nvSpPr>
            <p:cNvPr id="548878" name="椭圆 548877"/>
            <p:cNvSpPr/>
            <p:nvPr/>
          </p:nvSpPr>
          <p:spPr>
            <a:xfrm>
              <a:off x="1024" y="2308"/>
              <a:ext cx="914" cy="367"/>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总裁姓名</a:t>
              </a:r>
            </a:p>
          </p:txBody>
        </p:sp>
        <p:sp>
          <p:nvSpPr>
            <p:cNvPr id="548879" name="椭圆 548878"/>
            <p:cNvSpPr/>
            <p:nvPr/>
          </p:nvSpPr>
          <p:spPr>
            <a:xfrm>
              <a:off x="4098" y="2260"/>
              <a:ext cx="960" cy="371"/>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职称</a:t>
              </a:r>
            </a:p>
          </p:txBody>
        </p:sp>
        <p:sp>
          <p:nvSpPr>
            <p:cNvPr id="548880" name="椭圆 548879"/>
            <p:cNvSpPr/>
            <p:nvPr/>
          </p:nvSpPr>
          <p:spPr>
            <a:xfrm>
              <a:off x="1120" y="2932"/>
              <a:ext cx="914" cy="390"/>
            </a:xfrm>
            <a:prstGeom prst="ellipse">
              <a:avLst/>
            </a:prstGeom>
            <a:solidFill>
              <a:srgbClr val="CCFFCC"/>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rPr>
                <a:t>性别</a:t>
              </a:r>
            </a:p>
          </p:txBody>
        </p:sp>
        <p:cxnSp>
          <p:nvCxnSpPr>
            <p:cNvPr id="548881" name="直接箭头连接符 548880"/>
            <p:cNvCxnSpPr>
              <a:stCxn id="548875" idx="2"/>
              <a:endCxn id="548876" idx="0"/>
            </p:cNvCxnSpPr>
            <p:nvPr/>
          </p:nvCxnSpPr>
          <p:spPr>
            <a:xfrm flipH="1">
              <a:off x="3028" y="2163"/>
              <a:ext cx="8" cy="283"/>
            </a:xfrm>
            <a:prstGeom prst="straightConnector1">
              <a:avLst/>
            </a:prstGeom>
            <a:ln w="19050" cap="flat" cmpd="sng">
              <a:solidFill>
                <a:schemeClr val="tx1"/>
              </a:solidFill>
              <a:prstDash val="solid"/>
              <a:headEnd type="none" w="med" len="med"/>
              <a:tailEnd type="none" w="med" len="med"/>
            </a:ln>
          </p:spPr>
        </p:cxnSp>
        <p:cxnSp>
          <p:nvCxnSpPr>
            <p:cNvPr id="548882" name="直接箭头连接符 548881"/>
            <p:cNvCxnSpPr>
              <a:stCxn id="548878" idx="6"/>
              <a:endCxn id="548876" idx="1"/>
            </p:cNvCxnSpPr>
            <p:nvPr/>
          </p:nvCxnSpPr>
          <p:spPr>
            <a:xfrm>
              <a:off x="1944" y="2492"/>
              <a:ext cx="610" cy="144"/>
            </a:xfrm>
            <a:prstGeom prst="straightConnector1">
              <a:avLst/>
            </a:prstGeom>
            <a:ln w="19050" cap="flat" cmpd="sng">
              <a:solidFill>
                <a:schemeClr val="tx1"/>
              </a:solidFill>
              <a:prstDash val="solid"/>
              <a:headEnd type="none" w="med" len="med"/>
              <a:tailEnd type="none" w="med" len="med"/>
            </a:ln>
          </p:spPr>
        </p:cxnSp>
        <p:cxnSp>
          <p:nvCxnSpPr>
            <p:cNvPr id="548883" name="直接箭头连接符 548882"/>
            <p:cNvCxnSpPr>
              <a:stCxn id="548871" idx="6"/>
              <a:endCxn id="548870" idx="1"/>
            </p:cNvCxnSpPr>
            <p:nvPr/>
          </p:nvCxnSpPr>
          <p:spPr>
            <a:xfrm>
              <a:off x="1848" y="820"/>
              <a:ext cx="708" cy="275"/>
            </a:xfrm>
            <a:prstGeom prst="straightConnector1">
              <a:avLst/>
            </a:prstGeom>
            <a:ln w="19050" cap="flat" cmpd="sng">
              <a:solidFill>
                <a:schemeClr val="tx1"/>
              </a:solidFill>
              <a:prstDash val="solid"/>
              <a:headEnd type="none" w="med" len="med"/>
              <a:tailEnd type="none" w="med" len="med"/>
            </a:ln>
          </p:spPr>
        </p:cxnSp>
        <p:cxnSp>
          <p:nvCxnSpPr>
            <p:cNvPr id="548884" name="直接箭头连接符 548883"/>
            <p:cNvCxnSpPr>
              <a:stCxn id="548872" idx="5"/>
              <a:endCxn id="548870" idx="0"/>
            </p:cNvCxnSpPr>
            <p:nvPr/>
          </p:nvCxnSpPr>
          <p:spPr>
            <a:xfrm>
              <a:off x="2808" y="775"/>
              <a:ext cx="221" cy="135"/>
            </a:xfrm>
            <a:prstGeom prst="straightConnector1">
              <a:avLst/>
            </a:prstGeom>
            <a:ln w="19050" cap="flat" cmpd="sng">
              <a:solidFill>
                <a:schemeClr val="tx1"/>
              </a:solidFill>
              <a:prstDash val="solid"/>
              <a:headEnd type="none" w="med" len="med"/>
              <a:tailEnd type="none" w="med" len="med"/>
            </a:ln>
          </p:spPr>
        </p:cxnSp>
        <p:cxnSp>
          <p:nvCxnSpPr>
            <p:cNvPr id="548885" name="直接箭头连接符 548884"/>
            <p:cNvCxnSpPr>
              <a:stCxn id="548873" idx="4"/>
              <a:endCxn id="548870" idx="0"/>
            </p:cNvCxnSpPr>
            <p:nvPr/>
          </p:nvCxnSpPr>
          <p:spPr>
            <a:xfrm flipH="1">
              <a:off x="3029" y="830"/>
              <a:ext cx="519" cy="80"/>
            </a:xfrm>
            <a:prstGeom prst="straightConnector1">
              <a:avLst/>
            </a:prstGeom>
            <a:ln w="19050" cap="flat" cmpd="sng">
              <a:solidFill>
                <a:schemeClr val="tx1"/>
              </a:solidFill>
              <a:prstDash val="solid"/>
              <a:headEnd type="none" w="med" len="med"/>
              <a:tailEnd type="none" w="med" len="med"/>
            </a:ln>
          </p:spPr>
        </p:cxnSp>
        <p:cxnSp>
          <p:nvCxnSpPr>
            <p:cNvPr id="548886" name="直接箭头连接符 548885"/>
            <p:cNvCxnSpPr>
              <a:stCxn id="548874" idx="3"/>
              <a:endCxn id="548874" idx="3"/>
            </p:cNvCxnSpPr>
            <p:nvPr/>
          </p:nvCxnSpPr>
          <p:spPr>
            <a:xfrm>
              <a:off x="4328" y="902"/>
              <a:ext cx="0" cy="0"/>
            </a:xfrm>
            <a:prstGeom prst="straightConnector1">
              <a:avLst/>
            </a:prstGeom>
            <a:ln w="19050" cap="flat" cmpd="sng">
              <a:solidFill>
                <a:schemeClr val="tx1"/>
              </a:solidFill>
              <a:prstDash val="solid"/>
              <a:headEnd type="none" w="med" len="med"/>
              <a:tailEnd type="none" w="med" len="med"/>
            </a:ln>
          </p:spPr>
        </p:cxnSp>
        <p:cxnSp>
          <p:nvCxnSpPr>
            <p:cNvPr id="548887" name="直接箭头连接符 548886"/>
            <p:cNvCxnSpPr>
              <a:stCxn id="548874" idx="3"/>
              <a:endCxn id="548870" idx="3"/>
            </p:cNvCxnSpPr>
            <p:nvPr/>
          </p:nvCxnSpPr>
          <p:spPr>
            <a:xfrm flipH="1">
              <a:off x="3502" y="902"/>
              <a:ext cx="826" cy="193"/>
            </a:xfrm>
            <a:prstGeom prst="straightConnector1">
              <a:avLst/>
            </a:prstGeom>
            <a:ln w="19050" cap="flat" cmpd="sng">
              <a:solidFill>
                <a:schemeClr val="tx1"/>
              </a:solidFill>
              <a:prstDash val="solid"/>
              <a:headEnd type="none" w="med" len="med"/>
              <a:tailEnd type="none" w="med" len="med"/>
            </a:ln>
          </p:spPr>
        </p:cxnSp>
        <p:cxnSp>
          <p:nvCxnSpPr>
            <p:cNvPr id="548888" name="直接箭头连接符 548887"/>
            <p:cNvCxnSpPr>
              <a:stCxn id="548870" idx="2"/>
              <a:endCxn id="548875" idx="0"/>
            </p:cNvCxnSpPr>
            <p:nvPr/>
          </p:nvCxnSpPr>
          <p:spPr>
            <a:xfrm>
              <a:off x="3029" y="1280"/>
              <a:ext cx="7" cy="302"/>
            </a:xfrm>
            <a:prstGeom prst="straightConnector1">
              <a:avLst/>
            </a:prstGeom>
            <a:ln w="19050" cap="flat" cmpd="sng">
              <a:solidFill>
                <a:schemeClr val="tx1"/>
              </a:solidFill>
              <a:prstDash val="solid"/>
              <a:headEnd type="none" w="med" len="med"/>
              <a:tailEnd type="none" w="med" len="med"/>
            </a:ln>
          </p:spPr>
        </p:cxnSp>
        <p:cxnSp>
          <p:nvCxnSpPr>
            <p:cNvPr id="548889" name="直接箭头连接符 548888"/>
            <p:cNvCxnSpPr>
              <a:stCxn id="548876" idx="3"/>
              <a:endCxn id="548879" idx="2"/>
            </p:cNvCxnSpPr>
            <p:nvPr/>
          </p:nvCxnSpPr>
          <p:spPr>
            <a:xfrm flipV="1">
              <a:off x="3502" y="2446"/>
              <a:ext cx="590" cy="190"/>
            </a:xfrm>
            <a:prstGeom prst="straightConnector1">
              <a:avLst/>
            </a:prstGeom>
            <a:ln w="19050" cap="flat" cmpd="sng">
              <a:solidFill>
                <a:schemeClr val="tx1"/>
              </a:solidFill>
              <a:prstDash val="solid"/>
              <a:headEnd type="none" w="med" len="med"/>
              <a:tailEnd type="none" w="med" len="med"/>
            </a:ln>
          </p:spPr>
        </p:cxnSp>
        <p:cxnSp>
          <p:nvCxnSpPr>
            <p:cNvPr id="548890" name="直接箭头连接符 548889"/>
            <p:cNvCxnSpPr>
              <a:stCxn id="548876" idx="3"/>
              <a:endCxn id="548877" idx="2"/>
            </p:cNvCxnSpPr>
            <p:nvPr/>
          </p:nvCxnSpPr>
          <p:spPr>
            <a:xfrm>
              <a:off x="3502" y="2636"/>
              <a:ext cx="542" cy="479"/>
            </a:xfrm>
            <a:prstGeom prst="straightConnector1">
              <a:avLst/>
            </a:prstGeom>
            <a:ln w="19050" cap="flat" cmpd="sng">
              <a:solidFill>
                <a:schemeClr val="tx1"/>
              </a:solidFill>
              <a:prstDash val="solid"/>
              <a:headEnd type="none" w="med" len="med"/>
              <a:tailEnd type="none" w="med" len="med"/>
            </a:ln>
          </p:spPr>
        </p:cxnSp>
        <p:cxnSp>
          <p:nvCxnSpPr>
            <p:cNvPr id="548891" name="直接箭头连接符 548890"/>
            <p:cNvCxnSpPr>
              <a:stCxn id="548880" idx="6"/>
              <a:endCxn id="548876" idx="1"/>
            </p:cNvCxnSpPr>
            <p:nvPr/>
          </p:nvCxnSpPr>
          <p:spPr>
            <a:xfrm flipV="1">
              <a:off x="2040" y="2636"/>
              <a:ext cx="514" cy="491"/>
            </a:xfrm>
            <a:prstGeom prst="straightConnector1">
              <a:avLst/>
            </a:prstGeom>
            <a:ln w="19050" cap="flat" cmpd="sng">
              <a:solidFill>
                <a:schemeClr val="tx1"/>
              </a:solidFill>
              <a:prstDash val="solid"/>
              <a:headEnd type="none" w="med" len="med"/>
              <a:tailEnd type="none" w="med" len="med"/>
            </a:ln>
          </p:spPr>
        </p:cxnSp>
        <p:sp>
          <p:nvSpPr>
            <p:cNvPr id="548892" name="椭圆 548891"/>
            <p:cNvSpPr/>
            <p:nvPr/>
          </p:nvSpPr>
          <p:spPr>
            <a:xfrm>
              <a:off x="4098" y="1348"/>
              <a:ext cx="923" cy="360"/>
            </a:xfrm>
            <a:prstGeom prst="ellipse">
              <a:avLst/>
            </a:prstGeom>
            <a:solidFill>
              <a:srgbClr val="CCFFCC"/>
            </a:solidFill>
            <a:ln w="19050" cap="flat" cmpd="sng">
              <a:solidFill>
                <a:schemeClr val="tx1"/>
              </a:solidFill>
              <a:prstDash val="solid"/>
              <a:headEnd type="none" w="sm" len="lg"/>
              <a:tailEnd type="none" w="sm" len="lg"/>
            </a:ln>
          </p:spPr>
          <p:txBody>
            <a:bodyPr wrap="none" anchor="ctr"/>
            <a:lstStyle/>
            <a:p>
              <a:pPr algn="ctr"/>
              <a:r>
                <a:rPr lang="zh-CN" altLang="en-US" sz="2000" b="1" dirty="0">
                  <a:latin typeface="Arial" panose="020B0604020202020204" pitchFamily="34" charset="0"/>
                </a:rPr>
                <a:t>任职年月</a:t>
              </a:r>
            </a:p>
          </p:txBody>
        </p:sp>
        <p:cxnSp>
          <p:nvCxnSpPr>
            <p:cNvPr id="548893" name="直接箭头连接符 548892"/>
            <p:cNvCxnSpPr>
              <a:stCxn id="548875" idx="3"/>
              <a:endCxn id="548892" idx="3"/>
            </p:cNvCxnSpPr>
            <p:nvPr/>
          </p:nvCxnSpPr>
          <p:spPr>
            <a:xfrm flipV="1">
              <a:off x="3708" y="1661"/>
              <a:ext cx="525" cy="212"/>
            </a:xfrm>
            <a:prstGeom prst="straightConnector1">
              <a:avLst/>
            </a:prstGeom>
            <a:ln w="19050" cap="flat" cmpd="sng">
              <a:solidFill>
                <a:schemeClr val="tx1"/>
              </a:solidFill>
              <a:prstDash val="solid"/>
              <a:headEnd type="none" w="sm" len="lg"/>
              <a:tailEnd type="none" w="sm" len="lg"/>
            </a:ln>
          </p:spPr>
        </p:cxnSp>
        <p:sp>
          <p:nvSpPr>
            <p:cNvPr id="548894" name="文本框 548893"/>
            <p:cNvSpPr txBox="1"/>
            <p:nvPr/>
          </p:nvSpPr>
          <p:spPr>
            <a:xfrm>
              <a:off x="3198" y="1316"/>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sp>
          <p:nvSpPr>
            <p:cNvPr id="548895" name="文本框 548894"/>
            <p:cNvSpPr txBox="1"/>
            <p:nvPr/>
          </p:nvSpPr>
          <p:spPr>
            <a:xfrm>
              <a:off x="3198" y="2115"/>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grpSp>
      <p:sp>
        <p:nvSpPr>
          <p:cNvPr id="548897" name="矩形 548896"/>
          <p:cNvSpPr/>
          <p:nvPr/>
        </p:nvSpPr>
        <p:spPr>
          <a:xfrm>
            <a:off x="381000" y="5013325"/>
            <a:ext cx="8382000" cy="1655763"/>
          </a:xfrm>
          <a:prstGeom prst="rect">
            <a:avLst/>
          </a:prstGeom>
          <a:noFill/>
          <a:ln w="9525" cap="flat" cmpd="sng">
            <a:solidFill>
              <a:srgbClr val="9933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sz="2200" b="0" dirty="0">
                <a:latin typeface="黑体" panose="02010609060101010101" pitchFamily="2" charset="-122"/>
                <a:ea typeface="黑体" panose="02010609060101010101" pitchFamily="2" charset="-122"/>
              </a:rPr>
              <a:t>公司关系模式（</a:t>
            </a:r>
            <a:r>
              <a:rPr lang="zh-CN" altLang="en-US" sz="2200" b="0" u="sng" dirty="0">
                <a:latin typeface="黑体" panose="02010609060101010101" pitchFamily="2" charset="-122"/>
                <a:ea typeface="黑体" panose="02010609060101010101" pitchFamily="2" charset="-122"/>
              </a:rPr>
              <a:t>公司名</a:t>
            </a:r>
            <a:r>
              <a:rPr lang="zh-CN" altLang="en-US" sz="2200" b="0" dirty="0">
                <a:latin typeface="黑体" panose="02010609060101010101" pitchFamily="2" charset="-122"/>
                <a:ea typeface="黑体" panose="02010609060101010101" pitchFamily="2" charset="-122"/>
              </a:rPr>
              <a:t>，地址，电话，邮政编码）</a:t>
            </a:r>
          </a:p>
          <a:p>
            <a:pPr lvl="0">
              <a:spcBef>
                <a:spcPct val="70000"/>
              </a:spcBef>
            </a:pPr>
            <a:r>
              <a:rPr lang="zh-CN" altLang="en-US" sz="2200" b="0" dirty="0">
                <a:latin typeface="黑体" panose="02010609060101010101" pitchFamily="2" charset="-122"/>
                <a:ea typeface="黑体" panose="02010609060101010101" pitchFamily="2" charset="-122"/>
              </a:rPr>
              <a:t>公司总裁关系模式</a:t>
            </a:r>
            <a:r>
              <a:rPr lang="en-US" altLang="zh-CN" sz="2200" b="0">
                <a:latin typeface="黑体" panose="02010609060101010101" pitchFamily="2" charset="-122"/>
                <a:ea typeface="黑体" panose="02010609060101010101" pitchFamily="2" charset="-122"/>
              </a:rPr>
              <a:t>(</a:t>
            </a:r>
            <a:r>
              <a:rPr lang="zh-CN" altLang="en-US" sz="2200" b="0" u="sng" dirty="0">
                <a:latin typeface="黑体" panose="02010609060101010101" pitchFamily="2" charset="-122"/>
                <a:ea typeface="黑体" panose="02010609060101010101" pitchFamily="2" charset="-122"/>
              </a:rPr>
              <a:t>总裁姓名</a:t>
            </a:r>
            <a:r>
              <a:rPr lang="zh-CN" altLang="en-US" sz="2200" b="0" dirty="0">
                <a:latin typeface="黑体" panose="02010609060101010101" pitchFamily="2" charset="-122"/>
                <a:ea typeface="黑体" panose="02010609060101010101" pitchFamily="2" charset="-122"/>
              </a:rPr>
              <a:t>，性别，出生年月， </a:t>
            </a:r>
          </a:p>
          <a:p>
            <a:pPr lvl="0">
              <a:spcBef>
                <a:spcPct val="5000"/>
              </a:spcBef>
            </a:pPr>
            <a:r>
              <a:rPr lang="zh-CN" altLang="en-US" sz="2200" b="0" dirty="0">
                <a:latin typeface="黑体" panose="02010609060101010101" pitchFamily="2" charset="-122"/>
                <a:ea typeface="黑体" panose="02010609060101010101" pitchFamily="2" charset="-122"/>
              </a:rPr>
              <a:t>                          职称，公司名，任职年月</a:t>
            </a:r>
            <a:r>
              <a:rPr lang="en-US" altLang="zh-CN" sz="2200" b="0">
                <a:latin typeface="黑体" panose="02010609060101010101" pitchFamily="2" charset="-122"/>
                <a:ea typeface="黑体" panose="02010609060101010101" pitchFamily="2" charset="-122"/>
              </a:rPr>
              <a:t>)</a:t>
            </a:r>
          </a:p>
        </p:txBody>
      </p:sp>
      <p:sp>
        <p:nvSpPr>
          <p:cNvPr id="548898" name="矩形 548897"/>
          <p:cNvSpPr/>
          <p:nvPr/>
        </p:nvSpPr>
        <p:spPr>
          <a:xfrm>
            <a:off x="468313" y="4524375"/>
            <a:ext cx="742950" cy="427038"/>
          </a:xfrm>
          <a:prstGeom prst="rect">
            <a:avLst/>
          </a:prstGeom>
          <a:noFill/>
          <a:ln w="9525">
            <a:noFill/>
          </a:ln>
        </p:spPr>
        <p:txBody>
          <a:bodyPr wrap="none" anchor="b">
            <a:spAutoFit/>
          </a:bodyPr>
          <a:lstStyle/>
          <a:p>
            <a:r>
              <a:rPr lang="zh-CN" altLang="en-US" sz="2200" b="1" dirty="0">
                <a:solidFill>
                  <a:srgbClr val="660066"/>
                </a:solidFill>
                <a:effectLst>
                  <a:outerShdw blurRad="38100" dist="38100" dir="2700000">
                    <a:srgbClr val="C0C0C0"/>
                  </a:outerShdw>
                </a:effectLst>
                <a:latin typeface="Arial" panose="020B0604020202020204" pitchFamily="34" charset="0"/>
              </a:rPr>
              <a:t>或：</a:t>
            </a:r>
          </a:p>
        </p:txBody>
      </p:sp>
    </p:spTree>
  </p:cSld>
  <p:clrMapOvr>
    <a:masterClrMapping/>
  </p:clrMapOvr>
  <mc:AlternateContent xmlns:mc="http://schemas.openxmlformats.org/markup-compatibility/2006" xmlns:p14="http://schemas.microsoft.com/office/powerpoint/2010/main">
    <mc:Choice Requires="p14">
      <p:transition spd="slow" p14:dur="2000" advTm="13790"/>
    </mc:Choice>
    <mc:Fallback xmlns="">
      <p:transition spd="slow" advTm="1379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901" name="矩形 464900"/>
          <p:cNvSpPr/>
          <p:nvPr/>
        </p:nvSpPr>
        <p:spPr>
          <a:xfrm>
            <a:off x="381000" y="1268413"/>
            <a:ext cx="8382000" cy="2057400"/>
          </a:xfrm>
          <a:prstGeom prst="rect">
            <a:avLst/>
          </a:prstGeom>
          <a:noFill/>
          <a:ln w="9525" cap="flat" cmpd="sng">
            <a:solidFill>
              <a:srgbClr val="9933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sz="2200" b="0" dirty="0">
                <a:latin typeface="黑体" panose="02010609060101010101" pitchFamily="2" charset="-122"/>
                <a:ea typeface="黑体" panose="02010609060101010101" pitchFamily="2" charset="-122"/>
              </a:rPr>
              <a:t>公司关系模式（</a:t>
            </a:r>
            <a:r>
              <a:rPr lang="zh-CN" altLang="en-US" sz="2200" b="0" u="sng" dirty="0">
                <a:latin typeface="黑体" panose="02010609060101010101" pitchFamily="2" charset="-122"/>
                <a:ea typeface="黑体" panose="02010609060101010101" pitchFamily="2" charset="-122"/>
              </a:rPr>
              <a:t>公司名</a:t>
            </a:r>
            <a:r>
              <a:rPr lang="zh-CN" altLang="en-US" sz="2200" b="0" dirty="0">
                <a:latin typeface="黑体" panose="02010609060101010101" pitchFamily="2" charset="-122"/>
                <a:ea typeface="黑体" panose="02010609060101010101" pitchFamily="2" charset="-122"/>
              </a:rPr>
              <a:t>，地址，电话，邮政编码，</a:t>
            </a:r>
          </a:p>
          <a:p>
            <a:pPr lvl="0">
              <a:spcBef>
                <a:spcPct val="5000"/>
              </a:spcBef>
            </a:pPr>
            <a:r>
              <a:rPr lang="zh-CN" altLang="en-US" sz="2200" b="0" dirty="0">
                <a:latin typeface="黑体" panose="02010609060101010101" pitchFamily="2" charset="-122"/>
                <a:ea typeface="黑体" panose="02010609060101010101" pitchFamily="2" charset="-122"/>
              </a:rPr>
              <a:t>                             总裁姓名，任职年月）</a:t>
            </a:r>
          </a:p>
          <a:p>
            <a:pPr lvl="0">
              <a:spcBef>
                <a:spcPct val="70000"/>
              </a:spcBef>
            </a:pPr>
            <a:r>
              <a:rPr lang="zh-CN" altLang="en-US" sz="2200" b="0" dirty="0">
                <a:latin typeface="黑体" panose="02010609060101010101" pitchFamily="2" charset="-122"/>
                <a:ea typeface="黑体" panose="02010609060101010101" pitchFamily="2" charset="-122"/>
              </a:rPr>
              <a:t>公司总裁关系模式</a:t>
            </a:r>
            <a:r>
              <a:rPr lang="en-US" altLang="zh-CN" sz="2200" b="0">
                <a:latin typeface="黑体" panose="02010609060101010101" pitchFamily="2" charset="-122"/>
                <a:ea typeface="黑体" panose="02010609060101010101" pitchFamily="2" charset="-122"/>
              </a:rPr>
              <a:t>(</a:t>
            </a:r>
            <a:r>
              <a:rPr lang="zh-CN" altLang="en-US" sz="2200" b="0" u="sng" dirty="0">
                <a:latin typeface="黑体" panose="02010609060101010101" pitchFamily="2" charset="-122"/>
                <a:ea typeface="黑体" panose="02010609060101010101" pitchFamily="2" charset="-122"/>
              </a:rPr>
              <a:t>总裁姓名</a:t>
            </a:r>
            <a:r>
              <a:rPr lang="zh-CN" altLang="en-US" sz="2200" b="0" dirty="0">
                <a:latin typeface="黑体" panose="02010609060101010101" pitchFamily="2" charset="-122"/>
                <a:ea typeface="黑体" panose="02010609060101010101" pitchFamily="2" charset="-122"/>
              </a:rPr>
              <a:t>，性别，出生年月，职称</a:t>
            </a:r>
            <a:r>
              <a:rPr lang="en-US" altLang="zh-CN" sz="2200" b="0">
                <a:latin typeface="黑体" panose="02010609060101010101" pitchFamily="2" charset="-122"/>
                <a:ea typeface="黑体" panose="02010609060101010101" pitchFamily="2" charset="-122"/>
              </a:rPr>
              <a:t>)</a:t>
            </a:r>
          </a:p>
        </p:txBody>
      </p:sp>
      <p:sp>
        <p:nvSpPr>
          <p:cNvPr id="464902" name="矩形 464901"/>
          <p:cNvSpPr/>
          <p:nvPr/>
        </p:nvSpPr>
        <p:spPr>
          <a:xfrm>
            <a:off x="381000" y="3554413"/>
            <a:ext cx="8382000" cy="2514600"/>
          </a:xfrm>
          <a:prstGeom prst="rect">
            <a:avLst/>
          </a:prstGeom>
          <a:noFill/>
          <a:ln w="9525" cap="flat" cmpd="sng">
            <a:solidFill>
              <a:srgbClr val="9933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sz="2000" b="0" dirty="0">
                <a:solidFill>
                  <a:srgbClr val="660066"/>
                </a:solidFill>
                <a:latin typeface="黑体" panose="02010609060101010101" pitchFamily="2" charset="-122"/>
                <a:ea typeface="黑体" panose="02010609060101010101" pitchFamily="2" charset="-122"/>
              </a:rPr>
              <a:t>或：</a:t>
            </a:r>
          </a:p>
          <a:p>
            <a:pPr lvl="0"/>
            <a:r>
              <a:rPr lang="zh-CN" altLang="en-US" sz="2200" b="0" dirty="0">
                <a:latin typeface="黑体" panose="02010609060101010101" pitchFamily="2" charset="-122"/>
                <a:ea typeface="黑体" panose="02010609060101010101" pitchFamily="2" charset="-122"/>
              </a:rPr>
              <a:t>公司关系模式（</a:t>
            </a:r>
            <a:r>
              <a:rPr lang="zh-CN" altLang="en-US" sz="2200" b="0" u="sng" dirty="0">
                <a:latin typeface="黑体" panose="02010609060101010101" pitchFamily="2" charset="-122"/>
                <a:ea typeface="黑体" panose="02010609060101010101" pitchFamily="2" charset="-122"/>
              </a:rPr>
              <a:t>公司名</a:t>
            </a:r>
            <a:r>
              <a:rPr lang="zh-CN" altLang="en-US" sz="2200" b="0" dirty="0">
                <a:latin typeface="黑体" panose="02010609060101010101" pitchFamily="2" charset="-122"/>
                <a:ea typeface="黑体" panose="02010609060101010101" pitchFamily="2" charset="-122"/>
              </a:rPr>
              <a:t>，地址，电话，邮政编码）</a:t>
            </a:r>
          </a:p>
          <a:p>
            <a:pPr lvl="0">
              <a:spcBef>
                <a:spcPct val="70000"/>
              </a:spcBef>
            </a:pPr>
            <a:r>
              <a:rPr lang="zh-CN" altLang="en-US" sz="2200" b="0" dirty="0">
                <a:latin typeface="黑体" panose="02010609060101010101" pitchFamily="2" charset="-122"/>
                <a:ea typeface="黑体" panose="02010609060101010101" pitchFamily="2" charset="-122"/>
              </a:rPr>
              <a:t>公司总裁关系模式</a:t>
            </a:r>
            <a:r>
              <a:rPr lang="en-US" altLang="zh-CN" sz="2200" b="0">
                <a:latin typeface="黑体" panose="02010609060101010101" pitchFamily="2" charset="-122"/>
                <a:ea typeface="黑体" panose="02010609060101010101" pitchFamily="2" charset="-122"/>
              </a:rPr>
              <a:t>(</a:t>
            </a:r>
            <a:r>
              <a:rPr lang="zh-CN" altLang="en-US" sz="2200" b="0" u="sng" dirty="0">
                <a:latin typeface="黑体" panose="02010609060101010101" pitchFamily="2" charset="-122"/>
                <a:ea typeface="黑体" panose="02010609060101010101" pitchFamily="2" charset="-122"/>
              </a:rPr>
              <a:t>总裁姓名</a:t>
            </a:r>
            <a:r>
              <a:rPr lang="zh-CN" altLang="en-US" sz="2200" b="0" dirty="0">
                <a:latin typeface="黑体" panose="02010609060101010101" pitchFamily="2" charset="-122"/>
                <a:ea typeface="黑体" panose="02010609060101010101" pitchFamily="2" charset="-122"/>
              </a:rPr>
              <a:t>，性别，出生年月， </a:t>
            </a:r>
          </a:p>
          <a:p>
            <a:pPr lvl="0">
              <a:spcBef>
                <a:spcPct val="5000"/>
              </a:spcBef>
            </a:pPr>
            <a:r>
              <a:rPr lang="zh-CN" altLang="en-US" sz="2200" b="0" dirty="0">
                <a:latin typeface="黑体" panose="02010609060101010101" pitchFamily="2" charset="-122"/>
                <a:ea typeface="黑体" panose="02010609060101010101" pitchFamily="2" charset="-122"/>
              </a:rPr>
              <a:t>                          职称，公司名，任职年月</a:t>
            </a:r>
            <a:r>
              <a:rPr lang="en-US" altLang="zh-CN" sz="2200" b="0">
                <a:latin typeface="黑体" panose="02010609060101010101" pitchFamily="2" charset="-122"/>
                <a:ea typeface="黑体" panose="02010609060101010101" pitchFamily="2" charset="-122"/>
              </a:rPr>
              <a:t>)</a:t>
            </a:r>
          </a:p>
        </p:txBody>
      </p:sp>
      <p:sp>
        <p:nvSpPr>
          <p:cNvPr id="464903" name="文本框 464902"/>
          <p:cNvSpPr txBox="1"/>
          <p:nvPr/>
        </p:nvSpPr>
        <p:spPr>
          <a:xfrm>
            <a:off x="8426450" y="6284913"/>
            <a:ext cx="609600" cy="457200"/>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a:t>
            </a:r>
          </a:p>
        </p:txBody>
      </p:sp>
      <p:sp>
        <p:nvSpPr>
          <p:cNvPr id="464905" name="矩形 464904"/>
          <p:cNvSpPr/>
          <p:nvPr/>
        </p:nvSpPr>
        <p:spPr>
          <a:xfrm>
            <a:off x="827088" y="115888"/>
            <a:ext cx="8259762" cy="719137"/>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100" dirty="0"/>
              <a:t>二、</a:t>
            </a:r>
            <a:r>
              <a:rPr lang="en-US" altLang="zh-CN" sz="3100"/>
              <a:t>E</a:t>
            </a:r>
            <a:r>
              <a:rPr lang="en-US" altLang="zh-CN" sz="3100">
                <a:latin typeface="Arial" panose="020B0604020202020204" pitchFamily="34" charset="0"/>
              </a:rPr>
              <a:t>—</a:t>
            </a:r>
            <a:r>
              <a:rPr lang="en-US" altLang="zh-CN" sz="3100"/>
              <a:t>R</a:t>
            </a:r>
            <a:r>
              <a:rPr lang="zh-CN" altLang="en-US" sz="3100" dirty="0"/>
              <a:t>图表示的概念结构向关系模型的转换</a:t>
            </a:r>
          </a:p>
        </p:txBody>
      </p:sp>
    </p:spTree>
  </p:cSld>
  <p:clrMapOvr>
    <a:masterClrMapping/>
  </p:clrMapOvr>
  <mc:AlternateContent xmlns:mc="http://schemas.openxmlformats.org/markup-compatibility/2006" xmlns:p14="http://schemas.microsoft.com/office/powerpoint/2010/main">
    <mc:Choice Requires="p14">
      <p:transition spd="slow" p14:dur="2000" advTm="19751"/>
    </mc:Choice>
    <mc:Fallback xmlns="">
      <p:transition spd="slow" advTm="1975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2" name="矩形 549891"/>
          <p:cNvSpPr/>
          <p:nvPr/>
        </p:nvSpPr>
        <p:spPr>
          <a:xfrm>
            <a:off x="468313" y="1185863"/>
            <a:ext cx="8207375" cy="26035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sz="3000" dirty="0">
                <a:solidFill>
                  <a:srgbClr val="660033"/>
                </a:solidFill>
                <a:ea typeface="华文新魏" panose="02010800040101010101" pitchFamily="2" charset="-122"/>
              </a:rPr>
              <a:t>   设计方法：</a:t>
            </a:r>
          </a:p>
          <a:p>
            <a:pPr lvl="0">
              <a:lnSpc>
                <a:spcPct val="130000"/>
              </a:lnSpc>
            </a:pPr>
            <a:r>
              <a:rPr lang="zh-CN" altLang="en-US" dirty="0"/>
              <a:t>           （</a:t>
            </a:r>
            <a:r>
              <a:rPr lang="en-US" altLang="zh-CN"/>
              <a:t>1</a:t>
            </a:r>
            <a:r>
              <a:rPr lang="zh-CN" altLang="en-US" dirty="0"/>
              <a:t>）参照每个关系模式的语义及其内涵，分别写出每个关系模式中各个属性之间的数据依赖，进而确定每个关系模式的函数依赖集。</a:t>
            </a:r>
          </a:p>
          <a:p>
            <a:pPr lvl="0">
              <a:lnSpc>
                <a:spcPct val="130000"/>
              </a:lnSpc>
            </a:pPr>
            <a:r>
              <a:rPr lang="zh-CN" altLang="en-US" dirty="0"/>
              <a:t>    </a:t>
            </a:r>
            <a:r>
              <a:rPr lang="zh-CN" altLang="en-US" dirty="0">
                <a:solidFill>
                  <a:srgbClr val="660066"/>
                </a:solidFill>
              </a:rPr>
              <a:t>比如：</a:t>
            </a:r>
          </a:p>
          <a:p>
            <a:pPr lvl="0">
              <a:lnSpc>
                <a:spcPct val="130000"/>
              </a:lnSpc>
            </a:pPr>
            <a:r>
              <a:rPr lang="zh-CN" altLang="en-US" dirty="0"/>
              <a:t>             </a:t>
            </a:r>
          </a:p>
          <a:p>
            <a:pPr lvl="0">
              <a:lnSpc>
                <a:spcPct val="130000"/>
              </a:lnSpc>
            </a:pPr>
            <a:r>
              <a:rPr lang="zh-CN" altLang="en-US" dirty="0"/>
              <a:t>          </a:t>
            </a:r>
          </a:p>
        </p:txBody>
      </p:sp>
      <p:sp>
        <p:nvSpPr>
          <p:cNvPr id="549893" name="矩形 549892"/>
          <p:cNvSpPr/>
          <p:nvPr/>
        </p:nvSpPr>
        <p:spPr>
          <a:xfrm>
            <a:off x="971550" y="188913"/>
            <a:ext cx="8115300" cy="6477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400" dirty="0"/>
              <a:t>三、关系数据库模式的规范化设计及优化</a:t>
            </a:r>
          </a:p>
        </p:txBody>
      </p:sp>
      <p:sp>
        <p:nvSpPr>
          <p:cNvPr id="549894" name="文本框 549893"/>
          <p:cNvSpPr txBox="1"/>
          <p:nvPr/>
        </p:nvSpPr>
        <p:spPr>
          <a:xfrm>
            <a:off x="223838" y="4141788"/>
            <a:ext cx="8763000" cy="2233612"/>
          </a:xfrm>
          <a:prstGeom prst="rect">
            <a:avLst/>
          </a:prstGeom>
          <a:noFill/>
          <a:ln w="19050" cap="flat" cmpd="sng">
            <a:solidFill>
              <a:srgbClr val="993300"/>
            </a:solidFill>
            <a:prstDash val="solid"/>
            <a:miter/>
            <a:headEnd type="none" w="sm" len="lg"/>
            <a:tailEnd type="none" w="sm" len="lg"/>
          </a:ln>
        </p:spPr>
        <p:txBody>
          <a:bodyPr>
            <a:spAutoFit/>
          </a:bodyPr>
          <a:lstStyle/>
          <a:p>
            <a:pPr>
              <a:lnSpc>
                <a:spcPct val="125000"/>
              </a:lnSpc>
              <a:spcBef>
                <a:spcPct val="20000"/>
              </a:spcBef>
            </a:pPr>
            <a:r>
              <a:rPr lang="zh-CN" altLang="en-US" sz="2400" b="1" dirty="0">
                <a:latin typeface="Arial" panose="020B0604020202020204" pitchFamily="34" charset="0"/>
              </a:rPr>
              <a:t>  </a:t>
            </a:r>
            <a:r>
              <a:rPr lang="zh-CN" altLang="en-US" sz="2400" b="1" dirty="0">
                <a:solidFill>
                  <a:srgbClr val="006666"/>
                </a:solidFill>
                <a:effectLst>
                  <a:outerShdw blurRad="38100" dist="38100" dir="2700000">
                    <a:srgbClr val="C0C0C0"/>
                  </a:outerShdw>
                </a:effectLst>
                <a:latin typeface="黑体" panose="02010609060101010101" pitchFamily="2" charset="-122"/>
                <a:ea typeface="黑体" panose="02010609060101010101" pitchFamily="2" charset="-122"/>
              </a:rPr>
              <a:t>学生关系模式</a:t>
            </a:r>
            <a:r>
              <a:rPr lang="en-US" altLang="zh-CN" sz="2400" b="1">
                <a:solidFill>
                  <a:srgbClr val="006666"/>
                </a:solidFill>
                <a:effectLst>
                  <a:outerShdw blurRad="38100" dist="38100" dir="2700000">
                    <a:srgbClr val="C0C0C0"/>
                  </a:outerShdw>
                </a:effectLst>
                <a:latin typeface="黑体" panose="02010609060101010101" pitchFamily="2" charset="-122"/>
                <a:ea typeface="黑体" panose="02010609060101010101" pitchFamily="2" charset="-122"/>
              </a:rPr>
              <a:t>: </a:t>
            </a:r>
            <a:r>
              <a:rPr lang="en-US" altLang="zh-CN" sz="2200" b="1">
                <a:latin typeface="Arial" panose="020B0604020202020204" pitchFamily="34" charset="0"/>
              </a:rPr>
              <a:t>S</a:t>
            </a:r>
            <a:r>
              <a:rPr lang="zh-CN" altLang="en-US" sz="2200" b="1" dirty="0">
                <a:latin typeface="Arial" panose="020B0604020202020204" pitchFamily="34" charset="0"/>
              </a:rPr>
              <a:t>（</a:t>
            </a:r>
            <a:r>
              <a:rPr lang="en-US" altLang="zh-CN" sz="2200" b="1">
                <a:latin typeface="Arial" panose="020B0604020202020204" pitchFamily="34" charset="0"/>
              </a:rPr>
              <a:t>S#, SNAME, SSEX, SBIRTHIN,</a:t>
            </a:r>
          </a:p>
          <a:p>
            <a:pPr>
              <a:lnSpc>
                <a:spcPct val="125000"/>
              </a:lnSpc>
              <a:spcBef>
                <a:spcPct val="20000"/>
              </a:spcBef>
            </a:pPr>
            <a:r>
              <a:rPr lang="en-US" altLang="zh-CN" sz="2200" b="1">
                <a:latin typeface="Arial" panose="020B0604020202020204" pitchFamily="34" charset="0"/>
              </a:rPr>
              <a:t>                                                       PLACEOFB, SCODE#, CLASS</a:t>
            </a:r>
            <a:r>
              <a:rPr lang="zh-CN" altLang="en-US" sz="2200" b="1" dirty="0">
                <a:latin typeface="Arial" panose="020B0604020202020204" pitchFamily="34" charset="0"/>
              </a:rPr>
              <a:t>）</a:t>
            </a:r>
          </a:p>
          <a:p>
            <a:pPr>
              <a:lnSpc>
                <a:spcPct val="145000"/>
              </a:lnSpc>
              <a:spcBef>
                <a:spcPct val="60000"/>
              </a:spcBef>
            </a:pPr>
            <a:r>
              <a:rPr lang="en-US" altLang="zh-CN" sz="1900" b="1">
                <a:latin typeface="Arial" panose="020B0604020202020204" pitchFamily="34" charset="0"/>
              </a:rPr>
              <a:t>F = { </a:t>
            </a:r>
            <a:r>
              <a:rPr lang="en-US" altLang="zh-CN" sz="2100" b="1">
                <a:latin typeface="Arial" panose="020B0604020202020204" pitchFamily="34" charset="0"/>
              </a:rPr>
              <a:t>S# </a:t>
            </a:r>
            <a:r>
              <a:rPr lang="en-US" altLang="zh-CN" sz="2100" b="1">
                <a:latin typeface="Arial" panose="020B0604020202020204" pitchFamily="34" charset="0"/>
                <a:cs typeface="Arial" panose="020B0604020202020204" pitchFamily="34" charset="0"/>
              </a:rPr>
              <a:t>→</a:t>
            </a:r>
            <a:r>
              <a:rPr lang="en-US" altLang="zh-CN" sz="1900" b="1">
                <a:latin typeface="Arial" panose="020B0604020202020204" pitchFamily="34" charset="0"/>
                <a:cs typeface="Arial" panose="020B0604020202020204" pitchFamily="34" charset="0"/>
              </a:rPr>
              <a:t> </a:t>
            </a:r>
          </a:p>
          <a:p>
            <a:r>
              <a:rPr lang="en-US" altLang="zh-CN" sz="1900" b="1">
                <a:latin typeface="Arial" panose="020B0604020202020204" pitchFamily="34" charset="0"/>
                <a:cs typeface="Arial" panose="020B0604020202020204" pitchFamily="34" charset="0"/>
              </a:rPr>
              <a:t>                 </a:t>
            </a:r>
            <a:r>
              <a:rPr lang="en-US" altLang="zh-CN" sz="2100" b="1">
                <a:latin typeface="Arial" panose="020B0604020202020204" pitchFamily="34" charset="0"/>
                <a:cs typeface="Arial" panose="020B0604020202020204" pitchFamily="34" charset="0"/>
              </a:rPr>
              <a:t>{</a:t>
            </a:r>
            <a:r>
              <a:rPr lang="en-US" altLang="zh-CN" sz="2100" b="1">
                <a:latin typeface="Arial" panose="020B0604020202020204" pitchFamily="34" charset="0"/>
              </a:rPr>
              <a:t>SNAME, SSEX, SBIRTHIN, PLACEOFB, SCODE#, CLASS}}</a:t>
            </a:r>
          </a:p>
          <a:p>
            <a:pPr>
              <a:lnSpc>
                <a:spcPct val="55000"/>
              </a:lnSpc>
            </a:pPr>
            <a:r>
              <a:rPr lang="zh-CN" altLang="en-US" sz="2400" b="1" dirty="0">
                <a:latin typeface="Arial" panose="020B0604020202020204" pitchFamily="34" charset="0"/>
              </a:rPr>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4650"/>
    </mc:Choice>
    <mc:Fallback xmlns="">
      <p:transition spd="slow" advTm="446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49892">
                                            <p:txEl>
                                              <p:pRg st="0" end="0"/>
                                            </p:txEl>
                                          </p:spTgt>
                                        </p:tgtEl>
                                        <p:attrNameLst>
                                          <p:attrName>style.visibility</p:attrName>
                                        </p:attrNameLst>
                                      </p:cBhvr>
                                      <p:to>
                                        <p:strVal val="visible"/>
                                      </p:to>
                                    </p:set>
                                    <p:animEffect transition="in" filter="wipe(up)">
                                      <p:cBhvr>
                                        <p:cTn id="7" dur="500"/>
                                        <p:tgtEl>
                                          <p:spTgt spid="549892">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49892">
                                            <p:txEl>
                                              <p:pRg st="1" end="1"/>
                                            </p:txEl>
                                          </p:spTgt>
                                        </p:tgtEl>
                                        <p:attrNameLst>
                                          <p:attrName>style.visibility</p:attrName>
                                        </p:attrNameLst>
                                      </p:cBhvr>
                                      <p:to>
                                        <p:strVal val="visible"/>
                                      </p:to>
                                    </p:set>
                                    <p:animEffect transition="in" filter="wipe(up)">
                                      <p:cBhvr>
                                        <p:cTn id="11" dur="1000"/>
                                        <p:tgtEl>
                                          <p:spTgt spid="54989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49892">
                                            <p:txEl>
                                              <p:pRg st="2" end="2"/>
                                            </p:txEl>
                                          </p:spTgt>
                                        </p:tgtEl>
                                        <p:attrNameLst>
                                          <p:attrName>style.visibility</p:attrName>
                                        </p:attrNameLst>
                                      </p:cBhvr>
                                      <p:to>
                                        <p:strVal val="visible"/>
                                      </p:to>
                                    </p:set>
                                    <p:animEffect transition="in" filter="wipe(up)">
                                      <p:cBhvr>
                                        <p:cTn id="16" dur="1000"/>
                                        <p:tgtEl>
                                          <p:spTgt spid="549892">
                                            <p:txEl>
                                              <p:pRg st="2" end="2"/>
                                            </p:txEl>
                                          </p:spTgt>
                                        </p:tgtEl>
                                      </p:cBhvr>
                                    </p:animEffect>
                                  </p:childTnLst>
                                </p:cTn>
                              </p:par>
                            </p:childTnLst>
                          </p:cTn>
                        </p:par>
                        <p:par>
                          <p:cTn id="17" fill="hold">
                            <p:stCondLst>
                              <p:cond delay="1000"/>
                            </p:stCondLst>
                            <p:childTnLst>
                              <p:par>
                                <p:cTn id="18" presetID="21" presetClass="entr" presetSubtype="4" fill="hold" grpId="0" nodeType="afterEffect">
                                  <p:stCondLst>
                                    <p:cond delay="0"/>
                                  </p:stCondLst>
                                  <p:childTnLst>
                                    <p:set>
                                      <p:cBhvr>
                                        <p:cTn id="19" dur="1" fill="hold">
                                          <p:stCondLst>
                                            <p:cond delay="0"/>
                                          </p:stCondLst>
                                        </p:cTn>
                                        <p:tgtEl>
                                          <p:spTgt spid="549894"/>
                                        </p:tgtEl>
                                        <p:attrNameLst>
                                          <p:attrName>style.visibility</p:attrName>
                                        </p:attrNameLst>
                                      </p:cBhvr>
                                      <p:to>
                                        <p:strVal val="visible"/>
                                      </p:to>
                                    </p:set>
                                    <p:animEffect transition="in" filter="wheel(4)">
                                      <p:cBhvr>
                                        <p:cTn id="20" dur="1000"/>
                                        <p:tgtEl>
                                          <p:spTgt spid="549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6" name="矩形 602115"/>
          <p:cNvSpPr/>
          <p:nvPr/>
        </p:nvSpPr>
        <p:spPr>
          <a:xfrm>
            <a:off x="468313" y="1185863"/>
            <a:ext cx="8207375"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sz="3000" dirty="0">
                <a:solidFill>
                  <a:srgbClr val="660033"/>
                </a:solidFill>
                <a:ea typeface="华文新魏" panose="02010800040101010101" pitchFamily="2" charset="-122"/>
              </a:rPr>
              <a:t>   设计方法：</a:t>
            </a:r>
          </a:p>
          <a:p>
            <a:pPr lvl="0">
              <a:lnSpc>
                <a:spcPct val="130000"/>
              </a:lnSpc>
            </a:pPr>
            <a:r>
              <a:rPr lang="zh-CN" altLang="en-US" dirty="0"/>
              <a:t>          （</a:t>
            </a:r>
            <a:r>
              <a:rPr lang="en-US" altLang="zh-CN"/>
              <a:t>2</a:t>
            </a:r>
            <a:r>
              <a:rPr lang="zh-CN" altLang="en-US" dirty="0"/>
              <a:t>）</a:t>
            </a:r>
            <a:r>
              <a:rPr lang="en-US" altLang="zh-CN" sz="1000"/>
              <a:t> </a:t>
            </a:r>
            <a:r>
              <a:rPr lang="zh-CN" altLang="en-US" dirty="0"/>
              <a:t>按照函数依赖理论中的最小依赖集的求法</a:t>
            </a:r>
            <a:r>
              <a:rPr lang="zh-CN" altLang="en-US" sz="2000" dirty="0"/>
              <a:t>，</a:t>
            </a:r>
            <a:r>
              <a:rPr lang="zh-CN" altLang="en-US" dirty="0"/>
              <a:t>求每个关系模式函数依赖集的最小依赖集。</a:t>
            </a:r>
          </a:p>
          <a:p>
            <a:pPr lvl="0">
              <a:lnSpc>
                <a:spcPct val="130000"/>
              </a:lnSpc>
            </a:pPr>
            <a:r>
              <a:rPr lang="zh-CN" altLang="en-US" dirty="0"/>
              <a:t>          （</a:t>
            </a:r>
            <a:r>
              <a:rPr lang="en-US" altLang="zh-CN"/>
              <a:t>3</a:t>
            </a:r>
            <a:r>
              <a:rPr lang="zh-CN" altLang="en-US" dirty="0"/>
              <a:t>）将求得的每个关系模式的函数依赖集中的决定因素相同的函数依赖进行合并。</a:t>
            </a:r>
          </a:p>
        </p:txBody>
      </p:sp>
      <p:sp>
        <p:nvSpPr>
          <p:cNvPr id="602118" name="矩形 602117"/>
          <p:cNvSpPr/>
          <p:nvPr/>
        </p:nvSpPr>
        <p:spPr>
          <a:xfrm>
            <a:off x="971550" y="188913"/>
            <a:ext cx="8115300" cy="6477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400" dirty="0"/>
              <a:t>三、关系数据库模式的规范化设计及优化</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3749"/>
    </mc:Choice>
    <mc:Fallback xmlns="">
      <p:transition spd="slow" advTm="237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02116">
                                            <p:txEl>
                                              <p:pRg st="1" end="1"/>
                                            </p:txEl>
                                          </p:spTgt>
                                        </p:tgtEl>
                                        <p:attrNameLst>
                                          <p:attrName>style.visibility</p:attrName>
                                        </p:attrNameLst>
                                      </p:cBhvr>
                                      <p:to>
                                        <p:strVal val="visible"/>
                                      </p:to>
                                    </p:set>
                                    <p:animEffect transition="in" filter="wipe(up)">
                                      <p:cBhvr>
                                        <p:cTn id="7" dur="1000"/>
                                        <p:tgtEl>
                                          <p:spTgt spid="6021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02116">
                                            <p:txEl>
                                              <p:pRg st="2" end="2"/>
                                            </p:txEl>
                                          </p:spTgt>
                                        </p:tgtEl>
                                        <p:attrNameLst>
                                          <p:attrName>style.visibility</p:attrName>
                                        </p:attrNameLst>
                                      </p:cBhvr>
                                      <p:to>
                                        <p:strVal val="visible"/>
                                      </p:to>
                                    </p:set>
                                    <p:animEffect transition="in" filter="wipe(up)">
                                      <p:cBhvr>
                                        <p:cTn id="12" dur="1000"/>
                                        <p:tgtEl>
                                          <p:spTgt spid="6021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6" name="矩形 561155"/>
          <p:cNvSpPr/>
          <p:nvPr/>
        </p:nvSpPr>
        <p:spPr>
          <a:xfrm>
            <a:off x="468313" y="1185863"/>
            <a:ext cx="8207375"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en-US" altLang="zh-CN"/>
              <a:t>4</a:t>
            </a:r>
            <a:r>
              <a:rPr lang="zh-CN" altLang="en-US" dirty="0"/>
              <a:t>）按照关系模式分解理论和函数依赖理论，对每个关系模式及与之相关的函数依赖进行分解，使得分解后的关系模式至少满足第三范式。            </a:t>
            </a:r>
          </a:p>
          <a:p>
            <a:pPr lvl="0">
              <a:lnSpc>
                <a:spcPct val="130000"/>
              </a:lnSpc>
              <a:spcBef>
                <a:spcPct val="0"/>
              </a:spcBef>
            </a:pPr>
            <a:r>
              <a:rPr lang="zh-CN" altLang="en-US" dirty="0"/>
              <a:t>         （</a:t>
            </a:r>
            <a:r>
              <a:rPr lang="en-US" altLang="zh-CN"/>
              <a:t>5</a:t>
            </a:r>
            <a:r>
              <a:rPr lang="zh-CN" altLang="en-US" dirty="0"/>
              <a:t>）通过以上的模式分解过程后，可能出现某些完全相同的关系模式，这一步就是要将完全相同的几个关系模式“合并”成一个单独的关系模式，也既消除掉多余的关系模式。           </a:t>
            </a:r>
          </a:p>
        </p:txBody>
      </p:sp>
      <p:sp>
        <p:nvSpPr>
          <p:cNvPr id="561158" name="矩形 561157"/>
          <p:cNvSpPr/>
          <p:nvPr/>
        </p:nvSpPr>
        <p:spPr>
          <a:xfrm>
            <a:off x="971550" y="188913"/>
            <a:ext cx="8115300" cy="6477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400" dirty="0"/>
              <a:t>三、关系数据库模式的规范化设计及优化</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1171"/>
    </mc:Choice>
    <mc:Fallback xmlns="">
      <p:transition spd="slow" advTm="411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61156">
                                            <p:txEl>
                                              <p:pRg st="0" end="0"/>
                                            </p:txEl>
                                          </p:spTgt>
                                        </p:tgtEl>
                                        <p:attrNameLst>
                                          <p:attrName>style.visibility</p:attrName>
                                        </p:attrNameLst>
                                      </p:cBhvr>
                                      <p:to>
                                        <p:strVal val="visible"/>
                                      </p:to>
                                    </p:set>
                                    <p:animEffect transition="in" filter="wipe(up)">
                                      <p:cBhvr>
                                        <p:cTn id="7" dur="1000"/>
                                        <p:tgtEl>
                                          <p:spTgt spid="561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61156">
                                            <p:txEl>
                                              <p:pRg st="1" end="1"/>
                                            </p:txEl>
                                          </p:spTgt>
                                        </p:tgtEl>
                                        <p:attrNameLst>
                                          <p:attrName>style.visibility</p:attrName>
                                        </p:attrNameLst>
                                      </p:cBhvr>
                                      <p:to>
                                        <p:strVal val="visible"/>
                                      </p:to>
                                    </p:set>
                                    <p:animEffect transition="in" filter="wipe(up)">
                                      <p:cBhvr>
                                        <p:cTn id="12" dur="1000"/>
                                        <p:tgtEl>
                                          <p:spTgt spid="56115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3" name="矩形 473092"/>
          <p:cNvSpPr/>
          <p:nvPr/>
        </p:nvSpPr>
        <p:spPr>
          <a:xfrm>
            <a:off x="468313" y="1196975"/>
            <a:ext cx="8280400"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t>          </a:t>
            </a:r>
            <a:r>
              <a:rPr lang="zh-CN" altLang="en-US" dirty="0">
                <a:solidFill>
                  <a:srgbClr val="006699"/>
                </a:solidFill>
              </a:rPr>
              <a:t>当关系模式的规范化程度较高时，关系模式分解的就比较“碎”，在实际应用中就会因出现过多的联接运算而使查询效率较低。</a:t>
            </a:r>
          </a:p>
          <a:p>
            <a:pPr lvl="0">
              <a:lnSpc>
                <a:spcPct val="130000"/>
              </a:lnSpc>
            </a:pPr>
            <a:r>
              <a:rPr lang="zh-CN" altLang="en-US" dirty="0"/>
              <a:t>          </a:t>
            </a:r>
            <a:r>
              <a:rPr lang="zh-CN" altLang="en-US" dirty="0">
                <a:solidFill>
                  <a:srgbClr val="660066"/>
                </a:solidFill>
                <a:effectLst/>
                <a:ea typeface="黑体" panose="02010609060101010101" pitchFamily="2" charset="-122"/>
              </a:rPr>
              <a:t>关系数据模型优化</a:t>
            </a:r>
            <a:r>
              <a:rPr lang="zh-CN" altLang="en-US" dirty="0"/>
              <a:t>就是依据应用需求对信息处理的要求，综合衡量得到的关系模式是否符合最常用的查询要求，从查询效率角度出发对某些关系模式进行合并，以便减少联接运算次数，提高查询效率。</a:t>
            </a:r>
          </a:p>
          <a:p>
            <a:pPr lvl="0">
              <a:lnSpc>
                <a:spcPct val="130000"/>
              </a:lnSpc>
            </a:pPr>
            <a:r>
              <a:rPr lang="zh-CN" altLang="en-US" dirty="0"/>
              <a:t>                           </a:t>
            </a:r>
            <a:r>
              <a:rPr lang="en-US" altLang="zh-CN">
                <a:solidFill>
                  <a:srgbClr val="969696"/>
                </a:solidFill>
              </a:rPr>
              <a:t>#</a:t>
            </a:r>
          </a:p>
        </p:txBody>
      </p:sp>
      <p:sp>
        <p:nvSpPr>
          <p:cNvPr id="473094" name="矩形 473093"/>
          <p:cNvSpPr/>
          <p:nvPr/>
        </p:nvSpPr>
        <p:spPr>
          <a:xfrm>
            <a:off x="971550" y="188913"/>
            <a:ext cx="8115300" cy="647700"/>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400" dirty="0"/>
              <a:t>三、关系数据库模式的规范化设计及优化</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1360"/>
    </mc:Choice>
    <mc:Fallback xmlns="">
      <p:transition spd="slow" advTm="413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73093">
                                            <p:txEl>
                                              <p:pRg st="1" end="1"/>
                                            </p:txEl>
                                          </p:spTgt>
                                        </p:tgtEl>
                                        <p:attrNameLst>
                                          <p:attrName>style.visibility</p:attrName>
                                        </p:attrNameLst>
                                      </p:cBhvr>
                                      <p:to>
                                        <p:strVal val="visible"/>
                                      </p:to>
                                    </p:set>
                                    <p:animEffect transition="in" filter="wipe(up)">
                                      <p:cBhvr>
                                        <p:cTn id="7" dur="1000"/>
                                        <p:tgtEl>
                                          <p:spTgt spid="473093">
                                            <p:txEl>
                                              <p:pRg st="1" end="1"/>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73093">
                                            <p:txEl>
                                              <p:pRg st="2" end="2"/>
                                            </p:txEl>
                                          </p:spTgt>
                                        </p:tgtEl>
                                        <p:attrNameLst>
                                          <p:attrName>style.visibility</p:attrName>
                                        </p:attrNameLst>
                                      </p:cBhvr>
                                      <p:to>
                                        <p:strVal val="visible"/>
                                      </p:to>
                                    </p:set>
                                    <p:animEffect transition="in" filter="wipe(up)">
                                      <p:cBhvr>
                                        <p:cTn id="11" dur="1000"/>
                                        <p:tgtEl>
                                          <p:spTgt spid="47309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4" name="矩形 680963"/>
          <p:cNvSpPr/>
          <p:nvPr/>
        </p:nvSpPr>
        <p:spPr>
          <a:xfrm>
            <a:off x="755650" y="285750"/>
            <a:ext cx="7793038"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lgn="ctr"/>
            <a:r>
              <a:rPr lang="zh-CN" altLang="en-US" sz="4000" dirty="0">
                <a:latin typeface="华文隶书" panose="02010800040101010101" pitchFamily="2" charset="-122"/>
                <a:ea typeface="华文隶书" panose="02010800040101010101" pitchFamily="2" charset="-122"/>
              </a:rPr>
              <a:t>本次课复习要点</a:t>
            </a:r>
          </a:p>
        </p:txBody>
      </p:sp>
      <p:sp>
        <p:nvSpPr>
          <p:cNvPr id="680965" name="矩形 680964"/>
          <p:cNvSpPr/>
          <p:nvPr/>
        </p:nvSpPr>
        <p:spPr>
          <a:xfrm>
            <a:off x="466725" y="125888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endParaRPr lang="zh-CN" altLang="en-US" sz="1000" dirty="0">
              <a:solidFill>
                <a:srgbClr val="990033"/>
              </a:solidFill>
              <a:effectLst/>
              <a:ea typeface="黑体" panose="02010609060101010101" pitchFamily="2" charset="-122"/>
            </a:endParaRPr>
          </a:p>
          <a:p>
            <a:pPr lvl="0">
              <a:lnSpc>
                <a:spcPct val="135000"/>
              </a:lnSpc>
              <a:spcBef>
                <a:spcPct val="0"/>
              </a:spcBef>
            </a:pPr>
            <a:r>
              <a:rPr lang="zh-CN" altLang="en-US" dirty="0"/>
              <a:t>       </a:t>
            </a:r>
            <a:r>
              <a:rPr lang="en-US" altLang="zh-CN" sz="3200">
                <a:solidFill>
                  <a:srgbClr val="003366"/>
                </a:solidFill>
                <a:effectLst/>
                <a:latin typeface="华文新魏" panose="02010800040101010101" pitchFamily="2" charset="-122"/>
                <a:ea typeface="华文新魏" panose="02010800040101010101" pitchFamily="2" charset="-122"/>
              </a:rPr>
              <a:t>   </a:t>
            </a:r>
            <a:r>
              <a:rPr lang="zh-CN" altLang="en-US" sz="3000" dirty="0">
                <a:solidFill>
                  <a:srgbClr val="660033"/>
                </a:solidFill>
                <a:ea typeface="华文新魏" panose="02010800040101010101" pitchFamily="2" charset="-122"/>
              </a:rPr>
              <a:t>多对多联系向关系模型的转换</a:t>
            </a:r>
            <a:endParaRPr lang="zh-CN" altLang="en-US" sz="3200" dirty="0">
              <a:solidFill>
                <a:srgbClr val="006666"/>
              </a:solidFill>
              <a:effectLst/>
              <a:latin typeface="华文新魏" panose="02010800040101010101" pitchFamily="2" charset="-122"/>
              <a:ea typeface="华文新魏" panose="02010800040101010101" pitchFamily="2" charset="-122"/>
            </a:endParaRPr>
          </a:p>
          <a:p>
            <a:pPr lvl="0">
              <a:lnSpc>
                <a:spcPct val="135000"/>
              </a:lnSpc>
              <a:spcBef>
                <a:spcPct val="0"/>
              </a:spcBef>
            </a:pPr>
            <a:r>
              <a:rPr lang="zh-CN" altLang="en-US" sz="3000" dirty="0">
                <a:solidFill>
                  <a:srgbClr val="660033"/>
                </a:solidFill>
                <a:ea typeface="华文新魏" panose="02010800040101010101" pitchFamily="2" charset="-122"/>
              </a:rPr>
              <a:t>         一对多联系向关系模型的转换</a:t>
            </a:r>
          </a:p>
          <a:p>
            <a:pPr lvl="0">
              <a:lnSpc>
                <a:spcPct val="135000"/>
              </a:lnSpc>
              <a:spcBef>
                <a:spcPct val="0"/>
              </a:spcBef>
            </a:pPr>
            <a:r>
              <a:rPr lang="zh-CN" altLang="en-US" sz="3000" dirty="0">
                <a:solidFill>
                  <a:srgbClr val="660033"/>
                </a:solidFill>
                <a:ea typeface="华文新魏" panose="02010800040101010101" pitchFamily="2" charset="-122"/>
              </a:rPr>
              <a:t>         一对一联系向关系模型的转换</a:t>
            </a:r>
            <a:endParaRPr lang="en-US" altLang="zh-CN" sz="3000">
              <a:solidFill>
                <a:srgbClr val="660033"/>
              </a:solidFill>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0612"/>
    </mc:Choice>
    <mc:Fallback xmlns="">
      <p:transition spd="slow" advTm="106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0965">
                                            <p:txEl>
                                              <p:pRg st="1" end="1"/>
                                            </p:txEl>
                                          </p:spTgt>
                                        </p:tgtEl>
                                        <p:attrNameLst>
                                          <p:attrName>style.visibility</p:attrName>
                                        </p:attrNameLst>
                                      </p:cBhvr>
                                      <p:to>
                                        <p:strVal val="visible"/>
                                      </p:to>
                                    </p:set>
                                    <p:animEffect transition="in" filter="wipe(left)">
                                      <p:cBhvr>
                                        <p:cTn id="7" dur="500"/>
                                        <p:tgtEl>
                                          <p:spTgt spid="680965">
                                            <p:txEl>
                                              <p:pRg st="1" end="1"/>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80965">
                                            <p:txEl>
                                              <p:pRg st="2" end="2"/>
                                            </p:txEl>
                                          </p:spTgt>
                                        </p:tgtEl>
                                        <p:attrNameLst>
                                          <p:attrName>style.visibility</p:attrName>
                                        </p:attrNameLst>
                                      </p:cBhvr>
                                      <p:to>
                                        <p:strVal val="visible"/>
                                      </p:to>
                                    </p:set>
                                    <p:animEffect transition="in" filter="wipe(left)">
                                      <p:cBhvr>
                                        <p:cTn id="11" dur="500"/>
                                        <p:tgtEl>
                                          <p:spTgt spid="680965">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80965">
                                            <p:txEl>
                                              <p:pRg st="3" end="3"/>
                                            </p:txEl>
                                          </p:spTgt>
                                        </p:tgtEl>
                                        <p:attrNameLst>
                                          <p:attrName>style.visibility</p:attrName>
                                        </p:attrNameLst>
                                      </p:cBhvr>
                                      <p:to>
                                        <p:strVal val="visible"/>
                                      </p:to>
                                    </p:set>
                                    <p:animEffect transition="in" filter="wipe(left)">
                                      <p:cBhvr>
                                        <p:cTn id="15" dur="500"/>
                                        <p:tgtEl>
                                          <p:spTgt spid="68096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096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6" name="矩形 540675"/>
          <p:cNvSpPr/>
          <p:nvPr/>
        </p:nvSpPr>
        <p:spPr>
          <a:xfrm>
            <a:off x="1458913" y="2590800"/>
            <a:ext cx="6237287" cy="1143000"/>
          </a:xfrm>
          <a:prstGeom prst="rect">
            <a:avLst/>
          </a:prstGeom>
          <a:noFill/>
          <a:ln w="9525">
            <a:noFill/>
          </a:ln>
        </p:spPr>
        <p:txBody>
          <a:bodyPr/>
          <a:lstStyle/>
          <a:p>
            <a:pPr marL="342900" indent="-342900" algn="ctr">
              <a:spcBef>
                <a:spcPct val="20000"/>
              </a:spcBef>
            </a:pPr>
            <a:r>
              <a:rPr lang="zh-CN" altLang="en-US" sz="6000" b="1" dirty="0">
                <a:solidFill>
                  <a:srgbClr val="FF6600"/>
                </a:solidFill>
                <a:effectLst>
                  <a:outerShdw blurRad="38100" dist="38100" dir="2700000">
                    <a:srgbClr val="C0C0C0"/>
                  </a:outerShdw>
                </a:effectLst>
                <a:latin typeface="Arial" panose="020B0604020202020204" pitchFamily="34" charset="0"/>
                <a:ea typeface="华文新魏" panose="02010800040101010101" pitchFamily="2" charset="-122"/>
              </a:rPr>
              <a:t>谢谢大家！</a:t>
            </a:r>
          </a:p>
        </p:txBody>
      </p:sp>
    </p:spTree>
  </p:cSld>
  <p:clrMapOvr>
    <a:masterClrMapping/>
  </p:clrMapOvr>
  <mc:AlternateContent xmlns:mc="http://schemas.openxmlformats.org/markup-compatibility/2006" xmlns:p14="http://schemas.microsoft.com/office/powerpoint/2010/main">
    <mc:Choice Requires="p14">
      <p:transition spd="slow" p14:dur="2000" advTm="1687"/>
    </mc:Choice>
    <mc:Fallback xmlns="">
      <p:transition spd="slow" advTm="1687"/>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3"/>
</p:tagLst>
</file>

<file path=ppt/tags/tag2.xml><?xml version="1.0" encoding="utf-8"?>
<p:tagLst xmlns:a="http://schemas.openxmlformats.org/drawingml/2006/main" xmlns:r="http://schemas.openxmlformats.org/officeDocument/2006/relationships" xmlns:p="http://schemas.openxmlformats.org/presentationml/2006/main">
  <p:tag name="TIMING" val="|3.7|28"/>
</p:tagLst>
</file>

<file path=ppt/tags/tag3.xml><?xml version="1.0" encoding="utf-8"?>
<p:tagLst xmlns:a="http://schemas.openxmlformats.org/drawingml/2006/main" xmlns:r="http://schemas.openxmlformats.org/officeDocument/2006/relationships" xmlns:p="http://schemas.openxmlformats.org/presentationml/2006/main">
  <p:tag name="TIMING" val="|1.1"/>
</p:tagLst>
</file>

<file path=ppt/tags/tag4.xml><?xml version="1.0" encoding="utf-8"?>
<p:tagLst xmlns:a="http://schemas.openxmlformats.org/drawingml/2006/main" xmlns:r="http://schemas.openxmlformats.org/officeDocument/2006/relationships" xmlns:p="http://schemas.openxmlformats.org/presentationml/2006/main">
  <p:tag name="TIMING" val="|5.4|22.7"/>
</p:tagLst>
</file>

<file path=ppt/tags/tag5.xml><?xml version="1.0" encoding="utf-8"?>
<p:tagLst xmlns:a="http://schemas.openxmlformats.org/drawingml/2006/main" xmlns:r="http://schemas.openxmlformats.org/officeDocument/2006/relationships" xmlns:p="http://schemas.openxmlformats.org/presentationml/2006/main">
  <p:tag name="TIMING" val="|13.1"/>
</p:tagLst>
</file>

<file path=ppt/tags/tag6.xml><?xml version="1.0" encoding="utf-8"?>
<p:tagLst xmlns:a="http://schemas.openxmlformats.org/drawingml/2006/main" xmlns:r="http://schemas.openxmlformats.org/officeDocument/2006/relationships" xmlns:p="http://schemas.openxmlformats.org/presentationml/2006/main">
  <p:tag name="TIMING" val="|30.6"/>
</p:tagLst>
</file>

<file path=ppt/tags/tag7.xml><?xml version="1.0" encoding="utf-8"?>
<p:tagLst xmlns:a="http://schemas.openxmlformats.org/drawingml/2006/main" xmlns:r="http://schemas.openxmlformats.org/officeDocument/2006/relationships" xmlns:p="http://schemas.openxmlformats.org/presentationml/2006/main">
  <p:tag name="TIMING" val="|15.6"/>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2518</Words>
  <Application>Microsoft Office PowerPoint</Application>
  <PresentationFormat>全屏显示(4:3)</PresentationFormat>
  <Paragraphs>473</Paragraphs>
  <Slides>34</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34</vt:i4>
      </vt:variant>
    </vt:vector>
  </HeadingPairs>
  <TitlesOfParts>
    <vt:vector size="45" baseType="lpstr">
      <vt:lpstr>黑体</vt:lpstr>
      <vt:lpstr>华文隶书</vt:lpstr>
      <vt:lpstr>华文新魏</vt:lpstr>
      <vt:lpstr>华文中宋</vt:lpstr>
      <vt:lpstr>楷体_GB2312</vt:lpstr>
      <vt:lpstr>隶书</vt:lpstr>
      <vt:lpstr>Arial</vt:lpstr>
      <vt:lpstr>Tahoma</vt:lpstr>
      <vt:lpstr>Times New Roman</vt:lpstr>
      <vt:lpstr>Wingdings</vt:lpstr>
      <vt:lpstr>Blends</vt:lpstr>
      <vt:lpstr>第3章 数据库应用系统设计方法 </vt:lpstr>
      <vt:lpstr>3.４  数据库逻辑结构设计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661</cp:revision>
  <cp:lastPrinted>2000-08-23T09:10:16Z</cp:lastPrinted>
  <dcterms:created xsi:type="dcterms:W3CDTF">2020-04-04T09:37:18Z</dcterms:created>
  <dcterms:modified xsi:type="dcterms:W3CDTF">2021-04-12T15:04:59Z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