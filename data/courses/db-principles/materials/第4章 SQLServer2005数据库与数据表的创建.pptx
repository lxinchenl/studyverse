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16.xml" ContentType="application/vnd.openxmlformats-officedocument.presentationml.tags+xml"/>
  <Override PartName="/ppt/notesSlides/notesSlide21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8.xml" ContentType="application/vnd.openxmlformats-officedocument.presentationml.tags+xml"/>
  <Override PartName="/ppt/notesSlides/notesSlide24.xml" ContentType="application/vnd.openxmlformats-officedocument.presentationml.notesSlide+xml"/>
  <Override PartName="/ppt/tags/tag19.xml" ContentType="application/vnd.openxmlformats-officedocument.presentationml.tags+xml"/>
  <Override PartName="/ppt/notesSlides/notesSlide25.xml" ContentType="application/vnd.openxmlformats-officedocument.presentationml.notesSlide+xml"/>
  <Override PartName="/ppt/tags/tag20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48"/>
  </p:notesMasterIdLst>
  <p:sldIdLst>
    <p:sldId id="513" r:id="rId2"/>
    <p:sldId id="516" r:id="rId3"/>
    <p:sldId id="515" r:id="rId4"/>
    <p:sldId id="514" r:id="rId5"/>
    <p:sldId id="517" r:id="rId6"/>
    <p:sldId id="518" r:id="rId7"/>
    <p:sldId id="547" r:id="rId8"/>
    <p:sldId id="548" r:id="rId9"/>
    <p:sldId id="549" r:id="rId10"/>
    <p:sldId id="550" r:id="rId11"/>
    <p:sldId id="520" r:id="rId12"/>
    <p:sldId id="551" r:id="rId13"/>
    <p:sldId id="552" r:id="rId14"/>
    <p:sldId id="522" r:id="rId15"/>
    <p:sldId id="523" r:id="rId16"/>
    <p:sldId id="553" r:id="rId17"/>
    <p:sldId id="554" r:id="rId18"/>
    <p:sldId id="524" r:id="rId19"/>
    <p:sldId id="526" r:id="rId20"/>
    <p:sldId id="527" r:id="rId21"/>
    <p:sldId id="528" r:id="rId22"/>
    <p:sldId id="470" r:id="rId23"/>
    <p:sldId id="473" r:id="rId24"/>
    <p:sldId id="474" r:id="rId25"/>
    <p:sldId id="475" r:id="rId26"/>
    <p:sldId id="476" r:id="rId27"/>
    <p:sldId id="478" r:id="rId28"/>
    <p:sldId id="529" r:id="rId29"/>
    <p:sldId id="531" r:id="rId30"/>
    <p:sldId id="532" r:id="rId31"/>
    <p:sldId id="483" r:id="rId32"/>
    <p:sldId id="486" r:id="rId33"/>
    <p:sldId id="535" r:id="rId34"/>
    <p:sldId id="539" r:id="rId35"/>
    <p:sldId id="540" r:id="rId36"/>
    <p:sldId id="541" r:id="rId37"/>
    <p:sldId id="542" r:id="rId38"/>
    <p:sldId id="497" r:id="rId39"/>
    <p:sldId id="555" r:id="rId40"/>
    <p:sldId id="499" r:id="rId41"/>
    <p:sldId id="501" r:id="rId42"/>
    <p:sldId id="557" r:id="rId43"/>
    <p:sldId id="558" r:id="rId44"/>
    <p:sldId id="502" r:id="rId45"/>
    <p:sldId id="543" r:id="rId46"/>
    <p:sldId id="545" r:id="rId4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FFFF00"/>
    <a:srgbClr val="CC0066"/>
    <a:srgbClr val="FF9900"/>
    <a:srgbClr val="008000"/>
    <a:srgbClr val="0000FF"/>
    <a:srgbClr val="99FF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7" autoAdjust="0"/>
    <p:restoredTop sz="93253" autoAdjust="0"/>
  </p:normalViewPr>
  <p:slideViewPr>
    <p:cSldViewPr>
      <p:cViewPr varScale="1">
        <p:scale>
          <a:sx n="123" d="100"/>
          <a:sy n="123" d="100"/>
        </p:scale>
        <p:origin x="122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>
            <a:extLst>
              <a:ext uri="{FF2B5EF4-FFF2-40B4-BE49-F238E27FC236}">
                <a16:creationId xmlns:a16="http://schemas.microsoft.com/office/drawing/2014/main" id="{A8CE2DB1-52BF-471A-88E5-36E9E3BAF7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031CE092-1DA0-4C33-A6E4-3594AD7A78E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25284" name="Rectangle 4">
            <a:extLst>
              <a:ext uri="{FF2B5EF4-FFF2-40B4-BE49-F238E27FC236}">
                <a16:creationId xmlns:a16="http://schemas.microsoft.com/office/drawing/2014/main" id="{1D6BAF76-B647-4606-BEEA-2D17A904A13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285" name="Rectangle 5">
            <a:extLst>
              <a:ext uri="{FF2B5EF4-FFF2-40B4-BE49-F238E27FC236}">
                <a16:creationId xmlns:a16="http://schemas.microsoft.com/office/drawing/2014/main" id="{6AF29E57-3DDD-4A84-AF1A-EC5A4DA5A99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5286" name="Rectangle 6">
            <a:extLst>
              <a:ext uri="{FF2B5EF4-FFF2-40B4-BE49-F238E27FC236}">
                <a16:creationId xmlns:a16="http://schemas.microsoft.com/office/drawing/2014/main" id="{1C309018-ABC5-49A1-BF80-D2FC2B6B1D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25287" name="Rectangle 7">
            <a:extLst>
              <a:ext uri="{FF2B5EF4-FFF2-40B4-BE49-F238E27FC236}">
                <a16:creationId xmlns:a16="http://schemas.microsoft.com/office/drawing/2014/main" id="{2A1C491D-A339-4EDF-9B2A-EC52CCF61D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9EDE7A5-7C81-411D-9190-16CA2ECFD0A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E763619-9999-4227-91B7-58C2E51714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E3DF3F-322E-4E15-906C-494920FCF0BD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64898" name="Rectangle 2">
            <a:extLst>
              <a:ext uri="{FF2B5EF4-FFF2-40B4-BE49-F238E27FC236}">
                <a16:creationId xmlns:a16="http://schemas.microsoft.com/office/drawing/2014/main" id="{1095E015-A17B-44E1-B5FE-D27AB5C2D8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46BBB8AC-2A03-474C-A770-1170E6438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96CC1F8-AE41-4A79-9A44-8CBAC8C05E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FB9E6E-9723-4119-9C42-A59832ED6F9E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70018" name="Rectangle 2">
            <a:extLst>
              <a:ext uri="{FF2B5EF4-FFF2-40B4-BE49-F238E27FC236}">
                <a16:creationId xmlns:a16="http://schemas.microsoft.com/office/drawing/2014/main" id="{0F54D402-73A2-49E7-8DC5-11DE736F67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11D0BE33-DB23-461A-ABC9-F66A9DE11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C7C31C-F58D-4F53-A03C-1BCD5F6CFA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2A1300-5CB0-4FB1-B438-7845C319300F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467970" name="Rectangle 2">
            <a:extLst>
              <a:ext uri="{FF2B5EF4-FFF2-40B4-BE49-F238E27FC236}">
                <a16:creationId xmlns:a16="http://schemas.microsoft.com/office/drawing/2014/main" id="{3F90393B-E5D3-43F2-9977-4297BAC113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0AD6581C-EB12-40FE-8F76-5B183B1EC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0DA81BF-882C-4B56-A81E-A3EF44441D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AA347A-D549-4E8C-882E-DE806C20AC23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6705BED9-C66E-4F28-886D-880A1A53D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720545A5-A975-401F-BC09-6E924EC03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7777C1-78CD-4362-9521-E778A341B6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BF403A-919C-4487-B9F5-5A67D913198F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538626" name="Rectangle 2">
            <a:extLst>
              <a:ext uri="{FF2B5EF4-FFF2-40B4-BE49-F238E27FC236}">
                <a16:creationId xmlns:a16="http://schemas.microsoft.com/office/drawing/2014/main" id="{3B55519E-0BC2-49F9-96F1-4AB8789BD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0AD37853-F1E6-4474-8606-F24EAE995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1A6D543-815F-4AFF-8B6D-53ED98A682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BD88FC-4CD8-4383-B35A-DC4B106A0C0B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530434" name="Rectangle 2">
            <a:extLst>
              <a:ext uri="{FF2B5EF4-FFF2-40B4-BE49-F238E27FC236}">
                <a16:creationId xmlns:a16="http://schemas.microsoft.com/office/drawing/2014/main" id="{D7CA0F58-099A-43A3-A785-AA4AA445B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BC5DAFC2-6A90-41D0-8749-66086F47C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zh-CN" altLang="zh-CN"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811DD08-B9AD-4401-B2F9-583A63171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269F5B-950C-4DF7-A392-123266151C91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482306" name="Rectangle 2">
            <a:extLst>
              <a:ext uri="{FF2B5EF4-FFF2-40B4-BE49-F238E27FC236}">
                <a16:creationId xmlns:a16="http://schemas.microsoft.com/office/drawing/2014/main" id="{045CA798-7EDC-49F1-9D4F-6012A9151E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>
            <a:extLst>
              <a:ext uri="{FF2B5EF4-FFF2-40B4-BE49-F238E27FC236}">
                <a16:creationId xmlns:a16="http://schemas.microsoft.com/office/drawing/2014/main" id="{A71E3D42-DC53-4933-8323-B70086416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758ECBE-05DB-43E7-B837-DB1966E911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883554-8002-4AAD-8D2B-04A570A41554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484354" name="Rectangle 2">
            <a:extLst>
              <a:ext uri="{FF2B5EF4-FFF2-40B4-BE49-F238E27FC236}">
                <a16:creationId xmlns:a16="http://schemas.microsoft.com/office/drawing/2014/main" id="{86E78B4D-D83C-45A9-B38A-DE208D4A2F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4355" name="Rectangle 3">
            <a:extLst>
              <a:ext uri="{FF2B5EF4-FFF2-40B4-BE49-F238E27FC236}">
                <a16:creationId xmlns:a16="http://schemas.microsoft.com/office/drawing/2014/main" id="{FAA3EB67-C8A9-4356-BA40-65A3A1123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26BFAAE-B7C6-40D8-8D6E-003D4CFF29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AEB55-F6B4-47E5-8475-BCF39225BED4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F0D6FDBC-7C29-472A-83C6-E57600F72D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7950F5D0-0C44-46CA-889C-89943FCD7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250B597-248D-41AE-BA1C-1A47744D60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07347A-8072-49C7-A032-D36AED30961B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93218" name="Rectangle 2">
            <a:extLst>
              <a:ext uri="{FF2B5EF4-FFF2-40B4-BE49-F238E27FC236}">
                <a16:creationId xmlns:a16="http://schemas.microsoft.com/office/drawing/2014/main" id="{1E7A4C9B-BFE9-42A4-AEF0-01690C760A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219" name="Rectangle 3">
            <a:extLst>
              <a:ext uri="{FF2B5EF4-FFF2-40B4-BE49-F238E27FC236}">
                <a16:creationId xmlns:a16="http://schemas.microsoft.com/office/drawing/2014/main" id="{C0D5AE8B-13E0-4580-98B8-40EAB4D3D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DE88E1A-268B-4DAA-B7A4-EA5846B70E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1F5745-6FD6-4DC5-B838-75443F1BD347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399362" name="Rectangle 2">
            <a:extLst>
              <a:ext uri="{FF2B5EF4-FFF2-40B4-BE49-F238E27FC236}">
                <a16:creationId xmlns:a16="http://schemas.microsoft.com/office/drawing/2014/main" id="{2164FED8-5F0B-40C2-A321-136E7B2E7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80BD03E0-9A23-4C7D-9E9F-254CB2501D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000">
              <a:latin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8C57B03-B6C4-4AF7-9D9E-86A63FBA3A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7E1F26-6B10-4493-8A61-43314B47731C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01410" name="Rectangle 2">
            <a:extLst>
              <a:ext uri="{FF2B5EF4-FFF2-40B4-BE49-F238E27FC236}">
                <a16:creationId xmlns:a16="http://schemas.microsoft.com/office/drawing/2014/main" id="{9D3C2E77-DF8C-4668-BAB6-5CBCC9D2EE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33CC8565-98C3-4004-93A9-50414ECC9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100">
              <a:latin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2EB448B-114A-4E65-B478-FE44275B8C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694D66-8B48-4B0B-BBA8-A54D64BAB59D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03458" name="Rectangle 2">
            <a:extLst>
              <a:ext uri="{FF2B5EF4-FFF2-40B4-BE49-F238E27FC236}">
                <a16:creationId xmlns:a16="http://schemas.microsoft.com/office/drawing/2014/main" id="{EE666979-4E6A-48AB-AB87-82F4C8218E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924F0E10-4840-48C3-AED9-15D6C3BF8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EDA0710-5E1C-4AB2-ADBA-9857E59B39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4E1D3F-F013-488C-A9BB-47E9CC3CC258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405506" name="Rectangle 2">
            <a:extLst>
              <a:ext uri="{FF2B5EF4-FFF2-40B4-BE49-F238E27FC236}">
                <a16:creationId xmlns:a16="http://schemas.microsoft.com/office/drawing/2014/main" id="{0AE18B58-682E-4056-9489-E6676791B6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A8BD9FF4-98C3-4E3F-BED9-007612864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000">
              <a:latin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F4B96E2-D73F-46AF-980E-7D1DEEB6A9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7897F1-33A4-45F9-B050-EDED6FB5431A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409602" name="Rectangle 2">
            <a:extLst>
              <a:ext uri="{FF2B5EF4-FFF2-40B4-BE49-F238E27FC236}">
                <a16:creationId xmlns:a16="http://schemas.microsoft.com/office/drawing/2014/main" id="{5F8F462B-DEDA-4F6B-8E3D-9BA738E067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3" name="Rectangle 3">
            <a:extLst>
              <a:ext uri="{FF2B5EF4-FFF2-40B4-BE49-F238E27FC236}">
                <a16:creationId xmlns:a16="http://schemas.microsoft.com/office/drawing/2014/main" id="{1AEA9A66-0FC7-4C54-A74E-1C1161D3ED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8F794BD-25C5-4636-8032-BD314DFE95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3D327E-648C-49A0-8F25-73788DBC7ED3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488450" name="Rectangle 2">
            <a:extLst>
              <a:ext uri="{FF2B5EF4-FFF2-40B4-BE49-F238E27FC236}">
                <a16:creationId xmlns:a16="http://schemas.microsoft.com/office/drawing/2014/main" id="{3BF99ED2-8415-439F-8DD4-352BA5E913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2967BF1A-6A02-4295-95B4-99442FE0CF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87E3F0E-0278-4C0C-A8CE-5132643A68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463A04-39D2-420D-AFAA-35189199644E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492546" name="Rectangle 2">
            <a:extLst>
              <a:ext uri="{FF2B5EF4-FFF2-40B4-BE49-F238E27FC236}">
                <a16:creationId xmlns:a16="http://schemas.microsoft.com/office/drawing/2014/main" id="{44C122F7-3DA6-4EE7-B178-6D1BE9222F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AC4AA260-B6A1-4C8A-AAD9-4D5EA1777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6101C65-6FAF-4EAC-BFCF-AE38F7FB55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FA4A63-7C96-4F9C-A841-81FADEC550A4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494594" name="Rectangle 2">
            <a:extLst>
              <a:ext uri="{FF2B5EF4-FFF2-40B4-BE49-F238E27FC236}">
                <a16:creationId xmlns:a16="http://schemas.microsoft.com/office/drawing/2014/main" id="{9DD6FC76-4D0E-40D0-8A9A-4B27BA408F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6DF4D8A7-273D-4D2F-B9E2-70B407FBE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820F3DB-DEBB-4B0C-B9CC-79B223E657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F890CF-A456-4CDB-AE10-A7A12D8744DA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419842" name="Rectangle 2">
            <a:extLst>
              <a:ext uri="{FF2B5EF4-FFF2-40B4-BE49-F238E27FC236}">
                <a16:creationId xmlns:a16="http://schemas.microsoft.com/office/drawing/2014/main" id="{BCFD1AE7-9191-4B98-ADD0-B5BE9AB772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574142AE-AC55-4C69-83AA-AC4D5316B1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1A2F923-C1A9-4C0B-B446-7ABC777C67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2B4E54-61FE-4C2C-A42E-7FB4CA380B21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425986" name="Rectangle 2">
            <a:extLst>
              <a:ext uri="{FF2B5EF4-FFF2-40B4-BE49-F238E27FC236}">
                <a16:creationId xmlns:a16="http://schemas.microsoft.com/office/drawing/2014/main" id="{3F771EF1-7591-4DB4-A8D2-54ABCE296D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9C4567E8-9A66-4487-8377-6DDD4FDEE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7824F50-89FD-436D-842E-C4A3D44391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35660F-1516-4730-9429-8F4A0B95E62F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500738" name="Rectangle 2">
            <a:extLst>
              <a:ext uri="{FF2B5EF4-FFF2-40B4-BE49-F238E27FC236}">
                <a16:creationId xmlns:a16="http://schemas.microsoft.com/office/drawing/2014/main" id="{F379A489-889E-4F72-8A98-0FFD5C03B1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>
            <a:extLst>
              <a:ext uri="{FF2B5EF4-FFF2-40B4-BE49-F238E27FC236}">
                <a16:creationId xmlns:a16="http://schemas.microsoft.com/office/drawing/2014/main" id="{6DAB3AB2-CAF9-422D-8062-5FC6028B35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A70170D-EFC6-4376-BD43-4EEDF7DCE9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71B7AD-CE2E-4EC2-A5A7-73D543C01FDF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508930" name="Rectangle 2">
            <a:extLst>
              <a:ext uri="{FF2B5EF4-FFF2-40B4-BE49-F238E27FC236}">
                <a16:creationId xmlns:a16="http://schemas.microsoft.com/office/drawing/2014/main" id="{AF630940-945A-404D-A5B8-289AB81A5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 3">
            <a:extLst>
              <a:ext uri="{FF2B5EF4-FFF2-40B4-BE49-F238E27FC236}">
                <a16:creationId xmlns:a16="http://schemas.microsoft.com/office/drawing/2014/main" id="{036D14B8-38E5-4A99-BFA1-F788F74897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A8D4DF5-070A-4112-996E-152140CD1E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8D19F7-97E1-4934-B949-332ECCAF1765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510978" name="Rectangle 2">
            <a:extLst>
              <a:ext uri="{FF2B5EF4-FFF2-40B4-BE49-F238E27FC236}">
                <a16:creationId xmlns:a16="http://schemas.microsoft.com/office/drawing/2014/main" id="{D40C0AF7-49D1-4EC5-B3A6-A8A550087C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0979" name="Rectangle 3">
            <a:extLst>
              <a:ext uri="{FF2B5EF4-FFF2-40B4-BE49-F238E27FC236}">
                <a16:creationId xmlns:a16="http://schemas.microsoft.com/office/drawing/2014/main" id="{48372C3B-64BC-48FB-9274-CB4751F37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6E912E4-1DB1-4ACC-AAC3-1329542EFE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90584A-CA88-44EF-A04F-DC0C98F12F9F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513026" name="Rectangle 2">
            <a:extLst>
              <a:ext uri="{FF2B5EF4-FFF2-40B4-BE49-F238E27FC236}">
                <a16:creationId xmlns:a16="http://schemas.microsoft.com/office/drawing/2014/main" id="{3506986E-A6E3-4F12-877E-06A617D17D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1E0B8F49-DDF2-4766-A511-3F68C9F86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565E70D-A63B-4844-8AE3-BE3E80A12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090B6E-0D55-4936-ACA0-663B4B549D10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515074" name="Rectangle 2">
            <a:extLst>
              <a:ext uri="{FF2B5EF4-FFF2-40B4-BE49-F238E27FC236}">
                <a16:creationId xmlns:a16="http://schemas.microsoft.com/office/drawing/2014/main" id="{39D2E9A0-03C1-408E-B63D-E4E678DA8C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5075" name="Rectangle 3">
            <a:extLst>
              <a:ext uri="{FF2B5EF4-FFF2-40B4-BE49-F238E27FC236}">
                <a16:creationId xmlns:a16="http://schemas.microsoft.com/office/drawing/2014/main" id="{6AE2C7CC-1D79-4097-813B-2D479E3645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B6C6450-2DED-4B54-B5D0-189D94C1A1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B65905-D2A9-4312-92C2-52354318EED6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532482" name="Rectangle 2">
            <a:extLst>
              <a:ext uri="{FF2B5EF4-FFF2-40B4-BE49-F238E27FC236}">
                <a16:creationId xmlns:a16="http://schemas.microsoft.com/office/drawing/2014/main" id="{F8D60C17-754A-416E-8A9B-F7C00BEF7B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483" name="Rectangle 3">
            <a:extLst>
              <a:ext uri="{FF2B5EF4-FFF2-40B4-BE49-F238E27FC236}">
                <a16:creationId xmlns:a16="http://schemas.microsoft.com/office/drawing/2014/main" id="{E9084F29-4597-4E8B-B6B0-723D48CDF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3169D35-FA4C-435C-883D-FBCD11D7EA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369928-2442-4537-A170-DE453432D522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533506" name="Rectangle 2">
            <a:extLst>
              <a:ext uri="{FF2B5EF4-FFF2-40B4-BE49-F238E27FC236}">
                <a16:creationId xmlns:a16="http://schemas.microsoft.com/office/drawing/2014/main" id="{60127EE5-1DD7-4770-8038-F5A9EC6160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3507" name="Rectangle 3">
            <a:extLst>
              <a:ext uri="{FF2B5EF4-FFF2-40B4-BE49-F238E27FC236}">
                <a16:creationId xmlns:a16="http://schemas.microsoft.com/office/drawing/2014/main" id="{D21089B5-8F21-440F-BD01-3670E65FB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91" name="Rectangle 7">
            <a:extLst>
              <a:ext uri="{FF2B5EF4-FFF2-40B4-BE49-F238E27FC236}">
                <a16:creationId xmlns:a16="http://schemas.microsoft.com/office/drawing/2014/main" id="{36606BA1-9D60-401D-975B-81FFAC7618D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1913" y="6453188"/>
            <a:ext cx="2133600" cy="28892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74792" name="Rectangle 8">
            <a:extLst>
              <a:ext uri="{FF2B5EF4-FFF2-40B4-BE49-F238E27FC236}">
                <a16:creationId xmlns:a16="http://schemas.microsoft.com/office/drawing/2014/main" id="{B8B0A807-CD29-4722-8E46-A5DC4C82C54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74793" name="Rectangle 9">
            <a:extLst>
              <a:ext uri="{FF2B5EF4-FFF2-40B4-BE49-F238E27FC236}">
                <a16:creationId xmlns:a16="http://schemas.microsoft.com/office/drawing/2014/main" id="{841D0F7C-B6A7-48A2-BE60-F152851649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53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F645C01A-DED2-4B7A-AB42-E26A41AFBC80}" type="slidenum">
              <a:rPr lang="en-US" altLang="zh-CN"/>
              <a:pPr/>
              <a:t>‹#›</a:t>
            </a:fld>
            <a:endParaRPr lang="en-US" altLang="zh-CN"/>
          </a:p>
        </p:txBody>
      </p:sp>
      <p:grpSp>
        <p:nvGrpSpPr>
          <p:cNvPr id="374798" name="Group 14">
            <a:extLst>
              <a:ext uri="{FF2B5EF4-FFF2-40B4-BE49-F238E27FC236}">
                <a16:creationId xmlns:a16="http://schemas.microsoft.com/office/drawing/2014/main" id="{CFF8993A-1BF4-4AB2-A253-5CE2E76D051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1773238"/>
            <a:ext cx="9009062" cy="1052512"/>
            <a:chOff x="0" y="1536"/>
            <a:chExt cx="5675" cy="663"/>
          </a:xfrm>
        </p:grpSpPr>
        <p:grpSp>
          <p:nvGrpSpPr>
            <p:cNvPr id="374799" name="Group 15">
              <a:extLst>
                <a:ext uri="{FF2B5EF4-FFF2-40B4-BE49-F238E27FC236}">
                  <a16:creationId xmlns:a16="http://schemas.microsoft.com/office/drawing/2014/main" id="{3EA913BF-F1A0-4080-8D96-E113A40D10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74800" name="Rectangle 16">
                <a:extLst>
                  <a:ext uri="{FF2B5EF4-FFF2-40B4-BE49-F238E27FC236}">
                    <a16:creationId xmlns:a16="http://schemas.microsoft.com/office/drawing/2014/main" id="{81F09D29-3CDA-4B94-B5B4-9F37161A71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4801" name="Rectangle 17">
                <a:extLst>
                  <a:ext uri="{FF2B5EF4-FFF2-40B4-BE49-F238E27FC236}">
                    <a16:creationId xmlns:a16="http://schemas.microsoft.com/office/drawing/2014/main" id="{2EE5A059-BB44-44D0-A2C5-B6936CD725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74802" name="Group 18">
              <a:extLst>
                <a:ext uri="{FF2B5EF4-FFF2-40B4-BE49-F238E27FC236}">
                  <a16:creationId xmlns:a16="http://schemas.microsoft.com/office/drawing/2014/main" id="{2D15A4ED-3E47-4DD6-A1F4-9DC69BFEC7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74803" name="Rectangle 19">
                <a:extLst>
                  <a:ext uri="{FF2B5EF4-FFF2-40B4-BE49-F238E27FC236}">
                    <a16:creationId xmlns:a16="http://schemas.microsoft.com/office/drawing/2014/main" id="{1994D13C-D7A1-43F3-AEB6-2B77C6592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4804" name="Rectangle 20">
                <a:extLst>
                  <a:ext uri="{FF2B5EF4-FFF2-40B4-BE49-F238E27FC236}">
                    <a16:creationId xmlns:a16="http://schemas.microsoft.com/office/drawing/2014/main" id="{26B29FAF-46B2-465B-A750-60D18BE41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4805" name="Rectangle 21">
              <a:extLst>
                <a:ext uri="{FF2B5EF4-FFF2-40B4-BE49-F238E27FC236}">
                  <a16:creationId xmlns:a16="http://schemas.microsoft.com/office/drawing/2014/main" id="{F2A5BE80-9E18-457E-BD54-58E0C3C26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4806" name="Rectangle 22">
              <a:extLst>
                <a:ext uri="{FF2B5EF4-FFF2-40B4-BE49-F238E27FC236}">
                  <a16:creationId xmlns:a16="http://schemas.microsoft.com/office/drawing/2014/main" id="{602295F8-E0BA-4A52-BB5B-89C582BD6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1C1C1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4807" name="Rectangle 23">
              <a:extLst>
                <a:ext uri="{FF2B5EF4-FFF2-40B4-BE49-F238E27FC236}">
                  <a16:creationId xmlns:a16="http://schemas.microsoft.com/office/drawing/2014/main" id="{5417BF9A-0D13-475A-8753-BE2DE5157B2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4808" name="Rectangle 24">
            <a:extLst>
              <a:ext uri="{FF2B5EF4-FFF2-40B4-BE49-F238E27FC236}">
                <a16:creationId xmlns:a16="http://schemas.microsoft.com/office/drawing/2014/main" id="{35702A20-0850-4959-B8AD-093C0B9430E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557338"/>
            <a:ext cx="8569325" cy="1041400"/>
          </a:xfrm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800">
                <a:solidFill>
                  <a:schemeClr val="tx2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37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808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8F4D9-9C25-4D47-B949-FBB298AE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FE50DE-E9E8-4B88-A6A6-4C4092A94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35CE3-9244-43CC-B4F1-2C84BAF1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82C207-55A6-43B2-A1EA-14884685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E2168-D80C-4C78-930A-66B75DF0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9E129-FB9F-4BCE-910E-DB91A31AEE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2933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BC4E73-BBFB-478E-AF3C-62EE4F7A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9AC5D-65E9-455D-8763-020629370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7722B-2683-4297-8B07-92BEEA7FA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177224-2E1B-44D8-82D7-3FEF5818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071AA9-9ADE-4F08-A812-30BDBEC04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BF6CBC-E3DA-47D4-9EBF-AC10C6774C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82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D512F-692C-43DB-8C08-1220D053C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64F7BD-B0FD-41EA-A55B-27E0183F1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350" y="1295400"/>
            <a:ext cx="4040188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BD6D4C-3B71-4A65-92AD-3EA94161C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6938" y="1295400"/>
            <a:ext cx="4041775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8FDA9F-16D7-4C67-AFC8-B9024BAD6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682C80-C99E-42EC-A622-0239BF77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0DEA2E-332F-485B-99AE-FE87A4E8F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4D575-234B-49C0-85B5-37C14FB485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31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4F4EF-0147-4E0A-AB54-127C41E3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54DB77-BAF9-4427-A0D3-8996E62DF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145364-4140-4B7F-A147-CBA3C19F5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54F9E5-C8B5-48E7-9BF5-012309D5C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FC1A46-0034-4B67-83A8-1AF20FE48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30168C-3169-4F94-94DC-632D679E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147AE4-C26B-4B55-84C1-A996E1C51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FCF3393-56EC-4EBD-AEC7-88585371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1F8F23-1579-426D-A32A-6F18CF8A70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2882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0CDA-33E2-44AD-A3E3-1E5AE58C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068C60-BAE2-47E6-8B88-507A5D0D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7911BC-9418-45EE-B6C7-1C5AAC5E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F505F4-875E-4D5C-9E74-0B875AA6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58FBED-3D60-4D9F-A473-659EB2ADE75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619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70B25B-C820-48E1-B974-CAF8E7C6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88B6E4-7040-450E-A56F-6A567174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97B04F-0F4A-40D4-B8D2-616F0532E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85A1A-DA3F-4729-8BB3-CA6CC14C31F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4107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DDC317-9D58-4941-92FD-6F2711A92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12C2EA-C5D9-4BAE-8F3F-8B8EF559E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3EDB91-F7DD-42C4-A07C-BD61243FD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8676C6-BEB1-4251-A112-FCBF4528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FB804D-BF13-4FC7-847F-7926353F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B1A4B2-5800-4CAC-BAF3-18A04603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FB0276-24D2-4D07-9D56-140E3B50D91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7311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D03C5-78EA-470D-A7AC-3B8E5C4E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F2DDD9-AE96-469B-9C8B-7CD4D4D7E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47D86D-8C3F-41DF-BD6A-D44138A25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FEEB57-774E-469B-9B4C-E7FF0997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A3629A-E359-4003-B182-6B10E0F5F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933360-961F-4E78-A4BB-94F7D7D9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930F3E-6A25-480D-9EAA-1003028057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783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73F8A-66B4-42D4-A3D1-0BEEA291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57B908-B8AB-4D3A-84A6-BD4639099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AAA676-A6AA-479E-9FA5-FACEC4AF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0A3464-F5A6-41EE-B757-98F37E65F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E2FF68-349B-4689-94DB-97E64A655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5BC395-C6D5-49DB-82D7-3861F70776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0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E5262F-0366-4F13-9B15-99B933A8F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1313" y="71438"/>
            <a:ext cx="2057400" cy="61769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7F8026-20A2-4536-BE3A-0A50764C6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4350" y="71438"/>
            <a:ext cx="6024563" cy="6176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734E0-B275-42FE-BE40-F4379290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D85DDE-A339-4F62-92F0-1DAA34CD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EE9F40-FF8C-48A9-A86A-CDF4B757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0B8D9-CFFF-4A04-88CB-4FF619B637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4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4" name="Rectangle 4">
            <a:extLst>
              <a:ext uri="{FF2B5EF4-FFF2-40B4-BE49-F238E27FC236}">
                <a16:creationId xmlns:a16="http://schemas.microsoft.com/office/drawing/2014/main" id="{75FE9505-9967-4C34-8B41-017518D2A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295400"/>
            <a:ext cx="8234363" cy="495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73770" name="Rectangle 10">
            <a:extLst>
              <a:ext uri="{FF2B5EF4-FFF2-40B4-BE49-F238E27FC236}">
                <a16:creationId xmlns:a16="http://schemas.microsoft.com/office/drawing/2014/main" id="{851C22CB-D9D4-4A78-9B78-A0C8D908A5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373771" name="Rectangle 11">
            <a:extLst>
              <a:ext uri="{FF2B5EF4-FFF2-40B4-BE49-F238E27FC236}">
                <a16:creationId xmlns:a16="http://schemas.microsoft.com/office/drawing/2014/main" id="{7C644184-DCE7-433A-A5ED-9A23E0B6B4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373772" name="Rectangle 12">
            <a:extLst>
              <a:ext uri="{FF2B5EF4-FFF2-40B4-BE49-F238E27FC236}">
                <a16:creationId xmlns:a16="http://schemas.microsoft.com/office/drawing/2014/main" id="{59B431C3-D2BF-47EA-8A67-037E89ED092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21438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88B0FF6-F26D-4017-A447-4CFE2237E22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373773" name="Rectangle 13">
            <a:extLst>
              <a:ext uri="{FF2B5EF4-FFF2-40B4-BE49-F238E27FC236}">
                <a16:creationId xmlns:a16="http://schemas.microsoft.com/office/drawing/2014/main" id="{A92509E8-8F87-439B-A817-D36714E61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322388" y="71438"/>
            <a:ext cx="7212012" cy="8366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73774" name="Rectangle 14">
            <a:extLst>
              <a:ext uri="{FF2B5EF4-FFF2-40B4-BE49-F238E27FC236}">
                <a16:creationId xmlns:a16="http://schemas.microsoft.com/office/drawing/2014/main" id="{7D57A080-5FFA-4395-A3D6-6FAC37A4F26D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373775" name="Rectangle 15">
            <a:extLst>
              <a:ext uri="{FF2B5EF4-FFF2-40B4-BE49-F238E27FC236}">
                <a16:creationId xmlns:a16="http://schemas.microsoft.com/office/drawing/2014/main" id="{ED6FDA14-1A32-4201-AAB6-1CCA3AA8322F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373776" name="Rectangle 16">
            <a:extLst>
              <a:ext uri="{FF2B5EF4-FFF2-40B4-BE49-F238E27FC236}">
                <a16:creationId xmlns:a16="http://schemas.microsoft.com/office/drawing/2014/main" id="{3DAA1DD8-E308-45AE-B2CC-E9118D8ABDAF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373777" name="Rectangle 17">
            <a:extLst>
              <a:ext uri="{FF2B5EF4-FFF2-40B4-BE49-F238E27FC236}">
                <a16:creationId xmlns:a16="http://schemas.microsoft.com/office/drawing/2014/main" id="{4CAF0F7F-0863-40FF-B84F-544097E3BADB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373778" name="Rectangle 18">
            <a:extLst>
              <a:ext uri="{FF2B5EF4-FFF2-40B4-BE49-F238E27FC236}">
                <a16:creationId xmlns:a16="http://schemas.microsoft.com/office/drawing/2014/main" id="{5F7DEF08-B4E2-42E9-9884-5667EF16C499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>
              <a:latin typeface="Tahoma" panose="020B0604030504040204" pitchFamily="34" charset="0"/>
            </a:endParaRPr>
          </a:p>
        </p:txBody>
      </p:sp>
      <p:sp>
        <p:nvSpPr>
          <p:cNvPr id="373779" name="Rectangle 19">
            <a:extLst>
              <a:ext uri="{FF2B5EF4-FFF2-40B4-BE49-F238E27FC236}">
                <a16:creationId xmlns:a16="http://schemas.microsoft.com/office/drawing/2014/main" id="{7ADC6D8C-7CA0-48B7-83DB-3A1115E3C54E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2913" y="908050"/>
            <a:ext cx="8226425" cy="3175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3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737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37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737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737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4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37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7376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37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7376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37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7376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37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7376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37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37376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33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buChar char="u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hyperlink" Target="file:///D:\SQL%20Server%202005&#28436;&#31034;\20130902\&#27880;&#20876;&#26381;&#21153;&#22120;.exe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hyperlink" Target="file:///D:\SQL%20Server%202005&#28436;&#31034;\20130902\&#21019;&#24314;&#25968;&#25454;&#24211;.exe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hyperlink" Target="file:///D:\SQL%20Server%202005&#28436;&#31034;\20130902\&#21019;&#24314;&#34920;.exe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file:///D:\SQL%20Server%202005&#28436;&#31034;\20130902\&#32034;&#24341;&#30340;&#21019;&#24314;.exe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>
            <a:extLst>
              <a:ext uri="{FF2B5EF4-FFF2-40B4-BE49-F238E27FC236}">
                <a16:creationId xmlns:a16="http://schemas.microsoft.com/office/drawing/2014/main" id="{3C41F806-F589-4229-9A45-474AE66730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752600"/>
            <a:ext cx="8569325" cy="1600200"/>
          </a:xfrm>
        </p:spPr>
        <p:txBody>
          <a:bodyPr/>
          <a:lstStyle/>
          <a:p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章  </a:t>
            </a:r>
            <a:r>
              <a:rPr lang="en-US" altLang="zh-CN"/>
              <a:t>SQL Server 2005</a:t>
            </a:r>
            <a:r>
              <a:rPr lang="zh-CN" altLang="en-US"/>
              <a:t>数据库与数据表的创建</a:t>
            </a:r>
          </a:p>
        </p:txBody>
      </p:sp>
      <p:sp>
        <p:nvSpPr>
          <p:cNvPr id="463875" name="Rectangle 3">
            <a:extLst>
              <a:ext uri="{FF2B5EF4-FFF2-40B4-BE49-F238E27FC236}">
                <a16:creationId xmlns:a16="http://schemas.microsoft.com/office/drawing/2014/main" id="{16FD0193-42B1-4109-AA0D-0159895E4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3887788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 algn="ctr"/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数据库系统原理及应用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463877" name="Picture 5">
            <a:extLst>
              <a:ext uri="{FF2B5EF4-FFF2-40B4-BE49-F238E27FC236}">
                <a16:creationId xmlns:a16="http://schemas.microsoft.com/office/drawing/2014/main" id="{EDE833DE-A75A-49C4-99E4-30831DACC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57700"/>
            <a:ext cx="2411413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3878" name="Rectangle 6">
            <a:extLst>
              <a:ext uri="{FF2B5EF4-FFF2-40B4-BE49-F238E27FC236}">
                <a16:creationId xmlns:a16="http://schemas.microsoft.com/office/drawing/2014/main" id="{C465928C-51CC-48AB-AF48-A20D069F0D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90688" y="3789363"/>
            <a:ext cx="5905500" cy="79216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3200" b="1">
                <a:solidFill>
                  <a:srgbClr val="009900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algn="ctr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algn="ctr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algn="ctr">
              <a:lnSpc>
                <a:spcPct val="120000"/>
              </a:lnSpc>
              <a:spcBef>
                <a:spcPct val="20000"/>
              </a:spcBef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algn="ctr">
              <a:lnSpc>
                <a:spcPct val="120000"/>
              </a:lnSpc>
              <a:spcBef>
                <a:spcPct val="20000"/>
              </a:spcBef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algn="ctr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50"/>
    </mc:Choice>
    <mc:Fallback xmlns="">
      <p:transition spd="slow" advTm="655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AutoShape 2">
            <a:extLst>
              <a:ext uri="{FF2B5EF4-FFF2-40B4-BE49-F238E27FC236}">
                <a16:creationId xmlns:a16="http://schemas.microsoft.com/office/drawing/2014/main" id="{F48C6F8A-7440-4B78-9EE8-ECC06985A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88900"/>
            <a:ext cx="1727200" cy="747713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FF99"/>
              </a:gs>
              <a:gs pos="50000">
                <a:srgbClr val="FFFF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引入</a:t>
            </a:r>
          </a:p>
        </p:txBody>
      </p:sp>
      <p:sp>
        <p:nvSpPr>
          <p:cNvPr id="468995" name="Text Box 3">
            <a:extLst>
              <a:ext uri="{FF2B5EF4-FFF2-40B4-BE49-F238E27FC236}">
                <a16:creationId xmlns:a16="http://schemas.microsoft.com/office/drawing/2014/main" id="{40B47663-D8FC-4297-A0C1-D6B1D2EE6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1268413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FF33"/>
              </a:gs>
            </a:gsLst>
            <a:lin ang="5400000" scaled="1"/>
          </a:gradFill>
          <a:ln w="12700">
            <a:solidFill>
              <a:srgbClr val="008000"/>
            </a:solidFill>
            <a:miter lim="800000"/>
            <a:headEnd/>
            <a:tailEnd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用户需求分析</a:t>
            </a:r>
          </a:p>
        </p:txBody>
      </p:sp>
      <p:sp>
        <p:nvSpPr>
          <p:cNvPr id="468996" name="Text Box 4">
            <a:extLst>
              <a:ext uri="{FF2B5EF4-FFF2-40B4-BE49-F238E27FC236}">
                <a16:creationId xmlns:a16="http://schemas.microsoft.com/office/drawing/2014/main" id="{B2DA4355-7505-4142-AFE2-5E94C1401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2044700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800080"/>
            </a:solidFill>
            <a:miter lim="800000"/>
            <a:headEnd/>
            <a:tailEnd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概念结构设计</a:t>
            </a:r>
          </a:p>
        </p:txBody>
      </p:sp>
      <p:sp>
        <p:nvSpPr>
          <p:cNvPr id="468997" name="Text Box 5">
            <a:extLst>
              <a:ext uri="{FF2B5EF4-FFF2-40B4-BE49-F238E27FC236}">
                <a16:creationId xmlns:a16="http://schemas.microsoft.com/office/drawing/2014/main" id="{64A58CD8-FC24-4EC0-9F4F-9F445AE77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2801938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99CC"/>
              </a:gs>
            </a:gsLst>
            <a:lin ang="5400000" scaled="1"/>
          </a:gradFill>
          <a:ln w="9525">
            <a:solidFill>
              <a:srgbClr val="800080"/>
            </a:solidFill>
            <a:miter lim="800000"/>
            <a:headEnd/>
            <a:tailEnd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逻辑结构设计</a:t>
            </a:r>
          </a:p>
        </p:txBody>
      </p:sp>
      <p:sp>
        <p:nvSpPr>
          <p:cNvPr id="468998" name="Text Box 6">
            <a:extLst>
              <a:ext uri="{FF2B5EF4-FFF2-40B4-BE49-F238E27FC236}">
                <a16:creationId xmlns:a16="http://schemas.microsoft.com/office/drawing/2014/main" id="{99FF01E2-48AA-4010-9E75-2EB3D4C4C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3560763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6699"/>
              </a:gs>
            </a:gsLst>
            <a:lin ang="5400000" scaled="1"/>
          </a:gradFill>
          <a:ln w="15875">
            <a:solidFill>
              <a:srgbClr val="800080"/>
            </a:solidFill>
            <a:miter lim="800000"/>
            <a:headEnd/>
            <a:tailEnd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物理结构设计</a:t>
            </a:r>
          </a:p>
        </p:txBody>
      </p:sp>
      <p:sp>
        <p:nvSpPr>
          <p:cNvPr id="468999" name="Text Box 7">
            <a:extLst>
              <a:ext uri="{FF2B5EF4-FFF2-40B4-BE49-F238E27FC236}">
                <a16:creationId xmlns:a16="http://schemas.microsoft.com/office/drawing/2014/main" id="{2DCBF278-22B3-4A06-83BB-2FD7FFA5B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538" y="4332288"/>
            <a:ext cx="2846387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33CCFF"/>
              </a:gs>
            </a:gsLst>
            <a:lin ang="5400000" scaled="1"/>
          </a:gradFill>
          <a:ln w="15875">
            <a:solidFill>
              <a:srgbClr val="0000FF"/>
            </a:solidFill>
            <a:miter lim="800000"/>
            <a:headEnd/>
            <a:tailEnd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数据库结构创建</a:t>
            </a:r>
          </a:p>
        </p:txBody>
      </p:sp>
      <p:sp>
        <p:nvSpPr>
          <p:cNvPr id="469000" name="Text Box 8">
            <a:extLst>
              <a:ext uri="{FF2B5EF4-FFF2-40B4-BE49-F238E27FC236}">
                <a16:creationId xmlns:a16="http://schemas.microsoft.com/office/drawing/2014/main" id="{8F7A6CAF-5E71-44B4-AE24-54D9D118F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091113"/>
            <a:ext cx="4427538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0099FF"/>
              </a:gs>
            </a:gsLst>
            <a:lin ang="5400000" scaled="1"/>
          </a:gradFill>
          <a:ln w="15875" algn="ctr">
            <a:solidFill>
              <a:srgbClr val="0000FF"/>
            </a:solidFill>
            <a:miter lim="800000"/>
            <a:headEnd/>
            <a:tailEnd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数据库应用行为设计与实现</a:t>
            </a:r>
          </a:p>
        </p:txBody>
      </p:sp>
      <p:sp>
        <p:nvSpPr>
          <p:cNvPr id="469001" name="Text Box 9">
            <a:extLst>
              <a:ext uri="{FF2B5EF4-FFF2-40B4-BE49-F238E27FC236}">
                <a16:creationId xmlns:a16="http://schemas.microsoft.com/office/drawing/2014/main" id="{536853A6-341D-4444-BD24-78D7C697A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675" y="5842000"/>
            <a:ext cx="3163888" cy="5397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CC9900"/>
              </a:gs>
            </a:gsLst>
            <a:lin ang="5400000" scaled="1"/>
          </a:gradFill>
          <a:ln w="15875">
            <a:solidFill>
              <a:srgbClr val="333300"/>
            </a:solidFill>
            <a:miter lim="800000"/>
            <a:headEnd/>
            <a:tailEnd/>
          </a:ln>
          <a:effectLst>
            <a:outerShdw algn="ctr" rotWithShape="0">
              <a:schemeClr val="tx1"/>
            </a:outerShdw>
          </a:effectLst>
        </p:spPr>
        <p:txBody>
          <a:bodyPr anchor="ctr" anchorCtr="1"/>
          <a:lstStyle/>
          <a:p>
            <a:pPr algn="ctr">
              <a:lnSpc>
                <a:spcPct val="88000"/>
              </a:lnSpc>
            </a:pPr>
            <a:r>
              <a:rPr lang="zh-CN" altLang="en-US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数据库运行与维护</a:t>
            </a:r>
          </a:p>
        </p:txBody>
      </p:sp>
      <p:sp>
        <p:nvSpPr>
          <p:cNvPr id="469002" name="Line 10">
            <a:extLst>
              <a:ext uri="{FF2B5EF4-FFF2-40B4-BE49-F238E27FC236}">
                <a16:creationId xmlns:a16="http://schemas.microsoft.com/office/drawing/2014/main" id="{4746DBDA-7B3B-4750-8713-CE84FC239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2584450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469003" name="Line 11">
            <a:extLst>
              <a:ext uri="{FF2B5EF4-FFF2-40B4-BE49-F238E27FC236}">
                <a16:creationId xmlns:a16="http://schemas.microsoft.com/office/drawing/2014/main" id="{715EFB08-DCE4-4EB7-BD14-45855A4F51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3343275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469004" name="Line 12">
            <a:extLst>
              <a:ext uri="{FF2B5EF4-FFF2-40B4-BE49-F238E27FC236}">
                <a16:creationId xmlns:a16="http://schemas.microsoft.com/office/drawing/2014/main" id="{B4E41B1F-BCB3-4DD5-9588-F920CC509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4876800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469005" name="Line 13">
            <a:extLst>
              <a:ext uri="{FF2B5EF4-FFF2-40B4-BE49-F238E27FC236}">
                <a16:creationId xmlns:a16="http://schemas.microsoft.com/office/drawing/2014/main" id="{0E6496AA-7770-4389-AAE9-EB253C4E76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1808163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469006" name="Line 14">
            <a:extLst>
              <a:ext uri="{FF2B5EF4-FFF2-40B4-BE49-F238E27FC236}">
                <a16:creationId xmlns:a16="http://schemas.microsoft.com/office/drawing/2014/main" id="{A81CB45E-97B9-4B43-A1F8-C459D50D84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4100513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469007" name="Line 15">
            <a:extLst>
              <a:ext uri="{FF2B5EF4-FFF2-40B4-BE49-F238E27FC236}">
                <a16:creationId xmlns:a16="http://schemas.microsoft.com/office/drawing/2014/main" id="{32E3802C-4208-4820-BADE-1708CE707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5622925"/>
            <a:ext cx="1588" cy="21590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arrow" w="med" len="med"/>
          </a:ln>
          <a:effectLst>
            <a:outerShdw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1"/>
          <a:lstStyle/>
          <a:p>
            <a:endParaRPr lang="zh-CN" altLang="en-US"/>
          </a:p>
        </p:txBody>
      </p:sp>
      <p:sp>
        <p:nvSpPr>
          <p:cNvPr id="469009" name="AutoShape 17">
            <a:extLst>
              <a:ext uri="{FF2B5EF4-FFF2-40B4-BE49-F238E27FC236}">
                <a16:creationId xmlns:a16="http://schemas.microsoft.com/office/drawing/2014/main" id="{6229223F-F58F-43E6-ABBC-38A13AEE8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0" y="4443413"/>
            <a:ext cx="1008063" cy="360362"/>
          </a:xfrm>
          <a:prstGeom prst="rightArrow">
            <a:avLst>
              <a:gd name="adj1" fmla="val 50000"/>
              <a:gd name="adj2" fmla="val 69934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9010" name="Rectangle 18">
            <a:extLst>
              <a:ext uri="{FF2B5EF4-FFF2-40B4-BE49-F238E27FC236}">
                <a16:creationId xmlns:a16="http://schemas.microsoft.com/office/drawing/2014/main" id="{FEDDC1EB-3265-441D-A1BF-03AACD40C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063" y="1143000"/>
            <a:ext cx="3360737" cy="5334000"/>
          </a:xfrm>
          <a:prstGeom prst="rect">
            <a:avLst/>
          </a:prstGeom>
          <a:gradFill rotWithShape="1">
            <a:gsLst>
              <a:gs pos="0">
                <a:srgbClr val="CCFFCC"/>
              </a:gs>
              <a:gs pos="50000">
                <a:schemeClr val="bg1"/>
              </a:gs>
              <a:gs pos="100000">
                <a:srgbClr val="CCFFCC"/>
              </a:gs>
            </a:gsLst>
            <a:lin ang="27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利用</a:t>
            </a:r>
            <a:r>
              <a:rPr lang="zh-CN" altLang="en-US" sz="2800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关系型</a:t>
            </a:r>
            <a:r>
              <a:rPr lang="en-US" altLang="zh-CN" sz="2800" b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DBMS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提供的可视化界面管理工具和数据库定义语言（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DDL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）创建数据库，确定数据库的存储结构与存储方式，创建关系数据库模式中的每一个关系表、创建索引等。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69"/>
    </mc:Choice>
    <mc:Fallback xmlns="">
      <p:transition spd="slow" advTm="3056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AutoShape 2">
            <a:extLst>
              <a:ext uri="{FF2B5EF4-FFF2-40B4-BE49-F238E27FC236}">
                <a16:creationId xmlns:a16="http://schemas.microsoft.com/office/drawing/2014/main" id="{020C7071-8B2C-4D66-899A-6EFF8C0D4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88900"/>
            <a:ext cx="1727200" cy="747713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FFFF99"/>
              </a:gs>
              <a:gs pos="50000">
                <a:srgbClr val="FFFFFF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algn="ctr"/>
            <a:r>
              <a:rPr lang="zh-CN" altLang="en-US" sz="32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引入</a:t>
            </a:r>
          </a:p>
        </p:txBody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DCBB705E-3235-45BB-B396-02EAF646A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97038"/>
            <a:ext cx="7891462" cy="3865562"/>
          </a:xfrm>
          <a:prstGeom prst="rect">
            <a:avLst/>
          </a:prstGeom>
          <a:noFill/>
          <a:ln w="9525">
            <a:solidFill>
              <a:srgbClr val="00CC00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E4A8"/>
                </a:solidFill>
              </a14:hiddenFill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828675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236663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4465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>
                <a:solidFill>
                  <a:srgbClr val="000000"/>
                </a:solidFill>
                <a:latin typeface="楷体_GB2312" pitchFamily="49" charset="-122"/>
              </a:rPr>
              <a:t>    </a:t>
            </a:r>
            <a:r>
              <a:rPr lang="en-US" altLang="zh-CN">
                <a:latin typeface="楷体_GB2312" pitchFamily="49" charset="-122"/>
              </a:rPr>
              <a:t>SQL Server 2005</a:t>
            </a:r>
            <a:r>
              <a:rPr lang="zh-CN" altLang="en-US">
                <a:latin typeface="楷体_GB2312" pitchFamily="49" charset="-122"/>
              </a:rPr>
              <a:t>是</a:t>
            </a:r>
            <a:r>
              <a:rPr lang="en-US" altLang="zh-CN">
                <a:latin typeface="楷体_GB2312" pitchFamily="49" charset="-122"/>
              </a:rPr>
              <a:t>Microsoft</a:t>
            </a:r>
            <a:r>
              <a:rPr lang="zh-CN" altLang="en-US">
                <a:latin typeface="楷体_GB2312" pitchFamily="49" charset="-122"/>
              </a:rPr>
              <a:t>公司推出的关系型网络数据库管理系统，是目前最流行的数据库开发平台之一。它支持多层客户机</a:t>
            </a:r>
            <a:r>
              <a:rPr lang="en-US" altLang="zh-CN">
                <a:latin typeface="楷体_GB2312" pitchFamily="49" charset="-122"/>
              </a:rPr>
              <a:t>/</a:t>
            </a:r>
            <a:r>
              <a:rPr lang="zh-CN" altLang="en-US">
                <a:latin typeface="楷体_GB2312" pitchFamily="49" charset="-122"/>
              </a:rPr>
              <a:t>服务器结构，支持多种开发平台和远程管理，具有强大的数据库管理功能，能够进行分布式事务处理和联机分析处理，并提供了一套功能完善且具备可视化界面的管理工具。</a:t>
            </a:r>
          </a:p>
        </p:txBody>
      </p:sp>
      <p:pic>
        <p:nvPicPr>
          <p:cNvPr id="466948" name="Picture 4">
            <a:extLst>
              <a:ext uri="{FF2B5EF4-FFF2-40B4-BE49-F238E27FC236}">
                <a16:creationId xmlns:a16="http://schemas.microsoft.com/office/drawing/2014/main" id="{18087D2C-858A-4742-A30A-664E4C6E0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100" y="5686425"/>
            <a:ext cx="1584325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849"/>
    </mc:Choice>
    <mc:Fallback xmlns="">
      <p:transition spd="slow" advTm="3684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>
            <a:extLst>
              <a:ext uri="{FF2B5EF4-FFF2-40B4-BE49-F238E27FC236}">
                <a16:creationId xmlns:a16="http://schemas.microsoft.com/office/drawing/2014/main" id="{3F18E566-3CE6-41A6-BDE4-B52322693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  <a:r>
              <a:rPr lang="en-US" altLang="zh-CN"/>
              <a:t>(4.1</a:t>
            </a:r>
            <a:r>
              <a:rPr lang="zh-CN" altLang="en-US"/>
              <a:t>节</a:t>
            </a:r>
            <a:r>
              <a:rPr lang="en-US" altLang="zh-CN"/>
              <a:t>-4.6</a:t>
            </a:r>
            <a:r>
              <a:rPr lang="zh-CN" altLang="en-US"/>
              <a:t>节</a:t>
            </a:r>
            <a:r>
              <a:rPr lang="en-US" altLang="zh-CN"/>
              <a:t>)</a:t>
            </a:r>
          </a:p>
        </p:txBody>
      </p:sp>
      <p:grpSp>
        <p:nvGrpSpPr>
          <p:cNvPr id="465954" name="Group 34">
            <a:extLst>
              <a:ext uri="{FF2B5EF4-FFF2-40B4-BE49-F238E27FC236}">
                <a16:creationId xmlns:a16="http://schemas.microsoft.com/office/drawing/2014/main" id="{65950643-4439-4874-BEAA-64E478566A09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2100263"/>
            <a:ext cx="6842125" cy="863600"/>
            <a:chOff x="1065" y="1263"/>
            <a:chExt cx="4310" cy="544"/>
          </a:xfrm>
        </p:grpSpPr>
        <p:sp>
          <p:nvSpPr>
            <p:cNvPr id="465924" name="AutoShape 4">
              <a:extLst>
                <a:ext uri="{FF2B5EF4-FFF2-40B4-BE49-F238E27FC236}">
                  <a16:creationId xmlns:a16="http://schemas.microsoft.com/office/drawing/2014/main" id="{B9D5B384-1229-4B67-89B4-232786369FC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2" y="1357"/>
              <a:ext cx="4003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5BA54">
                    <a:gamma/>
                    <a:tint val="21176"/>
                    <a:invGamma/>
                  </a:srgbClr>
                </a:gs>
                <a:gs pos="100000">
                  <a:srgbClr val="85BA5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25" name="AutoShape 5">
              <a:extLst>
                <a:ext uri="{FF2B5EF4-FFF2-40B4-BE49-F238E27FC236}">
                  <a16:creationId xmlns:a16="http://schemas.microsoft.com/office/drawing/2014/main" id="{632E266E-33C3-4238-A82A-1FAC7FEA10C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5" y="1263"/>
              <a:ext cx="553" cy="544"/>
            </a:xfrm>
            <a:prstGeom prst="diamond">
              <a:avLst/>
            </a:prstGeom>
            <a:solidFill>
              <a:srgbClr val="85BA5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26" name="Text Box 6">
              <a:extLst>
                <a:ext uri="{FF2B5EF4-FFF2-40B4-BE49-F238E27FC236}">
                  <a16:creationId xmlns:a16="http://schemas.microsoft.com/office/drawing/2014/main" id="{8E8E06E1-A28D-498A-99F0-868515C5EC4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1" y="1402"/>
              <a:ext cx="3588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SQL Server 2005</a:t>
              </a:r>
              <a:r>
                <a:rPr lang="zh-CN" altLang="en-US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数据库的存储结构</a:t>
              </a:r>
            </a:p>
          </p:txBody>
        </p:sp>
        <p:sp>
          <p:nvSpPr>
            <p:cNvPr id="465927" name="Text Box 7">
              <a:extLst>
                <a:ext uri="{FF2B5EF4-FFF2-40B4-BE49-F238E27FC236}">
                  <a16:creationId xmlns:a16="http://schemas.microsoft.com/office/drawing/2014/main" id="{650EFBA4-D2F5-4358-BF8D-55C14114FBB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17" y="1353"/>
              <a:ext cx="428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81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</a:rPr>
                <a:t>4.2</a:t>
              </a:r>
            </a:p>
          </p:txBody>
        </p:sp>
      </p:grpSp>
      <p:grpSp>
        <p:nvGrpSpPr>
          <p:cNvPr id="465955" name="Group 35">
            <a:extLst>
              <a:ext uri="{FF2B5EF4-FFF2-40B4-BE49-F238E27FC236}">
                <a16:creationId xmlns:a16="http://schemas.microsoft.com/office/drawing/2014/main" id="{6AA7318C-0CD9-4A62-B019-A1B5F3434960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2981325"/>
            <a:ext cx="6843712" cy="863600"/>
            <a:chOff x="1065" y="1818"/>
            <a:chExt cx="4311" cy="544"/>
          </a:xfrm>
        </p:grpSpPr>
        <p:sp>
          <p:nvSpPr>
            <p:cNvPr id="465929" name="AutoShape 9">
              <a:extLst>
                <a:ext uri="{FF2B5EF4-FFF2-40B4-BE49-F238E27FC236}">
                  <a16:creationId xmlns:a16="http://schemas.microsoft.com/office/drawing/2014/main" id="{7C999B55-9E48-41C7-87A6-FAFAED1F6D8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2" y="1912"/>
              <a:ext cx="40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E8848">
                    <a:gamma/>
                    <a:tint val="21176"/>
                    <a:invGamma/>
                  </a:srgbClr>
                </a:gs>
                <a:gs pos="100000">
                  <a:srgbClr val="DE8848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30" name="AutoShape 10">
              <a:extLst>
                <a:ext uri="{FF2B5EF4-FFF2-40B4-BE49-F238E27FC236}">
                  <a16:creationId xmlns:a16="http://schemas.microsoft.com/office/drawing/2014/main" id="{C37E1FFF-4995-4C4A-8812-54811135E1B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5" y="1818"/>
              <a:ext cx="553" cy="544"/>
            </a:xfrm>
            <a:prstGeom prst="diamond">
              <a:avLst/>
            </a:prstGeom>
            <a:solidFill>
              <a:srgbClr val="DE8848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31" name="Text Box 11">
              <a:extLst>
                <a:ext uri="{FF2B5EF4-FFF2-40B4-BE49-F238E27FC236}">
                  <a16:creationId xmlns:a16="http://schemas.microsoft.com/office/drawing/2014/main" id="{3B748599-15BC-4F0E-BB0C-E3D10EA6A50A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0" y="1957"/>
              <a:ext cx="291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SQL Server 2005</a:t>
              </a:r>
              <a:r>
                <a:rPr lang="zh-CN" altLang="en-US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数据库创建</a:t>
              </a:r>
            </a:p>
          </p:txBody>
        </p:sp>
        <p:sp>
          <p:nvSpPr>
            <p:cNvPr id="465932" name="Text Box 12">
              <a:extLst>
                <a:ext uri="{FF2B5EF4-FFF2-40B4-BE49-F238E27FC236}">
                  <a16:creationId xmlns:a16="http://schemas.microsoft.com/office/drawing/2014/main" id="{1FAD4FC5-8D5F-417A-96CA-55077428DB4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18" y="1923"/>
              <a:ext cx="428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</a:rPr>
                <a:t>4.3</a:t>
              </a:r>
            </a:p>
          </p:txBody>
        </p:sp>
      </p:grpSp>
      <p:grpSp>
        <p:nvGrpSpPr>
          <p:cNvPr id="465956" name="Group 36">
            <a:extLst>
              <a:ext uri="{FF2B5EF4-FFF2-40B4-BE49-F238E27FC236}">
                <a16:creationId xmlns:a16="http://schemas.microsoft.com/office/drawing/2014/main" id="{26B551BD-7C22-4E5E-BC7D-A59BEE8BF96F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3860800"/>
            <a:ext cx="6843712" cy="863600"/>
            <a:chOff x="1065" y="2372"/>
            <a:chExt cx="4311" cy="544"/>
          </a:xfrm>
        </p:grpSpPr>
        <p:sp>
          <p:nvSpPr>
            <p:cNvPr id="465934" name="AutoShape 14">
              <a:extLst>
                <a:ext uri="{FF2B5EF4-FFF2-40B4-BE49-F238E27FC236}">
                  <a16:creationId xmlns:a16="http://schemas.microsoft.com/office/drawing/2014/main" id="{0F81F835-BDDC-4321-A5D8-18BE21E54F2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2" y="2466"/>
              <a:ext cx="40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5086C2">
                    <a:gamma/>
                    <a:tint val="21176"/>
                    <a:invGamma/>
                  </a:srgbClr>
                </a:gs>
                <a:gs pos="100000">
                  <a:srgbClr val="5086C2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35" name="AutoShape 15">
              <a:extLst>
                <a:ext uri="{FF2B5EF4-FFF2-40B4-BE49-F238E27FC236}">
                  <a16:creationId xmlns:a16="http://schemas.microsoft.com/office/drawing/2014/main" id="{769FABA4-F9CF-4CFE-8E42-1ED508FADEE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5" y="2372"/>
              <a:ext cx="553" cy="544"/>
            </a:xfrm>
            <a:prstGeom prst="diamond">
              <a:avLst/>
            </a:prstGeom>
            <a:solidFill>
              <a:srgbClr val="4C59D2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36" name="Text Box 16">
              <a:extLst>
                <a:ext uri="{FF2B5EF4-FFF2-40B4-BE49-F238E27FC236}">
                  <a16:creationId xmlns:a16="http://schemas.microsoft.com/office/drawing/2014/main" id="{892B386C-825D-4576-968B-68321BC6030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0" y="2511"/>
              <a:ext cx="123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创建数据表</a:t>
              </a:r>
            </a:p>
          </p:txBody>
        </p:sp>
        <p:sp>
          <p:nvSpPr>
            <p:cNvPr id="465937" name="Text Box 17">
              <a:extLst>
                <a:ext uri="{FF2B5EF4-FFF2-40B4-BE49-F238E27FC236}">
                  <a16:creationId xmlns:a16="http://schemas.microsoft.com/office/drawing/2014/main" id="{B1170A54-B227-4F92-9C19-DA468AB8A60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18" y="2494"/>
              <a:ext cx="428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</a:rPr>
                <a:t>4.4</a:t>
              </a:r>
            </a:p>
          </p:txBody>
        </p:sp>
      </p:grpSp>
      <p:grpSp>
        <p:nvGrpSpPr>
          <p:cNvPr id="465957" name="Group 37">
            <a:extLst>
              <a:ext uri="{FF2B5EF4-FFF2-40B4-BE49-F238E27FC236}">
                <a16:creationId xmlns:a16="http://schemas.microsoft.com/office/drawing/2014/main" id="{B75DBAA8-24B8-432E-9595-C9C2C6A2910F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4741863"/>
            <a:ext cx="6843712" cy="863600"/>
            <a:chOff x="1065" y="2927"/>
            <a:chExt cx="4311" cy="544"/>
          </a:xfrm>
        </p:grpSpPr>
        <p:sp>
          <p:nvSpPr>
            <p:cNvPr id="465939" name="AutoShape 19">
              <a:extLst>
                <a:ext uri="{FF2B5EF4-FFF2-40B4-BE49-F238E27FC236}">
                  <a16:creationId xmlns:a16="http://schemas.microsoft.com/office/drawing/2014/main" id="{8A7E4F9B-DC45-40F7-8373-5E2281D9CF6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2" y="3021"/>
              <a:ext cx="40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A0B5C4">
                    <a:gamma/>
                    <a:tint val="21176"/>
                    <a:invGamma/>
                  </a:srgbClr>
                </a:gs>
                <a:gs pos="100000">
                  <a:srgbClr val="A0B5C4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40" name="AutoShape 20">
              <a:extLst>
                <a:ext uri="{FF2B5EF4-FFF2-40B4-BE49-F238E27FC236}">
                  <a16:creationId xmlns:a16="http://schemas.microsoft.com/office/drawing/2014/main" id="{CA804DE8-36E6-4EFD-B072-B929FA708F1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5" y="2927"/>
              <a:ext cx="553" cy="544"/>
            </a:xfrm>
            <a:prstGeom prst="diamond">
              <a:avLst/>
            </a:prstGeom>
            <a:solidFill>
              <a:srgbClr val="A0B5C4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41" name="Text Box 21">
              <a:extLst>
                <a:ext uri="{FF2B5EF4-FFF2-40B4-BE49-F238E27FC236}">
                  <a16:creationId xmlns:a16="http://schemas.microsoft.com/office/drawing/2014/main" id="{EEC715BC-C3CB-47A6-B0B6-CCFE105C5A0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0" y="3066"/>
              <a:ext cx="2356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表中数据的插入和更新</a:t>
              </a:r>
            </a:p>
          </p:txBody>
        </p:sp>
        <p:sp>
          <p:nvSpPr>
            <p:cNvPr id="465942" name="Text Box 22">
              <a:extLst>
                <a:ext uri="{FF2B5EF4-FFF2-40B4-BE49-F238E27FC236}">
                  <a16:creationId xmlns:a16="http://schemas.microsoft.com/office/drawing/2014/main" id="{9513C107-4F04-4841-9625-1589A6252AE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18" y="3018"/>
              <a:ext cx="428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</a:rPr>
                <a:t>4.5</a:t>
              </a:r>
            </a:p>
          </p:txBody>
        </p:sp>
      </p:grpSp>
      <p:grpSp>
        <p:nvGrpSpPr>
          <p:cNvPr id="465958" name="Group 38">
            <a:extLst>
              <a:ext uri="{FF2B5EF4-FFF2-40B4-BE49-F238E27FC236}">
                <a16:creationId xmlns:a16="http://schemas.microsoft.com/office/drawing/2014/main" id="{08F5A68D-6784-441C-9FC4-EED75FAE4218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5622925"/>
            <a:ext cx="6843712" cy="854075"/>
            <a:chOff x="1065" y="3482"/>
            <a:chExt cx="4311" cy="538"/>
          </a:xfrm>
        </p:grpSpPr>
        <p:sp>
          <p:nvSpPr>
            <p:cNvPr id="465944" name="AutoShape 24">
              <a:extLst>
                <a:ext uri="{FF2B5EF4-FFF2-40B4-BE49-F238E27FC236}">
                  <a16:creationId xmlns:a16="http://schemas.microsoft.com/office/drawing/2014/main" id="{B96E3793-F776-4CBA-BD8E-03A51338128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2" y="3575"/>
              <a:ext cx="40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45" name="AutoShape 25">
              <a:extLst>
                <a:ext uri="{FF2B5EF4-FFF2-40B4-BE49-F238E27FC236}">
                  <a16:creationId xmlns:a16="http://schemas.microsoft.com/office/drawing/2014/main" id="{F7C4F64A-56B5-4951-82E0-927DBE59877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5" y="3482"/>
              <a:ext cx="553" cy="538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46" name="Text Box 26">
              <a:extLst>
                <a:ext uri="{FF2B5EF4-FFF2-40B4-BE49-F238E27FC236}">
                  <a16:creationId xmlns:a16="http://schemas.microsoft.com/office/drawing/2014/main" id="{EBF50BB4-C65B-4B39-BAA7-A74DC2355257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0" y="3619"/>
              <a:ext cx="1012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创建索引</a:t>
              </a:r>
            </a:p>
          </p:txBody>
        </p:sp>
        <p:sp>
          <p:nvSpPr>
            <p:cNvPr id="465947" name="Text Box 27">
              <a:extLst>
                <a:ext uri="{FF2B5EF4-FFF2-40B4-BE49-F238E27FC236}">
                  <a16:creationId xmlns:a16="http://schemas.microsoft.com/office/drawing/2014/main" id="{1E429287-45B5-456F-A4A9-D1886E58C09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18" y="3587"/>
              <a:ext cx="428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</a:rPr>
                <a:t>4.6</a:t>
              </a:r>
            </a:p>
          </p:txBody>
        </p:sp>
      </p:grpSp>
      <p:grpSp>
        <p:nvGrpSpPr>
          <p:cNvPr id="465953" name="Group 33">
            <a:extLst>
              <a:ext uri="{FF2B5EF4-FFF2-40B4-BE49-F238E27FC236}">
                <a16:creationId xmlns:a16="http://schemas.microsoft.com/office/drawing/2014/main" id="{F0727FBF-2BF6-4E0B-82BC-738AC6019CA3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1220788"/>
            <a:ext cx="6843712" cy="863600"/>
            <a:chOff x="1065" y="709"/>
            <a:chExt cx="4311" cy="544"/>
          </a:xfrm>
        </p:grpSpPr>
        <p:sp>
          <p:nvSpPr>
            <p:cNvPr id="465949" name="AutoShape 29">
              <a:extLst>
                <a:ext uri="{FF2B5EF4-FFF2-40B4-BE49-F238E27FC236}">
                  <a16:creationId xmlns:a16="http://schemas.microsoft.com/office/drawing/2014/main" id="{EF3A2FC8-3C5A-41E2-94E7-9BF2640A749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72" y="803"/>
              <a:ext cx="4004" cy="4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00CCFF">
                    <a:gamma/>
                    <a:tint val="21176"/>
                    <a:invGamma/>
                  </a:srgbClr>
                </a:gs>
                <a:gs pos="100000">
                  <a:srgbClr val="00CCFF"/>
                </a:gs>
              </a:gsLst>
              <a:lin ang="0" scaled="1"/>
            </a:gradFill>
            <a:ln w="12700" algn="ctr">
              <a:solidFill>
                <a:srgbClr val="FFFFFF"/>
              </a:solidFill>
              <a:round/>
              <a:headEnd/>
              <a:tailEnd/>
            </a:ln>
            <a:effectLst>
              <a:outerShdw dist="99190" dir="238833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50" name="AutoShape 30">
              <a:extLst>
                <a:ext uri="{FF2B5EF4-FFF2-40B4-BE49-F238E27FC236}">
                  <a16:creationId xmlns:a16="http://schemas.microsoft.com/office/drawing/2014/main" id="{80B1B337-8F90-4D7C-949E-DAA6BB1668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5" y="709"/>
              <a:ext cx="553" cy="544"/>
            </a:xfrm>
            <a:prstGeom prst="diamond">
              <a:avLst/>
            </a:prstGeom>
            <a:solidFill>
              <a:srgbClr val="00CCFF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951" name="Text Box 31">
              <a:extLst>
                <a:ext uri="{FF2B5EF4-FFF2-40B4-BE49-F238E27FC236}">
                  <a16:creationId xmlns:a16="http://schemas.microsoft.com/office/drawing/2014/main" id="{571FAD04-23AE-4D5D-AB5E-538C591D012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650" y="848"/>
              <a:ext cx="3252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认识</a:t>
              </a:r>
              <a:r>
                <a:rPr lang="en-US" altLang="zh-CN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SQL Server</a:t>
              </a:r>
              <a:r>
                <a:rPr lang="zh-CN" altLang="en-US" sz="28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关系数据库系统</a:t>
              </a:r>
            </a:p>
          </p:txBody>
        </p:sp>
        <p:sp>
          <p:nvSpPr>
            <p:cNvPr id="465952" name="Text Box 32">
              <a:extLst>
                <a:ext uri="{FF2B5EF4-FFF2-40B4-BE49-F238E27FC236}">
                  <a16:creationId xmlns:a16="http://schemas.microsoft.com/office/drawing/2014/main" id="{BCDF740C-1E25-455C-BB8D-6845E6E58AB9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18" y="831"/>
              <a:ext cx="428" cy="327"/>
            </a:xfrm>
            <a:prstGeom prst="rect">
              <a:avLst/>
            </a:prstGeom>
            <a:noFill/>
            <a:ln>
              <a:noFill/>
            </a:ln>
            <a:effectLst>
              <a:outerShdw dist="28398" dir="9206097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DE8848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3366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2800" b="1">
                  <a:solidFill>
                    <a:srgbClr val="FFFFFF"/>
                  </a:solidFill>
                </a:rPr>
                <a:t>4.1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45"/>
    </mc:Choice>
    <mc:Fallback xmlns="">
      <p:transition spd="slow" advTm="944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>
            <a:extLst>
              <a:ext uri="{FF2B5EF4-FFF2-40B4-BE49-F238E27FC236}">
                <a16:creationId xmlns:a16="http://schemas.microsoft.com/office/drawing/2014/main" id="{E6656196-10BA-4EE7-8729-13D9C5292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88D8AF13-DEBB-40D0-B589-3690ADD72F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、基础知识</a:t>
            </a:r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）数据库引擎</a:t>
            </a:r>
          </a:p>
          <a:p>
            <a:r>
              <a:rPr lang="zh-CN" altLang="en-US"/>
              <a:t>        数据库引擎是用于存储、处理和保护数据的核心服务。利用数据库引擎可控制访问权限并快速处理事务，从而满足企业内大多数需要处理大量数据的应用程序的要求。</a:t>
            </a:r>
          </a:p>
          <a:p>
            <a:r>
              <a:rPr lang="zh-CN" altLang="en-US"/>
              <a:t>       在大多数情况下，使用</a:t>
            </a:r>
            <a:r>
              <a:rPr lang="en-US" altLang="zh-CN"/>
              <a:t>SQL Server 2005</a:t>
            </a:r>
            <a:r>
              <a:rPr lang="zh-CN" altLang="en-US"/>
              <a:t>就是使用数据库引擎。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24"/>
    </mc:Choice>
    <mc:Fallback xmlns="">
      <p:transition spd="slow" advTm="4162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>
            <a:extLst>
              <a:ext uri="{FF2B5EF4-FFF2-40B4-BE49-F238E27FC236}">
                <a16:creationId xmlns:a16="http://schemas.microsoft.com/office/drawing/2014/main" id="{27333266-8DA1-41B9-BB22-0D6977054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DBAF0D82-AEDD-4AB0-9058-F356972984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、基础知识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）实例</a:t>
            </a:r>
          </a:p>
        </p:txBody>
      </p:sp>
      <p:pic>
        <p:nvPicPr>
          <p:cNvPr id="472068" name="Picture 4">
            <a:extLst>
              <a:ext uri="{FF2B5EF4-FFF2-40B4-BE49-F238E27FC236}">
                <a16:creationId xmlns:a16="http://schemas.microsoft.com/office/drawing/2014/main" id="{B142062A-D0E9-4EFB-BEFE-BEA894DE2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50" y="1247775"/>
            <a:ext cx="6000750" cy="543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2069" name="Oval 5">
            <a:extLst>
              <a:ext uri="{FF2B5EF4-FFF2-40B4-BE49-F238E27FC236}">
                <a16:creationId xmlns:a16="http://schemas.microsoft.com/office/drawing/2014/main" id="{60032031-452E-4473-B539-ECE4EFC62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371600"/>
            <a:ext cx="1371600" cy="685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sm" len="lg"/>
            <a:tailEnd type="none" w="sm" len="lg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507"/>
    </mc:Choice>
    <mc:Fallback xmlns="">
      <p:transition spd="slow" advTm="17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>
            <a:extLst>
              <a:ext uri="{FF2B5EF4-FFF2-40B4-BE49-F238E27FC236}">
                <a16:creationId xmlns:a16="http://schemas.microsoft.com/office/drawing/2014/main" id="{EDA5BEC7-9773-4F80-A5A7-4759AE5B9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522243" name="Rectangle 3">
            <a:extLst>
              <a:ext uri="{FF2B5EF4-FFF2-40B4-BE49-F238E27FC236}">
                <a16:creationId xmlns:a16="http://schemas.microsoft.com/office/drawing/2014/main" id="{0277F78B-B2E6-42A0-B3B9-343A9BF469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、基础知识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）实例</a:t>
            </a:r>
          </a:p>
          <a:p>
            <a:pPr>
              <a:lnSpc>
                <a:spcPct val="130000"/>
              </a:lnSpc>
              <a:spcBef>
                <a:spcPct val="30000"/>
              </a:spcBef>
            </a:pPr>
            <a:r>
              <a:rPr lang="zh-CN" altLang="en-US"/>
              <a:t>       </a:t>
            </a:r>
            <a:r>
              <a:rPr lang="en-US" altLang="zh-CN"/>
              <a:t>SQL Server </a:t>
            </a:r>
            <a:r>
              <a:rPr lang="zh-CN" altLang="en-US"/>
              <a:t>实例是在计算机上安装的一个数据库服务器，在同一台计算机上可以安装多个</a:t>
            </a:r>
            <a:r>
              <a:rPr lang="en-US" altLang="zh-CN"/>
              <a:t>SQL Server </a:t>
            </a:r>
            <a:r>
              <a:rPr lang="zh-CN" altLang="en-US"/>
              <a:t>服务器，也可以使</a:t>
            </a:r>
            <a:r>
              <a:rPr lang="en-US" altLang="zh-CN"/>
              <a:t>SQL Server</a:t>
            </a:r>
            <a:r>
              <a:rPr lang="zh-CN" altLang="en-US"/>
              <a:t>不同版本在同一台计算机上运行，每个服务器实例必须有一个实例名。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92"/>
    </mc:Choice>
    <mc:Fallback xmlns="">
      <p:transition spd="slow" advTm="3389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>
            <a:extLst>
              <a:ext uri="{FF2B5EF4-FFF2-40B4-BE49-F238E27FC236}">
                <a16:creationId xmlns:a16="http://schemas.microsoft.com/office/drawing/2014/main" id="{AF274ED7-AE48-4743-A4CC-8C94CBA5BE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A8E939EB-9CD3-4F31-9227-F30668FBDC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、基础知识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）实例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u"/>
            </a:pPr>
            <a:r>
              <a:rPr lang="zh-CN" altLang="en-US" sz="2400"/>
              <a:t>每个实例可以独立运行，每个实例有自己的内容</a:t>
            </a:r>
          </a:p>
          <a:p>
            <a:pPr lvl="1">
              <a:lnSpc>
                <a:spcPct val="130000"/>
              </a:lnSpc>
              <a:spcBef>
                <a:spcPct val="30000"/>
              </a:spcBef>
              <a:buClr>
                <a:srgbClr val="003399"/>
              </a:buClr>
            </a:pPr>
            <a:r>
              <a:rPr lang="zh-CN" altLang="en-US" sz="2400"/>
              <a:t>不同的系统数据库和用户数据库</a:t>
            </a:r>
          </a:p>
          <a:p>
            <a:pPr lvl="1">
              <a:lnSpc>
                <a:spcPct val="130000"/>
              </a:lnSpc>
              <a:spcBef>
                <a:spcPct val="30000"/>
              </a:spcBef>
              <a:buClr>
                <a:srgbClr val="003399"/>
              </a:buClr>
            </a:pPr>
            <a:r>
              <a:rPr lang="zh-CN" altLang="en-US" sz="2400"/>
              <a:t>在注册表中有不同的</a:t>
            </a:r>
            <a:r>
              <a:rPr lang="en-US" altLang="zh-CN" sz="2400"/>
              <a:t>SQL Server </a:t>
            </a:r>
            <a:r>
              <a:rPr lang="zh-CN" altLang="en-US" sz="2400"/>
              <a:t>服务、</a:t>
            </a:r>
            <a:r>
              <a:rPr lang="en-US" altLang="zh-CN" sz="2400"/>
              <a:t>SQL Server Agent</a:t>
            </a:r>
            <a:r>
              <a:rPr lang="zh-CN" altLang="en-US" sz="2400"/>
              <a:t>服务和不同的数据库引擎</a:t>
            </a:r>
          </a:p>
          <a:p>
            <a:pPr lvl="1">
              <a:lnSpc>
                <a:spcPct val="130000"/>
              </a:lnSpc>
              <a:spcBef>
                <a:spcPct val="30000"/>
              </a:spcBef>
              <a:buClr>
                <a:srgbClr val="003399"/>
              </a:buClr>
            </a:pPr>
            <a:r>
              <a:rPr lang="zh-CN" altLang="en-US" sz="2400"/>
              <a:t>不同的网络连接地址，便于指明访问哪一个服务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84"/>
    </mc:Choice>
    <mc:Fallback xmlns="">
      <p:transition spd="slow" advTm="3828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Rectangle 2">
            <a:extLst>
              <a:ext uri="{FF2B5EF4-FFF2-40B4-BE49-F238E27FC236}">
                <a16:creationId xmlns:a16="http://schemas.microsoft.com/office/drawing/2014/main" id="{13757975-21F7-47D6-915B-700FEBFF18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524291" name="Rectangle 3">
            <a:extLst>
              <a:ext uri="{FF2B5EF4-FFF2-40B4-BE49-F238E27FC236}">
                <a16:creationId xmlns:a16="http://schemas.microsoft.com/office/drawing/2014/main" id="{1B8111C8-2CB1-417B-AF6A-8F2B42434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、基础知识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）实例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u"/>
            </a:pPr>
            <a:r>
              <a:rPr lang="zh-CN" altLang="en-US" sz="2400"/>
              <a:t>每个实例也有共享的内容</a:t>
            </a:r>
          </a:p>
          <a:p>
            <a:pPr lvl="1">
              <a:lnSpc>
                <a:spcPct val="130000"/>
              </a:lnSpc>
              <a:spcBef>
                <a:spcPct val="30000"/>
              </a:spcBef>
              <a:buClr>
                <a:srgbClr val="003399"/>
              </a:buClr>
            </a:pPr>
            <a:r>
              <a:rPr lang="zh-CN" altLang="en-US" sz="2400"/>
              <a:t>在“开始”菜单中只有一个程序组</a:t>
            </a:r>
          </a:p>
          <a:p>
            <a:pPr lvl="1">
              <a:lnSpc>
                <a:spcPct val="130000"/>
              </a:lnSpc>
              <a:spcBef>
                <a:spcPct val="30000"/>
              </a:spcBef>
              <a:buClr>
                <a:srgbClr val="003399"/>
              </a:buClr>
            </a:pPr>
            <a:r>
              <a:rPr lang="zh-CN" altLang="en-US" sz="2400"/>
              <a:t>只有一套客户端工具</a:t>
            </a:r>
          </a:p>
          <a:p>
            <a:pPr>
              <a:lnSpc>
                <a:spcPct val="130000"/>
              </a:lnSpc>
              <a:spcBef>
                <a:spcPct val="30000"/>
              </a:spcBef>
              <a:buFont typeface="Wingdings" panose="05000000000000000000" pitchFamily="2" charset="2"/>
              <a:buChar char="u"/>
            </a:pPr>
            <a:r>
              <a:rPr lang="zh-CN" altLang="en-US" sz="2400"/>
              <a:t>客户应用程序可以同时连接同一个计算机上不同的实例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250"/>
    </mc:Choice>
    <mc:Fallback xmlns="">
      <p:transition spd="slow" advTm="3825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>
            <a:extLst>
              <a:ext uri="{FF2B5EF4-FFF2-40B4-BE49-F238E27FC236}">
                <a16:creationId xmlns:a16="http://schemas.microsoft.com/office/drawing/2014/main" id="{B73B6A39-FFC7-481B-983F-CC9CBDB4F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525315" name="Rectangle 3">
            <a:extLst>
              <a:ext uri="{FF2B5EF4-FFF2-40B4-BE49-F238E27FC236}">
                <a16:creationId xmlns:a16="http://schemas.microsoft.com/office/drawing/2014/main" id="{1901940D-68EE-4B0A-9220-B6D86CF49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、基础知识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）实例</a:t>
            </a:r>
          </a:p>
        </p:txBody>
      </p:sp>
      <p:pic>
        <p:nvPicPr>
          <p:cNvPr id="525316" name="Picture 4">
            <a:extLst>
              <a:ext uri="{FF2B5EF4-FFF2-40B4-BE49-F238E27FC236}">
                <a16:creationId xmlns:a16="http://schemas.microsoft.com/office/drawing/2014/main" id="{2FDBE439-4A8E-433C-A6F0-6E24BB9D2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325" y="1247775"/>
            <a:ext cx="6010275" cy="544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5317" name="Group 5">
            <a:extLst>
              <a:ext uri="{FF2B5EF4-FFF2-40B4-BE49-F238E27FC236}">
                <a16:creationId xmlns:a16="http://schemas.microsoft.com/office/drawing/2014/main" id="{AE328FD7-589C-444E-AC0D-F124E6E74CF3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429000"/>
            <a:ext cx="5029200" cy="2895600"/>
            <a:chOff x="2112" y="1200"/>
            <a:chExt cx="3168" cy="2112"/>
          </a:xfrm>
        </p:grpSpPr>
        <p:sp>
          <p:nvSpPr>
            <p:cNvPr id="525318" name="Oval 6">
              <a:extLst>
                <a:ext uri="{FF2B5EF4-FFF2-40B4-BE49-F238E27FC236}">
                  <a16:creationId xmlns:a16="http://schemas.microsoft.com/office/drawing/2014/main" id="{EB2EBF91-98EE-4357-A89A-380064C0A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200"/>
              <a:ext cx="1008" cy="3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5319" name="AutoShape 7">
              <a:extLst>
                <a:ext uri="{FF2B5EF4-FFF2-40B4-BE49-F238E27FC236}">
                  <a16:creationId xmlns:a16="http://schemas.microsoft.com/office/drawing/2014/main" id="{015913F0-7EDD-490B-95A4-BDFE68804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728"/>
              <a:ext cx="2496" cy="1584"/>
            </a:xfrm>
            <a:prstGeom prst="wedgeRectCallout">
              <a:avLst>
                <a:gd name="adj1" fmla="val -40944"/>
                <a:gd name="adj2" fmla="val -60986"/>
              </a:avLst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/>
            <a:lstStyle/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000099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默认实例：用计算机在网络上的名字命名。</a:t>
              </a:r>
              <a:r>
                <a:rPr lang="zh-CN" altLang="en-US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在安装过程中，系统一般选择默认的数据库服务器实例名。</a:t>
              </a:r>
            </a:p>
          </p:txBody>
        </p:sp>
      </p:grpSp>
      <p:grpSp>
        <p:nvGrpSpPr>
          <p:cNvPr id="525323" name="Group 11">
            <a:extLst>
              <a:ext uri="{FF2B5EF4-FFF2-40B4-BE49-F238E27FC236}">
                <a16:creationId xmlns:a16="http://schemas.microsoft.com/office/drawing/2014/main" id="{620C7E01-3828-4DDD-9045-E7B13B2B2F83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971800"/>
            <a:ext cx="5867400" cy="3200400"/>
            <a:chOff x="1968" y="1872"/>
            <a:chExt cx="3696" cy="2016"/>
          </a:xfrm>
        </p:grpSpPr>
        <p:sp>
          <p:nvSpPr>
            <p:cNvPr id="525321" name="Oval 9">
              <a:extLst>
                <a:ext uri="{FF2B5EF4-FFF2-40B4-BE49-F238E27FC236}">
                  <a16:creationId xmlns:a16="http://schemas.microsoft.com/office/drawing/2014/main" id="{6554F985-EB00-428C-BA28-6C2D2FF7F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00"/>
              <a:ext cx="1008" cy="3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lg"/>
              <a:tailEnd type="none" w="sm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5322" name="AutoShape 10">
              <a:extLst>
                <a:ext uri="{FF2B5EF4-FFF2-40B4-BE49-F238E27FC236}">
                  <a16:creationId xmlns:a16="http://schemas.microsoft.com/office/drawing/2014/main" id="{0111A160-25DE-49A9-86CD-897E02A7F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872"/>
              <a:ext cx="2592" cy="2016"/>
            </a:xfrm>
            <a:prstGeom prst="wedgeRectCallout">
              <a:avLst>
                <a:gd name="adj1" fmla="val -64273"/>
                <a:gd name="adj2" fmla="val -18056"/>
              </a:avLst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/>
            <a:lstStyle/>
            <a:p>
              <a:pPr>
                <a:lnSpc>
                  <a:spcPct val="120000"/>
                </a:lnSpc>
                <a:spcBef>
                  <a:spcPct val="20000"/>
                </a:spcBef>
                <a:buClr>
                  <a:srgbClr val="000099"/>
                </a:buClr>
                <a:buSzPct val="60000"/>
                <a:buFont typeface="Wingdings" panose="05000000000000000000" pitchFamily="2" charset="2"/>
                <a:buNone/>
              </a:pPr>
              <a:r>
                <a:rPr lang="zh-CN" altLang="en-US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命名实例：计算机在网络上的名字</a:t>
              </a:r>
              <a:r>
                <a:rPr lang="en-US" altLang="zh-CN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+</a:t>
              </a:r>
              <a:r>
                <a:rPr lang="zh-CN" altLang="en-US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给定的实例名字，即“计算机名</a:t>
              </a:r>
              <a:r>
                <a:rPr lang="en-US" altLang="zh-CN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\</a:t>
              </a:r>
              <a:r>
                <a:rPr lang="zh-CN" altLang="en-US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实例名”。</a:t>
              </a:r>
              <a:r>
                <a:rPr lang="zh-CN" altLang="en-US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如果“默认实例”复选框是不可选的，说明默认实例已经安装，那么我们只能选择一个自命名的命名实例名称。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459"/>
    </mc:Choice>
    <mc:Fallback xmlns="">
      <p:transition spd="slow" advTm="894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25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>
            <a:extLst>
              <a:ext uri="{FF2B5EF4-FFF2-40B4-BE49-F238E27FC236}">
                <a16:creationId xmlns:a16="http://schemas.microsoft.com/office/drawing/2014/main" id="{2B1AF37F-7477-47EA-9149-3E18A45F0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15E4E5B2-9E49-435E-BB20-6F8D459455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 </a:t>
            </a:r>
            <a:r>
              <a:rPr lang="en-US" altLang="zh-CN"/>
              <a:t>SQL Server Management Studio</a:t>
            </a:r>
          </a:p>
          <a:p>
            <a:r>
              <a:rPr lang="en-US" altLang="zh-CN"/>
              <a:t>         SQL Server Management Studio</a:t>
            </a:r>
            <a:r>
              <a:rPr lang="zh-CN" altLang="en-US"/>
              <a:t>是</a:t>
            </a:r>
            <a:r>
              <a:rPr lang="en-US" altLang="zh-CN"/>
              <a:t>SQL Server 2005</a:t>
            </a:r>
            <a:r>
              <a:rPr lang="zh-CN" altLang="en-US"/>
              <a:t>提供的一个可视化集成开发环境，是</a:t>
            </a:r>
            <a:r>
              <a:rPr lang="en-US" altLang="zh-CN"/>
              <a:t>SQL Server 2005</a:t>
            </a:r>
            <a:r>
              <a:rPr lang="zh-CN" altLang="en-US"/>
              <a:t>最重要的管理工具，它将图形化工具和多功能的脚本编辑器组合在一起，完成对</a:t>
            </a:r>
            <a:r>
              <a:rPr lang="en-US" altLang="zh-CN"/>
              <a:t>SQL Server</a:t>
            </a:r>
            <a:r>
              <a:rPr lang="zh-CN" altLang="en-US"/>
              <a:t>的访问、配置、控制、管理和开发等工作。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507"/>
    </mc:Choice>
    <mc:Fallback xmlns="">
      <p:transition spd="slow" advTm="3250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>
            <a:extLst>
              <a:ext uri="{FF2B5EF4-FFF2-40B4-BE49-F238E27FC236}">
                <a16:creationId xmlns:a16="http://schemas.microsoft.com/office/drawing/2014/main" id="{330702D1-C837-4100-B75F-222E67144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526339" name="Rectangle 3">
            <a:extLst>
              <a:ext uri="{FF2B5EF4-FFF2-40B4-BE49-F238E27FC236}">
                <a16:creationId xmlns:a16="http://schemas.microsoft.com/office/drawing/2014/main" id="{E96900F3-A999-420C-965F-EA1470225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 </a:t>
            </a:r>
            <a:r>
              <a:rPr lang="en-US" altLang="zh-CN"/>
              <a:t>SQL Server Management Studio</a:t>
            </a:r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）启动与退出</a:t>
            </a:r>
          </a:p>
        </p:txBody>
      </p:sp>
      <p:pic>
        <p:nvPicPr>
          <p:cNvPr id="526340" name="Picture 4">
            <a:extLst>
              <a:ext uri="{FF2B5EF4-FFF2-40B4-BE49-F238E27FC236}">
                <a16:creationId xmlns:a16="http://schemas.microsoft.com/office/drawing/2014/main" id="{C4443F06-9783-45A3-86DF-033EC2E13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8"/>
          <a:stretch>
            <a:fillRect/>
          </a:stretch>
        </p:blipFill>
        <p:spPr bwMode="auto">
          <a:xfrm>
            <a:off x="1066800" y="1981200"/>
            <a:ext cx="7542213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341" name="Picture 5">
            <a:extLst>
              <a:ext uri="{FF2B5EF4-FFF2-40B4-BE49-F238E27FC236}">
                <a16:creationId xmlns:a16="http://schemas.microsoft.com/office/drawing/2014/main" id="{D891B43C-B4DF-48E1-8635-D99ADAEAA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133600"/>
            <a:ext cx="670560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6342" name="Picture 6">
            <a:extLst>
              <a:ext uri="{FF2B5EF4-FFF2-40B4-BE49-F238E27FC236}">
                <a16:creationId xmlns:a16="http://schemas.microsoft.com/office/drawing/2014/main" id="{A3F63699-0585-4A57-95DF-0CC0DCCB1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8001000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510"/>
    </mc:Choice>
    <mc:Fallback xmlns="">
      <p:transition spd="slow" advTm="645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263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263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52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>
            <a:extLst>
              <a:ext uri="{FF2B5EF4-FFF2-40B4-BE49-F238E27FC236}">
                <a16:creationId xmlns:a16="http://schemas.microsoft.com/office/drawing/2014/main" id="{FACF6763-8117-49FD-94E5-3B16F186D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09194C54-4BB6-4F47-A411-49446E17C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 </a:t>
            </a:r>
            <a:r>
              <a:rPr lang="en-US" altLang="zh-CN"/>
              <a:t>SQL Server Management Studio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）工作界面</a:t>
            </a:r>
          </a:p>
        </p:txBody>
      </p:sp>
      <p:pic>
        <p:nvPicPr>
          <p:cNvPr id="527367" name="Picture 7">
            <a:extLst>
              <a:ext uri="{FF2B5EF4-FFF2-40B4-BE49-F238E27FC236}">
                <a16:creationId xmlns:a16="http://schemas.microsoft.com/office/drawing/2014/main" id="{353ED72B-2746-4831-92BA-01F3F7CF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8001000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7368" name="AutoShape 8">
            <a:extLst>
              <a:ext uri="{FF2B5EF4-FFF2-40B4-BE49-F238E27FC236}">
                <a16:creationId xmlns:a16="http://schemas.microsoft.com/office/drawing/2014/main" id="{74876DF9-3786-4289-91C7-DCFA3ABBD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733800"/>
            <a:ext cx="5181600" cy="2362200"/>
          </a:xfrm>
          <a:prstGeom prst="wedgeRoundRectCallout">
            <a:avLst>
              <a:gd name="adj1" fmla="val -66148"/>
              <a:gd name="adj2" fmla="val -12634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对象资源管理器：以树状结构组织和管理数据库实例中的所有对象。用户可根据需要依次展开各节点，选择不同的数据库对象，该对象所包含的内容会相应出现在右边的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“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文档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”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组件窗口中。</a:t>
            </a:r>
          </a:p>
        </p:txBody>
      </p:sp>
      <p:sp>
        <p:nvSpPr>
          <p:cNvPr id="527369" name="AutoShape 9">
            <a:extLst>
              <a:ext uri="{FF2B5EF4-FFF2-40B4-BE49-F238E27FC236}">
                <a16:creationId xmlns:a16="http://schemas.microsoft.com/office/drawing/2014/main" id="{95356E8D-3717-4ED2-A823-F9D198073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667000"/>
            <a:ext cx="6172200" cy="1752600"/>
          </a:xfrm>
          <a:prstGeom prst="wedgeRoundRectCallout">
            <a:avLst>
              <a:gd name="adj1" fmla="val -55634"/>
              <a:gd name="adj2" fmla="val -73097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“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已注册的服务器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anose="02020603050405020304" pitchFamily="18" charset="0"/>
              </a:rPr>
              <a:t>”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组件窗口：列出的是已经注册的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SQL Server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服务器。可以注册和删除服务器、启动和关闭服务器、设置服务器的属性、将已注册的服务器连接到对象资源管理器等。</a:t>
            </a:r>
          </a:p>
        </p:txBody>
      </p:sp>
      <p:sp>
        <p:nvSpPr>
          <p:cNvPr id="527370" name="AutoShape 10">
            <a:extLst>
              <a:ext uri="{FF2B5EF4-FFF2-40B4-BE49-F238E27FC236}">
                <a16:creationId xmlns:a16="http://schemas.microsoft.com/office/drawing/2014/main" id="{848C7832-8B42-4DFC-A2F4-7F30E557C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981200"/>
            <a:ext cx="3505200" cy="3352800"/>
          </a:xfrm>
          <a:prstGeom prst="wedgeRoundRectCallout">
            <a:avLst>
              <a:gd name="adj1" fmla="val -81296"/>
              <a:gd name="adj2" fmla="val 1801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“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文档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”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组件窗口：采用选项卡的方式在同一区域实现多项功能，主要完成</a:t>
            </a: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SQL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语句的编写、表的创建、数据表的展示和报表展示等工作。默认情况下，显示的是当前数据库引擎实例连接的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“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摘要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”</a:t>
            </a: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页。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653"/>
    </mc:Choice>
    <mc:Fallback xmlns="">
      <p:transition spd="slow" advTm="1046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2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273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273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2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8" grpId="0" animBg="1"/>
      <p:bldP spid="527369" grpId="0" animBg="1"/>
      <p:bldP spid="52737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>
            <a:extLst>
              <a:ext uri="{FF2B5EF4-FFF2-40B4-BE49-F238E27FC236}">
                <a16:creationId xmlns:a16="http://schemas.microsoft.com/office/drawing/2014/main" id="{E83EB3FB-DB9A-4E29-97E8-627C4DF45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476163" name="Rectangle 3">
            <a:extLst>
              <a:ext uri="{FF2B5EF4-FFF2-40B4-BE49-F238E27FC236}">
                <a16:creationId xmlns:a16="http://schemas.microsoft.com/office/drawing/2014/main" id="{DF7F50BA-BE04-46E1-BD12-9901C4C92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 </a:t>
            </a:r>
            <a:r>
              <a:rPr lang="en-US" altLang="zh-CN"/>
              <a:t>SQL Server 2005</a:t>
            </a:r>
            <a:r>
              <a:rPr lang="zh-CN" altLang="en-US"/>
              <a:t>的服务器管理</a:t>
            </a:r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）注册服务器</a:t>
            </a:r>
          </a:p>
        </p:txBody>
      </p:sp>
      <p:sp>
        <p:nvSpPr>
          <p:cNvPr id="476166" name="Text Box 6">
            <a:hlinkClick r:id="rId4" action="ppaction://hlinkfile"/>
            <a:extLst>
              <a:ext uri="{FF2B5EF4-FFF2-40B4-BE49-F238E27FC236}">
                <a16:creationId xmlns:a16="http://schemas.microsoft.com/office/drawing/2014/main" id="{3EA15DF2-8E95-48D6-97FD-CC603A55C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602038"/>
            <a:ext cx="6629400" cy="817562"/>
          </a:xfrm>
          <a:prstGeom prst="rect">
            <a:avLst/>
          </a:prstGeom>
          <a:gradFill rotWithShape="1">
            <a:gsLst>
              <a:gs pos="0">
                <a:srgbClr val="99FFCC"/>
              </a:gs>
              <a:gs pos="50000">
                <a:schemeClr val="bg1"/>
              </a:gs>
              <a:gs pos="100000">
                <a:srgbClr val="99FFCC"/>
              </a:gs>
            </a:gsLst>
            <a:lin ang="2700000" scaled="1"/>
          </a:gradFill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观看演示：注册服务器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94"/>
    </mc:Choice>
    <mc:Fallback xmlns="">
      <p:transition spd="slow" advTm="100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7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CA777FFD-4B44-4E52-881E-DC49EC9E9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684FB2A6-89DC-4EF7-9C3D-9B1A93D54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 </a:t>
            </a:r>
            <a:r>
              <a:rPr lang="en-US" altLang="zh-CN"/>
              <a:t>SQL Server 2005</a:t>
            </a:r>
            <a:r>
              <a:rPr lang="zh-CN" altLang="en-US"/>
              <a:t>的服务器管理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）启动和关闭服务器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/>
              <a:t>在</a:t>
            </a:r>
            <a:r>
              <a:rPr lang="en-US" altLang="zh-CN"/>
              <a:t>SQL Server Management Studio</a:t>
            </a:r>
            <a:r>
              <a:rPr lang="zh-CN" altLang="en-US"/>
              <a:t>中启动和关闭服务</a:t>
            </a:r>
          </a:p>
        </p:txBody>
      </p:sp>
      <p:pic>
        <p:nvPicPr>
          <p:cNvPr id="477188" name="Picture 4">
            <a:extLst>
              <a:ext uri="{FF2B5EF4-FFF2-40B4-BE49-F238E27FC236}">
                <a16:creationId xmlns:a16="http://schemas.microsoft.com/office/drawing/2014/main" id="{58930B33-C071-4112-9552-3B72FC3B0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90600"/>
            <a:ext cx="8077200" cy="572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864"/>
    </mc:Choice>
    <mc:Fallback xmlns="">
      <p:transition spd="slow" advTm="298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>
            <a:extLst>
              <a:ext uri="{FF2B5EF4-FFF2-40B4-BE49-F238E27FC236}">
                <a16:creationId xmlns:a16="http://schemas.microsoft.com/office/drawing/2014/main" id="{6D9E0150-CA13-474F-BA31-9801C3BA2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A6B029A9-2A2F-433B-BE8C-1744F0DE3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 </a:t>
            </a:r>
            <a:r>
              <a:rPr lang="en-US" altLang="zh-CN"/>
              <a:t>SQL Server 2005</a:t>
            </a:r>
            <a:r>
              <a:rPr lang="zh-CN" altLang="en-US"/>
              <a:t>的服务器管理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）启动和关闭服务器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/>
              <a:t>在</a:t>
            </a:r>
            <a:r>
              <a:rPr lang="en-US" altLang="zh-CN"/>
              <a:t>SQL Server </a:t>
            </a:r>
            <a:r>
              <a:rPr lang="zh-CN" altLang="en-US"/>
              <a:t>配置管理器中启动和关闭服务</a:t>
            </a:r>
          </a:p>
        </p:txBody>
      </p:sp>
      <p:pic>
        <p:nvPicPr>
          <p:cNvPr id="528389" name="Picture 5">
            <a:extLst>
              <a:ext uri="{FF2B5EF4-FFF2-40B4-BE49-F238E27FC236}">
                <a16:creationId xmlns:a16="http://schemas.microsoft.com/office/drawing/2014/main" id="{DCB1C126-6A8B-4FCA-BF72-72225CDE6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97000"/>
            <a:ext cx="81534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073"/>
    </mc:Choice>
    <mc:Fallback xmlns="">
      <p:transition spd="slow" advTm="280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2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>
            <a:extLst>
              <a:ext uri="{FF2B5EF4-FFF2-40B4-BE49-F238E27FC236}">
                <a16:creationId xmlns:a16="http://schemas.microsoft.com/office/drawing/2014/main" id="{F47230DD-F6B0-4C63-85AC-DBF10E733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一、认识</a:t>
            </a:r>
            <a:r>
              <a:rPr lang="en-US" altLang="zh-CN" sz="3200"/>
              <a:t>SQL Server</a:t>
            </a:r>
            <a:r>
              <a:rPr lang="zh-CN" altLang="en-US" sz="3200"/>
              <a:t>关系数据库系统</a:t>
            </a:r>
          </a:p>
        </p:txBody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E02DA884-0DBF-4C85-803C-80855AF276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 </a:t>
            </a:r>
            <a:r>
              <a:rPr lang="en-US" altLang="zh-CN"/>
              <a:t>SQL Server 2005</a:t>
            </a:r>
            <a:r>
              <a:rPr lang="zh-CN" altLang="en-US"/>
              <a:t>的服务器管理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）启动和关闭服务器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/>
              <a:t>在</a:t>
            </a:r>
            <a:r>
              <a:rPr lang="en-US" altLang="zh-CN"/>
              <a:t>Windows</a:t>
            </a:r>
            <a:r>
              <a:rPr lang="zh-CN" altLang="en-US"/>
              <a:t>管理工具中启动和关闭服务</a:t>
            </a:r>
          </a:p>
        </p:txBody>
      </p:sp>
      <p:pic>
        <p:nvPicPr>
          <p:cNvPr id="529413" name="Picture 5">
            <a:extLst>
              <a:ext uri="{FF2B5EF4-FFF2-40B4-BE49-F238E27FC236}">
                <a16:creationId xmlns:a16="http://schemas.microsoft.com/office/drawing/2014/main" id="{93FD603E-949E-4E3D-8B97-8E4E87231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8077200" cy="541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416"/>
    </mc:Choice>
    <mc:Fallback xmlns="">
      <p:transition spd="slow" advTm="334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>
            <a:extLst>
              <a:ext uri="{FF2B5EF4-FFF2-40B4-BE49-F238E27FC236}">
                <a16:creationId xmlns:a16="http://schemas.microsoft.com/office/drawing/2014/main" id="{798F7BD1-5796-4DA0-A440-B80C84429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71438"/>
            <a:ext cx="7696200" cy="836612"/>
          </a:xfrm>
        </p:spPr>
        <p:txBody>
          <a:bodyPr/>
          <a:lstStyle/>
          <a:p>
            <a:r>
              <a:rPr lang="zh-CN" altLang="en-US" sz="3200"/>
              <a:t>二、</a:t>
            </a:r>
            <a:r>
              <a:rPr lang="en-US" altLang="zh-CN" sz="3200"/>
              <a:t>SQL Server 2005</a:t>
            </a:r>
            <a:r>
              <a:rPr lang="zh-CN" altLang="en-US" sz="3200"/>
              <a:t>数据库的存储结构</a:t>
            </a:r>
          </a:p>
        </p:txBody>
      </p:sp>
      <p:sp>
        <p:nvSpPr>
          <p:cNvPr id="478211" name="Rectangle 3">
            <a:extLst>
              <a:ext uri="{FF2B5EF4-FFF2-40B4-BE49-F238E27FC236}">
                <a16:creationId xmlns:a16="http://schemas.microsoft.com/office/drawing/2014/main" id="{4FF9625D-9484-48B2-8DD2-E72D9F4C03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grpSp>
        <p:nvGrpSpPr>
          <p:cNvPr id="478212" name="Group 4">
            <a:extLst>
              <a:ext uri="{FF2B5EF4-FFF2-40B4-BE49-F238E27FC236}">
                <a16:creationId xmlns:a16="http://schemas.microsoft.com/office/drawing/2014/main" id="{13A4D559-1530-4968-96DA-7DB6D8120B7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739900"/>
            <a:ext cx="7391400" cy="3822700"/>
            <a:chOff x="480" y="1488"/>
            <a:chExt cx="4656" cy="2408"/>
          </a:xfrm>
        </p:grpSpPr>
        <p:sp>
          <p:nvSpPr>
            <p:cNvPr id="478213" name="Text Box 5">
              <a:extLst>
                <a:ext uri="{FF2B5EF4-FFF2-40B4-BE49-F238E27FC236}">
                  <a16:creationId xmlns:a16="http://schemas.microsoft.com/office/drawing/2014/main" id="{A6EBFD6C-D792-4C7E-8F15-BBEE5F405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8" y="3631"/>
              <a:ext cx="798" cy="263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lnSpc>
                  <a:spcPct val="80000"/>
                </a:lnSpc>
              </a:pPr>
              <a:r>
                <a:rPr lang="zh-CN" altLang="en-US" b="1">
                  <a:latin typeface="Times New Roman" panose="02020603050405020304" pitchFamily="18" charset="0"/>
                </a:rPr>
                <a:t>页</a:t>
              </a:r>
              <a:r>
                <a:rPr lang="en-US" altLang="zh-CN" b="1">
                  <a:latin typeface="Times New Roman" panose="02020603050405020304" pitchFamily="18" charset="0"/>
                </a:rPr>
                <a:t>(8KB)</a:t>
              </a:r>
              <a:endParaRPr lang="en-US" altLang="zh-CN" b="1"/>
            </a:p>
          </p:txBody>
        </p:sp>
        <p:sp>
          <p:nvSpPr>
            <p:cNvPr id="478214" name="Text Box 6">
              <a:extLst>
                <a:ext uri="{FF2B5EF4-FFF2-40B4-BE49-F238E27FC236}">
                  <a16:creationId xmlns:a16="http://schemas.microsoft.com/office/drawing/2014/main" id="{BB5CA868-DAB9-4BD4-9BE3-A96A1C6E1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632"/>
              <a:ext cx="528" cy="264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lnSpc>
                  <a:spcPct val="80000"/>
                </a:lnSpc>
              </a:pPr>
              <a:r>
                <a:rPr lang="zh-CN" altLang="en-US" b="1">
                  <a:latin typeface="Times New Roman" panose="02020603050405020304" pitchFamily="18" charset="0"/>
                </a:rPr>
                <a:t>数据</a:t>
              </a:r>
              <a:endParaRPr lang="zh-CN" altLang="en-US" b="1"/>
            </a:p>
          </p:txBody>
        </p:sp>
        <p:sp>
          <p:nvSpPr>
            <p:cNvPr id="478215" name="Text Box 7">
              <a:extLst>
                <a:ext uri="{FF2B5EF4-FFF2-40B4-BE49-F238E27FC236}">
                  <a16:creationId xmlns:a16="http://schemas.microsoft.com/office/drawing/2014/main" id="{9307ED0E-10F8-4F1A-AADE-43DD2EFC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100"/>
              <a:ext cx="1824" cy="264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lnSpc>
                  <a:spcPct val="80000"/>
                </a:lnSpc>
              </a:pPr>
              <a:r>
                <a:rPr lang="zh-CN" altLang="en-US" b="1">
                  <a:latin typeface="Times New Roman" panose="02020603050405020304" pitchFamily="18" charset="0"/>
                </a:rPr>
                <a:t>盘区</a:t>
              </a:r>
              <a:r>
                <a:rPr lang="en-US" altLang="zh-CN" b="1">
                  <a:latin typeface="Times New Roman" panose="02020603050405020304" pitchFamily="18" charset="0"/>
                </a:rPr>
                <a:t>(8</a:t>
              </a:r>
              <a:r>
                <a:rPr lang="zh-CN" altLang="en-US" b="1">
                  <a:latin typeface="Times New Roman" panose="02020603050405020304" pitchFamily="18" charset="0"/>
                </a:rPr>
                <a:t>个连续页面</a:t>
              </a:r>
              <a:r>
                <a:rPr lang="en-US" altLang="zh-CN" b="1">
                  <a:latin typeface="Times New Roman" panose="02020603050405020304" pitchFamily="18" charset="0"/>
                </a:rPr>
                <a:t>)</a:t>
              </a:r>
              <a:endParaRPr lang="en-US" altLang="zh-CN" b="1"/>
            </a:p>
          </p:txBody>
        </p:sp>
        <p:sp>
          <p:nvSpPr>
            <p:cNvPr id="478216" name="Text Box 8">
              <a:extLst>
                <a:ext uri="{FF2B5EF4-FFF2-40B4-BE49-F238E27FC236}">
                  <a16:creationId xmlns:a16="http://schemas.microsoft.com/office/drawing/2014/main" id="{6DA1AC53-6616-4924-A18E-83FBA791B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100"/>
              <a:ext cx="960" cy="264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lnSpc>
                  <a:spcPct val="80000"/>
                </a:lnSpc>
              </a:pPr>
              <a:r>
                <a:rPr lang="zh-CN" altLang="en-US" b="1">
                  <a:latin typeface="Times New Roman" panose="02020603050405020304" pitchFamily="18" charset="0"/>
                </a:rPr>
                <a:t>表、索引</a:t>
              </a:r>
              <a:endParaRPr lang="zh-CN" altLang="en-US" b="1"/>
            </a:p>
          </p:txBody>
        </p:sp>
        <p:sp>
          <p:nvSpPr>
            <p:cNvPr id="478217" name="AutoShape 9">
              <a:extLst>
                <a:ext uri="{FF2B5EF4-FFF2-40B4-BE49-F238E27FC236}">
                  <a16:creationId xmlns:a16="http://schemas.microsoft.com/office/drawing/2014/main" id="{05310C76-E79A-4E3D-B6C1-6F377DF61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1488"/>
              <a:ext cx="1129" cy="446"/>
            </a:xfrm>
            <a:prstGeom prst="can">
              <a:avLst>
                <a:gd name="adj" fmla="val 25000"/>
              </a:avLst>
            </a:prstGeom>
            <a:solidFill>
              <a:srgbClr val="CC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anchor="ctr" anchorCtr="1"/>
            <a:lstStyle/>
            <a:p>
              <a:pPr algn="ctr">
                <a:lnSpc>
                  <a:spcPct val="80000"/>
                </a:lnSpc>
              </a:pPr>
              <a:r>
                <a:rPr lang="zh-CN" altLang="en-US" b="1">
                  <a:effectLst>
                    <a:outerShdw blurRad="38100" dist="38100" dir="2700000" algn="tl">
                      <a:srgbClr val="FFFFFF"/>
                    </a:outerShdw>
                  </a:effectLst>
                  <a:ea typeface="黑体" panose="02010609060101010101" pitchFamily="49" charset="-122"/>
                </a:rPr>
                <a:t>数据库</a:t>
              </a:r>
            </a:p>
          </p:txBody>
        </p:sp>
        <p:sp>
          <p:nvSpPr>
            <p:cNvPr id="478218" name="Text Box 10">
              <a:extLst>
                <a:ext uri="{FF2B5EF4-FFF2-40B4-BE49-F238E27FC236}">
                  <a16:creationId xmlns:a16="http://schemas.microsoft.com/office/drawing/2014/main" id="{BC0D8790-A682-401B-841D-45449F62A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200"/>
              <a:ext cx="1415" cy="5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数据（文件）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.mdf</a:t>
              </a:r>
              <a:r>
                <a:rPr lang="zh-CN" alt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及</a:t>
              </a: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.ndf</a:t>
              </a:r>
            </a:p>
          </p:txBody>
        </p:sp>
        <p:sp>
          <p:nvSpPr>
            <p:cNvPr id="478219" name="Text Box 11">
              <a:extLst>
                <a:ext uri="{FF2B5EF4-FFF2-40B4-BE49-F238E27FC236}">
                  <a16:creationId xmlns:a16="http://schemas.microsoft.com/office/drawing/2014/main" id="{F07903DE-EC21-4FBC-AFB2-B27FFD03B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1" y="2200"/>
              <a:ext cx="1415" cy="585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日志（文件）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.ldf</a:t>
              </a:r>
            </a:p>
          </p:txBody>
        </p:sp>
        <p:sp>
          <p:nvSpPr>
            <p:cNvPr id="478220" name="Rectangle 12">
              <a:extLst>
                <a:ext uri="{FF2B5EF4-FFF2-40B4-BE49-F238E27FC236}">
                  <a16:creationId xmlns:a16="http://schemas.microsoft.com/office/drawing/2014/main" id="{2126F9B1-E667-472A-968B-224AAFF7F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5" y="3631"/>
              <a:ext cx="789" cy="265"/>
            </a:xfrm>
            <a:prstGeom prst="rect">
              <a:avLst/>
            </a:prstGeom>
            <a:solidFill>
              <a:srgbClr val="DDDDDD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221" name="Line 13">
              <a:extLst>
                <a:ext uri="{FF2B5EF4-FFF2-40B4-BE49-F238E27FC236}">
                  <a16:creationId xmlns:a16="http://schemas.microsoft.com/office/drawing/2014/main" id="{1AE3EA88-0FCB-460D-AB0A-56ECAF5FEB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8" y="1934"/>
              <a:ext cx="451" cy="26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222" name="Line 14">
              <a:extLst>
                <a:ext uri="{FF2B5EF4-FFF2-40B4-BE49-F238E27FC236}">
                  <a16:creationId xmlns:a16="http://schemas.microsoft.com/office/drawing/2014/main" id="{ED9C6746-0AC0-4E24-A65D-B5E346B15D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1" y="1934"/>
              <a:ext cx="451" cy="26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223" name="Line 15">
              <a:extLst>
                <a:ext uri="{FF2B5EF4-FFF2-40B4-BE49-F238E27FC236}">
                  <a16:creationId xmlns:a16="http://schemas.microsoft.com/office/drawing/2014/main" id="{10DED62F-3681-44B1-A05F-F660A9DB77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04" y="2784"/>
              <a:ext cx="562" cy="3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224" name="Line 16">
              <a:extLst>
                <a:ext uri="{FF2B5EF4-FFF2-40B4-BE49-F238E27FC236}">
                  <a16:creationId xmlns:a16="http://schemas.microsoft.com/office/drawing/2014/main" id="{D0293D58-5AAA-495B-B2A9-ED33283B1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5" y="2784"/>
              <a:ext cx="565" cy="31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225" name="Line 17">
              <a:extLst>
                <a:ext uri="{FF2B5EF4-FFF2-40B4-BE49-F238E27FC236}">
                  <a16:creationId xmlns:a16="http://schemas.microsoft.com/office/drawing/2014/main" id="{72B3C9BD-84FF-4840-8DA0-CB7DA793E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5" y="3365"/>
              <a:ext cx="338" cy="25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226" name="Line 18">
              <a:extLst>
                <a:ext uri="{FF2B5EF4-FFF2-40B4-BE49-F238E27FC236}">
                  <a16:creationId xmlns:a16="http://schemas.microsoft.com/office/drawing/2014/main" id="{8D30226C-EBC0-4159-AC73-F62B750AE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9" y="3365"/>
              <a:ext cx="226" cy="26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78227" name="Group 19">
              <a:extLst>
                <a:ext uri="{FF2B5EF4-FFF2-40B4-BE49-F238E27FC236}">
                  <a16:creationId xmlns:a16="http://schemas.microsoft.com/office/drawing/2014/main" id="{7824D7BF-3CCC-44DE-89AE-875F347DDF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6" y="3100"/>
              <a:ext cx="1792" cy="265"/>
              <a:chOff x="3777" y="10314"/>
              <a:chExt cx="2857" cy="348"/>
            </a:xfrm>
          </p:grpSpPr>
          <p:sp>
            <p:nvSpPr>
              <p:cNvPr id="478228" name="Rectangle 20">
                <a:extLst>
                  <a:ext uri="{FF2B5EF4-FFF2-40B4-BE49-F238E27FC236}">
                    <a16:creationId xmlns:a16="http://schemas.microsoft.com/office/drawing/2014/main" id="{525AA262-67B8-41CD-8FB3-0732635A5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7" y="10314"/>
                <a:ext cx="2857" cy="348"/>
              </a:xfrm>
              <a:prstGeom prst="rect">
                <a:avLst/>
              </a:prstGeom>
              <a:solidFill>
                <a:srgbClr val="DDDDDD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229" name="Line 21">
                <a:extLst>
                  <a:ext uri="{FF2B5EF4-FFF2-40B4-BE49-F238E27FC236}">
                    <a16:creationId xmlns:a16="http://schemas.microsoft.com/office/drawing/2014/main" id="{949D1CDA-337C-4D56-BC91-A32D6EFA9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3" y="10314"/>
                <a:ext cx="0" cy="34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230" name="Line 22">
                <a:extLst>
                  <a:ext uri="{FF2B5EF4-FFF2-40B4-BE49-F238E27FC236}">
                    <a16:creationId xmlns:a16="http://schemas.microsoft.com/office/drawing/2014/main" id="{DD687DBA-703D-4846-8588-18CD34201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73" y="10314"/>
                <a:ext cx="0" cy="34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231" name="Line 23">
                <a:extLst>
                  <a:ext uri="{FF2B5EF4-FFF2-40B4-BE49-F238E27FC236}">
                    <a16:creationId xmlns:a16="http://schemas.microsoft.com/office/drawing/2014/main" id="{5611CAE8-6F87-468A-AF6F-B1A609098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33" y="10314"/>
                <a:ext cx="0" cy="34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232" name="Line 24">
                <a:extLst>
                  <a:ext uri="{FF2B5EF4-FFF2-40B4-BE49-F238E27FC236}">
                    <a16:creationId xmlns:a16="http://schemas.microsoft.com/office/drawing/2014/main" id="{DF648CEF-EA35-4655-9AAF-7A3B666956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93" y="10314"/>
                <a:ext cx="0" cy="34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233" name="Line 25">
                <a:extLst>
                  <a:ext uri="{FF2B5EF4-FFF2-40B4-BE49-F238E27FC236}">
                    <a16:creationId xmlns:a16="http://schemas.microsoft.com/office/drawing/2014/main" id="{1F68CFD8-A730-4637-B39A-2AB1679CA5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3" y="10314"/>
                <a:ext cx="0" cy="34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234" name="Line 26">
                <a:extLst>
                  <a:ext uri="{FF2B5EF4-FFF2-40B4-BE49-F238E27FC236}">
                    <a16:creationId xmlns:a16="http://schemas.microsoft.com/office/drawing/2014/main" id="{18789F68-8F95-464C-9C7C-74E6834662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13" y="10314"/>
                <a:ext cx="0" cy="34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235" name="Line 27">
                <a:extLst>
                  <a:ext uri="{FF2B5EF4-FFF2-40B4-BE49-F238E27FC236}">
                    <a16:creationId xmlns:a16="http://schemas.microsoft.com/office/drawing/2014/main" id="{1E92343B-0CC6-4A81-8846-869E70A3B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73" y="10314"/>
                <a:ext cx="0" cy="34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889"/>
    </mc:Choice>
    <mc:Fallback xmlns="">
      <p:transition spd="slow" advTm="378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3" name="Rectangle 3">
            <a:extLst>
              <a:ext uri="{FF2B5EF4-FFF2-40B4-BE49-F238E27FC236}">
                <a16:creationId xmlns:a16="http://schemas.microsoft.com/office/drawing/2014/main" id="{DBA34B7D-D623-43D4-8DD3-158CE7E79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295400"/>
            <a:ext cx="8234363" cy="5334000"/>
          </a:xfrm>
        </p:spPr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）数据文件</a:t>
            </a:r>
          </a:p>
          <a:p>
            <a:pPr>
              <a:lnSpc>
                <a:spcPct val="115000"/>
              </a:lnSpc>
            </a:pPr>
            <a:r>
              <a:rPr lang="zh-CN" altLang="en-US"/>
              <a:t>        是存放用户数据和数据库对象的文件。</a:t>
            </a:r>
          </a:p>
          <a:p>
            <a:pPr>
              <a:lnSpc>
                <a:spcPct val="115000"/>
              </a:lnSpc>
            </a:pPr>
            <a:r>
              <a:rPr lang="zh-CN" altLang="en-US"/>
              <a:t>        一个数据库可以有一个或多个数据文件，一个数据文件只属于一个数据库。</a:t>
            </a:r>
          </a:p>
          <a:p>
            <a:pPr>
              <a:lnSpc>
                <a:spcPct val="115000"/>
              </a:lnSpc>
              <a:buFont typeface="Wingdings" panose="05000000000000000000" pitchFamily="2" charset="2"/>
              <a:buChar char="u"/>
            </a:pPr>
            <a:r>
              <a:rPr lang="zh-CN" altLang="en-US" sz="2600">
                <a:solidFill>
                  <a:srgbClr val="000099"/>
                </a:solidFill>
              </a:rPr>
              <a:t>主数据文件</a:t>
            </a:r>
            <a:r>
              <a:rPr lang="zh-CN" altLang="en-US" sz="2600"/>
              <a:t>：存储数据库的启动信息和部分或全部数据，扩展名为</a:t>
            </a:r>
            <a:r>
              <a:rPr lang="en-US" altLang="zh-CN" sz="2600">
                <a:solidFill>
                  <a:srgbClr val="006600"/>
                </a:solidFill>
              </a:rPr>
              <a:t>mdf</a:t>
            </a:r>
            <a:r>
              <a:rPr lang="zh-CN" altLang="en-US" sz="2600"/>
              <a:t>。一个数据库只能有一个主数据文件。</a:t>
            </a:r>
          </a:p>
          <a:p>
            <a:pPr>
              <a:lnSpc>
                <a:spcPct val="115000"/>
              </a:lnSpc>
              <a:buFont typeface="Wingdings" panose="05000000000000000000" pitchFamily="2" charset="2"/>
              <a:buChar char="u"/>
            </a:pPr>
            <a:r>
              <a:rPr lang="zh-CN" altLang="en-US" sz="2600">
                <a:solidFill>
                  <a:srgbClr val="000099"/>
                </a:solidFill>
              </a:rPr>
              <a:t>次数据文件</a:t>
            </a:r>
            <a:r>
              <a:rPr lang="zh-CN" altLang="en-US" sz="2600"/>
              <a:t>：存储主文件没存储的其它数据，扩展名为</a:t>
            </a:r>
            <a:r>
              <a:rPr lang="en-US" altLang="zh-CN" sz="2600">
                <a:solidFill>
                  <a:srgbClr val="006600"/>
                </a:solidFill>
              </a:rPr>
              <a:t>ndf</a:t>
            </a:r>
            <a:r>
              <a:rPr lang="zh-CN" altLang="en-US" sz="2600"/>
              <a:t>。</a:t>
            </a:r>
            <a:endParaRPr lang="zh-CN" altLang="en-US"/>
          </a:p>
        </p:txBody>
      </p:sp>
      <p:sp>
        <p:nvSpPr>
          <p:cNvPr id="481284" name="Rectangle 4">
            <a:extLst>
              <a:ext uri="{FF2B5EF4-FFF2-40B4-BE49-F238E27FC236}">
                <a16:creationId xmlns:a16="http://schemas.microsoft.com/office/drawing/2014/main" id="{0E23E6BF-D51B-4214-A2B7-512DE91FA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2388" y="71438"/>
            <a:ext cx="7593012" cy="836612"/>
          </a:xfrm>
        </p:spPr>
        <p:txBody>
          <a:bodyPr/>
          <a:lstStyle/>
          <a:p>
            <a:r>
              <a:rPr lang="zh-CN" altLang="en-US" sz="3200"/>
              <a:t>二、</a:t>
            </a:r>
            <a:r>
              <a:rPr lang="en-US" altLang="zh-CN" sz="3200"/>
              <a:t>SQL Server 2005</a:t>
            </a:r>
            <a:r>
              <a:rPr lang="zh-CN" altLang="en-US" sz="3200"/>
              <a:t>数据库的存储结构</a:t>
            </a:r>
          </a:p>
        </p:txBody>
      </p:sp>
    </p:spTree>
    <p:custDataLst>
      <p:tags r:id="rId1"/>
    </p:custDataLst>
  </p:cSld>
  <p:clrMapOvr>
    <a:masterClrMapping/>
  </p:clrMapOvr>
  <p:transition advTm="6559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1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81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81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81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81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28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1" name="Rectangle 3">
            <a:extLst>
              <a:ext uri="{FF2B5EF4-FFF2-40B4-BE49-F238E27FC236}">
                <a16:creationId xmlns:a16="http://schemas.microsoft.com/office/drawing/2014/main" id="{ADBE6C7C-06F8-4041-91B1-F03542B4A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）事务日志文件</a:t>
            </a:r>
          </a:p>
          <a:p>
            <a:pPr>
              <a:lnSpc>
                <a:spcPct val="115000"/>
              </a:lnSpc>
            </a:pPr>
            <a:r>
              <a:rPr lang="zh-CN" altLang="en-US"/>
              <a:t>        用来记录数据库更新情况的文件，扩展名</a:t>
            </a:r>
            <a:r>
              <a:rPr lang="en-US" altLang="zh-CN">
                <a:solidFill>
                  <a:srgbClr val="006600"/>
                </a:solidFill>
              </a:rPr>
              <a:t>ldf</a:t>
            </a:r>
            <a:r>
              <a:rPr lang="zh-CN" altLang="en-US"/>
              <a:t>。</a:t>
            </a:r>
          </a:p>
          <a:p>
            <a:pPr>
              <a:lnSpc>
                <a:spcPct val="115000"/>
              </a:lnSpc>
            </a:pPr>
            <a:r>
              <a:rPr lang="zh-CN" altLang="en-US"/>
              <a:t>    一个数据库可以有一个或多个事务日志文件。</a:t>
            </a:r>
          </a:p>
        </p:txBody>
      </p:sp>
      <p:sp>
        <p:nvSpPr>
          <p:cNvPr id="483335" name="Rectangle 7">
            <a:extLst>
              <a:ext uri="{FF2B5EF4-FFF2-40B4-BE49-F238E27FC236}">
                <a16:creationId xmlns:a16="http://schemas.microsoft.com/office/drawing/2014/main" id="{46BFECCA-6097-47E7-ADBB-8045EA357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2388" y="71438"/>
            <a:ext cx="7593012" cy="836612"/>
          </a:xfrm>
          <a:noFill/>
          <a:ln/>
        </p:spPr>
        <p:txBody>
          <a:bodyPr/>
          <a:lstStyle/>
          <a:p>
            <a:r>
              <a:rPr lang="zh-CN" altLang="en-US" sz="3200"/>
              <a:t>二、</a:t>
            </a:r>
            <a:r>
              <a:rPr lang="en-US" altLang="zh-CN" sz="3200"/>
              <a:t>SQL Server 2005</a:t>
            </a:r>
            <a:r>
              <a:rPr lang="zh-CN" altLang="en-US" sz="3200"/>
              <a:t>数据库的存储结构</a:t>
            </a:r>
          </a:p>
        </p:txBody>
      </p:sp>
    </p:spTree>
  </p:cSld>
  <p:clrMapOvr>
    <a:masterClrMapping/>
  </p:clrMapOvr>
  <p:transition advTm="196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3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83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83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9" name="Rectangle 3">
            <a:extLst>
              <a:ext uri="{FF2B5EF4-FFF2-40B4-BE49-F238E27FC236}">
                <a16:creationId xmlns:a16="http://schemas.microsoft.com/office/drawing/2014/main" id="{A8DD752A-2913-454D-99BF-621690655F3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5334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）文件组</a:t>
            </a:r>
          </a:p>
          <a:p>
            <a:r>
              <a:rPr lang="zh-CN" altLang="en-US"/>
              <a:t>        </a:t>
            </a:r>
            <a:r>
              <a:rPr lang="zh-CN" altLang="zh-CN" sz="2400">
                <a:latin typeface="楷体_GB2312" pitchFamily="49" charset="-122"/>
              </a:rPr>
              <a:t>是将多个数据文件集合起来形成的一个整体，每个文件组有一个组名。</a:t>
            </a:r>
            <a:r>
              <a:rPr lang="zh-CN" altLang="en-US" sz="2400">
                <a:latin typeface="楷体_GB2312" pitchFamily="49" charset="-122"/>
              </a:rPr>
              <a:t>一个文件只能存在于一个文件组中，一个文件组也只能被一个数据库使用。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</a:rPr>
              <a:t>主文件组</a:t>
            </a:r>
            <a:r>
              <a:rPr lang="zh-CN" altLang="en-US" sz="2400">
                <a:latin typeface="楷体_GB2312" pitchFamily="49" charset="-122"/>
              </a:rPr>
              <a:t>：包含主数据文件和任何没有明确指派给其他文件组的其他文件。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000099"/>
                </a:solidFill>
                <a:latin typeface="楷体_GB2312" pitchFamily="49" charset="-122"/>
              </a:rPr>
              <a:t>用户定义文件组</a:t>
            </a:r>
            <a:r>
              <a:rPr lang="zh-CN" altLang="en-US" sz="2400">
                <a:latin typeface="楷体_GB2312" pitchFamily="49" charset="-122"/>
              </a:rPr>
              <a:t>：是由用户在</a:t>
            </a:r>
            <a:r>
              <a:rPr lang="en-US" altLang="zh-CN" sz="2400">
                <a:latin typeface="楷体_GB2312" pitchFamily="49" charset="-122"/>
              </a:rPr>
              <a:t>CREATE DATABASE</a:t>
            </a:r>
            <a:r>
              <a:rPr lang="zh-CN" altLang="en-US" sz="2400">
                <a:latin typeface="楷体_GB2312" pitchFamily="49" charset="-122"/>
              </a:rPr>
              <a:t>或</a:t>
            </a:r>
            <a:r>
              <a:rPr lang="en-US" altLang="zh-CN" sz="2400">
                <a:latin typeface="楷体_GB2312" pitchFamily="49" charset="-122"/>
              </a:rPr>
              <a:t>ALTER DATABASE</a:t>
            </a:r>
            <a:r>
              <a:rPr lang="zh-CN" altLang="en-US" sz="2400">
                <a:latin typeface="楷体_GB2312" pitchFamily="49" charset="-122"/>
              </a:rPr>
              <a:t>语句中使用</a:t>
            </a:r>
            <a:r>
              <a:rPr lang="en-US" altLang="zh-CN" sz="2400">
                <a:latin typeface="楷体_GB2312" pitchFamily="49" charset="-122"/>
              </a:rPr>
              <a:t>FILEGROUP</a:t>
            </a:r>
            <a:r>
              <a:rPr lang="zh-CN" altLang="en-US" sz="2400">
                <a:latin typeface="楷体_GB2312" pitchFamily="49" charset="-122"/>
              </a:rPr>
              <a:t>关键字创建的。如果不指定用户定义文件组，则所有数据文件都包含在主文件组中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CC3300"/>
                </a:solidFill>
                <a:latin typeface="楷体_GB2312" pitchFamily="49" charset="-122"/>
              </a:rPr>
              <a:t>！注</a:t>
            </a:r>
            <a:r>
              <a:rPr lang="zh-CN" altLang="en-US" sz="2400">
                <a:latin typeface="楷体_GB2312" pitchFamily="49" charset="-122"/>
              </a:rPr>
              <a:t>：事务日志文件不属于任何文件组。</a:t>
            </a:r>
          </a:p>
        </p:txBody>
      </p:sp>
      <p:sp>
        <p:nvSpPr>
          <p:cNvPr id="485382" name="Rectangle 6">
            <a:extLst>
              <a:ext uri="{FF2B5EF4-FFF2-40B4-BE49-F238E27FC236}">
                <a16:creationId xmlns:a16="http://schemas.microsoft.com/office/drawing/2014/main" id="{8C6B7B14-A1B8-4E57-8527-24A5B126F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2388" y="71438"/>
            <a:ext cx="7593012" cy="836612"/>
          </a:xfrm>
          <a:noFill/>
          <a:ln/>
        </p:spPr>
        <p:txBody>
          <a:bodyPr/>
          <a:lstStyle/>
          <a:p>
            <a:r>
              <a:rPr lang="zh-CN" altLang="en-US" sz="3200"/>
              <a:t>二、</a:t>
            </a:r>
            <a:r>
              <a:rPr lang="en-US" altLang="zh-CN" sz="3200"/>
              <a:t>SQL Server 2005</a:t>
            </a:r>
            <a:r>
              <a:rPr lang="zh-CN" altLang="en-US" sz="3200"/>
              <a:t>数据库的存储结构</a:t>
            </a:r>
          </a:p>
        </p:txBody>
      </p:sp>
    </p:spTree>
    <p:custDataLst>
      <p:tags r:id="rId1"/>
    </p:custDataLst>
  </p:cSld>
  <p:clrMapOvr>
    <a:masterClrMapping/>
  </p:clrMapOvr>
  <p:transition advTm="646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85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485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485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48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48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7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209" name="Picture 17">
            <a:extLst>
              <a:ext uri="{FF2B5EF4-FFF2-40B4-BE49-F238E27FC236}">
                <a16:creationId xmlns:a16="http://schemas.microsoft.com/office/drawing/2014/main" id="{56249AA0-E0E6-4D4B-A52C-48579DC04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05000"/>
            <a:ext cx="3833813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2194" name="Rectangle 2">
            <a:extLst>
              <a:ext uri="{FF2B5EF4-FFF2-40B4-BE49-F238E27FC236}">
                <a16:creationId xmlns:a16="http://schemas.microsoft.com/office/drawing/2014/main" id="{47B1EDE0-E1CD-4E69-AB4F-8ACAFE31A2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 2005</a:t>
            </a:r>
            <a:r>
              <a:rPr lang="zh-CN" altLang="en-US"/>
              <a:t>数据库</a:t>
            </a:r>
          </a:p>
        </p:txBody>
      </p:sp>
      <p:sp>
        <p:nvSpPr>
          <p:cNvPr id="392195" name="Rectangle 3">
            <a:extLst>
              <a:ext uri="{FF2B5EF4-FFF2-40B4-BE49-F238E27FC236}">
                <a16:creationId xmlns:a16="http://schemas.microsoft.com/office/drawing/2014/main" id="{6DA9547B-36DB-450F-BD44-41F3DDEB8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  <p:grpSp>
        <p:nvGrpSpPr>
          <p:cNvPr id="392210" name="Group 18">
            <a:extLst>
              <a:ext uri="{FF2B5EF4-FFF2-40B4-BE49-F238E27FC236}">
                <a16:creationId xmlns:a16="http://schemas.microsoft.com/office/drawing/2014/main" id="{A9508436-4057-4346-B0B1-C70D16096ADC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819400"/>
            <a:ext cx="5105400" cy="1295400"/>
            <a:chOff x="1968" y="1776"/>
            <a:chExt cx="3216" cy="816"/>
          </a:xfrm>
        </p:grpSpPr>
        <p:sp>
          <p:nvSpPr>
            <p:cNvPr id="392199" name="Rectangle 7">
              <a:extLst>
                <a:ext uri="{FF2B5EF4-FFF2-40B4-BE49-F238E27FC236}">
                  <a16:creationId xmlns:a16="http://schemas.microsoft.com/office/drawing/2014/main" id="{3F7BA8AC-9D3A-4C1C-AA21-05B5B12F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776"/>
              <a:ext cx="1200" cy="81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1" name="Rectangle 9">
              <a:extLst>
                <a:ext uri="{FF2B5EF4-FFF2-40B4-BE49-F238E27FC236}">
                  <a16:creationId xmlns:a16="http://schemas.microsoft.com/office/drawing/2014/main" id="{B5C2CE89-F85A-475A-B2DC-328A7AA77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968"/>
              <a:ext cx="1536" cy="576"/>
            </a:xfrm>
            <a:prstGeom prst="rect">
              <a:avLst/>
            </a:prstGeom>
            <a:solidFill>
              <a:srgbClr val="000080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黑体" panose="02010609060101010101" pitchFamily="49" charset="-122"/>
                </a:rPr>
                <a:t>系统数据库</a:t>
              </a:r>
            </a:p>
          </p:txBody>
        </p:sp>
      </p:grpSp>
      <p:grpSp>
        <p:nvGrpSpPr>
          <p:cNvPr id="392211" name="Group 19">
            <a:extLst>
              <a:ext uri="{FF2B5EF4-FFF2-40B4-BE49-F238E27FC236}">
                <a16:creationId xmlns:a16="http://schemas.microsoft.com/office/drawing/2014/main" id="{7555EA8F-C9DF-4ADA-8B28-284EFD087EC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886200"/>
            <a:ext cx="5105400" cy="914400"/>
            <a:chOff x="1968" y="2400"/>
            <a:chExt cx="3216" cy="576"/>
          </a:xfrm>
        </p:grpSpPr>
        <p:sp>
          <p:nvSpPr>
            <p:cNvPr id="392203" name="Rectangle 11">
              <a:extLst>
                <a:ext uri="{FF2B5EF4-FFF2-40B4-BE49-F238E27FC236}">
                  <a16:creationId xmlns:a16="http://schemas.microsoft.com/office/drawing/2014/main" id="{0B783ECD-EA5F-4BF4-A637-C670E3B57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592"/>
              <a:ext cx="1200" cy="24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4" name="Rectangle 12">
              <a:extLst>
                <a:ext uri="{FF2B5EF4-FFF2-40B4-BE49-F238E27FC236}">
                  <a16:creationId xmlns:a16="http://schemas.microsoft.com/office/drawing/2014/main" id="{12F84BD9-0B80-4101-B1B3-2E95EFF31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400"/>
              <a:ext cx="1536" cy="576"/>
            </a:xfrm>
            <a:prstGeom prst="rect">
              <a:avLst/>
            </a:prstGeom>
            <a:solidFill>
              <a:srgbClr val="000080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黑体" panose="02010609060101010101" pitchFamily="49" charset="-122"/>
                </a:rPr>
                <a:t>示例数据库</a:t>
              </a:r>
            </a:p>
          </p:txBody>
        </p:sp>
      </p:grpSp>
      <p:grpSp>
        <p:nvGrpSpPr>
          <p:cNvPr id="392212" name="Group 20">
            <a:extLst>
              <a:ext uri="{FF2B5EF4-FFF2-40B4-BE49-F238E27FC236}">
                <a16:creationId xmlns:a16="http://schemas.microsoft.com/office/drawing/2014/main" id="{DCBD2862-FC99-4BB3-97F5-DBE052CE2D9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800600"/>
            <a:ext cx="5105400" cy="914400"/>
            <a:chOff x="1968" y="3024"/>
            <a:chExt cx="3216" cy="576"/>
          </a:xfrm>
        </p:grpSpPr>
        <p:sp>
          <p:nvSpPr>
            <p:cNvPr id="392206" name="Rectangle 14">
              <a:extLst>
                <a:ext uri="{FF2B5EF4-FFF2-40B4-BE49-F238E27FC236}">
                  <a16:creationId xmlns:a16="http://schemas.microsoft.com/office/drawing/2014/main" id="{FFA9F7AD-902A-4716-ADE1-AC514E398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168"/>
              <a:ext cx="1200" cy="24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lg"/>
              <a:tailEnd type="none" w="sm" len="lg"/>
            </a:ln>
            <a:effectLst>
              <a:outerShdw dist="3592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2207" name="Rectangle 15">
              <a:extLst>
                <a:ext uri="{FF2B5EF4-FFF2-40B4-BE49-F238E27FC236}">
                  <a16:creationId xmlns:a16="http://schemas.microsoft.com/office/drawing/2014/main" id="{2B0CC01C-0848-4AB6-B6BB-2357DF85F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4"/>
              <a:ext cx="1536" cy="576"/>
            </a:xfrm>
            <a:prstGeom prst="rect">
              <a:avLst/>
            </a:prstGeom>
            <a:solidFill>
              <a:srgbClr val="000080"/>
            </a:solidFill>
            <a:ln w="19050">
              <a:solidFill>
                <a:schemeClr val="tx1"/>
              </a:solidFill>
              <a:miter lim="800000"/>
              <a:headEnd type="none" w="sm" len="lg"/>
              <a:tailEnd type="none" w="sm" len="lg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pPr algn="ctr"/>
              <a:r>
                <a:rPr lang="zh-CN" altLang="en-US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黑体" panose="02010609060101010101" pitchFamily="49" charset="-122"/>
                </a:rPr>
                <a:t>用户数据库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7535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2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922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92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9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9" name="Rectangle 3">
            <a:extLst>
              <a:ext uri="{FF2B5EF4-FFF2-40B4-BE49-F238E27FC236}">
                <a16:creationId xmlns:a16="http://schemas.microsoft.com/office/drawing/2014/main" id="{724899CB-9B9D-4208-A7C4-D6AC6738C3EC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51816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2005</a:t>
            </a:r>
            <a:r>
              <a:rPr lang="zh-CN" altLang="en-US"/>
              <a:t>数据库</a:t>
            </a:r>
            <a:endParaRPr lang="zh-CN" altLang="en-US" sz="2600"/>
          </a:p>
          <a:p>
            <a:r>
              <a:rPr lang="zh-CN" altLang="en-US" sz="2600"/>
              <a:t>（</a:t>
            </a:r>
            <a:r>
              <a:rPr lang="en-US" altLang="zh-CN" sz="2600"/>
              <a:t>1</a:t>
            </a:r>
            <a:r>
              <a:rPr lang="zh-CN" altLang="en-US" sz="2600"/>
              <a:t>）</a:t>
            </a:r>
            <a:r>
              <a:rPr lang="en-US" altLang="en-US" sz="2600"/>
              <a:t>系统数据库</a:t>
            </a:r>
            <a:r>
              <a:rPr lang="zh-CN" altLang="en-US" sz="2600"/>
              <a:t>：</a:t>
            </a:r>
            <a:r>
              <a:rPr lang="zh-CN" altLang="zh-CN" sz="2600"/>
              <a:t>Master、Model、Msdb和Tempdb</a:t>
            </a:r>
            <a:endParaRPr lang="en-US" altLang="zh-CN" sz="2600"/>
          </a:p>
          <a:p>
            <a:r>
              <a:rPr lang="en-US" altLang="zh-CN" sz="2600"/>
              <a:t>  </a:t>
            </a:r>
            <a:r>
              <a:rPr lang="en-US" altLang="zh-CN" sz="2600">
                <a:solidFill>
                  <a:srgbClr val="000099"/>
                </a:solidFill>
              </a:rPr>
              <a:t>Master</a:t>
            </a:r>
            <a:r>
              <a:rPr lang="zh-CN" altLang="en-US" sz="2600"/>
              <a:t>： </a:t>
            </a:r>
            <a:r>
              <a:rPr lang="en-US" altLang="zh-CN" sz="2400">
                <a:latin typeface="楷体_GB2312" pitchFamily="49" charset="-122"/>
              </a:rPr>
              <a:t>SQL Server</a:t>
            </a:r>
            <a:r>
              <a:rPr lang="zh-CN" altLang="en-US" sz="2400">
                <a:latin typeface="楷体_GB2312" pitchFamily="49" charset="-122"/>
              </a:rPr>
              <a:t>中最重要的数据库。</a:t>
            </a:r>
            <a:endParaRPr lang="zh-CN" altLang="en-US" sz="2600">
              <a:latin typeface="楷体_GB2312" pitchFamily="49" charset="-122"/>
            </a:endParaRPr>
          </a:p>
          <a:p>
            <a:pPr lvl="1"/>
            <a:r>
              <a:rPr lang="zh-CN" altLang="en-US" sz="2600">
                <a:latin typeface="楷体_GB2312" pitchFamily="49" charset="-122"/>
              </a:rPr>
              <a:t>记录了一个</a:t>
            </a:r>
            <a:r>
              <a:rPr lang="en-US" altLang="zh-CN" sz="2600">
                <a:latin typeface="楷体_GB2312" pitchFamily="49" charset="-122"/>
              </a:rPr>
              <a:t>SQL Server</a:t>
            </a:r>
            <a:r>
              <a:rPr lang="zh-CN" altLang="en-US" sz="2600">
                <a:latin typeface="楷体_GB2312" pitchFamily="49" charset="-122"/>
              </a:rPr>
              <a:t>系统的所有系统信息；</a:t>
            </a:r>
            <a:endParaRPr lang="zh-CN" altLang="en-US" sz="2400">
              <a:latin typeface="楷体_GB2312" pitchFamily="49" charset="-122"/>
            </a:endParaRPr>
          </a:p>
          <a:p>
            <a:pPr lvl="1"/>
            <a:r>
              <a:rPr lang="en-US" altLang="zh-CN" sz="2400">
                <a:latin typeface="楷体_GB2312" pitchFamily="49" charset="-122"/>
              </a:rPr>
              <a:t>master.mdf</a:t>
            </a:r>
            <a:r>
              <a:rPr lang="zh-CN" altLang="en-US" sz="2400">
                <a:latin typeface="楷体_GB2312" pitchFamily="49" charset="-122"/>
              </a:rPr>
              <a:t>和</a:t>
            </a:r>
            <a:r>
              <a:rPr lang="en-US" altLang="zh-CN" sz="2400">
                <a:latin typeface="楷体_GB2312" pitchFamily="49" charset="-122"/>
              </a:rPr>
              <a:t>masterlog.ldf</a:t>
            </a:r>
            <a:r>
              <a:rPr lang="zh-CN" altLang="en-US" sz="2400">
                <a:latin typeface="楷体_GB2312" pitchFamily="49" charset="-122"/>
              </a:rPr>
              <a:t>；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不允许用户直接修改它。</a:t>
            </a:r>
          </a:p>
          <a:p>
            <a:pPr lvl="1"/>
            <a:endParaRPr lang="en-US" altLang="zh-CN" sz="2400">
              <a:latin typeface="楷体_GB2312" pitchFamily="49" charset="-122"/>
            </a:endParaRPr>
          </a:p>
        </p:txBody>
      </p:sp>
      <p:sp>
        <p:nvSpPr>
          <p:cNvPr id="398343" name="Rectangle 7">
            <a:extLst>
              <a:ext uri="{FF2B5EF4-FFF2-40B4-BE49-F238E27FC236}">
                <a16:creationId xmlns:a16="http://schemas.microsoft.com/office/drawing/2014/main" id="{81901CAF-7025-49F5-AEA2-483B13E6D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  <p:custDataLst>
      <p:tags r:id="rId1"/>
    </p:custDataLst>
  </p:cSld>
  <p:clrMapOvr>
    <a:masterClrMapping/>
  </p:clrMapOvr>
  <p:transition advTm="4326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98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398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398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3">
            <a:extLst>
              <a:ext uri="{FF2B5EF4-FFF2-40B4-BE49-F238E27FC236}">
                <a16:creationId xmlns:a16="http://schemas.microsoft.com/office/drawing/2014/main" id="{E24702D8-D450-48C3-8B52-7D7F23A97730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51816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2005</a:t>
            </a:r>
            <a:r>
              <a:rPr lang="zh-CN" altLang="en-US"/>
              <a:t>数据库</a:t>
            </a:r>
            <a:endParaRPr lang="zh-CN" altLang="en-US" sz="2600"/>
          </a:p>
          <a:p>
            <a:r>
              <a:rPr lang="zh-CN" altLang="en-US" sz="2600"/>
              <a:t>（</a:t>
            </a:r>
            <a:r>
              <a:rPr lang="en-US" altLang="zh-CN" sz="2600"/>
              <a:t>1</a:t>
            </a:r>
            <a:r>
              <a:rPr lang="zh-CN" altLang="en-US" sz="2600"/>
              <a:t>）</a:t>
            </a:r>
            <a:r>
              <a:rPr lang="en-US" altLang="en-US" sz="2600"/>
              <a:t>系统数据库</a:t>
            </a:r>
            <a:r>
              <a:rPr lang="zh-CN" altLang="en-US" sz="2600"/>
              <a:t>：</a:t>
            </a:r>
            <a:r>
              <a:rPr lang="zh-CN" altLang="zh-CN" sz="2600"/>
              <a:t>Master、Model、Msdb和Tempdb</a:t>
            </a:r>
            <a:endParaRPr lang="en-US" altLang="zh-CN" sz="2600"/>
          </a:p>
          <a:p>
            <a:r>
              <a:rPr lang="en-US" altLang="zh-CN" sz="2600"/>
              <a:t>  </a:t>
            </a:r>
            <a:r>
              <a:rPr lang="en-US" altLang="zh-CN" sz="2600">
                <a:solidFill>
                  <a:srgbClr val="000099"/>
                </a:solidFill>
              </a:rPr>
              <a:t>Model</a:t>
            </a:r>
            <a:r>
              <a:rPr lang="en-US" altLang="zh-CN" sz="2600">
                <a:solidFill>
                  <a:srgbClr val="FF6600"/>
                </a:solidFill>
              </a:rPr>
              <a:t> </a:t>
            </a:r>
            <a:r>
              <a:rPr lang="zh-CN" altLang="en-US" sz="2600">
                <a:latin typeface="楷体_GB2312" pitchFamily="49" charset="-122"/>
              </a:rPr>
              <a:t>是所有用户数据库和</a:t>
            </a:r>
            <a:r>
              <a:rPr lang="en-US" altLang="zh-CN" sz="2600">
                <a:latin typeface="楷体_GB2312" pitchFamily="49" charset="-122"/>
              </a:rPr>
              <a:t>Tempdb</a:t>
            </a:r>
            <a:r>
              <a:rPr lang="zh-CN" altLang="en-US" sz="2600">
                <a:latin typeface="楷体_GB2312" pitchFamily="49" charset="-122"/>
              </a:rPr>
              <a:t>数据库的创建模板。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可以对</a:t>
            </a:r>
            <a:r>
              <a:rPr lang="en-US" altLang="zh-CN" sz="2400">
                <a:latin typeface="楷体_GB2312" pitchFamily="49" charset="-122"/>
              </a:rPr>
              <a:t>model</a:t>
            </a:r>
            <a:r>
              <a:rPr lang="zh-CN" altLang="en-US" sz="2400">
                <a:latin typeface="楷体_GB2312" pitchFamily="49" charset="-122"/>
              </a:rPr>
              <a:t>数据库进行修改：</a:t>
            </a:r>
          </a:p>
          <a:p>
            <a:pPr lvl="2"/>
            <a:r>
              <a:rPr lang="zh-CN" altLang="en-US">
                <a:latin typeface="楷体_GB2312" pitchFamily="49" charset="-122"/>
              </a:rPr>
              <a:t>用户定义数据类型</a:t>
            </a:r>
          </a:p>
          <a:p>
            <a:pPr lvl="2"/>
            <a:r>
              <a:rPr lang="zh-CN" altLang="en-US">
                <a:latin typeface="楷体_GB2312" pitchFamily="49" charset="-122"/>
              </a:rPr>
              <a:t>规则</a:t>
            </a:r>
          </a:p>
          <a:p>
            <a:pPr lvl="2"/>
            <a:r>
              <a:rPr lang="zh-CN" altLang="en-US">
                <a:latin typeface="楷体_GB2312" pitchFamily="49" charset="-122"/>
              </a:rPr>
              <a:t>缺省</a:t>
            </a:r>
          </a:p>
          <a:p>
            <a:pPr lvl="2"/>
            <a:r>
              <a:rPr lang="zh-CN" altLang="en-US">
                <a:latin typeface="楷体_GB2312" pitchFamily="49" charset="-122"/>
              </a:rPr>
              <a:t>存储过程</a:t>
            </a:r>
          </a:p>
          <a:p>
            <a:pPr lvl="1"/>
            <a:r>
              <a:rPr lang="en-US" altLang="zh-CN" sz="2400">
                <a:latin typeface="楷体_GB2312" pitchFamily="49" charset="-122"/>
              </a:rPr>
              <a:t>model.mdf</a:t>
            </a:r>
            <a:r>
              <a:rPr lang="zh-CN" altLang="en-US" sz="2400">
                <a:latin typeface="楷体_GB2312" pitchFamily="49" charset="-122"/>
              </a:rPr>
              <a:t>和</a:t>
            </a:r>
            <a:r>
              <a:rPr lang="en-US" altLang="zh-CN" sz="2400">
                <a:latin typeface="楷体_GB2312" pitchFamily="49" charset="-122"/>
              </a:rPr>
              <a:t>modellog.ldf</a:t>
            </a:r>
          </a:p>
        </p:txBody>
      </p:sp>
      <p:sp>
        <p:nvSpPr>
          <p:cNvPr id="400390" name="Rectangle 6">
            <a:extLst>
              <a:ext uri="{FF2B5EF4-FFF2-40B4-BE49-F238E27FC236}">
                <a16:creationId xmlns:a16="http://schemas.microsoft.com/office/drawing/2014/main" id="{105FFDBF-B24F-4DD7-B6D6-4085DF840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</p:cSld>
  <p:clrMapOvr>
    <a:masterClrMapping/>
  </p:clrMapOvr>
  <p:transition advTm="232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0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40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40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40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40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40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3">
            <a:extLst>
              <a:ext uri="{FF2B5EF4-FFF2-40B4-BE49-F238E27FC236}">
                <a16:creationId xmlns:a16="http://schemas.microsoft.com/office/drawing/2014/main" id="{20181A2A-D51B-4BE9-949B-55A7588AEE5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50292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2005</a:t>
            </a:r>
            <a:r>
              <a:rPr lang="zh-CN" altLang="en-US"/>
              <a:t>数据库</a:t>
            </a:r>
            <a:endParaRPr lang="zh-CN" altLang="en-US" sz="2600"/>
          </a:p>
          <a:p>
            <a:r>
              <a:rPr lang="zh-CN" altLang="en-US" sz="2600"/>
              <a:t>（</a:t>
            </a:r>
            <a:r>
              <a:rPr lang="en-US" altLang="zh-CN" sz="2600"/>
              <a:t>1</a:t>
            </a:r>
            <a:r>
              <a:rPr lang="zh-CN" altLang="en-US" sz="2600"/>
              <a:t>）</a:t>
            </a:r>
            <a:r>
              <a:rPr lang="en-US" altLang="en-US" sz="2600"/>
              <a:t>系统数据库</a:t>
            </a:r>
            <a:r>
              <a:rPr lang="zh-CN" altLang="en-US" sz="2600"/>
              <a:t>：</a:t>
            </a:r>
            <a:r>
              <a:rPr lang="zh-CN" altLang="zh-CN" sz="2600"/>
              <a:t>Master、Model、Msdb和Tempdb</a:t>
            </a:r>
            <a:endParaRPr lang="en-US" altLang="zh-CN" sz="2600"/>
          </a:p>
          <a:p>
            <a:r>
              <a:rPr lang="en-US" altLang="zh-CN" sz="2600"/>
              <a:t>  </a:t>
            </a:r>
            <a:r>
              <a:rPr lang="en-US" altLang="zh-CN" sz="2600">
                <a:solidFill>
                  <a:srgbClr val="000099"/>
                </a:solidFill>
              </a:rPr>
              <a:t>Msdb</a:t>
            </a:r>
            <a:r>
              <a:rPr lang="zh-CN" altLang="en-US" sz="2600">
                <a:latin typeface="楷体_GB2312" pitchFamily="49" charset="-122"/>
              </a:rPr>
              <a:t>：</a:t>
            </a:r>
          </a:p>
          <a:p>
            <a:pPr lvl="1"/>
            <a:r>
              <a:rPr lang="zh-CN" altLang="en-US" sz="2600">
                <a:latin typeface="楷体_GB2312" pitchFamily="49" charset="-122"/>
              </a:rPr>
              <a:t>由</a:t>
            </a:r>
            <a:r>
              <a:rPr lang="en-US" altLang="zh-CN" sz="2600">
                <a:latin typeface="楷体_GB2312" pitchFamily="49" charset="-122"/>
              </a:rPr>
              <a:t>SQL Server Agent</a:t>
            </a:r>
            <a:r>
              <a:rPr lang="zh-CN" altLang="en-US" sz="2600">
                <a:latin typeface="楷体_GB2312" pitchFamily="49" charset="-122"/>
              </a:rPr>
              <a:t>服务使用，用来管理警报和任务。</a:t>
            </a:r>
          </a:p>
          <a:p>
            <a:pPr lvl="1"/>
            <a:r>
              <a:rPr lang="zh-CN" altLang="en-US" sz="2600">
                <a:latin typeface="楷体_GB2312" pitchFamily="49" charset="-122"/>
              </a:rPr>
              <a:t>它还存储</a:t>
            </a:r>
            <a:r>
              <a:rPr lang="en-US" altLang="zh-CN" sz="2600">
                <a:latin typeface="楷体_GB2312" pitchFamily="49" charset="-122"/>
              </a:rPr>
              <a:t>SQL Server</a:t>
            </a:r>
            <a:r>
              <a:rPr lang="zh-CN" altLang="en-US" sz="2600">
                <a:latin typeface="楷体_GB2312" pitchFamily="49" charset="-122"/>
              </a:rPr>
              <a:t>管理数据库的每一次备份和恢复的历史信息。</a:t>
            </a:r>
          </a:p>
          <a:p>
            <a:pPr lvl="1"/>
            <a:r>
              <a:rPr lang="en-US" altLang="zh-CN" sz="2600">
                <a:latin typeface="楷体_GB2312" pitchFamily="49" charset="-122"/>
              </a:rPr>
              <a:t>msdbdata.mdf</a:t>
            </a:r>
            <a:r>
              <a:rPr lang="zh-CN" altLang="en-US" sz="2600">
                <a:latin typeface="楷体_GB2312" pitchFamily="49" charset="-122"/>
              </a:rPr>
              <a:t>和</a:t>
            </a:r>
            <a:r>
              <a:rPr lang="en-US" altLang="zh-CN" sz="2600">
                <a:latin typeface="楷体_GB2312" pitchFamily="49" charset="-122"/>
              </a:rPr>
              <a:t>msdblog.ldf</a:t>
            </a:r>
          </a:p>
        </p:txBody>
      </p:sp>
      <p:sp>
        <p:nvSpPr>
          <p:cNvPr id="402438" name="Rectangle 6">
            <a:extLst>
              <a:ext uri="{FF2B5EF4-FFF2-40B4-BE49-F238E27FC236}">
                <a16:creationId xmlns:a16="http://schemas.microsoft.com/office/drawing/2014/main" id="{E4AB9A73-75DC-43F4-8273-A0A2A01CA7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</p:cSld>
  <p:clrMapOvr>
    <a:masterClrMapping/>
  </p:clrMapOvr>
  <p:transition advTm="249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402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3" name="Rectangle 3">
            <a:extLst>
              <a:ext uri="{FF2B5EF4-FFF2-40B4-BE49-F238E27FC236}">
                <a16:creationId xmlns:a16="http://schemas.microsoft.com/office/drawing/2014/main" id="{343B7CCB-4946-477F-B5D8-B501FEDE1F0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5291138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2005</a:t>
            </a:r>
            <a:r>
              <a:rPr lang="zh-CN" altLang="en-US"/>
              <a:t>数据库</a:t>
            </a:r>
            <a:endParaRPr lang="zh-CN" altLang="en-US" sz="2600"/>
          </a:p>
          <a:p>
            <a:r>
              <a:rPr lang="zh-CN" altLang="en-US" sz="2600"/>
              <a:t>（</a:t>
            </a:r>
            <a:r>
              <a:rPr lang="en-US" altLang="zh-CN" sz="2600"/>
              <a:t>1</a:t>
            </a:r>
            <a:r>
              <a:rPr lang="zh-CN" altLang="en-US" sz="2600"/>
              <a:t>）</a:t>
            </a:r>
            <a:r>
              <a:rPr lang="en-US" altLang="en-US" sz="2600"/>
              <a:t>系统数据库</a:t>
            </a:r>
            <a:r>
              <a:rPr lang="zh-CN" altLang="en-US" sz="2600"/>
              <a:t>：</a:t>
            </a:r>
            <a:r>
              <a:rPr lang="zh-CN" altLang="zh-CN" sz="2600"/>
              <a:t>Master、Model、Msdb和Tempdb</a:t>
            </a:r>
            <a:endParaRPr lang="en-US" altLang="zh-CN" sz="2600"/>
          </a:p>
          <a:p>
            <a:r>
              <a:rPr lang="en-US" altLang="zh-CN" sz="2600"/>
              <a:t>  </a:t>
            </a:r>
            <a:r>
              <a:rPr lang="en-US" altLang="zh-CN" sz="2600">
                <a:solidFill>
                  <a:srgbClr val="000099"/>
                </a:solidFill>
              </a:rPr>
              <a:t>Tempdb</a:t>
            </a:r>
            <a:r>
              <a:rPr lang="zh-CN" altLang="en-US" sz="2600">
                <a:latin typeface="楷体_GB2312" pitchFamily="49" charset="-122"/>
              </a:rPr>
              <a:t>：是被所有</a:t>
            </a:r>
            <a:r>
              <a:rPr lang="en-US" altLang="zh-CN" sz="2600">
                <a:latin typeface="楷体_GB2312" pitchFamily="49" charset="-122"/>
              </a:rPr>
              <a:t>SQL Server</a:t>
            </a:r>
            <a:r>
              <a:rPr lang="zh-CN" altLang="en-US" sz="2600">
                <a:latin typeface="楷体_GB2312" pitchFamily="49" charset="-122"/>
              </a:rPr>
              <a:t>数据库和数据库用户共享的数据库。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用来存储临时信息，任何因用户行为而创建的临时表都会在该用户与</a:t>
            </a:r>
            <a:r>
              <a:rPr lang="en-US" altLang="zh-CN" sz="2400">
                <a:latin typeface="楷体_GB2312" pitchFamily="49" charset="-122"/>
              </a:rPr>
              <a:t>SQL Server</a:t>
            </a:r>
            <a:r>
              <a:rPr lang="zh-CN" altLang="en-US" sz="2400">
                <a:latin typeface="楷体_GB2312" pitchFamily="49" charset="-122"/>
              </a:rPr>
              <a:t>断开连接时删除。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所有在</a:t>
            </a:r>
            <a:r>
              <a:rPr lang="en-US" altLang="zh-CN" sz="2400">
                <a:latin typeface="楷体_GB2312" pitchFamily="49" charset="-122"/>
              </a:rPr>
              <a:t>tempdb</a:t>
            </a:r>
            <a:r>
              <a:rPr lang="zh-CN" altLang="en-US" sz="2400">
                <a:latin typeface="楷体_GB2312" pitchFamily="49" charset="-122"/>
              </a:rPr>
              <a:t>中创建的临时表都会在</a:t>
            </a:r>
            <a:r>
              <a:rPr lang="en-US" altLang="zh-CN" sz="2400">
                <a:latin typeface="楷体_GB2312" pitchFamily="49" charset="-122"/>
              </a:rPr>
              <a:t>SQL Server</a:t>
            </a:r>
            <a:r>
              <a:rPr lang="zh-CN" altLang="en-US" sz="2400">
                <a:latin typeface="楷体_GB2312" pitchFamily="49" charset="-122"/>
              </a:rPr>
              <a:t>停止和重启时删除。</a:t>
            </a:r>
          </a:p>
          <a:p>
            <a:pPr lvl="1"/>
            <a:r>
              <a:rPr lang="en-US" altLang="zh-CN" sz="2400">
                <a:latin typeface="楷体_GB2312" pitchFamily="49" charset="-122"/>
              </a:rPr>
              <a:t>tempdb.mdf</a:t>
            </a:r>
            <a:r>
              <a:rPr lang="zh-CN" altLang="en-US" sz="2400">
                <a:latin typeface="楷体_GB2312" pitchFamily="49" charset="-122"/>
              </a:rPr>
              <a:t>和</a:t>
            </a:r>
            <a:r>
              <a:rPr lang="en-US" altLang="zh-CN" sz="2400">
                <a:latin typeface="楷体_GB2312" pitchFamily="49" charset="-122"/>
              </a:rPr>
              <a:t>templog.ldf</a:t>
            </a:r>
            <a:endParaRPr lang="en-US" altLang="zh-CN">
              <a:latin typeface="楷体_GB2312" pitchFamily="49" charset="-122"/>
            </a:endParaRPr>
          </a:p>
        </p:txBody>
      </p:sp>
      <p:sp>
        <p:nvSpPr>
          <p:cNvPr id="404486" name="Rectangle 6">
            <a:extLst>
              <a:ext uri="{FF2B5EF4-FFF2-40B4-BE49-F238E27FC236}">
                <a16:creationId xmlns:a16="http://schemas.microsoft.com/office/drawing/2014/main" id="{B214B873-182C-47A0-8C13-6EE267596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  <p:sp>
        <p:nvSpPr>
          <p:cNvPr id="404487" name="AutoShape 7">
            <a:extLst>
              <a:ext uri="{FF2B5EF4-FFF2-40B4-BE49-F238E27FC236}">
                <a16:creationId xmlns:a16="http://schemas.microsoft.com/office/drawing/2014/main" id="{B4B2C04B-E444-49A4-9959-4635C7019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810000"/>
            <a:ext cx="7010400" cy="1447800"/>
          </a:xfrm>
          <a:prstGeom prst="foldedCorner">
            <a:avLst>
              <a:gd name="adj" fmla="val 12500"/>
            </a:avLst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27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  <a:headEnd type="none" w="sm" len="lg"/>
                <a:tailEnd type="none" w="sm" len="lg"/>
              </a14:hiddenLine>
            </a:ext>
          </a:extLst>
        </p:spPr>
        <p:txBody>
          <a:bodyPr anchor="ctr"/>
          <a:lstStyle/>
          <a:p>
            <a:pPr>
              <a:lnSpc>
                <a:spcPct val="130000"/>
              </a:lnSpc>
            </a:pP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！注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：千万不要将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Tempdb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数据库作为数据的最终存放处。</a:t>
            </a:r>
          </a:p>
        </p:txBody>
      </p:sp>
    </p:spTree>
    <p:custDataLst>
      <p:tags r:id="rId1"/>
    </p:custDataLst>
  </p:cSld>
  <p:clrMapOvr>
    <a:masterClrMapping/>
  </p:clrMapOvr>
  <p:transition advTm="6400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404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3" grpId="0" build="p"/>
      <p:bldP spid="40448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9" name="Rectangle 3">
            <a:extLst>
              <a:ext uri="{FF2B5EF4-FFF2-40B4-BE49-F238E27FC236}">
                <a16:creationId xmlns:a16="http://schemas.microsoft.com/office/drawing/2014/main" id="{3963217C-E55C-4587-9314-811A6B2D43FA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48768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2005</a:t>
            </a:r>
            <a:r>
              <a:rPr lang="zh-CN" altLang="en-US"/>
              <a:t>数据库</a:t>
            </a:r>
            <a:endParaRPr lang="zh-CN" altLang="en-US" sz="2600"/>
          </a:p>
          <a:p>
            <a:r>
              <a:rPr lang="zh-CN" altLang="en-US" sz="2600"/>
              <a:t>（</a:t>
            </a:r>
            <a:r>
              <a:rPr lang="en-US" altLang="zh-CN" sz="2600"/>
              <a:t>2</a:t>
            </a:r>
            <a:r>
              <a:rPr lang="zh-CN" altLang="en-US" sz="2600"/>
              <a:t>）</a:t>
            </a:r>
            <a:r>
              <a:rPr lang="zh-CN" altLang="en-US" sz="2600">
                <a:latin typeface="楷体_GB2312" pitchFamily="49" charset="-122"/>
              </a:rPr>
              <a:t>用户数据库</a:t>
            </a:r>
          </a:p>
          <a:p>
            <a:r>
              <a:rPr lang="zh-CN" altLang="en-US" sz="2600">
                <a:latin typeface="楷体_GB2312" pitchFamily="49" charset="-122"/>
              </a:rPr>
              <a:t>    用户创建的数据库，用于存储用户的数据。作为数据库拥有者（</a:t>
            </a:r>
            <a:r>
              <a:rPr lang="en-US" altLang="zh-CN" sz="2600">
                <a:latin typeface="楷体_GB2312" pitchFamily="49" charset="-122"/>
              </a:rPr>
              <a:t>DBO</a:t>
            </a:r>
            <a:r>
              <a:rPr lang="zh-CN" altLang="en-US" sz="2600">
                <a:latin typeface="楷体_GB2312" pitchFamily="49" charset="-122"/>
              </a:rPr>
              <a:t>）的用户自己创建的数据库。他拥有对数据库的所有访问权限。 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CE330DFD-8E42-4905-A23D-89AF5F649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</p:cSld>
  <p:clrMapOvr>
    <a:masterClrMapping/>
  </p:clrMapOvr>
  <p:transition advTm="378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408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7" name="Rectangle 3">
            <a:extLst>
              <a:ext uri="{FF2B5EF4-FFF2-40B4-BE49-F238E27FC236}">
                <a16:creationId xmlns:a16="http://schemas.microsoft.com/office/drawing/2014/main" id="{DB6B4546-33C2-4EFE-B00D-64B3B8F5B66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48768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2005</a:t>
            </a:r>
            <a:r>
              <a:rPr lang="zh-CN" altLang="en-US"/>
              <a:t>数据库</a:t>
            </a:r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>
                <a:latin typeface="楷体_GB2312" pitchFamily="49" charset="-122"/>
              </a:rPr>
              <a:t>数据库对象</a:t>
            </a:r>
          </a:p>
          <a:p>
            <a:r>
              <a:rPr lang="zh-CN" altLang="en-US">
                <a:latin typeface="楷体_GB2312" pitchFamily="49" charset="-122"/>
              </a:rPr>
              <a:t>    在</a:t>
            </a:r>
            <a:r>
              <a:rPr lang="en-US" altLang="zh-CN">
                <a:latin typeface="楷体_GB2312" pitchFamily="49" charset="-122"/>
              </a:rPr>
              <a:t>SQL Server 2005</a:t>
            </a:r>
            <a:r>
              <a:rPr lang="zh-CN" altLang="en-US">
                <a:latin typeface="楷体_GB2312" pitchFamily="49" charset="-122"/>
              </a:rPr>
              <a:t>的数据库管理中，数据库对象是数据库的重要组成部分，也是数据库编程的主要对象。</a:t>
            </a:r>
          </a:p>
        </p:txBody>
      </p:sp>
      <p:sp>
        <p:nvSpPr>
          <p:cNvPr id="487430" name="Rectangle 6">
            <a:extLst>
              <a:ext uri="{FF2B5EF4-FFF2-40B4-BE49-F238E27FC236}">
                <a16:creationId xmlns:a16="http://schemas.microsoft.com/office/drawing/2014/main" id="{ECFF074E-7660-4773-8165-6730082D2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</p:cSld>
  <p:clrMapOvr>
    <a:masterClrMapping/>
  </p:clrMapOvr>
  <p:transition advTm="1735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87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487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3" name="Rectangle 3">
            <a:extLst>
              <a:ext uri="{FF2B5EF4-FFF2-40B4-BE49-F238E27FC236}">
                <a16:creationId xmlns:a16="http://schemas.microsoft.com/office/drawing/2014/main" id="{DAA95C38-E316-4BF9-972D-506816F544B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48768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2005</a:t>
            </a:r>
            <a:r>
              <a:rPr lang="zh-CN" altLang="en-US"/>
              <a:t>数据库</a:t>
            </a:r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>
                <a:latin typeface="楷体_GB2312" pitchFamily="49" charset="-122"/>
              </a:rPr>
              <a:t>数据库对象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表：存放各种数据的载体；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约束：强制实现数据完整性的方法；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默认值：在表中插入数据时，若用户没有给出明确的列值，系统会自动对其赋予预设好的数据值；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规则：是对数据库表中数据信息进行限制的一套准则；</a:t>
            </a:r>
          </a:p>
        </p:txBody>
      </p:sp>
      <p:sp>
        <p:nvSpPr>
          <p:cNvPr id="491526" name="Rectangle 6">
            <a:extLst>
              <a:ext uri="{FF2B5EF4-FFF2-40B4-BE49-F238E27FC236}">
                <a16:creationId xmlns:a16="http://schemas.microsoft.com/office/drawing/2014/main" id="{618F1534-3CA0-4C8B-88CA-A5775ACBB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</p:cSld>
  <p:clrMapOvr>
    <a:masterClrMapping/>
  </p:clrMapOvr>
  <p:transition advTm="3170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91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491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491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491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1" name="Rectangle 3">
            <a:extLst>
              <a:ext uri="{FF2B5EF4-FFF2-40B4-BE49-F238E27FC236}">
                <a16:creationId xmlns:a16="http://schemas.microsoft.com/office/drawing/2014/main" id="{A28A55A4-D4FB-4FC7-9D33-B78C5D7709B6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533400" y="1295400"/>
            <a:ext cx="8229600" cy="48768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80808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rgbClr val="009900"/>
              </a:buClr>
              <a:buSzPct val="7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SQL Server 2005</a:t>
            </a:r>
            <a:r>
              <a:rPr lang="zh-CN" altLang="en-US"/>
              <a:t>数据库</a:t>
            </a:r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en-US">
                <a:latin typeface="楷体_GB2312" pitchFamily="49" charset="-122"/>
              </a:rPr>
              <a:t>数据库对象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索引：实现数据快速检索并强制数据完整性的一种存储结构；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视图：查看数据库中一个或多个表或视图中数据的一种方法；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存储过程：一组预先编译好的能实现特定数据操作功能的</a:t>
            </a:r>
            <a:r>
              <a:rPr lang="en-US" altLang="zh-CN" sz="2400">
                <a:latin typeface="楷体_GB2312" pitchFamily="49" charset="-122"/>
              </a:rPr>
              <a:t>SQL</a:t>
            </a:r>
            <a:r>
              <a:rPr lang="zh-CN" altLang="en-US" sz="2400">
                <a:latin typeface="楷体_GB2312" pitchFamily="49" charset="-122"/>
              </a:rPr>
              <a:t>语句集；</a:t>
            </a:r>
          </a:p>
          <a:p>
            <a:pPr lvl="1"/>
            <a:r>
              <a:rPr lang="zh-CN" altLang="en-US" sz="2400">
                <a:latin typeface="楷体_GB2312" pitchFamily="49" charset="-122"/>
              </a:rPr>
              <a:t>触发器：一种特殊的存储过程，在用户向表中插入、更新或删除数据时自动执行。</a:t>
            </a:r>
          </a:p>
        </p:txBody>
      </p:sp>
      <p:sp>
        <p:nvSpPr>
          <p:cNvPr id="493574" name="Rectangle 6">
            <a:extLst>
              <a:ext uri="{FF2B5EF4-FFF2-40B4-BE49-F238E27FC236}">
                <a16:creationId xmlns:a16="http://schemas.microsoft.com/office/drawing/2014/main" id="{677DA988-65D7-4D81-9278-812D0F29FC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</p:cSld>
  <p:clrMapOvr>
    <a:masterClrMapping/>
  </p:clrMapOvr>
  <p:transition advTm="1697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>
            <a:extLst>
              <a:ext uri="{FF2B5EF4-FFF2-40B4-BE49-F238E27FC236}">
                <a16:creationId xmlns:a16="http://schemas.microsoft.com/office/drawing/2014/main" id="{C8888EA2-91EF-49C9-94E4-B680C3A2A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、使用</a:t>
            </a:r>
            <a:r>
              <a:rPr lang="en-US" altLang="zh-CN"/>
              <a:t>SQL Server</a:t>
            </a:r>
            <a:r>
              <a:rPr lang="zh-CN" altLang="en-US"/>
              <a:t>管理工具创建数据库</a:t>
            </a:r>
          </a:p>
          <a:p>
            <a:r>
              <a:rPr lang="zh-CN" altLang="en-US"/>
              <a:t>       创建数据库时需要对</a:t>
            </a:r>
            <a:r>
              <a:rPr lang="zh-CN" altLang="en-US">
                <a:solidFill>
                  <a:srgbClr val="008000"/>
                </a:solidFill>
              </a:rPr>
              <a:t>数据库的属性</a:t>
            </a:r>
            <a:r>
              <a:rPr lang="zh-CN" altLang="en-US"/>
              <a:t>进行设置，包括</a:t>
            </a:r>
            <a:r>
              <a:rPr lang="zh-CN" altLang="en-US">
                <a:solidFill>
                  <a:srgbClr val="008000"/>
                </a:solidFill>
              </a:rPr>
              <a:t>数据库的名称、所有者、数据库大小以及存储该数据库的文件和文件组</a:t>
            </a:r>
            <a:r>
              <a:rPr lang="zh-CN" altLang="en-US"/>
              <a:t>。在</a:t>
            </a:r>
            <a:r>
              <a:rPr lang="en-US" altLang="zh-CN"/>
              <a:t>SQL Server</a:t>
            </a:r>
            <a:r>
              <a:rPr lang="zh-CN" altLang="en-US"/>
              <a:t>中创建数据库时既可以使用</a:t>
            </a:r>
            <a:r>
              <a:rPr lang="en-US" altLang="zh-CN"/>
              <a:t>SQL Server Management Studio</a:t>
            </a:r>
            <a:r>
              <a:rPr lang="zh-CN" altLang="en-US"/>
              <a:t>创建，也可以使用</a:t>
            </a:r>
            <a:r>
              <a:rPr lang="en-US" altLang="zh-CN"/>
              <a:t>T-SQL</a:t>
            </a:r>
            <a:r>
              <a:rPr lang="zh-CN" altLang="en-US"/>
              <a:t>语言创建。  </a:t>
            </a:r>
          </a:p>
        </p:txBody>
      </p:sp>
      <p:sp>
        <p:nvSpPr>
          <p:cNvPr id="418830" name="Rectangle 14">
            <a:extLst>
              <a:ext uri="{FF2B5EF4-FFF2-40B4-BE49-F238E27FC236}">
                <a16:creationId xmlns:a16="http://schemas.microsoft.com/office/drawing/2014/main" id="{707A6EA4-2210-4DC9-8E1E-0E6E604D7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</p:cSld>
  <p:clrMapOvr>
    <a:masterClrMapping/>
  </p:clrMapOvr>
  <p:transition advTm="5640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8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18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3" name="Rectangle 3">
            <a:extLst>
              <a:ext uri="{FF2B5EF4-FFF2-40B4-BE49-F238E27FC236}">
                <a16:creationId xmlns:a16="http://schemas.microsoft.com/office/drawing/2014/main" id="{8C034E6F-4ED2-4ACA-AC4E-216B212A7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295400"/>
            <a:ext cx="8234363" cy="5181600"/>
          </a:xfrm>
        </p:spPr>
        <p:txBody>
          <a:bodyPr/>
          <a:lstStyle/>
          <a:p>
            <a:r>
              <a:rPr lang="en-US" altLang="zh-CN"/>
              <a:t>2</a:t>
            </a:r>
            <a:r>
              <a:rPr lang="en-US" altLang="en-US"/>
              <a:t>、</a:t>
            </a:r>
            <a:r>
              <a:rPr lang="zh-CN" altLang="en-US"/>
              <a:t>使用</a:t>
            </a:r>
            <a:r>
              <a:rPr lang="en-US" altLang="zh-CN"/>
              <a:t>SQL Server</a:t>
            </a:r>
            <a:r>
              <a:rPr lang="zh-CN" altLang="en-US"/>
              <a:t>管理工具创建数据库</a:t>
            </a:r>
          </a:p>
          <a:p>
            <a:r>
              <a:rPr lang="en-US" altLang="zh-CN">
                <a:solidFill>
                  <a:srgbClr val="006600"/>
                </a:solidFill>
              </a:rPr>
              <a:t>【</a:t>
            </a:r>
            <a:r>
              <a:rPr lang="zh-CN" altLang="en-US">
                <a:solidFill>
                  <a:srgbClr val="006600"/>
                </a:solidFill>
              </a:rPr>
              <a:t>例</a:t>
            </a:r>
            <a:r>
              <a:rPr lang="en-US" altLang="zh-CN">
                <a:solidFill>
                  <a:srgbClr val="006600"/>
                </a:solidFill>
              </a:rPr>
              <a:t>4.1】</a:t>
            </a:r>
            <a:r>
              <a:rPr lang="zh-CN" altLang="en-US"/>
              <a:t>使用</a:t>
            </a:r>
            <a:r>
              <a:rPr lang="en-US" altLang="zh-CN"/>
              <a:t>SQL Server Management Studio</a:t>
            </a:r>
            <a:r>
              <a:rPr lang="zh-CN" altLang="en-US"/>
              <a:t>工具为图</a:t>
            </a:r>
            <a:r>
              <a:rPr lang="en-US" altLang="zh-CN"/>
              <a:t>1.8</a:t>
            </a:r>
            <a:r>
              <a:rPr lang="zh-CN" altLang="en-US"/>
              <a:t>所示的大学教学管理数据库创建数据库</a:t>
            </a:r>
            <a:r>
              <a:rPr lang="en-US" altLang="zh-CN"/>
              <a:t>JXGL</a:t>
            </a:r>
            <a:r>
              <a:rPr lang="zh-CN" altLang="en-US"/>
              <a:t>。 </a:t>
            </a:r>
          </a:p>
          <a:p>
            <a:r>
              <a:rPr lang="zh-CN" altLang="en-US"/>
              <a:t>数据库名：</a:t>
            </a:r>
            <a:r>
              <a:rPr lang="en-US" altLang="zh-CN"/>
              <a:t>JXGL</a:t>
            </a:r>
          </a:p>
          <a:p>
            <a:r>
              <a:rPr lang="zh-CN" altLang="en-US"/>
              <a:t>数据文件：</a:t>
            </a:r>
            <a:r>
              <a:rPr lang="en-US" altLang="zh-CN"/>
              <a:t>JXGL.mdf</a:t>
            </a:r>
            <a:r>
              <a:rPr lang="zh-CN" altLang="en-US"/>
              <a:t>，初始大小</a:t>
            </a:r>
            <a:r>
              <a:rPr lang="en-US" altLang="zh-CN"/>
              <a:t>5MB</a:t>
            </a:r>
            <a:r>
              <a:rPr lang="zh-CN" altLang="en-US"/>
              <a:t>，最大值</a:t>
            </a:r>
            <a:r>
              <a:rPr lang="en-US" altLang="zh-CN"/>
              <a:t>200MB</a:t>
            </a:r>
            <a:r>
              <a:rPr lang="zh-CN" altLang="en-US"/>
              <a:t>，以</a:t>
            </a:r>
            <a:r>
              <a:rPr lang="en-US" altLang="zh-CN"/>
              <a:t>5%</a:t>
            </a:r>
            <a:r>
              <a:rPr lang="zh-CN" altLang="en-US"/>
              <a:t>的增量增加；</a:t>
            </a:r>
          </a:p>
          <a:p>
            <a:r>
              <a:rPr lang="zh-CN" altLang="en-US"/>
              <a:t>日志文件：</a:t>
            </a:r>
            <a:r>
              <a:rPr lang="en-US" altLang="zh-CN"/>
              <a:t>JXGL_log.ldf</a:t>
            </a:r>
            <a:r>
              <a:rPr lang="zh-CN" altLang="en-US"/>
              <a:t>，初始大小</a:t>
            </a:r>
            <a:r>
              <a:rPr lang="en-US" altLang="zh-CN"/>
              <a:t>5MB</a:t>
            </a:r>
            <a:r>
              <a:rPr lang="zh-CN" altLang="en-US"/>
              <a:t>，最大值</a:t>
            </a:r>
            <a:r>
              <a:rPr lang="en-US" altLang="zh-CN"/>
              <a:t>50MB</a:t>
            </a:r>
            <a:r>
              <a:rPr lang="zh-CN" altLang="en-US"/>
              <a:t>，以</a:t>
            </a:r>
            <a:r>
              <a:rPr lang="en-US" altLang="zh-CN"/>
              <a:t>2MB</a:t>
            </a:r>
            <a:r>
              <a:rPr lang="zh-CN" altLang="en-US"/>
              <a:t>的增量增加。</a:t>
            </a:r>
          </a:p>
        </p:txBody>
      </p:sp>
      <p:sp>
        <p:nvSpPr>
          <p:cNvPr id="424964" name="Text Box 4">
            <a:hlinkClick r:id="rId4" action="ppaction://hlinkfile"/>
            <a:extLst>
              <a:ext uri="{FF2B5EF4-FFF2-40B4-BE49-F238E27FC236}">
                <a16:creationId xmlns:a16="http://schemas.microsoft.com/office/drawing/2014/main" id="{0D6AAD1D-12B1-4BE9-8178-F93E0237F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62400"/>
            <a:ext cx="6629400" cy="817563"/>
          </a:xfrm>
          <a:prstGeom prst="rect">
            <a:avLst/>
          </a:prstGeom>
          <a:gradFill rotWithShape="1">
            <a:gsLst>
              <a:gs pos="0">
                <a:srgbClr val="99FFCC"/>
              </a:gs>
              <a:gs pos="50000">
                <a:schemeClr val="bg1"/>
              </a:gs>
              <a:gs pos="100000">
                <a:srgbClr val="99FFCC"/>
              </a:gs>
            </a:gsLst>
            <a:lin ang="2700000" scaled="1"/>
          </a:gradFill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观看演示：使用管理器创建数据库</a:t>
            </a:r>
          </a:p>
        </p:txBody>
      </p:sp>
      <p:sp>
        <p:nvSpPr>
          <p:cNvPr id="424967" name="Rectangle 7">
            <a:extLst>
              <a:ext uri="{FF2B5EF4-FFF2-40B4-BE49-F238E27FC236}">
                <a16:creationId xmlns:a16="http://schemas.microsoft.com/office/drawing/2014/main" id="{5DBC25FF-C3F6-450B-BCB8-D6D3F1B6C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>
                <a:latin typeface="幼圆" panose="02010509060101010101" pitchFamily="49" charset="-122"/>
              </a:rPr>
              <a:t>三、</a:t>
            </a:r>
            <a:r>
              <a:rPr lang="en-US" altLang="zh-CN">
                <a:latin typeface="幼圆" panose="02010509060101010101" pitchFamily="49" charset="-122"/>
              </a:rPr>
              <a:t>SQL Server 2005</a:t>
            </a:r>
            <a:r>
              <a:rPr lang="zh-CN" altLang="en-US">
                <a:latin typeface="幼圆" panose="02010509060101010101" pitchFamily="49" charset="-122"/>
              </a:rPr>
              <a:t>数据库创建</a:t>
            </a:r>
          </a:p>
        </p:txBody>
      </p:sp>
    </p:spTree>
    <p:custDataLst>
      <p:tags r:id="rId1"/>
    </p:custDataLst>
  </p:cSld>
  <p:clrMapOvr>
    <a:masterClrMapping/>
  </p:clrMapOvr>
  <p:transition advTm="3081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24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2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3" grpId="0" build="p"/>
      <p:bldP spid="42496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>
            <a:extLst>
              <a:ext uri="{FF2B5EF4-FFF2-40B4-BE49-F238E27FC236}">
                <a16:creationId xmlns:a16="http://schemas.microsoft.com/office/drawing/2014/main" id="{020C26A5-637F-4912-8632-A02436186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四、创建数据表</a:t>
            </a:r>
          </a:p>
        </p:txBody>
      </p:sp>
      <p:sp>
        <p:nvSpPr>
          <p:cNvPr id="499715" name="Rectangle 3">
            <a:extLst>
              <a:ext uri="{FF2B5EF4-FFF2-40B4-BE49-F238E27FC236}">
                <a16:creationId xmlns:a16="http://schemas.microsoft.com/office/drawing/2014/main" id="{1C83259D-BDC0-4770-A26B-BC6AE8E81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77200" cy="5181600"/>
          </a:xfrm>
        </p:spPr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、数据表的数据类型及约束 </a:t>
            </a:r>
          </a:p>
          <a:p>
            <a:r>
              <a:rPr lang="zh-CN" altLang="en-US"/>
              <a:t>       在创建数据表前，先要确定表的结构、表的字段组成；对每个字段，要确定它的数据类型和其它字段属性，如：该属性值是否为空值（</a:t>
            </a:r>
            <a:r>
              <a:rPr lang="en-US" altLang="zh-CN"/>
              <a:t>null</a:t>
            </a:r>
            <a:r>
              <a:rPr lang="zh-CN" altLang="en-US"/>
              <a:t>）、是否关系模式的主键等。</a:t>
            </a:r>
          </a:p>
        </p:txBody>
      </p:sp>
      <p:graphicFrame>
        <p:nvGraphicFramePr>
          <p:cNvPr id="499716" name="Group 4">
            <a:extLst>
              <a:ext uri="{FF2B5EF4-FFF2-40B4-BE49-F238E27FC236}">
                <a16:creationId xmlns:a16="http://schemas.microsoft.com/office/drawing/2014/main" id="{3E560F26-B4A0-463D-9377-09A9B5B493E9}"/>
              </a:ext>
            </a:extLst>
          </p:cNvPr>
          <p:cNvGraphicFramePr>
            <a:graphicFrameLocks noGrp="1"/>
          </p:cNvGraphicFramePr>
          <p:nvPr/>
        </p:nvGraphicFramePr>
        <p:xfrm>
          <a:off x="485775" y="4203700"/>
          <a:ext cx="8353425" cy="196691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4041748109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944011228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803539554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354593224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1840042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333044814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31172097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1165443886"/>
                    </a:ext>
                  </a:extLst>
                </a:gridCol>
              </a:tblGrid>
              <a:tr h="4905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字段名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类型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宽度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小数位数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主键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外键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NULL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33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其它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342400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S#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char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N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538881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C#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char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N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014730"/>
                  </a:ext>
                </a:extLst>
              </a:tr>
              <a:tr h="4841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GRADE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int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0-100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lg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580235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advTm="668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9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99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9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>
            <a:extLst>
              <a:ext uri="{FF2B5EF4-FFF2-40B4-BE49-F238E27FC236}">
                <a16:creationId xmlns:a16="http://schemas.microsoft.com/office/drawing/2014/main" id="{C68570CD-4E41-491D-BCA4-2C6EAB4D8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四、创建数据表</a:t>
            </a:r>
          </a:p>
        </p:txBody>
      </p:sp>
      <p:sp>
        <p:nvSpPr>
          <p:cNvPr id="507907" name="Rectangle 3">
            <a:extLst>
              <a:ext uri="{FF2B5EF4-FFF2-40B4-BE49-F238E27FC236}">
                <a16:creationId xmlns:a16="http://schemas.microsoft.com/office/drawing/2014/main" id="{E8A93003-2D73-4DDF-98E5-6A62B5482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77200" cy="5181600"/>
          </a:xfrm>
        </p:spPr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、使用表设计器创建表</a:t>
            </a:r>
          </a:p>
          <a:p>
            <a:r>
              <a:rPr lang="en-US" altLang="zh-CN">
                <a:solidFill>
                  <a:srgbClr val="006600"/>
                </a:solidFill>
              </a:rPr>
              <a:t>【</a:t>
            </a:r>
            <a:r>
              <a:rPr lang="zh-CN" altLang="en-US">
                <a:solidFill>
                  <a:srgbClr val="006600"/>
                </a:solidFill>
              </a:rPr>
              <a:t>例</a:t>
            </a:r>
            <a:r>
              <a:rPr lang="en-US" altLang="zh-CN">
                <a:solidFill>
                  <a:srgbClr val="006600"/>
                </a:solidFill>
              </a:rPr>
              <a:t>4.2】</a:t>
            </a:r>
            <a:r>
              <a:rPr lang="zh-CN" altLang="en-US"/>
              <a:t>利用表设计器在大学教学管理数据库中创建“学习关系表”</a:t>
            </a:r>
            <a:r>
              <a:rPr lang="en-US" altLang="zh-CN"/>
              <a:t>SC</a:t>
            </a:r>
            <a:r>
              <a:rPr lang="zh-CN" altLang="en-US"/>
              <a:t>。 </a:t>
            </a:r>
          </a:p>
        </p:txBody>
      </p:sp>
      <p:sp>
        <p:nvSpPr>
          <p:cNvPr id="507909" name="Text Box 5">
            <a:hlinkClick r:id="rId4" action="ppaction://hlinkfile"/>
            <a:extLst>
              <a:ext uri="{FF2B5EF4-FFF2-40B4-BE49-F238E27FC236}">
                <a16:creationId xmlns:a16="http://schemas.microsoft.com/office/drawing/2014/main" id="{1E773646-D091-47C4-AF4E-F1D1393DF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602038"/>
            <a:ext cx="6629400" cy="817562"/>
          </a:xfrm>
          <a:prstGeom prst="rect">
            <a:avLst/>
          </a:prstGeom>
          <a:gradFill rotWithShape="1">
            <a:gsLst>
              <a:gs pos="0">
                <a:srgbClr val="99FFCC"/>
              </a:gs>
              <a:gs pos="50000">
                <a:schemeClr val="bg1"/>
              </a:gs>
              <a:gs pos="100000">
                <a:srgbClr val="99FFCC"/>
              </a:gs>
            </a:gsLst>
            <a:lin ang="270000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观看演示：使用表设计器创建表</a:t>
            </a:r>
          </a:p>
        </p:txBody>
      </p:sp>
    </p:spTree>
    <p:custDataLst>
      <p:tags r:id="rId1"/>
    </p:custDataLst>
  </p:cSld>
  <p:clrMapOvr>
    <a:masterClrMapping/>
  </p:clrMapOvr>
  <p:transition advTm="796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07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07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0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07" grpId="0" build="p"/>
      <p:bldP spid="50790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>
            <a:extLst>
              <a:ext uri="{FF2B5EF4-FFF2-40B4-BE49-F238E27FC236}">
                <a16:creationId xmlns:a16="http://schemas.microsoft.com/office/drawing/2014/main" id="{6D0F67F2-E2BA-4985-8FA8-74E6C94D83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四、创建数据表</a:t>
            </a:r>
          </a:p>
        </p:txBody>
      </p:sp>
      <p:sp>
        <p:nvSpPr>
          <p:cNvPr id="509955" name="Rectangle 3">
            <a:extLst>
              <a:ext uri="{FF2B5EF4-FFF2-40B4-BE49-F238E27FC236}">
                <a16:creationId xmlns:a16="http://schemas.microsoft.com/office/drawing/2014/main" id="{9A34539C-F084-4C36-B537-A93C65713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77200" cy="5181600"/>
          </a:xfrm>
        </p:spPr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、表结构的修改</a:t>
            </a:r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）修改数据表</a:t>
            </a:r>
          </a:p>
          <a:p>
            <a:r>
              <a:rPr lang="zh-CN" altLang="en-US"/>
              <a:t> ① 更改表名；</a:t>
            </a:r>
          </a:p>
          <a:p>
            <a:r>
              <a:rPr lang="zh-CN" altLang="en-US"/>
              <a:t> ② 添加新的列；</a:t>
            </a:r>
          </a:p>
          <a:p>
            <a:r>
              <a:rPr lang="zh-CN" altLang="en-US"/>
              <a:t> ③ 删除已有的列</a:t>
            </a:r>
          </a:p>
          <a:p>
            <a:r>
              <a:rPr lang="zh-CN" altLang="en-US"/>
              <a:t> ④ 修改已有列的属性（列名、数据类型、长度、默认值以及约束）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）删除数据表</a:t>
            </a:r>
          </a:p>
        </p:txBody>
      </p:sp>
    </p:spTree>
  </p:cSld>
  <p:clrMapOvr>
    <a:masterClrMapping/>
  </p:clrMapOvr>
  <p:transition advTm="15067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>
            <a:extLst>
              <a:ext uri="{FF2B5EF4-FFF2-40B4-BE49-F238E27FC236}">
                <a16:creationId xmlns:a16="http://schemas.microsoft.com/office/drawing/2014/main" id="{97277022-2915-4F2A-932B-CDCF4CFD3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四、创建数据表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6AE0465D-E6B5-4FA1-B38B-FBB451E0C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77200" cy="5181600"/>
          </a:xfrm>
        </p:spPr>
        <p:txBody>
          <a:bodyPr/>
          <a:lstStyle/>
          <a:p>
            <a:endParaRPr lang="zh-CN" altLang="zh-CN"/>
          </a:p>
        </p:txBody>
      </p:sp>
      <p:pic>
        <p:nvPicPr>
          <p:cNvPr id="512004" name="Picture 4">
            <a:extLst>
              <a:ext uri="{FF2B5EF4-FFF2-40B4-BE49-F238E27FC236}">
                <a16:creationId xmlns:a16="http://schemas.microsoft.com/office/drawing/2014/main" id="{57107828-71B7-430A-B252-D5DB3C09A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"/>
            <a:ext cx="3200400" cy="6477000"/>
          </a:xfrm>
          <a:prstGeom prst="rect">
            <a:avLst/>
          </a:prstGeom>
          <a:noFill/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005" name="Picture 5">
            <a:extLst>
              <a:ext uri="{FF2B5EF4-FFF2-40B4-BE49-F238E27FC236}">
                <a16:creationId xmlns:a16="http://schemas.microsoft.com/office/drawing/2014/main" id="{BDAEE1C1-6E8D-4220-9AA2-6E12B1FD4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2400"/>
            <a:ext cx="3411538" cy="647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006" name="AutoShape 6">
            <a:extLst>
              <a:ext uri="{FF2B5EF4-FFF2-40B4-BE49-F238E27FC236}">
                <a16:creationId xmlns:a16="http://schemas.microsoft.com/office/drawing/2014/main" id="{D883539D-F35A-492D-BB69-D98C633D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048000"/>
            <a:ext cx="2133600" cy="990600"/>
          </a:xfrm>
          <a:prstGeom prst="wedgeRoundRectCallout">
            <a:avLst>
              <a:gd name="adj1" fmla="val 40699"/>
              <a:gd name="adj2" fmla="val 83815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修改：进入表设计器修改表结构</a:t>
            </a:r>
          </a:p>
        </p:txBody>
      </p:sp>
      <p:sp>
        <p:nvSpPr>
          <p:cNvPr id="512007" name="AutoShape 7">
            <a:extLst>
              <a:ext uri="{FF2B5EF4-FFF2-40B4-BE49-F238E27FC236}">
                <a16:creationId xmlns:a16="http://schemas.microsoft.com/office/drawing/2014/main" id="{FCA56BD7-8439-4201-ABDC-6BF4190E4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343400"/>
            <a:ext cx="1981200" cy="990600"/>
          </a:xfrm>
          <a:prstGeom prst="wedgeRoundRectCallout">
            <a:avLst>
              <a:gd name="adj1" fmla="val 47676"/>
              <a:gd name="adj2" fmla="val 83815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重命名：为表重新命名</a:t>
            </a:r>
          </a:p>
        </p:txBody>
      </p:sp>
      <p:sp>
        <p:nvSpPr>
          <p:cNvPr id="512008" name="AutoShape 8">
            <a:extLst>
              <a:ext uri="{FF2B5EF4-FFF2-40B4-BE49-F238E27FC236}">
                <a16:creationId xmlns:a16="http://schemas.microsoft.com/office/drawing/2014/main" id="{5D1F2BC4-A9A8-49A1-A3F3-BA8FAFD8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572000"/>
            <a:ext cx="1981200" cy="914400"/>
          </a:xfrm>
          <a:prstGeom prst="wedgeRoundRectCallout">
            <a:avLst>
              <a:gd name="adj1" fmla="val 47676"/>
              <a:gd name="adj2" fmla="val 86634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删除：删除选中的表</a:t>
            </a:r>
          </a:p>
        </p:txBody>
      </p:sp>
      <p:sp>
        <p:nvSpPr>
          <p:cNvPr id="512009" name="AutoShape 9">
            <a:extLst>
              <a:ext uri="{FF2B5EF4-FFF2-40B4-BE49-F238E27FC236}">
                <a16:creationId xmlns:a16="http://schemas.microsoft.com/office/drawing/2014/main" id="{334C3939-1616-4450-BE42-C990BB4E2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352800"/>
            <a:ext cx="1752600" cy="990600"/>
          </a:xfrm>
          <a:prstGeom prst="wedgeRoundRectCallout">
            <a:avLst>
              <a:gd name="adj1" fmla="val 60417"/>
              <a:gd name="adj2" fmla="val 83815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新建列：添加新的列</a:t>
            </a:r>
          </a:p>
        </p:txBody>
      </p:sp>
      <p:sp>
        <p:nvSpPr>
          <p:cNvPr id="512010" name="AutoShape 10">
            <a:extLst>
              <a:ext uri="{FF2B5EF4-FFF2-40B4-BE49-F238E27FC236}">
                <a16:creationId xmlns:a16="http://schemas.microsoft.com/office/drawing/2014/main" id="{0F4EDC47-AA30-4BEF-8EC3-1DB7225BE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3857625"/>
            <a:ext cx="1981200" cy="990600"/>
          </a:xfrm>
          <a:prstGeom prst="wedgeRoundRectCallout">
            <a:avLst>
              <a:gd name="adj1" fmla="val 47676"/>
              <a:gd name="adj2" fmla="val 83815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重命名：为该列重新命名</a:t>
            </a:r>
          </a:p>
        </p:txBody>
      </p:sp>
      <p:sp>
        <p:nvSpPr>
          <p:cNvPr id="512011" name="AutoShape 11">
            <a:extLst>
              <a:ext uri="{FF2B5EF4-FFF2-40B4-BE49-F238E27FC236}">
                <a16:creationId xmlns:a16="http://schemas.microsoft.com/office/drawing/2014/main" id="{C0DA3D36-133F-4046-8621-1DB0D18DF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114800"/>
            <a:ext cx="1981200" cy="914400"/>
          </a:xfrm>
          <a:prstGeom prst="wedgeRoundRectCallout">
            <a:avLst>
              <a:gd name="adj1" fmla="val 47676"/>
              <a:gd name="adj2" fmla="val 86634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删除：删除选中的列</a:t>
            </a:r>
          </a:p>
        </p:txBody>
      </p:sp>
      <p:sp>
        <p:nvSpPr>
          <p:cNvPr id="512012" name="AutoShape 12">
            <a:extLst>
              <a:ext uri="{FF2B5EF4-FFF2-40B4-BE49-F238E27FC236}">
                <a16:creationId xmlns:a16="http://schemas.microsoft.com/office/drawing/2014/main" id="{B7CC6523-785F-4384-8A8D-B1670E305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581400"/>
            <a:ext cx="2133600" cy="990600"/>
          </a:xfrm>
          <a:prstGeom prst="wedgeRoundRectCallout">
            <a:avLst>
              <a:gd name="adj1" fmla="val 58556"/>
              <a:gd name="adj2" fmla="val 83815"/>
              <a:gd name="adj3" fmla="val 16667"/>
            </a:avLst>
          </a:prstGeom>
          <a:solidFill>
            <a:srgbClr val="CC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修改：修改该列的属性设置</a:t>
            </a:r>
          </a:p>
        </p:txBody>
      </p:sp>
    </p:spTree>
    <p:custDataLst>
      <p:tags r:id="rId1"/>
    </p:custDataLst>
  </p:cSld>
  <p:clrMapOvr>
    <a:masterClrMapping/>
  </p:clrMapOvr>
  <p:transition advTm="484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12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512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5120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5120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512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5120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51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6" grpId="0" animBg="1"/>
      <p:bldP spid="512007" grpId="0" animBg="1"/>
      <p:bldP spid="512008" grpId="0" animBg="1"/>
      <p:bldP spid="512009" grpId="0" animBg="1"/>
      <p:bldP spid="512010" grpId="0" animBg="1"/>
      <p:bldP spid="512011" grpId="0" animBg="1"/>
      <p:bldP spid="5120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>
            <a:extLst>
              <a:ext uri="{FF2B5EF4-FFF2-40B4-BE49-F238E27FC236}">
                <a16:creationId xmlns:a16="http://schemas.microsoft.com/office/drawing/2014/main" id="{FDAB7D9F-561B-4343-85DF-D0B0232BA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五、表中数据的插入和更新</a:t>
            </a:r>
          </a:p>
        </p:txBody>
      </p:sp>
      <p:sp>
        <p:nvSpPr>
          <p:cNvPr id="514051" name="Rectangle 3">
            <a:extLst>
              <a:ext uri="{FF2B5EF4-FFF2-40B4-BE49-F238E27FC236}">
                <a16:creationId xmlns:a16="http://schemas.microsoft.com/office/drawing/2014/main" id="{77E832B7-5268-4607-ABEE-CF41D5274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7696200" cy="5181600"/>
          </a:xfrm>
        </p:spPr>
        <p:txBody>
          <a:bodyPr/>
          <a:lstStyle/>
          <a:p>
            <a:r>
              <a:rPr lang="en-US" altLang="zh-CN"/>
              <a:t>        </a:t>
            </a:r>
            <a:r>
              <a:rPr lang="zh-CN" altLang="en-US"/>
              <a:t>用户通过</a:t>
            </a:r>
            <a:r>
              <a:rPr lang="en-US" altLang="zh-CN"/>
              <a:t>SQL Server Management Studio</a:t>
            </a:r>
            <a:r>
              <a:rPr lang="zh-CN" altLang="en-US"/>
              <a:t>工具可以方便的对数据表的记录进行各种操作，包括：</a:t>
            </a:r>
          </a:p>
          <a:p>
            <a:r>
              <a:rPr lang="en-US" altLang="zh-CN"/>
              <a:t>1</a:t>
            </a:r>
            <a:r>
              <a:rPr lang="zh-CN" altLang="en-US"/>
              <a:t>、添加数据记录</a:t>
            </a:r>
          </a:p>
          <a:p>
            <a:r>
              <a:rPr lang="en-US" altLang="zh-CN"/>
              <a:t>2</a:t>
            </a:r>
            <a:r>
              <a:rPr lang="zh-CN" altLang="en-US"/>
              <a:t>、修改数据记录</a:t>
            </a:r>
          </a:p>
          <a:p>
            <a:r>
              <a:rPr lang="en-US" altLang="zh-CN"/>
              <a:t>3</a:t>
            </a:r>
            <a:r>
              <a:rPr lang="zh-CN" altLang="en-US"/>
              <a:t>、删除数据记录</a:t>
            </a:r>
          </a:p>
          <a:p>
            <a:r>
              <a:rPr lang="en-US" altLang="zh-CN"/>
              <a:t>4</a:t>
            </a:r>
            <a:r>
              <a:rPr lang="zh-CN" altLang="en-US"/>
              <a:t>、浏览表中的数据记录</a:t>
            </a:r>
          </a:p>
        </p:txBody>
      </p:sp>
      <p:pic>
        <p:nvPicPr>
          <p:cNvPr id="514055" name="Picture 7">
            <a:extLst>
              <a:ext uri="{FF2B5EF4-FFF2-40B4-BE49-F238E27FC236}">
                <a16:creationId xmlns:a16="http://schemas.microsoft.com/office/drawing/2014/main" id="{557B9515-C18B-4439-93A9-DF88AF1CB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057275"/>
            <a:ext cx="6904038" cy="564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056" name="Line 8">
            <a:extLst>
              <a:ext uri="{FF2B5EF4-FFF2-40B4-BE49-F238E27FC236}">
                <a16:creationId xmlns:a16="http://schemas.microsoft.com/office/drawing/2014/main" id="{7D9A75CB-359C-4AF4-8504-2898C5954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5000625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lg"/>
            <a:tailEnd type="none" w="sm" len="lg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4057" name="Picture 9">
            <a:extLst>
              <a:ext uri="{FF2B5EF4-FFF2-40B4-BE49-F238E27FC236}">
                <a16:creationId xmlns:a16="http://schemas.microsoft.com/office/drawing/2014/main" id="{307D193F-2C7F-4684-9DAC-3A671B6AE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52513"/>
            <a:ext cx="76962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58" name="Picture 10">
            <a:extLst>
              <a:ext uri="{FF2B5EF4-FFF2-40B4-BE49-F238E27FC236}">
                <a16:creationId xmlns:a16="http://schemas.microsoft.com/office/drawing/2014/main" id="{49A1DB09-978F-4107-A026-40BEEF209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8" r="20903" b="44724"/>
          <a:stretch>
            <a:fillRect/>
          </a:stretch>
        </p:blipFill>
        <p:spPr bwMode="auto">
          <a:xfrm>
            <a:off x="838200" y="1009650"/>
            <a:ext cx="7696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advTm="3623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4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4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4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4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14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51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1000"/>
                                        <p:tgtEl>
                                          <p:spTgt spid="51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1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4051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631A1547-A172-4F9C-A395-F82A68B77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六、创建索引</a:t>
            </a:r>
          </a:p>
        </p:txBody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0FAADE1A-0367-465E-AA06-7BAB84A18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en-US"/>
              <a:t>SQL Server中</a:t>
            </a:r>
            <a:r>
              <a:rPr lang="zh-CN" altLang="en-US"/>
              <a:t>的索引</a:t>
            </a:r>
          </a:p>
          <a:p>
            <a:r>
              <a:rPr lang="zh-CN" altLang="en-US"/>
              <a:t>       </a:t>
            </a:r>
            <a:r>
              <a:rPr lang="en-US" altLang="zh-CN"/>
              <a:t>SQL Server</a:t>
            </a:r>
            <a:r>
              <a:rPr lang="zh-CN" altLang="en-US"/>
              <a:t>的索引是一个单独的、物理的数据结构，是为了加速对表中数据行的检索而创建的一种分散式存储结构。用户创建的每个索引均将记录在系统表</a:t>
            </a:r>
            <a:r>
              <a:rPr lang="en-US" altLang="zh-CN"/>
              <a:t>sysindexes</a:t>
            </a:r>
            <a:r>
              <a:rPr lang="zh-CN" altLang="en-US"/>
              <a:t>中。  </a:t>
            </a:r>
          </a:p>
        </p:txBody>
      </p:sp>
      <p:grpSp>
        <p:nvGrpSpPr>
          <p:cNvPr id="444429" name="Group 13">
            <a:extLst>
              <a:ext uri="{FF2B5EF4-FFF2-40B4-BE49-F238E27FC236}">
                <a16:creationId xmlns:a16="http://schemas.microsoft.com/office/drawing/2014/main" id="{64081F24-184F-4337-AA77-697ECC97E09B}"/>
              </a:ext>
            </a:extLst>
          </p:cNvPr>
          <p:cNvGrpSpPr>
            <a:grpSpLocks/>
          </p:cNvGrpSpPr>
          <p:nvPr/>
        </p:nvGrpSpPr>
        <p:grpSpPr bwMode="auto">
          <a:xfrm>
            <a:off x="857250" y="4191000"/>
            <a:ext cx="3409950" cy="1752600"/>
            <a:chOff x="540" y="2352"/>
            <a:chExt cx="2148" cy="1104"/>
          </a:xfrm>
        </p:grpSpPr>
        <p:sp>
          <p:nvSpPr>
            <p:cNvPr id="444420" name="Text Box 4">
              <a:extLst>
                <a:ext uri="{FF2B5EF4-FFF2-40B4-BE49-F238E27FC236}">
                  <a16:creationId xmlns:a16="http://schemas.microsoft.com/office/drawing/2014/main" id="{B3F995D5-E8F5-4ED7-9DE8-AD5E36A5B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" y="2619"/>
              <a:ext cx="922" cy="503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 anchorCtr="1"/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latin typeface="幼圆" panose="02010509060101010101" pitchFamily="49" charset="-122"/>
                  <a:ea typeface="幼圆" panose="02010509060101010101" pitchFamily="49" charset="-122"/>
                </a:rPr>
                <a:t>索引的</a:t>
              </a:r>
            </a:p>
            <a:p>
              <a:pPr algn="ctr">
                <a:lnSpc>
                  <a:spcPct val="110000"/>
                </a:lnSpc>
              </a:pPr>
              <a:r>
                <a:rPr lang="zh-CN" altLang="en-US" b="1">
                  <a:latin typeface="幼圆" panose="02010509060101010101" pitchFamily="49" charset="-122"/>
                  <a:ea typeface="幼圆" panose="02010509060101010101" pitchFamily="49" charset="-122"/>
                </a:rPr>
                <a:t>存储结构 </a:t>
              </a:r>
            </a:p>
          </p:txBody>
        </p:sp>
        <p:sp>
          <p:nvSpPr>
            <p:cNvPr id="444422" name="AutoShape 6">
              <a:extLst>
                <a:ext uri="{FF2B5EF4-FFF2-40B4-BE49-F238E27FC236}">
                  <a16:creationId xmlns:a16="http://schemas.microsoft.com/office/drawing/2014/main" id="{6056BF19-435D-446F-9E78-5A5C73D36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2562"/>
              <a:ext cx="144" cy="72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23" name="Text Box 7">
              <a:extLst>
                <a:ext uri="{FF2B5EF4-FFF2-40B4-BE49-F238E27FC236}">
                  <a16:creationId xmlns:a16="http://schemas.microsoft.com/office/drawing/2014/main" id="{CAFA3587-4537-4AAF-A5CE-273275C9F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352"/>
              <a:ext cx="922" cy="40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 anchorCtr="1"/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solidFill>
                    <a:schemeClr val="tx2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聚集索引</a:t>
              </a:r>
            </a:p>
          </p:txBody>
        </p:sp>
        <p:sp>
          <p:nvSpPr>
            <p:cNvPr id="444424" name="Text Box 8">
              <a:extLst>
                <a:ext uri="{FF2B5EF4-FFF2-40B4-BE49-F238E27FC236}">
                  <a16:creationId xmlns:a16="http://schemas.microsoft.com/office/drawing/2014/main" id="{8215805E-0183-4D10-97FB-E199E12B0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024"/>
              <a:ext cx="1104" cy="432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 anchorCtr="1"/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solidFill>
                    <a:schemeClr val="tx2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非聚集索引</a:t>
              </a:r>
            </a:p>
          </p:txBody>
        </p:sp>
      </p:grpSp>
      <p:grpSp>
        <p:nvGrpSpPr>
          <p:cNvPr id="444430" name="Group 14">
            <a:extLst>
              <a:ext uri="{FF2B5EF4-FFF2-40B4-BE49-F238E27FC236}">
                <a16:creationId xmlns:a16="http://schemas.microsoft.com/office/drawing/2014/main" id="{E17576C5-61E6-461F-8049-8130F43CD0A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191000"/>
            <a:ext cx="3276600" cy="1752600"/>
            <a:chOff x="2880" y="2352"/>
            <a:chExt cx="2064" cy="1104"/>
          </a:xfrm>
        </p:grpSpPr>
        <p:sp>
          <p:nvSpPr>
            <p:cNvPr id="444425" name="Text Box 9">
              <a:extLst>
                <a:ext uri="{FF2B5EF4-FFF2-40B4-BE49-F238E27FC236}">
                  <a16:creationId xmlns:a16="http://schemas.microsoft.com/office/drawing/2014/main" id="{6CCBCC57-860B-40B2-A000-F66102EA8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619"/>
              <a:ext cx="922" cy="503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 anchorCtr="1"/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latin typeface="幼圆" panose="02010509060101010101" pitchFamily="49" charset="-122"/>
                  <a:ea typeface="幼圆" panose="02010509060101010101" pitchFamily="49" charset="-122"/>
                </a:rPr>
                <a:t>索引的</a:t>
              </a:r>
            </a:p>
            <a:p>
              <a:pPr algn="ctr">
                <a:lnSpc>
                  <a:spcPct val="110000"/>
                </a:lnSpc>
              </a:pPr>
              <a:r>
                <a:rPr lang="zh-CN" altLang="en-US" b="1">
                  <a:latin typeface="幼圆" panose="02010509060101010101" pitchFamily="49" charset="-122"/>
                  <a:ea typeface="幼圆" panose="02010509060101010101" pitchFamily="49" charset="-122"/>
                </a:rPr>
                <a:t>取值</a:t>
              </a:r>
            </a:p>
          </p:txBody>
        </p:sp>
        <p:sp>
          <p:nvSpPr>
            <p:cNvPr id="444426" name="AutoShape 10">
              <a:extLst>
                <a:ext uri="{FF2B5EF4-FFF2-40B4-BE49-F238E27FC236}">
                  <a16:creationId xmlns:a16="http://schemas.microsoft.com/office/drawing/2014/main" id="{226C8301-59E6-49FC-8EF5-EF5F64368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3" y="2562"/>
              <a:ext cx="144" cy="72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  <a:headEnd type="none" w="sm" len="lg"/>
              <a:tailEnd type="none" w="sm" len="lg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27" name="Text Box 11">
              <a:extLst>
                <a:ext uri="{FF2B5EF4-FFF2-40B4-BE49-F238E27FC236}">
                  <a16:creationId xmlns:a16="http://schemas.microsoft.com/office/drawing/2014/main" id="{79EA8A4D-5BBB-41BD-BBAA-640000149E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352"/>
              <a:ext cx="922" cy="40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 anchorCtr="1"/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solidFill>
                    <a:schemeClr val="tx2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唯一索引</a:t>
              </a:r>
            </a:p>
          </p:txBody>
        </p:sp>
        <p:sp>
          <p:nvSpPr>
            <p:cNvPr id="444428" name="Text Box 12">
              <a:extLst>
                <a:ext uri="{FF2B5EF4-FFF2-40B4-BE49-F238E27FC236}">
                  <a16:creationId xmlns:a16="http://schemas.microsoft.com/office/drawing/2014/main" id="{C5BB9801-FCB1-4497-B2FC-9957511D1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024"/>
              <a:ext cx="1104" cy="432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 type="none" w="sm" len="lg"/>
                  <a:tailEnd type="none" w="sm" len="lg"/>
                </a14:hiddenLine>
              </a:ext>
            </a:extLst>
          </p:spPr>
          <p:txBody>
            <a:bodyPr anchor="ctr" anchorCtr="1"/>
            <a:lstStyle/>
            <a:p>
              <a:pPr algn="ctr">
                <a:lnSpc>
                  <a:spcPct val="110000"/>
                </a:lnSpc>
              </a:pPr>
              <a:r>
                <a:rPr lang="zh-CN" altLang="en-US" b="1">
                  <a:solidFill>
                    <a:schemeClr val="tx2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非唯一索引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333"/>
    </mc:Choice>
    <mc:Fallback xmlns="">
      <p:transition spd="slow" advTm="493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4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4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9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>
            <a:extLst>
              <a:ext uri="{FF2B5EF4-FFF2-40B4-BE49-F238E27FC236}">
                <a16:creationId xmlns:a16="http://schemas.microsoft.com/office/drawing/2014/main" id="{4516BF89-2616-4A21-8BAB-E40AFE325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六、创建索引</a:t>
            </a:r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45DA6281-BED1-44B4-9A86-EF1DCA14EE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en-US"/>
              <a:t>SQL Server中</a:t>
            </a:r>
            <a:r>
              <a:rPr lang="zh-CN" altLang="en-US"/>
              <a:t>的索引</a:t>
            </a:r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）聚集索引 </a:t>
            </a:r>
          </a:p>
          <a:p>
            <a:pPr lvl="1"/>
            <a:r>
              <a:rPr lang="zh-CN" altLang="en-US" sz="2400"/>
              <a:t>聚集索引对表中的数据按键值进行排序，使得数据表物理顺序与索引顺序一致。</a:t>
            </a:r>
          </a:p>
          <a:p>
            <a:pPr lvl="1"/>
            <a:r>
              <a:rPr lang="en-US" altLang="zh-CN" sz="2400"/>
              <a:t>SQL Server</a:t>
            </a:r>
            <a:r>
              <a:rPr lang="zh-CN" altLang="en-US" sz="2400"/>
              <a:t>是按</a:t>
            </a:r>
            <a:r>
              <a:rPr lang="en-US" altLang="zh-CN" sz="2400"/>
              <a:t>B</a:t>
            </a:r>
            <a:r>
              <a:rPr lang="zh-CN" altLang="en-US" sz="2400"/>
              <a:t>树组织聚集索引的，</a:t>
            </a:r>
            <a:r>
              <a:rPr lang="en-US" altLang="zh-CN" sz="2400"/>
              <a:t>B</a:t>
            </a:r>
            <a:r>
              <a:rPr lang="zh-CN" altLang="en-US" sz="2400"/>
              <a:t>树的叶节点存放数据页信息。</a:t>
            </a:r>
          </a:p>
          <a:p>
            <a:pPr lvl="1"/>
            <a:r>
              <a:rPr lang="zh-CN" altLang="en-US" sz="2400"/>
              <a:t>用聚集索引查找数据很快，但它所需要的空间也特别大。</a:t>
            </a:r>
          </a:p>
          <a:p>
            <a:pPr lvl="1"/>
            <a:r>
              <a:rPr lang="zh-CN" altLang="en-US" sz="2400"/>
              <a:t>一个表只能有一个聚集索引。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17"/>
    </mc:Choice>
    <mc:Fallback xmlns="">
      <p:transition spd="slow" advTm="576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1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31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31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31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31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59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7" name="Rectangle 3">
            <a:extLst>
              <a:ext uri="{FF2B5EF4-FFF2-40B4-BE49-F238E27FC236}">
                <a16:creationId xmlns:a16="http://schemas.microsoft.com/office/drawing/2014/main" id="{8F32C3E3-2185-4989-A425-3A67B6C00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en-US"/>
              <a:t>SQL Server中</a:t>
            </a:r>
            <a:r>
              <a:rPr lang="zh-CN" altLang="en-US"/>
              <a:t>的索引</a:t>
            </a:r>
          </a:p>
          <a:p>
            <a:pPr>
              <a:lnSpc>
                <a:spcPct val="11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）非聚集索引 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非聚集索引具有与表的数据完全分离的结构，使用非聚集索引不用将数据按列排序</a:t>
            </a:r>
          </a:p>
          <a:p>
            <a:pPr lvl="1">
              <a:lnSpc>
                <a:spcPct val="110000"/>
              </a:lnSpc>
            </a:pPr>
            <a:r>
              <a:rPr lang="en-US" altLang="zh-CN" sz="2400"/>
              <a:t>SQL Server</a:t>
            </a:r>
            <a:r>
              <a:rPr lang="zh-CN" altLang="en-US" sz="2400"/>
              <a:t>也是按</a:t>
            </a:r>
            <a:r>
              <a:rPr lang="en-US" altLang="zh-CN" sz="2400"/>
              <a:t>B</a:t>
            </a:r>
            <a:r>
              <a:rPr lang="zh-CN" altLang="en-US" sz="2400"/>
              <a:t>树组织非聚集索引的，但</a:t>
            </a:r>
            <a:r>
              <a:rPr lang="en-US" altLang="zh-CN" sz="2400"/>
              <a:t>B</a:t>
            </a:r>
            <a:r>
              <a:rPr lang="zh-CN" altLang="en-US" sz="2400"/>
              <a:t>树的叶节点存放的是非聚集索引的键值和行定位器 。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非聚集索引比聚集索引需要更多的存储空间，且检索效率较低。</a:t>
            </a:r>
          </a:p>
          <a:p>
            <a:pPr lvl="1">
              <a:lnSpc>
                <a:spcPct val="110000"/>
              </a:lnSpc>
            </a:pPr>
            <a:r>
              <a:rPr lang="zh-CN" altLang="en-US" sz="2400"/>
              <a:t>如果要在一个表中既建聚集索引，又要建非聚集索引，应先创建聚集索引，后创建非聚集索引。</a:t>
            </a:r>
          </a:p>
        </p:txBody>
      </p:sp>
      <p:sp>
        <p:nvSpPr>
          <p:cNvPr id="446469" name="Rectangle 5">
            <a:extLst>
              <a:ext uri="{FF2B5EF4-FFF2-40B4-BE49-F238E27FC236}">
                <a16:creationId xmlns:a16="http://schemas.microsoft.com/office/drawing/2014/main" id="{6C74CB5A-716C-4D29-BFD9-1856F449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六、创建索引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59"/>
    </mc:Choice>
    <mc:Fallback xmlns="">
      <p:transition spd="slow" advTm="494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4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4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5" name="Rectangle 3">
            <a:extLst>
              <a:ext uri="{FF2B5EF4-FFF2-40B4-BE49-F238E27FC236}">
                <a16:creationId xmlns:a16="http://schemas.microsoft.com/office/drawing/2014/main" id="{232764E5-4390-4255-A71F-1A1A0B6CB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en-US"/>
              <a:t>SQL Server中</a:t>
            </a:r>
            <a:r>
              <a:rPr lang="zh-CN" altLang="en-US"/>
              <a:t>的索引</a:t>
            </a:r>
          </a:p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）惟一索引 </a:t>
            </a:r>
          </a:p>
          <a:p>
            <a:r>
              <a:rPr lang="zh-CN" altLang="en-US"/>
              <a:t>       索引可以是唯一的，即不会有两行记录相同的索引键值，这样的索引称为唯一索引。 </a:t>
            </a:r>
          </a:p>
        </p:txBody>
      </p:sp>
      <p:sp>
        <p:nvSpPr>
          <p:cNvPr id="448517" name="Rectangle 5">
            <a:extLst>
              <a:ext uri="{FF2B5EF4-FFF2-40B4-BE49-F238E27FC236}">
                <a16:creationId xmlns:a16="http://schemas.microsoft.com/office/drawing/2014/main" id="{0E9880AF-A650-410E-9D9B-843D815C3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六、创建索引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18"/>
    </mc:Choice>
    <mc:Fallback xmlns="">
      <p:transition spd="slow" advTm="11718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>
            <a:extLst>
              <a:ext uri="{FF2B5EF4-FFF2-40B4-BE49-F238E27FC236}">
                <a16:creationId xmlns:a16="http://schemas.microsoft.com/office/drawing/2014/main" id="{B179C843-1D8E-420B-867C-D7F7CE4F07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、建立索引应注意的问题</a:t>
            </a:r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）选择索引存取方法的主要内容</a:t>
            </a:r>
          </a:p>
          <a:p>
            <a:r>
              <a:rPr lang="zh-CN" altLang="en-US"/>
              <a:t>       选择索引存取方法的主要内容是根据应用要求确定一个关系：</a:t>
            </a:r>
          </a:p>
          <a:p>
            <a:pPr lvl="1"/>
            <a:r>
              <a:rPr lang="zh-CN" altLang="en-US"/>
              <a:t> 在哪些属性列建立索引；</a:t>
            </a:r>
          </a:p>
          <a:p>
            <a:pPr lvl="1"/>
            <a:r>
              <a:rPr lang="zh-CN" altLang="en-US"/>
              <a:t> 在哪些属性列建立组合索引；</a:t>
            </a:r>
          </a:p>
          <a:p>
            <a:pPr lvl="1"/>
            <a:r>
              <a:rPr lang="zh-CN" altLang="en-US"/>
              <a:t> 要将哪些索引要设计为唯一索引。</a:t>
            </a:r>
          </a:p>
        </p:txBody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FCE82344-E148-417A-820A-6FC8465B1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六、创建索引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490"/>
    </mc:Choice>
    <mc:Fallback xmlns="">
      <p:transition spd="slow" advTm="2449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>
            <a:extLst>
              <a:ext uri="{FF2B5EF4-FFF2-40B4-BE49-F238E27FC236}">
                <a16:creationId xmlns:a16="http://schemas.microsoft.com/office/drawing/2014/main" id="{7BCE782D-A7E7-4B8C-848F-C58B2017E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、建立索引应注意的问题</a:t>
            </a:r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）确认建立索引或组合索引的一般规则</a:t>
            </a:r>
          </a:p>
          <a:p>
            <a:pPr lvl="1"/>
            <a:r>
              <a:rPr lang="zh-CN" altLang="en-US"/>
              <a:t> 如果一个</a:t>
            </a:r>
            <a:r>
              <a:rPr lang="en-US" altLang="zh-CN"/>
              <a:t>(</a:t>
            </a:r>
            <a:r>
              <a:rPr lang="zh-CN" altLang="en-US"/>
              <a:t>或一组</a:t>
            </a:r>
            <a:r>
              <a:rPr lang="en-US" altLang="zh-CN"/>
              <a:t>)</a:t>
            </a:r>
            <a:r>
              <a:rPr lang="zh-CN" altLang="en-US"/>
              <a:t>属性经常出现在选择或连接查询条件中，则考虑在这个</a:t>
            </a:r>
            <a:r>
              <a:rPr lang="en-US" altLang="zh-CN"/>
              <a:t>(</a:t>
            </a:r>
            <a:r>
              <a:rPr lang="zh-CN" altLang="en-US"/>
              <a:t>或这组</a:t>
            </a:r>
            <a:r>
              <a:rPr lang="en-US" altLang="zh-CN"/>
              <a:t>)</a:t>
            </a:r>
            <a:r>
              <a:rPr lang="zh-CN" altLang="en-US"/>
              <a:t>属性上建立索引</a:t>
            </a:r>
            <a:r>
              <a:rPr lang="en-US" altLang="zh-CN"/>
              <a:t>(</a:t>
            </a:r>
            <a:r>
              <a:rPr lang="zh-CN" altLang="en-US"/>
              <a:t>或组合索引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  <a:p>
            <a:pPr lvl="1"/>
            <a:r>
              <a:rPr lang="zh-CN" altLang="en-US"/>
              <a:t> 如果一个属性经常作为最大值和最小值等聚集函数的参数，则考虑在这个属性上建立索引。</a:t>
            </a:r>
          </a:p>
        </p:txBody>
      </p:sp>
      <p:sp>
        <p:nvSpPr>
          <p:cNvPr id="536579" name="Rectangle 3">
            <a:extLst>
              <a:ext uri="{FF2B5EF4-FFF2-40B4-BE49-F238E27FC236}">
                <a16:creationId xmlns:a16="http://schemas.microsoft.com/office/drawing/2014/main" id="{CAC8A5CB-62A0-43CF-8F2F-5BE9C49B7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六、创建索引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262"/>
    </mc:Choice>
    <mc:Fallback xmlns="">
      <p:transition spd="slow" advTm="36262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9" name="Rectangle 3">
            <a:extLst>
              <a:ext uri="{FF2B5EF4-FFF2-40B4-BE49-F238E27FC236}">
                <a16:creationId xmlns:a16="http://schemas.microsoft.com/office/drawing/2014/main" id="{817EDCD8-AFA3-4195-AC53-05D2BC7CA5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en-US"/>
              <a:t>、创建索引</a:t>
            </a:r>
          </a:p>
          <a:p>
            <a:r>
              <a:rPr lang="en-US" altLang="zh-CN">
                <a:solidFill>
                  <a:srgbClr val="006600"/>
                </a:solidFill>
              </a:rPr>
              <a:t>【</a:t>
            </a:r>
            <a:r>
              <a:rPr lang="zh-CN" altLang="en-US">
                <a:solidFill>
                  <a:srgbClr val="006600"/>
                </a:solidFill>
              </a:rPr>
              <a:t>例</a:t>
            </a:r>
            <a:r>
              <a:rPr lang="en-US" altLang="zh-CN">
                <a:solidFill>
                  <a:srgbClr val="006600"/>
                </a:solidFill>
              </a:rPr>
              <a:t>4.7】</a:t>
            </a:r>
            <a:r>
              <a:rPr lang="zh-CN" altLang="en-US"/>
              <a:t>在大学教学管理数据库中，为学生关系   </a:t>
            </a:r>
            <a:r>
              <a:rPr lang="en-US" altLang="zh-CN"/>
              <a:t>S</a:t>
            </a:r>
            <a:r>
              <a:rPr lang="zh-CN" altLang="en-US"/>
              <a:t>在学号</a:t>
            </a:r>
            <a:r>
              <a:rPr lang="en-US" altLang="zh-CN"/>
              <a:t>S#</a:t>
            </a:r>
            <a:r>
              <a:rPr lang="zh-CN" altLang="en-US"/>
              <a:t>列上建立</a:t>
            </a:r>
            <a:r>
              <a:rPr lang="zh-CN" altLang="en-US">
                <a:solidFill>
                  <a:srgbClr val="003399"/>
                </a:solidFill>
              </a:rPr>
              <a:t>唯一聚集索引</a:t>
            </a:r>
            <a:r>
              <a:rPr lang="zh-CN" altLang="en-US"/>
              <a:t>，要求学号按升序排列。</a:t>
            </a:r>
          </a:p>
        </p:txBody>
      </p:sp>
      <p:sp>
        <p:nvSpPr>
          <p:cNvPr id="449542" name="Rectangle 6">
            <a:extLst>
              <a:ext uri="{FF2B5EF4-FFF2-40B4-BE49-F238E27FC236}">
                <a16:creationId xmlns:a16="http://schemas.microsoft.com/office/drawing/2014/main" id="{C8B24378-74D0-4755-A890-4DF980422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六、创建索引</a:t>
            </a:r>
          </a:p>
        </p:txBody>
      </p:sp>
      <p:sp>
        <p:nvSpPr>
          <p:cNvPr id="449543" name="Text Box 7">
            <a:hlinkClick r:id="rId3" action="ppaction://hlinkfile"/>
            <a:extLst>
              <a:ext uri="{FF2B5EF4-FFF2-40B4-BE49-F238E27FC236}">
                <a16:creationId xmlns:a16="http://schemas.microsoft.com/office/drawing/2014/main" id="{2A8D5745-8BCA-43D8-88B4-5041D554B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962400"/>
            <a:ext cx="6629400" cy="817563"/>
          </a:xfrm>
          <a:prstGeom prst="rect">
            <a:avLst/>
          </a:prstGeom>
          <a:gradFill rotWithShape="1">
            <a:gsLst>
              <a:gs pos="0">
                <a:srgbClr val="99FFCC"/>
              </a:gs>
              <a:gs pos="50000">
                <a:schemeClr val="bg1"/>
              </a:gs>
              <a:gs pos="100000">
                <a:srgbClr val="99FFCC"/>
              </a:gs>
            </a:gsLst>
            <a:lin ang="2700000" scaled="1"/>
          </a:gradFill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观看演示：创建索引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70"/>
    </mc:Choice>
    <mc:Fallback xmlns="">
      <p:transition spd="slow" advTm="82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9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49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9" grpId="0" uiExpand="1" build="p"/>
      <p:bldP spid="44954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>
            <a:extLst>
              <a:ext uri="{FF2B5EF4-FFF2-40B4-BE49-F238E27FC236}">
                <a16:creationId xmlns:a16="http://schemas.microsoft.com/office/drawing/2014/main" id="{38C62A9E-BC4A-45E0-9C87-57E24EB22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518147" name="Rectangle 3">
            <a:extLst>
              <a:ext uri="{FF2B5EF4-FFF2-40B4-BE49-F238E27FC236}">
                <a16:creationId xmlns:a16="http://schemas.microsoft.com/office/drawing/2014/main" id="{DDF6BD67-04E1-446C-822C-90DA3BA794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一、认识</a:t>
            </a:r>
            <a:r>
              <a:rPr lang="en-US" altLang="zh-CN"/>
              <a:t>SQL Server</a:t>
            </a:r>
            <a:r>
              <a:rPr lang="zh-CN" altLang="en-US"/>
              <a:t>关系数据库系统</a:t>
            </a:r>
          </a:p>
          <a:p>
            <a:r>
              <a:rPr lang="zh-CN" altLang="en-US"/>
              <a:t>二、</a:t>
            </a:r>
            <a:r>
              <a:rPr lang="en-US" altLang="zh-CN"/>
              <a:t>SQL Server 2005</a:t>
            </a:r>
            <a:r>
              <a:rPr lang="zh-CN" altLang="en-US"/>
              <a:t>数据库的存储结构</a:t>
            </a:r>
          </a:p>
          <a:p>
            <a:r>
              <a:rPr lang="zh-CN" altLang="en-US"/>
              <a:t>三、</a:t>
            </a:r>
            <a:r>
              <a:rPr lang="en-US" altLang="zh-CN"/>
              <a:t>SQL Server 2005</a:t>
            </a:r>
            <a:r>
              <a:rPr lang="zh-CN" altLang="en-US"/>
              <a:t>数据库创建</a:t>
            </a:r>
          </a:p>
          <a:p>
            <a:r>
              <a:rPr lang="zh-CN" altLang="en-US"/>
              <a:t>四、创建数据表</a:t>
            </a:r>
          </a:p>
          <a:p>
            <a:r>
              <a:rPr lang="zh-CN" altLang="en-US"/>
              <a:t>五、表中数据的插入和更新</a:t>
            </a:r>
          </a:p>
          <a:p>
            <a:r>
              <a:rPr lang="zh-CN" altLang="en-US"/>
              <a:t>六、创建索引</a:t>
            </a:r>
          </a:p>
        </p:txBody>
      </p:sp>
      <p:sp>
        <p:nvSpPr>
          <p:cNvPr id="518179" name="Rectangle 35">
            <a:extLst>
              <a:ext uri="{FF2B5EF4-FFF2-40B4-BE49-F238E27FC236}">
                <a16:creationId xmlns:a16="http://schemas.microsoft.com/office/drawing/2014/main" id="{4AB59EEB-BA44-4B05-B4DF-0FAAC3ED1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43400"/>
            <a:ext cx="1828800" cy="7620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基本知识</a:t>
            </a:r>
          </a:p>
        </p:txBody>
      </p:sp>
      <p:sp>
        <p:nvSpPr>
          <p:cNvPr id="518180" name="Rectangle 36">
            <a:extLst>
              <a:ext uri="{FF2B5EF4-FFF2-40B4-BE49-F238E27FC236}">
                <a16:creationId xmlns:a16="http://schemas.microsoft.com/office/drawing/2014/main" id="{9EDE11A4-58F0-48B2-8805-F45739946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4343400"/>
            <a:ext cx="2057400" cy="7620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49" charset="-122"/>
              </a:rPr>
              <a:t>工具的使用</a:t>
            </a:r>
          </a:p>
        </p:txBody>
      </p:sp>
      <p:sp>
        <p:nvSpPr>
          <p:cNvPr id="518181" name="Rectangle 37">
            <a:extLst>
              <a:ext uri="{FF2B5EF4-FFF2-40B4-BE49-F238E27FC236}">
                <a16:creationId xmlns:a16="http://schemas.microsoft.com/office/drawing/2014/main" id="{121B5D64-8CF5-4293-BD7A-DCE0DCA16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950" y="5715000"/>
            <a:ext cx="2057400" cy="762000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0" scaled="1"/>
          </a:gra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DB</a:t>
            </a: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anose="02010609060101010101" pitchFamily="49" charset="-122"/>
              </a:rPr>
              <a:t>的实现</a:t>
            </a:r>
          </a:p>
        </p:txBody>
      </p:sp>
      <p:sp>
        <p:nvSpPr>
          <p:cNvPr id="518182" name="AutoShape 38">
            <a:extLst>
              <a:ext uri="{FF2B5EF4-FFF2-40B4-BE49-F238E27FC236}">
                <a16:creationId xmlns:a16="http://schemas.microsoft.com/office/drawing/2014/main" id="{FCE93A26-7DB4-461B-80A7-9776A1B33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5105400"/>
            <a:ext cx="381000" cy="609600"/>
          </a:xfrm>
          <a:prstGeom prst="downArrow">
            <a:avLst>
              <a:gd name="adj1" fmla="val 50000"/>
              <a:gd name="adj2" fmla="val 40000"/>
            </a:avLst>
          </a:prstGeom>
          <a:solidFill>
            <a:srgbClr val="00FF00"/>
          </a:solidFill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459"/>
    </mc:Choice>
    <mc:Fallback xmlns="">
      <p:transition spd="slow" advTm="724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1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" dur="500"/>
                                        <p:tgtEl>
                                          <p:spTgt spid="51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1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1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79" grpId="0" animBg="1"/>
      <p:bldP spid="518180" grpId="0" animBg="1"/>
      <p:bldP spid="51818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>
            <a:extLst>
              <a:ext uri="{FF2B5EF4-FFF2-40B4-BE49-F238E27FC236}">
                <a16:creationId xmlns:a16="http://schemas.microsoft.com/office/drawing/2014/main" id="{75072FD6-3024-4E99-9D15-1A766E129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20195" name="Rectangle 3">
            <a:extLst>
              <a:ext uri="{FF2B5EF4-FFF2-40B4-BE49-F238E27FC236}">
                <a16:creationId xmlns:a16="http://schemas.microsoft.com/office/drawing/2014/main" id="{17BADDC9-A2DC-46C2-9255-DC5318957F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520196" name="Rectangle 4">
            <a:extLst>
              <a:ext uri="{FF2B5EF4-FFF2-40B4-BE49-F238E27FC236}">
                <a16:creationId xmlns:a16="http://schemas.microsoft.com/office/drawing/2014/main" id="{3D0F1CFB-686E-4C2B-980C-6EF7E131E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825" y="2590800"/>
            <a:ext cx="6237288" cy="1143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sz="6000" b="1">
                <a:solidFill>
                  <a:srgbClr val="FF6600"/>
                </a:solidFill>
                <a:ea typeface="华文新魏" panose="02010800040101010101" pitchFamily="2" charset="-122"/>
              </a:rPr>
              <a:t>谢谢大家！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0"/>
    </mc:Choice>
    <mc:Fallback xmlns="">
      <p:transition spd="slow" advTm="496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22.7|25.6|13.1|1.8|2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22.7|25.6|13.1|1.8|2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44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9.6|3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1.6|25.9|41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2|6|22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31.8|22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30.6|2.2|29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4|0.5|0.6|0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7|1.2|1.1|1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4|8.4|1.4|2|2.7|5.3|1.5|1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4.5|2.1|18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9.5|1.6"/>
</p:tagLst>
</file>

<file path=ppt/theme/theme1.xml><?xml version="1.0" encoding="utf-8"?>
<a:theme xmlns:a="http://schemas.openxmlformats.org/drawingml/2006/main" name="cdb2004165l">
  <a:themeElements>
    <a:clrScheme name="cdb2004165l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cdb2004165l">
      <a:majorFont>
        <a:latin typeface="Arial"/>
        <a:ea typeface="幼圆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triangle" w="sm" len="lg"/>
          <a:tailEnd type="triangle" w="sm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triangle" w="sm" len="lg"/>
          <a:tailEnd type="triangle" w="sm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db2004165l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5322</TotalTime>
  <Words>2877</Words>
  <Application>Microsoft Office PowerPoint</Application>
  <PresentationFormat>全屏显示(4:3)</PresentationFormat>
  <Paragraphs>313</Paragraphs>
  <Slides>46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仿宋_GB2312</vt:lpstr>
      <vt:lpstr>黑体</vt:lpstr>
      <vt:lpstr>楷体_GB2312</vt:lpstr>
      <vt:lpstr>宋体</vt:lpstr>
      <vt:lpstr>幼圆</vt:lpstr>
      <vt:lpstr>Arial</vt:lpstr>
      <vt:lpstr>Tahoma</vt:lpstr>
      <vt:lpstr>Times New Roman</vt:lpstr>
      <vt:lpstr>Wingdings</vt:lpstr>
      <vt:lpstr>cdb2004165l</vt:lpstr>
      <vt:lpstr>第4章  SQL Server 2005数据库与数据表的创建</vt:lpstr>
      <vt:lpstr>PowerPoint 演示文稿</vt:lpstr>
      <vt:lpstr>PowerPoint 演示文稿</vt:lpstr>
      <vt:lpstr>主要内容(4.1节-4.6节)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一、认识SQL Server关系数据库系统</vt:lpstr>
      <vt:lpstr>二、SQL Server 2005数据库的存储结构</vt:lpstr>
      <vt:lpstr>二、SQL Server 2005数据库的存储结构</vt:lpstr>
      <vt:lpstr>二、SQL Server 2005数据库的存储结构</vt:lpstr>
      <vt:lpstr>二、SQL Server 2005数据库的存储结构</vt:lpstr>
      <vt:lpstr>三、SQL Server 2005数据库创建</vt:lpstr>
      <vt:lpstr>三、SQL Server 2005数据库创建</vt:lpstr>
      <vt:lpstr>三、SQL Server 2005数据库创建</vt:lpstr>
      <vt:lpstr>三、SQL Server 2005数据库创建</vt:lpstr>
      <vt:lpstr>三、SQL Server 2005数据库创建</vt:lpstr>
      <vt:lpstr>三、SQL Server 2005数据库创建</vt:lpstr>
      <vt:lpstr>三、SQL Server 2005数据库创建</vt:lpstr>
      <vt:lpstr>三、SQL Server 2005数据库创建</vt:lpstr>
      <vt:lpstr>三、SQL Server 2005数据库创建</vt:lpstr>
      <vt:lpstr>三、SQL Server 2005数据库创建</vt:lpstr>
      <vt:lpstr>三、SQL Server 2005数据库创建</vt:lpstr>
      <vt:lpstr>四、创建数据表</vt:lpstr>
      <vt:lpstr>四、创建数据表</vt:lpstr>
      <vt:lpstr>四、创建数据表</vt:lpstr>
      <vt:lpstr>四、创建数据表</vt:lpstr>
      <vt:lpstr>五、表中数据的插入和更新</vt:lpstr>
      <vt:lpstr>六、创建索引</vt:lpstr>
      <vt:lpstr>六、创建索引</vt:lpstr>
      <vt:lpstr>六、创建索引</vt:lpstr>
      <vt:lpstr>六、创建索引</vt:lpstr>
      <vt:lpstr>六、创建索引</vt:lpstr>
      <vt:lpstr>六、创建索引</vt:lpstr>
      <vt:lpstr>六、创建索引</vt:lpstr>
      <vt:lpstr>小结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536</cp:revision>
  <cp:lastPrinted>1601-01-01T00:00:00Z</cp:lastPrinted>
  <dcterms:created xsi:type="dcterms:W3CDTF">1601-01-01T00:00:00Z</dcterms:created>
  <dcterms:modified xsi:type="dcterms:W3CDTF">2021-04-12T15:06:08Z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