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25"/>
  </p:notesMasterIdLst>
  <p:handoutMasterIdLst>
    <p:handoutMasterId r:id="rId26"/>
  </p:handoutMasterIdLst>
  <p:sldIdLst>
    <p:sldId id="495" r:id="rId2"/>
    <p:sldId id="498" r:id="rId3"/>
    <p:sldId id="499" r:id="rId4"/>
    <p:sldId id="501" r:id="rId5"/>
    <p:sldId id="468" r:id="rId6"/>
    <p:sldId id="500" r:id="rId7"/>
    <p:sldId id="284" r:id="rId8"/>
    <p:sldId id="496" r:id="rId9"/>
    <p:sldId id="425" r:id="rId10"/>
    <p:sldId id="497" r:id="rId11"/>
    <p:sldId id="426" r:id="rId12"/>
    <p:sldId id="476" r:id="rId13"/>
    <p:sldId id="427" r:id="rId14"/>
    <p:sldId id="477" r:id="rId15"/>
    <p:sldId id="428" r:id="rId16"/>
    <p:sldId id="469" r:id="rId17"/>
    <p:sldId id="285" r:id="rId18"/>
    <p:sldId id="442" r:id="rId19"/>
    <p:sldId id="443" r:id="rId20"/>
    <p:sldId id="444" r:id="rId21"/>
    <p:sldId id="445" r:id="rId22"/>
    <p:sldId id="446" r:id="rId23"/>
    <p:sldId id="431" r:id="rId24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20000"/>
      </a:spcBef>
      <a:spcAft>
        <a:spcPct val="0"/>
      </a:spcAft>
      <a:buSzPct val="100000"/>
      <a:buFont typeface="Wingdings" panose="05000000000000000000" pitchFamily="2" charset="2"/>
      <a:buChar char="•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20000"/>
      </a:spcBef>
      <a:spcAft>
        <a:spcPct val="0"/>
      </a:spcAft>
      <a:buSzPct val="100000"/>
      <a:buFont typeface="Wingdings" panose="05000000000000000000" pitchFamily="2" charset="2"/>
      <a:buChar char="•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20000"/>
      </a:spcBef>
      <a:spcAft>
        <a:spcPct val="0"/>
      </a:spcAft>
      <a:buSzPct val="100000"/>
      <a:buFont typeface="Wingdings" panose="05000000000000000000" pitchFamily="2" charset="2"/>
      <a:buChar char="•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20000"/>
      </a:spcBef>
      <a:spcAft>
        <a:spcPct val="0"/>
      </a:spcAft>
      <a:buSzPct val="100000"/>
      <a:buFont typeface="Wingdings" panose="05000000000000000000" pitchFamily="2" charset="2"/>
      <a:buChar char="•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20000"/>
      </a:spcBef>
      <a:spcAft>
        <a:spcPct val="0"/>
      </a:spcAft>
      <a:buSzPct val="100000"/>
      <a:buFont typeface="Wingdings" panose="05000000000000000000" pitchFamily="2" charset="2"/>
      <a:buChar char="•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66"/>
    <a:srgbClr val="FA7406"/>
    <a:srgbClr val="FF0066"/>
    <a:srgbClr val="000000"/>
    <a:srgbClr val="CCFFFF"/>
    <a:srgbClr val="000066"/>
    <a:srgbClr val="006666"/>
    <a:srgbClr val="9696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62" autoAdjust="0"/>
    <p:restoredTop sz="94660"/>
  </p:normalViewPr>
  <p:slideViewPr>
    <p:cSldViewPr>
      <p:cViewPr varScale="1">
        <p:scale>
          <a:sx n="125" d="100"/>
          <a:sy n="125" d="100"/>
        </p:scale>
        <p:origin x="1668" y="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7" d="100"/>
          <a:sy n="67" d="100"/>
        </p:scale>
        <p:origin x="-2880" y="-11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330" name="Rectangle 2">
            <a:extLst>
              <a:ext uri="{FF2B5EF4-FFF2-40B4-BE49-F238E27FC236}">
                <a16:creationId xmlns:a16="http://schemas.microsoft.com/office/drawing/2014/main" id="{7964C852-ECFB-462A-987E-C24B862D4F5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SzTx/>
              <a:buFontTx/>
              <a:buNone/>
              <a:defRPr sz="1200"/>
            </a:lvl1pPr>
          </a:lstStyle>
          <a:p>
            <a:endParaRPr lang="en-US" altLang="zh-CN"/>
          </a:p>
        </p:txBody>
      </p:sp>
      <p:sp>
        <p:nvSpPr>
          <p:cNvPr id="483331" name="Rectangle 3">
            <a:extLst>
              <a:ext uri="{FF2B5EF4-FFF2-40B4-BE49-F238E27FC236}">
                <a16:creationId xmlns:a16="http://schemas.microsoft.com/office/drawing/2014/main" id="{813DDAA2-D58D-4D14-977D-E8DB3FCAEE2D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SzTx/>
              <a:buFontTx/>
              <a:buNone/>
              <a:defRPr sz="1200"/>
            </a:lvl1pPr>
          </a:lstStyle>
          <a:p>
            <a:endParaRPr lang="en-US" altLang="zh-CN"/>
          </a:p>
        </p:txBody>
      </p:sp>
      <p:sp>
        <p:nvSpPr>
          <p:cNvPr id="483332" name="Rectangle 4">
            <a:extLst>
              <a:ext uri="{FF2B5EF4-FFF2-40B4-BE49-F238E27FC236}">
                <a16:creationId xmlns:a16="http://schemas.microsoft.com/office/drawing/2014/main" id="{3C187B11-0FC6-4B75-9F74-254EBB13BFBC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SzTx/>
              <a:buFontTx/>
              <a:buNone/>
              <a:defRPr sz="1200"/>
            </a:lvl1pPr>
          </a:lstStyle>
          <a:p>
            <a:endParaRPr lang="en-US" altLang="zh-CN"/>
          </a:p>
        </p:txBody>
      </p:sp>
      <p:sp>
        <p:nvSpPr>
          <p:cNvPr id="483333" name="Rectangle 5">
            <a:extLst>
              <a:ext uri="{FF2B5EF4-FFF2-40B4-BE49-F238E27FC236}">
                <a16:creationId xmlns:a16="http://schemas.microsoft.com/office/drawing/2014/main" id="{C24DD3C5-DD87-4C40-8BAA-D9F21950FC4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SzTx/>
              <a:buFontTx/>
              <a:buNone/>
              <a:defRPr sz="1200"/>
            </a:lvl1pPr>
          </a:lstStyle>
          <a:p>
            <a:fld id="{6AECF612-F321-4D40-8ADF-D2CBE6831B0A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EB62FC-A11C-4683-8EAB-12947A6B9CC5}" type="datetimeFigureOut">
              <a:rPr lang="zh-CN" altLang="en-US" smtClean="0"/>
              <a:t>2021-4-12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9247D8-5A1E-413D-8D15-A876B17066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97121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247D8-5A1E-413D-8D15-A876B1706681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72124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5442" name="Group 2">
            <a:extLst>
              <a:ext uri="{FF2B5EF4-FFF2-40B4-BE49-F238E27FC236}">
                <a16:creationId xmlns:a16="http://schemas.microsoft.com/office/drawing/2014/main" id="{C988F487-D4DF-4B24-8CCC-F0B85FE5D49E}"/>
              </a:ext>
            </a:extLst>
          </p:cNvPr>
          <p:cNvGrpSpPr>
            <a:grpSpLocks/>
          </p:cNvGrpSpPr>
          <p:nvPr/>
        </p:nvGrpSpPr>
        <p:grpSpPr bwMode="auto">
          <a:xfrm>
            <a:off x="0" y="1797050"/>
            <a:ext cx="9009063" cy="1052513"/>
            <a:chOff x="0" y="1536"/>
            <a:chExt cx="5675" cy="663"/>
          </a:xfrm>
        </p:grpSpPr>
        <p:grpSp>
          <p:nvGrpSpPr>
            <p:cNvPr id="445443" name="Group 3">
              <a:extLst>
                <a:ext uri="{FF2B5EF4-FFF2-40B4-BE49-F238E27FC236}">
                  <a16:creationId xmlns:a16="http://schemas.microsoft.com/office/drawing/2014/main" id="{3F283A75-3DB0-40F6-BFDF-1D5B072545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445444" name="Rectangle 4">
                <a:extLst>
                  <a:ext uri="{FF2B5EF4-FFF2-40B4-BE49-F238E27FC236}">
                    <a16:creationId xmlns:a16="http://schemas.microsoft.com/office/drawing/2014/main" id="{0496C4AF-C67B-40C3-ACC4-09D20EF460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5445" name="Rectangle 5">
                <a:extLst>
                  <a:ext uri="{FF2B5EF4-FFF2-40B4-BE49-F238E27FC236}">
                    <a16:creationId xmlns:a16="http://schemas.microsoft.com/office/drawing/2014/main" id="{75D52CAF-0BDB-4B7B-8967-78A023EC5F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45446" name="Group 6">
              <a:extLst>
                <a:ext uri="{FF2B5EF4-FFF2-40B4-BE49-F238E27FC236}">
                  <a16:creationId xmlns:a16="http://schemas.microsoft.com/office/drawing/2014/main" id="{B26647F1-917B-4531-B318-66747E4385A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445447" name="Rectangle 7">
                <a:extLst>
                  <a:ext uri="{FF2B5EF4-FFF2-40B4-BE49-F238E27FC236}">
                    <a16:creationId xmlns:a16="http://schemas.microsoft.com/office/drawing/2014/main" id="{C6F2785E-557A-4270-BE8C-B279FEB34F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5448" name="Rectangle 8">
                <a:extLst>
                  <a:ext uri="{FF2B5EF4-FFF2-40B4-BE49-F238E27FC236}">
                    <a16:creationId xmlns:a16="http://schemas.microsoft.com/office/drawing/2014/main" id="{A3BA97AB-BC64-4E62-A60E-322AEDF2CD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45449" name="Rectangle 9">
              <a:extLst>
                <a:ext uri="{FF2B5EF4-FFF2-40B4-BE49-F238E27FC236}">
                  <a16:creationId xmlns:a16="http://schemas.microsoft.com/office/drawing/2014/main" id="{BACC82C6-C697-4E07-83BB-B4AE533E2A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5450" name="Rectangle 10">
              <a:extLst>
                <a:ext uri="{FF2B5EF4-FFF2-40B4-BE49-F238E27FC236}">
                  <a16:creationId xmlns:a16="http://schemas.microsoft.com/office/drawing/2014/main" id="{1C0AC0F3-EB7A-4019-98C0-CE74937ABD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5451" name="Rectangle 11">
              <a:extLst>
                <a:ext uri="{FF2B5EF4-FFF2-40B4-BE49-F238E27FC236}">
                  <a16:creationId xmlns:a16="http://schemas.microsoft.com/office/drawing/2014/main" id="{30FAD1B4-197C-4D76-95AE-5236169978E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45452" name="Rectangle 12">
            <a:extLst>
              <a:ext uri="{FF2B5EF4-FFF2-40B4-BE49-F238E27FC236}">
                <a16:creationId xmlns:a16="http://schemas.microsoft.com/office/drawing/2014/main" id="{B28E1FB2-13EB-4718-B2F3-9FBBA143C9E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827088" y="1143000"/>
            <a:ext cx="8137525" cy="1462088"/>
          </a:xfrm>
        </p:spPr>
        <p:txBody>
          <a:bodyPr/>
          <a:lstStyle>
            <a:lvl1pPr algn="ctr">
              <a:defRPr sz="4800">
                <a:ea typeface="隶书" panose="02010509060101010101" pitchFamily="49" charset="-122"/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445453" name="Rectangle 13">
            <a:extLst>
              <a:ext uri="{FF2B5EF4-FFF2-40B4-BE49-F238E27FC236}">
                <a16:creationId xmlns:a16="http://schemas.microsoft.com/office/drawing/2014/main" id="{00247A5B-A9C6-4FE7-B624-0AE5CC5EDD9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445454" name="Rectangle 14">
            <a:extLst>
              <a:ext uri="{FF2B5EF4-FFF2-40B4-BE49-F238E27FC236}">
                <a16:creationId xmlns:a16="http://schemas.microsoft.com/office/drawing/2014/main" id="{C7DC30C4-91F2-43E1-8340-AB60229B87F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445455" name="Rectangle 15">
            <a:extLst>
              <a:ext uri="{FF2B5EF4-FFF2-40B4-BE49-F238E27FC236}">
                <a16:creationId xmlns:a16="http://schemas.microsoft.com/office/drawing/2014/main" id="{6CC6D569-8819-4554-AF02-0C5B005878D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445456" name="Rectangle 16">
            <a:extLst>
              <a:ext uri="{FF2B5EF4-FFF2-40B4-BE49-F238E27FC236}">
                <a16:creationId xmlns:a16="http://schemas.microsoft.com/office/drawing/2014/main" id="{223515A0-4279-437E-BF94-DFB112B223C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zh-CN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1000"/>
                                        <p:tgtEl>
                                          <p:spTgt spid="445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5452" grpId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E3A68B-C2F4-45CF-B2EC-28128C6D8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4A90FB9-4CD5-4157-A380-A95F01CE5B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B0F941-7E67-43B1-A8E9-FFF4C0912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8686AF-58D0-46B9-84FB-90AA6B281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91FA35-F3AC-4C94-B161-DDE096E3B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625736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E65DC3-820E-4600-91F8-3D6A6D373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4160B69-B590-4FB9-AC10-0E12D866E2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FE5AB3-C95E-4E69-89B0-5C449A9CC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9757EE3-8223-4A93-AA2B-196010450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AF025D9-6233-4009-8219-3DB7C65B5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264478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BF2C7E-B28D-4DEE-A45B-2ABD1C8EC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8325483-C1E9-4C25-A581-082F03F837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1188" y="1258888"/>
            <a:ext cx="3919537" cy="53387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6573D30-1BF2-40C8-82AA-F04ED0BC2F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83125" y="1258888"/>
            <a:ext cx="3921125" cy="53387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B34C224-4B27-4C82-8E84-EA1BFD61B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03CBD95-0A27-456A-802A-F62EE1088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F8E3391-2397-496B-8F5E-A79D9BAEE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242216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BAF36E-607B-4F77-A129-B7AFD78F1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F06DEA0-6774-4AD7-B87E-072D0A1B52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74E36DB-5989-4D4D-8B4D-7EFA2DD007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23AECD3-79DC-4893-A48C-A1EB1C2D7B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52D36C4-092C-4C78-A0DE-FCA69DEA97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90D1FA6-8159-409D-A0E4-F8466E401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EE91C53-328F-4D75-A4D5-90A1B9DA6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1392537-C8BF-442D-B437-76AE6F769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880058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F30C41-133B-4D7F-B3B3-C765A9FC2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796DD42-DB99-40FF-87E7-F6DFF1AB3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71AA661-6CB2-4913-882C-E0D98EB1A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B5457F2-ECCD-4399-ACE1-88FF298DE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190911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7E8B361-8FD8-4CC6-A9F7-78E835DC3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E96746-C3F9-4C11-B560-03F9541E3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FA3B730-7788-4FC2-B2B6-85A7A13F6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366542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5506C1-90DC-4161-931B-851AB50C8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AEEC67-F78D-47B9-9C64-10084C1A08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FBB6E4E-7943-4BF5-BB2F-D2253CD073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D9F8AEB-7E84-437C-8007-E22B9788E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0B713E4-C5F3-493B-B36B-EA37CC4FA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E2F2387-80F3-45D1-9371-B68748781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1750331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D0ABF8-A605-4B1B-B2F9-5E2BF6E5D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3266846-5D54-4E02-842E-1376F88C3D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58C6C17-B624-4784-B791-507CC96003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A520E83-0BAF-47E8-8834-905CC73AD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0FACF78-FD89-409A-ADAD-FC0026960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CA59CB9-A837-4281-A3B7-181DAC47A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320806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C44AEC-387B-4EFB-B5F6-0EEDA9EEB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0F128D4-3E87-4674-8460-43A6EFD27B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C74F6A-73CA-4AA7-B942-43CA323A5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6661F2-5C16-4B8B-817B-44042F533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0CEDDC-9357-439C-9A9C-683CB4166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234572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EE356F7-3153-4362-B331-5E7991B536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861175" y="214313"/>
            <a:ext cx="2082800" cy="638333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E92C45A-A37B-4BBA-888D-29A6E95673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1188" y="214313"/>
            <a:ext cx="6097587" cy="638333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D2B880-3D12-45AB-8368-58A650FDA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D6CFD4-FF21-4BF1-9006-E6D844C19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F15728-B0C6-4CC4-8D2A-2F0A028D0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76677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>
            <a:extLst>
              <a:ext uri="{FF2B5EF4-FFF2-40B4-BE49-F238E27FC236}">
                <a16:creationId xmlns:a16="http://schemas.microsoft.com/office/drawing/2014/main" id="{EF9A51B3-4ECA-43DC-B4DD-2C11D2C0F44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252413"/>
            <a:ext cx="438150" cy="474662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spcBef>
                <a:spcPct val="0"/>
              </a:spcBef>
              <a:buSzTx/>
              <a:buFontTx/>
              <a:buNone/>
            </a:pPr>
            <a:endParaRPr kumimoji="1" lang="zh-CN" altLang="zh-CN" sz="2400">
              <a:latin typeface="Tahoma" panose="020B0604030504040204" pitchFamily="34" charset="0"/>
            </a:endParaRPr>
          </a:p>
        </p:txBody>
      </p:sp>
      <p:sp>
        <p:nvSpPr>
          <p:cNvPr id="444419" name="Rectangle 3">
            <a:extLst>
              <a:ext uri="{FF2B5EF4-FFF2-40B4-BE49-F238E27FC236}">
                <a16:creationId xmlns:a16="http://schemas.microsoft.com/office/drawing/2014/main" id="{C1A1E673-7D4D-469E-A5E4-886D035D254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252413"/>
            <a:ext cx="328613" cy="474662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spcBef>
                <a:spcPct val="0"/>
              </a:spcBef>
              <a:buSzTx/>
              <a:buFontTx/>
              <a:buNone/>
            </a:pPr>
            <a:endParaRPr kumimoji="1" lang="zh-CN" altLang="zh-CN" sz="2400">
              <a:latin typeface="Tahoma" panose="020B0604030504040204" pitchFamily="34" charset="0"/>
            </a:endParaRPr>
          </a:p>
        </p:txBody>
      </p:sp>
      <p:sp>
        <p:nvSpPr>
          <p:cNvPr id="444420" name="Rectangle 4">
            <a:extLst>
              <a:ext uri="{FF2B5EF4-FFF2-40B4-BE49-F238E27FC236}">
                <a16:creationId xmlns:a16="http://schemas.microsoft.com/office/drawing/2014/main" id="{242C2999-31D7-4ADB-A0F3-E523C422114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674688"/>
            <a:ext cx="422275" cy="474662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spcBef>
                <a:spcPct val="0"/>
              </a:spcBef>
              <a:buSzTx/>
              <a:buFontTx/>
              <a:buNone/>
            </a:pPr>
            <a:endParaRPr kumimoji="1" lang="zh-CN" altLang="zh-CN" sz="2400">
              <a:latin typeface="Tahoma" panose="020B0604030504040204" pitchFamily="34" charset="0"/>
            </a:endParaRPr>
          </a:p>
        </p:txBody>
      </p:sp>
      <p:sp>
        <p:nvSpPr>
          <p:cNvPr id="444421" name="Rectangle 5">
            <a:extLst>
              <a:ext uri="{FF2B5EF4-FFF2-40B4-BE49-F238E27FC236}">
                <a16:creationId xmlns:a16="http://schemas.microsoft.com/office/drawing/2014/main" id="{FAD7A906-4DA5-422E-A1BC-E5C8BCD2C1F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674688"/>
            <a:ext cx="368300" cy="474662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spcBef>
                <a:spcPct val="0"/>
              </a:spcBef>
              <a:buSzTx/>
              <a:buFontTx/>
              <a:buNone/>
            </a:pPr>
            <a:endParaRPr kumimoji="1" lang="zh-CN" altLang="zh-CN" sz="2400">
              <a:latin typeface="Tahoma" panose="020B0604030504040204" pitchFamily="34" charset="0"/>
            </a:endParaRPr>
          </a:p>
        </p:txBody>
      </p:sp>
      <p:sp>
        <p:nvSpPr>
          <p:cNvPr id="444422" name="Rectangle 6">
            <a:extLst>
              <a:ext uri="{FF2B5EF4-FFF2-40B4-BE49-F238E27FC236}">
                <a16:creationId xmlns:a16="http://schemas.microsoft.com/office/drawing/2014/main" id="{37E3E620-8C8D-4583-B108-9C5B796676D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601663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spcBef>
                <a:spcPct val="0"/>
              </a:spcBef>
              <a:buSzTx/>
              <a:buFontTx/>
              <a:buNone/>
            </a:pPr>
            <a:endParaRPr kumimoji="1" lang="zh-CN" altLang="zh-CN" sz="2400">
              <a:latin typeface="Tahoma" panose="020B0604030504040204" pitchFamily="34" charset="0"/>
            </a:endParaRPr>
          </a:p>
        </p:txBody>
      </p:sp>
      <p:sp>
        <p:nvSpPr>
          <p:cNvPr id="444423" name="Rectangle 7">
            <a:extLst>
              <a:ext uri="{FF2B5EF4-FFF2-40B4-BE49-F238E27FC236}">
                <a16:creationId xmlns:a16="http://schemas.microsoft.com/office/drawing/2014/main" id="{CFDAB8C4-1BF2-492F-BC83-D3D51C69E489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144463"/>
            <a:ext cx="31750" cy="105251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spcBef>
                <a:spcPct val="0"/>
              </a:spcBef>
              <a:buSzTx/>
              <a:buFontTx/>
              <a:buNone/>
            </a:pPr>
            <a:endParaRPr kumimoji="1" lang="zh-CN" altLang="zh-CN" sz="2400">
              <a:latin typeface="Tahoma" panose="020B0604030504040204" pitchFamily="34" charset="0"/>
            </a:endParaRPr>
          </a:p>
        </p:txBody>
      </p:sp>
      <p:sp>
        <p:nvSpPr>
          <p:cNvPr id="444424" name="Rectangle 8">
            <a:extLst>
              <a:ext uri="{FF2B5EF4-FFF2-40B4-BE49-F238E27FC236}">
                <a16:creationId xmlns:a16="http://schemas.microsoft.com/office/drawing/2014/main" id="{5C3EDE52-607F-4ADB-B280-F41EF47C6643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935038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spcBef>
                <a:spcPct val="0"/>
              </a:spcBef>
              <a:buSzTx/>
              <a:buFontTx/>
              <a:buNone/>
            </a:pPr>
            <a:endParaRPr kumimoji="1" lang="zh-CN" altLang="zh-CN" sz="2400">
              <a:latin typeface="Tahoma" panose="020B0604030504040204" pitchFamily="34" charset="0"/>
            </a:endParaRPr>
          </a:p>
        </p:txBody>
      </p:sp>
      <p:sp>
        <p:nvSpPr>
          <p:cNvPr id="444425" name="Rectangle 9">
            <a:extLst>
              <a:ext uri="{FF2B5EF4-FFF2-40B4-BE49-F238E27FC236}">
                <a16:creationId xmlns:a16="http://schemas.microsoft.com/office/drawing/2014/main" id="{C68A6436-0350-4832-9E64-7A7AADF5E1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44426" name="Rectangle 10">
            <a:extLst>
              <a:ext uri="{FF2B5EF4-FFF2-40B4-BE49-F238E27FC236}">
                <a16:creationId xmlns:a16="http://schemas.microsoft.com/office/drawing/2014/main" id="{30BB7C70-3EEA-4249-8D1B-2855C6CB5F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8" y="1258888"/>
            <a:ext cx="7993062" cy="5338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44427" name="Rectangle 11">
            <a:extLst>
              <a:ext uri="{FF2B5EF4-FFF2-40B4-BE49-F238E27FC236}">
                <a16:creationId xmlns:a16="http://schemas.microsoft.com/office/drawing/2014/main" id="{B60D0195-3077-475D-9F6F-304DEE063F9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SzTx/>
              <a:buFontTx/>
              <a:buNone/>
              <a:defRPr sz="1400">
                <a:latin typeface="+mn-lt"/>
              </a:defRPr>
            </a:lvl1pPr>
          </a:lstStyle>
          <a:p>
            <a:endParaRPr lang="en-US" altLang="zh-CN"/>
          </a:p>
        </p:txBody>
      </p:sp>
      <p:sp>
        <p:nvSpPr>
          <p:cNvPr id="444428" name="Rectangle 12">
            <a:extLst>
              <a:ext uri="{FF2B5EF4-FFF2-40B4-BE49-F238E27FC236}">
                <a16:creationId xmlns:a16="http://schemas.microsoft.com/office/drawing/2014/main" id="{7FB2EA77-05AF-490C-A25A-2618186EFBF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SzTx/>
              <a:buFontTx/>
              <a:buNone/>
              <a:defRPr sz="1400">
                <a:latin typeface="+mn-lt"/>
              </a:defRPr>
            </a:lvl1pPr>
          </a:lstStyle>
          <a:p>
            <a:endParaRPr lang="en-US" altLang="zh-CN"/>
          </a:p>
        </p:txBody>
      </p:sp>
      <p:sp>
        <p:nvSpPr>
          <p:cNvPr id="444429" name="Rectangle 13">
            <a:extLst>
              <a:ext uri="{FF2B5EF4-FFF2-40B4-BE49-F238E27FC236}">
                <a16:creationId xmlns:a16="http://schemas.microsoft.com/office/drawing/2014/main" id="{717094F0-D21B-4497-A5E3-355A03572A8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SzTx/>
              <a:buFontTx/>
              <a:buNone/>
              <a:defRPr sz="1400">
                <a:latin typeface="+mn-lt"/>
              </a:defRPr>
            </a:lvl1pPr>
          </a:lstStyle>
          <a:p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3600" b="1" kern="12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defRPr sz="2800"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2pPr>
      <a:lvl3pPr marL="11430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3pPr>
      <a:lvl4pPr marL="16002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4pPr>
      <a:lvl5pPr marL="20574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163" name="Rectangle 3">
            <a:extLst>
              <a:ext uri="{FF2B5EF4-FFF2-40B4-BE49-F238E27FC236}">
                <a16:creationId xmlns:a16="http://schemas.microsoft.com/office/drawing/2014/main" id="{90FC3E00-9544-40C2-BA3E-41383044969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4213" y="1206500"/>
            <a:ext cx="8137525" cy="1462088"/>
          </a:xfrm>
          <a:noFill/>
          <a:ln/>
        </p:spPr>
        <p:txBody>
          <a:bodyPr/>
          <a:lstStyle/>
          <a:p>
            <a:r>
              <a:rPr lang="zh-CN" altLang="en-US" sz="4400"/>
              <a:t>第</a:t>
            </a:r>
            <a:r>
              <a:rPr lang="en-US" altLang="zh-CN" sz="4400"/>
              <a:t>5</a:t>
            </a:r>
            <a:r>
              <a:rPr lang="zh-CN" altLang="en-US" sz="4400"/>
              <a:t>章 关系数据库语言</a:t>
            </a:r>
            <a:r>
              <a:rPr lang="en-US" altLang="zh-CN" sz="4400"/>
              <a:t>SQL</a:t>
            </a:r>
            <a:r>
              <a:rPr lang="en-US" altLang="zh-CN"/>
              <a:t> </a:t>
            </a:r>
          </a:p>
        </p:txBody>
      </p:sp>
      <p:sp>
        <p:nvSpPr>
          <p:cNvPr id="476164" name="Rectangle 4">
            <a:extLst>
              <a:ext uri="{FF2B5EF4-FFF2-40B4-BE49-F238E27FC236}">
                <a16:creationId xmlns:a16="http://schemas.microsoft.com/office/drawing/2014/main" id="{9ADAC95F-92C8-4803-A6F1-43EFB000CD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80963"/>
            <a:ext cx="4006850" cy="574675"/>
          </a:xfrm>
          <a:prstGeom prst="rect">
            <a:avLst/>
          </a:prstGeom>
          <a:gradFill rotWithShape="1">
            <a:gsLst>
              <a:gs pos="0">
                <a:srgbClr val="C0C0C0"/>
              </a:gs>
              <a:gs pos="100000">
                <a:srgbClr val="C0C0C0">
                  <a:gamma/>
                  <a:tint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C0C0C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76176" bIns="72000" anchor="ctr" anchorCtr="1">
            <a:spAutoFit/>
          </a:bodyPr>
          <a:lstStyle/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zh-CN" altLang="en-US" sz="2800" b="1">
                <a:solidFill>
                  <a:srgbClr val="99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rPr>
              <a:t>数据库系统原理与设计</a:t>
            </a:r>
            <a:endParaRPr kumimoji="1" lang="zh-CN" altLang="en-US" sz="3000" b="1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76167" name="Text Box 7">
            <a:extLst>
              <a:ext uri="{FF2B5EF4-FFF2-40B4-BE49-F238E27FC236}">
                <a16:creationId xmlns:a16="http://schemas.microsoft.com/office/drawing/2014/main" id="{8CF01975-F78E-43A5-A355-042EA7B6DA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3957638"/>
            <a:ext cx="4681538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zh-CN" sz="40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     </a:t>
            </a:r>
            <a:endParaRPr lang="zh-CN" altLang="en-US" sz="4400" b="1" dirty="0">
              <a:solidFill>
                <a:srgbClr val="660033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pic>
        <p:nvPicPr>
          <p:cNvPr id="476168" name="Picture 8">
            <a:extLst>
              <a:ext uri="{FF2B5EF4-FFF2-40B4-BE49-F238E27FC236}">
                <a16:creationId xmlns:a16="http://schemas.microsoft.com/office/drawing/2014/main" id="{805AC07A-BEB6-42C6-8875-468E8F30DB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170363"/>
            <a:ext cx="2700338" cy="2687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6169" name="Text Box 9">
            <a:extLst>
              <a:ext uri="{FF2B5EF4-FFF2-40B4-BE49-F238E27FC236}">
                <a16:creationId xmlns:a16="http://schemas.microsoft.com/office/drawing/2014/main" id="{64A540F9-394C-4330-A48D-1B13B94BA1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8388" y="2674938"/>
            <a:ext cx="4681537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zh-CN" altLang="en-US" sz="40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（第一讲）</a:t>
            </a:r>
            <a:endParaRPr lang="zh-CN" altLang="en-US" sz="4400" b="1">
              <a:solidFill>
                <a:srgbClr val="006699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396"/>
    </mc:Choice>
    <mc:Fallback xmlns="">
      <p:transition spd="slow" advTm="539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76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616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380" name="Rectangle 4">
            <a:extLst>
              <a:ext uri="{FF2B5EF4-FFF2-40B4-BE49-F238E27FC236}">
                <a16:creationId xmlns:a16="http://schemas.microsoft.com/office/drawing/2014/main" id="{533EA806-F85C-4116-BB12-B5D1ECA5BB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8" y="71438"/>
            <a:ext cx="8748712" cy="1557337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bg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spcBef>
                <a:spcPct val="0"/>
              </a:spcBef>
              <a:buSzTx/>
              <a:buFontTx/>
              <a:buNone/>
            </a:pPr>
            <a:endParaRPr lang="zh-CN" altLang="zh-CN">
              <a:ea typeface="楷体_GB2312" pitchFamily="49" charset="-122"/>
            </a:endParaRPr>
          </a:p>
        </p:txBody>
      </p:sp>
      <p:sp>
        <p:nvSpPr>
          <p:cNvPr id="485381" name="Rectangle 5">
            <a:extLst>
              <a:ext uri="{FF2B5EF4-FFF2-40B4-BE49-F238E27FC236}">
                <a16:creationId xmlns:a16="http://schemas.microsoft.com/office/drawing/2014/main" id="{470C0C56-34BA-45D3-B078-22E2B5F2D5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765175"/>
            <a:ext cx="8107362" cy="5330825"/>
          </a:xfrm>
          <a:prstGeom prst="rect">
            <a:avLst/>
          </a:prstGeom>
          <a:noFill/>
          <a:ln w="9525">
            <a:solidFill>
              <a:srgbClr val="00CC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lnSpc>
                <a:spcPct val="120000"/>
              </a:lnSpc>
              <a:buClr>
                <a:schemeClr val="folHlink"/>
              </a:buClr>
              <a:buSzPct val="60000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chemeClr val="hlink"/>
              </a:buClr>
              <a:buSzPct val="55000"/>
              <a:buChar char="n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20000"/>
              </a:lnSpc>
              <a:buClr>
                <a:schemeClr val="folHlink"/>
              </a:buClr>
              <a:buSzPct val="50000"/>
              <a:buChar char="n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buClr>
                <a:schemeClr val="accent2"/>
              </a:buClr>
              <a:buSzPct val="55000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buClr>
                <a:schemeClr val="accent1"/>
              </a:buClr>
              <a:buSzPct val="50000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7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b="0" dirty="0">
                <a:effectLst/>
                <a:ea typeface="黑体" panose="02010609060101010101" pitchFamily="49" charset="-122"/>
              </a:rPr>
              <a:t>          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400" b="0" dirty="0">
              <a:effectLst/>
              <a:ea typeface="黑体" panose="02010609060101010101" pitchFamily="49" charset="-122"/>
            </a:endParaRPr>
          </a:p>
          <a:p>
            <a:pPr>
              <a:lnSpc>
                <a:spcPct val="16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b="0" dirty="0">
                <a:effectLst/>
                <a:ea typeface="黑体" panose="02010609060101010101" pitchFamily="49" charset="-122"/>
              </a:rPr>
              <a:t>         </a:t>
            </a:r>
            <a:r>
              <a:rPr lang="zh-CN" altLang="en-US" sz="3000" dirty="0">
                <a:solidFill>
                  <a:srgbClr val="660033"/>
                </a:solidFill>
                <a:effectLst/>
                <a:ea typeface="华文新魏" panose="02010800040101010101" pitchFamily="2" charset="-122"/>
              </a:rPr>
              <a:t>关系数据库语言 </a:t>
            </a:r>
            <a:r>
              <a:rPr lang="en-US" altLang="zh-CN" sz="3000" dirty="0">
                <a:solidFill>
                  <a:srgbClr val="660033"/>
                </a:solidFill>
                <a:effectLst/>
                <a:ea typeface="华文新魏" panose="02010800040101010101" pitchFamily="2" charset="-122"/>
              </a:rPr>
              <a:t>(Structured Query Language</a:t>
            </a:r>
            <a:r>
              <a:rPr lang="zh-CN" altLang="en-US" sz="3000" dirty="0">
                <a:solidFill>
                  <a:srgbClr val="660033"/>
                </a:solidFill>
                <a:effectLst/>
                <a:ea typeface="华文新魏" panose="02010800040101010101" pitchFamily="2" charset="-122"/>
              </a:rPr>
              <a:t>，简称</a:t>
            </a:r>
            <a:r>
              <a:rPr lang="en-US" altLang="zh-CN" sz="3000" dirty="0">
                <a:solidFill>
                  <a:srgbClr val="660033"/>
                </a:solidFill>
                <a:effectLst/>
                <a:ea typeface="华文新魏" panose="02010800040101010101" pitchFamily="2" charset="-122"/>
              </a:rPr>
              <a:t>SQL)</a:t>
            </a:r>
            <a:r>
              <a:rPr lang="zh-CN" altLang="en-US" sz="3000" b="0" dirty="0">
                <a:effectLst/>
                <a:ea typeface="黑体" panose="02010609060101010101" pitchFamily="49" charset="-122"/>
              </a:rPr>
              <a:t>是一种介于关系代数和元组演算之间的关系数据库语言。</a:t>
            </a:r>
          </a:p>
          <a:p>
            <a:pPr>
              <a:lnSpc>
                <a:spcPct val="16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3000" b="0" dirty="0">
                <a:effectLst/>
                <a:ea typeface="黑体" panose="02010609060101010101" pitchFamily="49" charset="-122"/>
              </a:rPr>
              <a:t>         </a:t>
            </a:r>
            <a:r>
              <a:rPr lang="en-US" altLang="zh-CN" sz="3000" dirty="0">
                <a:solidFill>
                  <a:srgbClr val="660033"/>
                </a:solidFill>
                <a:effectLst/>
                <a:ea typeface="华文新魏" panose="02010800040101010101" pitchFamily="2" charset="-122"/>
              </a:rPr>
              <a:t>SQL</a:t>
            </a:r>
            <a:r>
              <a:rPr lang="zh-CN" altLang="en-US" sz="3000" dirty="0">
                <a:solidFill>
                  <a:srgbClr val="660033"/>
                </a:solidFill>
                <a:effectLst/>
                <a:ea typeface="华文新魏" panose="02010800040101010101" pitchFamily="2" charset="-122"/>
              </a:rPr>
              <a:t>语言</a:t>
            </a:r>
            <a:r>
              <a:rPr lang="zh-CN" altLang="en-US" sz="3000" b="0" dirty="0">
                <a:effectLst/>
                <a:ea typeface="黑体" panose="02010609060101010101" pitchFamily="49" charset="-122"/>
              </a:rPr>
              <a:t>从</a:t>
            </a:r>
            <a:r>
              <a:rPr lang="en-US" altLang="zh-CN" sz="3000" b="0" dirty="0">
                <a:effectLst/>
                <a:ea typeface="黑体" panose="02010609060101010101" pitchFamily="49" charset="-122"/>
              </a:rPr>
              <a:t>1974</a:t>
            </a:r>
            <a:r>
              <a:rPr lang="zh-CN" altLang="en-US" sz="3000" b="0" dirty="0">
                <a:effectLst/>
                <a:ea typeface="黑体" panose="02010609060101010101" pitchFamily="49" charset="-122"/>
              </a:rPr>
              <a:t>年提出以来，先后被确定为关系数据库语言的美国国家标准、国际标准和中国国家标准。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41"/>
    </mc:Choice>
    <mc:Fallback xmlns="">
      <p:transition spd="slow" advTm="2004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53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853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404" name="Rectangle 4">
            <a:extLst>
              <a:ext uri="{FF2B5EF4-FFF2-40B4-BE49-F238E27FC236}">
                <a16:creationId xmlns:a16="http://schemas.microsoft.com/office/drawing/2014/main" id="{82D9BFCD-4B52-4FD0-BCDE-8BE5495843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8" y="71438"/>
            <a:ext cx="8748712" cy="1557337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bg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spcBef>
                <a:spcPct val="0"/>
              </a:spcBef>
              <a:buSzTx/>
              <a:buFontTx/>
              <a:buNone/>
            </a:pPr>
            <a:endParaRPr lang="zh-CN" altLang="zh-CN">
              <a:ea typeface="楷体_GB2312" pitchFamily="49" charset="-122"/>
            </a:endParaRPr>
          </a:p>
        </p:txBody>
      </p:sp>
      <p:sp>
        <p:nvSpPr>
          <p:cNvPr id="486405" name="Rectangle 5">
            <a:extLst>
              <a:ext uri="{FF2B5EF4-FFF2-40B4-BE49-F238E27FC236}">
                <a16:creationId xmlns:a16="http://schemas.microsoft.com/office/drawing/2014/main" id="{493E67A5-8BD6-4CA6-B1D9-2257CD9D72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765175"/>
            <a:ext cx="8107362" cy="5330825"/>
          </a:xfrm>
          <a:prstGeom prst="rect">
            <a:avLst/>
          </a:prstGeom>
          <a:noFill/>
          <a:ln w="9525">
            <a:solidFill>
              <a:srgbClr val="00CC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lnSpc>
                <a:spcPct val="120000"/>
              </a:lnSpc>
              <a:buClr>
                <a:schemeClr val="folHlink"/>
              </a:buClr>
              <a:buSzPct val="60000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chemeClr val="hlink"/>
              </a:buClr>
              <a:buSzPct val="55000"/>
              <a:buChar char="n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20000"/>
              </a:lnSpc>
              <a:buClr>
                <a:schemeClr val="folHlink"/>
              </a:buClr>
              <a:buSzPct val="50000"/>
              <a:buChar char="n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buClr>
                <a:schemeClr val="accent2"/>
              </a:buClr>
              <a:buSzPct val="55000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buClr>
                <a:schemeClr val="accent1"/>
              </a:buClr>
              <a:buSzPct val="50000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7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b="0">
                <a:effectLst/>
                <a:ea typeface="黑体" panose="02010609060101010101" pitchFamily="49" charset="-122"/>
              </a:rPr>
              <a:t>          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b="0">
                <a:effectLst/>
                <a:ea typeface="黑体" panose="02010609060101010101" pitchFamily="49" charset="-122"/>
              </a:rPr>
              <a:t>          </a:t>
            </a:r>
            <a:r>
              <a:rPr lang="en-US" altLang="zh-CN" sz="1600" b="0">
                <a:effectLst/>
                <a:ea typeface="黑体" panose="02010609060101010101" pitchFamily="49" charset="-122"/>
              </a:rPr>
              <a:t> </a:t>
            </a:r>
          </a:p>
          <a:p>
            <a:pPr>
              <a:lnSpc>
                <a:spcPct val="1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b="0">
                <a:effectLst/>
                <a:ea typeface="黑体" panose="02010609060101010101" pitchFamily="49" charset="-122"/>
              </a:rPr>
              <a:t>         </a:t>
            </a:r>
            <a:r>
              <a:rPr lang="en-US" altLang="zh-CN" sz="3000" b="0">
                <a:effectLst/>
                <a:ea typeface="黑体" panose="02010609060101010101" pitchFamily="49" charset="-122"/>
              </a:rPr>
              <a:t> </a:t>
            </a:r>
            <a:r>
              <a:rPr lang="zh-CN" altLang="en-US" sz="3000" b="0">
                <a:effectLst/>
                <a:ea typeface="黑体" panose="02010609060101010101" pitchFamily="49" charset="-122"/>
              </a:rPr>
              <a:t>随着</a:t>
            </a:r>
            <a:r>
              <a:rPr lang="en-US" altLang="zh-CN" sz="3000" b="0">
                <a:effectLst/>
                <a:ea typeface="黑体" panose="02010609060101010101" pitchFamily="49" charset="-122"/>
              </a:rPr>
              <a:t>SQL</a:t>
            </a:r>
            <a:r>
              <a:rPr lang="zh-CN" altLang="en-US" sz="3000" b="0">
                <a:effectLst/>
                <a:ea typeface="黑体" panose="02010609060101010101" pitchFamily="49" charset="-122"/>
              </a:rPr>
              <a:t>语言的进一步发展和完善，全世界绝大多数的关系数据库都采用了</a:t>
            </a:r>
            <a:r>
              <a:rPr lang="en-US" altLang="zh-CN" sz="3000" b="0">
                <a:effectLst/>
                <a:ea typeface="黑体" panose="02010609060101010101" pitchFamily="49" charset="-122"/>
              </a:rPr>
              <a:t>SQL</a:t>
            </a:r>
            <a:r>
              <a:rPr lang="zh-CN" altLang="en-US" sz="3000" b="0">
                <a:effectLst/>
                <a:ea typeface="黑体" panose="02010609060101010101" pitchFamily="49" charset="-122"/>
              </a:rPr>
              <a:t>语言，极大地推进了数据库技术的发展和广泛应用，也凸显了学习</a:t>
            </a:r>
            <a:r>
              <a:rPr lang="en-US" altLang="zh-CN" sz="3000" b="0">
                <a:effectLst/>
                <a:ea typeface="黑体" panose="02010609060101010101" pitchFamily="49" charset="-122"/>
              </a:rPr>
              <a:t>SQL</a:t>
            </a:r>
            <a:r>
              <a:rPr lang="zh-CN" altLang="en-US" sz="3000" b="0">
                <a:effectLst/>
                <a:ea typeface="黑体" panose="02010609060101010101" pitchFamily="49" charset="-122"/>
              </a:rPr>
              <a:t>语言的重要性。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5332"/>
    </mc:Choice>
    <mc:Fallback xmlns="">
      <p:transition spd="slow" advTm="5533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64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864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452" name="Rectangle 4">
            <a:extLst>
              <a:ext uri="{FF2B5EF4-FFF2-40B4-BE49-F238E27FC236}">
                <a16:creationId xmlns:a16="http://schemas.microsoft.com/office/drawing/2014/main" id="{DDA1A185-814F-4C4E-A2B2-427D37A99754}"/>
              </a:ext>
            </a:extLst>
          </p:cNvPr>
          <p:cNvSpPr>
            <a:spLocks noChangeArrowheads="1"/>
          </p:cNvSpPr>
          <p:nvPr/>
        </p:nvSpPr>
        <p:spPr bwMode="gray">
          <a:xfrm>
            <a:off x="755650" y="285750"/>
            <a:ext cx="7793038" cy="622300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SzTx/>
              <a:buFontTx/>
              <a:buNone/>
            </a:pPr>
            <a:r>
              <a:rPr lang="zh-CN" altLang="en-US" sz="4000">
                <a:latin typeface="华文隶书" panose="02010800040101010101" pitchFamily="2" charset="-122"/>
                <a:ea typeface="华文隶书" panose="02010800040101010101" pitchFamily="2" charset="-122"/>
              </a:rPr>
              <a:t>主要内容</a:t>
            </a:r>
          </a:p>
        </p:txBody>
      </p:sp>
      <p:sp>
        <p:nvSpPr>
          <p:cNvPr id="488453" name="Rectangle 5">
            <a:extLst>
              <a:ext uri="{FF2B5EF4-FFF2-40B4-BE49-F238E27FC236}">
                <a16:creationId xmlns:a16="http://schemas.microsoft.com/office/drawing/2014/main" id="{FA5EF1C2-8166-4982-A4D0-BFCA3C8DF5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725" y="1258888"/>
            <a:ext cx="8208963" cy="5338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lnSpc>
                <a:spcPct val="120000"/>
              </a:lnSpc>
              <a:buClr>
                <a:schemeClr val="folHlink"/>
              </a:buClr>
              <a:buSzPct val="60000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chemeClr val="hlink"/>
              </a:buClr>
              <a:buSzPct val="55000"/>
              <a:buChar char="n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20000"/>
              </a:lnSpc>
              <a:buClr>
                <a:schemeClr val="folHlink"/>
              </a:buClr>
              <a:buSzPct val="50000"/>
              <a:buChar char="n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buClr>
                <a:schemeClr val="accent2"/>
              </a:buClr>
              <a:buSzPct val="55000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buClr>
                <a:schemeClr val="accent1"/>
              </a:buClr>
              <a:buSzPct val="50000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endParaRPr lang="en-US" altLang="zh-CN" sz="3200">
              <a:solidFill>
                <a:srgbClr val="990033"/>
              </a:solidFill>
              <a:effectLst/>
              <a:ea typeface="黑体" panose="02010609060101010101" pitchFamily="49" charset="-122"/>
            </a:endParaRPr>
          </a:p>
          <a:p>
            <a:pPr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en-US" altLang="zh-CN"/>
              <a:t>         </a:t>
            </a:r>
            <a:r>
              <a:rPr lang="en-US" altLang="zh-CN" sz="3200">
                <a:solidFill>
                  <a:srgbClr val="003366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5.1  SQL</a:t>
            </a:r>
            <a:r>
              <a:rPr lang="zh-CN" altLang="en-US" sz="3200">
                <a:solidFill>
                  <a:srgbClr val="003366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的功能与特点 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zh-CN" altLang="en-US"/>
              <a:t>         </a:t>
            </a:r>
            <a:r>
              <a:rPr lang="en-US" altLang="zh-CN" sz="3200">
                <a:solidFill>
                  <a:srgbClr val="003366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5.2  </a:t>
            </a:r>
            <a:r>
              <a:rPr lang="zh-CN" altLang="en-US" sz="3200">
                <a:solidFill>
                  <a:srgbClr val="003366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表的基本操作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968"/>
    </mc:Choice>
    <mc:Fallback xmlns="">
      <p:transition spd="slow" advTm="1196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884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4884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845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515" name="Rectangle 3">
            <a:extLst>
              <a:ext uri="{FF2B5EF4-FFF2-40B4-BE49-F238E27FC236}">
                <a16:creationId xmlns:a16="http://schemas.microsoft.com/office/drawing/2014/main" id="{393BB49C-E992-4EBB-BB1E-F1B14620D7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8" y="73025"/>
            <a:ext cx="4119562" cy="544513"/>
          </a:xfrm>
          <a:prstGeom prst="rect">
            <a:avLst/>
          </a:prstGeom>
          <a:gradFill rotWithShape="1">
            <a:gsLst>
              <a:gs pos="0">
                <a:srgbClr val="C0C0C0"/>
              </a:gs>
              <a:gs pos="100000">
                <a:srgbClr val="C0C0C0">
                  <a:gamma/>
                  <a:tint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C0C0C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76176" bIns="72000" anchor="ctr" anchorCtr="1">
            <a:spAutoFit/>
          </a:bodyPr>
          <a:lstStyle/>
          <a:p>
            <a:pPr>
              <a:spcBef>
                <a:spcPct val="0"/>
              </a:spcBef>
              <a:buSzTx/>
              <a:buFontTx/>
              <a:buNone/>
            </a:pPr>
            <a:r>
              <a:rPr lang="zh-CN" altLang="en-US" sz="2600" b="1">
                <a:solidFill>
                  <a:srgbClr val="99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rPr>
              <a:t>第</a:t>
            </a:r>
            <a:r>
              <a:rPr lang="en-US" altLang="zh-CN" sz="2600" b="1">
                <a:solidFill>
                  <a:srgbClr val="99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rPr>
              <a:t>5</a:t>
            </a:r>
            <a:r>
              <a:rPr lang="zh-CN" altLang="en-US" sz="2600" b="1">
                <a:solidFill>
                  <a:srgbClr val="99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rPr>
              <a:t>章 关系数据库语言</a:t>
            </a:r>
            <a:r>
              <a:rPr lang="en-US" altLang="zh-CN" sz="2600" b="1">
                <a:solidFill>
                  <a:srgbClr val="99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rPr>
              <a:t>SQL</a:t>
            </a:r>
            <a:r>
              <a:rPr lang="en-US" altLang="zh-CN"/>
              <a:t> </a:t>
            </a:r>
          </a:p>
        </p:txBody>
      </p:sp>
      <p:sp>
        <p:nvSpPr>
          <p:cNvPr id="448516" name="Rectangle 4">
            <a:extLst>
              <a:ext uri="{FF2B5EF4-FFF2-40B4-BE49-F238E27FC236}">
                <a16:creationId xmlns:a16="http://schemas.microsoft.com/office/drawing/2014/main" id="{88F855E0-85D6-4659-809C-1068F2417C2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4213" y="1143000"/>
            <a:ext cx="8137525" cy="1462088"/>
          </a:xfrm>
          <a:noFill/>
          <a:ln/>
        </p:spPr>
        <p:txBody>
          <a:bodyPr/>
          <a:lstStyle/>
          <a:p>
            <a:r>
              <a:rPr lang="en-US" altLang="zh-CN"/>
              <a:t>5.1  SQL</a:t>
            </a:r>
            <a:r>
              <a:rPr lang="zh-CN" altLang="en-US"/>
              <a:t>的功能与特点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87"/>
    </mc:Choice>
    <mc:Fallback xmlns="">
      <p:transition spd="slow" advTm="498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10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428" name="Rectangle 4">
            <a:extLst>
              <a:ext uri="{FF2B5EF4-FFF2-40B4-BE49-F238E27FC236}">
                <a16:creationId xmlns:a16="http://schemas.microsoft.com/office/drawing/2014/main" id="{EB5C651D-63EF-4626-84CB-D25AAC073A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8" y="71438"/>
            <a:ext cx="8748712" cy="1557337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bg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spcBef>
                <a:spcPct val="0"/>
              </a:spcBef>
              <a:buSzTx/>
              <a:buFontTx/>
              <a:buNone/>
            </a:pPr>
            <a:endParaRPr lang="zh-CN" altLang="zh-CN">
              <a:ea typeface="楷体_GB2312" pitchFamily="49" charset="-122"/>
            </a:endParaRPr>
          </a:p>
        </p:txBody>
      </p:sp>
      <p:sp>
        <p:nvSpPr>
          <p:cNvPr id="487429" name="Rectangle 5">
            <a:extLst>
              <a:ext uri="{FF2B5EF4-FFF2-40B4-BE49-F238E27FC236}">
                <a16:creationId xmlns:a16="http://schemas.microsoft.com/office/drawing/2014/main" id="{66058987-1EBE-450D-A46A-DDE2A01F0D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765175"/>
            <a:ext cx="8107362" cy="5330825"/>
          </a:xfrm>
          <a:prstGeom prst="rect">
            <a:avLst/>
          </a:prstGeom>
          <a:noFill/>
          <a:ln w="9525">
            <a:solidFill>
              <a:srgbClr val="00CC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lnSpc>
                <a:spcPct val="120000"/>
              </a:lnSpc>
              <a:buClr>
                <a:schemeClr val="folHlink"/>
              </a:buClr>
              <a:buSzPct val="60000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chemeClr val="hlink"/>
              </a:buClr>
              <a:buSzPct val="55000"/>
              <a:buChar char="n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20000"/>
              </a:lnSpc>
              <a:buClr>
                <a:schemeClr val="folHlink"/>
              </a:buClr>
              <a:buSzPct val="50000"/>
              <a:buChar char="n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buClr>
                <a:schemeClr val="accent2"/>
              </a:buClr>
              <a:buSzPct val="55000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buClr>
                <a:schemeClr val="accent1"/>
              </a:buClr>
              <a:buSzPct val="50000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7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b="0">
                <a:effectLst/>
                <a:ea typeface="黑体" panose="02010609060101010101" pitchFamily="49" charset="-122"/>
              </a:rPr>
              <a:t> </a:t>
            </a:r>
          </a:p>
          <a:p>
            <a:pPr>
              <a:lnSpc>
                <a:spcPct val="7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b="0">
                <a:effectLst/>
                <a:ea typeface="黑体" panose="02010609060101010101" pitchFamily="49" charset="-122"/>
              </a:rPr>
              <a:t>         </a:t>
            </a:r>
          </a:p>
          <a:p>
            <a:pPr>
              <a:lnSpc>
                <a:spcPct val="10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b="0">
                <a:effectLst/>
                <a:ea typeface="黑体" panose="02010609060101010101" pitchFamily="49" charset="-122"/>
              </a:rPr>
              <a:t>         </a:t>
            </a:r>
            <a:r>
              <a:rPr lang="en-US" altLang="zh-CN" sz="3000" b="0">
                <a:effectLst/>
                <a:ea typeface="黑体" panose="02010609060101010101" pitchFamily="49" charset="-122"/>
              </a:rPr>
              <a:t>  </a:t>
            </a:r>
            <a:r>
              <a:rPr lang="en-US" altLang="zh-CN" sz="3000" b="0">
                <a:solidFill>
                  <a:srgbClr val="003366"/>
                </a:solidFill>
                <a:effectLst/>
                <a:ea typeface="黑体" panose="02010609060101010101" pitchFamily="49" charset="-122"/>
              </a:rPr>
              <a:t>SQL</a:t>
            </a:r>
            <a:r>
              <a:rPr lang="zh-CN" altLang="en-US" sz="3000" b="0">
                <a:solidFill>
                  <a:srgbClr val="003366"/>
                </a:solidFill>
                <a:effectLst/>
                <a:ea typeface="黑体" panose="02010609060101010101" pitchFamily="49" charset="-122"/>
              </a:rPr>
              <a:t>语言有三大功能：</a:t>
            </a:r>
          </a:p>
          <a:p>
            <a:pPr>
              <a:lnSpc>
                <a:spcPct val="1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3000" b="0">
                <a:effectLst/>
                <a:ea typeface="黑体" panose="02010609060101010101" pitchFamily="49" charset="-122"/>
              </a:rPr>
              <a:t>          </a:t>
            </a:r>
            <a:r>
              <a:rPr lang="en-US" altLang="zh-CN" sz="3000" b="0">
                <a:effectLst/>
                <a:ea typeface="黑体" panose="02010609060101010101" pitchFamily="49" charset="-122"/>
              </a:rPr>
              <a:t>1</a:t>
            </a:r>
            <a:r>
              <a:rPr lang="zh-CN" altLang="en-US" sz="3000" b="0">
                <a:effectLst/>
                <a:ea typeface="黑体" panose="02010609060101010101" pitchFamily="49" charset="-122"/>
              </a:rPr>
              <a:t>、数据定义功能</a:t>
            </a:r>
          </a:p>
          <a:p>
            <a:pPr>
              <a:lnSpc>
                <a:spcPct val="1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3000" b="0">
                <a:effectLst/>
                <a:ea typeface="黑体" panose="02010609060101010101" pitchFamily="49" charset="-122"/>
              </a:rPr>
              <a:t>          </a:t>
            </a:r>
            <a:r>
              <a:rPr lang="en-US" altLang="zh-CN" sz="3000" b="0">
                <a:effectLst/>
                <a:ea typeface="黑体" panose="02010609060101010101" pitchFamily="49" charset="-122"/>
              </a:rPr>
              <a:t>2</a:t>
            </a:r>
            <a:r>
              <a:rPr lang="zh-CN" altLang="en-US" sz="3000" b="0">
                <a:effectLst/>
                <a:ea typeface="黑体" panose="02010609060101010101" pitchFamily="49" charset="-122"/>
              </a:rPr>
              <a:t>、数据操纵功能</a:t>
            </a:r>
          </a:p>
          <a:p>
            <a:pPr>
              <a:lnSpc>
                <a:spcPct val="1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3000" b="0">
                <a:effectLst/>
                <a:ea typeface="黑体" panose="02010609060101010101" pitchFamily="49" charset="-122"/>
              </a:rPr>
              <a:t>          </a:t>
            </a:r>
            <a:r>
              <a:rPr lang="en-US" altLang="zh-CN" sz="3000" b="0">
                <a:effectLst/>
                <a:ea typeface="黑体" panose="02010609060101010101" pitchFamily="49" charset="-122"/>
              </a:rPr>
              <a:t>3</a:t>
            </a:r>
            <a:r>
              <a:rPr lang="zh-CN" altLang="en-US" sz="3000" b="0">
                <a:effectLst/>
                <a:ea typeface="黑体" panose="02010609060101010101" pitchFamily="49" charset="-122"/>
              </a:rPr>
              <a:t>、数据控制功能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769"/>
    </mc:Choice>
    <mc:Fallback xmlns="">
      <p:transition spd="slow" advTm="3776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74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874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874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4874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ext Box 2">
            <a:extLst>
              <a:ext uri="{FF2B5EF4-FFF2-40B4-BE49-F238E27FC236}">
                <a16:creationId xmlns:a16="http://schemas.microsoft.com/office/drawing/2014/main" id="{9629676C-E1F5-4FD6-B5EB-B2F44AB1A9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155700"/>
            <a:ext cx="8458200" cy="2101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spcBef>
                <a:spcPct val="10000"/>
              </a:spcBef>
              <a:spcAft>
                <a:spcPct val="40000"/>
              </a:spcAft>
              <a:buSzTx/>
              <a:buFontTx/>
              <a:buNone/>
            </a:pPr>
            <a:r>
              <a:rPr lang="en-US" altLang="zh-CN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1. </a:t>
            </a:r>
            <a:r>
              <a:rPr lang="zh-CN" altLang="en-US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数据定义功能</a:t>
            </a:r>
          </a:p>
          <a:p>
            <a:pPr algn="just">
              <a:lnSpc>
                <a:spcPct val="140000"/>
              </a:lnSpc>
              <a:spcBef>
                <a:spcPct val="10000"/>
              </a:spcBef>
              <a:buSzTx/>
              <a:buFontTx/>
              <a:buNone/>
            </a:pPr>
            <a:r>
              <a:rPr lang="zh-CN" altLang="en-US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用于定义基本表、定义视图、定义索引等。</a:t>
            </a:r>
          </a:p>
          <a:p>
            <a:pPr algn="just">
              <a:lnSpc>
                <a:spcPct val="140000"/>
              </a:lnSpc>
              <a:spcBef>
                <a:spcPct val="10000"/>
              </a:spcBef>
              <a:buSzTx/>
              <a:buFontTx/>
              <a:buNone/>
            </a:pP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zh-CN" altLang="en-US" sz="2800" b="1">
              <a:solidFill>
                <a:srgbClr val="0033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20866" name="Rectangle 2">
            <a:extLst>
              <a:ext uri="{FF2B5EF4-FFF2-40B4-BE49-F238E27FC236}">
                <a16:creationId xmlns:a16="http://schemas.microsoft.com/office/drawing/2014/main" id="{BB7AC180-DFD4-4422-951F-71D1394BC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71438"/>
            <a:ext cx="7793037" cy="83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Tx/>
              <a:buFontTx/>
              <a:buNone/>
            </a:pPr>
            <a:r>
              <a:rPr lang="zh-CN" altLang="en-US"/>
              <a:t>一、 </a:t>
            </a:r>
            <a:r>
              <a:rPr lang="en-US" altLang="zh-CN"/>
              <a:t>SQL</a:t>
            </a:r>
            <a:r>
              <a:rPr lang="zh-CN" altLang="en-US"/>
              <a:t>的功能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891"/>
    </mc:Choice>
    <mc:Fallback xmlns="">
      <p:transition spd="slow" advTm="2889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188" name="Text Box 4">
            <a:extLst>
              <a:ext uri="{FF2B5EF4-FFF2-40B4-BE49-F238E27FC236}">
                <a16:creationId xmlns:a16="http://schemas.microsoft.com/office/drawing/2014/main" id="{389047EA-A824-496E-8CC2-9D11C6ECFD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155700"/>
            <a:ext cx="8458200" cy="3509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spcBef>
                <a:spcPct val="10000"/>
              </a:spcBef>
              <a:spcAft>
                <a:spcPct val="40000"/>
              </a:spcAft>
              <a:buSzTx/>
              <a:buFontTx/>
              <a:buNone/>
            </a:pPr>
            <a:r>
              <a:rPr lang="en-US" altLang="zh-CN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2. </a:t>
            </a:r>
            <a:r>
              <a:rPr lang="zh-CN" altLang="en-US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数据操纵功能</a:t>
            </a:r>
          </a:p>
          <a:p>
            <a:pPr algn="just">
              <a:lnSpc>
                <a:spcPct val="155000"/>
              </a:lnSpc>
              <a:spcBef>
                <a:spcPct val="10000"/>
              </a:spcBef>
              <a:buSzTx/>
              <a:buFontTx/>
              <a:buNone/>
            </a:pPr>
            <a:r>
              <a:rPr lang="zh-CN" altLang="en-US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用于实施对数据库的</a:t>
            </a:r>
            <a:r>
              <a:rPr lang="zh-CN" altLang="en-US" sz="28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数据查询和数据更新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。</a:t>
            </a:r>
          </a:p>
          <a:p>
            <a:pPr algn="just">
              <a:lnSpc>
                <a:spcPct val="155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8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数据查询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是指按查询条件从数据库中检索出数据，并按输出要求对其进行排序、分组和统计等。</a:t>
            </a:r>
          </a:p>
          <a:p>
            <a:pPr algn="just">
              <a:lnSpc>
                <a:spcPct val="155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8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数据更新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包括数据的插入、删除、修改等。 </a:t>
            </a:r>
          </a:p>
        </p:txBody>
      </p:sp>
      <p:sp>
        <p:nvSpPr>
          <p:cNvPr id="477189" name="Rectangle 5">
            <a:extLst>
              <a:ext uri="{FF2B5EF4-FFF2-40B4-BE49-F238E27FC236}">
                <a16:creationId xmlns:a16="http://schemas.microsoft.com/office/drawing/2014/main" id="{05ABEF9D-34CA-42CC-8F21-AA15B8F146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71438"/>
            <a:ext cx="7793037" cy="83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Tx/>
              <a:buFontTx/>
              <a:buNone/>
            </a:pPr>
            <a:r>
              <a:rPr lang="zh-CN" altLang="en-US"/>
              <a:t>一、 </a:t>
            </a:r>
            <a:r>
              <a:rPr lang="en-US" altLang="zh-CN"/>
              <a:t>SQL</a:t>
            </a:r>
            <a:r>
              <a:rPr lang="zh-CN" altLang="en-US"/>
              <a:t>的功能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979"/>
    </mc:Choice>
    <mc:Fallback xmlns="">
      <p:transition spd="slow" advTm="3997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771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771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771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597" name="Text Box 5">
            <a:extLst>
              <a:ext uri="{FF2B5EF4-FFF2-40B4-BE49-F238E27FC236}">
                <a16:creationId xmlns:a16="http://schemas.microsoft.com/office/drawing/2014/main" id="{4AC893C8-423F-47A7-8CA0-A5C1FA6119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146175"/>
            <a:ext cx="8458200" cy="3446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66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spcBef>
                <a:spcPct val="10000"/>
              </a:spcBef>
              <a:spcAft>
                <a:spcPct val="40000"/>
              </a:spcAft>
              <a:buSzTx/>
              <a:buFontTx/>
              <a:buNone/>
            </a:pPr>
            <a:r>
              <a:rPr lang="en-US" altLang="zh-CN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 </a:t>
            </a:r>
            <a:r>
              <a:rPr lang="zh-CN" altLang="en-US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数据控制功能</a:t>
            </a:r>
          </a:p>
          <a:p>
            <a:pPr algn="just">
              <a:lnSpc>
                <a:spcPct val="155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800" b="1">
                <a:solidFill>
                  <a:srgbClr val="003366"/>
                </a:solidFill>
                <a:latin typeface="楷体_GB2312" pitchFamily="49" charset="-122"/>
                <a:ea typeface="楷体_GB2312" pitchFamily="49" charset="-122"/>
              </a:rPr>
              <a:t>用于实现对数据库对象的控制。</a:t>
            </a:r>
          </a:p>
          <a:p>
            <a:pPr algn="just">
              <a:lnSpc>
                <a:spcPct val="155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8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    包括</a:t>
            </a:r>
            <a:r>
              <a:rPr lang="en-US" altLang="zh-CN" sz="28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:</a:t>
            </a:r>
            <a:r>
              <a:rPr lang="zh-CN" altLang="en-US" sz="2800" b="1">
                <a:solidFill>
                  <a:srgbClr val="003366"/>
                </a:solidFill>
                <a:latin typeface="楷体_GB2312" pitchFamily="49" charset="-122"/>
                <a:ea typeface="楷体_GB2312" pitchFamily="49" charset="-122"/>
              </a:rPr>
              <a:t>用户授权、基本表和视图授权、事务控制、数据完整性控制和安全性控制等。</a:t>
            </a:r>
            <a:r>
              <a:rPr lang="zh-CN" altLang="en-US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</a:t>
            </a:r>
          </a:p>
          <a:p>
            <a:pPr algn="just">
              <a:lnSpc>
                <a:spcPct val="140000"/>
              </a:lnSpc>
              <a:spcBef>
                <a:spcPct val="10000"/>
              </a:spcBef>
              <a:buSzTx/>
              <a:buFontTx/>
              <a:buNone/>
            </a:pPr>
            <a:r>
              <a:rPr lang="zh-CN" altLang="en-US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endParaRPr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66599" name="Rectangle 7">
            <a:extLst>
              <a:ext uri="{FF2B5EF4-FFF2-40B4-BE49-F238E27FC236}">
                <a16:creationId xmlns:a16="http://schemas.microsoft.com/office/drawing/2014/main" id="{0CC3A25B-032A-4ABF-B6A0-2D7514664C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71438"/>
            <a:ext cx="7793037" cy="83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Tx/>
              <a:buFontTx/>
              <a:buNone/>
            </a:pPr>
            <a:r>
              <a:rPr lang="zh-CN" altLang="en-US"/>
              <a:t>一、 </a:t>
            </a:r>
            <a:r>
              <a:rPr lang="en-US" altLang="zh-CN"/>
              <a:t>SQL</a:t>
            </a:r>
            <a:r>
              <a:rPr lang="zh-CN" altLang="en-US"/>
              <a:t>的功能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379"/>
    </mc:Choice>
    <mc:Fallback xmlns="">
      <p:transition spd="slow" advTm="2937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3665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3665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212" name="Text Box 4">
            <a:extLst>
              <a:ext uri="{FF2B5EF4-FFF2-40B4-BE49-F238E27FC236}">
                <a16:creationId xmlns:a16="http://schemas.microsoft.com/office/drawing/2014/main" id="{7B73F8DD-8C6F-4377-B5AD-5A20DD47C0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146175"/>
            <a:ext cx="8458200" cy="3983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spcBef>
                <a:spcPct val="10000"/>
              </a:spcBef>
              <a:spcAft>
                <a:spcPct val="40000"/>
              </a:spcAft>
              <a:buSzTx/>
              <a:buFontTx/>
              <a:buNone/>
            </a:pPr>
            <a:r>
              <a:rPr lang="en-US" altLang="zh-CN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SQL</a:t>
            </a:r>
            <a:r>
              <a:rPr lang="zh-CN" altLang="en-US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语言功能的实现：</a:t>
            </a:r>
          </a:p>
          <a:p>
            <a:pPr algn="just">
              <a:lnSpc>
                <a:spcPct val="140000"/>
              </a:lnSpc>
              <a:spcBef>
                <a:spcPct val="10000"/>
              </a:spcBef>
              <a:buSzTx/>
              <a:buFontTx/>
              <a:buNone/>
            </a:pPr>
            <a:r>
              <a:rPr lang="zh-CN" altLang="en-US" sz="28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数据定义功能</a:t>
            </a:r>
            <a:r>
              <a:rPr lang="zh-CN" altLang="en-US" sz="2800" b="1">
                <a:solidFill>
                  <a:srgbClr val="0066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由数据库定义类语句实现；</a:t>
            </a:r>
          </a:p>
          <a:p>
            <a:pPr algn="just">
              <a:lnSpc>
                <a:spcPct val="140000"/>
              </a:lnSpc>
              <a:spcBef>
                <a:spcPct val="10000"/>
              </a:spcBef>
              <a:buSzTx/>
              <a:buFontTx/>
              <a:buNone/>
            </a:pPr>
            <a:r>
              <a:rPr lang="zh-CN" altLang="en-US" sz="2800" b="1">
                <a:solidFill>
                  <a:srgbClr val="0066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800" b="1">
                <a:solidFill>
                  <a:srgbClr val="66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数据查询功能</a:t>
            </a:r>
            <a:r>
              <a:rPr lang="zh-CN" altLang="en-US" sz="2800" b="1">
                <a:solidFill>
                  <a:srgbClr val="0066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由数据库查询类语句实现；</a:t>
            </a:r>
          </a:p>
          <a:p>
            <a:pPr algn="just">
              <a:lnSpc>
                <a:spcPct val="140000"/>
              </a:lnSpc>
              <a:spcBef>
                <a:spcPct val="10000"/>
              </a:spcBef>
              <a:buSzTx/>
              <a:buFontTx/>
              <a:buNone/>
            </a:pPr>
            <a:r>
              <a:rPr lang="zh-CN" altLang="en-US" sz="2800" b="1">
                <a:solidFill>
                  <a:srgbClr val="0066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8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数据更新功能</a:t>
            </a:r>
            <a:r>
              <a:rPr lang="zh-CN" altLang="en-US" sz="2800" b="1">
                <a:solidFill>
                  <a:srgbClr val="0066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由数据库更新（插入、删除、修改）类语句实现；</a:t>
            </a:r>
          </a:p>
          <a:p>
            <a:pPr algn="just">
              <a:lnSpc>
                <a:spcPct val="140000"/>
              </a:lnSpc>
              <a:spcBef>
                <a:spcPct val="10000"/>
              </a:spcBef>
              <a:buSzTx/>
              <a:buFontTx/>
              <a:buNone/>
            </a:pPr>
            <a:r>
              <a:rPr lang="zh-CN" altLang="en-US" sz="2800" b="1">
                <a:solidFill>
                  <a:srgbClr val="0066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800" b="1">
                <a:solidFill>
                  <a:srgbClr val="66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数据控制功能</a:t>
            </a:r>
            <a:r>
              <a:rPr lang="zh-CN" altLang="en-US" sz="2800" b="1">
                <a:solidFill>
                  <a:srgbClr val="0066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由数据库控制类语句实现。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478214" name="Rectangle 6">
            <a:extLst>
              <a:ext uri="{FF2B5EF4-FFF2-40B4-BE49-F238E27FC236}">
                <a16:creationId xmlns:a16="http://schemas.microsoft.com/office/drawing/2014/main" id="{5B6D1E70-3FA6-467E-ADD7-1C3966E951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71438"/>
            <a:ext cx="7793037" cy="83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Tx/>
              <a:buFontTx/>
              <a:buNone/>
            </a:pPr>
            <a:r>
              <a:rPr lang="zh-CN" altLang="en-US"/>
              <a:t>一、 </a:t>
            </a:r>
            <a:r>
              <a:rPr lang="en-US" altLang="zh-CN"/>
              <a:t>SQL</a:t>
            </a:r>
            <a:r>
              <a:rPr lang="zh-CN" altLang="en-US"/>
              <a:t>的功能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293"/>
    </mc:Choice>
    <mc:Fallback xmlns="">
      <p:transition spd="slow" advTm="2329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782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782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782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4782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620" name="Text Box 4">
            <a:extLst>
              <a:ext uri="{FF2B5EF4-FFF2-40B4-BE49-F238E27FC236}">
                <a16:creationId xmlns:a16="http://schemas.microsoft.com/office/drawing/2014/main" id="{31E904D4-F831-42D1-A450-84220DF31B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143000"/>
            <a:ext cx="8458200" cy="325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spcBef>
                <a:spcPct val="10000"/>
              </a:spcBef>
              <a:spcAft>
                <a:spcPct val="40000"/>
              </a:spcAft>
              <a:buSzTx/>
              <a:buFontTx/>
              <a:buNone/>
            </a:pPr>
            <a:r>
              <a:rPr lang="en-US" altLang="zh-CN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 SQL</a:t>
            </a:r>
            <a:r>
              <a:rPr lang="zh-CN" altLang="en-US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具有交互式命令和嵌入式</a:t>
            </a:r>
            <a:r>
              <a:rPr lang="en-US" altLang="zh-CN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种工作方式 </a:t>
            </a:r>
          </a:p>
          <a:p>
            <a:pPr algn="just">
              <a:lnSpc>
                <a:spcPct val="140000"/>
              </a:lnSpc>
              <a:spcBef>
                <a:spcPct val="10000"/>
              </a:spcBef>
              <a:buSzTx/>
              <a:buFontTx/>
              <a:buNone/>
            </a:pPr>
            <a:r>
              <a:rPr lang="zh-CN" altLang="en-US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在</a:t>
            </a:r>
            <a:r>
              <a:rPr lang="zh-CN" altLang="en-US" sz="28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交互式命令工作方式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下，用户可以联机在系统提供的查询编辑器窗口上，通过直接键入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SQL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命令（语句）对数据库进行操作，系统然后会把处理结果显示给用户。</a:t>
            </a:r>
          </a:p>
        </p:txBody>
      </p:sp>
      <p:sp>
        <p:nvSpPr>
          <p:cNvPr id="367621" name="Rectangle 5">
            <a:extLst>
              <a:ext uri="{FF2B5EF4-FFF2-40B4-BE49-F238E27FC236}">
                <a16:creationId xmlns:a16="http://schemas.microsoft.com/office/drawing/2014/main" id="{A0A9F7DF-4E62-4B51-B8B1-4FE105CDF9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71438"/>
            <a:ext cx="7793037" cy="83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Tx/>
              <a:buFontTx/>
              <a:buNone/>
            </a:pPr>
            <a:r>
              <a:rPr lang="zh-CN" altLang="en-US"/>
              <a:t>二、 </a:t>
            </a:r>
            <a:r>
              <a:rPr lang="en-US" altLang="zh-CN"/>
              <a:t>SQL</a:t>
            </a:r>
            <a:r>
              <a:rPr lang="zh-CN" altLang="en-US"/>
              <a:t>的特点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996"/>
    </mc:Choice>
    <mc:Fallback xmlns="">
      <p:transition spd="slow" advTm="4099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676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3676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708" name="Rectangle 4">
            <a:extLst>
              <a:ext uri="{FF2B5EF4-FFF2-40B4-BE49-F238E27FC236}">
                <a16:creationId xmlns:a16="http://schemas.microsoft.com/office/drawing/2014/main" id="{A3686F88-65D6-46D7-B955-E90CC6A923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71438"/>
            <a:ext cx="7793037" cy="83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Tx/>
              <a:buFontTx/>
              <a:buNone/>
            </a:pPr>
            <a:r>
              <a:rPr lang="zh-CN" altLang="en-US"/>
              <a:t>二、 </a:t>
            </a:r>
            <a:r>
              <a:rPr lang="en-US" altLang="zh-CN"/>
              <a:t>SQL</a:t>
            </a:r>
            <a:r>
              <a:rPr lang="zh-CN" altLang="en-US"/>
              <a:t>的特点</a:t>
            </a:r>
          </a:p>
        </p:txBody>
      </p:sp>
      <p:sp>
        <p:nvSpPr>
          <p:cNvPr id="456709" name="Rectangle 5">
            <a:extLst>
              <a:ext uri="{FF2B5EF4-FFF2-40B4-BE49-F238E27FC236}">
                <a16:creationId xmlns:a16="http://schemas.microsoft.com/office/drawing/2014/main" id="{E580980C-B6B4-4D09-B451-0D6C04F6E1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985838"/>
            <a:ext cx="7993062" cy="614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lnSpc>
                <a:spcPct val="120000"/>
              </a:lnSpc>
              <a:buClr>
                <a:schemeClr val="folHlink"/>
              </a:buClr>
              <a:buSzPct val="60000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chemeClr val="hlink"/>
              </a:buClr>
              <a:buSzPct val="55000"/>
              <a:buChar char="n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20000"/>
              </a:lnSpc>
              <a:buClr>
                <a:schemeClr val="folHlink"/>
              </a:buClr>
              <a:buSzPct val="50000"/>
              <a:buChar char="n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buClr>
                <a:schemeClr val="accent2"/>
              </a:buClr>
              <a:buSzPct val="55000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buClr>
                <a:schemeClr val="accent1"/>
              </a:buClr>
              <a:buSzPct val="50000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zh-CN" altLang="en-US"/>
              <a:t>交互式命令格式：</a:t>
            </a:r>
          </a:p>
        </p:txBody>
      </p:sp>
      <p:pic>
        <p:nvPicPr>
          <p:cNvPr id="456710" name="Picture 6">
            <a:extLst>
              <a:ext uri="{FF2B5EF4-FFF2-40B4-BE49-F238E27FC236}">
                <a16:creationId xmlns:a16="http://schemas.microsoft.com/office/drawing/2014/main" id="{72977EAC-039F-40D8-A3BF-E04A5A4C39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50" t="10667" r="23984" b="21500"/>
          <a:stretch>
            <a:fillRect/>
          </a:stretch>
        </p:blipFill>
        <p:spPr bwMode="auto">
          <a:xfrm>
            <a:off x="1042988" y="1627188"/>
            <a:ext cx="6653212" cy="4926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56711" name="AutoShape 7">
            <a:extLst>
              <a:ext uri="{FF2B5EF4-FFF2-40B4-BE49-F238E27FC236}">
                <a16:creationId xmlns:a16="http://schemas.microsoft.com/office/drawing/2014/main" id="{45023BB9-70D8-4EC5-A358-5D9F0BCE5A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9063" y="2743200"/>
            <a:ext cx="1371600" cy="820738"/>
          </a:xfrm>
          <a:prstGeom prst="wedgeRoundRectCallout">
            <a:avLst>
              <a:gd name="adj1" fmla="val -126505"/>
              <a:gd name="adj2" fmla="val -97"/>
              <a:gd name="adj3" fmla="val 16667"/>
            </a:avLst>
          </a:prstGeom>
          <a:solidFill>
            <a:srgbClr val="00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95000"/>
              </a:lnSpc>
              <a:spcBef>
                <a:spcPct val="0"/>
              </a:spcBef>
              <a:buSzTx/>
              <a:buFontTx/>
              <a:buNone/>
            </a:pPr>
            <a:r>
              <a:rPr kumimoji="1" lang="en-US" altLang="zh-CN" b="1">
                <a:ea typeface="楷体_GB2312" pitchFamily="49" charset="-122"/>
              </a:rPr>
              <a:t> </a:t>
            </a:r>
            <a:r>
              <a:rPr kumimoji="1" lang="zh-CN" altLang="en-US" sz="2100" b="1">
                <a:ea typeface="楷体_GB2312" pitchFamily="49" charset="-122"/>
              </a:rPr>
              <a:t>查询编辑器窗口</a:t>
            </a:r>
          </a:p>
        </p:txBody>
      </p:sp>
      <p:sp>
        <p:nvSpPr>
          <p:cNvPr id="456712" name="AutoShape 8">
            <a:extLst>
              <a:ext uri="{FF2B5EF4-FFF2-40B4-BE49-F238E27FC236}">
                <a16:creationId xmlns:a16="http://schemas.microsoft.com/office/drawing/2014/main" id="{6C46594B-1A0D-4225-8506-6DD37C2D14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47025" y="5656263"/>
            <a:ext cx="968375" cy="668337"/>
          </a:xfrm>
          <a:prstGeom prst="wedgeRoundRectCallout">
            <a:avLst>
              <a:gd name="adj1" fmla="val -157213"/>
              <a:gd name="adj2" fmla="val -50477"/>
              <a:gd name="adj3" fmla="val 16667"/>
            </a:avLst>
          </a:prstGeom>
          <a:solidFill>
            <a:srgbClr val="00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buSzTx/>
              <a:buFontTx/>
              <a:buNone/>
            </a:pPr>
            <a:r>
              <a:rPr kumimoji="1" lang="en-US" altLang="zh-CN" b="1">
                <a:ea typeface="楷体_GB2312" pitchFamily="49" charset="-122"/>
              </a:rPr>
              <a:t> </a:t>
            </a:r>
            <a:r>
              <a:rPr kumimoji="1" lang="zh-CN" altLang="en-US" b="1">
                <a:ea typeface="楷体_GB2312" pitchFamily="49" charset="-122"/>
              </a:rPr>
              <a:t>消息</a:t>
            </a:r>
            <a:r>
              <a:rPr kumimoji="1" lang="zh-CN" altLang="en-US" sz="2100" b="1">
                <a:ea typeface="楷体_GB2312" pitchFamily="49" charset="-122"/>
              </a:rPr>
              <a:t>窗口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934"/>
    </mc:Choice>
    <mc:Fallback xmlns="">
      <p:transition spd="slow" advTm="3693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456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456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456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6711" grpId="0" animBg="1"/>
      <p:bldP spid="45671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44" name="Text Box 4">
            <a:extLst>
              <a:ext uri="{FF2B5EF4-FFF2-40B4-BE49-F238E27FC236}">
                <a16:creationId xmlns:a16="http://schemas.microsoft.com/office/drawing/2014/main" id="{3C8306CC-A7A9-4E05-AA6A-8BBF5EACD8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143000"/>
            <a:ext cx="8458200" cy="3854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spcBef>
                <a:spcPct val="10000"/>
              </a:spcBef>
              <a:spcAft>
                <a:spcPct val="40000"/>
              </a:spcAft>
              <a:buSzTx/>
              <a:buFontTx/>
              <a:buNone/>
            </a:pPr>
            <a:r>
              <a:rPr lang="en-US" altLang="zh-CN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 SQL</a:t>
            </a:r>
            <a:r>
              <a:rPr lang="zh-CN" altLang="en-US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具有交互式命令和嵌入式</a:t>
            </a:r>
            <a:r>
              <a:rPr lang="en-US" altLang="zh-CN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种工作方式 </a:t>
            </a:r>
          </a:p>
          <a:p>
            <a:pPr algn="just">
              <a:lnSpc>
                <a:spcPct val="140000"/>
              </a:lnSpc>
              <a:spcBef>
                <a:spcPct val="10000"/>
              </a:spcBef>
              <a:buSzTx/>
              <a:buFontTx/>
              <a:buNone/>
            </a:pP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    在</a:t>
            </a:r>
            <a:r>
              <a:rPr lang="zh-CN" altLang="en-US" sz="28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嵌入式工作方式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下，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SQL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语句可以被嵌入到某种高级语言（比如，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C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语言）程序中实现对数据库的操作，并利用主语言的强大计算功能、逻辑判断功能、屏幕控制及输出功能等，实现对数据的处理和输入输出控制等。 </a:t>
            </a:r>
          </a:p>
        </p:txBody>
      </p:sp>
      <p:sp>
        <p:nvSpPr>
          <p:cNvPr id="368645" name="Rectangle 5">
            <a:extLst>
              <a:ext uri="{FF2B5EF4-FFF2-40B4-BE49-F238E27FC236}">
                <a16:creationId xmlns:a16="http://schemas.microsoft.com/office/drawing/2014/main" id="{AAAD2C33-EBFD-41E8-91ED-56237592EF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71438"/>
            <a:ext cx="7793037" cy="83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Tx/>
              <a:buFontTx/>
              <a:buNone/>
            </a:pPr>
            <a:r>
              <a:rPr lang="zh-CN" altLang="en-US"/>
              <a:t>二、 </a:t>
            </a:r>
            <a:r>
              <a:rPr lang="en-US" altLang="zh-CN"/>
              <a:t>SQL</a:t>
            </a:r>
            <a:r>
              <a:rPr lang="zh-CN" altLang="en-US"/>
              <a:t>的特点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1395"/>
    </mc:Choice>
    <mc:Fallback xmlns="">
      <p:transition spd="slow" advTm="17139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686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734" name="Rectangle 6">
            <a:extLst>
              <a:ext uri="{FF2B5EF4-FFF2-40B4-BE49-F238E27FC236}">
                <a16:creationId xmlns:a16="http://schemas.microsoft.com/office/drawing/2014/main" id="{FC2CCA25-C06D-47E3-9B49-7EDBD6835C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066800"/>
            <a:ext cx="7993062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lnSpc>
                <a:spcPct val="120000"/>
              </a:lnSpc>
              <a:buClr>
                <a:schemeClr val="folHlink"/>
              </a:buClr>
              <a:buSzPct val="60000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chemeClr val="hlink"/>
              </a:buClr>
              <a:buSzPct val="55000"/>
              <a:buChar char="n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20000"/>
              </a:lnSpc>
              <a:buClr>
                <a:schemeClr val="folHlink"/>
              </a:buClr>
              <a:buSzPct val="50000"/>
              <a:buChar char="n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buClr>
                <a:schemeClr val="accent2"/>
              </a:buClr>
              <a:buSzPct val="55000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buClr>
                <a:schemeClr val="accent1"/>
              </a:buClr>
              <a:buSzPct val="50000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zh-CN" altLang="en-US"/>
              <a:t>嵌入式工作方式：</a:t>
            </a:r>
          </a:p>
        </p:txBody>
      </p:sp>
      <p:pic>
        <p:nvPicPr>
          <p:cNvPr id="457735" name="Picture 7">
            <a:extLst>
              <a:ext uri="{FF2B5EF4-FFF2-40B4-BE49-F238E27FC236}">
                <a16:creationId xmlns:a16="http://schemas.microsoft.com/office/drawing/2014/main" id="{DF788D5A-98D2-4ED9-8639-BE60687217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41" t="4478" r="22240" b="30145"/>
          <a:stretch>
            <a:fillRect/>
          </a:stretch>
        </p:blipFill>
        <p:spPr bwMode="auto">
          <a:xfrm>
            <a:off x="1174750" y="1701800"/>
            <a:ext cx="7096125" cy="4721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57736" name="Rectangle 8">
            <a:extLst>
              <a:ext uri="{FF2B5EF4-FFF2-40B4-BE49-F238E27FC236}">
                <a16:creationId xmlns:a16="http://schemas.microsoft.com/office/drawing/2014/main" id="{E7C50BEF-9B8C-4465-AC3B-654FBBFB79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71438"/>
            <a:ext cx="7793037" cy="83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Tx/>
              <a:buFontTx/>
              <a:buNone/>
            </a:pPr>
            <a:r>
              <a:rPr lang="zh-CN" altLang="en-US"/>
              <a:t>二、 </a:t>
            </a:r>
            <a:r>
              <a:rPr lang="en-US" altLang="zh-CN"/>
              <a:t>SQL</a:t>
            </a:r>
            <a:r>
              <a:rPr lang="zh-CN" altLang="en-US"/>
              <a:t>的特点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583"/>
    </mc:Choice>
    <mc:Fallback xmlns="">
      <p:transition spd="slow" advTm="3558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457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668" name="Text Box 4">
            <a:extLst>
              <a:ext uri="{FF2B5EF4-FFF2-40B4-BE49-F238E27FC236}">
                <a16:creationId xmlns:a16="http://schemas.microsoft.com/office/drawing/2014/main" id="{2B3C4EAB-DC66-4E62-B9FB-43403382C1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143000"/>
            <a:ext cx="8458200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spcBef>
                <a:spcPct val="10000"/>
              </a:spcBef>
              <a:spcAft>
                <a:spcPct val="30000"/>
              </a:spcAft>
              <a:buSzTx/>
              <a:buFontTx/>
              <a:buNone/>
            </a:pPr>
            <a:r>
              <a:rPr lang="en-US" altLang="zh-CN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 SQL</a:t>
            </a:r>
            <a:r>
              <a:rPr lang="zh-CN" altLang="en-US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支持数据库的三级模式结构</a:t>
            </a:r>
            <a:r>
              <a:rPr lang="zh-CN" altLang="en-US"/>
              <a:t> </a:t>
            </a:r>
            <a:endParaRPr lang="zh-CN" altLang="en-US" sz="2800" b="1">
              <a:solidFill>
                <a:srgbClr val="0033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369695" name="Group 31">
            <a:extLst>
              <a:ext uri="{FF2B5EF4-FFF2-40B4-BE49-F238E27FC236}">
                <a16:creationId xmlns:a16="http://schemas.microsoft.com/office/drawing/2014/main" id="{A95B57AB-E5B3-4847-A0A6-F45533D7C606}"/>
              </a:ext>
            </a:extLst>
          </p:cNvPr>
          <p:cNvGrpSpPr>
            <a:grpSpLocks/>
          </p:cNvGrpSpPr>
          <p:nvPr/>
        </p:nvGrpSpPr>
        <p:grpSpPr bwMode="auto">
          <a:xfrm>
            <a:off x="1560513" y="2057400"/>
            <a:ext cx="6516687" cy="4267200"/>
            <a:chOff x="983" y="1296"/>
            <a:chExt cx="4105" cy="2688"/>
          </a:xfrm>
        </p:grpSpPr>
        <p:sp>
          <p:nvSpPr>
            <p:cNvPr id="369670" name="Text Box 6">
              <a:extLst>
                <a:ext uri="{FF2B5EF4-FFF2-40B4-BE49-F238E27FC236}">
                  <a16:creationId xmlns:a16="http://schemas.microsoft.com/office/drawing/2014/main" id="{EC0B7003-22CB-4A09-A2DC-71DCF3A691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02" y="2077"/>
              <a:ext cx="617" cy="312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lnSpc>
                  <a:spcPct val="88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zh-CN" altLang="en-US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视图</a:t>
              </a:r>
              <a:r>
                <a:rPr lang="en-US" altLang="zh-CN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b="1">
                <a:solidFill>
                  <a:srgbClr val="000000"/>
                </a:solidFill>
              </a:endParaRPr>
            </a:p>
          </p:txBody>
        </p:sp>
        <p:sp>
          <p:nvSpPr>
            <p:cNvPr id="369671" name="Text Box 7">
              <a:extLst>
                <a:ext uri="{FF2B5EF4-FFF2-40B4-BE49-F238E27FC236}">
                  <a16:creationId xmlns:a16="http://schemas.microsoft.com/office/drawing/2014/main" id="{1F217DC6-07D0-4BFD-9082-FFA8C27104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90" y="2077"/>
              <a:ext cx="617" cy="312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lnSpc>
                  <a:spcPct val="88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zh-CN" altLang="en-US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视图</a:t>
              </a:r>
              <a:r>
                <a:rPr lang="en-US" altLang="zh-CN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b="1">
                <a:solidFill>
                  <a:srgbClr val="000000"/>
                </a:solidFill>
              </a:endParaRPr>
            </a:p>
          </p:txBody>
        </p:sp>
        <p:sp>
          <p:nvSpPr>
            <p:cNvPr id="369672" name="Text Box 8">
              <a:extLst>
                <a:ext uri="{FF2B5EF4-FFF2-40B4-BE49-F238E27FC236}">
                  <a16:creationId xmlns:a16="http://schemas.microsoft.com/office/drawing/2014/main" id="{7EF47941-9D58-4F43-9D96-9646E868B0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1" y="2858"/>
              <a:ext cx="688" cy="312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lnSpc>
                  <a:spcPct val="88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zh-CN" altLang="en-US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基本表</a:t>
              </a:r>
              <a:r>
                <a:rPr lang="en-US" altLang="zh-CN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b="1">
                <a:solidFill>
                  <a:srgbClr val="000000"/>
                </a:solidFill>
              </a:endParaRPr>
            </a:p>
          </p:txBody>
        </p:sp>
        <p:sp>
          <p:nvSpPr>
            <p:cNvPr id="369673" name="Text Box 9">
              <a:extLst>
                <a:ext uri="{FF2B5EF4-FFF2-40B4-BE49-F238E27FC236}">
                  <a16:creationId xmlns:a16="http://schemas.microsoft.com/office/drawing/2014/main" id="{50808529-F98A-466C-A3E3-FFE001D809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5" y="2858"/>
              <a:ext cx="699" cy="312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lnSpc>
                  <a:spcPct val="88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zh-CN" altLang="en-US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基本表</a:t>
              </a:r>
              <a:r>
                <a:rPr lang="en-US" altLang="zh-CN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b="1">
                <a:solidFill>
                  <a:srgbClr val="000000"/>
                </a:solidFill>
              </a:endParaRPr>
            </a:p>
          </p:txBody>
        </p:sp>
        <p:sp>
          <p:nvSpPr>
            <p:cNvPr id="369674" name="Text Box 10">
              <a:extLst>
                <a:ext uri="{FF2B5EF4-FFF2-40B4-BE49-F238E27FC236}">
                  <a16:creationId xmlns:a16="http://schemas.microsoft.com/office/drawing/2014/main" id="{F3B7DF05-DD8E-4171-A018-BFB1210663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49" y="2858"/>
              <a:ext cx="701" cy="312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lnSpc>
                  <a:spcPct val="88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zh-CN" altLang="en-US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基本表</a:t>
              </a:r>
              <a:r>
                <a:rPr lang="en-US" altLang="zh-CN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b="1">
                <a:solidFill>
                  <a:srgbClr val="000000"/>
                </a:solidFill>
              </a:endParaRPr>
            </a:p>
          </p:txBody>
        </p:sp>
        <p:sp>
          <p:nvSpPr>
            <p:cNvPr id="369675" name="Text Box 11">
              <a:extLst>
                <a:ext uri="{FF2B5EF4-FFF2-40B4-BE49-F238E27FC236}">
                  <a16:creationId xmlns:a16="http://schemas.microsoft.com/office/drawing/2014/main" id="{A4204EC5-CB36-40F2-AA34-1FC513E65A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08" y="3639"/>
              <a:ext cx="823" cy="312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lnSpc>
                  <a:spcPct val="88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zh-CN" altLang="en-US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存储文件</a:t>
              </a:r>
              <a:r>
                <a:rPr lang="en-US" altLang="zh-CN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b="1">
                <a:solidFill>
                  <a:srgbClr val="000000"/>
                </a:solidFill>
              </a:endParaRPr>
            </a:p>
          </p:txBody>
        </p:sp>
        <p:sp>
          <p:nvSpPr>
            <p:cNvPr id="369676" name="Text Box 12">
              <a:extLst>
                <a:ext uri="{FF2B5EF4-FFF2-40B4-BE49-F238E27FC236}">
                  <a16:creationId xmlns:a16="http://schemas.microsoft.com/office/drawing/2014/main" id="{8CA290FA-B032-41E0-9650-3B37B4CFD1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8" y="2858"/>
              <a:ext cx="686" cy="312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lnSpc>
                  <a:spcPct val="88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zh-CN" altLang="en-US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基本表</a:t>
              </a:r>
              <a:r>
                <a:rPr lang="en-US" altLang="zh-CN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endParaRPr lang="en-US" altLang="zh-CN" b="1">
                <a:solidFill>
                  <a:srgbClr val="000000"/>
                </a:solidFill>
              </a:endParaRPr>
            </a:p>
          </p:txBody>
        </p:sp>
        <p:sp>
          <p:nvSpPr>
            <p:cNvPr id="369677" name="Text Box 13">
              <a:extLst>
                <a:ext uri="{FF2B5EF4-FFF2-40B4-BE49-F238E27FC236}">
                  <a16:creationId xmlns:a16="http://schemas.microsoft.com/office/drawing/2014/main" id="{B4D23A2A-1DAC-4143-B483-4499AE5573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19" y="3639"/>
              <a:ext cx="822" cy="312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lnSpc>
                  <a:spcPct val="88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zh-CN" altLang="en-US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存储文件</a:t>
              </a:r>
              <a:r>
                <a:rPr lang="en-US" altLang="zh-CN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b="1">
                <a:solidFill>
                  <a:srgbClr val="000000"/>
                </a:solidFill>
              </a:endParaRPr>
            </a:p>
          </p:txBody>
        </p:sp>
        <p:sp>
          <p:nvSpPr>
            <p:cNvPr id="369678" name="Text Box 14">
              <a:extLst>
                <a:ext uri="{FF2B5EF4-FFF2-40B4-BE49-F238E27FC236}">
                  <a16:creationId xmlns:a16="http://schemas.microsoft.com/office/drawing/2014/main" id="{7507BDA7-D82B-4A34-BB37-7A4C83A04D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1" y="1296"/>
              <a:ext cx="617" cy="312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lnSpc>
                  <a:spcPct val="88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en-US" altLang="zh-CN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SQL</a:t>
              </a:r>
              <a:endParaRPr lang="en-US" altLang="zh-CN" b="1">
                <a:solidFill>
                  <a:srgbClr val="000000"/>
                </a:solidFill>
              </a:endParaRPr>
            </a:p>
          </p:txBody>
        </p:sp>
        <p:sp>
          <p:nvSpPr>
            <p:cNvPr id="369679" name="Line 15">
              <a:extLst>
                <a:ext uri="{FF2B5EF4-FFF2-40B4-BE49-F238E27FC236}">
                  <a16:creationId xmlns:a16="http://schemas.microsoft.com/office/drawing/2014/main" id="{6E1A196B-BCC0-4CA4-B6B9-C661D75C53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3" y="1827"/>
              <a:ext cx="400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369680" name="Line 16">
              <a:extLst>
                <a:ext uri="{FF2B5EF4-FFF2-40B4-BE49-F238E27FC236}">
                  <a16:creationId xmlns:a16="http://schemas.microsoft.com/office/drawing/2014/main" id="{5BD38DF0-6249-439D-9374-6832ED9C70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3" y="2621"/>
              <a:ext cx="400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369681" name="Line 17">
              <a:extLst>
                <a:ext uri="{FF2B5EF4-FFF2-40B4-BE49-F238E27FC236}">
                  <a16:creationId xmlns:a16="http://schemas.microsoft.com/office/drawing/2014/main" id="{848DEF81-BCCC-4E4B-BD19-CCD25F6B45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3" y="3394"/>
              <a:ext cx="400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369682" name="Line 18">
              <a:extLst>
                <a:ext uri="{FF2B5EF4-FFF2-40B4-BE49-F238E27FC236}">
                  <a16:creationId xmlns:a16="http://schemas.microsoft.com/office/drawing/2014/main" id="{777EF2B0-FC0B-4B2A-A33A-20BC0AEFA1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9" y="1608"/>
              <a:ext cx="0" cy="46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369683" name="Line 19">
              <a:extLst>
                <a:ext uri="{FF2B5EF4-FFF2-40B4-BE49-F238E27FC236}">
                  <a16:creationId xmlns:a16="http://schemas.microsoft.com/office/drawing/2014/main" id="{1836963F-77C2-4DEB-A680-FDA9D52E1C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0" y="3170"/>
              <a:ext cx="0" cy="46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369684" name="Line 20">
              <a:extLst>
                <a:ext uri="{FF2B5EF4-FFF2-40B4-BE49-F238E27FC236}">
                  <a16:creationId xmlns:a16="http://schemas.microsoft.com/office/drawing/2014/main" id="{DB85EFBE-73F3-466F-B8A9-09275A913F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9" y="3170"/>
              <a:ext cx="0" cy="46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369685" name="Line 21">
              <a:extLst>
                <a:ext uri="{FF2B5EF4-FFF2-40B4-BE49-F238E27FC236}">
                  <a16:creationId xmlns:a16="http://schemas.microsoft.com/office/drawing/2014/main" id="{5168E6A9-7B04-4106-9588-45A5EEAB8D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9" y="2389"/>
              <a:ext cx="0" cy="46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369686" name="Line 22">
              <a:extLst>
                <a:ext uri="{FF2B5EF4-FFF2-40B4-BE49-F238E27FC236}">
                  <a16:creationId xmlns:a16="http://schemas.microsoft.com/office/drawing/2014/main" id="{E7AEE293-ABD2-4FC3-927B-A61BE3E500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97" y="3170"/>
              <a:ext cx="617" cy="46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369687" name="Line 23">
              <a:extLst>
                <a:ext uri="{FF2B5EF4-FFF2-40B4-BE49-F238E27FC236}">
                  <a16:creationId xmlns:a16="http://schemas.microsoft.com/office/drawing/2014/main" id="{3F9B034B-8E05-49E6-A203-59A49DAB29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25" y="3170"/>
              <a:ext cx="617" cy="46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369688" name="Line 24">
              <a:extLst>
                <a:ext uri="{FF2B5EF4-FFF2-40B4-BE49-F238E27FC236}">
                  <a16:creationId xmlns:a16="http://schemas.microsoft.com/office/drawing/2014/main" id="{70C81E92-941D-4A31-888B-AE148DB9C0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97" y="1608"/>
              <a:ext cx="617" cy="12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369689" name="Line 25">
              <a:extLst>
                <a:ext uri="{FF2B5EF4-FFF2-40B4-BE49-F238E27FC236}">
                  <a16:creationId xmlns:a16="http://schemas.microsoft.com/office/drawing/2014/main" id="{EC5688BE-E35E-4D42-AF8B-1563F55562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9" y="1608"/>
              <a:ext cx="925" cy="46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369690" name="Line 26">
              <a:extLst>
                <a:ext uri="{FF2B5EF4-FFF2-40B4-BE49-F238E27FC236}">
                  <a16:creationId xmlns:a16="http://schemas.microsoft.com/office/drawing/2014/main" id="{4EE658B3-8001-4AB6-99BD-B65E474A8E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42" y="2389"/>
              <a:ext cx="102" cy="46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369691" name="Line 27">
              <a:extLst>
                <a:ext uri="{FF2B5EF4-FFF2-40B4-BE49-F238E27FC236}">
                  <a16:creationId xmlns:a16="http://schemas.microsoft.com/office/drawing/2014/main" id="{CBC7F347-0C85-41A9-8E9D-384E9FC626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3" y="2389"/>
              <a:ext cx="335" cy="44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369692" name="Text Box 28">
              <a:extLst>
                <a:ext uri="{FF2B5EF4-FFF2-40B4-BE49-F238E27FC236}">
                  <a16:creationId xmlns:a16="http://schemas.microsoft.com/office/drawing/2014/main" id="{D8F25410-7D7D-4BB5-87AE-ECF3ED9219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7" y="2010"/>
              <a:ext cx="571" cy="4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0"/>
                </a:spcBef>
                <a:buSzTx/>
                <a:buFontTx/>
                <a:buNone/>
              </a:pPr>
              <a:r>
                <a:rPr lang="zh-CN" altLang="en-US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外模式</a:t>
              </a:r>
              <a:endParaRPr lang="zh-CN" altLang="en-US" b="1">
                <a:solidFill>
                  <a:srgbClr val="000000"/>
                </a:solidFill>
              </a:endParaRPr>
            </a:p>
          </p:txBody>
        </p:sp>
        <p:sp>
          <p:nvSpPr>
            <p:cNvPr id="369693" name="Text Box 29">
              <a:extLst>
                <a:ext uri="{FF2B5EF4-FFF2-40B4-BE49-F238E27FC236}">
                  <a16:creationId xmlns:a16="http://schemas.microsoft.com/office/drawing/2014/main" id="{D2016118-6A9D-4EC7-A97E-011C9F5DF8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00" y="2782"/>
              <a:ext cx="540" cy="4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0"/>
                </a:spcBef>
                <a:buSzTx/>
                <a:buFontTx/>
                <a:buNone/>
              </a:pPr>
              <a:r>
                <a:rPr lang="zh-CN" altLang="en-US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模式</a:t>
              </a:r>
              <a:endParaRPr lang="zh-CN" altLang="en-US" b="1">
                <a:solidFill>
                  <a:srgbClr val="000000"/>
                </a:solidFill>
              </a:endParaRPr>
            </a:p>
          </p:txBody>
        </p:sp>
        <p:sp>
          <p:nvSpPr>
            <p:cNvPr id="369694" name="Text Box 30">
              <a:extLst>
                <a:ext uri="{FF2B5EF4-FFF2-40B4-BE49-F238E27FC236}">
                  <a16:creationId xmlns:a16="http://schemas.microsoft.com/office/drawing/2014/main" id="{FE401EAB-6F54-4CDE-8534-9214A15D60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6" y="3563"/>
              <a:ext cx="562" cy="4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just">
                <a:spcBef>
                  <a:spcPct val="0"/>
                </a:spcBef>
                <a:buSzTx/>
                <a:buFontTx/>
                <a:buNone/>
              </a:pPr>
              <a:r>
                <a:rPr lang="zh-CN" altLang="en-US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内模式</a:t>
              </a:r>
              <a:endParaRPr lang="zh-CN" altLang="en-US" b="1">
                <a:solidFill>
                  <a:srgbClr val="000000"/>
                </a:solidFill>
              </a:endParaRPr>
            </a:p>
          </p:txBody>
        </p:sp>
      </p:grpSp>
      <p:sp>
        <p:nvSpPr>
          <p:cNvPr id="369696" name="Rectangle 32">
            <a:extLst>
              <a:ext uri="{FF2B5EF4-FFF2-40B4-BE49-F238E27FC236}">
                <a16:creationId xmlns:a16="http://schemas.microsoft.com/office/drawing/2014/main" id="{0E211886-E384-49A5-BA23-F670D45723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71438"/>
            <a:ext cx="7793037" cy="83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Tx/>
              <a:buFontTx/>
              <a:buNone/>
            </a:pPr>
            <a:r>
              <a:rPr lang="zh-CN" altLang="en-US"/>
              <a:t>二、 </a:t>
            </a:r>
            <a:r>
              <a:rPr lang="en-US" altLang="zh-CN"/>
              <a:t>SQL</a:t>
            </a:r>
            <a:r>
              <a:rPr lang="zh-CN" altLang="en-US"/>
              <a:t>的特点</a:t>
            </a:r>
          </a:p>
        </p:txBody>
      </p:sp>
      <p:sp>
        <p:nvSpPr>
          <p:cNvPr id="369697" name="Text Box 33">
            <a:extLst>
              <a:ext uri="{FF2B5EF4-FFF2-40B4-BE49-F238E27FC236}">
                <a16:creationId xmlns:a16="http://schemas.microsoft.com/office/drawing/2014/main" id="{7C80356E-E357-4889-8310-5A1E1619CD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0" y="6019800"/>
            <a:ext cx="685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B2B2B2"/>
                </a:solidFill>
              </a:rPr>
              <a:t>##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703"/>
    </mc:Choice>
    <mc:Fallback xmlns="">
      <p:transition spd="slow" advTm="1870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7" dur="1000"/>
                                        <p:tgtEl>
                                          <p:spTgt spid="369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539" name="Rectangle 3">
            <a:extLst>
              <a:ext uri="{FF2B5EF4-FFF2-40B4-BE49-F238E27FC236}">
                <a16:creationId xmlns:a16="http://schemas.microsoft.com/office/drawing/2014/main" id="{579E56E3-64AD-4A02-8829-872AF6EDAA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8" y="73025"/>
            <a:ext cx="4119562" cy="544513"/>
          </a:xfrm>
          <a:prstGeom prst="rect">
            <a:avLst/>
          </a:prstGeom>
          <a:gradFill rotWithShape="1">
            <a:gsLst>
              <a:gs pos="0">
                <a:srgbClr val="C0C0C0"/>
              </a:gs>
              <a:gs pos="100000">
                <a:srgbClr val="C0C0C0">
                  <a:gamma/>
                  <a:tint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C0C0C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76176" bIns="72000" anchor="ctr" anchorCtr="1">
            <a:spAutoFit/>
          </a:bodyPr>
          <a:lstStyle/>
          <a:p>
            <a:pPr>
              <a:spcBef>
                <a:spcPct val="0"/>
              </a:spcBef>
              <a:buSzTx/>
              <a:buFontTx/>
              <a:buNone/>
            </a:pPr>
            <a:r>
              <a:rPr lang="zh-CN" altLang="en-US" sz="2600" b="1">
                <a:solidFill>
                  <a:srgbClr val="99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rPr>
              <a:t>第</a:t>
            </a:r>
            <a:r>
              <a:rPr lang="en-US" altLang="zh-CN" sz="2600" b="1">
                <a:solidFill>
                  <a:srgbClr val="99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rPr>
              <a:t>5</a:t>
            </a:r>
            <a:r>
              <a:rPr lang="zh-CN" altLang="en-US" sz="2600" b="1">
                <a:solidFill>
                  <a:srgbClr val="99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rPr>
              <a:t>章 关系数据库语言</a:t>
            </a:r>
            <a:r>
              <a:rPr lang="en-US" altLang="zh-CN" sz="2600" b="1">
                <a:solidFill>
                  <a:srgbClr val="99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rPr>
              <a:t>SQL</a:t>
            </a:r>
            <a:r>
              <a:rPr lang="en-US" altLang="zh-CN"/>
              <a:t> </a:t>
            </a:r>
          </a:p>
        </p:txBody>
      </p:sp>
      <p:sp>
        <p:nvSpPr>
          <p:cNvPr id="449540" name="Rectangle 4">
            <a:extLst>
              <a:ext uri="{FF2B5EF4-FFF2-40B4-BE49-F238E27FC236}">
                <a16:creationId xmlns:a16="http://schemas.microsoft.com/office/drawing/2014/main" id="{29A4E318-21B0-46AE-83A9-62901023643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4213" y="1219200"/>
            <a:ext cx="8137525" cy="1462088"/>
          </a:xfrm>
          <a:noFill/>
          <a:ln/>
        </p:spPr>
        <p:txBody>
          <a:bodyPr/>
          <a:lstStyle/>
          <a:p>
            <a:r>
              <a:rPr lang="en-US" altLang="zh-CN"/>
              <a:t>5.2  </a:t>
            </a:r>
            <a:r>
              <a:rPr lang="zh-CN" altLang="en-US"/>
              <a:t>表的基本操作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864"/>
    </mc:Choice>
    <mc:Fallback xmlns="">
      <p:transition spd="slow" advTm="486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1000"/>
                                        <p:tgtEl>
                                          <p:spTgt spid="449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953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ext Box 2">
            <a:extLst>
              <a:ext uri="{FF2B5EF4-FFF2-40B4-BE49-F238E27FC236}">
                <a16:creationId xmlns:a16="http://schemas.microsoft.com/office/drawing/2014/main" id="{0A7BD15C-97BF-4E40-A2CC-DF037B41F0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143000"/>
            <a:ext cx="8458200" cy="4837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zh-CN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 </a:t>
            </a:r>
            <a:r>
              <a:rPr lang="zh-CN" altLang="en-US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表的定义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lang="zh-CN" altLang="en-US" sz="28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语句格式：</a:t>
            </a:r>
            <a:endParaRPr lang="zh-CN" altLang="en-US" sz="2800">
              <a:solidFill>
                <a:srgbClr val="66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   </a:t>
            </a:r>
            <a:r>
              <a:rPr lang="en-US" altLang="zh-CN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CREATE TABLE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&lt;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表名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&gt;</a:t>
            </a:r>
            <a:endParaRPr lang="en-US" altLang="zh-CN" sz="2800" b="1">
              <a:solidFill>
                <a:srgbClr val="0033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     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（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&lt;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列名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1&gt; &lt;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数据类型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&gt; [&lt;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列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的完整性约束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&gt;]</a:t>
            </a:r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[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endParaRPr lang="zh-CN" altLang="en-US" sz="2800" b="1">
              <a:solidFill>
                <a:srgbClr val="0033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         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&lt;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列名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2&gt; &lt;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数据类型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&gt; [&lt;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列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的完整性约束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&gt;]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endParaRPr lang="zh-CN" altLang="en-US" sz="2800" b="1">
              <a:solidFill>
                <a:srgbClr val="0033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                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黑体" panose="02010609060101010101" pitchFamily="49" charset="-122"/>
              </a:rPr>
              <a:t>…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黑体" panose="02010609060101010101" pitchFamily="49" charset="-122"/>
              </a:rPr>
              <a:t>…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endParaRPr lang="zh-CN" altLang="en-US" sz="2800" b="1">
              <a:solidFill>
                <a:srgbClr val="0033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         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&lt;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列名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n&gt; &lt;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数据类型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&gt; [&lt;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列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n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的完整性约束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&gt;]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endParaRPr lang="zh-CN" altLang="en-US" sz="2800" b="1">
              <a:solidFill>
                <a:srgbClr val="0033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zh-CN" altLang="en-US" sz="2800" b="1">
                <a:latin typeface="黑体" panose="02010609060101010101" pitchFamily="49" charset="-122"/>
                <a:cs typeface="Times New Roman" panose="02020603050405020304" pitchFamily="18" charset="0"/>
              </a:rPr>
              <a:t>     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cs typeface="Times New Roman" panose="02020603050405020304" pitchFamily="18" charset="0"/>
              </a:rPr>
              <a:t>[&lt;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表的完整性约束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cs typeface="Times New Roman" panose="02020603050405020304" pitchFamily="18" charset="0"/>
              </a:rPr>
              <a:t>&gt;]</a:t>
            </a:r>
            <a:r>
              <a:rPr lang="en-US" altLang="zh-CN" sz="2800" b="1">
                <a:solidFill>
                  <a:srgbClr val="A50021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]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cs typeface="Times New Roman" panose="02020603050405020304" pitchFamily="18" charset="0"/>
              </a:rPr>
              <a:t>）；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5A6D6DE8-8E2E-4ABD-88B0-A78E0960CD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71438"/>
            <a:ext cx="7793037" cy="83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Tx/>
              <a:buFontTx/>
              <a:buNone/>
            </a:pPr>
            <a:r>
              <a:rPr lang="zh-CN" altLang="en-US"/>
              <a:t>一、表的定义、修改与撤消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298"/>
    </mc:Choice>
    <mc:Fallback xmlns="">
      <p:transition spd="slow" advTm="3129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42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542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542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0"/>
                                        <p:tgtEl>
                                          <p:spTgt spid="542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1000"/>
                                        <p:tgtEl>
                                          <p:spTgt spid="542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542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1000"/>
                                        <p:tgtEl>
                                          <p:spTgt spid="542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1000"/>
                                        <p:tgtEl>
                                          <p:spTgt spid="542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80" name="Text Box 4">
            <a:extLst>
              <a:ext uri="{FF2B5EF4-FFF2-40B4-BE49-F238E27FC236}">
                <a16:creationId xmlns:a16="http://schemas.microsoft.com/office/drawing/2014/main" id="{BE6AEB57-8487-4032-B758-C11E1E681E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143000"/>
            <a:ext cx="8458200" cy="4837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zh-CN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 </a:t>
            </a:r>
            <a:r>
              <a:rPr lang="zh-CN" altLang="en-US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表的定义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lang="zh-CN" altLang="en-US" sz="28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语句格式：</a:t>
            </a:r>
            <a:endParaRPr lang="zh-CN" altLang="en-US" sz="2800">
              <a:solidFill>
                <a:srgbClr val="66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   </a:t>
            </a:r>
            <a:r>
              <a:rPr lang="en-US" altLang="zh-CN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CREATE TABLE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&lt;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表名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&gt;</a:t>
            </a:r>
            <a:endParaRPr lang="en-US" altLang="zh-CN" sz="2800" b="1">
              <a:solidFill>
                <a:srgbClr val="0033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     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（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&lt;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列名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1&gt; &lt;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数据类型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&gt; [&lt;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列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的完整性约束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&gt;]</a:t>
            </a:r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[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endParaRPr lang="zh-CN" altLang="en-US" sz="2800" b="1">
              <a:solidFill>
                <a:srgbClr val="0033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         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&lt;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列名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2&gt; &lt;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数据类型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&gt; [&lt;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列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的完整性约束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&gt;]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endParaRPr lang="zh-CN" altLang="en-US" sz="2800" b="1">
              <a:solidFill>
                <a:srgbClr val="0033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                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黑体" panose="02010609060101010101" pitchFamily="49" charset="-122"/>
              </a:rPr>
              <a:t>…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黑体" panose="02010609060101010101" pitchFamily="49" charset="-122"/>
              </a:rPr>
              <a:t>…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endParaRPr lang="zh-CN" altLang="en-US" sz="2800" b="1">
              <a:solidFill>
                <a:srgbClr val="0033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         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&lt;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列名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n&gt; &lt;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数据类型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&gt; [&lt;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列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n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的完整性约束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&gt;]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endParaRPr lang="zh-CN" altLang="en-US" sz="2800" b="1">
              <a:solidFill>
                <a:srgbClr val="0033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zh-CN" altLang="en-US" sz="2800" b="1">
                <a:latin typeface="黑体" panose="02010609060101010101" pitchFamily="49" charset="-122"/>
                <a:cs typeface="Times New Roman" panose="02020603050405020304" pitchFamily="18" charset="0"/>
              </a:rPr>
              <a:t>     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cs typeface="Times New Roman" panose="02020603050405020304" pitchFamily="18" charset="0"/>
              </a:rPr>
              <a:t>[&lt;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表的完整性约束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cs typeface="Times New Roman" panose="02020603050405020304" pitchFamily="18" charset="0"/>
              </a:rPr>
              <a:t>&gt;]</a:t>
            </a:r>
            <a:r>
              <a:rPr lang="en-US" altLang="zh-CN" sz="2800" b="1">
                <a:solidFill>
                  <a:srgbClr val="A50021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]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cs typeface="Times New Roman" panose="02020603050405020304" pitchFamily="18" charset="0"/>
              </a:rPr>
              <a:t>）；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408581" name="AutoShape 5">
            <a:extLst>
              <a:ext uri="{FF2B5EF4-FFF2-40B4-BE49-F238E27FC236}">
                <a16:creationId xmlns:a16="http://schemas.microsoft.com/office/drawing/2014/main" id="{42475D20-7804-4F79-9BC9-D2694D2960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1295400"/>
            <a:ext cx="2667000" cy="838200"/>
          </a:xfrm>
          <a:prstGeom prst="wedgeRoundRectCallout">
            <a:avLst>
              <a:gd name="adj1" fmla="val -84644"/>
              <a:gd name="adj2" fmla="val 116856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0"/>
              </a:spcBef>
              <a:buSzTx/>
              <a:buFontTx/>
              <a:buNone/>
            </a:pPr>
            <a:r>
              <a:rPr kumimoji="1" lang="en-US" altLang="zh-CN" sz="2200" b="1">
                <a:solidFill>
                  <a:srgbClr val="000000"/>
                </a:solidFill>
                <a:latin typeface="Tahoma" panose="020B0604030504040204" pitchFamily="34" charset="0"/>
                <a:ea typeface="隶书" panose="02010509060101010101" pitchFamily="49" charset="-122"/>
              </a:rPr>
              <a:t>       </a:t>
            </a:r>
            <a:r>
              <a:rPr lang="en-US" altLang="zh-CN" sz="22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“</a:t>
            </a:r>
            <a:r>
              <a:rPr lang="en-US" altLang="zh-CN" sz="22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ea typeface="楷体_GB2312" pitchFamily="49" charset="-122"/>
              </a:rPr>
              <a:t>&lt; &gt;</a:t>
            </a:r>
            <a:r>
              <a:rPr lang="en-US" altLang="zh-CN" sz="22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”</a:t>
            </a:r>
            <a:r>
              <a:rPr lang="zh-CN" altLang="en-US" sz="22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ea typeface="楷体_GB2312" pitchFamily="49" charset="-122"/>
              </a:rPr>
              <a:t>表示该项是必选项</a:t>
            </a:r>
            <a:r>
              <a:rPr kumimoji="1" lang="zh-CN" altLang="en-US" sz="22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</a:p>
        </p:txBody>
      </p:sp>
      <p:sp>
        <p:nvSpPr>
          <p:cNvPr id="408582" name="Rectangle 6">
            <a:extLst>
              <a:ext uri="{FF2B5EF4-FFF2-40B4-BE49-F238E27FC236}">
                <a16:creationId xmlns:a16="http://schemas.microsoft.com/office/drawing/2014/main" id="{EB926463-E02E-4998-AD88-27C714D7DB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71438"/>
            <a:ext cx="7793037" cy="83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Tx/>
              <a:buFontTx/>
              <a:buNone/>
            </a:pPr>
            <a:r>
              <a:rPr lang="zh-CN" altLang="en-US"/>
              <a:t>一、表的定义、修改与撤消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655"/>
    </mc:Choice>
    <mc:Fallback xmlns="">
      <p:transition spd="slow" advTm="1465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08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858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04" name="Text Box 4">
            <a:extLst>
              <a:ext uri="{FF2B5EF4-FFF2-40B4-BE49-F238E27FC236}">
                <a16:creationId xmlns:a16="http://schemas.microsoft.com/office/drawing/2014/main" id="{37BA535E-38AA-4FB1-AFD9-09AA6B8E9D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143000"/>
            <a:ext cx="8458200" cy="4837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zh-CN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 </a:t>
            </a:r>
            <a:r>
              <a:rPr lang="zh-CN" altLang="en-US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表的定义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lang="zh-CN" altLang="en-US" sz="28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表的定义语句格式为：</a:t>
            </a:r>
            <a:endParaRPr lang="zh-CN" altLang="en-US" sz="2800">
              <a:solidFill>
                <a:srgbClr val="66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   </a:t>
            </a:r>
            <a:r>
              <a:rPr lang="en-US" altLang="zh-CN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CREATE TABLE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&lt;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表名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&gt;</a:t>
            </a:r>
            <a:endParaRPr lang="en-US" altLang="zh-CN" sz="2800" b="1">
              <a:solidFill>
                <a:srgbClr val="0033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     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（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&lt;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列名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1&gt; &lt;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数据类型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&gt; [&lt;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列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的完整性约束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&gt;]</a:t>
            </a:r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[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endParaRPr lang="zh-CN" altLang="en-US" sz="2800" b="1">
              <a:solidFill>
                <a:srgbClr val="0033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         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&lt;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列名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2&gt; &lt;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数据类型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&gt; [&lt;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列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的完整性约束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&gt;]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endParaRPr lang="zh-CN" altLang="en-US" sz="2800" b="1">
              <a:solidFill>
                <a:srgbClr val="0033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                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黑体" panose="02010609060101010101" pitchFamily="49" charset="-122"/>
              </a:rPr>
              <a:t>…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黑体" panose="02010609060101010101" pitchFamily="49" charset="-122"/>
              </a:rPr>
              <a:t>…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endParaRPr lang="zh-CN" altLang="en-US" sz="2800" b="1">
              <a:solidFill>
                <a:srgbClr val="0033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         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&lt;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列名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n&gt; &lt;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数据类型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&gt; [&lt;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列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n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的完整性约束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&gt;]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endParaRPr lang="zh-CN" altLang="en-US" sz="2800" b="1">
              <a:solidFill>
                <a:srgbClr val="0033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zh-CN" altLang="en-US" sz="2800" b="1">
                <a:latin typeface="黑体" panose="02010609060101010101" pitchFamily="49" charset="-122"/>
                <a:cs typeface="Times New Roman" panose="02020603050405020304" pitchFamily="18" charset="0"/>
              </a:rPr>
              <a:t>     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cs typeface="Times New Roman" panose="02020603050405020304" pitchFamily="18" charset="0"/>
              </a:rPr>
              <a:t>[&lt;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表的完整性约束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cs typeface="Times New Roman" panose="02020603050405020304" pitchFamily="18" charset="0"/>
              </a:rPr>
              <a:t>&gt;]</a:t>
            </a:r>
            <a:r>
              <a:rPr lang="en-US" altLang="zh-CN" sz="2800" b="1">
                <a:solidFill>
                  <a:srgbClr val="A50021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]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cs typeface="Times New Roman" panose="02020603050405020304" pitchFamily="18" charset="0"/>
              </a:rPr>
              <a:t>）；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409605" name="AutoShape 5">
            <a:extLst>
              <a:ext uri="{FF2B5EF4-FFF2-40B4-BE49-F238E27FC236}">
                <a16:creationId xmlns:a16="http://schemas.microsoft.com/office/drawing/2014/main" id="{3EF84DB2-35DE-4AC0-A5E1-3635CB540C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1295400"/>
            <a:ext cx="2667000" cy="838200"/>
          </a:xfrm>
          <a:prstGeom prst="wedgeRoundRectCallout">
            <a:avLst>
              <a:gd name="adj1" fmla="val -80356"/>
              <a:gd name="adj2" fmla="val 173106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0"/>
              </a:spcBef>
              <a:buSzTx/>
              <a:buFontTx/>
              <a:buNone/>
            </a:pPr>
            <a:r>
              <a:rPr kumimoji="1" lang="en-US" altLang="zh-CN" sz="2200" b="1">
                <a:solidFill>
                  <a:srgbClr val="000000"/>
                </a:solidFill>
                <a:latin typeface="Tahoma" panose="020B0604030504040204" pitchFamily="34" charset="0"/>
                <a:ea typeface="隶书" panose="02010509060101010101" pitchFamily="49" charset="-122"/>
              </a:rPr>
              <a:t>     </a:t>
            </a:r>
            <a:r>
              <a:rPr lang="en-US" altLang="zh-CN" sz="22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“</a:t>
            </a:r>
            <a:r>
              <a:rPr lang="en-US" altLang="zh-CN" sz="22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ea typeface="楷体_GB2312" pitchFamily="49" charset="-122"/>
              </a:rPr>
              <a:t>[ ]</a:t>
            </a:r>
            <a:r>
              <a:rPr lang="en-US" altLang="zh-CN" sz="22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”</a:t>
            </a:r>
            <a:r>
              <a:rPr lang="zh-CN" altLang="en-US" sz="22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ea typeface="楷体_GB2312" pitchFamily="49" charset="-122"/>
              </a:rPr>
              <a:t>表示该项是可选项</a:t>
            </a:r>
            <a:r>
              <a:rPr kumimoji="1" lang="zh-CN" altLang="en-US" sz="22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</a:p>
        </p:txBody>
      </p:sp>
      <p:sp>
        <p:nvSpPr>
          <p:cNvPr id="409606" name="Rectangle 6">
            <a:extLst>
              <a:ext uri="{FF2B5EF4-FFF2-40B4-BE49-F238E27FC236}">
                <a16:creationId xmlns:a16="http://schemas.microsoft.com/office/drawing/2014/main" id="{C7C24F2F-BB48-4D04-8329-D2C7BFA1B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71438"/>
            <a:ext cx="7793037" cy="83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Tx/>
              <a:buFontTx/>
              <a:buNone/>
            </a:pPr>
            <a:r>
              <a:rPr lang="zh-CN" altLang="en-US"/>
              <a:t>一、表的定义、修改与撤消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4021"/>
    </mc:Choice>
    <mc:Fallback xmlns="">
      <p:transition spd="slow" advTm="10402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09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0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628" name="Text Box 4">
            <a:extLst>
              <a:ext uri="{FF2B5EF4-FFF2-40B4-BE49-F238E27FC236}">
                <a16:creationId xmlns:a16="http://schemas.microsoft.com/office/drawing/2014/main" id="{A2E04C67-15E4-4DAE-8A80-14A90384BE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143000"/>
            <a:ext cx="8458200" cy="4837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zh-CN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 </a:t>
            </a:r>
            <a:r>
              <a:rPr lang="zh-CN" altLang="en-US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表的定义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lang="zh-CN" altLang="en-US" sz="28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表的定义语句格式为：</a:t>
            </a:r>
            <a:endParaRPr lang="zh-CN" altLang="en-US" sz="2800">
              <a:solidFill>
                <a:srgbClr val="66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   </a:t>
            </a:r>
            <a:r>
              <a:rPr lang="en-US" altLang="zh-CN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CREATE TABLE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&lt;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表名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&gt;</a:t>
            </a:r>
            <a:endParaRPr lang="en-US" altLang="zh-CN" sz="2800" b="1">
              <a:solidFill>
                <a:srgbClr val="0033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     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（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&lt;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列名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1&gt; &lt;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数据类型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&gt; [&lt;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列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的完整性约束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&gt;]</a:t>
            </a:r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[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endParaRPr lang="zh-CN" altLang="en-US" sz="2800" b="1">
              <a:solidFill>
                <a:srgbClr val="0033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         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&lt;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列名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2&gt; &lt;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数据类型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&gt; [&lt;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列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的完整性约束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&gt;]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endParaRPr lang="zh-CN" altLang="en-US" sz="2800" b="1">
              <a:solidFill>
                <a:srgbClr val="0033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                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黑体" panose="02010609060101010101" pitchFamily="49" charset="-122"/>
              </a:rPr>
              <a:t>…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黑体" panose="02010609060101010101" pitchFamily="49" charset="-122"/>
              </a:rPr>
              <a:t>…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endParaRPr lang="zh-CN" altLang="en-US" sz="2800" b="1">
              <a:solidFill>
                <a:srgbClr val="0033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         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&lt;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列名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n&gt; &lt;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数据类型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&gt; [&lt;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列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n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的完整性约束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&gt;]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endParaRPr lang="zh-CN" altLang="en-US" sz="2800" b="1">
              <a:solidFill>
                <a:srgbClr val="0033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zh-CN" altLang="en-US" sz="2800" b="1">
                <a:latin typeface="黑体" panose="02010609060101010101" pitchFamily="49" charset="-122"/>
                <a:cs typeface="Times New Roman" panose="02020603050405020304" pitchFamily="18" charset="0"/>
              </a:rPr>
              <a:t>     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cs typeface="Times New Roman" panose="02020603050405020304" pitchFamily="18" charset="0"/>
              </a:rPr>
              <a:t>[&lt;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表的完整性约束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cs typeface="Times New Roman" panose="02020603050405020304" pitchFamily="18" charset="0"/>
              </a:rPr>
              <a:t>&gt;]</a:t>
            </a:r>
            <a:r>
              <a:rPr lang="en-US" altLang="zh-CN" sz="2800" b="1">
                <a:solidFill>
                  <a:srgbClr val="A50021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]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cs typeface="Times New Roman" panose="02020603050405020304" pitchFamily="18" charset="0"/>
              </a:rPr>
              <a:t>）；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410629" name="AutoShape 5">
            <a:extLst>
              <a:ext uri="{FF2B5EF4-FFF2-40B4-BE49-F238E27FC236}">
                <a16:creationId xmlns:a16="http://schemas.microsoft.com/office/drawing/2014/main" id="{67DCC55E-C05B-4D34-AF52-D15798E5F5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1676400"/>
            <a:ext cx="2514600" cy="1143000"/>
          </a:xfrm>
          <a:prstGeom prst="wedgeRoundRectCallout">
            <a:avLst>
              <a:gd name="adj1" fmla="val -70264"/>
              <a:gd name="adj2" fmla="val 309861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zh-CN" sz="22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ea typeface="楷体_GB2312" pitchFamily="49" charset="-122"/>
              </a:rPr>
              <a:t>    SQL</a:t>
            </a:r>
            <a:r>
              <a:rPr lang="zh-CN" altLang="en-US" sz="22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ea typeface="楷体_GB2312" pitchFamily="49" charset="-122"/>
              </a:rPr>
              <a:t>语言中的语句的结束符号</a:t>
            </a:r>
            <a:r>
              <a:rPr lang="zh-CN" altLang="en-US" sz="22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“</a:t>
            </a:r>
            <a:r>
              <a:rPr lang="zh-CN" altLang="en-US" sz="22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ea typeface="楷体_GB2312" pitchFamily="49" charset="-122"/>
              </a:rPr>
              <a:t>；</a:t>
            </a:r>
            <a:r>
              <a:rPr lang="zh-CN" altLang="en-US" sz="22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”</a:t>
            </a:r>
            <a:r>
              <a:rPr lang="zh-CN" altLang="en-US" sz="22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ea typeface="楷体_GB2312" pitchFamily="49" charset="-122"/>
              </a:rPr>
              <a:t>。</a:t>
            </a:r>
          </a:p>
        </p:txBody>
      </p:sp>
      <p:sp>
        <p:nvSpPr>
          <p:cNvPr id="410630" name="Rectangle 6">
            <a:extLst>
              <a:ext uri="{FF2B5EF4-FFF2-40B4-BE49-F238E27FC236}">
                <a16:creationId xmlns:a16="http://schemas.microsoft.com/office/drawing/2014/main" id="{BD569C33-5662-4116-8D24-FCBD30E5D8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71438"/>
            <a:ext cx="7793037" cy="83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Tx/>
              <a:buFontTx/>
              <a:buNone/>
            </a:pPr>
            <a:r>
              <a:rPr lang="zh-CN" altLang="en-US"/>
              <a:t>一、表的定义、修改与撤消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565"/>
    </mc:Choice>
    <mc:Fallback xmlns="">
      <p:transition spd="slow" advTm="2056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10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62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4" name="Rectangle 6">
            <a:extLst>
              <a:ext uri="{FF2B5EF4-FFF2-40B4-BE49-F238E27FC236}">
                <a16:creationId xmlns:a16="http://schemas.microsoft.com/office/drawing/2014/main" id="{D496624F-0DEB-4727-A6D6-9729778227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71438"/>
            <a:ext cx="7793037" cy="83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Tx/>
              <a:buFontTx/>
              <a:buNone/>
            </a:pPr>
            <a:r>
              <a:rPr lang="zh-CN" altLang="en-US"/>
              <a:t>一、表的定义、修改与撤消</a:t>
            </a:r>
          </a:p>
        </p:txBody>
      </p:sp>
      <p:sp>
        <p:nvSpPr>
          <p:cNvPr id="411652" name="Text Box 4">
            <a:extLst>
              <a:ext uri="{FF2B5EF4-FFF2-40B4-BE49-F238E27FC236}">
                <a16:creationId xmlns:a16="http://schemas.microsoft.com/office/drawing/2014/main" id="{8FD5C4F1-A689-4532-ABC7-19627BDA3B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143000"/>
            <a:ext cx="8458200" cy="4837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zh-CN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 </a:t>
            </a:r>
            <a:r>
              <a:rPr lang="zh-CN" altLang="en-US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表的定义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lang="zh-CN" altLang="en-US" sz="28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表的定义语句格式为：</a:t>
            </a:r>
            <a:endParaRPr lang="zh-CN" altLang="en-US" sz="2800">
              <a:solidFill>
                <a:srgbClr val="66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   </a:t>
            </a:r>
            <a:r>
              <a:rPr lang="en-US" altLang="zh-CN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CREATE TABLE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&lt;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表名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&gt;</a:t>
            </a:r>
            <a:endParaRPr lang="en-US" altLang="zh-CN" sz="2800" b="1">
              <a:solidFill>
                <a:srgbClr val="0033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     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（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&lt;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列名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1&gt; &lt;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数据类型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&gt; [&lt;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列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的完整性约束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&gt;]</a:t>
            </a:r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[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endParaRPr lang="zh-CN" altLang="en-US" sz="2800" b="1">
              <a:solidFill>
                <a:srgbClr val="0033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         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&lt;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列名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2&gt; &lt;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数据类型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&gt; [&lt;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列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的完整性约束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&gt;]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endParaRPr lang="zh-CN" altLang="en-US" sz="2800" b="1">
              <a:solidFill>
                <a:srgbClr val="0033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                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黑体" panose="02010609060101010101" pitchFamily="49" charset="-122"/>
              </a:rPr>
              <a:t>…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黑体" panose="02010609060101010101" pitchFamily="49" charset="-122"/>
              </a:rPr>
              <a:t>…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endParaRPr lang="zh-CN" altLang="en-US" sz="2800" b="1">
              <a:solidFill>
                <a:srgbClr val="0033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         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&lt;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列名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n&gt; &lt;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数据类型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&gt; [&lt;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列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n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的完整性约束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&gt;]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endParaRPr lang="zh-CN" altLang="en-US" sz="2800" b="1">
              <a:solidFill>
                <a:srgbClr val="0033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zh-CN" altLang="en-US" sz="2800" b="1">
                <a:latin typeface="黑体" panose="02010609060101010101" pitchFamily="49" charset="-122"/>
                <a:cs typeface="Times New Roman" panose="02020603050405020304" pitchFamily="18" charset="0"/>
              </a:rPr>
              <a:t>     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cs typeface="Times New Roman" panose="02020603050405020304" pitchFamily="18" charset="0"/>
              </a:rPr>
              <a:t>[&lt;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表的完整性约束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cs typeface="Times New Roman" panose="02020603050405020304" pitchFamily="18" charset="0"/>
              </a:rPr>
              <a:t>&gt;]</a:t>
            </a:r>
            <a:r>
              <a:rPr lang="en-US" altLang="zh-CN" sz="2800" b="1">
                <a:solidFill>
                  <a:srgbClr val="A50021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]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cs typeface="Times New Roman" panose="02020603050405020304" pitchFamily="18" charset="0"/>
              </a:rPr>
              <a:t>）；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411653" name="AutoShape 5">
            <a:extLst>
              <a:ext uri="{FF2B5EF4-FFF2-40B4-BE49-F238E27FC236}">
                <a16:creationId xmlns:a16="http://schemas.microsoft.com/office/drawing/2014/main" id="{1D411FB3-8842-4685-B6E0-FF84B48398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57150"/>
            <a:ext cx="3581400" cy="2971800"/>
          </a:xfrm>
          <a:prstGeom prst="wedgeRoundRectCallout">
            <a:avLst>
              <a:gd name="adj1" fmla="val -74736"/>
              <a:gd name="adj2" fmla="val 35204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zh-CN" sz="22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2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ea typeface="楷体_GB2312" pitchFamily="49" charset="-122"/>
              </a:rPr>
              <a:t>表名不能与</a:t>
            </a:r>
            <a:r>
              <a:rPr lang="en-US" altLang="zh-CN" sz="22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ea typeface="楷体_GB2312" pitchFamily="49" charset="-122"/>
              </a:rPr>
              <a:t>SQL</a:t>
            </a:r>
            <a:r>
              <a:rPr lang="zh-CN" altLang="en-US" sz="22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ea typeface="楷体_GB2312" pitchFamily="49" charset="-122"/>
              </a:rPr>
              <a:t>语言中的保留字同名，不能与其它表名或视图名同名。表名和列名是以字母开头，由字母、数字和下划线</a:t>
            </a:r>
            <a:r>
              <a:rPr lang="zh-CN" altLang="en-US" sz="22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“</a:t>
            </a:r>
            <a:r>
              <a:rPr lang="en-US" altLang="zh-CN" sz="22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ea typeface="楷体_GB2312" pitchFamily="49" charset="-122"/>
              </a:rPr>
              <a:t>_</a:t>
            </a:r>
            <a:r>
              <a:rPr lang="en-US" altLang="zh-CN" sz="22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”</a:t>
            </a:r>
            <a:r>
              <a:rPr lang="zh-CN" altLang="en-US" sz="22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ea typeface="楷体_GB2312" pitchFamily="49" charset="-122"/>
              </a:rPr>
              <a:t>组成的字符串，长度不超过</a:t>
            </a:r>
            <a:r>
              <a:rPr lang="en-US" altLang="zh-CN" sz="22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ea typeface="楷体_GB2312" pitchFamily="49" charset="-122"/>
              </a:rPr>
              <a:t>30</a:t>
            </a:r>
            <a:r>
              <a:rPr lang="zh-CN" altLang="en-US" sz="22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ea typeface="楷体_GB2312" pitchFamily="49" charset="-122"/>
              </a:rPr>
              <a:t>个字符。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542"/>
    </mc:Choice>
    <mc:Fallback xmlns="">
      <p:transition spd="slow" advTm="3554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11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165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676" name="Text Box 4">
            <a:extLst>
              <a:ext uri="{FF2B5EF4-FFF2-40B4-BE49-F238E27FC236}">
                <a16:creationId xmlns:a16="http://schemas.microsoft.com/office/drawing/2014/main" id="{B4B00CE3-EC8F-40C2-A69D-546E2855D6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143000"/>
            <a:ext cx="8458200" cy="4837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zh-CN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 </a:t>
            </a:r>
            <a:r>
              <a:rPr lang="zh-CN" altLang="en-US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表的定义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lang="zh-CN" altLang="en-US" sz="28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表的定义语句格式为：</a:t>
            </a:r>
            <a:endParaRPr lang="zh-CN" altLang="en-US" sz="2800">
              <a:solidFill>
                <a:srgbClr val="66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   </a:t>
            </a:r>
            <a:r>
              <a:rPr lang="en-US" altLang="zh-CN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CREATE TABLE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&lt;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表名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&gt;</a:t>
            </a:r>
            <a:endParaRPr lang="en-US" altLang="zh-CN" sz="2800" b="1">
              <a:solidFill>
                <a:srgbClr val="0033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     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（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&lt;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列名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1&gt; &lt;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数据类型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&gt; [&lt;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列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的完整性约束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&gt;]</a:t>
            </a:r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[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endParaRPr lang="zh-CN" altLang="en-US" sz="2800" b="1">
              <a:solidFill>
                <a:srgbClr val="0033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         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&lt;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列名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2&gt; &lt;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数据类型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&gt; [&lt;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列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的完整性约束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&gt;]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endParaRPr lang="zh-CN" altLang="en-US" sz="2800" b="1">
              <a:solidFill>
                <a:srgbClr val="0033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                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黑体" panose="02010609060101010101" pitchFamily="49" charset="-122"/>
              </a:rPr>
              <a:t>…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黑体" panose="02010609060101010101" pitchFamily="49" charset="-122"/>
              </a:rPr>
              <a:t>…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endParaRPr lang="zh-CN" altLang="en-US" sz="2800" b="1">
              <a:solidFill>
                <a:srgbClr val="0033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         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&lt;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列名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n&gt; &lt;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数据类型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&gt; [&lt;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列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n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的完整性约束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&gt;]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endParaRPr lang="zh-CN" altLang="en-US" sz="2800" b="1">
              <a:solidFill>
                <a:srgbClr val="0033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zh-CN" altLang="en-US" sz="2800" b="1">
                <a:latin typeface="黑体" panose="02010609060101010101" pitchFamily="49" charset="-122"/>
                <a:cs typeface="Times New Roman" panose="02020603050405020304" pitchFamily="18" charset="0"/>
              </a:rPr>
              <a:t>     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cs typeface="Times New Roman" panose="02020603050405020304" pitchFamily="18" charset="0"/>
              </a:rPr>
              <a:t>[&lt;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表的完整性约束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cs typeface="Times New Roman" panose="02020603050405020304" pitchFamily="18" charset="0"/>
              </a:rPr>
              <a:t>&gt;]</a:t>
            </a:r>
            <a:r>
              <a:rPr lang="en-US" altLang="zh-CN" sz="2800" b="1">
                <a:solidFill>
                  <a:srgbClr val="A50021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]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cs typeface="Times New Roman" panose="02020603050405020304" pitchFamily="18" charset="0"/>
              </a:rPr>
              <a:t>）；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412677" name="AutoShape 5">
            <a:extLst>
              <a:ext uri="{FF2B5EF4-FFF2-40B4-BE49-F238E27FC236}">
                <a16:creationId xmlns:a16="http://schemas.microsoft.com/office/drawing/2014/main" id="{167E2B10-8E1E-41B5-9E23-9078AD2F8C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1876425"/>
            <a:ext cx="2514600" cy="1143000"/>
          </a:xfrm>
          <a:prstGeom prst="wedgeRoundRectCallout">
            <a:avLst>
              <a:gd name="adj1" fmla="val -177273"/>
              <a:gd name="adj2" fmla="val 68750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zh-CN" sz="22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2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ea typeface="楷体_GB2312" pitchFamily="49" charset="-122"/>
              </a:rPr>
              <a:t>一个表中至少要有一列，且不能重名。</a:t>
            </a:r>
          </a:p>
        </p:txBody>
      </p:sp>
      <p:sp>
        <p:nvSpPr>
          <p:cNvPr id="412678" name="Rectangle 6">
            <a:extLst>
              <a:ext uri="{FF2B5EF4-FFF2-40B4-BE49-F238E27FC236}">
                <a16:creationId xmlns:a16="http://schemas.microsoft.com/office/drawing/2014/main" id="{3F026D09-D778-42A2-9F22-89EBA742C0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71438"/>
            <a:ext cx="7793037" cy="83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Tx/>
              <a:buFontTx/>
              <a:buNone/>
            </a:pPr>
            <a:r>
              <a:rPr lang="zh-CN" altLang="en-US"/>
              <a:t>一、表的定义、修改与撤消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330"/>
    </mc:Choice>
    <mc:Fallback xmlns="">
      <p:transition spd="slow" advTm="1133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12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267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741" name="Text Box 5">
            <a:extLst>
              <a:ext uri="{FF2B5EF4-FFF2-40B4-BE49-F238E27FC236}">
                <a16:creationId xmlns:a16="http://schemas.microsoft.com/office/drawing/2014/main" id="{58D3036C-E94C-401D-BA0F-43A085D80F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143000"/>
            <a:ext cx="8458200" cy="4837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zh-CN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 </a:t>
            </a:r>
            <a:r>
              <a:rPr lang="zh-CN" altLang="en-US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表的定义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lang="zh-CN" altLang="en-US" sz="28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表的定义语句格式为：</a:t>
            </a:r>
            <a:endParaRPr lang="zh-CN" altLang="en-US" sz="2800">
              <a:solidFill>
                <a:srgbClr val="66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   </a:t>
            </a:r>
            <a:r>
              <a:rPr lang="en-US" altLang="zh-CN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CREATE TABLE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&lt;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表名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&gt;</a:t>
            </a:r>
            <a:endParaRPr lang="en-US" altLang="zh-CN" sz="2800" b="1">
              <a:solidFill>
                <a:srgbClr val="0033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     </a:t>
            </a:r>
            <a:r>
              <a:rPr lang="zh-CN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（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&lt;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列名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1&gt; &lt;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数据类型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&gt; [&lt;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列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的完整性约束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&gt;]</a:t>
            </a:r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[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endParaRPr lang="zh-CN" altLang="en-US" sz="2800" b="1">
              <a:solidFill>
                <a:srgbClr val="0033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         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&lt;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列名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2&gt; &lt;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数据类型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&gt; [&lt;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列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的完整性约束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&gt;]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endParaRPr lang="zh-CN" altLang="en-US" sz="2800" b="1">
              <a:solidFill>
                <a:srgbClr val="0033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                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黑体" panose="02010609060101010101" pitchFamily="49" charset="-122"/>
              </a:rPr>
              <a:t>…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黑体" panose="02010609060101010101" pitchFamily="49" charset="-122"/>
              </a:rPr>
              <a:t>…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endParaRPr lang="zh-CN" altLang="en-US" sz="2800" b="1">
              <a:solidFill>
                <a:srgbClr val="0033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         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&lt;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列名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n&gt; &lt;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数据类型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&gt; [&lt;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列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n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的完整性约束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&gt;]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endParaRPr lang="zh-CN" altLang="en-US" sz="2800" b="1">
              <a:solidFill>
                <a:srgbClr val="0033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zh-CN" altLang="en-US" sz="2800" b="1">
                <a:latin typeface="黑体" panose="02010609060101010101" pitchFamily="49" charset="-122"/>
                <a:cs typeface="Times New Roman" panose="02020603050405020304" pitchFamily="18" charset="0"/>
              </a:rPr>
              <a:t>     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cs typeface="Times New Roman" panose="02020603050405020304" pitchFamily="18" charset="0"/>
              </a:rPr>
              <a:t>[&lt;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表的完整性约束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cs typeface="Times New Roman" panose="02020603050405020304" pitchFamily="18" charset="0"/>
              </a:rPr>
              <a:t>&gt;]</a:t>
            </a:r>
            <a:r>
              <a:rPr lang="en-US" altLang="zh-CN" sz="2800" b="1">
                <a:solidFill>
                  <a:srgbClr val="A50021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]</a:t>
            </a:r>
            <a:r>
              <a:rPr lang="zh-CN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cs typeface="Times New Roman" panose="02020603050405020304" pitchFamily="18" charset="0"/>
              </a:rPr>
              <a:t>；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372742" name="Line 6">
            <a:extLst>
              <a:ext uri="{FF2B5EF4-FFF2-40B4-BE49-F238E27FC236}">
                <a16:creationId xmlns:a16="http://schemas.microsoft.com/office/drawing/2014/main" id="{B4A6FD3E-3921-4EEF-8F8F-1DC75CF88737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3505200"/>
            <a:ext cx="1752600" cy="0"/>
          </a:xfrm>
          <a:prstGeom prst="line">
            <a:avLst/>
          </a:prstGeom>
          <a:noFill/>
          <a:ln w="28575" cap="sq">
            <a:solidFill>
              <a:srgbClr val="99CC00"/>
            </a:solidFill>
            <a:round/>
            <a:headEnd type="none" w="sm" len="sm"/>
            <a:tailEnd type="none" w="sm" len="sm"/>
          </a:ln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2743" name="Line 7">
            <a:extLst>
              <a:ext uri="{FF2B5EF4-FFF2-40B4-BE49-F238E27FC236}">
                <a16:creationId xmlns:a16="http://schemas.microsoft.com/office/drawing/2014/main" id="{4E83CF4D-E993-466F-8BC6-C4BEA6B31933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4148138"/>
            <a:ext cx="3048000" cy="0"/>
          </a:xfrm>
          <a:prstGeom prst="line">
            <a:avLst/>
          </a:prstGeom>
          <a:noFill/>
          <a:ln w="28575" cap="sq">
            <a:solidFill>
              <a:srgbClr val="FA7406"/>
            </a:solidFill>
            <a:round/>
            <a:headEnd type="none" w="sm" len="sm"/>
            <a:tailEnd type="none" w="sm" len="sm"/>
          </a:ln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2744" name="Rectangle 8">
            <a:extLst>
              <a:ext uri="{FF2B5EF4-FFF2-40B4-BE49-F238E27FC236}">
                <a16:creationId xmlns:a16="http://schemas.microsoft.com/office/drawing/2014/main" id="{3620CB07-D158-4893-9E18-B4EC7D2291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71438"/>
            <a:ext cx="7793037" cy="83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Tx/>
              <a:buFontTx/>
              <a:buNone/>
            </a:pPr>
            <a:r>
              <a:rPr lang="zh-CN" altLang="en-US"/>
              <a:t>一、表的定义、修改与撤消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799"/>
    </mc:Choice>
    <mc:Fallback xmlns="">
      <p:transition spd="slow" advTm="2479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2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72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6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Pct val="100000"/>
          <a:buFont typeface="Wingdings" panose="05000000000000000000" pitchFamily="2" charset="2"/>
          <a:buChar char="•"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Pct val="100000"/>
          <a:buFont typeface="Wingdings" panose="05000000000000000000" pitchFamily="2" charset="2"/>
          <a:buChar char="•"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3631</TotalTime>
  <Words>1296</Words>
  <Application>Microsoft Office PowerPoint</Application>
  <PresentationFormat>全屏显示(4:3)</PresentationFormat>
  <Paragraphs>141</Paragraphs>
  <Slides>23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5" baseType="lpstr">
      <vt:lpstr>等线</vt:lpstr>
      <vt:lpstr>黑体</vt:lpstr>
      <vt:lpstr>华文隶书</vt:lpstr>
      <vt:lpstr>华文新魏</vt:lpstr>
      <vt:lpstr>楷体_GB2312</vt:lpstr>
      <vt:lpstr>隶书</vt:lpstr>
      <vt:lpstr>宋体</vt:lpstr>
      <vt:lpstr>Arial</vt:lpstr>
      <vt:lpstr>Tahoma</vt:lpstr>
      <vt:lpstr>Times New Roman</vt:lpstr>
      <vt:lpstr>Wingdings</vt:lpstr>
      <vt:lpstr>Blends</vt:lpstr>
      <vt:lpstr>第5章 关系数据库语言SQL </vt:lpstr>
      <vt:lpstr>PowerPoint 演示文稿</vt:lpstr>
      <vt:lpstr>PowerPoint 演示文稿</vt:lpstr>
      <vt:lpstr>PowerPoint 演示文稿</vt:lpstr>
      <vt:lpstr>5.1  SQL的功能与特点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5.2  表的基本操作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乔淋漓的冷汗</dc:creator>
  <cp:lastModifiedBy>乔 淋漓的冷汗</cp:lastModifiedBy>
  <cp:revision>410</cp:revision>
  <cp:lastPrinted>1601-01-01T00:00:00Z</cp:lastPrinted>
  <dcterms:created xsi:type="dcterms:W3CDTF">1601-01-01T00:00:00Z</dcterms:created>
  <dcterms:modified xsi:type="dcterms:W3CDTF">2021-04-12T15:06:47Z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