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18"/>
  </p:handoutMasterIdLst>
  <p:sldIdLst>
    <p:sldId id="478" r:id="rId2"/>
    <p:sldId id="286" r:id="rId3"/>
    <p:sldId id="287" r:id="rId4"/>
    <p:sldId id="475" r:id="rId5"/>
    <p:sldId id="474" r:id="rId6"/>
    <p:sldId id="289" r:id="rId7"/>
    <p:sldId id="291" r:id="rId8"/>
    <p:sldId id="479" r:id="rId9"/>
    <p:sldId id="481" r:id="rId10"/>
    <p:sldId id="483" r:id="rId11"/>
    <p:sldId id="485" r:id="rId12"/>
    <p:sldId id="290" r:id="rId13"/>
    <p:sldId id="292" r:id="rId14"/>
    <p:sldId id="294" r:id="rId15"/>
    <p:sldId id="293" r:id="rId16"/>
    <p:sldId id="295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0066"/>
    <a:srgbClr val="006666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2" autoAdjust="0"/>
    <p:restoredTop sz="94660"/>
  </p:normalViewPr>
  <p:slideViewPr>
    <p:cSldViewPr>
      <p:cViewPr varScale="1">
        <p:scale>
          <a:sx n="125" d="100"/>
          <a:sy n="125" d="100"/>
        </p:scale>
        <p:origin x="166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>
            <a:extLst>
              <a:ext uri="{FF2B5EF4-FFF2-40B4-BE49-F238E27FC236}">
                <a16:creationId xmlns:a16="http://schemas.microsoft.com/office/drawing/2014/main" id="{7964C852-ECFB-462A-987E-C24B862D4F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813DDAA2-D58D-4D14-977D-E8DB3FCAEE2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2" name="Rectangle 4">
            <a:extLst>
              <a:ext uri="{FF2B5EF4-FFF2-40B4-BE49-F238E27FC236}">
                <a16:creationId xmlns:a16="http://schemas.microsoft.com/office/drawing/2014/main" id="{3C187B11-0FC6-4B75-9F74-254EBB13BF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3" name="Rectangle 5">
            <a:extLst>
              <a:ext uri="{FF2B5EF4-FFF2-40B4-BE49-F238E27FC236}">
                <a16:creationId xmlns:a16="http://schemas.microsoft.com/office/drawing/2014/main" id="{C24DD3C5-DD87-4C40-8BAA-D9F21950FC4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fld id="{6AECF612-F321-4D40-8ADF-D2CBE6831B0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>
            <a:extLst>
              <a:ext uri="{FF2B5EF4-FFF2-40B4-BE49-F238E27FC236}">
                <a16:creationId xmlns:a16="http://schemas.microsoft.com/office/drawing/2014/main" id="{C988F487-D4DF-4B24-8CCC-F0B85FE5D49E}"/>
              </a:ext>
            </a:extLst>
          </p:cNvPr>
          <p:cNvGrpSpPr>
            <a:grpSpLocks/>
          </p:cNvGrpSpPr>
          <p:nvPr/>
        </p:nvGrpSpPr>
        <p:grpSpPr bwMode="auto">
          <a:xfrm>
            <a:off x="0" y="1797050"/>
            <a:ext cx="9009063" cy="1052513"/>
            <a:chOff x="0" y="1536"/>
            <a:chExt cx="5675" cy="663"/>
          </a:xfrm>
        </p:grpSpPr>
        <p:grpSp>
          <p:nvGrpSpPr>
            <p:cNvPr id="445443" name="Group 3">
              <a:extLst>
                <a:ext uri="{FF2B5EF4-FFF2-40B4-BE49-F238E27FC236}">
                  <a16:creationId xmlns:a16="http://schemas.microsoft.com/office/drawing/2014/main" id="{3F283A75-3DB0-40F6-BFDF-1D5B07254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>
                <a:extLst>
                  <a:ext uri="{FF2B5EF4-FFF2-40B4-BE49-F238E27FC236}">
                    <a16:creationId xmlns:a16="http://schemas.microsoft.com/office/drawing/2014/main" id="{0496C4AF-C67B-40C3-ACC4-09D20EF46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>
                <a:extLst>
                  <a:ext uri="{FF2B5EF4-FFF2-40B4-BE49-F238E27FC236}">
                    <a16:creationId xmlns:a16="http://schemas.microsoft.com/office/drawing/2014/main" id="{75D52CAF-0BDB-4B7B-8967-78A023EC5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>
              <a:extLst>
                <a:ext uri="{FF2B5EF4-FFF2-40B4-BE49-F238E27FC236}">
                  <a16:creationId xmlns:a16="http://schemas.microsoft.com/office/drawing/2014/main" id="{B26647F1-917B-4531-B318-66747E438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>
                <a:extLst>
                  <a:ext uri="{FF2B5EF4-FFF2-40B4-BE49-F238E27FC236}">
                    <a16:creationId xmlns:a16="http://schemas.microsoft.com/office/drawing/2014/main" id="{C6F2785E-557A-4270-BE8C-B279FEB34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>
                <a:extLst>
                  <a:ext uri="{FF2B5EF4-FFF2-40B4-BE49-F238E27FC236}">
                    <a16:creationId xmlns:a16="http://schemas.microsoft.com/office/drawing/2014/main" id="{A3BA97AB-BC64-4E62-A60E-322AEDF2C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>
              <a:extLst>
                <a:ext uri="{FF2B5EF4-FFF2-40B4-BE49-F238E27FC236}">
                  <a16:creationId xmlns:a16="http://schemas.microsoft.com/office/drawing/2014/main" id="{BACC82C6-C697-4E07-83BB-B4AE533E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>
              <a:extLst>
                <a:ext uri="{FF2B5EF4-FFF2-40B4-BE49-F238E27FC236}">
                  <a16:creationId xmlns:a16="http://schemas.microsoft.com/office/drawing/2014/main" id="{1C0AC0F3-EB7A-4019-98C0-CE74937AB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>
              <a:extLst>
                <a:ext uri="{FF2B5EF4-FFF2-40B4-BE49-F238E27FC236}">
                  <a16:creationId xmlns:a16="http://schemas.microsoft.com/office/drawing/2014/main" id="{30FAD1B4-197C-4D76-95AE-5236169978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>
            <a:extLst>
              <a:ext uri="{FF2B5EF4-FFF2-40B4-BE49-F238E27FC236}">
                <a16:creationId xmlns:a16="http://schemas.microsoft.com/office/drawing/2014/main" id="{B28E1FB2-13EB-4718-B2F3-9FBBA143C9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1430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>
            <a:extLst>
              <a:ext uri="{FF2B5EF4-FFF2-40B4-BE49-F238E27FC236}">
                <a16:creationId xmlns:a16="http://schemas.microsoft.com/office/drawing/2014/main" id="{00247A5B-A9C6-4FE7-B624-0AE5CC5EDD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>
            <a:extLst>
              <a:ext uri="{FF2B5EF4-FFF2-40B4-BE49-F238E27FC236}">
                <a16:creationId xmlns:a16="http://schemas.microsoft.com/office/drawing/2014/main" id="{C7DC30C4-91F2-43E1-8340-AB60229B87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>
            <a:extLst>
              <a:ext uri="{FF2B5EF4-FFF2-40B4-BE49-F238E27FC236}">
                <a16:creationId xmlns:a16="http://schemas.microsoft.com/office/drawing/2014/main" id="{6CC6D569-8819-4554-AF02-0C5B005878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>
            <a:extLst>
              <a:ext uri="{FF2B5EF4-FFF2-40B4-BE49-F238E27FC236}">
                <a16:creationId xmlns:a16="http://schemas.microsoft.com/office/drawing/2014/main" id="{223515A0-4279-437E-BF94-DFB112B223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3A68B-C2F4-45CF-B2EC-28128C6D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90FB9-4CD5-4157-A380-A95F01CE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0F941-7E67-43B1-A8E9-FFF4C091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686AF-58D0-46B9-84FB-90AA6B28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1FA35-F3AC-4C94-B161-DDE096E3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573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65DC3-820E-4600-91F8-3D6A6D37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60B69-B590-4FB9-AC10-0E12D866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E5AB3-C95E-4E69-89B0-5C449A9C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57EE3-8223-4A93-AA2B-19601045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F025D9-6233-4009-8219-3DB7C65B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447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F2C7E-B28D-4DEE-A45B-2ABD1C8E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25483-C1E9-4C25-A581-082F03F8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73D30-1BF2-40C8-82AA-F04ED0BC2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4C224-4B27-4C82-8E84-EA1BFD61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CBD95-0A27-456A-802A-F62EE108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3391-2397-496B-8F5E-A79D9BAE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422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AF36E-607B-4F77-A129-B7AFD78F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6DEA0-6774-4AD7-B87E-072D0A1B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E36DB-5989-4D4D-8B4D-7EFA2DD00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3AECD3-79DC-4893-A48C-A1EB1C2D7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2D36C4-092C-4C78-A0DE-FCA69DEA9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D1FA6-8159-409D-A0E4-F8466E40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E91C53-328F-4D75-A4D5-90A1B9DA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392537-C8BF-442D-B437-76AE6F7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8005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30C41-133B-4D7F-B3B3-C765A9FC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96DD42-DB99-40FF-87E7-F6DFF1AB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AA661-6CB2-4913-882C-E0D98EB1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5457F2-ECCD-4399-ACE1-88FF298D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091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8B361-8FD8-4CC6-A9F7-78E835DC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E96746-C3F9-4C11-B560-03F9541E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3B730-7788-4FC2-B2B6-85A7A13F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6654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506C1-90DC-4161-931B-851AB50C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EEC67-F78D-47B9-9C64-10084C1A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BB6E4E-7943-4BF5-BB2F-D2253CD0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F8AEB-7E84-437C-8007-E22B978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B713E4-C5F3-493B-B36B-EA37CC4F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2F2387-80F3-45D1-9371-B6874878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7503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0ABF8-A605-4B1B-B2F9-5E2BF6E5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266846-5D54-4E02-842E-1376F88C3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C6C17-B624-4784-B791-507CC9600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520E83-0BAF-47E8-8834-905CC73A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ACF78-FD89-409A-ADAD-FC002696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A59CB9-A837-4281-A3B7-181DAC47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080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4AEC-387B-4EFB-B5F6-0EEDA9EE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F128D4-3E87-4674-8460-43A6EFD2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74F6A-73CA-4AA7-B942-43CA323A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61F2-5C16-4B8B-817B-44042F53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CEDDC-9357-439C-9A9C-683CB416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457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E356F7-3153-4362-B331-5E7991B53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92C45A-A37B-4BBA-888D-29A6E9567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2B880-3D12-45AB-8368-58A650FD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6CFD4-FF21-4BF1-9006-E6D844C1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15728-B0C6-4CC4-8D2A-2F0A028D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EF9A51B3-4ECA-43DC-B4DD-2C11D2C0F4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C1A1E673-7D4D-469E-A5E4-886D035D25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id="{242C2999-31D7-4ADB-A0F3-E523C42211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>
            <a:extLst>
              <a:ext uri="{FF2B5EF4-FFF2-40B4-BE49-F238E27FC236}">
                <a16:creationId xmlns:a16="http://schemas.microsoft.com/office/drawing/2014/main" id="{FAD7A906-4DA5-422E-A1BC-E5C8BCD2C1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37E3E620-8C8D-4583-B108-9C5B796676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>
            <a:extLst>
              <a:ext uri="{FF2B5EF4-FFF2-40B4-BE49-F238E27FC236}">
                <a16:creationId xmlns:a16="http://schemas.microsoft.com/office/drawing/2014/main" id="{CFDAB8C4-1BF2-492F-BC83-D3D51C69E4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5C3EDE52-607F-4ADB-B280-F41EF47C66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C68A6436-0350-4832-9E64-7A7AADF5E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>
            <a:extLst>
              <a:ext uri="{FF2B5EF4-FFF2-40B4-BE49-F238E27FC236}">
                <a16:creationId xmlns:a16="http://schemas.microsoft.com/office/drawing/2014/main" id="{30BB7C70-3EEA-4249-8D1B-2855C6CB5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id="{B60D0195-3077-475D-9F6F-304DEE063F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7FB2EA77-05AF-490C-A25A-2618186EFB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717094F0-D21B-4497-A5E3-355A03572A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756" name="Group 4">
            <a:extLst>
              <a:ext uri="{FF2B5EF4-FFF2-40B4-BE49-F238E27FC236}">
                <a16:creationId xmlns:a16="http://schemas.microsoft.com/office/drawing/2014/main" id="{6BF4D700-D29E-4959-AADB-8D2F401E3AD3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4398963"/>
            <a:ext cx="1179513" cy="1054100"/>
            <a:chOff x="504" y="2614"/>
            <a:chExt cx="743" cy="664"/>
          </a:xfrm>
        </p:grpSpPr>
        <p:sp>
          <p:nvSpPr>
            <p:cNvPr id="458757" name="Line 5">
              <a:extLst>
                <a:ext uri="{FF2B5EF4-FFF2-40B4-BE49-F238E27FC236}">
                  <a16:creationId xmlns:a16="http://schemas.microsoft.com/office/drawing/2014/main" id="{C1D2BEF3-095C-424E-B014-70BECA4E0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2614"/>
              <a:ext cx="0" cy="272"/>
            </a:xfrm>
            <a:prstGeom prst="line">
              <a:avLst/>
            </a:prstGeom>
            <a:noFill/>
            <a:ln w="28575" cap="sq">
              <a:solidFill>
                <a:srgbClr val="660033"/>
              </a:solidFill>
              <a:round/>
              <a:headEnd type="none" w="lg" len="lg"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58" name="Text Box 6">
              <a:extLst>
                <a:ext uri="{FF2B5EF4-FFF2-40B4-BE49-F238E27FC236}">
                  <a16:creationId xmlns:a16="http://schemas.microsoft.com/office/drawing/2014/main" id="{FEA7C65E-898C-42E7-A273-C378B75B4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" y="2943"/>
              <a:ext cx="743" cy="335"/>
            </a:xfrm>
            <a:prstGeom prst="rect">
              <a:avLst/>
            </a:prstGeom>
            <a:solidFill>
              <a:srgbClr val="00008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列名</a:t>
              </a:r>
            </a:p>
          </p:txBody>
        </p:sp>
      </p:grpSp>
      <p:grpSp>
        <p:nvGrpSpPr>
          <p:cNvPr id="458759" name="Group 7">
            <a:extLst>
              <a:ext uri="{FF2B5EF4-FFF2-40B4-BE49-F238E27FC236}">
                <a16:creationId xmlns:a16="http://schemas.microsoft.com/office/drawing/2014/main" id="{6C34E1FF-7B6D-43C2-9FF1-CE6A76A8643B}"/>
              </a:ext>
            </a:extLst>
          </p:cNvPr>
          <p:cNvGrpSpPr>
            <a:grpSpLocks/>
          </p:cNvGrpSpPr>
          <p:nvPr/>
        </p:nvGrpSpPr>
        <p:grpSpPr bwMode="auto">
          <a:xfrm>
            <a:off x="2419350" y="4471988"/>
            <a:ext cx="2305050" cy="962025"/>
            <a:chOff x="1428" y="2660"/>
            <a:chExt cx="1452" cy="606"/>
          </a:xfrm>
        </p:grpSpPr>
        <p:sp>
          <p:nvSpPr>
            <p:cNvPr id="458760" name="AutoShape 8">
              <a:extLst>
                <a:ext uri="{FF2B5EF4-FFF2-40B4-BE49-F238E27FC236}">
                  <a16:creationId xmlns:a16="http://schemas.microsoft.com/office/drawing/2014/main" id="{FD8DF0F6-8498-4E1E-B17B-C3868F8EF5C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63" y="2025"/>
              <a:ext cx="181" cy="1452"/>
            </a:xfrm>
            <a:prstGeom prst="leftBrace">
              <a:avLst>
                <a:gd name="adj1" fmla="val 66851"/>
                <a:gd name="adj2" fmla="val 50000"/>
              </a:avLst>
            </a:prstGeom>
            <a:noFill/>
            <a:ln w="28575" cap="sq">
              <a:solidFill>
                <a:srgbClr val="660033"/>
              </a:solidFill>
              <a:round/>
              <a:headEnd type="none" w="sm" len="sm"/>
              <a:tailEnd type="none" w="sm" len="sm"/>
            </a:ln>
            <a:effectLst>
              <a:outerShdw dist="28398" dir="38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endParaRPr lang="zh-CN" altLang="zh-CN"/>
            </a:p>
          </p:txBody>
        </p:sp>
        <p:sp>
          <p:nvSpPr>
            <p:cNvPr id="458761" name="Text Box 9">
              <a:extLst>
                <a:ext uri="{FF2B5EF4-FFF2-40B4-BE49-F238E27FC236}">
                  <a16:creationId xmlns:a16="http://schemas.microsoft.com/office/drawing/2014/main" id="{BC2F39BB-777D-4DD9-BC25-766137319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931"/>
              <a:ext cx="1332" cy="335"/>
            </a:xfrm>
            <a:prstGeom prst="rect">
              <a:avLst/>
            </a:prstGeom>
            <a:solidFill>
              <a:srgbClr val="00008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数据类型</a:t>
              </a:r>
            </a:p>
          </p:txBody>
        </p:sp>
      </p:grpSp>
      <p:grpSp>
        <p:nvGrpSpPr>
          <p:cNvPr id="458762" name="Group 10">
            <a:extLst>
              <a:ext uri="{FF2B5EF4-FFF2-40B4-BE49-F238E27FC236}">
                <a16:creationId xmlns:a16="http://schemas.microsoft.com/office/drawing/2014/main" id="{FC04DACC-6FA6-433F-80CD-3B2E113A8050}"/>
              </a:ext>
            </a:extLst>
          </p:cNvPr>
          <p:cNvGrpSpPr>
            <a:grpSpLocks/>
          </p:cNvGrpSpPr>
          <p:nvPr/>
        </p:nvGrpSpPr>
        <p:grpSpPr bwMode="auto">
          <a:xfrm>
            <a:off x="5588000" y="4471988"/>
            <a:ext cx="2690813" cy="962025"/>
            <a:chOff x="3424" y="2660"/>
            <a:chExt cx="1695" cy="606"/>
          </a:xfrm>
        </p:grpSpPr>
        <p:sp>
          <p:nvSpPr>
            <p:cNvPr id="458763" name="AutoShape 11">
              <a:extLst>
                <a:ext uri="{FF2B5EF4-FFF2-40B4-BE49-F238E27FC236}">
                  <a16:creationId xmlns:a16="http://schemas.microsoft.com/office/drawing/2014/main" id="{C2E9CC36-0385-41E4-8746-7A7A593DC6C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195" y="2025"/>
              <a:ext cx="181" cy="1452"/>
            </a:xfrm>
            <a:prstGeom prst="leftBrace">
              <a:avLst>
                <a:gd name="adj1" fmla="val 66851"/>
                <a:gd name="adj2" fmla="val 50000"/>
              </a:avLst>
            </a:prstGeom>
            <a:noFill/>
            <a:ln w="28575" cap="sq">
              <a:solidFill>
                <a:srgbClr val="660033"/>
              </a:solidFill>
              <a:round/>
              <a:headEnd type="none" w="sm" len="sm"/>
              <a:tailEnd type="none" w="sm" len="sm"/>
            </a:ln>
            <a:effectLst>
              <a:outerShdw dist="28398" dir="38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endParaRPr lang="zh-CN" altLang="zh-CN"/>
            </a:p>
          </p:txBody>
        </p:sp>
        <p:sp>
          <p:nvSpPr>
            <p:cNvPr id="458764" name="Text Box 12">
              <a:extLst>
                <a:ext uri="{FF2B5EF4-FFF2-40B4-BE49-F238E27FC236}">
                  <a16:creationId xmlns:a16="http://schemas.microsoft.com/office/drawing/2014/main" id="{653F7BA6-66C7-40E0-AFC7-8317ABBFC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931"/>
              <a:ext cx="1695" cy="335"/>
            </a:xfrm>
            <a:prstGeom prst="rect">
              <a:avLst/>
            </a:prstGeom>
            <a:solidFill>
              <a:srgbClr val="00008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完整性约束</a:t>
              </a:r>
            </a:p>
          </p:txBody>
        </p:sp>
      </p:grpSp>
      <p:graphicFrame>
        <p:nvGraphicFramePr>
          <p:cNvPr id="458824" name="Group 72">
            <a:extLst>
              <a:ext uri="{FF2B5EF4-FFF2-40B4-BE49-F238E27FC236}">
                <a16:creationId xmlns:a16="http://schemas.microsoft.com/office/drawing/2014/main" id="{155CBF7B-062A-45FA-97BE-07B5CD73729B}"/>
              </a:ext>
            </a:extLst>
          </p:cNvPr>
          <p:cNvGraphicFramePr>
            <a:graphicFrameLocks noGrp="1"/>
          </p:cNvGraphicFramePr>
          <p:nvPr/>
        </p:nvGraphicFramePr>
        <p:xfrm>
          <a:off x="547688" y="2108200"/>
          <a:ext cx="8353425" cy="213004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6188281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395820545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425893967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16338792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9493182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11770465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581121216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173244524"/>
                    </a:ext>
                  </a:extLst>
                </a:gridCol>
              </a:tblGrid>
              <a:tr h="490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字段名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宽度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小数位数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主键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外键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NULL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其它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72191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char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相对于学生关系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596187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char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相对于课程关系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972081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0-100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550464"/>
                  </a:ext>
                </a:extLst>
              </a:tr>
            </a:tbl>
          </a:graphicData>
        </a:graphic>
      </p:graphicFrame>
      <p:sp>
        <p:nvSpPr>
          <p:cNvPr id="458812" name="Rectangle 60">
            <a:extLst>
              <a:ext uri="{FF2B5EF4-FFF2-40B4-BE49-F238E27FC236}">
                <a16:creationId xmlns:a16="http://schemas.microsoft.com/office/drawing/2014/main" id="{D736EE9D-AA08-45EA-8374-3401A7CE3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338" y="3667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 sz="2800" i="1"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zh-CN" altLang="en-US" sz="280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：教学管理数据库系统中的学习关系</a:t>
            </a:r>
            <a:r>
              <a:rPr lang="en-US" altLang="zh-CN" sz="280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027"/>
    </mc:Choice>
    <mc:Fallback xmlns="">
      <p:transition spd="slow" advTm="1360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5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5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DFD6C8C4-3F52-4C0E-9E49-954E6B725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45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660066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660066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典型的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数据类型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CHAR(m)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：长度为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的字符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串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型数据，长度不够时用空白字符补充，不超过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240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 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VARCHAR(m)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：长度小于等于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的字符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串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型数据，长度不够时不补充其它字符。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INT / INTEGER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：长整型数据。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DATE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：日期型数据，形式为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YYYY-MM-DD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，分别表示年、月、日。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FAB15C7-175E-4AB5-8F5D-95F78616B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18"/>
    </mc:Choice>
    <mc:Fallback xmlns="">
      <p:transition spd="slow" advTm="960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772C26D4-BC0F-422D-BDCA-AA2C830F6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76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典型的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列的完整性约束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① NULL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：指出该列可以为空值。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② 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NOT NULL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：指出该列不能为空值。每一个表中至少应有一个列的可选项为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NOT NULL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③</a:t>
            </a:r>
            <a:r>
              <a:rPr lang="zh-CN" altLang="en-US" dirty="0"/>
              <a:t>  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PRIMARY KEY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：指出该列名为表的主键。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FEEA15C-66D2-4209-A8A9-E9459F17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08"/>
    </mc:Choice>
    <mc:Fallback xmlns="">
      <p:transition spd="slow" advTm="655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4" name="Rectangle 4">
            <a:extLst>
              <a:ext uri="{FF2B5EF4-FFF2-40B4-BE49-F238E27FC236}">
                <a16:creationId xmlns:a16="http://schemas.microsoft.com/office/drawing/2014/main" id="{3884CEFD-9591-429C-85BD-30076569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  <p:sp>
        <p:nvSpPr>
          <p:cNvPr id="455685" name="Text Box 5">
            <a:extLst>
              <a:ext uri="{FF2B5EF4-FFF2-40B4-BE49-F238E27FC236}">
                <a16:creationId xmlns:a16="http://schemas.microsoft.com/office/drawing/2014/main" id="{92ADDA3E-BC07-413E-BB35-D4AE64B48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10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5.1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1.11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所示的大学教学管理数据库中的专业关系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，可用如下的表定义语句定义：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4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SS</a:t>
            </a:r>
          </a:p>
          <a:p>
            <a:pPr>
              <a:lnSpc>
                <a:spcPct val="13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SCODE#  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CHAR(5)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PRIMARY KEY,</a:t>
            </a:r>
          </a:p>
          <a:p>
            <a:pPr>
              <a:lnSpc>
                <a:spcPct val="13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SSNAME  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VARCHAR(30)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NOT NULL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050"/>
    </mc:Choice>
    <mc:Fallback xmlns="">
      <p:transition spd="slow" advTm="92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5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5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5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60" name="Text Box 4">
            <a:extLst>
              <a:ext uri="{FF2B5EF4-FFF2-40B4-BE49-F238E27FC236}">
                <a16:creationId xmlns:a16="http://schemas.microsoft.com/office/drawing/2014/main" id="{1B463B58-7AAA-41CE-9249-A9E86A6DE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378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典型的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列的完整性约束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zh-CN" altLang="pt-BR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④ 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DEFAULT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：给所在的列设置一个缺省值。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DEFAULT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缺省值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/>
              <a:t> </a:t>
            </a:r>
            <a:endParaRPr lang="zh-CN" altLang="en-US" sz="2800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pt-BR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⑤</a:t>
            </a:r>
            <a:r>
              <a:rPr lang="zh-CN" altLang="pt-BR" dirty="0"/>
              <a:t> 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：指出该列的值只能取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约束条件范围的值。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CHECK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值的约束条件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/>
              <a:t> </a:t>
            </a:r>
          </a:p>
        </p:txBody>
      </p:sp>
      <p:sp>
        <p:nvSpPr>
          <p:cNvPr id="454661" name="Rectangle 5">
            <a:extLst>
              <a:ext uri="{FF2B5EF4-FFF2-40B4-BE49-F238E27FC236}">
                <a16:creationId xmlns:a16="http://schemas.microsoft.com/office/drawing/2014/main" id="{C798B117-25A4-4050-A58D-D6872DE33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84"/>
    </mc:Choice>
    <mc:Fallback xmlns="">
      <p:transition spd="slow" advTm="46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4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54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54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54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454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Text Box 3">
            <a:extLst>
              <a:ext uri="{FF2B5EF4-FFF2-40B4-BE49-F238E27FC236}">
                <a16:creationId xmlns:a16="http://schemas.microsoft.com/office/drawing/2014/main" id="{087CE62B-DFD3-4084-8427-97944B628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686800" cy="160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58370" name="Text Box 2">
            <a:extLst>
              <a:ext uri="{FF2B5EF4-FFF2-40B4-BE49-F238E27FC236}">
                <a16:creationId xmlns:a16="http://schemas.microsoft.com/office/drawing/2014/main" id="{8FBED96A-A7A9-49A6-9581-3C9AD8AEB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8458200" cy="581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5.2  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1.11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所示的大学教学管理数据库中的学生关系表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，可用如下的表定义语句定义：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  S</a:t>
            </a:r>
            <a:endParaRPr lang="en-US" altLang="zh-CN" sz="2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S#                 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CHAR(9)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PRIMARY KEY</a:t>
            </a: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SNAME      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CHAR(10)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NOT NULL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SSEX           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CHAR(2)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CHECK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(SSEX IN (′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男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′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′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女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′))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SBIRTHIN  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DATE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NOT NULL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PLACEOFB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CHAR(16)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SCODE#      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CHAR(5)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NOT NULL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CLASS           </a:t>
            </a:r>
            <a:r>
              <a:rPr lang="en-US" altLang="zh-CN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CHAR(5)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NOT NULL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）；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08"/>
    </mc:Choice>
    <mc:Fallback xmlns="">
      <p:transition spd="slow" advTm="51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8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83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0E9F5171-815B-483F-939D-6CFCA05C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9825"/>
            <a:ext cx="84582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2005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的查询编辑器，实现创建例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的表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的过程如下：</a:t>
            </a:r>
            <a:r>
              <a:rPr lang="zh-CN" altLang="en-US"/>
              <a:t> 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endParaRPr lang="zh-CN" altLang="en-US" sz="2800">
              <a:solidFill>
                <a:srgbClr val="003366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endParaRPr lang="en-US" altLang="zh-CN" sz="28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7490E5C-2610-46EE-84FC-58FFBC615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88"/>
    </mc:Choice>
    <mc:Fallback xmlns="">
      <p:transition spd="slow" advTm="116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80" name="Text Box 4">
            <a:extLst>
              <a:ext uri="{FF2B5EF4-FFF2-40B4-BE49-F238E27FC236}">
                <a16:creationId xmlns:a16="http://schemas.microsoft.com/office/drawing/2014/main" id="{1CD245B2-D0E3-47AD-B22A-B124696E6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86407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2005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查询编辑器创建表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过程：</a:t>
            </a:r>
            <a:endParaRPr lang="zh-CN" altLang="en-US" sz="29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9782" name="Text Box 6">
            <a:extLst>
              <a:ext uri="{FF2B5EF4-FFF2-40B4-BE49-F238E27FC236}">
                <a16:creationId xmlns:a16="http://schemas.microsoft.com/office/drawing/2014/main" id="{0F78B48F-341F-46A7-AB5C-7E7D3FF2E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9825"/>
            <a:ext cx="84582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）启动</a:t>
            </a:r>
            <a:r>
              <a:rPr lang="en-US" altLang="zh-CN" sz="2800" b="1">
                <a:latin typeface="宋体" panose="02010600030101010101" pitchFamily="2" charset="-122"/>
              </a:rPr>
              <a:t>SQL Server Management Studio</a:t>
            </a:r>
            <a:r>
              <a:rPr lang="zh-CN" altLang="en-US" sz="2800" b="1">
                <a:latin typeface="宋体" panose="02010600030101010101" pitchFamily="2" charset="-122"/>
              </a:rPr>
              <a:t>工具，并连接到当前服务器。单击工具栏中“</a:t>
            </a:r>
            <a:r>
              <a:rPr lang="zh-CN" altLang="en-US" sz="2800" b="1">
                <a:solidFill>
                  <a:srgbClr val="660066"/>
                </a:solidFill>
                <a:latin typeface="宋体" panose="02010600030101010101" pitchFamily="2" charset="-122"/>
              </a:rPr>
              <a:t>新建查询（</a:t>
            </a:r>
            <a:r>
              <a:rPr lang="en-US" altLang="zh-CN" sz="2800" b="1" u="sng">
                <a:solidFill>
                  <a:srgbClr val="660066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660066"/>
                </a:solidFill>
                <a:latin typeface="宋体" panose="02010600030101010101" pitchFamily="2" charset="-122"/>
              </a:rPr>
              <a:t>）”按钮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右栏显示查询编辑器窗口</a:t>
            </a: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6666"/>
                </a:solidFill>
                <a:latin typeface="宋体" panose="02010600030101010101" pitchFamily="2" charset="-122"/>
              </a:rPr>
              <a:t>：</a:t>
            </a:r>
            <a:r>
              <a:rPr lang="zh-CN" altLang="en-US"/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endParaRPr lang="zh-CN" altLang="en-US" sz="2800">
              <a:solidFill>
                <a:srgbClr val="003366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endParaRPr lang="en-US" altLang="zh-CN" sz="28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9783" name="Picture 7">
            <a:extLst>
              <a:ext uri="{FF2B5EF4-FFF2-40B4-BE49-F238E27FC236}">
                <a16:creationId xmlns:a16="http://schemas.microsoft.com/office/drawing/2014/main" id="{F41B96F0-2466-4FF1-B7F0-87F6786B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124200"/>
            <a:ext cx="4648200" cy="322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9784" name="Line 8">
            <a:extLst>
              <a:ext uri="{FF2B5EF4-FFF2-40B4-BE49-F238E27FC236}">
                <a16:creationId xmlns:a16="http://schemas.microsoft.com/office/drawing/2014/main" id="{06B07F38-AE96-47CC-BCFA-E1E066E5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71800"/>
            <a:ext cx="685800" cy="53340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39"/>
    </mc:Choice>
    <mc:Fallback xmlns="">
      <p:transition spd="slow" advTm="247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8" name="Text Box 4">
            <a:extLst>
              <a:ext uri="{FF2B5EF4-FFF2-40B4-BE49-F238E27FC236}">
                <a16:creationId xmlns:a16="http://schemas.microsoft.com/office/drawing/2014/main" id="{835BC6BA-13CD-4F31-9EE4-27F1963B6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86407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2005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查询编辑器创建表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过程：</a:t>
            </a:r>
            <a:endParaRPr lang="zh-CN" altLang="en-US" sz="29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1829" name="Text Box 5">
            <a:extLst>
              <a:ext uri="{FF2B5EF4-FFF2-40B4-BE49-F238E27FC236}">
                <a16:creationId xmlns:a16="http://schemas.microsoft.com/office/drawing/2014/main" id="{5A2D052B-2C21-4347-A64B-FC60ADAF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9825"/>
            <a:ext cx="8458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）在“</a:t>
            </a:r>
            <a:r>
              <a:rPr lang="zh-CN" altLang="en-US" sz="2800" b="1">
                <a:solidFill>
                  <a:srgbClr val="660066"/>
                </a:solidFill>
                <a:latin typeface="宋体" panose="02010600030101010101" pitchFamily="2" charset="-122"/>
              </a:rPr>
              <a:t>可用数据库</a:t>
            </a:r>
            <a:r>
              <a:rPr lang="zh-CN" altLang="en-US" sz="2800" b="1">
                <a:latin typeface="宋体" panose="02010600030101010101" pitchFamily="2" charset="-122"/>
              </a:rPr>
              <a:t>”中选择当前操作的数据库为“</a:t>
            </a:r>
            <a:r>
              <a:rPr lang="en-US" altLang="zh-CN" sz="2800" b="1">
                <a:latin typeface="宋体" panose="02010600030101010101" pitchFamily="2" charset="-122"/>
              </a:rPr>
              <a:t>JXGL”</a:t>
            </a:r>
            <a:r>
              <a:rPr lang="zh-CN" altLang="en-US" sz="2800" b="1">
                <a:latin typeface="宋体" panose="02010600030101010101" pitchFamily="2" charset="-122"/>
              </a:rPr>
              <a:t>数据库 ：  </a:t>
            </a:r>
          </a:p>
        </p:txBody>
      </p:sp>
      <p:pic>
        <p:nvPicPr>
          <p:cNvPr id="461830" name="Picture 6">
            <a:extLst>
              <a:ext uri="{FF2B5EF4-FFF2-40B4-BE49-F238E27FC236}">
                <a16:creationId xmlns:a16="http://schemas.microsoft.com/office/drawing/2014/main" id="{AE887F3A-CD52-4CB0-B652-C482A0A9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3" t="14162" r="21483" b="30637"/>
          <a:stretch>
            <a:fillRect/>
          </a:stretch>
        </p:blipFill>
        <p:spPr bwMode="auto">
          <a:xfrm>
            <a:off x="1905000" y="2438400"/>
            <a:ext cx="5867400" cy="408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831" name="Line 7">
            <a:extLst>
              <a:ext uri="{FF2B5EF4-FFF2-40B4-BE49-F238E27FC236}">
                <a16:creationId xmlns:a16="http://schemas.microsoft.com/office/drawing/2014/main" id="{B665E609-F234-44EB-97E6-34E9FE171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828800"/>
            <a:ext cx="0" cy="129540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489"/>
    </mc:Choice>
    <mc:Fallback xmlns="">
      <p:transition spd="slow" advTm="6048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6" name="Text Box 4">
            <a:extLst>
              <a:ext uri="{FF2B5EF4-FFF2-40B4-BE49-F238E27FC236}">
                <a16:creationId xmlns:a16="http://schemas.microsoft.com/office/drawing/2014/main" id="{8D70AB7B-8767-4270-BF39-809A3929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86407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 Server 2005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查询编辑器创建表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过程：</a:t>
            </a:r>
            <a:endParaRPr lang="zh-CN" altLang="en-US" sz="29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3877" name="Text Box 5">
            <a:extLst>
              <a:ext uri="{FF2B5EF4-FFF2-40B4-BE49-F238E27FC236}">
                <a16:creationId xmlns:a16="http://schemas.microsoft.com/office/drawing/2014/main" id="{719B984E-24D9-4DAE-AA75-50AF242CA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9825"/>
            <a:ext cx="8458200" cy="188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</a:rPr>
              <a:t>）在</a:t>
            </a:r>
            <a:r>
              <a:rPr lang="zh-CN" altLang="en-US" sz="2800" b="1">
                <a:solidFill>
                  <a:srgbClr val="660066"/>
                </a:solidFill>
                <a:latin typeface="宋体" panose="02010600030101010101" pitchFamily="2" charset="-122"/>
              </a:rPr>
              <a:t>查询编辑器</a:t>
            </a:r>
            <a:r>
              <a:rPr lang="zh-CN" altLang="en-US" sz="2800" b="1">
                <a:latin typeface="宋体" panose="02010600030101010101" pitchFamily="2" charset="-122"/>
              </a:rPr>
              <a:t>中输入例</a:t>
            </a:r>
            <a:r>
              <a:rPr lang="en-US" altLang="zh-CN" sz="2800" b="1">
                <a:latin typeface="宋体" panose="02010600030101010101" pitchFamily="2" charset="-122"/>
              </a:rPr>
              <a:t>5.2</a:t>
            </a:r>
            <a:r>
              <a:rPr lang="zh-CN" altLang="en-US" sz="2800" b="1">
                <a:latin typeface="宋体" panose="02010600030101010101" pitchFamily="2" charset="-122"/>
              </a:rPr>
              <a:t>的创建表</a:t>
            </a:r>
            <a:r>
              <a:rPr lang="en-US" altLang="zh-CN" sz="2800" b="1">
                <a:latin typeface="宋体" panose="02010600030101010101" pitchFamily="2" charset="-122"/>
              </a:rPr>
              <a:t>S</a:t>
            </a:r>
            <a:r>
              <a:rPr lang="zh-CN" altLang="en-US" sz="2800" b="1">
                <a:latin typeface="宋体" panose="02010600030101010101" pitchFamily="2" charset="-122"/>
              </a:rPr>
              <a:t>的</a:t>
            </a:r>
            <a:r>
              <a:rPr lang="en-US" altLang="zh-CN" sz="2800" b="1">
                <a:latin typeface="宋体" panose="02010600030101010101" pitchFamily="2" charset="-122"/>
              </a:rPr>
              <a:t>SQL</a:t>
            </a:r>
            <a:r>
              <a:rPr lang="zh-CN" altLang="en-US" sz="2800" b="1">
                <a:latin typeface="宋体" panose="02010600030101010101" pitchFamily="2" charset="-122"/>
              </a:rPr>
              <a:t>语句，然后单击“！执行</a:t>
            </a:r>
            <a:r>
              <a:rPr lang="en-US" altLang="zh-CN" sz="2800" b="1">
                <a:latin typeface="宋体" panose="02010600030101010101" pitchFamily="2" charset="-122"/>
              </a:rPr>
              <a:t>(X)”</a:t>
            </a:r>
            <a:r>
              <a:rPr lang="zh-CN" altLang="en-US" sz="2800" b="1">
                <a:latin typeface="宋体" panose="02010600030101010101" pitchFamily="2" charset="-122"/>
              </a:rPr>
              <a:t>按钮，在“</a:t>
            </a:r>
            <a:r>
              <a:rPr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消息</a:t>
            </a:r>
            <a:r>
              <a:rPr lang="zh-CN" altLang="en-US" sz="2800" b="1">
                <a:latin typeface="宋体" panose="02010600030101010101" pitchFamily="2" charset="-122"/>
              </a:rPr>
              <a:t>”栏中显示“命令已成功完成”。 </a:t>
            </a:r>
          </a:p>
        </p:txBody>
      </p:sp>
      <p:pic>
        <p:nvPicPr>
          <p:cNvPr id="463879" name="Picture 7">
            <a:extLst>
              <a:ext uri="{FF2B5EF4-FFF2-40B4-BE49-F238E27FC236}">
                <a16:creationId xmlns:a16="http://schemas.microsoft.com/office/drawing/2014/main" id="{A9EE3AA8-33A5-4147-A35B-93568583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8000"/>
            <a:ext cx="5181600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61"/>
    </mc:Choice>
    <mc:Fallback xmlns="">
      <p:transition spd="slow" advTm="3096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7" name="Text Box 7">
            <a:extLst>
              <a:ext uri="{FF2B5EF4-FFF2-40B4-BE49-F238E27FC236}">
                <a16:creationId xmlns:a16="http://schemas.microsoft.com/office/drawing/2014/main" id="{622711CF-7F10-42A9-8B9C-BD9BA58A9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1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 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表的完整性约束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lang="en-US" altLang="zh-CN" sz="280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①</a:t>
            </a:r>
            <a:r>
              <a:rPr lang="en-US" altLang="zh-CN"/>
              <a:t> </a:t>
            </a:r>
            <a:r>
              <a:rPr lang="zh-CN" altLang="pt-BR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表的主键约束子句，格式为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PRIMARY KEY(&lt;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主键列名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1&gt; </a:t>
            </a:r>
            <a:r>
              <a:rPr lang="en-US" altLang="zh-CN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主键列名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2&gt;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主键列名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r&gt;</a:t>
            </a:r>
            <a:r>
              <a:rPr lang="en-US" altLang="zh-CN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465928" name="Rectangle 8">
            <a:extLst>
              <a:ext uri="{FF2B5EF4-FFF2-40B4-BE49-F238E27FC236}">
                <a16:creationId xmlns:a16="http://schemas.microsoft.com/office/drawing/2014/main" id="{020EAE32-F7A7-45DC-A87C-01F65FFCC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758"/>
    </mc:Choice>
    <mc:Fallback xmlns="">
      <p:transition spd="slow" advTm="119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5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65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659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659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38FAFB1C-EA39-486C-8E81-24481CC86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1413"/>
            <a:ext cx="8458200" cy="453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5.3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大学教学管理数据库中的学习关系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SC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，可用如下的表定义语句定义： 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 TABLE   SC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S#  CHAR(9),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C#  CHAR(7)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GRADE  SMALLINT  DEFAULT(0),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 PRIMARY  KEY(S#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C#)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） ； 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906BB04-5396-46FD-8A31-E97DCE063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23"/>
    </mc:Choice>
    <mc:Fallback xmlns="">
      <p:transition spd="slow" advTm="570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E2FFB80A-14F7-4284-B42B-8931736D7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1413"/>
            <a:ext cx="8458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表的完整性约束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②  </a:t>
            </a:r>
            <a:r>
              <a:rPr lang="zh-CN" altLang="en-US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表的外键约束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zh-CN" altLang="en-US" sz="2800" b="1">
                <a:solidFill>
                  <a:srgbClr val="3366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格式为：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FOREIGN  KEY   (&lt;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1&gt;)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REFERENCE  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&gt;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2&gt;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  <a:p>
            <a:pPr algn="just">
              <a:lnSpc>
                <a:spcPct val="130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本子句定义了一个列名为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1&gt;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的外键，它与表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表名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2&gt;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相对应。</a:t>
            </a:r>
          </a:p>
          <a:p>
            <a:pPr algn="just">
              <a:lnSpc>
                <a:spcPct val="130000"/>
              </a:lnSpc>
              <a:spcBef>
                <a:spcPct val="1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显然，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“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2&gt;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在表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“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中是主键。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6E1D7CC-368C-493C-B677-4A4101FC0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66"/>
    </mc:Choice>
    <mc:Fallback xmlns="">
      <p:transition spd="slow" advTm="52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293E7F84-FF3D-437B-BF5A-20D57C149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2525"/>
            <a:ext cx="8534400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5.4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大学教学管理数据库中的学习关系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SC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，可重新用如下的表定义语句定义如下： 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  SC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S#   CHAR(9),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C#   CHAR(7)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/>
              <a:t>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GRADE  SMALLINT  DEFAULT(0),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PRIMARY  KEY(S#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C#)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FOREIGN  KEY  (C#)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REFERENCES  C (C#))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0CFB7B9-DB22-4323-9E1F-85B5F3681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20"/>
    </mc:Choice>
    <mc:Fallback xmlns="">
      <p:transition spd="slow" advTm="74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0D8DDBC4-B8A7-47C9-9DB9-B8A52420C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4588"/>
            <a:ext cx="8458200" cy="529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●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表的完整性约束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③ </a:t>
            </a:r>
            <a:r>
              <a:rPr lang="zh-CN" altLang="en-US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表检验</a:t>
            </a:r>
            <a:r>
              <a:rPr lang="en-US" altLang="zh-CN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CHECK</a:t>
            </a:r>
            <a:r>
              <a:rPr lang="zh-CN" altLang="en-US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约束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3366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CHECK   (&lt;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值的约束条件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&gt;)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指出该表中某列的值只能取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约束条件范围的值。与</a:t>
            </a:r>
            <a:r>
              <a:rPr lang="zh-CN" altLang="en-US" sz="27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列检验约束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所不同的是，表检验约束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子句是一个独立的子句而不是</a:t>
            </a:r>
            <a:r>
              <a:rPr lang="zh-CN" altLang="en-US" sz="27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子句中的一部分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表检验约束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CHECK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子句中的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值的约束条件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不仅可以是一个条件表达式，而且还可以是一个包含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SELECT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语句。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4D61B47-B95E-4764-90BC-315444026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896"/>
    </mc:Choice>
    <mc:Fallback xmlns="">
      <p:transition spd="slow" advTm="628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2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08211E46-5CAB-47A4-A184-EC3C00018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38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30000"/>
              </a:spcBef>
              <a:spcAft>
                <a:spcPct val="30000"/>
              </a:spcAft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5.5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大学教学管理数据库中的学习关系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SC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，还可用如下的表定义语句定义如下： </a:t>
            </a:r>
          </a:p>
          <a:p>
            <a:pPr algn="just">
              <a:lnSpc>
                <a:spcPct val="125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CREATE TABLE SC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S# CHAR(9),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C# CHAR(7)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GRADE SMALLINT  DEFAULT(0),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PRIMARY KEY(S#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C#)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FOREIGN KEY (C#) REFERENCES C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C#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lang="en-US" altLang="zh-CN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CHECK(GRADE  BETWEEN  0  AND  100))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0D6C6FE-17E3-4A2C-9F1F-E12C506CC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11"/>
    </mc:Choice>
    <mc:Fallback xmlns="">
      <p:transition spd="slow" advTm="426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4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3628</TotalTime>
  <Words>1137</Words>
  <Application>Microsoft Office PowerPoint</Application>
  <PresentationFormat>全屏显示(4:3)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黑体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410</cp:revision>
  <cp:lastPrinted>1601-01-01T00:00:00Z</cp:lastPrinted>
  <dcterms:created xsi:type="dcterms:W3CDTF">1601-01-01T00:00:00Z</dcterms:created>
  <dcterms:modified xsi:type="dcterms:W3CDTF">2021-04-12T15:07:20Z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