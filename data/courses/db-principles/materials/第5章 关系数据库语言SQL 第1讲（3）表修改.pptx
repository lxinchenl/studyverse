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handoutMasterIdLst>
    <p:handoutMasterId r:id="rId19"/>
  </p:handoutMasterIdLst>
  <p:sldIdLst>
    <p:sldId id="297" r:id="rId2"/>
    <p:sldId id="298" r:id="rId3"/>
    <p:sldId id="299" r:id="rId4"/>
    <p:sldId id="300" r:id="rId5"/>
    <p:sldId id="301" r:id="rId6"/>
    <p:sldId id="302" r:id="rId7"/>
    <p:sldId id="303" r:id="rId8"/>
    <p:sldId id="304" r:id="rId9"/>
    <p:sldId id="305" r:id="rId10"/>
    <p:sldId id="283" r:id="rId11"/>
    <p:sldId id="308" r:id="rId12"/>
    <p:sldId id="309" r:id="rId13"/>
    <p:sldId id="310" r:id="rId14"/>
    <p:sldId id="311" r:id="rId15"/>
    <p:sldId id="312" r:id="rId16"/>
    <p:sldId id="502" r:id="rId17"/>
    <p:sldId id="438" r:id="rId18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20000"/>
      </a:spcBef>
      <a:spcAft>
        <a:spcPct val="0"/>
      </a:spcAft>
      <a:buSzPct val="100000"/>
      <a:buFont typeface="Wingdings" panose="05000000000000000000" pitchFamily="2" charset="2"/>
      <a:buChar char="•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20000"/>
      </a:spcBef>
      <a:spcAft>
        <a:spcPct val="0"/>
      </a:spcAft>
      <a:buSzPct val="100000"/>
      <a:buFont typeface="Wingdings" panose="05000000000000000000" pitchFamily="2" charset="2"/>
      <a:buChar char="•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20000"/>
      </a:spcBef>
      <a:spcAft>
        <a:spcPct val="0"/>
      </a:spcAft>
      <a:buSzPct val="100000"/>
      <a:buFont typeface="Wingdings" panose="05000000000000000000" pitchFamily="2" charset="2"/>
      <a:buChar char="•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20000"/>
      </a:spcBef>
      <a:spcAft>
        <a:spcPct val="0"/>
      </a:spcAft>
      <a:buSzPct val="100000"/>
      <a:buFont typeface="Wingdings" panose="05000000000000000000" pitchFamily="2" charset="2"/>
      <a:buChar char="•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20000"/>
      </a:spcBef>
      <a:spcAft>
        <a:spcPct val="0"/>
      </a:spcAft>
      <a:buSzPct val="100000"/>
      <a:buFont typeface="Wingdings" panose="05000000000000000000" pitchFamily="2" charset="2"/>
      <a:buChar char="•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66"/>
    <a:srgbClr val="FA7406"/>
    <a:srgbClr val="FF0066"/>
    <a:srgbClr val="000000"/>
    <a:srgbClr val="CCFFFF"/>
    <a:srgbClr val="000066"/>
    <a:srgbClr val="006666"/>
    <a:srgbClr val="969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62" autoAdjust="0"/>
    <p:restoredTop sz="94660"/>
  </p:normalViewPr>
  <p:slideViewPr>
    <p:cSldViewPr>
      <p:cViewPr varScale="1">
        <p:scale>
          <a:sx n="125" d="100"/>
          <a:sy n="125" d="100"/>
        </p:scale>
        <p:origin x="1668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7" d="100"/>
          <a:sy n="67" d="100"/>
        </p:scale>
        <p:origin x="-2880" y="-11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330" name="Rectangle 2">
            <a:extLst>
              <a:ext uri="{FF2B5EF4-FFF2-40B4-BE49-F238E27FC236}">
                <a16:creationId xmlns:a16="http://schemas.microsoft.com/office/drawing/2014/main" id="{7964C852-ECFB-462A-987E-C24B862D4F5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SzTx/>
              <a:buFontTx/>
              <a:buNone/>
              <a:defRPr sz="1200"/>
            </a:lvl1pPr>
          </a:lstStyle>
          <a:p>
            <a:endParaRPr lang="en-US" altLang="zh-CN"/>
          </a:p>
        </p:txBody>
      </p:sp>
      <p:sp>
        <p:nvSpPr>
          <p:cNvPr id="483331" name="Rectangle 3">
            <a:extLst>
              <a:ext uri="{FF2B5EF4-FFF2-40B4-BE49-F238E27FC236}">
                <a16:creationId xmlns:a16="http://schemas.microsoft.com/office/drawing/2014/main" id="{813DDAA2-D58D-4D14-977D-E8DB3FCAEE2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SzTx/>
              <a:buFontTx/>
              <a:buNone/>
              <a:defRPr sz="1200"/>
            </a:lvl1pPr>
          </a:lstStyle>
          <a:p>
            <a:endParaRPr lang="en-US" altLang="zh-CN"/>
          </a:p>
        </p:txBody>
      </p:sp>
      <p:sp>
        <p:nvSpPr>
          <p:cNvPr id="483332" name="Rectangle 4">
            <a:extLst>
              <a:ext uri="{FF2B5EF4-FFF2-40B4-BE49-F238E27FC236}">
                <a16:creationId xmlns:a16="http://schemas.microsoft.com/office/drawing/2014/main" id="{3C187B11-0FC6-4B75-9F74-254EBB13BFB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SzTx/>
              <a:buFontTx/>
              <a:buNone/>
              <a:defRPr sz="1200"/>
            </a:lvl1pPr>
          </a:lstStyle>
          <a:p>
            <a:endParaRPr lang="en-US" altLang="zh-CN"/>
          </a:p>
        </p:txBody>
      </p:sp>
      <p:sp>
        <p:nvSpPr>
          <p:cNvPr id="483333" name="Rectangle 5">
            <a:extLst>
              <a:ext uri="{FF2B5EF4-FFF2-40B4-BE49-F238E27FC236}">
                <a16:creationId xmlns:a16="http://schemas.microsoft.com/office/drawing/2014/main" id="{C24DD3C5-DD87-4C40-8BAA-D9F21950FC4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SzTx/>
              <a:buFontTx/>
              <a:buNone/>
              <a:defRPr sz="1200"/>
            </a:lvl1pPr>
          </a:lstStyle>
          <a:p>
            <a:fld id="{6AECF612-F321-4D40-8ADF-D2CBE6831B0A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5442" name="Group 2">
            <a:extLst>
              <a:ext uri="{FF2B5EF4-FFF2-40B4-BE49-F238E27FC236}">
                <a16:creationId xmlns:a16="http://schemas.microsoft.com/office/drawing/2014/main" id="{C988F487-D4DF-4B24-8CCC-F0B85FE5D49E}"/>
              </a:ext>
            </a:extLst>
          </p:cNvPr>
          <p:cNvGrpSpPr>
            <a:grpSpLocks/>
          </p:cNvGrpSpPr>
          <p:nvPr/>
        </p:nvGrpSpPr>
        <p:grpSpPr bwMode="auto">
          <a:xfrm>
            <a:off x="0" y="1797050"/>
            <a:ext cx="9009063" cy="1052513"/>
            <a:chOff x="0" y="1536"/>
            <a:chExt cx="5675" cy="663"/>
          </a:xfrm>
        </p:grpSpPr>
        <p:grpSp>
          <p:nvGrpSpPr>
            <p:cNvPr id="445443" name="Group 3">
              <a:extLst>
                <a:ext uri="{FF2B5EF4-FFF2-40B4-BE49-F238E27FC236}">
                  <a16:creationId xmlns:a16="http://schemas.microsoft.com/office/drawing/2014/main" id="{3F283A75-3DB0-40F6-BFDF-1D5B072545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445444" name="Rectangle 4">
                <a:extLst>
                  <a:ext uri="{FF2B5EF4-FFF2-40B4-BE49-F238E27FC236}">
                    <a16:creationId xmlns:a16="http://schemas.microsoft.com/office/drawing/2014/main" id="{0496C4AF-C67B-40C3-ACC4-09D20EF460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5445" name="Rectangle 5">
                <a:extLst>
                  <a:ext uri="{FF2B5EF4-FFF2-40B4-BE49-F238E27FC236}">
                    <a16:creationId xmlns:a16="http://schemas.microsoft.com/office/drawing/2014/main" id="{75D52CAF-0BDB-4B7B-8967-78A023EC5F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45446" name="Group 6">
              <a:extLst>
                <a:ext uri="{FF2B5EF4-FFF2-40B4-BE49-F238E27FC236}">
                  <a16:creationId xmlns:a16="http://schemas.microsoft.com/office/drawing/2014/main" id="{B26647F1-917B-4531-B318-66747E4385A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445447" name="Rectangle 7">
                <a:extLst>
                  <a:ext uri="{FF2B5EF4-FFF2-40B4-BE49-F238E27FC236}">
                    <a16:creationId xmlns:a16="http://schemas.microsoft.com/office/drawing/2014/main" id="{C6F2785E-557A-4270-BE8C-B279FEB34F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5448" name="Rectangle 8">
                <a:extLst>
                  <a:ext uri="{FF2B5EF4-FFF2-40B4-BE49-F238E27FC236}">
                    <a16:creationId xmlns:a16="http://schemas.microsoft.com/office/drawing/2014/main" id="{A3BA97AB-BC64-4E62-A60E-322AEDF2CD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45449" name="Rectangle 9">
              <a:extLst>
                <a:ext uri="{FF2B5EF4-FFF2-40B4-BE49-F238E27FC236}">
                  <a16:creationId xmlns:a16="http://schemas.microsoft.com/office/drawing/2014/main" id="{BACC82C6-C697-4E07-83BB-B4AE533E2A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5450" name="Rectangle 10">
              <a:extLst>
                <a:ext uri="{FF2B5EF4-FFF2-40B4-BE49-F238E27FC236}">
                  <a16:creationId xmlns:a16="http://schemas.microsoft.com/office/drawing/2014/main" id="{1C0AC0F3-EB7A-4019-98C0-CE74937ABD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5451" name="Rectangle 11">
              <a:extLst>
                <a:ext uri="{FF2B5EF4-FFF2-40B4-BE49-F238E27FC236}">
                  <a16:creationId xmlns:a16="http://schemas.microsoft.com/office/drawing/2014/main" id="{30FAD1B4-197C-4D76-95AE-5236169978E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45452" name="Rectangle 12">
            <a:extLst>
              <a:ext uri="{FF2B5EF4-FFF2-40B4-BE49-F238E27FC236}">
                <a16:creationId xmlns:a16="http://schemas.microsoft.com/office/drawing/2014/main" id="{B28E1FB2-13EB-4718-B2F3-9FBBA143C9E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827088" y="1143000"/>
            <a:ext cx="8137525" cy="1462088"/>
          </a:xfrm>
        </p:spPr>
        <p:txBody>
          <a:bodyPr/>
          <a:lstStyle>
            <a:lvl1pPr algn="ctr">
              <a:defRPr sz="4800">
                <a:ea typeface="隶书" panose="02010509060101010101" pitchFamily="49" charset="-122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445453" name="Rectangle 13">
            <a:extLst>
              <a:ext uri="{FF2B5EF4-FFF2-40B4-BE49-F238E27FC236}">
                <a16:creationId xmlns:a16="http://schemas.microsoft.com/office/drawing/2014/main" id="{00247A5B-A9C6-4FE7-B624-0AE5CC5EDD9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445454" name="Rectangle 14">
            <a:extLst>
              <a:ext uri="{FF2B5EF4-FFF2-40B4-BE49-F238E27FC236}">
                <a16:creationId xmlns:a16="http://schemas.microsoft.com/office/drawing/2014/main" id="{C7DC30C4-91F2-43E1-8340-AB60229B87F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445455" name="Rectangle 15">
            <a:extLst>
              <a:ext uri="{FF2B5EF4-FFF2-40B4-BE49-F238E27FC236}">
                <a16:creationId xmlns:a16="http://schemas.microsoft.com/office/drawing/2014/main" id="{6CC6D569-8819-4554-AF02-0C5B005878D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445456" name="Rectangle 16">
            <a:extLst>
              <a:ext uri="{FF2B5EF4-FFF2-40B4-BE49-F238E27FC236}">
                <a16:creationId xmlns:a16="http://schemas.microsoft.com/office/drawing/2014/main" id="{223515A0-4279-437E-BF94-DFB112B223C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zh-CN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1000"/>
                                        <p:tgtEl>
                                          <p:spTgt spid="445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5452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E3A68B-C2F4-45CF-B2EC-28128C6D8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A90FB9-4CD5-4157-A380-A95F01CE5B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B0F941-7E67-43B1-A8E9-FFF4C0912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8686AF-58D0-46B9-84FB-90AA6B281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91FA35-F3AC-4C94-B161-DDE096E3B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625736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E65DC3-820E-4600-91F8-3D6A6D373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4160B69-B590-4FB9-AC10-0E12D866E2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FE5AB3-C95E-4E69-89B0-5C449A9CC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757EE3-8223-4A93-AA2B-196010450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F025D9-6233-4009-8219-3DB7C65B5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264478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BF2C7E-B28D-4DEE-A45B-2ABD1C8EC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8325483-C1E9-4C25-A581-082F03F837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1188" y="1258888"/>
            <a:ext cx="3919537" cy="53387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6573D30-1BF2-40C8-82AA-F04ED0BC2F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83125" y="1258888"/>
            <a:ext cx="3921125" cy="53387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B34C224-4B27-4C82-8E84-EA1BFD61B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03CBD95-0A27-456A-802A-F62EE1088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F8E3391-2397-496B-8F5E-A79D9BAEE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242216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BAF36E-607B-4F77-A129-B7AFD78F1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F06DEA0-6774-4AD7-B87E-072D0A1B52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74E36DB-5989-4D4D-8B4D-7EFA2DD007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23AECD3-79DC-4893-A48C-A1EB1C2D7B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52D36C4-092C-4C78-A0DE-FCA69DEA97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90D1FA6-8159-409D-A0E4-F8466E401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EE91C53-328F-4D75-A4D5-90A1B9DA6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1392537-C8BF-442D-B437-76AE6F769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880058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F30C41-133B-4D7F-B3B3-C765A9FC2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796DD42-DB99-40FF-87E7-F6DFF1AB3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71AA661-6CB2-4913-882C-E0D98EB1A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B5457F2-ECCD-4399-ACE1-88FF298DE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190911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7E8B361-8FD8-4CC6-A9F7-78E835DC3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E96746-C3F9-4C11-B560-03F9541E3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A3B730-7788-4FC2-B2B6-85A7A13F6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366542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5506C1-90DC-4161-931B-851AB50C8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AEEC67-F78D-47B9-9C64-10084C1A0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FBB6E4E-7943-4BF5-BB2F-D2253CD073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D9F8AEB-7E84-437C-8007-E22B9788E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0B713E4-C5F3-493B-B36B-EA37CC4FA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E2F2387-80F3-45D1-9371-B68748781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175033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D0ABF8-A605-4B1B-B2F9-5E2BF6E5D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3266846-5D54-4E02-842E-1376F88C3D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58C6C17-B624-4784-B791-507CC96003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A520E83-0BAF-47E8-8834-905CC73AD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0FACF78-FD89-409A-ADAD-FC0026960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CA59CB9-A837-4281-A3B7-181DAC47A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320806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C44AEC-387B-4EFB-B5F6-0EEDA9EEB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0F128D4-3E87-4674-8460-43A6EFD27B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C74F6A-73CA-4AA7-B942-43CA323A5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6661F2-5C16-4B8B-817B-44042F533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0CEDDC-9357-439C-9A9C-683CB4166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234572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EE356F7-3153-4362-B331-5E7991B536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861175" y="214313"/>
            <a:ext cx="2082800" cy="638333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E92C45A-A37B-4BBA-888D-29A6E95673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1188" y="214313"/>
            <a:ext cx="6097587" cy="638333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D2B880-3D12-45AB-8368-58A650FDA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D6CFD4-FF21-4BF1-9006-E6D844C19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F15728-B0C6-4CC4-8D2A-2F0A028D0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76677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>
            <a:extLst>
              <a:ext uri="{FF2B5EF4-FFF2-40B4-BE49-F238E27FC236}">
                <a16:creationId xmlns:a16="http://schemas.microsoft.com/office/drawing/2014/main" id="{EF9A51B3-4ECA-43DC-B4DD-2C11D2C0F44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252413"/>
            <a:ext cx="438150" cy="47466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SzTx/>
              <a:buFontTx/>
              <a:buNone/>
            </a:pPr>
            <a:endParaRPr kumimoji="1" lang="zh-CN" altLang="zh-CN" sz="2400">
              <a:latin typeface="Tahoma" panose="020B0604030504040204" pitchFamily="34" charset="0"/>
            </a:endParaRPr>
          </a:p>
        </p:txBody>
      </p:sp>
      <p:sp>
        <p:nvSpPr>
          <p:cNvPr id="444419" name="Rectangle 3">
            <a:extLst>
              <a:ext uri="{FF2B5EF4-FFF2-40B4-BE49-F238E27FC236}">
                <a16:creationId xmlns:a16="http://schemas.microsoft.com/office/drawing/2014/main" id="{C1A1E673-7D4D-469E-A5E4-886D035D254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252413"/>
            <a:ext cx="328613" cy="474662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SzTx/>
              <a:buFontTx/>
              <a:buNone/>
            </a:pPr>
            <a:endParaRPr kumimoji="1" lang="zh-CN" altLang="zh-CN" sz="2400">
              <a:latin typeface="Tahoma" panose="020B0604030504040204" pitchFamily="34" charset="0"/>
            </a:endParaRPr>
          </a:p>
        </p:txBody>
      </p:sp>
      <p:sp>
        <p:nvSpPr>
          <p:cNvPr id="444420" name="Rectangle 4">
            <a:extLst>
              <a:ext uri="{FF2B5EF4-FFF2-40B4-BE49-F238E27FC236}">
                <a16:creationId xmlns:a16="http://schemas.microsoft.com/office/drawing/2014/main" id="{242C2999-31D7-4ADB-A0F3-E523C422114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674688"/>
            <a:ext cx="422275" cy="474662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SzTx/>
              <a:buFontTx/>
              <a:buNone/>
            </a:pPr>
            <a:endParaRPr kumimoji="1" lang="zh-CN" altLang="zh-CN" sz="2400">
              <a:latin typeface="Tahoma" panose="020B0604030504040204" pitchFamily="34" charset="0"/>
            </a:endParaRPr>
          </a:p>
        </p:txBody>
      </p:sp>
      <p:sp>
        <p:nvSpPr>
          <p:cNvPr id="444421" name="Rectangle 5">
            <a:extLst>
              <a:ext uri="{FF2B5EF4-FFF2-40B4-BE49-F238E27FC236}">
                <a16:creationId xmlns:a16="http://schemas.microsoft.com/office/drawing/2014/main" id="{FAD7A906-4DA5-422E-A1BC-E5C8BCD2C1F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674688"/>
            <a:ext cx="368300" cy="474662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SzTx/>
              <a:buFontTx/>
              <a:buNone/>
            </a:pPr>
            <a:endParaRPr kumimoji="1" lang="zh-CN" altLang="zh-CN" sz="2400">
              <a:latin typeface="Tahoma" panose="020B0604030504040204" pitchFamily="34" charset="0"/>
            </a:endParaRPr>
          </a:p>
        </p:txBody>
      </p:sp>
      <p:sp>
        <p:nvSpPr>
          <p:cNvPr id="444422" name="Rectangle 6">
            <a:extLst>
              <a:ext uri="{FF2B5EF4-FFF2-40B4-BE49-F238E27FC236}">
                <a16:creationId xmlns:a16="http://schemas.microsoft.com/office/drawing/2014/main" id="{37E3E620-8C8D-4583-B108-9C5B796676D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601663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SzTx/>
              <a:buFontTx/>
              <a:buNone/>
            </a:pPr>
            <a:endParaRPr kumimoji="1" lang="zh-CN" altLang="zh-CN" sz="2400">
              <a:latin typeface="Tahoma" panose="020B0604030504040204" pitchFamily="34" charset="0"/>
            </a:endParaRPr>
          </a:p>
        </p:txBody>
      </p:sp>
      <p:sp>
        <p:nvSpPr>
          <p:cNvPr id="444423" name="Rectangle 7">
            <a:extLst>
              <a:ext uri="{FF2B5EF4-FFF2-40B4-BE49-F238E27FC236}">
                <a16:creationId xmlns:a16="http://schemas.microsoft.com/office/drawing/2014/main" id="{CFDAB8C4-1BF2-492F-BC83-D3D51C69E489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144463"/>
            <a:ext cx="31750" cy="105251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SzTx/>
              <a:buFontTx/>
              <a:buNone/>
            </a:pPr>
            <a:endParaRPr kumimoji="1" lang="zh-CN" altLang="zh-CN" sz="2400">
              <a:latin typeface="Tahoma" panose="020B0604030504040204" pitchFamily="34" charset="0"/>
            </a:endParaRPr>
          </a:p>
        </p:txBody>
      </p:sp>
      <p:sp>
        <p:nvSpPr>
          <p:cNvPr id="444424" name="Rectangle 8">
            <a:extLst>
              <a:ext uri="{FF2B5EF4-FFF2-40B4-BE49-F238E27FC236}">
                <a16:creationId xmlns:a16="http://schemas.microsoft.com/office/drawing/2014/main" id="{5C3EDE52-607F-4ADB-B280-F41EF47C6643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935038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SzTx/>
              <a:buFontTx/>
              <a:buNone/>
            </a:pPr>
            <a:endParaRPr kumimoji="1" lang="zh-CN" altLang="zh-CN" sz="2400">
              <a:latin typeface="Tahoma" panose="020B0604030504040204" pitchFamily="34" charset="0"/>
            </a:endParaRPr>
          </a:p>
        </p:txBody>
      </p:sp>
      <p:sp>
        <p:nvSpPr>
          <p:cNvPr id="444425" name="Rectangle 9">
            <a:extLst>
              <a:ext uri="{FF2B5EF4-FFF2-40B4-BE49-F238E27FC236}">
                <a16:creationId xmlns:a16="http://schemas.microsoft.com/office/drawing/2014/main" id="{C68A6436-0350-4832-9E64-7A7AADF5E1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44426" name="Rectangle 10">
            <a:extLst>
              <a:ext uri="{FF2B5EF4-FFF2-40B4-BE49-F238E27FC236}">
                <a16:creationId xmlns:a16="http://schemas.microsoft.com/office/drawing/2014/main" id="{30BB7C70-3EEA-4249-8D1B-2855C6CB5F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258888"/>
            <a:ext cx="7993062" cy="533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44427" name="Rectangle 11">
            <a:extLst>
              <a:ext uri="{FF2B5EF4-FFF2-40B4-BE49-F238E27FC236}">
                <a16:creationId xmlns:a16="http://schemas.microsoft.com/office/drawing/2014/main" id="{B60D0195-3077-475D-9F6F-304DEE063F9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SzTx/>
              <a:buFontTx/>
              <a:buNone/>
              <a:defRPr sz="1400"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444428" name="Rectangle 12">
            <a:extLst>
              <a:ext uri="{FF2B5EF4-FFF2-40B4-BE49-F238E27FC236}">
                <a16:creationId xmlns:a16="http://schemas.microsoft.com/office/drawing/2014/main" id="{7FB2EA77-05AF-490C-A25A-2618186EFBF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SzTx/>
              <a:buFontTx/>
              <a:buNone/>
              <a:defRPr sz="1400"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444429" name="Rectangle 13">
            <a:extLst>
              <a:ext uri="{FF2B5EF4-FFF2-40B4-BE49-F238E27FC236}">
                <a16:creationId xmlns:a16="http://schemas.microsoft.com/office/drawing/2014/main" id="{717094F0-D21B-4497-A5E3-355A03572A8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SzTx/>
              <a:buFontTx/>
              <a:buNone/>
              <a:defRPr sz="1400">
                <a:latin typeface="+mn-lt"/>
              </a:defRPr>
            </a:lvl1pPr>
          </a:lstStyle>
          <a:p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3600" b="1" kern="12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defRPr sz="28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ext Box 2">
            <a:extLst>
              <a:ext uri="{FF2B5EF4-FFF2-40B4-BE49-F238E27FC236}">
                <a16:creationId xmlns:a16="http://schemas.microsoft.com/office/drawing/2014/main" id="{EEAD50AC-EC50-46D7-BCD5-873AF5A10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143000"/>
            <a:ext cx="8458200" cy="4943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 </a:t>
            </a:r>
            <a:r>
              <a:rPr lang="zh-CN" altLang="en-US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表的修改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 b="1">
                <a:solidFill>
                  <a:srgbClr val="8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      </a:t>
            </a:r>
            <a:r>
              <a:rPr lang="en-US" altLang="zh-CN" sz="2800" b="1">
                <a:solidFill>
                  <a:srgbClr val="8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(1) </a:t>
            </a:r>
            <a:r>
              <a:rPr lang="zh-CN" altLang="en-US" sz="2800" b="1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增加列</a:t>
            </a:r>
            <a:r>
              <a:rPr lang="zh-CN" altLang="en-US" sz="2800" b="1">
                <a:solidFill>
                  <a:srgbClr val="8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</a:p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 b="1">
                <a:latin typeface="宋体" panose="02010600030101010101" pitchFamily="2" charset="-122"/>
              </a:rPr>
              <a:t>    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在表的最后一列后面增加新的一列。</a:t>
            </a:r>
          </a:p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800" b="1">
                <a:solidFill>
                  <a:srgbClr val="3366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语句格式：</a:t>
            </a:r>
          </a:p>
          <a:p>
            <a:pPr algn="just">
              <a:lnSpc>
                <a:spcPct val="130000"/>
              </a:lnSpc>
              <a:spcBef>
                <a:spcPct val="30000"/>
              </a:spcBef>
              <a:buSzTx/>
              <a:buFontTx/>
              <a:buNone/>
            </a:pP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ALTER TABLE &lt;</a:t>
            </a:r>
            <a:r>
              <a:rPr lang="zh-CN" altLang="en-US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表名</a:t>
            </a: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 ADD &lt;</a:t>
            </a:r>
            <a:r>
              <a:rPr lang="zh-CN" altLang="en-US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增加的列名</a:t>
            </a: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</a:t>
            </a:r>
          </a:p>
          <a:p>
            <a:pPr algn="just">
              <a:lnSpc>
                <a:spcPct val="130000"/>
              </a:lnSpc>
              <a:spcBef>
                <a:spcPct val="5000"/>
              </a:spcBef>
              <a:spcAft>
                <a:spcPct val="10000"/>
              </a:spcAft>
              <a:buSzTx/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           &lt;</a:t>
            </a:r>
            <a:r>
              <a:rPr lang="zh-CN" altLang="en-US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数据类型</a:t>
            </a: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</a:t>
            </a:r>
            <a:r>
              <a:rPr lang="zh-CN" altLang="en-US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</a:p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 b="1">
                <a:solidFill>
                  <a:srgbClr val="66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注意：</a:t>
            </a:r>
            <a:r>
              <a:rPr lang="zh-CN" altLang="en-US" sz="2800" b="1">
                <a:solidFill>
                  <a:srgbClr val="006666"/>
                </a:solidFill>
                <a:latin typeface="楷体_GB2312" pitchFamily="49" charset="-122"/>
                <a:ea typeface="楷体_GB2312" pitchFamily="49" charset="-122"/>
              </a:rPr>
              <a:t>不允许将一个列插入到原表的中间。</a:t>
            </a:r>
          </a:p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endParaRPr lang="en-US" alt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4C445CCC-E74E-4143-8F29-CF0CF3FF64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一、表的定义、修改与撤消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3520"/>
    </mc:Choice>
    <mc:Fallback xmlns="">
      <p:transition spd="slow" advTm="635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65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665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665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665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1000"/>
                                        <p:tgtEl>
                                          <p:spTgt spid="665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1000"/>
                                        <p:tgtEl>
                                          <p:spTgt spid="665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1000"/>
                                        <p:tgtEl>
                                          <p:spTgt spid="665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 Box 2">
            <a:extLst>
              <a:ext uri="{FF2B5EF4-FFF2-40B4-BE49-F238E27FC236}">
                <a16:creationId xmlns:a16="http://schemas.microsoft.com/office/drawing/2014/main" id="{370B7459-39F6-448D-A244-A6BFF6173E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131888"/>
            <a:ext cx="8458200" cy="3897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40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800" b="1" dirty="0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5.7   </a:t>
            </a:r>
            <a:r>
              <a:rPr lang="zh-CN" altLang="en-US" sz="28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给专业表</a:t>
            </a:r>
            <a:r>
              <a:rPr lang="en-US" altLang="zh-CN" sz="28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SS</a:t>
            </a:r>
            <a:r>
              <a:rPr lang="zh-CN" altLang="en-US" sz="28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增加一个新属性</a:t>
            </a:r>
            <a:r>
              <a:rPr lang="en-US" altLang="zh-CN" sz="28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NOUSE_COLUMN</a:t>
            </a:r>
            <a:r>
              <a:rPr lang="zh-CN" altLang="en-US" sz="28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，设其数据类型为</a:t>
            </a:r>
            <a:r>
              <a:rPr lang="en-US" altLang="zh-CN" sz="28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NUMERIC(8</a:t>
            </a:r>
            <a:r>
              <a:rPr lang="zh-CN" altLang="en-US" sz="28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8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1)</a:t>
            </a:r>
            <a:r>
              <a:rPr lang="zh-CN" altLang="en-US" sz="28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  <a:p>
            <a:pPr algn="just">
              <a:lnSpc>
                <a:spcPct val="140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</a:p>
          <a:p>
            <a:pPr algn="just">
              <a:lnSpc>
                <a:spcPct val="140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800" b="1" dirty="0">
                <a:solidFill>
                  <a:srgbClr val="3366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语句应为：</a:t>
            </a:r>
          </a:p>
          <a:p>
            <a:pPr algn="just">
              <a:lnSpc>
                <a:spcPct val="140000"/>
              </a:lnSpc>
              <a:spcBef>
                <a:spcPct val="50000"/>
              </a:spcBef>
              <a:buSzTx/>
              <a:buFontTx/>
              <a:buNone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en-US" altLang="zh-CN" sz="2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ALTER TABLE SS ADD NOUSE_COLUMN</a:t>
            </a:r>
          </a:p>
          <a:p>
            <a:pPr algn="just">
              <a:lnSpc>
                <a:spcPct val="14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                    NUMERIC(8</a:t>
            </a:r>
            <a:r>
              <a:rPr lang="zh-CN" altLang="en-US" sz="2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1)</a:t>
            </a:r>
            <a:r>
              <a:rPr lang="zh-CN" altLang="en-US" sz="2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CD55A699-2089-480F-90F3-3A8CE80570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一、表的定义、修改与撤消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320"/>
    </mc:Choice>
    <mc:Fallback xmlns="">
      <p:transition spd="slow" advTm="363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7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75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675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ext Box 2">
            <a:extLst>
              <a:ext uri="{FF2B5EF4-FFF2-40B4-BE49-F238E27FC236}">
                <a16:creationId xmlns:a16="http://schemas.microsoft.com/office/drawing/2014/main" id="{C35E2188-77E7-4294-B965-DD513CEF27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143000"/>
            <a:ext cx="8458200" cy="5254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800" b="1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 </a:t>
            </a:r>
            <a:r>
              <a:rPr lang="zh-CN" altLang="en-US" sz="2800" b="1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表的修改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800" b="1" dirty="0">
                <a:solidFill>
                  <a:srgbClr val="8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    </a:t>
            </a:r>
            <a:r>
              <a:rPr lang="en-US" altLang="zh-CN" sz="2600" b="1" dirty="0">
                <a:solidFill>
                  <a:srgbClr val="8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(2) </a:t>
            </a:r>
            <a:r>
              <a:rPr lang="zh-CN" altLang="en-US" sz="2600" b="1" dirty="0">
                <a:solidFill>
                  <a:srgbClr val="8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删除</a:t>
            </a:r>
            <a:r>
              <a:rPr lang="zh-CN" altLang="en-US" sz="2600" b="1" dirty="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列</a:t>
            </a:r>
            <a:r>
              <a:rPr lang="zh-CN" altLang="en-US" sz="2600" b="1" dirty="0">
                <a:solidFill>
                  <a:srgbClr val="8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   </a:t>
            </a:r>
            <a:r>
              <a:rPr lang="zh-CN" altLang="en-US" sz="2500" b="1" dirty="0">
                <a:solidFill>
                  <a:srgbClr val="3366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语句格式：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500" b="1" dirty="0"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  <a:r>
              <a:rPr lang="en-US" altLang="zh-CN" sz="25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ALTER TABLE &lt;</a:t>
            </a:r>
            <a:r>
              <a:rPr lang="zh-CN" altLang="en-US" sz="25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表名</a:t>
            </a:r>
            <a:r>
              <a:rPr lang="en-US" altLang="zh-CN" sz="25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 DROP &lt;</a:t>
            </a:r>
            <a:r>
              <a:rPr lang="zh-CN" altLang="en-US" sz="25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删除的列名</a:t>
            </a:r>
            <a:r>
              <a:rPr lang="en-US" altLang="zh-CN" sz="25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 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spcAft>
                <a:spcPct val="10000"/>
              </a:spcAft>
              <a:buSzTx/>
              <a:buFontTx/>
              <a:buNone/>
            </a:pPr>
            <a:r>
              <a:rPr lang="en-US" altLang="zh-CN" sz="25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           [CASCADE | RESTRICT]</a:t>
            </a:r>
            <a:r>
              <a:rPr lang="zh-CN" altLang="en-US" sz="25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</a:p>
          <a:p>
            <a:pPr algn="just">
              <a:lnSpc>
                <a:spcPct val="115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500" b="1" dirty="0">
                <a:solidFill>
                  <a:srgbClr val="66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其中，</a:t>
            </a:r>
            <a:r>
              <a:rPr lang="zh-CN" altLang="en-US" sz="25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可选项</a:t>
            </a:r>
            <a:r>
              <a:rPr lang="zh-CN" altLang="en-US" sz="25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楷体_GB2312" pitchFamily="49" charset="-122"/>
              </a:rPr>
              <a:t>“</a:t>
            </a:r>
            <a:r>
              <a:rPr lang="en-US" altLang="zh-CN" sz="25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[CASCADE | RESTRICT]</a:t>
            </a:r>
            <a:r>
              <a:rPr lang="en-US" altLang="zh-CN" sz="25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楷体_GB2312" pitchFamily="49" charset="-122"/>
              </a:rPr>
              <a:t>”</a:t>
            </a:r>
            <a:r>
              <a:rPr lang="zh-CN" altLang="en-US" sz="25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是删除方式。</a:t>
            </a:r>
          </a:p>
          <a:p>
            <a:pPr algn="just">
              <a:lnSpc>
                <a:spcPct val="115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5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500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当选择</a:t>
            </a:r>
            <a:r>
              <a:rPr lang="en-US" altLang="zh-CN" sz="2500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CASCADE</a:t>
            </a:r>
            <a:r>
              <a:rPr lang="zh-CN" altLang="en-US" sz="2500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时</a:t>
            </a:r>
            <a:r>
              <a:rPr lang="zh-CN" altLang="en-US" sz="25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，表示在删除名为</a:t>
            </a:r>
            <a:r>
              <a:rPr lang="zh-CN" altLang="en-US" sz="25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楷体_GB2312" pitchFamily="49" charset="-122"/>
              </a:rPr>
              <a:t>“</a:t>
            </a:r>
            <a:r>
              <a:rPr lang="en-US" altLang="zh-CN" sz="25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&lt;</a:t>
            </a:r>
            <a:r>
              <a:rPr lang="zh-CN" altLang="en-US" sz="25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表名</a:t>
            </a:r>
            <a:r>
              <a:rPr lang="en-US" altLang="zh-CN" sz="25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&gt;</a:t>
            </a:r>
            <a:r>
              <a:rPr lang="en-US" altLang="zh-CN" sz="25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楷体_GB2312" pitchFamily="49" charset="-122"/>
              </a:rPr>
              <a:t>”</a:t>
            </a:r>
            <a:r>
              <a:rPr lang="zh-CN" altLang="en-US" sz="25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的表中的列</a:t>
            </a:r>
            <a:r>
              <a:rPr lang="zh-CN" altLang="en-US" sz="25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楷体_GB2312" pitchFamily="49" charset="-122"/>
              </a:rPr>
              <a:t>“</a:t>
            </a:r>
            <a:r>
              <a:rPr lang="en-US" altLang="zh-CN" sz="25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&lt;</a:t>
            </a:r>
            <a:r>
              <a:rPr lang="zh-CN" altLang="en-US" sz="25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删除的列名</a:t>
            </a:r>
            <a:r>
              <a:rPr lang="en-US" altLang="zh-CN" sz="25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&gt;</a:t>
            </a:r>
            <a:r>
              <a:rPr lang="en-US" altLang="zh-CN" sz="25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楷体_GB2312" pitchFamily="49" charset="-122"/>
              </a:rPr>
              <a:t>”</a:t>
            </a:r>
            <a:r>
              <a:rPr lang="zh-CN" altLang="en-US" sz="25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时，所有引用到该列的视图或有关约束也一起被删除。</a:t>
            </a:r>
            <a:r>
              <a:rPr lang="zh-CN" altLang="en-US" sz="2500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当选择</a:t>
            </a:r>
            <a:r>
              <a:rPr lang="en-US" altLang="zh-CN" sz="2500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RESTRICT</a:t>
            </a:r>
            <a:r>
              <a:rPr lang="zh-CN" altLang="en-US" sz="2500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时</a:t>
            </a:r>
            <a:r>
              <a:rPr lang="zh-CN" altLang="en-US" sz="25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，表示当没有视图或有关约束引用列</a:t>
            </a:r>
            <a:r>
              <a:rPr lang="zh-CN" altLang="en-US" sz="25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楷体_GB2312" pitchFamily="49" charset="-122"/>
              </a:rPr>
              <a:t>“</a:t>
            </a:r>
            <a:r>
              <a:rPr lang="en-US" altLang="zh-CN" sz="25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&lt;</a:t>
            </a:r>
            <a:r>
              <a:rPr lang="zh-CN" altLang="en-US" sz="25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删除的列名</a:t>
            </a:r>
            <a:r>
              <a:rPr lang="en-US" altLang="zh-CN" sz="25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&gt;</a:t>
            </a:r>
            <a:r>
              <a:rPr lang="en-US" altLang="zh-CN" sz="25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楷体_GB2312" pitchFamily="49" charset="-122"/>
              </a:rPr>
              <a:t>”</a:t>
            </a:r>
            <a:r>
              <a:rPr lang="zh-CN" altLang="en-US" sz="25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时，该列才能被删除，否则拒绝该删除操作。</a:t>
            </a:r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7D551398-B70E-4770-BCFC-6CA4C9366C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一、表的定义、修改与撤消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1149"/>
    </mc:Choice>
    <mc:Fallback xmlns="">
      <p:transition spd="slow" advTm="14114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86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686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686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686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1000"/>
                                        <p:tgtEl>
                                          <p:spTgt spid="686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686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ext Box 2">
            <a:extLst>
              <a:ext uri="{FF2B5EF4-FFF2-40B4-BE49-F238E27FC236}">
                <a16:creationId xmlns:a16="http://schemas.microsoft.com/office/drawing/2014/main" id="{006A57BF-8A67-43A0-8CB3-C9DCE5A3DE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143000"/>
            <a:ext cx="8458200" cy="3170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5.8  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删除专业表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SS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中增加的属性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NOUSE_COLUMN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的两种删除语句形式分别为：</a:t>
            </a:r>
          </a:p>
          <a:p>
            <a:pPr algn="just">
              <a:lnSpc>
                <a:spcPct val="130000"/>
              </a:lnSpc>
              <a:spcBef>
                <a:spcPct val="50000"/>
              </a:spcBef>
              <a:buSzTx/>
              <a:buFontTx/>
              <a:buNone/>
            </a:pP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ALTER TABLE SS DROP NOUSE_COLUMN CASCADE</a:t>
            </a:r>
            <a:r>
              <a:rPr lang="zh-CN" altLang="en-US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</a:p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endParaRPr lang="zh-CN" altLang="en-US" sz="2800" b="1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ALTER TABLE SS DROP NOUSE_COLUMN RESTRICT</a:t>
            </a:r>
            <a:r>
              <a:rPr lang="zh-CN" altLang="en-US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55BD2869-2DD6-4164-800E-42C7035807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一、表的定义、修改与撤消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859"/>
    </mc:Choice>
    <mc:Fallback xmlns="">
      <p:transition spd="slow" advTm="38859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 Box 2">
            <a:extLst>
              <a:ext uri="{FF2B5EF4-FFF2-40B4-BE49-F238E27FC236}">
                <a16:creationId xmlns:a16="http://schemas.microsoft.com/office/drawing/2014/main" id="{BD42ECD2-7AFE-4038-B310-5A26FCCA2D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143000"/>
            <a:ext cx="8382000" cy="4754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 </a:t>
            </a:r>
            <a:r>
              <a:rPr lang="zh-CN" altLang="en-US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表的修改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 b="1">
                <a:solidFill>
                  <a:srgbClr val="8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     </a:t>
            </a:r>
            <a:r>
              <a:rPr lang="en-US" altLang="zh-CN" sz="2800" b="1">
                <a:solidFill>
                  <a:srgbClr val="8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(3) </a:t>
            </a:r>
            <a:r>
              <a:rPr lang="zh-CN" altLang="en-US" sz="2800" b="1">
                <a:solidFill>
                  <a:srgbClr val="8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修改</a:t>
            </a:r>
            <a:r>
              <a:rPr lang="zh-CN" altLang="en-US" sz="2800" b="1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列的定义</a:t>
            </a:r>
            <a:r>
              <a:rPr lang="zh-CN" altLang="en-US" sz="2800" b="1">
                <a:solidFill>
                  <a:srgbClr val="8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</a:p>
          <a:p>
            <a:pPr algn="just">
              <a:lnSpc>
                <a:spcPct val="140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600" b="1">
                <a:latin typeface="宋体" panose="02010600030101010101" pitchFamily="2" charset="-122"/>
              </a:rPr>
              <a:t>    </a:t>
            </a:r>
            <a:r>
              <a:rPr lang="zh-CN" altLang="en-US" sz="2600" b="1">
                <a:solidFill>
                  <a:srgbClr val="3366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语句格式：</a:t>
            </a:r>
          </a:p>
          <a:p>
            <a:pPr algn="just">
              <a:lnSpc>
                <a:spcPct val="140000"/>
              </a:lnSpc>
              <a:spcBef>
                <a:spcPct val="50000"/>
              </a:spcBef>
              <a:buSzTx/>
              <a:buFontTx/>
              <a:buNone/>
            </a:pPr>
            <a:r>
              <a:rPr lang="zh-CN" altLang="en-US" sz="2600" b="1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en-US" altLang="zh-CN" sz="2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ALTER TABLE &lt;</a:t>
            </a:r>
            <a:r>
              <a:rPr lang="zh-CN" altLang="en-US" sz="2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表名</a:t>
            </a:r>
            <a:r>
              <a:rPr lang="en-US" altLang="zh-CN" sz="2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&gt; MODIFY &lt;</a:t>
            </a:r>
            <a:r>
              <a:rPr lang="zh-CN" altLang="en-US" sz="2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列名</a:t>
            </a:r>
            <a:r>
              <a:rPr lang="en-US" altLang="zh-CN" sz="2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&gt;</a:t>
            </a:r>
          </a:p>
          <a:p>
            <a:pPr algn="just">
              <a:lnSpc>
                <a:spcPct val="14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                      &lt;</a:t>
            </a:r>
            <a:r>
              <a:rPr lang="zh-CN" altLang="en-US" sz="2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新的数据类型及其长度</a:t>
            </a:r>
            <a:r>
              <a:rPr lang="en-US" altLang="zh-CN" sz="2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&gt;</a:t>
            </a:r>
            <a:r>
              <a:rPr lang="zh-CN" altLang="en-US" sz="2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r>
              <a:rPr lang="zh-CN" altLang="en-US" sz="2600" b="1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  <a:p>
            <a:pPr algn="just">
              <a:lnSpc>
                <a:spcPct val="115000"/>
              </a:lnSpc>
              <a:spcBef>
                <a:spcPct val="40000"/>
              </a:spcBef>
              <a:buSzTx/>
              <a:buFontTx/>
              <a:buNone/>
            </a:pPr>
            <a:r>
              <a:rPr lang="zh-CN" altLang="en-US" sz="2800" b="1">
                <a:solidFill>
                  <a:srgbClr val="66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注意：</a:t>
            </a:r>
            <a:r>
              <a:rPr lang="zh-CN" altLang="en-US" sz="2800" b="1">
                <a:solidFill>
                  <a:srgbClr val="006666"/>
                </a:solidFill>
                <a:latin typeface="楷体_GB2312" pitchFamily="49" charset="-122"/>
                <a:ea typeface="楷体_GB2312" pitchFamily="49" charset="-122"/>
              </a:rPr>
              <a:t>对列定义的修改只适用于修改列的类型和长度，列名不能修改。当表中已有数据时，只能增加列的长度，不能缩短列的长度。</a:t>
            </a:r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69406A0B-6CC0-442D-AC9F-9DF07010B9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一、表的定义、修改与撤消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2624"/>
    </mc:Choice>
    <mc:Fallback xmlns="">
      <p:transition spd="slow" advTm="10262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06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706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706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706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1000"/>
                                        <p:tgtEl>
                                          <p:spTgt spid="706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ext Box 2">
            <a:extLst>
              <a:ext uri="{FF2B5EF4-FFF2-40B4-BE49-F238E27FC236}">
                <a16:creationId xmlns:a16="http://schemas.microsoft.com/office/drawing/2014/main" id="{78E42FB5-D947-48E5-835A-C1B4247012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143000"/>
            <a:ext cx="8458200" cy="2163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45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5.9  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将专业表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SS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中的专业名称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SSNAME(30)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修改为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SSNAME(40)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（即长度增加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）的列修改语句：</a:t>
            </a:r>
          </a:p>
          <a:p>
            <a:pPr algn="just">
              <a:lnSpc>
                <a:spcPct val="145000"/>
              </a:lnSpc>
              <a:spcBef>
                <a:spcPct val="50000"/>
              </a:spcBef>
              <a:buSzTx/>
              <a:buFontTx/>
              <a:buNone/>
            </a:pP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ALTER TABLE SS MODIFY SSNAME VARCHAR(40)</a:t>
            </a:r>
            <a:r>
              <a: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33143BC2-5BFE-4EFC-8BB7-110C36182F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一、表的定义、修改与撤消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079"/>
    </mc:Choice>
    <mc:Fallback xmlns="">
      <p:transition spd="slow" advTm="2607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16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ext Box 2">
            <a:extLst>
              <a:ext uri="{FF2B5EF4-FFF2-40B4-BE49-F238E27FC236}">
                <a16:creationId xmlns:a16="http://schemas.microsoft.com/office/drawing/2014/main" id="{6D147B83-C075-41A9-844D-8EC0FCD63C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138238"/>
            <a:ext cx="8458200" cy="5014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3. </a:t>
            </a:r>
            <a:r>
              <a:rPr lang="zh-CN" altLang="en-US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表的撤销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600" b="1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将不再需要的表或定义有错误的表删除掉。</a:t>
            </a:r>
          </a:p>
          <a:p>
            <a:pPr algn="just">
              <a:lnSpc>
                <a:spcPct val="125000"/>
              </a:lnSpc>
              <a:spcBef>
                <a:spcPct val="10000"/>
              </a:spcBef>
              <a:spcAft>
                <a:spcPct val="10000"/>
              </a:spcAft>
              <a:buSzTx/>
              <a:buFontTx/>
              <a:buNone/>
            </a:pPr>
            <a:r>
              <a:rPr lang="zh-CN" altLang="en-US" sz="2600" b="1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600" b="1">
                <a:solidFill>
                  <a:srgbClr val="3366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语句格式：</a:t>
            </a:r>
          </a:p>
          <a:p>
            <a:pPr algn="just">
              <a:lnSpc>
                <a:spcPct val="125000"/>
              </a:lnSpc>
              <a:spcBef>
                <a:spcPct val="10000"/>
              </a:spcBef>
              <a:spcAft>
                <a:spcPct val="10000"/>
              </a:spcAft>
              <a:buSzTx/>
              <a:buFontTx/>
              <a:buNone/>
            </a:pPr>
            <a:r>
              <a:rPr lang="zh-CN" altLang="en-US" sz="2600" b="1"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r>
              <a:rPr lang="en-US" altLang="zh-CN" sz="2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DROP TABLE &lt;</a:t>
            </a:r>
            <a:r>
              <a:rPr lang="zh-CN" altLang="en-US" sz="2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表名</a:t>
            </a:r>
            <a:r>
              <a:rPr lang="en-US" altLang="zh-CN" sz="2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&gt; [CASCADE | RESTRICT]</a:t>
            </a:r>
            <a:r>
              <a:rPr lang="zh-CN" altLang="en-US" sz="2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</a:p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6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其中</a:t>
            </a:r>
            <a:r>
              <a:rPr lang="en-US" altLang="zh-CN" sz="26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en-US" altLang="zh-CN" sz="2600" b="1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600" b="1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</a:rPr>
              <a:t>CASCADE</a:t>
            </a:r>
            <a:r>
              <a:rPr lang="zh-CN" altLang="en-US" sz="2600" b="1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</a:rPr>
              <a:t>表示在撤消表</a:t>
            </a:r>
            <a:r>
              <a:rPr lang="zh-CN" altLang="en-US" sz="2600" b="1">
                <a:solidFill>
                  <a:srgbClr val="003366"/>
                </a:solidFill>
                <a:latin typeface="宋体" panose="02010600030101010101" pitchFamily="2" charset="-122"/>
                <a:ea typeface="楷体_GB2312" pitchFamily="49" charset="-122"/>
              </a:rPr>
              <a:t>“</a:t>
            </a:r>
            <a:r>
              <a:rPr lang="en-US" altLang="zh-CN" sz="2600" b="1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</a:rPr>
              <a:t>&lt;</a:t>
            </a:r>
            <a:r>
              <a:rPr lang="zh-CN" altLang="en-US" sz="2600" b="1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</a:rPr>
              <a:t>表名</a:t>
            </a:r>
            <a:r>
              <a:rPr lang="en-US" altLang="zh-CN" sz="2600" b="1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</a:rPr>
              <a:t>&gt;</a:t>
            </a:r>
            <a:r>
              <a:rPr lang="en-US" altLang="zh-CN" sz="2600" b="1">
                <a:solidFill>
                  <a:srgbClr val="003366"/>
                </a:solidFill>
                <a:latin typeface="宋体" panose="02010600030101010101" pitchFamily="2" charset="-122"/>
                <a:ea typeface="楷体_GB2312" pitchFamily="49" charset="-122"/>
              </a:rPr>
              <a:t>”</a:t>
            </a:r>
            <a:r>
              <a:rPr lang="zh-CN" altLang="en-US" sz="2600" b="1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</a:rPr>
              <a:t>时，所有引用这个表的视图或有关约束也一起被撤消；</a:t>
            </a:r>
          </a:p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600" b="1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</a:rPr>
              <a:t>      </a:t>
            </a:r>
            <a:r>
              <a:rPr lang="en-US" altLang="zh-CN" sz="2600" b="1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</a:rPr>
              <a:t>RESTRICT</a:t>
            </a:r>
            <a:r>
              <a:rPr lang="zh-CN" altLang="en-US" sz="2600" b="1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</a:rPr>
              <a:t>表示在没有视图或有关约束引用该表的属性列时，表</a:t>
            </a:r>
            <a:r>
              <a:rPr lang="zh-CN" altLang="en-US" sz="2600" b="1">
                <a:solidFill>
                  <a:srgbClr val="003366"/>
                </a:solidFill>
                <a:latin typeface="宋体" panose="02010600030101010101" pitchFamily="2" charset="-122"/>
                <a:ea typeface="楷体_GB2312" pitchFamily="49" charset="-122"/>
              </a:rPr>
              <a:t>“</a:t>
            </a:r>
            <a:r>
              <a:rPr lang="en-US" altLang="zh-CN" sz="2600" b="1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</a:rPr>
              <a:t>&lt;</a:t>
            </a:r>
            <a:r>
              <a:rPr lang="zh-CN" altLang="en-US" sz="2600" b="1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</a:rPr>
              <a:t>表名</a:t>
            </a:r>
            <a:r>
              <a:rPr lang="en-US" altLang="zh-CN" sz="2600" b="1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</a:rPr>
              <a:t>&gt;</a:t>
            </a:r>
            <a:r>
              <a:rPr lang="en-US" altLang="zh-CN" sz="2600" b="1">
                <a:solidFill>
                  <a:srgbClr val="003366"/>
                </a:solidFill>
                <a:latin typeface="宋体" panose="02010600030101010101" pitchFamily="2" charset="-122"/>
                <a:ea typeface="楷体_GB2312" pitchFamily="49" charset="-122"/>
              </a:rPr>
              <a:t>”</a:t>
            </a:r>
            <a:r>
              <a:rPr lang="zh-CN" altLang="en-US" sz="2600" b="1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</a:rPr>
              <a:t>才能被撤消，否则拒绝该撤消操作。</a:t>
            </a:r>
            <a:r>
              <a:rPr lang="zh-CN" altLang="en-US" sz="2600" b="1"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261A5E48-E677-4274-AC7B-992E2411F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一、表的定义、修改与撤消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5935"/>
    </mc:Choice>
    <mc:Fallback xmlns="">
      <p:transition spd="slow" advTm="11593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27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727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727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727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1000"/>
                                        <p:tgtEl>
                                          <p:spTgt spid="727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727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ext Box 2">
            <a:extLst>
              <a:ext uri="{FF2B5EF4-FFF2-40B4-BE49-F238E27FC236}">
                <a16:creationId xmlns:a16="http://schemas.microsoft.com/office/drawing/2014/main" id="{DD4B7F9C-0616-4BDB-BD9C-6B511818FA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144588"/>
            <a:ext cx="8382000" cy="427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 </a:t>
            </a:r>
            <a:r>
              <a:rPr lang="zh-CN" altLang="en-US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数据的插入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  <a:p>
            <a:pPr algn="just">
              <a:lnSpc>
                <a:spcPct val="140000"/>
              </a:lnSpc>
              <a:buSzTx/>
              <a:buFontTx/>
              <a:buNone/>
            </a:pPr>
            <a:r>
              <a:rPr lang="zh-CN" altLang="en-US" sz="2600" b="1">
                <a:solidFill>
                  <a:srgbClr val="3366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插入语句格式为：</a:t>
            </a:r>
          </a:p>
          <a:p>
            <a:pPr algn="just">
              <a:lnSpc>
                <a:spcPct val="140000"/>
              </a:lnSpc>
              <a:spcBef>
                <a:spcPct val="50000"/>
              </a:spcBef>
              <a:buSzTx/>
              <a:buFontTx/>
              <a:buNone/>
            </a:pPr>
            <a:r>
              <a:rPr lang="zh-CN" altLang="en-US" sz="2600" b="1">
                <a:latin typeface="黑体" panose="02010609060101010101" pitchFamily="49" charset="-122"/>
                <a:ea typeface="黑体" panose="02010609060101010101" pitchFamily="49" charset="-122"/>
              </a:rPr>
              <a:t>          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INSERT INTO &lt;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表名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</a:t>
            </a:r>
          </a:p>
          <a:p>
            <a:pPr algn="just">
              <a:lnSpc>
                <a:spcPct val="14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 [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&lt;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列名表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]</a:t>
            </a:r>
          </a:p>
          <a:p>
            <a:pPr algn="just">
              <a:lnSpc>
                <a:spcPct val="14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latin typeface="黑体" panose="02010609060101010101" pitchFamily="49" charset="-122"/>
                <a:ea typeface="黑体" panose="02010609060101010101" pitchFamily="49" charset="-122"/>
              </a:rPr>
              <a:t>                 </a:t>
            </a:r>
            <a:r>
              <a:rPr lang="en-US" altLang="zh-CN" sz="2600" b="1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VALUES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&lt;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值表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）；</a:t>
            </a:r>
            <a:r>
              <a:rPr lang="zh-CN" altLang="en-US" sz="2600" b="1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  <a:p>
            <a:pPr algn="just">
              <a:lnSpc>
                <a:spcPct val="140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600" b="1">
                <a:solidFill>
                  <a:srgbClr val="66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功能：</a:t>
            </a:r>
          </a:p>
          <a:p>
            <a:pPr algn="just">
              <a:lnSpc>
                <a:spcPct val="140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700" b="1">
                <a:latin typeface="黑体" panose="02010609060101010101" pitchFamily="49" charset="-122"/>
                <a:ea typeface="黑体" panose="02010609060101010101" pitchFamily="49" charset="-122"/>
              </a:rPr>
              <a:t>向表中插入一行数据（一个数据记录）。</a:t>
            </a:r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3FAAF732-304E-4AFB-8E2F-FF6838A40B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二、数据的插入、修改与删除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959"/>
    </mc:Choice>
    <mc:Fallback xmlns="">
      <p:transition spd="slow" advTm="12695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37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737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737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737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1000"/>
                                        <p:tgtEl>
                                          <p:spTgt spid="737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737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737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ext Box 2">
            <a:extLst>
              <a:ext uri="{FF2B5EF4-FFF2-40B4-BE49-F238E27FC236}">
                <a16:creationId xmlns:a16="http://schemas.microsoft.com/office/drawing/2014/main" id="{6AAE004D-0A44-4DB5-95CD-0E980535AB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143000"/>
            <a:ext cx="8458200" cy="528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spcBef>
                <a:spcPct val="50000"/>
              </a:spcBef>
              <a:buSzTx/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</a:rPr>
              <a:t>    INSERT INTO &lt;</a:t>
            </a:r>
            <a:r>
              <a:rPr lang="zh-CN" altLang="en-US" sz="2800" b="1">
                <a:solidFill>
                  <a:srgbClr val="000000"/>
                </a:solidFill>
              </a:rPr>
              <a:t>表名</a:t>
            </a:r>
            <a:r>
              <a:rPr lang="en-US" altLang="zh-CN" sz="2800" b="1">
                <a:solidFill>
                  <a:srgbClr val="000000"/>
                </a:solidFill>
              </a:rPr>
              <a:t>&gt;</a:t>
            </a:r>
          </a:p>
          <a:p>
            <a:pPr>
              <a:lnSpc>
                <a:spcPct val="130000"/>
              </a:lnSpc>
              <a:buSzTx/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</a:rPr>
              <a:t>                  [</a:t>
            </a:r>
            <a:r>
              <a:rPr lang="zh-CN" altLang="en-US" sz="2800" b="1">
                <a:solidFill>
                  <a:srgbClr val="000000"/>
                </a:solidFill>
              </a:rPr>
              <a:t>（</a:t>
            </a:r>
            <a:r>
              <a:rPr lang="en-US" altLang="zh-CN" sz="2800" b="1">
                <a:solidFill>
                  <a:srgbClr val="000000"/>
                </a:solidFill>
              </a:rPr>
              <a:t>&lt;</a:t>
            </a:r>
            <a:r>
              <a:rPr lang="zh-CN" altLang="en-US" sz="2800" b="1">
                <a:solidFill>
                  <a:srgbClr val="000000"/>
                </a:solidFill>
              </a:rPr>
              <a:t>列名表</a:t>
            </a:r>
            <a:r>
              <a:rPr lang="en-US" altLang="zh-CN" sz="2800" b="1">
                <a:solidFill>
                  <a:srgbClr val="000000"/>
                </a:solidFill>
              </a:rPr>
              <a:t>&gt;</a:t>
            </a:r>
            <a:r>
              <a:rPr lang="zh-CN" altLang="en-US" sz="2800" b="1">
                <a:solidFill>
                  <a:srgbClr val="000000"/>
                </a:solidFill>
              </a:rPr>
              <a:t>）</a:t>
            </a:r>
            <a:r>
              <a:rPr lang="en-US" altLang="zh-CN" sz="2800" b="1">
                <a:solidFill>
                  <a:srgbClr val="000000"/>
                </a:solidFill>
              </a:rPr>
              <a:t>]</a:t>
            </a:r>
          </a:p>
          <a:p>
            <a:pPr>
              <a:lnSpc>
                <a:spcPct val="130000"/>
              </a:lnSpc>
              <a:buSzTx/>
              <a:buFontTx/>
              <a:buNone/>
            </a:pPr>
            <a:r>
              <a:rPr lang="en-US" altLang="zh-CN" sz="2800" b="1"/>
              <a:t>                  </a:t>
            </a:r>
            <a:r>
              <a:rPr lang="en-US" altLang="zh-CN" sz="2800" b="1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VALUES</a:t>
            </a:r>
            <a:r>
              <a:rPr lang="zh-CN" altLang="en-US" sz="2800" b="1">
                <a:solidFill>
                  <a:srgbClr val="000000"/>
                </a:solidFill>
              </a:rPr>
              <a:t>（</a:t>
            </a:r>
            <a:r>
              <a:rPr lang="en-US" altLang="zh-CN" sz="2800" b="1">
                <a:solidFill>
                  <a:srgbClr val="000000"/>
                </a:solidFill>
              </a:rPr>
              <a:t>&lt;</a:t>
            </a:r>
            <a:r>
              <a:rPr lang="zh-CN" altLang="en-US" sz="2800" b="1">
                <a:solidFill>
                  <a:srgbClr val="000000"/>
                </a:solidFill>
              </a:rPr>
              <a:t>值表</a:t>
            </a:r>
            <a:r>
              <a:rPr lang="en-US" altLang="zh-CN" sz="2800" b="1">
                <a:solidFill>
                  <a:srgbClr val="000000"/>
                </a:solidFill>
              </a:rPr>
              <a:t>&gt;</a:t>
            </a:r>
            <a:r>
              <a:rPr lang="zh-CN" altLang="en-US" sz="2800" b="1">
                <a:solidFill>
                  <a:srgbClr val="000000"/>
                </a:solidFill>
              </a:rPr>
              <a:t>）；</a:t>
            </a:r>
            <a:endParaRPr lang="zh-CN" altLang="en-US" sz="2800" b="1">
              <a:solidFill>
                <a:srgbClr val="990033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algn="just">
              <a:lnSpc>
                <a:spcPct val="110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800" b="1">
                <a:solidFill>
                  <a:srgbClr val="990033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其中：</a:t>
            </a:r>
            <a:endParaRPr lang="zh-CN" altLang="en-US" sz="2800">
              <a:solidFill>
                <a:srgbClr val="9900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  <a:spcBef>
                <a:spcPct val="5000"/>
              </a:spcBef>
              <a:buSzTx/>
              <a:buFontTx/>
              <a:buNone/>
            </a:pPr>
            <a:r>
              <a:rPr lang="zh-CN" altLang="en-US" sz="2600" b="1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(1) 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列名表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&gt;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格式为：</a:t>
            </a:r>
          </a:p>
          <a:p>
            <a:pPr algn="just">
              <a:lnSpc>
                <a:spcPct val="130000"/>
              </a:lnSpc>
              <a:spcBef>
                <a:spcPct val="5000"/>
              </a:spcBef>
              <a:buSzTx/>
              <a:buFontTx/>
              <a:buNone/>
            </a:pP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       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列名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1&gt;[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列名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2&gt;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楷体_GB2312" pitchFamily="49" charset="-122"/>
              </a:rPr>
              <a:t>…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楷体_GB2312" pitchFamily="49" charset="-122"/>
              </a:rPr>
              <a:t>…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列名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m&gt;]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。 </a:t>
            </a:r>
          </a:p>
          <a:p>
            <a:pPr algn="just">
              <a:lnSpc>
                <a:spcPct val="130000"/>
              </a:lnSpc>
              <a:spcBef>
                <a:spcPct val="5000"/>
              </a:spcBef>
              <a:buSzTx/>
              <a:buFontTx/>
              <a:buNone/>
            </a:pP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(2) 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值表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&gt;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的格式为：</a:t>
            </a:r>
          </a:p>
          <a:p>
            <a:pPr algn="just">
              <a:lnSpc>
                <a:spcPct val="130000"/>
              </a:lnSpc>
              <a:spcBef>
                <a:spcPct val="5000"/>
              </a:spcBef>
              <a:buSzTx/>
              <a:buFontTx/>
              <a:buNone/>
            </a:pP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      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常量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1&gt;[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常量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2&gt;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楷体_GB2312" pitchFamily="49" charset="-122"/>
              </a:rPr>
              <a:t>…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楷体_GB2312" pitchFamily="49" charset="-122"/>
              </a:rPr>
              <a:t>…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常量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m&gt;]</a:t>
            </a:r>
          </a:p>
          <a:p>
            <a:pPr algn="just">
              <a:lnSpc>
                <a:spcPct val="130000"/>
              </a:lnSpc>
              <a:spcBef>
                <a:spcPct val="5000"/>
              </a:spcBef>
              <a:buSzTx/>
              <a:buFontTx/>
              <a:buNone/>
            </a:pP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用于指出要插入列的具体值。</a:t>
            </a:r>
            <a:r>
              <a:rPr lang="zh-CN" altLang="en-US" sz="2600" b="1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74756" name="Rectangle 4">
            <a:extLst>
              <a:ext uri="{FF2B5EF4-FFF2-40B4-BE49-F238E27FC236}">
                <a16:creationId xmlns:a16="http://schemas.microsoft.com/office/drawing/2014/main" id="{5AF576ED-5672-46AB-9AB5-91DDDEA212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二、数据的插入、修改与删除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1727"/>
    </mc:Choice>
    <mc:Fallback xmlns="">
      <p:transition spd="slow" advTm="6172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47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747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747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747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1000"/>
                                        <p:tgtEl>
                                          <p:spTgt spid="747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747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4" name="Text Box 4">
            <a:extLst>
              <a:ext uri="{FF2B5EF4-FFF2-40B4-BE49-F238E27FC236}">
                <a16:creationId xmlns:a16="http://schemas.microsoft.com/office/drawing/2014/main" id="{ADE4AF41-7BF7-46B5-8B1E-1324978D5C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143000"/>
            <a:ext cx="8610600" cy="5149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25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5.10  </a:t>
            </a:r>
            <a:r>
              <a:rPr lang="zh-CN" altLang="en-US" sz="2800" b="1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写出给学习关系</a:t>
            </a:r>
            <a:r>
              <a:rPr lang="en-US" altLang="zh-CN" sz="2800" b="1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SC</a:t>
            </a:r>
            <a:r>
              <a:rPr lang="zh-CN" altLang="en-US" sz="2800" b="1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中插入王丽丽同学（学号为</a:t>
            </a:r>
            <a:r>
              <a:rPr lang="en-US" altLang="zh-CN" sz="2800" b="1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200401003</a:t>
            </a:r>
            <a:r>
              <a:rPr lang="zh-CN" altLang="en-US" sz="2800" b="1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）学习计算机网络课（课程号为</a:t>
            </a:r>
            <a:r>
              <a:rPr lang="en-US" altLang="zh-CN" sz="2800" b="1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C403001</a:t>
            </a:r>
            <a:r>
              <a:rPr lang="zh-CN" altLang="en-US" sz="2800" b="1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）的成绩（</a:t>
            </a:r>
            <a:r>
              <a:rPr lang="en-US" altLang="zh-CN" sz="2800" b="1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89</a:t>
            </a:r>
            <a:r>
              <a:rPr lang="zh-CN" altLang="en-US" sz="2800" b="1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分）的插入语句。</a:t>
            </a:r>
          </a:p>
          <a:p>
            <a:pPr algn="just">
              <a:lnSpc>
                <a:spcPct val="130000"/>
              </a:lnSpc>
              <a:spcBef>
                <a:spcPct val="5000"/>
              </a:spcBef>
              <a:buSzTx/>
              <a:buFontTx/>
              <a:buNone/>
            </a:pP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INSERT  INTO  SC</a:t>
            </a:r>
          </a:p>
          <a:p>
            <a:pPr algn="just">
              <a:lnSpc>
                <a:spcPct val="130000"/>
              </a:lnSpc>
              <a:spcBef>
                <a:spcPct val="5000"/>
              </a:spcBef>
              <a:buSzTx/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zh-CN" altLang="en-US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S#</a:t>
            </a:r>
            <a:r>
              <a:rPr lang="zh-CN" altLang="en-US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C#</a:t>
            </a:r>
            <a:r>
              <a:rPr lang="zh-CN" altLang="en-US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GRADE</a:t>
            </a:r>
            <a:r>
              <a:rPr lang="zh-CN" altLang="en-US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  <a:p>
            <a:pPr algn="just">
              <a:lnSpc>
                <a:spcPct val="130000"/>
              </a:lnSpc>
              <a:spcBef>
                <a:spcPct val="5000"/>
              </a:spcBef>
              <a:buSzTx/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VALUES</a:t>
            </a:r>
            <a:r>
              <a:rPr lang="zh-CN" altLang="en-US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（＇</a:t>
            </a: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200401003</a:t>
            </a:r>
            <a:r>
              <a:rPr lang="zh-CN" altLang="en-US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＇，＇</a:t>
            </a: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C403001</a:t>
            </a:r>
            <a:r>
              <a:rPr lang="zh-CN" altLang="en-US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＇，</a:t>
            </a: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89</a:t>
            </a:r>
            <a:r>
              <a:rPr lang="zh-CN" altLang="en-US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）；</a:t>
            </a:r>
          </a:p>
          <a:p>
            <a:pPr algn="just">
              <a:lnSpc>
                <a:spcPct val="130000"/>
              </a:lnSpc>
              <a:spcBef>
                <a:spcPct val="5000"/>
              </a:spcBef>
              <a:buSzTx/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lang="zh-CN" altLang="en-US" sz="2800" b="1">
                <a:solidFill>
                  <a:srgbClr val="990033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或：</a:t>
            </a:r>
          </a:p>
          <a:p>
            <a:pPr algn="just">
              <a:lnSpc>
                <a:spcPct val="130000"/>
              </a:lnSpc>
              <a:spcBef>
                <a:spcPct val="5000"/>
              </a:spcBef>
              <a:buSzTx/>
              <a:buFontTx/>
              <a:buNone/>
            </a:pPr>
            <a:r>
              <a:rPr lang="zh-CN" altLang="en-US" sz="2800" b="1">
                <a:latin typeface="宋体" panose="02010600030101010101" pitchFamily="2" charset="-122"/>
              </a:rPr>
              <a:t> </a:t>
            </a:r>
            <a:r>
              <a:rPr lang="en-US" altLang="zh-CN" sz="2800" b="1">
                <a:solidFill>
                  <a:srgbClr val="000000"/>
                </a:solidFill>
                <a:latin typeface="宋体" panose="02010600030101010101" pitchFamily="2" charset="-122"/>
              </a:rPr>
              <a:t>INSERT INTO SC</a:t>
            </a:r>
            <a:endParaRPr lang="en-US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  <a:spcBef>
                <a:spcPct val="5000"/>
              </a:spcBef>
              <a:buSzTx/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28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lang="zh-CN" altLang="en-US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zh-CN" altLang="en-US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＇</a:t>
            </a: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200401003</a:t>
            </a:r>
            <a:r>
              <a:rPr lang="zh-CN" altLang="en-US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＇，＇</a:t>
            </a: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C403001</a:t>
            </a:r>
            <a:r>
              <a:rPr lang="zh-CN" altLang="en-US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＇，</a:t>
            </a: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89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）；</a:t>
            </a:r>
          </a:p>
        </p:txBody>
      </p:sp>
      <p:sp>
        <p:nvSpPr>
          <p:cNvPr id="51206" name="Rectangle 6">
            <a:extLst>
              <a:ext uri="{FF2B5EF4-FFF2-40B4-BE49-F238E27FC236}">
                <a16:creationId xmlns:a16="http://schemas.microsoft.com/office/drawing/2014/main" id="{82CCE1F4-500F-4209-90CA-A7A58D8E22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二、数据的插入、修改与删除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9476"/>
    </mc:Choice>
    <mc:Fallback xmlns="">
      <p:transition spd="slow" advTm="23947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12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512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512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12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512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512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ext Box 2">
            <a:extLst>
              <a:ext uri="{FF2B5EF4-FFF2-40B4-BE49-F238E27FC236}">
                <a16:creationId xmlns:a16="http://schemas.microsoft.com/office/drawing/2014/main" id="{D2E905DA-CE86-4C7B-9A18-BC59E1C505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143000"/>
            <a:ext cx="8458200" cy="5140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 </a:t>
            </a:r>
            <a:r>
              <a:rPr lang="zh-CN" altLang="en-US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数据的修改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  <a:p>
            <a:pPr algn="just">
              <a:lnSpc>
                <a:spcPct val="115000"/>
              </a:lnSpc>
              <a:buSzTx/>
              <a:buFontTx/>
              <a:buNone/>
            </a:pPr>
            <a:r>
              <a:rPr lang="zh-CN" altLang="en-US" sz="2600" b="1">
                <a:solidFill>
                  <a:srgbClr val="800000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600" b="1">
                <a:solidFill>
                  <a:srgbClr val="3366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语句格式为：</a:t>
            </a:r>
          </a:p>
          <a:p>
            <a:pPr algn="just">
              <a:lnSpc>
                <a:spcPct val="115000"/>
              </a:lnSpc>
              <a:spcBef>
                <a:spcPct val="30000"/>
              </a:spcBef>
              <a:buSzTx/>
              <a:buFontTx/>
              <a:buNone/>
            </a:pPr>
            <a:r>
              <a:rPr lang="zh-CN" altLang="en-US" sz="2600" b="1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UPDATE &lt;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表名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</a:t>
            </a:r>
          </a:p>
          <a:p>
            <a:pPr algn="just">
              <a:lnSpc>
                <a:spcPct val="115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SET &lt;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列名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1&gt;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＝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&lt;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表达式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1&gt;[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&lt;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列名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2&gt;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＝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&lt;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表达式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2&gt;,</a:t>
            </a:r>
          </a:p>
          <a:p>
            <a:pPr algn="just">
              <a:lnSpc>
                <a:spcPct val="115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         </a:t>
            </a:r>
            <a:r>
              <a:rPr lang="en-US" altLang="zh-CN" sz="2600" b="1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…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&lt;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列名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n&gt;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＝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&lt;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表达式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n&gt;]</a:t>
            </a:r>
          </a:p>
          <a:p>
            <a:pPr algn="just">
              <a:lnSpc>
                <a:spcPct val="105000"/>
              </a:lnSpc>
              <a:spcBef>
                <a:spcPct val="0"/>
              </a:spcBef>
              <a:spcAft>
                <a:spcPct val="30000"/>
              </a:spcAft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[WHERE &lt;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条件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&gt;]</a:t>
            </a:r>
          </a:p>
          <a:p>
            <a:pPr algn="just">
              <a:lnSpc>
                <a:spcPct val="115000"/>
              </a:lnSpc>
              <a:spcBef>
                <a:spcPct val="25000"/>
              </a:spcBef>
              <a:buSzTx/>
              <a:buFontTx/>
              <a:buNone/>
            </a:pPr>
            <a:r>
              <a:rPr lang="zh-CN" altLang="en-US" sz="2600" b="1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其中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楷体_GB2312" pitchFamily="49" charset="-122"/>
              </a:rPr>
              <a:t>“</a:t>
            </a:r>
            <a:r>
              <a:rPr lang="en-US" altLang="zh-CN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&lt;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列名</a:t>
            </a:r>
            <a:r>
              <a:rPr lang="en-US" altLang="zh-CN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i&gt;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＝</a:t>
            </a:r>
            <a:r>
              <a:rPr lang="en-US" altLang="zh-CN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&lt;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表达式</a:t>
            </a:r>
            <a:r>
              <a:rPr lang="en-US" altLang="zh-CN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i&gt;</a:t>
            </a:r>
            <a:r>
              <a:rPr lang="en-US" altLang="zh-CN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楷体_GB2312" pitchFamily="49" charset="-122"/>
              </a:rPr>
              <a:t>”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指出将列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楷体_GB2312" pitchFamily="49" charset="-122"/>
              </a:rPr>
              <a:t>“</a:t>
            </a:r>
            <a:r>
              <a:rPr lang="en-US" altLang="zh-CN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&lt;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列名</a:t>
            </a:r>
            <a:r>
              <a:rPr lang="en-US" altLang="zh-CN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i &gt;</a:t>
            </a:r>
            <a:r>
              <a:rPr lang="en-US" altLang="zh-CN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楷体_GB2312" pitchFamily="49" charset="-122"/>
              </a:rPr>
              <a:t>”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的值修改成</a:t>
            </a:r>
            <a:r>
              <a:rPr lang="en-US" altLang="zh-CN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&lt;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表达式</a:t>
            </a:r>
            <a:r>
              <a:rPr lang="en-US" altLang="zh-CN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i &gt;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。  可选项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楷体_GB2312" pitchFamily="49" charset="-122"/>
              </a:rPr>
              <a:t>“</a:t>
            </a:r>
            <a:r>
              <a:rPr lang="en-US" altLang="zh-CN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[WHERE &lt;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条件</a:t>
            </a:r>
            <a:r>
              <a:rPr lang="en-US" altLang="zh-CN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&gt;]</a:t>
            </a:r>
            <a:r>
              <a:rPr lang="en-US" altLang="zh-CN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楷体_GB2312" pitchFamily="49" charset="-122"/>
              </a:rPr>
              <a:t>”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中的</a:t>
            </a:r>
            <a:r>
              <a:rPr lang="en-US" altLang="zh-CN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&lt;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条件</a:t>
            </a:r>
            <a:r>
              <a:rPr lang="en-US" altLang="zh-CN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&gt;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指定修改有关列的数据时所应满足的条件。当不选择该选项时，表示修改表中全部元组中相应列的数据。 </a:t>
            </a:r>
          </a:p>
        </p:txBody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DA778D6F-DA4F-4988-A688-32D3BFC323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二、数据的插入、修改与删除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290"/>
    </mc:Choice>
    <mc:Fallback xmlns="">
      <p:transition spd="slow" advTm="13029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78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778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778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778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1000"/>
                                        <p:tgtEl>
                                          <p:spTgt spid="778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778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778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ext Box 2">
            <a:extLst>
              <a:ext uri="{FF2B5EF4-FFF2-40B4-BE49-F238E27FC236}">
                <a16:creationId xmlns:a16="http://schemas.microsoft.com/office/drawing/2014/main" id="{F36B6E82-A7C8-4297-AC16-1B4007DB68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143000"/>
            <a:ext cx="8458200" cy="3917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40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5.12  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写出将学生关系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S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中的学生名字“王丽丽” </a:t>
            </a:r>
            <a:r>
              <a:rPr lang="zh-CN" altLang="en-US" sz="2400" b="1">
                <a:solidFill>
                  <a:srgbClr val="660066"/>
                </a:solidFill>
              </a:rPr>
              <a:t>（学号为</a:t>
            </a:r>
            <a:r>
              <a:rPr lang="en-US" altLang="zh-CN" sz="2400" b="1">
                <a:solidFill>
                  <a:srgbClr val="660066"/>
                </a:solidFill>
              </a:rPr>
              <a:t>200401003</a:t>
            </a:r>
            <a:r>
              <a:rPr lang="zh-CN" altLang="en-US" sz="2400" b="1">
                <a:solidFill>
                  <a:srgbClr val="660066"/>
                </a:solidFill>
              </a:rPr>
              <a:t>）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改为“王黎丽”的数据修改语句。</a:t>
            </a:r>
            <a:endParaRPr lang="zh-CN" altLang="en-US" sz="2800" b="1">
              <a:solidFill>
                <a:srgbClr val="0033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algn="just">
              <a:lnSpc>
                <a:spcPct val="140000"/>
              </a:lnSpc>
              <a:spcBef>
                <a:spcPct val="55000"/>
              </a:spcBef>
              <a:buSzTx/>
              <a:buFontTx/>
              <a:buNone/>
            </a:pPr>
            <a:r>
              <a:rPr lang="zh-CN" altLang="en-US" sz="2800" b="1">
                <a:latin typeface="宋体" panose="02010600030101010101" pitchFamily="2" charset="-122"/>
              </a:rPr>
              <a:t>    </a:t>
            </a: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UPDATE  S</a:t>
            </a:r>
          </a:p>
          <a:p>
            <a:pPr algn="just">
              <a:lnSpc>
                <a:spcPct val="14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SET  SNAME</a:t>
            </a:r>
            <a:r>
              <a:rPr lang="zh-CN" altLang="en-US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＝＇王黎丽＇</a:t>
            </a:r>
          </a:p>
          <a:p>
            <a:pPr algn="just">
              <a:lnSpc>
                <a:spcPct val="140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   </a:t>
            </a: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WHERE   S#</a:t>
            </a:r>
            <a:r>
              <a:rPr lang="zh-CN" altLang="en-US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＝</a:t>
            </a:r>
            <a:r>
              <a:rPr lang="zh-CN" altLang="en-US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＇</a:t>
            </a: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200401003</a:t>
            </a:r>
            <a:r>
              <a:rPr lang="zh-CN" altLang="en-US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＇；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8356A471-4C59-4CCE-93D2-15D4EB3A4A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二、数据的插入、修改与删除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596"/>
    </mc:Choice>
    <mc:Fallback xmlns="">
      <p:transition spd="slow" advTm="3759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88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88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88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ext Box 2">
            <a:extLst>
              <a:ext uri="{FF2B5EF4-FFF2-40B4-BE49-F238E27FC236}">
                <a16:creationId xmlns:a16="http://schemas.microsoft.com/office/drawing/2014/main" id="{018709FD-59F0-4E0C-B5B7-A927108C69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143000"/>
            <a:ext cx="8458200" cy="368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40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5.13  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写出将所有女同学的专业改为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S0404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的数据修改语句。</a:t>
            </a:r>
            <a:endParaRPr lang="zh-CN" altLang="en-US" sz="2800" b="1">
              <a:solidFill>
                <a:srgbClr val="0033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algn="just">
              <a:lnSpc>
                <a:spcPct val="140000"/>
              </a:lnSpc>
              <a:spcBef>
                <a:spcPct val="0"/>
              </a:spcBef>
              <a:buSzTx/>
              <a:buFontTx/>
              <a:buNone/>
            </a:pPr>
            <a:endParaRPr lang="zh-CN" altLang="en-US" sz="2800" b="1">
              <a:latin typeface="宋体" panose="02010600030101010101" pitchFamily="2" charset="-122"/>
            </a:endParaRPr>
          </a:p>
          <a:p>
            <a:pPr algn="just">
              <a:lnSpc>
                <a:spcPct val="140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800" b="1">
                <a:latin typeface="宋体" panose="02010600030101010101" pitchFamily="2" charset="-122"/>
              </a:rPr>
              <a:t>    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UPDATE  S</a:t>
            </a:r>
          </a:p>
          <a:p>
            <a:pPr algn="just">
              <a:lnSpc>
                <a:spcPct val="14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    SET SCODE# </a:t>
            </a:r>
            <a:r>
              <a: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＝ ＇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S0404</a:t>
            </a:r>
            <a:r>
              <a: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＇</a:t>
            </a:r>
          </a:p>
          <a:p>
            <a:pPr algn="just">
              <a:lnSpc>
                <a:spcPct val="140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   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WHERE   SSEX</a:t>
            </a:r>
            <a:r>
              <a: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＝</a:t>
            </a:r>
            <a:r>
              <a: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＇女＇；</a:t>
            </a:r>
            <a:r>
              <a:rPr lang="zh-CN" altLang="en-US" sz="2800" b="1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732E4810-6039-47DD-8377-38C670066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二、数据的插入、修改与删除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093"/>
    </mc:Choice>
    <mc:Fallback xmlns="">
      <p:transition spd="slow" advTm="2609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98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98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98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ext Box 2">
            <a:extLst>
              <a:ext uri="{FF2B5EF4-FFF2-40B4-BE49-F238E27FC236}">
                <a16:creationId xmlns:a16="http://schemas.microsoft.com/office/drawing/2014/main" id="{223A4E98-1631-49EF-8D85-B14BF3489A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143000"/>
            <a:ext cx="8458200" cy="4422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800" b="1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 </a:t>
            </a:r>
            <a:r>
              <a:rPr lang="zh-CN" altLang="en-US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数据的删除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  <a:p>
            <a:pPr algn="just">
              <a:lnSpc>
                <a:spcPct val="135000"/>
              </a:lnSpc>
              <a:spcBef>
                <a:spcPct val="30000"/>
              </a:spcBef>
              <a:buSzTx/>
              <a:buFontTx/>
              <a:buNone/>
            </a:pPr>
            <a:r>
              <a:rPr lang="zh-CN" altLang="en-US" sz="2600" b="1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600" b="1">
                <a:solidFill>
                  <a:srgbClr val="3366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语句格式：</a:t>
            </a:r>
          </a:p>
          <a:p>
            <a:pPr algn="just">
              <a:lnSpc>
                <a:spcPct val="135000"/>
              </a:lnSpc>
              <a:spcBef>
                <a:spcPct val="40000"/>
              </a:spcBef>
              <a:buSzTx/>
              <a:buFontTx/>
              <a:buNone/>
            </a:pPr>
            <a:r>
              <a:rPr lang="zh-CN" altLang="en-US" sz="2600" b="1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en-US" altLang="zh-CN" sz="2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DELETE  FROM  &lt;</a:t>
            </a:r>
            <a:r>
              <a:rPr lang="zh-CN" altLang="en-US" sz="2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表名</a:t>
            </a:r>
            <a:r>
              <a:rPr lang="en-US" altLang="zh-CN" sz="2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&gt;</a:t>
            </a:r>
          </a:p>
          <a:p>
            <a:pPr algn="just">
              <a:lnSpc>
                <a:spcPct val="135000"/>
              </a:lnSpc>
              <a:spcBef>
                <a:spcPct val="0"/>
              </a:spcBef>
              <a:spcAft>
                <a:spcPct val="40000"/>
              </a:spcAft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 [WHERE &lt;</a:t>
            </a:r>
            <a:r>
              <a:rPr lang="zh-CN" altLang="en-US" sz="2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条件</a:t>
            </a:r>
            <a:r>
              <a:rPr lang="en-US" altLang="zh-CN" sz="2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&gt;]</a:t>
            </a:r>
          </a:p>
          <a:p>
            <a:pPr algn="just">
              <a:lnSpc>
                <a:spcPct val="135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600" b="1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其中，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可选项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楷体_GB2312" pitchFamily="49" charset="-122"/>
              </a:rPr>
              <a:t>“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[WHERE 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条件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&gt;]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楷体_GB2312" pitchFamily="49" charset="-122"/>
              </a:rPr>
              <a:t>”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中的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&lt;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条件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&gt;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指定所删元组应满足的条件。当不选该可选项时，表示删除表中全部数据。 </a:t>
            </a:r>
          </a:p>
        </p:txBody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7AF8EA65-03FF-426E-AECA-283221020B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二、数据的插入、修改与删除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397"/>
    </mc:Choice>
    <mc:Fallback xmlns="">
      <p:transition spd="slow" advTm="3939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0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808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808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808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1000"/>
                                        <p:tgtEl>
                                          <p:spTgt spid="808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ext Box 2">
            <a:extLst>
              <a:ext uri="{FF2B5EF4-FFF2-40B4-BE49-F238E27FC236}">
                <a16:creationId xmlns:a16="http://schemas.microsoft.com/office/drawing/2014/main" id="{AC6AB733-9071-4CFD-9A28-FA10B14A8D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143000"/>
            <a:ext cx="8458200" cy="487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40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5.14 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从学生关系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中删除学号为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200403001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的学生的信息。</a:t>
            </a:r>
          </a:p>
          <a:p>
            <a:pPr algn="just">
              <a:lnSpc>
                <a:spcPct val="140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       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DELETE  FROM  S</a:t>
            </a:r>
          </a:p>
          <a:p>
            <a:pPr algn="just">
              <a:lnSpc>
                <a:spcPct val="14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    WHERE S# =</a:t>
            </a:r>
            <a:r>
              <a: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＇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200403001</a:t>
            </a:r>
            <a:r>
              <a: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＇；</a:t>
            </a:r>
          </a:p>
          <a:p>
            <a:pPr algn="just">
              <a:lnSpc>
                <a:spcPct val="140000"/>
              </a:lnSpc>
              <a:spcBef>
                <a:spcPct val="0"/>
              </a:spcBef>
              <a:buSzTx/>
              <a:buFontTx/>
              <a:buNone/>
            </a:pPr>
            <a:endParaRPr lang="zh-CN" altLang="en-US" sz="2800" b="1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lnSpc>
                <a:spcPct val="140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5.15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删除专业关系中的全部信息。</a:t>
            </a:r>
          </a:p>
          <a:p>
            <a:pPr algn="just">
              <a:lnSpc>
                <a:spcPct val="140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       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DELETE  FROM  SS</a:t>
            </a:r>
            <a:r>
              <a: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</a:p>
          <a:p>
            <a:pPr algn="just">
              <a:lnSpc>
                <a:spcPct val="140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                          </a:t>
            </a:r>
            <a:r>
              <a:rPr lang="en-US" altLang="zh-CN" sz="2800" b="1">
                <a:solidFill>
                  <a:srgbClr val="96969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##</a:t>
            </a:r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CB1E2EFC-9AA6-49E5-854C-83D7602790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二、数据的插入、修改与删除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867"/>
    </mc:Choice>
    <mc:Fallback xmlns="">
      <p:transition spd="slow" advTm="5686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19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19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819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819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819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476" name="Rectangle 4">
            <a:extLst>
              <a:ext uri="{FF2B5EF4-FFF2-40B4-BE49-F238E27FC236}">
                <a16:creationId xmlns:a16="http://schemas.microsoft.com/office/drawing/2014/main" id="{13C5C30C-7E61-4331-8B18-60E0F76BC440}"/>
              </a:ext>
            </a:extLst>
          </p:cNvPr>
          <p:cNvSpPr>
            <a:spLocks noChangeArrowheads="1"/>
          </p:cNvSpPr>
          <p:nvPr/>
        </p:nvSpPr>
        <p:spPr bwMode="gray">
          <a:xfrm>
            <a:off x="755650" y="285750"/>
            <a:ext cx="7793038" cy="62230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SzTx/>
              <a:buFontTx/>
              <a:buNone/>
            </a:pPr>
            <a:r>
              <a:rPr lang="zh-CN" altLang="en-US" sz="4000">
                <a:latin typeface="华文隶书" panose="02010800040101010101" pitchFamily="2" charset="-122"/>
                <a:ea typeface="华文隶书" panose="02010800040101010101" pitchFamily="2" charset="-122"/>
              </a:rPr>
              <a:t>本次课复习要点</a:t>
            </a:r>
          </a:p>
        </p:txBody>
      </p:sp>
      <p:sp>
        <p:nvSpPr>
          <p:cNvPr id="489477" name="Rectangle 5">
            <a:extLst>
              <a:ext uri="{FF2B5EF4-FFF2-40B4-BE49-F238E27FC236}">
                <a16:creationId xmlns:a16="http://schemas.microsoft.com/office/drawing/2014/main" id="{63DD0883-2D37-4E2D-B079-89A130ADC8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725" y="1258888"/>
            <a:ext cx="8208963" cy="533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lnSpc>
                <a:spcPct val="120000"/>
              </a:lnSpc>
              <a:buClr>
                <a:schemeClr val="folHlink"/>
              </a:buClr>
              <a:buSzPct val="60000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chemeClr val="hlink"/>
              </a:buClr>
              <a:buSzPct val="55000"/>
              <a:buChar char="n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buClr>
                <a:schemeClr val="folHlink"/>
              </a:buClr>
              <a:buSzPct val="50000"/>
              <a:buChar char="n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buClr>
                <a:schemeClr val="accent2"/>
              </a:buClr>
              <a:buSzPct val="55000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buClr>
                <a:schemeClr val="accent1"/>
              </a:buClr>
              <a:buSzPct val="50000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endParaRPr lang="en-US" altLang="zh-CN" sz="1000">
              <a:solidFill>
                <a:srgbClr val="990033"/>
              </a:solidFill>
              <a:effectLst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>
                <a:effectLst/>
              </a:rPr>
              <a:t>           </a:t>
            </a:r>
            <a:r>
              <a:rPr lang="en-US" altLang="zh-CN">
                <a:solidFill>
                  <a:srgbClr val="003366"/>
                </a:solidFill>
              </a:rPr>
              <a:t>SQL</a:t>
            </a:r>
            <a:r>
              <a:rPr lang="zh-CN" altLang="en-US">
                <a:solidFill>
                  <a:srgbClr val="003366"/>
                </a:solidFill>
              </a:rPr>
              <a:t>的功能</a:t>
            </a:r>
            <a:r>
              <a:rPr lang="zh-CN" altLang="en-US"/>
              <a:t> </a:t>
            </a:r>
            <a:endParaRPr lang="zh-CN" altLang="en-US">
              <a:solidFill>
                <a:srgbClr val="003366"/>
              </a:solidFill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>
                <a:solidFill>
                  <a:srgbClr val="003366"/>
                </a:solidFill>
              </a:rPr>
              <a:t>           </a:t>
            </a:r>
            <a:r>
              <a:rPr lang="en-US" altLang="zh-CN">
                <a:solidFill>
                  <a:srgbClr val="003366"/>
                </a:solidFill>
              </a:rPr>
              <a:t>SQL</a:t>
            </a:r>
            <a:r>
              <a:rPr lang="zh-CN" altLang="en-US">
                <a:solidFill>
                  <a:srgbClr val="003366"/>
                </a:solidFill>
              </a:rPr>
              <a:t>的特点  </a:t>
            </a: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>
                <a:solidFill>
                  <a:srgbClr val="003366"/>
                </a:solidFill>
              </a:rPr>
              <a:t>          表的创建定义语句格式  </a:t>
            </a: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>
                <a:solidFill>
                  <a:srgbClr val="003366"/>
                </a:solidFill>
              </a:rPr>
              <a:t>          几种最基本得数据类型</a:t>
            </a: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>
                <a:solidFill>
                  <a:srgbClr val="003366"/>
                </a:solidFill>
              </a:rPr>
              <a:t>          列的完整性约束</a:t>
            </a: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>
                <a:solidFill>
                  <a:srgbClr val="003366"/>
                </a:solidFill>
              </a:rPr>
              <a:t>          表的完整性约束：主键约束 、外键约束 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304"/>
    </mc:Choice>
    <mc:Fallback xmlns="">
      <p:transition spd="slow" advTm="1930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94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894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894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894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8947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8947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9477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485" name="Rectangle 5">
            <a:extLst>
              <a:ext uri="{FF2B5EF4-FFF2-40B4-BE49-F238E27FC236}">
                <a16:creationId xmlns:a16="http://schemas.microsoft.com/office/drawing/2014/main" id="{BF3D5F7D-6C12-4A9E-986B-538D85EFCC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8913" y="2590800"/>
            <a:ext cx="623728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20000"/>
              </a:spcBef>
              <a:buSzTx/>
              <a:buFontTx/>
              <a:buNone/>
            </a:pPr>
            <a:r>
              <a:rPr lang="zh-CN" altLang="en-US" sz="6000" b="1"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新魏" panose="02010800040101010101" pitchFamily="2" charset="-122"/>
              </a:rPr>
              <a:t>谢谢大家！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00"/>
    </mc:Choice>
    <mc:Fallback xmlns="">
      <p:transition spd="slow" advTm="230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1.1|99.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4|27.7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Pct val="100000"/>
          <a:buFont typeface="Wingdings" panose="05000000000000000000" pitchFamily="2" charset="2"/>
          <a:buChar char="•"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Pct val="100000"/>
          <a:buFont typeface="Wingdings" panose="05000000000000000000" pitchFamily="2" charset="2"/>
          <a:buChar char="•"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3612</TotalTime>
  <Words>1232</Words>
  <Application>Microsoft Office PowerPoint</Application>
  <PresentationFormat>全屏显示(4:3)</PresentationFormat>
  <Paragraphs>112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6" baseType="lpstr">
      <vt:lpstr>黑体</vt:lpstr>
      <vt:lpstr>华文隶书</vt:lpstr>
      <vt:lpstr>楷体_GB2312</vt:lpstr>
      <vt:lpstr>宋体</vt:lpstr>
      <vt:lpstr>Arial</vt:lpstr>
      <vt:lpstr>Tahoma</vt:lpstr>
      <vt:lpstr>Times New Roman</vt:lpstr>
      <vt:lpstr>Wingdings</vt:lpstr>
      <vt:lpstr>Blends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乔淋漓的冷汗</dc:creator>
  <cp:lastModifiedBy>乔 淋漓的冷汗</cp:lastModifiedBy>
  <cp:revision>409</cp:revision>
  <cp:lastPrinted>1601-01-01T00:00:00Z</cp:lastPrinted>
  <dcterms:created xsi:type="dcterms:W3CDTF">1601-01-01T00:00:00Z</dcterms:created>
  <dcterms:modified xsi:type="dcterms:W3CDTF">2021-04-12T15:24:57Z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