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495" r:id="rId2"/>
    <p:sldId id="470" r:id="rId3"/>
    <p:sldId id="316" r:id="rId4"/>
    <p:sldId id="502" r:id="rId5"/>
    <p:sldId id="315" r:id="rId6"/>
    <p:sldId id="486" r:id="rId7"/>
    <p:sldId id="488" r:id="rId8"/>
    <p:sldId id="490" r:id="rId9"/>
    <p:sldId id="433" r:id="rId10"/>
    <p:sldId id="491" r:id="rId11"/>
    <p:sldId id="492" r:id="rId12"/>
    <p:sldId id="324" r:id="rId13"/>
    <p:sldId id="317" r:id="rId14"/>
    <p:sldId id="318" r:id="rId15"/>
    <p:sldId id="260" r:id="rId16"/>
    <p:sldId id="319" r:id="rId17"/>
    <p:sldId id="320" r:id="rId18"/>
    <p:sldId id="321" r:id="rId19"/>
    <p:sldId id="325" r:id="rId2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buSzPct val="100000"/>
      <a:buFont typeface="Wingdings" panose="05000000000000000000" pitchFamily="2" charset="2"/>
      <a:buChar char="•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A7406"/>
    <a:srgbClr val="FF0066"/>
    <a:srgbClr val="000000"/>
    <a:srgbClr val="CCFFFF"/>
    <a:srgbClr val="0033CC"/>
    <a:srgbClr val="00336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6" autoAdjust="0"/>
    <p:restoredTop sz="94660"/>
  </p:normalViewPr>
  <p:slideViewPr>
    <p:cSldViewPr>
      <p:cViewPr varScale="1">
        <p:scale>
          <a:sx n="125" d="100"/>
          <a:sy n="125" d="100"/>
        </p:scale>
        <p:origin x="142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442" name="Group 2">
            <a:extLst>
              <a:ext uri="{FF2B5EF4-FFF2-40B4-BE49-F238E27FC236}">
                <a16:creationId xmlns:a16="http://schemas.microsoft.com/office/drawing/2014/main" id="{4D54D481-14E4-4790-80C9-E64D00A71C27}"/>
              </a:ext>
            </a:extLst>
          </p:cNvPr>
          <p:cNvGrpSpPr>
            <a:grpSpLocks/>
          </p:cNvGrpSpPr>
          <p:nvPr/>
        </p:nvGrpSpPr>
        <p:grpSpPr bwMode="auto">
          <a:xfrm>
            <a:off x="0" y="1819275"/>
            <a:ext cx="9009063" cy="1052513"/>
            <a:chOff x="0" y="1536"/>
            <a:chExt cx="5675" cy="663"/>
          </a:xfrm>
        </p:grpSpPr>
        <p:grpSp>
          <p:nvGrpSpPr>
            <p:cNvPr id="445443" name="Group 3">
              <a:extLst>
                <a:ext uri="{FF2B5EF4-FFF2-40B4-BE49-F238E27FC236}">
                  <a16:creationId xmlns:a16="http://schemas.microsoft.com/office/drawing/2014/main" id="{C08FAEAA-42FE-4D9E-99FE-0C962572A9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5444" name="Rectangle 4">
                <a:extLst>
                  <a:ext uri="{FF2B5EF4-FFF2-40B4-BE49-F238E27FC236}">
                    <a16:creationId xmlns:a16="http://schemas.microsoft.com/office/drawing/2014/main" id="{616FB3B9-E0EC-4209-A4C0-E388F2BC4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5" name="Rectangle 5">
                <a:extLst>
                  <a:ext uri="{FF2B5EF4-FFF2-40B4-BE49-F238E27FC236}">
                    <a16:creationId xmlns:a16="http://schemas.microsoft.com/office/drawing/2014/main" id="{95D48F77-0F2E-4D5E-9AF2-76BE458F3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5446" name="Group 6">
              <a:extLst>
                <a:ext uri="{FF2B5EF4-FFF2-40B4-BE49-F238E27FC236}">
                  <a16:creationId xmlns:a16="http://schemas.microsoft.com/office/drawing/2014/main" id="{5922303C-3C40-463E-98F3-FCA1465FF6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5447" name="Rectangle 7">
                <a:extLst>
                  <a:ext uri="{FF2B5EF4-FFF2-40B4-BE49-F238E27FC236}">
                    <a16:creationId xmlns:a16="http://schemas.microsoft.com/office/drawing/2014/main" id="{CE90DCFF-B0C6-454E-B530-A534E97219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5448" name="Rectangle 8">
                <a:extLst>
                  <a:ext uri="{FF2B5EF4-FFF2-40B4-BE49-F238E27FC236}">
                    <a16:creationId xmlns:a16="http://schemas.microsoft.com/office/drawing/2014/main" id="{F5FDF947-D266-471A-B640-4A978AE8B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5449" name="Rectangle 9">
              <a:extLst>
                <a:ext uri="{FF2B5EF4-FFF2-40B4-BE49-F238E27FC236}">
                  <a16:creationId xmlns:a16="http://schemas.microsoft.com/office/drawing/2014/main" id="{4D7A294E-AAF7-4CF4-8014-CD7D45C0C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0" name="Rectangle 10">
              <a:extLst>
                <a:ext uri="{FF2B5EF4-FFF2-40B4-BE49-F238E27FC236}">
                  <a16:creationId xmlns:a16="http://schemas.microsoft.com/office/drawing/2014/main" id="{986B874E-F66C-4956-945D-C614D4B09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5451" name="Rectangle 11">
              <a:extLst>
                <a:ext uri="{FF2B5EF4-FFF2-40B4-BE49-F238E27FC236}">
                  <a16:creationId xmlns:a16="http://schemas.microsoft.com/office/drawing/2014/main" id="{A4F35EB1-4CC9-4495-8139-101B3821F4A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45452" name="Rectangle 12">
            <a:extLst>
              <a:ext uri="{FF2B5EF4-FFF2-40B4-BE49-F238E27FC236}">
                <a16:creationId xmlns:a16="http://schemas.microsoft.com/office/drawing/2014/main" id="{BD5398AC-7A06-4FCA-8990-50F3E9CC79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268413"/>
            <a:ext cx="8137525" cy="1462087"/>
          </a:xfrm>
        </p:spPr>
        <p:txBody>
          <a:bodyPr/>
          <a:lstStyle>
            <a:lvl1pPr algn="ctr">
              <a:defRPr sz="48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45453" name="Rectangle 13">
            <a:extLst>
              <a:ext uri="{FF2B5EF4-FFF2-40B4-BE49-F238E27FC236}">
                <a16:creationId xmlns:a16="http://schemas.microsoft.com/office/drawing/2014/main" id="{786BECF2-0430-4BB3-B089-8226B5C5C4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45454" name="Rectangle 14">
            <a:extLst>
              <a:ext uri="{FF2B5EF4-FFF2-40B4-BE49-F238E27FC236}">
                <a16:creationId xmlns:a16="http://schemas.microsoft.com/office/drawing/2014/main" id="{36B97DA8-F93D-43D9-988A-4FF2E99AAB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5" name="Rectangle 15">
            <a:extLst>
              <a:ext uri="{FF2B5EF4-FFF2-40B4-BE49-F238E27FC236}">
                <a16:creationId xmlns:a16="http://schemas.microsoft.com/office/drawing/2014/main" id="{53EB4465-4EF3-49BD-8C8C-D09631E05E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445456" name="Rectangle 16">
            <a:extLst>
              <a:ext uri="{FF2B5EF4-FFF2-40B4-BE49-F238E27FC236}">
                <a16:creationId xmlns:a16="http://schemas.microsoft.com/office/drawing/2014/main" id="{910EFC27-B983-400F-B111-0201EDA681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5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048D8-14E4-4528-B617-0687AA44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B25E3A-3BC3-40D6-9BF9-53975EB51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8C7024-936E-4CF8-8E28-09DF49898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B878ED-B390-487D-BBE8-A15174E1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85AB8F-8DC8-4B99-8669-C3713E33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510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F68B6-2579-4112-826A-7BB79939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6133B9-61FE-4501-9E52-C2BABA90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580730-31F5-454D-9E2F-D60F7C2B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16F85-339E-4BA4-86D9-502DA46B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CE0E25-5C17-437F-9B84-5F19F675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0661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68E684-7F60-4F46-858E-77ADB132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502D29-56DA-4B45-B824-2FFC0444D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1258888"/>
            <a:ext cx="3919537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6DA984-EDEA-48BE-A4E5-771D0F969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5" y="1258888"/>
            <a:ext cx="3921125" cy="53387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DAFEB3-8E22-4828-B342-9A1883F4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D7A8BD-3736-40DC-A9D8-B7C7076D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E0FF89-CB51-46E3-9993-85F4F8DA5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828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817A9-8F67-46E1-8997-0C103A087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5AEAA1-19EA-41D6-AAA2-6F7DCF7F0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6330F5-D700-4829-ABA3-D975A10D5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3E83AB-5403-496C-B13E-CAE2A3AD5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106F81-2D54-4859-ACFA-E0D9CCC2E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872C794-EED6-4075-84BA-CBE2B6BFF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8D01ED-EB65-4DA3-B0D0-F90064AFE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A313D5-AC53-4C89-9D97-5235AF01F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7084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EDBB7-7528-490B-BA26-774249E9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242EEE-CD9E-4821-B7B9-4C2F7133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1A64587-FD48-409A-9CF6-1106E273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F2B84E-6564-4FAB-8A8B-F6569A1C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26995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E43A72-F9CD-4E91-95B6-1357EC17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EF7DC2-520B-4B85-BFAA-1D0A0C8A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EAB019-3B74-4D12-82BA-1FF386C0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3939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3370B-D12F-485D-939C-43891BB4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BD3B12-2470-446D-A865-8A52962D0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BBBCAA-1E83-440B-92C3-3D6B39FC5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3B915F-E006-4FF0-9F50-D5B16FE0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7C4B89-C3D1-49FF-86D2-31158B98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654A71-55DD-4895-A96D-F45085B8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8974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547B13-DB46-4414-B26E-39BD003D3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68CA80-969C-43C5-9CA4-5ECBD73198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C3B416-F5EC-48FE-9923-69A47187C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F31ADE-F2FA-465A-8140-CD582E63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2033FB-4E87-4BF3-894E-30EC2E15D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0DC320-56D4-4109-923B-DA625CB7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9949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CA638-D7DD-47B8-9842-F6C4C472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B808B1-4043-4911-999E-93DA092F2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5943B-B581-4CA3-B097-8D884443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E74F2-4E12-4475-B9F1-D9A304CB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570409-8ABD-4FA0-8972-5F4CF1FD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04961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ED300C-C248-473B-95A6-175DDD41E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61175" y="214313"/>
            <a:ext cx="2082800" cy="63833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2C60A9-9D53-419C-942B-FC5E0B855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214313"/>
            <a:ext cx="6097587" cy="63833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DBBFFC-D14B-4130-895E-AA746DF3D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08686D-7E1D-4C7D-975E-350B4C20B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72711-A787-4C13-B61B-648F1996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42361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7BBD74E0-CE22-4F59-82A8-8BDB60DFD5C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EFCD99C0-B1ED-4FF6-99D9-F848FBBD6F0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0" name="Rectangle 4">
            <a:extLst>
              <a:ext uri="{FF2B5EF4-FFF2-40B4-BE49-F238E27FC236}">
                <a16:creationId xmlns:a16="http://schemas.microsoft.com/office/drawing/2014/main" id="{AEDDE249-4396-4056-A8DC-30A1330DFF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1" name="Rectangle 5">
            <a:extLst>
              <a:ext uri="{FF2B5EF4-FFF2-40B4-BE49-F238E27FC236}">
                <a16:creationId xmlns:a16="http://schemas.microsoft.com/office/drawing/2014/main" id="{C5160B2D-CE24-4C07-B075-05A44F8AF6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id="{18501DD0-A3B1-4C1F-B0B0-956471546C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3" name="Rectangle 7">
            <a:extLst>
              <a:ext uri="{FF2B5EF4-FFF2-40B4-BE49-F238E27FC236}">
                <a16:creationId xmlns:a16="http://schemas.microsoft.com/office/drawing/2014/main" id="{D9BB411F-A971-44D6-81D3-F9BFFA95C4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1444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7A2ABA19-D0B8-4CB2-9C9D-ECD42FA7E2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9350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spcBef>
                <a:spcPct val="0"/>
              </a:spcBef>
              <a:buSzTx/>
              <a:buFontTx/>
              <a:buNone/>
            </a:pPr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D0916AA0-62FA-4D4F-8423-1A0ED4C3F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4426" name="Rectangle 10">
            <a:extLst>
              <a:ext uri="{FF2B5EF4-FFF2-40B4-BE49-F238E27FC236}">
                <a16:creationId xmlns:a16="http://schemas.microsoft.com/office/drawing/2014/main" id="{49AFFEF9-680B-48B4-990B-804BBA333D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258888"/>
            <a:ext cx="7993062" cy="533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4427" name="Rectangle 11">
            <a:extLst>
              <a:ext uri="{FF2B5EF4-FFF2-40B4-BE49-F238E27FC236}">
                <a16:creationId xmlns:a16="http://schemas.microsoft.com/office/drawing/2014/main" id="{1DFB0773-E796-40DF-8D12-2D0152BB4A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id="{FD6EEFB1-2D85-4B0A-B0F5-3FFA9205479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id="{FB597C94-36A1-41AB-A62D-D2E9167E5B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SzTx/>
              <a:buFontTx/>
              <a:buNone/>
              <a:defRPr sz="1400">
                <a:latin typeface="+mn-lt"/>
              </a:defRPr>
            </a:lvl1pPr>
          </a:lstStyle>
          <a:p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3" name="Rectangle 3">
            <a:extLst>
              <a:ext uri="{FF2B5EF4-FFF2-40B4-BE49-F238E27FC236}">
                <a16:creationId xmlns:a16="http://schemas.microsoft.com/office/drawing/2014/main" id="{70379228-B188-47F0-82EF-6B6050B181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219200"/>
            <a:ext cx="8137525" cy="1462088"/>
          </a:xfrm>
          <a:noFill/>
          <a:ln/>
        </p:spPr>
        <p:txBody>
          <a:bodyPr/>
          <a:lstStyle/>
          <a:p>
            <a:r>
              <a:rPr lang="zh-CN" altLang="en-US" sz="4400"/>
              <a:t>第</a:t>
            </a:r>
            <a:r>
              <a:rPr lang="en-US" altLang="zh-CN" sz="4400"/>
              <a:t>5</a:t>
            </a:r>
            <a:r>
              <a:rPr lang="zh-CN" altLang="en-US" sz="4400"/>
              <a:t>章 关系数据库语言</a:t>
            </a:r>
            <a:r>
              <a:rPr lang="en-US" altLang="zh-CN" sz="4400"/>
              <a:t>SQL</a:t>
            </a:r>
            <a:r>
              <a:rPr lang="en-US" altLang="zh-CN"/>
              <a:t> </a:t>
            </a:r>
          </a:p>
        </p:txBody>
      </p:sp>
      <p:sp>
        <p:nvSpPr>
          <p:cNvPr id="476164" name="Rectangle 4">
            <a:extLst>
              <a:ext uri="{FF2B5EF4-FFF2-40B4-BE49-F238E27FC236}">
                <a16:creationId xmlns:a16="http://schemas.microsoft.com/office/drawing/2014/main" id="{1CD9D5E6-16D3-4196-A0DD-D4B7A1A69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0963"/>
            <a:ext cx="4159250" cy="574675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数据库系统原理与设计</a:t>
            </a:r>
            <a:endParaRPr kumimoji="1" lang="zh-CN" altLang="en-US" sz="30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6168" name="Text Box 8">
            <a:extLst>
              <a:ext uri="{FF2B5EF4-FFF2-40B4-BE49-F238E27FC236}">
                <a16:creationId xmlns:a16="http://schemas.microsoft.com/office/drawing/2014/main" id="{EBE2597C-A8E0-4683-B165-42BC508FE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957638"/>
            <a:ext cx="468153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4000" b="1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endParaRPr lang="zh-CN" altLang="en-US" sz="4400" b="1" dirty="0">
              <a:solidFill>
                <a:srgbClr val="66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pic>
        <p:nvPicPr>
          <p:cNvPr id="476169" name="Picture 9">
            <a:extLst>
              <a:ext uri="{FF2B5EF4-FFF2-40B4-BE49-F238E27FC236}">
                <a16:creationId xmlns:a16="http://schemas.microsoft.com/office/drawing/2014/main" id="{F231969F-B90E-4800-9FF4-C1956584F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70363"/>
            <a:ext cx="2700338" cy="268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6170" name="Text Box 10">
            <a:extLst>
              <a:ext uri="{FF2B5EF4-FFF2-40B4-BE49-F238E27FC236}">
                <a16:creationId xmlns:a16="http://schemas.microsoft.com/office/drawing/2014/main" id="{D1E17668-F495-42E2-A54B-C8E58EF69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2697163"/>
            <a:ext cx="46815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zh-CN" altLang="en-US" sz="4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（第二讲）</a:t>
            </a:r>
            <a:endParaRPr lang="zh-CN" altLang="en-US" sz="4400" b="1">
              <a:solidFill>
                <a:srgbClr val="0066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96"/>
    </mc:Choice>
    <mc:Fallback xmlns="">
      <p:transition spd="slow" advTm="42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3" name="Rectangle 3">
            <a:extLst>
              <a:ext uri="{FF2B5EF4-FFF2-40B4-BE49-F238E27FC236}">
                <a16:creationId xmlns:a16="http://schemas.microsoft.com/office/drawing/2014/main" id="{82E8AC2D-EC28-4CAD-AF5E-B8095F4D7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73025"/>
            <a:ext cx="4119562" cy="544513"/>
          </a:xfrm>
          <a:prstGeom prst="rect">
            <a:avLst/>
          </a:prstGeom>
          <a:gradFill rotWithShape="1">
            <a:gsLst>
              <a:gs pos="0">
                <a:srgbClr val="C0C0C0"/>
              </a:gs>
              <a:gs pos="100000">
                <a:srgbClr val="C0C0C0">
                  <a:gamma/>
                  <a:tint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72000" anchor="ctr" anchorCtr="1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第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5</a:t>
            </a:r>
            <a:r>
              <a:rPr lang="zh-CN" altLang="en-US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章 关系数据库语言</a:t>
            </a:r>
            <a:r>
              <a:rPr lang="en-US" altLang="zh-CN" sz="2600" b="1">
                <a:solidFill>
                  <a:srgbClr val="99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隶书" panose="02010509060101010101" pitchFamily="49" charset="-122"/>
              </a:rPr>
              <a:t>SQL</a:t>
            </a:r>
            <a:r>
              <a:rPr lang="en-US" altLang="zh-CN"/>
              <a:t> </a:t>
            </a:r>
          </a:p>
        </p:txBody>
      </p:sp>
      <p:sp>
        <p:nvSpPr>
          <p:cNvPr id="450564" name="Rectangle 4">
            <a:extLst>
              <a:ext uri="{FF2B5EF4-FFF2-40B4-BE49-F238E27FC236}">
                <a16:creationId xmlns:a16="http://schemas.microsoft.com/office/drawing/2014/main" id="{CDEE7D46-80D8-4C4F-A5FA-DA9FC62C46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4213" y="1185863"/>
            <a:ext cx="8137525" cy="1462087"/>
          </a:xfrm>
          <a:noFill/>
          <a:ln/>
        </p:spPr>
        <p:txBody>
          <a:bodyPr/>
          <a:lstStyle/>
          <a:p>
            <a:r>
              <a:rPr lang="en-US" altLang="zh-CN"/>
              <a:t>5.3  SQL</a:t>
            </a:r>
            <a:r>
              <a:rPr lang="zh-CN" altLang="en-US"/>
              <a:t>数据查询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5"/>
    </mc:Choice>
    <mc:Fallback xmlns="">
      <p:transition spd="slow" advTm="57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450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>
            <a:extLst>
              <a:ext uri="{FF2B5EF4-FFF2-40B4-BE49-F238E27FC236}">
                <a16:creationId xmlns:a16="http://schemas.microsoft.com/office/drawing/2014/main" id="{6E43CF7B-9DFC-4451-B39A-D49A4E823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07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</a:t>
            </a:r>
            <a:endParaRPr lang="en-US" altLang="zh-CN" sz="280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45000"/>
              </a:lnSpc>
              <a:spcBef>
                <a:spcPct val="40000"/>
              </a:spcBef>
              <a:spcAft>
                <a:spcPct val="20000"/>
              </a:spcAft>
              <a:buSzTx/>
              <a:buFontTx/>
              <a:buNone/>
            </a:pPr>
            <a:r>
              <a:rPr lang="en-US" altLang="zh-CN" sz="2600" b="1">
                <a:solidFill>
                  <a:srgbClr val="8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600" b="1">
                <a:latin typeface="宋体" panose="02010600030101010101" pitchFamily="2" charset="-122"/>
              </a:rPr>
              <a:t> </a:t>
            </a:r>
            <a:r>
              <a:rPr lang="en-US" altLang="zh-CN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600" b="1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查询语句的基本格式为：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列名表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FROM   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表名表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[WHERE  &lt;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条件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&gt;]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B84F82F0-41E9-4746-BF53-AC2B5CD46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023" name="Rectangle 7">
            <a:extLst>
              <a:ext uri="{FF2B5EF4-FFF2-40B4-BE49-F238E27FC236}">
                <a16:creationId xmlns:a16="http://schemas.microsoft.com/office/drawing/2014/main" id="{A5E899DD-6DBB-49A0-A579-BD9AA8CA4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9541"/>
    </mc:Choice>
    <mc:Fallback xmlns="">
      <p:transition spd="slow" advTm="2895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60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2" name="Text Box 4">
            <a:extLst>
              <a:ext uri="{FF2B5EF4-FFF2-40B4-BE49-F238E27FC236}">
                <a16:creationId xmlns:a16="http://schemas.microsoft.com/office/drawing/2014/main" id="{B07F2F8A-F11A-4E4B-9F95-1940A1D5F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233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SELECT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查询语句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5000"/>
              </a:lnSpc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 A</a:t>
            </a:r>
            <a:r>
              <a:rPr lang="en-US" altLang="zh-CN" sz="26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 A</a:t>
            </a:r>
            <a:r>
              <a:rPr lang="en-US" altLang="zh-CN" sz="26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, A</a:t>
            </a:r>
            <a:r>
              <a:rPr lang="en-US" altLang="zh-CN" sz="26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FROM   R</a:t>
            </a:r>
            <a:r>
              <a:rPr lang="en-US" altLang="zh-CN" sz="26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 R</a:t>
            </a:r>
            <a:r>
              <a:rPr lang="en-US" altLang="zh-CN" sz="26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,R</a:t>
            </a:r>
            <a:r>
              <a:rPr lang="en-US" altLang="zh-CN" sz="26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WHERE  F</a:t>
            </a:r>
          </a:p>
        </p:txBody>
      </p:sp>
      <p:sp>
        <p:nvSpPr>
          <p:cNvPr id="483333" name="Rectangle 5">
            <a:extLst>
              <a:ext uri="{FF2B5EF4-FFF2-40B4-BE49-F238E27FC236}">
                <a16:creationId xmlns:a16="http://schemas.microsoft.com/office/drawing/2014/main" id="{91EC215B-7AC0-4106-918A-449682035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3336" name="Text Box 8">
            <a:extLst>
              <a:ext uri="{FF2B5EF4-FFF2-40B4-BE49-F238E27FC236}">
                <a16:creationId xmlns:a16="http://schemas.microsoft.com/office/drawing/2014/main" id="{9DCDC832-6141-4A45-ADC5-4048B14F2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565525"/>
            <a:ext cx="8763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就与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关系代数表达式</a:t>
            </a:r>
          </a:p>
        </p:txBody>
      </p:sp>
      <p:sp>
        <p:nvSpPr>
          <p:cNvPr id="483337" name="Rectangle 9">
            <a:extLst>
              <a:ext uri="{FF2B5EF4-FFF2-40B4-BE49-F238E27FC236}">
                <a16:creationId xmlns:a16="http://schemas.microsoft.com/office/drawing/2014/main" id="{DF985AF3-11CA-4422-BBCA-5A90F88DE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sp>
        <p:nvSpPr>
          <p:cNvPr id="483339" name="Text Box 11">
            <a:extLst>
              <a:ext uri="{FF2B5EF4-FFF2-40B4-BE49-F238E27FC236}">
                <a16:creationId xmlns:a16="http://schemas.microsoft.com/office/drawing/2014/main" id="{0486DDB3-38E6-453D-B31C-76F59DC34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29200"/>
            <a:ext cx="1905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相对应。</a:t>
            </a:r>
          </a:p>
        </p:txBody>
      </p:sp>
      <p:graphicFrame>
        <p:nvGraphicFramePr>
          <p:cNvPr id="483341" name="Object 13">
            <a:extLst>
              <a:ext uri="{FF2B5EF4-FFF2-40B4-BE49-F238E27FC236}">
                <a16:creationId xmlns:a16="http://schemas.microsoft.com/office/drawing/2014/main" id="{D41196D2-D044-4FE5-8E1D-90AC7B590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191000"/>
          <a:ext cx="7239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361960" imgH="241200" progId="Equation.3">
                  <p:embed/>
                </p:oleObj>
              </mc:Choice>
              <mc:Fallback>
                <p:oleObj name="公式" r:id="rId3" imgW="2361960" imgH="241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91000"/>
                        <a:ext cx="72390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33"/>
    </mc:Choice>
    <mc:Fallback xmlns="">
      <p:transition spd="slow" advTm="6953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3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83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83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48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3336" grpId="0"/>
      <p:bldP spid="4833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>
            <a:extLst>
              <a:ext uri="{FF2B5EF4-FFF2-40B4-BE49-F238E27FC236}">
                <a16:creationId xmlns:a16="http://schemas.microsoft.com/office/drawing/2014/main" id="{21EFA30B-4F3E-44C5-A066-6F49007B06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27125"/>
            <a:ext cx="8458200" cy="374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无条件查询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endParaRPr lang="zh-CN" altLang="en-US" sz="8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5.16</a:t>
            </a: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查询教学管理数据库中全部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基本信息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endParaRPr lang="zh-CN" altLang="en-US" sz="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*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FROM   S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endParaRPr lang="zh-CN" altLang="en-US" sz="26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下面，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介绍利用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SQL Server 2005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的“查询编辑器”，实现例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5.16 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查询的过程。</a:t>
            </a:r>
            <a:r>
              <a:rPr lang="zh-CN" altLang="en-US" sz="28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8000B26D-E13E-4CB5-8204-E62552065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309"/>
    </mc:Choice>
    <mc:Fallback xmlns="">
      <p:transition spd="slow" advTm="1553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9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8" name="Text Box 4">
            <a:extLst>
              <a:ext uri="{FF2B5EF4-FFF2-40B4-BE49-F238E27FC236}">
                <a16:creationId xmlns:a16="http://schemas.microsoft.com/office/drawing/2014/main" id="{77249C5C-00DE-4679-8DE0-E02C77696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86407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zh-CN" altLang="en-US" sz="2900" b="1">
                <a:solidFill>
                  <a:srgbClr val="006666"/>
                </a:solidFill>
                <a:ea typeface="黑体" panose="02010609060101010101" pitchFamily="49" charset="-122"/>
              </a:rPr>
              <a:t>“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查询编辑器</a:t>
            </a:r>
            <a:r>
              <a:rPr lang="zh-CN" altLang="en-US" sz="2900" b="1">
                <a:solidFill>
                  <a:srgbClr val="006666"/>
                </a:solidFill>
                <a:ea typeface="黑体" panose="02010609060101010101" pitchFamily="49" charset="-122"/>
              </a:rPr>
              <a:t>”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实现例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5.16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的查询的步骤 ：</a:t>
            </a:r>
          </a:p>
        </p:txBody>
      </p:sp>
      <p:sp>
        <p:nvSpPr>
          <p:cNvPr id="466949" name="Text Box 5">
            <a:extLst>
              <a:ext uri="{FF2B5EF4-FFF2-40B4-BE49-F238E27FC236}">
                <a16:creationId xmlns:a16="http://schemas.microsoft.com/office/drawing/2014/main" id="{F1ECFD77-938A-4125-9B08-5C2940F7A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8458200" cy="184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latin typeface="宋体" panose="02010600030101010101" pitchFamily="2" charset="-122"/>
              </a:rPr>
              <a:t>（</a:t>
            </a:r>
            <a:r>
              <a:rPr lang="en-US" altLang="zh-CN" sz="2600" b="1">
                <a:latin typeface="宋体" panose="02010600030101010101" pitchFamily="2" charset="-122"/>
              </a:rPr>
              <a:t>1</a:t>
            </a:r>
            <a:r>
              <a:rPr lang="zh-CN" altLang="en-US" sz="2600" b="1">
                <a:latin typeface="宋体" panose="02010600030101010101" pitchFamily="2" charset="-122"/>
              </a:rPr>
              <a:t>）打开</a:t>
            </a:r>
            <a:r>
              <a:rPr lang="en-US" altLang="zh-CN" sz="2600" b="1">
                <a:latin typeface="宋体" panose="02010600030101010101" pitchFamily="2" charset="-122"/>
              </a:rPr>
              <a:t>SQL Server 2005</a:t>
            </a:r>
            <a:r>
              <a:rPr lang="zh-CN" altLang="en-US" sz="2600" b="1">
                <a:latin typeface="宋体" panose="02010600030101010101" pitchFamily="2" charset="-122"/>
              </a:rPr>
              <a:t>的“查询编辑器”，选择“</a:t>
            </a:r>
            <a:r>
              <a:rPr lang="en-US" altLang="zh-CN" sz="2600" b="1">
                <a:latin typeface="宋体" panose="02010600030101010101" pitchFamily="2" charset="-122"/>
              </a:rPr>
              <a:t>JXGL”</a:t>
            </a:r>
            <a:r>
              <a:rPr lang="zh-CN" altLang="en-US" sz="2600" b="1">
                <a:latin typeface="宋体" panose="02010600030101010101" pitchFamily="2" charset="-122"/>
              </a:rPr>
              <a:t>数据库，键入查询语句 ：</a:t>
            </a:r>
            <a:r>
              <a:rPr lang="zh-CN" altLang="en-US" sz="2800" b="1">
                <a:latin typeface="宋体" panose="02010600030101010101" pitchFamily="2" charset="-122"/>
              </a:rPr>
              <a:t>   </a:t>
            </a:r>
          </a:p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endParaRPr lang="en-US" altLang="zh-CN" sz="2800" b="1">
              <a:latin typeface="宋体" panose="02010600030101010101" pitchFamily="2" charset="-122"/>
            </a:endParaRPr>
          </a:p>
        </p:txBody>
      </p:sp>
      <p:pic>
        <p:nvPicPr>
          <p:cNvPr id="466950" name="Picture 6">
            <a:extLst>
              <a:ext uri="{FF2B5EF4-FFF2-40B4-BE49-F238E27FC236}">
                <a16:creationId xmlns:a16="http://schemas.microsoft.com/office/drawing/2014/main" id="{1DDE214B-4728-49C9-8DBE-A426C8C57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79650"/>
            <a:ext cx="6477000" cy="450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6955" name="Group 11">
            <a:extLst>
              <a:ext uri="{FF2B5EF4-FFF2-40B4-BE49-F238E27FC236}">
                <a16:creationId xmlns:a16="http://schemas.microsoft.com/office/drawing/2014/main" id="{24951F53-3BAC-4835-9672-7CC417699B6C}"/>
              </a:ext>
            </a:extLst>
          </p:cNvPr>
          <p:cNvGrpSpPr>
            <a:grpSpLocks/>
          </p:cNvGrpSpPr>
          <p:nvPr/>
        </p:nvGrpSpPr>
        <p:grpSpPr bwMode="auto">
          <a:xfrm>
            <a:off x="2330450" y="3036888"/>
            <a:ext cx="773113" cy="196850"/>
            <a:chOff x="1447" y="1913"/>
            <a:chExt cx="487" cy="124"/>
          </a:xfrm>
        </p:grpSpPr>
        <p:sp>
          <p:nvSpPr>
            <p:cNvPr id="466951" name="Line 7">
              <a:extLst>
                <a:ext uri="{FF2B5EF4-FFF2-40B4-BE49-F238E27FC236}">
                  <a16:creationId xmlns:a16="http://schemas.microsoft.com/office/drawing/2014/main" id="{96FE5606-B207-458B-881C-8F35AE3F5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1913"/>
              <a:ext cx="48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952" name="Line 8">
              <a:extLst>
                <a:ext uri="{FF2B5EF4-FFF2-40B4-BE49-F238E27FC236}">
                  <a16:creationId xmlns:a16="http://schemas.microsoft.com/office/drawing/2014/main" id="{2856F6DB-1CD9-43EF-A677-B1A3E9E78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037"/>
              <a:ext cx="480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953" name="Line 9">
              <a:extLst>
                <a:ext uri="{FF2B5EF4-FFF2-40B4-BE49-F238E27FC236}">
                  <a16:creationId xmlns:a16="http://schemas.microsoft.com/office/drawing/2014/main" id="{EE9AC4E7-E7FF-4F50-8D30-A9DCC17379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1913"/>
              <a:ext cx="0" cy="12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6954" name="Line 10">
              <a:extLst>
                <a:ext uri="{FF2B5EF4-FFF2-40B4-BE49-F238E27FC236}">
                  <a16:creationId xmlns:a16="http://schemas.microsoft.com/office/drawing/2014/main" id="{5F254AD8-F3FF-47FE-9C8F-BCD18EDAF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" y="1915"/>
              <a:ext cx="0" cy="12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6956" name="Line 12">
            <a:extLst>
              <a:ext uri="{FF2B5EF4-FFF2-40B4-BE49-F238E27FC236}">
                <a16:creationId xmlns:a16="http://schemas.microsoft.com/office/drawing/2014/main" id="{EFB4F771-F4AA-4344-8BCA-529CE686A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6000" y="3886200"/>
            <a:ext cx="114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38"/>
    </mc:Choice>
    <mc:Fallback xmlns="">
      <p:transition spd="slow" advTm="415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46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6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466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6" name="Text Box 4">
            <a:extLst>
              <a:ext uri="{FF2B5EF4-FFF2-40B4-BE49-F238E27FC236}">
                <a16:creationId xmlns:a16="http://schemas.microsoft.com/office/drawing/2014/main" id="{1A326386-B71F-49E4-BDC2-F709608BF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"/>
            <a:ext cx="86407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zh-CN" altLang="en-US" sz="2900" b="1">
                <a:solidFill>
                  <a:srgbClr val="006666"/>
                </a:solidFill>
                <a:ea typeface="黑体" panose="02010609060101010101" pitchFamily="49" charset="-122"/>
              </a:rPr>
              <a:t>“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查询编辑器</a:t>
            </a:r>
            <a:r>
              <a:rPr lang="zh-CN" altLang="en-US" sz="2900" b="1">
                <a:solidFill>
                  <a:srgbClr val="006666"/>
                </a:solidFill>
                <a:ea typeface="黑体" panose="02010609060101010101" pitchFamily="49" charset="-122"/>
              </a:rPr>
              <a:t>”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实现例</a:t>
            </a:r>
            <a:r>
              <a:rPr lang="en-US" altLang="zh-CN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5.16</a:t>
            </a:r>
            <a:r>
              <a:rPr lang="zh-CN" altLang="en-US" sz="29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的查询的步骤 ：</a:t>
            </a:r>
          </a:p>
        </p:txBody>
      </p:sp>
      <p:sp>
        <p:nvSpPr>
          <p:cNvPr id="468997" name="Text Box 5">
            <a:extLst>
              <a:ext uri="{FF2B5EF4-FFF2-40B4-BE49-F238E27FC236}">
                <a16:creationId xmlns:a16="http://schemas.microsoft.com/office/drawing/2014/main" id="{F80C67FC-76F1-42DD-9866-A73D709A1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066800"/>
            <a:ext cx="8458200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600" b="1">
                <a:latin typeface="宋体" panose="02010600030101010101" pitchFamily="2" charset="-122"/>
              </a:rPr>
              <a:t>（</a:t>
            </a:r>
            <a:r>
              <a:rPr lang="en-US" altLang="zh-CN" sz="2600" b="1">
                <a:latin typeface="宋体" panose="02010600030101010101" pitchFamily="2" charset="-122"/>
              </a:rPr>
              <a:t>2</a:t>
            </a:r>
            <a:r>
              <a:rPr lang="zh-CN" altLang="en-US" sz="2600" b="1">
                <a:latin typeface="宋体" panose="02010600030101010101" pitchFamily="2" charset="-122"/>
              </a:rPr>
              <a:t>）单击“！执行</a:t>
            </a:r>
            <a:r>
              <a:rPr lang="en-US" altLang="zh-CN" sz="2600" b="1">
                <a:latin typeface="宋体" panose="02010600030101010101" pitchFamily="2" charset="-122"/>
              </a:rPr>
              <a:t>(X)”</a:t>
            </a:r>
            <a:r>
              <a:rPr lang="zh-CN" altLang="en-US" sz="2600" b="1">
                <a:latin typeface="宋体" panose="02010600030101010101" pitchFamily="2" charset="-122"/>
              </a:rPr>
              <a:t>按钮，</a:t>
            </a:r>
            <a:r>
              <a:rPr lang="en-US" altLang="zh-CN" sz="2600" b="1">
                <a:solidFill>
                  <a:srgbClr val="006666"/>
                </a:solidFill>
                <a:latin typeface="宋体" panose="02010600030101010101" pitchFamily="2" charset="-122"/>
              </a:rPr>
              <a:t>{</a:t>
            </a:r>
            <a:r>
              <a:rPr lang="zh-CN" altLang="en-US" sz="2600" b="1">
                <a:solidFill>
                  <a:srgbClr val="006666"/>
                </a:solidFill>
                <a:latin typeface="宋体" panose="02010600030101010101" pitchFamily="2" charset="-122"/>
              </a:rPr>
              <a:t>对于图</a:t>
            </a:r>
            <a:r>
              <a:rPr lang="en-US" altLang="zh-CN" sz="2600" b="1">
                <a:solidFill>
                  <a:srgbClr val="006666"/>
                </a:solidFill>
                <a:latin typeface="宋体" panose="02010600030101010101" pitchFamily="2" charset="-122"/>
              </a:rPr>
              <a:t>1.8</a:t>
            </a:r>
            <a:r>
              <a:rPr lang="zh-CN" altLang="en-US" sz="2600" b="1">
                <a:solidFill>
                  <a:srgbClr val="006666"/>
                </a:solidFill>
                <a:latin typeface="宋体" panose="02010600030101010101" pitchFamily="2" charset="-122"/>
              </a:rPr>
              <a:t>中给出的关系的当前值来说，</a:t>
            </a:r>
            <a:r>
              <a:rPr lang="en-US" altLang="zh-CN" sz="2600" b="1">
                <a:solidFill>
                  <a:srgbClr val="006666"/>
                </a:solidFill>
                <a:latin typeface="宋体" panose="02010600030101010101" pitchFamily="2" charset="-122"/>
              </a:rPr>
              <a:t>}</a:t>
            </a:r>
            <a:r>
              <a:rPr lang="zh-CN" altLang="en-US" sz="2600" b="1">
                <a:latin typeface="宋体" panose="02010600030101010101" pitchFamily="2" charset="-122"/>
              </a:rPr>
              <a:t>得到如下图的查询结果。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pic>
        <p:nvPicPr>
          <p:cNvPr id="468999" name="Picture 7">
            <a:extLst>
              <a:ext uri="{FF2B5EF4-FFF2-40B4-BE49-F238E27FC236}">
                <a16:creationId xmlns:a16="http://schemas.microsoft.com/office/drawing/2014/main" id="{8AE41857-45A9-4051-88B0-0CF27910B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09800"/>
            <a:ext cx="6934200" cy="459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9006" name="Group 14">
            <a:extLst>
              <a:ext uri="{FF2B5EF4-FFF2-40B4-BE49-F238E27FC236}">
                <a16:creationId xmlns:a16="http://schemas.microsoft.com/office/drawing/2014/main" id="{E9859428-A8A0-4A7A-B09A-9F2625F19AB8}"/>
              </a:ext>
            </a:extLst>
          </p:cNvPr>
          <p:cNvGrpSpPr>
            <a:grpSpLocks/>
          </p:cNvGrpSpPr>
          <p:nvPr/>
        </p:nvGrpSpPr>
        <p:grpSpPr bwMode="auto">
          <a:xfrm>
            <a:off x="4124325" y="2970213"/>
            <a:ext cx="981075" cy="233362"/>
            <a:chOff x="2598" y="1878"/>
            <a:chExt cx="618" cy="147"/>
          </a:xfrm>
        </p:grpSpPr>
        <p:sp>
          <p:nvSpPr>
            <p:cNvPr id="469001" name="Line 9">
              <a:extLst>
                <a:ext uri="{FF2B5EF4-FFF2-40B4-BE49-F238E27FC236}">
                  <a16:creationId xmlns:a16="http://schemas.microsoft.com/office/drawing/2014/main" id="{8764D4AE-0F1C-40F4-AF37-0AD4F6FA2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8" y="1878"/>
              <a:ext cx="617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002" name="Line 10">
              <a:extLst>
                <a:ext uri="{FF2B5EF4-FFF2-40B4-BE49-F238E27FC236}">
                  <a16:creationId xmlns:a16="http://schemas.microsoft.com/office/drawing/2014/main" id="{66F0A422-504A-4030-A23D-B227DDF78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8" y="2016"/>
              <a:ext cx="617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003" name="Line 11">
              <a:extLst>
                <a:ext uri="{FF2B5EF4-FFF2-40B4-BE49-F238E27FC236}">
                  <a16:creationId xmlns:a16="http://schemas.microsoft.com/office/drawing/2014/main" id="{A743E321-8151-4B4A-82A5-256BD648B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8" y="1878"/>
              <a:ext cx="0" cy="14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9004" name="Line 12">
              <a:extLst>
                <a:ext uri="{FF2B5EF4-FFF2-40B4-BE49-F238E27FC236}">
                  <a16:creationId xmlns:a16="http://schemas.microsoft.com/office/drawing/2014/main" id="{8B9698DB-E824-44F3-A5BD-48278BEBE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880"/>
              <a:ext cx="0" cy="145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9007" name="Line 15">
            <a:extLst>
              <a:ext uri="{FF2B5EF4-FFF2-40B4-BE49-F238E27FC236}">
                <a16:creationId xmlns:a16="http://schemas.microsoft.com/office/drawing/2014/main" id="{5D9B089C-1DD2-4D46-9330-996F5E2CD3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6096000"/>
            <a:ext cx="54102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08"/>
    </mc:Choice>
    <mc:Fallback xmlns="">
      <p:transition spd="slow" advTm="97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9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9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46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4" name="Text Box 4">
            <a:extLst>
              <a:ext uri="{FF2B5EF4-FFF2-40B4-BE49-F238E27FC236}">
                <a16:creationId xmlns:a16="http://schemas.microsoft.com/office/drawing/2014/main" id="{CF197FE4-44FF-469C-9B7D-6DB926BFC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259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无条件查询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5.17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查询教学管理数据库中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全部教师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教职工编号、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姓名、职称和所属教研室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  <a:p>
            <a:pPr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T#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TNAME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TITLEOF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TRSECTION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FROM   T 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sp>
        <p:nvSpPr>
          <p:cNvPr id="471045" name="Rectangle 5">
            <a:extLst>
              <a:ext uri="{FF2B5EF4-FFF2-40B4-BE49-F238E27FC236}">
                <a16:creationId xmlns:a16="http://schemas.microsoft.com/office/drawing/2014/main" id="{586FCC40-0751-4CE3-A6F6-055AED289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pic>
        <p:nvPicPr>
          <p:cNvPr id="471046" name="Picture 6">
            <a:extLst>
              <a:ext uri="{FF2B5EF4-FFF2-40B4-BE49-F238E27FC236}">
                <a16:creationId xmlns:a16="http://schemas.microsoft.com/office/drawing/2014/main" id="{7FB49D42-82E6-4A93-B04B-FA25361D5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6" t="47040" r="1080" b="12149"/>
          <a:stretch>
            <a:fillRect/>
          </a:stretch>
        </p:blipFill>
        <p:spPr bwMode="auto">
          <a:xfrm>
            <a:off x="1447800" y="3833813"/>
            <a:ext cx="609600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389"/>
    </mc:Choice>
    <mc:Fallback xmlns="">
      <p:transition spd="slow" advTm="613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710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710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471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71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4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2" name="Text Box 4">
            <a:extLst>
              <a:ext uri="{FF2B5EF4-FFF2-40B4-BE49-F238E27FC236}">
                <a16:creationId xmlns:a16="http://schemas.microsoft.com/office/drawing/2014/main" id="{80F83E59-E287-4A67-B2B1-524394D80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610600" cy="281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无条件查询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5.18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课程关系</a:t>
            </a:r>
            <a:r>
              <a:rPr lang="zh-CN" altLang="en-US" sz="9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9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记录数</a:t>
            </a:r>
            <a:r>
              <a:rPr lang="zh-CN" altLang="en-US" sz="1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也即开课的总门数</a:t>
            </a:r>
            <a:r>
              <a:rPr lang="zh-CN" altLang="en-US" sz="2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/>
              <a:t> 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0000"/>
              </a:lnSpc>
              <a:spcBef>
                <a:spcPct val="30000"/>
              </a:spcBef>
              <a:spcAft>
                <a:spcPct val="30000"/>
              </a:spcAft>
              <a:buSzTx/>
              <a:buFontTx/>
              <a:buNone/>
            </a:pP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课程关系模式：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CNAME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CLASSH</a:t>
            </a:r>
            <a:r>
              <a:rPr lang="zh-CN" altLang="en-US" sz="26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6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SELECT COUNT(*)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FROM   C</a:t>
            </a:r>
            <a:r>
              <a:rPr lang="zh-CN" altLang="en-US" sz="26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375814" name="Rectangle 6">
            <a:extLst>
              <a:ext uri="{FF2B5EF4-FFF2-40B4-BE49-F238E27FC236}">
                <a16:creationId xmlns:a16="http://schemas.microsoft.com/office/drawing/2014/main" id="{A148F8D3-C4F3-48EF-BD2B-336C52B4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pic>
        <p:nvPicPr>
          <p:cNvPr id="375816" name="Picture 8">
            <a:extLst>
              <a:ext uri="{FF2B5EF4-FFF2-40B4-BE49-F238E27FC236}">
                <a16:creationId xmlns:a16="http://schemas.microsoft.com/office/drawing/2014/main" id="{1F8D4DCF-48B4-4E53-87C2-16917AD43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9" t="55988" r="44839" b="26901"/>
          <a:stretch>
            <a:fillRect/>
          </a:stretch>
        </p:blipFill>
        <p:spPr bwMode="auto">
          <a:xfrm>
            <a:off x="2590800" y="4572000"/>
            <a:ext cx="2667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5818" name="AutoShape 10">
            <a:extLst>
              <a:ext uri="{FF2B5EF4-FFF2-40B4-BE49-F238E27FC236}">
                <a16:creationId xmlns:a16="http://schemas.microsoft.com/office/drawing/2014/main" id="{D3FF43A4-F1B2-4B2D-BE06-875E48A41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3429000"/>
            <a:ext cx="1828800" cy="609600"/>
          </a:xfrm>
          <a:prstGeom prst="wedgeRoundRectCallout">
            <a:avLst>
              <a:gd name="adj1" fmla="val -131597"/>
              <a:gd name="adj2" fmla="val -71356"/>
              <a:gd name="adj3" fmla="val 16667"/>
            </a:avLst>
          </a:prstGeom>
          <a:solidFill>
            <a:srgbClr val="00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lnSpc>
                <a:spcPct val="10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b="1">
                <a:ea typeface="楷体_GB2312" pitchFamily="49" charset="-122"/>
              </a:rPr>
              <a:t> </a:t>
            </a:r>
            <a:r>
              <a:rPr kumimoji="1" lang="zh-CN" altLang="en-US" sz="2500" b="1">
                <a:ea typeface="楷体_GB2312" pitchFamily="49" charset="-122"/>
              </a:rPr>
              <a:t>聚合函数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227"/>
    </mc:Choice>
    <mc:Fallback xmlns="">
      <p:transition spd="slow" advTm="1182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758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758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758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3758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37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0" fill="hold"/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0" fill="hold"/>
                                        <p:tgtEl>
                                          <p:spTgt spid="375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8" name="Text Box 4">
            <a:extLst>
              <a:ext uri="{FF2B5EF4-FFF2-40B4-BE49-F238E27FC236}">
                <a16:creationId xmlns:a16="http://schemas.microsoft.com/office/drawing/2014/main" id="{A045A5DB-1C5D-4C74-8EA1-DCBE1FBBB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无条件查询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5.18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课程关系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中的记录数</a:t>
            </a:r>
            <a:r>
              <a:rPr lang="zh-CN" altLang="en-US" sz="1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也即开课的总门数</a:t>
            </a:r>
            <a:r>
              <a:rPr lang="zh-CN" altLang="en-US" sz="20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0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2070" name="Rectangle 6">
            <a:extLst>
              <a:ext uri="{FF2B5EF4-FFF2-40B4-BE49-F238E27FC236}">
                <a16:creationId xmlns:a16="http://schemas.microsoft.com/office/drawing/2014/main" id="{B40FA607-CFC6-42E7-992E-B04D215B5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grpSp>
        <p:nvGrpSpPr>
          <p:cNvPr id="472077" name="Group 13">
            <a:extLst>
              <a:ext uri="{FF2B5EF4-FFF2-40B4-BE49-F238E27FC236}">
                <a16:creationId xmlns:a16="http://schemas.microsoft.com/office/drawing/2014/main" id="{846F31E1-885D-40BF-9CB4-AA1C953EC320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38600"/>
            <a:ext cx="6400800" cy="1493838"/>
            <a:chOff x="528" y="2544"/>
            <a:chExt cx="4032" cy="941"/>
          </a:xfrm>
        </p:grpSpPr>
        <p:pic>
          <p:nvPicPr>
            <p:cNvPr id="472071" name="Picture 7">
              <a:extLst>
                <a:ext uri="{FF2B5EF4-FFF2-40B4-BE49-F238E27FC236}">
                  <a16:creationId xmlns:a16="http://schemas.microsoft.com/office/drawing/2014/main" id="{64E84A7E-2D29-42B9-85E9-30F3E2732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699" t="55988" r="44839" b="26901"/>
            <a:stretch>
              <a:fillRect/>
            </a:stretch>
          </p:blipFill>
          <p:spPr bwMode="auto">
            <a:xfrm>
              <a:off x="528" y="2640"/>
              <a:ext cx="1824" cy="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2073" name="Picture 9">
              <a:extLst>
                <a:ext uri="{FF2B5EF4-FFF2-40B4-BE49-F238E27FC236}">
                  <a16:creationId xmlns:a16="http://schemas.microsoft.com/office/drawing/2014/main" id="{29FB0314-A744-45C5-AC63-FC6A4A68D5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38" t="55331" r="50539" b="26962"/>
            <a:stretch>
              <a:fillRect/>
            </a:stretch>
          </p:blipFill>
          <p:spPr bwMode="auto">
            <a:xfrm>
              <a:off x="2928" y="2544"/>
              <a:ext cx="1632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72076" name="Group 12">
            <a:extLst>
              <a:ext uri="{FF2B5EF4-FFF2-40B4-BE49-F238E27FC236}">
                <a16:creationId xmlns:a16="http://schemas.microsoft.com/office/drawing/2014/main" id="{D3AC126D-BF0E-40CF-94D9-9080A3E88ED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667000"/>
            <a:ext cx="8458200" cy="1144588"/>
            <a:chOff x="192" y="1680"/>
            <a:chExt cx="5328" cy="721"/>
          </a:xfrm>
        </p:grpSpPr>
        <p:sp>
          <p:nvSpPr>
            <p:cNvPr id="472072" name="AutoShape 8">
              <a:extLst>
                <a:ext uri="{FF2B5EF4-FFF2-40B4-BE49-F238E27FC236}">
                  <a16:creationId xmlns:a16="http://schemas.microsoft.com/office/drawing/2014/main" id="{0E409E71-F1DF-42D3-BF67-0486CFCDC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968"/>
              <a:ext cx="336" cy="144"/>
            </a:xfrm>
            <a:prstGeom prst="rightArrow">
              <a:avLst>
                <a:gd name="adj1" fmla="val 50000"/>
                <a:gd name="adj2" fmla="val 58333"/>
              </a:avLst>
            </a:prstGeom>
            <a:solidFill>
              <a:schemeClr val="accent2"/>
            </a:solidFill>
            <a:ln w="9525" algn="ctr">
              <a:solidFill>
                <a:srgbClr val="00666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/>
            </a:p>
          </p:txBody>
        </p:sp>
        <p:sp>
          <p:nvSpPr>
            <p:cNvPr id="472075" name="Text Box 11">
              <a:extLst>
                <a:ext uri="{FF2B5EF4-FFF2-40B4-BE49-F238E27FC236}">
                  <a16:creationId xmlns:a16="http://schemas.microsoft.com/office/drawing/2014/main" id="{BB5880F0-F1A6-45D9-BE59-D92C74D07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680"/>
              <a:ext cx="5328" cy="7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spcBef>
                  <a:spcPct val="10000"/>
                </a:spcBef>
                <a:buSzTx/>
                <a:buFontTx/>
                <a:buNone/>
              </a:pPr>
              <a:r>
                <a:rPr lang="en-US" altLang="zh-CN" sz="2600" b="1"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en-US" altLang="zh-CN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SELECT COUNT(*)      SELECT COUNT(*) AS </a:t>
              </a:r>
              <a:r>
                <a:rPr lang="zh-CN" altLang="en-US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记录数 </a:t>
              </a:r>
            </a:p>
            <a:p>
              <a:pPr algn="just">
                <a:lnSpc>
                  <a:spcPct val="135000"/>
                </a:lnSpc>
                <a:spcBef>
                  <a:spcPct val="0"/>
                </a:spcBef>
                <a:buSzTx/>
                <a:buFontTx/>
                <a:buNone/>
              </a:pPr>
              <a:r>
                <a:rPr lang="zh-CN" altLang="en-US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en-US" altLang="zh-CN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FROM   C</a:t>
              </a:r>
              <a:r>
                <a:rPr lang="zh-CN" altLang="en-US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；           </a:t>
              </a:r>
              <a:r>
                <a:rPr lang="en-US" altLang="zh-CN" sz="2600" b="1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FROM   C; 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483"/>
    </mc:Choice>
    <mc:Fallback xmlns="">
      <p:transition spd="slow" advTm="8148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72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72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2" name="Text Box 4">
            <a:extLst>
              <a:ext uri="{FF2B5EF4-FFF2-40B4-BE49-F238E27FC236}">
                <a16:creationId xmlns:a16="http://schemas.microsoft.com/office/drawing/2014/main" id="{1EEA8A2B-E375-40FD-B910-97495793D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197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6666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zh-CN" altLang="en-US" sz="2800" b="1">
                <a:solidFill>
                  <a:srgbClr val="006666"/>
                </a:solidFill>
                <a:latin typeface="宋体" panose="02010600030101010101" pitchFamily="2" charset="-122"/>
              </a:rPr>
              <a:t>起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别名的语句格式为</a:t>
            </a:r>
            <a:r>
              <a:rPr lang="zh-CN" altLang="en-US" sz="2800" b="1">
                <a:latin typeface="宋体" panose="02010600030101010101" pitchFamily="2" charset="-122"/>
              </a:rPr>
              <a:t>：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       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函数名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 AS  &lt;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该函数的别名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  <a:p>
            <a:pPr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&lt;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原列名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 AS  &lt;</a:t>
            </a:r>
            <a:r>
              <a:rPr lang="zh-CN" altLang="en-US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该列的别名</a:t>
            </a:r>
            <a:r>
              <a:rPr lang="en-US" altLang="zh-CN" sz="2800" b="1">
                <a:solidFill>
                  <a:srgbClr val="0033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</p:txBody>
      </p:sp>
      <p:sp>
        <p:nvSpPr>
          <p:cNvPr id="473093" name="Rectangle 5">
            <a:extLst>
              <a:ext uri="{FF2B5EF4-FFF2-40B4-BE49-F238E27FC236}">
                <a16:creationId xmlns:a16="http://schemas.microsoft.com/office/drawing/2014/main" id="{4594ED0C-C70D-4FF6-A22C-DCCAA7B47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sp>
        <p:nvSpPr>
          <p:cNvPr id="473095" name="Text Box 7">
            <a:extLst>
              <a:ext uri="{FF2B5EF4-FFF2-40B4-BE49-F238E27FC236}">
                <a16:creationId xmlns:a16="http://schemas.microsoft.com/office/drawing/2014/main" id="{4B79DEDC-FB88-4E2F-9D80-FFE1AC29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633788"/>
            <a:ext cx="8458200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聚合函数 </a:t>
            </a:r>
            <a:r>
              <a:rPr lang="en-US" altLang="zh-CN" sz="2800" b="1">
                <a:solidFill>
                  <a:srgbClr val="006666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6666"/>
                </a:solidFill>
                <a:ea typeface="黑体" panose="02010609060101010101" pitchFamily="49" charset="-122"/>
              </a:rPr>
              <a:t>…</a:t>
            </a:r>
            <a:r>
              <a:rPr lang="en-US" altLang="zh-CN" sz="28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.. .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    </a:t>
            </a:r>
            <a:endParaRPr lang="en-US" altLang="zh-CN" sz="2800" b="1">
              <a:solidFill>
                <a:srgbClr val="0033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45"/>
    </mc:Choice>
    <mc:Fallback xmlns="">
      <p:transition spd="slow" advTm="322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7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47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47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730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2">
            <a:extLst>
              <a:ext uri="{FF2B5EF4-FFF2-40B4-BE49-F238E27FC236}">
                <a16:creationId xmlns:a16="http://schemas.microsoft.com/office/drawing/2014/main" id="{ECC33CC2-D102-4459-B66C-F0491DE67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43000"/>
            <a:ext cx="8458200" cy="4832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75000"/>
              </a:lnSpc>
              <a:spcBef>
                <a:spcPct val="0"/>
              </a:spcBef>
              <a:spcAft>
                <a:spcPct val="40000"/>
              </a:spcAft>
              <a:buSzTx/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SQL</a:t>
            </a:r>
            <a:r>
              <a:rPr lang="zh-CN" altLang="en-US" sz="24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语言中常用的聚合函数主要有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b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COUNT(*)            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计算元组的个数</a:t>
            </a:r>
            <a:b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COUNT(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      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计算列名所在列的值的个数</a:t>
            </a:r>
            <a:b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COUNT DISTINCT(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计算列名所在列中不同值的个数</a:t>
            </a:r>
            <a:b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SUM(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        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计算该列名所在数据列的值的总和</a:t>
            </a:r>
            <a:b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AVG(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        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计算该列名所在数据列的值的平均值</a:t>
            </a:r>
            <a:b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MIN(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求该列名所在</a:t>
            </a:r>
            <a:r>
              <a:rPr lang="en-US" altLang="zh-CN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字符、日期、属性</a:t>
            </a:r>
            <a:r>
              <a:rPr lang="en-US" altLang="zh-CN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列的最小值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MAX(</a:t>
            </a:r>
            <a:r>
              <a:rPr lang="zh-CN" altLang="en-US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列名</a:t>
            </a:r>
            <a:r>
              <a:rPr lang="en-US" altLang="zh-CN" sz="22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 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求该列名所在</a:t>
            </a:r>
            <a:r>
              <a:rPr lang="en-US" altLang="zh-CN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字符、日期、属性</a:t>
            </a:r>
            <a:r>
              <a:rPr lang="en-US" altLang="zh-CN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200" b="1">
                <a:solidFill>
                  <a:srgbClr val="0066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列的最大值</a:t>
            </a:r>
            <a:endParaRPr lang="zh-CN" altLang="en-US" sz="22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585D771-3B5E-42AE-96D2-4CB593EB3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637"/>
    </mc:Choice>
    <mc:Fallback xmlns="">
      <p:transition spd="slow" advTm="6263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>
            <a:extLst>
              <a:ext uri="{FF2B5EF4-FFF2-40B4-BE49-F238E27FC236}">
                <a16:creationId xmlns:a16="http://schemas.microsoft.com/office/drawing/2014/main" id="{CB9E8931-C24A-487B-BC12-505A8DA83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5.19  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所有学生所学课程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最高分数、最低分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数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平均分数</a:t>
            </a: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MAX(GRADE)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最高分数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MIN(GRADE)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最低分数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AVG(GRADE) AS 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平均分数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FROM   SC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5724E27-6DBA-4A79-AF5A-D93A1E11E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791200"/>
            <a:ext cx="5257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SzTx/>
              <a:buFontTx/>
              <a:buNone/>
            </a:pP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学习关系模式：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SC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S#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b="1">
              <a:solidFill>
                <a:srgbClr val="3366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7044" name="Rectangle 4">
            <a:extLst>
              <a:ext uri="{FF2B5EF4-FFF2-40B4-BE49-F238E27FC236}">
                <a16:creationId xmlns:a16="http://schemas.microsoft.com/office/drawing/2014/main" id="{1A39EFFC-1AB6-4012-BBB5-9AC09C190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pic>
        <p:nvPicPr>
          <p:cNvPr id="87045" name="Picture 5">
            <a:extLst>
              <a:ext uri="{FF2B5EF4-FFF2-40B4-BE49-F238E27FC236}">
                <a16:creationId xmlns:a16="http://schemas.microsoft.com/office/drawing/2014/main" id="{E7CB2199-BA24-4463-9252-77BACFA7C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12" t="43861" r="44467" b="46808"/>
          <a:stretch>
            <a:fillRect/>
          </a:stretch>
        </p:blipFill>
        <p:spPr bwMode="auto">
          <a:xfrm>
            <a:off x="3657600" y="4462463"/>
            <a:ext cx="3190875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573"/>
    </mc:Choice>
    <mc:Fallback xmlns="">
      <p:transition spd="slow" advTm="685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0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2">
            <a:extLst>
              <a:ext uri="{FF2B5EF4-FFF2-40B4-BE49-F238E27FC236}">
                <a16:creationId xmlns:a16="http://schemas.microsoft.com/office/drawing/2014/main" id="{051082D3-6B7B-4E4E-9F2F-360C037C7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33475"/>
            <a:ext cx="8458200" cy="395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单条件查询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just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endParaRPr lang="zh-CN" altLang="en-US" sz="800" b="1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5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5.20  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写出查询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所有学习了计算机网络课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（课程号为</a:t>
            </a:r>
          </a:p>
          <a:p>
            <a:pPr algn="just">
              <a:lnSpc>
                <a:spcPct val="13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C403001)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学生的学号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成绩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的查询语句。</a:t>
            </a:r>
          </a:p>
          <a:p>
            <a:pPr algn="just">
              <a:lnSpc>
                <a:spcPct val="135000"/>
              </a:lnSpc>
              <a:spcBef>
                <a:spcPct val="10000"/>
              </a:spcBef>
              <a:buSzTx/>
              <a:buFontTx/>
              <a:buNone/>
            </a:pPr>
            <a:r>
              <a:rPr lang="zh-CN" altLang="en-US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               </a:t>
            </a: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学习关系模式：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SC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S#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C#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GRADE</a:t>
            </a:r>
            <a:r>
              <a:rPr lang="zh-CN" altLang="en-US" sz="2400" b="1"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endParaRPr lang="zh-CN" altLang="en-US" sz="2400" b="1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80000"/>
              </a:lnSpc>
              <a:spcBef>
                <a:spcPct val="0"/>
              </a:spcBef>
              <a:buSzTx/>
              <a:buFontTx/>
              <a:buNone/>
            </a:pPr>
            <a:endParaRPr lang="zh-CN" altLang="en-US" sz="8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GRADE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FROM   SC</a:t>
            </a:r>
          </a:p>
          <a:p>
            <a:pPr algn="just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WHERE  C# =</a:t>
            </a:r>
            <a:r>
              <a:rPr lang="en-US" altLang="zh-CN" b="1">
                <a:latin typeface="黑体" panose="02010609060101010101" pitchFamily="49" charset="-122"/>
                <a:ea typeface="黑体" panose="02010609060101010101" pitchFamily="49" charset="-122"/>
              </a:rPr>
              <a:t>´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C403001</a:t>
            </a:r>
            <a:r>
              <a:rPr lang="en-US" altLang="zh-CN" b="1"/>
              <a:t>´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</a:t>
            </a:r>
          </a:p>
        </p:txBody>
      </p:sp>
      <p:sp>
        <p:nvSpPr>
          <p:cNvPr id="88068" name="AutoShape 4">
            <a:extLst>
              <a:ext uri="{FF2B5EF4-FFF2-40B4-BE49-F238E27FC236}">
                <a16:creationId xmlns:a16="http://schemas.microsoft.com/office/drawing/2014/main" id="{5F3CA98F-4075-4969-B555-70219F679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410200"/>
            <a:ext cx="2286000" cy="1066800"/>
          </a:xfrm>
          <a:prstGeom prst="wedgeRoundRectCallout">
            <a:avLst>
              <a:gd name="adj1" fmla="val 44792"/>
              <a:gd name="adj2" fmla="val -9226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条件表达式中</a:t>
            </a:r>
          </a:p>
          <a:p>
            <a:pPr algn="ctr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的关系比较符</a:t>
            </a:r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5D574B21-542A-4E79-9687-D72C978CE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pic>
        <p:nvPicPr>
          <p:cNvPr id="88070" name="Picture 6">
            <a:extLst>
              <a:ext uri="{FF2B5EF4-FFF2-40B4-BE49-F238E27FC236}">
                <a16:creationId xmlns:a16="http://schemas.microsoft.com/office/drawing/2014/main" id="{E1F8413F-EC77-4824-9E76-1D8C9C9D0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06" t="51076" r="42242" b="20139"/>
          <a:stretch>
            <a:fillRect/>
          </a:stretch>
        </p:blipFill>
        <p:spPr bwMode="auto">
          <a:xfrm>
            <a:off x="5410200" y="4419600"/>
            <a:ext cx="320040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253"/>
    </mc:Choice>
    <mc:Fallback xmlns="">
      <p:transition spd="slow" advTm="73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80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80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0"/>
                                        <p:tgtEl>
                                          <p:spTgt spid="880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80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80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80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30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2AB88A64-6972-4F44-81DC-F3FE90846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9200"/>
            <a:ext cx="601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5.3</a:t>
            </a:r>
            <a:r>
              <a:rPr lang="zh-CN" altLang="en-US" sz="24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　条件表达式中的关系比较符 </a:t>
            </a:r>
          </a:p>
        </p:txBody>
      </p:sp>
      <p:graphicFrame>
        <p:nvGraphicFramePr>
          <p:cNvPr id="27677" name="Group 29">
            <a:extLst>
              <a:ext uri="{FF2B5EF4-FFF2-40B4-BE49-F238E27FC236}">
                <a16:creationId xmlns:a16="http://schemas.microsoft.com/office/drawing/2014/main" id="{5F1DB45B-D529-4E9C-AD8B-5FB2E2C0D075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1752600"/>
          <a:ext cx="6553200" cy="4038600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2718121404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465955276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　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941204"/>
                  </a:ext>
                </a:extLst>
              </a:tr>
              <a:tr h="3581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  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! = </a:t>
                      </a: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 </a:t>
                      </a: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&lt; 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&gt;=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&lt;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&lt;=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IS NULL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IS NOT NULL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等于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不等于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大于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大于等于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小于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小于等于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是空值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不是空值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205816"/>
                  </a:ext>
                </a:extLst>
              </a:tr>
            </a:tbl>
          </a:graphicData>
        </a:graphic>
      </p:graphicFrame>
      <p:sp>
        <p:nvSpPr>
          <p:cNvPr id="27678" name="Rectangle 30">
            <a:extLst>
              <a:ext uri="{FF2B5EF4-FFF2-40B4-BE49-F238E27FC236}">
                <a16:creationId xmlns:a16="http://schemas.microsoft.com/office/drawing/2014/main" id="{2D0F0CFD-1FEA-43D5-AF7B-43A018A9C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985"/>
    </mc:Choice>
    <mc:Fallback xmlns="">
      <p:transition spd="slow" advTm="4198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3">
            <a:extLst>
              <a:ext uri="{FF2B5EF4-FFF2-40B4-BE49-F238E27FC236}">
                <a16:creationId xmlns:a16="http://schemas.microsoft.com/office/drawing/2014/main" id="{DD10A671-3224-4F89-AB54-7D3E7E616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1000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多条件查询</a:t>
            </a:r>
            <a:endParaRPr lang="zh-CN" altLang="en-US" sz="26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89092" name="Text Box 4">
            <a:extLst>
              <a:ext uri="{FF2B5EF4-FFF2-40B4-BE49-F238E27FC236}">
                <a16:creationId xmlns:a16="http://schemas.microsoft.com/office/drawing/2014/main" id="{E34F782E-E6C9-4D22-9678-2C41017F8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00200"/>
            <a:ext cx="8534400" cy="292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5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5.21  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查询选修了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计算机网络课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课程号为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C403001)</a:t>
            </a: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或信</a:t>
            </a:r>
          </a:p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5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息安全技术课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课程号为</a:t>
            </a:r>
            <a:r>
              <a:rPr lang="en-US" altLang="zh-CN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C403002)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5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学生的学号</a:t>
            </a:r>
            <a:r>
              <a:rPr lang="zh-CN" altLang="en-US" sz="25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S#</a:t>
            </a:r>
          </a:p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FROM   SC</a:t>
            </a:r>
          </a:p>
          <a:p>
            <a:pPr algn="just">
              <a:lnSpc>
                <a:spcPct val="145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WHERE  C# =</a:t>
            </a:r>
            <a:r>
              <a:rPr lang="en-US" altLang="zh-CN" b="1"/>
              <a:t>´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C403001</a:t>
            </a:r>
            <a:r>
              <a:rPr lang="en-US" altLang="zh-CN" b="1"/>
              <a:t>´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OR  C# =</a:t>
            </a:r>
            <a:r>
              <a:rPr lang="en-US" altLang="zh-CN" b="1"/>
              <a:t>´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C403002</a:t>
            </a:r>
            <a:r>
              <a:rPr lang="en-US" altLang="zh-CN" b="1"/>
              <a:t>´</a:t>
            </a:r>
            <a:r>
              <a:rPr lang="zh-CN" altLang="en-US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89094" name="AutoShape 6">
            <a:extLst>
              <a:ext uri="{FF2B5EF4-FFF2-40B4-BE49-F238E27FC236}">
                <a16:creationId xmlns:a16="http://schemas.microsoft.com/office/drawing/2014/main" id="{091A4035-AE3B-4A8C-8617-55F693BD3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819400"/>
            <a:ext cx="2286000" cy="1066800"/>
          </a:xfrm>
          <a:prstGeom prst="wedgeRoundRectCallout">
            <a:avLst>
              <a:gd name="adj1" fmla="val -112222"/>
              <a:gd name="adj2" fmla="val 7648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125000"/>
              </a:lnSpc>
              <a:spcBef>
                <a:spcPct val="0"/>
              </a:spcBef>
              <a:buSzTx/>
              <a:buFontTx/>
              <a:buNone/>
            </a:pPr>
            <a:r>
              <a:rPr kumimoji="1" lang="en-US" altLang="zh-CN" sz="22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条件表达式中</a:t>
            </a:r>
          </a:p>
          <a:p>
            <a:pPr algn="ctr">
              <a:lnSpc>
                <a:spcPct val="115000"/>
              </a:lnSpc>
              <a:spcBef>
                <a:spcPct val="0"/>
              </a:spcBef>
              <a:buSzTx/>
              <a:buFontTx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的逻辑运算符</a:t>
            </a:r>
          </a:p>
        </p:txBody>
      </p:sp>
      <p:sp>
        <p:nvSpPr>
          <p:cNvPr id="89095" name="Rectangle 7">
            <a:extLst>
              <a:ext uri="{FF2B5EF4-FFF2-40B4-BE49-F238E27FC236}">
                <a16:creationId xmlns:a16="http://schemas.microsoft.com/office/drawing/2014/main" id="{71F29A67-AD41-4053-9C68-61E85CA2C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pic>
        <p:nvPicPr>
          <p:cNvPr id="89096" name="Picture 8">
            <a:extLst>
              <a:ext uri="{FF2B5EF4-FFF2-40B4-BE49-F238E27FC236}">
                <a16:creationId xmlns:a16="http://schemas.microsoft.com/office/drawing/2014/main" id="{5AD9CB16-A758-4D5B-9A14-051EE4263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7" t="51776" r="50316" b="16666"/>
          <a:stretch>
            <a:fillRect/>
          </a:stretch>
        </p:blipFill>
        <p:spPr bwMode="auto">
          <a:xfrm>
            <a:off x="4724400" y="4648200"/>
            <a:ext cx="22098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323"/>
    </mc:Choice>
    <mc:Fallback xmlns="">
      <p:transition spd="slow" advTm="583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9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89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90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90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2">
            <a:extLst>
              <a:ext uri="{FF2B5EF4-FFF2-40B4-BE49-F238E27FC236}">
                <a16:creationId xmlns:a16="http://schemas.microsoft.com/office/drawing/2014/main" id="{7201593D-8829-4183-B385-E377EF782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300163"/>
            <a:ext cx="601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SzTx/>
              <a:buFontTx/>
              <a:buNone/>
            </a:pP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             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5.4</a:t>
            </a:r>
            <a:r>
              <a:rPr lang="zh-CN" altLang="en-US" sz="2800" b="1">
                <a:solidFill>
                  <a:srgbClr val="6600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　逻辑运算符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90130" name="Group 18">
            <a:extLst>
              <a:ext uri="{FF2B5EF4-FFF2-40B4-BE49-F238E27FC236}">
                <a16:creationId xmlns:a16="http://schemas.microsoft.com/office/drawing/2014/main" id="{394AD213-A893-48CF-8AE7-CFE830AD8F4E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985963"/>
          <a:ext cx="6553200" cy="2538730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1737985049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861655809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　运算符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panose="020B0604030504040204" pitchFamily="34" charset="0"/>
                          <a:ea typeface="黑体" panose="02010609060101010101" pitchFamily="49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224919"/>
                  </a:ext>
                </a:extLst>
              </a:tr>
              <a:tr h="205740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NOT    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OR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60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lnSpc>
                          <a:spcPct val="120000"/>
                        </a:lnSpc>
                        <a:buClr>
                          <a:schemeClr val="hlink"/>
                        </a:buClr>
                        <a:buSzPct val="55000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lnSpc>
                          <a:spcPct val="120000"/>
                        </a:lnSpc>
                        <a:buClr>
                          <a:schemeClr val="folHlink"/>
                        </a:buClr>
                        <a:buSzPct val="50000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lnSpc>
                          <a:spcPct val="120000"/>
                        </a:lnSpc>
                        <a:buClr>
                          <a:schemeClr val="accent2"/>
                        </a:buClr>
                        <a:buSzPct val="55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lnSpc>
                          <a:spcPct val="120000"/>
                        </a:lnSpc>
                        <a:buClr>
                          <a:schemeClr val="accent1"/>
                        </a:buClr>
                        <a:buSzPct val="50000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逻辑非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逻辑与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逻辑或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052928"/>
                  </a:ext>
                </a:extLst>
              </a:tr>
            </a:tbl>
          </a:graphicData>
        </a:graphic>
      </p:graphicFrame>
      <p:sp>
        <p:nvSpPr>
          <p:cNvPr id="90129" name="Rectangle 17">
            <a:extLst>
              <a:ext uri="{FF2B5EF4-FFF2-40B4-BE49-F238E27FC236}">
                <a16:creationId xmlns:a16="http://schemas.microsoft.com/office/drawing/2014/main" id="{B685A416-D9E2-4D2D-B6A0-4977CCFB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92"/>
    </mc:Choice>
    <mc:Fallback xmlns="">
      <p:transition spd="slow" advTm="1089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 Box 2">
            <a:extLst>
              <a:ext uri="{FF2B5EF4-FFF2-40B4-BE49-F238E27FC236}">
                <a16:creationId xmlns:a16="http://schemas.microsoft.com/office/drawing/2014/main" id="{87645DC1-37BB-47E4-BDA5-19FCBBC08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43000"/>
            <a:ext cx="8458200" cy="3465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600" b="1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5.22  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查询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年龄在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21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岁至</a:t>
            </a:r>
            <a:r>
              <a:rPr lang="en-US" altLang="zh-CN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28</a:t>
            </a:r>
            <a:r>
              <a:rPr lang="zh-CN" altLang="en-US" sz="26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岁之间</a:t>
            </a:r>
            <a:r>
              <a:rPr lang="zh-CN" altLang="en-US" sz="26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学生的基本信息</a:t>
            </a:r>
            <a:r>
              <a:rPr lang="zh-CN" altLang="en-US" sz="26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algn="just">
              <a:lnSpc>
                <a:spcPct val="140000"/>
              </a:lnSpc>
              <a:spcBef>
                <a:spcPct val="30000"/>
              </a:spcBef>
              <a:buSzTx/>
              <a:buFontTx/>
              <a:buNone/>
            </a:pPr>
            <a:r>
              <a:rPr lang="zh-CN" altLang="en-US" sz="2600" b="1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SELECT *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FROM   S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WHERE YEAR(GETDATE())-YEAR(SBIRTHIN)</a:t>
            </a:r>
          </a:p>
          <a:p>
            <a:pPr algn="just">
              <a:lnSpc>
                <a:spcPct val="14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BETWEEN 21 AND 28;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6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80DCD89-2BF0-4D10-A242-466966AC0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B44DBB39-9E81-4F19-AC3B-06A0AAEB4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905000"/>
            <a:ext cx="3238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zh-CN" sz="2000" b="1">
                <a:solidFill>
                  <a:srgbClr val="660066"/>
                </a:solidFill>
              </a:rPr>
              <a:t>year()</a:t>
            </a:r>
            <a:r>
              <a:rPr lang="zh-CN" altLang="en-US" sz="2000" b="1">
                <a:solidFill>
                  <a:srgbClr val="660066"/>
                </a:solidFill>
              </a:rPr>
              <a:t>为取时间的年份函数</a:t>
            </a:r>
            <a:r>
              <a:rPr lang="zh-CN" altLang="en-US"/>
              <a:t> </a:t>
            </a:r>
          </a:p>
        </p:txBody>
      </p:sp>
      <p:pic>
        <p:nvPicPr>
          <p:cNvPr id="91141" name="Picture 5">
            <a:extLst>
              <a:ext uri="{FF2B5EF4-FFF2-40B4-BE49-F238E27FC236}">
                <a16:creationId xmlns:a16="http://schemas.microsoft.com/office/drawing/2014/main" id="{B5372AB4-B7F1-41D5-B827-E27058821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9" t="60806" r="2490" b="15033"/>
          <a:stretch>
            <a:fillRect/>
          </a:stretch>
        </p:blipFill>
        <p:spPr bwMode="auto">
          <a:xfrm>
            <a:off x="1143000" y="4191000"/>
            <a:ext cx="6705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134"/>
    </mc:Choice>
    <mc:Fallback xmlns="">
      <p:transition spd="slow" advTm="581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1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11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1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3" dur="10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>
            <a:extLst>
              <a:ext uri="{FF2B5EF4-FFF2-40B4-BE49-F238E27FC236}">
                <a16:creationId xmlns:a16="http://schemas.microsoft.com/office/drawing/2014/main" id="{560DA852-7433-4913-A2A0-FFA053696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158875"/>
            <a:ext cx="8382000" cy="323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/>
              <a:t>     </a:t>
            </a:r>
            <a:r>
              <a:rPr lang="zh-CN" altLang="en-US" sz="2700" b="1">
                <a:solidFill>
                  <a:srgbClr val="8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象上例中这一类：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把某数值型列的值限定在某个数值区间的比较查询条件（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&lt;=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&gt;=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），均可以用比较运算符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“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BETWEEN 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…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AND</a:t>
            </a:r>
            <a:r>
              <a:rPr lang="en-US" altLang="zh-CN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黑体" panose="02010609060101010101" pitchFamily="49" charset="-122"/>
              </a:rPr>
              <a:t>”</a:t>
            </a:r>
            <a:r>
              <a:rPr lang="zh-CN" altLang="en-US" sz="27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来表示。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zh-CN" altLang="en-US" sz="2800" b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格式为：</a:t>
            </a:r>
          </a:p>
          <a:p>
            <a:pPr algn="just">
              <a:lnSpc>
                <a:spcPct val="120000"/>
              </a:lnSpc>
              <a:spcBef>
                <a:spcPct val="25000"/>
              </a:spcBef>
              <a:buSzTx/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数值型列名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  <a:r>
              <a:rPr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BETWEEN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数值区间下限值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</a:t>
            </a:r>
            <a:r>
              <a:rPr lang="en-US" altLang="zh-CN" sz="2800" b="1">
                <a:solidFill>
                  <a:srgbClr val="0066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AND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&lt;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数值区间上限值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0031995-91E3-4896-BCCF-07760567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1438"/>
            <a:ext cx="7793037" cy="83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SzTx/>
              <a:buFontTx/>
              <a:buNone/>
            </a:pPr>
            <a:r>
              <a:rPr lang="zh-CN" altLang="en-US"/>
              <a:t>一、简单查询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413"/>
    </mc:Choice>
    <mc:Fallback xmlns="">
      <p:transition spd="slow" advTm="17413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57.9|75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5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34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8|36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32.8|18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18.7|21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7|21.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anose="05000000000000000000" pitchFamily="2" charset="2"/>
          <a:buChar char="•"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4069</TotalTime>
  <Words>968</Words>
  <Application>Microsoft Office PowerPoint</Application>
  <PresentationFormat>全屏显示(4:3)</PresentationFormat>
  <Paragraphs>130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黑体</vt:lpstr>
      <vt:lpstr>华文新魏</vt:lpstr>
      <vt:lpstr>隶书</vt:lpstr>
      <vt:lpstr>宋体</vt:lpstr>
      <vt:lpstr>Arial</vt:lpstr>
      <vt:lpstr>Tahoma</vt:lpstr>
      <vt:lpstr>Times New Roman</vt:lpstr>
      <vt:lpstr>Wingdings</vt:lpstr>
      <vt:lpstr>Blends</vt:lpstr>
      <vt:lpstr>公式</vt:lpstr>
      <vt:lpstr>第5章 关系数据库语言SQL </vt:lpstr>
      <vt:lpstr>5.3  SQL数据查询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乔 淋漓的冷汗</cp:lastModifiedBy>
  <cp:revision>406</cp:revision>
  <cp:lastPrinted>1601-01-01T00:00:00Z</cp:lastPrinted>
  <dcterms:created xsi:type="dcterms:W3CDTF">1601-01-01T00:00:00Z</dcterms:created>
  <dcterms:modified xsi:type="dcterms:W3CDTF">2021-04-12T15:25:59Z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