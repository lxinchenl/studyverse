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504" r:id="rId2"/>
    <p:sldId id="326" r:id="rId3"/>
    <p:sldId id="460" r:id="rId4"/>
    <p:sldId id="327" r:id="rId5"/>
    <p:sldId id="328" r:id="rId6"/>
    <p:sldId id="329" r:id="rId7"/>
    <p:sldId id="330" r:id="rId8"/>
    <p:sldId id="331" r:id="rId9"/>
    <p:sldId id="450" r:id="rId10"/>
    <p:sldId id="332" r:id="rId11"/>
    <p:sldId id="503" r:id="rId12"/>
    <p:sldId id="334" r:id="rId13"/>
    <p:sldId id="336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33CC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 autoAdjust="0"/>
    <p:restoredTop sz="94660"/>
  </p:normalViewPr>
  <p:slideViewPr>
    <p:cSldViewPr>
      <p:cViewPr varScale="1">
        <p:scale>
          <a:sx n="66" d="100"/>
          <a:sy n="6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>
            <a:extLst>
              <a:ext uri="{FF2B5EF4-FFF2-40B4-BE49-F238E27FC236}">
                <a16:creationId xmlns:a16="http://schemas.microsoft.com/office/drawing/2014/main" xmlns="" id="{4D54D481-14E4-4790-80C9-E64D00A71C27}"/>
              </a:ext>
            </a:extLst>
          </p:cNvPr>
          <p:cNvGrpSpPr>
            <a:grpSpLocks/>
          </p:cNvGrpSpPr>
          <p:nvPr/>
        </p:nvGrpSpPr>
        <p:grpSpPr bwMode="auto">
          <a:xfrm>
            <a:off x="0" y="1819275"/>
            <a:ext cx="9009063" cy="1052513"/>
            <a:chOff x="0" y="1536"/>
            <a:chExt cx="5675" cy="663"/>
          </a:xfrm>
        </p:grpSpPr>
        <p:grpSp>
          <p:nvGrpSpPr>
            <p:cNvPr id="445443" name="Group 3">
              <a:extLst>
                <a:ext uri="{FF2B5EF4-FFF2-40B4-BE49-F238E27FC236}">
                  <a16:creationId xmlns:a16="http://schemas.microsoft.com/office/drawing/2014/main" xmlns="" id="{C08FAEAA-42FE-4D9E-99FE-0C962572A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>
                <a:extLst>
                  <a:ext uri="{FF2B5EF4-FFF2-40B4-BE49-F238E27FC236}">
                    <a16:creationId xmlns:a16="http://schemas.microsoft.com/office/drawing/2014/main" xmlns="" id="{616FB3B9-E0EC-4209-A4C0-E388F2BC4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>
                <a:extLst>
                  <a:ext uri="{FF2B5EF4-FFF2-40B4-BE49-F238E27FC236}">
                    <a16:creationId xmlns:a16="http://schemas.microsoft.com/office/drawing/2014/main" xmlns="" id="{95D48F77-0F2E-4D5E-9AF2-76BE458F3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>
              <a:extLst>
                <a:ext uri="{FF2B5EF4-FFF2-40B4-BE49-F238E27FC236}">
                  <a16:creationId xmlns:a16="http://schemas.microsoft.com/office/drawing/2014/main" xmlns="" id="{5922303C-3C40-463E-98F3-FCA1465FF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>
                <a:extLst>
                  <a:ext uri="{FF2B5EF4-FFF2-40B4-BE49-F238E27FC236}">
                    <a16:creationId xmlns:a16="http://schemas.microsoft.com/office/drawing/2014/main" xmlns="" id="{CE90DCFF-B0C6-454E-B530-A534E9721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>
                <a:extLst>
                  <a:ext uri="{FF2B5EF4-FFF2-40B4-BE49-F238E27FC236}">
                    <a16:creationId xmlns:a16="http://schemas.microsoft.com/office/drawing/2014/main" xmlns="" id="{F5FDF947-D266-471A-B640-4A978AE8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>
              <a:extLst>
                <a:ext uri="{FF2B5EF4-FFF2-40B4-BE49-F238E27FC236}">
                  <a16:creationId xmlns:a16="http://schemas.microsoft.com/office/drawing/2014/main" xmlns="" id="{4D7A294E-AAF7-4CF4-8014-CD7D45C0C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>
              <a:extLst>
                <a:ext uri="{FF2B5EF4-FFF2-40B4-BE49-F238E27FC236}">
                  <a16:creationId xmlns:a16="http://schemas.microsoft.com/office/drawing/2014/main" xmlns="" id="{986B874E-F66C-4956-945D-C614D4B0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>
              <a:extLst>
                <a:ext uri="{FF2B5EF4-FFF2-40B4-BE49-F238E27FC236}">
                  <a16:creationId xmlns:a16="http://schemas.microsoft.com/office/drawing/2014/main" xmlns="" id="{A4F35EB1-4CC9-4495-8139-101B3821F4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>
            <a:extLst>
              <a:ext uri="{FF2B5EF4-FFF2-40B4-BE49-F238E27FC236}">
                <a16:creationId xmlns:a16="http://schemas.microsoft.com/office/drawing/2014/main" xmlns="" id="{BD5398AC-7A06-4FCA-8990-50F3E9CC79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268413"/>
            <a:ext cx="8137525" cy="1462087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>
            <a:extLst>
              <a:ext uri="{FF2B5EF4-FFF2-40B4-BE49-F238E27FC236}">
                <a16:creationId xmlns:a16="http://schemas.microsoft.com/office/drawing/2014/main" xmlns="" id="{786BECF2-0430-4BB3-B089-8226B5C5C4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>
            <a:extLst>
              <a:ext uri="{FF2B5EF4-FFF2-40B4-BE49-F238E27FC236}">
                <a16:creationId xmlns:a16="http://schemas.microsoft.com/office/drawing/2014/main" xmlns="" id="{36B97DA8-F93D-43D9-988A-4FF2E99AAB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>
            <a:extLst>
              <a:ext uri="{FF2B5EF4-FFF2-40B4-BE49-F238E27FC236}">
                <a16:creationId xmlns:a16="http://schemas.microsoft.com/office/drawing/2014/main" xmlns="" id="{53EB4465-4EF3-49BD-8C8C-D09631E05E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>
            <a:extLst>
              <a:ext uri="{FF2B5EF4-FFF2-40B4-BE49-F238E27FC236}">
                <a16:creationId xmlns:a16="http://schemas.microsoft.com/office/drawing/2014/main" xmlns="" id="{910EFC27-B983-400F-B111-0201EDA681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61048D8-14E4-4528-B617-0687AA44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DB25E3A-3BC3-40D6-9BF9-53975EB5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C8C7024-936E-4CF8-8E28-09DF4989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CB878ED-B390-487D-BBE8-A15174E1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185AB8F-8DC8-4B99-8669-C3713E33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510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6EF68B6-2579-4112-826A-7BB79939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86133B9-61FE-4501-9E52-C2BABA90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7580730-31F5-454D-9E2F-D60F7C2B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C816F85-339E-4BA4-86D9-502DA46B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8CE0E25-5C17-437F-9B84-5F19F675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661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268E684-7F60-4F46-858E-77ADB132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E502D29-56DA-4B45-B824-2FFC0444D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116DA984-EDEA-48BE-A4E5-771D0F969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CDAFEB3-8E22-4828-B342-9A1883F4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7D7A8BD-3736-40DC-A9D8-B7C7076D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CE0FF89-CB51-46E3-9993-85F4F8DA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828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5C817A9-8F67-46E1-8997-0C103A08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65AEAA1-19EA-41D6-AAA2-6F7DCF7F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536330F5-D700-4829-ABA3-D975A10D5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B73E83AB-5403-496C-B13E-CAE2A3AD5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6B106F81-2D54-4859-ACFA-E0D9CCC2E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9872C794-EED6-4075-84BA-CBE2B6BF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988D01ED-EB65-4DA3-B0D0-F90064AF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17A313D5-AC53-4C89-9D97-5235AF01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084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45EDBB7-7528-490B-BA26-774249E9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DC242EEE-CD9E-4821-B7B9-4C2F7133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1A64587-FD48-409A-9CF6-1106E273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52F2B84E-6564-4FAB-8A8B-F6569A1C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699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ADE43A72-F9CD-4E91-95B6-1357EC17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9BEF7DC2-520B-4B85-BFAA-1D0A0C8A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6EAB019-3B74-4D12-82BA-1FF386C0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939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C83370B-D12F-485D-939C-43891BB4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9BD3B12-2470-446D-A865-8A52962D0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CBBBCAA-1E83-440B-92C3-3D6B39FC5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E3B915F-E006-4FF0-9F50-D5B16FE0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D7C4B89-C3D1-49FF-86D2-31158B98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6F654A71-55DD-4895-A96D-F45085B8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8974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3547B13-DB46-4414-B26E-39BD003D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E268CA80-969C-43C5-9CA4-5ECBD7319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E6C3B416-F5EC-48FE-9923-69A47187C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F4F31ADE-F2FA-465A-8140-CD582E63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F2033FB-4E87-4BF3-894E-30EC2E15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D0DC320-56D4-4109-923B-DA625CB7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9949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C6CA638-D7DD-47B8-9842-F6C4C472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8BB808B1-4043-4911-999E-93DA092F2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9A5943B-B581-4CA3-B097-8D884443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5CE74F2-4E12-4475-B9F1-D9A304CB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5570409-8ABD-4FA0-8972-5F4CF1FD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0496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2FED300C-C248-473B-95A6-175DDD41E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82C60A9-9D53-419C-942B-FC5E0B855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FDBBFFC-D14B-4130-895E-AA746DF3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508686D-7E1D-4C7D-975E-350B4C20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7672711-A787-4C13-B61B-648F1996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4236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xmlns="" id="{7BBD74E0-CE22-4F59-82A8-8BDB60DFD5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xmlns="" id="{EFCD99C0-B1ED-4FF6-99D9-F848FBBD6F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xmlns="" id="{AEDDE249-4396-4056-A8DC-30A1330DFF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>
            <a:extLst>
              <a:ext uri="{FF2B5EF4-FFF2-40B4-BE49-F238E27FC236}">
                <a16:creationId xmlns:a16="http://schemas.microsoft.com/office/drawing/2014/main" xmlns="" id="{C5160B2D-CE24-4C07-B075-05A44F8AF6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xmlns="" id="{18501DD0-A3B1-4C1F-B0B0-956471546C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>
            <a:extLst>
              <a:ext uri="{FF2B5EF4-FFF2-40B4-BE49-F238E27FC236}">
                <a16:creationId xmlns:a16="http://schemas.microsoft.com/office/drawing/2014/main" xmlns="" id="{D9BB411F-A971-44D6-81D3-F9BFFA95C4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xmlns="" id="{7A2ABA19-D0B8-4CB2-9C9D-ECD42FA7E2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xmlns="" id="{D0916AA0-62FA-4D4F-8423-1A0ED4C3F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>
            <a:extLst>
              <a:ext uri="{FF2B5EF4-FFF2-40B4-BE49-F238E27FC236}">
                <a16:creationId xmlns:a16="http://schemas.microsoft.com/office/drawing/2014/main" xmlns="" id="{49AFFEF9-680B-48B4-990B-804BBA333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xmlns="" id="{1DFB0773-E796-40DF-8D12-2D0152BB4A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xmlns="" id="{FD6EEFB1-2D85-4B0A-B0F5-3FFA920547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xmlns="" id="{FB597C94-36A1-41AB-A62D-D2E9167E5B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xmlns="" id="{3BCB066E-F158-43BD-A7D4-BB6FBBEAA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2050"/>
            <a:ext cx="8458200" cy="84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4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Source d:\demo.sql</a:t>
            </a:r>
            <a:endParaRPr lang="zh-CN" altLang="en-US" sz="4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7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>
            <a:extLst>
              <a:ext uri="{FF2B5EF4-FFF2-40B4-BE49-F238E27FC236}">
                <a16:creationId xmlns:a16="http://schemas.microsoft.com/office/drawing/2014/main" xmlns="" id="{3BCB066E-F158-43BD-A7D4-BB6FBBEAA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2050"/>
            <a:ext cx="8458200" cy="519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分组查询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latin typeface="宋体" panose="02010600030101010101" pitchFamily="2" charset="-122"/>
              </a:rPr>
              <a:t>  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语言中，把元组按某个或某些列上相同的值分组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然后再对各组进行相应操作的查询方式称为分组查询。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FROM  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[WHERE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600" b="1" dirty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[HAVING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分组条件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  <a:r>
              <a:rPr lang="en-US" altLang="zh-CN" sz="2600" b="1" dirty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xmlns="" id="{3B3FC6EC-03B9-4941-AE10-F4FD4F393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95"/>
    </mc:Choice>
    <mc:Fallback xmlns="">
      <p:transition spd="slow" advTm="83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80" name="Text Box 4">
            <a:extLst>
              <a:ext uri="{FF2B5EF4-FFF2-40B4-BE49-F238E27FC236}">
                <a16:creationId xmlns:a16="http://schemas.microsoft.com/office/drawing/2014/main" xmlns="" id="{B544D86B-952D-423F-B238-6AB5D39BD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9350"/>
            <a:ext cx="8458200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分组查询语句：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FROM  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[WHERE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[HAVING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434181" name="Text Box 5">
            <a:extLst>
              <a:ext uri="{FF2B5EF4-FFF2-40B4-BE49-F238E27FC236}">
                <a16:creationId xmlns:a16="http://schemas.microsoft.com/office/drawing/2014/main" xmlns="" id="{4D0E4164-C50E-4F37-A17A-B438E6DD5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64025"/>
            <a:ext cx="84582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子句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子句用来将列的值分成若干组，从而控制查询的结果排序。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434182" name="Rectangle 6">
            <a:extLst>
              <a:ext uri="{FF2B5EF4-FFF2-40B4-BE49-F238E27FC236}">
                <a16:creationId xmlns:a16="http://schemas.microsoft.com/office/drawing/2014/main" xmlns="" id="{D9EAEE08-C66A-4660-BF81-1BED14002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20"/>
    </mc:Choice>
    <mc:Fallback xmlns="">
      <p:transition spd="slow" advTm="18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Text Box 3">
            <a:extLst>
              <a:ext uri="{FF2B5EF4-FFF2-40B4-BE49-F238E27FC236}">
                <a16:creationId xmlns:a16="http://schemas.microsoft.com/office/drawing/2014/main" xmlns="" id="{BA3F9784-3AF5-4461-B873-77034FA5C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5063"/>
            <a:ext cx="8458200" cy="297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5.23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各个同学所学课程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平均分数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25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AVG(GRADE)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平均分数</a:t>
            </a:r>
          </a:p>
          <a:p>
            <a:pPr algn="just">
              <a:lnSpc>
                <a:spcPct val="125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  SC</a:t>
            </a:r>
          </a:p>
          <a:p>
            <a:pPr algn="just">
              <a:lnSpc>
                <a:spcPct val="125000"/>
              </a:lnSpc>
              <a:spcBef>
                <a:spcPct val="2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GROUP BY S#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xmlns="" id="{3762040A-E9C5-4098-A7D3-8051D1EA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181600"/>
            <a:ext cx="5257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SzTx/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学习关系模式：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b="1">
              <a:solidFill>
                <a:srgbClr val="3366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xmlns="" id="{D20514AE-B300-40E0-BDC7-80F0FED0D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326"/>
    </mc:Choice>
    <mc:Fallback xmlns="">
      <p:transition spd="slow" advTm="120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xmlns="" id="{5C8F83F3-EE68-41D9-8E80-1B8EFB992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382000" cy="314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5.24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每个专业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男、女生的人数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SCODE#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专业代码，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SSEX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性别，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COUNT(*)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人数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  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GROUP BY SCODE#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SSEX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xmlns="" id="{49DCC95F-110D-474E-BB5F-55C29E73C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953000"/>
            <a:ext cx="8686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SzTx/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学生关系模式：</a:t>
            </a:r>
          </a:p>
          <a:p>
            <a:pPr>
              <a:lnSpc>
                <a:spcPct val="130000"/>
              </a:lnSpc>
              <a:buSzTx/>
              <a:buFontTx/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SSEX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SBIRTHIN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PLACEOFB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SCODE#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xmlns="" id="{F78055E7-371A-4A23-8DD4-E04F0142C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98310" name="Picture 6">
            <a:extLst>
              <a:ext uri="{FF2B5EF4-FFF2-40B4-BE49-F238E27FC236}">
                <a16:creationId xmlns:a16="http://schemas.microsoft.com/office/drawing/2014/main" xmlns="" id="{4F4B66B5-2CCF-452B-AB57-29025E212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2" t="53198" r="38237" b="12997"/>
          <a:stretch>
            <a:fillRect/>
          </a:stretch>
        </p:blipFill>
        <p:spPr bwMode="auto">
          <a:xfrm>
            <a:off x="5715000" y="2819400"/>
            <a:ext cx="2971800" cy="252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563"/>
    </mc:Choice>
    <mc:Fallback xmlns="">
      <p:transition spd="slow" advTm="1565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>
            <a:extLst>
              <a:ext uri="{FF2B5EF4-FFF2-40B4-BE49-F238E27FC236}">
                <a16:creationId xmlns:a16="http://schemas.microsoft.com/office/drawing/2014/main" xmlns="" id="{9D25095D-AA01-4686-B6E1-F557EFE10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5063"/>
            <a:ext cx="8382000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HAVING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子句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在数据查询中，有时只希望选择满足一定条件的分组。一般是利用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GROUP BY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子句进行分组，利用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HAVING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子句判断分组应满足的条件。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en-US" altLang="zh-CN" sz="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xmlns="" id="{7D71504D-258D-46F3-AE52-65DD99CD5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60725"/>
            <a:ext cx="8382000" cy="299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5.25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学生总数超过</a:t>
            </a:r>
            <a:r>
              <a:rPr lang="zh-CN" altLang="en-US" sz="20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300</a:t>
            </a:r>
            <a:r>
              <a:rPr lang="en-US" altLang="zh-CN" sz="20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人的专业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及其具体的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             人数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6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600" b="1">
                <a:latin typeface="Times New Roman" panose="02020603050405020304" pitchFamily="18" charset="0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SCODE#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COUNT(*)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FROM 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GROUP BY SCODE#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HAVING COUNT(*)&gt;300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xmlns="" id="{F7631E06-F1FD-4F48-B211-4DCDBAD23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130"/>
    </mc:Choice>
    <mc:Fallback xmlns="">
      <p:transition spd="slow" advTm="168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>
            <a:extLst>
              <a:ext uri="{FF2B5EF4-FFF2-40B4-BE49-F238E27FC236}">
                <a16:creationId xmlns:a16="http://schemas.microsoft.com/office/drawing/2014/main" xmlns="" id="{2A9F1E5A-8FFC-43F7-9D80-3673DF35E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05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结果排序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通常，</a:t>
            </a:r>
            <a:r>
              <a:rPr lang="en-US" altLang="zh-CN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的查询结果是按元组在数据库中的存储顺序给出的。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有时用户希望按照某种约定的顺序给出查询结果，</a:t>
            </a:r>
            <a:r>
              <a:rPr lang="en-US" altLang="zh-CN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ORDER BY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子句用于实现查询结果的排序显示</a:t>
            </a:r>
            <a:r>
              <a:rPr lang="zh-CN" altLang="en-US" sz="12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语句格式为：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 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[WHERE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ORDER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BY 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[ASC/DESC]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[,&lt;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[ASC/DESC]]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2099" name="Rectangle 1027">
            <a:extLst>
              <a:ext uri="{FF2B5EF4-FFF2-40B4-BE49-F238E27FC236}">
                <a16:creationId xmlns:a16="http://schemas.microsoft.com/office/drawing/2014/main" xmlns="" id="{1686A8A7-481A-4DC1-A8C6-87F400756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156"/>
    </mc:Choice>
    <mc:Fallback xmlns="">
      <p:transition spd="slow" advTm="681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>
            <a:extLst>
              <a:ext uri="{FF2B5EF4-FFF2-40B4-BE49-F238E27FC236}">
                <a16:creationId xmlns:a16="http://schemas.microsoft.com/office/drawing/2014/main" xmlns="" id="{32DB19C6-535B-45DF-928B-068286BFB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5.26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按学号递增的顺序（查询）显示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学生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基本信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        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。</a:t>
            </a:r>
            <a:endParaRPr lang="zh-CN" altLang="en-US" sz="26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*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FROM S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ORDER BY S# ASC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en-US" altLang="zh-CN" sz="9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xmlns="" id="{C45D5E60-55C0-4CDF-AF28-6731A57D0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52"/>
    </mc:Choice>
    <mc:Fallback xmlns="">
      <p:transition spd="slow" advTm="543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1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1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7" name="Text Box 5">
            <a:extLst>
              <a:ext uri="{FF2B5EF4-FFF2-40B4-BE49-F238E27FC236}">
                <a16:creationId xmlns:a16="http://schemas.microsoft.com/office/drawing/2014/main" xmlns="" id="{8B195B2E-DBAE-4841-B9D8-DEA20357A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5063"/>
            <a:ext cx="8458200" cy="275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5.27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按学号递增、课程成绩递减的顺序（查询）显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示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课程成绩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30000"/>
              </a:lnSpc>
              <a:buSzTx/>
              <a:buFontTx/>
              <a:buNone/>
            </a:pPr>
            <a:r>
              <a:rPr lang="zh-CN" altLang="en-US" sz="2600" b="1">
                <a:latin typeface="宋体" panose="02010600030101010101" pitchFamily="2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SC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ORDER BY S# ASC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GRADE DESC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pic>
        <p:nvPicPr>
          <p:cNvPr id="422918" name="Picture 6">
            <a:extLst>
              <a:ext uri="{FF2B5EF4-FFF2-40B4-BE49-F238E27FC236}">
                <a16:creationId xmlns:a16="http://schemas.microsoft.com/office/drawing/2014/main" xmlns="" id="{225CBF82-36A6-49DE-9F0F-10A85A1D3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1" t="37044" r="31888" b="11653"/>
          <a:stretch>
            <a:fillRect/>
          </a:stretch>
        </p:blipFill>
        <p:spPr bwMode="auto">
          <a:xfrm>
            <a:off x="5838825" y="1809750"/>
            <a:ext cx="330517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2919" name="Rectangle 7">
            <a:extLst>
              <a:ext uri="{FF2B5EF4-FFF2-40B4-BE49-F238E27FC236}">
                <a16:creationId xmlns:a16="http://schemas.microsoft.com/office/drawing/2014/main" xmlns="" id="{628277DF-6780-42BC-9F87-7AD00945D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39"/>
    </mc:Choice>
    <mc:Fallback xmlns="">
      <p:transition spd="slow" advTm="637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2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22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22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>
            <a:extLst>
              <a:ext uri="{FF2B5EF4-FFF2-40B4-BE49-F238E27FC236}">
                <a16:creationId xmlns:a16="http://schemas.microsoft.com/office/drawing/2014/main" xmlns="" id="{34E56F6C-CB8C-4D88-A43A-7ACCC9240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5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字符串的匹配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SQL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语句中，是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子句的条件表达式中，实现两个字符串的部分字符的相等比较的。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  <a:r>
              <a:rPr lang="zh-CN" altLang="en-US"/>
              <a:t> </a:t>
            </a:r>
            <a:endParaRPr lang="zh-CN" altLang="en-US" sz="2600" b="1">
              <a:solidFill>
                <a:srgbClr val="66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40000"/>
              </a:lnSpc>
              <a:spcBef>
                <a:spcPct val="10000"/>
              </a:spcBef>
              <a:spcAft>
                <a:spcPct val="30000"/>
              </a:spcAft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LIKE  </a:t>
            </a:r>
            <a:r>
              <a:rPr lang="en-US" altLang="zh-CN" sz="2600" b="1">
                <a:solidFill>
                  <a:srgbClr val="000000"/>
                </a:solidFill>
              </a:rPr>
              <a:t>‘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1] </a:t>
            </a:r>
            <a:r>
              <a:rPr lang="zh-CN" altLang="en-US" sz="2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通配符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</a:p>
          <a:p>
            <a:pPr algn="just"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）下划线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_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：在字符串比较时，如果有一个字符可以任意，则在该字符位置上用下划线表示。</a:t>
            </a:r>
          </a:p>
          <a:p>
            <a:pPr algn="just">
              <a:lnSpc>
                <a:spcPct val="125000"/>
              </a:lnSpc>
              <a:spcBef>
                <a:spcPct val="35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比如：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SNAME LIKE 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‘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李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__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平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133123" name="Rectangle 1027">
            <a:extLst>
              <a:ext uri="{FF2B5EF4-FFF2-40B4-BE49-F238E27FC236}">
                <a16:creationId xmlns:a16="http://schemas.microsoft.com/office/drawing/2014/main" xmlns="" id="{14B58D5E-F95C-4D7D-ACC0-189F63C32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sp>
        <p:nvSpPr>
          <p:cNvPr id="133125" name="AutoShape 1029">
            <a:extLst>
              <a:ext uri="{FF2B5EF4-FFF2-40B4-BE49-F238E27FC236}">
                <a16:creationId xmlns:a16="http://schemas.microsoft.com/office/drawing/2014/main" xmlns="" id="{5E251B86-FBF4-4C4B-A6A2-0F187BF49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791200"/>
            <a:ext cx="2438400" cy="914400"/>
          </a:xfrm>
          <a:prstGeom prst="wedgeRoundRectCallout">
            <a:avLst>
              <a:gd name="adj1" fmla="val -93032"/>
              <a:gd name="adj2" fmla="val -71528"/>
              <a:gd name="adj3" fmla="val 16667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10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200" b="1">
                <a:ea typeface="楷体_GB2312" pitchFamily="49" charset="-122"/>
              </a:rPr>
              <a:t>    </a:t>
            </a:r>
            <a:r>
              <a:rPr kumimoji="1" lang="zh-CN" altLang="en-US" sz="2200" b="1">
                <a:ea typeface="楷体_GB2312" pitchFamily="49" charset="-122"/>
              </a:rPr>
              <a:t>两个字符表示一个汉字的位置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954"/>
    </mc:Choice>
    <mc:Fallback xmlns="">
      <p:transition spd="slow" advTm="130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20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6" name="Text Box 4">
            <a:extLst>
              <a:ext uri="{FF2B5EF4-FFF2-40B4-BE49-F238E27FC236}">
                <a16:creationId xmlns:a16="http://schemas.microsoft.com/office/drawing/2014/main" xmlns="" id="{48415425-66B5-455C-A164-5748F769C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字符串的匹配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SQL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语句中，是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子句的条件表达式中，实现两个字符串的部分字符的相等比较的。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</a:p>
          <a:p>
            <a:pPr algn="just">
              <a:lnSpc>
                <a:spcPct val="140000"/>
              </a:lnSpc>
              <a:spcBef>
                <a:spcPct val="10000"/>
              </a:spcBef>
              <a:spcAft>
                <a:spcPct val="30000"/>
              </a:spcAft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LIKE  </a:t>
            </a:r>
            <a:r>
              <a:rPr lang="en-US" altLang="zh-CN" sz="2600" b="1">
                <a:solidFill>
                  <a:srgbClr val="000000"/>
                </a:solidFill>
              </a:rPr>
              <a:t>‘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1] </a:t>
            </a:r>
            <a:r>
              <a:rPr lang="zh-CN" altLang="en-US" sz="2600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通配符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</a:p>
          <a:p>
            <a:pPr algn="just"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）百分号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%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：在字符串比较时，如果有一个长度大于等于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的子字符串可以任意，则在该子字符串位置上用百分号表示。 </a:t>
            </a:r>
          </a:p>
          <a:p>
            <a:pPr algn="just">
              <a:lnSpc>
                <a:spcPct val="125000"/>
              </a:lnSpc>
              <a:spcBef>
                <a:spcPct val="35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sp>
        <p:nvSpPr>
          <p:cNvPr id="484357" name="Rectangle 5">
            <a:extLst>
              <a:ext uri="{FF2B5EF4-FFF2-40B4-BE49-F238E27FC236}">
                <a16:creationId xmlns:a16="http://schemas.microsoft.com/office/drawing/2014/main" xmlns="" id="{4BA836DE-9249-4AB7-804E-0B85FF3B2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39"/>
    </mc:Choice>
    <mc:Fallback xmlns="">
      <p:transition spd="slow" advTm="32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4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2">
            <a:extLst>
              <a:ext uri="{FF2B5EF4-FFF2-40B4-BE49-F238E27FC236}">
                <a16:creationId xmlns:a16="http://schemas.microsoft.com/office/drawing/2014/main" xmlns="" id="{35D8C752-2000-4E72-978F-1C5959FD2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2525"/>
            <a:ext cx="8610600" cy="221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5.28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学生关系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姓李的学生的学号和姓名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FROM S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WHERE SNAME LIKE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＇李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＇；</a:t>
            </a:r>
          </a:p>
        </p:txBody>
      </p:sp>
      <p:pic>
        <p:nvPicPr>
          <p:cNvPr id="104451" name="Picture 3">
            <a:extLst>
              <a:ext uri="{FF2B5EF4-FFF2-40B4-BE49-F238E27FC236}">
                <a16:creationId xmlns:a16="http://schemas.microsoft.com/office/drawing/2014/main" xmlns="" id="{E1D5E4B8-6082-4A22-91A2-B12D579DD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6" t="55173" r="42476" b="22571"/>
          <a:stretch>
            <a:fillRect/>
          </a:stretch>
        </p:blipFill>
        <p:spPr bwMode="auto">
          <a:xfrm>
            <a:off x="2743200" y="3886200"/>
            <a:ext cx="3352800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Rectangle 4">
            <a:extLst>
              <a:ext uri="{FF2B5EF4-FFF2-40B4-BE49-F238E27FC236}">
                <a16:creationId xmlns:a16="http://schemas.microsoft.com/office/drawing/2014/main" xmlns="" id="{BFEBEBCF-A19C-47EB-BBA6-43D9D0B22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12"/>
    </mc:Choice>
    <mc:Fallback xmlns="">
      <p:transition spd="slow" advTm="66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>
            <a:extLst>
              <a:ext uri="{FF2B5EF4-FFF2-40B4-BE49-F238E27FC236}">
                <a16:creationId xmlns:a16="http://schemas.microsoft.com/office/drawing/2014/main" xmlns="" id="{E6C6198E-835D-4B34-B439-9F0A9176F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77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比较完整的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40000"/>
              </a:lnSpc>
              <a:spcBef>
                <a:spcPct val="6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列名或列表达式序列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[WHERE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GROUP BY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[HAVING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  <a:r>
              <a:rPr lang="en-US" altLang="zh-CN" sz="26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[ASC/DESC]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[ASC/DESC]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en-US" altLang="zh-CN" sz="26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xmlns="" id="{C51224F4-BD48-4C37-BE0B-781001583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772"/>
    </mc:Choice>
    <mc:Fallback xmlns="">
      <p:transition spd="slow" advTm="1237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6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6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7|11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4|55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37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|43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27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4224</TotalTime>
  <Words>856</Words>
  <Application>Microsoft Office PowerPoint</Application>
  <PresentationFormat>全屏显示(4:3)</PresentationFormat>
  <Paragraphs>94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hd</cp:lastModifiedBy>
  <cp:revision>409</cp:revision>
  <cp:lastPrinted>1601-01-01T00:00:00Z</cp:lastPrinted>
  <dcterms:created xsi:type="dcterms:W3CDTF">1601-01-01T00:00:00Z</dcterms:created>
  <dcterms:modified xsi:type="dcterms:W3CDTF">2024-04-09T11:40:24Z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