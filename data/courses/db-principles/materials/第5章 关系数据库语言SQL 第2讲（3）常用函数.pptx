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35" r:id="rId2"/>
    <p:sldId id="527" r:id="rId3"/>
    <p:sldId id="528" r:id="rId4"/>
    <p:sldId id="529" r:id="rId5"/>
    <p:sldId id="530" r:id="rId6"/>
    <p:sldId id="434" r:id="rId7"/>
    <p:sldId id="463" r:id="rId8"/>
    <p:sldId id="333" r:id="rId9"/>
    <p:sldId id="493" r:id="rId10"/>
    <p:sldId id="338" r:id="rId11"/>
    <p:sldId id="464" r:id="rId12"/>
    <p:sldId id="465" r:id="rId13"/>
    <p:sldId id="263" r:id="rId14"/>
    <p:sldId id="466" r:id="rId1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FA7406"/>
    <a:srgbClr val="FF0066"/>
    <a:srgbClr val="000000"/>
    <a:srgbClr val="CCFFFF"/>
    <a:srgbClr val="0033CC"/>
    <a:srgbClr val="003366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46" autoAdjust="0"/>
    <p:restoredTop sz="94660"/>
  </p:normalViewPr>
  <p:slideViewPr>
    <p:cSldViewPr>
      <p:cViewPr varScale="1">
        <p:scale>
          <a:sx n="125" d="100"/>
          <a:sy n="125" d="100"/>
        </p:scale>
        <p:origin x="1428" y="64"/>
      </p:cViewPr>
      <p:guideLst>
        <p:guide orient="horz" pos="2160"/>
        <p:guide pos="29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442" name="Group 2"/>
          <p:cNvGrpSpPr/>
          <p:nvPr/>
        </p:nvGrpSpPr>
        <p:grpSpPr bwMode="auto">
          <a:xfrm>
            <a:off x="0" y="1819275"/>
            <a:ext cx="9009063" cy="1052513"/>
            <a:chOff x="0" y="1536"/>
            <a:chExt cx="5675" cy="663"/>
          </a:xfrm>
        </p:grpSpPr>
        <p:grpSp>
          <p:nvGrpSpPr>
            <p:cNvPr id="445443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44544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44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5446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445447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448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544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5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5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54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27088" y="1268413"/>
            <a:ext cx="8137525" cy="1462087"/>
          </a:xfrm>
        </p:spPr>
        <p:txBody>
          <a:bodyPr/>
          <a:lstStyle>
            <a:lvl1pPr algn="ctr">
              <a:defRPr sz="4800"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454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45454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45455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4545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445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52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1188" y="1258888"/>
            <a:ext cx="3919537" cy="5338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3125" y="1258888"/>
            <a:ext cx="3921125" cy="5338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61175" y="214313"/>
            <a:ext cx="2082800" cy="63833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1188" y="214313"/>
            <a:ext cx="6097587" cy="63833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ChangeArrowheads="1"/>
          </p:cNvSpPr>
          <p:nvPr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19" name="Rectangle 3"/>
          <p:cNvSpPr>
            <a:spLocks noChangeArrowheads="1"/>
          </p:cNvSpPr>
          <p:nvPr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0" name="Rectangle 4"/>
          <p:cNvSpPr>
            <a:spLocks noChangeArrowheads="1"/>
          </p:cNvSpPr>
          <p:nvPr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1" name="Rectangle 5"/>
          <p:cNvSpPr>
            <a:spLocks noChangeArrowheads="1"/>
          </p:cNvSpPr>
          <p:nvPr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2" name="Rectangle 6"/>
          <p:cNvSpPr>
            <a:spLocks noChangeArrowheads="1"/>
          </p:cNvSpPr>
          <p:nvPr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3" name="Rectangle 7"/>
          <p:cNvSpPr>
            <a:spLocks noChangeArrowheads="1"/>
          </p:cNvSpPr>
          <p:nvPr/>
        </p:nvSpPr>
        <p:spPr bwMode="gray">
          <a:xfrm>
            <a:off x="762000" y="1444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4" name="Rectangle 8"/>
          <p:cNvSpPr>
            <a:spLocks noChangeArrowheads="1"/>
          </p:cNvSpPr>
          <p:nvPr/>
        </p:nvSpPr>
        <p:spPr bwMode="gray">
          <a:xfrm>
            <a:off x="442913" y="9350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4442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258888"/>
            <a:ext cx="7993062" cy="533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444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4444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4444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ext Box 2"/>
          <p:cNvSpPr txBox="1">
            <a:spLocks noChangeArrowheads="1"/>
          </p:cNvSpPr>
          <p:nvPr/>
        </p:nvSpPr>
        <p:spPr bwMode="auto">
          <a:xfrm>
            <a:off x="381000" y="1143000"/>
            <a:ext cx="8534400" cy="446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日期和时间型函数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日期是</a:t>
            </a:r>
            <a:r>
              <a:rPr lang="en-US" altLang="zh-CN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语言中的标准数据类型（</a:t>
            </a:r>
            <a:r>
              <a:rPr lang="en-US" altLang="zh-CN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DATE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）。</a:t>
            </a:r>
          </a:p>
          <a:p>
            <a:pPr algn="just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（1）sqlserver 2008之前，支持datetime 和 smalldatetime 两种日期时间数据类型，这两种数据类型日期和时间是不可分割的，差异在日期范围、精度方面。</a:t>
            </a:r>
            <a:endParaRPr lang="zh-CN" altLang="en-US" sz="2600" b="1" dirty="0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（2）sql server 2008引入date 和 time 、datetime2、datetimeoffset数据类型、其中datetime2比date范围更大，精度更高、datetimeoffset 有一个时间偏移量组件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172" name="Rectangle 1028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 </a:t>
            </a:r>
            <a:r>
              <a:rPr lang="en-US" altLang="zh-CN" sz="3200"/>
              <a:t>SQL</a:t>
            </a:r>
            <a:r>
              <a:rPr lang="zh-CN" altLang="en-US" sz="3200"/>
              <a:t>语言中的常用函数及其使用方式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666"/>
    </mc:Choice>
    <mc:Fallback xmlns="">
      <p:transition spd="slow" advTm="626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5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5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5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5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>
                <a:sym typeface="+mn-ea"/>
              </a:rPr>
              <a:t>二、 </a:t>
            </a:r>
            <a:r>
              <a:rPr lang="en-US" altLang="zh-CN" sz="3200">
                <a:sym typeface="+mn-ea"/>
              </a:rPr>
              <a:t>SQL</a:t>
            </a:r>
            <a:r>
              <a:rPr lang="zh-CN" altLang="en-US" sz="3200">
                <a:sym typeface="+mn-ea"/>
              </a:rPr>
              <a:t>语言中的常用函数及其使用方式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6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1. </a:t>
            </a:r>
            <a:r>
              <a:rPr lang="zh-CN" altLang="en-US" sz="26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日期和时间型函数</a:t>
            </a:r>
            <a:endParaRPr lang="en-US" altLang="zh-CN" sz="2600" dirty="0">
              <a:solidFill>
                <a:srgbClr val="003366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r>
              <a:rPr lang="en-US" altLang="zh-CN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（3）datetime </a:t>
            </a:r>
            <a:r>
              <a:rPr lang="en-US" altLang="zh-CN" sz="2600" dirty="0" err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精确到毫秒，time</a:t>
            </a:r>
            <a:r>
              <a:rPr lang="en-US" altLang="zh-CN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和 datetime2 精确到100纳秒</a:t>
            </a:r>
            <a:endParaRPr lang="en-US" altLang="zh-CN" sz="2600" dirty="0">
              <a:solidFill>
                <a:srgbClr val="0033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（4）time 、datetime2 、</a:t>
            </a:r>
            <a:r>
              <a:rPr lang="en-US" altLang="zh-CN" sz="2600" dirty="0" err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datetimeoffset</a:t>
            </a:r>
            <a:r>
              <a:rPr lang="en-US" altLang="zh-CN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600" dirty="0" err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的存储需求取决于精度</a:t>
            </a:r>
            <a:r>
              <a:rPr lang="zh-CN" altLang="en-US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</a:t>
            </a:r>
            <a:r>
              <a:rPr lang="en-US" altLang="zh-CN" sz="2600" dirty="0" err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以整数</a:t>
            </a:r>
            <a:r>
              <a:rPr lang="en-US" altLang="zh-CN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0-7 </a:t>
            </a:r>
            <a:r>
              <a:rPr lang="en-US" altLang="zh-CN" sz="2600" dirty="0" err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表示秒的小数部分的精度</a:t>
            </a:r>
            <a:r>
              <a:rPr lang="zh-CN" altLang="en-US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en-US" altLang="zh-CN" sz="2600" dirty="0">
              <a:solidFill>
                <a:srgbClr val="003366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r>
              <a:rPr lang="en-US" altLang="zh-CN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TIME(0)</a:t>
            </a:r>
            <a:r>
              <a:rPr lang="zh-CN" altLang="en-US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</a:t>
            </a:r>
            <a:r>
              <a:rPr lang="en-US" altLang="zh-CN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表示小数部分为0位，精确到秒，</a:t>
            </a:r>
          </a:p>
          <a:p>
            <a:r>
              <a:rPr lang="en-US" altLang="zh-CN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TIME(3)</a:t>
            </a:r>
            <a:r>
              <a:rPr lang="zh-CN" altLang="en-US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</a:t>
            </a:r>
            <a:r>
              <a:rPr lang="en-US" altLang="zh-CN" sz="2600" dirty="0" err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表示精确到毫秒</a:t>
            </a:r>
            <a:endParaRPr lang="en-US" altLang="zh-CN" sz="2600" dirty="0">
              <a:solidFill>
                <a:srgbClr val="0033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600" dirty="0">
              <a:solidFill>
                <a:srgbClr val="0033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580"/>
    </mc:Choice>
    <mc:Fallback xmlns="">
      <p:transition spd="slow" advTm="1658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>
                <a:sym typeface="+mn-ea"/>
              </a:rPr>
              <a:t>二、 </a:t>
            </a:r>
            <a:r>
              <a:rPr lang="en-US" altLang="zh-CN" sz="3200">
                <a:sym typeface="+mn-ea"/>
              </a:rPr>
              <a:t>SQL</a:t>
            </a:r>
            <a:r>
              <a:rPr lang="zh-CN" altLang="en-US" sz="3200">
                <a:sym typeface="+mn-ea"/>
              </a:rPr>
              <a:t>语言中的常用函数及其使用方式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附加</a:t>
            </a:r>
            <a:r>
              <a:rPr lang="en-US" altLang="zh-CN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1. </a:t>
            </a:r>
            <a:r>
              <a:rPr lang="zh-CN" altLang="en-US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日期和时间型函数</a:t>
            </a:r>
            <a:endParaRPr lang="zh-CN" altLang="en-US"/>
          </a:p>
          <a:p>
            <a:pPr algn="l"/>
            <a:r>
              <a:rPr lang="en-US" altLang="zh-CN" sz="260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（1）日期和时间常量，就是日期时间类型的文本值，如mydate = '20200327'</a:t>
            </a:r>
          </a:p>
          <a:p>
            <a:pPr algn="l"/>
            <a:r>
              <a:rPr lang="zh-CN" altLang="en-US" sz="260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60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60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60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Sql server将文本‘20200327’ 识别为字符串常量、而不是日期和时间常量</a:t>
            </a:r>
            <a:r>
              <a:rPr lang="zh-CN" altLang="en-US" sz="260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algn="l"/>
            <a:r>
              <a:rPr lang="en-US" altLang="zh-CN" sz="260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但是由于 mydate = '</a:t>
            </a:r>
            <a:r>
              <a:rPr lang="en-US" altLang="zh-CN" sz="260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20200327</a:t>
            </a:r>
            <a:r>
              <a:rPr lang="en-US" altLang="zh-CN" sz="260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' 涉及两种类型的操作数、所以必须有一个隐式转换，类型转换的方向基于数据类型的优先级、日期类型优先级高于字符串</a:t>
            </a:r>
            <a:r>
              <a:rPr lang="zh-CN" altLang="en-US" sz="260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600">
              <a:solidFill>
                <a:srgbClr val="0033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910"/>
    </mc:Choice>
    <mc:Fallback xmlns="">
      <p:transition spd="slow" advTm="9291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>
                <a:sym typeface="+mn-ea"/>
              </a:rPr>
              <a:t>二、 </a:t>
            </a:r>
            <a:r>
              <a:rPr lang="en-US" altLang="zh-CN" sz="3200">
                <a:sym typeface="+mn-ea"/>
              </a:rPr>
              <a:t>SQL</a:t>
            </a:r>
            <a:r>
              <a:rPr lang="zh-CN" altLang="en-US" sz="3200">
                <a:sym typeface="+mn-ea"/>
              </a:rPr>
              <a:t>语言中的常用函数及其使用方式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附加</a:t>
            </a:r>
            <a:r>
              <a:rPr lang="en-US" altLang="zh-CN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1. </a:t>
            </a:r>
            <a:r>
              <a:rPr lang="zh-CN" altLang="en-US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日期和时间型函数</a:t>
            </a:r>
            <a:endParaRPr lang="zh-CN" altLang="en-US" dirty="0">
              <a:sym typeface="+mn-ea"/>
            </a:endParaRPr>
          </a:p>
          <a:p>
            <a:pPr algn="l"/>
            <a:r>
              <a:rPr lang="zh-CN" altLang="en-US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</a:t>
            </a:r>
            <a:r>
              <a:rPr lang="en-US" altLang="zh-CN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3）此外也可以进行显式转换</a:t>
            </a:r>
            <a:endParaRPr lang="en-US" altLang="zh-CN" sz="2600" dirty="0">
              <a:solidFill>
                <a:srgbClr val="0033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en-US" altLang="zh-CN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	cast(‘20200327' as datetime)</a:t>
            </a:r>
            <a:endParaRPr lang="en-US" altLang="zh-CN" sz="2600" dirty="0">
              <a:solidFill>
                <a:srgbClr val="0033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zh-CN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</a:t>
            </a:r>
            <a:r>
              <a:rPr lang="en-US" altLang="zh-CN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</a:t>
            </a:r>
            <a:r>
              <a:rPr lang="zh-CN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）</a:t>
            </a:r>
            <a:r>
              <a:rPr lang="en-US" altLang="zh-CN" sz="2600" dirty="0" err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日期格式与语言有关系，如中英文日期格式不同，sql</a:t>
            </a:r>
            <a:r>
              <a:rPr lang="en-US" altLang="zh-CN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server </a:t>
            </a:r>
            <a:r>
              <a:rPr lang="en-US" altLang="zh-CN" sz="2600" dirty="0" err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将日期字符串转换成日期时，基于会话的有效语言转换</a:t>
            </a:r>
            <a:endParaRPr lang="en-US" altLang="zh-CN" sz="2600" dirty="0">
              <a:solidFill>
                <a:srgbClr val="0033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en-US" altLang="zh-CN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（5）convert（datetime, '03/27/2020' ,101）显式转换字符串常量，第3个参数中指定一个代表所使用格式的数字</a:t>
            </a:r>
            <a:r>
              <a:rPr lang="zh-CN" altLang="en-US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（参考</a:t>
            </a:r>
            <a:r>
              <a:rPr lang="en-US" altLang="zh-CN" sz="2600" dirty="0" err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编码与格式的映射表格</a:t>
            </a:r>
            <a:r>
              <a:rPr lang="en-US" altLang="zh-CN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）</a:t>
            </a:r>
            <a:r>
              <a:rPr lang="zh-CN" altLang="en-US" sz="26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 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985"/>
    </mc:Choice>
    <mc:Fallback xmlns="">
      <p:transition spd="slow" advTm="5998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>
                <a:sym typeface="+mn-ea"/>
              </a:rPr>
              <a:t>二、 </a:t>
            </a:r>
            <a:r>
              <a:rPr lang="en-US" altLang="zh-CN" sz="3200">
                <a:sym typeface="+mn-ea"/>
              </a:rPr>
              <a:t>SQL</a:t>
            </a:r>
            <a:r>
              <a:rPr lang="zh-CN" altLang="en-US" sz="3200">
                <a:sym typeface="+mn-ea"/>
              </a:rPr>
              <a:t>语言中的常用函数及其使用方式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Transact-SQL 日期和时间数据类型</a:t>
            </a:r>
            <a:endParaRPr lang="zh-CN" altLang="en-US"/>
          </a:p>
        </p:txBody>
      </p:sp>
      <p:graphicFrame>
        <p:nvGraphicFramePr>
          <p:cNvPr id="7" name="表格 6"/>
          <p:cNvGraphicFramePr/>
          <p:nvPr/>
        </p:nvGraphicFramePr>
        <p:xfrm>
          <a:off x="212725" y="2014220"/>
          <a:ext cx="871855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2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4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ourier New" panose="02070309020205020404" charset="0"/>
                          <a:cs typeface="Courier New" panose="02070309020205020404" charset="0"/>
                        </a:rPr>
                        <a:t>数据类型</a:t>
                      </a:r>
                      <a:endParaRPr lang="en-US" altLang="en-US" sz="1600" b="1">
                        <a:solidFill>
                          <a:srgbClr val="000000"/>
                        </a:solidFill>
                        <a:latin typeface="Courier New" panose="02070309020205020404" charset="0"/>
                        <a:ea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ourier New" panose="02070309020205020404" charset="0"/>
                          <a:cs typeface="Courier New" panose="02070309020205020404" charset="0"/>
                        </a:rPr>
                        <a:t>格式</a:t>
                      </a:r>
                      <a:endParaRPr lang="en-US" altLang="en-US" sz="1600" b="1">
                        <a:solidFill>
                          <a:srgbClr val="000000"/>
                        </a:solidFill>
                        <a:latin typeface="Courier New" panose="02070309020205020404" charset="0"/>
                        <a:ea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ourier New" panose="02070309020205020404" charset="0"/>
                          <a:cs typeface="Courier New" panose="02070309020205020404" charset="0"/>
                        </a:rPr>
                        <a:t>范围</a:t>
                      </a:r>
                      <a:endParaRPr lang="en-US" altLang="en-US" sz="1600" b="1">
                        <a:solidFill>
                          <a:srgbClr val="000000"/>
                        </a:solidFill>
                        <a:latin typeface="Courier New" panose="02070309020205020404" charset="0"/>
                        <a:ea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ourier New" panose="02070309020205020404" charset="0"/>
                          <a:cs typeface="Courier New" panose="02070309020205020404" charset="0"/>
                        </a:rPr>
                        <a:t>精确度</a:t>
                      </a:r>
                      <a:endParaRPr lang="en-US" altLang="en-US" sz="1600" b="1">
                        <a:solidFill>
                          <a:srgbClr val="000000"/>
                        </a:solidFill>
                        <a:latin typeface="Courier New" panose="02070309020205020404" charset="0"/>
                        <a:ea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ourier New" panose="02070309020205020404" charset="0"/>
                          <a:cs typeface="Courier New" panose="02070309020205020404" charset="0"/>
                        </a:rPr>
                        <a:t>存储</a:t>
                      </a:r>
                      <a:endParaRPr lang="en-US" altLang="en-US" sz="1600" b="1">
                        <a:solidFill>
                          <a:srgbClr val="000000"/>
                        </a:solidFill>
                        <a:latin typeface="Courier New" panose="02070309020205020404" charset="0"/>
                        <a:ea typeface="Courier New" panose="02070309020205020404" charset="0"/>
                        <a:cs typeface="Courier New" panose="02070309020205020404" charset="0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45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Courier New" panose="02070309020205020404" charset="0"/>
                        </a:rPr>
                        <a:t>time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Courier New" panose="02070309020205020404" charset="0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Courier New" panose="02070309020205020404" charset="0"/>
                        </a:rPr>
                        <a:t>hh:mm:ss[.nnnnnnn]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Courier New" panose="02070309020205020404" charset="0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Arial Unicode MS" panose="020B0604020202020204" charset="-122"/>
                        </a:rPr>
                        <a:t>00:00:00.0000000 到23:59:59.9999999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Arial Unicode MS" panose="020B0604020202020204" charset="-122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Arial Unicode MS" panose="020B0604020202020204" charset="-122"/>
                        </a:rPr>
                        <a:t>100 纳秒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Arial Unicode MS" panose="020B0604020202020204" charset="-122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Arial Unicode MS" panose="020B0604020202020204" charset="-122"/>
                        </a:rPr>
                        <a:t>3到5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Arial Unicode MS" panose="020B0604020202020204" charset="-122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Courier New" panose="02070309020205020404" charset="0"/>
                        </a:rPr>
                        <a:t>date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Courier New" panose="02070309020205020404" charset="0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Courier New" panose="02070309020205020404" charset="0"/>
                        </a:rPr>
                        <a:t>YYYY-MM-DD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Courier New" panose="02070309020205020404" charset="0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Arial Unicode MS" panose="020B0604020202020204" charset="-122"/>
                        </a:rPr>
                        <a:t>0001-01-01 到 9999-12-31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Arial Unicode MS" panose="020B0604020202020204" charset="-122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Arial Unicode MS" panose="020B0604020202020204" charset="-122"/>
                        </a:rPr>
                        <a:t>1 天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Arial Unicode MS" panose="020B0604020202020204" charset="-122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Courier New" panose="02070309020205020404" charset="0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Courier New" panose="02070309020205020404" charset="0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1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Courier New" panose="02070309020205020404" charset="0"/>
                        </a:rPr>
                        <a:t>smalldatetime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Courier New" panose="02070309020205020404" charset="0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Courier New" panose="02070309020205020404" charset="0"/>
                        </a:rPr>
                        <a:t>YYYY-MM-DD hh:mm:ss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Courier New" panose="02070309020205020404" charset="0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Arial Unicode MS" panose="020B0604020202020204" charset="-122"/>
                        </a:rPr>
                        <a:t>1900-01-01 到 2079-06-06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Arial Unicode MS" panose="020B0604020202020204" charset="-122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Arial Unicode MS" panose="020B0604020202020204" charset="-122"/>
                        </a:rPr>
                        <a:t>1 分钟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Arial Unicode MS" panose="020B0604020202020204" charset="-122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Courier New" panose="02070309020205020404" charset="0"/>
                        </a:rPr>
                        <a:t>4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Courier New" panose="02070309020205020404" charset="0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8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Courier New" panose="02070309020205020404" charset="0"/>
                        </a:rPr>
                        <a:t>datetime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Courier New" panose="02070309020205020404" charset="0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Courier New" panose="02070309020205020404" charset="0"/>
                        </a:rPr>
                        <a:t>YYYY-MM-DD hh:mm:ss[.nnn]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Courier New" panose="02070309020205020404" charset="0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Arial Unicode MS" panose="020B0604020202020204" charset="-122"/>
                        </a:rPr>
                        <a:t>1753-01-01 到 9999-12-31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Arial Unicode MS" panose="020B0604020202020204" charset="-122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Arial Unicode MS" panose="020B0604020202020204" charset="-122"/>
                        </a:rPr>
                        <a:t>0.00333秒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Arial Unicode MS" panose="020B0604020202020204" charset="-122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Courier New" panose="02070309020205020404" charset="0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Courier New" panose="02070309020205020404" charset="0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93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Courier New" panose="02070309020205020404" charset="0"/>
                        </a:rPr>
                        <a:t>datetime2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Courier New" panose="02070309020205020404" charset="0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Courier New" panose="02070309020205020404" charset="0"/>
                        </a:rPr>
                        <a:t>YYYY-MM-DD hh:mm:ss[.nnnnnnn]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Courier New" panose="02070309020205020404" charset="0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Arial Unicode MS" panose="020B0604020202020204" charset="-122"/>
                        </a:rPr>
                        <a:t>0001-01-01 00:00:00.0000000 到9999-12-31 23:59:59.9999999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Arial Unicode MS" panose="020B0604020202020204" charset="-122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Arial Unicode MS" panose="020B0604020202020204" charset="-122"/>
                        </a:rPr>
                        <a:t>100 纳秒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Arial Unicode MS" panose="020B0604020202020204" charset="-122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Arial Unicode MS" panose="020B0604020202020204" charset="-122"/>
                        </a:rPr>
                        <a:t>6到8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Arial Unicode MS" panose="020B0604020202020204" charset="-122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139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Courier New" panose="02070309020205020404" charset="0"/>
                        </a:rPr>
                        <a:t>datetimeoffset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Courier New" panose="02070309020205020404" charset="0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Courier New" panose="02070309020205020404" charset="0"/>
                        </a:rPr>
                        <a:t>YYYY-MM-DD hh:mm:ss[.nnnnnnn] [+|-]hh:mm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Courier New" panose="02070309020205020404" charset="0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Arial Unicode MS" panose="020B0604020202020204" charset="-122"/>
                        </a:rPr>
                        <a:t>0001-01-01 00:00:00.0000000 到9999-12-31 23:59:59.9999999（以UTC 时间表示）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Arial Unicode MS" panose="020B0604020202020204" charset="-122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Arial Unicode MS" panose="020B0604020202020204" charset="-122"/>
                        </a:rPr>
                        <a:t>100 纳秒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Arial Unicode MS" panose="020B0604020202020204" charset="-122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 Unicode MS" panose="020B0604020202020204" charset="-122"/>
                          <a:ea typeface="Arial Unicode MS" panose="020B0604020202020204" charset="-122"/>
                          <a:cs typeface="Arial Unicode MS" panose="020B0604020202020204" charset="-122"/>
                        </a:rPr>
                        <a:t>8到10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Arial Unicode MS" panose="020B0604020202020204" charset="-122"/>
                        <a:ea typeface="Arial Unicode MS" panose="020B0604020202020204" charset="-122"/>
                        <a:cs typeface="Arial Unicode MS" panose="020B0604020202020204" charset="-122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023"/>
    </mc:Choice>
    <mc:Fallback xmlns="">
      <p:transition spd="slow" advTm="12002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0447" name="Group 63"/>
          <p:cNvGraphicFramePr>
            <a:graphicFrameLocks noGrp="1"/>
          </p:cNvGraphicFramePr>
          <p:nvPr/>
        </p:nvGraphicFramePr>
        <p:xfrm>
          <a:off x="457200" y="1871663"/>
          <a:ext cx="8534400" cy="4016375"/>
        </p:xfrm>
        <a:graphic>
          <a:graphicData uri="http://schemas.openxmlformats.org/drawingml/2006/table">
            <a:tbl>
              <a:tblPr/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3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函  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      </a:t>
                      </a: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功  能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3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dateadd(datepart,n,date)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datediff(datepart,startdate,enddate)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datename(datepart,date)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datepart(datepart,date)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给指定日期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date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按日期组成部分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datepart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加上一个时间间隔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后的新时间值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按日期组成部分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datepart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enddate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减去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startdate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的值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返回指定日期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date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的日期组成部分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datepart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的字符串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返回指定日期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date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的日期组成部分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datepart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的整数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00399" name="Text Box 15"/>
          <p:cNvSpPr txBox="1">
            <a:spLocks noChangeArrowheads="1"/>
          </p:cNvSpPr>
          <p:nvPr/>
        </p:nvSpPr>
        <p:spPr bwMode="auto">
          <a:xfrm>
            <a:off x="2743200" y="1185863"/>
            <a:ext cx="4038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5.6  </a:t>
            </a:r>
            <a:r>
              <a:rPr lang="zh-CN" altLang="en-US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常用的日期函数</a:t>
            </a:r>
            <a:r>
              <a:rPr lang="zh-CN" altLang="en-US"/>
              <a:t> </a:t>
            </a:r>
          </a:p>
        </p:txBody>
      </p:sp>
      <p:sp>
        <p:nvSpPr>
          <p:cNvPr id="400446" name="Rectangle 62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 </a:t>
            </a:r>
            <a:r>
              <a:rPr lang="en-US" altLang="zh-CN" sz="3200"/>
              <a:t>SQL</a:t>
            </a:r>
            <a:r>
              <a:rPr lang="zh-CN" altLang="en-US" sz="3200"/>
              <a:t>语言中的常用函数及其使用方式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211"/>
    </mc:Choice>
    <mc:Fallback xmlns="">
      <p:transition spd="slow" advTm="2921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8311" name="Group 39"/>
          <p:cNvGraphicFramePr>
            <a:graphicFrameLocks noGrp="1"/>
          </p:cNvGraphicFramePr>
          <p:nvPr/>
        </p:nvGraphicFramePr>
        <p:xfrm>
          <a:off x="457200" y="1752600"/>
          <a:ext cx="8458200" cy="3798316"/>
        </p:xfrm>
        <a:graphic>
          <a:graphicData uri="http://schemas.openxmlformats.org/drawingml/2006/table">
            <a:tbl>
              <a:tblPr/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3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函  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      </a:t>
                      </a: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功  能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day(date)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7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getdate()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getutcdate()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month(date)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year(date)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返回一个整数，表示指定日期</a:t>
                      </a: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date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的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天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”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部分</a:t>
                      </a: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0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返回当前系统日期和时间</a:t>
                      </a: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0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返回表示当前的</a:t>
                      </a: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UTC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时间（通用协调时间或格林尼治标准时间）值</a:t>
                      </a: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0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返回一个整数，表示指定日期</a:t>
                      </a: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date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的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月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”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部分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05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返回一个整数，表示指定日期</a:t>
                      </a: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date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的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年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”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部分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38287" name="Text Box 15"/>
          <p:cNvSpPr txBox="1">
            <a:spLocks noChangeArrowheads="1"/>
          </p:cNvSpPr>
          <p:nvPr/>
        </p:nvSpPr>
        <p:spPr bwMode="auto">
          <a:xfrm>
            <a:off x="2133600" y="1066800"/>
            <a:ext cx="5867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2800" b="1" dirty="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5.6  </a:t>
            </a:r>
            <a:r>
              <a:rPr lang="zh-CN" altLang="en-US" sz="2800" b="1" dirty="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常用的日期函数 </a:t>
            </a:r>
            <a:r>
              <a:rPr lang="en-US" altLang="zh-CN" sz="2800" b="1" dirty="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800" b="1" dirty="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续</a:t>
            </a:r>
          </a:p>
        </p:txBody>
      </p:sp>
      <p:sp>
        <p:nvSpPr>
          <p:cNvPr id="438308" name="Text Box 36"/>
          <p:cNvSpPr txBox="1">
            <a:spLocks noChangeArrowheads="1"/>
          </p:cNvSpPr>
          <p:nvPr/>
        </p:nvSpPr>
        <p:spPr bwMode="auto">
          <a:xfrm>
            <a:off x="457200" y="5715000"/>
            <a:ext cx="8382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zh-CN"/>
              <a:t>        </a:t>
            </a:r>
            <a:r>
              <a:rPr lang="en-US" altLang="zh-CN" sz="2000" b="1">
                <a:solidFill>
                  <a:srgbClr val="000000"/>
                </a:solidFill>
              </a:rPr>
              <a:t>datepart</a:t>
            </a:r>
            <a:r>
              <a:rPr lang="zh-CN" altLang="en-US" sz="2000" b="1">
                <a:solidFill>
                  <a:srgbClr val="000000"/>
                </a:solidFill>
              </a:rPr>
              <a:t>的取值可以有：</a:t>
            </a:r>
            <a:r>
              <a:rPr lang="en-US" altLang="zh-CN" sz="2000" b="1">
                <a:solidFill>
                  <a:srgbClr val="003366"/>
                </a:solidFill>
              </a:rPr>
              <a:t>year</a:t>
            </a:r>
            <a:r>
              <a:rPr lang="zh-CN" altLang="en-US" sz="2000" b="1">
                <a:solidFill>
                  <a:srgbClr val="003366"/>
                </a:solidFill>
              </a:rPr>
              <a:t>，</a:t>
            </a:r>
            <a:r>
              <a:rPr lang="en-US" altLang="zh-CN" sz="2000" b="1">
                <a:solidFill>
                  <a:srgbClr val="003366"/>
                </a:solidFill>
              </a:rPr>
              <a:t>quarter</a:t>
            </a:r>
            <a:r>
              <a:rPr lang="zh-CN" altLang="en-US" sz="2000" b="1">
                <a:solidFill>
                  <a:srgbClr val="003366"/>
                </a:solidFill>
              </a:rPr>
              <a:t>，</a:t>
            </a:r>
            <a:r>
              <a:rPr lang="en-US" altLang="zh-CN" sz="2000" b="1">
                <a:solidFill>
                  <a:srgbClr val="003366"/>
                </a:solidFill>
              </a:rPr>
              <a:t>month</a:t>
            </a:r>
            <a:r>
              <a:rPr lang="zh-CN" altLang="en-US" sz="2000" b="1">
                <a:solidFill>
                  <a:srgbClr val="003366"/>
                </a:solidFill>
              </a:rPr>
              <a:t>，</a:t>
            </a:r>
            <a:r>
              <a:rPr lang="en-US" altLang="zh-CN" sz="2000" b="1">
                <a:solidFill>
                  <a:srgbClr val="003366"/>
                </a:solidFill>
              </a:rPr>
              <a:t>dayofyear</a:t>
            </a:r>
            <a:r>
              <a:rPr lang="zh-CN" altLang="en-US" sz="2000" b="1">
                <a:solidFill>
                  <a:srgbClr val="003366"/>
                </a:solidFill>
              </a:rPr>
              <a:t>，</a:t>
            </a:r>
            <a:r>
              <a:rPr lang="en-US" altLang="zh-CN" sz="2000" b="1">
                <a:solidFill>
                  <a:srgbClr val="003366"/>
                </a:solidFill>
              </a:rPr>
              <a:t>day</a:t>
            </a:r>
            <a:r>
              <a:rPr lang="zh-CN" altLang="en-US" sz="2000" b="1">
                <a:solidFill>
                  <a:srgbClr val="003366"/>
                </a:solidFill>
              </a:rPr>
              <a:t>，</a:t>
            </a:r>
            <a:r>
              <a:rPr lang="en-US" altLang="zh-CN" sz="2000" b="1">
                <a:solidFill>
                  <a:srgbClr val="003366"/>
                </a:solidFill>
              </a:rPr>
              <a:t>week</a:t>
            </a:r>
            <a:r>
              <a:rPr lang="zh-CN" altLang="en-US" sz="2000" b="1">
                <a:solidFill>
                  <a:srgbClr val="003366"/>
                </a:solidFill>
              </a:rPr>
              <a:t>，</a:t>
            </a:r>
            <a:r>
              <a:rPr lang="en-US" altLang="zh-CN" sz="2000" b="1">
                <a:solidFill>
                  <a:srgbClr val="003366"/>
                </a:solidFill>
              </a:rPr>
              <a:t>weekday</a:t>
            </a:r>
            <a:r>
              <a:rPr lang="zh-CN" altLang="en-US" sz="2000" b="1">
                <a:solidFill>
                  <a:srgbClr val="003366"/>
                </a:solidFill>
              </a:rPr>
              <a:t>，</a:t>
            </a:r>
            <a:r>
              <a:rPr lang="en-US" altLang="zh-CN" sz="2000" b="1">
                <a:solidFill>
                  <a:srgbClr val="003366"/>
                </a:solidFill>
              </a:rPr>
              <a:t>hour</a:t>
            </a:r>
            <a:r>
              <a:rPr lang="zh-CN" altLang="en-US" sz="2000" b="1">
                <a:solidFill>
                  <a:srgbClr val="003366"/>
                </a:solidFill>
              </a:rPr>
              <a:t>，</a:t>
            </a:r>
            <a:r>
              <a:rPr lang="en-US" altLang="zh-CN" sz="2000" b="1">
                <a:solidFill>
                  <a:srgbClr val="003366"/>
                </a:solidFill>
              </a:rPr>
              <a:t>minute</a:t>
            </a:r>
            <a:r>
              <a:rPr lang="zh-CN" altLang="en-US" sz="2000" b="1">
                <a:solidFill>
                  <a:srgbClr val="003366"/>
                </a:solidFill>
              </a:rPr>
              <a:t>，</a:t>
            </a:r>
            <a:r>
              <a:rPr lang="en-US" altLang="zh-CN" sz="2000" b="1">
                <a:solidFill>
                  <a:srgbClr val="003366"/>
                </a:solidFill>
              </a:rPr>
              <a:t>second</a:t>
            </a:r>
            <a:r>
              <a:rPr lang="zh-CN" altLang="en-US" sz="2000" b="1">
                <a:solidFill>
                  <a:srgbClr val="003366"/>
                </a:solidFill>
              </a:rPr>
              <a:t>，</a:t>
            </a:r>
            <a:r>
              <a:rPr lang="en-US" altLang="zh-CN" sz="2000" b="1">
                <a:solidFill>
                  <a:srgbClr val="003366"/>
                </a:solidFill>
              </a:rPr>
              <a:t>millisecond</a:t>
            </a:r>
            <a:r>
              <a:rPr lang="zh-CN" altLang="en-US" sz="2000" b="1">
                <a:solidFill>
                  <a:srgbClr val="003366"/>
                </a:solidFill>
              </a:rPr>
              <a:t>。</a:t>
            </a:r>
            <a:r>
              <a:rPr lang="zh-CN" altLang="en-US" b="1">
                <a:solidFill>
                  <a:srgbClr val="003366"/>
                </a:solidFill>
              </a:rPr>
              <a:t> </a:t>
            </a:r>
          </a:p>
        </p:txBody>
      </p:sp>
      <p:sp>
        <p:nvSpPr>
          <p:cNvPr id="438312" name="Rectangle 40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 </a:t>
            </a:r>
            <a:r>
              <a:rPr lang="en-US" altLang="zh-CN" sz="3200"/>
              <a:t>SQL</a:t>
            </a:r>
            <a:r>
              <a:rPr lang="zh-CN" altLang="en-US" sz="3200"/>
              <a:t>语言中的常用函数及其使用方式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629"/>
    </mc:Choice>
    <mc:Fallback xmlns="">
      <p:transition spd="slow" advTm="2662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ext Box 2"/>
          <p:cNvSpPr txBox="1">
            <a:spLocks noChangeArrowheads="1"/>
          </p:cNvSpPr>
          <p:nvPr/>
        </p:nvSpPr>
        <p:spPr bwMode="auto">
          <a:xfrm>
            <a:off x="381000" y="1136650"/>
            <a:ext cx="8458200" cy="175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5.29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出生日期在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1982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日到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1982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31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日之间的所有学生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6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学号、姓名和出生日期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，并按日期的递增顺序排列。</a:t>
            </a:r>
          </a:p>
        </p:txBody>
      </p:sp>
      <p:sp>
        <p:nvSpPr>
          <p:cNvPr id="103427" name="Text Box 3"/>
          <p:cNvSpPr txBox="1">
            <a:spLocks noChangeArrowheads="1"/>
          </p:cNvSpPr>
          <p:nvPr/>
        </p:nvSpPr>
        <p:spPr bwMode="auto">
          <a:xfrm>
            <a:off x="381000" y="2784475"/>
            <a:ext cx="8610600" cy="247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S#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SNAME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SBIRTHIN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FROM S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WHERE SBIRTHIN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BETWEEN 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1982-1-1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AND </a:t>
            </a:r>
            <a:r>
              <a:rPr lang="en-US" altLang="zh-CN" sz="2600" b="1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‘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1982-12-31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ORDER BY SBIRTHIN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</a:t>
            </a:r>
          </a:p>
        </p:txBody>
      </p:sp>
      <p:pic>
        <p:nvPicPr>
          <p:cNvPr id="1034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33" t="49847" r="18137" b="18054"/>
          <a:stretch>
            <a:fillRect/>
          </a:stretch>
        </p:blipFill>
        <p:spPr bwMode="auto">
          <a:xfrm>
            <a:off x="4495800" y="4702175"/>
            <a:ext cx="4352925" cy="192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29" name="Rectangle 5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 </a:t>
            </a:r>
            <a:r>
              <a:rPr lang="en-US" altLang="zh-CN" sz="3200"/>
              <a:t>SQL</a:t>
            </a:r>
            <a:r>
              <a:rPr lang="zh-CN" altLang="en-US" sz="3200"/>
              <a:t>语言中的常用函数及其使用方式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644"/>
    </mc:Choice>
    <mc:Fallback xmlns="">
      <p:transition spd="slow" advTm="986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6" name="Text Box 4"/>
          <p:cNvSpPr txBox="1">
            <a:spLocks noChangeArrowheads="1"/>
          </p:cNvSpPr>
          <p:nvPr/>
        </p:nvSpPr>
        <p:spPr bwMode="auto">
          <a:xfrm>
            <a:off x="381000" y="1136650"/>
            <a:ext cx="8458200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5.30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查询所有学生当前的年龄，并按年龄递增顺序排列。 </a:t>
            </a:r>
          </a:p>
        </p:txBody>
      </p:sp>
      <p:sp>
        <p:nvSpPr>
          <p:cNvPr id="474117" name="Rectangle 5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 </a:t>
            </a:r>
            <a:r>
              <a:rPr lang="en-US" altLang="zh-CN" sz="3200"/>
              <a:t>SQL</a:t>
            </a:r>
            <a:r>
              <a:rPr lang="zh-CN" altLang="en-US" sz="3200"/>
              <a:t>语言中的常用函数及其使用方式</a:t>
            </a:r>
          </a:p>
        </p:txBody>
      </p:sp>
      <p:sp>
        <p:nvSpPr>
          <p:cNvPr id="474118" name="Text Box 6"/>
          <p:cNvSpPr txBox="1">
            <a:spLocks noChangeArrowheads="1"/>
          </p:cNvSpPr>
          <p:nvPr/>
        </p:nvSpPr>
        <p:spPr bwMode="auto">
          <a:xfrm>
            <a:off x="381000" y="2286000"/>
            <a:ext cx="8610600" cy="199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SELECT S#,</a:t>
            </a:r>
            <a:r>
              <a:rPr lang="en-US" altLang="zh-CN" b="1"/>
              <a:t>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SNAME,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year(getdate())-year(SBIRTHIN) AS AGE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FROM S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ORDER BY AGE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</a:t>
            </a:r>
          </a:p>
        </p:txBody>
      </p:sp>
      <p:pic>
        <p:nvPicPr>
          <p:cNvPr id="47411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31" t="47267" r="35315" b="14276"/>
          <a:stretch>
            <a:fillRect/>
          </a:stretch>
        </p:blipFill>
        <p:spPr bwMode="auto">
          <a:xfrm>
            <a:off x="5257800" y="3581400"/>
            <a:ext cx="2667000" cy="253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9026"/>
    </mc:Choice>
    <mc:Fallback xmlns="">
      <p:transition spd="slow" advTm="2090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74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4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7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474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2"/>
          <p:cNvSpPr txBox="1">
            <a:spLocks noChangeArrowheads="1"/>
          </p:cNvSpPr>
          <p:nvPr/>
        </p:nvSpPr>
        <p:spPr bwMode="auto">
          <a:xfrm>
            <a:off x="381000" y="1143000"/>
            <a:ext cx="84582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字符串函数</a:t>
            </a:r>
            <a:endParaRPr lang="zh-CN" altLang="en-US" sz="2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2590800" y="1644650"/>
            <a:ext cx="46482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5.7  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常用的字符串函数</a:t>
            </a:r>
            <a:r>
              <a:rPr lang="zh-CN" altLang="en-US" b="1"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108661" name="Group 117"/>
          <p:cNvGraphicFramePr>
            <a:graphicFrameLocks noGrp="1"/>
          </p:cNvGraphicFramePr>
          <p:nvPr/>
        </p:nvGraphicFramePr>
        <p:xfrm>
          <a:off x="381000" y="2209800"/>
          <a:ext cx="8534400" cy="4343402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70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函　数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功　能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ascii(string)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返回字符串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string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中最左侧字符的 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ASCII 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代码值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left(string,n)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返回字符串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string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中从左边开始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个的字符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24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len(string)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返回指定字符串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string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的字符（而不是字节）数，其中不包含尾随空格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0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lower(string)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将字符串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string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中的大写字符转换为小写字符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ltrim(string)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返回删除了前导空格之后的字符表达式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24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replace(string1,string2,string3)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用第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个字符串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string3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替换第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个字符串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string1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中出现的所有第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个字符串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string2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的匹配项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8662" name="Rectangle 118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 </a:t>
            </a:r>
            <a:r>
              <a:rPr lang="en-US" altLang="zh-CN" sz="3200"/>
              <a:t>SQL</a:t>
            </a:r>
            <a:r>
              <a:rPr lang="zh-CN" altLang="en-US" sz="3200"/>
              <a:t>语言中的常用函数及其使用方式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100"/>
    </mc:Choice>
    <mc:Fallback xmlns="">
      <p:transition spd="slow" advTm="1361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1000"/>
                                        <p:tgtEl>
                                          <p:spTgt spid="10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300" name="Text Box 4"/>
          <p:cNvSpPr txBox="1">
            <a:spLocks noChangeArrowheads="1"/>
          </p:cNvSpPr>
          <p:nvPr/>
        </p:nvSpPr>
        <p:spPr bwMode="auto">
          <a:xfrm>
            <a:off x="381000" y="1057275"/>
            <a:ext cx="84582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字符串函数</a:t>
            </a:r>
            <a:endParaRPr lang="zh-CN" altLang="en-US" sz="2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9301" name="Text Box 5"/>
          <p:cNvSpPr txBox="1">
            <a:spLocks noChangeArrowheads="1"/>
          </p:cNvSpPr>
          <p:nvPr/>
        </p:nvSpPr>
        <p:spPr bwMode="auto">
          <a:xfrm>
            <a:off x="2590800" y="1673225"/>
            <a:ext cx="54864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5.7  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常用的字符串函数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——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续</a:t>
            </a:r>
            <a:r>
              <a:rPr lang="zh-CN" altLang="en-US" b="1"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439422" name="Group 126"/>
          <p:cNvGraphicFramePr>
            <a:graphicFrameLocks noGrp="1"/>
          </p:cNvGraphicFramePr>
          <p:nvPr/>
        </p:nvGraphicFramePr>
        <p:xfrm>
          <a:off x="381000" y="2228850"/>
          <a:ext cx="8458200" cy="4435920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函　数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功　能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replicate(string,n)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以指定的次数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重复字符表达式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right(string,n)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返回字符串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string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中从右边开始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个的字符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space(n)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返回由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个空格组成的字符串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str(num[,m,n])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将数值数据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num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按总长度为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，小数位数为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转换为字符串数据，参数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可省略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59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substring(string,m,n)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返回字符串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string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的第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个字符开始取出的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个字符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upper(string)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将字符串</a:t>
                      </a:r>
                      <a:r>
                        <a:rPr kumimoji="0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string</a:t>
                      </a:r>
                      <a:r>
                        <a:rPr kumimoji="0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中的小写字符转换为大写字符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39423" name="Rectangle 127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 </a:t>
            </a:r>
            <a:r>
              <a:rPr lang="en-US" altLang="zh-CN" sz="3200"/>
              <a:t>SQL</a:t>
            </a:r>
            <a:r>
              <a:rPr lang="zh-CN" altLang="en-US" sz="3200"/>
              <a:t>语言中的常用函数及其使用方式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772"/>
    </mc:Choice>
    <mc:Fallback xmlns="">
      <p:transition spd="slow" advTm="20677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7" name="Text Box 7"/>
          <p:cNvSpPr txBox="1">
            <a:spLocks noChangeArrowheads="1"/>
          </p:cNvSpPr>
          <p:nvPr/>
        </p:nvSpPr>
        <p:spPr bwMode="auto">
          <a:xfrm>
            <a:off x="76200" y="152400"/>
            <a:ext cx="8153400" cy="160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CN"/>
          </a:p>
        </p:txBody>
      </p:sp>
      <p:sp>
        <p:nvSpPr>
          <p:cNvPr id="440324" name="Text Box 4"/>
          <p:cNvSpPr txBox="1">
            <a:spLocks noChangeArrowheads="1"/>
          </p:cNvSpPr>
          <p:nvPr/>
        </p:nvSpPr>
        <p:spPr bwMode="auto">
          <a:xfrm>
            <a:off x="381000" y="381000"/>
            <a:ext cx="8458200" cy="425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5.31</a:t>
            </a:r>
            <a:r>
              <a:rPr lang="zh-CN" altLang="en-US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统计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各教研室开设课程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6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门数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>
              <a:lnSpc>
                <a:spcPct val="115000"/>
              </a:lnSpc>
              <a:buSzTx/>
              <a:buFontTx/>
              <a:buNone/>
            </a:pPr>
            <a:r>
              <a:rPr lang="zh-CN" altLang="en-US" sz="2500" b="1">
                <a:solidFill>
                  <a:srgbClr val="000000"/>
                </a:solidFill>
              </a:rPr>
              <a:t>        </a:t>
            </a:r>
            <a:r>
              <a:rPr lang="zh-CN" altLang="en-US" sz="25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分析课程关系模式及其当前值可知，各门课程号的第</a:t>
            </a:r>
            <a:r>
              <a:rPr lang="en-US" altLang="zh-CN" sz="25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sz="25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位由字符</a:t>
            </a:r>
            <a:r>
              <a:rPr lang="en-US" altLang="zh-CN" sz="25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zh-CN" altLang="en-US" sz="25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开头，第</a:t>
            </a:r>
            <a:r>
              <a:rPr lang="en-US" altLang="zh-CN" sz="25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 sz="25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至第</a:t>
            </a:r>
            <a:r>
              <a:rPr lang="en-US" altLang="zh-CN" sz="25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zh-CN" altLang="en-US" sz="25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位为教研室编号，第</a:t>
            </a:r>
            <a:r>
              <a:rPr lang="en-US" altLang="zh-CN" sz="25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5</a:t>
            </a:r>
            <a:r>
              <a:rPr lang="zh-CN" altLang="en-US" sz="25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至第</a:t>
            </a:r>
            <a:r>
              <a:rPr lang="en-US" altLang="zh-CN" sz="25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7</a:t>
            </a:r>
            <a:r>
              <a:rPr lang="zh-CN" altLang="en-US" sz="25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位是该教研室所开课程的序号。所以仅由课程关系就可以统计出各教研室所开设课程的门数，其查询语句如下：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zh-CN" altLang="en-US" sz="900" b="1">
              <a:solidFill>
                <a:srgbClr val="000000"/>
              </a:solidFill>
            </a:endParaRPr>
          </a:p>
          <a:p>
            <a:pPr>
              <a:spcBef>
                <a:spcPct val="30000"/>
              </a:spcBef>
              <a:buSzTx/>
              <a:buFontTx/>
              <a:buNone/>
            </a:pPr>
            <a:r>
              <a:rPr lang="zh-CN" altLang="en-US" sz="2500" b="1">
                <a:solidFill>
                  <a:srgbClr val="000000"/>
                </a:solidFill>
              </a:rPr>
              <a:t>        </a:t>
            </a:r>
            <a:r>
              <a:rPr lang="en-US" altLang="zh-CN" sz="2500" b="1">
                <a:solidFill>
                  <a:srgbClr val="000000"/>
                </a:solidFill>
              </a:rPr>
              <a:t>SELECT substring(c#, 2, 3)  AS  </a:t>
            </a:r>
            <a:r>
              <a:rPr lang="zh-CN" altLang="en-US" sz="2500" b="1">
                <a:solidFill>
                  <a:srgbClr val="000000"/>
                </a:solidFill>
              </a:rPr>
              <a:t>教研室</a:t>
            </a:r>
            <a:r>
              <a:rPr lang="en-US" altLang="zh-CN" sz="2500" b="1">
                <a:solidFill>
                  <a:srgbClr val="000000"/>
                </a:solidFill>
              </a:rPr>
              <a:t>, 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zh-CN" sz="2500" b="1">
                <a:solidFill>
                  <a:srgbClr val="000000"/>
                </a:solidFill>
              </a:rPr>
              <a:t>                                               count(c#)  AS  </a:t>
            </a:r>
            <a:r>
              <a:rPr lang="zh-CN" altLang="en-US" sz="2500" b="1">
                <a:solidFill>
                  <a:srgbClr val="000000"/>
                </a:solidFill>
              </a:rPr>
              <a:t>开课门数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zh-CN" altLang="en-US" sz="2500" b="1">
                <a:solidFill>
                  <a:srgbClr val="000000"/>
                </a:solidFill>
              </a:rPr>
              <a:t>        </a:t>
            </a:r>
            <a:r>
              <a:rPr lang="en-US" altLang="zh-CN" sz="2500" b="1">
                <a:solidFill>
                  <a:srgbClr val="000000"/>
                </a:solidFill>
              </a:rPr>
              <a:t>FROM  C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zh-CN" sz="2500" b="1">
                <a:solidFill>
                  <a:srgbClr val="000000"/>
                </a:solidFill>
              </a:rPr>
              <a:t>        GROUP BY  substring(c#, 2, 3);</a:t>
            </a:r>
            <a:endParaRPr lang="en-US" altLang="zh-CN" sz="2500">
              <a:solidFill>
                <a:srgbClr val="000000"/>
              </a:solidFill>
            </a:endParaRPr>
          </a:p>
        </p:txBody>
      </p:sp>
      <p:pic>
        <p:nvPicPr>
          <p:cNvPr id="44032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76" t="47159" r="41600" b="25497"/>
          <a:stretch>
            <a:fillRect/>
          </a:stretch>
        </p:blipFill>
        <p:spPr bwMode="auto">
          <a:xfrm>
            <a:off x="1182688" y="4683125"/>
            <a:ext cx="4114800" cy="210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40337" name="Group 17"/>
          <p:cNvGrpSpPr/>
          <p:nvPr/>
        </p:nvGrpSpPr>
        <p:grpSpPr bwMode="auto">
          <a:xfrm>
            <a:off x="6248400" y="4191000"/>
            <a:ext cx="2743200" cy="2522538"/>
            <a:chOff x="3936" y="2640"/>
            <a:chExt cx="1728" cy="1589"/>
          </a:xfrm>
        </p:grpSpPr>
        <p:sp>
          <p:nvSpPr>
            <p:cNvPr id="440328" name="Text Box 8"/>
            <p:cNvSpPr txBox="1">
              <a:spLocks noChangeArrowheads="1"/>
            </p:cNvSpPr>
            <p:nvPr/>
          </p:nvSpPr>
          <p:spPr bwMode="auto">
            <a:xfrm>
              <a:off x="3936" y="2640"/>
              <a:ext cx="1728" cy="158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A7406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lnSpc>
                  <a:spcPct val="112000"/>
                </a:lnSpc>
                <a:spcAft>
                  <a:spcPct val="40000"/>
                </a:spcAft>
                <a:buFont typeface="Wingdings" panose="05000000000000000000" pitchFamily="2" charset="2"/>
                <a:buNone/>
              </a:pPr>
              <a:r>
                <a:rPr lang="en-US" altLang="zh-CN" sz="1000" b="1">
                  <a:latin typeface="Times New Roman" panose="02020603050405020304" pitchFamily="18" charset="0"/>
                </a:rPr>
                <a:t>                          </a:t>
              </a:r>
              <a:r>
                <a:rPr lang="zh-CN" altLang="en-US" sz="1500" b="1">
                  <a:solidFill>
                    <a:srgbClr val="0066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课程关系</a:t>
              </a:r>
              <a:r>
                <a:rPr lang="en-US" altLang="zh-CN" sz="1500" b="1">
                  <a:solidFill>
                    <a:srgbClr val="0066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C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400" b="1">
                  <a:latin typeface="Times New Roman" panose="02020603050405020304" pitchFamily="18" charset="0"/>
                </a:rPr>
                <a:t>课程号	课程名	  学 时	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1400" b="1">
                  <a:latin typeface="宋体" panose="02010600030101010101" pitchFamily="2" charset="-122"/>
                </a:rPr>
                <a:t>C401001	</a:t>
              </a:r>
              <a:r>
                <a:rPr lang="zh-CN" altLang="en-US" sz="1400" b="1">
                  <a:latin typeface="宋体" panose="02010600030101010101" pitchFamily="2" charset="-122"/>
                </a:rPr>
                <a:t>数据结构	   </a:t>
              </a:r>
              <a:r>
                <a:rPr lang="en-US" altLang="zh-CN" sz="1400" b="1">
                  <a:latin typeface="宋体" panose="02010600030101010101" pitchFamily="2" charset="-122"/>
                </a:rPr>
                <a:t>70	</a:t>
              </a:r>
              <a:endParaRPr lang="en-US" altLang="zh-CN" sz="1400" b="1">
                <a:latin typeface="Times New Roman" panose="02020603050405020304" pitchFamily="18" charset="0"/>
              </a:endParaRPr>
            </a:p>
            <a:p>
              <a:pPr>
                <a:lnSpc>
                  <a:spcPct val="85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1400" b="1">
                  <a:latin typeface="宋体" panose="02010600030101010101" pitchFamily="2" charset="-122"/>
                </a:rPr>
                <a:t>C401002	</a:t>
              </a:r>
              <a:r>
                <a:rPr lang="zh-CN" altLang="en-US" sz="1400" b="1">
                  <a:latin typeface="宋体" panose="02010600030101010101" pitchFamily="2" charset="-122"/>
                </a:rPr>
                <a:t>操作系统	   </a:t>
              </a:r>
              <a:r>
                <a:rPr lang="en-US" altLang="zh-CN" sz="1400" b="1">
                  <a:latin typeface="宋体" panose="02010600030101010101" pitchFamily="2" charset="-122"/>
                </a:rPr>
                <a:t>60	</a:t>
              </a:r>
              <a:endParaRPr lang="en-US" altLang="zh-CN" sz="1400" b="1">
                <a:latin typeface="Times New Roman" panose="02020603050405020304" pitchFamily="18" charset="0"/>
              </a:endParaRPr>
            </a:p>
            <a:p>
              <a:pPr>
                <a:lnSpc>
                  <a:spcPct val="85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1400" b="1">
                  <a:latin typeface="宋体" panose="02010600030101010101" pitchFamily="2" charset="-122"/>
                </a:rPr>
                <a:t>C402001	</a:t>
              </a:r>
              <a:r>
                <a:rPr lang="zh-CN" altLang="en-US" sz="1400" b="1">
                  <a:latin typeface="宋体" panose="02010600030101010101" pitchFamily="2" charset="-122"/>
                </a:rPr>
                <a:t>计算机原理	   </a:t>
              </a:r>
              <a:r>
                <a:rPr lang="en-US" altLang="zh-CN" sz="1400" b="1">
                  <a:latin typeface="宋体" panose="02010600030101010101" pitchFamily="2" charset="-122"/>
                </a:rPr>
                <a:t>60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1400" b="1">
                  <a:latin typeface="宋体" panose="02010600030101010101" pitchFamily="2" charset="-122"/>
                </a:rPr>
                <a:t>	</a:t>
              </a:r>
              <a:endParaRPr lang="en-US" altLang="zh-CN" sz="1400" b="1">
                <a:latin typeface="Times New Roman" panose="02020603050405020304" pitchFamily="18" charset="0"/>
              </a:endParaRPr>
            </a:p>
            <a:p>
              <a:pPr>
                <a:lnSpc>
                  <a:spcPct val="85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1400" b="1">
                  <a:latin typeface="宋体" panose="02010600030101010101" pitchFamily="2" charset="-122"/>
                </a:rPr>
                <a:t>C402002	</a:t>
              </a:r>
              <a:r>
                <a:rPr lang="zh-CN" altLang="en-US" sz="1400" b="1">
                  <a:latin typeface="宋体" panose="02010600030101010101" pitchFamily="2" charset="-122"/>
                </a:rPr>
                <a:t>通信原理	   </a:t>
              </a:r>
              <a:r>
                <a:rPr lang="en-US" altLang="zh-CN" sz="1400" b="1">
                  <a:latin typeface="宋体" panose="02010600030101010101" pitchFamily="2" charset="-122"/>
                </a:rPr>
                <a:t>60	</a:t>
              </a:r>
              <a:endParaRPr lang="en-US" altLang="zh-CN" sz="1400" b="1">
                <a:latin typeface="Times New Roman" panose="02020603050405020304" pitchFamily="18" charset="0"/>
              </a:endParaRPr>
            </a:p>
            <a:p>
              <a:pPr>
                <a:lnSpc>
                  <a:spcPct val="85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zh-CN" sz="1400" b="1">
                  <a:latin typeface="宋体" panose="02010600030101010101" pitchFamily="2" charset="-122"/>
                </a:rPr>
                <a:t>C403001	</a:t>
              </a:r>
              <a:r>
                <a:rPr lang="zh-CN" altLang="en-US" sz="1400" b="1">
                  <a:latin typeface="宋体" panose="02010600030101010101" pitchFamily="2" charset="-122"/>
                </a:rPr>
                <a:t>计算机网络	   </a:t>
              </a:r>
              <a:r>
                <a:rPr lang="en-US" altLang="zh-CN" sz="1400" b="1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440329" name="Line 9"/>
            <p:cNvSpPr>
              <a:spLocks noChangeShapeType="1"/>
            </p:cNvSpPr>
            <p:nvPr/>
          </p:nvSpPr>
          <p:spPr bwMode="auto">
            <a:xfrm>
              <a:off x="3936" y="3080"/>
              <a:ext cx="1728" cy="0"/>
            </a:xfrm>
            <a:prstGeom prst="line">
              <a:avLst/>
            </a:prstGeom>
            <a:noFill/>
            <a:ln w="12700">
              <a:solidFill>
                <a:srgbClr val="FA740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330" name="Line 10"/>
            <p:cNvSpPr>
              <a:spLocks noChangeShapeType="1"/>
            </p:cNvSpPr>
            <p:nvPr/>
          </p:nvSpPr>
          <p:spPr bwMode="auto">
            <a:xfrm>
              <a:off x="3936" y="3298"/>
              <a:ext cx="1728" cy="0"/>
            </a:xfrm>
            <a:prstGeom prst="line">
              <a:avLst/>
            </a:prstGeom>
            <a:noFill/>
            <a:ln w="12700">
              <a:solidFill>
                <a:srgbClr val="FA740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331" name="Line 11"/>
            <p:cNvSpPr>
              <a:spLocks noChangeShapeType="1"/>
            </p:cNvSpPr>
            <p:nvPr/>
          </p:nvSpPr>
          <p:spPr bwMode="auto">
            <a:xfrm>
              <a:off x="3936" y="3511"/>
              <a:ext cx="1728" cy="0"/>
            </a:xfrm>
            <a:prstGeom prst="line">
              <a:avLst/>
            </a:prstGeom>
            <a:noFill/>
            <a:ln w="12700">
              <a:solidFill>
                <a:srgbClr val="FA740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332" name="Line 12"/>
            <p:cNvSpPr>
              <a:spLocks noChangeShapeType="1"/>
            </p:cNvSpPr>
            <p:nvPr/>
          </p:nvSpPr>
          <p:spPr bwMode="auto">
            <a:xfrm>
              <a:off x="3936" y="3744"/>
              <a:ext cx="1728" cy="0"/>
            </a:xfrm>
            <a:prstGeom prst="line">
              <a:avLst/>
            </a:prstGeom>
            <a:noFill/>
            <a:ln w="12700">
              <a:solidFill>
                <a:srgbClr val="FA740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333" name="Line 13"/>
            <p:cNvSpPr>
              <a:spLocks noChangeShapeType="1"/>
            </p:cNvSpPr>
            <p:nvPr/>
          </p:nvSpPr>
          <p:spPr bwMode="auto">
            <a:xfrm>
              <a:off x="3936" y="3984"/>
              <a:ext cx="1728" cy="0"/>
            </a:xfrm>
            <a:prstGeom prst="line">
              <a:avLst/>
            </a:prstGeom>
            <a:noFill/>
            <a:ln w="12700">
              <a:solidFill>
                <a:srgbClr val="FA740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334" name="Line 14"/>
            <p:cNvSpPr>
              <a:spLocks noChangeShapeType="1"/>
            </p:cNvSpPr>
            <p:nvPr/>
          </p:nvSpPr>
          <p:spPr bwMode="auto">
            <a:xfrm>
              <a:off x="3936" y="2846"/>
              <a:ext cx="1728" cy="0"/>
            </a:xfrm>
            <a:prstGeom prst="line">
              <a:avLst/>
            </a:prstGeom>
            <a:noFill/>
            <a:ln w="12700">
              <a:solidFill>
                <a:srgbClr val="FA740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335" name="Line 15"/>
            <p:cNvSpPr>
              <a:spLocks noChangeShapeType="1"/>
            </p:cNvSpPr>
            <p:nvPr/>
          </p:nvSpPr>
          <p:spPr bwMode="auto">
            <a:xfrm>
              <a:off x="4485" y="2853"/>
              <a:ext cx="0" cy="1376"/>
            </a:xfrm>
            <a:prstGeom prst="line">
              <a:avLst/>
            </a:prstGeom>
            <a:noFill/>
            <a:ln w="9525">
              <a:solidFill>
                <a:srgbClr val="FA740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336" name="Line 16"/>
            <p:cNvSpPr>
              <a:spLocks noChangeShapeType="1"/>
            </p:cNvSpPr>
            <p:nvPr/>
          </p:nvSpPr>
          <p:spPr bwMode="auto">
            <a:xfrm>
              <a:off x="5198" y="2853"/>
              <a:ext cx="0" cy="1376"/>
            </a:xfrm>
            <a:prstGeom prst="line">
              <a:avLst/>
            </a:prstGeom>
            <a:noFill/>
            <a:ln w="9525">
              <a:solidFill>
                <a:srgbClr val="FA740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2419"/>
    </mc:Choice>
    <mc:Fallback xmlns="">
      <p:transition spd="slow" advTm="2924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0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40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40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403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403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44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4" name="Text Box 34"/>
          <p:cNvSpPr txBox="1">
            <a:spLocks noChangeArrowheads="1"/>
          </p:cNvSpPr>
          <p:nvPr/>
        </p:nvSpPr>
        <p:spPr bwMode="auto">
          <a:xfrm>
            <a:off x="381000" y="1143000"/>
            <a:ext cx="83820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数学函数</a:t>
            </a:r>
            <a:endParaRPr lang="zh-CN" altLang="en-US" sz="2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55" name="Text Box 35"/>
          <p:cNvSpPr txBox="1">
            <a:spLocks noChangeArrowheads="1"/>
          </p:cNvSpPr>
          <p:nvPr/>
        </p:nvSpPr>
        <p:spPr bwMode="auto">
          <a:xfrm>
            <a:off x="3048000" y="1676400"/>
            <a:ext cx="350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SzTx/>
              <a:buFontTx/>
              <a:buNone/>
            </a:pPr>
            <a:r>
              <a:rPr lang="zh-CN" altLang="en-US" sz="24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24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5.8  </a:t>
            </a:r>
            <a:r>
              <a:rPr lang="zh-CN" altLang="en-US" sz="24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常用的数学函数</a:t>
            </a:r>
            <a:r>
              <a:rPr lang="zh-CN" altLang="en-US" b="1"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30890" name="Group 170"/>
          <p:cNvGraphicFramePr>
            <a:graphicFrameLocks noGrp="1"/>
          </p:cNvGraphicFramePr>
          <p:nvPr/>
        </p:nvGraphicFramePr>
        <p:xfrm>
          <a:off x="457200" y="2190750"/>
          <a:ext cx="8458200" cy="4079875"/>
        </p:xfrm>
        <a:graphic>
          <a:graphicData uri="http://schemas.openxmlformats.org/drawingml/2006/table">
            <a:tbl>
              <a:tblPr/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函　数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功　能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abs(n)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返回数</a:t>
                      </a: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的绝对值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ceiling(n)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返回大于或等于所给数值</a:t>
                      </a: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的最大整数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floor(n)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返回小于或等于所给数值</a:t>
                      </a: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的最大整数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power(m,n)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返回数值</a:t>
                      </a: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的</a:t>
                      </a: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次幂的值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round(n,m)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对</a:t>
                      </a: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的小数部分进行四舍五入，使其具备</a:t>
                      </a: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的精度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sign(n)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根据参数</a:t>
                      </a: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是正还是负，返回正号（</a:t>
                      </a: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+1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）、负号（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）和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rand()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返回从 </a:t>
                      </a: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 </a:t>
                      </a:r>
                      <a:r>
                        <a:rPr kumimoji="0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到 </a:t>
                      </a: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kumimoji="0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之间的随机 </a:t>
                      </a: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float </a:t>
                      </a:r>
                      <a:r>
                        <a:rPr kumimoji="0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值，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sqrt(n)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返回指定数值</a:t>
                      </a: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的平方根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0889" name="Rectangle 169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 </a:t>
            </a:r>
            <a:r>
              <a:rPr lang="en-US" altLang="zh-CN" sz="3200"/>
              <a:t>SQL</a:t>
            </a:r>
            <a:r>
              <a:rPr lang="zh-CN" altLang="en-US" sz="3200"/>
              <a:t>语言中的常用函数及其使用方式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169"/>
    </mc:Choice>
    <mc:Fallback xmlns="">
      <p:transition spd="slow" advTm="701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3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2" name="Text Box 4"/>
          <p:cNvSpPr txBox="1">
            <a:spLocks noChangeArrowheads="1"/>
          </p:cNvSpPr>
          <p:nvPr/>
        </p:nvSpPr>
        <p:spPr bwMode="auto">
          <a:xfrm>
            <a:off x="381000" y="990600"/>
            <a:ext cx="83820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数学函数</a:t>
            </a:r>
            <a:endParaRPr lang="zh-CN" altLang="en-US" sz="2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2373" name="Text Box 5"/>
          <p:cNvSpPr txBox="1">
            <a:spLocks noChangeArrowheads="1"/>
          </p:cNvSpPr>
          <p:nvPr/>
        </p:nvSpPr>
        <p:spPr bwMode="auto">
          <a:xfrm>
            <a:off x="2895600" y="1417638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SzTx/>
              <a:buFontTx/>
              <a:buNone/>
            </a:pPr>
            <a:r>
              <a:rPr lang="zh-CN" altLang="en-US" sz="24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24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5.8  </a:t>
            </a:r>
            <a:r>
              <a:rPr lang="zh-CN" altLang="en-US" sz="24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常用的数学函数</a:t>
            </a:r>
            <a:r>
              <a:rPr lang="en-US" altLang="zh-CN" sz="24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——</a:t>
            </a:r>
            <a:r>
              <a:rPr lang="zh-CN" altLang="en-US" sz="24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续</a:t>
            </a:r>
            <a:r>
              <a:rPr lang="zh-CN" altLang="en-US" b="1"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442509" name="Group 141"/>
          <p:cNvGraphicFramePr>
            <a:graphicFrameLocks noGrp="1"/>
          </p:cNvGraphicFramePr>
          <p:nvPr/>
        </p:nvGraphicFramePr>
        <p:xfrm>
          <a:off x="381000" y="1874838"/>
          <a:ext cx="8305800" cy="4555808"/>
        </p:xfrm>
        <a:graphic>
          <a:graphicData uri="http://schemas.openxmlformats.org/drawingml/2006/table">
            <a:tbl>
              <a:tblPr/>
              <a:tblGrid>
                <a:gridCol w="2078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7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9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函　　数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功　　能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square(n)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返回指定数值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的平方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exp(n)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返回指定的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float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类型的数值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的指数值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pi()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PI 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的常量值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sin(n)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以近似数值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(float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返回指定角度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（以弧度为单位）的三角正弦值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cos(n)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返回以弧度表示的指定角度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的三角余弦值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9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tan(n)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返回以弧度表示的指定角度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的正切值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9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cot(n)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返回以弧度表示的指定角度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的三角余切值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42510" name="Rectangle 142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 </a:t>
            </a:r>
            <a:r>
              <a:rPr lang="en-US" altLang="zh-CN" sz="3200"/>
              <a:t>SQL</a:t>
            </a:r>
            <a:r>
              <a:rPr lang="zh-CN" altLang="en-US" sz="3200"/>
              <a:t>语言中的常用函数及其使用方式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178"/>
    </mc:Choice>
    <mc:Fallback xmlns="">
      <p:transition spd="slow" advTm="63178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2|62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8|77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5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8|262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3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100000"/>
          <a:buFont typeface="Wingdings" panose="05000000000000000000" pitchFamily="2" charset="2"/>
          <a:buChar char="•"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100000"/>
          <a:buFont typeface="Wingdings" panose="05000000000000000000" pitchFamily="2" charset="2"/>
          <a:buChar char="•"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1498</Words>
  <Application>Microsoft Office PowerPoint</Application>
  <PresentationFormat>全屏显示(4:3)</PresentationFormat>
  <Paragraphs>193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 Unicode MS</vt:lpstr>
      <vt:lpstr>黑体</vt:lpstr>
      <vt:lpstr>宋体</vt:lpstr>
      <vt:lpstr>Arial</vt:lpstr>
      <vt:lpstr>Courier New</vt:lpstr>
      <vt:lpstr>Tahoma</vt:lpstr>
      <vt:lpstr>Times New Roman</vt:lpstr>
      <vt:lpstr>Wingdings</vt:lpstr>
      <vt:lpstr>Blends</vt:lpstr>
      <vt:lpstr>PowerPoint 演示文稿</vt:lpstr>
      <vt:lpstr>二、 SQL语言中的常用函数及其使用方式</vt:lpstr>
      <vt:lpstr>二、 SQL语言中的常用函数及其使用方式</vt:lpstr>
      <vt:lpstr>二、 SQL语言中的常用函数及其使用方式</vt:lpstr>
      <vt:lpstr>二、 SQL语言中的常用函数及其使用方式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417</cp:revision>
  <cp:lastPrinted>2113-01-01T00:00:00Z</cp:lastPrinted>
  <dcterms:created xsi:type="dcterms:W3CDTF">2113-01-01T00:00:00Z</dcterms:created>
  <dcterms:modified xsi:type="dcterms:W3CDTF">2021-04-12T15:26:49Z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2052-11.3.0.8775</vt:lpwstr>
  </property>
</Properties>
</file>