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6" r:id="rId2"/>
    <p:sldId id="265" r:id="rId3"/>
    <p:sldId id="344" r:id="rId4"/>
    <p:sldId id="345" r:id="rId5"/>
    <p:sldId id="435" r:id="rId6"/>
    <p:sldId id="436" r:id="rId7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20000"/>
      </a:spcBef>
      <a:spcAft>
        <a:spcPct val="0"/>
      </a:spcAft>
      <a:buSzPct val="100000"/>
      <a:buFont typeface="Wingdings" panose="05000000000000000000" pitchFamily="2" charset="2"/>
      <a:buChar char="•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20000"/>
      </a:spcBef>
      <a:spcAft>
        <a:spcPct val="0"/>
      </a:spcAft>
      <a:buSzPct val="100000"/>
      <a:buFont typeface="Wingdings" panose="05000000000000000000" pitchFamily="2" charset="2"/>
      <a:buChar char="•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20000"/>
      </a:spcBef>
      <a:spcAft>
        <a:spcPct val="0"/>
      </a:spcAft>
      <a:buSzPct val="100000"/>
      <a:buFont typeface="Wingdings" panose="05000000000000000000" pitchFamily="2" charset="2"/>
      <a:buChar char="•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20000"/>
      </a:spcBef>
      <a:spcAft>
        <a:spcPct val="0"/>
      </a:spcAft>
      <a:buSzPct val="100000"/>
      <a:buFont typeface="Wingdings" panose="05000000000000000000" pitchFamily="2" charset="2"/>
      <a:buChar char="•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20000"/>
      </a:spcBef>
      <a:spcAft>
        <a:spcPct val="0"/>
      </a:spcAft>
      <a:buSzPct val="100000"/>
      <a:buFont typeface="Wingdings" panose="05000000000000000000" pitchFamily="2" charset="2"/>
      <a:buChar char="•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90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66"/>
    <a:srgbClr val="FA7406"/>
    <a:srgbClr val="FF0066"/>
    <a:srgbClr val="000000"/>
    <a:srgbClr val="CCFFFF"/>
    <a:srgbClr val="0033CC"/>
    <a:srgbClr val="003366"/>
    <a:srgbClr val="0066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46" autoAdjust="0"/>
    <p:restoredTop sz="94660"/>
  </p:normalViewPr>
  <p:slideViewPr>
    <p:cSldViewPr>
      <p:cViewPr varScale="1">
        <p:scale>
          <a:sx n="125" d="100"/>
          <a:sy n="125" d="100"/>
        </p:scale>
        <p:origin x="1428" y="64"/>
      </p:cViewPr>
      <p:guideLst>
        <p:guide orient="horz" pos="2160"/>
        <p:guide pos="290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5442" name="Group 2"/>
          <p:cNvGrpSpPr/>
          <p:nvPr/>
        </p:nvGrpSpPr>
        <p:grpSpPr bwMode="auto">
          <a:xfrm>
            <a:off x="0" y="1819275"/>
            <a:ext cx="9009063" cy="1052513"/>
            <a:chOff x="0" y="1536"/>
            <a:chExt cx="5675" cy="663"/>
          </a:xfrm>
        </p:grpSpPr>
        <p:grpSp>
          <p:nvGrpSpPr>
            <p:cNvPr id="445443" name="Group 3"/>
            <p:cNvGrpSpPr/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445444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5445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45446" name="Group 6"/>
            <p:cNvGrpSpPr/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445447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5448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45449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5450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5451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4545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827088" y="1268413"/>
            <a:ext cx="8137525" cy="1462087"/>
          </a:xfrm>
        </p:spPr>
        <p:txBody>
          <a:bodyPr/>
          <a:lstStyle>
            <a:lvl1pPr algn="ctr">
              <a:defRPr sz="4800">
                <a:ea typeface="隶书" panose="02010509060101010101" pitchFamily="49" charset="-122"/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44545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445454" name="Rectangle 14"/>
          <p:cNvSpPr>
            <a:spLocks noGrp="1" noChangeArrowheads="1"/>
          </p:cNvSpPr>
          <p:nvPr>
            <p:ph type="dt" sz="half" idx="2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445455" name="Rectangle 15"/>
          <p:cNvSpPr>
            <a:spLocks noGrp="1" noChangeArrowheads="1"/>
          </p:cNvSpPr>
          <p:nvPr>
            <p:ph type="ftr" sz="quarter" idx="3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445456" name="Rectangle 1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zh-CN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1000"/>
                                        <p:tgtEl>
                                          <p:spTgt spid="445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5452" grpId="0" bldLvl="0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11188" y="1258888"/>
            <a:ext cx="3919537" cy="53387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83125" y="1258888"/>
            <a:ext cx="3921125" cy="53387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61175" y="214313"/>
            <a:ext cx="2082800" cy="638333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11188" y="214313"/>
            <a:ext cx="6097587" cy="638333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/>
          <p:cNvSpPr>
            <a:spLocks noChangeArrowheads="1"/>
          </p:cNvSpPr>
          <p:nvPr/>
        </p:nvSpPr>
        <p:spPr bwMode="ltGray">
          <a:xfrm>
            <a:off x="417513" y="252413"/>
            <a:ext cx="438150" cy="474662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spcBef>
                <a:spcPct val="0"/>
              </a:spcBef>
              <a:buSzTx/>
              <a:buFontTx/>
              <a:buNone/>
            </a:pPr>
            <a:endParaRPr kumimoji="1" lang="zh-CN" altLang="zh-CN" sz="2400">
              <a:latin typeface="Tahoma" panose="020B0604030504040204" pitchFamily="34" charset="0"/>
            </a:endParaRPr>
          </a:p>
        </p:txBody>
      </p:sp>
      <p:sp>
        <p:nvSpPr>
          <p:cNvPr id="444419" name="Rectangle 3"/>
          <p:cNvSpPr>
            <a:spLocks noChangeArrowheads="1"/>
          </p:cNvSpPr>
          <p:nvPr/>
        </p:nvSpPr>
        <p:spPr bwMode="ltGray">
          <a:xfrm>
            <a:off x="800100" y="252413"/>
            <a:ext cx="328613" cy="474662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spcBef>
                <a:spcPct val="0"/>
              </a:spcBef>
              <a:buSzTx/>
              <a:buFontTx/>
              <a:buNone/>
            </a:pPr>
            <a:endParaRPr kumimoji="1" lang="zh-CN" altLang="zh-CN" sz="2400">
              <a:latin typeface="Tahoma" panose="020B0604030504040204" pitchFamily="34" charset="0"/>
            </a:endParaRPr>
          </a:p>
        </p:txBody>
      </p:sp>
      <p:sp>
        <p:nvSpPr>
          <p:cNvPr id="444420" name="Rectangle 4"/>
          <p:cNvSpPr>
            <a:spLocks noChangeArrowheads="1"/>
          </p:cNvSpPr>
          <p:nvPr/>
        </p:nvSpPr>
        <p:spPr bwMode="ltGray">
          <a:xfrm>
            <a:off x="541338" y="674688"/>
            <a:ext cx="422275" cy="474662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spcBef>
                <a:spcPct val="0"/>
              </a:spcBef>
              <a:buSzTx/>
              <a:buFontTx/>
              <a:buNone/>
            </a:pPr>
            <a:endParaRPr kumimoji="1" lang="zh-CN" altLang="zh-CN" sz="2400">
              <a:latin typeface="Tahoma" panose="020B0604030504040204" pitchFamily="34" charset="0"/>
            </a:endParaRPr>
          </a:p>
        </p:txBody>
      </p:sp>
      <p:sp>
        <p:nvSpPr>
          <p:cNvPr id="444421" name="Rectangle 5"/>
          <p:cNvSpPr>
            <a:spLocks noChangeArrowheads="1"/>
          </p:cNvSpPr>
          <p:nvPr/>
        </p:nvSpPr>
        <p:spPr bwMode="ltGray">
          <a:xfrm>
            <a:off x="911225" y="674688"/>
            <a:ext cx="368300" cy="474662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spcBef>
                <a:spcPct val="0"/>
              </a:spcBef>
              <a:buSzTx/>
              <a:buFontTx/>
              <a:buNone/>
            </a:pPr>
            <a:endParaRPr kumimoji="1" lang="zh-CN" altLang="zh-CN" sz="2400">
              <a:latin typeface="Tahoma" panose="020B0604030504040204" pitchFamily="34" charset="0"/>
            </a:endParaRPr>
          </a:p>
        </p:txBody>
      </p:sp>
      <p:sp>
        <p:nvSpPr>
          <p:cNvPr id="444422" name="Rectangle 6"/>
          <p:cNvSpPr>
            <a:spLocks noChangeArrowheads="1"/>
          </p:cNvSpPr>
          <p:nvPr/>
        </p:nvSpPr>
        <p:spPr bwMode="ltGray">
          <a:xfrm>
            <a:off x="127000" y="601663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spcBef>
                <a:spcPct val="0"/>
              </a:spcBef>
              <a:buSzTx/>
              <a:buFontTx/>
              <a:buNone/>
            </a:pPr>
            <a:endParaRPr kumimoji="1" lang="zh-CN" altLang="zh-CN" sz="2400">
              <a:latin typeface="Tahoma" panose="020B0604030504040204" pitchFamily="34" charset="0"/>
            </a:endParaRPr>
          </a:p>
        </p:txBody>
      </p:sp>
      <p:sp>
        <p:nvSpPr>
          <p:cNvPr id="444423" name="Rectangle 7"/>
          <p:cNvSpPr>
            <a:spLocks noChangeArrowheads="1"/>
          </p:cNvSpPr>
          <p:nvPr/>
        </p:nvSpPr>
        <p:spPr bwMode="gray">
          <a:xfrm>
            <a:off x="762000" y="144463"/>
            <a:ext cx="31750" cy="1052512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spcBef>
                <a:spcPct val="0"/>
              </a:spcBef>
              <a:buSzTx/>
              <a:buFontTx/>
              <a:buNone/>
            </a:pPr>
            <a:endParaRPr kumimoji="1" lang="zh-CN" altLang="zh-CN" sz="2400">
              <a:latin typeface="Tahoma" panose="020B0604030504040204" pitchFamily="34" charset="0"/>
            </a:endParaRPr>
          </a:p>
        </p:txBody>
      </p:sp>
      <p:sp>
        <p:nvSpPr>
          <p:cNvPr id="444424" name="Rectangle 8"/>
          <p:cNvSpPr>
            <a:spLocks noChangeArrowheads="1"/>
          </p:cNvSpPr>
          <p:nvPr/>
        </p:nvSpPr>
        <p:spPr bwMode="gray">
          <a:xfrm>
            <a:off x="442913" y="935038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spcBef>
                <a:spcPct val="0"/>
              </a:spcBef>
              <a:buSzTx/>
              <a:buFontTx/>
              <a:buNone/>
            </a:pPr>
            <a:endParaRPr kumimoji="1" lang="zh-CN" altLang="zh-CN" sz="2400">
              <a:latin typeface="Tahoma" panose="020B0604030504040204" pitchFamily="34" charset="0"/>
            </a:endParaRPr>
          </a:p>
        </p:txBody>
      </p:sp>
      <p:sp>
        <p:nvSpPr>
          <p:cNvPr id="444425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62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44426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8" y="1258888"/>
            <a:ext cx="7993062" cy="5338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44427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spcBef>
                <a:spcPct val="0"/>
              </a:spcBef>
              <a:buSzTx/>
              <a:buFontTx/>
              <a:buNone/>
              <a:defRPr sz="1400">
                <a:latin typeface="+mn-lt"/>
              </a:defRPr>
            </a:lvl1pPr>
          </a:lstStyle>
          <a:p>
            <a:endParaRPr lang="en-US" altLang="zh-CN"/>
          </a:p>
        </p:txBody>
      </p:sp>
      <p:sp>
        <p:nvSpPr>
          <p:cNvPr id="444428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ctr">
              <a:spcBef>
                <a:spcPct val="0"/>
              </a:spcBef>
              <a:buSzTx/>
              <a:buFontTx/>
              <a:buNone/>
              <a:defRPr sz="1400">
                <a:latin typeface="+mn-lt"/>
              </a:defRPr>
            </a:lvl1pPr>
          </a:lstStyle>
          <a:p>
            <a:endParaRPr lang="en-US" altLang="zh-CN"/>
          </a:p>
        </p:txBody>
      </p:sp>
      <p:sp>
        <p:nvSpPr>
          <p:cNvPr id="444429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spcBef>
                <a:spcPct val="0"/>
              </a:spcBef>
              <a:buSzTx/>
              <a:buFontTx/>
              <a:buNone/>
              <a:defRPr sz="1400">
                <a:latin typeface="+mn-lt"/>
              </a:defRPr>
            </a:lvl1pPr>
          </a:lstStyle>
          <a:p>
            <a:endParaRPr lang="zh-CN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3600" b="1" kern="12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defRPr sz="2800" b="1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 b="1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2pPr>
      <a:lvl3pPr marL="11430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 b="1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3pPr>
      <a:lvl4pPr marL="16002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 b="1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4pPr>
      <a:lvl5pPr marL="20574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11" name="Text Box 19"/>
          <p:cNvSpPr txBox="1">
            <a:spLocks noChangeArrowheads="1"/>
          </p:cNvSpPr>
          <p:nvPr/>
        </p:nvSpPr>
        <p:spPr bwMode="auto">
          <a:xfrm>
            <a:off x="381000" y="1143000"/>
            <a:ext cx="8534400" cy="846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zh-CN" sz="2800" b="1">
                <a:solidFill>
                  <a:srgbClr val="66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 </a:t>
            </a:r>
            <a:r>
              <a:rPr lang="zh-CN" altLang="en-US" sz="2800" b="1">
                <a:solidFill>
                  <a:srgbClr val="66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多表联接查询（</a:t>
            </a:r>
            <a:r>
              <a:rPr lang="zh-CN" altLang="en-US" sz="2800" b="1">
                <a:solidFill>
                  <a:srgbClr val="660066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二元查询</a:t>
            </a:r>
            <a:r>
              <a:rPr lang="en-US" altLang="zh-CN" sz="2800" b="1">
                <a:solidFill>
                  <a:srgbClr val="660066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en-US" sz="2800" b="1">
                <a:solidFill>
                  <a:srgbClr val="660066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多元查询</a:t>
            </a:r>
            <a:r>
              <a:rPr lang="zh-CN" altLang="en-US" sz="2800" b="1">
                <a:solidFill>
                  <a:srgbClr val="66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）</a:t>
            </a:r>
          </a:p>
          <a:p>
            <a:pPr algn="just">
              <a:lnSpc>
                <a:spcPct val="130000"/>
              </a:lnSpc>
              <a:spcBef>
                <a:spcPct val="0"/>
              </a:spcBef>
              <a:buSzTx/>
              <a:buFontTx/>
              <a:buNone/>
            </a:pPr>
            <a:endParaRPr lang="en-US" altLang="zh-CN" sz="1000" b="1">
              <a:solidFill>
                <a:srgbClr val="A5002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3812" name="Text Box 20"/>
          <p:cNvSpPr txBox="1">
            <a:spLocks noChangeArrowheads="1"/>
          </p:cNvSpPr>
          <p:nvPr/>
        </p:nvSpPr>
        <p:spPr bwMode="auto">
          <a:xfrm>
            <a:off x="381000" y="4114800"/>
            <a:ext cx="8534400" cy="175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40000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SELECT S.S#</a:t>
            </a:r>
            <a:r>
              <a:rPr lang="zh-CN" altLang="en-US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SNAME</a:t>
            </a:r>
          </a:p>
          <a:p>
            <a:pPr algn="just">
              <a:lnSpc>
                <a:spcPct val="14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FROM S</a:t>
            </a:r>
            <a:r>
              <a:rPr lang="zh-CN" altLang="en-US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SC</a:t>
            </a:r>
          </a:p>
          <a:p>
            <a:pPr algn="just">
              <a:lnSpc>
                <a:spcPct val="14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WHERE S.S# = SC.S# AND C# =</a:t>
            </a:r>
            <a:r>
              <a:rPr lang="zh-CN" altLang="en-US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＇</a:t>
            </a: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C401001</a:t>
            </a:r>
            <a:r>
              <a:rPr lang="zh-CN" altLang="en-US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＇；</a:t>
            </a:r>
            <a:r>
              <a:rPr lang="zh-CN" altLang="en-US" sz="2600" b="1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33813" name="Text Box 21"/>
          <p:cNvSpPr txBox="1">
            <a:spLocks noChangeArrowheads="1"/>
          </p:cNvSpPr>
          <p:nvPr/>
        </p:nvSpPr>
        <p:spPr bwMode="auto">
          <a:xfrm>
            <a:off x="381000" y="1828800"/>
            <a:ext cx="8458200" cy="1123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spcBef>
                <a:spcPct val="0"/>
              </a:spcBef>
              <a:buSzTx/>
              <a:buFontTx/>
              <a:buNone/>
            </a:pPr>
            <a:r>
              <a:rPr lang="zh-CN" altLang="en-US" sz="26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6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5.32  </a:t>
            </a:r>
            <a:r>
              <a:rPr lang="zh-CN" altLang="en-US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查询所有学习了数据结构课（课程号为</a:t>
            </a:r>
            <a:r>
              <a:rPr lang="en-US" altLang="zh-CN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C401001</a:t>
            </a:r>
            <a:r>
              <a:rPr lang="zh-CN" altLang="en-US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）的学生的学号和姓名。</a:t>
            </a:r>
          </a:p>
        </p:txBody>
      </p:sp>
      <p:sp>
        <p:nvSpPr>
          <p:cNvPr id="33814" name="Rectangle 22"/>
          <p:cNvSpPr>
            <a:spLocks noChangeArrowheads="1"/>
          </p:cNvSpPr>
          <p:nvPr/>
        </p:nvSpPr>
        <p:spPr bwMode="auto">
          <a:xfrm>
            <a:off x="1150938" y="71438"/>
            <a:ext cx="7793037" cy="836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SzTx/>
              <a:buFontTx/>
              <a:buNone/>
            </a:pPr>
            <a:r>
              <a:rPr lang="zh-CN" altLang="en-US"/>
              <a:t>三、 </a:t>
            </a:r>
            <a:r>
              <a:rPr lang="en-US" altLang="zh-CN"/>
              <a:t>SQL</a:t>
            </a:r>
            <a:r>
              <a:rPr lang="zh-CN" altLang="en-US"/>
              <a:t>的高级查询技术</a:t>
            </a:r>
          </a:p>
        </p:txBody>
      </p:sp>
      <p:sp>
        <p:nvSpPr>
          <p:cNvPr id="33815" name="Rectangle 23"/>
          <p:cNvSpPr>
            <a:spLocks noChangeArrowheads="1"/>
          </p:cNvSpPr>
          <p:nvPr/>
        </p:nvSpPr>
        <p:spPr bwMode="auto">
          <a:xfrm>
            <a:off x="304800" y="2971800"/>
            <a:ext cx="86868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0000"/>
              </a:lnSpc>
              <a:buSzTx/>
              <a:buFontTx/>
              <a:buNone/>
            </a:pPr>
            <a:r>
              <a:rPr lang="en-US" altLang="zh-CN" sz="2400" b="1" dirty="0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S</a:t>
            </a:r>
            <a:r>
              <a:rPr lang="zh-CN" altLang="en-US" sz="2400" b="1" dirty="0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400" b="1" dirty="0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S#</a:t>
            </a:r>
            <a:r>
              <a:rPr lang="zh-CN" altLang="en-US" sz="2400" b="1" dirty="0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400" b="1" dirty="0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SNAME</a:t>
            </a:r>
            <a:r>
              <a:rPr lang="zh-CN" altLang="en-US" sz="2400" b="1" dirty="0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400" b="1" dirty="0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SSEX</a:t>
            </a:r>
            <a:r>
              <a:rPr lang="zh-CN" altLang="en-US" sz="2400" b="1" dirty="0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400" b="1" dirty="0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SBIRTHIN</a:t>
            </a:r>
            <a:r>
              <a:rPr lang="zh-CN" altLang="en-US" sz="2400" b="1" dirty="0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400" b="1" dirty="0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PLACEOFB</a:t>
            </a:r>
            <a:r>
              <a:rPr lang="zh-CN" altLang="en-US" sz="2400" b="1" dirty="0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400" b="1" dirty="0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SCODE#</a:t>
            </a:r>
            <a:r>
              <a:rPr lang="zh-CN" altLang="en-US" sz="2400" b="1" dirty="0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400" b="1" dirty="0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CLASS</a:t>
            </a:r>
            <a:r>
              <a:rPr lang="zh-CN" altLang="en-US" sz="2400" b="1" dirty="0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  <a:p>
            <a:pPr>
              <a:lnSpc>
                <a:spcPct val="130000"/>
              </a:lnSpc>
              <a:buSzTx/>
              <a:buFontTx/>
              <a:buNone/>
            </a:pPr>
            <a:r>
              <a:rPr lang="en-US" altLang="zh-CN" sz="2400" b="1" dirty="0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SC</a:t>
            </a:r>
            <a:r>
              <a:rPr lang="zh-CN" altLang="en-US" sz="2400" b="1" dirty="0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400" b="1" dirty="0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S#</a:t>
            </a:r>
            <a:r>
              <a:rPr lang="zh-CN" altLang="en-US" sz="2400" b="1" dirty="0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400" b="1" dirty="0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C#</a:t>
            </a:r>
            <a:r>
              <a:rPr lang="zh-CN" altLang="en-US" sz="2400" b="1" dirty="0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400" b="1" dirty="0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GRADE</a:t>
            </a:r>
            <a:r>
              <a:rPr lang="zh-CN" altLang="en-US" sz="2400" b="1" dirty="0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zh-CN" altLang="en-US" sz="2400" b="1" dirty="0">
              <a:solidFill>
                <a:srgbClr val="006666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4652"/>
    </mc:Choice>
    <mc:Fallback xmlns="">
      <p:transition spd="slow" advTm="33465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3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338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3000"/>
                                        <p:tgtEl>
                                          <p:spTgt spid="33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1000"/>
                                        <p:tgtEl>
                                          <p:spTgt spid="33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811" grpId="0"/>
      <p:bldP spid="33812" grpId="0"/>
      <p:bldP spid="338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95" name="Text Box 27"/>
          <p:cNvSpPr txBox="1">
            <a:spLocks noChangeArrowheads="1"/>
          </p:cNvSpPr>
          <p:nvPr/>
        </p:nvSpPr>
        <p:spPr bwMode="auto">
          <a:xfrm>
            <a:off x="381000" y="1162050"/>
            <a:ext cx="8458200" cy="1044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20000"/>
              </a:lnSpc>
              <a:spcBef>
                <a:spcPct val="0"/>
              </a:spcBef>
              <a:buSzTx/>
              <a:buFontTx/>
              <a:buNone/>
            </a:pPr>
            <a:r>
              <a:rPr lang="zh-CN" altLang="en-US" sz="26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6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5.33  </a:t>
            </a:r>
            <a:r>
              <a:rPr lang="zh-CN" altLang="en-US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查询选修了</a:t>
            </a:r>
            <a:r>
              <a:rPr lang="zh-CN" altLang="en-US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黑体" panose="02010609060101010101" pitchFamily="49" charset="-122"/>
              </a:rPr>
              <a:t>“</a:t>
            </a:r>
            <a:r>
              <a:rPr lang="zh-CN" altLang="en-US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信息安全技术</a:t>
            </a:r>
            <a:r>
              <a:rPr lang="zh-CN" altLang="en-US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黑体" panose="02010609060101010101" pitchFamily="49" charset="-122"/>
              </a:rPr>
              <a:t>”</a:t>
            </a:r>
            <a:r>
              <a:rPr lang="zh-CN" altLang="en-US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课程的学生的学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buSzTx/>
              <a:buFontTx/>
              <a:buNone/>
            </a:pPr>
            <a:r>
              <a:rPr lang="zh-CN" altLang="en-US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       号与姓名。</a:t>
            </a:r>
          </a:p>
        </p:txBody>
      </p:sp>
      <p:sp>
        <p:nvSpPr>
          <p:cNvPr id="32796" name="Text Box 28"/>
          <p:cNvSpPr txBox="1">
            <a:spLocks noChangeArrowheads="1"/>
          </p:cNvSpPr>
          <p:nvPr/>
        </p:nvSpPr>
        <p:spPr bwMode="auto">
          <a:xfrm>
            <a:off x="609600" y="3505200"/>
            <a:ext cx="8458200" cy="1997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2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600" b="1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SELECT S.S#</a:t>
            </a:r>
            <a:r>
              <a:rPr lang="zh-CN" altLang="en-US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SNAME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FROM S</a:t>
            </a:r>
            <a:r>
              <a:rPr lang="zh-CN" altLang="en-US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SC</a:t>
            </a:r>
            <a:r>
              <a:rPr lang="zh-CN" altLang="en-US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WHERE S.S# = SC.S# </a:t>
            </a:r>
            <a:r>
              <a:rPr lang="en-US" altLang="zh-CN" sz="26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AND</a:t>
            </a: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SC.C# = C.C#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        </a:t>
            </a:r>
            <a:r>
              <a:rPr lang="en-US" altLang="zh-CN" sz="26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AND</a:t>
            </a: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CNAME =</a:t>
            </a:r>
            <a:r>
              <a:rPr lang="zh-CN" altLang="en-US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＇信息安全技术＇； </a:t>
            </a:r>
          </a:p>
        </p:txBody>
      </p:sp>
      <p:pic>
        <p:nvPicPr>
          <p:cNvPr id="32797" name="Picture 2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38" t="54546" r="42009" b="27209"/>
          <a:stretch>
            <a:fillRect/>
          </a:stretch>
        </p:blipFill>
        <p:spPr bwMode="auto">
          <a:xfrm>
            <a:off x="128588" y="5038725"/>
            <a:ext cx="3581400" cy="156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98" name="Rectangle 30"/>
          <p:cNvSpPr>
            <a:spLocks noChangeArrowheads="1"/>
          </p:cNvSpPr>
          <p:nvPr/>
        </p:nvSpPr>
        <p:spPr bwMode="auto">
          <a:xfrm>
            <a:off x="1150938" y="71438"/>
            <a:ext cx="7793037" cy="836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SzTx/>
              <a:buFontTx/>
              <a:buNone/>
            </a:pPr>
            <a:r>
              <a:rPr lang="zh-CN" altLang="en-US"/>
              <a:t>三、 </a:t>
            </a:r>
            <a:r>
              <a:rPr lang="en-US" altLang="zh-CN"/>
              <a:t>SQL</a:t>
            </a:r>
            <a:r>
              <a:rPr lang="zh-CN" altLang="en-US"/>
              <a:t>的高级查询技术</a:t>
            </a:r>
          </a:p>
        </p:txBody>
      </p:sp>
      <p:sp>
        <p:nvSpPr>
          <p:cNvPr id="32799" name="Rectangle 31"/>
          <p:cNvSpPr>
            <a:spLocks noChangeArrowheads="1"/>
          </p:cNvSpPr>
          <p:nvPr/>
        </p:nvSpPr>
        <p:spPr bwMode="auto">
          <a:xfrm>
            <a:off x="304800" y="2209800"/>
            <a:ext cx="86868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5000"/>
              </a:lnSpc>
              <a:buSzTx/>
              <a:buFontTx/>
              <a:buNone/>
            </a:pPr>
            <a:r>
              <a:rPr lang="en-US" altLang="zh-CN" sz="2400" b="1" dirty="0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S</a:t>
            </a:r>
            <a:r>
              <a:rPr lang="zh-CN" altLang="en-US" sz="2400" b="1" dirty="0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400" b="1" dirty="0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S#</a:t>
            </a:r>
            <a:r>
              <a:rPr lang="zh-CN" altLang="en-US" sz="2400" b="1" dirty="0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400" b="1" dirty="0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SNAME</a:t>
            </a:r>
            <a:r>
              <a:rPr lang="zh-CN" altLang="en-US" sz="2400" b="1" dirty="0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400" b="1" dirty="0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SSEX</a:t>
            </a:r>
            <a:r>
              <a:rPr lang="zh-CN" altLang="en-US" sz="2400" b="1" dirty="0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400" b="1" dirty="0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SBIRTHIN</a:t>
            </a:r>
            <a:r>
              <a:rPr lang="zh-CN" altLang="en-US" sz="2400" b="1" dirty="0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400" b="1" dirty="0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PLACEOFB</a:t>
            </a:r>
            <a:r>
              <a:rPr lang="zh-CN" altLang="en-US" sz="2400" b="1" dirty="0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400" b="1" dirty="0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SCODE#</a:t>
            </a:r>
            <a:r>
              <a:rPr lang="zh-CN" altLang="en-US" sz="2400" b="1" dirty="0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400" b="1" dirty="0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CLASS</a:t>
            </a:r>
            <a:r>
              <a:rPr lang="zh-CN" altLang="en-US" sz="2400" b="1" dirty="0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  <a:p>
            <a:pPr>
              <a:lnSpc>
                <a:spcPct val="115000"/>
              </a:lnSpc>
              <a:buSzTx/>
              <a:buFontTx/>
              <a:buNone/>
            </a:pPr>
            <a:r>
              <a:rPr lang="en-US" altLang="zh-CN" sz="2400" b="1" dirty="0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SC</a:t>
            </a:r>
            <a:r>
              <a:rPr lang="zh-CN" altLang="en-US" sz="2400" b="1" dirty="0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400" b="1" dirty="0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S#</a:t>
            </a:r>
            <a:r>
              <a:rPr lang="zh-CN" altLang="en-US" sz="2400" b="1" dirty="0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400" b="1" dirty="0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C#</a:t>
            </a:r>
            <a:r>
              <a:rPr lang="zh-CN" altLang="en-US" sz="2400" b="1" dirty="0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400" b="1" dirty="0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GRADE</a:t>
            </a:r>
            <a:r>
              <a:rPr lang="zh-CN" altLang="en-US" sz="2400" b="1" dirty="0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  <a:p>
            <a:pPr>
              <a:lnSpc>
                <a:spcPct val="115000"/>
              </a:lnSpc>
              <a:buSzTx/>
              <a:buFontTx/>
              <a:buNone/>
            </a:pPr>
            <a:r>
              <a:rPr lang="en-US" altLang="zh-CN" sz="2400" b="1" dirty="0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C</a:t>
            </a:r>
            <a:r>
              <a:rPr lang="zh-CN" altLang="en-US" sz="2400" b="1" dirty="0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400" b="1" dirty="0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C#</a:t>
            </a:r>
            <a:r>
              <a:rPr lang="zh-CN" altLang="en-US" sz="2400" b="1" dirty="0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400" b="1" dirty="0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CNAME</a:t>
            </a:r>
            <a:r>
              <a:rPr lang="zh-CN" altLang="en-US" sz="2400" b="1" dirty="0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400" b="1" dirty="0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CLASSH</a:t>
            </a:r>
            <a:r>
              <a:rPr lang="zh-CN" altLang="en-US" sz="2400" b="1" dirty="0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zh-CN" altLang="en-US" sz="2400" b="1" dirty="0">
              <a:solidFill>
                <a:srgbClr val="006666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4297"/>
    </mc:Choice>
    <mc:Fallback xmlns="">
      <p:transition spd="slow" advTm="22429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0"/>
                                        <p:tgtEl>
                                          <p:spTgt spid="32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32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2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96" grpId="0"/>
      <p:bldP spid="3279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Text Box 2"/>
          <p:cNvSpPr txBox="1">
            <a:spLocks noChangeArrowheads="1"/>
          </p:cNvSpPr>
          <p:nvPr/>
        </p:nvSpPr>
        <p:spPr bwMode="auto">
          <a:xfrm>
            <a:off x="381000" y="1143000"/>
            <a:ext cx="8458200" cy="2614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zh-CN" sz="2800" b="1">
                <a:solidFill>
                  <a:srgbClr val="66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 </a:t>
            </a:r>
            <a:r>
              <a:rPr lang="zh-CN" altLang="en-US" sz="2800" b="1">
                <a:solidFill>
                  <a:srgbClr val="66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嵌套查询</a:t>
            </a:r>
          </a:p>
          <a:p>
            <a:pPr algn="just">
              <a:lnSpc>
                <a:spcPct val="140000"/>
              </a:lnSpc>
              <a:buSzTx/>
              <a:buFontTx/>
              <a:buNone/>
            </a:pPr>
            <a:r>
              <a:rPr lang="zh-CN" altLang="en-US" sz="28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在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SQL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语言中，如果在一个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SELECT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语句的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WHERE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子句中嵌入了另一个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SELECT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语句，则称为嵌套查询。</a:t>
            </a:r>
          </a:p>
          <a:p>
            <a:pPr algn="just">
              <a:lnSpc>
                <a:spcPct val="140000"/>
              </a:lnSpc>
              <a:buSzTx/>
              <a:buFontTx/>
              <a:buNone/>
            </a:pP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WHERE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子句中的</a:t>
            </a:r>
            <a:r>
              <a:rPr lang="en-US" altLang="zh-CN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SELECT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语句称为子查询。</a:t>
            </a:r>
          </a:p>
        </p:txBody>
      </p:sp>
      <p:sp>
        <p:nvSpPr>
          <p:cNvPr id="114691" name="Rectangle 3"/>
          <p:cNvSpPr>
            <a:spLocks noChangeArrowheads="1"/>
          </p:cNvSpPr>
          <p:nvPr/>
        </p:nvSpPr>
        <p:spPr bwMode="auto">
          <a:xfrm>
            <a:off x="1150938" y="71438"/>
            <a:ext cx="7793037" cy="836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SzTx/>
              <a:buFontTx/>
              <a:buNone/>
            </a:pPr>
            <a:r>
              <a:rPr lang="zh-CN" altLang="en-US"/>
              <a:t>三、 </a:t>
            </a:r>
            <a:r>
              <a:rPr lang="en-US" altLang="zh-CN"/>
              <a:t>SQL</a:t>
            </a:r>
            <a:r>
              <a:rPr lang="zh-CN" altLang="en-US"/>
              <a:t>的高级查询技术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550"/>
    </mc:Choice>
    <mc:Fallback xmlns="">
      <p:transition spd="slow" advTm="2155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146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1146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1000"/>
                                        <p:tgtEl>
                                          <p:spTgt spid="1146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Text Box 1026"/>
          <p:cNvSpPr txBox="1">
            <a:spLocks noChangeArrowheads="1"/>
          </p:cNvSpPr>
          <p:nvPr/>
        </p:nvSpPr>
        <p:spPr bwMode="auto">
          <a:xfrm>
            <a:off x="381000" y="1120775"/>
            <a:ext cx="8458200" cy="1165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5000"/>
              </a:lnSpc>
              <a:spcBef>
                <a:spcPct val="0"/>
              </a:spcBef>
              <a:buSzTx/>
              <a:buFontTx/>
              <a:buNone/>
            </a:pPr>
            <a:r>
              <a:rPr lang="zh-CN" altLang="en-US" sz="26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6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5.34 </a:t>
            </a:r>
            <a:r>
              <a:rPr lang="zh-CN" altLang="en-US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查询</a:t>
            </a:r>
            <a:r>
              <a:rPr lang="zh-CN" altLang="en-US" sz="26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张华同学（学号为</a:t>
            </a:r>
            <a:r>
              <a:rPr lang="en-US" altLang="zh-CN" sz="26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200401001</a:t>
            </a:r>
            <a:r>
              <a:rPr lang="zh-CN" altLang="en-US" sz="26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）的那个班</a:t>
            </a:r>
            <a:r>
              <a:rPr lang="zh-CN" altLang="en-US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zh-CN" altLang="en-US" sz="26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女同学</a:t>
            </a:r>
            <a:r>
              <a:rPr lang="zh-CN" altLang="en-US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的基本信息。</a:t>
            </a:r>
          </a:p>
        </p:txBody>
      </p:sp>
      <p:sp>
        <p:nvSpPr>
          <p:cNvPr id="115716" name="Text Box 1028"/>
          <p:cNvSpPr txBox="1">
            <a:spLocks noChangeArrowheads="1"/>
          </p:cNvSpPr>
          <p:nvPr/>
        </p:nvSpPr>
        <p:spPr bwMode="auto">
          <a:xfrm>
            <a:off x="381000" y="2308225"/>
            <a:ext cx="8610600" cy="2949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2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SELECT *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FROM S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WHERE </a:t>
            </a:r>
            <a:r>
              <a:rPr lang="en-US" altLang="zh-CN" sz="2600" b="1">
                <a:solidFill>
                  <a:srgbClr val="66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CLASS=(SELECT CLASS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600" b="1">
                <a:solidFill>
                  <a:srgbClr val="66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   FROM S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600" b="1">
                <a:solidFill>
                  <a:srgbClr val="66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   WHERE S# =</a:t>
            </a:r>
            <a:r>
              <a:rPr lang="zh-CN" altLang="en-US" sz="2600" b="1">
                <a:solidFill>
                  <a:srgbClr val="66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＇</a:t>
            </a:r>
            <a:r>
              <a:rPr lang="en-US" altLang="zh-CN" sz="2600" b="1">
                <a:solidFill>
                  <a:srgbClr val="66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200401001</a:t>
            </a:r>
            <a:r>
              <a:rPr lang="zh-CN" altLang="en-US" sz="2600" b="1">
                <a:solidFill>
                  <a:srgbClr val="66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＇</a:t>
            </a:r>
            <a:r>
              <a:rPr lang="en-US" altLang="zh-CN" sz="2600" b="1">
                <a:solidFill>
                  <a:srgbClr val="66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AND </a:t>
            </a:r>
            <a:r>
              <a:rPr lang="en-US" altLang="zh-CN" sz="26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SSEX =</a:t>
            </a:r>
            <a:r>
              <a:rPr lang="zh-CN" altLang="en-US" sz="26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＇女＇</a:t>
            </a:r>
            <a:r>
              <a:rPr lang="zh-CN" altLang="en-US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； </a:t>
            </a:r>
          </a:p>
        </p:txBody>
      </p:sp>
      <p:pic>
        <p:nvPicPr>
          <p:cNvPr id="115717" name="Picture 102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551" t="59874" b="20564"/>
          <a:stretch>
            <a:fillRect/>
          </a:stretch>
        </p:blipFill>
        <p:spPr bwMode="auto">
          <a:xfrm>
            <a:off x="1857375" y="5308600"/>
            <a:ext cx="5381625" cy="109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5718" name="Rectangle 1030"/>
          <p:cNvSpPr>
            <a:spLocks noChangeArrowheads="1"/>
          </p:cNvSpPr>
          <p:nvPr/>
        </p:nvSpPr>
        <p:spPr bwMode="auto">
          <a:xfrm>
            <a:off x="1150938" y="71438"/>
            <a:ext cx="7793037" cy="836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SzTx/>
              <a:buFontTx/>
              <a:buNone/>
            </a:pPr>
            <a:r>
              <a:rPr lang="zh-CN" altLang="en-US"/>
              <a:t>三、 </a:t>
            </a:r>
            <a:r>
              <a:rPr lang="en-US" altLang="zh-CN"/>
              <a:t>SQL</a:t>
            </a:r>
            <a:r>
              <a:rPr lang="zh-CN" altLang="en-US"/>
              <a:t>的高级查询技术</a:t>
            </a:r>
          </a:p>
        </p:txBody>
      </p:sp>
      <p:sp>
        <p:nvSpPr>
          <p:cNvPr id="115719" name="Rectangle 1031"/>
          <p:cNvSpPr>
            <a:spLocks noChangeArrowheads="1"/>
          </p:cNvSpPr>
          <p:nvPr/>
        </p:nvSpPr>
        <p:spPr bwMode="auto">
          <a:xfrm>
            <a:off x="3276600" y="2271713"/>
            <a:ext cx="55054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zh-CN" sz="2000" b="1">
                <a:latin typeface="黑体" panose="02010609060101010101" pitchFamily="49" charset="-122"/>
                <a:ea typeface="黑体" panose="02010609060101010101" pitchFamily="49" charset="-122"/>
              </a:rPr>
              <a:t>CLASS = ´</a:t>
            </a: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查询出的班级编号</a:t>
            </a:r>
            <a:r>
              <a:rPr lang="en-US" altLang="zh-CN" sz="2000" b="1">
                <a:latin typeface="黑体" panose="02010609060101010101" pitchFamily="49" charset="-122"/>
                <a:ea typeface="黑体" panose="02010609060101010101" pitchFamily="49" charset="-122"/>
              </a:rPr>
              <a:t>´ AND SSEX =´</a:t>
            </a: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女</a:t>
            </a:r>
            <a:r>
              <a:rPr lang="en-US" altLang="zh-CN" sz="2000" b="1">
                <a:latin typeface="黑体" panose="02010609060101010101" pitchFamily="49" charset="-122"/>
                <a:ea typeface="黑体" panose="02010609060101010101" pitchFamily="49" charset="-122"/>
              </a:rPr>
              <a:t>´</a:t>
            </a:r>
            <a:r>
              <a:rPr lang="en-US" altLang="zh-CN"/>
              <a:t> 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5339"/>
    </mc:Choice>
    <mc:Fallback xmlns="">
      <p:transition spd="slow" advTm="15533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57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157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157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157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157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157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15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412" name="Text Box 4"/>
          <p:cNvSpPr txBox="1">
            <a:spLocks noChangeArrowheads="1"/>
          </p:cNvSpPr>
          <p:nvPr/>
        </p:nvSpPr>
        <p:spPr bwMode="auto">
          <a:xfrm>
            <a:off x="381000" y="1143000"/>
            <a:ext cx="8458200" cy="4538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zh-CN" sz="2800" b="1">
                <a:solidFill>
                  <a:srgbClr val="66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 </a:t>
            </a:r>
            <a:r>
              <a:rPr lang="zh-CN" altLang="en-US" sz="2800" b="1">
                <a:solidFill>
                  <a:srgbClr val="66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查询中的表更名</a:t>
            </a:r>
          </a:p>
          <a:p>
            <a:pPr algn="just">
              <a:lnSpc>
                <a:spcPct val="140000"/>
              </a:lnSpc>
              <a:spcBef>
                <a:spcPct val="0"/>
              </a:spcBef>
              <a:buSzTx/>
              <a:buFontTx/>
              <a:buNone/>
            </a:pPr>
            <a:r>
              <a:rPr lang="zh-CN" altLang="en-US" sz="28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在嵌套查询中，当同一个关系既出现在父查询中，又出现在子查询中，且子查询的条件涉及到父查询的属性时，为了避免描述上的混淆，一般需要对该关系进行更名描述。</a:t>
            </a:r>
          </a:p>
          <a:p>
            <a:pPr algn="just">
              <a:lnSpc>
                <a:spcPct val="140000"/>
              </a:lnSpc>
              <a:spcBef>
                <a:spcPct val="30000"/>
              </a:spcBef>
              <a:buSzTx/>
              <a:buFontTx/>
              <a:buNone/>
            </a:pP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28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更名描述的格式为：</a:t>
            </a:r>
          </a:p>
          <a:p>
            <a:pPr algn="just">
              <a:lnSpc>
                <a:spcPct val="140000"/>
              </a:lnSpc>
              <a:spcBef>
                <a:spcPct val="40000"/>
              </a:spcBef>
              <a:buSzTx/>
              <a:buFontTx/>
              <a:buNone/>
            </a:pP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        </a:t>
            </a:r>
            <a:r>
              <a:rPr lang="zh-CN" altLang="en-US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旧表名  </a:t>
            </a:r>
            <a:r>
              <a:rPr lang="en-US" altLang="zh-CN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AS  </a:t>
            </a:r>
            <a:r>
              <a:rPr lang="zh-CN" altLang="en-US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新表名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401413" name="Rectangle 5"/>
          <p:cNvSpPr>
            <a:spLocks noChangeArrowheads="1"/>
          </p:cNvSpPr>
          <p:nvPr/>
        </p:nvSpPr>
        <p:spPr bwMode="auto">
          <a:xfrm>
            <a:off x="1150938" y="71438"/>
            <a:ext cx="7793037" cy="836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SzTx/>
              <a:buFontTx/>
              <a:buNone/>
            </a:pPr>
            <a:r>
              <a:rPr lang="zh-CN" altLang="en-US"/>
              <a:t>三、 </a:t>
            </a:r>
            <a:r>
              <a:rPr lang="en-US" altLang="zh-CN"/>
              <a:t>SQL</a:t>
            </a:r>
            <a:r>
              <a:rPr lang="zh-CN" altLang="en-US"/>
              <a:t>的高级查询技术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3502"/>
    </mc:Choice>
    <mc:Fallback xmlns="">
      <p:transition spd="slow" advTm="6350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014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4014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4014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1000"/>
                                        <p:tgtEl>
                                          <p:spTgt spid="4014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436" name="Text Box 4"/>
          <p:cNvSpPr txBox="1">
            <a:spLocks noChangeArrowheads="1"/>
          </p:cNvSpPr>
          <p:nvPr/>
        </p:nvSpPr>
        <p:spPr bwMode="auto">
          <a:xfrm>
            <a:off x="381000" y="1143000"/>
            <a:ext cx="8458200" cy="1165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5000"/>
              </a:lnSpc>
              <a:spcBef>
                <a:spcPct val="0"/>
              </a:spcBef>
              <a:buSzTx/>
              <a:buFontTx/>
              <a:buNone/>
            </a:pPr>
            <a:r>
              <a:rPr lang="zh-CN" altLang="en-US" sz="26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6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5.35 </a:t>
            </a:r>
            <a:r>
              <a:rPr lang="zh-CN" altLang="en-US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检索</a:t>
            </a:r>
            <a:r>
              <a:rPr lang="zh-CN" altLang="en-US" sz="26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考试成绩比</a:t>
            </a:r>
            <a:r>
              <a:rPr lang="zh-CN" altLang="en-US" sz="26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该课程</a:t>
            </a:r>
            <a:r>
              <a:rPr lang="zh-CN" altLang="en-US" sz="26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平均成绩低</a:t>
            </a:r>
            <a:r>
              <a:rPr lang="zh-CN" altLang="en-US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zh-CN" altLang="en-US" sz="2600" b="1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学生的成绩</a:t>
            </a:r>
            <a:r>
              <a:rPr lang="zh-CN" altLang="en-US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。 </a:t>
            </a:r>
          </a:p>
        </p:txBody>
      </p:sp>
      <p:sp>
        <p:nvSpPr>
          <p:cNvPr id="402437" name="Text Box 5"/>
          <p:cNvSpPr txBox="1">
            <a:spLocks noChangeArrowheads="1"/>
          </p:cNvSpPr>
          <p:nvPr/>
        </p:nvSpPr>
        <p:spPr bwMode="auto">
          <a:xfrm>
            <a:off x="381000" y="2220913"/>
            <a:ext cx="8610600" cy="2441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1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en-US" altLang="zh-CN" sz="2800" b="1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SELECT S#</a:t>
            </a:r>
            <a:r>
              <a:rPr lang="zh-CN" altLang="en-US" sz="2800" b="1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800" b="1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C#</a:t>
            </a:r>
            <a:r>
              <a:rPr lang="zh-CN" altLang="en-US" sz="2800" b="1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800" b="1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GRADE</a:t>
            </a:r>
          </a:p>
          <a:p>
            <a:pPr>
              <a:lnSpc>
                <a:spcPct val="11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FROM  SC</a:t>
            </a:r>
          </a:p>
          <a:p>
            <a:pPr>
              <a:lnSpc>
                <a:spcPct val="11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WHERE  GRADE &lt; (SELECT  AVG(GRADE)</a:t>
            </a:r>
            <a:r>
              <a:rPr lang="en-US" altLang="zh-CN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</a:p>
          <a:p>
            <a:pPr>
              <a:lnSpc>
                <a:spcPct val="11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      FROM  SC  AS  X</a:t>
            </a:r>
          </a:p>
          <a:p>
            <a:pPr>
              <a:lnSpc>
                <a:spcPct val="11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      WHERE  X.C#=SC.C#)</a:t>
            </a:r>
            <a:r>
              <a:rPr lang="zh-CN" altLang="en-US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r>
              <a:rPr lang="zh-CN" altLang="en-US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pic>
        <p:nvPicPr>
          <p:cNvPr id="40243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571" t="53291" r="30327" b="14044"/>
          <a:stretch>
            <a:fillRect/>
          </a:stretch>
        </p:blipFill>
        <p:spPr bwMode="auto">
          <a:xfrm>
            <a:off x="2362200" y="4648200"/>
            <a:ext cx="4267200" cy="189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2439" name="Rectangle 7"/>
          <p:cNvSpPr>
            <a:spLocks noChangeArrowheads="1"/>
          </p:cNvSpPr>
          <p:nvPr/>
        </p:nvSpPr>
        <p:spPr bwMode="auto">
          <a:xfrm>
            <a:off x="1150938" y="71438"/>
            <a:ext cx="7793037" cy="836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SzTx/>
              <a:buFontTx/>
              <a:buNone/>
            </a:pPr>
            <a:r>
              <a:rPr lang="zh-CN" altLang="en-US"/>
              <a:t>三、 </a:t>
            </a:r>
            <a:r>
              <a:rPr lang="en-US" altLang="zh-CN"/>
              <a:t>SQL</a:t>
            </a:r>
            <a:r>
              <a:rPr lang="zh-CN" altLang="en-US"/>
              <a:t>的高级查询技术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6659"/>
    </mc:Choice>
    <mc:Fallback xmlns="">
      <p:transition spd="slow" advTm="19665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024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4024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4024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4024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4024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402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5.1|6.2|88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0.7|191.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0.2|81.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2.9|149.2"/>
</p:tagLst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Pct val="100000"/>
          <a:buFont typeface="Wingdings" panose="05000000000000000000" pitchFamily="2" charset="2"/>
          <a:buChar char="•"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Pct val="100000"/>
          <a:buFont typeface="Wingdings" panose="05000000000000000000" pitchFamily="2" charset="2"/>
          <a:buChar char="•"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477</Words>
  <Application>Microsoft Office PowerPoint</Application>
  <PresentationFormat>全屏显示(4:3)</PresentationFormat>
  <Paragraphs>43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2" baseType="lpstr">
      <vt:lpstr>黑体</vt:lpstr>
      <vt:lpstr>宋体</vt:lpstr>
      <vt:lpstr>Arial</vt:lpstr>
      <vt:lpstr>Tahoma</vt:lpstr>
      <vt:lpstr>Wingdings</vt:lpstr>
      <vt:lpstr>Blends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乔淋漓的冷汗</dc:creator>
  <cp:lastModifiedBy>乔 淋漓的冷汗</cp:lastModifiedBy>
  <cp:revision>418</cp:revision>
  <cp:lastPrinted>2113-01-01T00:00:00Z</cp:lastPrinted>
  <dcterms:created xsi:type="dcterms:W3CDTF">2113-01-01T00:00:00Z</dcterms:created>
  <dcterms:modified xsi:type="dcterms:W3CDTF">2021-04-12T15:27:12Z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KSOProductBuildVer">
    <vt:lpwstr>2052-11.3.0.8775</vt:lpwstr>
  </property>
</Properties>
</file>