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6" r:id="rId2"/>
    <p:sldId id="267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494" r:id="rId12"/>
    <p:sldId id="355" r:id="rId13"/>
    <p:sldId id="356" r:id="rId14"/>
    <p:sldId id="357" r:id="rId15"/>
    <p:sldId id="358" r:id="rId16"/>
    <p:sldId id="359" r:id="rId17"/>
    <p:sldId id="360" r:id="rId18"/>
    <p:sldId id="504" r:id="rId19"/>
    <p:sldId id="438" r:id="rId2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A7406"/>
    <a:srgbClr val="FF0066"/>
    <a:srgbClr val="000000"/>
    <a:srgbClr val="CCFFFF"/>
    <a:srgbClr val="0033CC"/>
    <a:srgbClr val="003366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6" autoAdjust="0"/>
    <p:restoredTop sz="94660"/>
  </p:normalViewPr>
  <p:slideViewPr>
    <p:cSldViewPr>
      <p:cViewPr varScale="1">
        <p:scale>
          <a:sx n="125" d="100"/>
          <a:sy n="125" d="100"/>
        </p:scale>
        <p:origin x="1428" y="64"/>
      </p:cViewPr>
      <p:guideLst>
        <p:guide orient="horz" pos="2160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2" name="Group 2"/>
          <p:cNvGrpSpPr/>
          <p:nvPr/>
        </p:nvGrpSpPr>
        <p:grpSpPr bwMode="auto">
          <a:xfrm>
            <a:off x="0" y="1819275"/>
            <a:ext cx="9009063" cy="1052513"/>
            <a:chOff x="0" y="1536"/>
            <a:chExt cx="5675" cy="663"/>
          </a:xfrm>
        </p:grpSpPr>
        <p:grpSp>
          <p:nvGrpSpPr>
            <p:cNvPr id="445443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544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4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544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44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268413"/>
            <a:ext cx="8137525" cy="1462087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454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545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2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19" name="Rectangle 3"/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0" name="Rectangle 4"/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1" name="Rectangle 5"/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2" name="Rectangle 6"/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3" name="Rectangle 7"/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4" name="Rectangle 8"/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44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44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304800" y="1143000"/>
            <a:ext cx="83820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谓词演算查询 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6739" name="Text Box 3"/>
          <p:cNvSpPr txBox="1">
            <a:spLocks noChangeArrowheads="1"/>
          </p:cNvSpPr>
          <p:nvPr/>
        </p:nvSpPr>
        <p:spPr bwMode="auto">
          <a:xfrm>
            <a:off x="2209800" y="1665288"/>
            <a:ext cx="44196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3.9  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常用的谓词操作符</a:t>
            </a:r>
          </a:p>
        </p:txBody>
      </p:sp>
      <p:graphicFrame>
        <p:nvGraphicFramePr>
          <p:cNvPr id="116766" name="Group 30"/>
          <p:cNvGraphicFramePr>
            <a:graphicFrameLocks noGrp="1"/>
          </p:cNvGraphicFramePr>
          <p:nvPr/>
        </p:nvGraphicFramePr>
        <p:xfrm>
          <a:off x="533400" y="2160588"/>
          <a:ext cx="8458200" cy="4316413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8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操作符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      </a:t>
                      </a:r>
                      <a:r>
                        <a:rPr kumimoji="0" lang="zh-CN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说  明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5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between A and B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not between A and B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like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not in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any 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some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all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exists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not exists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某列的数值区间是</a:t>
                      </a: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[A</a:t>
                      </a: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</a:t>
                      </a: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B]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某列的数值区间在</a:t>
                      </a: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[A</a:t>
                      </a: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</a:t>
                      </a:r>
                      <a:r>
                        <a:rPr kumimoji="0" lang="en-US" altLang="zh-CN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B]</a:t>
                      </a: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外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两个字符串的部分字符相等，其余可以任意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某列的某个值属于集合成员中的一个成员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某列的值不属于集合成员中的任何一个成员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某列的值满足一个条件即可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满足集合中的某些值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某列的值满足子查询中所有值的记录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总存在一个值满足条件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60000"/>
                        <a:buFontTx/>
                        <a:buNone/>
                      </a:pP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不存在任何值满足条件</a:t>
                      </a:r>
                      <a:r>
                        <a:rPr kumimoji="0" lang="zh-CN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6767" name="Rectangle 31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81"/>
    </mc:Choice>
    <mc:Fallback xmlns="">
      <p:transition spd="slow" advTm="675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1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/>
      <p:bldP spid="1167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7" name="Text Box 21"/>
          <p:cNvSpPr txBox="1">
            <a:spLocks noChangeArrowheads="1"/>
          </p:cNvSpPr>
          <p:nvPr/>
        </p:nvSpPr>
        <p:spPr bwMode="auto">
          <a:xfrm>
            <a:off x="457200" y="1147763"/>
            <a:ext cx="8305800" cy="517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谓词演算查询</a:t>
            </a:r>
          </a:p>
          <a:p>
            <a:pPr algn="just">
              <a:lnSpc>
                <a:spcPct val="12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IN </a:t>
            </a:r>
            <a:r>
              <a:rPr lang="zh-CN" altLang="en-US" sz="28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28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NOT IN</a:t>
            </a:r>
            <a:r>
              <a:rPr lang="zh-CN" altLang="en-US" sz="28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  <a:p>
            <a:pPr algn="just">
              <a:lnSpc>
                <a:spcPct val="12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条件表达式格式为：</a:t>
            </a:r>
          </a:p>
          <a:p>
            <a:pPr algn="just">
              <a:lnSpc>
                <a:spcPct val="12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数据项</a:t>
            </a:r>
            <a:r>
              <a:rPr lang="en-US" altLang="zh-CN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IN &lt;</a:t>
            </a:r>
            <a:r>
              <a:rPr lang="zh-CN" altLang="en-US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数据集合</a:t>
            </a:r>
            <a:r>
              <a:rPr lang="en-US" altLang="zh-CN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0000"/>
              </a:lnSpc>
              <a:spcBef>
                <a:spcPct val="10000"/>
              </a:spcBef>
              <a:spcAft>
                <a:spcPct val="30000"/>
              </a:spcAft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&lt;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数据项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NOT IN &lt;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数据集合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20000"/>
              </a:lnSpc>
              <a:spcBef>
                <a:spcPct val="5000"/>
              </a:spcBef>
              <a:buSzTx/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前者的含义：</a:t>
            </a:r>
            <a:r>
              <a:rPr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如果数据项是该数据集合中的成员，那么逻辑值为</a:t>
            </a:r>
            <a:r>
              <a:rPr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true</a:t>
            </a:r>
            <a:r>
              <a:rPr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，否则为</a:t>
            </a:r>
            <a:r>
              <a:rPr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false</a:t>
            </a:r>
            <a:r>
              <a:rPr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>
              <a:lnSpc>
                <a:spcPct val="120000"/>
              </a:lnSpc>
              <a:spcBef>
                <a:spcPct val="5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后者的含义：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如果数据项不是该数据集合中的成员，那么逻辑值为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true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，否则为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false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4838" name="Rectangle 22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698"/>
    </mc:Choice>
    <mc:Fallback xmlns="">
      <p:transition spd="slow" advTm="426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4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4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4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4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48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988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5.36  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查询所有</a:t>
            </a:r>
            <a:r>
              <a:rPr lang="zh-CN" altLang="en-US" sz="2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学习了数据结构课（课程号为</a:t>
            </a:r>
            <a:r>
              <a:rPr lang="en-US" altLang="zh-CN" sz="2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）的学生的</a:t>
            </a:r>
            <a:r>
              <a:rPr lang="zh-CN" altLang="en-US" sz="26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学号和姓名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381000" y="2111375"/>
            <a:ext cx="8610600" cy="247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S.S#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FROM   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WHERE  S# IN (SELECT S#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FROM   SC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WHERE C# =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pic>
        <p:nvPicPr>
          <p:cNvPr id="1177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4" t="53479" r="40842" b="18483"/>
          <a:stretch>
            <a:fillRect/>
          </a:stretch>
        </p:blipFill>
        <p:spPr bwMode="auto">
          <a:xfrm>
            <a:off x="2667000" y="4648200"/>
            <a:ext cx="3276600" cy="168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5" name="Rectangle 5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329"/>
    </mc:Choice>
    <mc:Fallback xmlns="">
      <p:transition spd="slow" advTm="1493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1058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5.37  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利用嵌套查询实现例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5.33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，也即查询选修了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“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信息安全技术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”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课程的学生的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学号与姓名</a:t>
            </a:r>
            <a:r>
              <a:rPr lang="zh-CN" altLang="en-US" sz="2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18787" name="Text Box 3"/>
          <p:cNvSpPr txBox="1">
            <a:spLocks noChangeArrowheads="1"/>
          </p:cNvSpPr>
          <p:nvPr/>
        </p:nvSpPr>
        <p:spPr bwMode="auto">
          <a:xfrm>
            <a:off x="381000" y="2825750"/>
            <a:ext cx="8458200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S.S#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FROM S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WHERE S# IN (SELECT S#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FROM  SC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WHERE C# IN (SELECT C#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FROM  C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WHERE CNAME=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＇信息安全技术＇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));</a:t>
            </a:r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381000" y="2355850"/>
            <a:ext cx="84582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19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思路：选修了</a:t>
            </a:r>
            <a:r>
              <a:rPr lang="zh-CN" altLang="en-US" sz="1900" b="1" dirty="0">
                <a:solidFill>
                  <a:srgbClr val="000099"/>
                </a:solidFill>
                <a:ea typeface="黑体" panose="02010609060101010101" pitchFamily="49" charset="-122"/>
              </a:rPr>
              <a:t>“</a:t>
            </a:r>
            <a:r>
              <a:rPr lang="zh-CN" altLang="en-US" sz="19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信息安全技术</a:t>
            </a:r>
            <a:r>
              <a:rPr lang="zh-CN" altLang="en-US" sz="1900" b="1" dirty="0">
                <a:solidFill>
                  <a:srgbClr val="000099"/>
                </a:solidFill>
                <a:ea typeface="黑体" panose="02010609060101010101" pitchFamily="49" charset="-122"/>
              </a:rPr>
              <a:t>”</a:t>
            </a:r>
            <a:r>
              <a:rPr lang="zh-CN" altLang="en-US" sz="19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课的课程号；</a:t>
            </a:r>
            <a:r>
              <a:rPr lang="zh-CN" altLang="en-US" sz="19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选修了该课程（号）的学生</a:t>
            </a:r>
            <a:r>
              <a:rPr lang="zh-CN" altLang="en-US" sz="1900" b="1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的学号</a:t>
            </a:r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58"/>
    </mc:Choice>
    <mc:Fallback xmlns="">
      <p:transition spd="slow" advTm="886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537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谓词演算查询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ANY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SOME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条件表达式格式为：</a:t>
            </a:r>
          </a:p>
          <a:p>
            <a:pPr algn="just">
              <a:lnSpc>
                <a:spcPct val="11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数据项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θ ANY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数据集合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数据项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θ SOME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数据集合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</a:t>
            </a:r>
          </a:p>
          <a:p>
            <a:pPr algn="just">
              <a:lnSpc>
                <a:spcPct val="115000"/>
              </a:lnSpc>
              <a:spcBef>
                <a:spcPct val="15000"/>
              </a:spcBef>
              <a:buSzTx/>
              <a:buFontTx/>
              <a:buNone/>
            </a:pP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5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其含义是</a:t>
            </a:r>
            <a:r>
              <a:rPr lang="en-US" altLang="zh-CN" sz="25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比较运算符</a:t>
            </a: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 </a:t>
            </a:r>
            <a:r>
              <a:rPr lang="en-US" altLang="zh-CN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&lt;=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&gt;=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!=</a:t>
            </a: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）左边的数据项与右边数据集合中的某个或某些元素是否满足</a:t>
            </a: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运算，满足则为真，不满足则为假。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在</a:t>
            </a:r>
            <a:r>
              <a:rPr lang="en-US" altLang="zh-CN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SQL</a:t>
            </a: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语言中，</a:t>
            </a:r>
            <a:r>
              <a:rPr lang="en-US" altLang="zh-CN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ANY</a:t>
            </a: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SOME</a:t>
            </a: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具有相同的含义，早期的版本用的是</a:t>
            </a:r>
            <a:r>
              <a:rPr lang="en-US" altLang="zh-CN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ANY</a:t>
            </a: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，新的版本都改为</a:t>
            </a:r>
            <a:r>
              <a:rPr lang="en-US" altLang="zh-CN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SOME</a:t>
            </a: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，有些商用数据库版本的</a:t>
            </a:r>
            <a:r>
              <a:rPr lang="en-US" altLang="zh-CN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SQL</a:t>
            </a: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语言中，同时保存了</a:t>
            </a:r>
            <a:r>
              <a:rPr lang="en-US" altLang="zh-CN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ANY</a:t>
            </a: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SOME</a:t>
            </a:r>
            <a:r>
              <a:rPr lang="zh-CN" altLang="en-US" sz="2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两个谓词。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12"/>
    </mc:Choice>
    <mc:Fallback xmlns="">
      <p:transition spd="slow" advTm="734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198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198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198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109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5.38  </a:t>
            </a:r>
            <a:r>
              <a:rPr lang="zh-CN" altLang="en-US" sz="2700" b="1" dirty="0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查询所有学习了数据结构课（课程号为</a:t>
            </a:r>
            <a:r>
              <a:rPr lang="en-US" altLang="zh-CN" sz="2700" b="1" dirty="0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700" b="1" dirty="0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）的学生的</a:t>
            </a:r>
            <a:r>
              <a:rPr lang="zh-CN" altLang="en-US" sz="27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学号和姓名。</a:t>
            </a:r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381000" y="2438400"/>
            <a:ext cx="861060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7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S.S#</a:t>
            </a:r>
            <a:r>
              <a:rPr lang="zh-CN" altLang="en-US" sz="27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7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7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FROM   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7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7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WHERE  S# = ANY (SELECT S#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7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</a:t>
            </a:r>
            <a:r>
              <a:rPr lang="en-US" altLang="zh-CN" sz="2700" b="1">
                <a:solidFill>
                  <a:srgbClr val="00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FROM   SC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7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WHERE C# =</a:t>
            </a:r>
            <a:r>
              <a:rPr lang="zh-CN" altLang="en-US" sz="27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7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zh-CN" altLang="en-US" sz="10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其中，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en-US" altLang="zh-CN" sz="28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= ANY</a:t>
            </a:r>
            <a:r>
              <a:rPr lang="en-US" altLang="zh-CN" sz="2800" b="1">
                <a:solidFill>
                  <a:srgbClr val="003366"/>
                </a:solidFill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的作用相当于</a:t>
            </a:r>
            <a:r>
              <a:rPr lang="en-US" altLang="zh-CN" sz="28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IN</a:t>
            </a:r>
            <a:r>
              <a:rPr lang="zh-CN" altLang="en-US" sz="2800" b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。  </a:t>
            </a:r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88"/>
    </mc:Choice>
    <mc:Fallback xmlns="">
      <p:transition spd="slow" advTm="536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477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谓词演算查询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ALL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条件表达式格式为：</a:t>
            </a:r>
          </a:p>
          <a:p>
            <a:pPr algn="just">
              <a:lnSpc>
                <a:spcPct val="130000"/>
              </a:lnSpc>
              <a:spcBef>
                <a:spcPct val="30000"/>
              </a:spcBef>
              <a:spcAft>
                <a:spcPct val="30000"/>
              </a:spcAft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θ ALL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含义是：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比较运算符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左边的数据与右边集合中的所有元素是否满足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运算，若满足逻辑值为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true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，若不满足逻辑值为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false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00"/>
    </mc:Choice>
    <mc:Fallback xmlns="">
      <p:transition spd="slow" advTm="33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2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1026"/>
          <p:cNvSpPr txBox="1">
            <a:spLocks noChangeArrowheads="1"/>
          </p:cNvSpPr>
          <p:nvPr/>
        </p:nvSpPr>
        <p:spPr bwMode="auto">
          <a:xfrm>
            <a:off x="381000" y="1143000"/>
            <a:ext cx="845820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5.39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考试成绩大于网络工程专业（专业代码为</a:t>
            </a: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S0403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）所有学生的课程成绩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的学生的基本信息。</a:t>
            </a:r>
          </a:p>
        </p:txBody>
      </p:sp>
      <p:sp>
        <p:nvSpPr>
          <p:cNvPr id="122883" name="Text Box 1027"/>
          <p:cNvSpPr txBox="1">
            <a:spLocks noChangeArrowheads="1"/>
          </p:cNvSpPr>
          <p:nvPr/>
        </p:nvSpPr>
        <p:spPr bwMode="auto">
          <a:xfrm>
            <a:off x="381000" y="2438400"/>
            <a:ext cx="8458200" cy="376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S.S#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SSEX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SBIRTHIN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PLACEOFB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SCODE#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CLASS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FROM S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WHERE S.S# = SC.S#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AND GRADE &gt; ALL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(SELECT GRADE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FROM S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WHERE S.S# = SC.S#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AND SCODE# = 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S0403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122884" name="Picture 1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6" t="60284" r="1691" b="21773"/>
          <a:stretch>
            <a:fillRect/>
          </a:stretch>
        </p:blipFill>
        <p:spPr bwMode="auto">
          <a:xfrm>
            <a:off x="0" y="5334000"/>
            <a:ext cx="45434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5" name="Rectangle 1029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907"/>
    </mc:Choice>
    <mc:Fallback xmlns="">
      <p:transition spd="slow" advTm="2419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523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谓词演算查询</a:t>
            </a:r>
          </a:p>
          <a:p>
            <a:pPr algn="just">
              <a:lnSpc>
                <a:spcPct val="12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EXISTS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NOT EXISTS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谓词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条件表达式格式为：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EXISTS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NOT EXISTS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前者的含义是：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当集合中至少存在一个元素（非空）时，其逻辑值为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true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，否则为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false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后者的含义是：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当集合中不存在任何元素（为空）时，其逻辑值为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true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，否则为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false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通常用于测试子查询是否有返回结果。   </a:t>
            </a: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375"/>
    </mc:Choice>
    <mc:Fallback xmlns="">
      <p:transition spd="slow" advTm="503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3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23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239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239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1026"/>
          <p:cNvSpPr txBox="1">
            <a:spLocks noChangeArrowheads="1"/>
          </p:cNvSpPr>
          <p:nvPr/>
        </p:nvSpPr>
        <p:spPr bwMode="auto">
          <a:xfrm>
            <a:off x="381000" y="1150938"/>
            <a:ext cx="8458200" cy="540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5.40 </a:t>
            </a:r>
            <a:r>
              <a:rPr lang="zh-CN" altLang="en-US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查询所有学习了数据结构课（课程号为</a:t>
            </a:r>
            <a:r>
              <a:rPr lang="en-US" altLang="zh-CN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6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）的学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生的学号和姓名。</a:t>
            </a:r>
          </a:p>
          <a:p>
            <a:pPr algn="just">
              <a:lnSpc>
                <a:spcPct val="12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S.S#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FROM  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WHERE EXISTS (SELECT *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FROM   SC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WHERE SC.S# = S.S#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AND C# =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zh-CN" altLang="en-US" sz="1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直观的意义为：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查询的是那些，在学习关系中存在所学课程为数据结构的学生的学号和姓名。</a:t>
            </a:r>
          </a:p>
        </p:txBody>
      </p:sp>
      <p:sp>
        <p:nvSpPr>
          <p:cNvPr id="124931" name="Rectangle 1027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133"/>
    </mc:Choice>
    <mc:Fallback xmlns="">
      <p:transition spd="slow" advTm="901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4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4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4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4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4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4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40" name="Text Box 4"/>
          <p:cNvSpPr txBox="1">
            <a:spLocks noChangeArrowheads="1"/>
          </p:cNvSpPr>
          <p:nvPr/>
        </p:nvSpPr>
        <p:spPr bwMode="auto">
          <a:xfrm>
            <a:off x="381000" y="1138238"/>
            <a:ext cx="8610600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5.41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查询没有学习数据结构课（课程号为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）的学生的学号和姓名。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SELECT S.S#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FROM   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WHERE  NOT EXISTS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                (SELECT *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                 FROM   SC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                 WHERE SC.S# = S.S#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AND C# =´C401001´);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en-US" altLang="zh-CN" sz="24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475141" name="Rectangle 5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  <p:pic>
        <p:nvPicPr>
          <p:cNvPr id="4751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57095" r="46455" b="14209"/>
          <a:stretch>
            <a:fillRect/>
          </a:stretch>
        </p:blipFill>
        <p:spPr bwMode="auto">
          <a:xfrm>
            <a:off x="6096000" y="1828800"/>
            <a:ext cx="2819400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324"/>
    </mc:Choice>
    <mc:Fallback xmlns="">
      <p:transition spd="slow" advTm="4432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8458200" cy="536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查询结果的并、交、差操作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）并操作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即，</a:t>
            </a:r>
            <a:r>
              <a:rPr lang="zh-CN" altLang="en-US" sz="26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指将两个或多个</a:t>
            </a:r>
            <a:r>
              <a:rPr lang="en-US" altLang="zh-CN" sz="26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6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语句的查询结果组合在一起作为总的查询结果输出。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语句格式为</a:t>
            </a:r>
            <a:r>
              <a:rPr lang="zh-CN" altLang="en-US" sz="26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FROM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表名表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[WHERE &lt;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[UNION [ALL] {SELECT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 </a:t>
            </a:r>
            <a:r>
              <a:rPr lang="en-US" altLang="zh-CN" sz="26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]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其中，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如果不选择可选项 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ALL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，则在输出总查询结果时重复的行会自动被取掉。如果选择可选项 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ALL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，则表示将全部行合并输出，也即不取掉重复行。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83"/>
    </mc:Choice>
    <mc:Fallback xmlns="">
      <p:transition spd="slow" advTm="551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1026"/>
          <p:cNvSpPr txBox="1">
            <a:spLocks noChangeArrowheads="1"/>
          </p:cNvSpPr>
          <p:nvPr/>
        </p:nvSpPr>
        <p:spPr bwMode="auto">
          <a:xfrm>
            <a:off x="381000" y="1138238"/>
            <a:ext cx="8610600" cy="366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5.42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合并学生关系和专业关系中的专业代码。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SCODE#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FROM S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UNION SELECT SCODE#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FROM SS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zh-CN" altLang="en-US" sz="14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2600" b="1">
              <a:solidFill>
                <a:srgbClr val="0066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6979" name="Rectangle 1027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30"/>
    </mc:Choice>
    <mc:Fallback xmlns="">
      <p:transition spd="slow" advTm="3923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489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查询结果的并、交、差操作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）交操作</a:t>
            </a:r>
            <a:r>
              <a:rPr lang="zh-CN" altLang="en-US" sz="2800" b="1" dirty="0">
                <a:solidFill>
                  <a:srgbClr val="006699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0066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查询结果的交操作是指将同时属于两个或多个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语句的查询结果作为总的查询结果输出。查询结果交操作的基本数据单位是行。</a:t>
            </a:r>
          </a:p>
          <a:p>
            <a:pPr algn="just">
              <a:lnSpc>
                <a:spcPct val="14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语句格式为：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FROM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表名表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[WHERE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[INTERSECT {SELECT 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 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]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28003" name="Rectangle 3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00"/>
    </mc:Choice>
    <mc:Fallback xmlns="">
      <p:transition spd="slow" advTm="369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8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8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8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28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28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28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2"/>
          <p:cNvSpPr txBox="1">
            <a:spLocks noChangeArrowheads="1"/>
          </p:cNvSpPr>
          <p:nvPr/>
        </p:nvSpPr>
        <p:spPr bwMode="auto">
          <a:xfrm>
            <a:off x="381000" y="1133475"/>
            <a:ext cx="86106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5.43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查询有成绩的学生的学号。</a:t>
            </a:r>
          </a:p>
          <a:p>
            <a:pPr algn="just">
              <a:lnSpc>
                <a:spcPct val="150000"/>
              </a:lnSpc>
              <a:spcBef>
                <a:spcPct val="4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FROM 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INTERSECT SELECT S#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FROM SC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[WHERE GRADE IS NOT NULL];</a:t>
            </a:r>
          </a:p>
        </p:txBody>
      </p:sp>
      <p:sp>
        <p:nvSpPr>
          <p:cNvPr id="141315" name="Rectangle 1027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850"/>
    </mc:Choice>
    <mc:Fallback xmlns="">
      <p:transition spd="slow" advTm="7285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381000" y="1149350"/>
            <a:ext cx="8458200" cy="477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查询结果的并、交、差操作 </a:t>
            </a:r>
          </a:p>
          <a:p>
            <a:pPr algn="just">
              <a:lnSpc>
                <a:spcPct val="12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）差操作</a:t>
            </a:r>
            <a:r>
              <a:rPr lang="zh-CN" altLang="en-US" sz="2800" b="1" dirty="0">
                <a:solidFill>
                  <a:srgbClr val="006699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0066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是指从第一个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语句的查询结果中去掉属于第二个</a:t>
            </a:r>
            <a:r>
              <a:rPr lang="en-US" altLang="zh-CN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语句查询结果的行作为总的查询结果输出。  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语句格式为：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FROM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表名表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[WHERE &lt;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[EXCEPT {SELECT 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en-US" altLang="zh-CN" sz="2600" b="1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}]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0051" name="Rectangle 3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71"/>
    </mc:Choice>
    <mc:Fallback xmlns="">
      <p:transition spd="slow" advTm="253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30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30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30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30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30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30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381000" y="1133475"/>
            <a:ext cx="86106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5.44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查询没有成绩的学生的学号。</a:t>
            </a:r>
          </a:p>
          <a:p>
            <a:pPr algn="just">
              <a:lnSpc>
                <a:spcPct val="150000"/>
              </a:lnSpc>
              <a:spcBef>
                <a:spcPct val="4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FROM 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26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EXCEPT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SELECT S#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FROM SC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[WHERE GRADE IS NOT NULL];</a:t>
            </a:r>
          </a:p>
        </p:txBody>
      </p:sp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12"/>
    </mc:Choice>
    <mc:Fallback xmlns="">
      <p:transition spd="slow" advTm="2751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4" name="Rectangle 4"/>
          <p:cNvSpPr>
            <a:spLocks noChangeArrowheads="1"/>
          </p:cNvSpPr>
          <p:nvPr/>
        </p:nvSpPr>
        <p:spPr bwMode="gray">
          <a:xfrm>
            <a:off x="755650" y="285750"/>
            <a:ext cx="7793038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Tx/>
              <a:buFontTx/>
              <a:buNone/>
            </a:pPr>
            <a:r>
              <a:rPr lang="zh-CN" altLang="en-US" sz="4000">
                <a:latin typeface="华文隶书" panose="02010800040101010101" pitchFamily="2" charset="-122"/>
                <a:ea typeface="华文隶书" panose="02010800040101010101" pitchFamily="2" charset="-122"/>
              </a:rPr>
              <a:t>本次课复习要点</a:t>
            </a:r>
          </a:p>
        </p:txBody>
      </p:sp>
      <p:sp>
        <p:nvSpPr>
          <p:cNvPr id="486405" name="Rectangle 5"/>
          <p:cNvSpPr>
            <a:spLocks noChangeArrowheads="1"/>
          </p:cNvSpPr>
          <p:nvPr/>
        </p:nvSpPr>
        <p:spPr bwMode="auto">
          <a:xfrm>
            <a:off x="466725" y="1258888"/>
            <a:ext cx="8208963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chemeClr val="hlink"/>
              </a:buClr>
              <a:buSzPct val="55000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buClr>
                <a:schemeClr val="folHlink"/>
              </a:buClr>
              <a:buSzPct val="50000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buClr>
                <a:schemeClr val="accent2"/>
              </a:buClr>
              <a:buSzPct val="55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buClr>
                <a:schemeClr val="accent1"/>
              </a:buClr>
              <a:buSzPct val="50000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US" altLang="zh-CN" sz="1000">
              <a:solidFill>
                <a:srgbClr val="990033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effectLst/>
              </a:rPr>
              <a:t>           </a:t>
            </a:r>
            <a:r>
              <a:rPr lang="zh-CN" altLang="en-US">
                <a:solidFill>
                  <a:srgbClr val="003366"/>
                </a:solidFill>
              </a:rPr>
              <a:t>聚合函数及结果的命名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 表和属性的更名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完整的</a:t>
            </a:r>
            <a:r>
              <a:rPr lang="en-US" altLang="zh-CN">
                <a:solidFill>
                  <a:srgbClr val="003366"/>
                </a:solidFill>
              </a:rPr>
              <a:t>SQL</a:t>
            </a:r>
            <a:r>
              <a:rPr lang="zh-CN" altLang="en-US">
                <a:solidFill>
                  <a:srgbClr val="003366"/>
                </a:solidFill>
              </a:rPr>
              <a:t>语句格式（分组查询）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多条件查询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嵌套查询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3366"/>
                </a:solidFill>
              </a:rPr>
              <a:t>          谓词查询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67"/>
    </mc:Choice>
    <mc:Fallback xmlns="">
      <p:transition spd="slow" advTm="183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6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6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6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6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64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64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5" name="Rectangle 5"/>
          <p:cNvSpPr>
            <a:spLocks noChangeArrowheads="1"/>
          </p:cNvSpPr>
          <p:nvPr/>
        </p:nvSpPr>
        <p:spPr bwMode="auto">
          <a:xfrm>
            <a:off x="1458913" y="2590800"/>
            <a:ext cx="623728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SzTx/>
              <a:buFontTx/>
              <a:buNone/>
            </a:pPr>
            <a:r>
              <a:rPr lang="zh-CN" altLang="en-US" sz="60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谢谢大家！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9"/>
    </mc:Choice>
    <mc:Fallback xmlns="">
      <p:transition spd="slow" advTm="160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4.3|1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5|12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7|6.8|14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15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16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1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|105.8|108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25.7|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4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1529</Words>
  <Application>Microsoft Office PowerPoint</Application>
  <PresentationFormat>全屏显示(4:3)</PresentationFormat>
  <Paragraphs>171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黑体</vt:lpstr>
      <vt:lpstr>华文隶书</vt:lpstr>
      <vt:lpstr>楷体_GB2312</vt:lpstr>
      <vt:lpstr>宋体</vt:lpstr>
      <vt:lpstr>Arial</vt:lpstr>
      <vt:lpstr>Tahoma</vt:lpstr>
      <vt:lpstr>Times New Roman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418</cp:revision>
  <cp:lastPrinted>2113-01-01T00:00:00Z</cp:lastPrinted>
  <dcterms:created xsi:type="dcterms:W3CDTF">2113-01-01T00:00:00Z</dcterms:created>
  <dcterms:modified xsi:type="dcterms:W3CDTF">2021-04-12T15:27:46Z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2052-11.3.0.8775</vt:lpwstr>
  </property>
</Properties>
</file>