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  <a:sym typeface="+mn-ea"/>
              </a:rPr>
              <a:t>内连接、外连接</a:t>
            </a:r>
            <a:endParaRPr lang="zh-CN" altLang="en-US">
              <a:solidFill>
                <a:srgbClr val="C00000"/>
              </a:solidFill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单击输入您的封面副标题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  <a:sym typeface="+mn-ea"/>
              </a:rPr>
              <a:t>内连接、外连接</a:t>
            </a:r>
            <a:endParaRPr lang="zh-CN" altLang="en-US">
              <a:solidFill>
                <a:srgbClr val="C00000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zh-CN" altLang="en-US" sz="2800"/>
              <a:t>内连接inner join</a:t>
            </a: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/>
              <a:t>外连接outer join</a:t>
            </a: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/>
              <a:t>内连接又包括等值连接，非等值连接，自连接；</a:t>
            </a:r>
            <a:r>
              <a:rPr lang="zh-CN" altLang="en-US" sz="2800">
                <a:sym typeface="+mn-ea"/>
              </a:rPr>
              <a:t>其中默认的是内连接的等值连接。</a:t>
            </a: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/>
              <a:t>而外连接又分为左连接和右连接。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C00000"/>
                </a:solidFill>
              </a:rPr>
              <a:t>不同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left join(左联接) 返回包括左表中的所有记录和右表中联结字段相等的记录 （通俗点讲就是，左边的表是老大，要显示全部内容，右边的表是小弟，只有跟老大相同的东西才显示出来，不相同的就是null）。</a:t>
            </a:r>
            <a:endParaRPr lang="zh-CN" altLang="en-US" sz="24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right join(右联接) 返回包括右表中的所有记录和左表中联结字段相等的记录（通俗点讲就是，右边的表是老大，要显示全部内容，左边的表是小弟，只有跟老大相同的东西才显示出来，不相同的就是null）。</a:t>
            </a:r>
            <a:endParaRPr lang="zh-CN" altLang="en-US" sz="24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>
                <a:sym typeface="+mn-ea"/>
              </a:rPr>
              <a:t>inner join(等值连接|全连接也叫内连接) 只返回两个表中联结字段相等的行（左右两边势均力敌，不相上下。两边都不想妥协，所以只有共同的东西才显示出来）</a:t>
            </a:r>
            <a:endParaRPr lang="zh-CN" altLang="en-US" sz="2400"/>
          </a:p>
          <a:p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C00000"/>
                </a:solidFill>
                <a:sym typeface="+mn-ea"/>
              </a:rPr>
              <a:t>1.left join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zh-CN" altLang="en-US" sz="2800"/>
              <a:t>sql语句: </a:t>
            </a: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/>
              <a:t>select * from A</a:t>
            </a: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accent5">
                    <a:lumMod val="50000"/>
                  </a:schemeClr>
                </a:solidFill>
              </a:rPr>
              <a:t>left join</a:t>
            </a:r>
            <a:r>
              <a:rPr lang="zh-CN" altLang="en-US" sz="2800"/>
              <a:t> B </a:t>
            </a: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accent5">
                    <a:lumMod val="50000"/>
                  </a:schemeClr>
                </a:solidFill>
              </a:rPr>
              <a:t>on</a:t>
            </a:r>
            <a:r>
              <a:rPr lang="zh-CN" altLang="en-US" sz="2800"/>
              <a:t> A.aID = B.bID</a:t>
            </a: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/>
              <a:t>select * from A left join B on A.aID = B.bID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C00000"/>
                </a:solidFill>
                <a:sym typeface="+mn-ea"/>
              </a:rPr>
              <a:t>left join结果如下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aID　　　　　aNum　　　　　bID　　　　　bName</a:t>
            </a:r>
            <a:endParaRPr lang="zh-CN" altLang="en-US" sz="20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1　　　　　a20050111　　　　1　　　　　2006032401</a:t>
            </a:r>
            <a:endParaRPr lang="zh-CN" altLang="en-US" sz="20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2　　　　　a20050112　　　　2　　　　　2006032402</a:t>
            </a:r>
            <a:endParaRPr lang="zh-CN" altLang="en-US" sz="20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3　　　　　a20050113　　　　3　　　　　2006032403</a:t>
            </a:r>
            <a:endParaRPr lang="zh-CN" altLang="en-US" sz="20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4　　　　　a20050114　　　　4　　　　　2006032404</a:t>
            </a:r>
            <a:endParaRPr lang="zh-CN" altLang="en-US" sz="20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5　　　　　a20050115　　　　NULL　　　　　NULL</a:t>
            </a:r>
            <a:endParaRPr lang="zh-CN" altLang="en-US" sz="20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zh-CN" altLang="en-US" sz="20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left join是以A表的记录为基础的，A可以看成左表,B可以看成右表，left join是以左表为准的。</a:t>
            </a:r>
            <a:endParaRPr lang="zh-CN" altLang="en-US" sz="20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换句话说，左表(A)的记录将会全部表示出来，而右表(B)只会显示符合搜索条件的记录(例子中为: A.aID = B.bID).</a:t>
            </a:r>
            <a:endParaRPr lang="zh-CN" altLang="en-US" sz="20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B表记录不足的地方均为NULL.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C00000"/>
                </a:solidFill>
                <a:sym typeface="+mn-ea"/>
              </a:rPr>
              <a:t>2.right join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zh-CN" altLang="en-US" sz="2800"/>
              <a:t>sql语句: </a:t>
            </a: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/>
              <a:t>select * from A</a:t>
            </a: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accent5">
                    <a:lumMod val="50000"/>
                  </a:schemeClr>
                </a:solidFill>
              </a:rPr>
              <a:t>right join</a:t>
            </a:r>
            <a:r>
              <a:rPr lang="zh-CN" altLang="en-US" sz="2800"/>
              <a:t> B </a:t>
            </a: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accent5">
                    <a:lumMod val="50000"/>
                  </a:schemeClr>
                </a:solidFill>
              </a:rPr>
              <a:t>on</a:t>
            </a:r>
            <a:r>
              <a:rPr lang="zh-CN" altLang="en-US" sz="2800"/>
              <a:t> A.aID = B.bID</a:t>
            </a: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/>
              <a:t>select * from A right join B on A.aID = B.bID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C00000"/>
                </a:solidFill>
                <a:sym typeface="+mn-ea"/>
              </a:rPr>
              <a:t>right join结果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aID　　　　　aNum　　　　　bID　　　　　bName</a:t>
            </a:r>
            <a:endParaRPr lang="zh-CN" altLang="en-US" sz="24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1　　　　　a20050111　　　　1　　　　　2006032401</a:t>
            </a:r>
            <a:endParaRPr lang="zh-CN" altLang="en-US" sz="24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2　　　　　a20050112　　　　2　　　　　2006032402</a:t>
            </a:r>
            <a:endParaRPr lang="zh-CN" altLang="en-US" sz="24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3　　　　　a20050113　　　　3　　　　　2006032403</a:t>
            </a:r>
            <a:endParaRPr lang="zh-CN" altLang="en-US" sz="24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4　　　　　a20050114　　　　4　　　　　2006032404</a:t>
            </a:r>
            <a:endParaRPr lang="zh-CN" altLang="en-US" sz="24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NULL　　　</a:t>
            </a:r>
            <a:r>
              <a:rPr lang="en-US" altLang="zh-CN" sz="2400"/>
              <a:t>   </a:t>
            </a:r>
            <a:r>
              <a:rPr lang="zh-CN" altLang="en-US" sz="2400"/>
              <a:t>　NULL　　　　</a:t>
            </a:r>
            <a:r>
              <a:rPr lang="en-US" altLang="zh-CN" sz="2400"/>
              <a:t>  </a:t>
            </a:r>
            <a:r>
              <a:rPr lang="zh-CN" altLang="en-US" sz="2400"/>
              <a:t>8　　　　　2006032408</a:t>
            </a:r>
            <a:endParaRPr lang="zh-CN" altLang="en-US" sz="24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和left join的结果刚好相反，这次是以右表(B)为基础的，A表不足的地方用NULL填充。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C00000"/>
                </a:solidFill>
                <a:sym typeface="+mn-ea"/>
              </a:rPr>
              <a:t>3.inner join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zh-CN" altLang="en-US" sz="2800"/>
              <a:t>sql语句: </a:t>
            </a: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/>
              <a:t>select * from A</a:t>
            </a: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accent5">
                    <a:lumMod val="50000"/>
                  </a:schemeClr>
                </a:solidFill>
              </a:rPr>
              <a:t>inner join</a:t>
            </a:r>
            <a:r>
              <a:rPr lang="zh-CN" altLang="en-US" sz="2800"/>
              <a:t> B </a:t>
            </a: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>
                <a:solidFill>
                  <a:schemeClr val="accent5">
                    <a:lumMod val="50000"/>
                  </a:schemeClr>
                </a:solidFill>
              </a:rPr>
              <a:t>on</a:t>
            </a:r>
            <a:r>
              <a:rPr lang="zh-CN" altLang="en-US" sz="2800"/>
              <a:t> A.aID = B.bID</a:t>
            </a: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endParaRPr lang="zh-CN" alt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/>
              <a:t>select * from A inner join B on A.aID = B.bID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C00000"/>
                </a:solidFill>
                <a:sym typeface="+mn-ea"/>
              </a:rPr>
              <a:t>inner join结果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>
              <a:buFont typeface="Arial" panose="020B0604020202020204" pitchFamily="34" charset="0"/>
              <a:buChar char="•"/>
            </a:pPr>
            <a:r>
              <a:rPr lang="zh-CN" altLang="en-US" sz="2400"/>
              <a:t>aID　　　　　aNum　　　　　bID　　　　　bName</a:t>
            </a:r>
            <a:endParaRPr lang="zh-CN" altLang="en-US" sz="24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/>
              <a:t>1　　　　　a20050111　　　　1　　　　　2006032401</a:t>
            </a:r>
            <a:endParaRPr lang="zh-CN" altLang="en-US" sz="24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/>
              <a:t>2　　　　　a20050112　　　　2　　　　　2006032402</a:t>
            </a:r>
            <a:endParaRPr lang="zh-CN" altLang="en-US" sz="24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/>
              <a:t>3　　　　　a20050113　　　　3　　　　　2006032403</a:t>
            </a:r>
            <a:endParaRPr lang="zh-CN" altLang="en-US" sz="24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/>
              <a:t>4　　　　　a20050114　　　　4　　　　　2006032404</a:t>
            </a:r>
            <a:endParaRPr lang="zh-CN" altLang="en-US" sz="2400"/>
          </a:p>
          <a:p>
            <a:pPr>
              <a:buFont typeface="Arial" panose="020B0604020202020204" pitchFamily="34" charset="0"/>
              <a:buChar char="•"/>
            </a:pPr>
            <a:endParaRPr lang="zh-CN" altLang="en-US" sz="24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/>
              <a:t>这里只显示出了 A.aID = B.bID的记录。这说明inner join并不以谁为基础，它只显示符合条件的记录。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C00000"/>
                </a:solidFill>
              </a:rPr>
              <a:t>格式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buFont typeface="Arial" panose="020B0604020202020204" pitchFamily="34" charset="0"/>
              <a:buChar char="•"/>
            </a:pPr>
            <a:r>
              <a:rPr lang="zh-CN" altLang="en-US" sz="2000"/>
              <a:t>LEFT JOIN操作用于在任何的 FROM 子句中，组合来源表的记录。使用 LEFT JOIN 运算来创建一个左边外部联接。左边外部联接将包含了从第一个（左边）开始的两个表中的全部记录，即使在第二个（右边）表中并没有相符值的记录。</a:t>
            </a:r>
            <a:endParaRPr lang="zh-CN" alt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/>
              <a:t>语法：</a:t>
            </a:r>
            <a:r>
              <a:rPr lang="zh-CN" altLang="en-US" sz="2000">
                <a:solidFill>
                  <a:srgbClr val="FF0000"/>
                </a:solidFill>
              </a:rPr>
              <a:t>FROM</a:t>
            </a:r>
            <a:r>
              <a:rPr lang="zh-CN" altLang="en-US" sz="2000"/>
              <a:t> table1 </a:t>
            </a:r>
            <a:r>
              <a:rPr lang="zh-CN" altLang="en-US" sz="2000">
                <a:solidFill>
                  <a:srgbClr val="0070C0"/>
                </a:solidFill>
              </a:rPr>
              <a:t>LEFT JOIN</a:t>
            </a:r>
            <a:r>
              <a:rPr lang="zh-CN" altLang="en-US" sz="2000"/>
              <a:t> table2 </a:t>
            </a:r>
            <a:r>
              <a:rPr lang="zh-CN" altLang="en-US" sz="200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ON</a:t>
            </a:r>
            <a:r>
              <a:rPr lang="zh-CN" altLang="en-US" sz="2000"/>
              <a:t> table1.field1 </a:t>
            </a:r>
            <a:r>
              <a:rPr lang="zh-CN" altLang="en-US" sz="200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highlight>
                  <a:srgbClr val="FFFF00"/>
                </a:highlight>
              </a:rPr>
              <a:t>compopr</a:t>
            </a:r>
            <a:r>
              <a:rPr lang="zh-CN" altLang="en-US" sz="2000"/>
              <a:t> table2.field2</a:t>
            </a:r>
            <a:endParaRPr lang="zh-CN" alt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/>
              <a:t>说明：table1, table2参数用于指定要将记录组合的表的名称。</a:t>
            </a:r>
            <a:endParaRPr lang="zh-CN" alt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/>
              <a:t>field1, field2参数指定被联接的字段的名称。且这些字段必须有相同的数据类型及包含相同类型的数据，但它们不需要有相同的名称。</a:t>
            </a:r>
            <a:endParaRPr lang="zh-CN" alt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highlight>
                  <a:srgbClr val="FFFF00"/>
                </a:highlight>
              </a:rPr>
              <a:t>compopr</a:t>
            </a:r>
            <a:r>
              <a:rPr lang="zh-CN" altLang="en-US" sz="2000"/>
              <a:t>参数指定关系比较运算符："="， "&lt;"， "&gt;"， "&lt;="， "&gt;=" 或 "&lt;&gt;"。</a:t>
            </a:r>
            <a:endParaRPr lang="zh-CN" alt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/>
              <a:t>如果在INNER JOIN操作中要联接包含Memo 数据类型或 OLE Object 数据类型数据的字段，将会发生错误。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1962</Words>
  <Application>WPS 演示</Application>
  <PresentationFormat>宽屏</PresentationFormat>
  <Paragraphs>92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内连接、外连接</vt:lpstr>
      <vt:lpstr>内连接、外连接</vt:lpstr>
      <vt:lpstr>不同</vt:lpstr>
      <vt:lpstr>1.left join</vt:lpstr>
      <vt:lpstr>left join结果如下</vt:lpstr>
      <vt:lpstr>2.right join</vt:lpstr>
      <vt:lpstr>right join结果</vt:lpstr>
      <vt:lpstr>3.inner join</vt:lpstr>
      <vt:lpstr>inner join结果</vt:lpstr>
      <vt:lpstr>格式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mach</dc:creator>
  <cp:lastModifiedBy>冰河时代</cp:lastModifiedBy>
  <cp:revision>153</cp:revision>
  <dcterms:created xsi:type="dcterms:W3CDTF">2019-06-19T02:08:00Z</dcterms:created>
  <dcterms:modified xsi:type="dcterms:W3CDTF">2022-04-12T03:12:03Z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6D1A7DBAA2344ED1A54818D6A395B834</vt:lpwstr>
  </property>
</Properties>
</file>