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499" r:id="rId2"/>
    <p:sldId id="500" r:id="rId3"/>
    <p:sldId id="512" r:id="rId4"/>
    <p:sldId id="513" r:id="rId5"/>
    <p:sldId id="515" r:id="rId6"/>
    <p:sldId id="504" r:id="rId7"/>
    <p:sldId id="505" r:id="rId8"/>
    <p:sldId id="516" r:id="rId9"/>
    <p:sldId id="506" r:id="rId10"/>
    <p:sldId id="507" r:id="rId11"/>
    <p:sldId id="508" r:id="rId12"/>
    <p:sldId id="509" r:id="rId13"/>
    <p:sldId id="518" r:id="rId14"/>
    <p:sldId id="510" r:id="rId15"/>
    <p:sldId id="511" r:id="rId16"/>
    <p:sldId id="519" r:id="rId17"/>
    <p:sldId id="521" r:id="rId18"/>
    <p:sldId id="520" r:id="rId19"/>
    <p:sldId id="522" r:id="rId20"/>
    <p:sldId id="523" r:id="rId21"/>
    <p:sldId id="524" r:id="rId22"/>
    <p:sldId id="525" r:id="rId23"/>
    <p:sldId id="526" r:id="rId24"/>
    <p:sldId id="529" r:id="rId25"/>
    <p:sldId id="527" r:id="rId26"/>
    <p:sldId id="528" r:id="rId27"/>
    <p:sldId id="530" r:id="rId28"/>
    <p:sldId id="531" r:id="rId29"/>
    <p:sldId id="497" r:id="rId30"/>
    <p:sldId id="438" r:id="rId31"/>
  </p:sldIdLst>
  <p:sldSz cx="9144000" cy="6858000" type="screen4x3"/>
  <p:notesSz cx="6858000" cy="9144000"/>
  <p:defaultTextStyle>
    <a:defPPr>
      <a:defRPr lang="zh-CN"/>
    </a:defPPr>
    <a:lvl1pPr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20000"/>
      </a:spcBef>
      <a:spcAft>
        <a:spcPct val="0"/>
      </a:spcAft>
      <a:buSzPct val="100000"/>
      <a:buFont typeface="Wingdings" panose="05000000000000000000" pitchFamily="2" charset="2"/>
      <a:buChar char="•"/>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660033"/>
    <a:srgbClr val="003300"/>
    <a:srgbClr val="0066CC"/>
    <a:srgbClr val="000066"/>
    <a:srgbClr val="003366"/>
    <a:srgbClr val="006699"/>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62" autoAdjust="0"/>
    <p:restoredTop sz="94660"/>
  </p:normalViewPr>
  <p:slideViewPr>
    <p:cSldViewPr>
      <p:cViewPr varScale="1">
        <p:scale>
          <a:sx n="125" d="100"/>
          <a:sy n="125" d="100"/>
        </p:scale>
        <p:origin x="1668"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45442" name="Group 2">
            <a:extLst>
              <a:ext uri="{FF2B5EF4-FFF2-40B4-BE49-F238E27FC236}">
                <a16:creationId xmlns:a16="http://schemas.microsoft.com/office/drawing/2014/main" id="{7BDD3404-FB1A-46CE-AC34-7771ACA680F4}"/>
              </a:ext>
            </a:extLst>
          </p:cNvPr>
          <p:cNvGrpSpPr>
            <a:grpSpLocks/>
          </p:cNvGrpSpPr>
          <p:nvPr/>
        </p:nvGrpSpPr>
        <p:grpSpPr bwMode="auto">
          <a:xfrm>
            <a:off x="0" y="1819275"/>
            <a:ext cx="9009063" cy="1052513"/>
            <a:chOff x="0" y="1536"/>
            <a:chExt cx="5675" cy="663"/>
          </a:xfrm>
        </p:grpSpPr>
        <p:grpSp>
          <p:nvGrpSpPr>
            <p:cNvPr id="445443" name="Group 3">
              <a:extLst>
                <a:ext uri="{FF2B5EF4-FFF2-40B4-BE49-F238E27FC236}">
                  <a16:creationId xmlns:a16="http://schemas.microsoft.com/office/drawing/2014/main" id="{A223B7BE-79F6-4FDC-A0C3-571688F69D2A}"/>
                </a:ext>
              </a:extLst>
            </p:cNvPr>
            <p:cNvGrpSpPr>
              <a:grpSpLocks/>
            </p:cNvGrpSpPr>
            <p:nvPr/>
          </p:nvGrpSpPr>
          <p:grpSpPr bwMode="auto">
            <a:xfrm>
              <a:off x="183" y="1604"/>
              <a:ext cx="448" cy="299"/>
              <a:chOff x="720" y="336"/>
              <a:chExt cx="624" cy="432"/>
            </a:xfrm>
          </p:grpSpPr>
          <p:sp>
            <p:nvSpPr>
              <p:cNvPr id="445444" name="Rectangle 4">
                <a:extLst>
                  <a:ext uri="{FF2B5EF4-FFF2-40B4-BE49-F238E27FC236}">
                    <a16:creationId xmlns:a16="http://schemas.microsoft.com/office/drawing/2014/main" id="{848B69F3-CCFD-4127-9F42-DFE7E7E8D37D}"/>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45" name="Rectangle 5">
                <a:extLst>
                  <a:ext uri="{FF2B5EF4-FFF2-40B4-BE49-F238E27FC236}">
                    <a16:creationId xmlns:a16="http://schemas.microsoft.com/office/drawing/2014/main" id="{6375EA52-C8D5-4E98-A521-5BA13AD74F8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5446" name="Group 6">
              <a:extLst>
                <a:ext uri="{FF2B5EF4-FFF2-40B4-BE49-F238E27FC236}">
                  <a16:creationId xmlns:a16="http://schemas.microsoft.com/office/drawing/2014/main" id="{4DBC0907-ED72-419B-B95A-9B268B63EC53}"/>
                </a:ext>
              </a:extLst>
            </p:cNvPr>
            <p:cNvGrpSpPr>
              <a:grpSpLocks/>
            </p:cNvGrpSpPr>
            <p:nvPr/>
          </p:nvGrpSpPr>
          <p:grpSpPr bwMode="auto">
            <a:xfrm>
              <a:off x="261" y="1870"/>
              <a:ext cx="465" cy="299"/>
              <a:chOff x="912" y="2640"/>
              <a:chExt cx="672" cy="432"/>
            </a:xfrm>
          </p:grpSpPr>
          <p:sp>
            <p:nvSpPr>
              <p:cNvPr id="445447" name="Rectangle 7">
                <a:extLst>
                  <a:ext uri="{FF2B5EF4-FFF2-40B4-BE49-F238E27FC236}">
                    <a16:creationId xmlns:a16="http://schemas.microsoft.com/office/drawing/2014/main" id="{1DAC6B63-A731-465E-BAD2-460974E6D23C}"/>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48" name="Rectangle 8">
                <a:extLst>
                  <a:ext uri="{FF2B5EF4-FFF2-40B4-BE49-F238E27FC236}">
                    <a16:creationId xmlns:a16="http://schemas.microsoft.com/office/drawing/2014/main" id="{107AD833-69BB-4777-B28F-3C394974DEFE}"/>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5449" name="Rectangle 9">
              <a:extLst>
                <a:ext uri="{FF2B5EF4-FFF2-40B4-BE49-F238E27FC236}">
                  <a16:creationId xmlns:a16="http://schemas.microsoft.com/office/drawing/2014/main" id="{73201F48-2F54-467D-A11F-DA1D6BCC0D87}"/>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50" name="Rectangle 10">
              <a:extLst>
                <a:ext uri="{FF2B5EF4-FFF2-40B4-BE49-F238E27FC236}">
                  <a16:creationId xmlns:a16="http://schemas.microsoft.com/office/drawing/2014/main" id="{9C9238AE-E1B2-44EA-9375-0A714F3FD15F}"/>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51" name="Rectangle 11">
              <a:extLst>
                <a:ext uri="{FF2B5EF4-FFF2-40B4-BE49-F238E27FC236}">
                  <a16:creationId xmlns:a16="http://schemas.microsoft.com/office/drawing/2014/main" id="{E078B1FE-BC18-4283-A78F-94D6D1344C0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5452" name="Rectangle 12">
            <a:extLst>
              <a:ext uri="{FF2B5EF4-FFF2-40B4-BE49-F238E27FC236}">
                <a16:creationId xmlns:a16="http://schemas.microsoft.com/office/drawing/2014/main" id="{4A20AFCE-E41F-45D0-8BAC-37719EDBB5C6}"/>
              </a:ext>
            </a:extLst>
          </p:cNvPr>
          <p:cNvSpPr>
            <a:spLocks noGrp="1" noChangeArrowheads="1"/>
          </p:cNvSpPr>
          <p:nvPr>
            <p:ph type="ctrTitle"/>
          </p:nvPr>
        </p:nvSpPr>
        <p:spPr>
          <a:xfrm>
            <a:off x="827088" y="1268413"/>
            <a:ext cx="8137525" cy="1462087"/>
          </a:xfrm>
        </p:spPr>
        <p:txBody>
          <a:bodyPr/>
          <a:lstStyle>
            <a:lvl1pPr algn="ctr">
              <a:defRPr sz="4800">
                <a:ea typeface="隶书" panose="02010509060101010101" pitchFamily="49" charset="-122"/>
              </a:defRPr>
            </a:lvl1pPr>
          </a:lstStyle>
          <a:p>
            <a:pPr lvl="0"/>
            <a:r>
              <a:rPr lang="zh-CN" altLang="en-US" noProof="0"/>
              <a:t>单击此处编辑母版标题样式</a:t>
            </a:r>
          </a:p>
        </p:txBody>
      </p:sp>
      <p:sp>
        <p:nvSpPr>
          <p:cNvPr id="445453" name="Rectangle 13">
            <a:extLst>
              <a:ext uri="{FF2B5EF4-FFF2-40B4-BE49-F238E27FC236}">
                <a16:creationId xmlns:a16="http://schemas.microsoft.com/office/drawing/2014/main" id="{31D36F34-872B-487C-B4A5-91FFD003D383}"/>
              </a:ext>
            </a:extLst>
          </p:cNvPr>
          <p:cNvSpPr>
            <a:spLocks noGrp="1" noChangeArrowheads="1"/>
          </p:cNvSpPr>
          <p:nvPr>
            <p:ph type="subTitle" idx="1"/>
          </p:nvPr>
        </p:nvSpPr>
        <p:spPr>
          <a:xfrm>
            <a:off x="1371600" y="3886200"/>
            <a:ext cx="6400800" cy="1752600"/>
          </a:xfrm>
        </p:spPr>
        <p:txBody>
          <a:bodyPr/>
          <a:lstStyle>
            <a:lvl1pPr marL="0" indent="0" algn="ctr">
              <a:defRPr/>
            </a:lvl1pPr>
          </a:lstStyle>
          <a:p>
            <a:pPr lvl="0"/>
            <a:r>
              <a:rPr lang="zh-CN" altLang="en-US" noProof="0"/>
              <a:t>单击此处编辑母版副标题样式</a:t>
            </a:r>
          </a:p>
        </p:txBody>
      </p:sp>
      <p:sp>
        <p:nvSpPr>
          <p:cNvPr id="445454" name="Rectangle 14">
            <a:extLst>
              <a:ext uri="{FF2B5EF4-FFF2-40B4-BE49-F238E27FC236}">
                <a16:creationId xmlns:a16="http://schemas.microsoft.com/office/drawing/2014/main" id="{8733B0AA-6ED1-4B82-8DF1-970D7EB25ACF}"/>
              </a:ext>
            </a:extLst>
          </p:cNvPr>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p>
        </p:txBody>
      </p:sp>
      <p:sp>
        <p:nvSpPr>
          <p:cNvPr id="445455" name="Rectangle 15">
            <a:extLst>
              <a:ext uri="{FF2B5EF4-FFF2-40B4-BE49-F238E27FC236}">
                <a16:creationId xmlns:a16="http://schemas.microsoft.com/office/drawing/2014/main" id="{DE25A244-CBB3-480C-960C-04C547C5549A}"/>
              </a:ext>
            </a:extLst>
          </p:cNvPr>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
        <p:nvSpPr>
          <p:cNvPr id="445456" name="Rectangle 16">
            <a:extLst>
              <a:ext uri="{FF2B5EF4-FFF2-40B4-BE49-F238E27FC236}">
                <a16:creationId xmlns:a16="http://schemas.microsoft.com/office/drawing/2014/main" id="{3FD78D4A-8E85-4B03-B891-8B9A7FFA6AF6}"/>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445452"/>
                                        </p:tgtEl>
                                        <p:attrNameLst>
                                          <p:attrName>style.visibility</p:attrName>
                                        </p:attrNameLst>
                                      </p:cBhvr>
                                      <p:to>
                                        <p:strVal val="visible"/>
                                      </p:to>
                                    </p:set>
                                    <p:animEffect transition="in" filter="plus(in)">
                                      <p:cBhvr>
                                        <p:cTn id="7" dur="1000"/>
                                        <p:tgtEl>
                                          <p:spTgt spid="445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52"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10783-C448-4C43-B4AF-0FAF49AA1E1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9E0EAFE-490B-460F-B8F7-76E6C401729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D8EC78-3CD2-413C-9DEA-8DF82B63886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6014873-60D5-4002-B4D4-5201AB3D974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3E8127D-A6E2-4A9B-8D92-AF396C7A2E81}"/>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1711906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5E4F28-8696-4D65-9396-489808742243}"/>
              </a:ext>
            </a:extLst>
          </p:cNvPr>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DA301F2-349B-47B8-A651-1E9CF2CBC1C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A61BB2-DF81-4992-8F72-95ADCCDC8DC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75555C4-EE4D-4999-8E57-CADDC143066E}"/>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2BA0F78-F19D-4A10-BA6C-1EE8046237B3}"/>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3117823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485DB2-ABFA-4238-9369-421B5D55B15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44B7DB4-2ED4-4B08-846D-9EA8A37A2D7A}"/>
              </a:ext>
            </a:extLst>
          </p:cNvPr>
          <p:cNvSpPr>
            <a:spLocks noGrp="1"/>
          </p:cNvSpPr>
          <p:nvPr>
            <p:ph sz="half" idx="1"/>
          </p:nvPr>
        </p:nvSpPr>
        <p:spPr>
          <a:xfrm>
            <a:off x="611188" y="1258888"/>
            <a:ext cx="3919537"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03106DE-EBA1-4A31-885A-21C54A280391}"/>
              </a:ext>
            </a:extLst>
          </p:cNvPr>
          <p:cNvSpPr>
            <a:spLocks noGrp="1"/>
          </p:cNvSpPr>
          <p:nvPr>
            <p:ph sz="half" idx="2"/>
          </p:nvPr>
        </p:nvSpPr>
        <p:spPr>
          <a:xfrm>
            <a:off x="4683125" y="1258888"/>
            <a:ext cx="3921125" cy="53387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945C432-B4F9-4982-9B2B-ECA00A65DDE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F66B6300-B260-432A-84D7-9ED5E8DACFFE}"/>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915626D7-6D2D-4D57-B164-CC7D97F975C4}"/>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1030149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F8BB80-14C8-4528-95BE-3A2FCB97E8B8}"/>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248BDB0-ADAB-40E8-82ED-6D1F658205A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DFD50FB-7511-40FB-8386-A979DAC6554B}"/>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3550DD1-35D9-4C1D-BF52-15548149553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1212797-7B75-43FD-A930-B0A0A846677A}"/>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943F1A-5D6D-4496-8590-074691FAF5E3}"/>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AF890ADB-A872-4793-A132-29EBB65C0237}"/>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F34AC465-9527-4436-B315-67738E8D3AA4}"/>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77800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3B8384-47A7-4D96-92D2-AEED1BE84D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7B2B6A-0C9A-43BF-A9B3-C06158D8854C}"/>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9682C467-3358-4D5F-B4C0-B94D61AC00A3}"/>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31B34236-4F85-454E-93A9-39696C9F42F5}"/>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567377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03BD73-AB30-486E-A240-C893C14A0840}"/>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3E6381A6-CA2E-41D6-8147-54FA1441AA7A}"/>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F425290B-4CA6-4A2C-BC06-5AA4BAB0235E}"/>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58667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6C6165-97AC-4B65-ADBE-CC0E996C76D0}"/>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0CBF285-E4A1-44D1-A7B7-66EA802789C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D0F19D9-A6E8-4425-BEF3-104A002C114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5255B4-F177-4047-A769-F332B56F47F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C9821565-9EA0-4B04-9EF3-B70AEFD5EBD4}"/>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9FB1C9B7-F45B-4E67-8D8B-29F9428FFDA5}"/>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1878412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62668C-2D25-4BA6-9717-3C1DB46E93FE}"/>
              </a:ext>
            </a:extLst>
          </p:cNvPr>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C6420DA-2E2E-49D0-B3F1-35BD0D17770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1873715-518D-4365-AB52-E5FAE516D6C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ED5888-1F5C-4495-BF38-0591A025262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1C8765D8-BC9D-48C6-AC76-A7EF896D64F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E1E959B-5FD8-4BD7-A96D-1384E98D8C91}"/>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332884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1005D0-21F3-451E-9D29-2BDC5602545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C5ACBAD-C1C7-4C9B-A511-893CA1FBAC9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44BC679-9E0C-42A8-9949-BE7BB9FD183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C4BEEEC-8F81-4B87-89DD-D93D6E34F3E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4F1DE9A-0E9D-4804-B4EA-1B74F58579E8}"/>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2223880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7AA4CF-5DF5-4A90-8619-0EA0BB87EF71}"/>
              </a:ext>
            </a:extLst>
          </p:cNvPr>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BD16632-8F96-45A7-B600-51C26D6C5423}"/>
              </a:ext>
            </a:extLst>
          </p:cNvPr>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826337-4565-425B-9F27-6E417519E8C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92CDDD7-E22D-46CA-95EE-72B078D2F82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C3AA77C0-AA68-4759-A0C2-9018152B0D9A}"/>
              </a:ext>
            </a:extLst>
          </p:cNvPr>
          <p:cNvSpPr>
            <a:spLocks noGrp="1"/>
          </p:cNvSpPr>
          <p:nvPr>
            <p:ph type="sldNum" sz="quarter" idx="12"/>
          </p:nvPr>
        </p:nvSpPr>
        <p:spPr/>
        <p:txBody>
          <a:bodyPr/>
          <a:lstStyle>
            <a:lvl1pPr>
              <a:defRPr/>
            </a:lvl1pPr>
          </a:lstStyle>
          <a:p>
            <a:endParaRPr lang="zh-CN" altLang="zh-CN"/>
          </a:p>
        </p:txBody>
      </p:sp>
    </p:spTree>
    <p:extLst>
      <p:ext uri="{BB962C8B-B14F-4D97-AF65-F5344CB8AC3E}">
        <p14:creationId xmlns:p14="http://schemas.microsoft.com/office/powerpoint/2010/main" val="3189313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44418" name="Rectangle 2">
            <a:extLst>
              <a:ext uri="{FF2B5EF4-FFF2-40B4-BE49-F238E27FC236}">
                <a16:creationId xmlns:a16="http://schemas.microsoft.com/office/drawing/2014/main" id="{10448FDF-8A94-49D8-801C-FD9F1DA46FD3}"/>
              </a:ext>
            </a:extLst>
          </p:cNvPr>
          <p:cNvSpPr>
            <a:spLocks noChangeArrowheads="1"/>
          </p:cNvSpPr>
          <p:nvPr/>
        </p:nvSpPr>
        <p:spPr bwMode="ltGray">
          <a:xfrm>
            <a:off x="417513" y="25241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19" name="Rectangle 3">
            <a:extLst>
              <a:ext uri="{FF2B5EF4-FFF2-40B4-BE49-F238E27FC236}">
                <a16:creationId xmlns:a16="http://schemas.microsoft.com/office/drawing/2014/main" id="{322C429C-25D7-4A1C-B5F9-E050277A64F6}"/>
              </a:ext>
            </a:extLst>
          </p:cNvPr>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0" name="Rectangle 4">
            <a:extLst>
              <a:ext uri="{FF2B5EF4-FFF2-40B4-BE49-F238E27FC236}">
                <a16:creationId xmlns:a16="http://schemas.microsoft.com/office/drawing/2014/main" id="{B8E120BC-C900-4663-9220-E91236F17E48}"/>
              </a:ext>
            </a:extLst>
          </p:cNvPr>
          <p:cNvSpPr>
            <a:spLocks noChangeArrowheads="1"/>
          </p:cNvSpPr>
          <p:nvPr/>
        </p:nvSpPr>
        <p:spPr bwMode="ltGray">
          <a:xfrm>
            <a:off x="541338" y="67468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1" name="Rectangle 5">
            <a:extLst>
              <a:ext uri="{FF2B5EF4-FFF2-40B4-BE49-F238E27FC236}">
                <a16:creationId xmlns:a16="http://schemas.microsoft.com/office/drawing/2014/main" id="{80A01A8B-7CDF-424C-8600-6F86688D2E3D}"/>
              </a:ext>
            </a:extLst>
          </p:cNvPr>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2" name="Rectangle 6">
            <a:extLst>
              <a:ext uri="{FF2B5EF4-FFF2-40B4-BE49-F238E27FC236}">
                <a16:creationId xmlns:a16="http://schemas.microsoft.com/office/drawing/2014/main" id="{7F5412B0-D682-4811-BA20-1BC3DCAD224D}"/>
              </a:ext>
            </a:extLst>
          </p:cNvPr>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3" name="Rectangle 7">
            <a:extLst>
              <a:ext uri="{FF2B5EF4-FFF2-40B4-BE49-F238E27FC236}">
                <a16:creationId xmlns:a16="http://schemas.microsoft.com/office/drawing/2014/main" id="{D84C430A-4C6B-4D48-9A68-976F759C3C64}"/>
              </a:ext>
            </a:extLst>
          </p:cNvPr>
          <p:cNvSpPr>
            <a:spLocks noChangeArrowheads="1"/>
          </p:cNvSpPr>
          <p:nvPr/>
        </p:nvSpPr>
        <p:spPr bwMode="gray">
          <a:xfrm>
            <a:off x="762000" y="14446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4" name="Rectangle 8">
            <a:extLst>
              <a:ext uri="{FF2B5EF4-FFF2-40B4-BE49-F238E27FC236}">
                <a16:creationId xmlns:a16="http://schemas.microsoft.com/office/drawing/2014/main" id="{6FCDF61D-51B4-44E1-AD42-4F475FA66FF4}"/>
              </a:ext>
            </a:extLst>
          </p:cNvPr>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SzTx/>
              <a:buFontTx/>
              <a:buNone/>
            </a:pPr>
            <a:endParaRPr kumimoji="1" lang="zh-CN" altLang="zh-CN" sz="2400">
              <a:latin typeface="Tahoma" panose="020B0604030504040204" pitchFamily="34" charset="0"/>
            </a:endParaRPr>
          </a:p>
        </p:txBody>
      </p:sp>
      <p:sp>
        <p:nvSpPr>
          <p:cNvPr id="444425" name="Rectangle 9">
            <a:extLst>
              <a:ext uri="{FF2B5EF4-FFF2-40B4-BE49-F238E27FC236}">
                <a16:creationId xmlns:a16="http://schemas.microsoft.com/office/drawing/2014/main" id="{2F854101-8CAE-4DA1-971E-78A0106F7F3E}"/>
              </a:ext>
            </a:extLst>
          </p:cNvPr>
          <p:cNvSpPr>
            <a:spLocks noGrp="1" noChangeArrowheads="1"/>
          </p:cNvSpPr>
          <p:nvPr>
            <p:ph type="title"/>
          </p:nvPr>
        </p:nvSpPr>
        <p:spPr bwMode="auto">
          <a:xfrm>
            <a:off x="1150938" y="214313"/>
            <a:ext cx="7793037"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444426" name="Rectangle 10">
            <a:extLst>
              <a:ext uri="{FF2B5EF4-FFF2-40B4-BE49-F238E27FC236}">
                <a16:creationId xmlns:a16="http://schemas.microsoft.com/office/drawing/2014/main" id="{12A87269-D776-4578-AB3E-EE3E419B52F2}"/>
              </a:ext>
            </a:extLst>
          </p:cNvPr>
          <p:cNvSpPr>
            <a:spLocks noGrp="1" noChangeArrowheads="1"/>
          </p:cNvSpPr>
          <p:nvPr>
            <p:ph type="body" idx="1"/>
          </p:nvPr>
        </p:nvSpPr>
        <p:spPr bwMode="auto">
          <a:xfrm>
            <a:off x="611188" y="1258888"/>
            <a:ext cx="7993062"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44427" name="Rectangle 11">
            <a:extLst>
              <a:ext uri="{FF2B5EF4-FFF2-40B4-BE49-F238E27FC236}">
                <a16:creationId xmlns:a16="http://schemas.microsoft.com/office/drawing/2014/main" id="{2DBAB0F5-CA0D-4786-AB28-0A4B996F4141}"/>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SzTx/>
              <a:buFontTx/>
              <a:buNone/>
              <a:defRPr sz="1400">
                <a:latin typeface="+mn-lt"/>
              </a:defRPr>
            </a:lvl1pPr>
          </a:lstStyle>
          <a:p>
            <a:endParaRPr lang="en-US" altLang="zh-CN"/>
          </a:p>
        </p:txBody>
      </p:sp>
      <p:sp>
        <p:nvSpPr>
          <p:cNvPr id="444428" name="Rectangle 12">
            <a:extLst>
              <a:ext uri="{FF2B5EF4-FFF2-40B4-BE49-F238E27FC236}">
                <a16:creationId xmlns:a16="http://schemas.microsoft.com/office/drawing/2014/main" id="{FA4069AC-E93B-4C9F-92C9-47F6018E0A1A}"/>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SzTx/>
              <a:buFontTx/>
              <a:buNone/>
              <a:defRPr sz="1400">
                <a:latin typeface="+mn-lt"/>
              </a:defRPr>
            </a:lvl1pPr>
          </a:lstStyle>
          <a:p>
            <a:endParaRPr lang="en-US" altLang="zh-CN"/>
          </a:p>
        </p:txBody>
      </p:sp>
      <p:sp>
        <p:nvSpPr>
          <p:cNvPr id="444429" name="Rectangle 13">
            <a:extLst>
              <a:ext uri="{FF2B5EF4-FFF2-40B4-BE49-F238E27FC236}">
                <a16:creationId xmlns:a16="http://schemas.microsoft.com/office/drawing/2014/main" id="{B54C46A1-A754-4BCB-9BA7-38ECBE3A6826}"/>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SzTx/>
              <a:buFontTx/>
              <a:buNone/>
              <a:defRPr sz="1400">
                <a:latin typeface="+mn-lt"/>
              </a:defRPr>
            </a:lvl1pPr>
          </a:lstStyle>
          <a:p>
            <a:endParaRPr lang="zh-CN"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rtl="0" fontAlgn="base">
        <a:spcBef>
          <a:spcPct val="0"/>
        </a:spcBef>
        <a:spcAft>
          <a:spcPct val="0"/>
        </a:spcAft>
        <a:defRPr sz="3600" b="1" kern="1200">
          <a:solidFill>
            <a:schemeClr val="tx2"/>
          </a:solidFill>
          <a:effectLst>
            <a:outerShdw blurRad="38100" dist="38100" dir="2700000" algn="tl">
              <a:srgbClr val="C0C0C0"/>
            </a:outerShdw>
          </a:effectLst>
          <a:latin typeface="+mj-lt"/>
          <a:ea typeface="+mj-ea"/>
          <a:cs typeface="+mj-cs"/>
        </a:defRPr>
      </a:lvl1pPr>
      <a:lvl2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p:titleStyle>
    <p:bodyStyle>
      <a:lvl1pPr marL="342900" indent="-342900" algn="l" rtl="0" fontAlgn="base">
        <a:lnSpc>
          <a:spcPct val="120000"/>
        </a:lnSpc>
        <a:spcBef>
          <a:spcPct val="20000"/>
        </a:spcBef>
        <a:spcAft>
          <a:spcPct val="0"/>
        </a:spcAft>
        <a:buClr>
          <a:schemeClr val="folHlink"/>
        </a:buClr>
        <a:buSzPct val="60000"/>
        <a:buFont typeface="Wingdings" panose="05000000000000000000" pitchFamily="2" charset="2"/>
        <a:defRPr sz="2800" b="1" kern="1200">
          <a:solidFill>
            <a:schemeClr val="tx1"/>
          </a:solidFill>
          <a:effectLst>
            <a:outerShdw blurRad="38100" dist="38100" dir="2700000" algn="tl">
              <a:srgbClr val="C0C0C0"/>
            </a:outerShdw>
          </a:effectLst>
          <a:latin typeface="+mn-lt"/>
          <a:ea typeface="+mn-ea"/>
          <a:cs typeface="+mn-cs"/>
        </a:defRPr>
      </a:lvl1pPr>
      <a:lvl2pPr marL="742950" indent="-285750" algn="l" rtl="0" fontAlgn="base">
        <a:lnSpc>
          <a:spcPct val="120000"/>
        </a:lnSpc>
        <a:spcBef>
          <a:spcPct val="20000"/>
        </a:spcBef>
        <a:spcAft>
          <a:spcPct val="0"/>
        </a:spcAft>
        <a:buClr>
          <a:schemeClr val="hlink"/>
        </a:buClr>
        <a:buSzPct val="55000"/>
        <a:buFont typeface="Wingdings" panose="05000000000000000000" pitchFamily="2" charset="2"/>
        <a:buChar char="n"/>
        <a:defRPr sz="2800" b="1" kern="1200">
          <a:solidFill>
            <a:schemeClr val="tx1"/>
          </a:solidFill>
          <a:effectLst>
            <a:outerShdw blurRad="38100" dist="38100" dir="2700000" algn="tl">
              <a:srgbClr val="C0C0C0"/>
            </a:outerShdw>
          </a:effectLst>
          <a:latin typeface="+mn-lt"/>
          <a:ea typeface="+mn-ea"/>
          <a:cs typeface="+mn-cs"/>
        </a:defRPr>
      </a:lvl2pPr>
      <a:lvl3pPr marL="1143000" indent="-228600" algn="l" rtl="0" fontAlgn="base">
        <a:lnSpc>
          <a:spcPct val="120000"/>
        </a:lnSpc>
        <a:spcBef>
          <a:spcPct val="20000"/>
        </a:spcBef>
        <a:spcAft>
          <a:spcPct val="0"/>
        </a:spcAft>
        <a:buClr>
          <a:schemeClr val="folHlink"/>
        </a:buClr>
        <a:buSzPct val="50000"/>
        <a:buFont typeface="Wingdings" panose="05000000000000000000" pitchFamily="2" charset="2"/>
        <a:buChar char="n"/>
        <a:defRPr sz="2400" b="1" kern="1200">
          <a:solidFill>
            <a:schemeClr val="tx1"/>
          </a:solidFill>
          <a:effectLst>
            <a:outerShdw blurRad="38100" dist="38100" dir="2700000" algn="tl">
              <a:srgbClr val="C0C0C0"/>
            </a:outerShdw>
          </a:effectLst>
          <a:latin typeface="+mn-lt"/>
          <a:ea typeface="+mn-ea"/>
          <a:cs typeface="+mn-cs"/>
        </a:defRPr>
      </a:lvl3pPr>
      <a:lvl4pPr marL="1600200" indent="-228600" algn="l" rtl="0" fontAlgn="base">
        <a:lnSpc>
          <a:spcPct val="120000"/>
        </a:lnSpc>
        <a:spcBef>
          <a:spcPct val="20000"/>
        </a:spcBef>
        <a:spcAft>
          <a:spcPct val="0"/>
        </a:spcAft>
        <a:buClr>
          <a:schemeClr val="accent2"/>
        </a:buClr>
        <a:buSzPct val="55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4pPr>
      <a:lvl5pPr marL="2057400" indent="-228600" algn="l" rtl="0" fontAlgn="base">
        <a:lnSpc>
          <a:spcPct val="120000"/>
        </a:lnSpc>
        <a:spcBef>
          <a:spcPct val="20000"/>
        </a:spcBef>
        <a:spcAft>
          <a:spcPct val="0"/>
        </a:spcAft>
        <a:buClr>
          <a:schemeClr val="accent1"/>
        </a:buClr>
        <a:buSzPct val="50000"/>
        <a:buFont typeface="Wingdings" panose="05000000000000000000" pitchFamily="2" charset="2"/>
        <a:buChar char="n"/>
        <a:defRPr sz="2000" b="1" kern="1200">
          <a:solidFill>
            <a:schemeClr val="tx1"/>
          </a:solidFill>
          <a:effectLst>
            <a:outerShdw blurRad="38100" dist="38100" dir="2700000" algn="tl">
              <a:srgbClr val="C0C0C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a:extLst>
              <a:ext uri="{FF2B5EF4-FFF2-40B4-BE49-F238E27FC236}">
                <a16:creationId xmlns:a16="http://schemas.microsoft.com/office/drawing/2014/main" id="{3F8142CC-3011-4391-970B-D2B1BD20D85D}"/>
              </a:ext>
            </a:extLst>
          </p:cNvPr>
          <p:cNvSpPr>
            <a:spLocks noChangeArrowheads="1"/>
          </p:cNvSpPr>
          <p:nvPr/>
        </p:nvSpPr>
        <p:spPr bwMode="auto">
          <a:xfrm>
            <a:off x="71438" y="73025"/>
            <a:ext cx="4424362" cy="544513"/>
          </a:xfrm>
          <a:prstGeom prst="rect">
            <a:avLst/>
          </a:prstGeom>
          <a:gradFill rotWithShape="1">
            <a:gsLst>
              <a:gs pos="0">
                <a:srgbClr val="C0C0C0"/>
              </a:gs>
              <a:gs pos="100000">
                <a:srgbClr val="C0C0C0">
                  <a:gamma/>
                  <a:tint val="0"/>
                  <a:invGamma/>
                </a:srgbClr>
              </a:gs>
            </a:gsLst>
            <a:path path="shape">
              <a:fillToRect l="50000" t="50000" r="50000" b="50000"/>
            </a:path>
          </a:gra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2000" anchor="ctr" anchorCtr="1">
            <a:spAutoFit/>
          </a:bodyPr>
          <a:lstStyle/>
          <a:p>
            <a:pPr>
              <a:spcBef>
                <a:spcPct val="0"/>
              </a:spcBef>
              <a:buSzTx/>
              <a:buFontTx/>
              <a:buNone/>
            </a:pPr>
            <a:r>
              <a:rPr lang="zh-CN" altLang="en-US" sz="2600" b="1">
                <a:solidFill>
                  <a:srgbClr val="993300"/>
                </a:solidFill>
                <a:effectLst>
                  <a:outerShdw blurRad="38100" dist="38100" dir="2700000" algn="tl">
                    <a:srgbClr val="000000"/>
                  </a:outerShdw>
                </a:effectLst>
                <a:ea typeface="隶书" panose="02010509060101010101" pitchFamily="49" charset="-122"/>
              </a:rPr>
              <a:t>第</a:t>
            </a:r>
            <a:r>
              <a:rPr lang="en-US" altLang="zh-CN" sz="2600" b="1">
                <a:solidFill>
                  <a:srgbClr val="993300"/>
                </a:solidFill>
                <a:effectLst>
                  <a:outerShdw blurRad="38100" dist="38100" dir="2700000" algn="tl">
                    <a:srgbClr val="000000"/>
                  </a:outerShdw>
                </a:effectLst>
                <a:ea typeface="隶书" panose="02010509060101010101" pitchFamily="49" charset="-122"/>
              </a:rPr>
              <a:t>5</a:t>
            </a:r>
            <a:r>
              <a:rPr lang="zh-CN" altLang="en-US" sz="2600" b="1">
                <a:solidFill>
                  <a:srgbClr val="993300"/>
                </a:solidFill>
                <a:effectLst>
                  <a:outerShdw blurRad="38100" dist="38100" dir="2700000" algn="tl">
                    <a:srgbClr val="000000"/>
                  </a:outerShdw>
                </a:effectLst>
                <a:ea typeface="隶书" panose="02010509060101010101" pitchFamily="49" charset="-122"/>
              </a:rPr>
              <a:t>章 关系数据库语言</a:t>
            </a:r>
            <a:r>
              <a:rPr lang="en-US" altLang="zh-CN" sz="2600" b="1">
                <a:solidFill>
                  <a:srgbClr val="993300"/>
                </a:solidFill>
                <a:effectLst>
                  <a:outerShdw blurRad="38100" dist="38100" dir="2700000" algn="tl">
                    <a:srgbClr val="000000"/>
                  </a:outerShdw>
                </a:effectLst>
                <a:ea typeface="隶书" panose="02010509060101010101" pitchFamily="49" charset="-122"/>
              </a:rPr>
              <a:t>SQL</a:t>
            </a:r>
            <a:r>
              <a:rPr lang="en-US" altLang="zh-CN"/>
              <a:t> </a:t>
            </a:r>
          </a:p>
        </p:txBody>
      </p:sp>
      <p:sp>
        <p:nvSpPr>
          <p:cNvPr id="486403" name="Rectangle 3">
            <a:extLst>
              <a:ext uri="{FF2B5EF4-FFF2-40B4-BE49-F238E27FC236}">
                <a16:creationId xmlns:a16="http://schemas.microsoft.com/office/drawing/2014/main" id="{5F5799AF-5839-4278-8280-F9B527E25029}"/>
              </a:ext>
            </a:extLst>
          </p:cNvPr>
          <p:cNvSpPr>
            <a:spLocks noGrp="1" noChangeArrowheads="1"/>
          </p:cNvSpPr>
          <p:nvPr>
            <p:ph type="ctrTitle"/>
          </p:nvPr>
        </p:nvSpPr>
        <p:spPr>
          <a:xfrm>
            <a:off x="684213" y="1222375"/>
            <a:ext cx="8137525" cy="1462088"/>
          </a:xfrm>
          <a:noFill/>
          <a:ln/>
        </p:spPr>
        <p:txBody>
          <a:bodyPr/>
          <a:lstStyle/>
          <a:p>
            <a:r>
              <a:rPr lang="en-US" altLang="zh-CN" sz="4300"/>
              <a:t>5.6  </a:t>
            </a:r>
            <a:r>
              <a:rPr lang="zh-CN" altLang="en-US" sz="4300"/>
              <a:t>嵌入式</a:t>
            </a:r>
            <a:r>
              <a:rPr lang="en-US" altLang="zh-CN" sz="4300"/>
              <a:t>SQL</a:t>
            </a:r>
            <a:r>
              <a:rPr lang="zh-CN" altLang="en-US" sz="4300"/>
              <a:t>与游标应用</a:t>
            </a:r>
            <a:r>
              <a:rPr lang="zh-CN" altLang="en-US" sz="5400"/>
              <a:t> </a:t>
            </a:r>
          </a:p>
        </p:txBody>
      </p:sp>
    </p:spTree>
  </p:cSld>
  <p:clrMapOvr>
    <a:masterClrMapping/>
  </p:clrMapOvr>
  <mc:AlternateContent xmlns:mc="http://schemas.openxmlformats.org/markup-compatibility/2006" xmlns:p14="http://schemas.microsoft.com/office/powerpoint/2010/main">
    <mc:Choice Requires="p14">
      <p:transition spd="slow" p14:dur="2000" advTm="3654"/>
    </mc:Choice>
    <mc:Fallback xmlns="">
      <p:transition spd="slow" advTm="365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86402"/>
                                        </p:tgtEl>
                                        <p:attrNameLst>
                                          <p:attrName>style.visibility</p:attrName>
                                        </p:attrNameLst>
                                      </p:cBhvr>
                                      <p:to>
                                        <p:strVal val="visible"/>
                                      </p:to>
                                    </p:set>
                                    <p:animEffect transition="in" filter="box(out)">
                                      <p:cBhvr>
                                        <p:cTn id="7" dur="1000"/>
                                        <p:tgtEl>
                                          <p:spTgt spid="486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8" name="Rectangle 4">
            <a:extLst>
              <a:ext uri="{FF2B5EF4-FFF2-40B4-BE49-F238E27FC236}">
                <a16:creationId xmlns:a16="http://schemas.microsoft.com/office/drawing/2014/main" id="{77B3202E-35A2-4EC3-983B-A767D6AC2E4E}"/>
              </a:ext>
            </a:extLst>
          </p:cNvPr>
          <p:cNvSpPr>
            <a:spLocks noChangeArrowheads="1"/>
          </p:cNvSpPr>
          <p:nvPr/>
        </p:nvSpPr>
        <p:spPr bwMode="auto">
          <a:xfrm>
            <a:off x="468313" y="1185863"/>
            <a:ext cx="8207375"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、嵌入式</a:t>
            </a:r>
            <a:r>
              <a:rPr lang="en-US" altLang="zh-CN" sz="3000">
                <a:solidFill>
                  <a:srgbClr val="660033"/>
                </a:solidFill>
                <a:ea typeface="华文新魏" panose="02010800040101010101" pitchFamily="2" charset="-122"/>
              </a:rPr>
              <a:t>SQL</a:t>
            </a:r>
            <a:r>
              <a:rPr lang="zh-CN" altLang="en-US" sz="3000">
                <a:solidFill>
                  <a:srgbClr val="660033"/>
                </a:solidFill>
                <a:ea typeface="华文新魏" panose="02010800040101010101" pitchFamily="2" charset="-122"/>
              </a:rPr>
              <a:t>的引入</a:t>
            </a:r>
            <a:r>
              <a:rPr lang="zh-CN" altLang="en-US"/>
              <a:t> </a:t>
            </a:r>
            <a:endParaRPr lang="zh-CN" altLang="en-US" sz="3000">
              <a:solidFill>
                <a:srgbClr val="660033"/>
              </a:solidFill>
              <a:ea typeface="华文新魏" panose="02010800040101010101" pitchFamily="2" charset="-122"/>
            </a:endParaRPr>
          </a:p>
          <a:p>
            <a:pPr>
              <a:lnSpc>
                <a:spcPct val="130000"/>
              </a:lnSpc>
              <a:spcBef>
                <a:spcPct val="5000"/>
              </a:spcBef>
              <a:buFont typeface="Wingdings" panose="05000000000000000000" pitchFamily="2" charset="2"/>
              <a:buNone/>
            </a:pPr>
            <a:r>
              <a:rPr lang="zh-CN" altLang="en-US">
                <a:solidFill>
                  <a:srgbClr val="800000"/>
                </a:solidFill>
                <a:effectLst/>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1</a:t>
            </a:r>
            <a:r>
              <a:rPr lang="zh-CN" altLang="en-US" b="0">
                <a:solidFill>
                  <a:srgbClr val="003366"/>
                </a:solidFill>
                <a:effectLst/>
                <a:latin typeface="黑体" panose="02010609060101010101" pitchFamily="49" charset="-122"/>
                <a:ea typeface="黑体" panose="02010609060101010101" pitchFamily="49" charset="-122"/>
              </a:rPr>
              <a:t>）应用需求</a:t>
            </a:r>
            <a:endParaRPr lang="zh-CN" altLang="en-US" b="0">
              <a:solidFill>
                <a:srgbClr val="800000"/>
              </a:solidFill>
              <a:effectLst/>
              <a:latin typeface="黑体" panose="02010609060101010101" pitchFamily="49" charset="-122"/>
              <a:ea typeface="黑体" panose="02010609060101010101" pitchFamily="49" charset="-122"/>
            </a:endParaRPr>
          </a:p>
          <a:p>
            <a:pPr>
              <a:lnSpc>
                <a:spcPct val="130000"/>
              </a:lnSpc>
              <a:spcBef>
                <a:spcPct val="5000"/>
              </a:spcBef>
              <a:buFont typeface="Wingdings" panose="05000000000000000000" pitchFamily="2" charset="2"/>
              <a:buNone/>
            </a:pPr>
            <a:r>
              <a:rPr lang="zh-CN" altLang="en-US">
                <a:solidFill>
                  <a:srgbClr val="800000"/>
                </a:solidFill>
                <a:effectLst/>
              </a:rPr>
              <a:t>          </a:t>
            </a:r>
            <a:r>
              <a:rPr lang="zh-CN" altLang="en-US">
                <a:solidFill>
                  <a:srgbClr val="006666"/>
                </a:solidFill>
                <a:latin typeface="黑体" panose="02010609060101010101" pitchFamily="49" charset="-122"/>
                <a:ea typeface="黑体" panose="02010609060101010101" pitchFamily="49" charset="-122"/>
              </a:rPr>
              <a:t>在交互式命令方式下使用的</a:t>
            </a:r>
            <a:r>
              <a:rPr lang="en-US" altLang="zh-CN">
                <a:solidFill>
                  <a:srgbClr val="006666"/>
                </a:solidFill>
                <a:latin typeface="黑体" panose="02010609060101010101" pitchFamily="49" charset="-122"/>
                <a:ea typeface="黑体" panose="02010609060101010101" pitchFamily="49" charset="-122"/>
              </a:rPr>
              <a:t>SQL</a:t>
            </a:r>
            <a:r>
              <a:rPr lang="zh-CN" altLang="en-US">
                <a:solidFill>
                  <a:srgbClr val="006666"/>
                </a:solidFill>
                <a:latin typeface="黑体" panose="02010609060101010101" pitchFamily="49" charset="-122"/>
                <a:ea typeface="黑体" panose="02010609060101010101" pitchFamily="49" charset="-122"/>
              </a:rPr>
              <a:t>语句的执行是独立的，与上下文无关。</a:t>
            </a:r>
          </a:p>
          <a:p>
            <a:pPr>
              <a:lnSpc>
                <a:spcPct val="130000"/>
              </a:lnSpc>
              <a:spcBef>
                <a:spcPct val="5000"/>
              </a:spcBef>
              <a:buFont typeface="Wingdings" panose="05000000000000000000" pitchFamily="2" charset="2"/>
              <a:buNone/>
            </a:pPr>
            <a:r>
              <a:rPr lang="zh-CN" altLang="en-US" b="0">
                <a:solidFill>
                  <a:srgbClr val="003366"/>
                </a:solidFill>
                <a:effectLst/>
                <a:latin typeface="黑体" panose="02010609060101010101" pitchFamily="49" charset="-122"/>
                <a:ea typeface="黑体" panose="02010609060101010101" pitchFamily="49" charset="-122"/>
              </a:rPr>
              <a:t>      </a:t>
            </a:r>
            <a:r>
              <a:rPr lang="zh-CN" altLang="en-US">
                <a:solidFill>
                  <a:srgbClr val="006699"/>
                </a:solidFill>
                <a:effectLst/>
                <a:latin typeface="黑体" panose="02010609060101010101" pitchFamily="49" charset="-122"/>
                <a:ea typeface="黑体" panose="02010609060101010101" pitchFamily="49" charset="-122"/>
              </a:rPr>
              <a:t>在数据库应用中，对数据库中数据的操作基本上都是过程性的，与上下文有关。</a:t>
            </a:r>
          </a:p>
          <a:p>
            <a:pPr>
              <a:lnSpc>
                <a:spcPct val="130000"/>
              </a:lnSpc>
              <a:spcBef>
                <a:spcPct val="5000"/>
              </a:spcBef>
              <a:buFont typeface="Wingdings" panose="05000000000000000000" pitchFamily="2" charset="2"/>
              <a:buNone/>
            </a:pPr>
            <a:r>
              <a:rPr lang="zh-CN" altLang="en-US" b="0">
                <a:solidFill>
                  <a:srgbClr val="003366"/>
                </a:solidFill>
                <a:effectLst/>
                <a:latin typeface="黑体" panose="02010609060101010101" pitchFamily="49" charset="-122"/>
                <a:ea typeface="黑体" panose="02010609060101010101" pitchFamily="49" charset="-122"/>
              </a:rPr>
              <a:t>      </a:t>
            </a:r>
            <a:r>
              <a:rPr lang="zh-CN" altLang="en-US" b="0">
                <a:effectLst/>
                <a:latin typeface="黑体" panose="02010609060101010101" pitchFamily="49" charset="-122"/>
                <a:ea typeface="黑体" panose="02010609060101010101" pitchFamily="49" charset="-122"/>
              </a:rPr>
              <a:t>显然，交互式</a:t>
            </a:r>
            <a:r>
              <a:rPr lang="en-US" altLang="zh-CN" b="0">
                <a:effectLst/>
                <a:latin typeface="黑体" panose="02010609060101010101" pitchFamily="49" charset="-122"/>
                <a:ea typeface="黑体" panose="02010609060101010101" pitchFamily="49" charset="-122"/>
              </a:rPr>
              <a:t>SQL</a:t>
            </a:r>
            <a:r>
              <a:rPr lang="zh-CN" altLang="en-US" b="0">
                <a:effectLst/>
                <a:latin typeface="黑体" panose="02010609060101010101" pitchFamily="49" charset="-122"/>
                <a:ea typeface="黑体" panose="02010609060101010101" pitchFamily="49" charset="-122"/>
              </a:rPr>
              <a:t>无法满足数据库应用的这种过程性要求，于是就引入了嵌入式</a:t>
            </a:r>
            <a:r>
              <a:rPr lang="en-US" altLang="zh-CN" b="0">
                <a:effectLst/>
                <a:latin typeface="黑体" panose="02010609060101010101" pitchFamily="49" charset="-122"/>
                <a:ea typeface="黑体" panose="02010609060101010101" pitchFamily="49" charset="-122"/>
              </a:rPr>
              <a:t>SQL</a:t>
            </a:r>
            <a:r>
              <a:rPr lang="zh-CN" altLang="en-US" b="0">
                <a:effectLst/>
                <a:latin typeface="黑体" panose="02010609060101010101" pitchFamily="49" charset="-122"/>
                <a:ea typeface="黑体" panose="02010609060101010101" pitchFamily="49" charset="-122"/>
              </a:rPr>
              <a:t>技术。</a:t>
            </a:r>
          </a:p>
        </p:txBody>
      </p:sp>
      <p:sp>
        <p:nvSpPr>
          <p:cNvPr id="487429" name="Rectangle 5">
            <a:extLst>
              <a:ext uri="{FF2B5EF4-FFF2-40B4-BE49-F238E27FC236}">
                <a16:creationId xmlns:a16="http://schemas.microsoft.com/office/drawing/2014/main" id="{216CE8C0-EC90-40AA-B242-7980535A45B5}"/>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Sld>
  <p:clrMapOvr>
    <a:masterClrMapping/>
  </p:clrMapOvr>
  <mc:AlternateContent xmlns:mc="http://schemas.openxmlformats.org/markup-compatibility/2006" xmlns:p14="http://schemas.microsoft.com/office/powerpoint/2010/main">
    <mc:Choice Requires="p14">
      <p:transition spd="slow" p14:dur="2000" advTm="32708"/>
    </mc:Choice>
    <mc:Fallback xmlns="">
      <p:transition spd="slow" advTm="3270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87428">
                                            <p:txEl>
                                              <p:pRg st="0" end="0"/>
                                            </p:txEl>
                                          </p:spTgt>
                                        </p:tgtEl>
                                        <p:attrNameLst>
                                          <p:attrName>style.visibility</p:attrName>
                                        </p:attrNameLst>
                                      </p:cBhvr>
                                      <p:to>
                                        <p:strVal val="visible"/>
                                      </p:to>
                                    </p:set>
                                    <p:animEffect transition="in" filter="wipe(up)">
                                      <p:cBhvr>
                                        <p:cTn id="7" dur="1000"/>
                                        <p:tgtEl>
                                          <p:spTgt spid="487428">
                                            <p:txEl>
                                              <p:pRg st="0" end="0"/>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87428">
                                            <p:txEl>
                                              <p:pRg st="1" end="1"/>
                                            </p:txEl>
                                          </p:spTgt>
                                        </p:tgtEl>
                                        <p:attrNameLst>
                                          <p:attrName>style.visibility</p:attrName>
                                        </p:attrNameLst>
                                      </p:cBhvr>
                                      <p:to>
                                        <p:strVal val="visible"/>
                                      </p:to>
                                    </p:set>
                                    <p:animEffect transition="in" filter="wipe(left)">
                                      <p:cBhvr>
                                        <p:cTn id="11" dur="1000"/>
                                        <p:tgtEl>
                                          <p:spTgt spid="487428">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487428">
                                            <p:txEl>
                                              <p:pRg st="2" end="2"/>
                                            </p:txEl>
                                          </p:spTgt>
                                        </p:tgtEl>
                                        <p:attrNameLst>
                                          <p:attrName>style.visibility</p:attrName>
                                        </p:attrNameLst>
                                      </p:cBhvr>
                                      <p:to>
                                        <p:strVal val="visible"/>
                                      </p:to>
                                    </p:set>
                                    <p:animEffect transition="in" filter="wipe(up)">
                                      <p:cBhvr>
                                        <p:cTn id="15" dur="1000"/>
                                        <p:tgtEl>
                                          <p:spTgt spid="487428">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487428">
                                            <p:txEl>
                                              <p:pRg st="3" end="3"/>
                                            </p:txEl>
                                          </p:spTgt>
                                        </p:tgtEl>
                                        <p:attrNameLst>
                                          <p:attrName>style.visibility</p:attrName>
                                        </p:attrNameLst>
                                      </p:cBhvr>
                                      <p:to>
                                        <p:strVal val="visible"/>
                                      </p:to>
                                    </p:set>
                                    <p:animEffect transition="in" filter="wipe(up)">
                                      <p:cBhvr>
                                        <p:cTn id="19" dur="1000"/>
                                        <p:tgtEl>
                                          <p:spTgt spid="487428">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487428">
                                            <p:txEl>
                                              <p:pRg st="4" end="4"/>
                                            </p:txEl>
                                          </p:spTgt>
                                        </p:tgtEl>
                                        <p:attrNameLst>
                                          <p:attrName>style.visibility</p:attrName>
                                        </p:attrNameLst>
                                      </p:cBhvr>
                                      <p:to>
                                        <p:strVal val="visible"/>
                                      </p:to>
                                    </p:set>
                                    <p:animEffect transition="in" filter="wipe(up)">
                                      <p:cBhvr>
                                        <p:cTn id="23" dur="1000"/>
                                        <p:tgtEl>
                                          <p:spTgt spid="4874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40" name="Rectangle 4">
            <a:extLst>
              <a:ext uri="{FF2B5EF4-FFF2-40B4-BE49-F238E27FC236}">
                <a16:creationId xmlns:a16="http://schemas.microsoft.com/office/drawing/2014/main" id="{40C10DFA-DD99-44FB-A734-8C9799C340BA}"/>
              </a:ext>
            </a:extLst>
          </p:cNvPr>
          <p:cNvSpPr>
            <a:spLocks noChangeArrowheads="1"/>
          </p:cNvSpPr>
          <p:nvPr/>
        </p:nvSpPr>
        <p:spPr bwMode="auto">
          <a:xfrm>
            <a:off x="468313" y="1185863"/>
            <a:ext cx="8207375"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、嵌入式</a:t>
            </a:r>
            <a:r>
              <a:rPr lang="en-US" altLang="zh-CN" sz="3000">
                <a:solidFill>
                  <a:srgbClr val="660033"/>
                </a:solidFill>
                <a:ea typeface="华文新魏" panose="02010800040101010101" pitchFamily="2" charset="-122"/>
              </a:rPr>
              <a:t>SQL</a:t>
            </a:r>
            <a:r>
              <a:rPr lang="zh-CN" altLang="en-US" sz="3000">
                <a:solidFill>
                  <a:srgbClr val="660033"/>
                </a:solidFill>
                <a:ea typeface="华文新魏" panose="02010800040101010101" pitchFamily="2" charset="-122"/>
              </a:rPr>
              <a:t>的引入</a:t>
            </a:r>
            <a:r>
              <a:rPr lang="zh-CN" altLang="en-US"/>
              <a:t> </a:t>
            </a:r>
            <a:endParaRPr lang="zh-CN" altLang="en-US" sz="3000">
              <a:solidFill>
                <a:srgbClr val="660033"/>
              </a:solidFill>
              <a:ea typeface="华文新魏" panose="02010800040101010101" pitchFamily="2" charset="-122"/>
            </a:endParaRPr>
          </a:p>
          <a:p>
            <a:pPr>
              <a:lnSpc>
                <a:spcPct val="150000"/>
              </a:lnSpc>
              <a:spcBef>
                <a:spcPct val="5000"/>
              </a:spcBef>
              <a:buFont typeface="Wingdings" panose="05000000000000000000" pitchFamily="2" charset="2"/>
              <a:buNone/>
            </a:pPr>
            <a:r>
              <a:rPr lang="zh-CN" altLang="en-US">
                <a:solidFill>
                  <a:srgbClr val="800000"/>
                </a:solidFill>
                <a:effectLst/>
              </a:rPr>
              <a:t>          </a:t>
            </a:r>
            <a:r>
              <a:rPr lang="zh-CN" altLang="en-US" b="0">
                <a:effectLst/>
                <a:latin typeface="黑体" panose="02010609060101010101" pitchFamily="49" charset="-122"/>
                <a:ea typeface="黑体" panose="02010609060101010101" pitchFamily="49" charset="-122"/>
              </a:rPr>
              <a:t>嵌入式</a:t>
            </a:r>
            <a:r>
              <a:rPr lang="en-US" altLang="zh-CN" b="0">
                <a:effectLst/>
                <a:latin typeface="黑体" panose="02010609060101010101" pitchFamily="49" charset="-122"/>
                <a:ea typeface="黑体" panose="02010609060101010101" pitchFamily="49" charset="-122"/>
              </a:rPr>
              <a:t>SQL </a:t>
            </a:r>
            <a:r>
              <a:rPr lang="zh-CN" altLang="en-US" b="0">
                <a:effectLst/>
                <a:latin typeface="黑体" panose="02010609060101010101" pitchFamily="49" charset="-122"/>
                <a:ea typeface="黑体" panose="02010609060101010101" pitchFamily="49" charset="-122"/>
              </a:rPr>
              <a:t>是指把</a:t>
            </a:r>
            <a:r>
              <a:rPr lang="en-US" altLang="zh-CN" b="0">
                <a:effectLst/>
                <a:latin typeface="黑体" panose="02010609060101010101" pitchFamily="49" charset="-122"/>
                <a:ea typeface="黑体" panose="02010609060101010101" pitchFamily="49" charset="-122"/>
              </a:rPr>
              <a:t>SQL </a:t>
            </a:r>
            <a:r>
              <a:rPr lang="zh-CN" altLang="en-US" b="0">
                <a:effectLst/>
                <a:latin typeface="黑体" panose="02010609060101010101" pitchFamily="49" charset="-122"/>
                <a:ea typeface="黑体" panose="02010609060101010101" pitchFamily="49" charset="-122"/>
              </a:rPr>
              <a:t>语言语句嵌入到某种高级语言（</a:t>
            </a:r>
            <a:r>
              <a:rPr lang="zh-CN" altLang="en-US">
                <a:solidFill>
                  <a:srgbClr val="006666"/>
                </a:solidFill>
                <a:effectLst/>
                <a:latin typeface="华文楷体" panose="02010600040101010101" pitchFamily="2" charset="-122"/>
                <a:ea typeface="华文楷体" panose="02010600040101010101" pitchFamily="2" charset="-122"/>
              </a:rPr>
              <a:t>比如：</a:t>
            </a:r>
            <a:r>
              <a:rPr lang="en-US" altLang="zh-CN">
                <a:solidFill>
                  <a:srgbClr val="006666"/>
                </a:solidFill>
                <a:effectLst/>
                <a:latin typeface="华文楷体" panose="02010600040101010101" pitchFamily="2" charset="-122"/>
                <a:ea typeface="华文楷体" panose="02010600040101010101" pitchFamily="2" charset="-122"/>
              </a:rPr>
              <a:t>VB.NET</a:t>
            </a:r>
            <a:r>
              <a:rPr lang="zh-CN" altLang="en-US">
                <a:solidFill>
                  <a:srgbClr val="006666"/>
                </a:solidFill>
                <a:effectLst/>
                <a:latin typeface="华文楷体" panose="02010600040101010101" pitchFamily="2" charset="-122"/>
                <a:ea typeface="华文楷体" panose="02010600040101010101" pitchFamily="2" charset="-122"/>
              </a:rPr>
              <a:t>， </a:t>
            </a:r>
            <a:r>
              <a:rPr lang="en-US" altLang="zh-CN">
                <a:solidFill>
                  <a:srgbClr val="006666"/>
                </a:solidFill>
                <a:effectLst/>
                <a:latin typeface="华文楷体" panose="02010600040101010101" pitchFamily="2" charset="-122"/>
                <a:ea typeface="华文楷体" panose="02010600040101010101" pitchFamily="2" charset="-122"/>
              </a:rPr>
              <a:t>VB</a:t>
            </a:r>
            <a:r>
              <a:rPr lang="zh-CN" altLang="en-US">
                <a:solidFill>
                  <a:srgbClr val="006666"/>
                </a:solidFill>
                <a:effectLst/>
                <a:latin typeface="华文楷体" panose="02010600040101010101" pitchFamily="2" charset="-122"/>
                <a:ea typeface="华文楷体" panose="02010600040101010101" pitchFamily="2" charset="-122"/>
              </a:rPr>
              <a:t>， </a:t>
            </a:r>
            <a:r>
              <a:rPr lang="en-US" altLang="zh-CN">
                <a:solidFill>
                  <a:srgbClr val="006666"/>
                </a:solidFill>
                <a:effectLst/>
                <a:latin typeface="华文楷体" panose="02010600040101010101" pitchFamily="2" charset="-122"/>
                <a:ea typeface="华文楷体" panose="02010600040101010101" pitchFamily="2" charset="-122"/>
              </a:rPr>
              <a:t>VC</a:t>
            </a:r>
            <a:r>
              <a:rPr lang="zh-CN" altLang="en-US">
                <a:solidFill>
                  <a:srgbClr val="006666"/>
                </a:solidFill>
                <a:effectLst/>
                <a:latin typeface="华文楷体" panose="02010600040101010101" pitchFamily="2" charset="-122"/>
                <a:ea typeface="华文楷体" panose="02010600040101010101" pitchFamily="2" charset="-122"/>
              </a:rPr>
              <a:t>，</a:t>
            </a:r>
            <a:r>
              <a:rPr lang="en-US" altLang="zh-CN">
                <a:solidFill>
                  <a:srgbClr val="006666"/>
                </a:solidFill>
                <a:effectLst/>
                <a:latin typeface="华文楷体" panose="02010600040101010101" pitchFamily="2" charset="-122"/>
                <a:ea typeface="华文楷体" panose="02010600040101010101" pitchFamily="2" charset="-122"/>
              </a:rPr>
              <a:t>C#</a:t>
            </a:r>
            <a:r>
              <a:rPr lang="zh-CN" altLang="en-US" b="0">
                <a:effectLst/>
                <a:latin typeface="黑体" panose="02010609060101010101" pitchFamily="49" charset="-122"/>
                <a:ea typeface="黑体" panose="02010609060101010101" pitchFamily="49" charset="-122"/>
              </a:rPr>
              <a:t>）中</a:t>
            </a:r>
          </a:p>
          <a:p>
            <a:pPr>
              <a:lnSpc>
                <a:spcPct val="150000"/>
              </a:lnSpc>
              <a:spcBef>
                <a:spcPct val="5000"/>
              </a:spcBef>
              <a:buFont typeface="Wingdings" panose="05000000000000000000" pitchFamily="2" charset="2"/>
              <a:buNone/>
            </a:pPr>
            <a:r>
              <a:rPr lang="zh-CN" altLang="en-US" b="0">
                <a:effectLst/>
                <a:latin typeface="黑体" panose="02010609060101010101" pitchFamily="49" charset="-122"/>
                <a:ea typeface="黑体" panose="02010609060101010101" pitchFamily="49" charset="-122"/>
              </a:rPr>
              <a:t>  的应用形式。</a:t>
            </a:r>
          </a:p>
        </p:txBody>
      </p:sp>
      <p:sp>
        <p:nvSpPr>
          <p:cNvPr id="500741" name="Rectangle 5">
            <a:extLst>
              <a:ext uri="{FF2B5EF4-FFF2-40B4-BE49-F238E27FC236}">
                <a16:creationId xmlns:a16="http://schemas.microsoft.com/office/drawing/2014/main" id="{4FDA4780-3766-4E5B-BD10-C59DE5AAEE22}"/>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Sld>
  <p:clrMapOvr>
    <a:masterClrMapping/>
  </p:clrMapOvr>
  <mc:AlternateContent xmlns:mc="http://schemas.openxmlformats.org/markup-compatibility/2006" xmlns:p14="http://schemas.microsoft.com/office/powerpoint/2010/main">
    <mc:Choice Requires="p14">
      <p:transition spd="slow" p14:dur="2000" advTm="7295"/>
    </mc:Choice>
    <mc:Fallback xmlns="">
      <p:transition spd="slow" advTm="729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00740">
                                            <p:txEl>
                                              <p:pRg st="1" end="1"/>
                                            </p:txEl>
                                          </p:spTgt>
                                        </p:tgtEl>
                                        <p:attrNameLst>
                                          <p:attrName>style.visibility</p:attrName>
                                        </p:attrNameLst>
                                      </p:cBhvr>
                                      <p:to>
                                        <p:strVal val="visible"/>
                                      </p:to>
                                    </p:set>
                                    <p:animEffect transition="in" filter="wipe(up)">
                                      <p:cBhvr>
                                        <p:cTn id="7" dur="1000"/>
                                        <p:tgtEl>
                                          <p:spTgt spid="500740">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0740">
                                            <p:txEl>
                                              <p:pRg st="2" end="2"/>
                                            </p:txEl>
                                          </p:spTgt>
                                        </p:tgtEl>
                                        <p:attrNameLst>
                                          <p:attrName>style.visibility</p:attrName>
                                        </p:attrNameLst>
                                      </p:cBhvr>
                                      <p:to>
                                        <p:strVal val="visible"/>
                                      </p:to>
                                    </p:set>
                                    <p:animEffect transition="in" filter="wipe(up)">
                                      <p:cBhvr>
                                        <p:cTn id="11" dur="1000"/>
                                        <p:tgtEl>
                                          <p:spTgt spid="5007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4" name="Rectangle 4">
            <a:extLst>
              <a:ext uri="{FF2B5EF4-FFF2-40B4-BE49-F238E27FC236}">
                <a16:creationId xmlns:a16="http://schemas.microsoft.com/office/drawing/2014/main" id="{8FDF22A5-CBC1-4E2E-BE4A-95A6D7D55070}"/>
              </a:ext>
            </a:extLst>
          </p:cNvPr>
          <p:cNvSpPr>
            <a:spLocks noChangeArrowheads="1"/>
          </p:cNvSpPr>
          <p:nvPr/>
        </p:nvSpPr>
        <p:spPr bwMode="auto">
          <a:xfrm>
            <a:off x="468313" y="1185863"/>
            <a:ext cx="8207375"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、嵌入式</a:t>
            </a:r>
            <a:r>
              <a:rPr lang="en-US" altLang="zh-CN" sz="3000">
                <a:solidFill>
                  <a:srgbClr val="660033"/>
                </a:solidFill>
                <a:ea typeface="华文新魏" panose="02010800040101010101" pitchFamily="2" charset="-122"/>
              </a:rPr>
              <a:t>SQL</a:t>
            </a:r>
            <a:r>
              <a:rPr lang="zh-CN" altLang="en-US" sz="3000">
                <a:solidFill>
                  <a:srgbClr val="660033"/>
                </a:solidFill>
                <a:ea typeface="华文新魏" panose="02010800040101010101" pitchFamily="2" charset="-122"/>
              </a:rPr>
              <a:t>的引入</a:t>
            </a:r>
            <a:r>
              <a:rPr lang="zh-CN" altLang="en-US"/>
              <a:t> </a:t>
            </a:r>
            <a:endParaRPr lang="zh-CN" altLang="en-US" sz="3000">
              <a:solidFill>
                <a:srgbClr val="660033"/>
              </a:solidFill>
              <a:ea typeface="华文新魏" panose="02010800040101010101" pitchFamily="2" charset="-122"/>
            </a:endParaRPr>
          </a:p>
          <a:p>
            <a:pPr>
              <a:lnSpc>
                <a:spcPct val="130000"/>
              </a:lnSpc>
              <a:spcBef>
                <a:spcPct val="5000"/>
              </a:spcBef>
              <a:buFont typeface="Wingdings" panose="05000000000000000000" pitchFamily="2" charset="2"/>
              <a:buNone/>
            </a:pPr>
            <a:r>
              <a:rPr lang="zh-CN" altLang="en-US">
                <a:solidFill>
                  <a:srgbClr val="800000"/>
                </a:solidFill>
                <a:effectLst/>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2</a:t>
            </a:r>
            <a:r>
              <a:rPr lang="zh-CN" altLang="en-US" b="0">
                <a:solidFill>
                  <a:srgbClr val="003366"/>
                </a:solidFill>
                <a:effectLst/>
                <a:latin typeface="黑体" panose="02010609060101010101" pitchFamily="49" charset="-122"/>
                <a:ea typeface="黑体" panose="02010609060101010101" pitchFamily="49" charset="-122"/>
              </a:rPr>
              <a:t>）主语言</a:t>
            </a:r>
          </a:p>
          <a:p>
            <a:pPr>
              <a:lnSpc>
                <a:spcPct val="130000"/>
              </a:lnSpc>
              <a:spcBef>
                <a:spcPct val="5000"/>
              </a:spcBef>
              <a:buFont typeface="Wingdings" panose="05000000000000000000" pitchFamily="2" charset="2"/>
              <a:buNone/>
            </a:pPr>
            <a:r>
              <a:rPr lang="zh-CN" altLang="en-US">
                <a:solidFill>
                  <a:srgbClr val="800000"/>
                </a:solidFill>
                <a:effectLst/>
              </a:rPr>
              <a:t>          </a:t>
            </a:r>
            <a:r>
              <a:rPr lang="zh-CN" altLang="en-US">
                <a:solidFill>
                  <a:srgbClr val="006666"/>
                </a:solidFill>
                <a:effectLst/>
                <a:latin typeface="黑体" panose="02010609060101010101" pitchFamily="49" charset="-122"/>
                <a:ea typeface="黑体" panose="02010609060101010101" pitchFamily="49" charset="-122"/>
              </a:rPr>
              <a:t>嵌入有</a:t>
            </a:r>
            <a:r>
              <a:rPr lang="en-US" altLang="zh-CN">
                <a:solidFill>
                  <a:srgbClr val="006666"/>
                </a:solidFill>
                <a:effectLst/>
                <a:latin typeface="黑体" panose="02010609060101010101" pitchFamily="49" charset="-122"/>
                <a:ea typeface="黑体" panose="02010609060101010101" pitchFamily="49" charset="-122"/>
              </a:rPr>
              <a:t>SQL</a:t>
            </a:r>
            <a:r>
              <a:rPr lang="zh-CN" altLang="en-US">
                <a:solidFill>
                  <a:srgbClr val="006666"/>
                </a:solidFill>
                <a:effectLst/>
                <a:latin typeface="黑体" panose="02010609060101010101" pitchFamily="49" charset="-122"/>
                <a:ea typeface="黑体" panose="02010609060101010101" pitchFamily="49" charset="-122"/>
              </a:rPr>
              <a:t>语句的高级语言称为</a:t>
            </a:r>
            <a:r>
              <a:rPr lang="zh-CN" altLang="en-US">
                <a:solidFill>
                  <a:srgbClr val="0066CC"/>
                </a:solidFill>
                <a:effectLst/>
                <a:latin typeface="黑体" panose="02010609060101010101" pitchFamily="49" charset="-122"/>
                <a:ea typeface="黑体" panose="02010609060101010101" pitchFamily="49" charset="-122"/>
              </a:rPr>
              <a:t>宿主语言</a:t>
            </a:r>
            <a:r>
              <a:rPr lang="zh-CN" altLang="en-US">
                <a:solidFill>
                  <a:srgbClr val="006666"/>
                </a:solidFill>
                <a:effectLst/>
                <a:latin typeface="黑体" panose="02010609060101010101" pitchFamily="49" charset="-122"/>
                <a:ea typeface="黑体" panose="02010609060101010101" pitchFamily="49" charset="-122"/>
              </a:rPr>
              <a:t>，简称</a:t>
            </a:r>
            <a:r>
              <a:rPr lang="zh-CN" altLang="en-US">
                <a:solidFill>
                  <a:srgbClr val="0066CC"/>
                </a:solidFill>
                <a:effectLst/>
                <a:latin typeface="黑体" panose="02010609060101010101" pitchFamily="49" charset="-122"/>
                <a:ea typeface="黑体" panose="02010609060101010101" pitchFamily="49" charset="-122"/>
              </a:rPr>
              <a:t>主语言</a:t>
            </a:r>
            <a:r>
              <a:rPr lang="zh-CN" altLang="en-US">
                <a:solidFill>
                  <a:srgbClr val="006666"/>
                </a:solidFill>
                <a:effectLst/>
                <a:latin typeface="黑体" panose="02010609060101010101" pitchFamily="49" charset="-122"/>
                <a:ea typeface="黑体" panose="02010609060101010101" pitchFamily="49" charset="-122"/>
              </a:rPr>
              <a:t>。</a:t>
            </a:r>
            <a:endParaRPr lang="zh-CN" altLang="en-US" b="0">
              <a:effectLst/>
              <a:latin typeface="黑体" panose="02010609060101010101" pitchFamily="49" charset="-122"/>
              <a:ea typeface="黑体" panose="02010609060101010101" pitchFamily="49" charset="-122"/>
            </a:endParaRPr>
          </a:p>
        </p:txBody>
      </p:sp>
      <p:sp>
        <p:nvSpPr>
          <p:cNvPr id="501765" name="Rectangle 5">
            <a:extLst>
              <a:ext uri="{FF2B5EF4-FFF2-40B4-BE49-F238E27FC236}">
                <a16:creationId xmlns:a16="http://schemas.microsoft.com/office/drawing/2014/main" id="{08729F07-AA05-4111-96A3-6377EF14FA19}"/>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Sld>
  <p:clrMapOvr>
    <a:masterClrMapping/>
  </p:clrMapOvr>
  <mc:AlternateContent xmlns:mc="http://schemas.openxmlformats.org/markup-compatibility/2006" xmlns:p14="http://schemas.microsoft.com/office/powerpoint/2010/main">
    <mc:Choice Requires="p14">
      <p:transition spd="slow" p14:dur="2000" advTm="9076"/>
    </mc:Choice>
    <mc:Fallback xmlns="">
      <p:transition spd="slow" advTm="907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01764">
                                            <p:txEl>
                                              <p:pRg st="1" end="1"/>
                                            </p:txEl>
                                          </p:spTgt>
                                        </p:tgtEl>
                                        <p:attrNameLst>
                                          <p:attrName>style.visibility</p:attrName>
                                        </p:attrNameLst>
                                      </p:cBhvr>
                                      <p:to>
                                        <p:strVal val="visible"/>
                                      </p:to>
                                    </p:set>
                                    <p:animEffect transition="in" filter="wipe(left)">
                                      <p:cBhvr>
                                        <p:cTn id="7" dur="500"/>
                                        <p:tgtEl>
                                          <p:spTgt spid="501764">
                                            <p:txEl>
                                              <p:pRg st="1" end="1"/>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01764">
                                            <p:txEl>
                                              <p:pRg st="2" end="2"/>
                                            </p:txEl>
                                          </p:spTgt>
                                        </p:tgtEl>
                                        <p:attrNameLst>
                                          <p:attrName>style.visibility</p:attrName>
                                        </p:attrNameLst>
                                      </p:cBhvr>
                                      <p:to>
                                        <p:strVal val="visible"/>
                                      </p:to>
                                    </p:set>
                                    <p:animEffect transition="in" filter="wipe(up)">
                                      <p:cBhvr>
                                        <p:cTn id="11" dur="1000"/>
                                        <p:tgtEl>
                                          <p:spTgt spid="5017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2" name="Rectangle 4">
            <a:extLst>
              <a:ext uri="{FF2B5EF4-FFF2-40B4-BE49-F238E27FC236}">
                <a16:creationId xmlns:a16="http://schemas.microsoft.com/office/drawing/2014/main" id="{7626903E-E70E-488C-A177-2D6941989287}"/>
              </a:ext>
            </a:extLst>
          </p:cNvPr>
          <p:cNvSpPr>
            <a:spLocks noChangeArrowheads="1"/>
          </p:cNvSpPr>
          <p:nvPr/>
        </p:nvSpPr>
        <p:spPr bwMode="auto">
          <a:xfrm>
            <a:off x="468313" y="1185863"/>
            <a:ext cx="8207375"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、嵌入式</a:t>
            </a:r>
            <a:r>
              <a:rPr lang="en-US" altLang="zh-CN" sz="3000">
                <a:solidFill>
                  <a:srgbClr val="660033"/>
                </a:solidFill>
                <a:ea typeface="华文新魏" panose="02010800040101010101" pitchFamily="2" charset="-122"/>
              </a:rPr>
              <a:t>SQL</a:t>
            </a:r>
            <a:r>
              <a:rPr lang="zh-CN" altLang="en-US" sz="3000">
                <a:solidFill>
                  <a:srgbClr val="660033"/>
                </a:solidFill>
                <a:ea typeface="华文新魏" panose="02010800040101010101" pitchFamily="2" charset="-122"/>
              </a:rPr>
              <a:t>的引入</a:t>
            </a:r>
            <a:r>
              <a:rPr lang="zh-CN" altLang="en-US"/>
              <a:t> </a:t>
            </a:r>
            <a:endParaRPr lang="zh-CN" altLang="en-US" sz="3000">
              <a:solidFill>
                <a:srgbClr val="660033"/>
              </a:solidFill>
              <a:ea typeface="华文新魏" panose="02010800040101010101" pitchFamily="2" charset="-122"/>
            </a:endParaRPr>
          </a:p>
          <a:p>
            <a:pPr>
              <a:lnSpc>
                <a:spcPct val="130000"/>
              </a:lnSpc>
              <a:spcBef>
                <a:spcPct val="5000"/>
              </a:spcBef>
              <a:buFont typeface="Wingdings" panose="05000000000000000000" pitchFamily="2" charset="2"/>
              <a:buNone/>
            </a:pPr>
            <a:r>
              <a:rPr lang="zh-CN" altLang="en-US">
                <a:solidFill>
                  <a:srgbClr val="800000"/>
                </a:solidFill>
                <a:effectLst/>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3</a:t>
            </a:r>
            <a:r>
              <a:rPr lang="zh-CN" altLang="en-US" b="0">
                <a:solidFill>
                  <a:srgbClr val="003366"/>
                </a:solidFill>
                <a:effectLst/>
                <a:latin typeface="黑体" panose="02010609060101010101" pitchFamily="49" charset="-122"/>
                <a:ea typeface="黑体" panose="02010609060101010101" pitchFamily="49" charset="-122"/>
              </a:rPr>
              <a:t>）应用程序</a:t>
            </a:r>
          </a:p>
          <a:p>
            <a:pPr>
              <a:lnSpc>
                <a:spcPct val="130000"/>
              </a:lnSpc>
              <a:spcBef>
                <a:spcPct val="5000"/>
              </a:spcBef>
              <a:buFont typeface="Wingdings" panose="05000000000000000000" pitchFamily="2" charset="2"/>
              <a:buNone/>
            </a:pPr>
            <a:r>
              <a:rPr lang="zh-CN" altLang="en-US">
                <a:solidFill>
                  <a:srgbClr val="800000"/>
                </a:solidFill>
                <a:effectLst/>
              </a:rPr>
              <a:t>          </a:t>
            </a:r>
            <a:r>
              <a:rPr lang="zh-CN" altLang="en-US">
                <a:solidFill>
                  <a:srgbClr val="006666"/>
                </a:solidFill>
                <a:effectLst/>
                <a:latin typeface="黑体" panose="02010609060101010101" pitchFamily="49" charset="-122"/>
                <a:ea typeface="黑体" panose="02010609060101010101" pitchFamily="49" charset="-122"/>
              </a:rPr>
              <a:t>含有嵌入</a:t>
            </a:r>
            <a:r>
              <a:rPr lang="en-US" altLang="zh-CN">
                <a:solidFill>
                  <a:srgbClr val="006666"/>
                </a:solidFill>
                <a:effectLst/>
                <a:latin typeface="黑体" panose="02010609060101010101" pitchFamily="49" charset="-122"/>
                <a:ea typeface="黑体" panose="02010609060101010101" pitchFamily="49" charset="-122"/>
              </a:rPr>
              <a:t>SQL</a:t>
            </a:r>
            <a:r>
              <a:rPr lang="zh-CN" altLang="en-US">
                <a:solidFill>
                  <a:srgbClr val="006666"/>
                </a:solidFill>
                <a:effectLst/>
                <a:latin typeface="黑体" panose="02010609060101010101" pitchFamily="49" charset="-122"/>
                <a:ea typeface="黑体" panose="02010609060101010101" pitchFamily="49" charset="-122"/>
              </a:rPr>
              <a:t>语句的高级语言程序称为</a:t>
            </a:r>
            <a:r>
              <a:rPr lang="zh-CN" altLang="en-US">
                <a:solidFill>
                  <a:srgbClr val="0066CC"/>
                </a:solidFill>
                <a:effectLst/>
                <a:latin typeface="黑体" panose="02010609060101010101" pitchFamily="49" charset="-122"/>
                <a:ea typeface="黑体" panose="02010609060101010101" pitchFamily="49" charset="-122"/>
              </a:rPr>
              <a:t>宿主应用程序</a:t>
            </a:r>
            <a:r>
              <a:rPr lang="zh-CN" altLang="en-US">
                <a:solidFill>
                  <a:srgbClr val="006666"/>
                </a:solidFill>
                <a:effectLst/>
                <a:latin typeface="黑体" panose="02010609060101010101" pitchFamily="49" charset="-122"/>
                <a:ea typeface="黑体" panose="02010609060101010101" pitchFamily="49" charset="-122"/>
              </a:rPr>
              <a:t>，简称为</a:t>
            </a:r>
            <a:r>
              <a:rPr lang="zh-CN" altLang="en-US">
                <a:solidFill>
                  <a:srgbClr val="0066CC"/>
                </a:solidFill>
                <a:effectLst/>
                <a:latin typeface="黑体" panose="02010609060101010101" pitchFamily="49" charset="-122"/>
                <a:ea typeface="黑体" panose="02010609060101010101" pitchFamily="49" charset="-122"/>
              </a:rPr>
              <a:t>应用程序</a:t>
            </a:r>
            <a:r>
              <a:rPr lang="zh-CN" altLang="en-US">
                <a:solidFill>
                  <a:srgbClr val="006666"/>
                </a:solidFill>
                <a:effectLst/>
                <a:latin typeface="黑体" panose="02010609060101010101" pitchFamily="49" charset="-122"/>
                <a:ea typeface="黑体" panose="02010609060101010101" pitchFamily="49" charset="-122"/>
              </a:rPr>
              <a:t>。</a:t>
            </a:r>
          </a:p>
          <a:p>
            <a:pPr>
              <a:lnSpc>
                <a:spcPct val="130000"/>
              </a:lnSpc>
              <a:spcBef>
                <a:spcPct val="5000"/>
              </a:spcBef>
              <a:buFont typeface="Wingdings" panose="05000000000000000000" pitchFamily="2" charset="2"/>
              <a:buNone/>
            </a:pPr>
            <a:r>
              <a:rPr lang="zh-CN" altLang="en-US" b="0">
                <a:effectLst/>
                <a:latin typeface="黑体" panose="02010609060101010101" pitchFamily="49" charset="-122"/>
                <a:ea typeface="黑体" panose="02010609060101010101" pitchFamily="49" charset="-122"/>
              </a:rPr>
              <a:t>      在应用程序中，对数据库的各种操作利用</a:t>
            </a:r>
            <a:r>
              <a:rPr lang="en-US" altLang="zh-CN" b="0">
                <a:effectLst/>
                <a:latin typeface="黑体" panose="02010609060101010101" pitchFamily="49" charset="-122"/>
                <a:ea typeface="黑体" panose="02010609060101010101" pitchFamily="49" charset="-122"/>
              </a:rPr>
              <a:t>SQL</a:t>
            </a:r>
            <a:r>
              <a:rPr lang="zh-CN" altLang="en-US" b="0">
                <a:effectLst/>
                <a:latin typeface="黑体" panose="02010609060101010101" pitchFamily="49" charset="-122"/>
                <a:ea typeface="黑体" panose="02010609060101010101" pitchFamily="49" charset="-122"/>
              </a:rPr>
              <a:t>语句实现，而对数据的各种处理由主语言语句实现。</a:t>
            </a:r>
          </a:p>
          <a:p>
            <a:pPr>
              <a:lnSpc>
                <a:spcPct val="130000"/>
              </a:lnSpc>
              <a:spcBef>
                <a:spcPct val="5000"/>
              </a:spcBef>
              <a:buFont typeface="Wingdings" panose="05000000000000000000" pitchFamily="2" charset="2"/>
              <a:buNone/>
            </a:pPr>
            <a:r>
              <a:rPr lang="zh-CN" altLang="en-US">
                <a:solidFill>
                  <a:srgbClr val="003366"/>
                </a:solidFill>
                <a:ea typeface="黑体" panose="02010609060101010101" pitchFamily="49" charset="-122"/>
              </a:rPr>
              <a:t>           </a:t>
            </a:r>
            <a:r>
              <a:rPr lang="zh-CN" altLang="en-US">
                <a:solidFill>
                  <a:srgbClr val="003366"/>
                </a:solidFill>
                <a:ea typeface="华文楷体" panose="02010600040101010101" pitchFamily="2" charset="-122"/>
              </a:rPr>
              <a:t>应用程序</a:t>
            </a:r>
            <a:r>
              <a:rPr lang="zh-CN" altLang="en-US">
                <a:ea typeface="华文楷体" panose="02010600040101010101" pitchFamily="2" charset="-122"/>
              </a:rPr>
              <a:t>是指完成用户组织中所有不同用户对数据库中数据操作功能的程序模块的全体。</a:t>
            </a:r>
            <a:r>
              <a:rPr lang="zh-CN" altLang="en-US" b="0">
                <a:effectLst/>
                <a:latin typeface="黑体" panose="02010609060101010101" pitchFamily="49" charset="-122"/>
                <a:ea typeface="黑体" panose="02010609060101010101" pitchFamily="49" charset="-122"/>
              </a:rPr>
              <a:t> </a:t>
            </a:r>
          </a:p>
        </p:txBody>
      </p:sp>
      <p:sp>
        <p:nvSpPr>
          <p:cNvPr id="503813" name="Rectangle 5">
            <a:extLst>
              <a:ext uri="{FF2B5EF4-FFF2-40B4-BE49-F238E27FC236}">
                <a16:creationId xmlns:a16="http://schemas.microsoft.com/office/drawing/2014/main" id="{9C4237A8-FF1B-409E-A29F-41FEF58D42CC}"/>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
        <p:nvSpPr>
          <p:cNvPr id="503814" name="Line 6">
            <a:extLst>
              <a:ext uri="{FF2B5EF4-FFF2-40B4-BE49-F238E27FC236}">
                <a16:creationId xmlns:a16="http://schemas.microsoft.com/office/drawing/2014/main" id="{17341837-D6AB-4793-9D27-DD709C830499}"/>
              </a:ext>
            </a:extLst>
          </p:cNvPr>
          <p:cNvSpPr>
            <a:spLocks noChangeShapeType="1"/>
          </p:cNvSpPr>
          <p:nvPr/>
        </p:nvSpPr>
        <p:spPr bwMode="auto">
          <a:xfrm>
            <a:off x="0" y="5257800"/>
            <a:ext cx="9144000"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754"/>
    </mc:Choice>
    <mc:Fallback xmlns="">
      <p:transition spd="slow" advTm="4275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03812">
                                            <p:txEl>
                                              <p:pRg st="1" end="1"/>
                                            </p:txEl>
                                          </p:spTgt>
                                        </p:tgtEl>
                                        <p:attrNameLst>
                                          <p:attrName>style.visibility</p:attrName>
                                        </p:attrNameLst>
                                      </p:cBhvr>
                                      <p:to>
                                        <p:strVal val="visible"/>
                                      </p:to>
                                    </p:set>
                                    <p:animEffect transition="in" filter="wipe(left)">
                                      <p:cBhvr>
                                        <p:cTn id="7" dur="1000"/>
                                        <p:tgtEl>
                                          <p:spTgt spid="503812">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3812">
                                            <p:txEl>
                                              <p:pRg st="2" end="2"/>
                                            </p:txEl>
                                          </p:spTgt>
                                        </p:tgtEl>
                                        <p:attrNameLst>
                                          <p:attrName>style.visibility</p:attrName>
                                        </p:attrNameLst>
                                      </p:cBhvr>
                                      <p:to>
                                        <p:strVal val="visible"/>
                                      </p:to>
                                    </p:set>
                                    <p:animEffect transition="in" filter="wipe(up)">
                                      <p:cBhvr>
                                        <p:cTn id="11" dur="1000"/>
                                        <p:tgtEl>
                                          <p:spTgt spid="503812">
                                            <p:txEl>
                                              <p:pRg st="2" end="2"/>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03812">
                                            <p:txEl>
                                              <p:pRg st="3" end="3"/>
                                            </p:txEl>
                                          </p:spTgt>
                                        </p:tgtEl>
                                        <p:attrNameLst>
                                          <p:attrName>style.visibility</p:attrName>
                                        </p:attrNameLst>
                                      </p:cBhvr>
                                      <p:to>
                                        <p:strVal val="visible"/>
                                      </p:to>
                                    </p:set>
                                    <p:animEffect transition="in" filter="wipe(up)">
                                      <p:cBhvr>
                                        <p:cTn id="15" dur="1000"/>
                                        <p:tgtEl>
                                          <p:spTgt spid="503812">
                                            <p:txEl>
                                              <p:pRg st="3" end="3"/>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503812">
                                            <p:txEl>
                                              <p:pRg st="4" end="4"/>
                                            </p:txEl>
                                          </p:spTgt>
                                        </p:tgtEl>
                                        <p:attrNameLst>
                                          <p:attrName>style.visibility</p:attrName>
                                        </p:attrNameLst>
                                      </p:cBhvr>
                                      <p:to>
                                        <p:strVal val="visible"/>
                                      </p:to>
                                    </p:set>
                                    <p:animEffect transition="in" filter="wipe(up)">
                                      <p:cBhvr>
                                        <p:cTn id="19" dur="1000"/>
                                        <p:tgtEl>
                                          <p:spTgt spid="5038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4" name="Rectangle 4">
            <a:extLst>
              <a:ext uri="{FF2B5EF4-FFF2-40B4-BE49-F238E27FC236}">
                <a16:creationId xmlns:a16="http://schemas.microsoft.com/office/drawing/2014/main" id="{89432EB0-E8DC-42F7-8BEA-83345D0D8225}"/>
              </a:ext>
            </a:extLst>
          </p:cNvPr>
          <p:cNvSpPr>
            <a:spLocks noChangeArrowheads="1"/>
          </p:cNvSpPr>
          <p:nvPr/>
        </p:nvSpPr>
        <p:spPr bwMode="auto">
          <a:xfrm>
            <a:off x="468313" y="1185863"/>
            <a:ext cx="8207375"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、嵌入式语句和主语言之间的通信</a:t>
            </a:r>
            <a:r>
              <a:rPr lang="zh-CN" altLang="en-US"/>
              <a:t> </a:t>
            </a:r>
            <a:endParaRPr lang="zh-CN" altLang="en-US" sz="3000">
              <a:solidFill>
                <a:srgbClr val="660033"/>
              </a:solidFill>
              <a:ea typeface="华文新魏" panose="02010800040101010101" pitchFamily="2" charset="-122"/>
            </a:endParaRPr>
          </a:p>
          <a:p>
            <a:pPr>
              <a:buFont typeface="Wingdings" panose="05000000000000000000" pitchFamily="2" charset="2"/>
              <a:buNone/>
            </a:pPr>
            <a:r>
              <a:rPr lang="zh-CN" altLang="en-US">
                <a:solidFill>
                  <a:srgbClr val="800000"/>
                </a:solidFill>
                <a:effectLst/>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1</a:t>
            </a:r>
            <a:r>
              <a:rPr lang="zh-CN" altLang="en-US" b="0">
                <a:solidFill>
                  <a:srgbClr val="003366"/>
                </a:solidFill>
                <a:effectLst/>
                <a:latin typeface="黑体" panose="02010609060101010101" pitchFamily="49" charset="-122"/>
                <a:ea typeface="黑体" panose="02010609060101010101" pitchFamily="49" charset="-122"/>
              </a:rPr>
              <a:t>）主语言之间的通信需求</a:t>
            </a:r>
            <a:r>
              <a:rPr lang="zh-CN" altLang="en-US"/>
              <a:t> </a:t>
            </a:r>
            <a:endParaRPr lang="zh-CN" altLang="en-US" b="0">
              <a:solidFill>
                <a:srgbClr val="003366"/>
              </a:solidFill>
              <a:effectLst/>
              <a:latin typeface="黑体" panose="02010609060101010101" pitchFamily="49" charset="-122"/>
              <a:ea typeface="黑体" panose="02010609060101010101" pitchFamily="49" charset="-122"/>
            </a:endParaRPr>
          </a:p>
          <a:p>
            <a:pPr>
              <a:lnSpc>
                <a:spcPct val="130000"/>
              </a:lnSpc>
              <a:spcBef>
                <a:spcPct val="0"/>
              </a:spcBef>
              <a:buFont typeface="Wingdings" panose="05000000000000000000" pitchFamily="2" charset="2"/>
              <a:buNone/>
            </a:pPr>
            <a:r>
              <a:rPr lang="zh-CN" altLang="en-US">
                <a:effectLst/>
              </a:rPr>
              <a:t>          </a:t>
            </a:r>
            <a:r>
              <a:rPr lang="en-US" altLang="zh-CN" sz="2700">
                <a:solidFill>
                  <a:srgbClr val="006666"/>
                </a:solidFill>
                <a:effectLst/>
                <a:latin typeface="黑体" panose="02010609060101010101" pitchFamily="49" charset="-122"/>
                <a:ea typeface="黑体" panose="02010609060101010101" pitchFamily="49" charset="-122"/>
              </a:rPr>
              <a:t>SQL</a:t>
            </a:r>
            <a:r>
              <a:rPr lang="zh-CN" altLang="en-US" sz="2700">
                <a:solidFill>
                  <a:srgbClr val="006666"/>
                </a:solidFill>
                <a:effectLst/>
                <a:latin typeface="黑体" panose="02010609060101010101" pitchFamily="49" charset="-122"/>
                <a:ea typeface="黑体" panose="02010609060101010101" pitchFamily="49" charset="-122"/>
              </a:rPr>
              <a:t>语句需要把查询得到的结果传送给主语言变量，供主语言程序在其后对其进行处理。</a:t>
            </a:r>
          </a:p>
          <a:p>
            <a:pPr>
              <a:lnSpc>
                <a:spcPct val="130000"/>
              </a:lnSpc>
              <a:spcBef>
                <a:spcPct val="0"/>
              </a:spcBef>
              <a:buFont typeface="Wingdings" panose="05000000000000000000" pitchFamily="2" charset="2"/>
              <a:buNone/>
            </a:pPr>
            <a:r>
              <a:rPr lang="zh-CN" altLang="en-US" sz="2700" b="0">
                <a:effectLst/>
                <a:latin typeface="黑体" panose="02010609060101010101" pitchFamily="49" charset="-122"/>
                <a:ea typeface="黑体" panose="02010609060101010101" pitchFamily="49" charset="-122"/>
              </a:rPr>
              <a:t>      </a:t>
            </a:r>
            <a:r>
              <a:rPr lang="en-US" altLang="zh-CN" sz="2700" b="0">
                <a:effectLst/>
                <a:latin typeface="黑体" panose="02010609060101010101" pitchFamily="49" charset="-122"/>
                <a:ea typeface="黑体" panose="02010609060101010101" pitchFamily="49" charset="-122"/>
              </a:rPr>
              <a:t>SQL</a:t>
            </a:r>
            <a:r>
              <a:rPr lang="zh-CN" altLang="en-US" sz="2700" b="0">
                <a:effectLst/>
                <a:latin typeface="黑体" panose="02010609060101010101" pitchFamily="49" charset="-122"/>
                <a:ea typeface="黑体" panose="02010609060101010101" pitchFamily="49" charset="-122"/>
              </a:rPr>
              <a:t>语句也需要利用主语言变量中的值或作为查询的条件值，或用于对数据库进行修改更新。</a:t>
            </a:r>
          </a:p>
          <a:p>
            <a:pPr>
              <a:lnSpc>
                <a:spcPct val="130000"/>
              </a:lnSpc>
              <a:spcBef>
                <a:spcPct val="0"/>
              </a:spcBef>
              <a:buFont typeface="Wingdings" panose="05000000000000000000" pitchFamily="2" charset="2"/>
              <a:buNone/>
            </a:pPr>
            <a:r>
              <a:rPr lang="zh-CN" altLang="en-US">
                <a:effectLst/>
              </a:rPr>
              <a:t>          </a:t>
            </a:r>
            <a:r>
              <a:rPr lang="zh-CN" altLang="en-US">
                <a:solidFill>
                  <a:schemeClr val="hlink"/>
                </a:solidFill>
                <a:effectLst/>
              </a:rPr>
              <a:t>实质：</a:t>
            </a:r>
            <a:r>
              <a:rPr lang="en-US" altLang="zh-CN" b="0">
                <a:solidFill>
                  <a:srgbClr val="006699"/>
                </a:solidFill>
                <a:effectLst/>
                <a:latin typeface="黑体" panose="02010609060101010101" pitchFamily="49" charset="-122"/>
                <a:ea typeface="黑体" panose="02010609060101010101" pitchFamily="49" charset="-122"/>
              </a:rPr>
              <a:t>SQL</a:t>
            </a:r>
            <a:r>
              <a:rPr lang="zh-CN" altLang="en-US" b="0">
                <a:solidFill>
                  <a:srgbClr val="006699"/>
                </a:solidFill>
                <a:effectLst/>
                <a:latin typeface="黑体" panose="02010609060101010101" pitchFamily="49" charset="-122"/>
                <a:ea typeface="黑体" panose="02010609060101010101" pitchFamily="49" charset="-122"/>
              </a:rPr>
              <a:t>语句中的列属性</a:t>
            </a:r>
            <a:r>
              <a:rPr lang="zh-CN" altLang="en-US" b="0">
                <a:solidFill>
                  <a:srgbClr val="660033"/>
                </a:solidFill>
                <a:effectLst/>
                <a:latin typeface="华文楷体" panose="02010600040101010101" pitchFamily="2" charset="-122"/>
                <a:ea typeface="华文楷体" panose="02010600040101010101" pitchFamily="2" charset="-122"/>
              </a:rPr>
              <a:t>（工作单元）</a:t>
            </a:r>
            <a:r>
              <a:rPr lang="zh-CN" altLang="en-US" b="0">
                <a:solidFill>
                  <a:srgbClr val="006699"/>
                </a:solidFill>
                <a:latin typeface="黑体" panose="02010609060101010101" pitchFamily="49" charset="-122"/>
                <a:ea typeface="黑体" panose="02010609060101010101" pitchFamily="49" charset="-122"/>
              </a:rPr>
              <a:t>与主语言的变量之间的数据传递</a:t>
            </a:r>
            <a:r>
              <a:rPr lang="en-US" altLang="zh-CN">
                <a:solidFill>
                  <a:srgbClr val="006699"/>
                </a:solidFill>
                <a:latin typeface="Arial" panose="020B0604020202020204" pitchFamily="34" charset="0"/>
                <a:ea typeface="黑体" panose="02010609060101010101" pitchFamily="49" charset="-122"/>
              </a:rPr>
              <a:t>——</a:t>
            </a:r>
            <a:r>
              <a:rPr lang="zh-CN" altLang="en-US">
                <a:solidFill>
                  <a:srgbClr val="006699"/>
                </a:solidFill>
                <a:latin typeface="黑体" panose="02010609060101010101" pitchFamily="49" charset="-122"/>
                <a:ea typeface="黑体" panose="02010609060101010101" pitchFamily="49" charset="-122"/>
              </a:rPr>
              <a:t>相互赋值问题。</a:t>
            </a:r>
            <a:r>
              <a:rPr lang="zh-CN" altLang="en-US"/>
              <a:t>  </a:t>
            </a:r>
          </a:p>
        </p:txBody>
      </p:sp>
      <p:sp>
        <p:nvSpPr>
          <p:cNvPr id="491525" name="Rectangle 5">
            <a:extLst>
              <a:ext uri="{FF2B5EF4-FFF2-40B4-BE49-F238E27FC236}">
                <a16:creationId xmlns:a16="http://schemas.microsoft.com/office/drawing/2014/main" id="{1A927E3C-97E9-4212-929C-50531610ACF4}"/>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2179"/>
    </mc:Choice>
    <mc:Fallback xmlns="">
      <p:transition spd="slow" advTm="13217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91524">
                                            <p:txEl>
                                              <p:pRg st="1" end="1"/>
                                            </p:txEl>
                                          </p:spTgt>
                                        </p:tgtEl>
                                        <p:attrNameLst>
                                          <p:attrName>style.visibility</p:attrName>
                                        </p:attrNameLst>
                                      </p:cBhvr>
                                      <p:to>
                                        <p:strVal val="visible"/>
                                      </p:to>
                                    </p:set>
                                    <p:animEffect transition="in" filter="wipe(left)">
                                      <p:cBhvr>
                                        <p:cTn id="7" dur="1000"/>
                                        <p:tgtEl>
                                          <p:spTgt spid="491524">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91524">
                                            <p:txEl>
                                              <p:pRg st="2" end="2"/>
                                            </p:txEl>
                                          </p:spTgt>
                                        </p:tgtEl>
                                        <p:attrNameLst>
                                          <p:attrName>style.visibility</p:attrName>
                                        </p:attrNameLst>
                                      </p:cBhvr>
                                      <p:to>
                                        <p:strVal val="visible"/>
                                      </p:to>
                                    </p:set>
                                    <p:animEffect transition="in" filter="wipe(up)">
                                      <p:cBhvr>
                                        <p:cTn id="11" dur="2000"/>
                                        <p:tgtEl>
                                          <p:spTgt spid="491524">
                                            <p:txEl>
                                              <p:pRg st="2" end="2"/>
                                            </p:txEl>
                                          </p:spTgt>
                                        </p:tgtEl>
                                      </p:cBhvr>
                                    </p:animEffect>
                                  </p:childTnLst>
                                </p:cTn>
                              </p:par>
                            </p:childTnLst>
                          </p:cTn>
                        </p:par>
                        <p:par>
                          <p:cTn id="12" fill="hold" nodeType="afterGroup">
                            <p:stCondLst>
                              <p:cond delay="3000"/>
                            </p:stCondLst>
                            <p:childTnLst>
                              <p:par>
                                <p:cTn id="13" presetID="22" presetClass="entr" presetSubtype="1" fill="hold" nodeType="afterEffect">
                                  <p:stCondLst>
                                    <p:cond delay="0"/>
                                  </p:stCondLst>
                                  <p:childTnLst>
                                    <p:set>
                                      <p:cBhvr>
                                        <p:cTn id="14" dur="1" fill="hold">
                                          <p:stCondLst>
                                            <p:cond delay="0"/>
                                          </p:stCondLst>
                                        </p:cTn>
                                        <p:tgtEl>
                                          <p:spTgt spid="491524">
                                            <p:txEl>
                                              <p:pRg st="3" end="3"/>
                                            </p:txEl>
                                          </p:spTgt>
                                        </p:tgtEl>
                                        <p:attrNameLst>
                                          <p:attrName>style.visibility</p:attrName>
                                        </p:attrNameLst>
                                      </p:cBhvr>
                                      <p:to>
                                        <p:strVal val="visible"/>
                                      </p:to>
                                    </p:set>
                                    <p:animEffect transition="in" filter="wipe(up)">
                                      <p:cBhvr>
                                        <p:cTn id="15" dur="2000"/>
                                        <p:tgtEl>
                                          <p:spTgt spid="491524">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91524">
                                            <p:txEl>
                                              <p:pRg st="4" end="4"/>
                                            </p:txEl>
                                          </p:spTgt>
                                        </p:tgtEl>
                                        <p:attrNameLst>
                                          <p:attrName>style.visibility</p:attrName>
                                        </p:attrNameLst>
                                      </p:cBhvr>
                                      <p:to>
                                        <p:strVal val="visible"/>
                                      </p:to>
                                    </p:set>
                                    <p:animEffect transition="in" filter="wipe(left)">
                                      <p:cBhvr>
                                        <p:cTn id="20" dur="1000"/>
                                        <p:tgtEl>
                                          <p:spTgt spid="4915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8" name="Rectangle 4">
            <a:extLst>
              <a:ext uri="{FF2B5EF4-FFF2-40B4-BE49-F238E27FC236}">
                <a16:creationId xmlns:a16="http://schemas.microsoft.com/office/drawing/2014/main" id="{61BE3534-334D-4D0D-9155-A42B10851DE6}"/>
              </a:ext>
            </a:extLst>
          </p:cNvPr>
          <p:cNvSpPr>
            <a:spLocks noChangeArrowheads="1"/>
          </p:cNvSpPr>
          <p:nvPr/>
        </p:nvSpPr>
        <p:spPr bwMode="auto">
          <a:xfrm>
            <a:off x="468313" y="1185863"/>
            <a:ext cx="8207375"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、嵌入式语句和主语言之间的通信</a:t>
            </a:r>
            <a:endParaRPr lang="zh-CN" altLang="en-US" b="0">
              <a:solidFill>
                <a:srgbClr val="003366"/>
              </a:solidFill>
              <a:effectLst/>
              <a:latin typeface="黑体" panose="02010609060101010101" pitchFamily="49" charset="-122"/>
              <a:ea typeface="黑体" panose="02010609060101010101" pitchFamily="49" charset="-122"/>
            </a:endParaRPr>
          </a:p>
          <a:p>
            <a:pPr>
              <a:buFont typeface="Wingdings" panose="05000000000000000000" pitchFamily="2" charset="2"/>
              <a:buNone/>
            </a:pPr>
            <a:r>
              <a:rPr lang="zh-CN" altLang="en-US" sz="3000">
                <a:solidFill>
                  <a:srgbClr val="660033"/>
                </a:solidFill>
                <a:ea typeface="华文新魏" panose="02010800040101010101" pitchFamily="2" charset="-122"/>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2</a:t>
            </a:r>
            <a:r>
              <a:rPr lang="zh-CN" altLang="en-US" b="0">
                <a:solidFill>
                  <a:srgbClr val="003366"/>
                </a:solidFill>
                <a:effectLst/>
                <a:latin typeface="黑体" panose="02010609060101010101" pitchFamily="49" charset="-122"/>
                <a:ea typeface="黑体" panose="02010609060101010101" pitchFamily="49" charset="-122"/>
              </a:rPr>
              <a:t>）主变量</a:t>
            </a:r>
            <a:r>
              <a:rPr lang="zh-CN" altLang="en-US"/>
              <a:t> </a:t>
            </a:r>
            <a:endParaRPr lang="zh-CN" altLang="en-US" b="0">
              <a:solidFill>
                <a:srgbClr val="003366"/>
              </a:solidFill>
              <a:effectLst/>
              <a:latin typeface="黑体" panose="02010609060101010101" pitchFamily="49" charset="-122"/>
              <a:ea typeface="黑体" panose="02010609060101010101" pitchFamily="49" charset="-122"/>
            </a:endParaRPr>
          </a:p>
          <a:p>
            <a:pPr>
              <a:lnSpc>
                <a:spcPct val="130000"/>
              </a:lnSpc>
              <a:spcBef>
                <a:spcPct val="0"/>
              </a:spcBef>
              <a:buFont typeface="Wingdings" panose="05000000000000000000" pitchFamily="2" charset="2"/>
              <a:buNone/>
            </a:pPr>
            <a:r>
              <a:rPr lang="zh-CN" altLang="en-US" sz="3000">
                <a:solidFill>
                  <a:srgbClr val="660033"/>
                </a:solidFill>
                <a:ea typeface="华文新魏" panose="02010800040101010101" pitchFamily="2" charset="-122"/>
              </a:rPr>
              <a:t>          </a:t>
            </a:r>
            <a:r>
              <a:rPr lang="zh-CN" altLang="en-US">
                <a:solidFill>
                  <a:srgbClr val="006666"/>
                </a:solidFill>
                <a:effectLst/>
                <a:latin typeface="黑体" panose="02010609060101010101" pitchFamily="49" charset="-122"/>
                <a:ea typeface="黑体" panose="02010609060101010101" pitchFamily="49" charset="-122"/>
              </a:rPr>
              <a:t>主语言和</a:t>
            </a:r>
            <a:r>
              <a:rPr lang="en-US" altLang="zh-CN">
                <a:solidFill>
                  <a:srgbClr val="006666"/>
                </a:solidFill>
                <a:effectLst/>
                <a:latin typeface="黑体" panose="02010609060101010101" pitchFamily="49" charset="-122"/>
                <a:ea typeface="黑体" panose="02010609060101010101" pitchFamily="49" charset="-122"/>
              </a:rPr>
              <a:t>SQL</a:t>
            </a:r>
            <a:r>
              <a:rPr lang="zh-CN" altLang="en-US">
                <a:solidFill>
                  <a:srgbClr val="006666"/>
                </a:solidFill>
                <a:effectLst/>
                <a:latin typeface="黑体" panose="02010609060101010101" pitchFamily="49" charset="-122"/>
                <a:ea typeface="黑体" panose="02010609060101010101" pitchFamily="49" charset="-122"/>
              </a:rPr>
              <a:t>语句都可以对其赋值和引用其值的变量，称为主变量。</a:t>
            </a:r>
          </a:p>
          <a:p>
            <a:pPr>
              <a:lnSpc>
                <a:spcPct val="130000"/>
              </a:lnSpc>
              <a:spcBef>
                <a:spcPct val="0"/>
              </a:spcBef>
              <a:buFont typeface="Wingdings" panose="05000000000000000000" pitchFamily="2" charset="2"/>
              <a:buNone/>
            </a:pPr>
            <a:r>
              <a:rPr lang="zh-CN" altLang="en-US"/>
              <a:t>          </a:t>
            </a:r>
            <a:r>
              <a:rPr lang="zh-CN" altLang="en-US" b="0">
                <a:latin typeface="黑体" panose="02010609060101010101" pitchFamily="49" charset="-122"/>
                <a:ea typeface="黑体" panose="02010609060101010101" pitchFamily="49" charset="-122"/>
              </a:rPr>
              <a:t>主变量用于实现</a:t>
            </a:r>
            <a:r>
              <a:rPr lang="zh-CN" altLang="en-US" b="0">
                <a:effectLst/>
                <a:latin typeface="黑体" panose="02010609060101010101" pitchFamily="49" charset="-122"/>
                <a:ea typeface="黑体" panose="02010609060101010101" pitchFamily="49" charset="-122"/>
              </a:rPr>
              <a:t>数据库工作单元（列属性</a:t>
            </a:r>
            <a:r>
              <a:rPr lang="zh-CN" altLang="en-US" b="0">
                <a:latin typeface="黑体" panose="02010609060101010101" pitchFamily="49" charset="-122"/>
                <a:ea typeface="黑体" panose="02010609060101010101" pitchFamily="49" charset="-122"/>
              </a:rPr>
              <a:t> </a:t>
            </a:r>
            <a:r>
              <a:rPr lang="zh-CN" altLang="en-US" b="0">
                <a:effectLst/>
                <a:latin typeface="黑体" panose="02010609060101010101" pitchFamily="49" charset="-122"/>
                <a:ea typeface="黑体" panose="02010609060101010101" pitchFamily="49" charset="-122"/>
              </a:rPr>
              <a:t>）与主语言之间的通信。</a:t>
            </a:r>
            <a:r>
              <a:rPr lang="zh-CN" altLang="en-US"/>
              <a:t> </a:t>
            </a:r>
          </a:p>
        </p:txBody>
      </p:sp>
      <p:sp>
        <p:nvSpPr>
          <p:cNvPr id="492549" name="Rectangle 5">
            <a:extLst>
              <a:ext uri="{FF2B5EF4-FFF2-40B4-BE49-F238E27FC236}">
                <a16:creationId xmlns:a16="http://schemas.microsoft.com/office/drawing/2014/main" id="{1D97E63A-1F8E-4F68-BE7C-66BE316B49AF}"/>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Sld>
  <p:clrMapOvr>
    <a:masterClrMapping/>
  </p:clrMapOvr>
  <mc:AlternateContent xmlns:mc="http://schemas.openxmlformats.org/markup-compatibility/2006" xmlns:p14="http://schemas.microsoft.com/office/powerpoint/2010/main">
    <mc:Choice Requires="p14">
      <p:transition spd="slow" p14:dur="2000" advTm="31745"/>
    </mc:Choice>
    <mc:Fallback xmlns="">
      <p:transition spd="slow" advTm="3174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92548">
                                            <p:txEl>
                                              <p:pRg st="1" end="1"/>
                                            </p:txEl>
                                          </p:spTgt>
                                        </p:tgtEl>
                                        <p:attrNameLst>
                                          <p:attrName>style.visibility</p:attrName>
                                        </p:attrNameLst>
                                      </p:cBhvr>
                                      <p:to>
                                        <p:strVal val="visible"/>
                                      </p:to>
                                    </p:set>
                                    <p:animEffect transition="in" filter="wipe(left)">
                                      <p:cBhvr>
                                        <p:cTn id="7" dur="1000"/>
                                        <p:tgtEl>
                                          <p:spTgt spid="492548">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92548">
                                            <p:txEl>
                                              <p:pRg st="2" end="2"/>
                                            </p:txEl>
                                          </p:spTgt>
                                        </p:tgtEl>
                                        <p:attrNameLst>
                                          <p:attrName>style.visibility</p:attrName>
                                        </p:attrNameLst>
                                      </p:cBhvr>
                                      <p:to>
                                        <p:strVal val="visible"/>
                                      </p:to>
                                    </p:set>
                                    <p:animEffect transition="in" filter="wipe(up)">
                                      <p:cBhvr>
                                        <p:cTn id="11" dur="2000"/>
                                        <p:tgtEl>
                                          <p:spTgt spid="492548">
                                            <p:txEl>
                                              <p:pRg st="2" end="2"/>
                                            </p:txEl>
                                          </p:spTgt>
                                        </p:tgtEl>
                                      </p:cBhvr>
                                    </p:animEffect>
                                  </p:childTnLst>
                                </p:cTn>
                              </p:par>
                            </p:childTnLst>
                          </p:cTn>
                        </p:par>
                        <p:par>
                          <p:cTn id="12" fill="hold" nodeType="afterGroup">
                            <p:stCondLst>
                              <p:cond delay="3000"/>
                            </p:stCondLst>
                            <p:childTnLst>
                              <p:par>
                                <p:cTn id="13" presetID="22" presetClass="entr" presetSubtype="1" fill="hold" nodeType="afterEffect">
                                  <p:stCondLst>
                                    <p:cond delay="0"/>
                                  </p:stCondLst>
                                  <p:childTnLst>
                                    <p:set>
                                      <p:cBhvr>
                                        <p:cTn id="14" dur="1" fill="hold">
                                          <p:stCondLst>
                                            <p:cond delay="0"/>
                                          </p:stCondLst>
                                        </p:cTn>
                                        <p:tgtEl>
                                          <p:spTgt spid="492548">
                                            <p:txEl>
                                              <p:pRg st="3" end="3"/>
                                            </p:txEl>
                                          </p:spTgt>
                                        </p:tgtEl>
                                        <p:attrNameLst>
                                          <p:attrName>style.visibility</p:attrName>
                                        </p:attrNameLst>
                                      </p:cBhvr>
                                      <p:to>
                                        <p:strVal val="visible"/>
                                      </p:to>
                                    </p:set>
                                    <p:animEffect transition="in" filter="wipe(up)">
                                      <p:cBhvr>
                                        <p:cTn id="15" dur="2000"/>
                                        <p:tgtEl>
                                          <p:spTgt spid="4925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6" name="Rectangle 4">
            <a:extLst>
              <a:ext uri="{FF2B5EF4-FFF2-40B4-BE49-F238E27FC236}">
                <a16:creationId xmlns:a16="http://schemas.microsoft.com/office/drawing/2014/main" id="{8C05582E-32B3-42B2-9CCC-9D210A8948FF}"/>
              </a:ext>
            </a:extLst>
          </p:cNvPr>
          <p:cNvSpPr>
            <a:spLocks noChangeArrowheads="1"/>
          </p:cNvSpPr>
          <p:nvPr/>
        </p:nvSpPr>
        <p:spPr bwMode="auto">
          <a:xfrm>
            <a:off x="468313" y="1185863"/>
            <a:ext cx="8207375"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、嵌入式语句和主语言之间的通信</a:t>
            </a:r>
            <a:endParaRPr lang="zh-CN" altLang="en-US" b="0">
              <a:solidFill>
                <a:srgbClr val="003366"/>
              </a:solidFill>
              <a:effectLst/>
              <a:latin typeface="黑体" panose="02010609060101010101" pitchFamily="49" charset="-122"/>
              <a:ea typeface="黑体" panose="02010609060101010101" pitchFamily="49" charset="-122"/>
            </a:endParaRPr>
          </a:p>
          <a:p>
            <a:pPr>
              <a:buFont typeface="Wingdings" panose="05000000000000000000" pitchFamily="2" charset="2"/>
              <a:buNone/>
            </a:pPr>
            <a:r>
              <a:rPr lang="zh-CN" altLang="en-US" sz="3000">
                <a:solidFill>
                  <a:srgbClr val="660033"/>
                </a:solidFill>
                <a:ea typeface="华文新魏" panose="02010800040101010101" pitchFamily="2" charset="-122"/>
              </a:rPr>
              <a:t>          </a:t>
            </a:r>
            <a:r>
              <a:rPr lang="zh-CN" altLang="en-US" b="0">
                <a:solidFill>
                  <a:srgbClr val="003366"/>
                </a:solidFill>
                <a:effectLst/>
                <a:latin typeface="黑体" panose="02010609060101010101" pitchFamily="49" charset="-122"/>
                <a:ea typeface="黑体" panose="02010609060101010101" pitchFamily="49" charset="-122"/>
              </a:rPr>
              <a:t>（</a:t>
            </a:r>
            <a:r>
              <a:rPr lang="en-US" altLang="zh-CN" b="0">
                <a:solidFill>
                  <a:srgbClr val="003366"/>
                </a:solidFill>
                <a:effectLst/>
                <a:latin typeface="黑体" panose="02010609060101010101" pitchFamily="49" charset="-122"/>
                <a:ea typeface="黑体" panose="02010609060101010101" pitchFamily="49" charset="-122"/>
              </a:rPr>
              <a:t>3</a:t>
            </a:r>
            <a:r>
              <a:rPr lang="zh-CN" altLang="en-US" b="0">
                <a:solidFill>
                  <a:srgbClr val="003366"/>
                </a:solidFill>
                <a:effectLst/>
                <a:latin typeface="黑体" panose="02010609060101010101" pitchFamily="49" charset="-122"/>
                <a:ea typeface="黑体" panose="02010609060101010101" pitchFamily="49" charset="-122"/>
              </a:rPr>
              <a:t>）主变量的分类</a:t>
            </a:r>
            <a:r>
              <a:rPr lang="zh-CN" altLang="en-US"/>
              <a:t> </a:t>
            </a:r>
            <a:endParaRPr lang="zh-CN" altLang="en-US" b="0">
              <a:solidFill>
                <a:srgbClr val="003366"/>
              </a:solidFill>
              <a:effectLst/>
              <a:latin typeface="黑体" panose="02010609060101010101" pitchFamily="49" charset="-122"/>
              <a:ea typeface="黑体" panose="02010609060101010101" pitchFamily="49" charset="-122"/>
            </a:endParaRPr>
          </a:p>
          <a:p>
            <a:pPr>
              <a:lnSpc>
                <a:spcPct val="130000"/>
              </a:lnSpc>
              <a:spcBef>
                <a:spcPct val="0"/>
              </a:spcBef>
              <a:buFont typeface="Wingdings" panose="05000000000000000000" pitchFamily="2" charset="2"/>
              <a:buNone/>
            </a:pPr>
            <a:r>
              <a:rPr lang="zh-CN" altLang="en-US" sz="3000">
                <a:solidFill>
                  <a:srgbClr val="660033"/>
                </a:solidFill>
                <a:ea typeface="华文新魏" panose="02010800040101010101" pitchFamily="2" charset="-122"/>
              </a:rPr>
              <a:t>          </a:t>
            </a:r>
            <a:r>
              <a:rPr lang="zh-CN" altLang="en-US">
                <a:solidFill>
                  <a:srgbClr val="006666"/>
                </a:solidFill>
                <a:effectLst/>
                <a:latin typeface="黑体" panose="02010609060101010101" pitchFamily="49" charset="-122"/>
                <a:ea typeface="黑体" panose="02010609060101010101" pitchFamily="49" charset="-122"/>
              </a:rPr>
              <a:t>输入主变量、</a:t>
            </a:r>
            <a:r>
              <a:rPr lang="zh-CN" altLang="en-US"/>
              <a:t>输出</a:t>
            </a:r>
            <a:r>
              <a:rPr lang="zh-CN" altLang="en-US" b="0">
                <a:latin typeface="黑体" panose="02010609060101010101" pitchFamily="49" charset="-122"/>
                <a:ea typeface="黑体" panose="02010609060101010101" pitchFamily="49" charset="-122"/>
              </a:rPr>
              <a:t>主变量</a:t>
            </a:r>
            <a:endParaRPr lang="zh-CN" altLang="en-US"/>
          </a:p>
        </p:txBody>
      </p:sp>
      <p:sp>
        <p:nvSpPr>
          <p:cNvPr id="504837" name="Rectangle 5">
            <a:extLst>
              <a:ext uri="{FF2B5EF4-FFF2-40B4-BE49-F238E27FC236}">
                <a16:creationId xmlns:a16="http://schemas.microsoft.com/office/drawing/2014/main" id="{86508484-5005-4C57-8085-6118F965706E}"/>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Sld>
  <p:clrMapOvr>
    <a:masterClrMapping/>
  </p:clrMapOvr>
  <mc:AlternateContent xmlns:mc="http://schemas.openxmlformats.org/markup-compatibility/2006" xmlns:p14="http://schemas.microsoft.com/office/powerpoint/2010/main">
    <mc:Choice Requires="p14">
      <p:transition spd="slow" p14:dur="2000" advTm="9013"/>
    </mc:Choice>
    <mc:Fallback xmlns="">
      <p:transition spd="slow" advTm="901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04836">
                                            <p:txEl>
                                              <p:pRg st="1" end="1"/>
                                            </p:txEl>
                                          </p:spTgt>
                                        </p:tgtEl>
                                        <p:attrNameLst>
                                          <p:attrName>style.visibility</p:attrName>
                                        </p:attrNameLst>
                                      </p:cBhvr>
                                      <p:to>
                                        <p:strVal val="visible"/>
                                      </p:to>
                                    </p:set>
                                    <p:animEffect transition="in" filter="wipe(left)">
                                      <p:cBhvr>
                                        <p:cTn id="7" dur="1000"/>
                                        <p:tgtEl>
                                          <p:spTgt spid="504836">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4836">
                                            <p:txEl>
                                              <p:pRg st="2" end="2"/>
                                            </p:txEl>
                                          </p:spTgt>
                                        </p:tgtEl>
                                        <p:attrNameLst>
                                          <p:attrName>style.visibility</p:attrName>
                                        </p:attrNameLst>
                                      </p:cBhvr>
                                      <p:to>
                                        <p:strVal val="visible"/>
                                      </p:to>
                                    </p:set>
                                    <p:animEffect transition="in" filter="wipe(up)">
                                      <p:cBhvr>
                                        <p:cTn id="11" dur="2000"/>
                                        <p:tgtEl>
                                          <p:spTgt spid="5048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3" name="Rectangle 5">
            <a:extLst>
              <a:ext uri="{FF2B5EF4-FFF2-40B4-BE49-F238E27FC236}">
                <a16:creationId xmlns:a16="http://schemas.microsoft.com/office/drawing/2014/main" id="{3167F1E2-3ED9-4457-9B8A-A9D86394651E}"/>
              </a:ext>
            </a:extLst>
          </p:cNvPr>
          <p:cNvSpPr>
            <a:spLocks noChangeArrowheads="1"/>
          </p:cNvSpPr>
          <p:nvPr/>
        </p:nvSpPr>
        <p:spPr bwMode="auto">
          <a:xfrm>
            <a:off x="468313" y="1773238"/>
            <a:ext cx="8207375"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40000"/>
              </a:lnSpc>
              <a:spcBef>
                <a:spcPct val="0"/>
              </a:spcBef>
              <a:buFont typeface="Wingdings" panose="05000000000000000000" pitchFamily="2" charset="2"/>
              <a:buNone/>
            </a:pPr>
            <a:r>
              <a:rPr lang="en-US" altLang="zh-CN" b="0" dirty="0">
                <a:solidFill>
                  <a:srgbClr val="003366"/>
                </a:solidFill>
                <a:effectLst/>
                <a:latin typeface="黑体" panose="02010609060101010101" pitchFamily="49" charset="-122"/>
                <a:ea typeface="黑体" panose="02010609060101010101" pitchFamily="49" charset="-122"/>
              </a:rPr>
              <a:t> </a:t>
            </a:r>
            <a:r>
              <a:rPr lang="zh-CN" altLang="en-US" dirty="0">
                <a:solidFill>
                  <a:srgbClr val="660066"/>
                </a:solidFill>
                <a:effectLst/>
                <a:latin typeface="黑体" panose="02010609060101010101" pitchFamily="49" charset="-122"/>
                <a:ea typeface="黑体" panose="02010609060101010101" pitchFamily="49" charset="-122"/>
              </a:rPr>
              <a:t>例</a:t>
            </a:r>
            <a:r>
              <a:rPr lang="en-US" altLang="zh-CN" dirty="0">
                <a:solidFill>
                  <a:srgbClr val="660066"/>
                </a:solidFill>
                <a:effectLst/>
                <a:latin typeface="黑体" panose="02010609060101010101" pitchFamily="49" charset="-122"/>
                <a:ea typeface="黑体" panose="02010609060101010101" pitchFamily="49" charset="-122"/>
              </a:rPr>
              <a:t>5.51</a:t>
            </a:r>
            <a:r>
              <a:rPr lang="en-US" altLang="zh-CN" b="0" dirty="0">
                <a:solidFill>
                  <a:srgbClr val="003366"/>
                </a:solidFill>
                <a:effectLst/>
                <a:latin typeface="黑体" panose="02010609060101010101" pitchFamily="49" charset="-122"/>
                <a:ea typeface="黑体" panose="02010609060101010101" pitchFamily="49" charset="-122"/>
              </a:rPr>
              <a:t>  </a:t>
            </a:r>
            <a:r>
              <a:rPr lang="zh-CN" altLang="en-US" dirty="0">
                <a:solidFill>
                  <a:srgbClr val="003366"/>
                </a:solidFill>
                <a:effectLst/>
                <a:latin typeface="黑体" panose="02010609060101010101" pitchFamily="49" charset="-122"/>
                <a:ea typeface="黑体" panose="02010609060101010101" pitchFamily="49" charset="-122"/>
              </a:rPr>
              <a:t>向课程数据库表中插入一个数据记录。</a:t>
            </a:r>
          </a:p>
          <a:p>
            <a:pPr>
              <a:lnSpc>
                <a:spcPct val="140000"/>
              </a:lnSpc>
              <a:spcBef>
                <a:spcPct val="0"/>
              </a:spcBef>
              <a:buFont typeface="Wingdings" panose="05000000000000000000" pitchFamily="2" charset="2"/>
              <a:buNone/>
            </a:pPr>
            <a:r>
              <a:rPr lang="zh-CN" altLang="en-US" b="0" dirty="0">
                <a:effectLst/>
              </a:rPr>
              <a:t>         </a:t>
            </a:r>
            <a:r>
              <a:rPr lang="en-US" altLang="zh-CN" b="0" dirty="0">
                <a:effectLst/>
              </a:rPr>
              <a:t>INSERT INTO  C(C#</a:t>
            </a:r>
            <a:r>
              <a:rPr lang="zh-CN" altLang="en-US" b="0" dirty="0">
                <a:effectLst/>
              </a:rPr>
              <a:t>，</a:t>
            </a:r>
            <a:r>
              <a:rPr lang="en-US" altLang="zh-CN" b="0" dirty="0">
                <a:effectLst/>
              </a:rPr>
              <a:t>CNAME</a:t>
            </a:r>
            <a:r>
              <a:rPr lang="zh-CN" altLang="en-US" b="0" dirty="0">
                <a:effectLst/>
              </a:rPr>
              <a:t>，</a:t>
            </a:r>
            <a:r>
              <a:rPr lang="en-US" altLang="zh-CN" b="0" dirty="0">
                <a:effectLst/>
              </a:rPr>
              <a:t>CLASSH)</a:t>
            </a:r>
          </a:p>
          <a:p>
            <a:pPr>
              <a:lnSpc>
                <a:spcPct val="140000"/>
              </a:lnSpc>
              <a:spcBef>
                <a:spcPct val="0"/>
              </a:spcBef>
              <a:buFont typeface="Wingdings" panose="05000000000000000000" pitchFamily="2" charset="2"/>
              <a:buNone/>
            </a:pPr>
            <a:r>
              <a:rPr lang="en-US" altLang="zh-CN" b="0" dirty="0">
                <a:effectLst/>
              </a:rPr>
              <a:t>         VALUES(</a:t>
            </a:r>
            <a:r>
              <a:rPr lang="en-US" altLang="zh-CN" dirty="0"/>
              <a:t>‘C403001’</a:t>
            </a:r>
            <a:r>
              <a:rPr lang="zh-CN" altLang="en-US" dirty="0"/>
              <a:t>，</a:t>
            </a:r>
            <a:r>
              <a:rPr lang="en-US" altLang="zh-CN" dirty="0"/>
              <a:t>’</a:t>
            </a:r>
            <a:r>
              <a:rPr lang="zh-CN" altLang="en-US" dirty="0"/>
              <a:t>计算机网络</a:t>
            </a:r>
            <a:r>
              <a:rPr lang="en-US" altLang="zh-CN" dirty="0"/>
              <a:t>’</a:t>
            </a:r>
            <a:r>
              <a:rPr lang="zh-CN" altLang="en-US" b="0" dirty="0">
                <a:effectLst/>
              </a:rPr>
              <a:t>，</a:t>
            </a:r>
            <a:r>
              <a:rPr lang="en-US" altLang="zh-CN" b="0" dirty="0">
                <a:effectLst/>
              </a:rPr>
              <a:t>60)</a:t>
            </a:r>
            <a:r>
              <a:rPr lang="zh-CN" altLang="en-US" b="0" dirty="0">
                <a:effectLst/>
              </a:rPr>
              <a:t>；</a:t>
            </a:r>
          </a:p>
          <a:p>
            <a:pPr>
              <a:lnSpc>
                <a:spcPct val="100000"/>
              </a:lnSpc>
              <a:spcBef>
                <a:spcPct val="0"/>
              </a:spcBef>
              <a:buFont typeface="Wingdings" panose="05000000000000000000" pitchFamily="2" charset="2"/>
              <a:buNone/>
            </a:pPr>
            <a:r>
              <a:rPr lang="zh-CN" altLang="en-US" b="0" dirty="0">
                <a:effectLst/>
              </a:rPr>
              <a:t>         </a:t>
            </a:r>
          </a:p>
          <a:p>
            <a:pPr>
              <a:lnSpc>
                <a:spcPct val="140000"/>
              </a:lnSpc>
              <a:spcBef>
                <a:spcPct val="0"/>
              </a:spcBef>
              <a:buFont typeface="Wingdings" panose="05000000000000000000" pitchFamily="2" charset="2"/>
              <a:buNone/>
            </a:pPr>
            <a:r>
              <a:rPr lang="zh-CN" altLang="en-US" b="0" dirty="0">
                <a:effectLst/>
              </a:rPr>
              <a:t>        </a:t>
            </a:r>
            <a:r>
              <a:rPr lang="en-US" altLang="zh-CN" b="0" dirty="0">
                <a:effectLst/>
              </a:rPr>
              <a:t>INSERT INTO  C(C#</a:t>
            </a:r>
            <a:r>
              <a:rPr lang="zh-CN" altLang="en-US" b="0" dirty="0">
                <a:effectLst/>
              </a:rPr>
              <a:t>，</a:t>
            </a:r>
            <a:r>
              <a:rPr lang="en-US" altLang="zh-CN" b="0" dirty="0">
                <a:effectLst/>
              </a:rPr>
              <a:t>CNAME</a:t>
            </a:r>
            <a:r>
              <a:rPr lang="zh-CN" altLang="en-US" b="0" dirty="0">
                <a:effectLst/>
              </a:rPr>
              <a:t>，</a:t>
            </a:r>
            <a:r>
              <a:rPr lang="en-US" altLang="zh-CN" b="0" dirty="0">
                <a:effectLst/>
              </a:rPr>
              <a:t>CLASSH)</a:t>
            </a:r>
          </a:p>
          <a:p>
            <a:pPr>
              <a:lnSpc>
                <a:spcPct val="140000"/>
              </a:lnSpc>
              <a:spcBef>
                <a:spcPct val="0"/>
              </a:spcBef>
              <a:buFont typeface="Wingdings" panose="05000000000000000000" pitchFamily="2" charset="2"/>
              <a:buNone/>
            </a:pPr>
            <a:r>
              <a:rPr lang="en-US" altLang="zh-CN" b="0" dirty="0">
                <a:effectLst/>
              </a:rPr>
              <a:t>         VALUES(@num</a:t>
            </a:r>
            <a:r>
              <a:rPr lang="zh-CN" altLang="en-US" b="0" dirty="0">
                <a:effectLst/>
              </a:rPr>
              <a:t>，</a:t>
            </a:r>
            <a:r>
              <a:rPr lang="en-US" altLang="zh-CN" b="0" dirty="0">
                <a:effectLst/>
              </a:rPr>
              <a:t>@cname1</a:t>
            </a:r>
            <a:r>
              <a:rPr lang="zh-CN" altLang="en-US" b="0" dirty="0">
                <a:effectLst/>
              </a:rPr>
              <a:t>，</a:t>
            </a:r>
            <a:r>
              <a:rPr lang="en-US" altLang="zh-CN" b="0" dirty="0">
                <a:effectLst/>
              </a:rPr>
              <a:t>@classh1)</a:t>
            </a:r>
            <a:r>
              <a:rPr lang="zh-CN" altLang="en-US" b="0" dirty="0">
                <a:effectLst/>
              </a:rPr>
              <a:t>；</a:t>
            </a:r>
          </a:p>
        </p:txBody>
      </p:sp>
      <p:sp>
        <p:nvSpPr>
          <p:cNvPr id="493574" name="AutoShape 6">
            <a:extLst>
              <a:ext uri="{FF2B5EF4-FFF2-40B4-BE49-F238E27FC236}">
                <a16:creationId xmlns:a16="http://schemas.microsoft.com/office/drawing/2014/main" id="{E6CD5193-B49E-461B-AF4A-090727C57E7A}"/>
              </a:ext>
            </a:extLst>
          </p:cNvPr>
          <p:cNvSpPr>
            <a:spLocks noChangeArrowheads="1"/>
          </p:cNvSpPr>
          <p:nvPr/>
        </p:nvSpPr>
        <p:spPr bwMode="auto">
          <a:xfrm>
            <a:off x="4211638" y="3673475"/>
            <a:ext cx="690562" cy="431800"/>
          </a:xfrm>
          <a:prstGeom prst="downArrow">
            <a:avLst>
              <a:gd name="adj1" fmla="val 50000"/>
              <a:gd name="adj2" fmla="val 25000"/>
            </a:avLst>
          </a:prstGeom>
          <a:solidFill>
            <a:srgbClr val="99FFCC"/>
          </a:solidFill>
          <a:ln w="9525" algn="ctr">
            <a:solidFill>
              <a:srgbClr val="0033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93575" name="Group 7">
            <a:extLst>
              <a:ext uri="{FF2B5EF4-FFF2-40B4-BE49-F238E27FC236}">
                <a16:creationId xmlns:a16="http://schemas.microsoft.com/office/drawing/2014/main" id="{78C7D1F6-7EC6-494B-B723-69699300AAAE}"/>
              </a:ext>
            </a:extLst>
          </p:cNvPr>
          <p:cNvGrpSpPr>
            <a:grpSpLocks/>
          </p:cNvGrpSpPr>
          <p:nvPr/>
        </p:nvGrpSpPr>
        <p:grpSpPr bwMode="auto">
          <a:xfrm>
            <a:off x="2470150" y="4778375"/>
            <a:ext cx="3527425" cy="1223963"/>
            <a:chOff x="1565" y="3294"/>
            <a:chExt cx="2222" cy="771"/>
          </a:xfrm>
        </p:grpSpPr>
        <p:sp>
          <p:nvSpPr>
            <p:cNvPr id="493576" name="AutoShape 8">
              <a:extLst>
                <a:ext uri="{FF2B5EF4-FFF2-40B4-BE49-F238E27FC236}">
                  <a16:creationId xmlns:a16="http://schemas.microsoft.com/office/drawing/2014/main" id="{A87E3DAA-F7AF-4254-97AE-0E06BD7C1A05}"/>
                </a:ext>
              </a:extLst>
            </p:cNvPr>
            <p:cNvSpPr>
              <a:spLocks noChangeArrowheads="1"/>
            </p:cNvSpPr>
            <p:nvPr/>
          </p:nvSpPr>
          <p:spPr bwMode="auto">
            <a:xfrm>
              <a:off x="1565" y="3681"/>
              <a:ext cx="1171" cy="384"/>
            </a:xfrm>
            <a:prstGeom prst="wedgeRoundRectCallout">
              <a:avLst>
                <a:gd name="adj1" fmla="val 76560"/>
                <a:gd name="adj2" fmla="val -64583"/>
                <a:gd name="adj3" fmla="val 16667"/>
              </a:avLst>
            </a:prstGeom>
            <a:solidFill>
              <a:srgbClr val="99FF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buSzTx/>
                <a:buFontTx/>
                <a:buNone/>
              </a:pPr>
              <a:r>
                <a:rPr kumimoji="1" lang="zh-CN" altLang="en-US" sz="2000" b="1">
                  <a:effectLst>
                    <a:outerShdw blurRad="38100" dist="38100" dir="2700000" algn="tl">
                      <a:srgbClr val="FFFFFF"/>
                    </a:outerShdw>
                  </a:effectLst>
                </a:rPr>
                <a:t>输入宿主变量</a:t>
              </a:r>
              <a:r>
                <a:rPr kumimoji="1" lang="zh-CN" altLang="en-US"/>
                <a:t> </a:t>
              </a:r>
            </a:p>
          </p:txBody>
        </p:sp>
        <p:sp>
          <p:nvSpPr>
            <p:cNvPr id="493577" name="Oval 9">
              <a:extLst>
                <a:ext uri="{FF2B5EF4-FFF2-40B4-BE49-F238E27FC236}">
                  <a16:creationId xmlns:a16="http://schemas.microsoft.com/office/drawing/2014/main" id="{8A6D84B1-3876-4615-A36A-1C2658C96CBF}"/>
                </a:ext>
              </a:extLst>
            </p:cNvPr>
            <p:cNvSpPr>
              <a:spLocks noChangeArrowheads="1"/>
            </p:cNvSpPr>
            <p:nvPr/>
          </p:nvSpPr>
          <p:spPr bwMode="auto">
            <a:xfrm>
              <a:off x="2880" y="3294"/>
              <a:ext cx="907" cy="318"/>
            </a:xfrm>
            <a:prstGeom prst="ellipse">
              <a:avLst/>
            </a:prstGeom>
            <a:noFill/>
            <a:ln w="38100" cap="sq">
              <a:solidFill>
                <a:srgbClr val="800080"/>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93578" name="Rectangle 10">
            <a:extLst>
              <a:ext uri="{FF2B5EF4-FFF2-40B4-BE49-F238E27FC236}">
                <a16:creationId xmlns:a16="http://schemas.microsoft.com/office/drawing/2014/main" id="{B680E158-5E17-4511-B354-14A2B52648E6}"/>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
        <p:nvSpPr>
          <p:cNvPr id="493579" name="Rectangle 11">
            <a:extLst>
              <a:ext uri="{FF2B5EF4-FFF2-40B4-BE49-F238E27FC236}">
                <a16:creationId xmlns:a16="http://schemas.microsoft.com/office/drawing/2014/main" id="{D7CA0A9F-0F91-47D9-AC9D-BD57E0FAD49E}"/>
              </a:ext>
            </a:extLst>
          </p:cNvPr>
          <p:cNvSpPr>
            <a:spLocks noChangeArrowheads="1"/>
          </p:cNvSpPr>
          <p:nvPr/>
        </p:nvSpPr>
        <p:spPr bwMode="auto">
          <a:xfrm>
            <a:off x="457200" y="1219200"/>
            <a:ext cx="82073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a:t>
            </a:r>
            <a:r>
              <a:rPr lang="zh-CN" altLang="en-US">
                <a:solidFill>
                  <a:srgbClr val="660033"/>
                </a:solidFill>
                <a:effectLst/>
                <a:latin typeface="黑体" panose="02010609060101010101" pitchFamily="49" charset="-122"/>
                <a:ea typeface="黑体" panose="02010609060101010101" pitchFamily="49" charset="-122"/>
              </a:rPr>
              <a:t>输入主变量：</a:t>
            </a:r>
            <a:endParaRPr lang="zh-CN" altLang="en-US">
              <a:solidFill>
                <a:srgbClr val="660033"/>
              </a:solidFill>
            </a:endParaRPr>
          </a:p>
        </p:txBody>
      </p:sp>
      <p:sp>
        <p:nvSpPr>
          <p:cNvPr id="493580" name="Text Box 12">
            <a:extLst>
              <a:ext uri="{FF2B5EF4-FFF2-40B4-BE49-F238E27FC236}">
                <a16:creationId xmlns:a16="http://schemas.microsoft.com/office/drawing/2014/main" id="{6F9DD0BC-D4BC-4B18-8B1E-572E44ECC642}"/>
              </a:ext>
            </a:extLst>
          </p:cNvPr>
          <p:cNvSpPr txBox="1">
            <a:spLocks noChangeArrowheads="1"/>
          </p:cNvSpPr>
          <p:nvPr/>
        </p:nvSpPr>
        <p:spPr bwMode="auto">
          <a:xfrm>
            <a:off x="4953000" y="3657600"/>
            <a:ext cx="4114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r>
              <a:rPr lang="zh-CN" altLang="en-US" b="1">
                <a:solidFill>
                  <a:schemeClr val="hlink"/>
                </a:solidFill>
              </a:rPr>
              <a:t>当各字段值在程序运行时由屏幕输入时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7675"/>
    </mc:Choice>
    <mc:Fallback xmlns="">
      <p:transition spd="slow" advTm="107675"/>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3579"/>
                                        </p:tgtEl>
                                        <p:attrNameLst>
                                          <p:attrName>style.visibility</p:attrName>
                                        </p:attrNameLst>
                                      </p:cBhvr>
                                      <p:to>
                                        <p:strVal val="visible"/>
                                      </p:to>
                                    </p:set>
                                    <p:animEffect transition="in" filter="wipe(left)">
                                      <p:cBhvr>
                                        <p:cTn id="7" dur="2000"/>
                                        <p:tgtEl>
                                          <p:spTgt spid="493579"/>
                                        </p:tgtEl>
                                      </p:cBhvr>
                                    </p:animEffect>
                                  </p:childTnLst>
                                </p:cTn>
                              </p:par>
                            </p:childTnLst>
                          </p:cTn>
                        </p:par>
                        <p:par>
                          <p:cTn id="8" fill="hold" nodeType="afterGroup">
                            <p:stCondLst>
                              <p:cond delay="2000"/>
                            </p:stCondLst>
                            <p:childTnLst>
                              <p:par>
                                <p:cTn id="9" presetID="22" presetClass="entr" presetSubtype="1" fill="hold" nodeType="afterEffect">
                                  <p:stCondLst>
                                    <p:cond delay="500"/>
                                  </p:stCondLst>
                                  <p:childTnLst>
                                    <p:set>
                                      <p:cBhvr>
                                        <p:cTn id="10" dur="1" fill="hold">
                                          <p:stCondLst>
                                            <p:cond delay="0"/>
                                          </p:stCondLst>
                                        </p:cTn>
                                        <p:tgtEl>
                                          <p:spTgt spid="493573">
                                            <p:txEl>
                                              <p:pRg st="0" end="0"/>
                                            </p:txEl>
                                          </p:spTgt>
                                        </p:tgtEl>
                                        <p:attrNameLst>
                                          <p:attrName>style.visibility</p:attrName>
                                        </p:attrNameLst>
                                      </p:cBhvr>
                                      <p:to>
                                        <p:strVal val="visible"/>
                                      </p:to>
                                    </p:set>
                                    <p:animEffect transition="in" filter="wipe(up)">
                                      <p:cBhvr>
                                        <p:cTn id="11" dur="1000"/>
                                        <p:tgtEl>
                                          <p:spTgt spid="493573">
                                            <p:txEl>
                                              <p:pRg st="0" end="0"/>
                                            </p:txEl>
                                          </p:spTgt>
                                        </p:tgtEl>
                                      </p:cBhvr>
                                    </p:animEffect>
                                  </p:childTnLst>
                                </p:cTn>
                              </p:par>
                            </p:childTnLst>
                          </p:cTn>
                        </p:par>
                        <p:par>
                          <p:cTn id="12" fill="hold" nodeType="afterGroup">
                            <p:stCondLst>
                              <p:cond delay="3500"/>
                            </p:stCondLst>
                            <p:childTnLst>
                              <p:par>
                                <p:cTn id="13" presetID="22" presetClass="entr" presetSubtype="1" fill="hold" nodeType="afterEffect">
                                  <p:stCondLst>
                                    <p:cond delay="0"/>
                                  </p:stCondLst>
                                  <p:childTnLst>
                                    <p:set>
                                      <p:cBhvr>
                                        <p:cTn id="14" dur="1" fill="hold">
                                          <p:stCondLst>
                                            <p:cond delay="0"/>
                                          </p:stCondLst>
                                        </p:cTn>
                                        <p:tgtEl>
                                          <p:spTgt spid="493573">
                                            <p:txEl>
                                              <p:pRg st="1" end="1"/>
                                            </p:txEl>
                                          </p:spTgt>
                                        </p:tgtEl>
                                        <p:attrNameLst>
                                          <p:attrName>style.visibility</p:attrName>
                                        </p:attrNameLst>
                                      </p:cBhvr>
                                      <p:to>
                                        <p:strVal val="visible"/>
                                      </p:to>
                                    </p:set>
                                    <p:animEffect transition="in" filter="wipe(up)">
                                      <p:cBhvr>
                                        <p:cTn id="15" dur="1000"/>
                                        <p:tgtEl>
                                          <p:spTgt spid="493573">
                                            <p:txEl>
                                              <p:pRg st="1" end="1"/>
                                            </p:txEl>
                                          </p:spTgt>
                                        </p:tgtEl>
                                      </p:cBhvr>
                                    </p:animEffect>
                                  </p:childTnLst>
                                </p:cTn>
                              </p:par>
                            </p:childTnLst>
                          </p:cTn>
                        </p:par>
                        <p:par>
                          <p:cTn id="16" fill="hold" nodeType="afterGroup">
                            <p:stCondLst>
                              <p:cond delay="4500"/>
                            </p:stCondLst>
                            <p:childTnLst>
                              <p:par>
                                <p:cTn id="17" presetID="22" presetClass="entr" presetSubtype="1" fill="hold" nodeType="afterEffect">
                                  <p:stCondLst>
                                    <p:cond delay="0"/>
                                  </p:stCondLst>
                                  <p:childTnLst>
                                    <p:set>
                                      <p:cBhvr>
                                        <p:cTn id="18" dur="1" fill="hold">
                                          <p:stCondLst>
                                            <p:cond delay="0"/>
                                          </p:stCondLst>
                                        </p:cTn>
                                        <p:tgtEl>
                                          <p:spTgt spid="493573">
                                            <p:txEl>
                                              <p:pRg st="2" end="2"/>
                                            </p:txEl>
                                          </p:spTgt>
                                        </p:tgtEl>
                                        <p:attrNameLst>
                                          <p:attrName>style.visibility</p:attrName>
                                        </p:attrNameLst>
                                      </p:cBhvr>
                                      <p:to>
                                        <p:strVal val="visible"/>
                                      </p:to>
                                    </p:set>
                                    <p:animEffect transition="in" filter="wipe(up)">
                                      <p:cBhvr>
                                        <p:cTn id="19" dur="1000"/>
                                        <p:tgtEl>
                                          <p:spTgt spid="493573">
                                            <p:txEl>
                                              <p:pRg st="2" end="2"/>
                                            </p:txEl>
                                          </p:spTgt>
                                        </p:tgtEl>
                                      </p:cBhvr>
                                    </p:animEffect>
                                  </p:childTnLst>
                                </p:cTn>
                              </p:par>
                            </p:childTnLst>
                          </p:cTn>
                        </p:par>
                        <p:par>
                          <p:cTn id="20" fill="hold" nodeType="afterGroup">
                            <p:stCondLst>
                              <p:cond delay="5500"/>
                            </p:stCondLst>
                            <p:childTnLst>
                              <p:par>
                                <p:cTn id="21" presetID="22" presetClass="entr" presetSubtype="1" fill="hold" nodeType="afterEffect">
                                  <p:stCondLst>
                                    <p:cond delay="4000"/>
                                  </p:stCondLst>
                                  <p:childTnLst>
                                    <p:set>
                                      <p:cBhvr>
                                        <p:cTn id="22" dur="1" fill="hold">
                                          <p:stCondLst>
                                            <p:cond delay="0"/>
                                          </p:stCondLst>
                                        </p:cTn>
                                        <p:tgtEl>
                                          <p:spTgt spid="493574"/>
                                        </p:tgtEl>
                                        <p:attrNameLst>
                                          <p:attrName>style.visibility</p:attrName>
                                        </p:attrNameLst>
                                      </p:cBhvr>
                                      <p:to>
                                        <p:strVal val="visible"/>
                                      </p:to>
                                    </p:set>
                                    <p:animEffect transition="in" filter="wipe(up)">
                                      <p:cBhvr>
                                        <p:cTn id="23" dur="2000"/>
                                        <p:tgtEl>
                                          <p:spTgt spid="493574"/>
                                        </p:tgtEl>
                                      </p:cBhvr>
                                    </p:animEffect>
                                  </p:childTnLst>
                                </p:cTn>
                              </p:par>
                            </p:childTnLst>
                          </p:cTn>
                        </p:par>
                        <p:par>
                          <p:cTn id="24" fill="hold" nodeType="afterGroup">
                            <p:stCondLst>
                              <p:cond delay="11500"/>
                            </p:stCondLst>
                            <p:childTnLst>
                              <p:par>
                                <p:cTn id="25" presetID="22" presetClass="entr" presetSubtype="8" fill="hold" grpId="0" nodeType="afterEffect">
                                  <p:stCondLst>
                                    <p:cond delay="0"/>
                                  </p:stCondLst>
                                  <p:childTnLst>
                                    <p:set>
                                      <p:cBhvr>
                                        <p:cTn id="26" dur="1" fill="hold">
                                          <p:stCondLst>
                                            <p:cond delay="0"/>
                                          </p:stCondLst>
                                        </p:cTn>
                                        <p:tgtEl>
                                          <p:spTgt spid="493580"/>
                                        </p:tgtEl>
                                        <p:attrNameLst>
                                          <p:attrName>style.visibility</p:attrName>
                                        </p:attrNameLst>
                                      </p:cBhvr>
                                      <p:to>
                                        <p:strVal val="visible"/>
                                      </p:to>
                                    </p:set>
                                    <p:animEffect transition="in" filter="wipe(left)">
                                      <p:cBhvr>
                                        <p:cTn id="27" dur="1000"/>
                                        <p:tgtEl>
                                          <p:spTgt spid="493580"/>
                                        </p:tgtEl>
                                      </p:cBhvr>
                                    </p:animEffect>
                                  </p:childTnLst>
                                </p:cTn>
                              </p:par>
                            </p:childTnLst>
                          </p:cTn>
                        </p:par>
                        <p:par>
                          <p:cTn id="28" fill="hold" nodeType="afterGroup">
                            <p:stCondLst>
                              <p:cond delay="12500"/>
                            </p:stCondLst>
                            <p:childTnLst>
                              <p:par>
                                <p:cTn id="29" presetID="22" presetClass="entr" presetSubtype="1" fill="hold" nodeType="afterEffect">
                                  <p:stCondLst>
                                    <p:cond delay="0"/>
                                  </p:stCondLst>
                                  <p:childTnLst>
                                    <p:set>
                                      <p:cBhvr>
                                        <p:cTn id="30" dur="1" fill="hold">
                                          <p:stCondLst>
                                            <p:cond delay="0"/>
                                          </p:stCondLst>
                                        </p:cTn>
                                        <p:tgtEl>
                                          <p:spTgt spid="493573">
                                            <p:txEl>
                                              <p:pRg st="4" end="4"/>
                                            </p:txEl>
                                          </p:spTgt>
                                        </p:tgtEl>
                                        <p:attrNameLst>
                                          <p:attrName>style.visibility</p:attrName>
                                        </p:attrNameLst>
                                      </p:cBhvr>
                                      <p:to>
                                        <p:strVal val="visible"/>
                                      </p:to>
                                    </p:set>
                                    <p:animEffect transition="in" filter="wipe(up)">
                                      <p:cBhvr>
                                        <p:cTn id="31" dur="2000"/>
                                        <p:tgtEl>
                                          <p:spTgt spid="493573">
                                            <p:txEl>
                                              <p:pRg st="4" end="4"/>
                                            </p:txEl>
                                          </p:spTgt>
                                        </p:tgtEl>
                                      </p:cBhvr>
                                    </p:animEffect>
                                  </p:childTnLst>
                                </p:cTn>
                              </p:par>
                            </p:childTnLst>
                          </p:cTn>
                        </p:par>
                        <p:par>
                          <p:cTn id="32" fill="hold" nodeType="afterGroup">
                            <p:stCondLst>
                              <p:cond delay="14500"/>
                            </p:stCondLst>
                            <p:childTnLst>
                              <p:par>
                                <p:cTn id="33" presetID="22" presetClass="entr" presetSubtype="1" fill="hold" nodeType="afterEffect">
                                  <p:stCondLst>
                                    <p:cond delay="0"/>
                                  </p:stCondLst>
                                  <p:childTnLst>
                                    <p:set>
                                      <p:cBhvr>
                                        <p:cTn id="34" dur="1" fill="hold">
                                          <p:stCondLst>
                                            <p:cond delay="0"/>
                                          </p:stCondLst>
                                        </p:cTn>
                                        <p:tgtEl>
                                          <p:spTgt spid="493573">
                                            <p:txEl>
                                              <p:pRg st="5" end="5"/>
                                            </p:txEl>
                                          </p:spTgt>
                                        </p:tgtEl>
                                        <p:attrNameLst>
                                          <p:attrName>style.visibility</p:attrName>
                                        </p:attrNameLst>
                                      </p:cBhvr>
                                      <p:to>
                                        <p:strVal val="visible"/>
                                      </p:to>
                                    </p:set>
                                    <p:animEffect transition="in" filter="wipe(up)">
                                      <p:cBhvr>
                                        <p:cTn id="35" dur="2000"/>
                                        <p:tgtEl>
                                          <p:spTgt spid="493573">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493575"/>
                                        </p:tgtEl>
                                        <p:attrNameLst>
                                          <p:attrName>style.visibility</p:attrName>
                                        </p:attrNameLst>
                                      </p:cBhvr>
                                      <p:to>
                                        <p:strVal val="visible"/>
                                      </p:to>
                                    </p:set>
                                    <p:animEffect transition="in" filter="box(in)">
                                      <p:cBhvr>
                                        <p:cTn id="40" dur="1000"/>
                                        <p:tgtEl>
                                          <p:spTgt spid="493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9" grpId="0"/>
      <p:bldP spid="49358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6" name="Rectangle 4">
            <a:extLst>
              <a:ext uri="{FF2B5EF4-FFF2-40B4-BE49-F238E27FC236}">
                <a16:creationId xmlns:a16="http://schemas.microsoft.com/office/drawing/2014/main" id="{61AA79A5-14FF-4407-AA41-674A318CE631}"/>
              </a:ext>
            </a:extLst>
          </p:cNvPr>
          <p:cNvSpPr>
            <a:spLocks noChangeArrowheads="1"/>
          </p:cNvSpPr>
          <p:nvPr/>
        </p:nvSpPr>
        <p:spPr bwMode="auto">
          <a:xfrm>
            <a:off x="468313" y="1185863"/>
            <a:ext cx="8351837"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b="0" dirty="0">
                <a:solidFill>
                  <a:srgbClr val="003366"/>
                </a:solidFill>
                <a:effectLst/>
                <a:latin typeface="黑体" panose="02010609060101010101" pitchFamily="49" charset="-122"/>
                <a:ea typeface="黑体" panose="02010609060101010101" pitchFamily="49" charset="-122"/>
              </a:rPr>
              <a:t>         </a:t>
            </a:r>
            <a:r>
              <a:rPr lang="zh-CN" altLang="en-US" b="0" dirty="0">
                <a:solidFill>
                  <a:srgbClr val="CC0000"/>
                </a:solidFill>
                <a:effectLst/>
                <a:latin typeface="华文新魏" panose="02010800040101010101" pitchFamily="2" charset="-122"/>
                <a:ea typeface="华文新魏" panose="02010800040101010101" pitchFamily="2" charset="-122"/>
              </a:rPr>
              <a:t>如果：</a:t>
            </a:r>
            <a:r>
              <a:rPr lang="zh-CN" altLang="en-US" dirty="0">
                <a:solidFill>
                  <a:srgbClr val="003366"/>
                </a:solidFill>
                <a:effectLst/>
                <a:latin typeface="黑体" panose="02010609060101010101" pitchFamily="49" charset="-122"/>
                <a:ea typeface="黑体" panose="02010609060101010101" pitchFamily="49" charset="-122"/>
              </a:rPr>
              <a:t>是根据给出的</a:t>
            </a:r>
            <a:r>
              <a:rPr lang="zh-CN" altLang="en-US" dirty="0">
                <a:solidFill>
                  <a:srgbClr val="660066"/>
                </a:solidFill>
                <a:effectLst/>
                <a:latin typeface="黑体" panose="02010609060101010101" pitchFamily="49" charset="-122"/>
                <a:ea typeface="黑体" panose="02010609060101010101" pitchFamily="49" charset="-122"/>
              </a:rPr>
              <a:t>学生学号</a:t>
            </a:r>
            <a:r>
              <a:rPr lang="zh-CN" altLang="en-US" dirty="0">
                <a:solidFill>
                  <a:srgbClr val="CC0000"/>
                </a:solidFill>
                <a:effectLst/>
                <a:latin typeface="黑体" panose="02010609060101010101" pitchFamily="49" charset="-122"/>
                <a:ea typeface="黑体" panose="02010609060101010101" pitchFamily="49" charset="-122"/>
              </a:rPr>
              <a:t>值</a:t>
            </a:r>
            <a:r>
              <a:rPr lang="zh-CN" altLang="en-US" dirty="0">
                <a:solidFill>
                  <a:srgbClr val="003366"/>
                </a:solidFill>
                <a:effectLst/>
                <a:latin typeface="黑体" panose="02010609060101010101" pitchFamily="49" charset="-122"/>
                <a:ea typeface="黑体" panose="02010609060101010101" pitchFamily="49" charset="-122"/>
              </a:rPr>
              <a:t>查询学生</a:t>
            </a:r>
          </a:p>
          <a:p>
            <a:pPr>
              <a:spcBef>
                <a:spcPct val="10000"/>
              </a:spcBef>
              <a:buFont typeface="Wingdings" panose="05000000000000000000" pitchFamily="2" charset="2"/>
              <a:buNone/>
            </a:pPr>
            <a:r>
              <a:rPr lang="zh-CN" altLang="en-US" dirty="0">
                <a:solidFill>
                  <a:srgbClr val="003366"/>
                </a:solidFill>
                <a:effectLst/>
                <a:latin typeface="黑体" panose="02010609060101010101" pitchFamily="49" charset="-122"/>
                <a:ea typeface="黑体" panose="02010609060101010101" pitchFamily="49" charset="-122"/>
              </a:rPr>
              <a:t>     的姓名、性别和出生年月。</a:t>
            </a:r>
            <a:r>
              <a:rPr lang="zh-CN" altLang="en-US" dirty="0"/>
              <a:t> </a:t>
            </a:r>
            <a:endParaRPr lang="zh-CN" altLang="en-US" dirty="0">
              <a:solidFill>
                <a:srgbClr val="003366"/>
              </a:solidFill>
              <a:effectLst/>
              <a:latin typeface="黑体" panose="02010609060101010101" pitchFamily="49" charset="-122"/>
              <a:ea typeface="黑体" panose="02010609060101010101" pitchFamily="49" charset="-122"/>
            </a:endParaRPr>
          </a:p>
          <a:p>
            <a:pPr>
              <a:lnSpc>
                <a:spcPct val="130000"/>
              </a:lnSpc>
              <a:buFont typeface="Wingdings" panose="05000000000000000000" pitchFamily="2" charset="2"/>
              <a:buNone/>
            </a:pPr>
            <a:r>
              <a:rPr lang="zh-CN" altLang="en-US" b="0" dirty="0">
                <a:effectLst/>
              </a:rPr>
              <a:t>         </a:t>
            </a:r>
            <a:r>
              <a:rPr lang="en-US" altLang="zh-CN" b="0" dirty="0">
                <a:effectLst/>
              </a:rPr>
              <a:t>SELECT SNAME</a:t>
            </a:r>
            <a:r>
              <a:rPr lang="zh-CN" altLang="en-US" b="0" dirty="0">
                <a:effectLst/>
              </a:rPr>
              <a:t>，</a:t>
            </a:r>
            <a:r>
              <a:rPr lang="en-US" altLang="zh-CN" b="0" dirty="0">
                <a:effectLst/>
              </a:rPr>
              <a:t>SSEX</a:t>
            </a:r>
            <a:r>
              <a:rPr lang="zh-CN" altLang="en-US" b="0" dirty="0">
                <a:effectLst/>
              </a:rPr>
              <a:t>，</a:t>
            </a:r>
            <a:r>
              <a:rPr lang="en-US" altLang="zh-CN" b="0" dirty="0">
                <a:effectLst/>
              </a:rPr>
              <a:t>SBIRTHIN</a:t>
            </a:r>
          </a:p>
          <a:p>
            <a:pPr>
              <a:lnSpc>
                <a:spcPct val="130000"/>
              </a:lnSpc>
              <a:spcBef>
                <a:spcPct val="0"/>
              </a:spcBef>
              <a:buFont typeface="Wingdings" panose="05000000000000000000" pitchFamily="2" charset="2"/>
              <a:buNone/>
            </a:pPr>
            <a:r>
              <a:rPr lang="en-US" altLang="zh-CN" b="0" dirty="0">
                <a:effectLst/>
              </a:rPr>
              <a:t>         FROM   S</a:t>
            </a:r>
          </a:p>
          <a:p>
            <a:pPr>
              <a:lnSpc>
                <a:spcPct val="130000"/>
              </a:lnSpc>
              <a:spcBef>
                <a:spcPct val="0"/>
              </a:spcBef>
              <a:buFont typeface="Wingdings" panose="05000000000000000000" pitchFamily="2" charset="2"/>
              <a:buNone/>
            </a:pPr>
            <a:r>
              <a:rPr lang="en-US" altLang="zh-CN" b="0" dirty="0">
                <a:effectLst/>
              </a:rPr>
              <a:t>         WHERE  S# = ‘200401001</a:t>
            </a:r>
            <a:r>
              <a:rPr lang="en-US" altLang="zh-CN" dirty="0"/>
              <a:t>’</a:t>
            </a:r>
            <a:r>
              <a:rPr lang="zh-CN" altLang="en-US" b="0" dirty="0">
                <a:effectLst/>
              </a:rPr>
              <a:t>；</a:t>
            </a:r>
          </a:p>
          <a:p>
            <a:pPr>
              <a:lnSpc>
                <a:spcPct val="100000"/>
              </a:lnSpc>
              <a:spcBef>
                <a:spcPct val="0"/>
              </a:spcBef>
              <a:buFont typeface="Wingdings" panose="05000000000000000000" pitchFamily="2" charset="2"/>
              <a:buNone/>
            </a:pPr>
            <a:endParaRPr lang="zh-CN" altLang="en-US" sz="800" b="0" dirty="0">
              <a:effectLst/>
            </a:endParaRPr>
          </a:p>
          <a:p>
            <a:pPr>
              <a:buFont typeface="Wingdings" panose="05000000000000000000" pitchFamily="2" charset="2"/>
              <a:buNone/>
            </a:pPr>
            <a:r>
              <a:rPr lang="zh-CN" altLang="en-US" dirty="0">
                <a:solidFill>
                  <a:srgbClr val="CC0000"/>
                </a:solidFill>
                <a:effectLst/>
                <a:latin typeface="楷体_GB2312" pitchFamily="49" charset="-122"/>
              </a:rPr>
              <a:t> 查询结果：</a:t>
            </a:r>
            <a:r>
              <a:rPr lang="zh-CN" altLang="en-US" dirty="0">
                <a:solidFill>
                  <a:srgbClr val="006666"/>
                </a:solidFill>
                <a:effectLst/>
                <a:latin typeface="楷体_GB2312" pitchFamily="49" charset="-122"/>
              </a:rPr>
              <a:t>张华，男，</a:t>
            </a:r>
            <a:r>
              <a:rPr lang="en-US" altLang="zh-CN" dirty="0">
                <a:solidFill>
                  <a:srgbClr val="006666"/>
                </a:solidFill>
                <a:effectLst/>
                <a:latin typeface="楷体_GB2312" pitchFamily="49" charset="-122"/>
              </a:rPr>
              <a:t>14-dec-1982</a:t>
            </a:r>
            <a:r>
              <a:rPr lang="en-US" altLang="zh-CN" dirty="0"/>
              <a:t>  </a:t>
            </a:r>
          </a:p>
          <a:p>
            <a:pPr>
              <a:buFont typeface="Wingdings" panose="05000000000000000000" pitchFamily="2" charset="2"/>
              <a:buNone/>
            </a:pPr>
            <a:r>
              <a:rPr lang="en-US" altLang="zh-CN" dirty="0"/>
              <a:t>          </a:t>
            </a:r>
            <a:r>
              <a:rPr lang="zh-CN" altLang="en-US" dirty="0">
                <a:solidFill>
                  <a:srgbClr val="660066"/>
                </a:solidFill>
                <a:ea typeface="黑体" panose="02010609060101010101" pitchFamily="49" charset="-122"/>
              </a:rPr>
              <a:t>同理：</a:t>
            </a:r>
            <a:r>
              <a:rPr lang="zh-CN" altLang="en-US" dirty="0"/>
              <a:t>如果查询条件</a:t>
            </a:r>
            <a:r>
              <a:rPr lang="zh-CN" altLang="en-US" dirty="0">
                <a:solidFill>
                  <a:srgbClr val="660066"/>
                </a:solidFill>
              </a:rPr>
              <a:t>学号</a:t>
            </a:r>
            <a:r>
              <a:rPr lang="zh-CN" altLang="en-US" dirty="0"/>
              <a:t>的值是在运行中输入或通过其它过程得到时？</a:t>
            </a:r>
          </a:p>
        </p:txBody>
      </p:sp>
      <p:sp>
        <p:nvSpPr>
          <p:cNvPr id="494597" name="Rectangle 5">
            <a:extLst>
              <a:ext uri="{FF2B5EF4-FFF2-40B4-BE49-F238E27FC236}">
                <a16:creationId xmlns:a16="http://schemas.microsoft.com/office/drawing/2014/main" id="{E1FA2518-018E-4936-A2B8-1FBB9743A2B6}"/>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Sld>
  <p:clrMapOvr>
    <a:masterClrMapping/>
  </p:clrMapOvr>
  <mc:AlternateContent xmlns:mc="http://schemas.openxmlformats.org/markup-compatibility/2006" xmlns:p14="http://schemas.microsoft.com/office/powerpoint/2010/main">
    <mc:Choice Requires="p14">
      <p:transition spd="slow" p14:dur="2000" advTm="48648"/>
    </mc:Choice>
    <mc:Fallback xmlns="">
      <p:transition spd="slow" advTm="4864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5000"/>
                                  </p:stCondLst>
                                  <p:childTnLst>
                                    <p:set>
                                      <p:cBhvr>
                                        <p:cTn id="6" dur="1" fill="hold">
                                          <p:stCondLst>
                                            <p:cond delay="0"/>
                                          </p:stCondLst>
                                        </p:cTn>
                                        <p:tgtEl>
                                          <p:spTgt spid="494596">
                                            <p:txEl>
                                              <p:pRg st="7" end="7"/>
                                            </p:txEl>
                                          </p:spTgt>
                                        </p:tgtEl>
                                        <p:attrNameLst>
                                          <p:attrName>style.visibility</p:attrName>
                                        </p:attrNameLst>
                                      </p:cBhvr>
                                      <p:to>
                                        <p:strVal val="visible"/>
                                      </p:to>
                                    </p:set>
                                    <p:animEffect transition="in" filter="wipe(left)">
                                      <p:cBhvr>
                                        <p:cTn id="7" dur="5000"/>
                                        <p:tgtEl>
                                          <p:spTgt spid="4945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20" name="Rectangle 4">
            <a:extLst>
              <a:ext uri="{FF2B5EF4-FFF2-40B4-BE49-F238E27FC236}">
                <a16:creationId xmlns:a16="http://schemas.microsoft.com/office/drawing/2014/main" id="{C2AE50F6-3467-424E-97DA-6383939E502F}"/>
              </a:ext>
            </a:extLst>
          </p:cNvPr>
          <p:cNvSpPr>
            <a:spLocks noChangeArrowheads="1"/>
          </p:cNvSpPr>
          <p:nvPr/>
        </p:nvSpPr>
        <p:spPr bwMode="auto">
          <a:xfrm>
            <a:off x="468313" y="1185863"/>
            <a:ext cx="8496300"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b="0">
                <a:solidFill>
                  <a:srgbClr val="003366"/>
                </a:solidFill>
                <a:effectLst/>
                <a:latin typeface="黑体" panose="02010609060101010101" pitchFamily="49" charset="-122"/>
                <a:ea typeface="黑体" panose="02010609060101010101" pitchFamily="49" charset="-122"/>
              </a:rPr>
              <a:t> </a:t>
            </a:r>
            <a:r>
              <a:rPr lang="zh-CN" altLang="en-US">
                <a:solidFill>
                  <a:srgbClr val="660066"/>
                </a:solidFill>
                <a:effectLst/>
                <a:latin typeface="黑体" panose="02010609060101010101" pitchFamily="49" charset="-122"/>
                <a:ea typeface="黑体" panose="02010609060101010101" pitchFamily="49" charset="-122"/>
              </a:rPr>
              <a:t>例</a:t>
            </a:r>
            <a:r>
              <a:rPr lang="en-US" altLang="zh-CN">
                <a:solidFill>
                  <a:srgbClr val="660066"/>
                </a:solidFill>
                <a:effectLst/>
                <a:latin typeface="黑体" panose="02010609060101010101" pitchFamily="49" charset="-122"/>
                <a:ea typeface="黑体" panose="02010609060101010101" pitchFamily="49" charset="-122"/>
              </a:rPr>
              <a:t>6.10  </a:t>
            </a:r>
            <a:r>
              <a:rPr lang="zh-CN" altLang="en-US">
                <a:solidFill>
                  <a:srgbClr val="003366"/>
                </a:solidFill>
                <a:effectLst/>
                <a:latin typeface="黑体" panose="02010609060101010101" pitchFamily="49" charset="-122"/>
                <a:ea typeface="黑体" panose="02010609060101010101" pitchFamily="49" charset="-122"/>
              </a:rPr>
              <a:t>根据由宿主变量</a:t>
            </a:r>
            <a:r>
              <a:rPr lang="en-US" altLang="zh-CN">
                <a:solidFill>
                  <a:srgbClr val="003366"/>
                </a:solidFill>
                <a:effectLst/>
                <a:latin typeface="黑体" panose="02010609060101010101" pitchFamily="49" charset="-122"/>
                <a:ea typeface="黑体" panose="02010609060101010101" pitchFamily="49" charset="-122"/>
              </a:rPr>
              <a:t>S1</a:t>
            </a:r>
            <a:r>
              <a:rPr lang="zh-CN" altLang="en-US">
                <a:solidFill>
                  <a:srgbClr val="003366"/>
                </a:solidFill>
                <a:effectLst/>
                <a:latin typeface="黑体" panose="02010609060101010101" pitchFamily="49" charset="-122"/>
                <a:ea typeface="黑体" panose="02010609060101010101" pitchFamily="49" charset="-122"/>
              </a:rPr>
              <a:t>给出的学生的学号值， </a:t>
            </a:r>
          </a:p>
          <a:p>
            <a:pPr>
              <a:buFont typeface="Wingdings" panose="05000000000000000000" pitchFamily="2" charset="2"/>
              <a:buNone/>
            </a:pPr>
            <a:r>
              <a:rPr lang="zh-CN" altLang="en-US">
                <a:solidFill>
                  <a:srgbClr val="003366"/>
                </a:solidFill>
                <a:effectLst/>
                <a:latin typeface="黑体" panose="02010609060101010101" pitchFamily="49" charset="-122"/>
                <a:ea typeface="黑体" panose="02010609060101010101" pitchFamily="49" charset="-122"/>
              </a:rPr>
              <a:t>     查询学生的姓名、性别和出生年月。 </a:t>
            </a:r>
          </a:p>
          <a:p>
            <a:pPr>
              <a:spcBef>
                <a:spcPct val="60000"/>
              </a:spcBef>
              <a:buFont typeface="Wingdings" panose="05000000000000000000" pitchFamily="2" charset="2"/>
              <a:buNone/>
            </a:pPr>
            <a:r>
              <a:rPr lang="zh-CN" altLang="en-US" b="0">
                <a:effectLst/>
              </a:rPr>
              <a:t>         </a:t>
            </a:r>
            <a:r>
              <a:rPr lang="en-US" altLang="zh-CN" b="0">
                <a:effectLst/>
              </a:rPr>
              <a:t>SELECT SNAME</a:t>
            </a:r>
            <a:r>
              <a:rPr lang="zh-CN" altLang="en-US" b="0">
                <a:effectLst/>
              </a:rPr>
              <a:t>，</a:t>
            </a:r>
            <a:r>
              <a:rPr lang="en-US" altLang="zh-CN" b="0">
                <a:effectLst/>
              </a:rPr>
              <a:t>SSEX</a:t>
            </a:r>
            <a:r>
              <a:rPr lang="zh-CN" altLang="en-US" b="0">
                <a:effectLst/>
              </a:rPr>
              <a:t>，</a:t>
            </a:r>
            <a:r>
              <a:rPr lang="en-US" altLang="zh-CN" b="0">
                <a:effectLst/>
              </a:rPr>
              <a:t>SBIRTHIN</a:t>
            </a:r>
          </a:p>
          <a:p>
            <a:pPr>
              <a:buFont typeface="Wingdings" panose="05000000000000000000" pitchFamily="2" charset="2"/>
              <a:buNone/>
            </a:pPr>
            <a:r>
              <a:rPr lang="en-US" altLang="zh-CN" b="0">
                <a:effectLst/>
              </a:rPr>
              <a:t>         FROM   S</a:t>
            </a:r>
          </a:p>
          <a:p>
            <a:pPr>
              <a:buFont typeface="Wingdings" panose="05000000000000000000" pitchFamily="2" charset="2"/>
              <a:buNone/>
            </a:pPr>
            <a:r>
              <a:rPr lang="en-US" altLang="zh-CN" b="0">
                <a:effectLst/>
              </a:rPr>
              <a:t>         INTO  @sname1</a:t>
            </a:r>
            <a:r>
              <a:rPr lang="zh-CN" altLang="en-US" b="0">
                <a:effectLst/>
              </a:rPr>
              <a:t>，</a:t>
            </a:r>
            <a:r>
              <a:rPr lang="en-US" altLang="zh-CN" b="0">
                <a:effectLst/>
              </a:rPr>
              <a:t>@ssex1</a:t>
            </a:r>
            <a:r>
              <a:rPr lang="zh-CN" altLang="en-US" b="0">
                <a:effectLst/>
              </a:rPr>
              <a:t>，</a:t>
            </a:r>
            <a:r>
              <a:rPr lang="en-US" altLang="zh-CN" b="0">
                <a:effectLst/>
              </a:rPr>
              <a:t>@sbirth</a:t>
            </a:r>
          </a:p>
          <a:p>
            <a:pPr>
              <a:buFont typeface="Wingdings" panose="05000000000000000000" pitchFamily="2" charset="2"/>
              <a:buNone/>
            </a:pPr>
            <a:r>
              <a:rPr lang="en-US" altLang="zh-CN" b="0">
                <a:effectLst/>
              </a:rPr>
              <a:t>         WHERE  S# = </a:t>
            </a:r>
            <a:r>
              <a:rPr lang="en-US" altLang="zh-CN">
                <a:solidFill>
                  <a:srgbClr val="003366"/>
                </a:solidFill>
              </a:rPr>
              <a:t>@s1</a:t>
            </a:r>
            <a:r>
              <a:rPr lang="en-US" altLang="zh-CN" b="0">
                <a:effectLst/>
              </a:rPr>
              <a:t> </a:t>
            </a:r>
            <a:r>
              <a:rPr lang="zh-CN" altLang="en-US" b="0">
                <a:effectLst/>
              </a:rPr>
              <a:t>；</a:t>
            </a:r>
            <a:r>
              <a:rPr lang="zh-CN" altLang="en-US"/>
              <a:t> </a:t>
            </a:r>
          </a:p>
        </p:txBody>
      </p:sp>
      <p:grpSp>
        <p:nvGrpSpPr>
          <p:cNvPr id="495621" name="Group 5">
            <a:extLst>
              <a:ext uri="{FF2B5EF4-FFF2-40B4-BE49-F238E27FC236}">
                <a16:creationId xmlns:a16="http://schemas.microsoft.com/office/drawing/2014/main" id="{ABBB49A3-627D-4A9A-9C3C-8CC464B6B5D7}"/>
              </a:ext>
            </a:extLst>
          </p:cNvPr>
          <p:cNvGrpSpPr>
            <a:grpSpLocks/>
          </p:cNvGrpSpPr>
          <p:nvPr/>
        </p:nvGrpSpPr>
        <p:grpSpPr bwMode="auto">
          <a:xfrm>
            <a:off x="4140200" y="4451350"/>
            <a:ext cx="2374900" cy="1657350"/>
            <a:chOff x="2608" y="3021"/>
            <a:chExt cx="1496" cy="1044"/>
          </a:xfrm>
        </p:grpSpPr>
        <p:sp>
          <p:nvSpPr>
            <p:cNvPr id="495622" name="AutoShape 6">
              <a:extLst>
                <a:ext uri="{FF2B5EF4-FFF2-40B4-BE49-F238E27FC236}">
                  <a16:creationId xmlns:a16="http://schemas.microsoft.com/office/drawing/2014/main" id="{981E9036-94F1-454F-B8B4-738C246C388A}"/>
                </a:ext>
              </a:extLst>
            </p:cNvPr>
            <p:cNvSpPr>
              <a:spLocks noChangeArrowheads="1"/>
            </p:cNvSpPr>
            <p:nvPr/>
          </p:nvSpPr>
          <p:spPr bwMode="auto">
            <a:xfrm>
              <a:off x="2925" y="3681"/>
              <a:ext cx="1179" cy="384"/>
            </a:xfrm>
            <a:prstGeom prst="wedgeRoundRectCallout">
              <a:avLst>
                <a:gd name="adj1" fmla="val -60009"/>
                <a:gd name="adj2" fmla="val -136981"/>
                <a:gd name="adj3" fmla="val 16667"/>
              </a:avLst>
            </a:prstGeom>
            <a:solidFill>
              <a:srgbClr val="99FF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buSzTx/>
                <a:buFontTx/>
                <a:buNone/>
              </a:pPr>
              <a:r>
                <a:rPr kumimoji="1" lang="zh-CN" altLang="en-US" sz="2000" b="1">
                  <a:effectLst>
                    <a:outerShdw blurRad="38100" dist="38100" dir="2700000" algn="tl">
                      <a:srgbClr val="FFFFFF"/>
                    </a:outerShdw>
                  </a:effectLst>
                </a:rPr>
                <a:t>输入宿主变量</a:t>
              </a:r>
              <a:r>
                <a:rPr kumimoji="1" lang="zh-CN" altLang="en-US"/>
                <a:t> </a:t>
              </a:r>
            </a:p>
          </p:txBody>
        </p:sp>
        <p:sp>
          <p:nvSpPr>
            <p:cNvPr id="495623" name="Oval 7">
              <a:extLst>
                <a:ext uri="{FF2B5EF4-FFF2-40B4-BE49-F238E27FC236}">
                  <a16:creationId xmlns:a16="http://schemas.microsoft.com/office/drawing/2014/main" id="{4B373C55-B2CF-42DC-9FDD-9FEDFF9AA250}"/>
                </a:ext>
              </a:extLst>
            </p:cNvPr>
            <p:cNvSpPr>
              <a:spLocks noChangeArrowheads="1"/>
            </p:cNvSpPr>
            <p:nvPr/>
          </p:nvSpPr>
          <p:spPr bwMode="auto">
            <a:xfrm>
              <a:off x="2608" y="3021"/>
              <a:ext cx="363" cy="318"/>
            </a:xfrm>
            <a:prstGeom prst="ellipse">
              <a:avLst/>
            </a:prstGeom>
            <a:noFill/>
            <a:ln w="38100" cap="sq">
              <a:solidFill>
                <a:srgbClr val="800080"/>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nvGrpSpPr>
          <p:cNvPr id="495624" name="Group 8">
            <a:extLst>
              <a:ext uri="{FF2B5EF4-FFF2-40B4-BE49-F238E27FC236}">
                <a16:creationId xmlns:a16="http://schemas.microsoft.com/office/drawing/2014/main" id="{BDCDF9AD-75FC-4BE9-8088-6A73F749B337}"/>
              </a:ext>
            </a:extLst>
          </p:cNvPr>
          <p:cNvGrpSpPr>
            <a:grpSpLocks/>
          </p:cNvGrpSpPr>
          <p:nvPr/>
        </p:nvGrpSpPr>
        <p:grpSpPr bwMode="auto">
          <a:xfrm>
            <a:off x="6300788" y="3860800"/>
            <a:ext cx="2663825" cy="1657350"/>
            <a:chOff x="3969" y="2658"/>
            <a:chExt cx="1678" cy="1044"/>
          </a:xfrm>
        </p:grpSpPr>
        <p:sp>
          <p:nvSpPr>
            <p:cNvPr id="495625" name="AutoShape 9">
              <a:extLst>
                <a:ext uri="{FF2B5EF4-FFF2-40B4-BE49-F238E27FC236}">
                  <a16:creationId xmlns:a16="http://schemas.microsoft.com/office/drawing/2014/main" id="{968FB4F5-BF74-4050-9AC0-D3BED037D830}"/>
                </a:ext>
              </a:extLst>
            </p:cNvPr>
            <p:cNvSpPr>
              <a:spLocks noChangeArrowheads="1"/>
            </p:cNvSpPr>
            <p:nvPr/>
          </p:nvSpPr>
          <p:spPr bwMode="auto">
            <a:xfrm>
              <a:off x="4468" y="3318"/>
              <a:ext cx="1179" cy="384"/>
            </a:xfrm>
            <a:prstGeom prst="wedgeRoundRectCallout">
              <a:avLst>
                <a:gd name="adj1" fmla="val -60009"/>
                <a:gd name="adj2" fmla="val -136981"/>
                <a:gd name="adj3" fmla="val 16667"/>
              </a:avLst>
            </a:prstGeom>
            <a:solidFill>
              <a:srgbClr val="99FF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0"/>
                </a:spcBef>
                <a:buSzTx/>
                <a:buFontTx/>
                <a:buNone/>
              </a:pPr>
              <a:r>
                <a:rPr kumimoji="1" lang="zh-CN" altLang="en-US" sz="2000" b="1">
                  <a:effectLst>
                    <a:outerShdw blurRad="38100" dist="38100" dir="2700000" algn="tl">
                      <a:srgbClr val="FFFFFF"/>
                    </a:outerShdw>
                  </a:effectLst>
                </a:rPr>
                <a:t>输出宿主变量</a:t>
              </a:r>
              <a:r>
                <a:rPr kumimoji="1" lang="zh-CN" altLang="en-US"/>
                <a:t> </a:t>
              </a:r>
            </a:p>
          </p:txBody>
        </p:sp>
        <p:sp>
          <p:nvSpPr>
            <p:cNvPr id="495626" name="Oval 10">
              <a:extLst>
                <a:ext uri="{FF2B5EF4-FFF2-40B4-BE49-F238E27FC236}">
                  <a16:creationId xmlns:a16="http://schemas.microsoft.com/office/drawing/2014/main" id="{230C4E4A-A918-4745-946D-3AF1DE9867A9}"/>
                </a:ext>
              </a:extLst>
            </p:cNvPr>
            <p:cNvSpPr>
              <a:spLocks noChangeArrowheads="1"/>
            </p:cNvSpPr>
            <p:nvPr/>
          </p:nvSpPr>
          <p:spPr bwMode="auto">
            <a:xfrm>
              <a:off x="3969" y="2658"/>
              <a:ext cx="725" cy="318"/>
            </a:xfrm>
            <a:prstGeom prst="ellipse">
              <a:avLst/>
            </a:prstGeom>
            <a:noFill/>
            <a:ln w="38100" cap="sq">
              <a:solidFill>
                <a:srgbClr val="800080"/>
              </a:solidFill>
              <a:round/>
              <a:headEnd type="none" w="sm" len="sm"/>
              <a:tailEnd type="none" w="sm" len="sm"/>
            </a:ln>
            <a:effectLst>
              <a:outerShdw dist="35921" dir="2700000" algn="ctr" rotWithShape="0">
                <a:srgbClr val="000066"/>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495627" name="Rectangle 11">
            <a:extLst>
              <a:ext uri="{FF2B5EF4-FFF2-40B4-BE49-F238E27FC236}">
                <a16:creationId xmlns:a16="http://schemas.microsoft.com/office/drawing/2014/main" id="{C87D58CA-C42D-4B01-9273-6438FBCD390B}"/>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a:t>一、嵌入式</a:t>
            </a:r>
            <a:r>
              <a:rPr lang="en-US" altLang="zh-CN"/>
              <a:t>SQL</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103"/>
    </mc:Choice>
    <mc:Fallback xmlns="">
      <p:transition spd="slow" advTm="5810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95621"/>
                                        </p:tgtEl>
                                        <p:attrNameLst>
                                          <p:attrName>style.visibility</p:attrName>
                                        </p:attrNameLst>
                                      </p:cBhvr>
                                      <p:to>
                                        <p:strVal val="visible"/>
                                      </p:to>
                                    </p:set>
                                    <p:animEffect transition="in" filter="checkerboard(across)">
                                      <p:cBhvr>
                                        <p:cTn id="7" dur="500"/>
                                        <p:tgtEl>
                                          <p:spTgt spid="4956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95624"/>
                                        </p:tgtEl>
                                        <p:attrNameLst>
                                          <p:attrName>style.visibility</p:attrName>
                                        </p:attrNameLst>
                                      </p:cBhvr>
                                      <p:to>
                                        <p:strVal val="visible"/>
                                      </p:to>
                                    </p:set>
                                    <p:animEffect transition="in" filter="checkerboard(across)">
                                      <p:cBhvr>
                                        <p:cTn id="12" dur="500"/>
                                        <p:tgtEl>
                                          <p:spTgt spid="495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4" name="Rectangle 4">
            <a:extLst>
              <a:ext uri="{FF2B5EF4-FFF2-40B4-BE49-F238E27FC236}">
                <a16:creationId xmlns:a16="http://schemas.microsoft.com/office/drawing/2014/main" id="{98D6A26D-7CB7-469E-B2C0-ED7F663F7057}"/>
              </a:ext>
            </a:extLst>
          </p:cNvPr>
          <p:cNvSpPr>
            <a:spLocks noChangeArrowheads="1"/>
          </p:cNvSpPr>
          <p:nvPr/>
        </p:nvSpPr>
        <p:spPr bwMode="auto">
          <a:xfrm>
            <a:off x="468313" y="1185863"/>
            <a:ext cx="8207375"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a:t>
            </a:r>
            <a:r>
              <a:rPr lang="zh-CN" altLang="en-US" sz="3000">
                <a:solidFill>
                  <a:srgbClr val="660033"/>
                </a:solidFill>
                <a:ea typeface="华文新魏" panose="02010800040101010101" pitchFamily="2" charset="-122"/>
              </a:rPr>
              <a:t>游标机制的引入：</a:t>
            </a:r>
          </a:p>
          <a:p>
            <a:pPr>
              <a:lnSpc>
                <a:spcPct val="130000"/>
              </a:lnSpc>
              <a:spcBef>
                <a:spcPct val="0"/>
              </a:spcBef>
              <a:buFont typeface="Wingdings" panose="05000000000000000000" pitchFamily="2" charset="2"/>
              <a:buNone/>
            </a:pPr>
            <a:r>
              <a:rPr lang="zh-CN" altLang="en-US">
                <a:solidFill>
                  <a:srgbClr val="003366"/>
                </a:solidFill>
                <a:effectLst/>
                <a:ea typeface="黑体" panose="02010609060101010101" pitchFamily="49" charset="-122"/>
              </a:rPr>
              <a:t>          </a:t>
            </a:r>
            <a:r>
              <a:rPr lang="zh-CN" altLang="en-US" sz="2600">
                <a:solidFill>
                  <a:schemeClr val="hlink"/>
                </a:solidFill>
                <a:effectLst/>
                <a:latin typeface="黑体" panose="02010609060101010101" pitchFamily="49" charset="-122"/>
                <a:ea typeface="黑体" panose="02010609060101010101" pitchFamily="49" charset="-122"/>
              </a:rPr>
              <a:t>在</a:t>
            </a:r>
            <a:r>
              <a:rPr lang="en-US" altLang="zh-CN" sz="2600">
                <a:solidFill>
                  <a:srgbClr val="006666"/>
                </a:solidFill>
                <a:effectLst/>
                <a:latin typeface="黑体" panose="02010609060101010101" pitchFamily="49" charset="-122"/>
                <a:ea typeface="黑体" panose="02010609060101010101" pitchFamily="49" charset="-122"/>
              </a:rPr>
              <a:t>SELECT</a:t>
            </a:r>
            <a:r>
              <a:rPr lang="zh-CN" altLang="en-US" sz="2600">
                <a:solidFill>
                  <a:srgbClr val="006666"/>
                </a:solidFill>
                <a:effectLst/>
                <a:latin typeface="黑体" panose="02010609060101010101" pitchFamily="49" charset="-122"/>
                <a:ea typeface="黑体" panose="02010609060101010101" pitchFamily="49" charset="-122"/>
              </a:rPr>
              <a:t>查询操作中，一次查询出的记录数可能</a:t>
            </a:r>
            <a:r>
              <a:rPr lang="zh-CN" altLang="en-US" sz="2600">
                <a:solidFill>
                  <a:srgbClr val="660033"/>
                </a:solidFill>
                <a:effectLst/>
                <a:latin typeface="黑体" panose="02010609060101010101" pitchFamily="49" charset="-122"/>
                <a:ea typeface="黑体" panose="02010609060101010101" pitchFamily="49" charset="-122"/>
              </a:rPr>
              <a:t>比较少，仅有几个记录</a:t>
            </a:r>
            <a:r>
              <a:rPr lang="zh-CN" altLang="en-US" sz="2600">
                <a:solidFill>
                  <a:srgbClr val="006666"/>
                </a:solidFill>
                <a:effectLst/>
                <a:latin typeface="黑体" panose="02010609060101010101" pitchFamily="49" charset="-122"/>
                <a:ea typeface="黑体" panose="02010609060101010101" pitchFamily="49" charset="-122"/>
              </a:rPr>
              <a:t>；一次查询出的记录数也可能</a:t>
            </a:r>
            <a:r>
              <a:rPr lang="zh-CN" altLang="en-US" sz="2600">
                <a:solidFill>
                  <a:srgbClr val="660033"/>
                </a:solidFill>
                <a:effectLst/>
                <a:latin typeface="黑体" panose="02010609060101010101" pitchFamily="49" charset="-122"/>
                <a:ea typeface="黑体" panose="02010609060101010101" pitchFamily="49" charset="-122"/>
              </a:rPr>
              <a:t>非常多，有成百上千个记录</a:t>
            </a:r>
            <a:r>
              <a:rPr lang="zh-CN" altLang="en-US" sz="2600">
                <a:solidFill>
                  <a:srgbClr val="006666"/>
                </a:solidFill>
                <a:effectLst/>
                <a:latin typeface="黑体" panose="02010609060101010101" pitchFamily="49" charset="-122"/>
                <a:ea typeface="黑体" panose="02010609060101010101" pitchFamily="49" charset="-122"/>
              </a:rPr>
              <a:t>。</a:t>
            </a:r>
          </a:p>
          <a:p>
            <a:pPr>
              <a:lnSpc>
                <a:spcPct val="130000"/>
              </a:lnSpc>
              <a:spcBef>
                <a:spcPct val="0"/>
              </a:spcBef>
              <a:buFont typeface="Wingdings" panose="05000000000000000000" pitchFamily="2" charset="2"/>
              <a:buNone/>
            </a:pPr>
            <a:r>
              <a:rPr lang="zh-CN" altLang="en-US" sz="2600" b="0">
                <a:effectLst/>
                <a:latin typeface="黑体" panose="02010609060101010101" pitchFamily="49" charset="-122"/>
                <a:ea typeface="黑体" panose="02010609060101010101" pitchFamily="49" charset="-122"/>
              </a:rPr>
              <a:t>      </a:t>
            </a:r>
            <a:r>
              <a:rPr lang="zh-CN" altLang="en-US" sz="2600" b="0">
                <a:solidFill>
                  <a:schemeClr val="hlink"/>
                </a:solidFill>
                <a:effectLst/>
                <a:latin typeface="黑体" panose="02010609060101010101" pitchFamily="49" charset="-122"/>
                <a:ea typeface="黑体" panose="02010609060101010101" pitchFamily="49" charset="-122"/>
              </a:rPr>
              <a:t>虽然</a:t>
            </a:r>
            <a:r>
              <a:rPr lang="zh-CN" altLang="en-US" sz="2600" b="0">
                <a:effectLst/>
                <a:latin typeface="黑体" panose="02010609060101010101" pitchFamily="49" charset="-122"/>
                <a:ea typeface="黑体" panose="02010609060101010101" pitchFamily="49" charset="-122"/>
              </a:rPr>
              <a:t>可以通过开辟一块区域来存放这些记录集或结果集，但嵌入式</a:t>
            </a:r>
            <a:r>
              <a:rPr lang="en-US" altLang="zh-CN" sz="2600" b="0">
                <a:effectLst/>
                <a:latin typeface="黑体" panose="02010609060101010101" pitchFamily="49" charset="-122"/>
                <a:ea typeface="黑体" panose="02010609060101010101" pitchFamily="49" charset="-122"/>
              </a:rPr>
              <a:t>SQL</a:t>
            </a:r>
            <a:r>
              <a:rPr lang="zh-CN" altLang="en-US" sz="2600" b="0">
                <a:effectLst/>
                <a:latin typeface="黑体" panose="02010609060101010101" pitchFamily="49" charset="-122"/>
                <a:ea typeface="黑体" panose="02010609060101010101" pitchFamily="49" charset="-122"/>
              </a:rPr>
              <a:t>的宿主语言并不总能将记录数量不确定的结果集作为一个整体单元来进行处理。</a:t>
            </a:r>
          </a:p>
          <a:p>
            <a:pPr>
              <a:lnSpc>
                <a:spcPct val="130000"/>
              </a:lnSpc>
              <a:spcBef>
                <a:spcPct val="0"/>
              </a:spcBef>
              <a:buFont typeface="Wingdings" panose="05000000000000000000" pitchFamily="2" charset="2"/>
              <a:buNone/>
            </a:pPr>
            <a:r>
              <a:rPr lang="zh-CN" altLang="en-US" sz="2600" b="0">
                <a:effectLst/>
                <a:latin typeface="黑体" panose="02010609060101010101" pitchFamily="49" charset="-122"/>
                <a:ea typeface="黑体" panose="02010609060101010101" pitchFamily="49" charset="-122"/>
              </a:rPr>
              <a:t>      </a:t>
            </a:r>
            <a:r>
              <a:rPr lang="zh-CN" altLang="en-US" sz="2600" b="0">
                <a:solidFill>
                  <a:schemeClr val="hlink"/>
                </a:solidFill>
                <a:effectLst/>
                <a:latin typeface="黑体" panose="02010609060101010101" pitchFamily="49" charset="-122"/>
                <a:ea typeface="黑体" panose="02010609060101010101" pitchFamily="49" charset="-122"/>
              </a:rPr>
              <a:t>为此，</a:t>
            </a:r>
            <a:r>
              <a:rPr lang="zh-CN" altLang="en-US" sz="2600" b="0">
                <a:effectLst/>
                <a:latin typeface="黑体" panose="02010609060101010101" pitchFamily="49" charset="-122"/>
                <a:ea typeface="黑体" panose="02010609060101010101" pitchFamily="49" charset="-122"/>
              </a:rPr>
              <a:t>关系数据库查询语言</a:t>
            </a:r>
            <a:r>
              <a:rPr lang="zh-CN" altLang="en-US" sz="2600" b="0">
                <a:solidFill>
                  <a:srgbClr val="006666"/>
                </a:solidFill>
                <a:effectLst/>
                <a:latin typeface="黑体" panose="02010609060101010101" pitchFamily="49" charset="-122"/>
                <a:ea typeface="黑体" panose="02010609060101010101" pitchFamily="49" charset="-122"/>
              </a:rPr>
              <a:t>提供了一种游标机制</a:t>
            </a:r>
            <a:r>
              <a:rPr lang="zh-CN" altLang="en-US" sz="2600" b="0">
                <a:effectLst/>
                <a:latin typeface="黑体" panose="02010609060101010101" pitchFamily="49" charset="-122"/>
                <a:ea typeface="黑体" panose="02010609060101010101" pitchFamily="49" charset="-122"/>
              </a:rPr>
              <a:t>，用于支持应用程序</a:t>
            </a:r>
            <a:r>
              <a:rPr lang="zh-CN" altLang="en-US" sz="2600" b="0">
                <a:solidFill>
                  <a:srgbClr val="006666"/>
                </a:solidFill>
                <a:effectLst/>
                <a:latin typeface="黑体" panose="02010609060101010101" pitchFamily="49" charset="-122"/>
                <a:ea typeface="黑体" panose="02010609060101010101" pitchFamily="49" charset="-122"/>
              </a:rPr>
              <a:t>对查询结果集的有效处理</a:t>
            </a:r>
            <a:r>
              <a:rPr lang="zh-CN" altLang="en-US" sz="2600" b="0">
                <a:effectLst/>
                <a:latin typeface="黑体" panose="02010609060101010101" pitchFamily="49" charset="-122"/>
                <a:ea typeface="黑体" panose="02010609060101010101" pitchFamily="49" charset="-122"/>
              </a:rPr>
              <a:t>。</a:t>
            </a:r>
            <a:r>
              <a:rPr lang="zh-CN" altLang="en-US" sz="2600" b="0">
                <a:latin typeface="黑体" panose="02010609060101010101" pitchFamily="49" charset="-122"/>
                <a:ea typeface="黑体" panose="02010609060101010101" pitchFamily="49" charset="-122"/>
              </a:rPr>
              <a:t> </a:t>
            </a:r>
          </a:p>
        </p:txBody>
      </p:sp>
      <p:sp>
        <p:nvSpPr>
          <p:cNvPr id="496645" name="Rectangle 5">
            <a:extLst>
              <a:ext uri="{FF2B5EF4-FFF2-40B4-BE49-F238E27FC236}">
                <a16:creationId xmlns:a16="http://schemas.microsoft.com/office/drawing/2014/main" id="{D9E6DBFD-E250-41CF-8439-121C27DABB7C}"/>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5966"/>
    </mc:Choice>
    <mc:Fallback xmlns="">
      <p:transition spd="slow" advTm="95966"/>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96644">
                                            <p:txEl>
                                              <p:pRg st="0" end="0"/>
                                            </p:txEl>
                                          </p:spTgt>
                                        </p:tgtEl>
                                        <p:attrNameLst>
                                          <p:attrName>style.visibility</p:attrName>
                                        </p:attrNameLst>
                                      </p:cBhvr>
                                      <p:to>
                                        <p:strVal val="visible"/>
                                      </p:to>
                                    </p:set>
                                    <p:animEffect transition="in" filter="wipe(left)">
                                      <p:cBhvr>
                                        <p:cTn id="7" dur="500"/>
                                        <p:tgtEl>
                                          <p:spTgt spid="496644">
                                            <p:txEl>
                                              <p:pRg st="0" end="0"/>
                                            </p:txEl>
                                          </p:spTgt>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96644">
                                            <p:txEl>
                                              <p:pRg st="1" end="1"/>
                                            </p:txEl>
                                          </p:spTgt>
                                        </p:tgtEl>
                                        <p:attrNameLst>
                                          <p:attrName>style.visibility</p:attrName>
                                        </p:attrNameLst>
                                      </p:cBhvr>
                                      <p:to>
                                        <p:strVal val="visible"/>
                                      </p:to>
                                    </p:set>
                                    <p:animEffect transition="in" filter="wipe(up)">
                                      <p:cBhvr>
                                        <p:cTn id="11" dur="1000"/>
                                        <p:tgtEl>
                                          <p:spTgt spid="496644">
                                            <p:txEl>
                                              <p:pRg st="1" end="1"/>
                                            </p:txEl>
                                          </p:spTgt>
                                        </p:tgtEl>
                                      </p:cBhvr>
                                    </p:animEffect>
                                  </p:childTnLst>
                                </p:cTn>
                              </p:par>
                            </p:childTnLst>
                          </p:cTn>
                        </p:par>
                        <p:par>
                          <p:cTn id="12" fill="hold" nodeType="afterGroup">
                            <p:stCondLst>
                              <p:cond delay="1500"/>
                            </p:stCondLst>
                            <p:childTnLst>
                              <p:par>
                                <p:cTn id="13" presetID="22" presetClass="entr" presetSubtype="1" fill="hold" nodeType="afterEffect">
                                  <p:stCondLst>
                                    <p:cond delay="4000"/>
                                  </p:stCondLst>
                                  <p:childTnLst>
                                    <p:set>
                                      <p:cBhvr>
                                        <p:cTn id="14" dur="1" fill="hold">
                                          <p:stCondLst>
                                            <p:cond delay="0"/>
                                          </p:stCondLst>
                                        </p:cTn>
                                        <p:tgtEl>
                                          <p:spTgt spid="496644">
                                            <p:txEl>
                                              <p:pRg st="2" end="2"/>
                                            </p:txEl>
                                          </p:spTgt>
                                        </p:tgtEl>
                                        <p:attrNameLst>
                                          <p:attrName>style.visibility</p:attrName>
                                        </p:attrNameLst>
                                      </p:cBhvr>
                                      <p:to>
                                        <p:strVal val="visible"/>
                                      </p:to>
                                    </p:set>
                                    <p:animEffect transition="in" filter="wipe(up)">
                                      <p:cBhvr>
                                        <p:cTn id="15" dur="1000"/>
                                        <p:tgtEl>
                                          <p:spTgt spid="496644">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496644">
                                            <p:txEl>
                                              <p:pRg st="3" end="3"/>
                                            </p:txEl>
                                          </p:spTgt>
                                        </p:tgtEl>
                                        <p:attrNameLst>
                                          <p:attrName>style.visibility</p:attrName>
                                        </p:attrNameLst>
                                      </p:cBhvr>
                                      <p:to>
                                        <p:strVal val="visible"/>
                                      </p:to>
                                    </p:set>
                                    <p:animEffect transition="in" filter="wipe(up)">
                                      <p:cBhvr>
                                        <p:cTn id="20" dur="1000"/>
                                        <p:tgtEl>
                                          <p:spTgt spid="4966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4" name="Rectangle 4">
            <a:extLst>
              <a:ext uri="{FF2B5EF4-FFF2-40B4-BE49-F238E27FC236}">
                <a16:creationId xmlns:a16="http://schemas.microsoft.com/office/drawing/2014/main" id="{0C9B2939-E869-4262-B12D-12D384B46997}"/>
              </a:ext>
            </a:extLst>
          </p:cNvPr>
          <p:cNvSpPr>
            <a:spLocks noChangeArrowheads="1"/>
          </p:cNvSpPr>
          <p:nvPr/>
        </p:nvSpPr>
        <p:spPr bwMode="auto">
          <a:xfrm>
            <a:off x="468313" y="1185863"/>
            <a:ext cx="8207375"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a:t>
            </a:r>
            <a:r>
              <a:rPr lang="zh-CN" altLang="en-US" sz="3000">
                <a:solidFill>
                  <a:srgbClr val="660033"/>
                </a:solidFill>
                <a:ea typeface="华文新魏" panose="02010800040101010101" pitchFamily="2" charset="-122"/>
              </a:rPr>
              <a:t>引入游标机制的好处：</a:t>
            </a:r>
          </a:p>
          <a:p>
            <a:pPr>
              <a:lnSpc>
                <a:spcPct val="140000"/>
              </a:lnSpc>
              <a:spcBef>
                <a:spcPct val="10000"/>
              </a:spcBef>
              <a:buFont typeface="Wingdings" panose="05000000000000000000" pitchFamily="2" charset="2"/>
              <a:buNone/>
            </a:pPr>
            <a:r>
              <a:rPr lang="zh-CN" altLang="en-US" sz="2600">
                <a:solidFill>
                  <a:srgbClr val="003366"/>
                </a:solidFill>
                <a:effectLst/>
                <a:ea typeface="黑体" panose="02010609060101010101" pitchFamily="49" charset="-122"/>
              </a:rPr>
              <a:t>          </a:t>
            </a:r>
            <a:r>
              <a:rPr lang="zh-CN" altLang="en-US" sz="2600">
                <a:solidFill>
                  <a:srgbClr val="006666"/>
                </a:solidFill>
                <a:effectLst/>
                <a:ea typeface="黑体" panose="02010609060101010101" pitchFamily="49" charset="-122"/>
              </a:rPr>
              <a:t>游标机制与应用程序的结合：</a:t>
            </a:r>
          </a:p>
          <a:p>
            <a:pPr>
              <a:spcBef>
                <a:spcPct val="0"/>
              </a:spcBef>
              <a:buFont typeface="Wingdings" panose="05000000000000000000" pitchFamily="2" charset="2"/>
              <a:buNone/>
            </a:pPr>
            <a:r>
              <a:rPr lang="zh-CN" altLang="en-US">
                <a:solidFill>
                  <a:srgbClr val="003366"/>
                </a:solidFill>
                <a:effectLst/>
                <a:ea typeface="黑体" panose="02010609060101010101" pitchFamily="49" charset="-122"/>
              </a:rPr>
              <a:t>          </a:t>
            </a:r>
            <a:r>
              <a:rPr lang="zh-CN" altLang="en-US">
                <a:solidFill>
                  <a:schemeClr val="hlink"/>
                </a:solidFill>
                <a:effectLst/>
                <a:latin typeface="宋体" panose="02010600030101010101" pitchFamily="2" charset="-122"/>
              </a:rPr>
              <a:t>◆</a:t>
            </a:r>
            <a:r>
              <a:rPr lang="zh-CN" altLang="en-US" sz="2600">
                <a:solidFill>
                  <a:srgbClr val="003366"/>
                </a:solidFill>
                <a:effectLst/>
                <a:latin typeface="黑体" panose="02010609060101010101" pitchFamily="49" charset="-122"/>
                <a:ea typeface="黑体" panose="02010609060101010101" pitchFamily="49" charset="-122"/>
              </a:rPr>
              <a:t>可以实现从结果集的当前位置逐行检索数据；</a:t>
            </a:r>
          </a:p>
          <a:p>
            <a:pPr>
              <a:spcBef>
                <a:spcPct val="0"/>
              </a:spcBef>
              <a:buFont typeface="Wingdings" panose="05000000000000000000" pitchFamily="2" charset="2"/>
              <a:buNone/>
            </a:pPr>
            <a:r>
              <a:rPr lang="zh-CN" altLang="en-US" sz="2600">
                <a:solidFill>
                  <a:srgbClr val="003366"/>
                </a:solidFill>
                <a:effectLst/>
                <a:latin typeface="黑体" panose="02010609060101010101" pitchFamily="49" charset="-122"/>
                <a:ea typeface="黑体" panose="02010609060101010101" pitchFamily="49" charset="-122"/>
              </a:rPr>
              <a:t>      </a:t>
            </a:r>
            <a:r>
              <a:rPr lang="zh-CN" altLang="en-US">
                <a:solidFill>
                  <a:schemeClr val="hlink"/>
                </a:solidFill>
                <a:effectLst/>
                <a:latin typeface="宋体" panose="02010600030101010101" pitchFamily="2" charset="-122"/>
              </a:rPr>
              <a:t>◆</a:t>
            </a:r>
            <a:r>
              <a:rPr lang="zh-CN" altLang="en-US" sz="2600">
                <a:solidFill>
                  <a:srgbClr val="003366"/>
                </a:solidFill>
                <a:effectLst/>
                <a:latin typeface="黑体" panose="02010609060101010101" pitchFamily="49" charset="-122"/>
                <a:ea typeface="黑体" panose="02010609060101010101" pitchFamily="49" charset="-122"/>
              </a:rPr>
              <a:t>可以对结果集中当前位置的行进行数据修改操作；</a:t>
            </a:r>
          </a:p>
          <a:p>
            <a:pPr>
              <a:lnSpc>
                <a:spcPct val="130000"/>
              </a:lnSpc>
              <a:spcBef>
                <a:spcPct val="0"/>
              </a:spcBef>
              <a:buFont typeface="Wingdings" panose="05000000000000000000" pitchFamily="2" charset="2"/>
              <a:buNone/>
            </a:pPr>
            <a:r>
              <a:rPr lang="zh-CN" altLang="en-US" sz="2600">
                <a:solidFill>
                  <a:srgbClr val="003366"/>
                </a:solidFill>
                <a:effectLst/>
                <a:latin typeface="黑体" panose="02010609060101010101" pitchFamily="49" charset="-122"/>
                <a:ea typeface="黑体" panose="02010609060101010101" pitchFamily="49" charset="-122"/>
              </a:rPr>
              <a:t>      </a:t>
            </a:r>
            <a:r>
              <a:rPr lang="zh-CN" altLang="en-US">
                <a:solidFill>
                  <a:schemeClr val="hlink"/>
                </a:solidFill>
                <a:effectLst/>
                <a:latin typeface="宋体" panose="02010600030101010101" pitchFamily="2" charset="-122"/>
              </a:rPr>
              <a:t>◆</a:t>
            </a:r>
            <a:r>
              <a:rPr lang="zh-CN" altLang="en-US" sz="2600">
                <a:solidFill>
                  <a:srgbClr val="003366"/>
                </a:solidFill>
                <a:effectLst/>
                <a:latin typeface="黑体" panose="02010609060101010101" pitchFamily="49" charset="-122"/>
                <a:ea typeface="黑体" panose="02010609060101010101" pitchFamily="49" charset="-122"/>
              </a:rPr>
              <a:t>可以实现对结果集中特定行的定位；</a:t>
            </a:r>
          </a:p>
          <a:p>
            <a:pPr>
              <a:lnSpc>
                <a:spcPct val="130000"/>
              </a:lnSpc>
              <a:spcBef>
                <a:spcPct val="0"/>
              </a:spcBef>
              <a:buFont typeface="Wingdings" panose="05000000000000000000" pitchFamily="2" charset="2"/>
              <a:buNone/>
            </a:pPr>
            <a:r>
              <a:rPr lang="zh-CN" altLang="en-US" sz="2600">
                <a:solidFill>
                  <a:srgbClr val="003366"/>
                </a:solidFill>
                <a:effectLst/>
                <a:latin typeface="黑体" panose="02010609060101010101" pitchFamily="49" charset="-122"/>
                <a:ea typeface="黑体" panose="02010609060101010101" pitchFamily="49" charset="-122"/>
              </a:rPr>
              <a:t>      </a:t>
            </a:r>
            <a:r>
              <a:rPr lang="zh-CN" altLang="en-US">
                <a:solidFill>
                  <a:schemeClr val="hlink"/>
                </a:solidFill>
                <a:effectLst/>
                <a:latin typeface="宋体" panose="02010600030101010101" pitchFamily="2" charset="-122"/>
              </a:rPr>
              <a:t>◆</a:t>
            </a:r>
            <a:r>
              <a:rPr lang="zh-CN" altLang="en-US" sz="2600">
                <a:solidFill>
                  <a:srgbClr val="003366"/>
                </a:solidFill>
                <a:effectLst/>
                <a:latin typeface="黑体" panose="02010609060101010101" pitchFamily="49" charset="-122"/>
                <a:ea typeface="黑体" panose="02010609060101010101" pitchFamily="49" charset="-122"/>
              </a:rPr>
              <a:t>可以支持在存储过程和触发器中访问结果集中的数据等。</a:t>
            </a:r>
            <a:r>
              <a:rPr lang="zh-CN" altLang="en-US" sz="2600">
                <a:latin typeface="黑体" panose="02010609060101010101" pitchFamily="49" charset="-122"/>
                <a:ea typeface="黑体" panose="02010609060101010101" pitchFamily="49" charset="-122"/>
              </a:rPr>
              <a:t> </a:t>
            </a:r>
          </a:p>
        </p:txBody>
      </p:sp>
      <p:sp>
        <p:nvSpPr>
          <p:cNvPr id="506885" name="Rectangle 5">
            <a:extLst>
              <a:ext uri="{FF2B5EF4-FFF2-40B4-BE49-F238E27FC236}">
                <a16:creationId xmlns:a16="http://schemas.microsoft.com/office/drawing/2014/main" id="{B88BE17E-5D9C-4609-9E25-C798D0EBCF47}"/>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43362"/>
    </mc:Choice>
    <mc:Fallback xmlns="">
      <p:transition spd="slow" advTm="4336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06884">
                                            <p:txEl>
                                              <p:pRg st="0" end="0"/>
                                            </p:txEl>
                                          </p:spTgt>
                                        </p:tgtEl>
                                        <p:attrNameLst>
                                          <p:attrName>style.visibility</p:attrName>
                                        </p:attrNameLst>
                                      </p:cBhvr>
                                      <p:to>
                                        <p:strVal val="visible"/>
                                      </p:to>
                                    </p:set>
                                    <p:animEffect transition="in" filter="wipe(left)">
                                      <p:cBhvr>
                                        <p:cTn id="7" dur="1000"/>
                                        <p:tgtEl>
                                          <p:spTgt spid="506884">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06884">
                                            <p:txEl>
                                              <p:pRg st="1" end="1"/>
                                            </p:txEl>
                                          </p:spTgt>
                                        </p:tgtEl>
                                        <p:attrNameLst>
                                          <p:attrName>style.visibility</p:attrName>
                                        </p:attrNameLst>
                                      </p:cBhvr>
                                      <p:to>
                                        <p:strVal val="visible"/>
                                      </p:to>
                                    </p:set>
                                    <p:animEffect transition="in" filter="wipe(up)">
                                      <p:cBhvr>
                                        <p:cTn id="11" dur="1000"/>
                                        <p:tgtEl>
                                          <p:spTgt spid="506884">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06884">
                                            <p:txEl>
                                              <p:pRg st="2" end="2"/>
                                            </p:txEl>
                                          </p:spTgt>
                                        </p:tgtEl>
                                        <p:attrNameLst>
                                          <p:attrName>style.visibility</p:attrName>
                                        </p:attrNameLst>
                                      </p:cBhvr>
                                      <p:to>
                                        <p:strVal val="visible"/>
                                      </p:to>
                                    </p:set>
                                    <p:animEffect transition="in" filter="wipe(up)">
                                      <p:cBhvr>
                                        <p:cTn id="15" dur="2000"/>
                                        <p:tgtEl>
                                          <p:spTgt spid="506884">
                                            <p:txEl>
                                              <p:pRg st="2" end="2"/>
                                            </p:txEl>
                                          </p:spTgt>
                                        </p:tgtEl>
                                      </p:cBhvr>
                                    </p:animEffect>
                                  </p:childTnLst>
                                </p:cTn>
                              </p:par>
                            </p:childTnLst>
                          </p:cTn>
                        </p:par>
                        <p:par>
                          <p:cTn id="16" fill="hold" nodeType="afterGroup">
                            <p:stCondLst>
                              <p:cond delay="4000"/>
                            </p:stCondLst>
                            <p:childTnLst>
                              <p:par>
                                <p:cTn id="17" presetID="22" presetClass="entr" presetSubtype="1" fill="hold" nodeType="afterEffect">
                                  <p:stCondLst>
                                    <p:cond delay="0"/>
                                  </p:stCondLst>
                                  <p:childTnLst>
                                    <p:set>
                                      <p:cBhvr>
                                        <p:cTn id="18" dur="1" fill="hold">
                                          <p:stCondLst>
                                            <p:cond delay="0"/>
                                          </p:stCondLst>
                                        </p:cTn>
                                        <p:tgtEl>
                                          <p:spTgt spid="506884">
                                            <p:txEl>
                                              <p:pRg st="3" end="3"/>
                                            </p:txEl>
                                          </p:spTgt>
                                        </p:tgtEl>
                                        <p:attrNameLst>
                                          <p:attrName>style.visibility</p:attrName>
                                        </p:attrNameLst>
                                      </p:cBhvr>
                                      <p:to>
                                        <p:strVal val="visible"/>
                                      </p:to>
                                    </p:set>
                                    <p:animEffect transition="in" filter="wipe(up)">
                                      <p:cBhvr>
                                        <p:cTn id="19" dur="2000"/>
                                        <p:tgtEl>
                                          <p:spTgt spid="506884">
                                            <p:txEl>
                                              <p:pRg st="3" end="3"/>
                                            </p:txEl>
                                          </p:spTgt>
                                        </p:tgtEl>
                                      </p:cBhvr>
                                    </p:animEffect>
                                  </p:childTnLst>
                                </p:cTn>
                              </p:par>
                            </p:childTnLst>
                          </p:cTn>
                        </p:par>
                        <p:par>
                          <p:cTn id="20" fill="hold" nodeType="afterGroup">
                            <p:stCondLst>
                              <p:cond delay="6000"/>
                            </p:stCondLst>
                            <p:childTnLst>
                              <p:par>
                                <p:cTn id="21" presetID="22" presetClass="entr" presetSubtype="1" fill="hold" nodeType="afterEffect">
                                  <p:stCondLst>
                                    <p:cond delay="0"/>
                                  </p:stCondLst>
                                  <p:childTnLst>
                                    <p:set>
                                      <p:cBhvr>
                                        <p:cTn id="22" dur="1" fill="hold">
                                          <p:stCondLst>
                                            <p:cond delay="0"/>
                                          </p:stCondLst>
                                        </p:cTn>
                                        <p:tgtEl>
                                          <p:spTgt spid="506884">
                                            <p:txEl>
                                              <p:pRg st="4" end="4"/>
                                            </p:txEl>
                                          </p:spTgt>
                                        </p:tgtEl>
                                        <p:attrNameLst>
                                          <p:attrName>style.visibility</p:attrName>
                                        </p:attrNameLst>
                                      </p:cBhvr>
                                      <p:to>
                                        <p:strVal val="visible"/>
                                      </p:to>
                                    </p:set>
                                    <p:animEffect transition="in" filter="wipe(up)">
                                      <p:cBhvr>
                                        <p:cTn id="23" dur="2000"/>
                                        <p:tgtEl>
                                          <p:spTgt spid="506884">
                                            <p:txEl>
                                              <p:pRg st="4" end="4"/>
                                            </p:txEl>
                                          </p:spTgt>
                                        </p:tgtEl>
                                      </p:cBhvr>
                                    </p:animEffect>
                                  </p:childTnLst>
                                </p:cTn>
                              </p:par>
                            </p:childTnLst>
                          </p:cTn>
                        </p:par>
                        <p:par>
                          <p:cTn id="24" fill="hold" nodeType="afterGroup">
                            <p:stCondLst>
                              <p:cond delay="8000"/>
                            </p:stCondLst>
                            <p:childTnLst>
                              <p:par>
                                <p:cTn id="25" presetID="22" presetClass="entr" presetSubtype="1" fill="hold" nodeType="afterEffect">
                                  <p:stCondLst>
                                    <p:cond delay="0"/>
                                  </p:stCondLst>
                                  <p:childTnLst>
                                    <p:set>
                                      <p:cBhvr>
                                        <p:cTn id="26" dur="1" fill="hold">
                                          <p:stCondLst>
                                            <p:cond delay="0"/>
                                          </p:stCondLst>
                                        </p:cTn>
                                        <p:tgtEl>
                                          <p:spTgt spid="506884">
                                            <p:txEl>
                                              <p:pRg st="5" end="5"/>
                                            </p:txEl>
                                          </p:spTgt>
                                        </p:tgtEl>
                                        <p:attrNameLst>
                                          <p:attrName>style.visibility</p:attrName>
                                        </p:attrNameLst>
                                      </p:cBhvr>
                                      <p:to>
                                        <p:strVal val="visible"/>
                                      </p:to>
                                    </p:set>
                                    <p:animEffect transition="in" filter="wipe(up)">
                                      <p:cBhvr>
                                        <p:cTn id="27" dur="2000"/>
                                        <p:tgtEl>
                                          <p:spTgt spid="50688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8" name="Rectangle 4">
            <a:extLst>
              <a:ext uri="{FF2B5EF4-FFF2-40B4-BE49-F238E27FC236}">
                <a16:creationId xmlns:a16="http://schemas.microsoft.com/office/drawing/2014/main" id="{B04B4A69-191A-493B-989F-EF1FEB8FFB04}"/>
              </a:ext>
            </a:extLst>
          </p:cNvPr>
          <p:cNvSpPr>
            <a:spLocks noChangeArrowheads="1"/>
          </p:cNvSpPr>
          <p:nvPr/>
        </p:nvSpPr>
        <p:spPr bwMode="auto">
          <a:xfrm>
            <a:off x="468313" y="1185863"/>
            <a:ext cx="8207375"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a:t>
            </a:r>
            <a:r>
              <a:rPr lang="zh-CN" altLang="en-US" sz="3000">
                <a:solidFill>
                  <a:srgbClr val="660033"/>
                </a:solidFill>
                <a:ea typeface="华文新魏" panose="02010800040101010101" pitchFamily="2" charset="-122"/>
              </a:rPr>
              <a:t>游标的运用：</a:t>
            </a:r>
          </a:p>
          <a:p>
            <a:pPr>
              <a:lnSpc>
                <a:spcPct val="140000"/>
              </a:lnSpc>
              <a:spcBef>
                <a:spcPct val="10000"/>
              </a:spcBef>
              <a:buFont typeface="Wingdings" panose="05000000000000000000" pitchFamily="2" charset="2"/>
              <a:buNone/>
            </a:pPr>
            <a:r>
              <a:rPr lang="zh-CN" altLang="en-US">
                <a:solidFill>
                  <a:srgbClr val="800000"/>
                </a:solidFill>
                <a:effectLst/>
              </a:rPr>
              <a:t>         </a:t>
            </a:r>
            <a:r>
              <a:rPr lang="zh-CN" altLang="en-US">
                <a:effectLst/>
              </a:rPr>
              <a:t>（</a:t>
            </a:r>
            <a:r>
              <a:rPr lang="en-US" altLang="zh-CN">
                <a:effectLst/>
              </a:rPr>
              <a:t>1</a:t>
            </a:r>
            <a:r>
              <a:rPr lang="zh-CN" altLang="en-US">
                <a:effectLst/>
              </a:rPr>
              <a:t>）定义游标；</a:t>
            </a:r>
          </a:p>
          <a:p>
            <a:pPr>
              <a:lnSpc>
                <a:spcPct val="140000"/>
              </a:lnSpc>
              <a:spcBef>
                <a:spcPct val="10000"/>
              </a:spcBef>
              <a:buFont typeface="Wingdings" panose="05000000000000000000" pitchFamily="2" charset="2"/>
              <a:buNone/>
            </a:pPr>
            <a:r>
              <a:rPr lang="zh-CN" altLang="en-US">
                <a:effectLst/>
              </a:rPr>
              <a:t>         （</a:t>
            </a:r>
            <a:r>
              <a:rPr lang="en-US" altLang="zh-CN">
                <a:effectLst/>
              </a:rPr>
              <a:t>2</a:t>
            </a:r>
            <a:r>
              <a:rPr lang="zh-CN" altLang="en-US">
                <a:effectLst/>
              </a:rPr>
              <a:t>）打开游标；</a:t>
            </a:r>
          </a:p>
          <a:p>
            <a:pPr>
              <a:lnSpc>
                <a:spcPct val="140000"/>
              </a:lnSpc>
              <a:spcBef>
                <a:spcPct val="10000"/>
              </a:spcBef>
              <a:buFont typeface="Wingdings" panose="05000000000000000000" pitchFamily="2" charset="2"/>
              <a:buNone/>
            </a:pPr>
            <a:r>
              <a:rPr lang="zh-CN" altLang="en-US">
                <a:effectLst/>
              </a:rPr>
              <a:t>         （</a:t>
            </a:r>
            <a:r>
              <a:rPr lang="en-US" altLang="zh-CN">
                <a:effectLst/>
              </a:rPr>
              <a:t>3</a:t>
            </a:r>
            <a:r>
              <a:rPr lang="zh-CN" altLang="en-US">
                <a:effectLst/>
              </a:rPr>
              <a:t>）利用游标读取数据；</a:t>
            </a:r>
          </a:p>
          <a:p>
            <a:pPr>
              <a:lnSpc>
                <a:spcPct val="140000"/>
              </a:lnSpc>
              <a:spcBef>
                <a:spcPct val="10000"/>
              </a:spcBef>
              <a:buFont typeface="Wingdings" panose="05000000000000000000" pitchFamily="2" charset="2"/>
              <a:buNone/>
            </a:pPr>
            <a:r>
              <a:rPr lang="zh-CN" altLang="en-US">
                <a:effectLst/>
              </a:rPr>
              <a:t>         （</a:t>
            </a:r>
            <a:r>
              <a:rPr lang="en-US" altLang="zh-CN">
                <a:effectLst/>
              </a:rPr>
              <a:t>4</a:t>
            </a:r>
            <a:r>
              <a:rPr lang="zh-CN" altLang="en-US">
                <a:effectLst/>
              </a:rPr>
              <a:t>）利用游标修改和删除数据；</a:t>
            </a:r>
          </a:p>
          <a:p>
            <a:pPr>
              <a:lnSpc>
                <a:spcPct val="140000"/>
              </a:lnSpc>
              <a:spcBef>
                <a:spcPct val="10000"/>
              </a:spcBef>
              <a:buFont typeface="Wingdings" panose="05000000000000000000" pitchFamily="2" charset="2"/>
              <a:buNone/>
            </a:pPr>
            <a:r>
              <a:rPr lang="zh-CN" altLang="en-US">
                <a:effectLst/>
              </a:rPr>
              <a:t>         （</a:t>
            </a:r>
            <a:r>
              <a:rPr lang="en-US" altLang="zh-CN">
                <a:effectLst/>
              </a:rPr>
              <a:t>5</a:t>
            </a:r>
            <a:r>
              <a:rPr lang="zh-CN" altLang="en-US">
                <a:effectLst/>
              </a:rPr>
              <a:t>）关闭与删除游标。</a:t>
            </a:r>
            <a:r>
              <a:rPr lang="zh-CN" altLang="en-US"/>
              <a:t>     </a:t>
            </a:r>
          </a:p>
        </p:txBody>
      </p:sp>
      <p:sp>
        <p:nvSpPr>
          <p:cNvPr id="497669" name="Rectangle 5">
            <a:extLst>
              <a:ext uri="{FF2B5EF4-FFF2-40B4-BE49-F238E27FC236}">
                <a16:creationId xmlns:a16="http://schemas.microsoft.com/office/drawing/2014/main" id="{1A869FB2-825A-42A4-BF0D-031BB68DD3DB}"/>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40628"/>
    </mc:Choice>
    <mc:Fallback xmlns="">
      <p:transition spd="slow" advTm="4062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97668">
                                            <p:txEl>
                                              <p:pRg st="0" end="0"/>
                                            </p:txEl>
                                          </p:spTgt>
                                        </p:tgtEl>
                                        <p:attrNameLst>
                                          <p:attrName>style.visibility</p:attrName>
                                        </p:attrNameLst>
                                      </p:cBhvr>
                                      <p:to>
                                        <p:strVal val="visible"/>
                                      </p:to>
                                    </p:set>
                                    <p:animEffect transition="in" filter="wipe(left)">
                                      <p:cBhvr>
                                        <p:cTn id="7" dur="1000"/>
                                        <p:tgtEl>
                                          <p:spTgt spid="497668">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97668">
                                            <p:txEl>
                                              <p:pRg st="1" end="1"/>
                                            </p:txEl>
                                          </p:spTgt>
                                        </p:tgtEl>
                                        <p:attrNameLst>
                                          <p:attrName>style.visibility</p:attrName>
                                        </p:attrNameLst>
                                      </p:cBhvr>
                                      <p:to>
                                        <p:strVal val="visible"/>
                                      </p:to>
                                    </p:set>
                                    <p:animEffect transition="in" filter="wipe(up)">
                                      <p:cBhvr>
                                        <p:cTn id="11" dur="500"/>
                                        <p:tgtEl>
                                          <p:spTgt spid="497668">
                                            <p:txEl>
                                              <p:pRg st="1" end="1"/>
                                            </p:txEl>
                                          </p:spTgt>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497668">
                                            <p:txEl>
                                              <p:pRg st="2" end="2"/>
                                            </p:txEl>
                                          </p:spTgt>
                                        </p:tgtEl>
                                        <p:attrNameLst>
                                          <p:attrName>style.visibility</p:attrName>
                                        </p:attrNameLst>
                                      </p:cBhvr>
                                      <p:to>
                                        <p:strVal val="visible"/>
                                      </p:to>
                                    </p:set>
                                    <p:animEffect transition="in" filter="wipe(up)">
                                      <p:cBhvr>
                                        <p:cTn id="15" dur="500"/>
                                        <p:tgtEl>
                                          <p:spTgt spid="497668">
                                            <p:txEl>
                                              <p:pRg st="2" end="2"/>
                                            </p:txEl>
                                          </p:spTgt>
                                        </p:tgtEl>
                                      </p:cBhvr>
                                    </p:animEffect>
                                  </p:childTnLst>
                                </p:cTn>
                              </p:par>
                            </p:childTnLst>
                          </p:cTn>
                        </p:par>
                        <p:par>
                          <p:cTn id="16" fill="hold" nodeType="afterGroup">
                            <p:stCondLst>
                              <p:cond delay="2000"/>
                            </p:stCondLst>
                            <p:childTnLst>
                              <p:par>
                                <p:cTn id="17" presetID="22" presetClass="entr" presetSubtype="1" fill="hold" nodeType="afterEffect">
                                  <p:stCondLst>
                                    <p:cond delay="0"/>
                                  </p:stCondLst>
                                  <p:childTnLst>
                                    <p:set>
                                      <p:cBhvr>
                                        <p:cTn id="18" dur="1" fill="hold">
                                          <p:stCondLst>
                                            <p:cond delay="0"/>
                                          </p:stCondLst>
                                        </p:cTn>
                                        <p:tgtEl>
                                          <p:spTgt spid="497668">
                                            <p:txEl>
                                              <p:pRg st="3" end="3"/>
                                            </p:txEl>
                                          </p:spTgt>
                                        </p:tgtEl>
                                        <p:attrNameLst>
                                          <p:attrName>style.visibility</p:attrName>
                                        </p:attrNameLst>
                                      </p:cBhvr>
                                      <p:to>
                                        <p:strVal val="visible"/>
                                      </p:to>
                                    </p:set>
                                    <p:animEffect transition="in" filter="wipe(up)">
                                      <p:cBhvr>
                                        <p:cTn id="19" dur="500"/>
                                        <p:tgtEl>
                                          <p:spTgt spid="497668">
                                            <p:txEl>
                                              <p:pRg st="3" end="3"/>
                                            </p:txEl>
                                          </p:spTgt>
                                        </p:tgtEl>
                                      </p:cBhvr>
                                    </p:animEffect>
                                  </p:childTnLst>
                                </p:cTn>
                              </p:par>
                            </p:childTnLst>
                          </p:cTn>
                        </p:par>
                        <p:par>
                          <p:cTn id="20" fill="hold" nodeType="afterGroup">
                            <p:stCondLst>
                              <p:cond delay="2500"/>
                            </p:stCondLst>
                            <p:childTnLst>
                              <p:par>
                                <p:cTn id="21" presetID="22" presetClass="entr" presetSubtype="1" fill="hold" nodeType="afterEffect">
                                  <p:stCondLst>
                                    <p:cond delay="0"/>
                                  </p:stCondLst>
                                  <p:childTnLst>
                                    <p:set>
                                      <p:cBhvr>
                                        <p:cTn id="22" dur="1" fill="hold">
                                          <p:stCondLst>
                                            <p:cond delay="0"/>
                                          </p:stCondLst>
                                        </p:cTn>
                                        <p:tgtEl>
                                          <p:spTgt spid="497668">
                                            <p:txEl>
                                              <p:pRg st="4" end="4"/>
                                            </p:txEl>
                                          </p:spTgt>
                                        </p:tgtEl>
                                        <p:attrNameLst>
                                          <p:attrName>style.visibility</p:attrName>
                                        </p:attrNameLst>
                                      </p:cBhvr>
                                      <p:to>
                                        <p:strVal val="visible"/>
                                      </p:to>
                                    </p:set>
                                    <p:animEffect transition="in" filter="wipe(up)">
                                      <p:cBhvr>
                                        <p:cTn id="23" dur="500"/>
                                        <p:tgtEl>
                                          <p:spTgt spid="497668">
                                            <p:txEl>
                                              <p:pRg st="4" end="4"/>
                                            </p:txEl>
                                          </p:spTgt>
                                        </p:tgtEl>
                                      </p:cBhvr>
                                    </p:animEffect>
                                  </p:childTnLst>
                                </p:cTn>
                              </p:par>
                            </p:childTnLst>
                          </p:cTn>
                        </p:par>
                        <p:par>
                          <p:cTn id="24" fill="hold" nodeType="afterGroup">
                            <p:stCondLst>
                              <p:cond delay="3000"/>
                            </p:stCondLst>
                            <p:childTnLst>
                              <p:par>
                                <p:cTn id="25" presetID="22" presetClass="entr" presetSubtype="1" fill="hold" nodeType="afterEffect">
                                  <p:stCondLst>
                                    <p:cond delay="0"/>
                                  </p:stCondLst>
                                  <p:childTnLst>
                                    <p:set>
                                      <p:cBhvr>
                                        <p:cTn id="26" dur="1" fill="hold">
                                          <p:stCondLst>
                                            <p:cond delay="0"/>
                                          </p:stCondLst>
                                        </p:cTn>
                                        <p:tgtEl>
                                          <p:spTgt spid="497668">
                                            <p:txEl>
                                              <p:pRg st="5" end="5"/>
                                            </p:txEl>
                                          </p:spTgt>
                                        </p:tgtEl>
                                        <p:attrNameLst>
                                          <p:attrName>style.visibility</p:attrName>
                                        </p:attrNameLst>
                                      </p:cBhvr>
                                      <p:to>
                                        <p:strVal val="visible"/>
                                      </p:to>
                                    </p:set>
                                    <p:animEffect transition="in" filter="wipe(up)">
                                      <p:cBhvr>
                                        <p:cTn id="27" dur="500"/>
                                        <p:tgtEl>
                                          <p:spTgt spid="4976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2" name="Rectangle 4">
            <a:extLst>
              <a:ext uri="{FF2B5EF4-FFF2-40B4-BE49-F238E27FC236}">
                <a16:creationId xmlns:a16="http://schemas.microsoft.com/office/drawing/2014/main" id="{9C3B5C9D-D8E4-4A29-97CA-663D1E031925}"/>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dirty="0">
                <a:solidFill>
                  <a:srgbClr val="660033"/>
                </a:solidFill>
                <a:ea typeface="华文新魏" panose="02010800040101010101" pitchFamily="2" charset="-122"/>
              </a:rPr>
              <a:t>        1</a:t>
            </a:r>
            <a:r>
              <a:rPr lang="zh-CN" altLang="en-US" sz="3000" dirty="0">
                <a:solidFill>
                  <a:srgbClr val="660033"/>
                </a:solidFill>
                <a:ea typeface="华文新魏" panose="02010800040101010101" pitchFamily="2" charset="-122"/>
              </a:rPr>
              <a:t>、定义游标</a:t>
            </a:r>
          </a:p>
          <a:p>
            <a:pPr>
              <a:buFont typeface="Wingdings" panose="05000000000000000000" pitchFamily="2" charset="2"/>
              <a:buNone/>
            </a:pPr>
            <a:r>
              <a:rPr lang="zh-CN" altLang="en-US" sz="2600" dirty="0">
                <a:solidFill>
                  <a:srgbClr val="003366"/>
                </a:solidFill>
                <a:effectLst/>
                <a:ea typeface="黑体" panose="02010609060101010101" pitchFamily="49" charset="-122"/>
              </a:rPr>
              <a:t>         </a:t>
            </a:r>
            <a:r>
              <a:rPr lang="zh-CN" altLang="en-US" sz="2300" dirty="0">
                <a:solidFill>
                  <a:srgbClr val="006666"/>
                </a:solidFill>
                <a:latin typeface="黑体" panose="02010609060101010101" pitchFamily="49" charset="-122"/>
                <a:ea typeface="黑体" panose="02010609060101010101" pitchFamily="49" charset="-122"/>
              </a:rPr>
              <a:t>（</a:t>
            </a:r>
            <a:r>
              <a:rPr lang="en-US" altLang="zh-CN" sz="2300" dirty="0">
                <a:solidFill>
                  <a:srgbClr val="006666"/>
                </a:solidFill>
                <a:latin typeface="黑体" panose="02010609060101010101" pitchFamily="49" charset="-122"/>
                <a:ea typeface="黑体" panose="02010609060101010101" pitchFamily="49" charset="-122"/>
              </a:rPr>
              <a:t>1</a:t>
            </a:r>
            <a:r>
              <a:rPr lang="zh-CN" altLang="en-US" sz="2300" dirty="0">
                <a:solidFill>
                  <a:srgbClr val="006666"/>
                </a:solidFill>
                <a:latin typeface="黑体" panose="02010609060101010101" pitchFamily="49" charset="-122"/>
                <a:ea typeface="黑体" panose="02010609060101010101" pitchFamily="49" charset="-122"/>
              </a:rPr>
              <a:t>）利用符合</a:t>
            </a:r>
            <a:r>
              <a:rPr lang="en-US" altLang="zh-CN" sz="2300" dirty="0">
                <a:solidFill>
                  <a:srgbClr val="006666"/>
                </a:solidFill>
                <a:latin typeface="黑体" panose="02010609060101010101" pitchFamily="49" charset="-122"/>
                <a:ea typeface="黑体" panose="02010609060101010101" pitchFamily="49" charset="-122"/>
              </a:rPr>
              <a:t>SQL92</a:t>
            </a:r>
            <a:r>
              <a:rPr lang="zh-CN" altLang="en-US" sz="2300" dirty="0">
                <a:solidFill>
                  <a:srgbClr val="006666"/>
                </a:solidFill>
                <a:latin typeface="黑体" panose="02010609060101010101" pitchFamily="49" charset="-122"/>
                <a:ea typeface="黑体" panose="02010609060101010101" pitchFamily="49" charset="-122"/>
              </a:rPr>
              <a:t>标准的</a:t>
            </a:r>
            <a:r>
              <a:rPr lang="en-US" altLang="zh-CN" sz="2300" dirty="0">
                <a:solidFill>
                  <a:srgbClr val="006666"/>
                </a:solidFill>
                <a:latin typeface="黑体" panose="02010609060101010101" pitchFamily="49" charset="-122"/>
                <a:ea typeface="黑体" panose="02010609060101010101" pitchFamily="49" charset="-122"/>
              </a:rPr>
              <a:t>DECLARE CUSOR</a:t>
            </a:r>
            <a:r>
              <a:rPr lang="zh-CN" altLang="en-US" sz="2300" dirty="0">
                <a:solidFill>
                  <a:srgbClr val="006666"/>
                </a:solidFill>
                <a:latin typeface="黑体" panose="02010609060101010101" pitchFamily="49" charset="-122"/>
                <a:ea typeface="黑体" panose="02010609060101010101" pitchFamily="49" charset="-122"/>
              </a:rPr>
              <a:t>语句定义游标</a:t>
            </a:r>
          </a:p>
          <a:p>
            <a:pPr>
              <a:spcBef>
                <a:spcPct val="40000"/>
              </a:spcBef>
              <a:buFont typeface="Wingdings" panose="05000000000000000000" pitchFamily="2" charset="2"/>
              <a:buNone/>
            </a:pPr>
            <a:r>
              <a:rPr lang="en-US" altLang="zh-CN" sz="2400" dirty="0">
                <a:effectLst/>
              </a:rPr>
              <a:t>DECLARE &lt;</a:t>
            </a:r>
            <a:r>
              <a:rPr lang="zh-CN" altLang="en-US" sz="2400" dirty="0">
                <a:effectLst/>
              </a:rPr>
              <a:t>游标名</a:t>
            </a:r>
            <a:r>
              <a:rPr lang="en-US" altLang="zh-CN" sz="2400" dirty="0">
                <a:effectLst/>
              </a:rPr>
              <a:t>&gt; [INSENSITIVE][SCROLL] CURSOR</a:t>
            </a:r>
          </a:p>
          <a:p>
            <a:pPr>
              <a:buFont typeface="Wingdings" panose="05000000000000000000" pitchFamily="2" charset="2"/>
              <a:buNone/>
            </a:pPr>
            <a:r>
              <a:rPr lang="en-US" altLang="zh-CN" sz="2400" dirty="0">
                <a:effectLst/>
              </a:rPr>
              <a:t>FOR &lt;SELECT</a:t>
            </a:r>
            <a:r>
              <a:rPr lang="zh-CN" altLang="en-US" sz="2400" dirty="0">
                <a:effectLst/>
              </a:rPr>
              <a:t>语句</a:t>
            </a:r>
            <a:r>
              <a:rPr lang="en-US" altLang="zh-CN" sz="2400" dirty="0">
                <a:effectLst/>
              </a:rPr>
              <a:t>&gt;</a:t>
            </a:r>
          </a:p>
          <a:p>
            <a:pPr>
              <a:buFont typeface="Wingdings" panose="05000000000000000000" pitchFamily="2" charset="2"/>
              <a:buNone/>
            </a:pPr>
            <a:r>
              <a:rPr lang="en-US" altLang="zh-CN" sz="2400" dirty="0">
                <a:effectLst/>
              </a:rPr>
              <a:t>[FOR { READ ONLY | UPDATE [OF &lt;</a:t>
            </a:r>
            <a:r>
              <a:rPr lang="zh-CN" altLang="en-US" sz="2400" dirty="0">
                <a:effectLst/>
              </a:rPr>
              <a:t>列名</a:t>
            </a:r>
            <a:r>
              <a:rPr lang="en-US" altLang="zh-CN" sz="2400" dirty="0">
                <a:effectLst/>
              </a:rPr>
              <a:t>&gt; [</a:t>
            </a:r>
            <a:r>
              <a:rPr lang="zh-CN" altLang="en-US" sz="2400" dirty="0">
                <a:effectLst/>
              </a:rPr>
              <a:t>，</a:t>
            </a:r>
            <a:r>
              <a:rPr lang="en-US" altLang="zh-CN" sz="2400" dirty="0">
                <a:effectLst/>
                <a:latin typeface="Arial" panose="020B0604020202020204" pitchFamily="34" charset="0"/>
              </a:rPr>
              <a:t>…</a:t>
            </a:r>
            <a:r>
              <a:rPr lang="en-US" altLang="zh-CN" sz="2400" dirty="0">
                <a:effectLst/>
              </a:rPr>
              <a:t> ]]}]</a:t>
            </a:r>
          </a:p>
          <a:p>
            <a:pPr>
              <a:buFont typeface="Wingdings" panose="05000000000000000000" pitchFamily="2" charset="2"/>
              <a:buNone/>
            </a:pPr>
            <a:r>
              <a:rPr lang="zh-CN" altLang="en-US" dirty="0">
                <a:solidFill>
                  <a:schemeClr val="hlink"/>
                </a:solidFill>
                <a:effectLst/>
              </a:rPr>
              <a:t>其中：</a:t>
            </a:r>
          </a:p>
          <a:p>
            <a:pPr>
              <a:buFont typeface="Wingdings" panose="05000000000000000000" pitchFamily="2" charset="2"/>
              <a:buNone/>
            </a:pPr>
            <a:r>
              <a:rPr lang="zh-CN" altLang="en-US" dirty="0">
                <a:effectLst/>
              </a:rPr>
              <a:t>          </a:t>
            </a:r>
            <a:r>
              <a:rPr lang="zh-CN" altLang="en-US" dirty="0">
                <a:solidFill>
                  <a:srgbClr val="003366"/>
                </a:solidFill>
                <a:effectLst/>
                <a:latin typeface="华文楷体" panose="02010600040101010101" pitchFamily="2" charset="-122"/>
                <a:ea typeface="华文楷体" panose="02010600040101010101" pitchFamily="2" charset="-122"/>
              </a:rPr>
              <a:t>可选项</a:t>
            </a:r>
            <a:r>
              <a:rPr lang="en-US" altLang="zh-CN" dirty="0">
                <a:effectLst/>
                <a:latin typeface="华文楷体" panose="02010600040101010101" pitchFamily="2" charset="-122"/>
                <a:ea typeface="华文楷体" panose="02010600040101010101" pitchFamily="2" charset="-122"/>
              </a:rPr>
              <a:t>INSENSITIVE</a:t>
            </a:r>
            <a:r>
              <a:rPr lang="zh-CN" altLang="en-US" dirty="0">
                <a:solidFill>
                  <a:srgbClr val="003366"/>
                </a:solidFill>
                <a:effectLst/>
                <a:latin typeface="华文楷体" panose="02010600040101010101" pitchFamily="2" charset="-122"/>
                <a:ea typeface="华文楷体" panose="02010600040101010101" pitchFamily="2" charset="-122"/>
              </a:rPr>
              <a:t>用于为定义的游标创建一个存放检索到的结果集的临时副本，以后的数据就从这个临时副本中获取。</a:t>
            </a:r>
            <a:r>
              <a:rPr lang="zh-CN" altLang="en-US" dirty="0"/>
              <a:t> </a:t>
            </a:r>
          </a:p>
        </p:txBody>
      </p:sp>
      <p:sp>
        <p:nvSpPr>
          <p:cNvPr id="498693" name="Rectangle 5">
            <a:extLst>
              <a:ext uri="{FF2B5EF4-FFF2-40B4-BE49-F238E27FC236}">
                <a16:creationId xmlns:a16="http://schemas.microsoft.com/office/drawing/2014/main" id="{1FA23C91-33D5-441B-B050-542C13F61F72}"/>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65806"/>
    </mc:Choice>
    <mc:Fallback xmlns="">
      <p:transition spd="slow" advTm="6580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98692">
                                            <p:txEl>
                                              <p:pRg st="0" end="0"/>
                                            </p:txEl>
                                          </p:spTgt>
                                        </p:tgtEl>
                                        <p:attrNameLst>
                                          <p:attrName>style.visibility</p:attrName>
                                        </p:attrNameLst>
                                      </p:cBhvr>
                                      <p:to>
                                        <p:strVal val="visible"/>
                                      </p:to>
                                    </p:set>
                                    <p:animEffect transition="in" filter="wipe(left)">
                                      <p:cBhvr>
                                        <p:cTn id="7" dur="1000"/>
                                        <p:tgtEl>
                                          <p:spTgt spid="498692">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98692">
                                            <p:txEl>
                                              <p:pRg st="1" end="1"/>
                                            </p:txEl>
                                          </p:spTgt>
                                        </p:tgtEl>
                                        <p:attrNameLst>
                                          <p:attrName>style.visibility</p:attrName>
                                        </p:attrNameLst>
                                      </p:cBhvr>
                                      <p:to>
                                        <p:strVal val="visible"/>
                                      </p:to>
                                    </p:set>
                                    <p:animEffect transition="in" filter="wipe(up)">
                                      <p:cBhvr>
                                        <p:cTn id="11" dur="1000"/>
                                        <p:tgtEl>
                                          <p:spTgt spid="498692">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498692">
                                            <p:txEl>
                                              <p:pRg st="2" end="2"/>
                                            </p:txEl>
                                          </p:spTgt>
                                        </p:tgtEl>
                                        <p:attrNameLst>
                                          <p:attrName>style.visibility</p:attrName>
                                        </p:attrNameLst>
                                      </p:cBhvr>
                                      <p:to>
                                        <p:strVal val="visible"/>
                                      </p:to>
                                    </p:set>
                                    <p:animEffect transition="in" filter="wipe(up)">
                                      <p:cBhvr>
                                        <p:cTn id="15" dur="1000"/>
                                        <p:tgtEl>
                                          <p:spTgt spid="498692">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498692">
                                            <p:txEl>
                                              <p:pRg st="3" end="3"/>
                                            </p:txEl>
                                          </p:spTgt>
                                        </p:tgtEl>
                                        <p:attrNameLst>
                                          <p:attrName>style.visibility</p:attrName>
                                        </p:attrNameLst>
                                      </p:cBhvr>
                                      <p:to>
                                        <p:strVal val="visible"/>
                                      </p:to>
                                    </p:set>
                                    <p:animEffect transition="in" filter="wipe(up)">
                                      <p:cBhvr>
                                        <p:cTn id="19" dur="1000"/>
                                        <p:tgtEl>
                                          <p:spTgt spid="498692">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498692">
                                            <p:txEl>
                                              <p:pRg st="4" end="4"/>
                                            </p:txEl>
                                          </p:spTgt>
                                        </p:tgtEl>
                                        <p:attrNameLst>
                                          <p:attrName>style.visibility</p:attrName>
                                        </p:attrNameLst>
                                      </p:cBhvr>
                                      <p:to>
                                        <p:strVal val="visible"/>
                                      </p:to>
                                    </p:set>
                                    <p:animEffect transition="in" filter="wipe(up)">
                                      <p:cBhvr>
                                        <p:cTn id="23" dur="1000"/>
                                        <p:tgtEl>
                                          <p:spTgt spid="498692">
                                            <p:txEl>
                                              <p:pRg st="4" end="4"/>
                                            </p:txEl>
                                          </p:spTgt>
                                        </p:tgtEl>
                                      </p:cBhvr>
                                    </p:animEffect>
                                  </p:childTnLst>
                                </p:cTn>
                              </p:par>
                            </p:childTnLst>
                          </p:cTn>
                        </p:par>
                        <p:par>
                          <p:cTn id="24" fill="hold" nodeType="afterGroup">
                            <p:stCondLst>
                              <p:cond delay="5000"/>
                            </p:stCondLst>
                            <p:childTnLst>
                              <p:par>
                                <p:cTn id="25" presetID="22" presetClass="entr" presetSubtype="1" fill="hold" nodeType="afterEffect">
                                  <p:stCondLst>
                                    <p:cond delay="0"/>
                                  </p:stCondLst>
                                  <p:childTnLst>
                                    <p:set>
                                      <p:cBhvr>
                                        <p:cTn id="26" dur="1" fill="hold">
                                          <p:stCondLst>
                                            <p:cond delay="0"/>
                                          </p:stCondLst>
                                        </p:cTn>
                                        <p:tgtEl>
                                          <p:spTgt spid="498692">
                                            <p:txEl>
                                              <p:pRg st="5" end="5"/>
                                            </p:txEl>
                                          </p:spTgt>
                                        </p:tgtEl>
                                        <p:attrNameLst>
                                          <p:attrName>style.visibility</p:attrName>
                                        </p:attrNameLst>
                                      </p:cBhvr>
                                      <p:to>
                                        <p:strVal val="visible"/>
                                      </p:to>
                                    </p:set>
                                    <p:animEffect transition="in" filter="wipe(up)">
                                      <p:cBhvr>
                                        <p:cTn id="27" dur="1000"/>
                                        <p:tgtEl>
                                          <p:spTgt spid="498692">
                                            <p:txEl>
                                              <p:pRg st="5" end="5"/>
                                            </p:txEl>
                                          </p:spTgt>
                                        </p:tgtEl>
                                      </p:cBhvr>
                                    </p:animEffect>
                                  </p:childTnLst>
                                </p:cTn>
                              </p:par>
                            </p:childTnLst>
                          </p:cTn>
                        </p:par>
                        <p:par>
                          <p:cTn id="28" fill="hold" nodeType="afterGroup">
                            <p:stCondLst>
                              <p:cond delay="6000"/>
                            </p:stCondLst>
                            <p:childTnLst>
                              <p:par>
                                <p:cTn id="29" presetID="22" presetClass="entr" presetSubtype="1" fill="hold" nodeType="afterEffect">
                                  <p:stCondLst>
                                    <p:cond delay="0"/>
                                  </p:stCondLst>
                                  <p:childTnLst>
                                    <p:set>
                                      <p:cBhvr>
                                        <p:cTn id="30" dur="1" fill="hold">
                                          <p:stCondLst>
                                            <p:cond delay="0"/>
                                          </p:stCondLst>
                                        </p:cTn>
                                        <p:tgtEl>
                                          <p:spTgt spid="498692">
                                            <p:txEl>
                                              <p:pRg st="6" end="6"/>
                                            </p:txEl>
                                          </p:spTgt>
                                        </p:tgtEl>
                                        <p:attrNameLst>
                                          <p:attrName>style.visibility</p:attrName>
                                        </p:attrNameLst>
                                      </p:cBhvr>
                                      <p:to>
                                        <p:strVal val="visible"/>
                                      </p:to>
                                    </p:set>
                                    <p:animEffect transition="in" filter="wipe(up)">
                                      <p:cBhvr>
                                        <p:cTn id="31" dur="1000"/>
                                        <p:tgtEl>
                                          <p:spTgt spid="4986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8" name="Rectangle 4">
            <a:extLst>
              <a:ext uri="{FF2B5EF4-FFF2-40B4-BE49-F238E27FC236}">
                <a16:creationId xmlns:a16="http://schemas.microsoft.com/office/drawing/2014/main" id="{EF6E5338-E898-442C-AEC4-23A1B24B554E}"/>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、定义游标</a:t>
            </a:r>
          </a:p>
          <a:p>
            <a:pPr>
              <a:buFont typeface="Wingdings" panose="05000000000000000000" pitchFamily="2" charset="2"/>
              <a:buNone/>
            </a:pPr>
            <a:r>
              <a:rPr lang="zh-CN" altLang="en-US" sz="2600">
                <a:solidFill>
                  <a:srgbClr val="003366"/>
                </a:solidFill>
                <a:effectLst/>
                <a:ea typeface="黑体" panose="02010609060101010101" pitchFamily="49" charset="-122"/>
              </a:rPr>
              <a:t>         </a:t>
            </a:r>
            <a:r>
              <a:rPr lang="zh-CN" altLang="en-US" sz="2300">
                <a:solidFill>
                  <a:srgbClr val="006666"/>
                </a:solidFill>
                <a:effectLst/>
                <a:latin typeface="黑体" panose="02010609060101010101" pitchFamily="49" charset="-122"/>
                <a:ea typeface="黑体" panose="02010609060101010101" pitchFamily="49" charset="-122"/>
              </a:rPr>
              <a:t>（</a:t>
            </a:r>
            <a:r>
              <a:rPr lang="en-US" altLang="zh-CN" sz="2300">
                <a:solidFill>
                  <a:srgbClr val="006666"/>
                </a:solidFill>
                <a:effectLst/>
                <a:latin typeface="黑体" panose="02010609060101010101" pitchFamily="49" charset="-122"/>
                <a:ea typeface="黑体" panose="02010609060101010101" pitchFamily="49" charset="-122"/>
              </a:rPr>
              <a:t>1</a:t>
            </a:r>
            <a:r>
              <a:rPr lang="zh-CN" altLang="en-US" sz="2300">
                <a:solidFill>
                  <a:srgbClr val="006666"/>
                </a:solidFill>
                <a:effectLst/>
                <a:latin typeface="黑体" panose="02010609060101010101" pitchFamily="49" charset="-122"/>
                <a:ea typeface="黑体" panose="02010609060101010101" pitchFamily="49" charset="-122"/>
              </a:rPr>
              <a:t>）利用符合</a:t>
            </a:r>
            <a:r>
              <a:rPr lang="en-US" altLang="zh-CN" sz="2300">
                <a:solidFill>
                  <a:srgbClr val="006666"/>
                </a:solidFill>
                <a:effectLst/>
                <a:latin typeface="黑体" panose="02010609060101010101" pitchFamily="49" charset="-122"/>
                <a:ea typeface="黑体" panose="02010609060101010101" pitchFamily="49" charset="-122"/>
              </a:rPr>
              <a:t>SQL92</a:t>
            </a:r>
            <a:r>
              <a:rPr lang="zh-CN" altLang="en-US" sz="2300">
                <a:solidFill>
                  <a:srgbClr val="006666"/>
                </a:solidFill>
                <a:effectLst/>
                <a:latin typeface="黑体" panose="02010609060101010101" pitchFamily="49" charset="-122"/>
                <a:ea typeface="黑体" panose="02010609060101010101" pitchFamily="49" charset="-122"/>
              </a:rPr>
              <a:t>标准的</a:t>
            </a:r>
            <a:r>
              <a:rPr lang="en-US" altLang="zh-CN" sz="2300">
                <a:solidFill>
                  <a:srgbClr val="006666"/>
                </a:solidFill>
                <a:effectLst/>
                <a:latin typeface="黑体" panose="02010609060101010101" pitchFamily="49" charset="-122"/>
                <a:ea typeface="黑体" panose="02010609060101010101" pitchFamily="49" charset="-122"/>
              </a:rPr>
              <a:t>DECLARE CUSOR</a:t>
            </a:r>
            <a:r>
              <a:rPr lang="zh-CN" altLang="en-US" sz="2300">
                <a:solidFill>
                  <a:srgbClr val="006666"/>
                </a:solidFill>
                <a:effectLst/>
                <a:latin typeface="黑体" panose="02010609060101010101" pitchFamily="49" charset="-122"/>
                <a:ea typeface="黑体" panose="02010609060101010101" pitchFamily="49" charset="-122"/>
              </a:rPr>
              <a:t>语句定义游标</a:t>
            </a:r>
          </a:p>
          <a:p>
            <a:pPr>
              <a:spcBef>
                <a:spcPct val="40000"/>
              </a:spcBef>
              <a:buFont typeface="Wingdings" panose="05000000000000000000" pitchFamily="2" charset="2"/>
              <a:buNone/>
            </a:pPr>
            <a:r>
              <a:rPr lang="en-US" altLang="zh-CN" sz="2400">
                <a:solidFill>
                  <a:srgbClr val="003366"/>
                </a:solidFill>
              </a:rPr>
              <a:t>DECLARE &lt;</a:t>
            </a:r>
            <a:r>
              <a:rPr lang="zh-CN" altLang="en-US" sz="2400">
                <a:solidFill>
                  <a:srgbClr val="003366"/>
                </a:solidFill>
              </a:rPr>
              <a:t>游标名</a:t>
            </a:r>
            <a:r>
              <a:rPr lang="en-US" altLang="zh-CN" sz="2400">
                <a:solidFill>
                  <a:srgbClr val="003366"/>
                </a:solidFill>
              </a:rPr>
              <a:t>&gt;</a:t>
            </a:r>
            <a:r>
              <a:rPr lang="en-US" altLang="zh-CN" sz="2400">
                <a:effectLst/>
              </a:rPr>
              <a:t> [INSENSITIVE][SCROLL] CURSOR</a:t>
            </a:r>
          </a:p>
          <a:p>
            <a:pPr>
              <a:buFont typeface="Wingdings" panose="05000000000000000000" pitchFamily="2" charset="2"/>
              <a:buNone/>
            </a:pPr>
            <a:r>
              <a:rPr lang="en-US" altLang="zh-CN" sz="2400">
                <a:solidFill>
                  <a:srgbClr val="003366"/>
                </a:solidFill>
                <a:effectLst/>
              </a:rPr>
              <a:t>FOR &lt;SELECT</a:t>
            </a:r>
            <a:r>
              <a:rPr lang="zh-CN" altLang="en-US" sz="2400">
                <a:solidFill>
                  <a:srgbClr val="003366"/>
                </a:solidFill>
                <a:effectLst/>
              </a:rPr>
              <a:t>语句</a:t>
            </a:r>
            <a:r>
              <a:rPr lang="en-US" altLang="zh-CN" sz="2400">
                <a:solidFill>
                  <a:srgbClr val="003366"/>
                </a:solidFill>
                <a:effectLst/>
              </a:rPr>
              <a:t>&gt;</a:t>
            </a:r>
          </a:p>
          <a:p>
            <a:pPr>
              <a:buFont typeface="Wingdings" panose="05000000000000000000" pitchFamily="2" charset="2"/>
              <a:buNone/>
            </a:pPr>
            <a:r>
              <a:rPr lang="en-US" altLang="zh-CN" sz="2400">
                <a:effectLst/>
              </a:rPr>
              <a:t>[FOR { READ ONLY | UPDATE [OF &lt;</a:t>
            </a:r>
            <a:r>
              <a:rPr lang="zh-CN" altLang="en-US" sz="2400">
                <a:effectLst/>
              </a:rPr>
              <a:t>列名</a:t>
            </a:r>
            <a:r>
              <a:rPr lang="en-US" altLang="zh-CN" sz="2400">
                <a:effectLst/>
              </a:rPr>
              <a:t>&gt; [</a:t>
            </a:r>
            <a:r>
              <a:rPr lang="zh-CN" altLang="en-US" sz="2400">
                <a:effectLst/>
              </a:rPr>
              <a:t>，</a:t>
            </a:r>
            <a:r>
              <a:rPr lang="en-US" altLang="zh-CN" sz="2400">
                <a:effectLst/>
                <a:latin typeface="Arial" panose="020B0604020202020204" pitchFamily="34" charset="0"/>
              </a:rPr>
              <a:t>…</a:t>
            </a:r>
            <a:r>
              <a:rPr lang="en-US" altLang="zh-CN" sz="2400">
                <a:effectLst/>
              </a:rPr>
              <a:t> ]]}]</a:t>
            </a:r>
          </a:p>
          <a:p>
            <a:pPr>
              <a:buFont typeface="Wingdings" panose="05000000000000000000" pitchFamily="2" charset="2"/>
              <a:buNone/>
            </a:pPr>
            <a:r>
              <a:rPr lang="zh-CN" altLang="en-US">
                <a:solidFill>
                  <a:schemeClr val="hlink"/>
                </a:solidFill>
                <a:effectLst/>
              </a:rPr>
              <a:t>其中：</a:t>
            </a:r>
          </a:p>
          <a:p>
            <a:pPr>
              <a:buFont typeface="Wingdings" panose="05000000000000000000" pitchFamily="2" charset="2"/>
              <a:buNone/>
            </a:pPr>
            <a:r>
              <a:rPr lang="zh-CN" altLang="en-US">
                <a:effectLst/>
              </a:rPr>
              <a:t>          </a:t>
            </a:r>
            <a:r>
              <a:rPr lang="zh-CN" altLang="en-US">
                <a:solidFill>
                  <a:srgbClr val="003300"/>
                </a:solidFill>
                <a:latin typeface="华文楷体" panose="02010600040101010101" pitchFamily="2" charset="-122"/>
                <a:ea typeface="华文楷体" panose="02010600040101010101" pitchFamily="2" charset="-122"/>
              </a:rPr>
              <a:t>可选项</a:t>
            </a:r>
            <a:r>
              <a:rPr lang="en-US" altLang="zh-CN">
                <a:effectLst/>
                <a:latin typeface="华文楷体" panose="02010600040101010101" pitchFamily="2" charset="-122"/>
                <a:ea typeface="华文楷体" panose="02010600040101010101" pitchFamily="2" charset="-122"/>
              </a:rPr>
              <a:t>SCROLL</a:t>
            </a:r>
            <a:r>
              <a:rPr lang="zh-CN" altLang="en-US">
                <a:solidFill>
                  <a:srgbClr val="003300"/>
                </a:solidFill>
                <a:effectLst/>
                <a:latin typeface="华文楷体" panose="02010600040101010101" pitchFamily="2" charset="-122"/>
                <a:ea typeface="华文楷体" panose="02010600040101010101" pitchFamily="2" charset="-122"/>
              </a:rPr>
              <a:t>指定该游标读取（结果集中）选项时，游标指针的进退方式 。</a:t>
            </a:r>
            <a:r>
              <a:rPr lang="zh-CN" altLang="en-US">
                <a:solidFill>
                  <a:srgbClr val="003366"/>
                </a:solidFill>
                <a:effectLst/>
                <a:latin typeface="华文楷体" panose="02010600040101010101" pitchFamily="2" charset="-122"/>
                <a:ea typeface="华文楷体" panose="02010600040101010101" pitchFamily="2" charset="-122"/>
              </a:rPr>
              <a:t> </a:t>
            </a:r>
          </a:p>
        </p:txBody>
      </p:sp>
      <p:sp>
        <p:nvSpPr>
          <p:cNvPr id="507909" name="Rectangle 5">
            <a:extLst>
              <a:ext uri="{FF2B5EF4-FFF2-40B4-BE49-F238E27FC236}">
                <a16:creationId xmlns:a16="http://schemas.microsoft.com/office/drawing/2014/main" id="{17F76561-0E41-4FBD-9726-E3EB11EAECD5}"/>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15033"/>
    </mc:Choice>
    <mc:Fallback xmlns="">
      <p:transition spd="slow" advTm="15033"/>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07908">
                                            <p:txEl>
                                              <p:pRg st="6" end="6"/>
                                            </p:txEl>
                                          </p:spTgt>
                                        </p:tgtEl>
                                        <p:attrNameLst>
                                          <p:attrName>style.visibility</p:attrName>
                                        </p:attrNameLst>
                                      </p:cBhvr>
                                      <p:to>
                                        <p:strVal val="visible"/>
                                      </p:to>
                                    </p:set>
                                    <p:animEffect transition="in" filter="wipe(up)">
                                      <p:cBhvr>
                                        <p:cTn id="7" dur="2000"/>
                                        <p:tgtEl>
                                          <p:spTgt spid="50790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6" name="Rectangle 4">
            <a:extLst>
              <a:ext uri="{FF2B5EF4-FFF2-40B4-BE49-F238E27FC236}">
                <a16:creationId xmlns:a16="http://schemas.microsoft.com/office/drawing/2014/main" id="{7DD1F1B8-E06E-4DC4-A151-632B195FE352}"/>
              </a:ext>
            </a:extLst>
          </p:cNvPr>
          <p:cNvSpPr>
            <a:spLocks noChangeArrowheads="1"/>
          </p:cNvSpPr>
          <p:nvPr/>
        </p:nvSpPr>
        <p:spPr bwMode="auto">
          <a:xfrm>
            <a:off x="457200" y="1185863"/>
            <a:ext cx="8077200"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a:t>
            </a:r>
            <a:r>
              <a:rPr lang="zh-CN" altLang="en-US" sz="3000">
                <a:solidFill>
                  <a:srgbClr val="006666"/>
                </a:solidFill>
                <a:ea typeface="华文新魏" panose="02010800040101010101" pitchFamily="2" charset="-122"/>
              </a:rPr>
              <a:t>游标指针进退方式：</a:t>
            </a:r>
            <a:r>
              <a:rPr lang="zh-CN" altLang="en-US"/>
              <a:t> </a:t>
            </a:r>
            <a:endParaRPr lang="zh-CN" altLang="en-US" sz="2600"/>
          </a:p>
        </p:txBody>
      </p:sp>
      <p:sp>
        <p:nvSpPr>
          <p:cNvPr id="509957" name="Rectangle 5">
            <a:extLst>
              <a:ext uri="{FF2B5EF4-FFF2-40B4-BE49-F238E27FC236}">
                <a16:creationId xmlns:a16="http://schemas.microsoft.com/office/drawing/2014/main" id="{029459FF-3CEC-4794-9155-FA0938B8A7C7}"/>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grpSp>
        <p:nvGrpSpPr>
          <p:cNvPr id="509974" name="Group 22">
            <a:extLst>
              <a:ext uri="{FF2B5EF4-FFF2-40B4-BE49-F238E27FC236}">
                <a16:creationId xmlns:a16="http://schemas.microsoft.com/office/drawing/2014/main" id="{FB212922-C2CB-4ECE-A7FA-E3501513C78E}"/>
              </a:ext>
            </a:extLst>
          </p:cNvPr>
          <p:cNvGrpSpPr>
            <a:grpSpLocks/>
          </p:cNvGrpSpPr>
          <p:nvPr/>
        </p:nvGrpSpPr>
        <p:grpSpPr bwMode="auto">
          <a:xfrm>
            <a:off x="1828800" y="1828800"/>
            <a:ext cx="5715000" cy="4114800"/>
            <a:chOff x="1152" y="1248"/>
            <a:chExt cx="3600" cy="2592"/>
          </a:xfrm>
        </p:grpSpPr>
        <p:sp>
          <p:nvSpPr>
            <p:cNvPr id="509959" name="Text Box 7">
              <a:extLst>
                <a:ext uri="{FF2B5EF4-FFF2-40B4-BE49-F238E27FC236}">
                  <a16:creationId xmlns:a16="http://schemas.microsoft.com/office/drawing/2014/main" id="{E10DB533-939B-4F5C-9EDB-CEEBFB72026D}"/>
                </a:ext>
              </a:extLst>
            </p:cNvPr>
            <p:cNvSpPr txBox="1">
              <a:spLocks noChangeArrowheads="1"/>
            </p:cNvSpPr>
            <p:nvPr/>
          </p:nvSpPr>
          <p:spPr bwMode="auto">
            <a:xfrm>
              <a:off x="2646" y="1248"/>
              <a:ext cx="556" cy="33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en-US" altLang="zh-CN" sz="2000" b="1">
                  <a:latin typeface="华文楷体" panose="02010600040101010101" pitchFamily="2" charset="-122"/>
                  <a:ea typeface="华文楷体" panose="02010600040101010101" pitchFamily="2" charset="-122"/>
                </a:rPr>
                <a:t>BOF</a:t>
              </a:r>
            </a:p>
          </p:txBody>
        </p:sp>
        <p:sp>
          <p:nvSpPr>
            <p:cNvPr id="509960" name="Text Box 8">
              <a:extLst>
                <a:ext uri="{FF2B5EF4-FFF2-40B4-BE49-F238E27FC236}">
                  <a16:creationId xmlns:a16="http://schemas.microsoft.com/office/drawing/2014/main" id="{750B6907-F02E-4858-B229-DA81BF58013D}"/>
                </a:ext>
              </a:extLst>
            </p:cNvPr>
            <p:cNvSpPr txBox="1">
              <a:spLocks noChangeArrowheads="1"/>
            </p:cNvSpPr>
            <p:nvPr/>
          </p:nvSpPr>
          <p:spPr bwMode="auto">
            <a:xfrm>
              <a:off x="2646" y="3503"/>
              <a:ext cx="556" cy="33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en-US" altLang="zh-CN" sz="2000" b="1">
                  <a:latin typeface="华文楷体" panose="02010600040101010101" pitchFamily="2" charset="-122"/>
                  <a:ea typeface="华文楷体" panose="02010600040101010101" pitchFamily="2" charset="-122"/>
                </a:rPr>
                <a:t>EOF</a:t>
              </a:r>
            </a:p>
          </p:txBody>
        </p:sp>
        <p:sp>
          <p:nvSpPr>
            <p:cNvPr id="509961" name="Text Box 9">
              <a:extLst>
                <a:ext uri="{FF2B5EF4-FFF2-40B4-BE49-F238E27FC236}">
                  <a16:creationId xmlns:a16="http://schemas.microsoft.com/office/drawing/2014/main" id="{473AF9D7-727E-4AE3-A51E-1D27C0D787C4}"/>
                </a:ext>
              </a:extLst>
            </p:cNvPr>
            <p:cNvSpPr txBox="1">
              <a:spLocks noChangeArrowheads="1"/>
            </p:cNvSpPr>
            <p:nvPr/>
          </p:nvSpPr>
          <p:spPr bwMode="auto">
            <a:xfrm>
              <a:off x="3634" y="3171"/>
              <a:ext cx="556" cy="33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向前</a:t>
              </a:r>
            </a:p>
          </p:txBody>
        </p:sp>
        <p:sp>
          <p:nvSpPr>
            <p:cNvPr id="509962" name="Text Box 10">
              <a:extLst>
                <a:ext uri="{FF2B5EF4-FFF2-40B4-BE49-F238E27FC236}">
                  <a16:creationId xmlns:a16="http://schemas.microsoft.com/office/drawing/2014/main" id="{2A8555CB-3646-4913-813E-799A2B63A0EA}"/>
                </a:ext>
              </a:extLst>
            </p:cNvPr>
            <p:cNvSpPr txBox="1">
              <a:spLocks noChangeArrowheads="1"/>
            </p:cNvSpPr>
            <p:nvPr/>
          </p:nvSpPr>
          <p:spPr bwMode="auto">
            <a:xfrm>
              <a:off x="3599" y="1530"/>
              <a:ext cx="556" cy="3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向后</a:t>
              </a:r>
            </a:p>
          </p:txBody>
        </p:sp>
        <p:sp>
          <p:nvSpPr>
            <p:cNvPr id="509963" name="Text Box 11">
              <a:extLst>
                <a:ext uri="{FF2B5EF4-FFF2-40B4-BE49-F238E27FC236}">
                  <a16:creationId xmlns:a16="http://schemas.microsoft.com/office/drawing/2014/main" id="{9C604A0D-81B3-44A6-A6B0-2E6C4B30A035}"/>
                </a:ext>
              </a:extLst>
            </p:cNvPr>
            <p:cNvSpPr txBox="1">
              <a:spLocks noChangeArrowheads="1"/>
            </p:cNvSpPr>
            <p:nvPr/>
          </p:nvSpPr>
          <p:spPr bwMode="auto">
            <a:xfrm>
              <a:off x="3905" y="2503"/>
              <a:ext cx="847" cy="33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当前记录</a:t>
              </a:r>
            </a:p>
          </p:txBody>
        </p:sp>
        <p:sp>
          <p:nvSpPr>
            <p:cNvPr id="509964" name="Text Box 12">
              <a:extLst>
                <a:ext uri="{FF2B5EF4-FFF2-40B4-BE49-F238E27FC236}">
                  <a16:creationId xmlns:a16="http://schemas.microsoft.com/office/drawing/2014/main" id="{1146F450-4592-418A-8CBD-44418F9B7FAB}"/>
                </a:ext>
              </a:extLst>
            </p:cNvPr>
            <p:cNvSpPr txBox="1">
              <a:spLocks noChangeArrowheads="1"/>
            </p:cNvSpPr>
            <p:nvPr/>
          </p:nvSpPr>
          <p:spPr bwMode="auto">
            <a:xfrm>
              <a:off x="1152" y="2513"/>
              <a:ext cx="847" cy="33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just">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记录指针</a:t>
              </a:r>
            </a:p>
          </p:txBody>
        </p:sp>
        <p:sp>
          <p:nvSpPr>
            <p:cNvPr id="509965" name="Text Box 13">
              <a:extLst>
                <a:ext uri="{FF2B5EF4-FFF2-40B4-BE49-F238E27FC236}">
                  <a16:creationId xmlns:a16="http://schemas.microsoft.com/office/drawing/2014/main" id="{FD06F8CF-3489-45D0-A34D-265DF31BEE0F}"/>
                </a:ext>
              </a:extLst>
            </p:cNvPr>
            <p:cNvSpPr txBox="1">
              <a:spLocks noChangeArrowheads="1"/>
            </p:cNvSpPr>
            <p:nvPr/>
          </p:nvSpPr>
          <p:spPr bwMode="auto">
            <a:xfrm>
              <a:off x="2364" y="1524"/>
              <a:ext cx="1129" cy="3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数据记录</a:t>
              </a:r>
              <a:r>
                <a:rPr lang="en-US" altLang="zh-CN" sz="2000" b="1">
                  <a:latin typeface="华文楷体" panose="02010600040101010101" pitchFamily="2" charset="-122"/>
                  <a:ea typeface="华文楷体" panose="02010600040101010101" pitchFamily="2" charset="-122"/>
                </a:rPr>
                <a:t>1</a:t>
              </a:r>
            </a:p>
          </p:txBody>
        </p:sp>
        <p:sp>
          <p:nvSpPr>
            <p:cNvPr id="509966" name="Text Box 14">
              <a:extLst>
                <a:ext uri="{FF2B5EF4-FFF2-40B4-BE49-F238E27FC236}">
                  <a16:creationId xmlns:a16="http://schemas.microsoft.com/office/drawing/2014/main" id="{F072C70B-E083-4C83-9F28-FB1F3A2E10D9}"/>
                </a:ext>
              </a:extLst>
            </p:cNvPr>
            <p:cNvSpPr txBox="1">
              <a:spLocks noChangeArrowheads="1"/>
            </p:cNvSpPr>
            <p:nvPr/>
          </p:nvSpPr>
          <p:spPr bwMode="auto">
            <a:xfrm>
              <a:off x="2364" y="1856"/>
              <a:ext cx="1129" cy="3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数据记录</a:t>
              </a:r>
              <a:r>
                <a:rPr lang="en-US" altLang="zh-CN" sz="2000" b="1">
                  <a:latin typeface="华文楷体" panose="02010600040101010101" pitchFamily="2" charset="-122"/>
                  <a:ea typeface="华文楷体" panose="02010600040101010101" pitchFamily="2" charset="-122"/>
                </a:rPr>
                <a:t>2</a:t>
              </a:r>
            </a:p>
          </p:txBody>
        </p:sp>
        <p:sp>
          <p:nvSpPr>
            <p:cNvPr id="509967" name="Text Box 15">
              <a:extLst>
                <a:ext uri="{FF2B5EF4-FFF2-40B4-BE49-F238E27FC236}">
                  <a16:creationId xmlns:a16="http://schemas.microsoft.com/office/drawing/2014/main" id="{EB01311C-E7D4-4C3A-B586-B9B8C47FB0CD}"/>
                </a:ext>
              </a:extLst>
            </p:cNvPr>
            <p:cNvSpPr txBox="1">
              <a:spLocks noChangeArrowheads="1"/>
            </p:cNvSpPr>
            <p:nvPr/>
          </p:nvSpPr>
          <p:spPr bwMode="auto">
            <a:xfrm>
              <a:off x="2364" y="2199"/>
              <a:ext cx="1129" cy="337"/>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数据记录</a:t>
              </a:r>
              <a:r>
                <a:rPr lang="en-US" altLang="zh-CN" sz="2000" b="1">
                  <a:latin typeface="华文楷体" panose="02010600040101010101" pitchFamily="2" charset="-122"/>
                  <a:ea typeface="华文楷体" panose="02010600040101010101" pitchFamily="2" charset="-122"/>
                </a:rPr>
                <a:t>3</a:t>
              </a:r>
            </a:p>
          </p:txBody>
        </p:sp>
        <p:sp>
          <p:nvSpPr>
            <p:cNvPr id="509968" name="Text Box 16">
              <a:extLst>
                <a:ext uri="{FF2B5EF4-FFF2-40B4-BE49-F238E27FC236}">
                  <a16:creationId xmlns:a16="http://schemas.microsoft.com/office/drawing/2014/main" id="{3775BFA0-4662-4349-8E17-7A22CC28A31A}"/>
                </a:ext>
              </a:extLst>
            </p:cNvPr>
            <p:cNvSpPr txBox="1">
              <a:spLocks noChangeArrowheads="1"/>
            </p:cNvSpPr>
            <p:nvPr/>
          </p:nvSpPr>
          <p:spPr bwMode="auto">
            <a:xfrm>
              <a:off x="2364" y="2535"/>
              <a:ext cx="1129" cy="3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数据记录</a:t>
              </a:r>
              <a:r>
                <a:rPr lang="en-US" altLang="zh-CN" sz="2000" b="1">
                  <a:latin typeface="华文楷体" panose="02010600040101010101" pitchFamily="2" charset="-122"/>
                  <a:ea typeface="华文楷体" panose="02010600040101010101" pitchFamily="2" charset="-122"/>
                </a:rPr>
                <a:t>4</a:t>
              </a:r>
            </a:p>
          </p:txBody>
        </p:sp>
        <p:sp>
          <p:nvSpPr>
            <p:cNvPr id="509969" name="Text Box 17">
              <a:extLst>
                <a:ext uri="{FF2B5EF4-FFF2-40B4-BE49-F238E27FC236}">
                  <a16:creationId xmlns:a16="http://schemas.microsoft.com/office/drawing/2014/main" id="{443362F7-D639-428C-9A3B-2BB7814D593C}"/>
                </a:ext>
              </a:extLst>
            </p:cNvPr>
            <p:cNvSpPr txBox="1">
              <a:spLocks noChangeArrowheads="1"/>
            </p:cNvSpPr>
            <p:nvPr/>
          </p:nvSpPr>
          <p:spPr bwMode="auto">
            <a:xfrm>
              <a:off x="2364" y="2879"/>
              <a:ext cx="1129" cy="337"/>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en-US" altLang="zh-CN" sz="2000" b="1">
                  <a:latin typeface="华文楷体" panose="02010600040101010101" pitchFamily="2" charset="-122"/>
                  <a:ea typeface="华文楷体" panose="02010600040101010101" pitchFamily="2" charset="-122"/>
                </a:rPr>
                <a:t>… …</a:t>
              </a:r>
            </a:p>
          </p:txBody>
        </p:sp>
        <p:sp>
          <p:nvSpPr>
            <p:cNvPr id="509970" name="Text Box 18">
              <a:extLst>
                <a:ext uri="{FF2B5EF4-FFF2-40B4-BE49-F238E27FC236}">
                  <a16:creationId xmlns:a16="http://schemas.microsoft.com/office/drawing/2014/main" id="{6B569338-B0F0-4E04-986F-C4BEE3B5934A}"/>
                </a:ext>
              </a:extLst>
            </p:cNvPr>
            <p:cNvSpPr txBox="1">
              <a:spLocks noChangeArrowheads="1"/>
            </p:cNvSpPr>
            <p:nvPr/>
          </p:nvSpPr>
          <p:spPr bwMode="auto">
            <a:xfrm>
              <a:off x="2364" y="3211"/>
              <a:ext cx="1129" cy="337"/>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lnSpc>
                  <a:spcPct val="104000"/>
                </a:lnSpc>
                <a:buFont typeface="Wingdings" panose="05000000000000000000" pitchFamily="2" charset="2"/>
                <a:buNone/>
              </a:pPr>
              <a:r>
                <a:rPr lang="zh-CN" altLang="en-US" sz="2000" b="1">
                  <a:latin typeface="华文楷体" panose="02010600040101010101" pitchFamily="2" charset="-122"/>
                  <a:ea typeface="华文楷体" panose="02010600040101010101" pitchFamily="2" charset="-122"/>
                </a:rPr>
                <a:t>数据记录</a:t>
              </a:r>
              <a:r>
                <a:rPr lang="en-US" altLang="zh-CN" sz="2000" b="1">
                  <a:latin typeface="华文楷体" panose="02010600040101010101" pitchFamily="2" charset="-122"/>
                  <a:ea typeface="华文楷体" panose="02010600040101010101" pitchFamily="2" charset="-122"/>
                </a:rPr>
                <a:t>n</a:t>
              </a:r>
            </a:p>
          </p:txBody>
        </p:sp>
        <p:sp>
          <p:nvSpPr>
            <p:cNvPr id="509971" name="Line 19">
              <a:extLst>
                <a:ext uri="{FF2B5EF4-FFF2-40B4-BE49-F238E27FC236}">
                  <a16:creationId xmlns:a16="http://schemas.microsoft.com/office/drawing/2014/main" id="{CC615EAD-F039-49D5-9818-07D4404D6BD2}"/>
                </a:ext>
              </a:extLst>
            </p:cNvPr>
            <p:cNvSpPr>
              <a:spLocks noChangeShapeType="1"/>
            </p:cNvSpPr>
            <p:nvPr/>
          </p:nvSpPr>
          <p:spPr bwMode="auto">
            <a:xfrm>
              <a:off x="1940" y="2677"/>
              <a:ext cx="424" cy="0"/>
            </a:xfrm>
            <a:prstGeom prst="line">
              <a:avLst/>
            </a:prstGeom>
            <a:noFill/>
            <a:ln w="9525">
              <a:solidFill>
                <a:srgbClr val="00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9972" name="Line 20">
              <a:extLst>
                <a:ext uri="{FF2B5EF4-FFF2-40B4-BE49-F238E27FC236}">
                  <a16:creationId xmlns:a16="http://schemas.microsoft.com/office/drawing/2014/main" id="{81707034-0C9B-450F-B672-DCCEDFFBD3E2}"/>
                </a:ext>
              </a:extLst>
            </p:cNvPr>
            <p:cNvSpPr>
              <a:spLocks noChangeShapeType="1"/>
            </p:cNvSpPr>
            <p:nvPr/>
          </p:nvSpPr>
          <p:spPr bwMode="auto">
            <a:xfrm>
              <a:off x="3493" y="2677"/>
              <a:ext cx="424" cy="0"/>
            </a:xfrm>
            <a:prstGeom prst="line">
              <a:avLst/>
            </a:prstGeom>
            <a:noFill/>
            <a:ln w="9525">
              <a:solidFill>
                <a:srgbClr val="000000"/>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9973" name="Line 21">
              <a:extLst>
                <a:ext uri="{FF2B5EF4-FFF2-40B4-BE49-F238E27FC236}">
                  <a16:creationId xmlns:a16="http://schemas.microsoft.com/office/drawing/2014/main" id="{5F126193-03DD-44CD-908A-8D52C337CDA4}"/>
                </a:ext>
              </a:extLst>
            </p:cNvPr>
            <p:cNvSpPr>
              <a:spLocks noChangeShapeType="1"/>
            </p:cNvSpPr>
            <p:nvPr/>
          </p:nvSpPr>
          <p:spPr bwMode="auto">
            <a:xfrm>
              <a:off x="3646" y="1491"/>
              <a:ext cx="0" cy="2068"/>
            </a:xfrm>
            <a:prstGeom prst="line">
              <a:avLst/>
            </a:prstGeom>
            <a:noFill/>
            <a:ln w="9525">
              <a:solidFill>
                <a:srgbClr val="000000"/>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advTm="24962"/>
    </mc:Choice>
    <mc:Fallback xmlns="">
      <p:transition spd="slow" advTm="2496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2" name="Rectangle 4">
            <a:extLst>
              <a:ext uri="{FF2B5EF4-FFF2-40B4-BE49-F238E27FC236}">
                <a16:creationId xmlns:a16="http://schemas.microsoft.com/office/drawing/2014/main" id="{7D8FB99D-D040-48C7-AD2E-E7A526F15D1E}"/>
              </a:ext>
            </a:extLst>
          </p:cNvPr>
          <p:cNvSpPr>
            <a:spLocks noChangeArrowheads="1"/>
          </p:cNvSpPr>
          <p:nvPr/>
        </p:nvSpPr>
        <p:spPr bwMode="auto">
          <a:xfrm>
            <a:off x="457200" y="1185863"/>
            <a:ext cx="8077200" cy="529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a:t>
            </a:r>
            <a:r>
              <a:rPr lang="zh-CN" altLang="en-US" sz="3000">
                <a:solidFill>
                  <a:srgbClr val="006666"/>
                </a:solidFill>
                <a:ea typeface="华文新魏" panose="02010800040101010101" pitchFamily="2" charset="-122"/>
              </a:rPr>
              <a:t>游标指针进退方式：</a:t>
            </a:r>
            <a:r>
              <a:rPr lang="zh-CN" altLang="en-US"/>
              <a:t> </a:t>
            </a:r>
            <a:endParaRPr lang="zh-CN" altLang="en-US" sz="3000">
              <a:solidFill>
                <a:srgbClr val="660033"/>
              </a:solidFill>
              <a:ea typeface="华文新魏" panose="02010800040101010101" pitchFamily="2" charset="-122"/>
            </a:endParaRPr>
          </a:p>
          <a:p>
            <a:pPr>
              <a:lnSpc>
                <a:spcPct val="125000"/>
              </a:lnSpc>
              <a:spcBef>
                <a:spcPct val="0"/>
              </a:spcBef>
              <a:buFont typeface="Wingdings" panose="05000000000000000000" pitchFamily="2" charset="2"/>
              <a:buNone/>
            </a:pPr>
            <a:r>
              <a:rPr lang="zh-CN" altLang="en-US" sz="2600">
                <a:solidFill>
                  <a:srgbClr val="003366"/>
                </a:solidFill>
                <a:effectLst/>
                <a:ea typeface="黑体" panose="02010609060101010101" pitchFamily="49" charset="-122"/>
              </a:rPr>
              <a:t>          </a:t>
            </a:r>
            <a:r>
              <a:rPr lang="en-US" altLang="zh-CN" sz="2600">
                <a:solidFill>
                  <a:srgbClr val="660033"/>
                </a:solidFill>
                <a:effectLst/>
                <a:latin typeface="黑体" panose="02010609060101010101" pitchFamily="49" charset="-122"/>
                <a:ea typeface="黑体" panose="02010609060101010101" pitchFamily="49" charset="-122"/>
              </a:rPr>
              <a:t>FIRST</a:t>
            </a:r>
            <a:r>
              <a:rPr lang="zh-CN" altLang="en-US" sz="2600">
                <a:solidFill>
                  <a:srgbClr val="660033"/>
                </a:solidFill>
                <a:effectLst/>
                <a:latin typeface="黑体" panose="02010609060101010101" pitchFamily="49" charset="-122"/>
                <a:ea typeface="黑体" panose="02010609060101010101" pitchFamily="49" charset="-122"/>
              </a:rPr>
              <a:t>：</a:t>
            </a:r>
            <a:r>
              <a:rPr lang="zh-CN" altLang="en-US" sz="2600">
                <a:effectLst/>
                <a:latin typeface="黑体" panose="02010609060101010101" pitchFamily="49" charset="-122"/>
                <a:ea typeface="黑体" panose="02010609060101010101" pitchFamily="49" charset="-122"/>
              </a:rPr>
              <a:t>游标指针指向结果集中当前值的第一行，并将其作为当前行；</a:t>
            </a:r>
          </a:p>
          <a:p>
            <a:pPr>
              <a:lnSpc>
                <a:spcPct val="125000"/>
              </a:lnSpc>
              <a:spcBef>
                <a:spcPct val="0"/>
              </a:spcBef>
              <a:buFont typeface="Wingdings" panose="05000000000000000000" pitchFamily="2" charset="2"/>
              <a:buNone/>
            </a:pPr>
            <a:r>
              <a:rPr lang="zh-CN" altLang="en-US" sz="2600">
                <a:solidFill>
                  <a:srgbClr val="003366"/>
                </a:solidFill>
                <a:effectLst/>
                <a:ea typeface="黑体" panose="02010609060101010101" pitchFamily="49" charset="-122"/>
              </a:rPr>
              <a:t>          </a:t>
            </a:r>
            <a:r>
              <a:rPr lang="en-US" altLang="zh-CN" sz="2600">
                <a:solidFill>
                  <a:srgbClr val="660033"/>
                </a:solidFill>
                <a:effectLst/>
                <a:latin typeface="黑体" panose="02010609060101010101" pitchFamily="49" charset="-122"/>
                <a:ea typeface="黑体" panose="02010609060101010101" pitchFamily="49" charset="-122"/>
              </a:rPr>
              <a:t>LAST</a:t>
            </a:r>
            <a:r>
              <a:rPr lang="zh-CN" altLang="en-US" sz="2600">
                <a:solidFill>
                  <a:srgbClr val="660033"/>
                </a:solidFill>
                <a:effectLst/>
                <a:latin typeface="黑体" panose="02010609060101010101" pitchFamily="49" charset="-122"/>
                <a:ea typeface="黑体" panose="02010609060101010101" pitchFamily="49" charset="-122"/>
              </a:rPr>
              <a:t>：</a:t>
            </a:r>
            <a:r>
              <a:rPr lang="zh-CN" altLang="en-US" sz="2600">
                <a:effectLst/>
                <a:latin typeface="黑体" panose="02010609060101010101" pitchFamily="49" charset="-122"/>
                <a:ea typeface="黑体" panose="02010609060101010101" pitchFamily="49" charset="-122"/>
              </a:rPr>
              <a:t>游标指针指向结果集中当前值的最后一行，并将其作为当前行；</a:t>
            </a:r>
          </a:p>
          <a:p>
            <a:pPr>
              <a:lnSpc>
                <a:spcPct val="125000"/>
              </a:lnSpc>
              <a:spcBef>
                <a:spcPct val="0"/>
              </a:spcBef>
              <a:buFont typeface="Wingdings" panose="05000000000000000000" pitchFamily="2" charset="2"/>
              <a:buNone/>
            </a:pPr>
            <a:r>
              <a:rPr lang="zh-CN" altLang="en-US" sz="2600">
                <a:solidFill>
                  <a:srgbClr val="003366"/>
                </a:solidFill>
                <a:effectLst/>
                <a:ea typeface="黑体" panose="02010609060101010101" pitchFamily="49" charset="-122"/>
              </a:rPr>
              <a:t>          </a:t>
            </a:r>
            <a:r>
              <a:rPr lang="en-US" altLang="zh-CN" sz="2600">
                <a:solidFill>
                  <a:srgbClr val="660033"/>
                </a:solidFill>
                <a:effectLst/>
                <a:latin typeface="黑体" panose="02010609060101010101" pitchFamily="49" charset="-122"/>
                <a:ea typeface="黑体" panose="02010609060101010101" pitchFamily="49" charset="-122"/>
              </a:rPr>
              <a:t>PRIOR</a:t>
            </a:r>
            <a:r>
              <a:rPr lang="zh-CN" altLang="en-US" sz="2600">
                <a:solidFill>
                  <a:srgbClr val="660033"/>
                </a:solidFill>
                <a:effectLst/>
                <a:latin typeface="黑体" panose="02010609060101010101" pitchFamily="49" charset="-122"/>
                <a:ea typeface="黑体" panose="02010609060101010101" pitchFamily="49" charset="-122"/>
              </a:rPr>
              <a:t>：</a:t>
            </a:r>
            <a:r>
              <a:rPr lang="zh-CN" altLang="en-US" sz="2600">
                <a:effectLst/>
                <a:latin typeface="黑体" panose="02010609060101010101" pitchFamily="49" charset="-122"/>
                <a:ea typeface="黑体" panose="02010609060101010101" pitchFamily="49" charset="-122"/>
              </a:rPr>
              <a:t>游标指针指向此时它正指向的结果集的行的前一行，并将其作为当前行；</a:t>
            </a:r>
          </a:p>
          <a:p>
            <a:pPr>
              <a:lnSpc>
                <a:spcPct val="125000"/>
              </a:lnSpc>
              <a:spcBef>
                <a:spcPct val="0"/>
              </a:spcBef>
              <a:buFont typeface="Wingdings" panose="05000000000000000000" pitchFamily="2" charset="2"/>
              <a:buNone/>
            </a:pPr>
            <a:r>
              <a:rPr lang="zh-CN" altLang="en-US" sz="2600">
                <a:solidFill>
                  <a:srgbClr val="003366"/>
                </a:solidFill>
                <a:effectLst/>
                <a:ea typeface="黑体" panose="02010609060101010101" pitchFamily="49" charset="-122"/>
              </a:rPr>
              <a:t>          </a:t>
            </a:r>
            <a:r>
              <a:rPr lang="en-US" altLang="zh-CN" sz="2600">
                <a:solidFill>
                  <a:srgbClr val="660033"/>
                </a:solidFill>
                <a:effectLst/>
                <a:latin typeface="黑体" panose="02010609060101010101" pitchFamily="49" charset="-122"/>
                <a:ea typeface="黑体" panose="02010609060101010101" pitchFamily="49" charset="-122"/>
              </a:rPr>
              <a:t>NEXT</a:t>
            </a:r>
            <a:r>
              <a:rPr lang="zh-CN" altLang="en-US" sz="2600">
                <a:solidFill>
                  <a:srgbClr val="660033"/>
                </a:solidFill>
                <a:effectLst/>
                <a:latin typeface="黑体" panose="02010609060101010101" pitchFamily="49" charset="-122"/>
                <a:ea typeface="黑体" panose="02010609060101010101" pitchFamily="49" charset="-122"/>
              </a:rPr>
              <a:t>：</a:t>
            </a:r>
            <a:r>
              <a:rPr lang="zh-CN" altLang="en-US" sz="2600">
                <a:effectLst/>
                <a:latin typeface="黑体" panose="02010609060101010101" pitchFamily="49" charset="-122"/>
                <a:ea typeface="黑体" panose="02010609060101010101" pitchFamily="49" charset="-122"/>
              </a:rPr>
              <a:t>游标指针指向此时它正指向的结果集的行的下一行，并将其作为当前行。</a:t>
            </a:r>
            <a:endParaRPr lang="zh-CN" altLang="en-US" sz="2600"/>
          </a:p>
        </p:txBody>
      </p:sp>
      <p:sp>
        <p:nvSpPr>
          <p:cNvPr id="508933" name="Rectangle 5">
            <a:extLst>
              <a:ext uri="{FF2B5EF4-FFF2-40B4-BE49-F238E27FC236}">
                <a16:creationId xmlns:a16="http://schemas.microsoft.com/office/drawing/2014/main" id="{2155D1F2-2202-44B2-A731-0EB0F1CC9FB4}"/>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20895"/>
    </mc:Choice>
    <mc:Fallback xmlns="">
      <p:transition spd="slow" advTm="2089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80" name="Rectangle 4">
            <a:extLst>
              <a:ext uri="{FF2B5EF4-FFF2-40B4-BE49-F238E27FC236}">
                <a16:creationId xmlns:a16="http://schemas.microsoft.com/office/drawing/2014/main" id="{B44B7DB5-1ABF-419B-B420-D28BEA21207C}"/>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、定义游标</a:t>
            </a:r>
          </a:p>
          <a:p>
            <a:pPr>
              <a:buFont typeface="Wingdings" panose="05000000000000000000" pitchFamily="2" charset="2"/>
              <a:buNone/>
            </a:pPr>
            <a:r>
              <a:rPr lang="zh-CN" altLang="en-US" sz="2600">
                <a:solidFill>
                  <a:srgbClr val="003366"/>
                </a:solidFill>
                <a:effectLst/>
                <a:ea typeface="黑体" panose="02010609060101010101" pitchFamily="49" charset="-122"/>
              </a:rPr>
              <a:t>         </a:t>
            </a:r>
            <a:r>
              <a:rPr lang="zh-CN" altLang="en-US" sz="2300">
                <a:solidFill>
                  <a:srgbClr val="006666"/>
                </a:solidFill>
                <a:effectLst/>
                <a:latin typeface="黑体" panose="02010609060101010101" pitchFamily="49" charset="-122"/>
                <a:ea typeface="黑体" panose="02010609060101010101" pitchFamily="49" charset="-122"/>
              </a:rPr>
              <a:t>（</a:t>
            </a:r>
            <a:r>
              <a:rPr lang="en-US" altLang="zh-CN" sz="2300">
                <a:solidFill>
                  <a:srgbClr val="006666"/>
                </a:solidFill>
                <a:effectLst/>
                <a:latin typeface="黑体" panose="02010609060101010101" pitchFamily="49" charset="-122"/>
                <a:ea typeface="黑体" panose="02010609060101010101" pitchFamily="49" charset="-122"/>
              </a:rPr>
              <a:t>2</a:t>
            </a:r>
            <a:r>
              <a:rPr lang="zh-CN" altLang="en-US" sz="2300">
                <a:solidFill>
                  <a:srgbClr val="006666"/>
                </a:solidFill>
                <a:effectLst/>
                <a:latin typeface="黑体" panose="02010609060101010101" pitchFamily="49" charset="-122"/>
                <a:ea typeface="黑体" panose="02010609060101010101" pitchFamily="49" charset="-122"/>
              </a:rPr>
              <a:t>）利用</a:t>
            </a:r>
            <a:r>
              <a:rPr lang="en-US" altLang="zh-CN" sz="2300">
                <a:solidFill>
                  <a:srgbClr val="006666"/>
                </a:solidFill>
                <a:effectLst/>
                <a:latin typeface="黑体" panose="02010609060101010101" pitchFamily="49" charset="-122"/>
                <a:ea typeface="黑体" panose="02010609060101010101" pitchFamily="49" charset="-122"/>
              </a:rPr>
              <a:t>SQL</a:t>
            </a:r>
            <a:r>
              <a:rPr lang="zh-CN" altLang="en-US" sz="2300">
                <a:solidFill>
                  <a:srgbClr val="006666"/>
                </a:solidFill>
                <a:effectLst/>
                <a:latin typeface="黑体" panose="02010609060101010101" pitchFamily="49" charset="-122"/>
                <a:ea typeface="黑体" panose="02010609060101010101" pitchFamily="49" charset="-122"/>
              </a:rPr>
              <a:t>句法结构的</a:t>
            </a:r>
            <a:r>
              <a:rPr lang="en-US" altLang="zh-CN" sz="2300">
                <a:solidFill>
                  <a:srgbClr val="006666"/>
                </a:solidFill>
                <a:effectLst/>
                <a:latin typeface="黑体" panose="02010609060101010101" pitchFamily="49" charset="-122"/>
                <a:ea typeface="黑体" panose="02010609060101010101" pitchFamily="49" charset="-122"/>
              </a:rPr>
              <a:t>DECLARE CUSOR</a:t>
            </a:r>
            <a:r>
              <a:rPr lang="zh-CN" altLang="en-US" sz="2300">
                <a:solidFill>
                  <a:srgbClr val="006666"/>
                </a:solidFill>
                <a:effectLst/>
                <a:latin typeface="黑体" panose="02010609060101010101" pitchFamily="49" charset="-122"/>
                <a:ea typeface="黑体" panose="02010609060101010101" pitchFamily="49" charset="-122"/>
              </a:rPr>
              <a:t>语句定义游标</a:t>
            </a:r>
          </a:p>
          <a:p>
            <a:pPr>
              <a:spcBef>
                <a:spcPct val="0"/>
              </a:spcBef>
              <a:buFont typeface="Wingdings" panose="05000000000000000000" pitchFamily="2" charset="2"/>
              <a:buNone/>
            </a:pPr>
            <a:r>
              <a:rPr lang="zh-CN" altLang="en-US" sz="2600">
                <a:effectLst/>
              </a:rPr>
              <a:t>  </a:t>
            </a:r>
            <a:r>
              <a:rPr lang="en-US" altLang="zh-CN" sz="2600">
                <a:solidFill>
                  <a:srgbClr val="003366"/>
                </a:solidFill>
                <a:effectLst/>
              </a:rPr>
              <a:t>DECLARE &lt;</a:t>
            </a:r>
            <a:r>
              <a:rPr lang="zh-CN" altLang="en-US" sz="2600">
                <a:solidFill>
                  <a:srgbClr val="003366"/>
                </a:solidFill>
                <a:effectLst/>
              </a:rPr>
              <a:t>游标名</a:t>
            </a:r>
            <a:r>
              <a:rPr lang="en-US" altLang="zh-CN" sz="2600">
                <a:solidFill>
                  <a:srgbClr val="003366"/>
                </a:solidFill>
                <a:effectLst/>
              </a:rPr>
              <a:t>&gt; CURSOR</a:t>
            </a:r>
          </a:p>
          <a:p>
            <a:pPr>
              <a:spcBef>
                <a:spcPct val="0"/>
              </a:spcBef>
              <a:buFont typeface="Wingdings" panose="05000000000000000000" pitchFamily="2" charset="2"/>
              <a:buNone/>
            </a:pPr>
            <a:r>
              <a:rPr lang="en-US" altLang="zh-CN" sz="2600">
                <a:effectLst/>
              </a:rPr>
              <a:t>  [LOCAL|GLOBAL]</a:t>
            </a:r>
          </a:p>
          <a:p>
            <a:pPr>
              <a:spcBef>
                <a:spcPct val="0"/>
              </a:spcBef>
              <a:buFont typeface="Wingdings" panose="05000000000000000000" pitchFamily="2" charset="2"/>
              <a:buNone/>
            </a:pPr>
            <a:r>
              <a:rPr lang="en-US" altLang="zh-CN" sz="2600">
                <a:effectLst/>
              </a:rPr>
              <a:t>  [FORWARD_ONLY|SCROLL]</a:t>
            </a:r>
          </a:p>
          <a:p>
            <a:pPr>
              <a:spcBef>
                <a:spcPct val="0"/>
              </a:spcBef>
              <a:buFont typeface="Wingdings" panose="05000000000000000000" pitchFamily="2" charset="2"/>
              <a:buNone/>
            </a:pPr>
            <a:r>
              <a:rPr lang="en-US" altLang="zh-CN" sz="2600">
                <a:effectLst/>
              </a:rPr>
              <a:t>  [STATIC|KEYSET|DYNAMIC|FAST_FORWARD]</a:t>
            </a:r>
          </a:p>
          <a:p>
            <a:pPr>
              <a:spcBef>
                <a:spcPct val="0"/>
              </a:spcBef>
              <a:buFont typeface="Wingdings" panose="05000000000000000000" pitchFamily="2" charset="2"/>
              <a:buNone/>
            </a:pPr>
            <a:r>
              <a:rPr lang="en-US" altLang="zh-CN" sz="2600">
                <a:effectLst/>
              </a:rPr>
              <a:t>  [READ_ONLY|SCEOLL_LOCKS|OPTIMISTIC]</a:t>
            </a:r>
          </a:p>
          <a:p>
            <a:pPr>
              <a:spcBef>
                <a:spcPct val="0"/>
              </a:spcBef>
              <a:buFont typeface="Wingdings" panose="05000000000000000000" pitchFamily="2" charset="2"/>
              <a:buNone/>
            </a:pPr>
            <a:r>
              <a:rPr lang="en-US" altLang="zh-CN" sz="2600">
                <a:effectLst/>
              </a:rPr>
              <a:t>  [TYPE_WARNING]</a:t>
            </a:r>
          </a:p>
          <a:p>
            <a:pPr>
              <a:spcBef>
                <a:spcPct val="0"/>
              </a:spcBef>
              <a:buFont typeface="Wingdings" panose="05000000000000000000" pitchFamily="2" charset="2"/>
              <a:buNone/>
            </a:pPr>
            <a:r>
              <a:rPr lang="en-US" altLang="zh-CN" sz="2600">
                <a:effectLst/>
              </a:rPr>
              <a:t>  </a:t>
            </a:r>
            <a:r>
              <a:rPr lang="en-US" altLang="zh-CN" sz="2600">
                <a:solidFill>
                  <a:srgbClr val="003366"/>
                </a:solidFill>
                <a:effectLst/>
              </a:rPr>
              <a:t>FOR &lt;SELECT</a:t>
            </a:r>
            <a:r>
              <a:rPr lang="zh-CN" altLang="en-US" sz="2600">
                <a:solidFill>
                  <a:srgbClr val="003366"/>
                </a:solidFill>
                <a:effectLst/>
              </a:rPr>
              <a:t>语句</a:t>
            </a:r>
            <a:r>
              <a:rPr lang="en-US" altLang="zh-CN" sz="2600">
                <a:solidFill>
                  <a:srgbClr val="003366"/>
                </a:solidFill>
                <a:effectLst/>
              </a:rPr>
              <a:t>&gt;</a:t>
            </a:r>
          </a:p>
          <a:p>
            <a:pPr>
              <a:spcBef>
                <a:spcPct val="0"/>
              </a:spcBef>
              <a:buFont typeface="Wingdings" panose="05000000000000000000" pitchFamily="2" charset="2"/>
              <a:buNone/>
            </a:pPr>
            <a:r>
              <a:rPr lang="en-US" altLang="zh-CN" sz="2600">
                <a:effectLst/>
              </a:rPr>
              <a:t>  [FOR UPDATE [OF &lt;</a:t>
            </a:r>
            <a:r>
              <a:rPr lang="zh-CN" altLang="en-US" sz="2600">
                <a:effectLst/>
              </a:rPr>
              <a:t>列名</a:t>
            </a:r>
            <a:r>
              <a:rPr lang="en-US" altLang="zh-CN" sz="2600">
                <a:effectLst/>
              </a:rPr>
              <a:t>&gt; [</a:t>
            </a:r>
            <a:r>
              <a:rPr lang="zh-CN" altLang="en-US" sz="2600">
                <a:effectLst/>
              </a:rPr>
              <a:t>，</a:t>
            </a:r>
            <a:r>
              <a:rPr lang="en-US" altLang="zh-CN" sz="2600">
                <a:effectLst/>
                <a:latin typeface="Arial" panose="020B0604020202020204" pitchFamily="34" charset="0"/>
              </a:rPr>
              <a:t>…</a:t>
            </a:r>
            <a:r>
              <a:rPr lang="en-US" altLang="zh-CN" sz="2600">
                <a:effectLst/>
              </a:rPr>
              <a:t> ]]}]</a:t>
            </a:r>
            <a:r>
              <a:rPr lang="en-US" altLang="zh-CN" sz="2600"/>
              <a:t> </a:t>
            </a:r>
          </a:p>
        </p:txBody>
      </p:sp>
      <p:sp>
        <p:nvSpPr>
          <p:cNvPr id="510981" name="Rectangle 5">
            <a:extLst>
              <a:ext uri="{FF2B5EF4-FFF2-40B4-BE49-F238E27FC236}">
                <a16:creationId xmlns:a16="http://schemas.microsoft.com/office/drawing/2014/main" id="{C78E7575-E9FC-412D-9662-85CA6B5D0954}"/>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16180"/>
    </mc:Choice>
    <mc:Fallback xmlns="">
      <p:transition spd="slow" advTm="1618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0980">
                                            <p:txEl>
                                              <p:pRg st="1" end="1"/>
                                            </p:txEl>
                                          </p:spTgt>
                                        </p:tgtEl>
                                        <p:attrNameLst>
                                          <p:attrName>style.visibility</p:attrName>
                                        </p:attrNameLst>
                                      </p:cBhvr>
                                      <p:to>
                                        <p:strVal val="visible"/>
                                      </p:to>
                                    </p:set>
                                    <p:animEffect transition="in" filter="wipe(left)">
                                      <p:cBhvr>
                                        <p:cTn id="7" dur="1000"/>
                                        <p:tgtEl>
                                          <p:spTgt spid="510980">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10980">
                                            <p:txEl>
                                              <p:pRg st="2" end="2"/>
                                            </p:txEl>
                                          </p:spTgt>
                                        </p:tgtEl>
                                        <p:attrNameLst>
                                          <p:attrName>style.visibility</p:attrName>
                                        </p:attrNameLst>
                                      </p:cBhvr>
                                      <p:to>
                                        <p:strVal val="visible"/>
                                      </p:to>
                                    </p:set>
                                    <p:animEffect transition="in" filter="wipe(up)">
                                      <p:cBhvr>
                                        <p:cTn id="11" dur="500"/>
                                        <p:tgtEl>
                                          <p:spTgt spid="510980">
                                            <p:txEl>
                                              <p:pRg st="2" end="2"/>
                                            </p:txEl>
                                          </p:spTgt>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510980">
                                            <p:txEl>
                                              <p:pRg st="3" end="3"/>
                                            </p:txEl>
                                          </p:spTgt>
                                        </p:tgtEl>
                                        <p:attrNameLst>
                                          <p:attrName>style.visibility</p:attrName>
                                        </p:attrNameLst>
                                      </p:cBhvr>
                                      <p:to>
                                        <p:strVal val="visible"/>
                                      </p:to>
                                    </p:set>
                                    <p:animEffect transition="in" filter="wipe(up)">
                                      <p:cBhvr>
                                        <p:cTn id="15" dur="500"/>
                                        <p:tgtEl>
                                          <p:spTgt spid="510980">
                                            <p:txEl>
                                              <p:pRg st="3" end="3"/>
                                            </p:txEl>
                                          </p:spTgt>
                                        </p:tgtEl>
                                      </p:cBhvr>
                                    </p:animEffect>
                                  </p:childTnLst>
                                </p:cTn>
                              </p:par>
                            </p:childTnLst>
                          </p:cTn>
                        </p:par>
                        <p:par>
                          <p:cTn id="16" fill="hold" nodeType="afterGroup">
                            <p:stCondLst>
                              <p:cond delay="2000"/>
                            </p:stCondLst>
                            <p:childTnLst>
                              <p:par>
                                <p:cTn id="17" presetID="22" presetClass="entr" presetSubtype="1" fill="hold" nodeType="afterEffect">
                                  <p:stCondLst>
                                    <p:cond delay="0"/>
                                  </p:stCondLst>
                                  <p:childTnLst>
                                    <p:set>
                                      <p:cBhvr>
                                        <p:cTn id="18" dur="1" fill="hold">
                                          <p:stCondLst>
                                            <p:cond delay="0"/>
                                          </p:stCondLst>
                                        </p:cTn>
                                        <p:tgtEl>
                                          <p:spTgt spid="510980">
                                            <p:txEl>
                                              <p:pRg st="4" end="4"/>
                                            </p:txEl>
                                          </p:spTgt>
                                        </p:tgtEl>
                                        <p:attrNameLst>
                                          <p:attrName>style.visibility</p:attrName>
                                        </p:attrNameLst>
                                      </p:cBhvr>
                                      <p:to>
                                        <p:strVal val="visible"/>
                                      </p:to>
                                    </p:set>
                                    <p:animEffect transition="in" filter="wipe(up)">
                                      <p:cBhvr>
                                        <p:cTn id="19" dur="500"/>
                                        <p:tgtEl>
                                          <p:spTgt spid="510980">
                                            <p:txEl>
                                              <p:pRg st="4" end="4"/>
                                            </p:txEl>
                                          </p:spTgt>
                                        </p:tgtEl>
                                      </p:cBhvr>
                                    </p:animEffect>
                                  </p:childTnLst>
                                </p:cTn>
                              </p:par>
                            </p:childTnLst>
                          </p:cTn>
                        </p:par>
                        <p:par>
                          <p:cTn id="20" fill="hold" nodeType="afterGroup">
                            <p:stCondLst>
                              <p:cond delay="2500"/>
                            </p:stCondLst>
                            <p:childTnLst>
                              <p:par>
                                <p:cTn id="21" presetID="22" presetClass="entr" presetSubtype="1" fill="hold" nodeType="afterEffect">
                                  <p:stCondLst>
                                    <p:cond delay="0"/>
                                  </p:stCondLst>
                                  <p:childTnLst>
                                    <p:set>
                                      <p:cBhvr>
                                        <p:cTn id="22" dur="1" fill="hold">
                                          <p:stCondLst>
                                            <p:cond delay="0"/>
                                          </p:stCondLst>
                                        </p:cTn>
                                        <p:tgtEl>
                                          <p:spTgt spid="510980">
                                            <p:txEl>
                                              <p:pRg st="5" end="5"/>
                                            </p:txEl>
                                          </p:spTgt>
                                        </p:tgtEl>
                                        <p:attrNameLst>
                                          <p:attrName>style.visibility</p:attrName>
                                        </p:attrNameLst>
                                      </p:cBhvr>
                                      <p:to>
                                        <p:strVal val="visible"/>
                                      </p:to>
                                    </p:set>
                                    <p:animEffect transition="in" filter="wipe(up)">
                                      <p:cBhvr>
                                        <p:cTn id="23" dur="500"/>
                                        <p:tgtEl>
                                          <p:spTgt spid="510980">
                                            <p:txEl>
                                              <p:pRg st="5" end="5"/>
                                            </p:txEl>
                                          </p:spTgt>
                                        </p:tgtEl>
                                      </p:cBhvr>
                                    </p:animEffect>
                                  </p:childTnLst>
                                </p:cTn>
                              </p:par>
                            </p:childTnLst>
                          </p:cTn>
                        </p:par>
                        <p:par>
                          <p:cTn id="24" fill="hold" nodeType="afterGroup">
                            <p:stCondLst>
                              <p:cond delay="3000"/>
                            </p:stCondLst>
                            <p:childTnLst>
                              <p:par>
                                <p:cTn id="25" presetID="22" presetClass="entr" presetSubtype="1" fill="hold" nodeType="afterEffect">
                                  <p:stCondLst>
                                    <p:cond delay="0"/>
                                  </p:stCondLst>
                                  <p:childTnLst>
                                    <p:set>
                                      <p:cBhvr>
                                        <p:cTn id="26" dur="1" fill="hold">
                                          <p:stCondLst>
                                            <p:cond delay="0"/>
                                          </p:stCondLst>
                                        </p:cTn>
                                        <p:tgtEl>
                                          <p:spTgt spid="510980">
                                            <p:txEl>
                                              <p:pRg st="6" end="6"/>
                                            </p:txEl>
                                          </p:spTgt>
                                        </p:tgtEl>
                                        <p:attrNameLst>
                                          <p:attrName>style.visibility</p:attrName>
                                        </p:attrNameLst>
                                      </p:cBhvr>
                                      <p:to>
                                        <p:strVal val="visible"/>
                                      </p:to>
                                    </p:set>
                                    <p:animEffect transition="in" filter="wipe(up)">
                                      <p:cBhvr>
                                        <p:cTn id="27" dur="500"/>
                                        <p:tgtEl>
                                          <p:spTgt spid="510980">
                                            <p:txEl>
                                              <p:pRg st="6" end="6"/>
                                            </p:txEl>
                                          </p:spTgt>
                                        </p:tgtEl>
                                      </p:cBhvr>
                                    </p:animEffect>
                                  </p:childTnLst>
                                </p:cTn>
                              </p:par>
                            </p:childTnLst>
                          </p:cTn>
                        </p:par>
                        <p:par>
                          <p:cTn id="28" fill="hold" nodeType="afterGroup">
                            <p:stCondLst>
                              <p:cond delay="3500"/>
                            </p:stCondLst>
                            <p:childTnLst>
                              <p:par>
                                <p:cTn id="29" presetID="22" presetClass="entr" presetSubtype="1" fill="hold" nodeType="afterEffect">
                                  <p:stCondLst>
                                    <p:cond delay="0"/>
                                  </p:stCondLst>
                                  <p:childTnLst>
                                    <p:set>
                                      <p:cBhvr>
                                        <p:cTn id="30" dur="1" fill="hold">
                                          <p:stCondLst>
                                            <p:cond delay="0"/>
                                          </p:stCondLst>
                                        </p:cTn>
                                        <p:tgtEl>
                                          <p:spTgt spid="510980">
                                            <p:txEl>
                                              <p:pRg st="7" end="7"/>
                                            </p:txEl>
                                          </p:spTgt>
                                        </p:tgtEl>
                                        <p:attrNameLst>
                                          <p:attrName>style.visibility</p:attrName>
                                        </p:attrNameLst>
                                      </p:cBhvr>
                                      <p:to>
                                        <p:strVal val="visible"/>
                                      </p:to>
                                    </p:set>
                                    <p:animEffect transition="in" filter="wipe(up)">
                                      <p:cBhvr>
                                        <p:cTn id="31" dur="500"/>
                                        <p:tgtEl>
                                          <p:spTgt spid="510980">
                                            <p:txEl>
                                              <p:pRg st="7" end="7"/>
                                            </p:txEl>
                                          </p:spTgt>
                                        </p:tgtEl>
                                      </p:cBhvr>
                                    </p:animEffect>
                                  </p:childTnLst>
                                </p:cTn>
                              </p:par>
                            </p:childTnLst>
                          </p:cTn>
                        </p:par>
                        <p:par>
                          <p:cTn id="32" fill="hold" nodeType="afterGroup">
                            <p:stCondLst>
                              <p:cond delay="4000"/>
                            </p:stCondLst>
                            <p:childTnLst>
                              <p:par>
                                <p:cTn id="33" presetID="22" presetClass="entr" presetSubtype="1" fill="hold" nodeType="afterEffect">
                                  <p:stCondLst>
                                    <p:cond delay="0"/>
                                  </p:stCondLst>
                                  <p:childTnLst>
                                    <p:set>
                                      <p:cBhvr>
                                        <p:cTn id="34" dur="1" fill="hold">
                                          <p:stCondLst>
                                            <p:cond delay="0"/>
                                          </p:stCondLst>
                                        </p:cTn>
                                        <p:tgtEl>
                                          <p:spTgt spid="510980">
                                            <p:txEl>
                                              <p:pRg st="8" end="8"/>
                                            </p:txEl>
                                          </p:spTgt>
                                        </p:tgtEl>
                                        <p:attrNameLst>
                                          <p:attrName>style.visibility</p:attrName>
                                        </p:attrNameLst>
                                      </p:cBhvr>
                                      <p:to>
                                        <p:strVal val="visible"/>
                                      </p:to>
                                    </p:set>
                                    <p:animEffect transition="in" filter="wipe(up)">
                                      <p:cBhvr>
                                        <p:cTn id="35" dur="500"/>
                                        <p:tgtEl>
                                          <p:spTgt spid="510980">
                                            <p:txEl>
                                              <p:pRg st="8" end="8"/>
                                            </p:txEl>
                                          </p:spTgt>
                                        </p:tgtEl>
                                      </p:cBhvr>
                                    </p:animEffect>
                                  </p:childTnLst>
                                </p:cTn>
                              </p:par>
                            </p:childTnLst>
                          </p:cTn>
                        </p:par>
                        <p:par>
                          <p:cTn id="36" fill="hold" nodeType="afterGroup">
                            <p:stCondLst>
                              <p:cond delay="4500"/>
                            </p:stCondLst>
                            <p:childTnLst>
                              <p:par>
                                <p:cTn id="37" presetID="22" presetClass="entr" presetSubtype="1" fill="hold" nodeType="afterEffect">
                                  <p:stCondLst>
                                    <p:cond delay="0"/>
                                  </p:stCondLst>
                                  <p:childTnLst>
                                    <p:set>
                                      <p:cBhvr>
                                        <p:cTn id="38" dur="1" fill="hold">
                                          <p:stCondLst>
                                            <p:cond delay="0"/>
                                          </p:stCondLst>
                                        </p:cTn>
                                        <p:tgtEl>
                                          <p:spTgt spid="510980">
                                            <p:txEl>
                                              <p:pRg st="9" end="9"/>
                                            </p:txEl>
                                          </p:spTgt>
                                        </p:tgtEl>
                                        <p:attrNameLst>
                                          <p:attrName>style.visibility</p:attrName>
                                        </p:attrNameLst>
                                      </p:cBhvr>
                                      <p:to>
                                        <p:strVal val="visible"/>
                                      </p:to>
                                    </p:set>
                                    <p:animEffect transition="in" filter="wipe(up)">
                                      <p:cBhvr>
                                        <p:cTn id="39" dur="500"/>
                                        <p:tgtEl>
                                          <p:spTgt spid="51098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4" name="Rectangle 4">
            <a:extLst>
              <a:ext uri="{FF2B5EF4-FFF2-40B4-BE49-F238E27FC236}">
                <a16:creationId xmlns:a16="http://schemas.microsoft.com/office/drawing/2014/main" id="{C624298D-D140-40C8-A5BB-CCAC0BEDA510}"/>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1</a:t>
            </a:r>
            <a:r>
              <a:rPr lang="zh-CN" altLang="en-US" sz="3000">
                <a:solidFill>
                  <a:srgbClr val="660033"/>
                </a:solidFill>
                <a:ea typeface="华文新魏" panose="02010800040101010101" pitchFamily="2" charset="-122"/>
              </a:rPr>
              <a:t>、定义游标</a:t>
            </a:r>
          </a:p>
          <a:p>
            <a:pPr>
              <a:buFont typeface="Wingdings" panose="05000000000000000000" pitchFamily="2" charset="2"/>
              <a:buNone/>
            </a:pPr>
            <a:r>
              <a:rPr lang="zh-CN" altLang="en-US" sz="2600">
                <a:solidFill>
                  <a:srgbClr val="003366"/>
                </a:solidFill>
                <a:effectLst/>
                <a:ea typeface="黑体" panose="02010609060101010101" pitchFamily="49" charset="-122"/>
              </a:rPr>
              <a:t>   </a:t>
            </a:r>
            <a:r>
              <a:rPr lang="zh-CN" altLang="en-US" sz="2700" b="0">
                <a:solidFill>
                  <a:schemeClr val="hlink"/>
                </a:solidFill>
                <a:effectLst/>
                <a:latin typeface="黑体" panose="02010609060101010101" pitchFamily="49" charset="-122"/>
                <a:ea typeface="黑体" panose="02010609060101010101" pitchFamily="49" charset="-122"/>
              </a:rPr>
              <a:t>例</a:t>
            </a:r>
            <a:r>
              <a:rPr lang="en-US" altLang="zh-CN" sz="2700" b="0">
                <a:solidFill>
                  <a:schemeClr val="hlink"/>
                </a:solidFill>
                <a:effectLst/>
                <a:latin typeface="黑体" panose="02010609060101010101" pitchFamily="49" charset="-122"/>
                <a:ea typeface="黑体" panose="02010609060101010101" pitchFamily="49" charset="-122"/>
              </a:rPr>
              <a:t>5.53</a:t>
            </a:r>
            <a:r>
              <a:rPr lang="zh-CN" altLang="en-US" sz="2700" b="0">
                <a:solidFill>
                  <a:schemeClr val="hlink"/>
                </a:solidFill>
                <a:effectLst/>
                <a:latin typeface="黑体" panose="02010609060101010101" pitchFamily="49" charset="-122"/>
                <a:ea typeface="黑体" panose="02010609060101010101" pitchFamily="49" charset="-122"/>
              </a:rPr>
              <a:t>：</a:t>
            </a:r>
            <a:r>
              <a:rPr lang="zh-CN" altLang="en-US" sz="2700" b="0">
                <a:effectLst/>
                <a:latin typeface="黑体" panose="02010609060101010101" pitchFamily="49" charset="-122"/>
                <a:ea typeface="黑体" panose="02010609060101010101" pitchFamily="49" charset="-122"/>
              </a:rPr>
              <a:t>定义一个静态游标，实现从学习关系表中，查询由主变量</a:t>
            </a:r>
            <a:r>
              <a:rPr lang="en-US" altLang="zh-CN" sz="2700" b="0">
                <a:effectLst/>
                <a:latin typeface="黑体" panose="02010609060101010101" pitchFamily="49" charset="-122"/>
                <a:ea typeface="黑体" panose="02010609060101010101" pitchFamily="49" charset="-122"/>
              </a:rPr>
              <a:t>s1 </a:t>
            </a:r>
            <a:r>
              <a:rPr lang="zh-CN" altLang="en-US" sz="2700" b="0">
                <a:effectLst/>
                <a:latin typeface="黑体" panose="02010609060101010101" pitchFamily="49" charset="-122"/>
                <a:ea typeface="黑体" panose="02010609060101010101" pitchFamily="49" charset="-122"/>
              </a:rPr>
              <a:t>的值给出的学号的学生所学的全部课程的课程号和分数的功能。</a:t>
            </a:r>
          </a:p>
          <a:p>
            <a:pPr>
              <a:spcBef>
                <a:spcPct val="10000"/>
              </a:spcBef>
              <a:buFont typeface="Wingdings" panose="05000000000000000000" pitchFamily="2" charset="2"/>
              <a:buNone/>
            </a:pPr>
            <a:r>
              <a:rPr lang="zh-CN" altLang="en-US">
                <a:effectLst/>
              </a:rPr>
              <a:t>          </a:t>
            </a:r>
            <a:r>
              <a:rPr lang="en-US" altLang="zh-CN">
                <a:effectLst/>
              </a:rPr>
              <a:t>DECLARE CC1 CURSOR</a:t>
            </a:r>
          </a:p>
          <a:p>
            <a:pPr>
              <a:spcBef>
                <a:spcPct val="10000"/>
              </a:spcBef>
              <a:buFont typeface="Wingdings" panose="05000000000000000000" pitchFamily="2" charset="2"/>
              <a:buNone/>
            </a:pPr>
            <a:r>
              <a:rPr lang="en-US" altLang="zh-CN">
                <a:effectLst/>
              </a:rPr>
              <a:t>          STATIC</a:t>
            </a:r>
          </a:p>
          <a:p>
            <a:pPr>
              <a:spcBef>
                <a:spcPct val="10000"/>
              </a:spcBef>
              <a:buFont typeface="Wingdings" panose="05000000000000000000" pitchFamily="2" charset="2"/>
              <a:buNone/>
            </a:pPr>
            <a:r>
              <a:rPr lang="en-US" altLang="zh-CN">
                <a:effectLst/>
              </a:rPr>
              <a:t>          FOR SELECT C#</a:t>
            </a:r>
            <a:r>
              <a:rPr lang="zh-CN" altLang="en-US">
                <a:effectLst/>
              </a:rPr>
              <a:t>，</a:t>
            </a:r>
            <a:r>
              <a:rPr lang="en-US" altLang="zh-CN">
                <a:effectLst/>
              </a:rPr>
              <a:t>GRADE</a:t>
            </a:r>
          </a:p>
          <a:p>
            <a:pPr>
              <a:spcBef>
                <a:spcPct val="10000"/>
              </a:spcBef>
              <a:buFont typeface="Wingdings" panose="05000000000000000000" pitchFamily="2" charset="2"/>
              <a:buNone/>
            </a:pPr>
            <a:r>
              <a:rPr lang="en-US" altLang="zh-CN">
                <a:effectLst/>
              </a:rPr>
              <a:t>          FROM   SC</a:t>
            </a:r>
          </a:p>
          <a:p>
            <a:pPr>
              <a:spcBef>
                <a:spcPct val="10000"/>
              </a:spcBef>
              <a:buFont typeface="Wingdings" panose="05000000000000000000" pitchFamily="2" charset="2"/>
              <a:buNone/>
            </a:pPr>
            <a:r>
              <a:rPr lang="en-US" altLang="zh-CN">
                <a:effectLst/>
              </a:rPr>
              <a:t>          WHERE  S# = :s1</a:t>
            </a:r>
            <a:r>
              <a:rPr lang="en-US" altLang="zh-CN"/>
              <a:t> </a:t>
            </a:r>
          </a:p>
        </p:txBody>
      </p:sp>
      <p:sp>
        <p:nvSpPr>
          <p:cNvPr id="512005" name="Rectangle 5">
            <a:extLst>
              <a:ext uri="{FF2B5EF4-FFF2-40B4-BE49-F238E27FC236}">
                <a16:creationId xmlns:a16="http://schemas.microsoft.com/office/drawing/2014/main" id="{6670DDE4-209B-4403-AD9C-CFDD0F2E9F5A}"/>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38712"/>
    </mc:Choice>
    <mc:Fallback xmlns="">
      <p:transition spd="slow" advTm="3871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8" name="Rectangle 4">
            <a:extLst>
              <a:ext uri="{FF2B5EF4-FFF2-40B4-BE49-F238E27FC236}">
                <a16:creationId xmlns:a16="http://schemas.microsoft.com/office/drawing/2014/main" id="{8262E8D6-9A3B-4B1F-A66B-7590645E8C1D}"/>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、打开游标</a:t>
            </a:r>
          </a:p>
          <a:p>
            <a:pPr>
              <a:buFont typeface="Wingdings" panose="05000000000000000000" pitchFamily="2" charset="2"/>
              <a:buNone/>
            </a:pPr>
            <a:r>
              <a:rPr lang="zh-CN" altLang="en-US" sz="2600">
                <a:solidFill>
                  <a:srgbClr val="003366"/>
                </a:solidFill>
                <a:effectLst/>
                <a:ea typeface="黑体" panose="02010609060101010101" pitchFamily="49" charset="-122"/>
              </a:rPr>
              <a:t>         </a:t>
            </a:r>
            <a:r>
              <a:rPr lang="zh-CN" altLang="en-US" sz="2700" b="0">
                <a:effectLst/>
                <a:latin typeface="黑体" panose="02010609060101010101" pitchFamily="49" charset="-122"/>
                <a:ea typeface="黑体" panose="02010609060101010101" pitchFamily="49" charset="-122"/>
              </a:rPr>
              <a:t>打开游标语句的句法格式为：</a:t>
            </a:r>
          </a:p>
          <a:p>
            <a:pPr>
              <a:buFont typeface="Wingdings" panose="05000000000000000000" pitchFamily="2" charset="2"/>
              <a:buNone/>
            </a:pPr>
            <a:r>
              <a:rPr lang="zh-CN" altLang="en-US" sz="2700" b="0">
                <a:effectLst/>
                <a:latin typeface="黑体" panose="02010609060101010101" pitchFamily="49" charset="-122"/>
                <a:ea typeface="黑体" panose="02010609060101010101" pitchFamily="49" charset="-122"/>
              </a:rPr>
              <a:t>    </a:t>
            </a:r>
            <a:r>
              <a:rPr lang="en-US" altLang="zh-CN" sz="2700">
                <a:effectLst/>
                <a:latin typeface="黑体" panose="02010609060101010101" pitchFamily="49" charset="-122"/>
                <a:ea typeface="黑体" panose="02010609060101010101" pitchFamily="49" charset="-122"/>
              </a:rPr>
              <a:t>OPEN {{[GLOBL] &lt;</a:t>
            </a:r>
            <a:r>
              <a:rPr lang="zh-CN" altLang="en-US" sz="2700">
                <a:effectLst/>
                <a:latin typeface="黑体" panose="02010609060101010101" pitchFamily="49" charset="-122"/>
                <a:ea typeface="黑体" panose="02010609060101010101" pitchFamily="49" charset="-122"/>
              </a:rPr>
              <a:t>游标名</a:t>
            </a:r>
            <a:r>
              <a:rPr lang="en-US" altLang="zh-CN" sz="2700">
                <a:effectLst/>
                <a:latin typeface="黑体" panose="02010609060101010101" pitchFamily="49" charset="-122"/>
                <a:ea typeface="黑体" panose="02010609060101010101" pitchFamily="49" charset="-122"/>
              </a:rPr>
              <a:t>&gt;} | &lt;</a:t>
            </a:r>
            <a:r>
              <a:rPr lang="zh-CN" altLang="en-US" sz="2700">
                <a:effectLst/>
                <a:latin typeface="黑体" panose="02010609060101010101" pitchFamily="49" charset="-122"/>
                <a:ea typeface="黑体" panose="02010609060101010101" pitchFamily="49" charset="-122"/>
              </a:rPr>
              <a:t>游标变量名</a:t>
            </a:r>
            <a:r>
              <a:rPr lang="en-US" altLang="zh-CN" sz="2700">
                <a:effectLst/>
                <a:latin typeface="黑体" panose="02010609060101010101" pitchFamily="49" charset="-122"/>
                <a:ea typeface="黑体" panose="02010609060101010101" pitchFamily="49" charset="-122"/>
              </a:rPr>
              <a:t>&gt;}</a:t>
            </a:r>
          </a:p>
          <a:p>
            <a:pPr>
              <a:spcBef>
                <a:spcPct val="30000"/>
              </a:spcBef>
              <a:buFont typeface="Wingdings" panose="05000000000000000000" pitchFamily="2" charset="2"/>
              <a:buNone/>
            </a:pPr>
            <a:r>
              <a:rPr lang="en-US" altLang="zh-CN" sz="2700">
                <a:effectLst/>
                <a:latin typeface="黑体" panose="02010609060101010101" pitchFamily="49" charset="-122"/>
                <a:ea typeface="黑体" panose="02010609060101010101" pitchFamily="49" charset="-122"/>
              </a:rPr>
              <a:t>  </a:t>
            </a:r>
            <a:r>
              <a:rPr lang="zh-CN" altLang="en-US" sz="2700" b="0">
                <a:solidFill>
                  <a:schemeClr val="hlink"/>
                </a:solidFill>
                <a:effectLst/>
                <a:latin typeface="黑体" panose="02010609060101010101" pitchFamily="49" charset="-122"/>
                <a:ea typeface="黑体" panose="02010609060101010101" pitchFamily="49" charset="-122"/>
              </a:rPr>
              <a:t>说明：</a:t>
            </a:r>
            <a:r>
              <a:rPr lang="zh-CN" altLang="en-US" sz="2700" b="0">
                <a:solidFill>
                  <a:srgbClr val="006666"/>
                </a:solidFill>
                <a:effectLst/>
                <a:latin typeface="黑体" panose="02010609060101010101" pitchFamily="49" charset="-122"/>
                <a:ea typeface="黑体" panose="02010609060101010101" pitchFamily="49" charset="-122"/>
              </a:rPr>
              <a:t>打开游标语句根据游标名对应的</a:t>
            </a:r>
            <a:r>
              <a:rPr lang="en-US" altLang="zh-CN" sz="2700" b="0">
                <a:solidFill>
                  <a:srgbClr val="006666"/>
                </a:solidFill>
                <a:effectLst/>
                <a:latin typeface="黑体" panose="02010609060101010101" pitchFamily="49" charset="-122"/>
                <a:ea typeface="黑体" panose="02010609060101010101" pitchFamily="49" charset="-122"/>
              </a:rPr>
              <a:t>SELECT</a:t>
            </a:r>
            <a:r>
              <a:rPr lang="zh-CN" altLang="en-US" sz="2700" b="0">
                <a:solidFill>
                  <a:srgbClr val="006666"/>
                </a:solidFill>
                <a:effectLst/>
                <a:latin typeface="黑体" panose="02010609060101010101" pitchFamily="49" charset="-122"/>
                <a:ea typeface="黑体" panose="02010609060101010101" pitchFamily="49" charset="-122"/>
              </a:rPr>
              <a:t>语句中</a:t>
            </a:r>
            <a:r>
              <a:rPr lang="en-US" altLang="zh-CN" sz="2700" b="0">
                <a:solidFill>
                  <a:srgbClr val="006666"/>
                </a:solidFill>
                <a:effectLst/>
                <a:latin typeface="黑体" panose="02010609060101010101" pitchFamily="49" charset="-122"/>
                <a:ea typeface="黑体" panose="02010609060101010101" pitchFamily="49" charset="-122"/>
              </a:rPr>
              <a:t>WHERE</a:t>
            </a:r>
            <a:r>
              <a:rPr lang="zh-CN" altLang="en-US" sz="2700" b="0">
                <a:solidFill>
                  <a:srgbClr val="006666"/>
                </a:solidFill>
                <a:effectLst/>
                <a:latin typeface="黑体" panose="02010609060101010101" pitchFamily="49" charset="-122"/>
                <a:ea typeface="黑体" panose="02010609060101010101" pitchFamily="49" charset="-122"/>
              </a:rPr>
              <a:t>子句的查询条件</a:t>
            </a:r>
            <a:r>
              <a:rPr lang="en-US" altLang="zh-CN" sz="2700" b="0">
                <a:solidFill>
                  <a:srgbClr val="006666"/>
                </a:solidFill>
                <a:effectLst/>
                <a:latin typeface="黑体" panose="02010609060101010101" pitchFamily="49" charset="-122"/>
                <a:ea typeface="黑体" panose="02010609060101010101" pitchFamily="49" charset="-122"/>
              </a:rPr>
              <a:t>(</a:t>
            </a:r>
            <a:r>
              <a:rPr lang="zh-CN" altLang="en-US" sz="2700" b="0">
                <a:solidFill>
                  <a:srgbClr val="006666"/>
                </a:solidFill>
                <a:effectLst/>
                <a:latin typeface="黑体" panose="02010609060101010101" pitchFamily="49" charset="-122"/>
                <a:ea typeface="黑体" panose="02010609060101010101" pitchFamily="49" charset="-122"/>
              </a:rPr>
              <a:t>若存在</a:t>
            </a:r>
            <a:r>
              <a:rPr lang="en-US" altLang="zh-CN" sz="2700" b="0">
                <a:solidFill>
                  <a:srgbClr val="006666"/>
                </a:solidFill>
                <a:effectLst/>
                <a:latin typeface="黑体" panose="02010609060101010101" pitchFamily="49" charset="-122"/>
                <a:ea typeface="黑体" panose="02010609060101010101" pitchFamily="49" charset="-122"/>
              </a:rPr>
              <a:t>)</a:t>
            </a:r>
            <a:r>
              <a:rPr lang="zh-CN" altLang="en-US" sz="2700" b="0">
                <a:solidFill>
                  <a:srgbClr val="006666"/>
                </a:solidFill>
                <a:effectLst/>
                <a:latin typeface="黑体" panose="02010609060101010101" pitchFamily="49" charset="-122"/>
                <a:ea typeface="黑体" panose="02010609060101010101" pitchFamily="49" charset="-122"/>
              </a:rPr>
              <a:t>，得到由那些满足查询条件的行组成的结果集。</a:t>
            </a:r>
          </a:p>
          <a:p>
            <a:pPr>
              <a:spcBef>
                <a:spcPct val="0"/>
              </a:spcBef>
              <a:buFont typeface="Wingdings" panose="05000000000000000000" pitchFamily="2" charset="2"/>
              <a:buNone/>
            </a:pPr>
            <a:r>
              <a:rPr lang="zh-CN" altLang="en-US" sz="2700" b="0">
                <a:solidFill>
                  <a:srgbClr val="006666"/>
                </a:solidFill>
                <a:effectLst/>
                <a:latin typeface="黑体" panose="02010609060101010101" pitchFamily="49" charset="-122"/>
                <a:ea typeface="黑体" panose="02010609060101010101" pitchFamily="49" charset="-122"/>
              </a:rPr>
              <a:t>      </a:t>
            </a:r>
            <a:r>
              <a:rPr lang="zh-CN" altLang="en-US" sz="2700" b="0">
                <a:solidFill>
                  <a:srgbClr val="003366"/>
                </a:solidFill>
                <a:effectLst/>
                <a:latin typeface="黑体" panose="02010609060101010101" pitchFamily="49" charset="-122"/>
                <a:ea typeface="黑体" panose="02010609060101010101" pitchFamily="49" charset="-122"/>
              </a:rPr>
              <a:t>结果集中当前等待被处理的行称为当前行。</a:t>
            </a:r>
          </a:p>
          <a:p>
            <a:pPr>
              <a:spcBef>
                <a:spcPct val="0"/>
              </a:spcBef>
              <a:buFont typeface="Wingdings" panose="05000000000000000000" pitchFamily="2" charset="2"/>
              <a:buNone/>
            </a:pPr>
            <a:r>
              <a:rPr lang="zh-CN" altLang="en-US" sz="2700" b="0">
                <a:solidFill>
                  <a:srgbClr val="006666"/>
                </a:solidFill>
                <a:effectLst/>
                <a:latin typeface="黑体" panose="02010609060101010101" pitchFamily="49" charset="-122"/>
                <a:ea typeface="黑体" panose="02010609060101010101" pitchFamily="49" charset="-122"/>
              </a:rPr>
              <a:t>      在刚打开游标时，游标指针指向结果集第</a:t>
            </a:r>
            <a:r>
              <a:rPr lang="en-US" altLang="zh-CN" sz="2700" b="0">
                <a:solidFill>
                  <a:srgbClr val="006666"/>
                </a:solidFill>
                <a:effectLst/>
                <a:latin typeface="黑体" panose="02010609060101010101" pitchFamily="49" charset="-122"/>
                <a:ea typeface="黑体" panose="02010609060101010101" pitchFamily="49" charset="-122"/>
              </a:rPr>
              <a:t>1</a:t>
            </a:r>
            <a:r>
              <a:rPr lang="zh-CN" altLang="en-US" sz="2700" b="0">
                <a:solidFill>
                  <a:srgbClr val="006666"/>
                </a:solidFill>
                <a:effectLst/>
                <a:latin typeface="黑体" panose="02010609060101010101" pitchFamily="49" charset="-122"/>
                <a:ea typeface="黑体" panose="02010609060101010101" pitchFamily="49" charset="-122"/>
              </a:rPr>
              <a:t>行之前。</a:t>
            </a:r>
            <a:r>
              <a:rPr lang="zh-CN" altLang="en-US">
                <a:solidFill>
                  <a:srgbClr val="006666"/>
                </a:solidFill>
              </a:rPr>
              <a:t> </a:t>
            </a:r>
            <a:r>
              <a:rPr lang="zh-CN" altLang="en-US" sz="2700">
                <a:solidFill>
                  <a:srgbClr val="006666"/>
                </a:solidFill>
                <a:effectLst/>
                <a:latin typeface="黑体" panose="02010609060101010101" pitchFamily="49" charset="-122"/>
                <a:ea typeface="黑体" panose="02010609060101010101" pitchFamily="49" charset="-122"/>
              </a:rPr>
              <a:t> </a:t>
            </a:r>
          </a:p>
        </p:txBody>
      </p:sp>
      <p:sp>
        <p:nvSpPr>
          <p:cNvPr id="513029" name="Rectangle 5">
            <a:extLst>
              <a:ext uri="{FF2B5EF4-FFF2-40B4-BE49-F238E27FC236}">
                <a16:creationId xmlns:a16="http://schemas.microsoft.com/office/drawing/2014/main" id="{74118557-6700-40E2-A1A7-B2CDC7318AD3}"/>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41839"/>
    </mc:Choice>
    <mc:Fallback xmlns="">
      <p:transition spd="slow" advTm="4183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3028">
                                            <p:txEl>
                                              <p:pRg st="0" end="0"/>
                                            </p:txEl>
                                          </p:spTgt>
                                        </p:tgtEl>
                                        <p:attrNameLst>
                                          <p:attrName>style.visibility</p:attrName>
                                        </p:attrNameLst>
                                      </p:cBhvr>
                                      <p:to>
                                        <p:strVal val="visible"/>
                                      </p:to>
                                    </p:set>
                                    <p:animEffect transition="in" filter="wipe(left)">
                                      <p:cBhvr>
                                        <p:cTn id="7" dur="1000"/>
                                        <p:tgtEl>
                                          <p:spTgt spid="513028">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13028">
                                            <p:txEl>
                                              <p:pRg st="1" end="1"/>
                                            </p:txEl>
                                          </p:spTgt>
                                        </p:tgtEl>
                                        <p:attrNameLst>
                                          <p:attrName>style.visibility</p:attrName>
                                        </p:attrNameLst>
                                      </p:cBhvr>
                                      <p:to>
                                        <p:strVal val="visible"/>
                                      </p:to>
                                    </p:set>
                                    <p:animEffect transition="in" filter="wipe(up)">
                                      <p:cBhvr>
                                        <p:cTn id="11" dur="1000"/>
                                        <p:tgtEl>
                                          <p:spTgt spid="513028">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13028">
                                            <p:txEl>
                                              <p:pRg st="2" end="2"/>
                                            </p:txEl>
                                          </p:spTgt>
                                        </p:tgtEl>
                                        <p:attrNameLst>
                                          <p:attrName>style.visibility</p:attrName>
                                        </p:attrNameLst>
                                      </p:cBhvr>
                                      <p:to>
                                        <p:strVal val="visible"/>
                                      </p:to>
                                    </p:set>
                                    <p:animEffect transition="in" filter="wipe(up)">
                                      <p:cBhvr>
                                        <p:cTn id="15" dur="1000"/>
                                        <p:tgtEl>
                                          <p:spTgt spid="513028">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513028">
                                            <p:txEl>
                                              <p:pRg st="3" end="3"/>
                                            </p:txEl>
                                          </p:spTgt>
                                        </p:tgtEl>
                                        <p:attrNameLst>
                                          <p:attrName>style.visibility</p:attrName>
                                        </p:attrNameLst>
                                      </p:cBhvr>
                                      <p:to>
                                        <p:strVal val="visible"/>
                                      </p:to>
                                    </p:set>
                                    <p:animEffect transition="in" filter="wipe(up)">
                                      <p:cBhvr>
                                        <p:cTn id="19" dur="1000"/>
                                        <p:tgtEl>
                                          <p:spTgt spid="513028">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513028">
                                            <p:txEl>
                                              <p:pRg st="4" end="4"/>
                                            </p:txEl>
                                          </p:spTgt>
                                        </p:tgtEl>
                                        <p:attrNameLst>
                                          <p:attrName>style.visibility</p:attrName>
                                        </p:attrNameLst>
                                      </p:cBhvr>
                                      <p:to>
                                        <p:strVal val="visible"/>
                                      </p:to>
                                    </p:set>
                                    <p:animEffect transition="in" filter="wipe(up)">
                                      <p:cBhvr>
                                        <p:cTn id="23" dur="1000"/>
                                        <p:tgtEl>
                                          <p:spTgt spid="513028">
                                            <p:txEl>
                                              <p:pRg st="4" end="4"/>
                                            </p:txEl>
                                          </p:spTgt>
                                        </p:tgtEl>
                                      </p:cBhvr>
                                    </p:animEffect>
                                  </p:childTnLst>
                                </p:cTn>
                              </p:par>
                            </p:childTnLst>
                          </p:cTn>
                        </p:par>
                        <p:par>
                          <p:cTn id="24" fill="hold" nodeType="afterGroup">
                            <p:stCondLst>
                              <p:cond delay="5000"/>
                            </p:stCondLst>
                            <p:childTnLst>
                              <p:par>
                                <p:cTn id="25" presetID="22" presetClass="entr" presetSubtype="1" fill="hold" nodeType="afterEffect">
                                  <p:stCondLst>
                                    <p:cond delay="0"/>
                                  </p:stCondLst>
                                  <p:childTnLst>
                                    <p:set>
                                      <p:cBhvr>
                                        <p:cTn id="26" dur="1" fill="hold">
                                          <p:stCondLst>
                                            <p:cond delay="0"/>
                                          </p:stCondLst>
                                        </p:cTn>
                                        <p:tgtEl>
                                          <p:spTgt spid="513028">
                                            <p:txEl>
                                              <p:pRg st="5" end="5"/>
                                            </p:txEl>
                                          </p:spTgt>
                                        </p:tgtEl>
                                        <p:attrNameLst>
                                          <p:attrName>style.visibility</p:attrName>
                                        </p:attrNameLst>
                                      </p:cBhvr>
                                      <p:to>
                                        <p:strVal val="visible"/>
                                      </p:to>
                                    </p:set>
                                    <p:animEffect transition="in" filter="wipe(up)">
                                      <p:cBhvr>
                                        <p:cTn id="27" dur="1000"/>
                                        <p:tgtEl>
                                          <p:spTgt spid="51302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2" name="Rectangle 4">
            <a:extLst>
              <a:ext uri="{FF2B5EF4-FFF2-40B4-BE49-F238E27FC236}">
                <a16:creationId xmlns:a16="http://schemas.microsoft.com/office/drawing/2014/main" id="{9C8F21A2-945B-4FBA-ADC8-5618F7E43B5B}"/>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2</a:t>
            </a:r>
            <a:r>
              <a:rPr lang="zh-CN" altLang="en-US" sz="3000">
                <a:solidFill>
                  <a:srgbClr val="660033"/>
                </a:solidFill>
                <a:ea typeface="华文新魏" panose="02010800040101010101" pitchFamily="2" charset="-122"/>
              </a:rPr>
              <a:t>、打开游标</a:t>
            </a:r>
          </a:p>
          <a:p>
            <a:pPr>
              <a:lnSpc>
                <a:spcPct val="150000"/>
              </a:lnSpc>
              <a:buFont typeface="Wingdings" panose="05000000000000000000" pitchFamily="2" charset="2"/>
              <a:buNone/>
            </a:pPr>
            <a:r>
              <a:rPr lang="zh-CN" altLang="en-US" sz="2600">
                <a:solidFill>
                  <a:srgbClr val="003366"/>
                </a:solidFill>
                <a:effectLst/>
                <a:ea typeface="黑体" panose="02010609060101010101" pitchFamily="49" charset="-122"/>
              </a:rPr>
              <a:t>         </a:t>
            </a:r>
            <a:r>
              <a:rPr lang="zh-CN" altLang="en-US" b="0">
                <a:solidFill>
                  <a:schemeClr val="hlink"/>
                </a:solidFill>
                <a:effectLst/>
                <a:latin typeface="黑体" panose="02010609060101010101" pitchFamily="49" charset="-122"/>
                <a:ea typeface="黑体" panose="02010609060101010101" pitchFamily="49" charset="-122"/>
              </a:rPr>
              <a:t>例</a:t>
            </a:r>
            <a:r>
              <a:rPr lang="en-US" altLang="zh-CN" b="0">
                <a:solidFill>
                  <a:schemeClr val="hlink"/>
                </a:solidFill>
                <a:effectLst/>
                <a:latin typeface="黑体" panose="02010609060101010101" pitchFamily="49" charset="-122"/>
                <a:ea typeface="黑体" panose="02010609060101010101" pitchFamily="49" charset="-122"/>
              </a:rPr>
              <a:t>5.54</a:t>
            </a:r>
            <a:r>
              <a:rPr lang="zh-CN" altLang="en-US" b="0">
                <a:solidFill>
                  <a:schemeClr val="hlink"/>
                </a:solidFill>
                <a:effectLst/>
                <a:latin typeface="黑体" panose="02010609060101010101" pitchFamily="49" charset="-122"/>
                <a:ea typeface="黑体" panose="02010609060101010101" pitchFamily="49" charset="-122"/>
              </a:rPr>
              <a:t>：</a:t>
            </a:r>
            <a:r>
              <a:rPr lang="zh-CN" altLang="en-US" b="0">
                <a:effectLst/>
                <a:latin typeface="黑体" panose="02010609060101010101" pitchFamily="49" charset="-122"/>
                <a:ea typeface="黑体" panose="02010609060101010101" pitchFamily="49" charset="-122"/>
              </a:rPr>
              <a:t>写出例</a:t>
            </a:r>
            <a:r>
              <a:rPr lang="en-US" altLang="zh-CN" b="0">
                <a:effectLst/>
                <a:latin typeface="黑体" panose="02010609060101010101" pitchFamily="49" charset="-122"/>
                <a:ea typeface="黑体" panose="02010609060101010101" pitchFamily="49" charset="-122"/>
              </a:rPr>
              <a:t>5.53</a:t>
            </a:r>
            <a:r>
              <a:rPr lang="zh-CN" altLang="en-US" b="0">
                <a:effectLst/>
                <a:latin typeface="黑体" panose="02010609060101010101" pitchFamily="49" charset="-122"/>
                <a:ea typeface="黑体" panose="02010609060101010101" pitchFamily="49" charset="-122"/>
              </a:rPr>
              <a:t>定义的游标的打开游标语句。</a:t>
            </a:r>
          </a:p>
          <a:p>
            <a:pPr>
              <a:lnSpc>
                <a:spcPct val="150000"/>
              </a:lnSpc>
              <a:buFont typeface="Wingdings" panose="05000000000000000000" pitchFamily="2" charset="2"/>
              <a:buNone/>
            </a:pPr>
            <a:r>
              <a:rPr lang="zh-CN" altLang="en-US" b="0">
                <a:effectLst/>
                <a:latin typeface="黑体" panose="02010609060101010101" pitchFamily="49" charset="-122"/>
                <a:ea typeface="黑体" panose="02010609060101010101" pitchFamily="49" charset="-122"/>
              </a:rPr>
              <a:t>        </a:t>
            </a:r>
            <a:r>
              <a:rPr lang="en-US" altLang="zh-CN" b="0">
                <a:effectLst/>
                <a:latin typeface="黑体" panose="02010609060101010101" pitchFamily="49" charset="-122"/>
                <a:ea typeface="黑体" panose="02010609060101010101" pitchFamily="49" charset="-122"/>
              </a:rPr>
              <a:t>OPEN CC1</a:t>
            </a:r>
            <a:r>
              <a:rPr lang="zh-CN" altLang="en-US" b="0">
                <a:effectLst/>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 </a:t>
            </a:r>
          </a:p>
        </p:txBody>
      </p:sp>
      <p:sp>
        <p:nvSpPr>
          <p:cNvPr id="514053" name="Rectangle 5">
            <a:extLst>
              <a:ext uri="{FF2B5EF4-FFF2-40B4-BE49-F238E27FC236}">
                <a16:creationId xmlns:a16="http://schemas.microsoft.com/office/drawing/2014/main" id="{1A46AAC5-A644-4E75-8DBA-041AE6E6F7CF}"/>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9675"/>
    </mc:Choice>
    <mc:Fallback xmlns="">
      <p:transition spd="slow" advTm="967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6" name="Rectangle 4">
            <a:extLst>
              <a:ext uri="{FF2B5EF4-FFF2-40B4-BE49-F238E27FC236}">
                <a16:creationId xmlns:a16="http://schemas.microsoft.com/office/drawing/2014/main" id="{BAC39C62-54EB-4200-AD9C-2A4C187CCA4E}"/>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3</a:t>
            </a:r>
            <a:r>
              <a:rPr lang="zh-CN" altLang="en-US" sz="3000">
                <a:solidFill>
                  <a:srgbClr val="660033"/>
                </a:solidFill>
                <a:ea typeface="华文新魏" panose="02010800040101010101" pitchFamily="2" charset="-122"/>
              </a:rPr>
              <a:t>、利用游标读取数据</a:t>
            </a:r>
            <a:r>
              <a:rPr lang="zh-CN" altLang="en-US"/>
              <a:t> </a:t>
            </a:r>
            <a:endParaRPr lang="zh-CN" altLang="en-US" sz="3000">
              <a:solidFill>
                <a:srgbClr val="660033"/>
              </a:solidFill>
              <a:ea typeface="华文新魏" panose="02010800040101010101" pitchFamily="2" charset="-122"/>
            </a:endParaRPr>
          </a:p>
          <a:p>
            <a:pPr>
              <a:buFont typeface="Wingdings" panose="05000000000000000000" pitchFamily="2" charset="2"/>
              <a:buNone/>
            </a:pPr>
            <a:r>
              <a:rPr lang="zh-CN" altLang="en-US" sz="2600">
                <a:solidFill>
                  <a:srgbClr val="003366"/>
                </a:solidFill>
                <a:effectLst/>
                <a:ea typeface="黑体" panose="02010609060101010101" pitchFamily="49" charset="-122"/>
              </a:rPr>
              <a:t>          </a:t>
            </a:r>
            <a:r>
              <a:rPr lang="zh-CN" altLang="en-US" sz="2700">
                <a:solidFill>
                  <a:srgbClr val="006666"/>
                </a:solidFill>
                <a:effectLst/>
                <a:latin typeface="黑体" panose="02010609060101010101" pitchFamily="49" charset="-122"/>
                <a:ea typeface="黑体" panose="02010609060101010101" pitchFamily="49" charset="-122"/>
              </a:rPr>
              <a:t>利用</a:t>
            </a:r>
            <a:r>
              <a:rPr lang="en-US" altLang="zh-CN" sz="2700">
                <a:solidFill>
                  <a:srgbClr val="006666"/>
                </a:solidFill>
                <a:effectLst/>
                <a:latin typeface="黑体" panose="02010609060101010101" pitchFamily="49" charset="-122"/>
                <a:ea typeface="黑体" panose="02010609060101010101" pitchFamily="49" charset="-122"/>
              </a:rPr>
              <a:t>FETCH</a:t>
            </a:r>
            <a:r>
              <a:rPr lang="zh-CN" altLang="en-US" sz="2700">
                <a:solidFill>
                  <a:srgbClr val="006666"/>
                </a:solidFill>
                <a:effectLst/>
                <a:latin typeface="黑体" panose="02010609060101010101" pitchFamily="49" charset="-122"/>
                <a:ea typeface="黑体" panose="02010609060101010101" pitchFamily="49" charset="-122"/>
              </a:rPr>
              <a:t>语句可以从结果集中读取一行数据，并把该结果赋给</a:t>
            </a:r>
            <a:r>
              <a:rPr lang="en-US" altLang="zh-CN" sz="2700">
                <a:solidFill>
                  <a:srgbClr val="006666"/>
                </a:solidFill>
                <a:effectLst/>
                <a:latin typeface="黑体" panose="02010609060101010101" pitchFamily="49" charset="-122"/>
                <a:ea typeface="黑体" panose="02010609060101010101" pitchFamily="49" charset="-122"/>
              </a:rPr>
              <a:t>INTO</a:t>
            </a:r>
            <a:r>
              <a:rPr lang="zh-CN" altLang="en-US" sz="2700">
                <a:solidFill>
                  <a:srgbClr val="006666"/>
                </a:solidFill>
                <a:effectLst/>
                <a:latin typeface="黑体" panose="02010609060101010101" pitchFamily="49" charset="-122"/>
                <a:ea typeface="黑体" panose="02010609060101010101" pitchFamily="49" charset="-122"/>
              </a:rPr>
              <a:t>后的输出主变量。</a:t>
            </a:r>
            <a:r>
              <a:rPr lang="zh-CN" altLang="en-US"/>
              <a:t> </a:t>
            </a:r>
            <a:endParaRPr lang="zh-CN" altLang="en-US" sz="2700" b="0">
              <a:effectLst/>
              <a:latin typeface="黑体" panose="02010609060101010101" pitchFamily="49" charset="-122"/>
              <a:ea typeface="黑体" panose="02010609060101010101" pitchFamily="49" charset="-122"/>
            </a:endParaRPr>
          </a:p>
          <a:p>
            <a:pPr>
              <a:spcBef>
                <a:spcPct val="0"/>
              </a:spcBef>
              <a:buFont typeface="Wingdings" panose="05000000000000000000" pitchFamily="2" charset="2"/>
              <a:buNone/>
            </a:pPr>
            <a:r>
              <a:rPr lang="zh-CN" altLang="en-US" sz="2700" b="0">
                <a:effectLst/>
                <a:latin typeface="黑体" panose="02010609060101010101" pitchFamily="49" charset="-122"/>
                <a:ea typeface="黑体" panose="02010609060101010101" pitchFamily="49" charset="-122"/>
              </a:rPr>
              <a:t>    </a:t>
            </a:r>
            <a:r>
              <a:rPr lang="en-US" altLang="zh-CN" sz="2600" b="0">
                <a:solidFill>
                  <a:srgbClr val="660033"/>
                </a:solidFill>
                <a:effectLst/>
                <a:latin typeface="黑体" panose="02010609060101010101" pitchFamily="49" charset="-122"/>
                <a:ea typeface="黑体" panose="02010609060101010101" pitchFamily="49" charset="-122"/>
              </a:rPr>
              <a:t>FETCH</a:t>
            </a:r>
          </a:p>
          <a:p>
            <a:pPr>
              <a:spcBef>
                <a:spcPct val="0"/>
              </a:spcBef>
              <a:buFont typeface="Wingdings" panose="05000000000000000000" pitchFamily="2" charset="2"/>
              <a:buNone/>
            </a:pPr>
            <a:r>
              <a:rPr lang="en-US" altLang="zh-CN" sz="2600" b="0">
                <a:effectLst/>
                <a:latin typeface="黑体" panose="02010609060101010101" pitchFamily="49" charset="-122"/>
                <a:ea typeface="黑体" panose="02010609060101010101" pitchFamily="49" charset="-122"/>
              </a:rPr>
              <a:t>         [[NEXT|PRIOR|FIRST|LAST</a:t>
            </a:r>
          </a:p>
          <a:p>
            <a:pPr>
              <a:spcBef>
                <a:spcPct val="0"/>
              </a:spcBef>
              <a:buFont typeface="Wingdings" panose="05000000000000000000" pitchFamily="2" charset="2"/>
              <a:buNone/>
            </a:pPr>
            <a:r>
              <a:rPr lang="en-US" altLang="zh-CN" sz="2600" b="0">
                <a:effectLst/>
                <a:latin typeface="黑体" panose="02010609060101010101" pitchFamily="49" charset="-122"/>
                <a:ea typeface="黑体" panose="02010609060101010101" pitchFamily="49" charset="-122"/>
              </a:rPr>
              <a:t>          |ABSOLUTE {&lt;</a:t>
            </a:r>
            <a:r>
              <a:rPr lang="zh-CN" altLang="en-US" sz="2600" b="0">
                <a:effectLst/>
                <a:latin typeface="黑体" panose="02010609060101010101" pitchFamily="49" charset="-122"/>
                <a:ea typeface="黑体" panose="02010609060101010101" pitchFamily="49" charset="-122"/>
              </a:rPr>
              <a:t>行数</a:t>
            </a:r>
            <a:r>
              <a:rPr lang="en-US" altLang="zh-CN" sz="2600" b="0">
                <a:effectLst/>
                <a:latin typeface="黑体" panose="02010609060101010101" pitchFamily="49" charset="-122"/>
                <a:ea typeface="黑体" panose="02010609060101010101" pitchFamily="49" charset="-122"/>
              </a:rPr>
              <a:t>&gt;|&lt;@</a:t>
            </a:r>
            <a:r>
              <a:rPr lang="zh-CN" altLang="en-US" sz="2600" b="0">
                <a:effectLst/>
                <a:latin typeface="黑体" panose="02010609060101010101" pitchFamily="49" charset="-122"/>
                <a:ea typeface="黑体" panose="02010609060101010101" pitchFamily="49" charset="-122"/>
              </a:rPr>
              <a:t>行数变量</a:t>
            </a:r>
            <a:r>
              <a:rPr lang="en-US" altLang="zh-CN" sz="2600" b="0">
                <a:effectLst/>
                <a:latin typeface="黑体" panose="02010609060101010101" pitchFamily="49" charset="-122"/>
                <a:ea typeface="黑体" panose="02010609060101010101" pitchFamily="49" charset="-122"/>
              </a:rPr>
              <a:t>&gt;}</a:t>
            </a:r>
          </a:p>
          <a:p>
            <a:pPr>
              <a:spcBef>
                <a:spcPct val="0"/>
              </a:spcBef>
              <a:buFont typeface="Wingdings" panose="05000000000000000000" pitchFamily="2" charset="2"/>
              <a:buNone/>
            </a:pPr>
            <a:r>
              <a:rPr lang="en-US" altLang="zh-CN" sz="2600" b="0">
                <a:effectLst/>
                <a:latin typeface="黑体" panose="02010609060101010101" pitchFamily="49" charset="-122"/>
                <a:ea typeface="黑体" panose="02010609060101010101" pitchFamily="49" charset="-122"/>
              </a:rPr>
              <a:t>          |RELATIVE {&lt;</a:t>
            </a:r>
            <a:r>
              <a:rPr lang="zh-CN" altLang="en-US" sz="2600" b="0">
                <a:effectLst/>
                <a:latin typeface="黑体" panose="02010609060101010101" pitchFamily="49" charset="-122"/>
                <a:ea typeface="黑体" panose="02010609060101010101" pitchFamily="49" charset="-122"/>
              </a:rPr>
              <a:t>行数</a:t>
            </a:r>
            <a:r>
              <a:rPr lang="en-US" altLang="zh-CN" sz="2600" b="0">
                <a:effectLst/>
                <a:latin typeface="黑体" panose="02010609060101010101" pitchFamily="49" charset="-122"/>
                <a:ea typeface="黑体" panose="02010609060101010101" pitchFamily="49" charset="-122"/>
              </a:rPr>
              <a:t>&gt;|&lt;@</a:t>
            </a:r>
            <a:r>
              <a:rPr lang="zh-CN" altLang="en-US" sz="2600" b="0">
                <a:effectLst/>
                <a:latin typeface="黑体" panose="02010609060101010101" pitchFamily="49" charset="-122"/>
                <a:ea typeface="黑体" panose="02010609060101010101" pitchFamily="49" charset="-122"/>
              </a:rPr>
              <a:t>行数变量</a:t>
            </a:r>
            <a:r>
              <a:rPr lang="en-US" altLang="zh-CN" sz="2600" b="0">
                <a:effectLst/>
                <a:latin typeface="黑体" panose="02010609060101010101" pitchFamily="49" charset="-122"/>
                <a:ea typeface="黑体" panose="02010609060101010101" pitchFamily="49" charset="-122"/>
              </a:rPr>
              <a:t>&gt;}]</a:t>
            </a:r>
          </a:p>
          <a:p>
            <a:pPr>
              <a:spcBef>
                <a:spcPct val="0"/>
              </a:spcBef>
              <a:buFont typeface="Wingdings" panose="05000000000000000000" pitchFamily="2" charset="2"/>
              <a:buNone/>
            </a:pPr>
            <a:r>
              <a:rPr lang="en-US" altLang="zh-CN" sz="2600" b="0">
                <a:effectLst/>
                <a:latin typeface="黑体" panose="02010609060101010101" pitchFamily="49" charset="-122"/>
                <a:ea typeface="黑体" panose="02010609060101010101" pitchFamily="49" charset="-122"/>
              </a:rPr>
              <a:t>    FROM ]</a:t>
            </a:r>
          </a:p>
          <a:p>
            <a:pPr>
              <a:spcBef>
                <a:spcPct val="0"/>
              </a:spcBef>
              <a:buFont typeface="Wingdings" panose="05000000000000000000" pitchFamily="2" charset="2"/>
              <a:buNone/>
            </a:pPr>
            <a:r>
              <a:rPr lang="en-US" altLang="zh-CN" sz="2600" b="0">
                <a:effectLst/>
                <a:latin typeface="黑体" panose="02010609060101010101" pitchFamily="49" charset="-122"/>
                <a:ea typeface="黑体" panose="02010609060101010101" pitchFamily="49" charset="-122"/>
              </a:rPr>
              <a:t>        </a:t>
            </a:r>
            <a:r>
              <a:rPr lang="en-US" altLang="zh-CN" sz="2600" b="0">
                <a:solidFill>
                  <a:srgbClr val="660033"/>
                </a:solidFill>
                <a:effectLst/>
                <a:latin typeface="黑体" panose="02010609060101010101" pitchFamily="49" charset="-122"/>
                <a:ea typeface="黑体" panose="02010609060101010101" pitchFamily="49" charset="-122"/>
              </a:rPr>
              <a:t>{{[GLOBAL]&lt;</a:t>
            </a:r>
            <a:r>
              <a:rPr lang="zh-CN" altLang="en-US" sz="2600" b="0">
                <a:solidFill>
                  <a:srgbClr val="660033"/>
                </a:solidFill>
                <a:effectLst/>
                <a:latin typeface="黑体" panose="02010609060101010101" pitchFamily="49" charset="-122"/>
                <a:ea typeface="黑体" panose="02010609060101010101" pitchFamily="49" charset="-122"/>
              </a:rPr>
              <a:t>游标名</a:t>
            </a:r>
            <a:r>
              <a:rPr lang="en-US" altLang="zh-CN" sz="2600" b="0">
                <a:solidFill>
                  <a:srgbClr val="660033"/>
                </a:solidFill>
                <a:effectLst/>
                <a:latin typeface="黑体" panose="02010609060101010101" pitchFamily="49" charset="-122"/>
                <a:ea typeface="黑体" panose="02010609060101010101" pitchFamily="49" charset="-122"/>
              </a:rPr>
              <a:t>&gt;}|&lt;@</a:t>
            </a:r>
            <a:r>
              <a:rPr lang="zh-CN" altLang="en-US" sz="2600" b="0">
                <a:solidFill>
                  <a:srgbClr val="660033"/>
                </a:solidFill>
                <a:effectLst/>
                <a:latin typeface="黑体" panose="02010609060101010101" pitchFamily="49" charset="-122"/>
                <a:ea typeface="黑体" panose="02010609060101010101" pitchFamily="49" charset="-122"/>
              </a:rPr>
              <a:t>游标变量名</a:t>
            </a:r>
            <a:r>
              <a:rPr lang="en-US" altLang="zh-CN" sz="2600" b="0">
                <a:solidFill>
                  <a:srgbClr val="660033"/>
                </a:solidFill>
                <a:effectLst/>
                <a:latin typeface="黑体" panose="02010609060101010101" pitchFamily="49" charset="-122"/>
                <a:ea typeface="黑体" panose="02010609060101010101" pitchFamily="49" charset="-122"/>
              </a:rPr>
              <a:t>&gt;}</a:t>
            </a:r>
          </a:p>
          <a:p>
            <a:pPr>
              <a:spcBef>
                <a:spcPct val="0"/>
              </a:spcBef>
              <a:buFont typeface="Wingdings" panose="05000000000000000000" pitchFamily="2" charset="2"/>
              <a:buNone/>
            </a:pPr>
            <a:r>
              <a:rPr lang="en-US" altLang="zh-CN" sz="2600" b="0">
                <a:effectLst/>
                <a:latin typeface="黑体" panose="02010609060101010101" pitchFamily="49" charset="-122"/>
                <a:ea typeface="黑体" panose="02010609060101010101" pitchFamily="49" charset="-122"/>
              </a:rPr>
              <a:t>        [INTO  &lt;@</a:t>
            </a:r>
            <a:r>
              <a:rPr lang="zh-CN" altLang="en-US" sz="2600" b="0">
                <a:effectLst/>
                <a:latin typeface="黑体" panose="02010609060101010101" pitchFamily="49" charset="-122"/>
                <a:ea typeface="黑体" panose="02010609060101010101" pitchFamily="49" charset="-122"/>
              </a:rPr>
              <a:t>主变量名</a:t>
            </a:r>
            <a:r>
              <a:rPr lang="en-US" altLang="zh-CN" sz="2600" b="0">
                <a:effectLst/>
                <a:latin typeface="黑体" panose="02010609060101010101" pitchFamily="49" charset="-122"/>
                <a:ea typeface="黑体" panose="02010609060101010101" pitchFamily="49" charset="-122"/>
              </a:rPr>
              <a:t>&gt; [</a:t>
            </a:r>
            <a:r>
              <a:rPr lang="zh-CN" altLang="en-US" sz="2600" b="0">
                <a:effectLst/>
                <a:latin typeface="黑体" panose="02010609060101010101" pitchFamily="49" charset="-122"/>
                <a:ea typeface="黑体" panose="02010609060101010101" pitchFamily="49" charset="-122"/>
              </a:rPr>
              <a:t>，</a:t>
            </a:r>
            <a:r>
              <a:rPr lang="en-US" altLang="zh-CN" sz="2600" b="0">
                <a:effectLst/>
                <a:latin typeface="Arial" panose="020B0604020202020204" pitchFamily="34" charset="0"/>
                <a:ea typeface="黑体" panose="02010609060101010101" pitchFamily="49" charset="-122"/>
              </a:rPr>
              <a:t>…</a:t>
            </a:r>
            <a:r>
              <a:rPr lang="en-US" altLang="zh-CN" sz="2600" b="0">
                <a:effectLst/>
                <a:latin typeface="黑体" panose="02010609060101010101" pitchFamily="49" charset="-122"/>
                <a:ea typeface="黑体" panose="02010609060101010101" pitchFamily="49" charset="-122"/>
              </a:rPr>
              <a:t> ]]</a:t>
            </a:r>
            <a:r>
              <a:rPr lang="en-US" altLang="zh-CN" sz="2600" b="0">
                <a:latin typeface="黑体" panose="02010609060101010101" pitchFamily="49" charset="-122"/>
                <a:ea typeface="黑体" panose="02010609060101010101" pitchFamily="49" charset="-122"/>
              </a:rPr>
              <a:t> </a:t>
            </a:r>
          </a:p>
        </p:txBody>
      </p:sp>
      <p:sp>
        <p:nvSpPr>
          <p:cNvPr id="515077" name="Rectangle 5">
            <a:extLst>
              <a:ext uri="{FF2B5EF4-FFF2-40B4-BE49-F238E27FC236}">
                <a16:creationId xmlns:a16="http://schemas.microsoft.com/office/drawing/2014/main" id="{880D4674-2D49-43D4-8FB3-69EC063CB29F}"/>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62771"/>
    </mc:Choice>
    <mc:Fallback xmlns="">
      <p:transition spd="slow" advTm="62771"/>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5076">
                                            <p:txEl>
                                              <p:pRg st="0" end="0"/>
                                            </p:txEl>
                                          </p:spTgt>
                                        </p:tgtEl>
                                        <p:attrNameLst>
                                          <p:attrName>style.visibility</p:attrName>
                                        </p:attrNameLst>
                                      </p:cBhvr>
                                      <p:to>
                                        <p:strVal val="visible"/>
                                      </p:to>
                                    </p:set>
                                    <p:animEffect transition="in" filter="wipe(left)">
                                      <p:cBhvr>
                                        <p:cTn id="7" dur="1000"/>
                                        <p:tgtEl>
                                          <p:spTgt spid="515076">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15076">
                                            <p:txEl>
                                              <p:pRg st="1" end="1"/>
                                            </p:txEl>
                                          </p:spTgt>
                                        </p:tgtEl>
                                        <p:attrNameLst>
                                          <p:attrName>style.visibility</p:attrName>
                                        </p:attrNameLst>
                                      </p:cBhvr>
                                      <p:to>
                                        <p:strVal val="visible"/>
                                      </p:to>
                                    </p:set>
                                    <p:animEffect transition="in" filter="wipe(up)">
                                      <p:cBhvr>
                                        <p:cTn id="11" dur="500"/>
                                        <p:tgtEl>
                                          <p:spTgt spid="515076">
                                            <p:txEl>
                                              <p:pRg st="1" end="1"/>
                                            </p:txEl>
                                          </p:spTgt>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515076">
                                            <p:txEl>
                                              <p:pRg st="2" end="2"/>
                                            </p:txEl>
                                          </p:spTgt>
                                        </p:tgtEl>
                                        <p:attrNameLst>
                                          <p:attrName>style.visibility</p:attrName>
                                        </p:attrNameLst>
                                      </p:cBhvr>
                                      <p:to>
                                        <p:strVal val="visible"/>
                                      </p:to>
                                    </p:set>
                                    <p:animEffect transition="in" filter="wipe(up)">
                                      <p:cBhvr>
                                        <p:cTn id="15" dur="500"/>
                                        <p:tgtEl>
                                          <p:spTgt spid="515076">
                                            <p:txEl>
                                              <p:pRg st="2" end="2"/>
                                            </p:txEl>
                                          </p:spTgt>
                                        </p:tgtEl>
                                      </p:cBhvr>
                                    </p:animEffect>
                                  </p:childTnLst>
                                </p:cTn>
                              </p:par>
                            </p:childTnLst>
                          </p:cTn>
                        </p:par>
                        <p:par>
                          <p:cTn id="16" fill="hold" nodeType="afterGroup">
                            <p:stCondLst>
                              <p:cond delay="2000"/>
                            </p:stCondLst>
                            <p:childTnLst>
                              <p:par>
                                <p:cTn id="17" presetID="22" presetClass="entr" presetSubtype="1" fill="hold" nodeType="afterEffect">
                                  <p:stCondLst>
                                    <p:cond delay="0"/>
                                  </p:stCondLst>
                                  <p:childTnLst>
                                    <p:set>
                                      <p:cBhvr>
                                        <p:cTn id="18" dur="1" fill="hold">
                                          <p:stCondLst>
                                            <p:cond delay="0"/>
                                          </p:stCondLst>
                                        </p:cTn>
                                        <p:tgtEl>
                                          <p:spTgt spid="515076">
                                            <p:txEl>
                                              <p:pRg st="3" end="3"/>
                                            </p:txEl>
                                          </p:spTgt>
                                        </p:tgtEl>
                                        <p:attrNameLst>
                                          <p:attrName>style.visibility</p:attrName>
                                        </p:attrNameLst>
                                      </p:cBhvr>
                                      <p:to>
                                        <p:strVal val="visible"/>
                                      </p:to>
                                    </p:set>
                                    <p:animEffect transition="in" filter="wipe(up)">
                                      <p:cBhvr>
                                        <p:cTn id="19" dur="500"/>
                                        <p:tgtEl>
                                          <p:spTgt spid="515076">
                                            <p:txEl>
                                              <p:pRg st="3" end="3"/>
                                            </p:txEl>
                                          </p:spTgt>
                                        </p:tgtEl>
                                      </p:cBhvr>
                                    </p:animEffect>
                                  </p:childTnLst>
                                </p:cTn>
                              </p:par>
                            </p:childTnLst>
                          </p:cTn>
                        </p:par>
                        <p:par>
                          <p:cTn id="20" fill="hold" nodeType="afterGroup">
                            <p:stCondLst>
                              <p:cond delay="2500"/>
                            </p:stCondLst>
                            <p:childTnLst>
                              <p:par>
                                <p:cTn id="21" presetID="22" presetClass="entr" presetSubtype="1" fill="hold" nodeType="afterEffect">
                                  <p:stCondLst>
                                    <p:cond delay="0"/>
                                  </p:stCondLst>
                                  <p:childTnLst>
                                    <p:set>
                                      <p:cBhvr>
                                        <p:cTn id="22" dur="1" fill="hold">
                                          <p:stCondLst>
                                            <p:cond delay="0"/>
                                          </p:stCondLst>
                                        </p:cTn>
                                        <p:tgtEl>
                                          <p:spTgt spid="515076">
                                            <p:txEl>
                                              <p:pRg st="4" end="4"/>
                                            </p:txEl>
                                          </p:spTgt>
                                        </p:tgtEl>
                                        <p:attrNameLst>
                                          <p:attrName>style.visibility</p:attrName>
                                        </p:attrNameLst>
                                      </p:cBhvr>
                                      <p:to>
                                        <p:strVal val="visible"/>
                                      </p:to>
                                    </p:set>
                                    <p:animEffect transition="in" filter="wipe(up)">
                                      <p:cBhvr>
                                        <p:cTn id="23" dur="500"/>
                                        <p:tgtEl>
                                          <p:spTgt spid="515076">
                                            <p:txEl>
                                              <p:pRg st="4" end="4"/>
                                            </p:txEl>
                                          </p:spTgt>
                                        </p:tgtEl>
                                      </p:cBhvr>
                                    </p:animEffect>
                                  </p:childTnLst>
                                </p:cTn>
                              </p:par>
                            </p:childTnLst>
                          </p:cTn>
                        </p:par>
                        <p:par>
                          <p:cTn id="24" fill="hold" nodeType="afterGroup">
                            <p:stCondLst>
                              <p:cond delay="3000"/>
                            </p:stCondLst>
                            <p:childTnLst>
                              <p:par>
                                <p:cTn id="25" presetID="22" presetClass="entr" presetSubtype="1" fill="hold" nodeType="afterEffect">
                                  <p:stCondLst>
                                    <p:cond delay="0"/>
                                  </p:stCondLst>
                                  <p:childTnLst>
                                    <p:set>
                                      <p:cBhvr>
                                        <p:cTn id="26" dur="1" fill="hold">
                                          <p:stCondLst>
                                            <p:cond delay="0"/>
                                          </p:stCondLst>
                                        </p:cTn>
                                        <p:tgtEl>
                                          <p:spTgt spid="515076">
                                            <p:txEl>
                                              <p:pRg st="5" end="5"/>
                                            </p:txEl>
                                          </p:spTgt>
                                        </p:tgtEl>
                                        <p:attrNameLst>
                                          <p:attrName>style.visibility</p:attrName>
                                        </p:attrNameLst>
                                      </p:cBhvr>
                                      <p:to>
                                        <p:strVal val="visible"/>
                                      </p:to>
                                    </p:set>
                                    <p:animEffect transition="in" filter="wipe(up)">
                                      <p:cBhvr>
                                        <p:cTn id="27" dur="500"/>
                                        <p:tgtEl>
                                          <p:spTgt spid="515076">
                                            <p:txEl>
                                              <p:pRg st="5" end="5"/>
                                            </p:txEl>
                                          </p:spTgt>
                                        </p:tgtEl>
                                      </p:cBhvr>
                                    </p:animEffect>
                                  </p:childTnLst>
                                </p:cTn>
                              </p:par>
                            </p:childTnLst>
                          </p:cTn>
                        </p:par>
                        <p:par>
                          <p:cTn id="28" fill="hold" nodeType="afterGroup">
                            <p:stCondLst>
                              <p:cond delay="3500"/>
                            </p:stCondLst>
                            <p:childTnLst>
                              <p:par>
                                <p:cTn id="29" presetID="22" presetClass="entr" presetSubtype="1" fill="hold" nodeType="afterEffect">
                                  <p:stCondLst>
                                    <p:cond delay="0"/>
                                  </p:stCondLst>
                                  <p:childTnLst>
                                    <p:set>
                                      <p:cBhvr>
                                        <p:cTn id="30" dur="1" fill="hold">
                                          <p:stCondLst>
                                            <p:cond delay="0"/>
                                          </p:stCondLst>
                                        </p:cTn>
                                        <p:tgtEl>
                                          <p:spTgt spid="515076">
                                            <p:txEl>
                                              <p:pRg st="6" end="6"/>
                                            </p:txEl>
                                          </p:spTgt>
                                        </p:tgtEl>
                                        <p:attrNameLst>
                                          <p:attrName>style.visibility</p:attrName>
                                        </p:attrNameLst>
                                      </p:cBhvr>
                                      <p:to>
                                        <p:strVal val="visible"/>
                                      </p:to>
                                    </p:set>
                                    <p:animEffect transition="in" filter="wipe(up)">
                                      <p:cBhvr>
                                        <p:cTn id="31" dur="500"/>
                                        <p:tgtEl>
                                          <p:spTgt spid="515076">
                                            <p:txEl>
                                              <p:pRg st="6" end="6"/>
                                            </p:txEl>
                                          </p:spTgt>
                                        </p:tgtEl>
                                      </p:cBhvr>
                                    </p:animEffect>
                                  </p:childTnLst>
                                </p:cTn>
                              </p:par>
                            </p:childTnLst>
                          </p:cTn>
                        </p:par>
                        <p:par>
                          <p:cTn id="32" fill="hold" nodeType="afterGroup">
                            <p:stCondLst>
                              <p:cond delay="4000"/>
                            </p:stCondLst>
                            <p:childTnLst>
                              <p:par>
                                <p:cTn id="33" presetID="22" presetClass="entr" presetSubtype="1" fill="hold" nodeType="afterEffect">
                                  <p:stCondLst>
                                    <p:cond delay="0"/>
                                  </p:stCondLst>
                                  <p:childTnLst>
                                    <p:set>
                                      <p:cBhvr>
                                        <p:cTn id="34" dur="1" fill="hold">
                                          <p:stCondLst>
                                            <p:cond delay="0"/>
                                          </p:stCondLst>
                                        </p:cTn>
                                        <p:tgtEl>
                                          <p:spTgt spid="515076">
                                            <p:txEl>
                                              <p:pRg st="7" end="7"/>
                                            </p:txEl>
                                          </p:spTgt>
                                        </p:tgtEl>
                                        <p:attrNameLst>
                                          <p:attrName>style.visibility</p:attrName>
                                        </p:attrNameLst>
                                      </p:cBhvr>
                                      <p:to>
                                        <p:strVal val="visible"/>
                                      </p:to>
                                    </p:set>
                                    <p:animEffect transition="in" filter="wipe(up)">
                                      <p:cBhvr>
                                        <p:cTn id="35" dur="500"/>
                                        <p:tgtEl>
                                          <p:spTgt spid="515076">
                                            <p:txEl>
                                              <p:pRg st="7" end="7"/>
                                            </p:txEl>
                                          </p:spTgt>
                                        </p:tgtEl>
                                      </p:cBhvr>
                                    </p:animEffect>
                                  </p:childTnLst>
                                </p:cTn>
                              </p:par>
                            </p:childTnLst>
                          </p:cTn>
                        </p:par>
                        <p:par>
                          <p:cTn id="36" fill="hold" nodeType="afterGroup">
                            <p:stCondLst>
                              <p:cond delay="4500"/>
                            </p:stCondLst>
                            <p:childTnLst>
                              <p:par>
                                <p:cTn id="37" presetID="22" presetClass="entr" presetSubtype="1" fill="hold" nodeType="afterEffect">
                                  <p:stCondLst>
                                    <p:cond delay="0"/>
                                  </p:stCondLst>
                                  <p:childTnLst>
                                    <p:set>
                                      <p:cBhvr>
                                        <p:cTn id="38" dur="1" fill="hold">
                                          <p:stCondLst>
                                            <p:cond delay="0"/>
                                          </p:stCondLst>
                                        </p:cTn>
                                        <p:tgtEl>
                                          <p:spTgt spid="515076">
                                            <p:txEl>
                                              <p:pRg st="8" end="8"/>
                                            </p:txEl>
                                          </p:spTgt>
                                        </p:tgtEl>
                                        <p:attrNameLst>
                                          <p:attrName>style.visibility</p:attrName>
                                        </p:attrNameLst>
                                      </p:cBhvr>
                                      <p:to>
                                        <p:strVal val="visible"/>
                                      </p:to>
                                    </p:set>
                                    <p:animEffect transition="in" filter="wipe(up)">
                                      <p:cBhvr>
                                        <p:cTn id="39" dur="500"/>
                                        <p:tgtEl>
                                          <p:spTgt spid="51507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8" name="Rectangle 4">
            <a:extLst>
              <a:ext uri="{FF2B5EF4-FFF2-40B4-BE49-F238E27FC236}">
                <a16:creationId xmlns:a16="http://schemas.microsoft.com/office/drawing/2014/main" id="{CDD4D1C7-0B71-40F1-A959-0EF77CD62599}"/>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4</a:t>
            </a:r>
            <a:r>
              <a:rPr lang="zh-CN" altLang="en-US" sz="3000">
                <a:solidFill>
                  <a:srgbClr val="660033"/>
                </a:solidFill>
                <a:ea typeface="华文新魏" panose="02010800040101010101" pitchFamily="2" charset="-122"/>
              </a:rPr>
              <a:t>、关闭与删除游标</a:t>
            </a:r>
            <a:r>
              <a:rPr lang="zh-CN" altLang="en-US"/>
              <a:t> </a:t>
            </a:r>
            <a:endParaRPr lang="zh-CN" altLang="en-US" sz="3000">
              <a:solidFill>
                <a:srgbClr val="660033"/>
              </a:solidFill>
              <a:ea typeface="华文新魏" panose="02010800040101010101" pitchFamily="2" charset="-122"/>
            </a:endParaRPr>
          </a:p>
          <a:p>
            <a:pPr>
              <a:buFont typeface="Wingdings" panose="05000000000000000000" pitchFamily="2" charset="2"/>
              <a:buNone/>
            </a:pPr>
            <a:r>
              <a:rPr lang="zh-CN" altLang="en-US" sz="2600">
                <a:solidFill>
                  <a:srgbClr val="003366"/>
                </a:solidFill>
                <a:effectLst/>
                <a:ea typeface="黑体" panose="02010609060101010101" pitchFamily="49" charset="-122"/>
              </a:rPr>
              <a:t>          </a:t>
            </a:r>
            <a:r>
              <a:rPr lang="en-US" altLang="zh-CN" sz="2700" b="0">
                <a:solidFill>
                  <a:srgbClr val="003366"/>
                </a:solidFill>
                <a:effectLst/>
                <a:latin typeface="黑体" panose="02010609060101010101" pitchFamily="49" charset="-122"/>
                <a:ea typeface="黑体" panose="02010609060101010101" pitchFamily="49" charset="-122"/>
              </a:rPr>
              <a:t>1</a:t>
            </a:r>
            <a:r>
              <a:rPr lang="zh-CN" altLang="en-US" sz="2700" b="0">
                <a:solidFill>
                  <a:srgbClr val="003366"/>
                </a:solidFill>
                <a:effectLst/>
                <a:latin typeface="黑体" panose="02010609060101010101" pitchFamily="49" charset="-122"/>
                <a:ea typeface="黑体" panose="02010609060101010101" pitchFamily="49" charset="-122"/>
              </a:rPr>
              <a:t>）关闭游标</a:t>
            </a:r>
          </a:p>
          <a:p>
            <a:pPr>
              <a:buFont typeface="Wingdings" panose="05000000000000000000" pitchFamily="2" charset="2"/>
              <a:buNone/>
            </a:pPr>
            <a:r>
              <a:rPr lang="zh-CN" altLang="en-US" sz="2700" b="0">
                <a:effectLst/>
                <a:latin typeface="黑体" panose="02010609060101010101" pitchFamily="49" charset="-122"/>
                <a:ea typeface="黑体" panose="02010609060101010101" pitchFamily="49" charset="-122"/>
              </a:rPr>
              <a:t>     </a:t>
            </a:r>
            <a:r>
              <a:rPr lang="zh-CN" altLang="en-US" sz="2700" b="0">
                <a:solidFill>
                  <a:srgbClr val="006666"/>
                </a:solidFill>
                <a:effectLst/>
                <a:latin typeface="黑体" panose="02010609060101010101" pitchFamily="49" charset="-122"/>
                <a:ea typeface="黑体" panose="02010609060101010101" pitchFamily="49" charset="-122"/>
              </a:rPr>
              <a:t>游标使用完后应及时关闭。</a:t>
            </a:r>
          </a:p>
          <a:p>
            <a:pPr>
              <a:spcBef>
                <a:spcPct val="60000"/>
              </a:spcBef>
              <a:buFont typeface="Wingdings" panose="05000000000000000000" pitchFamily="2" charset="2"/>
              <a:buNone/>
            </a:pPr>
            <a:r>
              <a:rPr lang="zh-CN" altLang="en-US" sz="2700" b="0">
                <a:effectLst/>
                <a:latin typeface="黑体" panose="02010609060101010101" pitchFamily="49" charset="-122"/>
                <a:ea typeface="黑体" panose="02010609060101010101" pitchFamily="49" charset="-122"/>
              </a:rPr>
              <a:t>     </a:t>
            </a:r>
            <a:r>
              <a:rPr lang="en-US" altLang="zh-CN" sz="2700" b="0">
                <a:effectLst/>
                <a:latin typeface="黑体" panose="02010609060101010101" pitchFamily="49" charset="-122"/>
                <a:ea typeface="黑体" panose="02010609060101010101" pitchFamily="49" charset="-122"/>
              </a:rPr>
              <a:t>CLOSE {{[GLOBAL] &lt;</a:t>
            </a:r>
            <a:r>
              <a:rPr lang="zh-CN" altLang="en-US" sz="2700" b="0">
                <a:effectLst/>
                <a:latin typeface="黑体" panose="02010609060101010101" pitchFamily="49" charset="-122"/>
                <a:ea typeface="黑体" panose="02010609060101010101" pitchFamily="49" charset="-122"/>
              </a:rPr>
              <a:t>游标名</a:t>
            </a:r>
            <a:r>
              <a:rPr lang="en-US" altLang="zh-CN" sz="2700" b="0">
                <a:effectLst/>
                <a:latin typeface="黑体" panose="02010609060101010101" pitchFamily="49" charset="-122"/>
                <a:ea typeface="黑体" panose="02010609060101010101" pitchFamily="49" charset="-122"/>
              </a:rPr>
              <a:t>&gt;}|&lt;@</a:t>
            </a:r>
            <a:r>
              <a:rPr lang="zh-CN" altLang="en-US" sz="2700" b="0">
                <a:effectLst/>
                <a:latin typeface="黑体" panose="02010609060101010101" pitchFamily="49" charset="-122"/>
                <a:ea typeface="黑体" panose="02010609060101010101" pitchFamily="49" charset="-122"/>
              </a:rPr>
              <a:t>游标变量名</a:t>
            </a:r>
            <a:r>
              <a:rPr lang="en-US" altLang="zh-CN" sz="2700" b="0">
                <a:effectLst/>
                <a:latin typeface="黑体" panose="02010609060101010101" pitchFamily="49" charset="-122"/>
                <a:ea typeface="黑体" panose="02010609060101010101" pitchFamily="49" charset="-122"/>
              </a:rPr>
              <a:t>&gt;}</a:t>
            </a:r>
          </a:p>
          <a:p>
            <a:pPr>
              <a:buFont typeface="Wingdings" panose="05000000000000000000" pitchFamily="2" charset="2"/>
              <a:buNone/>
            </a:pPr>
            <a:endParaRPr lang="en-US" altLang="zh-CN" sz="2700" b="0">
              <a:effectLst/>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700" b="0">
                <a:effectLst/>
                <a:latin typeface="黑体" panose="02010609060101010101" pitchFamily="49" charset="-122"/>
                <a:ea typeface="黑体" panose="02010609060101010101" pitchFamily="49" charset="-122"/>
              </a:rPr>
              <a:t>  </a:t>
            </a:r>
            <a:r>
              <a:rPr lang="zh-CN" altLang="en-US" sz="2700" b="0">
                <a:solidFill>
                  <a:schemeClr val="hlink"/>
                </a:solidFill>
                <a:effectLst/>
                <a:latin typeface="黑体" panose="02010609060101010101" pitchFamily="49" charset="-122"/>
                <a:ea typeface="黑体" panose="02010609060101010101" pitchFamily="49" charset="-122"/>
              </a:rPr>
              <a:t>注意：</a:t>
            </a:r>
            <a:r>
              <a:rPr lang="zh-CN" altLang="en-US" sz="2700" b="0">
                <a:effectLst/>
                <a:latin typeface="黑体" panose="02010609060101010101" pitchFamily="49" charset="-122"/>
                <a:ea typeface="黑体" panose="02010609060101010101" pitchFamily="49" charset="-122"/>
              </a:rPr>
              <a:t>游标关闭后，仍然占用着系统资源。 </a:t>
            </a:r>
          </a:p>
        </p:txBody>
      </p:sp>
      <p:sp>
        <p:nvSpPr>
          <p:cNvPr id="518149" name="Rectangle 5">
            <a:extLst>
              <a:ext uri="{FF2B5EF4-FFF2-40B4-BE49-F238E27FC236}">
                <a16:creationId xmlns:a16="http://schemas.microsoft.com/office/drawing/2014/main" id="{558BF967-CC93-4134-BCDA-F43242D1071A}"/>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14227"/>
    </mc:Choice>
    <mc:Fallback xmlns="">
      <p:transition spd="slow" advTm="1422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8148">
                                            <p:txEl>
                                              <p:pRg st="0" end="0"/>
                                            </p:txEl>
                                          </p:spTgt>
                                        </p:tgtEl>
                                        <p:attrNameLst>
                                          <p:attrName>style.visibility</p:attrName>
                                        </p:attrNameLst>
                                      </p:cBhvr>
                                      <p:to>
                                        <p:strVal val="visible"/>
                                      </p:to>
                                    </p:set>
                                    <p:animEffect transition="in" filter="wipe(left)">
                                      <p:cBhvr>
                                        <p:cTn id="7" dur="1000"/>
                                        <p:tgtEl>
                                          <p:spTgt spid="518148">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18148">
                                            <p:txEl>
                                              <p:pRg st="1" end="1"/>
                                            </p:txEl>
                                          </p:spTgt>
                                        </p:tgtEl>
                                        <p:attrNameLst>
                                          <p:attrName>style.visibility</p:attrName>
                                        </p:attrNameLst>
                                      </p:cBhvr>
                                      <p:to>
                                        <p:strVal val="visible"/>
                                      </p:to>
                                    </p:set>
                                    <p:animEffect transition="in" filter="wipe(up)">
                                      <p:cBhvr>
                                        <p:cTn id="11" dur="1000"/>
                                        <p:tgtEl>
                                          <p:spTgt spid="518148">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18148">
                                            <p:txEl>
                                              <p:pRg st="2" end="2"/>
                                            </p:txEl>
                                          </p:spTgt>
                                        </p:tgtEl>
                                        <p:attrNameLst>
                                          <p:attrName>style.visibility</p:attrName>
                                        </p:attrNameLst>
                                      </p:cBhvr>
                                      <p:to>
                                        <p:strVal val="visible"/>
                                      </p:to>
                                    </p:set>
                                    <p:animEffect transition="in" filter="wipe(up)">
                                      <p:cBhvr>
                                        <p:cTn id="15" dur="1000"/>
                                        <p:tgtEl>
                                          <p:spTgt spid="518148">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518148">
                                            <p:txEl>
                                              <p:pRg st="3" end="3"/>
                                            </p:txEl>
                                          </p:spTgt>
                                        </p:tgtEl>
                                        <p:attrNameLst>
                                          <p:attrName>style.visibility</p:attrName>
                                        </p:attrNameLst>
                                      </p:cBhvr>
                                      <p:to>
                                        <p:strVal val="visible"/>
                                      </p:to>
                                    </p:set>
                                    <p:animEffect transition="in" filter="wipe(up)">
                                      <p:cBhvr>
                                        <p:cTn id="19" dur="1000"/>
                                        <p:tgtEl>
                                          <p:spTgt spid="518148">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518148">
                                            <p:txEl>
                                              <p:pRg st="5" end="5"/>
                                            </p:txEl>
                                          </p:spTgt>
                                        </p:tgtEl>
                                        <p:attrNameLst>
                                          <p:attrName>style.visibility</p:attrName>
                                        </p:attrNameLst>
                                      </p:cBhvr>
                                      <p:to>
                                        <p:strVal val="visible"/>
                                      </p:to>
                                    </p:set>
                                    <p:animEffect transition="in" filter="wipe(up)">
                                      <p:cBhvr>
                                        <p:cTn id="23" dur="1000"/>
                                        <p:tgtEl>
                                          <p:spTgt spid="5181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100" name="Rectangle 4">
            <a:extLst>
              <a:ext uri="{FF2B5EF4-FFF2-40B4-BE49-F238E27FC236}">
                <a16:creationId xmlns:a16="http://schemas.microsoft.com/office/drawing/2014/main" id="{585692A7-F1BF-48DB-920F-58D6C0701E80}"/>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4</a:t>
            </a:r>
            <a:r>
              <a:rPr lang="zh-CN" altLang="en-US" sz="3000">
                <a:solidFill>
                  <a:srgbClr val="660033"/>
                </a:solidFill>
                <a:ea typeface="华文新魏" panose="02010800040101010101" pitchFamily="2" charset="-122"/>
              </a:rPr>
              <a:t>、关闭与删除游标</a:t>
            </a:r>
            <a:r>
              <a:rPr lang="zh-CN" altLang="en-US"/>
              <a:t> </a:t>
            </a:r>
            <a:endParaRPr lang="zh-CN" altLang="en-US" sz="3000">
              <a:solidFill>
                <a:srgbClr val="660033"/>
              </a:solidFill>
              <a:ea typeface="华文新魏" panose="02010800040101010101" pitchFamily="2" charset="-122"/>
            </a:endParaRPr>
          </a:p>
          <a:p>
            <a:pPr>
              <a:buFont typeface="Wingdings" panose="05000000000000000000" pitchFamily="2" charset="2"/>
              <a:buNone/>
            </a:pPr>
            <a:r>
              <a:rPr lang="zh-CN" altLang="en-US" sz="2600">
                <a:solidFill>
                  <a:srgbClr val="003366"/>
                </a:solidFill>
                <a:effectLst/>
                <a:ea typeface="黑体" panose="02010609060101010101" pitchFamily="49" charset="-122"/>
              </a:rPr>
              <a:t>          </a:t>
            </a:r>
            <a:r>
              <a:rPr lang="en-US" altLang="zh-CN" sz="2700" b="0">
                <a:solidFill>
                  <a:srgbClr val="003366"/>
                </a:solidFill>
                <a:effectLst/>
                <a:latin typeface="黑体" panose="02010609060101010101" pitchFamily="49" charset="-122"/>
                <a:ea typeface="黑体" panose="02010609060101010101" pitchFamily="49" charset="-122"/>
              </a:rPr>
              <a:t>2</a:t>
            </a:r>
            <a:r>
              <a:rPr lang="zh-CN" altLang="en-US" sz="2700" b="0">
                <a:solidFill>
                  <a:srgbClr val="003366"/>
                </a:solidFill>
                <a:effectLst/>
                <a:latin typeface="黑体" panose="02010609060101010101" pitchFamily="49" charset="-122"/>
                <a:ea typeface="黑体" panose="02010609060101010101" pitchFamily="49" charset="-122"/>
              </a:rPr>
              <a:t>）删除游标</a:t>
            </a:r>
          </a:p>
          <a:p>
            <a:pPr>
              <a:buFont typeface="Wingdings" panose="05000000000000000000" pitchFamily="2" charset="2"/>
              <a:buNone/>
            </a:pPr>
            <a:r>
              <a:rPr lang="zh-CN" altLang="en-US" sz="2700" b="0">
                <a:effectLst/>
                <a:latin typeface="黑体" panose="02010609060101010101" pitchFamily="49" charset="-122"/>
                <a:ea typeface="黑体" panose="02010609060101010101" pitchFamily="49" charset="-122"/>
              </a:rPr>
              <a:t>     </a:t>
            </a:r>
            <a:r>
              <a:rPr lang="zh-CN" altLang="en-US" sz="2700" b="0">
                <a:solidFill>
                  <a:srgbClr val="006666"/>
                </a:solidFill>
                <a:effectLst/>
                <a:latin typeface="黑体" panose="02010609060101010101" pitchFamily="49" charset="-122"/>
                <a:ea typeface="黑体" panose="02010609060101010101" pitchFamily="49" charset="-122"/>
              </a:rPr>
              <a:t>删除游标后，即可释放该游标占用的系统资源。</a:t>
            </a:r>
          </a:p>
          <a:p>
            <a:pPr>
              <a:spcBef>
                <a:spcPct val="60000"/>
              </a:spcBef>
              <a:buFont typeface="Wingdings" panose="05000000000000000000" pitchFamily="2" charset="2"/>
              <a:buNone/>
            </a:pPr>
            <a:r>
              <a:rPr lang="zh-CN" altLang="en-US" sz="2700" b="0">
                <a:effectLst/>
                <a:latin typeface="黑体" panose="02010609060101010101" pitchFamily="49" charset="-122"/>
                <a:ea typeface="黑体" panose="02010609060101010101" pitchFamily="49" charset="-122"/>
              </a:rPr>
              <a:t>  </a:t>
            </a:r>
            <a:r>
              <a:rPr lang="en-US" altLang="zh-CN" sz="2700" b="0">
                <a:effectLst/>
                <a:latin typeface="黑体" panose="02010609060101010101" pitchFamily="49" charset="-122"/>
                <a:ea typeface="黑体" panose="02010609060101010101" pitchFamily="49" charset="-122"/>
              </a:rPr>
              <a:t>DEALLOCATE {{[GLOBAL] &lt;</a:t>
            </a:r>
            <a:r>
              <a:rPr lang="zh-CN" altLang="en-US" sz="2700" b="0">
                <a:effectLst/>
                <a:latin typeface="黑体" panose="02010609060101010101" pitchFamily="49" charset="-122"/>
                <a:ea typeface="黑体" panose="02010609060101010101" pitchFamily="49" charset="-122"/>
              </a:rPr>
              <a:t>游标名</a:t>
            </a:r>
            <a:r>
              <a:rPr lang="en-US" altLang="zh-CN" sz="2700" b="0">
                <a:effectLst/>
                <a:latin typeface="黑体" panose="02010609060101010101" pitchFamily="49" charset="-122"/>
                <a:ea typeface="黑体" panose="02010609060101010101" pitchFamily="49" charset="-122"/>
              </a:rPr>
              <a:t>&gt;}|&lt;@</a:t>
            </a:r>
            <a:r>
              <a:rPr lang="zh-CN" altLang="en-US" sz="2700" b="0">
                <a:effectLst/>
                <a:latin typeface="黑体" panose="02010609060101010101" pitchFamily="49" charset="-122"/>
                <a:ea typeface="黑体" panose="02010609060101010101" pitchFamily="49" charset="-122"/>
              </a:rPr>
              <a:t>游标变量名</a:t>
            </a:r>
            <a:r>
              <a:rPr lang="en-US" altLang="zh-CN" sz="2700" b="0">
                <a:effectLst/>
                <a:latin typeface="黑体" panose="02010609060101010101" pitchFamily="49" charset="-122"/>
                <a:ea typeface="黑体" panose="02010609060101010101" pitchFamily="49" charset="-122"/>
              </a:rPr>
              <a:t>&gt;} </a:t>
            </a:r>
          </a:p>
          <a:p>
            <a:pPr>
              <a:buFont typeface="Wingdings" panose="05000000000000000000" pitchFamily="2" charset="2"/>
              <a:buNone/>
            </a:pPr>
            <a:endParaRPr lang="en-US" altLang="zh-CN" sz="2700" b="0">
              <a:effectLst/>
              <a:latin typeface="黑体" panose="02010609060101010101" pitchFamily="49" charset="-122"/>
              <a:ea typeface="黑体" panose="02010609060101010101" pitchFamily="49" charset="-122"/>
            </a:endParaRPr>
          </a:p>
        </p:txBody>
      </p:sp>
      <p:sp>
        <p:nvSpPr>
          <p:cNvPr id="516101" name="Rectangle 5">
            <a:extLst>
              <a:ext uri="{FF2B5EF4-FFF2-40B4-BE49-F238E27FC236}">
                <a16:creationId xmlns:a16="http://schemas.microsoft.com/office/drawing/2014/main" id="{DD97EBEE-A413-4716-9F09-94F9A6E4290E}"/>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Tree>
  </p:cSld>
  <p:clrMapOvr>
    <a:masterClrMapping/>
  </p:clrMapOvr>
  <mc:AlternateContent xmlns:mc="http://schemas.openxmlformats.org/markup-compatibility/2006" xmlns:p14="http://schemas.microsoft.com/office/powerpoint/2010/main">
    <mc:Choice Requires="p14">
      <p:transition spd="slow" p14:dur="2000" advTm="19779"/>
    </mc:Choice>
    <mc:Fallback xmlns="">
      <p:transition spd="slow" advTm="1977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16100">
                                            <p:txEl>
                                              <p:pRg st="1" end="1"/>
                                            </p:txEl>
                                          </p:spTgt>
                                        </p:tgtEl>
                                        <p:attrNameLst>
                                          <p:attrName>style.visibility</p:attrName>
                                        </p:attrNameLst>
                                      </p:cBhvr>
                                      <p:to>
                                        <p:strVal val="visible"/>
                                      </p:to>
                                    </p:set>
                                    <p:animEffect transition="in" filter="wipe(up)">
                                      <p:cBhvr>
                                        <p:cTn id="7" dur="1000"/>
                                        <p:tgtEl>
                                          <p:spTgt spid="516100">
                                            <p:txEl>
                                              <p:pRg st="1" end="1"/>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16100">
                                            <p:txEl>
                                              <p:pRg st="2" end="2"/>
                                            </p:txEl>
                                          </p:spTgt>
                                        </p:tgtEl>
                                        <p:attrNameLst>
                                          <p:attrName>style.visibility</p:attrName>
                                        </p:attrNameLst>
                                      </p:cBhvr>
                                      <p:to>
                                        <p:strVal val="visible"/>
                                      </p:to>
                                    </p:set>
                                    <p:animEffect transition="in" filter="wipe(up)">
                                      <p:cBhvr>
                                        <p:cTn id="11" dur="1000"/>
                                        <p:tgtEl>
                                          <p:spTgt spid="516100">
                                            <p:txEl>
                                              <p:pRg st="2" end="2"/>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516100">
                                            <p:txEl>
                                              <p:pRg st="3" end="3"/>
                                            </p:txEl>
                                          </p:spTgt>
                                        </p:tgtEl>
                                        <p:attrNameLst>
                                          <p:attrName>style.visibility</p:attrName>
                                        </p:attrNameLst>
                                      </p:cBhvr>
                                      <p:to>
                                        <p:strVal val="visible"/>
                                      </p:to>
                                    </p:set>
                                    <p:animEffect transition="in" filter="wipe(up)">
                                      <p:cBhvr>
                                        <p:cTn id="15" dur="1000"/>
                                        <p:tgtEl>
                                          <p:spTgt spid="516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4" name="Rectangle 4">
            <a:extLst>
              <a:ext uri="{FF2B5EF4-FFF2-40B4-BE49-F238E27FC236}">
                <a16:creationId xmlns:a16="http://schemas.microsoft.com/office/drawing/2014/main" id="{7BF8EC50-8C3F-477D-BFBA-A303E17462A3}"/>
              </a:ext>
            </a:extLst>
          </p:cNvPr>
          <p:cNvSpPr>
            <a:spLocks noChangeArrowheads="1"/>
          </p:cNvSpPr>
          <p:nvPr/>
        </p:nvSpPr>
        <p:spPr bwMode="auto">
          <a:xfrm>
            <a:off x="468313" y="1185863"/>
            <a:ext cx="8447087"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r>
              <a:rPr lang="en-US" altLang="zh-CN" sz="3000">
                <a:solidFill>
                  <a:srgbClr val="660033"/>
                </a:solidFill>
                <a:ea typeface="华文新魏" panose="02010800040101010101" pitchFamily="2" charset="-122"/>
              </a:rPr>
              <a:t>   </a:t>
            </a:r>
            <a:r>
              <a:rPr lang="zh-CN" altLang="zh-CN" sz="3000">
                <a:solidFill>
                  <a:srgbClr val="660033"/>
                </a:solidFill>
                <a:ea typeface="华文新魏" panose="02010800040101010101" pitchFamily="2" charset="-122"/>
              </a:rPr>
              <a:t>例</a:t>
            </a:r>
            <a:r>
              <a:rPr lang="en-US" altLang="zh-CN" sz="3000">
                <a:solidFill>
                  <a:srgbClr val="660033"/>
                </a:solidFill>
                <a:ea typeface="华文新魏" panose="02010800040101010101" pitchFamily="2" charset="-122"/>
              </a:rPr>
              <a:t>5.55</a:t>
            </a:r>
            <a:r>
              <a:rPr lang="zh-CN" altLang="en-US" sz="3000">
                <a:solidFill>
                  <a:srgbClr val="660033"/>
                </a:solidFill>
                <a:ea typeface="华文新魏" panose="02010800040101010101" pitchFamily="2" charset="-122"/>
              </a:rPr>
              <a:t>：</a:t>
            </a:r>
            <a:r>
              <a:rPr lang="zh-CN" altLang="en-US"/>
              <a:t>假设专业表</a:t>
            </a:r>
            <a:r>
              <a:rPr lang="en-US" altLang="zh-CN"/>
              <a:t>SS</a:t>
            </a:r>
            <a:r>
              <a:rPr lang="zh-CN" altLang="en-US"/>
              <a:t>中的当前值如表</a:t>
            </a:r>
            <a:r>
              <a:rPr lang="en-US" altLang="zh-CN"/>
              <a:t>5.10</a:t>
            </a:r>
            <a:r>
              <a:rPr lang="zh-CN" altLang="en-US"/>
              <a:t>所示。</a:t>
            </a:r>
          </a:p>
          <a:p>
            <a:pPr>
              <a:buFont typeface="Wingdings" panose="05000000000000000000" pitchFamily="2" charset="2"/>
              <a:buNone/>
            </a:pPr>
            <a:r>
              <a:rPr lang="zh-CN" altLang="en-US"/>
              <a:t>              表</a:t>
            </a:r>
            <a:r>
              <a:rPr lang="en-US" altLang="zh-CN"/>
              <a:t>5.10  </a:t>
            </a:r>
            <a:r>
              <a:rPr lang="zh-CN" altLang="en-US"/>
              <a:t>专业表</a:t>
            </a:r>
            <a:r>
              <a:rPr lang="en-US" altLang="zh-CN"/>
              <a:t>SS</a:t>
            </a:r>
            <a:r>
              <a:rPr lang="zh-CN" altLang="en-US"/>
              <a:t>的当前值</a:t>
            </a:r>
          </a:p>
          <a:p>
            <a:pPr>
              <a:buFont typeface="Wingdings" panose="05000000000000000000" pitchFamily="2" charset="2"/>
              <a:buNone/>
            </a:pPr>
            <a:r>
              <a:rPr lang="zh-CN" altLang="en-US"/>
              <a:t>             </a:t>
            </a:r>
            <a:r>
              <a:rPr lang="en-US" altLang="zh-CN">
                <a:solidFill>
                  <a:srgbClr val="660033"/>
                </a:solidFill>
              </a:rPr>
              <a:t>SCODE#        SSNAME</a:t>
            </a:r>
          </a:p>
          <a:p>
            <a:pPr>
              <a:buFont typeface="Wingdings" panose="05000000000000000000" pitchFamily="2" charset="2"/>
              <a:buNone/>
            </a:pPr>
            <a:r>
              <a:rPr lang="en-US" altLang="zh-CN"/>
              <a:t>             S0401            </a:t>
            </a:r>
            <a:r>
              <a:rPr lang="zh-CN" altLang="en-US"/>
              <a:t>计算机科学与技术</a:t>
            </a:r>
          </a:p>
          <a:p>
            <a:pPr>
              <a:buFont typeface="Wingdings" panose="05000000000000000000" pitchFamily="2" charset="2"/>
              <a:buNone/>
            </a:pPr>
            <a:r>
              <a:rPr lang="zh-CN" altLang="en-US"/>
              <a:t>             </a:t>
            </a:r>
            <a:r>
              <a:rPr lang="en-US" altLang="zh-CN"/>
              <a:t>S0402            </a:t>
            </a:r>
            <a:r>
              <a:rPr lang="zh-CN" altLang="en-US"/>
              <a:t>指挥自动化</a:t>
            </a:r>
          </a:p>
          <a:p>
            <a:pPr>
              <a:buFont typeface="Wingdings" panose="05000000000000000000" pitchFamily="2" charset="2"/>
              <a:buNone/>
            </a:pPr>
            <a:r>
              <a:rPr lang="zh-CN" altLang="en-US"/>
              <a:t>             </a:t>
            </a:r>
            <a:r>
              <a:rPr lang="en-US" altLang="zh-CN"/>
              <a:t>S0403            </a:t>
            </a:r>
            <a:r>
              <a:rPr lang="zh-CN" altLang="en-US"/>
              <a:t>网络工程</a:t>
            </a:r>
          </a:p>
          <a:p>
            <a:pPr>
              <a:buFont typeface="Wingdings" panose="05000000000000000000" pitchFamily="2" charset="2"/>
              <a:buNone/>
            </a:pPr>
            <a:r>
              <a:rPr lang="zh-CN" altLang="en-US"/>
              <a:t>             </a:t>
            </a:r>
            <a:r>
              <a:rPr lang="en-US" altLang="zh-CN" i="1"/>
              <a:t>S0404            </a:t>
            </a:r>
            <a:r>
              <a:rPr lang="zh-CN" altLang="en-US"/>
              <a:t>信息研究与安全</a:t>
            </a:r>
          </a:p>
          <a:p>
            <a:pPr>
              <a:buFont typeface="Wingdings" panose="05000000000000000000" pitchFamily="2" charset="2"/>
              <a:buNone/>
            </a:pPr>
            <a:r>
              <a:rPr lang="zh-CN" altLang="en-US"/>
              <a:t>利用游标机制查询专业关系中的所有数据记录。 </a:t>
            </a:r>
          </a:p>
        </p:txBody>
      </p:sp>
      <p:sp>
        <p:nvSpPr>
          <p:cNvPr id="517125" name="Rectangle 5">
            <a:extLst>
              <a:ext uri="{FF2B5EF4-FFF2-40B4-BE49-F238E27FC236}">
                <a16:creationId xmlns:a16="http://schemas.microsoft.com/office/drawing/2014/main" id="{BCF2EB9A-065C-4DD2-BA1B-039AD9A7999E}"/>
              </a:ext>
            </a:extLst>
          </p:cNvPr>
          <p:cNvSpPr>
            <a:spLocks noChangeArrowheads="1"/>
          </p:cNvSpPr>
          <p:nvPr/>
        </p:nvSpPr>
        <p:spPr bwMode="auto">
          <a:xfrm>
            <a:off x="1150938" y="71438"/>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SzTx/>
              <a:buFontTx/>
              <a:buNone/>
            </a:pPr>
            <a:r>
              <a:rPr lang="zh-CN" altLang="en-US" sz="3500"/>
              <a:t>二、</a:t>
            </a:r>
            <a:r>
              <a:rPr lang="en-US" altLang="zh-CN" sz="3500"/>
              <a:t>SQL Server2005</a:t>
            </a:r>
            <a:r>
              <a:rPr lang="zh-CN" altLang="en-US" sz="3500"/>
              <a:t>的游标及其应用</a:t>
            </a:r>
          </a:p>
        </p:txBody>
      </p:sp>
      <p:sp>
        <p:nvSpPr>
          <p:cNvPr id="517126" name="Line 6">
            <a:extLst>
              <a:ext uri="{FF2B5EF4-FFF2-40B4-BE49-F238E27FC236}">
                <a16:creationId xmlns:a16="http://schemas.microsoft.com/office/drawing/2014/main" id="{19B1ACEF-F664-4A6F-BD65-B11E62A8B11A}"/>
              </a:ext>
            </a:extLst>
          </p:cNvPr>
          <p:cNvSpPr>
            <a:spLocks noChangeShapeType="1"/>
          </p:cNvSpPr>
          <p:nvPr/>
        </p:nvSpPr>
        <p:spPr bwMode="auto">
          <a:xfrm>
            <a:off x="1600200" y="2514600"/>
            <a:ext cx="594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27" name="Line 7">
            <a:extLst>
              <a:ext uri="{FF2B5EF4-FFF2-40B4-BE49-F238E27FC236}">
                <a16:creationId xmlns:a16="http://schemas.microsoft.com/office/drawing/2014/main" id="{A212B425-D581-4036-9315-54FB600FCC73}"/>
              </a:ext>
            </a:extLst>
          </p:cNvPr>
          <p:cNvSpPr>
            <a:spLocks noChangeShapeType="1"/>
          </p:cNvSpPr>
          <p:nvPr/>
        </p:nvSpPr>
        <p:spPr bwMode="auto">
          <a:xfrm>
            <a:off x="1600200" y="3048000"/>
            <a:ext cx="594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28" name="Line 8">
            <a:extLst>
              <a:ext uri="{FF2B5EF4-FFF2-40B4-BE49-F238E27FC236}">
                <a16:creationId xmlns:a16="http://schemas.microsoft.com/office/drawing/2014/main" id="{D7A12EE4-31F1-4A4A-B49C-F5A8482698D1}"/>
              </a:ext>
            </a:extLst>
          </p:cNvPr>
          <p:cNvSpPr>
            <a:spLocks noChangeShapeType="1"/>
          </p:cNvSpPr>
          <p:nvPr/>
        </p:nvSpPr>
        <p:spPr bwMode="auto">
          <a:xfrm>
            <a:off x="1600200" y="3657600"/>
            <a:ext cx="594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29" name="Line 9">
            <a:extLst>
              <a:ext uri="{FF2B5EF4-FFF2-40B4-BE49-F238E27FC236}">
                <a16:creationId xmlns:a16="http://schemas.microsoft.com/office/drawing/2014/main" id="{3751026D-639A-4170-AE6D-A07BF9048B43}"/>
              </a:ext>
            </a:extLst>
          </p:cNvPr>
          <p:cNvSpPr>
            <a:spLocks noChangeShapeType="1"/>
          </p:cNvSpPr>
          <p:nvPr/>
        </p:nvSpPr>
        <p:spPr bwMode="auto">
          <a:xfrm>
            <a:off x="1600200" y="4267200"/>
            <a:ext cx="594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30" name="Line 10">
            <a:extLst>
              <a:ext uri="{FF2B5EF4-FFF2-40B4-BE49-F238E27FC236}">
                <a16:creationId xmlns:a16="http://schemas.microsoft.com/office/drawing/2014/main" id="{333DCA24-BBDF-41F8-8B56-5AF3B85694E2}"/>
              </a:ext>
            </a:extLst>
          </p:cNvPr>
          <p:cNvSpPr>
            <a:spLocks noChangeShapeType="1"/>
          </p:cNvSpPr>
          <p:nvPr/>
        </p:nvSpPr>
        <p:spPr bwMode="auto">
          <a:xfrm>
            <a:off x="1600200" y="4854575"/>
            <a:ext cx="594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31" name="Line 11">
            <a:extLst>
              <a:ext uri="{FF2B5EF4-FFF2-40B4-BE49-F238E27FC236}">
                <a16:creationId xmlns:a16="http://schemas.microsoft.com/office/drawing/2014/main" id="{2786A422-01AE-444D-AEA5-814359474127}"/>
              </a:ext>
            </a:extLst>
          </p:cNvPr>
          <p:cNvSpPr>
            <a:spLocks noChangeShapeType="1"/>
          </p:cNvSpPr>
          <p:nvPr/>
        </p:nvSpPr>
        <p:spPr bwMode="auto">
          <a:xfrm>
            <a:off x="1600200" y="5486400"/>
            <a:ext cx="594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32" name="Line 12">
            <a:extLst>
              <a:ext uri="{FF2B5EF4-FFF2-40B4-BE49-F238E27FC236}">
                <a16:creationId xmlns:a16="http://schemas.microsoft.com/office/drawing/2014/main" id="{C3916F16-8000-42EB-B7C4-85FC113013E3}"/>
              </a:ext>
            </a:extLst>
          </p:cNvPr>
          <p:cNvSpPr>
            <a:spLocks noChangeShapeType="1"/>
          </p:cNvSpPr>
          <p:nvPr/>
        </p:nvSpPr>
        <p:spPr bwMode="auto">
          <a:xfrm>
            <a:off x="1600200" y="2514600"/>
            <a:ext cx="0" cy="297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33" name="Line 13">
            <a:extLst>
              <a:ext uri="{FF2B5EF4-FFF2-40B4-BE49-F238E27FC236}">
                <a16:creationId xmlns:a16="http://schemas.microsoft.com/office/drawing/2014/main" id="{90B53A03-2EB4-48F8-A5E2-B4BC4F893692}"/>
              </a:ext>
            </a:extLst>
          </p:cNvPr>
          <p:cNvSpPr>
            <a:spLocks noChangeShapeType="1"/>
          </p:cNvSpPr>
          <p:nvPr/>
        </p:nvSpPr>
        <p:spPr bwMode="auto">
          <a:xfrm>
            <a:off x="3886200" y="2514600"/>
            <a:ext cx="0" cy="297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134" name="Line 14">
            <a:extLst>
              <a:ext uri="{FF2B5EF4-FFF2-40B4-BE49-F238E27FC236}">
                <a16:creationId xmlns:a16="http://schemas.microsoft.com/office/drawing/2014/main" id="{4077F539-5FA7-44C1-9B7A-5821E698B881}"/>
              </a:ext>
            </a:extLst>
          </p:cNvPr>
          <p:cNvSpPr>
            <a:spLocks noChangeShapeType="1"/>
          </p:cNvSpPr>
          <p:nvPr/>
        </p:nvSpPr>
        <p:spPr bwMode="auto">
          <a:xfrm>
            <a:off x="7543800" y="2514600"/>
            <a:ext cx="0" cy="297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711"/>
    </mc:Choice>
    <mc:Fallback xmlns="">
      <p:transition spd="slow" advTm="3971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2" name="Text Box 4">
            <a:extLst>
              <a:ext uri="{FF2B5EF4-FFF2-40B4-BE49-F238E27FC236}">
                <a16:creationId xmlns:a16="http://schemas.microsoft.com/office/drawing/2014/main" id="{573DC18B-ED6B-4301-A100-A78C273E921C}"/>
              </a:ext>
            </a:extLst>
          </p:cNvPr>
          <p:cNvSpPr txBox="1">
            <a:spLocks noChangeArrowheads="1"/>
          </p:cNvSpPr>
          <p:nvPr/>
        </p:nvSpPr>
        <p:spPr bwMode="auto">
          <a:xfrm>
            <a:off x="55563" y="66675"/>
            <a:ext cx="8839200" cy="160496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anose="05000000000000000000" pitchFamily="2" charset="2"/>
              <a:buNone/>
            </a:pPr>
            <a:endParaRPr lang="en-US" altLang="zh-CN"/>
          </a:p>
          <a:p>
            <a:pPr>
              <a:spcBef>
                <a:spcPct val="50000"/>
              </a:spcBef>
              <a:buFont typeface="Wingdings" panose="05000000000000000000" pitchFamily="2" charset="2"/>
              <a:buNone/>
            </a:pPr>
            <a:endParaRPr lang="en-US" altLang="zh-CN"/>
          </a:p>
          <a:p>
            <a:pPr>
              <a:spcBef>
                <a:spcPct val="50000"/>
              </a:spcBef>
              <a:buFont typeface="Wingdings" panose="05000000000000000000" pitchFamily="2" charset="2"/>
              <a:buNone/>
            </a:pPr>
            <a:endParaRPr lang="en-US" altLang="zh-CN"/>
          </a:p>
          <a:p>
            <a:pPr>
              <a:spcBef>
                <a:spcPct val="50000"/>
              </a:spcBef>
              <a:buFont typeface="Wingdings" panose="05000000000000000000" pitchFamily="2" charset="2"/>
              <a:buNone/>
            </a:pPr>
            <a:endParaRPr lang="en-US" altLang="zh-CN"/>
          </a:p>
        </p:txBody>
      </p:sp>
      <p:sp>
        <p:nvSpPr>
          <p:cNvPr id="519173" name="Rectangle 5">
            <a:extLst>
              <a:ext uri="{FF2B5EF4-FFF2-40B4-BE49-F238E27FC236}">
                <a16:creationId xmlns:a16="http://schemas.microsoft.com/office/drawing/2014/main" id="{03ACB181-5A66-4B7C-ACAA-6D6DF310B9FB}"/>
              </a:ext>
            </a:extLst>
          </p:cNvPr>
          <p:cNvSpPr>
            <a:spLocks noChangeArrowheads="1"/>
          </p:cNvSpPr>
          <p:nvPr/>
        </p:nvSpPr>
        <p:spPr bwMode="auto">
          <a:xfrm>
            <a:off x="152400" y="228600"/>
            <a:ext cx="88392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nSpc>
                <a:spcPct val="100000"/>
              </a:lnSpc>
              <a:spcBef>
                <a:spcPct val="0"/>
              </a:spcBef>
              <a:buFont typeface="Wingdings" panose="05000000000000000000" pitchFamily="2" charset="2"/>
              <a:buNone/>
            </a:pPr>
            <a:r>
              <a:rPr lang="en-US" altLang="zh-CN" sz="2600" b="0">
                <a:solidFill>
                  <a:srgbClr val="660033"/>
                </a:solidFill>
                <a:latin typeface="黑体" panose="02010609060101010101" pitchFamily="49" charset="-122"/>
                <a:ea typeface="黑体" panose="02010609060101010101" pitchFamily="49" charset="-122"/>
              </a:rPr>
              <a:t>USE JXGL</a:t>
            </a:r>
          </a:p>
          <a:p>
            <a:pPr>
              <a:lnSpc>
                <a:spcPct val="100000"/>
              </a:lnSpc>
              <a:spcBef>
                <a:spcPct val="0"/>
              </a:spcBef>
              <a:buFont typeface="Wingdings" panose="05000000000000000000" pitchFamily="2" charset="2"/>
              <a:buNone/>
            </a:pPr>
            <a:r>
              <a:rPr lang="en-US" altLang="zh-CN" sz="2600" b="0">
                <a:solidFill>
                  <a:srgbClr val="660033"/>
                </a:solidFill>
                <a:latin typeface="黑体" panose="02010609060101010101" pitchFamily="49" charset="-122"/>
                <a:ea typeface="黑体" panose="02010609060101010101" pitchFamily="49" charset="-122"/>
              </a:rPr>
              <a:t>GO</a:t>
            </a:r>
          </a:p>
          <a:p>
            <a:pPr>
              <a:lnSpc>
                <a:spcPct val="100000"/>
              </a:lnSpc>
              <a:spcBef>
                <a:spcPct val="0"/>
              </a:spcBef>
              <a:buFont typeface="Wingdings" panose="05000000000000000000" pitchFamily="2" charset="2"/>
              <a:buNone/>
            </a:pPr>
            <a:r>
              <a:rPr lang="en-US" altLang="zh-CN" sz="2600">
                <a:solidFill>
                  <a:srgbClr val="006666"/>
                </a:solidFill>
                <a:latin typeface="黑体" panose="02010609060101010101" pitchFamily="49" charset="-122"/>
                <a:ea typeface="黑体" panose="02010609060101010101" pitchFamily="49" charset="-122"/>
              </a:rPr>
              <a:t>DECLARE CC2 CURSOR </a:t>
            </a:r>
            <a:r>
              <a:rPr lang="en-US" altLang="zh-CN" sz="2100">
                <a:solidFill>
                  <a:srgbClr val="006666"/>
                </a:solidFill>
                <a:effectLst/>
                <a:latin typeface="黑体" panose="02010609060101010101" pitchFamily="49" charset="-122"/>
                <a:ea typeface="黑体" panose="02010609060101010101" pitchFamily="49" charset="-122"/>
              </a:rPr>
              <a:t>/* </a:t>
            </a:r>
            <a:r>
              <a:rPr lang="zh-CN" altLang="en-US" sz="2100">
                <a:solidFill>
                  <a:srgbClr val="006666"/>
                </a:solidFill>
                <a:effectLst/>
                <a:latin typeface="黑体" panose="02010609060101010101" pitchFamily="49" charset="-122"/>
                <a:ea typeface="黑体" panose="02010609060101010101" pitchFamily="49" charset="-122"/>
              </a:rPr>
              <a:t>定义游标</a:t>
            </a:r>
            <a:r>
              <a:rPr lang="en-US" altLang="zh-CN" sz="2100">
                <a:solidFill>
                  <a:srgbClr val="006666"/>
                </a:solidFill>
                <a:effectLst/>
                <a:latin typeface="黑体" panose="02010609060101010101" pitchFamily="49" charset="-122"/>
                <a:ea typeface="黑体" panose="02010609060101010101" pitchFamily="49" charset="-122"/>
              </a:rPr>
              <a:t>CC2</a:t>
            </a:r>
            <a:r>
              <a:rPr lang="zh-CN" altLang="en-US" sz="2100">
                <a:solidFill>
                  <a:srgbClr val="006666"/>
                </a:solidFill>
                <a:effectLst/>
                <a:latin typeface="黑体" panose="02010609060101010101" pitchFamily="49" charset="-122"/>
                <a:ea typeface="黑体" panose="02010609060101010101" pitchFamily="49" charset="-122"/>
              </a:rPr>
              <a:t>，默认为</a:t>
            </a:r>
            <a:r>
              <a:rPr lang="en-US" altLang="zh-CN" sz="2100">
                <a:solidFill>
                  <a:srgbClr val="006666"/>
                </a:solidFill>
                <a:effectLst/>
                <a:latin typeface="黑体" panose="02010609060101010101" pitchFamily="49" charset="-122"/>
                <a:ea typeface="黑体" panose="02010609060101010101" pitchFamily="49" charset="-122"/>
              </a:rPr>
              <a:t>FORWARD_ONLD</a:t>
            </a:r>
            <a:r>
              <a:rPr lang="zh-CN" altLang="en-US" sz="2100">
                <a:solidFill>
                  <a:srgbClr val="006666"/>
                </a:solidFill>
                <a:effectLst/>
                <a:latin typeface="黑体" panose="02010609060101010101" pitchFamily="49" charset="-122"/>
                <a:ea typeface="黑体" panose="02010609060101010101" pitchFamily="49" charset="-122"/>
              </a:rPr>
              <a:t>游标*</a:t>
            </a:r>
            <a:r>
              <a:rPr lang="en-US" altLang="zh-CN" sz="2100">
                <a:solidFill>
                  <a:srgbClr val="006666"/>
                </a:solidFill>
                <a:effectLst/>
                <a:latin typeface="黑体" panose="02010609060101010101" pitchFamily="49" charset="-122"/>
                <a:ea typeface="黑体" panose="02010609060101010101" pitchFamily="49" charset="-122"/>
              </a:rPr>
              <a:t>/</a:t>
            </a:r>
          </a:p>
          <a:p>
            <a:pPr>
              <a:lnSpc>
                <a:spcPct val="100000"/>
              </a:lnSpc>
              <a:spcBef>
                <a:spcPct val="0"/>
              </a:spcBef>
              <a:buFont typeface="Wingdings" panose="05000000000000000000" pitchFamily="2" charset="2"/>
              <a:buNone/>
            </a:pPr>
            <a:r>
              <a:rPr lang="en-US" altLang="zh-CN" sz="2600">
                <a:solidFill>
                  <a:srgbClr val="006666"/>
                </a:solidFill>
                <a:latin typeface="黑体" panose="02010609060101010101" pitchFamily="49" charset="-122"/>
                <a:ea typeface="黑体" panose="02010609060101010101" pitchFamily="49" charset="-122"/>
              </a:rPr>
              <a:t>FOR SELECT *</a:t>
            </a:r>
          </a:p>
          <a:p>
            <a:pPr>
              <a:lnSpc>
                <a:spcPct val="100000"/>
              </a:lnSpc>
              <a:spcBef>
                <a:spcPct val="0"/>
              </a:spcBef>
              <a:buFont typeface="Wingdings" panose="05000000000000000000" pitchFamily="2" charset="2"/>
              <a:buNone/>
            </a:pPr>
            <a:r>
              <a:rPr lang="en-US" altLang="zh-CN" sz="2600">
                <a:solidFill>
                  <a:srgbClr val="006666"/>
                </a:solidFill>
                <a:latin typeface="黑体" panose="02010609060101010101" pitchFamily="49" charset="-122"/>
                <a:ea typeface="黑体" panose="02010609060101010101" pitchFamily="49" charset="-122"/>
              </a:rPr>
              <a:t>FROM SS;</a:t>
            </a:r>
          </a:p>
          <a:p>
            <a:pPr>
              <a:lnSpc>
                <a:spcPct val="100000"/>
              </a:lnSpc>
              <a:spcBef>
                <a:spcPct val="0"/>
              </a:spcBef>
              <a:buFont typeface="Wingdings" panose="05000000000000000000" pitchFamily="2" charset="2"/>
              <a:buNone/>
            </a:pPr>
            <a:r>
              <a:rPr lang="en-US" altLang="zh-CN" sz="2600" b="0">
                <a:latin typeface="黑体" panose="02010609060101010101" pitchFamily="49" charset="-122"/>
                <a:ea typeface="黑体" panose="02010609060101010101" pitchFamily="49" charset="-122"/>
              </a:rPr>
              <a:t>OPEN CC2;                /* </a:t>
            </a:r>
            <a:r>
              <a:rPr lang="zh-CN" altLang="en-US" sz="2600" b="0">
                <a:latin typeface="黑体" panose="02010609060101010101" pitchFamily="49" charset="-122"/>
                <a:ea typeface="黑体" panose="02010609060101010101" pitchFamily="49" charset="-122"/>
              </a:rPr>
              <a:t>打开游标 *</a:t>
            </a:r>
            <a:r>
              <a:rPr lang="en-US" altLang="zh-CN" sz="2600" b="0">
                <a:latin typeface="黑体" panose="02010609060101010101" pitchFamily="49" charset="-122"/>
                <a:ea typeface="黑体" panose="02010609060101010101" pitchFamily="49" charset="-122"/>
              </a:rPr>
              <a:t>/</a:t>
            </a:r>
          </a:p>
          <a:p>
            <a:pPr>
              <a:lnSpc>
                <a:spcPct val="100000"/>
              </a:lnSpc>
              <a:spcBef>
                <a:spcPct val="0"/>
              </a:spcBef>
              <a:buFont typeface="Wingdings" panose="05000000000000000000" pitchFamily="2" charset="2"/>
              <a:buNone/>
            </a:pPr>
            <a:r>
              <a:rPr lang="en-US" altLang="zh-CN" sz="2600" b="0">
                <a:solidFill>
                  <a:srgbClr val="003366"/>
                </a:solidFill>
                <a:latin typeface="黑体" panose="02010609060101010101" pitchFamily="49" charset="-122"/>
                <a:ea typeface="黑体" panose="02010609060101010101" pitchFamily="49" charset="-122"/>
              </a:rPr>
              <a:t>FETCH NEXT FROM CC2;     /* </a:t>
            </a:r>
            <a:r>
              <a:rPr lang="zh-CN" altLang="en-US" sz="2600" b="0">
                <a:solidFill>
                  <a:srgbClr val="003366"/>
                </a:solidFill>
                <a:latin typeface="黑体" panose="02010609060101010101" pitchFamily="49" charset="-122"/>
                <a:ea typeface="黑体" panose="02010609060101010101" pitchFamily="49" charset="-122"/>
              </a:rPr>
              <a:t>读取第</a:t>
            </a:r>
            <a:r>
              <a:rPr lang="en-US" altLang="zh-CN" sz="2600" b="0">
                <a:solidFill>
                  <a:srgbClr val="003366"/>
                </a:solidFill>
                <a:latin typeface="黑体" panose="02010609060101010101" pitchFamily="49" charset="-122"/>
                <a:ea typeface="黑体" panose="02010609060101010101" pitchFamily="49" charset="-122"/>
              </a:rPr>
              <a:t>1</a:t>
            </a:r>
            <a:r>
              <a:rPr lang="zh-CN" altLang="en-US" sz="2600" b="0">
                <a:solidFill>
                  <a:srgbClr val="003366"/>
                </a:solidFill>
                <a:latin typeface="黑体" panose="02010609060101010101" pitchFamily="49" charset="-122"/>
                <a:ea typeface="黑体" panose="02010609060101010101" pitchFamily="49" charset="-122"/>
              </a:rPr>
              <a:t>行数据 *</a:t>
            </a:r>
            <a:r>
              <a:rPr lang="en-US" altLang="zh-CN" sz="2600" b="0">
                <a:solidFill>
                  <a:srgbClr val="003366"/>
                </a:solidFill>
                <a:latin typeface="黑体" panose="02010609060101010101" pitchFamily="49" charset="-122"/>
                <a:ea typeface="黑体" panose="02010609060101010101" pitchFamily="49" charset="-122"/>
              </a:rPr>
              <a:t>/</a:t>
            </a:r>
          </a:p>
          <a:p>
            <a:pPr>
              <a:lnSpc>
                <a:spcPct val="100000"/>
              </a:lnSpc>
              <a:spcBef>
                <a:spcPct val="0"/>
              </a:spcBef>
              <a:buFont typeface="Wingdings" panose="05000000000000000000" pitchFamily="2" charset="2"/>
              <a:buNone/>
            </a:pPr>
            <a:r>
              <a:rPr lang="en-US" altLang="zh-CN" sz="2300" b="0">
                <a:latin typeface="黑体" panose="02010609060101010101" pitchFamily="49" charset="-122"/>
                <a:ea typeface="黑体" panose="02010609060101010101" pitchFamily="49" charset="-122"/>
              </a:rPr>
              <a:t>       </a:t>
            </a:r>
            <a:r>
              <a:rPr lang="en-US" altLang="zh-CN" sz="2300" b="0">
                <a:solidFill>
                  <a:srgbClr val="003366"/>
                </a:solidFill>
                <a:latin typeface="黑体" panose="02010609060101010101" pitchFamily="49" charset="-122"/>
                <a:ea typeface="黑体" panose="02010609060101010101" pitchFamily="49" charset="-122"/>
              </a:rPr>
              <a:t>/* </a:t>
            </a:r>
            <a:r>
              <a:rPr lang="zh-CN" altLang="en-US" sz="2300" b="0">
                <a:solidFill>
                  <a:srgbClr val="003366"/>
                </a:solidFill>
                <a:latin typeface="黑体" panose="02010609060101010101" pitchFamily="49" charset="-122"/>
                <a:ea typeface="黑体" panose="02010609060101010101" pitchFamily="49" charset="-122"/>
              </a:rPr>
              <a:t>用</a:t>
            </a:r>
            <a:r>
              <a:rPr lang="en-US" altLang="zh-CN" sz="2300" b="0">
                <a:solidFill>
                  <a:srgbClr val="003366"/>
                </a:solidFill>
                <a:latin typeface="黑体" panose="02010609060101010101" pitchFamily="49" charset="-122"/>
                <a:ea typeface="黑体" panose="02010609060101010101" pitchFamily="49" charset="-122"/>
              </a:rPr>
              <a:t>WHILE</a:t>
            </a:r>
            <a:r>
              <a:rPr lang="zh-CN" altLang="en-US" sz="2300" b="0">
                <a:solidFill>
                  <a:srgbClr val="003366"/>
                </a:solidFill>
                <a:latin typeface="黑体" panose="02010609060101010101" pitchFamily="49" charset="-122"/>
                <a:ea typeface="黑体" panose="02010609060101010101" pitchFamily="49" charset="-122"/>
              </a:rPr>
              <a:t>循环语句控制游标的执行，当正常读出</a:t>
            </a:r>
            <a:r>
              <a:rPr lang="en-US" altLang="zh-CN" sz="2300" b="0">
                <a:solidFill>
                  <a:srgbClr val="003366"/>
                </a:solidFill>
                <a:latin typeface="黑体" panose="02010609060101010101" pitchFamily="49" charset="-122"/>
                <a:ea typeface="黑体" panose="02010609060101010101" pitchFamily="49" charset="-122"/>
              </a:rPr>
              <a:t>1</a:t>
            </a:r>
            <a:r>
              <a:rPr lang="zh-CN" altLang="en-US" sz="2300" b="0">
                <a:solidFill>
                  <a:srgbClr val="003366"/>
                </a:solidFill>
                <a:latin typeface="黑体" panose="02010609060101010101" pitchFamily="49" charset="-122"/>
                <a:ea typeface="黑体" panose="02010609060101010101" pitchFamily="49" charset="-122"/>
              </a:rPr>
              <a:t>行时， </a:t>
            </a:r>
          </a:p>
          <a:p>
            <a:pPr>
              <a:lnSpc>
                <a:spcPct val="100000"/>
              </a:lnSpc>
              <a:spcBef>
                <a:spcPct val="0"/>
              </a:spcBef>
              <a:buFont typeface="Wingdings" panose="05000000000000000000" pitchFamily="2" charset="2"/>
              <a:buNone/>
            </a:pPr>
            <a:r>
              <a:rPr lang="zh-CN" altLang="en-US" sz="2300" b="0">
                <a:solidFill>
                  <a:srgbClr val="003366"/>
                </a:solidFill>
                <a:latin typeface="黑体" panose="02010609060101010101" pitchFamily="49" charset="-122"/>
                <a:ea typeface="黑体" panose="02010609060101010101" pitchFamily="49" charset="-122"/>
              </a:rPr>
              <a:t>          继续循环，否则跳出循环停止</a:t>
            </a:r>
            <a:r>
              <a:rPr lang="en-US" altLang="zh-CN" sz="2300" b="0">
                <a:solidFill>
                  <a:srgbClr val="003366"/>
                </a:solidFill>
                <a:latin typeface="黑体" panose="02010609060101010101" pitchFamily="49" charset="-122"/>
                <a:ea typeface="黑体" panose="02010609060101010101" pitchFamily="49" charset="-122"/>
              </a:rPr>
              <a:t>FETCH</a:t>
            </a:r>
            <a:r>
              <a:rPr lang="zh-CN" altLang="en-US" sz="2300" b="0">
                <a:solidFill>
                  <a:srgbClr val="003366"/>
                </a:solidFill>
                <a:latin typeface="黑体" panose="02010609060101010101" pitchFamily="49" charset="-122"/>
                <a:ea typeface="黑体" panose="02010609060101010101" pitchFamily="49" charset="-122"/>
              </a:rPr>
              <a:t>操作 *</a:t>
            </a:r>
            <a:r>
              <a:rPr lang="en-US" altLang="zh-CN" sz="2300" b="0">
                <a:solidFill>
                  <a:srgbClr val="003366"/>
                </a:solidFill>
                <a:latin typeface="黑体" panose="02010609060101010101" pitchFamily="49" charset="-122"/>
                <a:ea typeface="黑体" panose="02010609060101010101" pitchFamily="49" charset="-122"/>
              </a:rPr>
              <a:t>/</a:t>
            </a:r>
          </a:p>
          <a:p>
            <a:pPr>
              <a:lnSpc>
                <a:spcPct val="100000"/>
              </a:lnSpc>
              <a:spcBef>
                <a:spcPct val="0"/>
              </a:spcBef>
              <a:buFont typeface="Wingdings" panose="05000000000000000000" pitchFamily="2" charset="2"/>
              <a:buNone/>
            </a:pPr>
            <a:r>
              <a:rPr lang="en-US" altLang="zh-CN" sz="2600" b="0">
                <a:latin typeface="黑体" panose="02010609060101010101" pitchFamily="49" charset="-122"/>
                <a:ea typeface="黑体" panose="02010609060101010101" pitchFamily="49" charset="-122"/>
              </a:rPr>
              <a:t>  </a:t>
            </a:r>
            <a:r>
              <a:rPr lang="en-US" altLang="zh-CN" sz="2600" b="0">
                <a:solidFill>
                  <a:srgbClr val="003366"/>
                </a:solidFill>
                <a:latin typeface="黑体" panose="02010609060101010101" pitchFamily="49" charset="-122"/>
                <a:ea typeface="黑体" panose="02010609060101010101" pitchFamily="49" charset="-122"/>
              </a:rPr>
              <a:t>WHILE @@FETCH_STATUS=0</a:t>
            </a:r>
          </a:p>
          <a:p>
            <a:pPr>
              <a:lnSpc>
                <a:spcPct val="100000"/>
              </a:lnSpc>
              <a:spcBef>
                <a:spcPct val="0"/>
              </a:spcBef>
              <a:buFont typeface="Wingdings" panose="05000000000000000000" pitchFamily="2" charset="2"/>
              <a:buNone/>
            </a:pPr>
            <a:r>
              <a:rPr lang="en-US" altLang="zh-CN" sz="2600" b="0">
                <a:solidFill>
                  <a:srgbClr val="003366"/>
                </a:solidFill>
                <a:latin typeface="黑体" panose="02010609060101010101" pitchFamily="49" charset="-122"/>
                <a:ea typeface="黑体" panose="02010609060101010101" pitchFamily="49" charset="-122"/>
              </a:rPr>
              <a:t>  BEGIN</a:t>
            </a:r>
          </a:p>
          <a:p>
            <a:pPr>
              <a:lnSpc>
                <a:spcPct val="100000"/>
              </a:lnSpc>
              <a:spcBef>
                <a:spcPct val="0"/>
              </a:spcBef>
              <a:buFont typeface="Wingdings" panose="05000000000000000000" pitchFamily="2" charset="2"/>
              <a:buNone/>
            </a:pPr>
            <a:r>
              <a:rPr lang="en-US" altLang="zh-CN" sz="2600" b="0">
                <a:solidFill>
                  <a:srgbClr val="003366"/>
                </a:solidFill>
                <a:latin typeface="黑体" panose="02010609060101010101" pitchFamily="49" charset="-122"/>
                <a:ea typeface="黑体" panose="02010609060101010101" pitchFamily="49" charset="-122"/>
              </a:rPr>
              <a:t>       FETCH NEXT FROM CC2;</a:t>
            </a:r>
          </a:p>
          <a:p>
            <a:pPr>
              <a:lnSpc>
                <a:spcPct val="100000"/>
              </a:lnSpc>
              <a:spcBef>
                <a:spcPct val="0"/>
              </a:spcBef>
              <a:buFont typeface="Wingdings" panose="05000000000000000000" pitchFamily="2" charset="2"/>
              <a:buNone/>
            </a:pPr>
            <a:r>
              <a:rPr lang="en-US" altLang="zh-CN" sz="2600" b="0">
                <a:solidFill>
                  <a:srgbClr val="003366"/>
                </a:solidFill>
                <a:latin typeface="黑体" panose="02010609060101010101" pitchFamily="49" charset="-122"/>
                <a:ea typeface="黑体" panose="02010609060101010101" pitchFamily="49" charset="-122"/>
              </a:rPr>
              <a:t>  END</a:t>
            </a:r>
          </a:p>
          <a:p>
            <a:pPr>
              <a:lnSpc>
                <a:spcPct val="100000"/>
              </a:lnSpc>
              <a:spcBef>
                <a:spcPct val="0"/>
              </a:spcBef>
              <a:buFont typeface="Wingdings" panose="05000000000000000000" pitchFamily="2" charset="2"/>
              <a:buNone/>
            </a:pPr>
            <a:r>
              <a:rPr lang="en-US" altLang="zh-CN" sz="2600" b="0">
                <a:solidFill>
                  <a:srgbClr val="660066"/>
                </a:solidFill>
                <a:latin typeface="黑体" panose="02010609060101010101" pitchFamily="49" charset="-122"/>
                <a:ea typeface="黑体" panose="02010609060101010101" pitchFamily="49" charset="-122"/>
              </a:rPr>
              <a:t>CLOSE CC2;                /* </a:t>
            </a:r>
            <a:r>
              <a:rPr lang="zh-CN" altLang="en-US" sz="2600" b="0">
                <a:solidFill>
                  <a:srgbClr val="660066"/>
                </a:solidFill>
                <a:latin typeface="黑体" panose="02010609060101010101" pitchFamily="49" charset="-122"/>
                <a:ea typeface="黑体" panose="02010609060101010101" pitchFamily="49" charset="-122"/>
              </a:rPr>
              <a:t>关闭游标 *</a:t>
            </a:r>
            <a:r>
              <a:rPr lang="en-US" altLang="zh-CN" sz="2600" b="0">
                <a:solidFill>
                  <a:srgbClr val="660066"/>
                </a:solidFill>
                <a:latin typeface="黑体" panose="02010609060101010101" pitchFamily="49" charset="-122"/>
                <a:ea typeface="黑体" panose="02010609060101010101" pitchFamily="49" charset="-122"/>
              </a:rPr>
              <a:t>/</a:t>
            </a:r>
          </a:p>
          <a:p>
            <a:pPr>
              <a:lnSpc>
                <a:spcPct val="100000"/>
              </a:lnSpc>
              <a:spcBef>
                <a:spcPct val="0"/>
              </a:spcBef>
              <a:buFont typeface="Wingdings" panose="05000000000000000000" pitchFamily="2" charset="2"/>
              <a:buNone/>
            </a:pPr>
            <a:r>
              <a:rPr lang="en-US" altLang="zh-CN" sz="2600" b="0">
                <a:latin typeface="黑体" panose="02010609060101010101" pitchFamily="49" charset="-122"/>
                <a:ea typeface="黑体" panose="02010609060101010101" pitchFamily="49" charset="-122"/>
              </a:rPr>
              <a:t>DEALLOCATE CC2;           /* </a:t>
            </a:r>
            <a:r>
              <a:rPr lang="zh-CN" altLang="en-US" sz="2600" b="0">
                <a:latin typeface="黑体" panose="02010609060101010101" pitchFamily="49" charset="-122"/>
                <a:ea typeface="黑体" panose="02010609060101010101" pitchFamily="49" charset="-122"/>
              </a:rPr>
              <a:t>删除不再使用的游标 *</a:t>
            </a:r>
            <a:r>
              <a:rPr lang="en-US" altLang="zh-CN" sz="2600" b="0">
                <a:latin typeface="黑体" panose="02010609060101010101" pitchFamily="49" charset="-122"/>
                <a:ea typeface="黑体" panose="02010609060101010101" pitchFamily="49" charset="-122"/>
              </a:rPr>
              <a:t>/</a:t>
            </a:r>
          </a:p>
          <a:p>
            <a:pPr>
              <a:lnSpc>
                <a:spcPct val="100000"/>
              </a:lnSpc>
              <a:spcBef>
                <a:spcPct val="0"/>
              </a:spcBef>
              <a:buFont typeface="Wingdings" panose="05000000000000000000" pitchFamily="2" charset="2"/>
              <a:buNone/>
            </a:pPr>
            <a:r>
              <a:rPr lang="en-US" altLang="zh-CN" sz="2600" b="0">
                <a:solidFill>
                  <a:srgbClr val="660033"/>
                </a:solidFill>
                <a:latin typeface="黑体" panose="02010609060101010101" pitchFamily="49" charset="-122"/>
                <a:ea typeface="黑体" panose="02010609060101010101" pitchFamily="49" charset="-122"/>
              </a:rPr>
              <a:t>GO </a:t>
            </a:r>
          </a:p>
        </p:txBody>
      </p:sp>
    </p:spTree>
  </p:cSld>
  <p:clrMapOvr>
    <a:masterClrMapping/>
  </p:clrMapOvr>
  <mc:AlternateContent xmlns:mc="http://schemas.openxmlformats.org/markup-compatibility/2006" xmlns:p14="http://schemas.microsoft.com/office/powerpoint/2010/main">
    <mc:Choice Requires="p14">
      <p:transition spd="slow" p14:dur="2000" advTm="139564"/>
    </mc:Choice>
    <mc:Fallback xmlns="">
      <p:transition spd="slow" advTm="13956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0196" name="Picture 4">
            <a:extLst>
              <a:ext uri="{FF2B5EF4-FFF2-40B4-BE49-F238E27FC236}">
                <a16:creationId xmlns:a16="http://schemas.microsoft.com/office/drawing/2014/main" id="{307C8FF5-37BD-497D-B7BF-FEA6A764F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35038"/>
            <a:ext cx="7921625" cy="562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0197" name="Rectangle 5">
            <a:extLst>
              <a:ext uri="{FF2B5EF4-FFF2-40B4-BE49-F238E27FC236}">
                <a16:creationId xmlns:a16="http://schemas.microsoft.com/office/drawing/2014/main" id="{0367527A-5A23-44A3-9074-E605AB16FDF7}"/>
              </a:ext>
            </a:extLst>
          </p:cNvPr>
          <p:cNvSpPr>
            <a:spLocks noChangeArrowheads="1"/>
          </p:cNvSpPr>
          <p:nvPr/>
        </p:nvSpPr>
        <p:spPr bwMode="auto">
          <a:xfrm>
            <a:off x="1524000" y="168275"/>
            <a:ext cx="19065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buSzTx/>
              <a:buFontTx/>
              <a:buNone/>
            </a:pPr>
            <a:r>
              <a:rPr lang="zh-CN" altLang="en-US" sz="2600" b="1"/>
              <a:t>运行结果图</a:t>
            </a:r>
            <a:r>
              <a:rPr lang="zh-CN" altLang="en-US"/>
              <a:t> </a:t>
            </a:r>
          </a:p>
        </p:txBody>
      </p:sp>
    </p:spTree>
  </p:cSld>
  <p:clrMapOvr>
    <a:masterClrMapping/>
  </p:clrMapOvr>
  <mc:AlternateContent xmlns:mc="http://schemas.openxmlformats.org/markup-compatibility/2006" xmlns:p14="http://schemas.microsoft.com/office/powerpoint/2010/main">
    <mc:Choice Requires="p14">
      <p:transition spd="slow" p14:dur="2000" advTm="7666"/>
    </mc:Choice>
    <mc:Fallback xmlns="">
      <p:transition spd="slow" advTm="766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6" name="Rectangle 4">
            <a:extLst>
              <a:ext uri="{FF2B5EF4-FFF2-40B4-BE49-F238E27FC236}">
                <a16:creationId xmlns:a16="http://schemas.microsoft.com/office/drawing/2014/main" id="{A3BA8F2E-137A-4F56-A23F-7D2390B27FAD}"/>
              </a:ext>
            </a:extLst>
          </p:cNvPr>
          <p:cNvSpPr>
            <a:spLocks noChangeArrowheads="1"/>
          </p:cNvSpPr>
          <p:nvPr/>
        </p:nvSpPr>
        <p:spPr bwMode="gray">
          <a:xfrm>
            <a:off x="755650" y="285750"/>
            <a:ext cx="7793038" cy="622300"/>
          </a:xfrm>
          <a:prstGeom prst="rect">
            <a:avLst/>
          </a:prstGeom>
          <a:noFill/>
          <a:ln>
            <a:noFill/>
          </a:ln>
          <a:effectLst>
            <a:outerShdw dist="17961" dir="2700000" algn="ctr" rotWithShape="0">
              <a:schemeClr val="tx1">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anchor="ctr"/>
          <a:lstStyle>
            <a:lvl1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a:spcBef>
                <a:spcPct val="0"/>
              </a:spcBef>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lgn="ctr">
              <a:buSzTx/>
              <a:buFontTx/>
              <a:buNone/>
            </a:pPr>
            <a:r>
              <a:rPr lang="zh-CN" altLang="en-US" sz="4000">
                <a:latin typeface="华文隶书" panose="02010800040101010101" pitchFamily="2" charset="-122"/>
                <a:ea typeface="华文隶书" panose="02010800040101010101" pitchFamily="2" charset="-122"/>
              </a:rPr>
              <a:t>本次课复习要点</a:t>
            </a:r>
          </a:p>
        </p:txBody>
      </p:sp>
      <p:sp>
        <p:nvSpPr>
          <p:cNvPr id="484357" name="Rectangle 5">
            <a:extLst>
              <a:ext uri="{FF2B5EF4-FFF2-40B4-BE49-F238E27FC236}">
                <a16:creationId xmlns:a16="http://schemas.microsoft.com/office/drawing/2014/main" id="{FB089B15-599C-409D-B6AC-B254FEACFBB4}"/>
              </a:ext>
            </a:extLst>
          </p:cNvPr>
          <p:cNvSpPr>
            <a:spLocks noChangeArrowheads="1"/>
          </p:cNvSpPr>
          <p:nvPr/>
        </p:nvSpPr>
        <p:spPr bwMode="auto">
          <a:xfrm>
            <a:off x="466725" y="1258888"/>
            <a:ext cx="8208963" cy="533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buClr>
                <a:schemeClr val="folHlink"/>
              </a:buClr>
              <a:buSzPct val="60000"/>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1pPr>
            <a:lvl2pPr marL="742950" indent="-285750">
              <a:lnSpc>
                <a:spcPct val="120000"/>
              </a:lnSpc>
              <a:buClr>
                <a:schemeClr val="hlink"/>
              </a:buClr>
              <a:buSzPct val="55000"/>
              <a:buChar char="n"/>
              <a:defRPr sz="28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2pPr>
            <a:lvl3pPr marL="1143000" indent="-228600">
              <a:lnSpc>
                <a:spcPct val="120000"/>
              </a:lnSpc>
              <a:buClr>
                <a:schemeClr val="folHlink"/>
              </a:buClr>
              <a:buSzPct val="50000"/>
              <a:buChar char="n"/>
              <a:defRPr sz="24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3pPr>
            <a:lvl4pPr marL="1600200" indent="-228600">
              <a:lnSpc>
                <a:spcPct val="120000"/>
              </a:lnSpc>
              <a:buClr>
                <a:schemeClr val="accent2"/>
              </a:buClr>
              <a:buSzPct val="55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4pPr>
            <a:lvl5pPr marL="2057400" indent="-228600">
              <a:lnSpc>
                <a:spcPct val="120000"/>
              </a:lnSpc>
              <a:buClr>
                <a:schemeClr val="accent1"/>
              </a:buClr>
              <a:buSzPct val="50000"/>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5pPr>
            <a:lvl6pPr marL="25146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6pPr>
            <a:lvl7pPr marL="29718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7pPr>
            <a:lvl8pPr marL="34290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8pPr>
            <a:lvl9pPr marL="3886200" indent="-228600" fontAlgn="base">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Tahoma" panose="020B0604030504040204" pitchFamily="34" charset="0"/>
                <a:ea typeface="宋体" panose="02010600030101010101" pitchFamily="2" charset="-122"/>
              </a:defRPr>
            </a:lvl9pPr>
          </a:lstStyle>
          <a:p>
            <a:pPr>
              <a:buFont typeface="Wingdings" panose="05000000000000000000" pitchFamily="2" charset="2"/>
              <a:buNone/>
            </a:pPr>
            <a:endParaRPr lang="en-US" altLang="zh-CN" sz="1000">
              <a:solidFill>
                <a:srgbClr val="990033"/>
              </a:solidFill>
              <a:effectLst/>
              <a:ea typeface="黑体" panose="02010609060101010101" pitchFamily="49" charset="-122"/>
            </a:endParaRPr>
          </a:p>
          <a:p>
            <a:pPr>
              <a:lnSpc>
                <a:spcPct val="135000"/>
              </a:lnSpc>
              <a:spcBef>
                <a:spcPct val="0"/>
              </a:spcBef>
              <a:buFont typeface="Wingdings" panose="05000000000000000000" pitchFamily="2" charset="2"/>
              <a:buNone/>
            </a:pPr>
            <a:r>
              <a:rPr lang="en-US" altLang="zh-CN"/>
              <a:t>       </a:t>
            </a:r>
            <a:r>
              <a:rPr lang="en-US" altLang="zh-CN" sz="3200">
                <a:solidFill>
                  <a:srgbClr val="003366"/>
                </a:solidFill>
                <a:effectLst/>
                <a:latin typeface="华文新魏" panose="02010800040101010101" pitchFamily="2" charset="-122"/>
                <a:ea typeface="华文新魏" panose="02010800040101010101" pitchFamily="2" charset="-122"/>
              </a:rPr>
              <a:t>   </a:t>
            </a:r>
            <a:r>
              <a:rPr lang="zh-CN" altLang="en-US" sz="3000">
                <a:solidFill>
                  <a:srgbClr val="660033"/>
                </a:solidFill>
                <a:ea typeface="华文新魏" panose="02010800040101010101" pitchFamily="2" charset="-122"/>
              </a:rPr>
              <a:t>视图的概念、定义及查询操作</a:t>
            </a:r>
          </a:p>
          <a:p>
            <a:pPr>
              <a:lnSpc>
                <a:spcPct val="135000"/>
              </a:lnSpc>
              <a:spcBef>
                <a:spcPct val="0"/>
              </a:spcBef>
              <a:buFont typeface="Wingdings" panose="05000000000000000000" pitchFamily="2" charset="2"/>
              <a:buNone/>
            </a:pPr>
            <a:r>
              <a:rPr lang="zh-CN" altLang="en-US" sz="3000">
                <a:solidFill>
                  <a:srgbClr val="660033"/>
                </a:solidFill>
                <a:ea typeface="华文新魏" panose="02010800040101010101" pitchFamily="2" charset="-122"/>
              </a:rPr>
              <a:t>         带有子查询条件的数据插入操作</a:t>
            </a:r>
          </a:p>
          <a:p>
            <a:pPr>
              <a:lnSpc>
                <a:spcPct val="135000"/>
              </a:lnSpc>
              <a:spcBef>
                <a:spcPct val="0"/>
              </a:spcBef>
              <a:buFont typeface="Wingdings" panose="05000000000000000000" pitchFamily="2" charset="2"/>
              <a:buNone/>
            </a:pPr>
            <a:r>
              <a:rPr lang="zh-CN" altLang="en-US" sz="3000">
                <a:solidFill>
                  <a:srgbClr val="660033"/>
                </a:solidFill>
                <a:ea typeface="华文新魏" panose="02010800040101010101" pitchFamily="2" charset="-122"/>
              </a:rPr>
              <a:t>         嵌入式</a:t>
            </a:r>
            <a:r>
              <a:rPr lang="en-US" altLang="zh-CN" sz="3000">
                <a:solidFill>
                  <a:srgbClr val="660033"/>
                </a:solidFill>
                <a:ea typeface="华文新魏" panose="02010800040101010101" pitchFamily="2" charset="-122"/>
              </a:rPr>
              <a:t>SQL</a:t>
            </a:r>
            <a:r>
              <a:rPr lang="zh-CN" altLang="en-US" sz="3000">
                <a:solidFill>
                  <a:srgbClr val="660033"/>
                </a:solidFill>
                <a:ea typeface="华文新魏" panose="02010800040101010101" pitchFamily="2" charset="-122"/>
              </a:rPr>
              <a:t>概念</a:t>
            </a:r>
          </a:p>
          <a:p>
            <a:pPr>
              <a:lnSpc>
                <a:spcPct val="135000"/>
              </a:lnSpc>
              <a:spcBef>
                <a:spcPct val="0"/>
              </a:spcBef>
              <a:buFont typeface="Wingdings" panose="05000000000000000000" pitchFamily="2" charset="2"/>
              <a:buNone/>
            </a:pPr>
            <a:r>
              <a:rPr lang="zh-CN" altLang="en-US" sz="3000">
                <a:solidFill>
                  <a:srgbClr val="660033"/>
                </a:solidFill>
                <a:ea typeface="华文新魏" panose="02010800040101010101" pitchFamily="2" charset="-122"/>
              </a:rPr>
              <a:t>         主变量：输入主变量、输出主变量</a:t>
            </a:r>
          </a:p>
          <a:p>
            <a:pPr>
              <a:lnSpc>
                <a:spcPct val="135000"/>
              </a:lnSpc>
              <a:spcBef>
                <a:spcPct val="0"/>
              </a:spcBef>
              <a:buFont typeface="Wingdings" panose="05000000000000000000" pitchFamily="2" charset="2"/>
              <a:buNone/>
            </a:pPr>
            <a:r>
              <a:rPr lang="zh-CN" altLang="en-US" sz="3000">
                <a:solidFill>
                  <a:srgbClr val="660033"/>
                </a:solidFill>
                <a:ea typeface="华文新魏" panose="02010800040101010101" pitchFamily="2" charset="-122"/>
              </a:rPr>
              <a:t>         游标机制的引入</a:t>
            </a:r>
          </a:p>
          <a:p>
            <a:pPr>
              <a:lnSpc>
                <a:spcPct val="135000"/>
              </a:lnSpc>
              <a:spcBef>
                <a:spcPct val="0"/>
              </a:spcBef>
              <a:buFont typeface="Wingdings" panose="05000000000000000000" pitchFamily="2" charset="2"/>
              <a:buNone/>
            </a:pPr>
            <a:r>
              <a:rPr lang="zh-CN" altLang="en-US" sz="3000">
                <a:solidFill>
                  <a:srgbClr val="660033"/>
                </a:solidFill>
                <a:ea typeface="华文新魏" panose="02010800040101010101" pitchFamily="2" charset="-122"/>
              </a:rPr>
              <a:t>         引入游标后的好处</a:t>
            </a:r>
          </a:p>
        </p:txBody>
      </p:sp>
    </p:spTree>
  </p:cSld>
  <p:clrMapOvr>
    <a:masterClrMapping/>
  </p:clrMapOvr>
  <mc:AlternateContent xmlns:mc="http://schemas.openxmlformats.org/markup-compatibility/2006" xmlns:p14="http://schemas.microsoft.com/office/powerpoint/2010/main">
    <mc:Choice Requires="p14">
      <p:transition spd="slow" p14:dur="2000" advTm="27967"/>
    </mc:Choice>
    <mc:Fallback xmlns="">
      <p:transition spd="slow" advTm="2796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4357">
                                            <p:txEl>
                                              <p:pRg st="1" end="1"/>
                                            </p:txEl>
                                          </p:spTgt>
                                        </p:tgtEl>
                                        <p:attrNameLst>
                                          <p:attrName>style.visibility</p:attrName>
                                        </p:attrNameLst>
                                      </p:cBhvr>
                                      <p:to>
                                        <p:strVal val="visible"/>
                                      </p:to>
                                    </p:set>
                                    <p:animEffect transition="in" filter="wipe(left)">
                                      <p:cBhvr>
                                        <p:cTn id="7" dur="500"/>
                                        <p:tgtEl>
                                          <p:spTgt spid="484357">
                                            <p:txEl>
                                              <p:pRg st="1" end="1"/>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84357">
                                            <p:txEl>
                                              <p:pRg st="2" end="2"/>
                                            </p:txEl>
                                          </p:spTgt>
                                        </p:tgtEl>
                                        <p:attrNameLst>
                                          <p:attrName>style.visibility</p:attrName>
                                        </p:attrNameLst>
                                      </p:cBhvr>
                                      <p:to>
                                        <p:strVal val="visible"/>
                                      </p:to>
                                    </p:set>
                                    <p:animEffect transition="in" filter="wipe(left)">
                                      <p:cBhvr>
                                        <p:cTn id="11" dur="500"/>
                                        <p:tgtEl>
                                          <p:spTgt spid="484357">
                                            <p:txEl>
                                              <p:pRg st="2" end="2"/>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84357">
                                            <p:txEl>
                                              <p:pRg st="3" end="3"/>
                                            </p:txEl>
                                          </p:spTgt>
                                        </p:tgtEl>
                                        <p:attrNameLst>
                                          <p:attrName>style.visibility</p:attrName>
                                        </p:attrNameLst>
                                      </p:cBhvr>
                                      <p:to>
                                        <p:strVal val="visible"/>
                                      </p:to>
                                    </p:set>
                                    <p:animEffect transition="in" filter="wipe(left)">
                                      <p:cBhvr>
                                        <p:cTn id="15" dur="500"/>
                                        <p:tgtEl>
                                          <p:spTgt spid="484357">
                                            <p:txEl>
                                              <p:pRg st="3" end="3"/>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84357">
                                            <p:txEl>
                                              <p:pRg st="4" end="4"/>
                                            </p:txEl>
                                          </p:spTgt>
                                        </p:tgtEl>
                                        <p:attrNameLst>
                                          <p:attrName>style.visibility</p:attrName>
                                        </p:attrNameLst>
                                      </p:cBhvr>
                                      <p:to>
                                        <p:strVal val="visible"/>
                                      </p:to>
                                    </p:set>
                                    <p:animEffect transition="in" filter="wipe(left)">
                                      <p:cBhvr>
                                        <p:cTn id="19" dur="500"/>
                                        <p:tgtEl>
                                          <p:spTgt spid="484357">
                                            <p:txEl>
                                              <p:pRg st="4" end="4"/>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84357">
                                            <p:txEl>
                                              <p:pRg st="5" end="5"/>
                                            </p:txEl>
                                          </p:spTgt>
                                        </p:tgtEl>
                                        <p:attrNameLst>
                                          <p:attrName>style.visibility</p:attrName>
                                        </p:attrNameLst>
                                      </p:cBhvr>
                                      <p:to>
                                        <p:strVal val="visible"/>
                                      </p:to>
                                    </p:set>
                                    <p:animEffect transition="in" filter="wipe(left)">
                                      <p:cBhvr>
                                        <p:cTn id="23" dur="500"/>
                                        <p:tgtEl>
                                          <p:spTgt spid="484357">
                                            <p:txEl>
                                              <p:pRg st="5" end="5"/>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84357">
                                            <p:txEl>
                                              <p:pRg st="6" end="6"/>
                                            </p:txEl>
                                          </p:spTgt>
                                        </p:tgtEl>
                                        <p:attrNameLst>
                                          <p:attrName>style.visibility</p:attrName>
                                        </p:attrNameLst>
                                      </p:cBhvr>
                                      <p:to>
                                        <p:strVal val="visible"/>
                                      </p:to>
                                    </p:set>
                                    <p:animEffect transition="in" filter="wipe(left)">
                                      <p:cBhvr>
                                        <p:cTn id="27" dur="500"/>
                                        <p:tgtEl>
                                          <p:spTgt spid="48435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7"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5" name="Rectangle 5">
            <a:extLst>
              <a:ext uri="{FF2B5EF4-FFF2-40B4-BE49-F238E27FC236}">
                <a16:creationId xmlns:a16="http://schemas.microsoft.com/office/drawing/2014/main" id="{8164C4A1-2705-42C2-A4E7-9B2184AAACE4}"/>
              </a:ext>
            </a:extLst>
          </p:cNvPr>
          <p:cNvSpPr>
            <a:spLocks noChangeArrowheads="1"/>
          </p:cNvSpPr>
          <p:nvPr/>
        </p:nvSpPr>
        <p:spPr bwMode="auto">
          <a:xfrm>
            <a:off x="1458913" y="2590800"/>
            <a:ext cx="623728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SzTx/>
              <a:buFontTx/>
              <a:buNone/>
            </a:pPr>
            <a:r>
              <a:rPr lang="zh-CN" altLang="en-US" sz="6000" b="1">
                <a:solidFill>
                  <a:srgbClr val="FF6600"/>
                </a:solidFill>
                <a:effectLst>
                  <a:outerShdw blurRad="38100" dist="38100" dir="2700000" algn="tl">
                    <a:srgbClr val="C0C0C0"/>
                  </a:outerShdw>
                </a:effectLst>
                <a:ea typeface="华文新魏" panose="02010800040101010101" pitchFamily="2"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000" advTm="2121"/>
    </mc:Choice>
    <mc:Fallback xmlns="">
      <p:transition spd="slow" advTm="2121"/>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6|95.3"/>
</p:tagLst>
</file>

<file path=ppt/tags/tag2.xml><?xml version="1.0" encoding="utf-8"?>
<p:tagLst xmlns:a="http://schemas.openxmlformats.org/drawingml/2006/main" xmlns:r="http://schemas.openxmlformats.org/officeDocument/2006/relationships" xmlns:p="http://schemas.openxmlformats.org/presentationml/2006/main">
  <p:tag name="TIMING" val="|82"/>
</p:tagLst>
</file>

<file path=ppt/tags/tag3.xml><?xml version="1.0" encoding="utf-8"?>
<p:tagLst xmlns:a="http://schemas.openxmlformats.org/drawingml/2006/main" xmlns:r="http://schemas.openxmlformats.org/officeDocument/2006/relationships" xmlns:p="http://schemas.openxmlformats.org/presentationml/2006/main">
  <p:tag name="TIMING" val="|25.9|15.5"/>
</p:tagLst>
</file>

<file path=ppt/tags/tag4.xml><?xml version="1.0" encoding="utf-8"?>
<p:tagLst xmlns:a="http://schemas.openxmlformats.org/drawingml/2006/main" xmlns:r="http://schemas.openxmlformats.org/officeDocument/2006/relationships" xmlns:p="http://schemas.openxmlformats.org/presentationml/2006/main">
  <p:tag name="TIMING" val="|2.1|71.6"/>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Pct val="100000"/>
          <a:buFont typeface="Wingdings" panose="05000000000000000000" pitchFamily="2" charset="2"/>
          <a:buChar char="•"/>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Pct val="100000"/>
          <a:buFont typeface="Wingdings" panose="05000000000000000000" pitchFamily="2" charset="2"/>
          <a:buChar char="•"/>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3671</TotalTime>
  <Words>1981</Words>
  <Application>Microsoft Office PowerPoint</Application>
  <PresentationFormat>全屏显示(4:3)</PresentationFormat>
  <Paragraphs>209</Paragraphs>
  <Slides>30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黑体</vt:lpstr>
      <vt:lpstr>华文楷体</vt:lpstr>
      <vt:lpstr>华文隶书</vt:lpstr>
      <vt:lpstr>华文新魏</vt:lpstr>
      <vt:lpstr>楷体_GB2312</vt:lpstr>
      <vt:lpstr>宋体</vt:lpstr>
      <vt:lpstr>Arial</vt:lpstr>
      <vt:lpstr>Tahoma</vt:lpstr>
      <vt:lpstr>Wingdings</vt:lpstr>
      <vt:lpstr>Blends</vt:lpstr>
      <vt:lpstr>5.6  嵌入式SQL与游标应用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412</cp:revision>
  <cp:lastPrinted>1601-01-01T00:00:00Z</cp:lastPrinted>
  <dcterms:created xsi:type="dcterms:W3CDTF">1601-01-01T00:00:00Z</dcterms:created>
  <dcterms:modified xsi:type="dcterms:W3CDTF">2021-04-12T15:08:08Z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